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6日、OpenAIがAppleの営業秘密訴訟について、連邦判事に却下を申し立てました。注目すべきはその反論の仕方です。Apple自身のセキュリティ運用に不備があったから今回の事態が起きた、という主張になっています。今日はこの申立てを出典付きで整理します。これはApple対OpenAIという私企業間の民事訴訟についての事実報道であり、どちらが正しいかを断定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OpenAIは2026年8月6日、Appleが起こした営業秘密訴訟について、却下を求める申立てを裁判所に提出しました。31ページに及ぶ申立書の中心的な主張は、Apple自身のセキュリティ運用の甘さがことの発端だった、という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今日はこの5つの流れでお伝えします。事実と、当社の推測、確認できなかったことをはっきり分け、Apple・OpenAI双方の主張を中立に扱います。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を扱うのか。申立てから4日が経過しており、通常の鮮度基準は満たしていません。探索を尽くしても2日以内の候補が見つからなかったための例外採用であり、しかも2ラウンド連続の例外運用であることを、ま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何が起きたのか整理します。もともとAppleがOpenAIと元社員2名を営業秘密の不正利用で訴えていたところ、OpenAIが今回、訴訟そのものの却下を申し立てました。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複数の独立したメディアが同じ内容を報じています。Axios・TechCrunch・Bloombergを中心に、9to5Mac・TheNextWeb・TheAIInsiderが要点を裏付け、翌日にはclaimsjournal.comが続報を出しています。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申立書のボリュームを見ます。OpenAIが提出した却下申立書は31ページに及びます。Appleの『失敗』を強調する論調で書かれているとされ、この点は次のスライドで詳しく見ます。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立書の論調も見ておきます。報道によれば『fail』という語が変化形を含めておよそ50回近く登場するとされています。Appleの『失敗』を繰り返し指摘する、かなり踏み込んだ論調の申立書である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流れを時系列で見ます。Appleがまず訴訟を起こし、8月4〜5日ごろには別途、仮差止命令も申し立てました。それに対しOpenAIが8月6日、訴訟全体の却下を求める申立書を提出しました。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ここで用語を整理します。営業秘密訴訟、却下申立て、仮差止命令、それぞれの意味を押さえておくと、この先の内容が理解しやすくなります。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そもそもAppleの訴えは3点でした。営業秘密の不正利用、不適切な引き抜き、そしてOpenAIの消費者向けハードウェア参入という背景です。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の反論の核心はこの『認証情報の隙間』理論です。Appleが会社端末上の個人メッセージを審査する一方、業務では個人のiCloud利用を奨励していたため、業務データと個人データが混ざり、退職者のアクセスが管理しきれなかった、という主張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隙間』の仕組みをステップで見ます。個人iCloud利用の奨励によるデータの混在、審査対象との矛盾、退職後もアクセスが続いた状況、それらすべてがApple自身の運用に起因するというのがOpenAIの主張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の申立書からの引用です。『根拠のない口実的な訴訟を、自社の力不足の埋め合わせに使うべきではない』。申立書は、Appleが人材確保・AI競争での苦戦を穴埋めするために訴訟を利用していると位置づ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OpenAIが挙げる法的な却下根拠は主に2点です。営業秘密の存在の立証不足と、不正行為についての具体的な主張の不足です。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ここで両者の主張を中立に並べます。Appleの訴状での主張と、OpenAIの却下申立書での反論、それぞれをそのまま整理しました。どちらが正しいかは、この動画では判断しません。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改めて本テーマの扱い方をお伝えします。これはApple・OpenAIという私企業間の商業訴訟の事実報道であり、政治的な話題ではありません。どちらの主張が正しいかについて、この動画では判断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確認できなかったことを一覧にしました。元社員の氏名、具体的な営業秘密の内容、Apple側の反論、そして最終判断、いずれも本調査の範囲では確認できておらず、不明として扱います。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今後のスケジュールです。8月17日にはOpenAIが仮差止命令申立てへ正式に回答する期限を控え、10月1日にはサンノゼ連邦地裁で審理が予定されています。訴訟はまだ進行中です。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初心者の方向けに補足します。『却下申立て』はまだ訴訟の一段階に過ぎません。裁判所が認めるとは限らず、Apple側の反論もこれから出てくる段階です。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Appleがこの件を気にするのか、背景を補足します。OpenAIの消費者向けハードウェア参入という文脈と関連づけられており、営業秘密の流出は企業にとって重要な経営課題になりやすいという背景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ここからは実践的な視点です。企業の人事・法務担当にとっては、退職者アクセスの棚卸し、業務・個人アカウントの線引き、採用時の情報管理ルールが参考になりそうです。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エンジニア個人にとっては、転職時の情報の扱いや、業務・個人アカウントを分ける習慣が参考になります。ただし本件はApple・OpenAI固有の事情である点には注意が必要です。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実践的な視点として、退職者アクセスの遮断、業務・個人アカウントの線引き、審査ポリシーの明示、採用時のルール整備、この4点の確認をおすすめします。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本テーマの扱い方についてお伝えします。見出しは注目を集める表現ですが、本文は申立書の内容に基づく事実として扱い、鮮度の例外採用も、どちらの主張が正しいかを判断しない立場も、一貫して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この3つは当社の推測です。断定はせず、今後注目されうる論点として整理しました。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今後注目しておきたいのはこの3点です。続報が出れば、また出典付きでお伝えします。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最後にもう一度確認します。2026年8月6日、OpenAIはApple自身の運用に問題があったと主張し、訴訟の却下を申立てました。Apple側の反論や最終的な判断はまだ出ておらず、その旨を正直にお伝えします。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がAppleの営業秘密訴訟に対し、Apple自身のセキュリティ運用を理由に却下を申立てたことをお伝えしました。非公開の情報は不明として扱い、推測部分は推測と明記し、どちらの主張が正しいかは判断していません。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訴えられた側が、</a:t>
            </a:r>
          </a:p>
          <a:p>
            <a:pPr algn="l">
              <a:lnSpc>
                <a:spcPct val="115000"/>
              </a:lnSpc>
            </a:pPr>
            <a:r>
              <a:rPr sz="4200" b="1">
                <a:solidFill>
                  <a:srgbClr val="FFFFFF"/>
                </a:solidFill>
                <a:latin typeface="Yu Gothic"/>
              </a:rPr>
              <a:t>「そっちのセキュリティが甘い」と反論した。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FD400"/>
                </a:solidFill>
                <a:latin typeface="Yu Gothic"/>
              </a:rPr>
              <a:t>OpenAIが、Appleの営業秘密訴訟の却下を連邦判事に申し立て。31ページの申立書で、Apple自身のiCloud運用が『認証情報の隙間』を生んだと主張している(2026年8月6日 Axios/TechCrunch/Bloomberg報道)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FFE873"/>
                </a:solidFill>
                <a:latin typeface="Yu Gothic"/>
              </a:rPr>
              <a:t>出典: Axios/TechCrunch/Bloomberg(2026-08-06)ほか。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OpenAI、Apple提訴の却下を申し立て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31ページの申立書で、Apple自身のiCloud運用が『認証情報の隙間』を生んだと主張。Appleは営業秘密の存在も、OpenAI側の不正行為も立証できていないと反論している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Axios/TechCrunch/Bloomberg(2026-08-06)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この動画で分かること</a:t>
            </a:r>
          </a:p>
        </p:txBody>
      </p:sp>
      <p:sp>
        <p:nvSpPr>
          <p:cNvPr id="5" name="Oval 4"/>
          <p:cNvSpPr/>
          <p:nvPr/>
        </p:nvSpPr>
        <p:spPr>
          <a:xfrm>
            <a:off x="548640" y="192024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FD400"/>
                </a:solidFill>
                <a:latin typeface="Yu Gothic"/>
              </a:rPr>
              <a:t>そもそもAppleは何を訴えていたのか(背景)</a:t>
            </a:r>
          </a:p>
        </p:txBody>
      </p:sp>
      <p:sp>
        <p:nvSpPr>
          <p:cNvPr id="7" name="Oval 6"/>
          <p:cNvSpPr/>
          <p:nvPr/>
        </p:nvSpPr>
        <p:spPr>
          <a:xfrm>
            <a:off x="548640" y="269748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FD400"/>
                </a:solidFill>
                <a:latin typeface="Yu Gothic"/>
              </a:rPr>
              <a:t>OpenAIの反論の核心『認証情報の隙間』理論とは何か</a:t>
            </a:r>
          </a:p>
        </p:txBody>
      </p:sp>
      <p:sp>
        <p:nvSpPr>
          <p:cNvPr id="9" name="Oval 8"/>
          <p:cNvSpPr/>
          <p:nvPr/>
        </p:nvSpPr>
        <p:spPr>
          <a:xfrm>
            <a:off x="548640" y="347472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FD400"/>
                </a:solidFill>
                <a:latin typeface="Yu Gothic"/>
              </a:rPr>
              <a:t>OpenAIが挙げる却下申立ての法的根拠</a:t>
            </a:r>
          </a:p>
        </p:txBody>
      </p:sp>
      <p:sp>
        <p:nvSpPr>
          <p:cNvPr id="11" name="Oval 10"/>
          <p:cNvSpPr/>
          <p:nvPr/>
        </p:nvSpPr>
        <p:spPr>
          <a:xfrm>
            <a:off x="548640" y="425196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FD400"/>
                </a:solidFill>
                <a:latin typeface="Yu Gothic"/>
              </a:rPr>
              <a:t>Apple側・OpenAI側、それぞれの主張を中立に整理</a:t>
            </a:r>
          </a:p>
        </p:txBody>
      </p:sp>
      <p:sp>
        <p:nvSpPr>
          <p:cNvPr id="13" name="Oval 12"/>
          <p:cNvSpPr/>
          <p:nvPr/>
        </p:nvSpPr>
        <p:spPr>
          <a:xfrm>
            <a:off x="548640" y="5029200"/>
            <a:ext cx="548640" cy="5486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FD400"/>
                </a:solidFill>
                <a:latin typeface="Yu Gothic"/>
              </a:rPr>
              <a:t>今後のスケジュールと、確認できなかったこと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このテーマを選んだ理由です。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申立ては2026年8月6日。着手日(2026年8月10日)から見て4日前で、通常の鮮度基準(2日以内)を満たさない</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探索を尽くしても2日以内の候補が見つからず、鮮度基準の例外的最終手段として採用したことを正直に開示する</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本ラウンドで2ラウンド連続の例外運用となる点も、常態化させないという方針とあわせて明記する</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AI業界の2大企業(Apple・OpenAI)の法廷闘争という著名性と、反論の意外性が採用理由</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research/2026-08-10_theme-evaluation-round91.md</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何が起きたのか(概要)</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まず起きたことを整理します。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Appleは以前、OpenAIと元Apple社員2名を相手取り、営業秘密の不正利用・不適切な引き抜きを訴えていた</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訴訟は、OpenAIが消費者向けハードウェア事業に参入する動きと関連づけられている</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Appleは別途、OpenAI・元社員による情報のアクセス・利用・開示を差し止める仮差止命令も申し立てていた</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2026年8月6日、OpenAIがこの訴訟全体の却下を求める31ページの申立書を提出した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Axios/TechCrunch/Bloomberg(2026-08-06)</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この申立てを報じた主なメディア</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C81E1E"/>
                    </a:solidFill>
                  </a:tcPr>
                </a:tc>
                <a:tc>
                  <a:txBody>
                    <a:bodyPr/>
                    <a:lstStyle/>
                    <a:p>
                      <a:pPr>
                        <a:defRPr sz="1300" b="1">
                          <a:solidFill>
                            <a:srgbClr val="FFFFFF"/>
                          </a:solidFill>
                          <a:latin typeface="Yu Gothic"/>
                        </a:defRPr>
                      </a:pPr>
                      <a:r>
                        <a:t>確認できる内容</a:t>
                      </a:r>
                    </a:p>
                  </a:txBody>
                  <a:tcPr>
                    <a:solidFill>
                      <a:srgbClr val="C81E1E"/>
                    </a:solidFill>
                  </a:tcPr>
                </a:tc>
              </a:tr>
              <a:tr h="502920">
                <a:tc>
                  <a:txBody>
                    <a:bodyPr/>
                    <a:lstStyle/>
                    <a:p>
                      <a:pPr>
                        <a:defRPr sz="1200">
                          <a:solidFill>
                            <a:srgbClr val="1A0A0A"/>
                          </a:solidFill>
                          <a:latin typeface="Yu Gothic"/>
                        </a:defRPr>
                      </a:pPr>
                      <a:r>
                        <a:t>Axios(2026-08-06)</a:t>
                      </a:r>
                    </a:p>
                  </a:txBody>
                  <a:tcPr>
                    <a:solidFill>
                      <a:srgbClr val="FFFFFF"/>
                    </a:solidFill>
                  </a:tcPr>
                </a:tc>
                <a:tc>
                  <a:txBody>
                    <a:bodyPr/>
                    <a:lstStyle/>
                    <a:p>
                      <a:pPr>
                        <a:defRPr sz="1200">
                          <a:solidFill>
                            <a:srgbClr val="1A0A0A"/>
                          </a:solidFill>
                          <a:latin typeface="Yu Gothic"/>
                        </a:defRPr>
                      </a:pPr>
                      <a:r>
                        <a:t>OpenAIが却下を申し立てた事実そのものを報じる速報記事</a:t>
                      </a:r>
                    </a:p>
                  </a:txBody>
                  <a:tcPr>
                    <a:solidFill>
                      <a:srgbClr val="FFFFFF"/>
                    </a:solidFill>
                  </a:tcPr>
                </a:tc>
              </a:tr>
              <a:tr h="502920">
                <a:tc>
                  <a:txBody>
                    <a:bodyPr/>
                    <a:lstStyle/>
                    <a:p>
                      <a:pPr>
                        <a:defRPr sz="1200">
                          <a:solidFill>
                            <a:srgbClr val="1A0A0A"/>
                          </a:solidFill>
                          <a:latin typeface="Yu Gothic"/>
                        </a:defRPr>
                      </a:pPr>
                      <a:r>
                        <a:t>TechCrunch(2026-08-06)</a:t>
                      </a:r>
                    </a:p>
                  </a:txBody>
                  <a:tcPr>
                    <a:solidFill>
                      <a:srgbClr val="FFF3C4"/>
                    </a:solidFill>
                  </a:tcPr>
                </a:tc>
                <a:tc>
                  <a:txBody>
                    <a:bodyPr/>
                    <a:lstStyle/>
                    <a:p>
                      <a:pPr>
                        <a:defRPr sz="1200">
                          <a:solidFill>
                            <a:srgbClr val="1A0A0A"/>
                          </a:solidFill>
                          <a:latin typeface="Yu Gothic"/>
                        </a:defRPr>
                      </a:pPr>
                      <a:r>
                        <a:t>『Appleのセキュリティ運用が訴えを弱めている』とする分析記事</a:t>
                      </a:r>
                    </a:p>
                  </a:txBody>
                  <a:tcPr>
                    <a:solidFill>
                      <a:srgbClr val="FFF3C4"/>
                    </a:solidFill>
                  </a:tcPr>
                </a:tc>
              </a:tr>
              <a:tr h="502920">
                <a:tc>
                  <a:txBody>
                    <a:bodyPr/>
                    <a:lstStyle/>
                    <a:p>
                      <a:pPr>
                        <a:defRPr sz="1200">
                          <a:solidFill>
                            <a:srgbClr val="1A0A0A"/>
                          </a:solidFill>
                          <a:latin typeface="Yu Gothic"/>
                        </a:defRPr>
                      </a:pPr>
                      <a:r>
                        <a:t>Bloomberg(2026-08-06)</a:t>
                      </a:r>
                    </a:p>
                  </a:txBody>
                  <a:tcPr>
                    <a:solidFill>
                      <a:srgbClr val="FFFFFF"/>
                    </a:solidFill>
                  </a:tcPr>
                </a:tc>
                <a:tc>
                  <a:txBody>
                    <a:bodyPr/>
                    <a:lstStyle/>
                    <a:p>
                      <a:pPr>
                        <a:defRPr sz="1200">
                          <a:solidFill>
                            <a:srgbClr val="1A0A0A"/>
                          </a:solidFill>
                          <a:latin typeface="Yu Gothic"/>
                        </a:defRPr>
                      </a:pPr>
                      <a:r>
                        <a:t>申立ての内容・訴訟の位置づけを報じる記事</a:t>
                      </a:r>
                    </a:p>
                  </a:txBody>
                  <a:tcPr>
                    <a:solidFill>
                      <a:srgbClr val="FFFFFF"/>
                    </a:solidFill>
                  </a:tcPr>
                </a:tc>
              </a:tr>
              <a:tr h="502920">
                <a:tc>
                  <a:txBody>
                    <a:bodyPr/>
                    <a:lstStyle/>
                    <a:p>
                      <a:pPr>
                        <a:defRPr sz="1200">
                          <a:solidFill>
                            <a:srgbClr val="1A0A0A"/>
                          </a:solidFill>
                          <a:latin typeface="Yu Gothic"/>
                        </a:defRPr>
                      </a:pPr>
                      <a:r>
                        <a:t>9to5Mac / TheNextWeb / TheAIInsider(2026-08-06)</a:t>
                      </a:r>
                    </a:p>
                  </a:txBody>
                  <a:tcPr>
                    <a:solidFill>
                      <a:srgbClr val="FFF3C4"/>
                    </a:solidFill>
                  </a:tcPr>
                </a:tc>
                <a:tc>
                  <a:txBody>
                    <a:bodyPr/>
                    <a:lstStyle/>
                    <a:p>
                      <a:pPr>
                        <a:defRPr sz="1200">
                          <a:solidFill>
                            <a:srgbClr val="1A0A0A"/>
                          </a:solidFill>
                          <a:latin typeface="Yu Gothic"/>
                        </a:defRPr>
                      </a:pPr>
                      <a:r>
                        <a:t>申立ての要点を裏付ける記事</a:t>
                      </a:r>
                    </a:p>
                  </a:txBody>
                  <a:tcPr>
                    <a:solidFill>
                      <a:srgbClr val="FFF3C4"/>
                    </a:solidFill>
                  </a:tcPr>
                </a:tc>
              </a:tr>
              <a:tr h="502920">
                <a:tc>
                  <a:txBody>
                    <a:bodyPr/>
                    <a:lstStyle/>
                    <a:p>
                      <a:pPr>
                        <a:defRPr sz="1200">
                          <a:solidFill>
                            <a:srgbClr val="1A0A0A"/>
                          </a:solidFill>
                          <a:latin typeface="Yu Gothic"/>
                        </a:defRPr>
                      </a:pPr>
                      <a:r>
                        <a:t>claimsjournal.com(2026-08-07)</a:t>
                      </a:r>
                    </a:p>
                  </a:txBody>
                  <a:tcPr>
                    <a:solidFill>
                      <a:srgbClr val="FFFFFF"/>
                    </a:solidFill>
                  </a:tcPr>
                </a:tc>
                <a:tc>
                  <a:txBody>
                    <a:bodyPr/>
                    <a:lstStyle/>
                    <a:p>
                      <a:pPr>
                        <a:defRPr sz="1200">
                          <a:solidFill>
                            <a:srgbClr val="1A0A0A"/>
                          </a:solidFill>
                          <a:latin typeface="Yu Gothic"/>
                        </a:defRPr>
                      </a:pPr>
                      <a:r>
                        <a:t>翌日の続報記事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申立書のボリューム</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31ページ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OpenAIが提出した却下申立書の分量。Appleの『失敗』を強調する論調で書かれているとされる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TechCrunch/Bloomberg(2026-08-06)経由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申立書の論調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『fail』ほぼ50回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複数の報道によれば、『fail(失敗)』という語(その変化形を含む)が31ページの申立書全体でおよそ50回近く使われているという。Appleの『失敗』を繰り返し指摘する論調とされる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TechCrunch/Bloomberg(2026-08-06)経由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訴訟の背景から申立てまでの流れ</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訴訟提起</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Appleが、OpenAIと元Apple社員2名を営業秘密の不正利用で提訴</a:t>
            </a:r>
          </a:p>
        </p:txBody>
      </p:sp>
      <p:sp>
        <p:nvSpPr>
          <p:cNvPr id="10" name="Right Arrow 9"/>
          <p:cNvSpPr/>
          <p:nvPr/>
        </p:nvSpPr>
        <p:spPr>
          <a:xfrm>
            <a:off x="41573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仮差止命令の申立て(8月4〜5日ごろ)</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Appleが、情報のアクセス・利用・開示を差し止める仮差止命令を別途申立て</a:t>
            </a:r>
          </a:p>
        </p:txBody>
      </p:sp>
      <p:sp>
        <p:nvSpPr>
          <p:cNvPr id="15" name="Right Arrow 14"/>
          <p:cNvSpPr/>
          <p:nvPr/>
        </p:nvSpPr>
        <p:spPr>
          <a:xfrm>
            <a:off x="73577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却下申立て(2026年8月6日)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OpenAIが訴訟全体の却下を求める31ページの申立書を提出</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F2B705"/>
                </a:solidFill>
                <a:latin typeface="Yu Gothic"/>
              </a:rPr>
              <a:t>提訴から、OpenAIの却下申立てまでの流れ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Axios/TechCrunch/Bloomberg(2026-08-06)経由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用語解説: 却下申立て・営業秘密・仮差止命令とは</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本題に入る前に、専門用語を整理します。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『営業秘密訴訟』とは、企業が持つ非公開の重要情報(技術・顧客情報等)を不正に持ち出された・利用されたと訴える民事訴訟</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『却下申立て(motion to dismiss)』とは、訴えの内容が法的に成立しないとして、審理入りする前に裁判所へ却下を求める手続き</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『仮差止命令(preliminary injunction)』とは、本裁判の判決が出る前に、暫定的に特定の行為(情報の利用等)を禁じる命令</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却下申立てが認められても、事実関係の白黒がついたことにはならず、あくまで訴えの立て方が不十分だったという法的判断にとどまる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Axios/TechCrunch/Bloomberg(2026-08-06)経由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そもそもAppleは何を訴えていたのか(背景)</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訴え1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営業秘密の不正利用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OpenAIと元Apple社員2名が、Appleの営業秘密を不正に利用したと主張</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訴え2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不適切な引き抜き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OpenAIが求職者に対し、機密情報の不適切な提供を促したと主張</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背景</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消費者向けハードウェア参入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訴訟は、OpenAIが消費者向けハードウェア事業へ参入する動きと関連づけられている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Axios/TechCrunch/Bloomberg(2026-08-06)経由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OpenAIの反論の核心:「認証情報の隙間」理論</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主張</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Apple自身の運用に原因</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Appleの社内iCloud運用が、退職した元エンジニアのサーバーへの継続アクセスを許した『隙間』を生んだと主張</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根拠1</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会社端末の個人iMessage閲覧</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Appleは業務用端末に残る個人のiMessageを審査していたとされる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根拠2</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業務での個人iCloud利用を奨励</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一方で、業務利用のために個人のiCloudアカウントを使うことを奨励していたとされ、業務データと個人データが混在した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TechCrunch(2026-08-06)経由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OpenAIの主張する『隙間』の仕組み</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C81E1E"/>
                </a:solidFill>
                <a:latin typeface="Yu Gothic"/>
              </a:rPr>
              <a:t>1. データの混在</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Appleが業務利用のため個人iCloudアカウントの使用を奨励し、業務データと個人データが混ざった</a:t>
            </a:r>
          </a:p>
        </p:txBody>
      </p:sp>
      <p:sp>
        <p:nvSpPr>
          <p:cNvPr id="11" name="Chevron 10"/>
          <p:cNvSpPr/>
          <p:nvPr/>
        </p:nvSpPr>
        <p:spPr>
          <a:xfrm>
            <a:off x="3068040"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C81E1E"/>
                </a:solidFill>
                <a:latin typeface="Yu Gothic"/>
              </a:rPr>
              <a:t>2. 審査対象の矛盾</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一方でAppleは、会社端末に残る個人のiMessageを審査していたとされる</a:t>
            </a:r>
          </a:p>
        </p:txBody>
      </p:sp>
      <p:sp>
        <p:nvSpPr>
          <p:cNvPr id="17" name="Chevron 16"/>
          <p:cNvSpPr/>
          <p:nvPr/>
        </p:nvSpPr>
        <p:spPr>
          <a:xfrm>
            <a:off x="5978804"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C81E1E"/>
                </a:solidFill>
                <a:latin typeface="Yu Gothic"/>
              </a:rPr>
              <a:t>3. 退職後もアクセス継続</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この体制が、退職した元エンジニアのサーバーへの継続アクセスを許したとOpenAIは主張</a:t>
            </a:r>
          </a:p>
        </p:txBody>
      </p:sp>
      <p:sp>
        <p:nvSpPr>
          <p:cNvPr id="23" name="Chevron 22"/>
          <p:cNvSpPr/>
          <p:nvPr/>
        </p:nvSpPr>
        <p:spPr>
          <a:xfrm>
            <a:off x="8889568"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C81E1E"/>
                </a:solidFill>
                <a:latin typeface="Yu Gothic"/>
              </a:rPr>
              <a:t>4. Appleの責任を問う</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OpenAIは、この状況を招いたのはApple自身の運用だと反論している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“Apple should not be permitted to use a baseless and pretextual lawsuit to make up for its shortcomings.</a:t>
            </a:r>
          </a:p>
          <a:p>
            <a:pPr algn="l">
              <a:lnSpc>
                <a:spcPct val="125000"/>
              </a:lnSpc>
            </a:pPr>
            <a:r>
              <a:rPr sz="2800" b="1">
                <a:solidFill>
                  <a:srgbClr val="FFFFFF"/>
                </a:solidFill>
                <a:latin typeface="Yu Gothic"/>
              </a:rPr>
              <a:t>(Appleは、根拠のない口実的な訴訟を、自社の力不足を埋め合わせるために利用することを許されるべきではない)”</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FFD400"/>
                </a:solidFill>
                <a:latin typeface="Yu Gothic"/>
              </a:rPr>
              <a:t>— OpenAI却下申立書より、複数メディア経由(2026-08-06)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OpenAIが挙げる却下の法的根拠</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FFD400"/>
                </a:solidFill>
                <a:latin typeface="Yu Gothic"/>
              </a:rPr>
              <a:t>根拠1</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C81E1E"/>
                </a:solidFill>
                <a:latin typeface="Yu Gothic"/>
              </a:rPr>
              <a:t>保護対象の営業秘密が未立証</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Appleは、法的に保護されるべき具体的・有形な営業秘密の存在を立証する基準を満たしていないとOpenAIは主張</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FFD400"/>
                </a:solidFill>
                <a:latin typeface="Yu Gothic"/>
              </a:rPr>
              <a:t>根拠2</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C81E1E"/>
                </a:solidFill>
                <a:latin typeface="Yu Gothic"/>
              </a:rPr>
              <a:t>不正行為の具体的な主張が不足</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Appleは、OpenAIや元社員2名による不正行為を具体的かつ説得力を持って主張できていないとOpenAIは主張</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TechCrunch/Bloomberg(2026-08-06)経由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Apple側 / OpenAI側、それぞれの主張(中立整理)</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C81E1E"/>
                </a:solidFill>
                <a:latin typeface="Yu Gothic"/>
              </a:rPr>
              <a:t>Appleの主張(訴状より)</a:t>
            </a:r>
          </a:p>
        </p:txBody>
      </p:sp>
      <p:sp>
        <p:nvSpPr>
          <p:cNvPr id="9" name="Oval 8"/>
          <p:cNvSpPr/>
          <p:nvPr/>
        </p:nvSpPr>
        <p:spPr>
          <a:xfrm>
            <a:off x="777240" y="253288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OpenAIと元社員2名が営業秘密を不正利用したと主張</a:t>
            </a:r>
          </a:p>
        </p:txBody>
      </p:sp>
      <p:sp>
        <p:nvSpPr>
          <p:cNvPr id="11" name="Oval 10"/>
          <p:cNvSpPr/>
          <p:nvPr/>
        </p:nvSpPr>
        <p:spPr>
          <a:xfrm>
            <a:off x="777240" y="308152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求職者への不適切な機密情報提供の勧誘があったと主張</a:t>
            </a:r>
          </a:p>
        </p:txBody>
      </p:sp>
      <p:sp>
        <p:nvSpPr>
          <p:cNvPr id="13" name="Oval 12"/>
          <p:cNvSpPr/>
          <p:nvPr/>
        </p:nvSpPr>
        <p:spPr>
          <a:xfrm>
            <a:off x="777240" y="363016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情報のアクセス・利用・開示を止める仮差止命令を別途申立て</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C81E1E"/>
                </a:solidFill>
                <a:latin typeface="Yu Gothic"/>
              </a:rPr>
              <a:t>OpenAIの反論(却下申立書より)</a:t>
            </a:r>
          </a:p>
        </p:txBody>
      </p:sp>
      <p:sp>
        <p:nvSpPr>
          <p:cNvPr id="18" name="Oval 17"/>
          <p:cNvSpPr/>
          <p:nvPr/>
        </p:nvSpPr>
        <p:spPr>
          <a:xfrm>
            <a:off x="6598767" y="253288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Appleは保護対象の営業秘密の存在を立証できていないと主張</a:t>
            </a:r>
          </a:p>
        </p:txBody>
      </p:sp>
      <p:sp>
        <p:nvSpPr>
          <p:cNvPr id="20" name="Oval 19"/>
          <p:cNvSpPr/>
          <p:nvPr/>
        </p:nvSpPr>
        <p:spPr>
          <a:xfrm>
            <a:off x="6598767" y="308152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不正行為の具体的な主張が不足していると主張</a:t>
            </a:r>
          </a:p>
        </p:txBody>
      </p:sp>
      <p:sp>
        <p:nvSpPr>
          <p:cNvPr id="22" name="Oval 21"/>
          <p:cNvSpPr/>
          <p:nvPr/>
        </p:nvSpPr>
        <p:spPr>
          <a:xfrm>
            <a:off x="6598767" y="3630168"/>
            <a:ext cx="274320" cy="27432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0A0A"/>
                </a:solidFill>
                <a:latin typeface="Yu Gothic"/>
              </a:rPr>
              <a:t>Apple自身のiCloud運用が『隙間』を生んだと主張</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本テーマの扱い方について(中立性の明示)</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法律・ビジネス報道として扱う理由です。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本テーマは、Apple・OpenAIという2つの私企業間の商業訴訟についての事実報道である</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政府・政治に関する話題ではなく、政治的な主張・立場表明は行わない</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Apple側・OpenAI側、どちらの主張が正しいかについて、この動画では判断・断定をしない</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双方の主張は、それぞれの提出書面・報道内容として、出典を明記したうえで紹介する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確認できなかったこと(不明点一覧)</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C81E1E"/>
                    </a:solidFill>
                  </a:tcPr>
                </a:tc>
                <a:tc>
                  <a:txBody>
                    <a:bodyPr/>
                    <a:lstStyle/>
                    <a:p>
                      <a:pPr>
                        <a:defRPr sz="1300" b="1">
                          <a:solidFill>
                            <a:srgbClr val="FFFFFF"/>
                          </a:solidFill>
                          <a:latin typeface="Yu Gothic"/>
                        </a:defRPr>
                      </a:pPr>
                      <a:r>
                        <a:t>状況</a:t>
                      </a:r>
                    </a:p>
                  </a:txBody>
                  <a:tcPr>
                    <a:solidFill>
                      <a:srgbClr val="C81E1E"/>
                    </a:solidFill>
                  </a:tcPr>
                </a:tc>
              </a:tr>
              <a:tr h="502920">
                <a:tc>
                  <a:txBody>
                    <a:bodyPr/>
                    <a:lstStyle/>
                    <a:p>
                      <a:pPr>
                        <a:defRPr sz="1200">
                          <a:solidFill>
                            <a:srgbClr val="1A0A0A"/>
                          </a:solidFill>
                          <a:latin typeface="Yu Gothic"/>
                        </a:defRPr>
                      </a:pPr>
                      <a:r>
                        <a:t>元Apple社員2名の氏名</a:t>
                      </a:r>
                    </a:p>
                  </a:txBody>
                  <a:tcPr>
                    <a:solidFill>
                      <a:srgbClr val="FFFFFF"/>
                    </a:solidFill>
                  </a:tcPr>
                </a:tc>
                <a:tc>
                  <a:txBody>
                    <a:bodyPr/>
                    <a:lstStyle/>
                    <a:p>
                      <a:pPr>
                        <a:defRPr sz="1200">
                          <a:solidFill>
                            <a:srgbClr val="1A0A0A"/>
                          </a:solidFill>
                          <a:latin typeface="Yu Gothic"/>
                        </a:defRPr>
                      </a:pPr>
                      <a:r>
                        <a:t>確認できる信頼できる出典がなく、本動画では特定・言及しない</a:t>
                      </a:r>
                    </a:p>
                  </a:txBody>
                  <a:tcPr>
                    <a:solidFill>
                      <a:srgbClr val="FFFFFF"/>
                    </a:solidFill>
                  </a:tcPr>
                </a:tc>
              </a:tr>
              <a:tr h="502920">
                <a:tc>
                  <a:txBody>
                    <a:bodyPr/>
                    <a:lstStyle/>
                    <a:p>
                      <a:pPr>
                        <a:defRPr sz="1200">
                          <a:solidFill>
                            <a:srgbClr val="1A0A0A"/>
                          </a:solidFill>
                          <a:latin typeface="Yu Gothic"/>
                        </a:defRPr>
                      </a:pPr>
                      <a:r>
                        <a:t>Appleが主張する具体的な営業秘密の内容</a:t>
                      </a:r>
                    </a:p>
                  </a:txBody>
                  <a:tcPr>
                    <a:solidFill>
                      <a:srgbClr val="FFF3C4"/>
                    </a:solidFill>
                  </a:tcPr>
                </a:tc>
                <a:tc>
                  <a:txBody>
                    <a:bodyPr/>
                    <a:lstStyle/>
                    <a:p>
                      <a:pPr>
                        <a:defRPr sz="1200">
                          <a:solidFill>
                            <a:srgbClr val="1A0A0A"/>
                          </a:solidFill>
                          <a:latin typeface="Yu Gothic"/>
                        </a:defRPr>
                      </a:pPr>
                      <a:r>
                        <a:t>訴状の詳細が本調査の範囲では確認できていない</a:t>
                      </a:r>
                    </a:p>
                  </a:txBody>
                  <a:tcPr>
                    <a:solidFill>
                      <a:srgbClr val="FFF3C4"/>
                    </a:solidFill>
                  </a:tcPr>
                </a:tc>
              </a:tr>
              <a:tr h="502920">
                <a:tc>
                  <a:txBody>
                    <a:bodyPr/>
                    <a:lstStyle/>
                    <a:p>
                      <a:pPr>
                        <a:defRPr sz="1200">
                          <a:solidFill>
                            <a:srgbClr val="1A0A0A"/>
                          </a:solidFill>
                          <a:latin typeface="Yu Gothic"/>
                        </a:defRPr>
                      </a:pPr>
                      <a:r>
                        <a:t>Appleの却下申立てへの反論(応答)</a:t>
                      </a:r>
                    </a:p>
                  </a:txBody>
                  <a:tcPr>
                    <a:solidFill>
                      <a:srgbClr val="FFFFFF"/>
                    </a:solidFill>
                  </a:tcPr>
                </a:tc>
                <a:tc>
                  <a:txBody>
                    <a:bodyPr/>
                    <a:lstStyle/>
                    <a:p>
                      <a:pPr>
                        <a:defRPr sz="1200">
                          <a:solidFill>
                            <a:srgbClr val="1A0A0A"/>
                          </a:solidFill>
                          <a:latin typeface="Yu Gothic"/>
                        </a:defRPr>
                      </a:pPr>
                      <a:r>
                        <a:t>本調査の時点(申立て後)ではまだ提出されていない</a:t>
                      </a:r>
                    </a:p>
                  </a:txBody>
                  <a:tcPr>
                    <a:solidFill>
                      <a:srgbClr val="FFFFFF"/>
                    </a:solidFill>
                  </a:tcPr>
                </a:tc>
              </a:tr>
              <a:tr h="502920">
                <a:tc>
                  <a:txBody>
                    <a:bodyPr/>
                    <a:lstStyle/>
                    <a:p>
                      <a:pPr>
                        <a:defRPr sz="1200">
                          <a:solidFill>
                            <a:srgbClr val="1A0A0A"/>
                          </a:solidFill>
                          <a:latin typeface="Yu Gothic"/>
                        </a:defRPr>
                      </a:pPr>
                      <a:r>
                        <a:t>最終的な裁判所の判断</a:t>
                      </a:r>
                    </a:p>
                  </a:txBody>
                  <a:tcPr>
                    <a:solidFill>
                      <a:srgbClr val="FFF3C4"/>
                    </a:solidFill>
                  </a:tcPr>
                </a:tc>
                <a:tc>
                  <a:txBody>
                    <a:bodyPr/>
                    <a:lstStyle/>
                    <a:p>
                      <a:pPr>
                        <a:defRPr sz="1200">
                          <a:solidFill>
                            <a:srgbClr val="1A0A0A"/>
                          </a:solidFill>
                          <a:latin typeface="Yu Gothic"/>
                        </a:defRPr>
                      </a:pPr>
                      <a:r>
                        <a:t>審理は2026年10月1日予定で、結果は本調査の範囲では不明</a:t>
                      </a:r>
                    </a:p>
                  </a:txBody>
                  <a:tcPr>
                    <a:solidFill>
                      <a:srgbClr val="FFF3C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今後のスケジュール</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2026年8月6日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OpenAIが訴訟却下を申立て(今回のニュース)</a:t>
            </a:r>
          </a:p>
        </p:txBody>
      </p:sp>
      <p:sp>
        <p:nvSpPr>
          <p:cNvPr id="10" name="Right Arrow 9"/>
          <p:cNvSpPr/>
          <p:nvPr/>
        </p:nvSpPr>
        <p:spPr>
          <a:xfrm>
            <a:off x="41573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2026年8月17日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OpenAIが、Appleの仮差止命令申立てに正式回答する裁判所指定の期限</a:t>
            </a:r>
          </a:p>
        </p:txBody>
      </p:sp>
      <p:sp>
        <p:nvSpPr>
          <p:cNvPr id="15" name="Right Arrow 14"/>
          <p:cNvSpPr/>
          <p:nvPr/>
        </p:nvSpPr>
        <p:spPr>
          <a:xfrm>
            <a:off x="7357719" y="3108959"/>
            <a:ext cx="676656" cy="365760"/>
          </a:xfrm>
          <a:prstGeom prst="rightArrow">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C81E1E"/>
                </a:solidFill>
                <a:latin typeface="Yu Gothic"/>
              </a:rPr>
              <a:t>2026年10月1日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F2B705"/>
                </a:solidFill>
                <a:latin typeface="Yu Gothic"/>
              </a:rPr>
              <a:t>仮差止命令についての審理がサンノゼ連邦地裁で予定されている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F2B705"/>
                </a:solidFill>
                <a:latin typeface="Yu Gothic"/>
              </a:rPr>
              <a:t>訴訟は現在も進行中であり、最終的な結論は出ていない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Axios/TechCrunch/Bloomberg(2026-08-06)経由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『却下申立て』は何を意味しないか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誤解1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訴訟の勝敗が決まったわけではない</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却下申立てはあくまで手続きの一段階で、事実関係の白黒がついたわけではない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誤解2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裁判所が認めるとは限らない</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判事が申立てを却下し、訴訟がそのまま続く可能性も十分にある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誤解3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Appleの主張が否定されたわけではない</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OpenAI側の言い分であり、Apple側の反論(応答)はまだ提出されていない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初心者向け: なぜAppleは『ハードウェア参入』を気にするのか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背景をもう少し補足します。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報道では、この訴訟がOpenAIの消費者向けハードウェア事業への参入と関連づけられている</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Appleは長年iPhone等のハードウェア市場で強い立場にあり、新規参入企業の動きに敏感とされる</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『営業秘密』とは、製品設計や社内プロセスなど、公開されていない競争力の源泉となる情報を指す</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そのため、元社員の転職に伴う情報流出リスクは、企業にとって重要な経営課題となりやすい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F2B705"/>
                </a:solidFill>
                <a:latin typeface="Yu Gothic"/>
              </a:rPr>
              <a:t>出典: Axios/TechCrunch/Bloomberg(2026-08-06)経由</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これは企業(人事・法務担当)にとって何を意味するか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視点1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退職者アクセスの棚卸しの重要性</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退職者のシステムアクセスが適切に遮断されているかの点検が改めて注目される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視点2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業務・個人アカウントの線引き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業務に個人アカウントの利用を許容すると、後の紛争でリスクになりうるという事例として参照されうる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視点3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採用時の情報管理ポリシー</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求職者からの情報提供の扱いについて、社内ルールを明確にしておく重要性が示唆される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これはエンジニア個人にとって何を意味するか</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着目点1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転職時の情報の扱いに注意</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前職の非公開情報を新しい職場に持ち込まないという基本的な注意がより重視される流れ</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着目点2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業務・個人アカウントを分ける習慣</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業務用の情報を個人アカウントで扱わない習慣が、自分自身を守ることにもつながりうる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本件はApple・OpenAI固有の事情</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自分の職場に同じ法的リスクが当てはまるとは限らない点には留意が必要</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実践: 企業のアカウント管理を点検する際に確認したいこと</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自分の職場に当てはめて考えるための整理です。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退職者のシステムアクセスが、退職日にきちんと遮断される運用になっているかを確認する</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業務で個人アカウント(個人メール・個人クラウドストレージ等)の利用を許容していないかを点検する</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会社端末上の個人的なやり取りを審査する場合、そのポリシーが社員に明示されているかを確認する</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採用面接で候補者から前職の機密情報が提供されそうになった場合の社内ルールを整備しているかを確認する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誇張回避・鮮度例外・中立性に関する注記</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F2B705"/>
                </a:solidFill>
                <a:latin typeface="Yu Gothic"/>
              </a:rPr>
              <a:t>本テーマの扱い方についてです。</a:t>
            </a:r>
          </a:p>
        </p:txBody>
      </p:sp>
      <p:sp>
        <p:nvSpPr>
          <p:cNvPr id="7" name="Oval 6"/>
          <p:cNvSpPr/>
          <p:nvPr/>
        </p:nvSpPr>
        <p:spPr>
          <a:xfrm>
            <a:off x="457200" y="212140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冒頭の見出しは注目を集める表現だが、本文の内容自体は誇張していない(申立書に基づく事実)</a:t>
            </a:r>
          </a:p>
        </p:txBody>
      </p:sp>
      <p:sp>
        <p:nvSpPr>
          <p:cNvPr id="9" name="Oval 8"/>
          <p:cNvSpPr/>
          <p:nvPr/>
        </p:nvSpPr>
        <p:spPr>
          <a:xfrm>
            <a:off x="457200" y="2898648"/>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本テーマは鮮度基準の例外(申立てから4日前)であり、2ラウンド連続の例外運用であることも正直に開示している</a:t>
            </a:r>
          </a:p>
        </p:txBody>
      </p:sp>
      <p:sp>
        <p:nvSpPr>
          <p:cNvPr id="11" name="Oval 10"/>
          <p:cNvSpPr/>
          <p:nvPr/>
        </p:nvSpPr>
        <p:spPr>
          <a:xfrm>
            <a:off x="457200" y="367588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元社員2名の氏名など確認できていない情報は創作せず、不明として明記している</a:t>
            </a:r>
          </a:p>
        </p:txBody>
      </p:sp>
      <p:sp>
        <p:nvSpPr>
          <p:cNvPr id="13" name="Oval 12"/>
          <p:cNvSpPr/>
          <p:nvPr/>
        </p:nvSpPr>
        <p:spPr>
          <a:xfrm>
            <a:off x="457200" y="445312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Apple・OpenAIどちらの主張が正しいかについて、本動画では断定・支持を行っていない</a:t>
            </a:r>
          </a:p>
        </p:txBody>
      </p:sp>
      <p:sp>
        <p:nvSpPr>
          <p:cNvPr id="15" name="Oval 14"/>
          <p:cNvSpPr/>
          <p:nvPr/>
        </p:nvSpPr>
        <p:spPr>
          <a:xfrm>
            <a:off x="457200" y="5230367"/>
            <a:ext cx="320040" cy="32004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0A0A"/>
                </a:solidFill>
                <a:latin typeface="Yu Gothic"/>
              </a:rPr>
              <a:t>本テーマは私企業間の商業訴訟の事実報道であり、政治的な主張・立場表明は含まない</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今後、論点になりうる点(推測)</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Appleの反論内容</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Appleが却下申立てにどう反論するか、具体的な営業秘密の内容をどこまで開示するか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仮差止命令の行方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10月1日の審理で、仮差止命令が認められるかどうかが当面の焦点になりうる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FFD400"/>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C81E1E"/>
                </a:solidFill>
                <a:latin typeface="Yu Gothic"/>
              </a:rPr>
              <a:t>業界への波及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F2B705"/>
                </a:solidFill>
                <a:latin typeface="Yu Gothic"/>
              </a:rPr>
              <a:t>人材の引き抜きに伴う訴訟が、AI業界の他企業間でも増える可能性が考えられる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今後、注目しておきたいポイント</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C81E1E"/>
                </a:solidFill>
                <a:latin typeface="Yu Gothic"/>
              </a:rPr>
              <a:t>8月17日の回答期限</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OpenAIが仮差止命令申立てにどう正式回答するか</a:t>
            </a:r>
          </a:p>
        </p:txBody>
      </p:sp>
      <p:sp>
        <p:nvSpPr>
          <p:cNvPr id="11" name="Chevron 10"/>
          <p:cNvSpPr/>
          <p:nvPr/>
        </p:nvSpPr>
        <p:spPr>
          <a:xfrm>
            <a:off x="4038295"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C81E1E"/>
                </a:solidFill>
                <a:latin typeface="Yu Gothic"/>
              </a:rPr>
              <a:t>Appleの反論内容</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却下申立てに対し、Appleがどのような反論を提出するか</a:t>
            </a:r>
          </a:p>
        </p:txBody>
      </p:sp>
      <p:sp>
        <p:nvSpPr>
          <p:cNvPr id="17" name="Chevron 16"/>
          <p:cNvSpPr/>
          <p:nvPr/>
        </p:nvSpPr>
        <p:spPr>
          <a:xfrm>
            <a:off x="7919313" y="3200400"/>
            <a:ext cx="234086" cy="365760"/>
          </a:xfrm>
          <a:prstGeom prst="chevron">
            <a:avLst/>
          </a:prstGeom>
          <a:solidFill>
            <a:srgbClr val="FFD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C81E1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C81E1E"/>
                </a:solidFill>
                <a:latin typeface="Yu Gothic"/>
              </a:rPr>
              <a:t>10月1日の審理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F2B705"/>
                </a:solidFill>
                <a:latin typeface="Yu Gothic"/>
              </a:rPr>
              <a:t>サンノゼ連邦地裁での仮差止命令についての審理の行方</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FD400"/>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FFD400"/>
                </a:solidFill>
                <a:latin typeface="Yu Gothic"/>
              </a:rPr>
              <a:t>2026/8/6 申立て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OpenAIは、Appleの営業秘密訴訟について、Apple自身のiCloud運用が『認証情報の隙間』を生んだとして却下を申立てた。Apple側の反論・最終判断はまだ出ていない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FFE873"/>
                </a:solidFill>
                <a:latin typeface="Yu Gothic"/>
              </a:rPr>
              <a:t>出典: Axios/TechCrunch/Bloomberg(2026-08-06)ほか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C81E1E"/>
                </a:solidFill>
                <a:latin typeface="Yu Gothic"/>
              </a:rPr>
              <a:t>主な出典一覧</a:t>
            </a:r>
          </a:p>
        </p:txBody>
      </p:sp>
      <p:sp>
        <p:nvSpPr>
          <p:cNvPr id="5" name="Rectangle 4"/>
          <p:cNvSpPr/>
          <p:nvPr/>
        </p:nvSpPr>
        <p:spPr>
          <a:xfrm>
            <a:off x="457200" y="1188720"/>
            <a:ext cx="502920" cy="54864"/>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C81E1E"/>
                    </a:solidFill>
                  </a:tcPr>
                </a:tc>
                <a:tc>
                  <a:txBody>
                    <a:bodyPr/>
                    <a:lstStyle/>
                    <a:p>
                      <a:pPr>
                        <a:defRPr sz="1300" b="1">
                          <a:solidFill>
                            <a:srgbClr val="FFFFFF"/>
                          </a:solidFill>
                          <a:latin typeface="Yu Gothic"/>
                        </a:defRPr>
                      </a:pPr>
                      <a:r>
                        <a:t>内容</a:t>
                      </a:r>
                    </a:p>
                  </a:txBody>
                  <a:tcPr>
                    <a:solidFill>
                      <a:srgbClr val="C81E1E"/>
                    </a:solidFill>
                  </a:tcPr>
                </a:tc>
              </a:tr>
              <a:tr h="502920">
                <a:tc>
                  <a:txBody>
                    <a:bodyPr/>
                    <a:lstStyle/>
                    <a:p>
                      <a:pPr>
                        <a:defRPr sz="1200">
                          <a:solidFill>
                            <a:srgbClr val="1A0A0A"/>
                          </a:solidFill>
                          <a:latin typeface="Yu Gothic"/>
                        </a:defRPr>
                      </a:pPr>
                      <a:r>
                        <a:t>Axios(2026-08-06)</a:t>
                      </a:r>
                    </a:p>
                  </a:txBody>
                  <a:tcPr>
                    <a:solidFill>
                      <a:srgbClr val="FFFFFF"/>
                    </a:solidFill>
                  </a:tcPr>
                </a:tc>
                <a:tc>
                  <a:txBody>
                    <a:bodyPr/>
                    <a:lstStyle/>
                    <a:p>
                      <a:pPr>
                        <a:defRPr sz="1200">
                          <a:solidFill>
                            <a:srgbClr val="1A0A0A"/>
                          </a:solidFill>
                          <a:latin typeface="Yu Gothic"/>
                        </a:defRPr>
                      </a:pPr>
                      <a:r>
                        <a:t>OpenAIの却下申立てそのものを報じる速報記事</a:t>
                      </a:r>
                    </a:p>
                  </a:txBody>
                  <a:tcPr>
                    <a:solidFill>
                      <a:srgbClr val="FFFFFF"/>
                    </a:solidFill>
                  </a:tcPr>
                </a:tc>
              </a:tr>
              <a:tr h="502920">
                <a:tc>
                  <a:txBody>
                    <a:bodyPr/>
                    <a:lstStyle/>
                    <a:p>
                      <a:pPr>
                        <a:defRPr sz="1200">
                          <a:solidFill>
                            <a:srgbClr val="1A0A0A"/>
                          </a:solidFill>
                          <a:latin typeface="Yu Gothic"/>
                        </a:defRPr>
                      </a:pPr>
                      <a:r>
                        <a:t>TechCrunch(2026-08-06)</a:t>
                      </a:r>
                    </a:p>
                  </a:txBody>
                  <a:tcPr>
                    <a:solidFill>
                      <a:srgbClr val="FFF3C4"/>
                    </a:solidFill>
                  </a:tcPr>
                </a:tc>
                <a:tc>
                  <a:txBody>
                    <a:bodyPr/>
                    <a:lstStyle/>
                    <a:p>
                      <a:pPr>
                        <a:defRPr sz="1200">
                          <a:solidFill>
                            <a:srgbClr val="1A0A0A"/>
                          </a:solidFill>
                          <a:latin typeface="Yu Gothic"/>
                        </a:defRPr>
                      </a:pPr>
                      <a:r>
                        <a:t>『認証情報の隙間』理論を含む分析記事</a:t>
                      </a:r>
                    </a:p>
                  </a:txBody>
                  <a:tcPr>
                    <a:solidFill>
                      <a:srgbClr val="FFF3C4"/>
                    </a:solidFill>
                  </a:tcPr>
                </a:tc>
              </a:tr>
              <a:tr h="502920">
                <a:tc>
                  <a:txBody>
                    <a:bodyPr/>
                    <a:lstStyle/>
                    <a:p>
                      <a:pPr>
                        <a:defRPr sz="1200">
                          <a:solidFill>
                            <a:srgbClr val="1A0A0A"/>
                          </a:solidFill>
                          <a:latin typeface="Yu Gothic"/>
                        </a:defRPr>
                      </a:pPr>
                      <a:r>
                        <a:t>Bloomberg(2026-08-06)</a:t>
                      </a:r>
                    </a:p>
                  </a:txBody>
                  <a:tcPr>
                    <a:solidFill>
                      <a:srgbClr val="FFFFFF"/>
                    </a:solidFill>
                  </a:tcPr>
                </a:tc>
                <a:tc>
                  <a:txBody>
                    <a:bodyPr/>
                    <a:lstStyle/>
                    <a:p>
                      <a:pPr>
                        <a:defRPr sz="1200">
                          <a:solidFill>
                            <a:srgbClr val="1A0A0A"/>
                          </a:solidFill>
                          <a:latin typeface="Yu Gothic"/>
                        </a:defRPr>
                      </a:pPr>
                      <a:r>
                        <a:t>申立ての内容・位置づけを報じる記事</a:t>
                      </a:r>
                    </a:p>
                  </a:txBody>
                  <a:tcPr>
                    <a:solidFill>
                      <a:srgbClr val="FFFFFF"/>
                    </a:solidFill>
                  </a:tcPr>
                </a:tc>
              </a:tr>
              <a:tr h="502920">
                <a:tc>
                  <a:txBody>
                    <a:bodyPr/>
                    <a:lstStyle/>
                    <a:p>
                      <a:pPr>
                        <a:defRPr sz="1200">
                          <a:solidFill>
                            <a:srgbClr val="1A0A0A"/>
                          </a:solidFill>
                          <a:latin typeface="Yu Gothic"/>
                        </a:defRPr>
                      </a:pPr>
                      <a:r>
                        <a:t>9to5Mac / TheNextWeb / TheAIInsider / claimsjournal.com</a:t>
                      </a:r>
                    </a:p>
                  </a:txBody>
                  <a:tcPr>
                    <a:solidFill>
                      <a:srgbClr val="FFF3C4"/>
                    </a:solidFill>
                  </a:tcPr>
                </a:tc>
                <a:tc>
                  <a:txBody>
                    <a:bodyPr/>
                    <a:lstStyle/>
                    <a:p>
                      <a:pPr>
                        <a:defRPr sz="1200">
                          <a:solidFill>
                            <a:srgbClr val="1A0A0A"/>
                          </a:solidFill>
                          <a:latin typeface="Yu Gothic"/>
                        </a:defRPr>
                      </a:pPr>
                      <a:r>
                        <a:t>要点の裏付け・翌日続報</a:t>
                      </a:r>
                    </a:p>
                  </a:txBody>
                  <a:tcPr>
                    <a:solidFill>
                      <a:srgbClr val="FFF3C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F2B705"/>
                </a:solidFill>
                <a:latin typeface="Yu Gothic"/>
              </a:rPr>
              <a:t>AI Company OS｜出典: Axios/TechCrunch/Bloomberg(2026-08-06)ほか｜154本目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F2B705"/>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3A0A0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FFE8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D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却下されるか、審理入りするか。まだ結論は出ていない。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FD400"/>
                </a:solidFill>
                <a:latin typeface="Yu Gothic"/>
              </a:rPr>
              <a:t>Apple側の反論や10月1日の審理の行方が明らかになれば、続報として出典付きでお届けします。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FF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C81E1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