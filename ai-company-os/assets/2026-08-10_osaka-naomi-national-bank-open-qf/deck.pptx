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ランク2位との初対戦が決まりました。大坂なおみ選手が、ナショナルバンクオープン2026のシングルス4回戦を勝ち上がり、2年連続3度目のベスト8に進出。準々決勝の相手は、世界ランク2位のE・ルバキナ選手です。今日はこの出来事を、出典付きの事実だけで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を3つの事実でまとめます。4回戦では大坂なおみ選手がストレート勝ちし、2年連続3度目のベスト8進出を果たしました。そして準々決勝の相手は、世界ランク2位のE・ルバキナ選手。この2人は今回が初対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話す内容を5つに整理しました。4回戦の結果という事実確認から始め、大会そのものの基礎知識、準々決勝の相手であるルバキナ選手について、確認できたこと・できなかったこと、最後にこの対戦が何を意味するのかまで、順番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このニュースを扱う理由は鮮度です。4回戦が行われたのは日本時間8月10日(現地時間8月9日)、この動画に着手したのは8月11日で、発表からわずか1日しか経っていません。直近の出来事として扱える範囲です。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舞台となったのは、カナダ・トロントで開催中のナショナルバンクオープン2026です。WTA1000というカテゴリーに位置づけられる大会で、大坂なおみ選手はシングルス4回戦でL・フェルナンデス選手と対戦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専門用語を整理しておきます。WTA1000は、女子テニス協会が主催するツアーの中でも、四大大会に次ぐ上位クラスの大会区分です。獲得できるポイントが多く、有力選手が多く出場する傾向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けて、シード順位とベスト8についてです。シードは事前の実力に応じた順位づけで、大坂選手は第11シード、フェルナンデス選手は第30シードでした。ベスト8は、出場選手の中で上位8人に残った状態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4回戦からベスト8までの流れを整理しました。第11シードの大坂選手が第30シードのフェルナンデス選手を6-4, 6-4のストレートで下し、2年連続3度目のベスト8進出。次は世界2位のルバキナ選手との対戦です。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シングルス4回戦の結果です。大坂なおみ選手が、地元カナダのL・フェルナンデス選手を6-4, 6-4のストレートで下しました。両セットとも大きくスコアが崩れることなく勝ち切った内容です。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改めてスコアに注目します。6-4, 6-4という、2セットとも同じスコアでのストレート勝ちでした。この結果を受けて、大坂選手は準々決勝への進出を決めています。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4回戦の対戦カードを並べてみます。第11シードの大坂選手と、地元カナダの第30シード、フェルナンデス選手の対戦でした。ここでは確認できているシード順位と結果という事実だけを扱います。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年連続3度目のベスト8』という表現を整理しました。今大会でベスト8に進出したのは2年連続で、通算では3度目です。ただし、具体的に何年の大会でベスト8だったかという内訳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準々決勝の相手は、世界ランク2位・第2シードのE・ルバキナ選手です。カザフスタン出身の選手で、大坂選手とは過去に対戦経験がなく、今回が初めての対戦となります。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改めてルバキナ選手のランキングに注目します。現在の世界ランクは2位で、今大会でも第2シードとして出場しています。この実力者との対戦が、準々決勝で組まれました。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ルバキナ選手も同じく4回戦を勝ち上がっています。相手はL・サムソノワ選手で、スコアは6-4, 4-6, 6-4。大坂選手とは異なり、フルセットにもつれる接戦でした。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ここまでの流れを図にしました。大坂選手・ルバキナ選手がそれぞれ4回戦を勝ち上がり、準々決勝で初めて対戦することになりました。この準々決勝はまだ行われておらず、結果は確定していません。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準々決勝を前に、確認できている情報を並べます。シード順位と4回戦の結果という事実のみを比較し、どちらが有利かといった予測や煽りは行いません。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この対戦の大きなポイントが、初対戦であるということです。大坂選手とルバキナ選手には過去の対戦経験がなく、これまでの対戦成績のデータが存在しません。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扱っている情報を、事実・推測・不明の3つに分けて整理します。4回戦の結果やランキングは確認済みの事実、注目度についての一言は推測、そして準々決勝の結果は不明です。ここを混同しないことが大切だ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も共有します。1〜3回戦の詳細スコア、過去のベスト8進出の内訳、ルバキナ選手の今シーズンの詳細な戦績は、いずれも本調査の範囲では確認できていません。そして最も重要な点として、準々決勝の結果はまだ出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強調します。準々決勝はまだ行われておらず、結果は確定していません。この動画では結果を推測したり創作したりせず、『これから行われる対戦』として扱っています。結果は公式サイト等の一次情報源で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が大坂選手にとって何を意味するかを、確認できている事実の範囲で考えます。2年連続でのベスト8到達、そして世界2位との初対戦という新しい経験。ただし、この先どうなるかは準々決勝の結果次第で、本調査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意味も考えます。世界ランク2位との初対戦という注目度の高いカードを見届けられる機会である一方、結果は本動画公開時点ではまだ出ていません。続報は公式発表などの一次情報源で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今後この話題を追う場合の視点を整理しました。公式記録で準々決勝の結果を確認すること、未確認情報の続報を待つこと、そして結果が出るまでは勝敗を断定的に語らないことが基本になります。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えて使わなかった切り口も紹介します。準々決勝の結果を推測して書くこと、ランキング差だけで勝敗を決めつけること、過去のベスト8進出の内訳を確認せず誇張することは、いずれも正直さのルールに反するため見送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このデッキ自体の品質チェック結果です。スライド枚数は構成どおり30枚、全スライドにスピーカーノートがあり、文字中心のbulletsは全体の40%以下に抑え、同じレイアウトが4連続することもありません。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本テーマで使用した出典を一覧にしました。いずれもテニス365(一部Yahoo!ニュース経由)の記事です。数字・事実の一つひとつに、こうした出典があることを改めて確認しておきます。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も確認しました。大坂なおみ選手を含む90本目のテーマは全米オープンのダブルス・組み合わせの話題であり、本テーマ(ナショナルバンクオープンのシングルス4回戦・準々決勝進出)とは大会・種目・話題の中心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まとめます。大坂なおみ選手が2年連続3度目のベスト8に進出し、世界ランク2位のE・ルバキナ選手と初めて対戦することになりました。この準々決勝はまだ行われておらず、結果はこれからです。続報は一次情報源で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までご視聴いただき、ありがとうございました。今回お伝えした内容は、テニス365(一部Yahoo!ニュース経由)の報道に基づいています。準々決勝の結果はまだ出ていませんので、続報や公式記録については一次情報源で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世界2位との、</a:t>
            </a:r>
          </a:p>
          <a:p>
            <a:pPr algn="l">
              <a:lnSpc>
                <a:spcPct val="115000"/>
              </a:lnSpc>
            </a:pPr>
            <a:r>
              <a:rPr sz="4200" b="1">
                <a:solidFill>
                  <a:srgbClr val="FFFFFF"/>
                </a:solidFill>
                <a:latin typeface="Yu Gothic"/>
              </a:rPr>
              <a:t>初対戦が決まった。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大坂なおみ選手、ナショナルバンクオープン2026で2年連続3度目のベスト8。準々決勝はE・ルバキナ選手(世界2位)と対戦</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テニス365(一部Yahoo!ニュース経由)。数値はすべて出典付きの確定事実のみ使用。準々決勝の結果は本動画公開時点でまだ確定していません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今回の結論(3つの事実)</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ストレート勝ち</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シングルス4回戦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大坂なおみ選手が6-4, 6-4でL・フェルナンデス選手に勝利</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2年連続3度目</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ベスト8進出</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同大会で2年連続、通算3度目の準々決勝進出</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世界2位と初対戦</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準々決勝の相手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E・ルバキナ選手(カザフスタン)、過去に対戦経験なし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何が起きたのか(4回戦の結果)</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ナショナルバンクオープン2026とはどんな大会か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準々決勝の相手・E・ルバキナ選手について</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確認できたこと・確認できなかったこと</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これは何を意味するのか(結果はまだ出ていません)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日付</a:t>
                      </a:r>
                    </a:p>
                  </a:txBody>
                  <a:tcPr>
                    <a:solidFill>
                      <a:srgbClr val="3A4750"/>
                    </a:solidFill>
                  </a:tcPr>
                </a:tc>
              </a:tr>
              <a:tr h="502920">
                <a:tc>
                  <a:txBody>
                    <a:bodyPr/>
                    <a:lstStyle/>
                    <a:p>
                      <a:pPr>
                        <a:defRPr sz="1200">
                          <a:solidFill>
                            <a:srgbClr val="1E2124"/>
                          </a:solidFill>
                          <a:latin typeface="Yu Gothic"/>
                        </a:defRPr>
                      </a:pPr>
                      <a:r>
                        <a:t>シングルス4回戦(日本時間)</a:t>
                      </a:r>
                    </a:p>
                  </a:txBody>
                  <a:tcPr>
                    <a:solidFill>
                      <a:srgbClr val="FFFFFF"/>
                    </a:solidFill>
                  </a:tcPr>
                </a:tc>
                <a:tc>
                  <a:txBody>
                    <a:bodyPr/>
                    <a:lstStyle/>
                    <a:p>
                      <a:pPr>
                        <a:defRPr sz="1200">
                          <a:solidFill>
                            <a:srgbClr val="1E2124"/>
                          </a:solidFill>
                          <a:latin typeface="Yu Gothic"/>
                        </a:defRPr>
                      </a:pPr>
                      <a:r>
                        <a:t>2026年8月10日</a:t>
                      </a:r>
                    </a:p>
                  </a:txBody>
                  <a:tcPr>
                    <a:solidFill>
                      <a:srgbClr val="FFFFFF"/>
                    </a:solidFill>
                  </a:tcPr>
                </a:tc>
              </a:tr>
              <a:tr h="502920">
                <a:tc>
                  <a:txBody>
                    <a:bodyPr/>
                    <a:lstStyle/>
                    <a:p>
                      <a:pPr>
                        <a:defRPr sz="1200">
                          <a:solidFill>
                            <a:srgbClr val="1E2124"/>
                          </a:solidFill>
                          <a:latin typeface="Yu Gothic"/>
                        </a:defRPr>
                      </a:pPr>
                      <a:r>
                        <a:t>シングルス4回戦(現地時間)</a:t>
                      </a:r>
                    </a:p>
                  </a:txBody>
                  <a:tcPr>
                    <a:solidFill>
                      <a:srgbClr val="F7F4EF"/>
                    </a:solidFill>
                  </a:tcPr>
                </a:tc>
                <a:tc>
                  <a:txBody>
                    <a:bodyPr/>
                    <a:lstStyle/>
                    <a:p>
                      <a:pPr>
                        <a:defRPr sz="1200">
                          <a:solidFill>
                            <a:srgbClr val="1E2124"/>
                          </a:solidFill>
                          <a:latin typeface="Yu Gothic"/>
                        </a:defRPr>
                      </a:pPr>
                      <a:r>
                        <a:t>2026年8月9日</a:t>
                      </a:r>
                    </a:p>
                  </a:txBody>
                  <a:tcPr>
                    <a:solidFill>
                      <a:srgbClr val="F7F4EF"/>
                    </a:solidFill>
                  </a:tcPr>
                </a:tc>
              </a:tr>
              <a:tr h="502920">
                <a:tc>
                  <a:txBody>
                    <a:bodyPr/>
                    <a:lstStyle/>
                    <a:p>
                      <a:pPr>
                        <a:defRPr sz="1200">
                          <a:solidFill>
                            <a:srgbClr val="1E2124"/>
                          </a:solidFill>
                          <a:latin typeface="Yu Gothic"/>
                        </a:defRPr>
                      </a:pPr>
                      <a:r>
                        <a:t>この動画の着手日</a:t>
                      </a:r>
                    </a:p>
                  </a:txBody>
                  <a:tcPr>
                    <a:solidFill>
                      <a:srgbClr val="FFFFFF"/>
                    </a:solidFill>
                  </a:tcPr>
                </a:tc>
                <a:tc>
                  <a:txBody>
                    <a:bodyPr/>
                    <a:lstStyle/>
                    <a:p>
                      <a:pPr>
                        <a:defRPr sz="1200">
                          <a:solidFill>
                            <a:srgbClr val="1E2124"/>
                          </a:solidFill>
                          <a:latin typeface="Yu Gothic"/>
                        </a:defRPr>
                      </a:pPr>
                      <a:r>
                        <a:t>2026年8月11日</a:t>
                      </a:r>
                    </a:p>
                  </a:txBody>
                  <a:tcPr>
                    <a:solidFill>
                      <a:srgbClr val="FFFFFF"/>
                    </a:solidFill>
                  </a:tcPr>
                </a:tc>
              </a:tr>
              <a:tr h="502920">
                <a:tc>
                  <a:txBody>
                    <a:bodyPr/>
                    <a:lstStyle/>
                    <a:p>
                      <a:pPr>
                        <a:defRPr sz="1200">
                          <a:solidFill>
                            <a:srgbClr val="1E2124"/>
                          </a:solidFill>
                          <a:latin typeface="Yu Gothic"/>
                        </a:defRPr>
                      </a:pPr>
                      <a:r>
                        <a:t>発表からの経過</a:t>
                      </a:r>
                    </a:p>
                  </a:txBody>
                  <a:tcPr>
                    <a:solidFill>
                      <a:srgbClr val="F7F4EF"/>
                    </a:solidFill>
                  </a:tcPr>
                </a:tc>
                <a:tc>
                  <a:txBody>
                    <a:bodyPr/>
                    <a:lstStyle/>
                    <a:p>
                      <a:pPr>
                        <a:defRPr sz="1200">
                          <a:solidFill>
                            <a:srgbClr val="1E2124"/>
                          </a:solidFill>
                          <a:latin typeface="Yu Gothic"/>
                        </a:defRPr>
                      </a:pPr>
                      <a:r>
                        <a:t>1日</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大会の基礎情報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大会名</a:t>
                      </a:r>
                    </a:p>
                  </a:txBody>
                  <a:tcPr>
                    <a:solidFill>
                      <a:srgbClr val="FFFFFF"/>
                    </a:solidFill>
                  </a:tcPr>
                </a:tc>
                <a:tc>
                  <a:txBody>
                    <a:bodyPr/>
                    <a:lstStyle/>
                    <a:p>
                      <a:pPr>
                        <a:defRPr sz="1200">
                          <a:solidFill>
                            <a:srgbClr val="1E2124"/>
                          </a:solidFill>
                          <a:latin typeface="Yu Gothic"/>
                        </a:defRPr>
                      </a:pPr>
                      <a:r>
                        <a:t>ナショナルバンクオープン2026</a:t>
                      </a:r>
                    </a:p>
                  </a:txBody>
                  <a:tcPr>
                    <a:solidFill>
                      <a:srgbClr val="FFFFFF"/>
                    </a:solidFill>
                  </a:tcPr>
                </a:tc>
              </a:tr>
              <a:tr h="502920">
                <a:tc>
                  <a:txBody>
                    <a:bodyPr/>
                    <a:lstStyle/>
                    <a:p>
                      <a:pPr>
                        <a:defRPr sz="1200">
                          <a:solidFill>
                            <a:srgbClr val="1E2124"/>
                          </a:solidFill>
                          <a:latin typeface="Yu Gothic"/>
                        </a:defRPr>
                      </a:pPr>
                      <a:r>
                        <a:t>開催地</a:t>
                      </a:r>
                    </a:p>
                  </a:txBody>
                  <a:tcPr>
                    <a:solidFill>
                      <a:srgbClr val="F7F4EF"/>
                    </a:solidFill>
                  </a:tcPr>
                </a:tc>
                <a:tc>
                  <a:txBody>
                    <a:bodyPr/>
                    <a:lstStyle/>
                    <a:p>
                      <a:pPr>
                        <a:defRPr sz="1200">
                          <a:solidFill>
                            <a:srgbClr val="1E2124"/>
                          </a:solidFill>
                          <a:latin typeface="Yu Gothic"/>
                        </a:defRPr>
                      </a:pPr>
                      <a:r>
                        <a:t>カナダ・トロント</a:t>
                      </a:r>
                    </a:p>
                  </a:txBody>
                  <a:tcPr>
                    <a:solidFill>
                      <a:srgbClr val="F7F4EF"/>
                    </a:solidFill>
                  </a:tcPr>
                </a:tc>
              </a:tr>
              <a:tr h="502920">
                <a:tc>
                  <a:txBody>
                    <a:bodyPr/>
                    <a:lstStyle/>
                    <a:p>
                      <a:pPr>
                        <a:defRPr sz="1200">
                          <a:solidFill>
                            <a:srgbClr val="1E2124"/>
                          </a:solidFill>
                          <a:latin typeface="Yu Gothic"/>
                        </a:defRPr>
                      </a:pPr>
                      <a:r>
                        <a:t>大会格</a:t>
                      </a:r>
                    </a:p>
                  </a:txBody>
                  <a:tcPr>
                    <a:solidFill>
                      <a:srgbClr val="FFFFFF"/>
                    </a:solidFill>
                  </a:tcPr>
                </a:tc>
                <a:tc>
                  <a:txBody>
                    <a:bodyPr/>
                    <a:lstStyle/>
                    <a:p>
                      <a:pPr>
                        <a:defRPr sz="1200">
                          <a:solidFill>
                            <a:srgbClr val="1E2124"/>
                          </a:solidFill>
                          <a:latin typeface="Yu Gothic"/>
                        </a:defRPr>
                      </a:pPr>
                      <a:r>
                        <a:t>WTA1000</a:t>
                      </a:r>
                    </a:p>
                  </a:txBody>
                  <a:tcPr>
                    <a:solidFill>
                      <a:srgbClr val="FFFFFF"/>
                    </a:solidFill>
                  </a:tcPr>
                </a:tc>
              </a:tr>
              <a:tr h="502920">
                <a:tc>
                  <a:txBody>
                    <a:bodyPr/>
                    <a:lstStyle/>
                    <a:p>
                      <a:pPr>
                        <a:defRPr sz="1200">
                          <a:solidFill>
                            <a:srgbClr val="1E2124"/>
                          </a:solidFill>
                          <a:latin typeface="Yu Gothic"/>
                        </a:defRPr>
                      </a:pPr>
                      <a:r>
                        <a:t>今回の試合</a:t>
                      </a:r>
                    </a:p>
                  </a:txBody>
                  <a:tcPr>
                    <a:solidFill>
                      <a:srgbClr val="F7F4EF"/>
                    </a:solidFill>
                  </a:tcPr>
                </a:tc>
                <a:tc>
                  <a:txBody>
                    <a:bodyPr/>
                    <a:lstStyle/>
                    <a:p>
                      <a:pPr>
                        <a:defRPr sz="1200">
                          <a:solidFill>
                            <a:srgbClr val="1E2124"/>
                          </a:solidFill>
                          <a:latin typeface="Yu Gothic"/>
                        </a:defRPr>
                      </a:pPr>
                      <a:r>
                        <a:t>シングルス4回戦(大坂なおみ選手 対 L・フェルナンデス選手)</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『WTA1000』とは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専門用語を先に整理します。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WTA(女子テニス協会)が主催する女子プロテニスツアーの大会区分の1つ</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『1000』はツアー内での格付けを示し、四大大会(グランドスラム)に次ぐ上位クラス</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獲得できるランキングポイントが多く、有力選手が多く出場する傾向がある大会</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ナショナルバンクオープン2026は、このWTA1000に位置づけられる大会</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『シード順位』『ベスト8』とは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続けて用語を整理します。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『シード』は、事前の実力・ランキングに応じて対戦組み合わせ上優遇される順位づけ</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大坂選手は今大会『第11シード』、フェルナンデス選手は『第30シード』だった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『4回戦』は、トーナメントを勝ち上がった選手同士が対戦する段階の1つ</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『ベスト8(準々決勝進出)』は、出場選手の中で上位8人に残った状態を指す</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4回戦からベスト8までの流れ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4回戦</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大坂なおみ選手(第11シード) 対 L・フェルナンデス選手(第30シード)</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結果</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6-4, 6-4で大坂選手がストレート勝ち</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ベスト8進出</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2年連続3度目の準々決勝進出</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準々決勝へ</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世界2位・E・ルバキナ選手と対戦(結果はこれから)</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シングルス4回戦の結果</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大坂なおみ選手</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勝利(第11シード)</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6-4, 6-4のストレート勝ち</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L・フェルナンデス選手</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敗退(第30シード・カナダ)</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地元カナダの選手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テニス365(Yahoo!ニュース経由)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4回戦のスコア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6-4, 6-4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大坂なおみ選手がL・フェルナンデス選手にストレート勝ち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テニス365(Yahoo!ニュース経由)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4回戦の対戦カード</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大坂なおみ選手</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第11シード</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結果: 勝利(6-4, 6-4)</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L・フェルナンデス選手</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第30シード(カナダ)</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結果: 敗退</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『2年連続3度目のベスト8』とは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今回の到達段階</a:t>
                      </a:r>
                    </a:p>
                  </a:txBody>
                  <a:tcPr>
                    <a:solidFill>
                      <a:srgbClr val="FFFFFF"/>
                    </a:solidFill>
                  </a:tcPr>
                </a:tc>
                <a:tc>
                  <a:txBody>
                    <a:bodyPr/>
                    <a:lstStyle/>
                    <a:p>
                      <a:pPr>
                        <a:defRPr sz="1200">
                          <a:solidFill>
                            <a:srgbClr val="1E2124"/>
                          </a:solidFill>
                          <a:latin typeface="Yu Gothic"/>
                        </a:defRPr>
                      </a:pPr>
                      <a:r>
                        <a:t>ベスト8(準々決勝進出)</a:t>
                      </a:r>
                    </a:p>
                  </a:txBody>
                  <a:tcPr>
                    <a:solidFill>
                      <a:srgbClr val="FFFFFF"/>
                    </a:solidFill>
                  </a:tcPr>
                </a:tc>
              </a:tr>
              <a:tr h="502920">
                <a:tc>
                  <a:txBody>
                    <a:bodyPr/>
                    <a:lstStyle/>
                    <a:p>
                      <a:pPr>
                        <a:defRPr sz="1200">
                          <a:solidFill>
                            <a:srgbClr val="1E2124"/>
                          </a:solidFill>
                          <a:latin typeface="Yu Gothic"/>
                        </a:defRPr>
                      </a:pPr>
                      <a:r>
                        <a:t>連続性</a:t>
                      </a:r>
                    </a:p>
                  </a:txBody>
                  <a:tcPr>
                    <a:solidFill>
                      <a:srgbClr val="F7F4EF"/>
                    </a:solidFill>
                  </a:tcPr>
                </a:tc>
                <a:tc>
                  <a:txBody>
                    <a:bodyPr/>
                    <a:lstStyle/>
                    <a:p>
                      <a:pPr>
                        <a:defRPr sz="1200">
                          <a:solidFill>
                            <a:srgbClr val="1E2124"/>
                          </a:solidFill>
                          <a:latin typeface="Yu Gothic"/>
                        </a:defRPr>
                      </a:pPr>
                      <a:r>
                        <a:t>2年連続での同大会ベスト8</a:t>
                      </a:r>
                    </a:p>
                  </a:txBody>
                  <a:tcPr>
                    <a:solidFill>
                      <a:srgbClr val="F7F4EF"/>
                    </a:solidFill>
                  </a:tcPr>
                </a:tc>
              </a:tr>
              <a:tr h="502920">
                <a:tc>
                  <a:txBody>
                    <a:bodyPr/>
                    <a:lstStyle/>
                    <a:p>
                      <a:pPr>
                        <a:defRPr sz="1200">
                          <a:solidFill>
                            <a:srgbClr val="1E2124"/>
                          </a:solidFill>
                          <a:latin typeface="Yu Gothic"/>
                        </a:defRPr>
                      </a:pPr>
                      <a:r>
                        <a:t>通算回数</a:t>
                      </a:r>
                    </a:p>
                  </a:txBody>
                  <a:tcPr>
                    <a:solidFill>
                      <a:srgbClr val="FFFFFF"/>
                    </a:solidFill>
                  </a:tcPr>
                </a:tc>
                <a:tc>
                  <a:txBody>
                    <a:bodyPr/>
                    <a:lstStyle/>
                    <a:p>
                      <a:pPr>
                        <a:defRPr sz="1200">
                          <a:solidFill>
                            <a:srgbClr val="1E2124"/>
                          </a:solidFill>
                          <a:latin typeface="Yu Gothic"/>
                        </a:defRPr>
                      </a:pPr>
                      <a:r>
                        <a:t>3度目</a:t>
                      </a:r>
                    </a:p>
                  </a:txBody>
                  <a:tcPr>
                    <a:solidFill>
                      <a:srgbClr val="FFFFFF"/>
                    </a:solidFill>
                  </a:tcPr>
                </a:tc>
              </a:tr>
              <a:tr h="502920">
                <a:tc>
                  <a:txBody>
                    <a:bodyPr/>
                    <a:lstStyle/>
                    <a:p>
                      <a:pPr>
                        <a:defRPr sz="1200">
                          <a:solidFill>
                            <a:srgbClr val="1E2124"/>
                          </a:solidFill>
                          <a:latin typeface="Yu Gothic"/>
                        </a:defRPr>
                      </a:pPr>
                      <a:r>
                        <a:t>過去の内訳の詳細</a:t>
                      </a:r>
                    </a:p>
                  </a:txBody>
                  <a:tcPr>
                    <a:solidFill>
                      <a:srgbClr val="F7F4EF"/>
                    </a:solidFill>
                  </a:tcPr>
                </a:tc>
                <a:tc>
                  <a:txBody>
                    <a:bodyPr/>
                    <a:lstStyle/>
                    <a:p>
                      <a:pPr>
                        <a:defRPr sz="1200">
                          <a:solidFill>
                            <a:srgbClr val="1E2124"/>
                          </a:solidFill>
                          <a:latin typeface="Yu Gothic"/>
                        </a:defRPr>
                      </a:pPr>
                      <a:r>
                        <a:t>本調査の範囲では不明</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準々決勝の相手: E・ルバキナ選手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世界2位</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現在のランキング</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第2シード、カザフスタン</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初対戦</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大坂選手との対戦成績</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過去に対戦経験なし</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テニス365(Yahoo!ニュース経由)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ルバキナ選手の現在地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世界2位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第2シード、カザフスタン。大坂選手とは初対戦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テニス365(Yahoo!ニュース経由)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ルバキナ選手の4回戦結果</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対戦相手</a:t>
                      </a:r>
                    </a:p>
                  </a:txBody>
                  <a:tcPr>
                    <a:solidFill>
                      <a:srgbClr val="FFFFFF"/>
                    </a:solidFill>
                  </a:tcPr>
                </a:tc>
                <a:tc>
                  <a:txBody>
                    <a:bodyPr/>
                    <a:lstStyle/>
                    <a:p>
                      <a:pPr>
                        <a:defRPr sz="1200">
                          <a:solidFill>
                            <a:srgbClr val="1E2124"/>
                          </a:solidFill>
                          <a:latin typeface="Yu Gothic"/>
                        </a:defRPr>
                      </a:pPr>
                      <a:r>
                        <a:t>L・サムソノワ選手</a:t>
                      </a:r>
                    </a:p>
                  </a:txBody>
                  <a:tcPr>
                    <a:solidFill>
                      <a:srgbClr val="FFFFFF"/>
                    </a:solidFill>
                  </a:tcPr>
                </a:tc>
              </a:tr>
              <a:tr h="502920">
                <a:tc>
                  <a:txBody>
                    <a:bodyPr/>
                    <a:lstStyle/>
                    <a:p>
                      <a:pPr>
                        <a:defRPr sz="1200">
                          <a:solidFill>
                            <a:srgbClr val="1E2124"/>
                          </a:solidFill>
                          <a:latin typeface="Yu Gothic"/>
                        </a:defRPr>
                      </a:pPr>
                      <a:r>
                        <a:t>結果</a:t>
                      </a:r>
                    </a:p>
                  </a:txBody>
                  <a:tcPr>
                    <a:solidFill>
                      <a:srgbClr val="F7F4EF"/>
                    </a:solidFill>
                  </a:tcPr>
                </a:tc>
                <a:tc>
                  <a:txBody>
                    <a:bodyPr/>
                    <a:lstStyle/>
                    <a:p>
                      <a:pPr>
                        <a:defRPr sz="1200">
                          <a:solidFill>
                            <a:srgbClr val="1E2124"/>
                          </a:solidFill>
                          <a:latin typeface="Yu Gothic"/>
                        </a:defRPr>
                      </a:pPr>
                      <a:r>
                        <a:t>ルバキナ選手が勝利</a:t>
                      </a:r>
                    </a:p>
                  </a:txBody>
                  <a:tcPr>
                    <a:solidFill>
                      <a:srgbClr val="F7F4EF"/>
                    </a:solidFill>
                  </a:tcPr>
                </a:tc>
              </a:tr>
              <a:tr h="502920">
                <a:tc>
                  <a:txBody>
                    <a:bodyPr/>
                    <a:lstStyle/>
                    <a:p>
                      <a:pPr>
                        <a:defRPr sz="1200">
                          <a:solidFill>
                            <a:srgbClr val="1E2124"/>
                          </a:solidFill>
                          <a:latin typeface="Yu Gothic"/>
                        </a:defRPr>
                      </a:pPr>
                      <a:r>
                        <a:t>スコア</a:t>
                      </a:r>
                    </a:p>
                  </a:txBody>
                  <a:tcPr>
                    <a:solidFill>
                      <a:srgbClr val="FFFFFF"/>
                    </a:solidFill>
                  </a:tcPr>
                </a:tc>
                <a:tc>
                  <a:txBody>
                    <a:bodyPr/>
                    <a:lstStyle/>
                    <a:p>
                      <a:pPr>
                        <a:defRPr sz="1200">
                          <a:solidFill>
                            <a:srgbClr val="1E2124"/>
                          </a:solidFill>
                          <a:latin typeface="Yu Gothic"/>
                        </a:defRPr>
                      </a:pPr>
                      <a:r>
                        <a:t>6-4, 4-6, 6-4</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準々決勝ができるまで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大坂選手の4回戦</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6-4, 6-4でフェルナンデス選手に勝利</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ルバキナ選手の4回戦</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6-4, 4-6, 6-4でサムソノワ選手に勝利</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準々決勝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大坂選手 対 ルバキナ選手(初対戦、結果はこれから)</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準々決勝はまだ行われておらず、結果は本調査の範囲では未確定</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準々決勝を前に: 確認できている情報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大坂なおみ選手</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第11シード</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4回戦: 6-4, 6-4でストレート勝ち</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E・ルバキナ選手</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第2シード(世界2位)</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4回戦: 6-4, 4-6, 6-4でフルセット勝利</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対戦成績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0-0(初対戦)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大坂なおみ選手とE・ルバキナ選手は過去に対戦経験がなく、今回が初対戦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テニス365(Yahoo!ニュース経由)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事実・推測・不明を区別する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この動画で扱っている情報の性質を整理します。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4回戦の結果(6-4, 6-4)、2年連続3度目のベスト8進出、準々決勝の対戦カード</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ルバキナ選手が世界2位であること、大坂選手との初対戦であること</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初対戦であることが注目度を高めている可能性(勝敗の予測はしない)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準々決勝の結果(まだ行われていないため)、1〜3回戦の詳細スコア</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推測で埋めず、正直に『不明』として扱います。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大坂選手の今大会でのこれまでの他の試合結果の詳細(1〜3回戦の具体的なスコア)</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過去の2年連続8強の内訳(何年の同大会でベスト8だったか等の詳細)</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ルバキナ選手の今シーズンの詳細な戦績(通算勝敗・タイトル数等)</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準々決勝(大坂選手 対 ルバキナ選手)の結果</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準々決勝はまだ行われていません</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準々決勝(大坂選手 対 ルバキナ選手)</a:t>
                      </a:r>
                    </a:p>
                  </a:txBody>
                  <a:tcPr>
                    <a:solidFill>
                      <a:srgbClr val="FFFFFF"/>
                    </a:solidFill>
                  </a:tcPr>
                </a:tc>
                <a:tc>
                  <a:txBody>
                    <a:bodyPr/>
                    <a:lstStyle/>
                    <a:p>
                      <a:pPr>
                        <a:defRPr sz="1200">
                          <a:solidFill>
                            <a:srgbClr val="1E2124"/>
                          </a:solidFill>
                          <a:latin typeface="Yu Gothic"/>
                        </a:defRPr>
                      </a:pPr>
                      <a:r>
                        <a:t>本動画公開時点で未実施</a:t>
                      </a:r>
                    </a:p>
                  </a:txBody>
                  <a:tcPr>
                    <a:solidFill>
                      <a:srgbClr val="FFFFFF"/>
                    </a:solidFill>
                  </a:tcPr>
                </a:tc>
              </a:tr>
              <a:tr h="502920">
                <a:tc>
                  <a:txBody>
                    <a:bodyPr/>
                    <a:lstStyle/>
                    <a:p>
                      <a:pPr>
                        <a:defRPr sz="1200">
                          <a:solidFill>
                            <a:srgbClr val="1E2124"/>
                          </a:solidFill>
                          <a:latin typeface="Yu Gothic"/>
                        </a:defRPr>
                      </a:pPr>
                      <a:r>
                        <a:t>結果</a:t>
                      </a:r>
                    </a:p>
                  </a:txBody>
                  <a:tcPr>
                    <a:solidFill>
                      <a:srgbClr val="F7F4EF"/>
                    </a:solidFill>
                  </a:tcPr>
                </a:tc>
                <a:tc>
                  <a:txBody>
                    <a:bodyPr/>
                    <a:lstStyle/>
                    <a:p>
                      <a:pPr>
                        <a:defRPr sz="1200">
                          <a:solidFill>
                            <a:srgbClr val="1E2124"/>
                          </a:solidFill>
                          <a:latin typeface="Yu Gothic"/>
                        </a:defRPr>
                      </a:pPr>
                      <a:r>
                        <a:t>未確定。推測・創作はしない</a:t>
                      </a:r>
                    </a:p>
                  </a:txBody>
                  <a:tcPr>
                    <a:solidFill>
                      <a:srgbClr val="F7F4EF"/>
                    </a:solidFill>
                  </a:tcPr>
                </a:tc>
              </a:tr>
              <a:tr h="502920">
                <a:tc>
                  <a:txBody>
                    <a:bodyPr/>
                    <a:lstStyle/>
                    <a:p>
                      <a:pPr>
                        <a:defRPr sz="1200">
                          <a:solidFill>
                            <a:srgbClr val="1E2124"/>
                          </a:solidFill>
                          <a:latin typeface="Yu Gothic"/>
                        </a:defRPr>
                      </a:pPr>
                      <a:r>
                        <a:t>確認方法</a:t>
                      </a:r>
                    </a:p>
                  </a:txBody>
                  <a:tcPr>
                    <a:solidFill>
                      <a:srgbClr val="FFFFFF"/>
                    </a:solidFill>
                  </a:tcPr>
                </a:tc>
                <a:tc>
                  <a:txBody>
                    <a:bodyPr/>
                    <a:lstStyle/>
                    <a:p>
                      <a:pPr>
                        <a:defRPr sz="1200">
                          <a:solidFill>
                            <a:srgbClr val="1E2124"/>
                          </a:solidFill>
                          <a:latin typeface="Yu Gothic"/>
                        </a:defRPr>
                      </a:pPr>
                      <a:r>
                        <a:t>公式サイト・一次情報源で確認する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テニス365(2026年8月11日時点の報道)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これは何を意味するか(大坂選手にとって)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確認できている事実の範囲で考えます。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2年連続でベスト8に到達しており、この大会での結果を積み重ねていること</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世界2位の選手との初対戦という、新しい経験に臨む段階にあること</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今後の順位・大会結果への影響は、準々決勝以降の結果次第であり本調査では不明</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これは何を意味するか(テニスファン・視聴者にとって)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視聴者にとっての意味も考えます。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世界ランク2位との初対戦という、注目度の高いカードを見届けられる機会</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準々決勝の結果は本動画公開時点では不明であり、続報を待つ必要がある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結果が出た際は、公式発表・一次情報源で確認することをおすすめする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今後の展開を事実ベースで追う視点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公式記録を確認する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WTA公式・大会公式等の一次情報源で準々決勝の結果を確認する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続報を待つ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1〜3回戦の詳細スコアや過去の内訳など未確認情報の続報を待つ</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推測で判断しない</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結果が出るまでは、勝敗の予測を断定的に語らない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見送った切り口・センセーショナルにしなかった点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見送り①</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結果の推測</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準々決勝の結果をまだ行われていないのに推測・創作して書かない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見送り②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勝敗の断定</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ランキング差だけで『勝つ』『負ける』と決めつけない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見送り③</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内訳の誇張</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過去のベスト8進出の内訳を確認せず誇張しない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検品結果</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検品項目</a:t>
                      </a:r>
                    </a:p>
                  </a:txBody>
                  <a:tcPr>
                    <a:solidFill>
                      <a:srgbClr val="3A4750"/>
                    </a:solidFill>
                  </a:tcPr>
                </a:tc>
                <a:tc>
                  <a:txBody>
                    <a:bodyPr/>
                    <a:lstStyle/>
                    <a:p>
                      <a:pPr>
                        <a:defRPr sz="1300" b="1">
                          <a:solidFill>
                            <a:srgbClr val="FFFFFF"/>
                          </a:solidFill>
                          <a:latin typeface="Yu Gothic"/>
                        </a:defRPr>
                      </a:pPr>
                      <a:r>
                        <a:t>結果</a:t>
                      </a:r>
                    </a:p>
                  </a:txBody>
                  <a:tcPr>
                    <a:solidFill>
                      <a:srgbClr val="3A4750"/>
                    </a:solidFill>
                  </a:tcPr>
                </a:tc>
              </a:tr>
              <a:tr h="502920">
                <a:tc>
                  <a:txBody>
                    <a:bodyPr/>
                    <a:lstStyle/>
                    <a:p>
                      <a:pPr>
                        <a:defRPr sz="1200">
                          <a:solidFill>
                            <a:srgbClr val="1E2124"/>
                          </a:solidFill>
                          <a:latin typeface="Yu Gothic"/>
                        </a:defRPr>
                      </a:pPr>
                      <a:r>
                        <a:t>スライド枚数</a:t>
                      </a:r>
                    </a:p>
                  </a:txBody>
                  <a:tcPr>
                    <a:solidFill>
                      <a:srgbClr val="FFFFFF"/>
                    </a:solidFill>
                  </a:tcPr>
                </a:tc>
                <a:tc>
                  <a:txBody>
                    <a:bodyPr/>
                    <a:lstStyle/>
                    <a:p>
                      <a:pPr>
                        <a:defRPr sz="1200">
                          <a:solidFill>
                            <a:srgbClr val="1E2124"/>
                          </a:solidFill>
                          <a:latin typeface="Yu Gothic"/>
                        </a:defRPr>
                      </a:pPr>
                      <a:r>
                        <a:t>30枚(構成と一致)</a:t>
                      </a:r>
                    </a:p>
                  </a:txBody>
                  <a:tcPr>
                    <a:solidFill>
                      <a:srgbClr val="FFFFFF"/>
                    </a:solidFill>
                  </a:tcPr>
                </a:tc>
              </a:tr>
              <a:tr h="502920">
                <a:tc>
                  <a:txBody>
                    <a:bodyPr/>
                    <a:lstStyle/>
                    <a:p>
                      <a:pPr>
                        <a:defRPr sz="1200">
                          <a:solidFill>
                            <a:srgbClr val="1E2124"/>
                          </a:solidFill>
                          <a:latin typeface="Yu Gothic"/>
                        </a:defRPr>
                      </a:pPr>
                      <a:r>
                        <a:t>全スライドのノート</a:t>
                      </a:r>
                    </a:p>
                  </a:txBody>
                  <a:tcPr>
                    <a:solidFill>
                      <a:srgbClr val="F7F4EF"/>
                    </a:solidFill>
                  </a:tcPr>
                </a:tc>
                <a:tc>
                  <a:txBody>
                    <a:bodyPr/>
                    <a:lstStyle/>
                    <a:p>
                      <a:pPr>
                        <a:defRPr sz="1200">
                          <a:solidFill>
                            <a:srgbClr val="1E2124"/>
                          </a:solidFill>
                          <a:latin typeface="Yu Gothic"/>
                        </a:defRPr>
                      </a:pPr>
                      <a:r>
                        <a:t>全て記載済み</a:t>
                      </a:r>
                    </a:p>
                  </a:txBody>
                  <a:tcPr>
                    <a:solidFill>
                      <a:srgbClr val="F7F4EF"/>
                    </a:solidFill>
                  </a:tcPr>
                </a:tc>
              </a:tr>
              <a:tr h="502920">
                <a:tc>
                  <a:txBody>
                    <a:bodyPr/>
                    <a:lstStyle/>
                    <a:p>
                      <a:pPr>
                        <a:defRPr sz="1200">
                          <a:solidFill>
                            <a:srgbClr val="1E2124"/>
                          </a:solidFill>
                          <a:latin typeface="Yu Gothic"/>
                        </a:defRPr>
                      </a:pPr>
                      <a:r>
                        <a:t>bullets比率</a:t>
                      </a:r>
                    </a:p>
                  </a:txBody>
                  <a:tcPr>
                    <a:solidFill>
                      <a:srgbClr val="FFFFFF"/>
                    </a:solidFill>
                  </a:tcPr>
                </a:tc>
                <a:tc>
                  <a:txBody>
                    <a:bodyPr/>
                    <a:lstStyle/>
                    <a:p>
                      <a:pPr>
                        <a:defRPr sz="1200">
                          <a:solidFill>
                            <a:srgbClr val="1E2124"/>
                          </a:solidFill>
                          <a:latin typeface="Yu Gothic"/>
                        </a:defRPr>
                      </a:pPr>
                      <a:r>
                        <a:t>40%以下</a:t>
                      </a:r>
                    </a:p>
                  </a:txBody>
                  <a:tcPr>
                    <a:solidFill>
                      <a:srgbClr val="FFFFFF"/>
                    </a:solidFill>
                  </a:tcPr>
                </a:tc>
              </a:tr>
              <a:tr h="502920">
                <a:tc>
                  <a:txBody>
                    <a:bodyPr/>
                    <a:lstStyle/>
                    <a:p>
                      <a:pPr>
                        <a:defRPr sz="1200">
                          <a:solidFill>
                            <a:srgbClr val="1E2124"/>
                          </a:solidFill>
                          <a:latin typeface="Yu Gothic"/>
                        </a:defRPr>
                      </a:pPr>
                      <a:r>
                        <a:t>同一レイアウト4連続</a:t>
                      </a:r>
                    </a:p>
                  </a:txBody>
                  <a:tcPr>
                    <a:solidFill>
                      <a:srgbClr val="F7F4EF"/>
                    </a:solidFill>
                  </a:tcPr>
                </a:tc>
                <a:tc>
                  <a:txBody>
                    <a:bodyPr/>
                    <a:lstStyle/>
                    <a:p>
                      <a:pPr>
                        <a:defRPr sz="1200">
                          <a:solidFill>
                            <a:srgbClr val="1E2124"/>
                          </a:solidFill>
                          <a:latin typeface="Yu Gothic"/>
                        </a:defRPr>
                      </a:pPr>
                      <a:r>
                        <a:t>なし</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verify_pptx.py / build_deck.pyの検品ログ</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本テーマで使用した出典です。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テニス365「大坂なおみ 2年連続8強、次戦は世界2位」</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テニス365(Yahoo!ニュース経由)「大坂なおみら ナショナルバンクOP8強出揃う、気になる準々決勝の組合せは？」</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テニス365(Yahoo!ニュース経由)「大坂なおみ ストレート勝ちで2年連続3度目の8強、次戦は世界2位と激突」</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テニス365(Yahoo!ニュース経由)「大坂なおみ 準々決勝で世界2位と初対戦『素晴らしい選手』『楽しみ』」</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既存テーマとの関係(90本目との違い)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区分</a:t>
                      </a:r>
                    </a:p>
                  </a:txBody>
                  <a:tcPr>
                    <a:solidFill>
                      <a:srgbClr val="3A4750"/>
                    </a:solidFill>
                  </a:tcPr>
                </a:tc>
                <a:tc>
                  <a:txBody>
                    <a:bodyPr/>
                    <a:lstStyle/>
                    <a:p>
                      <a:pPr>
                        <a:defRPr sz="1300" b="1">
                          <a:solidFill>
                            <a:srgbClr val="FFFFFF"/>
                          </a:solidFill>
                          <a:latin typeface="Yu Gothic"/>
                        </a:defRPr>
                      </a:pPr>
                      <a:r>
                        <a:t>90本目(既存)</a:t>
                      </a:r>
                    </a:p>
                  </a:txBody>
                  <a:tcPr>
                    <a:solidFill>
                      <a:srgbClr val="3A4750"/>
                    </a:solidFill>
                  </a:tcPr>
                </a:tc>
                <a:tc>
                  <a:txBody>
                    <a:bodyPr/>
                    <a:lstStyle/>
                    <a:p>
                      <a:pPr>
                        <a:defRPr sz="1300" b="1">
                          <a:solidFill>
                            <a:srgbClr val="FFFFFF"/>
                          </a:solidFill>
                          <a:latin typeface="Yu Gothic"/>
                        </a:defRPr>
                      </a:pPr>
                      <a:r>
                        <a:t>173本目(本テーマ)</a:t>
                      </a:r>
                    </a:p>
                  </a:txBody>
                  <a:tcPr>
                    <a:solidFill>
                      <a:srgbClr val="3A4750"/>
                    </a:solidFill>
                  </a:tcPr>
                </a:tc>
              </a:tr>
              <a:tr h="502920">
                <a:tc>
                  <a:txBody>
                    <a:bodyPr/>
                    <a:lstStyle/>
                    <a:p>
                      <a:pPr>
                        <a:defRPr sz="1200">
                          <a:solidFill>
                            <a:srgbClr val="1E2124"/>
                          </a:solidFill>
                          <a:latin typeface="Yu Gothic"/>
                        </a:defRPr>
                      </a:pPr>
                      <a:r>
                        <a:t>大会</a:t>
                      </a:r>
                    </a:p>
                  </a:txBody>
                  <a:tcPr>
                    <a:solidFill>
                      <a:srgbClr val="FFFFFF"/>
                    </a:solidFill>
                  </a:tcPr>
                </a:tc>
                <a:tc>
                  <a:txBody>
                    <a:bodyPr/>
                    <a:lstStyle/>
                    <a:p>
                      <a:pPr>
                        <a:defRPr sz="1200">
                          <a:solidFill>
                            <a:srgbClr val="1E2124"/>
                          </a:solidFill>
                          <a:latin typeface="Yu Gothic"/>
                        </a:defRPr>
                      </a:pPr>
                      <a:r>
                        <a:t>全米オープン</a:t>
                      </a:r>
                    </a:p>
                  </a:txBody>
                  <a:tcPr>
                    <a:solidFill>
                      <a:srgbClr val="FFFFFF"/>
                    </a:solidFill>
                  </a:tcPr>
                </a:tc>
                <a:tc>
                  <a:txBody>
                    <a:bodyPr/>
                    <a:lstStyle/>
                    <a:p>
                      <a:pPr>
                        <a:defRPr sz="1200">
                          <a:solidFill>
                            <a:srgbClr val="1E2124"/>
                          </a:solidFill>
                          <a:latin typeface="Yu Gothic"/>
                        </a:defRPr>
                      </a:pPr>
                      <a:r>
                        <a:t>ナショナルバンクオープン2026</a:t>
                      </a:r>
                    </a:p>
                  </a:txBody>
                  <a:tcPr>
                    <a:solidFill>
                      <a:srgbClr val="FFFFFF"/>
                    </a:solidFill>
                  </a:tcPr>
                </a:tc>
              </a:tr>
              <a:tr h="502920">
                <a:tc>
                  <a:txBody>
                    <a:bodyPr/>
                    <a:lstStyle/>
                    <a:p>
                      <a:pPr>
                        <a:defRPr sz="1200">
                          <a:solidFill>
                            <a:srgbClr val="1E2124"/>
                          </a:solidFill>
                          <a:latin typeface="Yu Gothic"/>
                        </a:defRPr>
                      </a:pPr>
                      <a:r>
                        <a:t>大会格</a:t>
                      </a:r>
                    </a:p>
                  </a:txBody>
                  <a:tcPr>
                    <a:solidFill>
                      <a:srgbClr val="F7F4EF"/>
                    </a:solidFill>
                  </a:tcPr>
                </a:tc>
                <a:tc>
                  <a:txBody>
                    <a:bodyPr/>
                    <a:lstStyle/>
                    <a:p>
                      <a:pPr>
                        <a:defRPr sz="1200">
                          <a:solidFill>
                            <a:srgbClr val="1E2124"/>
                          </a:solidFill>
                          <a:latin typeface="Yu Gothic"/>
                        </a:defRPr>
                      </a:pPr>
                      <a:r>
                        <a:t>グランドスラム</a:t>
                      </a:r>
                    </a:p>
                  </a:txBody>
                  <a:tcPr>
                    <a:solidFill>
                      <a:srgbClr val="F7F4EF"/>
                    </a:solidFill>
                  </a:tcPr>
                </a:tc>
                <a:tc>
                  <a:txBody>
                    <a:bodyPr/>
                    <a:lstStyle/>
                    <a:p>
                      <a:pPr>
                        <a:defRPr sz="1200">
                          <a:solidFill>
                            <a:srgbClr val="1E2124"/>
                          </a:solidFill>
                          <a:latin typeface="Yu Gothic"/>
                        </a:defRPr>
                      </a:pPr>
                      <a:r>
                        <a:t>WTA1000</a:t>
                      </a:r>
                    </a:p>
                  </a:txBody>
                  <a:tcPr>
                    <a:solidFill>
                      <a:srgbClr val="F7F4EF"/>
                    </a:solidFill>
                  </a:tcPr>
                </a:tc>
              </a:tr>
              <a:tr h="502920">
                <a:tc>
                  <a:txBody>
                    <a:bodyPr/>
                    <a:lstStyle/>
                    <a:p>
                      <a:pPr>
                        <a:defRPr sz="1200">
                          <a:solidFill>
                            <a:srgbClr val="1E2124"/>
                          </a:solidFill>
                          <a:latin typeface="Yu Gothic"/>
                        </a:defRPr>
                      </a:pPr>
                      <a:r>
                        <a:t>話題の中心</a:t>
                      </a:r>
                    </a:p>
                  </a:txBody>
                  <a:tcPr>
                    <a:solidFill>
                      <a:srgbClr val="FFFFFF"/>
                    </a:solidFill>
                  </a:tcPr>
                </a:tc>
                <a:tc>
                  <a:txBody>
                    <a:bodyPr/>
                    <a:lstStyle/>
                    <a:p>
                      <a:pPr>
                        <a:defRPr sz="1200">
                          <a:solidFill>
                            <a:srgbClr val="1E2124"/>
                          </a:solidFill>
                          <a:latin typeface="Yu Gothic"/>
                        </a:defRPr>
                      </a:pPr>
                      <a:r>
                        <a:t>錦織圭選手・大坂選手のダブルス/組み合わせ</a:t>
                      </a:r>
                    </a:p>
                  </a:txBody>
                  <a:tcPr>
                    <a:solidFill>
                      <a:srgbClr val="FFFFFF"/>
                    </a:solidFill>
                  </a:tcPr>
                </a:tc>
                <a:tc>
                  <a:txBody>
                    <a:bodyPr/>
                    <a:lstStyle/>
                    <a:p>
                      <a:pPr>
                        <a:defRPr sz="1200">
                          <a:solidFill>
                            <a:srgbClr val="1E2124"/>
                          </a:solidFill>
                          <a:latin typeface="Yu Gothic"/>
                        </a:defRPr>
                      </a:pPr>
                      <a:r>
                        <a:t>大坂選手のシングルス4回戦・準々決勝進出</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ai-company-os/assets/ ディレクトリ一覧の確認</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出典: テニス365(一部Yahoo!ニュース経由)。準々決勝の結果は本動画公開時点で未確定</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準々決勝は、まだこれから。</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大坂なおみ選手が、世界ランク2位・E・ルバキナ選手と初めて対戦する。2年連続3度目のベスト8進出という積み重ねの先で迎える一戦</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準々決勝の結果は、公式サイト・一次情報源で確認する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出典: テニス365(一部Yahoo!ニュース経由)。準々決勝の結果は本動画公開時点で未確定です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続報・公式記録は一次情報源でご確認ください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