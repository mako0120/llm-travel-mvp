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調達額(百万ドル)</c:v>
                </c:pt>
              </c:strCache>
            </c:strRef>
          </c:tx>
          <c:spPr>
            <a:solidFill>
              <a:srgbClr val="2B3A55"/>
            </a:solidFill>
          </c:spPr>
          <c:cat>
            <c:strRef>
              <c:f>Sheet1!$A$2:$A$4</c:f>
              <c:strCache>
                <c:ptCount val="3"/>
                <c:pt idx="0">
                  <c:v>シリーズA(2025年3月)</c:v>
                </c:pt>
                <c:pt idx="1">
                  <c:v>シリーズB(2025年11月)</c:v>
                </c:pt>
                <c:pt idx="2">
                  <c:v>シリーズC(2026年8月)</c:v>
                </c:pt>
              </c:strCache>
            </c:strRef>
          </c:cat>
          <c:val>
            <c:numRef>
              <c:f>Sheet1!$B$2:$B$4</c:f>
              <c:numCache>
                <c:formatCode>General</c:formatCode>
                <c:ptCount val="3"/>
                <c:pt idx="0">
                  <c:v>35</c:v>
                </c:pt>
                <c:pt idx="1">
                  <c:v>75</c:v>
                </c:pt>
                <c:pt idx="2">
                  <c:v>250</c:v>
                </c:pt>
              </c:numCache>
            </c:numRef>
          </c:val>
        </c:ser>
        <c:dLbls>
          <c:numFmt formatCode="$#,##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2026年8月11日、自律型防衛ドローン企業のNeros Technologiesが、シリーズCで2.5億ドルを調達し、評価額が25億ドルになったと発表しました。今日はこの発表内容を出典付きで整理してお伝えします。防衛関連のテーマですが、事実関係の整理に徹し、評価的な立場は取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結論から確認します。今回のシリーズCは2.5億ドル、評価額は25億ドルです。Sequoia CapitalとAmerican Strategic Technology Fundが共同でリードし、資金はArcher AIとBanditという2つの製品ラインの量産体制拡大に使われるとされています。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このテーマは着手日から2日以内という新しい発表に基づいています。25億ドルという評価額の大きさ、著名投資家の参加、防衛産業への資金流入という時事性の高さが注目点です。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Neros Technologiesは、2023年に元プロドローンレーサーの2人が設立した防衛技術企業です。低コストで使い捨て型の無人航空機を設計・製造しており、米陸軍のプログラム等、複数の政府契約をすでに持っています。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自律型防衛ドローンとは、AIが位置保持や誘導などの一部の判断を支援するドローンです。従来の手動操縦のFPVドローンと対比しながら、次のスライド以降で具体的な製品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伸びを確認します。Bloombergは評価額が3倍になったと報じました。前回評価額を逆算するとおよそ8.3億ドル程度になりますが、これは当社による推測であり、報道が直接明記した数字ではないことをお断り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資金調達の推移をグラフにしました。シリーズAの3,500万ドル、シリーズBの7,500万ドルから、今回のシリーズCで2.5億ドルへと、調達額が急拡大しています。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出資者を一覧にしました。Sequoia CapitalとAmerican Strategic Technology Fundが共同でリードし、Interlagos、Valor Equity Partners、Allen &amp; Company、Thiel Capital、Spark Capital、Dylan Field氏が参加しています。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CEOのソレン・モンロー・アンダーソン氏のコメントを紹介します。複数能力を持つドローンメーカーへと発展するとしつつ、年間100万機生産という目標自体は変わらないと述べています。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Archer AIの仕組みを図にしました。手動FPV操縦の基盤に、目標への終末誘導を支援するTerminal Guidanceと、GPSが届かない環境でも位置を保持するGPS-denied Position Holdという2つの自律機能が付加された構成だと報じられています。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Archer AIは、手動操縦のFPVドローン基盤に自律機能を付加したプラットフォームです。終末誘導と、GPSが届かない環境での位置保持という2つの機能が特徴とされ、年内の実戦投入が計画され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Banditは、対無人機の迎撃を目的としたドローンです。Class 2・Class 3に分類される小型ドローンを対象とし、Archer AIと同様に年内の実戦投入が計画されていると報じられています。実戦での迎撃実績の検証データは、本調査の範囲では確認できていません。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2つの製品の役割を比較します。Archer AIが攻撃・偵察用途の基盤であるのに対し、Banditは他のドローンを迎撃することを主目的とした、異なる新規プログラムです。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主な契約先を3つ紹介します。米陸軍とは既に最大5億ドル規模の別契約があり、米海兵隊、米特殊作戦軍の全構成部隊とも契約があるとされています。加えて同盟国約6か国とも契約があるとされますが、具体的な国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産目標を確認します。2028年までに年間100万機の生産を目指すとされており、現在は週あたり約1,200機を生産していると報じられています。ただしこの週次生産数は、シリーズC発表とは別の時期の報道に基づく参考値である点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資金の使い道を3ステップに整理しました。製造拠点の拡大を土台に、Archer AIとBanditそれぞれの量産ラインを拡張していく計画だとされています。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情報として単価も紹介します。基本型は約2,000ドル、弾頭等を含む完全装備構成では約5,000ドルと報じられていますが、これは専門メディアによる報道時点の推定値であり、Neros公式が正式発表した一次資料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時系列で見ると、2023年の設立から、2025年のシリーズA・シリーズBを経て、2026年8月にシリーズCへとつながっています。調達額が段階的に拡大していることが分かります。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確認できていないことを正直にお伝えします。株主構成の詳細、技術仕様の詳細、迎撃ドローンの実戦での検証データは、本調査の範囲では確認できていません。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確認できていないことを一覧にしました。数字や詳細を推測で埋めず、正直に不明・参考値として扱っています。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ここで事実と推測を分けます。調達額や出資者などは複数メディアが確認した事実ですが、評価額の逆算や生産ペースなどは推測・参考値であることを明確にします。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あります。今回の発表は資金調達に関するものであり、性能面の優劣を裏付ける第三者検証データがあるわけではありません。実戦投入もあくまで計画段階の表現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投資動向という文脈でも位置づけます。著名なベンチャー投資家や防衛特化のファンドが参加していること自体が、防衛AI分野への資金流入という時事性を示しています。特定の兵器の優劣を評価する内容ではないことを重ね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読者にとっての実践的な示唆をまとめました。投資動向、AI技術動向、ニュースの読み方、それぞれの立場で意識したい点です。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ここで一度立ち止まります。本テーマは防衛関連というセンシティブになりやすい話題を扱いますが、誇張や扇動を避け、事実関係の整理に徹しています。良い・悪いという価値判断も行いません。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本テーマの鮮度を数字で確認します。中心となる発表・報道は2026年8月11日、着手日は8月13日で、2日以内という基準を満たしています。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今回のポイントを確認します。2.5億ドルの調達、評価額25億ドルという規模の大きさは事実として報じられていますが、性能や配備実績についての第三者検証はまだ確認できておらず、確定事実と計画段階の情報を区別して見る必要がある、という点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本編は以上です。今回はNeros Technologiesが自律型防衛ドローンでシリーズC 2.5億ドルを調達した経緯をお伝えしました。称賛や誇張ではなく、事実関係の整理に留めています。次回もまた出典付きでお届けします。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評価額、1年で25億ドルへ。</a:t>
            </a:r>
          </a:p>
          <a:p>
            <a:pPr algn="l">
              <a:lnSpc>
                <a:spcPct val="115000"/>
              </a:lnSpc>
            </a:pPr>
            <a:r>
              <a:rPr sz="4200" b="1">
                <a:solidFill>
                  <a:srgbClr val="FFFFFF"/>
                </a:solidFill>
                <a:latin typeface="Yu Gothic"/>
              </a:rPr>
              <a:t>自律型防衛ドローン企業Neros Technologiesが、</a:t>
            </a:r>
          </a:p>
          <a:p>
            <a:pPr algn="l">
              <a:lnSpc>
                <a:spcPct val="115000"/>
              </a:lnSpc>
            </a:pPr>
            <a:r>
              <a:rPr sz="4200" b="1">
                <a:solidFill>
                  <a:srgbClr val="FFFFFF"/>
                </a:solidFill>
                <a:latin typeface="Yu Gothic"/>
              </a:rPr>
              <a:t>シリーズCで2.5億ドルを調達したと発表した。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AI搭載プラットフォーム「Archer AI」を軸に――出典付きで事実関係を整理する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PRNewswire・Yahoo Finance・Morningstar・Pulse2・FinSMEs・Dealroom・Bloomberg(いずれも2026-08-11)。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2.5億ドル調達、評価額25億ドル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Sequoia CapitalとAmerican Strategic Technology Fundが共同リード。資金は自律型ドローン「Archer AI」と迎撃ドローン「Bandit」の量産体制拡大に充てられるとされる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PRNewswire(2026-08-11)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何が発表されたのか(初心者向け解説つき)</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資金調達の内訳(投資家・過去ラウンドとの比較)</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「Archer AI」「Bandit」とは何か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契約・生産目標・タイムライン</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確認できなかったこと・防衛テーマとしての留意点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2026年8月11日の発表を、着手日から2日以内に複数の独立したメディアが報じている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「25億ドル」という評価額、Sequoia Capital等の著名投資家の参加が具体的なフックになる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防衛産業への資金流入という時事性の高いテーマである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PRNewswire・Yahoo Finance・Morningstar・Pulse2・FinSMEs(2026-08-11)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Neros Technologiesとは(初心者向け)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2023年、元プロドローンレーサーの2人が米カリフォルニア州エルセグンドで設立した防衛技術企業</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低コストで使い捨て型(攻撃後に回収しない前提)の無人航空機(UAV)を設計・製造する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米陸軍のPurpose-Built Attritable Systemsプログラム等、複数の政府契約を持つ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Wikipedia「Neros」・GovConWire(2026年時点の報道に基づく)</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「自律型防衛ドローン」とは何か(前提知識)</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人が細かく操縦しなくても、AIが位置保持や目標への誘導などの一部の判断を支援するドローン</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従来のFPV(一人称視点)ドローンは、操縦者が画面を見ながら手動で操作する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自律機能は、操縦者の負担軽減や電波が届きにくい環境での運用を目的とする、と一般に説明される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評価額の伸び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評価額、約3倍に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Bloombergは「評価額が3倍になった」と報道。当社の逆算では前回評価額はおよそ8.3億ドル程度と推測されるが、この数字はBloombergが直接明記したものではなく当社の推測である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資金調達ラウンドの推移(百万ドル)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Aviation Week・Neros公式ニュースページ・PRNewswire</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シリーズCの出資者一覧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役割</a:t>
                      </a:r>
                    </a:p>
                  </a:txBody>
                  <a:tcPr>
                    <a:solidFill>
                      <a:srgbClr val="2B3A55"/>
                    </a:solidFill>
                  </a:tcPr>
                </a:tc>
                <a:tc>
                  <a:txBody>
                    <a:bodyPr/>
                    <a:lstStyle/>
                    <a:p>
                      <a:pPr>
                        <a:defRPr sz="1300" b="1">
                          <a:solidFill>
                            <a:srgbClr val="FFFFFF"/>
                          </a:solidFill>
                          <a:latin typeface="Yu Gothic"/>
                        </a:defRPr>
                      </a:pPr>
                      <a:r>
                        <a:t>出資者</a:t>
                      </a:r>
                    </a:p>
                  </a:txBody>
                  <a:tcPr>
                    <a:solidFill>
                      <a:srgbClr val="2B3A55"/>
                    </a:solidFill>
                  </a:tcPr>
                </a:tc>
              </a:tr>
              <a:tr h="502920">
                <a:tc>
                  <a:txBody>
                    <a:bodyPr/>
                    <a:lstStyle/>
                    <a:p>
                      <a:pPr>
                        <a:defRPr sz="1200">
                          <a:solidFill>
                            <a:srgbClr val="1C2230"/>
                          </a:solidFill>
                          <a:latin typeface="Yu Gothic"/>
                        </a:defRPr>
                      </a:pPr>
                      <a:r>
                        <a:t>共同リード</a:t>
                      </a:r>
                    </a:p>
                  </a:txBody>
                  <a:tcPr>
                    <a:solidFill>
                      <a:srgbClr val="FFFFFF"/>
                    </a:solidFill>
                  </a:tcPr>
                </a:tc>
                <a:tc>
                  <a:txBody>
                    <a:bodyPr/>
                    <a:lstStyle/>
                    <a:p>
                      <a:pPr>
                        <a:defRPr sz="1200">
                          <a:solidFill>
                            <a:srgbClr val="1C2230"/>
                          </a:solidFill>
                          <a:latin typeface="Yu Gothic"/>
                        </a:defRPr>
                      </a:pPr>
                      <a:r>
                        <a:t>Sequoia Capital</a:t>
                      </a:r>
                    </a:p>
                  </a:txBody>
                  <a:tcPr>
                    <a:solidFill>
                      <a:srgbClr val="FFFFFF"/>
                    </a:solidFill>
                  </a:tcPr>
                </a:tc>
              </a:tr>
              <a:tr h="502920">
                <a:tc>
                  <a:txBody>
                    <a:bodyPr/>
                    <a:lstStyle/>
                    <a:p>
                      <a:pPr>
                        <a:defRPr sz="1200">
                          <a:solidFill>
                            <a:srgbClr val="1C2230"/>
                          </a:solidFill>
                          <a:latin typeface="Yu Gothic"/>
                        </a:defRPr>
                      </a:pPr>
                      <a:r>
                        <a:t>共同リード</a:t>
                      </a:r>
                    </a:p>
                  </a:txBody>
                  <a:tcPr>
                    <a:solidFill>
                      <a:srgbClr val="F1F5FA"/>
                    </a:solidFill>
                  </a:tcPr>
                </a:tc>
                <a:tc>
                  <a:txBody>
                    <a:bodyPr/>
                    <a:lstStyle/>
                    <a:p>
                      <a:pPr>
                        <a:defRPr sz="1200">
                          <a:solidFill>
                            <a:srgbClr val="1C2230"/>
                          </a:solidFill>
                          <a:latin typeface="Yu Gothic"/>
                        </a:defRPr>
                      </a:pPr>
                      <a:r>
                        <a:t>American Strategic Technology Fund(ASTF)</a:t>
                      </a:r>
                    </a:p>
                  </a:txBody>
                  <a:tcPr>
                    <a:solidFill>
                      <a:srgbClr val="F1F5FA"/>
                    </a:solidFill>
                  </a:tcPr>
                </a:tc>
              </a:tr>
              <a:tr h="502920">
                <a:tc>
                  <a:txBody>
                    <a:bodyPr/>
                    <a:lstStyle/>
                    <a:p>
                      <a:pPr>
                        <a:defRPr sz="1200">
                          <a:solidFill>
                            <a:srgbClr val="1C2230"/>
                          </a:solidFill>
                          <a:latin typeface="Yu Gothic"/>
                        </a:defRPr>
                      </a:pPr>
                      <a:r>
                        <a:t>参加</a:t>
                      </a:r>
                    </a:p>
                  </a:txBody>
                  <a:tcPr>
                    <a:solidFill>
                      <a:srgbClr val="FFFFFF"/>
                    </a:solidFill>
                  </a:tcPr>
                </a:tc>
                <a:tc>
                  <a:txBody>
                    <a:bodyPr/>
                    <a:lstStyle/>
                    <a:p>
                      <a:pPr>
                        <a:defRPr sz="1200">
                          <a:solidFill>
                            <a:srgbClr val="1C2230"/>
                          </a:solidFill>
                          <a:latin typeface="Yu Gothic"/>
                        </a:defRPr>
                      </a:pPr>
                      <a:r>
                        <a:t>Interlagos / Valor Equity Partners / Allen &amp; Company / Thiel Capital / Spark Capital / Dylan Field氏</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PRNewswire(2026-08-11)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“今回の資金調達により、Nerosは複数能力を持つドローンメーカーへと発展する。年間100万機生産という使命は変わらないが、対応できるドローンと任務の幅は増えている。”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ソレン・モンロー・アンダーソン氏(Neros共同創業者・CEO、PRNewswire掲載コメントの要旨、2026-08-11)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「Archer AI」の仕組み(概念図)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手動FPV操縦の基盤</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従来の一人称視点ドローンとしての操縦機能</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Terminal Guidance</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目標への終末誘導を支援する自律機能</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GPS-denied Position Hold</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GPSが届かない環境でも位置を保持する自律機能</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手動操縦の基盤の上に、2種類の自律機能を付加したプラットフォームとして報じられている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「Archer AI」とは何か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今回の資金使途の中心となる製品です。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手動操縦のFPVドローン基盤に、自律機能を付加したプラットフォーム</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Terminal Guidance(終末誘導)とGPS-denied Position Hold(GPS非受信下での位置保持)を搭載</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年内(2026年内)の実戦投入を計画していると報じられている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PRNewswire(2026-08-11)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「Bandit」とは何か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もう一つの製品ラインです。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対無人機(c-UAS)迎撃ドローンとして開発されている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Class 2・Class 3に分類される小型ドローン(Shahed型を含むとされる)を対象とする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Archer AIと同様、年内の実戦投入を計画していると報じられている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PRNewswire(2026-08-11)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Archer AI と Bandit の役割の違い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Archer AI</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攻撃・偵察用途のFPVドローン基盤</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自律機能で誘導・位置保持を支援</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低コストの使い捨て型として設計</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Bandit</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対無人機(c-UAS)の迎撃が主目的</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Class 2・Class 3の小型ドローンを対象</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Archer AIとは異なる新規プログラム</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報じられている主な契約・顧客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米陸軍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Purpose-Built Attritable Systemsプログラムで最大5億ドル規模のIDIQ契約(シリーズCとは別契約)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米海兵隊</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主要契約を持つとされる(詳細な契約規模は本調査の範囲では未確認)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米特殊作戦軍(USSOCOM)</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全構成部隊と契約があるとされる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PRNewswire・GovConWire(2026年)</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生産目標</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年間100万機(2028年目標)</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現在は米カリフォルニア州南部の拠点で週約1,200機を生産していると報じられている(報道時点の参考値)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PRNewswire・Tectonic Defense・migflug.com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今回の資金の使い道(報じられている範囲)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①製造拠点の拡大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新たな製造拠点の整備を含む量産体制の拡大</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②Archer AIの量産</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自律機能を搭載したドローンの生産ラインを拡張する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③Banditの量産</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迎撃ドローンの生産ラインを立ち上げ・拡張する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参考: 報じられているドローン単価(未確認・参考値)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構成</a:t>
                      </a:r>
                    </a:p>
                  </a:txBody>
                  <a:tcPr>
                    <a:solidFill>
                      <a:srgbClr val="2B3A55"/>
                    </a:solidFill>
                  </a:tcPr>
                </a:tc>
                <a:tc>
                  <a:txBody>
                    <a:bodyPr/>
                    <a:lstStyle/>
                    <a:p>
                      <a:pPr>
                        <a:defRPr sz="1300" b="1">
                          <a:solidFill>
                            <a:srgbClr val="FFFFFF"/>
                          </a:solidFill>
                          <a:latin typeface="Yu Gothic"/>
                        </a:defRPr>
                      </a:pPr>
                      <a:r>
                        <a:t>推定単価</a:t>
                      </a:r>
                    </a:p>
                  </a:txBody>
                  <a:tcPr>
                    <a:solidFill>
                      <a:srgbClr val="2B3A55"/>
                    </a:solidFill>
                  </a:tcPr>
                </a:tc>
              </a:tr>
              <a:tr h="502920">
                <a:tc>
                  <a:txBody>
                    <a:bodyPr/>
                    <a:lstStyle/>
                    <a:p>
                      <a:pPr>
                        <a:defRPr sz="1200">
                          <a:solidFill>
                            <a:srgbClr val="1C2230"/>
                          </a:solidFill>
                          <a:latin typeface="Yu Gothic"/>
                        </a:defRPr>
                      </a:pPr>
                      <a:r>
                        <a:t>基本型(Archer)</a:t>
                      </a:r>
                    </a:p>
                  </a:txBody>
                  <a:tcPr>
                    <a:solidFill>
                      <a:srgbClr val="FFFFFF"/>
                    </a:solidFill>
                  </a:tcPr>
                </a:tc>
                <a:tc>
                  <a:txBody>
                    <a:bodyPr/>
                    <a:lstStyle/>
                    <a:p>
                      <a:pPr>
                        <a:defRPr sz="1200">
                          <a:solidFill>
                            <a:srgbClr val="1C2230"/>
                          </a:solidFill>
                          <a:latin typeface="Yu Gothic"/>
                        </a:defRPr>
                      </a:pPr>
                      <a:r>
                        <a:t>約2,000ドル</a:t>
                      </a:r>
                    </a:p>
                  </a:txBody>
                  <a:tcPr>
                    <a:solidFill>
                      <a:srgbClr val="FFFFFF"/>
                    </a:solidFill>
                  </a:tcPr>
                </a:tc>
              </a:tr>
              <a:tr h="502920">
                <a:tc>
                  <a:txBody>
                    <a:bodyPr/>
                    <a:lstStyle/>
                    <a:p>
                      <a:pPr>
                        <a:defRPr sz="1200">
                          <a:solidFill>
                            <a:srgbClr val="1C2230"/>
                          </a:solidFill>
                          <a:latin typeface="Yu Gothic"/>
                        </a:defRPr>
                      </a:pPr>
                      <a:r>
                        <a:t>弾頭等を含む完全装備構成</a:t>
                      </a:r>
                    </a:p>
                  </a:txBody>
                  <a:tcPr>
                    <a:solidFill>
                      <a:srgbClr val="F1F5FA"/>
                    </a:solidFill>
                  </a:tcPr>
                </a:tc>
                <a:tc>
                  <a:txBody>
                    <a:bodyPr/>
                    <a:lstStyle/>
                    <a:p>
                      <a:pPr>
                        <a:defRPr sz="1200">
                          <a:solidFill>
                            <a:srgbClr val="1C2230"/>
                          </a:solidFill>
                          <a:latin typeface="Yu Gothic"/>
                        </a:defRPr>
                      </a:pPr>
                      <a:r>
                        <a:t>約5,000ドル</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migflug.com(報道時点の推定値。Neros公式の一次資料では未確認)</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これまでのタイムライン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2023年</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カリフォルニア州エルセグンドでNeros Technologies設立</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2025年3月</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シリーズAで3,500万ドルを調達</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2025年11月</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シリーズBで7,500万ドルを調達(Sequoia Capitalがリード)</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2026年8月11日</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シリーズCで2.5億ドルを調達、評価額25億ドルに</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確認できていないこと(1)</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シリーズC後の正確な株主構成比率(持ち株比率)</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Archer AIの詳細な技術仕様(具体的なセンサー構成・AIモデルの詳細)</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Banditの実戦での迎撃成功実績・第三者による検証データ</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同盟国約6か国の具体的な国名</a:t>
                      </a:r>
                    </a:p>
                  </a:txBody>
                  <a:tcPr>
                    <a:solidFill>
                      <a:srgbClr val="FFFFFF"/>
                    </a:solidFill>
                  </a:tcPr>
                </a:tc>
                <a:tc>
                  <a:txBody>
                    <a:bodyPr/>
                    <a:lstStyle/>
                    <a:p>
                      <a:pPr>
                        <a:defRPr sz="1200">
                          <a:solidFill>
                            <a:srgbClr val="1C2230"/>
                          </a:solidFill>
                          <a:latin typeface="Yu Gothic"/>
                        </a:defRPr>
                      </a:pPr>
                      <a:r>
                        <a:t>報道では「約6か国」とされるのみで、国名は本調査の範囲では未確認</a:t>
                      </a:r>
                    </a:p>
                  </a:txBody>
                  <a:tcPr>
                    <a:solidFill>
                      <a:srgbClr val="FFFFFF"/>
                    </a:solidFill>
                  </a:tcPr>
                </a:tc>
              </a:tr>
              <a:tr h="502920">
                <a:tc>
                  <a:txBody>
                    <a:bodyPr/>
                    <a:lstStyle/>
                    <a:p>
                      <a:pPr>
                        <a:defRPr sz="1200">
                          <a:solidFill>
                            <a:srgbClr val="1C2230"/>
                          </a:solidFill>
                          <a:latin typeface="Yu Gothic"/>
                        </a:defRPr>
                      </a:pPr>
                      <a:r>
                        <a:t>週1,200機という生産ペースの計測時点</a:t>
                      </a:r>
                    </a:p>
                  </a:txBody>
                  <a:tcPr>
                    <a:solidFill>
                      <a:srgbClr val="F1F5FA"/>
                    </a:solidFill>
                  </a:tcPr>
                </a:tc>
                <a:tc>
                  <a:txBody>
                    <a:bodyPr/>
                    <a:lstStyle/>
                    <a:p>
                      <a:pPr>
                        <a:defRPr sz="1200">
                          <a:solidFill>
                            <a:srgbClr val="1C2230"/>
                          </a:solidFill>
                          <a:latin typeface="Yu Gothic"/>
                        </a:defRPr>
                      </a:pPr>
                      <a:r>
                        <a:t>シリーズC発表とは別時期の報道に基づく参考値</a:t>
                      </a:r>
                    </a:p>
                  </a:txBody>
                  <a:tcPr>
                    <a:solidFill>
                      <a:srgbClr val="F1F5FA"/>
                    </a:solidFill>
                  </a:tcPr>
                </a:tc>
              </a:tr>
              <a:tr h="502920">
                <a:tc>
                  <a:txBody>
                    <a:bodyPr/>
                    <a:lstStyle/>
                    <a:p>
                      <a:pPr>
                        <a:defRPr sz="1200">
                          <a:solidFill>
                            <a:srgbClr val="1C2230"/>
                          </a:solidFill>
                          <a:latin typeface="Yu Gothic"/>
                        </a:defRPr>
                      </a:pPr>
                      <a:r>
                        <a:t>ドローン単価(2,000ドル/5,000ドル)の一次資料</a:t>
                      </a:r>
                    </a:p>
                  </a:txBody>
                  <a:tcPr>
                    <a:solidFill>
                      <a:srgbClr val="FFFFFF"/>
                    </a:solidFill>
                  </a:tcPr>
                </a:tc>
                <a:tc>
                  <a:txBody>
                    <a:bodyPr/>
                    <a:lstStyle/>
                    <a:p>
                      <a:pPr>
                        <a:defRPr sz="1200">
                          <a:solidFill>
                            <a:srgbClr val="1C2230"/>
                          </a:solidFill>
                          <a:latin typeface="Yu Gothic"/>
                        </a:defRPr>
                      </a:pPr>
                      <a:r>
                        <a:t>専門メディアの推定値であり、Neros公式の正式発表は未確認</a:t>
                      </a:r>
                    </a:p>
                  </a:txBody>
                  <a:tcPr>
                    <a:solidFill>
                      <a:srgbClr val="FFFFFF"/>
                    </a:solidFill>
                  </a:tcPr>
                </a:tc>
              </a:tr>
              <a:tr h="502920">
                <a:tc>
                  <a:txBody>
                    <a:bodyPr/>
                    <a:lstStyle/>
                    <a:p>
                      <a:pPr>
                        <a:defRPr sz="1200">
                          <a:solidFill>
                            <a:srgbClr val="1C2230"/>
                          </a:solidFill>
                          <a:latin typeface="Yu Gothic"/>
                        </a:defRPr>
                      </a:pPr>
                      <a:r>
                        <a:t>累計調達額(3.7億ドル超)の一次資料</a:t>
                      </a:r>
                    </a:p>
                  </a:txBody>
                  <a:tcPr>
                    <a:solidFill>
                      <a:srgbClr val="F1F5FA"/>
                    </a:solidFill>
                  </a:tcPr>
                </a:tc>
                <a:tc>
                  <a:txBody>
                    <a:bodyPr/>
                    <a:lstStyle/>
                    <a:p>
                      <a:pPr>
                        <a:defRPr sz="1200">
                          <a:solidFill>
                            <a:srgbClr val="1C2230"/>
                          </a:solidFill>
                          <a:latin typeface="Yu Gothic"/>
                        </a:defRPr>
                      </a:pPr>
                      <a:r>
                        <a:t>二次情報の集計値であり、一次資料での直接確認は未実施</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事実: 調達額・評価額・出資者・製品名・契約先の種別は複数メディアが一致して報道</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シリーズC直前の評価額(約8.3億ドル)は、Bloombergの表現からの当社の逆算</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参考値: 週次生産ペース・単価・累計調達額は、報道時点や二次情報に基づく参考数値</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不明: 株主構成比率・技術仕様の詳細・同盟国名・迎撃実績の検証データ</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最強の迎撃ドローンが完成した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軍事的な優位性が確定した</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すぐに大規模配備される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性能の優劣についての第三者検証データは確認できていない</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評価額・調達額の発表であり、性能評価の発表ではない</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「年内の実戦投入」は計画・予告段階の表現</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投資動向としての位置づけ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防衛AI分野への資金の流れという文脈です。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著名なベンチャー投資家(Sequoia Capital等)が防衛関連スタートアップに参加している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American Strategic Technology Fundのような、防衛領域に特化した投資ファンドも共同リードしている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本テーマは、特定の兵器の優劣ではなく、こうした資金の流れの事実整理として扱う</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PRNewswire(2026-08-11)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投資動向を追う立場として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防衛AI分野への資金集中という潮流の一例として捉え、個別銘柄の推奨とは切り離して見る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AI技術動向を追う立場として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「Archer AI」の自律機能(誘導・位置保持)は、AIの意思決定支援が防衛分野にも及んでいる一例として確認する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ニュースを読む立場として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「実戦投入」等の見出しは計画・予告段階であることが多く、確定事実と見込みを区別して読む</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特定の兵器システムの性能を誇張する表現は使っていない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軍事行動を扇動・称賛する表現は使っていない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Neros・投資家・関係する政府機関への政治的評価(良い/悪いの判断)は行わない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特定企業・製品の利用を強く推奨する結論にはしない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着手日の2日前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PRNewswire・Yahoo Finance・Morningstar・Pulse2・FinSMEs・Dealroom・Bloombergの報道はいずれも2026年8月11日。着手日(2026年8月13日)を含めて2日以内という基準を満たす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docs/06_Content_R&amp;D.md基準</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報道日</a:t>
                      </a:r>
                    </a:p>
                  </a:txBody>
                  <a:tcPr>
                    <a:solidFill>
                      <a:srgbClr val="2B3A55"/>
                    </a:solidFill>
                  </a:tcPr>
                </a:tc>
              </a:tr>
              <a:tr h="502920">
                <a:tc>
                  <a:txBody>
                    <a:bodyPr/>
                    <a:lstStyle/>
                    <a:p>
                      <a:pPr>
                        <a:defRPr sz="1200">
                          <a:solidFill>
                            <a:srgbClr val="1C2230"/>
                          </a:solidFill>
                          <a:latin typeface="Yu Gothic"/>
                        </a:defRPr>
                      </a:pPr>
                      <a:r>
                        <a:t>PRNewswire</a:t>
                      </a:r>
                    </a:p>
                  </a:txBody>
                  <a:tcPr>
                    <a:solidFill>
                      <a:srgbClr val="FFFFFF"/>
                    </a:solidFill>
                  </a:tcPr>
                </a:tc>
                <a:tc>
                  <a:txBody>
                    <a:bodyPr/>
                    <a:lstStyle/>
                    <a:p>
                      <a:pPr>
                        <a:defRPr sz="1200">
                          <a:solidFill>
                            <a:srgbClr val="1C2230"/>
                          </a:solidFill>
                          <a:latin typeface="Yu Gothic"/>
                        </a:defRPr>
                      </a:pPr>
                      <a:r>
                        <a:t>2026-08-11</a:t>
                      </a:r>
                    </a:p>
                  </a:txBody>
                  <a:tcPr>
                    <a:solidFill>
                      <a:srgbClr val="FFFFFF"/>
                    </a:solidFill>
                  </a:tcPr>
                </a:tc>
              </a:tr>
              <a:tr h="502920">
                <a:tc>
                  <a:txBody>
                    <a:bodyPr/>
                    <a:lstStyle/>
                    <a:p>
                      <a:pPr>
                        <a:defRPr sz="1200">
                          <a:solidFill>
                            <a:srgbClr val="1C2230"/>
                          </a:solidFill>
                          <a:latin typeface="Yu Gothic"/>
                        </a:defRPr>
                      </a:pPr>
                      <a:r>
                        <a:t>Yahoo Finance / Morningstar(PRNewswire転載)</a:t>
                      </a:r>
                    </a:p>
                  </a:txBody>
                  <a:tcPr>
                    <a:solidFill>
                      <a:srgbClr val="F1F5FA"/>
                    </a:solidFill>
                  </a:tcPr>
                </a:tc>
                <a:tc>
                  <a:txBody>
                    <a:bodyPr/>
                    <a:lstStyle/>
                    <a:p>
                      <a:pPr>
                        <a:defRPr sz="1200">
                          <a:solidFill>
                            <a:srgbClr val="1C2230"/>
                          </a:solidFill>
                          <a:latin typeface="Yu Gothic"/>
                        </a:defRPr>
                      </a:pPr>
                      <a:r>
                        <a:t>2026-08-11</a:t>
                      </a:r>
                    </a:p>
                  </a:txBody>
                  <a:tcPr>
                    <a:solidFill>
                      <a:srgbClr val="F1F5FA"/>
                    </a:solidFill>
                  </a:tcPr>
                </a:tc>
              </a:tr>
              <a:tr h="502920">
                <a:tc>
                  <a:txBody>
                    <a:bodyPr/>
                    <a:lstStyle/>
                    <a:p>
                      <a:pPr>
                        <a:defRPr sz="1200">
                          <a:solidFill>
                            <a:srgbClr val="1C2230"/>
                          </a:solidFill>
                          <a:latin typeface="Yu Gothic"/>
                        </a:defRPr>
                      </a:pPr>
                      <a:r>
                        <a:t>Pulse2 / FinSMEs / Dealroom / Bloomberg</a:t>
                      </a:r>
                    </a:p>
                  </a:txBody>
                  <a:tcPr>
                    <a:solidFill>
                      <a:srgbClr val="FFFFFF"/>
                    </a:solidFill>
                  </a:tcPr>
                </a:tc>
                <a:tc>
                  <a:txBody>
                    <a:bodyPr/>
                    <a:lstStyle/>
                    <a:p>
                      <a:pPr>
                        <a:defRPr sz="1200">
                          <a:solidFill>
                            <a:srgbClr val="1C2230"/>
                          </a:solidFill>
                          <a:latin typeface="Yu Gothic"/>
                        </a:defRPr>
                      </a:pPr>
                      <a:r>
                        <a:t>2026-08-11</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PRNewswire・Yahoo Finance・Morningstar・Dealroom・Pulse2・FinSMEs(2026-08-11発表)｜188本目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2.5億ドルの資金、AI自律機能への投資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評価額25億ドルへの拡大は事実として報じられているが、性能・配備実績の第三者検証は未確認であり、確定事実と計画段階の情報を区別して見る必要がある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PRNewswire(2026-08-11)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資金は集まった。次に問われるのは、計画どおりの量産と配備が実現するかどうか。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特定企業・兵器システムへの評価ではなく、事実関係の整理として、今後も出典付きで注目したいポイントです。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