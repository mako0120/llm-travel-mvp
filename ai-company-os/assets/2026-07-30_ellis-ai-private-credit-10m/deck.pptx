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不動産投資プラットフォームCadreを2014年に共同創業した男が、また新しい会社を立ち上げました。今度の狙いは、プライベートクレジット市場をAIで丸ごと自動化すること。著名投資家Josh Kushner氏も出資する新会社「Ellis」が、1,000万ドル超のシード資金を調達してステルスモードから脱しました。今日はこの話題をお届けします。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創業者について、Ellisとはどんな会社か、投資家陣容、Ellis自身の規模とパートナーネットワークの違い、そして確認できたこと・できなかったこと・鮮度について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何が起きたのか整理します。Ellisが2026年7月30日、ステルスモードから脱し、1,000万ドル超のシード資金調達を発表しました。ラウンドはFirst Round Capitalが主導し、645 VenturesやKhosla Ventures等が参加、個人投資家としてJosh Kushner氏らも出資しています。創業者は不動産テックCadreの共同創業者、Ryan Williams氏です。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調達額はこちら、1,000万ドル超です。First Round Capitalが主導するシードラウンドとして発表されました。具体的な上振れ数字までは出典で明記されていません。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調達概要を表にまとめました。企業名はEllis、事業領域はプライベートクレジット向けAIネイティブ運用基盤です。シードラウンドで1,000万ドル超、主導はFirst Round Capital、創業者はRyan Williams氏です。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創業者のRyan Williams氏を紹介します。2014年にJosh Kushner氏・Jared Kushner氏とともに不動産投資プラットフォームCadreを共同創業したことで知られています。2026年、今度はプライベートクレジット向けのAI運用基盤Ellisを創業しました。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歩みを概要で紹介します。2014年にCadreを共同創業し、不動産テックで実績を積んだRyan Williams氏が、2026年7月、プライベートクレジット向けのAI運用基盤Ellisでステルスモードから脱しました。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isとは何か紹介します。プライベートクレジット市場に特化したAIネイティブな運用基盤で、分断された金融システムをつなぎ、AIエージェントが照合・レポーティング・コンプライアンス・異常検知を支援します。複数の設計パートナーとともに開発が進め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Ellisの仕組みを概要で示します。分断された金融システムをEllisのAIエージェントがつなぎ、照合・レポーティング・コンプライアンス・異常検知を支援することで、統合された運用基盤を目指しています。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プライベートクレジットを説明します。銀行を介さず、投資ファンドなどが企業に直接お金を貸す仕組みで、近年急拡大している分野です。ただし融資先の管理・報告・リスク管理などの事務作業が複雑になりやすく、EllisはここをAIで支援しよう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I運用基盤が必要かを説明します。プライベートクレジットは融資先ごとにデータ形式がバラバラになりやすく、手作業での照合・レポーティングはミスや遅延が生じやすいためです。ただし実際の効果・精度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Ellisが支援する4つの機能です。照合、レポーティング、コンプライアンス、異常検知の4つを、AIエージェントが支援すると報じられています。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投資家一覧です。First Round Capitalが主導し、645 Ventures、Harlem Capital、Khosla Ventures、Slow Ventures、Wilshire Lane、Westbound、Collide Capital、Gallery Venturesが参加しています。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主導投資家のFirst Round Capitalについてです。今回のシードラウンドを主導した投資会社として、BusinessWireの発表で公表されています。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主導投資家と参加投資家を比較します。First Round Capitalが主導し、645 Venturesなど8社が参加する構図です。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個人投資家として参加した著名人です。Mellody Hobson氏、Thrive Capitalのマネージングパートナーとして知られるJosh Kushner氏、Immad Akhund氏が個人投資家として参加しています。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ここで公平性についての開示をします。Josh Kushner氏はThrive Capitalのマネージングパートナーとして知られる著名投資家ですが、本テーマでは資金調達報道上の事実のみを扱い、政治的な論評は一切行っていません。他の著名投資家を扱う際と同じ姿勢です。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こちらの数字にも注目です。Ellisが接している広いパートナーネットワークの累計運用資産は500億ドル超と報じられています。次のスライドで、この数字とEllis自身の規模の違いを整理します。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とても大事な点なので明確に区別します。500億ドル超は、Ellisが接している広いパートナーネットワーク側の累計運用資産であり、Ellis自身が運用・管理する資産額ではありません。Ellis自身のAUM・顧客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ートナーネットワークの位置づけを概要で示します。複数の設計パートナーと共同開発を進め、その先に広いパートナーネットワークがあり、累計500億ドル超のAUMに相当します。ただしEllis自身は基盤を提供する企業であり、自らAUMを保有す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プラットフォーム開発の進め方を報道から整理します。設計パートナーとの共同開発を進め、広いパートナーネットワークへの展開を図りながら、今回のシード資金調達に至ったという流れです。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従来型のプライベートクレジット運用とEllisのアプローチを概要で比較します。従来は手作業が中心でしたが、Ellisはこれらの業務をAIエージェントが支援すると報じられています。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何を意味するか、実務者への示唆を整理します。業務効率化の選択肢が増える可能性がある一方、導入を検討する場合は精度・セキュリティ・既存システムとの連携可否を個別に確認する必要があります。特定製品を推奨する結論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調達額や主導投資家、創業者経歴は複数媒体で一致していますが、Ellis自身のバリュエーション・顧客数・AUM・売上、投資家ごとの出資額の内訳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未確認事項を一覧にしました。シード調達額の具体的な上振れ数字、Ellis自身のバリュエーション、顧客数、AUM・売上、投資家ごとの出資額の内訳、いずれも本調査の範囲では確認できていません。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鮮度について開示します。本発表はBusinessWireで2026年7月30日、TechCrunchで2026年7月31日であり、着手日の4〜5日前です。鮮度基準の着手日前日以内には届いていませんが、比較的良好な水準です。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出典一覧です。BusinessWire、TechCrunch、Alternative Credit Investor、Yahoo Finance・Las Vegas Sunへの転載という、独立した複数の媒体です。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既存テーマとの関係を確認しました。Ellis、またはRyan Williams氏を主題として扱った既存テーマはなく、重複ではありません。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プライベートクレジット市場の拡大とともに、AI運用基盤への投資需要はさらに高まる可能性があります。連続起業家の参入や著名投資家の参加は、この領域への注目度の高さを示しているのかもし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不動産の次はプライベートクレジットというAIによる金融の自動化をどう見ますか。Ellisの今後の展開を、確認できたこと・できなかったことを区別しながら注目していきましょう。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3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不動産で成功した男の次の挑戦は「AIでプライベートクレジットを丸ごと自動化」。Kushner氏も出資</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6E1F5"/>
                </a:solidFill>
                <a:latin typeface="Yu Gothic"/>
              </a:rPr>
              <a:t>Ellis、Cadre共同創業者Ryan Williams氏の新会社がプライベートクレジット向けAIで1,000万ドル超調達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9B0DE"/>
                </a:solidFill>
                <a:latin typeface="Yu Gothic"/>
              </a:rPr>
              <a:t>出典: BusinessWire(2026-07-30)・TechCrunch(2026-07-31)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3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6E1F5"/>
                </a:solidFill>
                <a:latin typeface="Yu Gothic"/>
              </a:rPr>
              <a:t>何が起きたのか</a:t>
            </a:r>
          </a:p>
        </p:txBody>
      </p:sp>
      <p:sp>
        <p:nvSpPr>
          <p:cNvPr id="7" name="Oval 6"/>
          <p:cNvSpPr/>
          <p:nvPr/>
        </p:nvSpPr>
        <p:spPr>
          <a:xfrm>
            <a:off x="548640" y="2697480"/>
            <a:ext cx="548640" cy="5486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6E1F5"/>
                </a:solidFill>
                <a:latin typeface="Yu Gothic"/>
              </a:rPr>
              <a:t>創業者Ryan Williams氏とCadreの実績</a:t>
            </a:r>
          </a:p>
        </p:txBody>
      </p:sp>
      <p:sp>
        <p:nvSpPr>
          <p:cNvPr id="9" name="Oval 8"/>
          <p:cNvSpPr/>
          <p:nvPr/>
        </p:nvSpPr>
        <p:spPr>
          <a:xfrm>
            <a:off x="548640" y="3474720"/>
            <a:ext cx="548640" cy="5486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6E1F5"/>
                </a:solidFill>
                <a:latin typeface="Yu Gothic"/>
              </a:rPr>
              <a:t>Ellisとはどんな会社か(初心者向け解説つき)</a:t>
            </a:r>
          </a:p>
        </p:txBody>
      </p:sp>
      <p:sp>
        <p:nvSpPr>
          <p:cNvPr id="11" name="Oval 10"/>
          <p:cNvSpPr/>
          <p:nvPr/>
        </p:nvSpPr>
        <p:spPr>
          <a:xfrm>
            <a:off x="548640" y="4251960"/>
            <a:ext cx="548640" cy="5486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6E1F5"/>
                </a:solidFill>
                <a:latin typeface="Yu Gothic"/>
              </a:rPr>
              <a:t>投資家陣容とFirst Round Capital、Kushner氏らの出資</a:t>
            </a:r>
          </a:p>
        </p:txBody>
      </p:sp>
      <p:sp>
        <p:nvSpPr>
          <p:cNvPr id="13" name="Oval 12"/>
          <p:cNvSpPr/>
          <p:nvPr/>
        </p:nvSpPr>
        <p:spPr>
          <a:xfrm>
            <a:off x="548640" y="5029200"/>
            <a:ext cx="548640" cy="5486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6E1F5"/>
                </a:solidFill>
                <a:latin typeface="Yu Gothic"/>
              </a:rPr>
              <a:t>Ellis自身の規模とパートナーネットワークの違い</a:t>
            </a:r>
          </a:p>
        </p:txBody>
      </p:sp>
      <p:sp>
        <p:nvSpPr>
          <p:cNvPr id="15" name="Oval 14"/>
          <p:cNvSpPr/>
          <p:nvPr/>
        </p:nvSpPr>
        <p:spPr>
          <a:xfrm>
            <a:off x="548640" y="5806440"/>
            <a:ext cx="548640" cy="5486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6E1F5"/>
                </a:solidFill>
                <a:latin typeface="Yu Gothic"/>
              </a:rPr>
              <a:t>確認できたこと・できなかったこと・鮮度について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何が起きたのか</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Ellisが2026年7月30日(BusinessWire)、ステルスモードから脱し1,000万ドル超のシード資金調達を発表</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ラウンドはFirst Round Capitalが主導</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645 Ventures・Khosla Ventures等が参加、個人投資家としてJosh Kushner氏らも出資</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創業者は不動産テックCadreの共同創業者Ryan Williams氏</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F5A7A"/>
                </a:solidFill>
                <a:latin typeface="Yu Gothic"/>
              </a:rPr>
              <a:t>出典: BusinessWire(2026-07-30)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83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6E1F5"/>
                </a:solidFill>
                <a:latin typeface="Yu Gothic"/>
              </a:rPr>
              <a:t>シード調達額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9A227"/>
                </a:solidFill>
                <a:latin typeface="Yu Gothic"/>
              </a:rPr>
              <a:t>1,000万ドル超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First Round Capital主導のシードラウンド(2026年7月30日発表)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9B0DE"/>
                </a:solidFill>
                <a:latin typeface="Yu Gothic"/>
              </a:rPr>
              <a:t>出典: BusinessWire(2026-07-30)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調達概要</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5C"/>
                    </a:solidFill>
                  </a:tcPr>
                </a:tc>
                <a:tc>
                  <a:txBody>
                    <a:bodyPr/>
                    <a:lstStyle/>
                    <a:p>
                      <a:pPr>
                        <a:defRPr sz="1300" b="1">
                          <a:solidFill>
                            <a:srgbClr val="FFFFFF"/>
                          </a:solidFill>
                          <a:latin typeface="Yu Gothic"/>
                        </a:defRPr>
                      </a:pPr>
                      <a:r>
                        <a:t>内容</a:t>
                      </a:r>
                    </a:p>
                  </a:txBody>
                  <a:tcPr>
                    <a:solidFill>
                      <a:srgbClr val="2E2A5C"/>
                    </a:solidFill>
                  </a:tcPr>
                </a:tc>
              </a:tr>
              <a:tr h="502920">
                <a:tc>
                  <a:txBody>
                    <a:bodyPr/>
                    <a:lstStyle/>
                    <a:p>
                      <a:pPr>
                        <a:defRPr sz="1200">
                          <a:solidFill>
                            <a:srgbClr val="201D3A"/>
                          </a:solidFill>
                          <a:latin typeface="Yu Gothic"/>
                        </a:defRPr>
                      </a:pPr>
                      <a:r>
                        <a:t>企業名</a:t>
                      </a:r>
                    </a:p>
                  </a:txBody>
                  <a:tcPr>
                    <a:solidFill>
                      <a:srgbClr val="FFFFFF"/>
                    </a:solidFill>
                  </a:tcPr>
                </a:tc>
                <a:tc>
                  <a:txBody>
                    <a:bodyPr/>
                    <a:lstStyle/>
                    <a:p>
                      <a:pPr>
                        <a:defRPr sz="1200">
                          <a:solidFill>
                            <a:srgbClr val="201D3A"/>
                          </a:solidFill>
                          <a:latin typeface="Yu Gothic"/>
                        </a:defRPr>
                      </a:pPr>
                      <a:r>
                        <a:t>Ellis</a:t>
                      </a:r>
                    </a:p>
                  </a:txBody>
                  <a:tcPr>
                    <a:solidFill>
                      <a:srgbClr val="FFFFFF"/>
                    </a:solidFill>
                  </a:tcPr>
                </a:tc>
              </a:tr>
              <a:tr h="502920">
                <a:tc>
                  <a:txBody>
                    <a:bodyPr/>
                    <a:lstStyle/>
                    <a:p>
                      <a:pPr>
                        <a:defRPr sz="1200">
                          <a:solidFill>
                            <a:srgbClr val="201D3A"/>
                          </a:solidFill>
                          <a:latin typeface="Yu Gothic"/>
                        </a:defRPr>
                      </a:pPr>
                      <a:r>
                        <a:t>事業領域</a:t>
                      </a:r>
                    </a:p>
                  </a:txBody>
                  <a:tcPr>
                    <a:solidFill>
                      <a:srgbClr val="F4F2FA"/>
                    </a:solidFill>
                  </a:tcPr>
                </a:tc>
                <a:tc>
                  <a:txBody>
                    <a:bodyPr/>
                    <a:lstStyle/>
                    <a:p>
                      <a:pPr>
                        <a:defRPr sz="1200">
                          <a:solidFill>
                            <a:srgbClr val="201D3A"/>
                          </a:solidFill>
                          <a:latin typeface="Yu Gothic"/>
                        </a:defRPr>
                      </a:pPr>
                      <a:r>
                        <a:t>プライベートクレジット向けAIネイティブ運用基盤</a:t>
                      </a:r>
                    </a:p>
                  </a:txBody>
                  <a:tcPr>
                    <a:solidFill>
                      <a:srgbClr val="F4F2FA"/>
                    </a:solidFill>
                  </a:tcPr>
                </a:tc>
              </a:tr>
              <a:tr h="502920">
                <a:tc>
                  <a:txBody>
                    <a:bodyPr/>
                    <a:lstStyle/>
                    <a:p>
                      <a:pPr>
                        <a:defRPr sz="1200">
                          <a:solidFill>
                            <a:srgbClr val="201D3A"/>
                          </a:solidFill>
                          <a:latin typeface="Yu Gothic"/>
                        </a:defRPr>
                      </a:pPr>
                      <a:r>
                        <a:t>調達ラウンド</a:t>
                      </a:r>
                    </a:p>
                  </a:txBody>
                  <a:tcPr>
                    <a:solidFill>
                      <a:srgbClr val="FFFFFF"/>
                    </a:solidFill>
                  </a:tcPr>
                </a:tc>
                <a:tc>
                  <a:txBody>
                    <a:bodyPr/>
                    <a:lstStyle/>
                    <a:p>
                      <a:pPr>
                        <a:defRPr sz="1200">
                          <a:solidFill>
                            <a:srgbClr val="201D3A"/>
                          </a:solidFill>
                          <a:latin typeface="Yu Gothic"/>
                        </a:defRPr>
                      </a:pPr>
                      <a:r>
                        <a:t>シード</a:t>
                      </a:r>
                    </a:p>
                  </a:txBody>
                  <a:tcPr>
                    <a:solidFill>
                      <a:srgbClr val="FFFFFF"/>
                    </a:solidFill>
                  </a:tcPr>
                </a:tc>
              </a:tr>
              <a:tr h="502920">
                <a:tc>
                  <a:txBody>
                    <a:bodyPr/>
                    <a:lstStyle/>
                    <a:p>
                      <a:pPr>
                        <a:defRPr sz="1200">
                          <a:solidFill>
                            <a:srgbClr val="201D3A"/>
                          </a:solidFill>
                          <a:latin typeface="Yu Gothic"/>
                        </a:defRPr>
                      </a:pPr>
                      <a:r>
                        <a:t>調達額</a:t>
                      </a:r>
                    </a:p>
                  </a:txBody>
                  <a:tcPr>
                    <a:solidFill>
                      <a:srgbClr val="F4F2FA"/>
                    </a:solidFill>
                  </a:tcPr>
                </a:tc>
                <a:tc>
                  <a:txBody>
                    <a:bodyPr/>
                    <a:lstStyle/>
                    <a:p>
                      <a:pPr>
                        <a:defRPr sz="1200">
                          <a:solidFill>
                            <a:srgbClr val="201D3A"/>
                          </a:solidFill>
                          <a:latin typeface="Yu Gothic"/>
                        </a:defRPr>
                      </a:pPr>
                      <a:r>
                        <a:t>1,000万ドル超</a:t>
                      </a:r>
                    </a:p>
                  </a:txBody>
                  <a:tcPr>
                    <a:solidFill>
                      <a:srgbClr val="F4F2FA"/>
                    </a:solidFill>
                  </a:tcPr>
                </a:tc>
              </a:tr>
              <a:tr h="502920">
                <a:tc>
                  <a:txBody>
                    <a:bodyPr/>
                    <a:lstStyle/>
                    <a:p>
                      <a:pPr>
                        <a:defRPr sz="1200">
                          <a:solidFill>
                            <a:srgbClr val="201D3A"/>
                          </a:solidFill>
                          <a:latin typeface="Yu Gothic"/>
                        </a:defRPr>
                      </a:pPr>
                      <a:r>
                        <a:t>主導投資家</a:t>
                      </a:r>
                    </a:p>
                  </a:txBody>
                  <a:tcPr>
                    <a:solidFill>
                      <a:srgbClr val="FFFFFF"/>
                    </a:solidFill>
                  </a:tcPr>
                </a:tc>
                <a:tc>
                  <a:txBody>
                    <a:bodyPr/>
                    <a:lstStyle/>
                    <a:p>
                      <a:pPr>
                        <a:defRPr sz="1200">
                          <a:solidFill>
                            <a:srgbClr val="201D3A"/>
                          </a:solidFill>
                          <a:latin typeface="Yu Gothic"/>
                        </a:defRPr>
                      </a:pPr>
                      <a:r>
                        <a:t>First Round Capital</a:t>
                      </a:r>
                    </a:p>
                  </a:txBody>
                  <a:tcPr>
                    <a:solidFill>
                      <a:srgbClr val="FFFFFF"/>
                    </a:solidFill>
                  </a:tcPr>
                </a:tc>
              </a:tr>
              <a:tr h="502920">
                <a:tc>
                  <a:txBody>
                    <a:bodyPr/>
                    <a:lstStyle/>
                    <a:p>
                      <a:pPr>
                        <a:defRPr sz="1200">
                          <a:solidFill>
                            <a:srgbClr val="201D3A"/>
                          </a:solidFill>
                          <a:latin typeface="Yu Gothic"/>
                        </a:defRPr>
                      </a:pPr>
                      <a:r>
                        <a:t>創業者</a:t>
                      </a:r>
                    </a:p>
                  </a:txBody>
                  <a:tcPr>
                    <a:solidFill>
                      <a:srgbClr val="F4F2FA"/>
                    </a:solidFill>
                  </a:tcPr>
                </a:tc>
                <a:tc>
                  <a:txBody>
                    <a:bodyPr/>
                    <a:lstStyle/>
                    <a:p>
                      <a:pPr>
                        <a:defRPr sz="1200">
                          <a:solidFill>
                            <a:srgbClr val="201D3A"/>
                          </a:solidFill>
                          <a:latin typeface="Yu Gothic"/>
                        </a:defRPr>
                      </a:pPr>
                      <a:r>
                        <a:t>Ryan Williams氏(Cadre共同創業者)</a:t>
                      </a:r>
                    </a:p>
                  </a:txBody>
                  <a:tcPr>
                    <a:solidFill>
                      <a:srgbClr val="F4F2FA"/>
                    </a:solidFill>
                  </a:tcPr>
                </a:tc>
              </a:tr>
              <a:tr h="502920">
                <a:tc>
                  <a:txBody>
                    <a:bodyPr/>
                    <a:lstStyle/>
                    <a:p>
                      <a:pPr>
                        <a:defRPr sz="1200">
                          <a:solidFill>
                            <a:srgbClr val="201D3A"/>
                          </a:solidFill>
                          <a:latin typeface="Yu Gothic"/>
                        </a:defRPr>
                      </a:pPr>
                      <a:r>
                        <a:t>発表日</a:t>
                      </a:r>
                    </a:p>
                  </a:txBody>
                  <a:tcPr>
                    <a:solidFill>
                      <a:srgbClr val="FFFFFF"/>
                    </a:solidFill>
                  </a:tcPr>
                </a:tc>
                <a:tc>
                  <a:txBody>
                    <a:bodyPr/>
                    <a:lstStyle/>
                    <a:p>
                      <a:pPr>
                        <a:defRPr sz="1200">
                          <a:solidFill>
                            <a:srgbClr val="201D3A"/>
                          </a:solidFill>
                          <a:latin typeface="Yu Gothic"/>
                        </a:defRPr>
                      </a:pPr>
                      <a:r>
                        <a:t>2026年7月30日(BusinessWire)/7月31日(TechCrunch)</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創業者Ryan Williams氏とは</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経歴</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2014年、Josh Kushner氏・Jared Kushner氏とともに不動産投資プラットフォームCadreを共同創業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実績</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Cadreは不動産投資プラットフォームとして知られる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新会社</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2026年、プライベートクレジット向けAI運用基盤Ellisを創業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Cadre成功からEllis創業への歩み(概要)</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5C"/>
                </a:solidFill>
                <a:latin typeface="Yu Gothic"/>
              </a:rPr>
              <a:t>1. 2014年 Cadre共同創業</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F5A7A"/>
                </a:solidFill>
                <a:latin typeface="Yu Gothic"/>
              </a:rPr>
              <a:t>Josh Kushner氏・Jared Kushner氏とともに不動産投資プラットフォームを設立</a:t>
            </a:r>
          </a:p>
        </p:txBody>
      </p:sp>
      <p:sp>
        <p:nvSpPr>
          <p:cNvPr id="11" name="Chevron 10"/>
          <p:cNvSpPr/>
          <p:nvPr/>
        </p:nvSpPr>
        <p:spPr>
          <a:xfrm>
            <a:off x="4038295" y="3200400"/>
            <a:ext cx="234086" cy="365760"/>
          </a:xfrm>
          <a:prstGeom prst="chevron">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5C"/>
                </a:solidFill>
                <a:latin typeface="Yu Gothic"/>
              </a:rPr>
              <a:t>2. 連続起業家としての実績</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F5A7A"/>
                </a:solidFill>
                <a:latin typeface="Yu Gothic"/>
              </a:rPr>
              <a:t>不動産テックでの実績を経て新しい金融領域へ</a:t>
            </a:r>
          </a:p>
        </p:txBody>
      </p:sp>
      <p:sp>
        <p:nvSpPr>
          <p:cNvPr id="17" name="Chevron 16"/>
          <p:cNvSpPr/>
          <p:nvPr/>
        </p:nvSpPr>
        <p:spPr>
          <a:xfrm>
            <a:off x="7919313" y="3200400"/>
            <a:ext cx="234086" cy="365760"/>
          </a:xfrm>
          <a:prstGeom prst="chevron">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5C"/>
                </a:solidFill>
                <a:latin typeface="Yu Gothic"/>
              </a:rPr>
              <a:t>3. 2026年7月 Ellisステルス脱出</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F5A7A"/>
                </a:solidFill>
                <a:latin typeface="Yu Gothic"/>
              </a:rPr>
              <a:t>プライベートクレジット向けAI運用基盤として1,000万ドル超を調達</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Ellisとは何か</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プライベートクレジット市場に特化したAIネイティブな運用基盤(オペレーティングプラットフォーム)</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分断された金融システムをつなぎ、AIエージェントが業務を支援</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照合(リコンサイル)・レポーティング・コンプライアンス・異常検知を支援</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複数のプライベートクレジット領域の設計パートナーとともに開発中</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F5A7A"/>
                </a:solidFill>
                <a:latin typeface="Yu Gothic"/>
              </a:rPr>
              <a:t>出典: BusinessWire(2026-07-30)</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Ellisの仕組み(概要)</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5C"/>
                </a:solidFill>
                <a:latin typeface="Yu Gothic"/>
              </a:rPr>
              <a:t>分断された金融システム</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F5A7A"/>
                </a:solidFill>
                <a:latin typeface="Yu Gothic"/>
              </a:rPr>
              <a:t>複数のシステムにデータが散在</a:t>
            </a:r>
          </a:p>
        </p:txBody>
      </p:sp>
      <p:sp>
        <p:nvSpPr>
          <p:cNvPr id="10" name="Right Arrow 9"/>
          <p:cNvSpPr/>
          <p:nvPr/>
        </p:nvSpPr>
        <p:spPr>
          <a:xfrm>
            <a:off x="4157319" y="3108959"/>
            <a:ext cx="676656" cy="36576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5C"/>
                </a:solidFill>
                <a:latin typeface="Yu Gothic"/>
              </a:rPr>
              <a:t>EllisのAIエージェント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F5A7A"/>
                </a:solidFill>
                <a:latin typeface="Yu Gothic"/>
              </a:rPr>
              <a:t>照合・レポーティング・コンプライアンス・異常検知を支援</a:t>
            </a:r>
          </a:p>
        </p:txBody>
      </p:sp>
      <p:sp>
        <p:nvSpPr>
          <p:cNvPr id="15" name="Right Arrow 14"/>
          <p:cNvSpPr/>
          <p:nvPr/>
        </p:nvSpPr>
        <p:spPr>
          <a:xfrm>
            <a:off x="7357719" y="3108959"/>
            <a:ext cx="676656" cy="36576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5C"/>
                </a:solidFill>
                <a:latin typeface="Yu Gothic"/>
              </a:rPr>
              <a:t>統合された運用基盤</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F5A7A"/>
                </a:solidFill>
                <a:latin typeface="Yu Gothic"/>
              </a:rPr>
              <a:t>プライベートクレジット業務を一元的に支援</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初心者向け: プライベートクレジットとは</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銀行を介さず、投資ファンドなどが企業に直接お金を貸す仕組み</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近年、資金調達手段として世界的に急拡大している分野</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融資先の管理・報告・リスク管理など事務作業が複雑になりやすい</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Ellisはこの事務作業をAIで支援することを目指している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初心者向け: なぜAI運用基盤が必要か</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プライベートクレジットは融資先ごとに契約・データ形式がバラバラになりやすい</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手作業での照合・レポーティングはミスや遅延が生じやすい</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AIエージェントが異常検知やコンプライアンス確認を支援すれば効率化が期待できる</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ただし実際の効果・精度は本調査の範囲では確認できていない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Ellisが支援する4つの機能</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2E2A5C"/>
                </a:solidFill>
                <a:latin typeface="Yu Gothic"/>
              </a:rPr>
              <a:t>照合(リコンサイル)</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分断されたシステム間のデータを突き合わせる</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2E2A5C"/>
                </a:solidFill>
                <a:latin typeface="Yu Gothic"/>
              </a:rPr>
              <a:t>レポーティング</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投資家・規制当局向けの報告作業を支援</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2E2A5C"/>
                </a:solidFill>
                <a:latin typeface="Yu Gothic"/>
              </a:rPr>
              <a:t>コンプライアンス</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規制対応の確認作業を支援</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2E2A5C"/>
                </a:solidFill>
                <a:latin typeface="Yu Gothic"/>
              </a:rPr>
              <a:t>異常検知</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通常と異なる動きをAIが検知</a:t>
            </a:r>
          </a:p>
        </p:txBody>
      </p:sp>
      <p:sp>
        <p:nvSpPr>
          <p:cNvPr id="22" name="TextBox 2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F5A7A"/>
                </a:solidFill>
                <a:latin typeface="Yu Gothic"/>
              </a:rPr>
              <a:t>出典: BusinessWire(2026-07-30)</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投資家一覧</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114800"/>
        </p:xfrm>
        <a:graphic>
          <a:graphicData uri="http://schemas.openxmlformats.org/drawingml/2006/table">
            <a:tbl>
              <a:tblPr firstRow="1" bandRow="1">
                <a:tableStyleId>{5C22544A-7EE6-4342-B048-85BDC9FD1C3A}</a:tableStyleId>
              </a:tblPr>
              <a:tblGrid>
                <a:gridCol w="5638647"/>
                <a:gridCol w="5638648"/>
              </a:tblGrid>
              <a:tr h="411480">
                <a:tc>
                  <a:txBody>
                    <a:bodyPr/>
                    <a:lstStyle/>
                    <a:p>
                      <a:pPr>
                        <a:defRPr sz="1300" b="1">
                          <a:solidFill>
                            <a:srgbClr val="FFFFFF"/>
                          </a:solidFill>
                          <a:latin typeface="Yu Gothic"/>
                        </a:defRPr>
                      </a:pPr>
                      <a:r>
                        <a:t>投資家</a:t>
                      </a:r>
                    </a:p>
                  </a:txBody>
                  <a:tcPr>
                    <a:solidFill>
                      <a:srgbClr val="2E2A5C"/>
                    </a:solidFill>
                  </a:tcPr>
                </a:tc>
                <a:tc>
                  <a:txBody>
                    <a:bodyPr/>
                    <a:lstStyle/>
                    <a:p>
                      <a:pPr>
                        <a:defRPr sz="1300" b="1">
                          <a:solidFill>
                            <a:srgbClr val="FFFFFF"/>
                          </a:solidFill>
                          <a:latin typeface="Yu Gothic"/>
                        </a:defRPr>
                      </a:pPr>
                      <a:r>
                        <a:t>役割</a:t>
                      </a:r>
                    </a:p>
                  </a:txBody>
                  <a:tcPr>
                    <a:solidFill>
                      <a:srgbClr val="2E2A5C"/>
                    </a:solidFill>
                  </a:tcPr>
                </a:tc>
              </a:tr>
              <a:tr h="411480">
                <a:tc>
                  <a:txBody>
                    <a:bodyPr/>
                    <a:lstStyle/>
                    <a:p>
                      <a:pPr>
                        <a:defRPr sz="1200">
                          <a:solidFill>
                            <a:srgbClr val="201D3A"/>
                          </a:solidFill>
                          <a:latin typeface="Yu Gothic"/>
                        </a:defRPr>
                      </a:pPr>
                      <a:r>
                        <a:t>First Round Capital</a:t>
                      </a:r>
                    </a:p>
                  </a:txBody>
                  <a:tcPr>
                    <a:solidFill>
                      <a:srgbClr val="FFFFFF"/>
                    </a:solidFill>
                  </a:tcPr>
                </a:tc>
                <a:tc>
                  <a:txBody>
                    <a:bodyPr/>
                    <a:lstStyle/>
                    <a:p>
                      <a:pPr>
                        <a:defRPr sz="1200">
                          <a:solidFill>
                            <a:srgbClr val="201D3A"/>
                          </a:solidFill>
                          <a:latin typeface="Yu Gothic"/>
                        </a:defRPr>
                      </a:pPr>
                      <a:r>
                        <a:t>主導</a:t>
                      </a:r>
                    </a:p>
                  </a:txBody>
                  <a:tcPr>
                    <a:solidFill>
                      <a:srgbClr val="FFFFFF"/>
                    </a:solidFill>
                  </a:tcPr>
                </a:tc>
              </a:tr>
              <a:tr h="411480">
                <a:tc>
                  <a:txBody>
                    <a:bodyPr/>
                    <a:lstStyle/>
                    <a:p>
                      <a:pPr>
                        <a:defRPr sz="1200">
                          <a:solidFill>
                            <a:srgbClr val="201D3A"/>
                          </a:solidFill>
                          <a:latin typeface="Yu Gothic"/>
                        </a:defRPr>
                      </a:pPr>
                      <a:r>
                        <a:t>645 Ventures</a:t>
                      </a:r>
                    </a:p>
                  </a:txBody>
                  <a:tcPr>
                    <a:solidFill>
                      <a:srgbClr val="F4F2FA"/>
                    </a:solidFill>
                  </a:tcPr>
                </a:tc>
                <a:tc>
                  <a:txBody>
                    <a:bodyPr/>
                    <a:lstStyle/>
                    <a:p>
                      <a:pPr>
                        <a:defRPr sz="1200">
                          <a:solidFill>
                            <a:srgbClr val="201D3A"/>
                          </a:solidFill>
                          <a:latin typeface="Yu Gothic"/>
                        </a:defRPr>
                      </a:pPr>
                      <a:r>
                        <a:t>参加</a:t>
                      </a:r>
                    </a:p>
                  </a:txBody>
                  <a:tcPr>
                    <a:solidFill>
                      <a:srgbClr val="F4F2FA"/>
                    </a:solidFill>
                  </a:tcPr>
                </a:tc>
              </a:tr>
              <a:tr h="411480">
                <a:tc>
                  <a:txBody>
                    <a:bodyPr/>
                    <a:lstStyle/>
                    <a:p>
                      <a:pPr>
                        <a:defRPr sz="1200">
                          <a:solidFill>
                            <a:srgbClr val="201D3A"/>
                          </a:solidFill>
                          <a:latin typeface="Yu Gothic"/>
                        </a:defRPr>
                      </a:pPr>
                      <a:r>
                        <a:t>Harlem Capital</a:t>
                      </a:r>
                    </a:p>
                  </a:txBody>
                  <a:tcPr>
                    <a:solidFill>
                      <a:srgbClr val="FFFFFF"/>
                    </a:solidFill>
                  </a:tcPr>
                </a:tc>
                <a:tc>
                  <a:txBody>
                    <a:bodyPr/>
                    <a:lstStyle/>
                    <a:p>
                      <a:pPr>
                        <a:defRPr sz="1200">
                          <a:solidFill>
                            <a:srgbClr val="201D3A"/>
                          </a:solidFill>
                          <a:latin typeface="Yu Gothic"/>
                        </a:defRPr>
                      </a:pPr>
                      <a:r>
                        <a:t>参加</a:t>
                      </a:r>
                    </a:p>
                  </a:txBody>
                  <a:tcPr>
                    <a:solidFill>
                      <a:srgbClr val="FFFFFF"/>
                    </a:solidFill>
                  </a:tcPr>
                </a:tc>
              </a:tr>
              <a:tr h="411480">
                <a:tc>
                  <a:txBody>
                    <a:bodyPr/>
                    <a:lstStyle/>
                    <a:p>
                      <a:pPr>
                        <a:defRPr sz="1200">
                          <a:solidFill>
                            <a:srgbClr val="201D3A"/>
                          </a:solidFill>
                          <a:latin typeface="Yu Gothic"/>
                        </a:defRPr>
                      </a:pPr>
                      <a:r>
                        <a:t>Khosla Ventures</a:t>
                      </a:r>
                    </a:p>
                  </a:txBody>
                  <a:tcPr>
                    <a:solidFill>
                      <a:srgbClr val="F4F2FA"/>
                    </a:solidFill>
                  </a:tcPr>
                </a:tc>
                <a:tc>
                  <a:txBody>
                    <a:bodyPr/>
                    <a:lstStyle/>
                    <a:p>
                      <a:pPr>
                        <a:defRPr sz="1200">
                          <a:solidFill>
                            <a:srgbClr val="201D3A"/>
                          </a:solidFill>
                          <a:latin typeface="Yu Gothic"/>
                        </a:defRPr>
                      </a:pPr>
                      <a:r>
                        <a:t>参加</a:t>
                      </a:r>
                    </a:p>
                  </a:txBody>
                  <a:tcPr>
                    <a:solidFill>
                      <a:srgbClr val="F4F2FA"/>
                    </a:solidFill>
                  </a:tcPr>
                </a:tc>
              </a:tr>
              <a:tr h="411480">
                <a:tc>
                  <a:txBody>
                    <a:bodyPr/>
                    <a:lstStyle/>
                    <a:p>
                      <a:pPr>
                        <a:defRPr sz="1200">
                          <a:solidFill>
                            <a:srgbClr val="201D3A"/>
                          </a:solidFill>
                          <a:latin typeface="Yu Gothic"/>
                        </a:defRPr>
                      </a:pPr>
                      <a:r>
                        <a:t>Slow Ventures</a:t>
                      </a:r>
                    </a:p>
                  </a:txBody>
                  <a:tcPr>
                    <a:solidFill>
                      <a:srgbClr val="FFFFFF"/>
                    </a:solidFill>
                  </a:tcPr>
                </a:tc>
                <a:tc>
                  <a:txBody>
                    <a:bodyPr/>
                    <a:lstStyle/>
                    <a:p>
                      <a:pPr>
                        <a:defRPr sz="1200">
                          <a:solidFill>
                            <a:srgbClr val="201D3A"/>
                          </a:solidFill>
                          <a:latin typeface="Yu Gothic"/>
                        </a:defRPr>
                      </a:pPr>
                      <a:r>
                        <a:t>参加</a:t>
                      </a:r>
                    </a:p>
                  </a:txBody>
                  <a:tcPr>
                    <a:solidFill>
                      <a:srgbClr val="FFFFFF"/>
                    </a:solidFill>
                  </a:tcPr>
                </a:tc>
              </a:tr>
              <a:tr h="411480">
                <a:tc>
                  <a:txBody>
                    <a:bodyPr/>
                    <a:lstStyle/>
                    <a:p>
                      <a:pPr>
                        <a:defRPr sz="1200">
                          <a:solidFill>
                            <a:srgbClr val="201D3A"/>
                          </a:solidFill>
                          <a:latin typeface="Yu Gothic"/>
                        </a:defRPr>
                      </a:pPr>
                      <a:r>
                        <a:t>Wilshire Lane</a:t>
                      </a:r>
                    </a:p>
                  </a:txBody>
                  <a:tcPr>
                    <a:solidFill>
                      <a:srgbClr val="F4F2FA"/>
                    </a:solidFill>
                  </a:tcPr>
                </a:tc>
                <a:tc>
                  <a:txBody>
                    <a:bodyPr/>
                    <a:lstStyle/>
                    <a:p>
                      <a:pPr>
                        <a:defRPr sz="1200">
                          <a:solidFill>
                            <a:srgbClr val="201D3A"/>
                          </a:solidFill>
                          <a:latin typeface="Yu Gothic"/>
                        </a:defRPr>
                      </a:pPr>
                      <a:r>
                        <a:t>参加</a:t>
                      </a:r>
                    </a:p>
                  </a:txBody>
                  <a:tcPr>
                    <a:solidFill>
                      <a:srgbClr val="F4F2FA"/>
                    </a:solidFill>
                  </a:tcPr>
                </a:tc>
              </a:tr>
              <a:tr h="411480">
                <a:tc>
                  <a:txBody>
                    <a:bodyPr/>
                    <a:lstStyle/>
                    <a:p>
                      <a:pPr>
                        <a:defRPr sz="1200">
                          <a:solidFill>
                            <a:srgbClr val="201D3A"/>
                          </a:solidFill>
                          <a:latin typeface="Yu Gothic"/>
                        </a:defRPr>
                      </a:pPr>
                      <a:r>
                        <a:t>Westbound</a:t>
                      </a:r>
                    </a:p>
                  </a:txBody>
                  <a:tcPr>
                    <a:solidFill>
                      <a:srgbClr val="FFFFFF"/>
                    </a:solidFill>
                  </a:tcPr>
                </a:tc>
                <a:tc>
                  <a:txBody>
                    <a:bodyPr/>
                    <a:lstStyle/>
                    <a:p>
                      <a:pPr>
                        <a:defRPr sz="1200">
                          <a:solidFill>
                            <a:srgbClr val="201D3A"/>
                          </a:solidFill>
                          <a:latin typeface="Yu Gothic"/>
                        </a:defRPr>
                      </a:pPr>
                      <a:r>
                        <a:t>参加</a:t>
                      </a:r>
                    </a:p>
                  </a:txBody>
                  <a:tcPr>
                    <a:solidFill>
                      <a:srgbClr val="FFFFFF"/>
                    </a:solidFill>
                  </a:tcPr>
                </a:tc>
              </a:tr>
              <a:tr h="411480">
                <a:tc>
                  <a:txBody>
                    <a:bodyPr/>
                    <a:lstStyle/>
                    <a:p>
                      <a:pPr>
                        <a:defRPr sz="1200">
                          <a:solidFill>
                            <a:srgbClr val="201D3A"/>
                          </a:solidFill>
                          <a:latin typeface="Yu Gothic"/>
                        </a:defRPr>
                      </a:pPr>
                      <a:r>
                        <a:t>Collide Capital</a:t>
                      </a:r>
                    </a:p>
                  </a:txBody>
                  <a:tcPr>
                    <a:solidFill>
                      <a:srgbClr val="F4F2FA"/>
                    </a:solidFill>
                  </a:tcPr>
                </a:tc>
                <a:tc>
                  <a:txBody>
                    <a:bodyPr/>
                    <a:lstStyle/>
                    <a:p>
                      <a:pPr>
                        <a:defRPr sz="1200">
                          <a:solidFill>
                            <a:srgbClr val="201D3A"/>
                          </a:solidFill>
                          <a:latin typeface="Yu Gothic"/>
                        </a:defRPr>
                      </a:pPr>
                      <a:r>
                        <a:t>参加</a:t>
                      </a:r>
                    </a:p>
                  </a:txBody>
                  <a:tcPr>
                    <a:solidFill>
                      <a:srgbClr val="F4F2FA"/>
                    </a:solidFill>
                  </a:tcPr>
                </a:tc>
              </a:tr>
              <a:tr h="411480">
                <a:tc>
                  <a:txBody>
                    <a:bodyPr/>
                    <a:lstStyle/>
                    <a:p>
                      <a:pPr>
                        <a:defRPr sz="1200">
                          <a:solidFill>
                            <a:srgbClr val="201D3A"/>
                          </a:solidFill>
                          <a:latin typeface="Yu Gothic"/>
                        </a:defRPr>
                      </a:pPr>
                      <a:r>
                        <a:t>Gallery Ventures</a:t>
                      </a:r>
                    </a:p>
                  </a:txBody>
                  <a:tcPr>
                    <a:solidFill>
                      <a:srgbClr val="FFFFFF"/>
                    </a:solidFill>
                  </a:tcPr>
                </a:tc>
                <a:tc>
                  <a:txBody>
                    <a:bodyPr/>
                    <a:lstStyle/>
                    <a:p>
                      <a:pPr>
                        <a:defRPr sz="1200">
                          <a:solidFill>
                            <a:srgbClr val="201D3A"/>
                          </a:solidFill>
                          <a:latin typeface="Yu Gothic"/>
                        </a:defRPr>
                      </a:pPr>
                      <a:r>
                        <a:t>参加</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主導投資家 First Round Capital</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役割</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今回のシードラウンドを主導した投資会社</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発表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BusinessWire(2026-07-30)で主導投資家として公表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意味</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プライベートクレジット×AIという新領域への早期の評価を示す</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主導投資家 vs 参加投資家</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5C"/>
                </a:solidFill>
                <a:latin typeface="Yu Gothic"/>
              </a:rPr>
              <a:t>主導(1社)</a:t>
            </a:r>
          </a:p>
        </p:txBody>
      </p:sp>
      <p:sp>
        <p:nvSpPr>
          <p:cNvPr id="9" name="Oval 8"/>
          <p:cNvSpPr/>
          <p:nvPr/>
        </p:nvSpPr>
        <p:spPr>
          <a:xfrm>
            <a:off x="777240" y="253288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First Round Capital</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5C"/>
                </a:solidFill>
                <a:latin typeface="Yu Gothic"/>
              </a:rPr>
              <a:t>参加投資家(8社)</a:t>
            </a:r>
          </a:p>
        </p:txBody>
      </p:sp>
      <p:sp>
        <p:nvSpPr>
          <p:cNvPr id="14" name="Oval 13"/>
          <p:cNvSpPr/>
          <p:nvPr/>
        </p:nvSpPr>
        <p:spPr>
          <a:xfrm>
            <a:off x="6598767" y="253288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645 Ventures、Harlem Capital、Khosla Ventures</a:t>
            </a:r>
          </a:p>
        </p:txBody>
      </p:sp>
      <p:sp>
        <p:nvSpPr>
          <p:cNvPr id="16" name="Oval 15"/>
          <p:cNvSpPr/>
          <p:nvPr/>
        </p:nvSpPr>
        <p:spPr>
          <a:xfrm>
            <a:off x="6598767" y="308152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Slow Ventures、Wilshire Lane、Westbound</a:t>
            </a:r>
          </a:p>
        </p:txBody>
      </p:sp>
      <p:sp>
        <p:nvSpPr>
          <p:cNvPr id="18" name="Oval 17"/>
          <p:cNvSpPr/>
          <p:nvPr/>
        </p:nvSpPr>
        <p:spPr>
          <a:xfrm>
            <a:off x="6598767" y="363016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Collide Capital、Gallery Ventures</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個人投資家として参加</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Mellody Hobson氏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著名な個人投資家として参加</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Josh Kushner氏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Thrive Capitalのマネージングパートナーとして知られる著名投資家。個人投資家として参加</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5C"/>
                </a:solidFill>
                <a:latin typeface="Yu Gothic"/>
              </a:rPr>
              <a:t>Immad Akhund氏</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F5A7A"/>
                </a:solidFill>
                <a:latin typeface="Yu Gothic"/>
              </a:rPr>
              <a:t>著名な個人投資家として参加</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F5A7A"/>
                </a:solidFill>
                <a:latin typeface="Yu Gothic"/>
              </a:rPr>
              <a:t>出典: BusinessWire(2026-07-30)</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公平性についての開示</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Josh Kushner氏はThrive Capitalのマネージングパートナーとして知られる著名なテック・金融系投資家</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本テーマでは資金調達報道上の事実(個人投資家として参加)のみを扱う</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Kushner家の政治的な関わり・立場についての論評は一切行っていない</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他の著名投資家(Garry Tan氏、John Doerr氏等)を扱う際と同じ姿勢で扱っている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83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6E1F5"/>
                </a:solidFill>
                <a:latin typeface="Yu Gothic"/>
              </a:rPr>
              <a:t>広いパートナーネットワークのAUM</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9A227"/>
                </a:solidFill>
                <a:latin typeface="Yu Gothic"/>
              </a:rPr>
              <a:t>500億ドル超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Ellisが接する設計パートナー等の広いネットワークの累計運用資産(AUM)</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9B0DE"/>
                </a:solidFill>
                <a:latin typeface="Yu Gothic"/>
              </a:rPr>
              <a:t>出典: BusinessWire(2026-07-30)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Ellis自身の規模 vs パートナーネットワークAUM</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5C"/>
                    </a:solidFill>
                  </a:tcPr>
                </a:tc>
                <a:tc>
                  <a:txBody>
                    <a:bodyPr/>
                    <a:lstStyle/>
                    <a:p>
                      <a:pPr>
                        <a:defRPr sz="1300" b="1">
                          <a:solidFill>
                            <a:srgbClr val="FFFFFF"/>
                          </a:solidFill>
                          <a:latin typeface="Yu Gothic"/>
                        </a:defRPr>
                      </a:pPr>
                      <a:r>
                        <a:t>内容</a:t>
                      </a:r>
                    </a:p>
                  </a:txBody>
                  <a:tcPr>
                    <a:solidFill>
                      <a:srgbClr val="2E2A5C"/>
                    </a:solidFill>
                  </a:tcPr>
                </a:tc>
              </a:tr>
              <a:tr h="502920">
                <a:tc>
                  <a:txBody>
                    <a:bodyPr/>
                    <a:lstStyle/>
                    <a:p>
                      <a:pPr>
                        <a:defRPr sz="1200">
                          <a:solidFill>
                            <a:srgbClr val="201D3A"/>
                          </a:solidFill>
                          <a:latin typeface="Yu Gothic"/>
                        </a:defRPr>
                      </a:pPr>
                      <a:r>
                        <a:t>Ellis自身の運用資産(AUM)</a:t>
                      </a:r>
                    </a:p>
                  </a:txBody>
                  <a:tcPr>
                    <a:solidFill>
                      <a:srgbClr val="FFFFFF"/>
                    </a:solidFill>
                  </a:tcPr>
                </a:tc>
                <a:tc>
                  <a:txBody>
                    <a:bodyPr/>
                    <a:lstStyle/>
                    <a:p>
                      <a:pPr>
                        <a:defRPr sz="1200">
                          <a:solidFill>
                            <a:srgbClr val="201D3A"/>
                          </a:solidFill>
                          <a:latin typeface="Yu Gothic"/>
                        </a:defRPr>
                      </a:pPr>
                      <a:r>
                        <a:t>確認できていない(Ellisは運用会社ではなくソフトウェア・AI運用基盤の企業)</a:t>
                      </a:r>
                    </a:p>
                  </a:txBody>
                  <a:tcPr>
                    <a:solidFill>
                      <a:srgbClr val="FFFFFF"/>
                    </a:solidFill>
                  </a:tcPr>
                </a:tc>
              </a:tr>
              <a:tr h="502920">
                <a:tc>
                  <a:txBody>
                    <a:bodyPr/>
                    <a:lstStyle/>
                    <a:p>
                      <a:pPr>
                        <a:defRPr sz="1200">
                          <a:solidFill>
                            <a:srgbClr val="201D3A"/>
                          </a:solidFill>
                          <a:latin typeface="Yu Gothic"/>
                        </a:defRPr>
                      </a:pPr>
                      <a:r>
                        <a:t>Ellis自身の顧客数</a:t>
                      </a:r>
                    </a:p>
                  </a:txBody>
                  <a:tcPr>
                    <a:solidFill>
                      <a:srgbClr val="F4F2FA"/>
                    </a:solidFill>
                  </a:tcPr>
                </a:tc>
                <a:tc>
                  <a:txBody>
                    <a:bodyPr/>
                    <a:lstStyle/>
                    <a:p>
                      <a:pPr>
                        <a:defRPr sz="1200">
                          <a:solidFill>
                            <a:srgbClr val="201D3A"/>
                          </a:solidFill>
                          <a:latin typeface="Yu Gothic"/>
                        </a:defRPr>
                      </a:pPr>
                      <a:r>
                        <a:t>確認できていない(複数の設計パートナーと報じられているのみ)</a:t>
                      </a:r>
                    </a:p>
                  </a:txBody>
                  <a:tcPr>
                    <a:solidFill>
                      <a:srgbClr val="F4F2FA"/>
                    </a:solidFill>
                  </a:tcPr>
                </a:tc>
              </a:tr>
              <a:tr h="502920">
                <a:tc>
                  <a:txBody>
                    <a:bodyPr/>
                    <a:lstStyle/>
                    <a:p>
                      <a:pPr>
                        <a:defRPr sz="1200">
                          <a:solidFill>
                            <a:srgbClr val="201D3A"/>
                          </a:solidFill>
                          <a:latin typeface="Yu Gothic"/>
                        </a:defRPr>
                      </a:pPr>
                      <a:r>
                        <a:t>パートナーネットワークの累計AUM</a:t>
                      </a:r>
                    </a:p>
                  </a:txBody>
                  <a:tcPr>
                    <a:solidFill>
                      <a:srgbClr val="FFFFFF"/>
                    </a:solidFill>
                  </a:tcPr>
                </a:tc>
                <a:tc>
                  <a:txBody>
                    <a:bodyPr/>
                    <a:lstStyle/>
                    <a:p>
                      <a:pPr>
                        <a:defRPr sz="1200">
                          <a:solidFill>
                            <a:srgbClr val="201D3A"/>
                          </a:solidFill>
                          <a:latin typeface="Yu Gothic"/>
                        </a:defRPr>
                      </a:pPr>
                      <a:r>
                        <a:t>500億ドル超(ネットワーク全体の数字)</a:t>
                      </a:r>
                    </a:p>
                  </a:txBody>
                  <a:tcPr>
                    <a:solidFill>
                      <a:srgbClr val="FFFFFF"/>
                    </a:solidFill>
                  </a:tcPr>
                </a:tc>
              </a:tr>
              <a:tr h="502920">
                <a:tc>
                  <a:txBody>
                    <a:bodyPr/>
                    <a:lstStyle/>
                    <a:p>
                      <a:pPr>
                        <a:defRPr sz="1200">
                          <a:solidFill>
                            <a:srgbClr val="201D3A"/>
                          </a:solidFill>
                          <a:latin typeface="Yu Gothic"/>
                        </a:defRPr>
                      </a:pPr>
                      <a:r>
                        <a:t>注意</a:t>
                      </a:r>
                    </a:p>
                  </a:txBody>
                  <a:tcPr>
                    <a:solidFill>
                      <a:srgbClr val="F4F2FA"/>
                    </a:solidFill>
                  </a:tcPr>
                </a:tc>
                <a:tc>
                  <a:txBody>
                    <a:bodyPr/>
                    <a:lstStyle/>
                    <a:p>
                      <a:pPr>
                        <a:defRPr sz="1200">
                          <a:solidFill>
                            <a:srgbClr val="201D3A"/>
                          </a:solidFill>
                          <a:latin typeface="Yu Gothic"/>
                        </a:defRPr>
                      </a:pPr>
                      <a:r>
                        <a:t>500億ドル超はEllis自身が運用・管理する資産額ではない</a:t>
                      </a:r>
                    </a:p>
                  </a:txBody>
                  <a:tcPr>
                    <a:solidFill>
                      <a:srgbClr val="F4F2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パートナーネットワークの位置づけ(概要)</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5C"/>
                </a:solidFill>
                <a:latin typeface="Yu Gothic"/>
              </a:rPr>
              <a:t>設計パートナー(複数)</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F5A7A"/>
                </a:solidFill>
                <a:latin typeface="Yu Gothic"/>
              </a:rPr>
              <a:t>Ellisと共同でプラットフォームを開発</a:t>
            </a:r>
          </a:p>
        </p:txBody>
      </p:sp>
      <p:sp>
        <p:nvSpPr>
          <p:cNvPr id="10" name="Right Arrow 9"/>
          <p:cNvSpPr/>
          <p:nvPr/>
        </p:nvSpPr>
        <p:spPr>
          <a:xfrm>
            <a:off x="4157319" y="3108959"/>
            <a:ext cx="676656" cy="36576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5C"/>
                </a:solidFill>
                <a:latin typeface="Yu Gothic"/>
              </a:rPr>
              <a:t>広いパートナーネットワーク</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F5A7A"/>
                </a:solidFill>
                <a:latin typeface="Yu Gothic"/>
              </a:rPr>
              <a:t>累計500億ドル超のAUMに相当すると報じられている</a:t>
            </a:r>
          </a:p>
        </p:txBody>
      </p:sp>
      <p:sp>
        <p:nvSpPr>
          <p:cNvPr id="15" name="Right Arrow 14"/>
          <p:cNvSpPr/>
          <p:nvPr/>
        </p:nvSpPr>
        <p:spPr>
          <a:xfrm>
            <a:off x="7357719" y="3108959"/>
            <a:ext cx="676656" cy="365760"/>
          </a:xfrm>
          <a:prstGeom prst="rightArrow">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5C"/>
                </a:solidFill>
                <a:latin typeface="Yu Gothic"/>
              </a:rPr>
              <a:t>Ellis自身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F5A7A"/>
                </a:solidFill>
                <a:latin typeface="Yu Gothic"/>
              </a:rPr>
              <a:t>AI運用基盤を提供する企業。自らAUM・資産を保有するわけではない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プラットフォーム開発の進め方(報道からの整理)</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5C"/>
                </a:solidFill>
                <a:latin typeface="Yu Gothic"/>
              </a:rPr>
              <a:t>1. 設計パートナーとの共同開発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F5A7A"/>
                </a:solidFill>
                <a:latin typeface="Yu Gothic"/>
              </a:rPr>
              <a:t>複数のプライベートクレジット領域の設計パートナーと開発を進める</a:t>
            </a:r>
          </a:p>
        </p:txBody>
      </p:sp>
      <p:sp>
        <p:nvSpPr>
          <p:cNvPr id="11" name="Chevron 10"/>
          <p:cNvSpPr/>
          <p:nvPr/>
        </p:nvSpPr>
        <p:spPr>
          <a:xfrm>
            <a:off x="4038295" y="3200400"/>
            <a:ext cx="234086" cy="365760"/>
          </a:xfrm>
          <a:prstGeom prst="chevron">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5C"/>
                </a:solidFill>
                <a:latin typeface="Yu Gothic"/>
              </a:rPr>
              <a:t>2. 広いパートナーネットワークへの展開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F5A7A"/>
                </a:solidFill>
                <a:latin typeface="Yu Gothic"/>
              </a:rPr>
              <a:t>累計500億ドル超のAUMに相当するネットワークと関係を構築</a:t>
            </a:r>
          </a:p>
        </p:txBody>
      </p:sp>
      <p:sp>
        <p:nvSpPr>
          <p:cNvPr id="17" name="Chevron 16"/>
          <p:cNvSpPr/>
          <p:nvPr/>
        </p:nvSpPr>
        <p:spPr>
          <a:xfrm>
            <a:off x="7919313" y="3200400"/>
            <a:ext cx="234086" cy="365760"/>
          </a:xfrm>
          <a:prstGeom prst="chevron">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5C"/>
                </a:solidFill>
                <a:latin typeface="Yu Gothic"/>
              </a:rPr>
              <a:t>3. シード資金の獲得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F5A7A"/>
                </a:solidFill>
                <a:latin typeface="Yu Gothic"/>
              </a:rPr>
              <a:t>First Round Capital主導で1,000万ドル超を調達しステルス脱出</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従来型のプライベートクレジット運用 vs Ellisのアプローチ</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5C"/>
                </a:solidFill>
                <a:latin typeface="Yu Gothic"/>
              </a:rPr>
              <a:t>従来型のプライベートクレジット運用</a:t>
            </a:r>
          </a:p>
        </p:txBody>
      </p:sp>
      <p:sp>
        <p:nvSpPr>
          <p:cNvPr id="9" name="Oval 8"/>
          <p:cNvSpPr/>
          <p:nvPr/>
        </p:nvSpPr>
        <p:spPr>
          <a:xfrm>
            <a:off x="777240" y="253288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複数システムに分散したデータを手作業で照合</a:t>
            </a:r>
          </a:p>
        </p:txBody>
      </p:sp>
      <p:sp>
        <p:nvSpPr>
          <p:cNvPr id="11" name="Oval 10"/>
          <p:cNvSpPr/>
          <p:nvPr/>
        </p:nvSpPr>
        <p:spPr>
          <a:xfrm>
            <a:off x="777240" y="308152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レポーティング・コンプライアンス確認も人手が中心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5C"/>
                </a:solidFill>
                <a:latin typeface="Yu Gothic"/>
              </a:rPr>
              <a:t>Ellisのアプローチ(報道による)</a:t>
            </a:r>
          </a:p>
        </p:txBody>
      </p:sp>
      <p:sp>
        <p:nvSpPr>
          <p:cNvPr id="16" name="Oval 15"/>
          <p:cNvSpPr/>
          <p:nvPr/>
        </p:nvSpPr>
        <p:spPr>
          <a:xfrm>
            <a:off x="6598767" y="253288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AIエージェントが照合・レポーティング・コンプライアンス・異常検知を支援</a:t>
            </a:r>
          </a:p>
        </p:txBody>
      </p:sp>
      <p:sp>
        <p:nvSpPr>
          <p:cNvPr id="18" name="Oval 17"/>
          <p:cNvSpPr/>
          <p:nvPr/>
        </p:nvSpPr>
        <p:spPr>
          <a:xfrm>
            <a:off x="6598767" y="3081528"/>
            <a:ext cx="274320" cy="27432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1D3A"/>
                </a:solidFill>
                <a:latin typeface="Yu Gothic"/>
              </a:rPr>
              <a:t>分断されたシステムを1つの運用基盤でつなぐ</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これは何を意味するか(実務者への示唆)</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プライベートクレジット業界の運用担当者にとって、AI活用による業務効率化の選択肢が増える可能性がある</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導入を検討する場合は、実際の精度・セキュリティ・既存システムとの連携可否を個別に確認する必要がある</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Ellis自身の実績・顧客数はまだ確認できておらず、現時点での性能評価は時期尚早</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特定製品の利用を推奨する結論ではなく、業界動向の一例として紹介している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調達額(1,000万ドル超)・主導投資家・創業者経歴は複数媒体で一致</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シード調達額の具体的な内訳(1,000万ドル超からどこまで上振れるか)は確認できていない</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Ellis自身のバリュエーション・顧客数・AUM・売上は確認できていない</a:t>
            </a:r>
          </a:p>
        </p:txBody>
      </p:sp>
      <p:sp>
        <p:nvSpPr>
          <p:cNvPr id="12" name="Oval 11"/>
          <p:cNvSpPr/>
          <p:nvPr/>
        </p:nvSpPr>
        <p:spPr>
          <a:xfrm>
            <a:off x="457200" y="381304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参加投資家・個人投資家それぞれの出資額の内訳も確認できていない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F5A7A"/>
                </a:solidFill>
                <a:latin typeface="Yu Gothic"/>
              </a:rPr>
              <a:t>出典: BusinessWire・TechCrunch(2026-07-30/31)</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未確認事項一覧</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5C"/>
                    </a:solidFill>
                  </a:tcPr>
                </a:tc>
                <a:tc>
                  <a:txBody>
                    <a:bodyPr/>
                    <a:lstStyle/>
                    <a:p>
                      <a:pPr>
                        <a:defRPr sz="1300" b="1">
                          <a:solidFill>
                            <a:srgbClr val="FFFFFF"/>
                          </a:solidFill>
                          <a:latin typeface="Yu Gothic"/>
                        </a:defRPr>
                      </a:pPr>
                      <a:r>
                        <a:t>状況</a:t>
                      </a:r>
                    </a:p>
                  </a:txBody>
                  <a:tcPr>
                    <a:solidFill>
                      <a:srgbClr val="2E2A5C"/>
                    </a:solidFill>
                  </a:tcPr>
                </a:tc>
              </a:tr>
              <a:tr h="502920">
                <a:tc>
                  <a:txBody>
                    <a:bodyPr/>
                    <a:lstStyle/>
                    <a:p>
                      <a:pPr>
                        <a:defRPr sz="1200">
                          <a:solidFill>
                            <a:srgbClr val="201D3A"/>
                          </a:solidFill>
                          <a:latin typeface="Yu Gothic"/>
                        </a:defRPr>
                      </a:pPr>
                      <a:r>
                        <a:t>シード調達額の具体的な上振れ数字</a:t>
                      </a:r>
                    </a:p>
                  </a:txBody>
                  <a:tcPr>
                    <a:solidFill>
                      <a:srgbClr val="FFFFFF"/>
                    </a:solidFill>
                  </a:tcPr>
                </a:tc>
                <a:tc>
                  <a:txBody>
                    <a:bodyPr/>
                    <a:lstStyle/>
                    <a:p>
                      <a:pPr>
                        <a:defRPr sz="1200">
                          <a:solidFill>
                            <a:srgbClr val="201D3A"/>
                          </a:solidFill>
                          <a:latin typeface="Yu Gothic"/>
                        </a:defRPr>
                      </a:pPr>
                      <a:r>
                        <a:t>未確認(「1,000万ドル超」とのみ判明)</a:t>
                      </a:r>
                    </a:p>
                  </a:txBody>
                  <a:tcPr>
                    <a:solidFill>
                      <a:srgbClr val="FFFFFF"/>
                    </a:solidFill>
                  </a:tcPr>
                </a:tc>
              </a:tr>
              <a:tr h="502920">
                <a:tc>
                  <a:txBody>
                    <a:bodyPr/>
                    <a:lstStyle/>
                    <a:p>
                      <a:pPr>
                        <a:defRPr sz="1200">
                          <a:solidFill>
                            <a:srgbClr val="201D3A"/>
                          </a:solidFill>
                          <a:latin typeface="Yu Gothic"/>
                        </a:defRPr>
                      </a:pPr>
                      <a:r>
                        <a:t>Ellis自身のバリュエーション</a:t>
                      </a:r>
                    </a:p>
                  </a:txBody>
                  <a:tcPr>
                    <a:solidFill>
                      <a:srgbClr val="F4F2FA"/>
                    </a:solidFill>
                  </a:tcPr>
                </a:tc>
                <a:tc>
                  <a:txBody>
                    <a:bodyPr/>
                    <a:lstStyle/>
                    <a:p>
                      <a:pPr>
                        <a:defRPr sz="1200">
                          <a:solidFill>
                            <a:srgbClr val="201D3A"/>
                          </a:solidFill>
                          <a:latin typeface="Yu Gothic"/>
                        </a:defRPr>
                      </a:pPr>
                      <a:r>
                        <a:t>未確認</a:t>
                      </a:r>
                    </a:p>
                  </a:txBody>
                  <a:tcPr>
                    <a:solidFill>
                      <a:srgbClr val="F4F2FA"/>
                    </a:solidFill>
                  </a:tcPr>
                </a:tc>
              </a:tr>
              <a:tr h="502920">
                <a:tc>
                  <a:txBody>
                    <a:bodyPr/>
                    <a:lstStyle/>
                    <a:p>
                      <a:pPr>
                        <a:defRPr sz="1200">
                          <a:solidFill>
                            <a:srgbClr val="201D3A"/>
                          </a:solidFill>
                          <a:latin typeface="Yu Gothic"/>
                        </a:defRPr>
                      </a:pPr>
                      <a:r>
                        <a:t>Ellis自身の顧客数・設計パートナー数</a:t>
                      </a:r>
                    </a:p>
                  </a:txBody>
                  <a:tcPr>
                    <a:solidFill>
                      <a:srgbClr val="FFFFFF"/>
                    </a:solidFill>
                  </a:tcPr>
                </a:tc>
                <a:tc>
                  <a:txBody>
                    <a:bodyPr/>
                    <a:lstStyle/>
                    <a:p>
                      <a:pPr>
                        <a:defRPr sz="1200">
                          <a:solidFill>
                            <a:srgbClr val="201D3A"/>
                          </a:solidFill>
                          <a:latin typeface="Yu Gothic"/>
                        </a:defRPr>
                      </a:pPr>
                      <a:r>
                        <a:t>未確認</a:t>
                      </a:r>
                    </a:p>
                  </a:txBody>
                  <a:tcPr>
                    <a:solidFill>
                      <a:srgbClr val="FFFFFF"/>
                    </a:solidFill>
                  </a:tcPr>
                </a:tc>
              </a:tr>
              <a:tr h="502920">
                <a:tc>
                  <a:txBody>
                    <a:bodyPr/>
                    <a:lstStyle/>
                    <a:p>
                      <a:pPr>
                        <a:defRPr sz="1200">
                          <a:solidFill>
                            <a:srgbClr val="201D3A"/>
                          </a:solidFill>
                          <a:latin typeface="Yu Gothic"/>
                        </a:defRPr>
                      </a:pPr>
                      <a:r>
                        <a:t>Ellis自身のAUM・売上</a:t>
                      </a:r>
                    </a:p>
                  </a:txBody>
                  <a:tcPr>
                    <a:solidFill>
                      <a:srgbClr val="F4F2FA"/>
                    </a:solidFill>
                  </a:tcPr>
                </a:tc>
                <a:tc>
                  <a:txBody>
                    <a:bodyPr/>
                    <a:lstStyle/>
                    <a:p>
                      <a:pPr>
                        <a:defRPr sz="1200">
                          <a:solidFill>
                            <a:srgbClr val="201D3A"/>
                          </a:solidFill>
                          <a:latin typeface="Yu Gothic"/>
                        </a:defRPr>
                      </a:pPr>
                      <a:r>
                        <a:t>未確認</a:t>
                      </a:r>
                    </a:p>
                  </a:txBody>
                  <a:tcPr>
                    <a:solidFill>
                      <a:srgbClr val="F4F2FA"/>
                    </a:solidFill>
                  </a:tcPr>
                </a:tc>
              </a:tr>
              <a:tr h="502920">
                <a:tc>
                  <a:txBody>
                    <a:bodyPr/>
                    <a:lstStyle/>
                    <a:p>
                      <a:pPr>
                        <a:defRPr sz="1200">
                          <a:solidFill>
                            <a:srgbClr val="201D3A"/>
                          </a:solidFill>
                          <a:latin typeface="Yu Gothic"/>
                        </a:defRPr>
                      </a:pPr>
                      <a:r>
                        <a:t>投資家ごとの出資額の内訳</a:t>
                      </a:r>
                    </a:p>
                  </a:txBody>
                  <a:tcPr>
                    <a:solidFill>
                      <a:srgbClr val="FFFFFF"/>
                    </a:solidFill>
                  </a:tcPr>
                </a:tc>
                <a:tc>
                  <a:txBody>
                    <a:bodyPr/>
                    <a:lstStyle/>
                    <a:p>
                      <a:pPr>
                        <a:defRPr sz="1200">
                          <a:solidFill>
                            <a:srgbClr val="201D3A"/>
                          </a:solidFill>
                          <a:latin typeface="Yu Gothic"/>
                        </a:defRPr>
                      </a:pPr>
                      <a:r>
                        <a:t>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鮮度についての開示</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本発表はBusinessWireで2026年7月30日、TechCrunchで2026年7月31日</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着手日(2026年8月4日)の4〜5日前であり、比較的鮮度は良好な水準</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`docs/06_Content_R&amp;D.md`の鮮度基準(着手日の前日以内)には届いていない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出典一覧</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E2A5C"/>
                    </a:solidFill>
                  </a:tcPr>
                </a:tc>
                <a:tc>
                  <a:txBody>
                    <a:bodyPr/>
                    <a:lstStyle/>
                    <a:p>
                      <a:pPr>
                        <a:defRPr sz="1300" b="1">
                          <a:solidFill>
                            <a:srgbClr val="FFFFFF"/>
                          </a:solidFill>
                          <a:latin typeface="Yu Gothic"/>
                        </a:defRPr>
                      </a:pPr>
                      <a:r>
                        <a:t>日付</a:t>
                      </a:r>
                    </a:p>
                  </a:txBody>
                  <a:tcPr>
                    <a:solidFill>
                      <a:srgbClr val="2E2A5C"/>
                    </a:solidFill>
                  </a:tcPr>
                </a:tc>
              </a:tr>
              <a:tr h="502920">
                <a:tc>
                  <a:txBody>
                    <a:bodyPr/>
                    <a:lstStyle/>
                    <a:p>
                      <a:pPr>
                        <a:defRPr sz="1200">
                          <a:solidFill>
                            <a:srgbClr val="201D3A"/>
                          </a:solidFill>
                          <a:latin typeface="Yu Gothic"/>
                        </a:defRPr>
                      </a:pPr>
                      <a:r>
                        <a:t>BusinessWire</a:t>
                      </a:r>
                    </a:p>
                  </a:txBody>
                  <a:tcPr>
                    <a:solidFill>
                      <a:srgbClr val="FFFFFF"/>
                    </a:solidFill>
                  </a:tcPr>
                </a:tc>
                <a:tc>
                  <a:txBody>
                    <a:bodyPr/>
                    <a:lstStyle/>
                    <a:p>
                      <a:pPr>
                        <a:defRPr sz="1200">
                          <a:solidFill>
                            <a:srgbClr val="201D3A"/>
                          </a:solidFill>
                          <a:latin typeface="Yu Gothic"/>
                        </a:defRPr>
                      </a:pPr>
                      <a:r>
                        <a:t>2026-07-30</a:t>
                      </a:r>
                    </a:p>
                  </a:txBody>
                  <a:tcPr>
                    <a:solidFill>
                      <a:srgbClr val="FFFFFF"/>
                    </a:solidFill>
                  </a:tcPr>
                </a:tc>
              </a:tr>
              <a:tr h="502920">
                <a:tc>
                  <a:txBody>
                    <a:bodyPr/>
                    <a:lstStyle/>
                    <a:p>
                      <a:pPr>
                        <a:defRPr sz="1200">
                          <a:solidFill>
                            <a:srgbClr val="201D3A"/>
                          </a:solidFill>
                          <a:latin typeface="Yu Gothic"/>
                        </a:defRPr>
                      </a:pPr>
                      <a:r>
                        <a:t>TechCrunch</a:t>
                      </a:r>
                    </a:p>
                  </a:txBody>
                  <a:tcPr>
                    <a:solidFill>
                      <a:srgbClr val="F4F2FA"/>
                    </a:solidFill>
                  </a:tcPr>
                </a:tc>
                <a:tc>
                  <a:txBody>
                    <a:bodyPr/>
                    <a:lstStyle/>
                    <a:p>
                      <a:pPr>
                        <a:defRPr sz="1200">
                          <a:solidFill>
                            <a:srgbClr val="201D3A"/>
                          </a:solidFill>
                          <a:latin typeface="Yu Gothic"/>
                        </a:defRPr>
                      </a:pPr>
                      <a:r>
                        <a:t>2026-07-31</a:t>
                      </a:r>
                    </a:p>
                  </a:txBody>
                  <a:tcPr>
                    <a:solidFill>
                      <a:srgbClr val="F4F2FA"/>
                    </a:solidFill>
                  </a:tcPr>
                </a:tc>
              </a:tr>
              <a:tr h="502920">
                <a:tc>
                  <a:txBody>
                    <a:bodyPr/>
                    <a:lstStyle/>
                    <a:p>
                      <a:pPr>
                        <a:defRPr sz="1200">
                          <a:solidFill>
                            <a:srgbClr val="201D3A"/>
                          </a:solidFill>
                          <a:latin typeface="Yu Gothic"/>
                        </a:defRPr>
                      </a:pPr>
                      <a:r>
                        <a:t>Alternative Credit Investor</a:t>
                      </a:r>
                    </a:p>
                  </a:txBody>
                  <a:tcPr>
                    <a:solidFill>
                      <a:srgbClr val="FFFFFF"/>
                    </a:solidFill>
                  </a:tcPr>
                </a:tc>
                <a:tc>
                  <a:txBody>
                    <a:bodyPr/>
                    <a:lstStyle/>
                    <a:p>
                      <a:pPr>
                        <a:defRPr sz="1200">
                          <a:solidFill>
                            <a:srgbClr val="201D3A"/>
                          </a:solidFill>
                          <a:latin typeface="Yu Gothic"/>
                        </a:defRPr>
                      </a:pPr>
                      <a:r>
                        <a:t>2026-07-30</a:t>
                      </a:r>
                    </a:p>
                  </a:txBody>
                  <a:tcPr>
                    <a:solidFill>
                      <a:srgbClr val="FFFFFF"/>
                    </a:solidFill>
                  </a:tcPr>
                </a:tc>
              </a:tr>
              <a:tr h="502920">
                <a:tc>
                  <a:txBody>
                    <a:bodyPr/>
                    <a:lstStyle/>
                    <a:p>
                      <a:pPr>
                        <a:defRPr sz="1200">
                          <a:solidFill>
                            <a:srgbClr val="201D3A"/>
                          </a:solidFill>
                          <a:latin typeface="Yu Gothic"/>
                        </a:defRPr>
                      </a:pPr>
                      <a:r>
                        <a:t>Yahoo Finance / Las Vegas Sun(BusinessWire配信の転載)</a:t>
                      </a:r>
                    </a:p>
                  </a:txBody>
                  <a:tcPr>
                    <a:solidFill>
                      <a:srgbClr val="F4F2FA"/>
                    </a:solidFill>
                  </a:tcPr>
                </a:tc>
                <a:tc>
                  <a:txBody>
                    <a:bodyPr/>
                    <a:lstStyle/>
                    <a:p>
                      <a:pPr>
                        <a:defRPr sz="1200">
                          <a:solidFill>
                            <a:srgbClr val="201D3A"/>
                          </a:solidFill>
                          <a:latin typeface="Yu Gothic"/>
                        </a:defRPr>
                      </a:pPr>
                      <a:r>
                        <a:t>2026年7月</a:t>
                      </a:r>
                    </a:p>
                  </a:txBody>
                  <a:tcPr>
                    <a:solidFill>
                      <a:srgbClr val="F4F2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E2A5C"/>
                    </a:solidFill>
                  </a:tcPr>
                </a:tc>
                <a:tc>
                  <a:txBody>
                    <a:bodyPr/>
                    <a:lstStyle/>
                    <a:p>
                      <a:pPr>
                        <a:defRPr sz="1300" b="1">
                          <a:solidFill>
                            <a:srgbClr val="FFFFFF"/>
                          </a:solidFill>
                          <a:latin typeface="Yu Gothic"/>
                        </a:defRPr>
                      </a:pPr>
                      <a:r>
                        <a:t>結果</a:t>
                      </a:r>
                    </a:p>
                  </a:txBody>
                  <a:tcPr>
                    <a:solidFill>
                      <a:srgbClr val="2E2A5C"/>
                    </a:solidFill>
                  </a:tcPr>
                </a:tc>
              </a:tr>
              <a:tr h="502920">
                <a:tc>
                  <a:txBody>
                    <a:bodyPr/>
                    <a:lstStyle/>
                    <a:p>
                      <a:pPr>
                        <a:defRPr sz="1200">
                          <a:solidFill>
                            <a:srgbClr val="201D3A"/>
                          </a:solidFill>
                          <a:latin typeface="Yu Gothic"/>
                        </a:defRPr>
                      </a:pPr>
                      <a:r>
                        <a:t>Ellis/Ryan Williams氏を主題としたテーマ</a:t>
                      </a:r>
                    </a:p>
                  </a:txBody>
                  <a:tcPr>
                    <a:solidFill>
                      <a:srgbClr val="FFFFFF"/>
                    </a:solidFill>
                  </a:tcPr>
                </a:tc>
                <a:tc>
                  <a:txBody>
                    <a:bodyPr/>
                    <a:lstStyle/>
                    <a:p>
                      <a:pPr>
                        <a:defRPr sz="1200">
                          <a:solidFill>
                            <a:srgbClr val="201D3A"/>
                          </a:solidFill>
                          <a:latin typeface="Yu Gothic"/>
                        </a:defRPr>
                      </a:pPr>
                      <a:r>
                        <a:t>既存テーマになし</a:t>
                      </a:r>
                    </a:p>
                  </a:txBody>
                  <a:tcPr>
                    <a:solidFill>
                      <a:srgbClr val="FFFFFF"/>
                    </a:solidFill>
                  </a:tcPr>
                </a:tc>
              </a:tr>
              <a:tr h="502920">
                <a:tc>
                  <a:txBody>
                    <a:bodyPr/>
                    <a:lstStyle/>
                    <a:p>
                      <a:pPr>
                        <a:defRPr sz="1200">
                          <a:solidFill>
                            <a:srgbClr val="201D3A"/>
                          </a:solidFill>
                          <a:latin typeface="Yu Gothic"/>
                        </a:defRPr>
                      </a:pPr>
                      <a:r>
                        <a:t>判定</a:t>
                      </a:r>
                    </a:p>
                  </a:txBody>
                  <a:tcPr>
                    <a:solidFill>
                      <a:srgbClr val="F4F2FA"/>
                    </a:solidFill>
                  </a:tcPr>
                </a:tc>
                <a:tc>
                  <a:txBody>
                    <a:bodyPr/>
                    <a:lstStyle/>
                    <a:p>
                      <a:pPr>
                        <a:defRPr sz="1200">
                          <a:solidFill>
                            <a:srgbClr val="201D3A"/>
                          </a:solidFill>
                          <a:latin typeface="Yu Gothic"/>
                        </a:defRPr>
                      </a:pPr>
                      <a:r>
                        <a:t>重複ではない</a:t>
                      </a:r>
                    </a:p>
                  </a:txBody>
                  <a:tcPr>
                    <a:solidFill>
                      <a:srgbClr val="F4F2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5C"/>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ここからは推測ですが、プライベートクレジット市場の拡大とともにAI運用基盤への投資需要はさらに高まる可能性がある</a:t>
            </a:r>
          </a:p>
        </p:txBody>
      </p:sp>
      <p:sp>
        <p:nvSpPr>
          <p:cNvPr id="8" name="Oval 7"/>
          <p:cNvSpPr/>
          <p:nvPr/>
        </p:nvSpPr>
        <p:spPr>
          <a:xfrm>
            <a:off x="457200" y="225856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連続起業家による参入は、この領域への評価が高まっていることの一つの示唆になるかもしれない</a:t>
            </a:r>
          </a:p>
        </p:txBody>
      </p:sp>
      <p:sp>
        <p:nvSpPr>
          <p:cNvPr id="10" name="Oval 9"/>
          <p:cNvSpPr/>
          <p:nvPr/>
        </p:nvSpPr>
        <p:spPr>
          <a:xfrm>
            <a:off x="457200" y="3035808"/>
            <a:ext cx="320040" cy="320040"/>
          </a:xfrm>
          <a:prstGeom prst="ellipse">
            <a:avLst/>
          </a:prstGeom>
          <a:solidFill>
            <a:srgbClr val="2E2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1D3A"/>
                </a:solidFill>
                <a:latin typeface="Yu Gothic"/>
              </a:rPr>
              <a:t>著名な個人投資家の参加は、業界内での注目度の高さを示している可能性がある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F5A7A"/>
                </a:solidFill>
                <a:latin typeface="Yu Gothic"/>
              </a:rPr>
              <a:t>AI Company OS｜出典: BusinessWire・TechCrunch ほか(2026-07-30/31)｜定期実行134本目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F5A7A"/>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3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9B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「不動産の次はプライベートクレジット」、AIによる金融の自動化をどう見ますか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6E1F5"/>
                </a:solidFill>
                <a:latin typeface="Yu Gothic"/>
              </a:rPr>
              <a:t>Ellisの今後の展開を、確認できたこと・できなかったことを区別しながら注目していきましょう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5C"/>
                </a:solidFill>
                <a:latin typeface="Yu Gothic"/>
              </a:rPr>
              <a:t>続報が入り次第、改めてお届けします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