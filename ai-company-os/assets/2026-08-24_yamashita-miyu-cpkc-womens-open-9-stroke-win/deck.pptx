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2026年8月23日、山下美夢有選手が米女子ゴルフツアーのCPKC女子オープンで9打差という圧倒的なスコア差で優勝しました。何が起きたのか、出典付きで正確に整理してお届けします。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結論から確認します。山下美夢有選手が、今季ツアー最大となる9打差で完全優勝しました。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今日は6つの流れでお伝えします。優勝スコアから記録的な意味、賞金額まで、正確に事実を引用しながら整理します。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このテーマを扱う理由です。高い鮮度と、日本勢の活躍という明るい話題性に注目しました。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大会の基本情報です。最終日は66でプレーし、通算23アンダーで優勝しました。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完全優勝とは何かを確認します。初日から首位を守り続ける、安定した強さを示す優勝スタイルです。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初日から一度も首位を譲らない完全優勝は、2021年の畑岡奈紗選手以来の快挙です。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初日から優勝までの流れを図にしました。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今回の優勝を3ステップで総括しました。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この優勝が持つ記録的な意味です。42試合目での4勝到達は日本勢最速の記録です。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岡本綾子氏以来の快挙という、歴史的な位置づけを示す比較です。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2位には吉田優利選手が入り、日本勢ワンツーフィニッシュとなりました。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2位の吉田優利選手も、自己最高順位という好成績を残しました。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日本勢最速記録とは何かを確認します。参戦試合数に対する到達の速さを示す指標です。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賞金額です。円換算額は報道時点の為替レートに基づく概算である点にご留意ください。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優勝賞金と2位賞金の差は、約15万3,105ドルです。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スポーツの活躍を追う立場にとっての意味です。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本テーマは複数の独立した情報源で数値の一貫性を確認しており、以前扱った他候補で見つかったような数字の矛盾は見られませんでした。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複数の独立した主要スポーツメディアが同一の事実を報じていることを確認しています。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参戦42試合目での4勝到達は、日本勢選手として最速の記録です。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岡本綾子氏は通算17勝という、日本人女子ゴルファーの草分け的存在です。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山下選手の主な記録をまとめました。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米女子ゴルフツアーにおける日本勢の活躍という、より広い文脈を確認します。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過去の完全優勝の例と、今回の優勝を対比しました。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今後注目される点です。ただし推測にとどまる部分は明確に区別してお伝えします。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本編のまとめです。山下美夢有選手の9打差の完全優勝について、出典付きで整理してお伝えしました。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山下美夢有選手の9打差の完全優勝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山下美夢有、</a:t>
            </a:r>
          </a:p>
          <a:p>
            <a:pPr algn="l">
              <a:lnSpc>
                <a:spcPct val="115000"/>
              </a:lnSpc>
            </a:pPr>
            <a:r>
              <a:rPr sz="4200" b="1">
                <a:solidFill>
                  <a:srgbClr val="FFFFFF"/>
                </a:solidFill>
                <a:latin typeface="Yu Gothic"/>
              </a:rPr>
              <a:t>米女子ゴルフで</a:t>
            </a:r>
          </a:p>
          <a:p>
            <a:pPr algn="l">
              <a:lnSpc>
                <a:spcPct val="115000"/>
              </a:lnSpc>
            </a:pPr>
            <a:r>
              <a:rPr sz="4200" b="1">
                <a:solidFill>
                  <a:srgbClr val="FFFFFF"/>
                </a:solidFill>
                <a:latin typeface="Yu Gothic"/>
              </a:rPr>
              <a:t>9打差の完全優勝</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2026年8月24日報道——今季2勝目・通算4勝目を出典付きで整理する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日刊スポーツ・ゴルフダイジェスト・オンライン(2026年8月24日)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9打差 今季ツアー最大差での完全優勝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初日から一度も首位を譲らないワイヤー・トゥ・ワイヤー優勝(2026年8月24日報道)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ゴルフダイジェスト・オンライン(2026-08-24)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大会・優勝スコアの基本情報を確認する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この優勝が持つ記録的な意味を確認する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日本勢ワンツーフィニッシュの詳細を確認する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賞金額を確認する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着手日当日(2026年8月24日)、日本の主要スポーツメディアが一斉に報じた話題である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9打差の完全優勝という、スコア差のインパクトが大きい出来事である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日本勢ワンツーフィニッシュという明るいニュースである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複数の独立したメディアが同じ中心数値を報じており、情報の一貫性を確認できた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日刊スポーツ・ゴルフダイジェスト・オンライン(2026-08-24)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大会・優勝の基本情報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大会名</a:t>
                      </a:r>
                    </a:p>
                  </a:txBody>
                  <a:tcPr>
                    <a:solidFill>
                      <a:srgbClr val="FFFFFF"/>
                    </a:solidFill>
                  </a:tcPr>
                </a:tc>
                <a:tc>
                  <a:txBody>
                    <a:bodyPr/>
                    <a:lstStyle/>
                    <a:p>
                      <a:pPr>
                        <a:defRPr sz="1200">
                          <a:solidFill>
                            <a:srgbClr val="1E2124"/>
                          </a:solidFill>
                          <a:latin typeface="Yu Gothic"/>
                        </a:defRPr>
                      </a:pPr>
                      <a:r>
                        <a:t>CPKC女子オープン(LPGAツアー)</a:t>
                      </a:r>
                    </a:p>
                  </a:txBody>
                  <a:tcPr>
                    <a:solidFill>
                      <a:srgbClr val="FFFFFF"/>
                    </a:solidFill>
                  </a:tcPr>
                </a:tc>
              </a:tr>
              <a:tr h="502920">
                <a:tc>
                  <a:txBody>
                    <a:bodyPr/>
                    <a:lstStyle/>
                    <a:p>
                      <a:pPr>
                        <a:defRPr sz="1200">
                          <a:solidFill>
                            <a:srgbClr val="1E2124"/>
                          </a:solidFill>
                          <a:latin typeface="Yu Gothic"/>
                        </a:defRPr>
                      </a:pPr>
                      <a:r>
                        <a:t>開催地</a:t>
                      </a:r>
                    </a:p>
                  </a:txBody>
                  <a:tcPr>
                    <a:solidFill>
                      <a:srgbClr val="F7F4EF"/>
                    </a:solidFill>
                  </a:tcPr>
                </a:tc>
                <a:tc>
                  <a:txBody>
                    <a:bodyPr/>
                    <a:lstStyle/>
                    <a:p>
                      <a:pPr>
                        <a:defRPr sz="1200">
                          <a:solidFill>
                            <a:srgbClr val="1E2124"/>
                          </a:solidFill>
                          <a:latin typeface="Yu Gothic"/>
                        </a:defRPr>
                      </a:pPr>
                      <a:r>
                        <a:t>ロイヤルメイフェアGC(カナダ)</a:t>
                      </a:r>
                    </a:p>
                  </a:txBody>
                  <a:tcPr>
                    <a:solidFill>
                      <a:srgbClr val="F7F4EF"/>
                    </a:solidFill>
                  </a:tcPr>
                </a:tc>
              </a:tr>
              <a:tr h="502920">
                <a:tc>
                  <a:txBody>
                    <a:bodyPr/>
                    <a:lstStyle/>
                    <a:p>
                      <a:pPr>
                        <a:defRPr sz="1200">
                          <a:solidFill>
                            <a:srgbClr val="1E2124"/>
                          </a:solidFill>
                          <a:latin typeface="Yu Gothic"/>
                        </a:defRPr>
                      </a:pPr>
                      <a:r>
                        <a:t>最終日の成績</a:t>
                      </a:r>
                    </a:p>
                  </a:txBody>
                  <a:tcPr>
                    <a:solidFill>
                      <a:srgbClr val="FFFFFF"/>
                    </a:solidFill>
                  </a:tcPr>
                </a:tc>
                <a:tc>
                  <a:txBody>
                    <a:bodyPr/>
                    <a:lstStyle/>
                    <a:p>
                      <a:pPr>
                        <a:defRPr sz="1200">
                          <a:solidFill>
                            <a:srgbClr val="1E2124"/>
                          </a:solidFill>
                          <a:latin typeface="Yu Gothic"/>
                        </a:defRPr>
                      </a:pPr>
                      <a:r>
                        <a:t>6バーディー・2ボギーの66</a:t>
                      </a:r>
                    </a:p>
                  </a:txBody>
                  <a:tcPr>
                    <a:solidFill>
                      <a:srgbClr val="FFFFFF"/>
                    </a:solidFill>
                  </a:tcPr>
                </a:tc>
              </a:tr>
              <a:tr h="502920">
                <a:tc>
                  <a:txBody>
                    <a:bodyPr/>
                    <a:lstStyle/>
                    <a:p>
                      <a:pPr>
                        <a:defRPr sz="1200">
                          <a:solidFill>
                            <a:srgbClr val="1E2124"/>
                          </a:solidFill>
                          <a:latin typeface="Yu Gothic"/>
                        </a:defRPr>
                      </a:pPr>
                      <a:r>
                        <a:t>通算スコア</a:t>
                      </a:r>
                    </a:p>
                  </a:txBody>
                  <a:tcPr>
                    <a:solidFill>
                      <a:srgbClr val="F7F4EF"/>
                    </a:solidFill>
                  </a:tcPr>
                </a:tc>
                <a:tc>
                  <a:txBody>
                    <a:bodyPr/>
                    <a:lstStyle/>
                    <a:p>
                      <a:pPr>
                        <a:defRPr sz="1200">
                          <a:solidFill>
                            <a:srgbClr val="1E2124"/>
                          </a:solidFill>
                          <a:latin typeface="Yu Gothic"/>
                        </a:defRPr>
                      </a:pPr>
                      <a:r>
                        <a:t>23アンダー</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ゴルフダイジェスト・オンライン(2026-08-24)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「完全優勝」とは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前提知識を確認します。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大会の初日から最終日まで、一度も首位の座を明け渡すことなく優勝することを指すゴルフ用語である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英語では『ワイヤー・トゥ・ワイヤー』と呼ばれる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展開に波乱が起きにくい、安定した強さを示す優勝スタイルとされる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初日からの独走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初日から首位独走 一度も首位を譲らない完全優勝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2021年マラソンクラシックの畑岡奈紗選手以来の完全優勝</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日刊スポーツ(2026-08-24)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優勝までの流れ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初日から単独首位に立つ</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最終日まで首位を守り続ける</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最終日、66で通算23アンダー</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6バーディー・2ボギー</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9打差の完全優勝</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今季ツアー最大のスコア差</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初日から最終日までの流れ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ゴルフダイジェスト・オンライン(2026-08-24)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今回の優勝の3ステップ総括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初日から首位独走</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一度も首位を譲らない展開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最終日66でスコアを伸ばす</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6バーディー・2ボギー</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9打差の完全優勝</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通算4勝目・今季2勝目</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この優勝が持つ記録的な意味(1)</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記録的な意味を確認します。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米ツアー通算4勝目、今季2勝目にあたる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ツアー参戦42試合目での通算4勝到達は、日本勢選手として最速記録である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この最速記録は、報知が2026年8月24日付で報じている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スポーツ報知(2026-08-24)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この優勝が持つ記録的な意味(2)</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もう一つの記録的な意味です。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2年連続で複数勝利を達成したのは、世界の岡本綾子氏以来、日本人として2人目の快挙である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岡本綾子氏は1980年代から90年代にかけて米ツアーで通算17勝を挙げた、日本人女子ゴルファーの草分け的存在である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この比較は、山下選手の活躍の歴史的な位置づけを示している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日刊スポーツ(2026-08-24)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確定していること</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優勝スコア(66・通算23アンダー)・9打差</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通算4勝目・今季2勝目・42試合目での最速記録</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優勝賞金・2位の賞金額</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円換算額の正確な換算基準日・為替レート</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今季の賞金ランキング順位・シーズン通算獲得賞金額</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日本勢ワンツーフィニッシュ</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2位の様子を確認します。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2位には吉田優利選手が入り、自己最高順位を記録した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9打差ながらも単独2位を確保した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1位・2位ともに日本人選手という、ワンツーフィニッシュとなった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デイリースポーツ・ALBA Net(2026-08-24)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2位・吉田優利選手の成績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自己最高順位 単独2位でフィニッシュ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9打差ながらも安定した成績を残した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ALBA Net(2026-08-24)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LPGAツアーにおける「日本勢最速」記録とは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前提知識を確認します。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米国を拠点とする女子ゴルフの最高峰ツアー(LPGAツアー)における記録である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参戦した試合数に対して通算勝利数へ到達するまでの速さを示す指標である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今回、山下選手は参戦42試合目で通算4勝目に到達し、歴代の日本人選手の中で最速記録となった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賞金額</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順位</a:t>
                      </a:r>
                    </a:p>
                  </a:txBody>
                  <a:tcPr>
                    <a:solidFill>
                      <a:srgbClr val="3A4750"/>
                    </a:solidFill>
                  </a:tcPr>
                </a:tc>
                <a:tc>
                  <a:txBody>
                    <a:bodyPr/>
                    <a:lstStyle/>
                    <a:p>
                      <a:pPr>
                        <a:defRPr sz="1300" b="1">
                          <a:solidFill>
                            <a:srgbClr val="FFFFFF"/>
                          </a:solidFill>
                          <a:latin typeface="Yu Gothic"/>
                        </a:defRPr>
                      </a:pPr>
                      <a:r>
                        <a:t>選手</a:t>
                      </a:r>
                    </a:p>
                  </a:txBody>
                  <a:tcPr>
                    <a:solidFill>
                      <a:srgbClr val="3A4750"/>
                    </a:solidFill>
                  </a:tcPr>
                </a:tc>
                <a:tc>
                  <a:txBody>
                    <a:bodyPr/>
                    <a:lstStyle/>
                    <a:p>
                      <a:pPr>
                        <a:defRPr sz="1300" b="1">
                          <a:solidFill>
                            <a:srgbClr val="FFFFFF"/>
                          </a:solidFill>
                          <a:latin typeface="Yu Gothic"/>
                        </a:defRPr>
                      </a:pPr>
                      <a:r>
                        <a:t>賞金額(概算)</a:t>
                      </a:r>
                    </a:p>
                  </a:txBody>
                  <a:tcPr>
                    <a:solidFill>
                      <a:srgbClr val="3A4750"/>
                    </a:solidFill>
                  </a:tcPr>
                </a:tc>
              </a:tr>
              <a:tr h="502920">
                <a:tc>
                  <a:txBody>
                    <a:bodyPr/>
                    <a:lstStyle/>
                    <a:p>
                      <a:pPr>
                        <a:defRPr sz="1200">
                          <a:solidFill>
                            <a:srgbClr val="1E2124"/>
                          </a:solidFill>
                          <a:latin typeface="Yu Gothic"/>
                        </a:defRPr>
                      </a:pPr>
                      <a:r>
                        <a:t>優勝</a:t>
                      </a:r>
                    </a:p>
                  </a:txBody>
                  <a:tcPr>
                    <a:solidFill>
                      <a:srgbClr val="FFFFFF"/>
                    </a:solidFill>
                  </a:tcPr>
                </a:tc>
                <a:tc>
                  <a:txBody>
                    <a:bodyPr/>
                    <a:lstStyle/>
                    <a:p>
                      <a:pPr>
                        <a:defRPr sz="1200">
                          <a:solidFill>
                            <a:srgbClr val="1E2124"/>
                          </a:solidFill>
                          <a:latin typeface="Yu Gothic"/>
                        </a:defRPr>
                      </a:pPr>
                      <a:r>
                        <a:t>山下美夢有選手</a:t>
                      </a:r>
                    </a:p>
                  </a:txBody>
                  <a:tcPr>
                    <a:solidFill>
                      <a:srgbClr val="FFFFFF"/>
                    </a:solidFill>
                  </a:tcPr>
                </a:tc>
                <a:tc>
                  <a:txBody>
                    <a:bodyPr/>
                    <a:lstStyle/>
                    <a:p>
                      <a:pPr>
                        <a:defRPr sz="1200">
                          <a:solidFill>
                            <a:srgbClr val="1E2124"/>
                          </a:solidFill>
                          <a:latin typeface="Yu Gothic"/>
                        </a:defRPr>
                      </a:pPr>
                      <a:r>
                        <a:t>41万2,500ドル(約6,559万円)</a:t>
                      </a:r>
                    </a:p>
                  </a:txBody>
                  <a:tcPr>
                    <a:solidFill>
                      <a:srgbClr val="FFFFFF"/>
                    </a:solidFill>
                  </a:tcPr>
                </a:tc>
              </a:tr>
              <a:tr h="502920">
                <a:tc>
                  <a:txBody>
                    <a:bodyPr/>
                    <a:lstStyle/>
                    <a:p>
                      <a:pPr>
                        <a:defRPr sz="1200">
                          <a:solidFill>
                            <a:srgbClr val="1E2124"/>
                          </a:solidFill>
                          <a:latin typeface="Yu Gothic"/>
                        </a:defRPr>
                      </a:pPr>
                      <a:r>
                        <a:t>2位</a:t>
                      </a:r>
                    </a:p>
                  </a:txBody>
                  <a:tcPr>
                    <a:solidFill>
                      <a:srgbClr val="F7F4EF"/>
                    </a:solidFill>
                  </a:tcPr>
                </a:tc>
                <a:tc>
                  <a:txBody>
                    <a:bodyPr/>
                    <a:lstStyle/>
                    <a:p>
                      <a:pPr>
                        <a:defRPr sz="1200">
                          <a:solidFill>
                            <a:srgbClr val="1E2124"/>
                          </a:solidFill>
                          <a:latin typeface="Yu Gothic"/>
                        </a:defRPr>
                      </a:pPr>
                      <a:r>
                        <a:t>吉田優利選手</a:t>
                      </a:r>
                    </a:p>
                  </a:txBody>
                  <a:tcPr>
                    <a:solidFill>
                      <a:srgbClr val="F7F4EF"/>
                    </a:solidFill>
                  </a:tcPr>
                </a:tc>
                <a:tc>
                  <a:txBody>
                    <a:bodyPr/>
                    <a:lstStyle/>
                    <a:p>
                      <a:pPr>
                        <a:defRPr sz="1200">
                          <a:solidFill>
                            <a:srgbClr val="1E2124"/>
                          </a:solidFill>
                          <a:latin typeface="Yu Gothic"/>
                        </a:defRPr>
                      </a:pPr>
                      <a:r>
                        <a:t>25万9,395ドル(約4,125万円)</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ゴルフダイジェスト・オンライン・ALBA Net(2026-08-24)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優勝賞金と2位賞金の差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約15万3,105ドル(約2,434万円) 優勝賞金と2位賞金の差(概算)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円換算額は報道時点の為替レートに基づく概算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ゴルフダイジェスト・オンライン(2026-08-24)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視聴者にとっての意味—スポーツの活躍を追う立場として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日本人選手が海外の主要ツアーで活躍する姿を、具体的な記録とともに知ることができる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『完全優勝』『ワイヤー・トゥ・ワイヤー』といったゴルフ用語を、実例を通じて学べる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確定した記録(スコア・賞金額)と、確認できていないこと(賞金ランキング順位等)を区別する視点が役立つ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円換算額(約6,559万円等)の正確な換算基準日・為替レートは確認できていない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山下選手の今季賞金ランキング順位・シーズン通算獲得賞金額は確認できていない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本テーマは各情報源への直接アクセスではなく、検索結果の要約に基づいて調査している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情報の一貫性チェック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複数の独立した情報源で一致</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優勝スコア(66・通算23アンダー)</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優勝差(9打差)</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通算4勝目・今季2勝目</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矛盾は見られなかった</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日刊スポーツ・報知・ゴルフダイジェスト・ALBA Net・デイリースポーツの5媒体で数値が一致</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主な情報源</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報道内容</a:t>
                      </a:r>
                    </a:p>
                  </a:txBody>
                  <a:tcPr>
                    <a:solidFill>
                      <a:srgbClr val="3A4750"/>
                    </a:solidFill>
                  </a:tcPr>
                </a:tc>
              </a:tr>
              <a:tr h="502920">
                <a:tc>
                  <a:txBody>
                    <a:bodyPr/>
                    <a:lstStyle/>
                    <a:p>
                      <a:pPr>
                        <a:defRPr sz="1200">
                          <a:solidFill>
                            <a:srgbClr val="1E2124"/>
                          </a:solidFill>
                          <a:latin typeface="Yu Gothic"/>
                        </a:defRPr>
                      </a:pPr>
                      <a:r>
                        <a:t>日刊スポーツ(2026-08-24)</a:t>
                      </a:r>
                    </a:p>
                  </a:txBody>
                  <a:tcPr>
                    <a:solidFill>
                      <a:srgbClr val="FFFFFF"/>
                    </a:solidFill>
                  </a:tcPr>
                </a:tc>
                <a:tc>
                  <a:txBody>
                    <a:bodyPr/>
                    <a:lstStyle/>
                    <a:p>
                      <a:pPr>
                        <a:defRPr sz="1200">
                          <a:solidFill>
                            <a:srgbClr val="1E2124"/>
                          </a:solidFill>
                          <a:latin typeface="Yu Gothic"/>
                        </a:defRPr>
                      </a:pPr>
                      <a:r>
                        <a:t>完全優勝・岡本綾子氏以来の快挙</a:t>
                      </a:r>
                    </a:p>
                  </a:txBody>
                  <a:tcPr>
                    <a:solidFill>
                      <a:srgbClr val="FFFFFF"/>
                    </a:solidFill>
                  </a:tcPr>
                </a:tc>
              </a:tr>
              <a:tr h="502920">
                <a:tc>
                  <a:txBody>
                    <a:bodyPr/>
                    <a:lstStyle/>
                    <a:p>
                      <a:pPr>
                        <a:defRPr sz="1200">
                          <a:solidFill>
                            <a:srgbClr val="1E2124"/>
                          </a:solidFill>
                          <a:latin typeface="Yu Gothic"/>
                        </a:defRPr>
                      </a:pPr>
                      <a:r>
                        <a:t>スポーツ報知(2026-08-24)</a:t>
                      </a:r>
                    </a:p>
                  </a:txBody>
                  <a:tcPr>
                    <a:solidFill>
                      <a:srgbClr val="F7F4EF"/>
                    </a:solidFill>
                  </a:tcPr>
                </a:tc>
                <a:tc>
                  <a:txBody>
                    <a:bodyPr/>
                    <a:lstStyle/>
                    <a:p>
                      <a:pPr>
                        <a:defRPr sz="1200">
                          <a:solidFill>
                            <a:srgbClr val="1E2124"/>
                          </a:solidFill>
                          <a:latin typeface="Yu Gothic"/>
                        </a:defRPr>
                      </a:pPr>
                      <a:r>
                        <a:t>日本勢最速4勝目</a:t>
                      </a:r>
                    </a:p>
                  </a:txBody>
                  <a:tcPr>
                    <a:solidFill>
                      <a:srgbClr val="F7F4EF"/>
                    </a:solidFill>
                  </a:tcPr>
                </a:tc>
              </a:tr>
              <a:tr h="502920">
                <a:tc>
                  <a:txBody>
                    <a:bodyPr/>
                    <a:lstStyle/>
                    <a:p>
                      <a:pPr>
                        <a:defRPr sz="1200">
                          <a:solidFill>
                            <a:srgbClr val="1E2124"/>
                          </a:solidFill>
                          <a:latin typeface="Yu Gothic"/>
                        </a:defRPr>
                      </a:pPr>
                      <a:r>
                        <a:t>ゴルフダイジェスト・オンライン(2026-08-24)</a:t>
                      </a:r>
                    </a:p>
                  </a:txBody>
                  <a:tcPr>
                    <a:solidFill>
                      <a:srgbClr val="FFFFFF"/>
                    </a:solidFill>
                  </a:tcPr>
                </a:tc>
                <a:tc>
                  <a:txBody>
                    <a:bodyPr/>
                    <a:lstStyle/>
                    <a:p>
                      <a:pPr>
                        <a:defRPr sz="1200">
                          <a:solidFill>
                            <a:srgbClr val="1E2124"/>
                          </a:solidFill>
                          <a:latin typeface="Yu Gothic"/>
                        </a:defRPr>
                      </a:pPr>
                      <a:r>
                        <a:t>優勝スコア・賞金額の詳細</a:t>
                      </a:r>
                    </a:p>
                  </a:txBody>
                  <a:tcPr>
                    <a:solidFill>
                      <a:srgbClr val="FFFFFF"/>
                    </a:solidFill>
                  </a:tcPr>
                </a:tc>
              </a:tr>
              <a:tr h="502920">
                <a:tc>
                  <a:txBody>
                    <a:bodyPr/>
                    <a:lstStyle/>
                    <a:p>
                      <a:pPr>
                        <a:defRPr sz="1200">
                          <a:solidFill>
                            <a:srgbClr val="1E2124"/>
                          </a:solidFill>
                          <a:latin typeface="Yu Gothic"/>
                        </a:defRPr>
                      </a:pPr>
                      <a:r>
                        <a:t>ALBA Net・デイリースポーツ(2026-08-24)</a:t>
                      </a:r>
                    </a:p>
                  </a:txBody>
                  <a:tcPr>
                    <a:solidFill>
                      <a:srgbClr val="F7F4EF"/>
                    </a:solidFill>
                  </a:tcPr>
                </a:tc>
                <a:tc>
                  <a:txBody>
                    <a:bodyPr/>
                    <a:lstStyle/>
                    <a:p>
                      <a:pPr>
                        <a:defRPr sz="1200">
                          <a:solidFill>
                            <a:srgbClr val="1E2124"/>
                          </a:solidFill>
                          <a:latin typeface="Yu Gothic"/>
                        </a:defRPr>
                      </a:pPr>
                      <a:r>
                        <a:t>日本勢ワンツーフィニッシュ</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日本人選手の海外での活躍を追う立場として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米女子ゴルフツアーでの日本勢の活躍を、具体的な記録とともに把握できる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ゴルフファンの立場として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完全優勝・ワイヤー・トゥ・ワイヤーといった用語を、実例を通じて理解できる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確定した記録と、確認できていない賞金ランキング順位等を明確に区別する視点が役立つ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ツアー参戦試合数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42試合目 通算4勝目に到達したタイミング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日本勢選手として最速の到達記録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スポーツ報知(2026-08-24)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岡本綾子氏の通算勝利数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通算17勝 岡本綾子氏の米ツアーでの通算勝利数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1980年代から90年代にかけて活躍した日本人女子ゴルファーの草分け</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本調査による整理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山下選手の主な記録まとめ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記録</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通算勝利数</a:t>
                      </a:r>
                    </a:p>
                  </a:txBody>
                  <a:tcPr>
                    <a:solidFill>
                      <a:srgbClr val="FFFFFF"/>
                    </a:solidFill>
                  </a:tcPr>
                </a:tc>
                <a:tc>
                  <a:txBody>
                    <a:bodyPr/>
                    <a:lstStyle/>
                    <a:p>
                      <a:pPr>
                        <a:defRPr sz="1200">
                          <a:solidFill>
                            <a:srgbClr val="1E2124"/>
                          </a:solidFill>
                          <a:latin typeface="Yu Gothic"/>
                        </a:defRPr>
                      </a:pPr>
                      <a:r>
                        <a:t>米ツアー4勝目</a:t>
                      </a:r>
                    </a:p>
                  </a:txBody>
                  <a:tcPr>
                    <a:solidFill>
                      <a:srgbClr val="FFFFFF"/>
                    </a:solidFill>
                  </a:tcPr>
                </a:tc>
              </a:tr>
              <a:tr h="502920">
                <a:tc>
                  <a:txBody>
                    <a:bodyPr/>
                    <a:lstStyle/>
                    <a:p>
                      <a:pPr>
                        <a:defRPr sz="1200">
                          <a:solidFill>
                            <a:srgbClr val="1E2124"/>
                          </a:solidFill>
                          <a:latin typeface="Yu Gothic"/>
                        </a:defRPr>
                      </a:pPr>
                      <a:r>
                        <a:t>今季の勝利数</a:t>
                      </a:r>
                    </a:p>
                  </a:txBody>
                  <a:tcPr>
                    <a:solidFill>
                      <a:srgbClr val="F7F4EF"/>
                    </a:solidFill>
                  </a:tcPr>
                </a:tc>
                <a:tc>
                  <a:txBody>
                    <a:bodyPr/>
                    <a:lstStyle/>
                    <a:p>
                      <a:pPr>
                        <a:defRPr sz="1200">
                          <a:solidFill>
                            <a:srgbClr val="1E2124"/>
                          </a:solidFill>
                          <a:latin typeface="Yu Gothic"/>
                        </a:defRPr>
                      </a:pPr>
                      <a:r>
                        <a:t>2勝目</a:t>
                      </a:r>
                    </a:p>
                  </a:txBody>
                  <a:tcPr>
                    <a:solidFill>
                      <a:srgbClr val="F7F4EF"/>
                    </a:solidFill>
                  </a:tcPr>
                </a:tc>
              </a:tr>
              <a:tr h="502920">
                <a:tc>
                  <a:txBody>
                    <a:bodyPr/>
                    <a:lstStyle/>
                    <a:p>
                      <a:pPr>
                        <a:defRPr sz="1200">
                          <a:solidFill>
                            <a:srgbClr val="1E2124"/>
                          </a:solidFill>
                          <a:latin typeface="Yu Gothic"/>
                        </a:defRPr>
                      </a:pPr>
                      <a:r>
                        <a:t>4勝到達までの試合数</a:t>
                      </a:r>
                    </a:p>
                  </a:txBody>
                  <a:tcPr>
                    <a:solidFill>
                      <a:srgbClr val="FFFFFF"/>
                    </a:solidFill>
                  </a:tcPr>
                </a:tc>
                <a:tc>
                  <a:txBody>
                    <a:bodyPr/>
                    <a:lstStyle/>
                    <a:p>
                      <a:pPr>
                        <a:defRPr sz="1200">
                          <a:solidFill>
                            <a:srgbClr val="1E2124"/>
                          </a:solidFill>
                          <a:latin typeface="Yu Gothic"/>
                        </a:defRPr>
                      </a:pPr>
                      <a:r>
                        <a:t>42試合(日本勢最速)</a:t>
                      </a:r>
                    </a:p>
                  </a:txBody>
                  <a:tcPr>
                    <a:solidFill>
                      <a:srgbClr val="FFFFFF"/>
                    </a:solidFill>
                  </a:tcPr>
                </a:tc>
              </a:tr>
              <a:tr h="502920">
                <a:tc>
                  <a:txBody>
                    <a:bodyPr/>
                    <a:lstStyle/>
                    <a:p>
                      <a:pPr>
                        <a:defRPr sz="1200">
                          <a:solidFill>
                            <a:srgbClr val="1E2124"/>
                          </a:solidFill>
                          <a:latin typeface="Yu Gothic"/>
                        </a:defRPr>
                      </a:pPr>
                      <a:r>
                        <a:t>連続複数勝利</a:t>
                      </a:r>
                    </a:p>
                  </a:txBody>
                  <a:tcPr>
                    <a:solidFill>
                      <a:srgbClr val="F7F4EF"/>
                    </a:solidFill>
                  </a:tcPr>
                </a:tc>
                <a:tc>
                  <a:txBody>
                    <a:bodyPr/>
                    <a:lstStyle/>
                    <a:p>
                      <a:pPr>
                        <a:defRPr sz="1200">
                          <a:solidFill>
                            <a:srgbClr val="1E2124"/>
                          </a:solidFill>
                          <a:latin typeface="Yu Gothic"/>
                        </a:defRPr>
                      </a:pPr>
                      <a:r>
                        <a:t>2年連続(岡本綾子氏以来2人目)</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米女子ゴルフツアーにおける日本勢の活躍</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背景を確認します。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近年、米女子ゴルフツアーでは複数の日本人選手が上位争いに絡む場面が増えている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今回のワンツーフィニッシュは、そうした日本勢全体の勢いを象徴する結果と位置づけられる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個々の選手の実績が積み重なることで、ツアー全体における日本勢の存在感が高まっていると報じられている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今回の優勝 vs 過去の完全優勝</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過去の完全優勝(2021年)</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畑岡奈紗選手、マラソンクラシック</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今回の優勝(2026年8月23日)</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山下美夢有選手、CPKC女子オープン</a:t>
            </a:r>
          </a:p>
        </p:txBody>
      </p:sp>
      <p:sp>
        <p:nvSpPr>
          <p:cNvPr id="16" name="Oval 15"/>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9打差という今季ツアー最大のスコア差</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今後注目される点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今季2勝目を挙げたことで、今後のツアーでの戦いぶりにも注目が集まると考えられる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日本勢ワンツーフィニッシュという結果が、他の日本人選手にも刺激を与える可能性がある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ただし今後の具体的な目標や本人のコメントは、本調査の範囲では確認できていない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本編のまとめです。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2026年8月23日(現地時間)、山下美夢有選手がCPKC女子オープンで9打差の完全優勝を飾った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米ツアー通算4勝目、今季2勝目で、42試合目での到達は日本勢最速記録である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2年連続の複数勝利は、岡本綾子氏以来、日本人として2人目の快挙である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2位には吉田優利選手が入り、日本勢ワンツーフィニッシュとなった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日刊スポーツ・ゴルフダイジェスト・オンライン等(2026-08-24)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山下美夢有、米女子ゴルフで9打差の完全優勝。</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2026年8月23日、山下美夢有選手が米女子ゴルフツアーで今季ツアー最大となる9打差の完全優勝を飾りました。日本勢ワンツーフィニッシュという明るいニュースを、出典付きで整理してお届けしました。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