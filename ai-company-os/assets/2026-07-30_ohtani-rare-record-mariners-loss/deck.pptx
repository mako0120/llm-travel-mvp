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んにちは。今日取り上げるのは、2026年7月28日、日本時間29日に行われたドジャース対マリナーズ戦です。大谷翔平選手は23号先頭打者本塁打を含む活躍を見せましたが、チームは敗れました。米データ会社が発見したという「71年間唯一の記録」とともに、出典つきで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からです。大谷翔平選手は23号の先頭打者本塁打を含む4打数3安打3打点1申告敬遠という活躍を見せましたが、ドジャースは6対7でマリナーズに敗れました。マリナーズに敗れるのは2021年4月以来、5年3か月ぶりの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この動画を見ると、試合のスコアと個人成績、71年間唯一の記録の中身、なぜチームが負けたのか、大谷選手の今季の位置づけ、そして確認できなかったことまで分かります。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この話がどれくらい確かなのかにも触れておきます。Full-Count、TBS NEWS DIG、中日スポーツ、デイリースポーツという独立した複数の媒体が同じ試合結果を報じ、CBS SportsやMLB公式のボックススコアでも経過を確認しています。ただし、珍記録の算出方法の詳細な一次資料までは確認できていません。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今日はこの5つの流れで話します。まず前提として大谷選手と今季の状況を整理し、次に試合の経過、なぜドジャースが負けたのか、71年間唯一の記録の中身、最後に確認できなかったことについて話します。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前提として、大谷選手はドジャースの1番・指名打者として出場し、この試合で今季23号本塁打を放ちました。10試合ぶりの本塁打で、復調の兆しとも報じられています。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改めて数字を見てみましょう。大谷選手は1回に先頭打者本塁打で今季23号を放ちました。今季10本目の先頭打者アーチで、オポジット方向・2ストライクからの一発でした。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この試合の成績を整理すると、4打数3安打3打点1申告敬遠でした。1回に先頭打者本塁打で先制し、4回にセンター前タイムリーで同点、9回にはライト線へのタイムリー二塁打で1点差まで詰め寄りました。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の経過を整理すると、序盤は大谷選手の先頭打者弾で先制しましたが、ドジャース投手陣が本塁打を重ねて許しました。中盤は大谷選手が同点タイムリーを放ち一進一退となり、終盤は8回にマリナーズが勝ち越し、9回に大谷選手が詰め寄りましたが届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全体の流れを図で見てみます。1回に大谷選手の先頭打者弾で先制し、4回に同点に追いつきましたが、8回にマリナーズに勝ち越され、9回に大谷選手が1点差まで詰め寄ったものの届きませんでした。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大谷選手のハイライトを3つの場面で見てみます。1回の先頭打者本塁打での先制、4回のセンター前タイムリーでの同点、9回のタイムリー二塁打で1点差に詰め寄った場面です。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ドジャース投手陣は1試合で5本塁打を許しました。決勝弾は8回、Dominic Canzone選手の2ラン本塁打で、この試合2本目・シーズン5号でした。マリナーズはAndrés Muñoz投手が9回を締めて19セーブ目を挙げています。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もう一つの数字がこちらです。ドジャースがマリナーズに敗れるのは、2021年4月19日以来、13戦ぶり、約5年3か月ぶりのことでした。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マリナーズ戦の連勝記録を整理すると、2021年4月19日以来、13戦連続でドジャースが勝利してきました。その連勝が今回の試合で途切れ、約5年3か月ぶりの黒星となりました。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なぜチームが負けたのかを整理すると、投手陣が1試合で5本塁打を許す苦しい内容だったこと、1点リードの場面を3度作りながら守り切れなかったこと、得点機で併殺打が3度あったことが報じられています。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大谷選手の今季ここまでの位置づけを整理すると、先頭打者本塁打は今季10本目、3安打以上の猛打賞は今季8度目です。直前の本塁打から10試合が空いており、この一発は復調の兆しとも報じられています。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ここからが今日の本題です。米データ会社Opta Statsによれば、この試合で大谷選手が記録した内容の組み合わせは、1955年以降71年間、誰も達成しなかった史上唯一のものだといいます。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Opta Statsが定義した4条件を整理すると、3安打以上、3打点以上、先頭打者本塁打、そして敬遠を1試合ですべて記録すること、というものです。大谷選手はこの試合ですべての条件を満たしました。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記録が成立する構造を図にすると、4条件すべてを満たし、1955年以降のデータで検証し、かつチームが敗れる、という3つが重なって初めて成立します。この最後の『チームが敗れた』という条件まで満たした選手は、大谷選手が史上唯一だった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対比を整理すると、大谷選手個人は4打数3安打3打点という圧倒的な活躍を見せ、71年間唯一の記録まで打ち立てました。しかしチームは6対7で敗れ、5年3か月ぶりの黒星を喫しています。個人の活躍とチームの結果が対照的だった試合で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この記録について、分かっていることと分かっていないことを整理します。分かっているのは、大谷選手が4条件をすべて満たし、かつチームが敗れたこと。分かっていないのは、Opta Statsの元データや算出方法の詳細な一次資料です。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ここで、今回の調査で確認できなかったことを一覧にまとめます。Opta Statsの元データや算出方法の詳細、大谷選手本人のコメント、この敗戦のシーズン全体への影響度、そして1955年という起点年の算出根拠の一次資料。これらは確認できませんでした。数字を作らず、分からないことは分からないと申し上げ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野球に詳しくない方にも参考になる点があります。個人が圧倒的な結果を出しても、組織全体の成果とは別物になることがあるという教訓は、仕事にも通じます。史上初・史上唯一という記録は、条件の組み合わせ方次第で数多く存在しうるという視点も、データを読み解くうえで参考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読み解く際は、まず6対7の敗戦という試合結果を押さえ、次に23号・4打数3安打3打点という大谷選手の成績を確認し、最後に71年間唯一という記録が何を意味するかを確認する、という3ステップで見ていくと整理しやすい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10試合ぶりの一発が大谷選手の今後の調子回復のきっかけになる可能性がありますし、1試合5被弾という内容から投手陣の立て直しが今後の課題になるかもしれません。これらはあくまで推測であり、断定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冷静に見ておきたい点が3つあります。1つ目は、Opta Statsの算出方法の詳細な一次資料までは確認できていないこと。2つ目は、71年間唯一という記録は過去との比較であり、今後同様の記録が出る可能性を否定するものではないこと。3つ目は、1試合の結果であり、シーズン全体の評価とは切り分けて見る必要があ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ーズン後半に向けての展開を図にすると、今回の試合で個人は活躍しつつもチームが敗れたことから、投手陣の立て直しが焦点になっていく可能性があります。ただし、この先の展開はあくまで推測であることを明記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結果をまとめると、最終スコアはマリナーズ7-6ドジャース、大谷選手は4打数3安打3打点1申告敬遠で23号の先頭打者弾を放ちました。1955年以降71年間唯一という記録が注目され、マリナーズには5年3か月ぶりの黒星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要点を3つにまとめます。大谷選手は23号の先頭打者本塁打を含む4打数3安打3打点1申告敬遠の活躍を見せましたが、チームは6対7で敗れ、マリナーズに5年3か月ぶりの黒星となりました。そして、この試合の記録の組み合わせは1955年以降71年間唯一だとOpta Statsは分析しています。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大谷翔平選手の対マリナーズ戦について、個人成績・チーム結果・71年間唯一の記録という3つの軸で確認してきました。スポーツのニュースを見るときは、今日紹介したような視点で個人の記録とチームの結果を分けて見る習慣をつけてみてください。ここまでご覧いただき、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71年間、誰も</a:t>
            </a:r>
          </a:p>
          <a:p>
            <a:pPr algn="l">
              <a:lnSpc>
                <a:spcPct val="115000"/>
              </a:lnSpc>
            </a:pPr>
            <a:r>
              <a:rPr sz="4200" b="1">
                <a:solidFill>
                  <a:srgbClr val="FFFFFF"/>
                </a:solidFill>
                <a:latin typeface="Yu Gothic"/>
              </a:rPr>
              <a:t>達成しなかった記録</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2026年7月29日(日本時間)大谷翔平・対マリナーズ戦から読み解く</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AI Company OS 定期実行62本目 / 出典を明記し、不明点は不明と述べます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今回の結論</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23号</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先頭打者本塁打</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今季10本目の先頭打者アーチ、1回にオポジット方向へ</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4打数3安打3打点</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この試合の成績</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1申告敬遠、今季8度目の猛打賞</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6対7で敗戦</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試合結果</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マリナーズには2021年4月以来、5年3か月ぶりの黒星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Full-Count / TBS NEWS DIG(2026-07-29)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何が起きた試合だったのか、スコアと個人成績が分かる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米データ会社Opta Statsが発見した『71年間唯一の記録』の中身が分かる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ドジャースがなぜこの試合を落としたのかが分かる</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大谷選手の今季ここまでの位置づけが分かる</a:t>
            </a:r>
          </a:p>
        </p:txBody>
      </p:sp>
      <p:sp>
        <p:nvSpPr>
          <p:cNvPr id="14" name="Oval 13"/>
          <p:cNvSpPr/>
          <p:nvPr/>
        </p:nvSpPr>
        <p:spPr>
          <a:xfrm>
            <a:off x="457200" y="459028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調査で確認できなかったことも正直に共有します</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複数の独立した媒体</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Full-Count・TBS NEWS DIG・中日スポーツ・デイリースポーツが同じ試合結果を報道</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公式ボックススコア</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CBS Sports・MLB公式ストーリーで試合経過を確認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正直な注記</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珍記録の算出方法の詳細な一次資料までは確認できていません</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前提: 大谷翔平と今季ここまでの状況</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試合の経過: 23号から延長までの流れ</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なぜドジャースは負けたのか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『71年間唯一』の記録の中身</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確認できなかったことと、このニュースの読み方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前提: 大谷翔平と今季ここまでの状況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所属</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ロサンゼルス・ドジャース、1番・指名打者</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本塁打数</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この試合で今季23号本塁打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直近の状態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10試合ぶりの本塁打で、復調の兆しと報じられている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この試合で放った本塁打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23号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1回、先頭打者本塁打(今季10本目)。オポジット方向・2ストライクからの一発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TBS NEWS DIG / 中日スポーツ(2026-07-29)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この試合の大谷選手の成績</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打席結果</a:t>
                      </a:r>
                    </a:p>
                  </a:txBody>
                  <a:tcPr>
                    <a:solidFill>
                      <a:srgbClr val="FFFFFF"/>
                    </a:solidFill>
                  </a:tcPr>
                </a:tc>
                <a:tc>
                  <a:txBody>
                    <a:bodyPr/>
                    <a:lstStyle/>
                    <a:p>
                      <a:pPr>
                        <a:defRPr sz="1200">
                          <a:solidFill>
                            <a:srgbClr val="1A1A2E"/>
                          </a:solidFill>
                          <a:latin typeface="Yu Gothic"/>
                        </a:defRPr>
                      </a:pPr>
                      <a:r>
                        <a:t>4打数3安打3打点1申告敬遠</a:t>
                      </a:r>
                    </a:p>
                  </a:txBody>
                  <a:tcPr>
                    <a:solidFill>
                      <a:srgbClr val="FFFFFF"/>
                    </a:solidFill>
                  </a:tcPr>
                </a:tc>
              </a:tr>
              <a:tr h="502920">
                <a:tc>
                  <a:txBody>
                    <a:bodyPr/>
                    <a:lstStyle/>
                    <a:p>
                      <a:pPr>
                        <a:defRPr sz="1200">
                          <a:solidFill>
                            <a:srgbClr val="1A1A2E"/>
                          </a:solidFill>
                          <a:latin typeface="Yu Gothic"/>
                        </a:defRPr>
                      </a:pPr>
                      <a:r>
                        <a:t>1回</a:t>
                      </a:r>
                    </a:p>
                  </a:txBody>
                  <a:tcPr>
                    <a:solidFill>
                      <a:srgbClr val="F3F6FC"/>
                    </a:solidFill>
                  </a:tcPr>
                </a:tc>
                <a:tc>
                  <a:txBody>
                    <a:bodyPr/>
                    <a:lstStyle/>
                    <a:p>
                      <a:pPr>
                        <a:defRPr sz="1200">
                          <a:solidFill>
                            <a:srgbClr val="1A1A2E"/>
                          </a:solidFill>
                          <a:latin typeface="Yu Gothic"/>
                        </a:defRPr>
                      </a:pPr>
                      <a:r>
                        <a:t>先頭打者本塁打(23号)で先制</a:t>
                      </a:r>
                    </a:p>
                  </a:txBody>
                  <a:tcPr>
                    <a:solidFill>
                      <a:srgbClr val="F3F6FC"/>
                    </a:solidFill>
                  </a:tcPr>
                </a:tc>
              </a:tr>
              <a:tr h="502920">
                <a:tc>
                  <a:txBody>
                    <a:bodyPr/>
                    <a:lstStyle/>
                    <a:p>
                      <a:pPr>
                        <a:defRPr sz="1200">
                          <a:solidFill>
                            <a:srgbClr val="1A1A2E"/>
                          </a:solidFill>
                          <a:latin typeface="Yu Gothic"/>
                        </a:defRPr>
                      </a:pPr>
                      <a:r>
                        <a:t>4回</a:t>
                      </a:r>
                    </a:p>
                  </a:txBody>
                  <a:tcPr>
                    <a:solidFill>
                      <a:srgbClr val="FFFFFF"/>
                    </a:solidFill>
                  </a:tcPr>
                </a:tc>
                <a:tc>
                  <a:txBody>
                    <a:bodyPr/>
                    <a:lstStyle/>
                    <a:p>
                      <a:pPr>
                        <a:defRPr sz="1200">
                          <a:solidFill>
                            <a:srgbClr val="1A1A2E"/>
                          </a:solidFill>
                          <a:latin typeface="Yu Gothic"/>
                        </a:defRPr>
                      </a:pPr>
                      <a:r>
                        <a:t>センター前タイムリーで同点</a:t>
                      </a:r>
                    </a:p>
                  </a:txBody>
                  <a:tcPr>
                    <a:solidFill>
                      <a:srgbClr val="FFFFFF"/>
                    </a:solidFill>
                  </a:tcPr>
                </a:tc>
              </a:tr>
              <a:tr h="502920">
                <a:tc>
                  <a:txBody>
                    <a:bodyPr/>
                    <a:lstStyle/>
                    <a:p>
                      <a:pPr>
                        <a:defRPr sz="1200">
                          <a:solidFill>
                            <a:srgbClr val="1A1A2E"/>
                          </a:solidFill>
                          <a:latin typeface="Yu Gothic"/>
                        </a:defRPr>
                      </a:pPr>
                      <a:r>
                        <a:t>9回</a:t>
                      </a:r>
                    </a:p>
                  </a:txBody>
                  <a:tcPr>
                    <a:solidFill>
                      <a:srgbClr val="F3F6FC"/>
                    </a:solidFill>
                  </a:tcPr>
                </a:tc>
                <a:tc>
                  <a:txBody>
                    <a:bodyPr/>
                    <a:lstStyle/>
                    <a:p>
                      <a:pPr>
                        <a:defRPr sz="1200">
                          <a:solidFill>
                            <a:srgbClr val="1A1A2E"/>
                          </a:solidFill>
                          <a:latin typeface="Yu Gothic"/>
                        </a:defRPr>
                      </a:pPr>
                      <a:r>
                        <a:t>ライト線へのタイムリー二塁打で1点差に迫る</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TBS NEWS DIG / MLB公式ストーリー(2026-07-29)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試合の経過</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序盤</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大谷の先頭打者弾で先制するも、ドジャース投手陣が本塁打を重ねて許す</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中盤</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大谷が4回に同点タイムリー、試合は一進一退の展開に</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終盤</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8回にマリナーズが勝ち越し2ラン、9回に大谷が詰め寄るも届かず</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MLB公式ストーリー(2026-07-28)</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試合の流れ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1回: 先頭打者弾で先制</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大谷が23号本塁打</a:t>
            </a:r>
          </a:p>
        </p:txBody>
      </p:sp>
      <p:sp>
        <p:nvSpPr>
          <p:cNvPr id="10" name="Right Arrow 9"/>
          <p:cNvSpPr/>
          <p:nvPr/>
        </p:nvSpPr>
        <p:spPr>
          <a:xfrm>
            <a:off x="25571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4回: 同点タイムリー</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大谷がセンター前へ</a:t>
            </a:r>
          </a:p>
        </p:txBody>
      </p:sp>
      <p:sp>
        <p:nvSpPr>
          <p:cNvPr id="15" name="Right Arrow 14"/>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8回: マリナーズが勝ち越し</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Canzone選手の2ラン本塁打</a:t>
            </a:r>
          </a:p>
        </p:txBody>
      </p:sp>
      <p:sp>
        <p:nvSpPr>
          <p:cNvPr id="20" name="Right Arrow 19"/>
          <p:cNvSpPr/>
          <p:nvPr/>
        </p:nvSpPr>
        <p:spPr>
          <a:xfrm>
            <a:off x="89579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9回: 1点差に迫るも届かず</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大谷のタイムリー二塁打も及ばず敗戦</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先制・同点を経て、終盤の被弾で試合をひっくり返された流れ</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MLB公式ストーリー(2026-07-28)</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大谷選手の3つのハイライト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1回</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先頭打者本塁打で先制(今季23号・10本目の先頭打者弾)</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4回</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センター前タイムリーで同点に追いつく</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9回</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タイムリー二塁打で1点差に詰め寄る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ドジャース投手陣、1試合5被弾の内訳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被弾数</a:t>
                      </a:r>
                    </a:p>
                  </a:txBody>
                  <a:tcPr>
                    <a:solidFill>
                      <a:srgbClr val="FFFFFF"/>
                    </a:solidFill>
                  </a:tcPr>
                </a:tc>
                <a:tc>
                  <a:txBody>
                    <a:bodyPr/>
                    <a:lstStyle/>
                    <a:p>
                      <a:pPr>
                        <a:defRPr sz="1200">
                          <a:solidFill>
                            <a:srgbClr val="1A1A2E"/>
                          </a:solidFill>
                          <a:latin typeface="Yu Gothic"/>
                        </a:defRPr>
                      </a:pPr>
                      <a:r>
                        <a:t>1試合で5本塁打を許す</a:t>
                      </a:r>
                    </a:p>
                  </a:txBody>
                  <a:tcPr>
                    <a:solidFill>
                      <a:srgbClr val="FFFFFF"/>
                    </a:solidFill>
                  </a:tcPr>
                </a:tc>
              </a:tr>
              <a:tr h="502920">
                <a:tc>
                  <a:txBody>
                    <a:bodyPr/>
                    <a:lstStyle/>
                    <a:p>
                      <a:pPr>
                        <a:defRPr sz="1200">
                          <a:solidFill>
                            <a:srgbClr val="1A1A2E"/>
                          </a:solidFill>
                          <a:latin typeface="Yu Gothic"/>
                        </a:defRPr>
                      </a:pPr>
                      <a:r>
                        <a:t>決勝弾</a:t>
                      </a:r>
                    </a:p>
                  </a:txBody>
                  <a:tcPr>
                    <a:solidFill>
                      <a:srgbClr val="F3F6FC"/>
                    </a:solidFill>
                  </a:tcPr>
                </a:tc>
                <a:tc>
                  <a:txBody>
                    <a:bodyPr/>
                    <a:lstStyle/>
                    <a:p>
                      <a:pPr>
                        <a:defRPr sz="1200">
                          <a:solidFill>
                            <a:srgbClr val="1A1A2E"/>
                          </a:solidFill>
                          <a:latin typeface="Yu Gothic"/>
                        </a:defRPr>
                      </a:pPr>
                      <a:r>
                        <a:t>8回、Dominic Canzone選手の2ラン本塁打(この試合2本目・シーズン5号)</a:t>
                      </a:r>
                    </a:p>
                  </a:txBody>
                  <a:tcPr>
                    <a:solidFill>
                      <a:srgbClr val="F3F6FC"/>
                    </a:solidFill>
                  </a:tcPr>
                </a:tc>
              </a:tr>
              <a:tr h="502920">
                <a:tc>
                  <a:txBody>
                    <a:bodyPr/>
                    <a:lstStyle/>
                    <a:p>
                      <a:pPr>
                        <a:defRPr sz="1200">
                          <a:solidFill>
                            <a:srgbClr val="1A1A2E"/>
                          </a:solidFill>
                          <a:latin typeface="Yu Gothic"/>
                        </a:defRPr>
                      </a:pPr>
                      <a:r>
                        <a:t>守護神</a:t>
                      </a:r>
                    </a:p>
                  </a:txBody>
                  <a:tcPr>
                    <a:solidFill>
                      <a:srgbClr val="FFFFFF"/>
                    </a:solidFill>
                  </a:tcPr>
                </a:tc>
                <a:tc>
                  <a:txBody>
                    <a:bodyPr/>
                    <a:lstStyle/>
                    <a:p>
                      <a:pPr>
                        <a:defRPr sz="1200">
                          <a:solidFill>
                            <a:srgbClr val="1A1A2E"/>
                          </a:solidFill>
                          <a:latin typeface="Yu Gothic"/>
                        </a:defRPr>
                      </a:pPr>
                      <a:r>
                        <a:t>マリナーズのAndrés Muñoz投手が9回を締め19セーブ目</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MLB公式ストーリー / au Webポータル(2026-07-28)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マリナーズに敗れるのは</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5年3か月ぶり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2021年4月19日以来、13戦ぶりの黒星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TBS NEWS DIG / au Webポータル(2026-07-29)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マリナーズ戦の連勝記録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直近の連勝記録</a:t>
                      </a:r>
                    </a:p>
                  </a:txBody>
                  <a:tcPr>
                    <a:solidFill>
                      <a:srgbClr val="FFFFFF"/>
                    </a:solidFill>
                  </a:tcPr>
                </a:tc>
                <a:tc>
                  <a:txBody>
                    <a:bodyPr/>
                    <a:lstStyle/>
                    <a:p>
                      <a:pPr>
                        <a:defRPr sz="1200">
                          <a:solidFill>
                            <a:srgbClr val="1A1A2E"/>
                          </a:solidFill>
                          <a:latin typeface="Yu Gothic"/>
                        </a:defRPr>
                      </a:pPr>
                      <a:r>
                        <a:t>2021年4月19日以来、13戦連続でマリナーズに勝利</a:t>
                      </a:r>
                    </a:p>
                  </a:txBody>
                  <a:tcPr>
                    <a:solidFill>
                      <a:srgbClr val="FFFFFF"/>
                    </a:solidFill>
                  </a:tcPr>
                </a:tc>
              </a:tr>
              <a:tr h="502920">
                <a:tc>
                  <a:txBody>
                    <a:bodyPr/>
                    <a:lstStyle/>
                    <a:p>
                      <a:pPr>
                        <a:defRPr sz="1200">
                          <a:solidFill>
                            <a:srgbClr val="1A1A2E"/>
                          </a:solidFill>
                          <a:latin typeface="Yu Gothic"/>
                        </a:defRPr>
                      </a:pPr>
                      <a:r>
                        <a:t>連勝が途切れた日</a:t>
                      </a:r>
                    </a:p>
                  </a:txBody>
                  <a:tcPr>
                    <a:solidFill>
                      <a:srgbClr val="F3F6FC"/>
                    </a:solidFill>
                  </a:tcPr>
                </a:tc>
                <a:tc>
                  <a:txBody>
                    <a:bodyPr/>
                    <a:lstStyle/>
                    <a:p>
                      <a:pPr>
                        <a:defRPr sz="1200">
                          <a:solidFill>
                            <a:srgbClr val="1A1A2E"/>
                          </a:solidFill>
                          <a:latin typeface="Yu Gothic"/>
                        </a:defRPr>
                      </a:pPr>
                      <a:r>
                        <a:t>2026年7月28日(日本時間29日)</a:t>
                      </a:r>
                    </a:p>
                  </a:txBody>
                  <a:tcPr>
                    <a:solidFill>
                      <a:srgbClr val="F3F6FC"/>
                    </a:solidFill>
                  </a:tcPr>
                </a:tc>
              </a:tr>
              <a:tr h="502920">
                <a:tc>
                  <a:txBody>
                    <a:bodyPr/>
                    <a:lstStyle/>
                    <a:p>
                      <a:pPr>
                        <a:defRPr sz="1200">
                          <a:solidFill>
                            <a:srgbClr val="1A1A2E"/>
                          </a:solidFill>
                          <a:latin typeface="Yu Gothic"/>
                        </a:defRPr>
                      </a:pPr>
                      <a:r>
                        <a:t>連勝期間</a:t>
                      </a:r>
                    </a:p>
                  </a:txBody>
                  <a:tcPr>
                    <a:solidFill>
                      <a:srgbClr val="FFFFFF"/>
                    </a:solidFill>
                  </a:tcPr>
                </a:tc>
                <a:tc>
                  <a:txBody>
                    <a:bodyPr/>
                    <a:lstStyle/>
                    <a:p>
                      <a:pPr>
                        <a:defRPr sz="1200">
                          <a:solidFill>
                            <a:srgbClr val="1A1A2E"/>
                          </a:solidFill>
                          <a:latin typeface="Yu Gothic"/>
                        </a:defRPr>
                      </a:pPr>
                      <a:r>
                        <a:t>約5年3か月</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TBS NEWS DIG(2026-07-29)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なぜチームは負けたか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投手陣が本塁打を多発</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1試合で5本塁打を許す苦しい投球内容だった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リードを守れなかった</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1点リードの場面を3度作りながら守り切れなかったと報じられている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併殺打も重なった</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得点機で併殺打が3度あったとも報じられている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MLB公式ストーリー(2026-07-28)</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大谷選手の今季ここまでの位置づけ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先頭打者本塁打</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今季10本目(この試合の23号を含む)</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猛打賞(3安打以上)</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今季8度目</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直前の本塁打から</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10試合ぶりの一発で、復調の兆しと報じられている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TBS NEWS DIG / 中日スポーツ(2026-07-29)</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米データ会社が発見した記録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71年間唯一</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1955年以降、この組み合わせでチームが敗れた選手は大谷選手が史上唯一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Full-Count(米データ会社Opta Statsの分析を引用, 2026-07-29)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Opta Statsが定義した4条件</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条件</a:t>
                      </a:r>
                    </a:p>
                  </a:txBody>
                  <a:tcPr>
                    <a:solidFill>
                      <a:srgbClr val="1E2761"/>
                    </a:solidFill>
                  </a:tcPr>
                </a:tc>
                <a:tc>
                  <a:txBody>
                    <a:bodyPr/>
                    <a:lstStyle/>
                    <a:p>
                      <a:pPr>
                        <a:defRPr sz="1300" b="1">
                          <a:solidFill>
                            <a:srgbClr val="FFFFFF"/>
                          </a:solidFill>
                          <a:latin typeface="Yu Gothic"/>
                        </a:defRPr>
                      </a:pPr>
                      <a:r>
                        <a:t>この試合での大谷選手の記録</a:t>
                      </a:r>
                    </a:p>
                  </a:txBody>
                  <a:tcPr>
                    <a:solidFill>
                      <a:srgbClr val="1E2761"/>
                    </a:solidFill>
                  </a:tcPr>
                </a:tc>
              </a:tr>
              <a:tr h="502920">
                <a:tc>
                  <a:txBody>
                    <a:bodyPr/>
                    <a:lstStyle/>
                    <a:p>
                      <a:pPr>
                        <a:defRPr sz="1200">
                          <a:solidFill>
                            <a:srgbClr val="1A1A2E"/>
                          </a:solidFill>
                          <a:latin typeface="Yu Gothic"/>
                        </a:defRPr>
                      </a:pPr>
                      <a:r>
                        <a:t>3安打以上</a:t>
                      </a:r>
                    </a:p>
                  </a:txBody>
                  <a:tcPr>
                    <a:solidFill>
                      <a:srgbClr val="FFFFFF"/>
                    </a:solidFill>
                  </a:tcPr>
                </a:tc>
                <a:tc>
                  <a:txBody>
                    <a:bodyPr/>
                    <a:lstStyle/>
                    <a:p>
                      <a:pPr>
                        <a:defRPr sz="1200">
                          <a:solidFill>
                            <a:srgbClr val="1A1A2E"/>
                          </a:solidFill>
                          <a:latin typeface="Yu Gothic"/>
                        </a:defRPr>
                      </a:pPr>
                      <a:r>
                        <a:t>4打数3安打</a:t>
                      </a:r>
                    </a:p>
                  </a:txBody>
                  <a:tcPr>
                    <a:solidFill>
                      <a:srgbClr val="FFFFFF"/>
                    </a:solidFill>
                  </a:tcPr>
                </a:tc>
              </a:tr>
              <a:tr h="502920">
                <a:tc>
                  <a:txBody>
                    <a:bodyPr/>
                    <a:lstStyle/>
                    <a:p>
                      <a:pPr>
                        <a:defRPr sz="1200">
                          <a:solidFill>
                            <a:srgbClr val="1A1A2E"/>
                          </a:solidFill>
                          <a:latin typeface="Yu Gothic"/>
                        </a:defRPr>
                      </a:pPr>
                      <a:r>
                        <a:t>3打点以上</a:t>
                      </a:r>
                    </a:p>
                  </a:txBody>
                  <a:tcPr>
                    <a:solidFill>
                      <a:srgbClr val="F3F6FC"/>
                    </a:solidFill>
                  </a:tcPr>
                </a:tc>
                <a:tc>
                  <a:txBody>
                    <a:bodyPr/>
                    <a:lstStyle/>
                    <a:p>
                      <a:pPr>
                        <a:defRPr sz="1200">
                          <a:solidFill>
                            <a:srgbClr val="1A1A2E"/>
                          </a:solidFill>
                          <a:latin typeface="Yu Gothic"/>
                        </a:defRPr>
                      </a:pPr>
                      <a:r>
                        <a:t>3打点</a:t>
                      </a:r>
                    </a:p>
                  </a:txBody>
                  <a:tcPr>
                    <a:solidFill>
                      <a:srgbClr val="F3F6FC"/>
                    </a:solidFill>
                  </a:tcPr>
                </a:tc>
              </a:tr>
              <a:tr h="502920">
                <a:tc>
                  <a:txBody>
                    <a:bodyPr/>
                    <a:lstStyle/>
                    <a:p>
                      <a:pPr>
                        <a:defRPr sz="1200">
                          <a:solidFill>
                            <a:srgbClr val="1A1A2E"/>
                          </a:solidFill>
                          <a:latin typeface="Yu Gothic"/>
                        </a:defRPr>
                      </a:pPr>
                      <a:r>
                        <a:t>先頭打者本塁打</a:t>
                      </a:r>
                    </a:p>
                  </a:txBody>
                  <a:tcPr>
                    <a:solidFill>
                      <a:srgbClr val="FFFFFF"/>
                    </a:solidFill>
                  </a:tcPr>
                </a:tc>
                <a:tc>
                  <a:txBody>
                    <a:bodyPr/>
                    <a:lstStyle/>
                    <a:p>
                      <a:pPr>
                        <a:defRPr sz="1200">
                          <a:solidFill>
                            <a:srgbClr val="1A1A2E"/>
                          </a:solidFill>
                          <a:latin typeface="Yu Gothic"/>
                        </a:defRPr>
                      </a:pPr>
                      <a:r>
                        <a:t>1回に23号</a:t>
                      </a:r>
                    </a:p>
                  </a:txBody>
                  <a:tcPr>
                    <a:solidFill>
                      <a:srgbClr val="FFFFFF"/>
                    </a:solidFill>
                  </a:tcPr>
                </a:tc>
              </a:tr>
              <a:tr h="502920">
                <a:tc>
                  <a:txBody>
                    <a:bodyPr/>
                    <a:lstStyle/>
                    <a:p>
                      <a:pPr>
                        <a:defRPr sz="1200">
                          <a:solidFill>
                            <a:srgbClr val="1A1A2E"/>
                          </a:solidFill>
                          <a:latin typeface="Yu Gothic"/>
                        </a:defRPr>
                      </a:pPr>
                      <a:r>
                        <a:t>敬遠(申告敬遠を含む)を記録</a:t>
                      </a:r>
                    </a:p>
                  </a:txBody>
                  <a:tcPr>
                    <a:solidFill>
                      <a:srgbClr val="F3F6FC"/>
                    </a:solidFill>
                  </a:tcPr>
                </a:tc>
                <a:tc>
                  <a:txBody>
                    <a:bodyPr/>
                    <a:lstStyle/>
                    <a:p>
                      <a:pPr>
                        <a:defRPr sz="1200">
                          <a:solidFill>
                            <a:srgbClr val="1A1A2E"/>
                          </a:solidFill>
                          <a:latin typeface="Yu Gothic"/>
                        </a:defRPr>
                      </a:pPr>
                      <a:r>
                        <a:t>1申告敬遠</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Full-Count(2026-07-29)</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『71年間唯一』が成立する構造</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4条件すべてを満たす</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3安打・3打点・先頭打者弾・敬遠</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1955年以降のデータで検証</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申告敬遠が公式記録化された年を起点とする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かつチームが敗戦</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この最後の条件を満たした選手は大谷選手のみ</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4条件を満たしたうえで『チームが敗れた』選手が史上唯一という構造</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Full-Count(2026-07-29)</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大谷選手個人の活躍と、チームの結果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大谷選手個人の活躍</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4打数3安打3打点1申告敬遠</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23号先頭打者本塁打</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1955年以降71年間唯一の記録</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チームの結果</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6対7でマリナーズに敗戦</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投手陣が1試合5被弾</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5年3か月ぶりの黒星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この記録について分かっていること・いないこと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分かっていること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大谷選手が4条件をすべて満たし、かつチームが敗れたこと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分かっていないこと</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Opta Statsの元データ・算出方法の詳細な一次資料</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今後の注目点</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大谷選手・チームがシーズン後半にどう巻き返すか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Opta Statsの元データ・算出方法の詳細</a:t>
                      </a:r>
                    </a:p>
                  </a:txBody>
                  <a:tcPr>
                    <a:solidFill>
                      <a:srgbClr val="FFFFFF"/>
                    </a:solidFill>
                  </a:tcPr>
                </a:tc>
                <a:tc>
                  <a:txBody>
                    <a:bodyPr/>
                    <a:lstStyle/>
                    <a:p>
                      <a:pPr>
                        <a:defRPr sz="1200">
                          <a:solidFill>
                            <a:srgbClr val="1A1A2E"/>
                          </a:solidFill>
                          <a:latin typeface="Yu Gothic"/>
                        </a:defRPr>
                      </a:pPr>
                      <a:r>
                        <a:t>一次資料では確認できず</a:t>
                      </a:r>
                    </a:p>
                  </a:txBody>
                  <a:tcPr>
                    <a:solidFill>
                      <a:srgbClr val="FFFFFF"/>
                    </a:solidFill>
                  </a:tcPr>
                </a:tc>
              </a:tr>
              <a:tr h="502920">
                <a:tc>
                  <a:txBody>
                    <a:bodyPr/>
                    <a:lstStyle/>
                    <a:p>
                      <a:pPr>
                        <a:defRPr sz="1200">
                          <a:solidFill>
                            <a:srgbClr val="1A1A2E"/>
                          </a:solidFill>
                          <a:latin typeface="Yu Gothic"/>
                        </a:defRPr>
                      </a:pPr>
                      <a:r>
                        <a:t>大谷選手本人の試合後コメント</a:t>
                      </a:r>
                    </a:p>
                  </a:txBody>
                  <a:tcPr>
                    <a:solidFill>
                      <a:srgbClr val="F3F6FC"/>
                    </a:solidFill>
                  </a:tcPr>
                </a:tc>
                <a:tc>
                  <a:txBody>
                    <a:bodyPr/>
                    <a:lstStyle/>
                    <a:p>
                      <a:pPr>
                        <a:defRPr sz="1200">
                          <a:solidFill>
                            <a:srgbClr val="1A1A2E"/>
                          </a:solidFill>
                          <a:latin typeface="Yu Gothic"/>
                        </a:defRPr>
                      </a:pPr>
                      <a:r>
                        <a:t>検索した範囲では確認できず</a:t>
                      </a:r>
                    </a:p>
                  </a:txBody>
                  <a:tcPr>
                    <a:solidFill>
                      <a:srgbClr val="F3F6FC"/>
                    </a:solidFill>
                  </a:tcPr>
                </a:tc>
              </a:tr>
              <a:tr h="502920">
                <a:tc>
                  <a:txBody>
                    <a:bodyPr/>
                    <a:lstStyle/>
                    <a:p>
                      <a:pPr>
                        <a:defRPr sz="1200">
                          <a:solidFill>
                            <a:srgbClr val="1A1A2E"/>
                          </a:solidFill>
                          <a:latin typeface="Yu Gothic"/>
                        </a:defRPr>
                      </a:pPr>
                      <a:r>
                        <a:t>この敗戦のシーズン全体への影響度</a:t>
                      </a:r>
                    </a:p>
                  </a:txBody>
                  <a:tcPr>
                    <a:solidFill>
                      <a:srgbClr val="FFFFFF"/>
                    </a:solidFill>
                  </a:tcPr>
                </a:tc>
                <a:tc>
                  <a:txBody>
                    <a:bodyPr/>
                    <a:lstStyle/>
                    <a:p>
                      <a:pPr>
                        <a:defRPr sz="1200">
                          <a:solidFill>
                            <a:srgbClr val="1A1A2E"/>
                          </a:solidFill>
                          <a:latin typeface="Yu Gothic"/>
                        </a:defRPr>
                      </a:pPr>
                      <a:r>
                        <a:t>推測の域を出ない</a:t>
                      </a:r>
                    </a:p>
                  </a:txBody>
                  <a:tcPr>
                    <a:solidFill>
                      <a:srgbClr val="FFFFFF"/>
                    </a:solidFill>
                  </a:tcPr>
                </a:tc>
              </a:tr>
              <a:tr h="502920">
                <a:tc>
                  <a:txBody>
                    <a:bodyPr/>
                    <a:lstStyle/>
                    <a:p>
                      <a:pPr>
                        <a:defRPr sz="1200">
                          <a:solidFill>
                            <a:srgbClr val="1A1A2E"/>
                          </a:solidFill>
                          <a:latin typeface="Yu Gothic"/>
                        </a:defRPr>
                      </a:pPr>
                      <a:r>
                        <a:t>『1955年』という起点年の算出根拠の一次資料</a:t>
                      </a:r>
                    </a:p>
                  </a:txBody>
                  <a:tcPr>
                    <a:solidFill>
                      <a:srgbClr val="F3F6FC"/>
                    </a:solidFill>
                  </a:tcPr>
                </a:tc>
                <a:tc>
                  <a:txBody>
                    <a:bodyPr/>
                    <a:lstStyle/>
                    <a:p>
                      <a:pPr>
                        <a:defRPr sz="1200">
                          <a:solidFill>
                            <a:srgbClr val="1A1A2E"/>
                          </a:solidFill>
                          <a:latin typeface="Yu Gothic"/>
                        </a:defRPr>
                      </a:pPr>
                      <a:r>
                        <a:t>Full-Count記事の要約に基づく</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野球に詳しくない人にも参考になる点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個人が圧倒的な結果を出しても、組織全体の成果とは別物になることがある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『史上初』『史上唯一』という記録は、条件の組み合わせ方次第で数多く存在しうる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データ会社が発見した記録を報じる際は、算出方法まで検証する視点が大切</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スポーツの数字も、ビジネスの数字と同じく出典を確認する姿勢が役立つ</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このニュースをどう読み解くか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結果を見る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6対7の敗戦という試合結果をまず押さえる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個人成績を見る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23号・4打数3安打3打点という大谷選手の成績を確認する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記録の中身を見る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71年間唯一という記録が何を意味するかを確認する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想定される意味(ここからは推測)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復調の材料</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大谷選手への影響</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10試合ぶりの一発が今後の調子回復のきっかけになる可能性がある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投手陣の課題</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チームへの影響</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1試合5被弾という内容から、投手陣の立て直しが今後の課題になる可能性がある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話題性の継続</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報道への影響</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『史上唯一』という切り口は今後も引用され続ける可能性がある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冷静に見る点、3つ</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Opta Statsの算出方法の詳細な一次資料までは確認できていない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『71年間唯一』は過去の記録との比較であり、今後同様の記録が出る可能性を否定するものではない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1試合の結果であり、シーズン全体の評価とは切り分けて見る必要がある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シーズン後半に向けて(推測)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今回の試合: 個人は活躍もチーム敗戦</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現在のフェーズ(今回の試合)</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投手陣の立て直しが焦点に</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被弾の多さが今後の課題として注目される可能性</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地区優勝争い・プレーオフへ(推測)</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シーズン後半の巻き返しに注目が集まる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現在のフェーズから先の展開は推測であり、今回の試合結果から確認できる範囲ではない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試合結果まとめ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最終スコア</a:t>
                      </a:r>
                    </a:p>
                  </a:txBody>
                  <a:tcPr>
                    <a:solidFill>
                      <a:srgbClr val="FFFFFF"/>
                    </a:solidFill>
                  </a:tcPr>
                </a:tc>
                <a:tc>
                  <a:txBody>
                    <a:bodyPr/>
                    <a:lstStyle/>
                    <a:p>
                      <a:pPr>
                        <a:defRPr sz="1200">
                          <a:solidFill>
                            <a:srgbClr val="1A1A2E"/>
                          </a:solidFill>
                          <a:latin typeface="Yu Gothic"/>
                        </a:defRPr>
                      </a:pPr>
                      <a:r>
                        <a:t>マリナーズ7-6ドジャース</a:t>
                      </a:r>
                    </a:p>
                  </a:txBody>
                  <a:tcPr>
                    <a:solidFill>
                      <a:srgbClr val="FFFFFF"/>
                    </a:solidFill>
                  </a:tcPr>
                </a:tc>
              </a:tr>
              <a:tr h="502920">
                <a:tc>
                  <a:txBody>
                    <a:bodyPr/>
                    <a:lstStyle/>
                    <a:p>
                      <a:pPr>
                        <a:defRPr sz="1200">
                          <a:solidFill>
                            <a:srgbClr val="1A1A2E"/>
                          </a:solidFill>
                          <a:latin typeface="Yu Gothic"/>
                        </a:defRPr>
                      </a:pPr>
                      <a:r>
                        <a:t>大谷選手の成績</a:t>
                      </a:r>
                    </a:p>
                  </a:txBody>
                  <a:tcPr>
                    <a:solidFill>
                      <a:srgbClr val="F3F6FC"/>
                    </a:solidFill>
                  </a:tcPr>
                </a:tc>
                <a:tc>
                  <a:txBody>
                    <a:bodyPr/>
                    <a:lstStyle/>
                    <a:p>
                      <a:pPr>
                        <a:defRPr sz="1200">
                          <a:solidFill>
                            <a:srgbClr val="1A1A2E"/>
                          </a:solidFill>
                          <a:latin typeface="Yu Gothic"/>
                        </a:defRPr>
                      </a:pPr>
                      <a:r>
                        <a:t>4打数3安打3打点1申告敬遠(23号先頭打者弾)</a:t>
                      </a:r>
                    </a:p>
                  </a:txBody>
                  <a:tcPr>
                    <a:solidFill>
                      <a:srgbClr val="F3F6FC"/>
                    </a:solidFill>
                  </a:tcPr>
                </a:tc>
              </a:tr>
              <a:tr h="502920">
                <a:tc>
                  <a:txBody>
                    <a:bodyPr/>
                    <a:lstStyle/>
                    <a:p>
                      <a:pPr>
                        <a:defRPr sz="1200">
                          <a:solidFill>
                            <a:srgbClr val="1A1A2E"/>
                          </a:solidFill>
                          <a:latin typeface="Yu Gothic"/>
                        </a:defRPr>
                      </a:pPr>
                      <a:r>
                        <a:t>注目の記録</a:t>
                      </a:r>
                    </a:p>
                  </a:txBody>
                  <a:tcPr>
                    <a:solidFill>
                      <a:srgbClr val="FFFFFF"/>
                    </a:solidFill>
                  </a:tcPr>
                </a:tc>
                <a:tc>
                  <a:txBody>
                    <a:bodyPr/>
                    <a:lstStyle/>
                    <a:p>
                      <a:pPr>
                        <a:defRPr sz="1200">
                          <a:solidFill>
                            <a:srgbClr val="1A1A2E"/>
                          </a:solidFill>
                          <a:latin typeface="Yu Gothic"/>
                        </a:defRPr>
                      </a:pPr>
                      <a:r>
                        <a:t>1955年以降71年間唯一(Opta Stats調べ)</a:t>
                      </a:r>
                    </a:p>
                  </a:txBody>
                  <a:tcPr>
                    <a:solidFill>
                      <a:srgbClr val="FFFFFF"/>
                    </a:solidFill>
                  </a:tcPr>
                </a:tc>
              </a:tr>
              <a:tr h="502920">
                <a:tc>
                  <a:txBody>
                    <a:bodyPr/>
                    <a:lstStyle/>
                    <a:p>
                      <a:pPr>
                        <a:defRPr sz="1200">
                          <a:solidFill>
                            <a:srgbClr val="1A1A2E"/>
                          </a:solidFill>
                          <a:latin typeface="Yu Gothic"/>
                        </a:defRPr>
                      </a:pPr>
                      <a:r>
                        <a:t>連敗記録</a:t>
                      </a:r>
                    </a:p>
                  </a:txBody>
                  <a:tcPr>
                    <a:solidFill>
                      <a:srgbClr val="F3F6FC"/>
                    </a:solidFill>
                  </a:tcPr>
                </a:tc>
                <a:tc>
                  <a:txBody>
                    <a:bodyPr/>
                    <a:lstStyle/>
                    <a:p>
                      <a:pPr>
                        <a:defRPr sz="1200">
                          <a:solidFill>
                            <a:srgbClr val="1A1A2E"/>
                          </a:solidFill>
                          <a:latin typeface="Yu Gothic"/>
                        </a:defRPr>
                      </a:pPr>
                      <a:r>
                        <a:t>マリナーズには5年3か月ぶりの黒星</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今日の要点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23号</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先頭打者本塁打</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4打数3安打3打点1申告敬遠</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6対7で敗戦</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試合結果</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マリナーズに5年3か月ぶりの黒星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71年間唯一</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Opta Statsが発見した記録</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1955年以降、この組み合わせは史上唯一</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定期実行62本目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「個人の記録」と「チームの結果」を分けて見る習慣を</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スポーツのニュースを見るときは、個人成績・チーム結果・記録の算出根拠を分けて確認しましょう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データを使った報道に触れるときは、算出方法や起点年など、記録の前提条件も確認してみてください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