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有明高校の得点</c:v>
                </c:pt>
              </c:strCache>
            </c:strRef>
          </c:tx>
          <c:spPr>
            <a:solidFill>
              <a:srgbClr val="24523F"/>
            </a:solidFill>
          </c:spPr>
          <c:cat>
            <c:strRef>
              <c:f>Sheet1!$A$2:$A$4</c:f>
              <c:strCache>
                <c:ptCount val="3"/>
                <c:pt idx="0">
                  <c:v>1回戦(立命館宇治)</c:v>
                </c:pt>
                <c:pt idx="1">
                  <c:v>2回戦(長崎日大)</c:v>
                </c:pt>
                <c:pt idx="2">
                  <c:v>3回戦(東日本国際大昌平)</c:v>
                </c:pt>
              </c:strCache>
            </c:strRef>
          </c:cat>
          <c:val>
            <c:numRef>
              <c:f>Sheet1!$B$2:$B$4</c:f>
              <c:numCache>
                <c:formatCode>General</c:formatCode>
                <c:ptCount val="3"/>
                <c:pt idx="0">
                  <c:v>6</c:v>
                </c:pt>
                <c:pt idx="1">
                  <c:v>3</c:v>
                </c:pt>
                <c:pt idx="2">
                  <c:v>4</c:v>
                </c:pt>
              </c:numCache>
            </c:numRef>
          </c:val>
        </c:ser>
        <c:dLbls>
          <c:numFmt formatCode="#,##0" sourceLinked="0"/>
          <c:txPr>
            <a:bodyPr/>
            <a:lstStyle/>
            <a:p>
              <a:pPr>
                <a:defRPr sz="1200" b="1">
                  <a:solidFill>
                    <a:srgbClr val="24523F"/>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16日、熊本県代表・有明高校が夏の甲子園3回戦で東日本国際大昌平に4-1で逆転勝ちし、初出場でベスト8進出を決めました。1回戦・2回戦に続く3試合連続の逆転勝ちです。熊本大会優勝(7月24日)のわずか4日後には、地元・熊本県でマグニチュード7.1の地震が発生していました。今日はこの記録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有明高校は1回戦から3回戦まで、3試合連続で逆転勝ちを収めました。直近の3回戦(2026年8月16日)は0-1とリードされた展開から4-1で逆転し、初出場で甲子園ベスト8に進出しました。ここから数字と時系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7つの流れでお伝えします。有明高校の基礎知識から、3試合連続逆転勝ちの中身、熊本地震の事実関係まで、出典付きで正確に整理します。未成年の選手・実在の災害という2つの点に配慮し、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翌日という新しさに加え、初出場校が3試合連続で逆転勝ちしベスト8まで進んだという明快な記録があります。熊本大会優勝の4日後に地元でM7.1の地震が発生していたという時系列も、複数のメディアが伝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基礎知識を確認します。有明高校は熊本県荒尾市の高校で、7月24日の熊本大会決勝で東海大熊本星翔を破り、創部30年目で初めての甲子園出場を決めました。選手は未成年のため、本テーマでは個人の私生活ではなくチーム・地域の物語とし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の前提として、熊本地震を確認します。2026年7月28日16時27分にマグニチュード7.1の地震が発生し、宇城市・八代郡氷川町で最大震度7を観測しました。熊本県内では10年3か月ぶり、国内でも2024年1月の能登半島地震以来の震度7です。被害規模の具体的な数字は確認できておらず、本成果物では扱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有明高校が甲子園にたどり着くまでの道のりです。7月24日に熊本大会を制して初出場を決め、4日後の7月28日に地元でM7.1の地震が発生しました。甲子園では1回戦から3回戦まで、3試合連続で逆転勝ちを収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3試合のスコアを一覧にしました。1回戦は9回2死からの逆転で6-3、2回戦は3-2で逆転勝ちしましたが具体的な経過は未確認です。3回戦は0-1の8回に逆転し4-1で勝利しました。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1回戦のハイライトです。立命館宇治戦は9回2死という土壇場から逆転し、6-3で勝利しました。この試合が、大会を通じた3試合連続逆転勝ちの始まりとなりました。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1回戦を数字で振り返ります。9回2死からの逆転、最終スコアは6-3。これが大会を通じた3試合連続逆転勝ちの1試合目でした。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回戦の結果です。長崎日大戦は3-2で逆転勝ちしました。最終スコアの逆転自体は複数の媒体で確認できていますが、具体的にどの回にどう逆転したかという得点経過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回戦について確認できていないことを正直にお伝えします。最終スコアの逆転自体は確認できていますが、具体的な得点経過は未確認です。先発投手の負傷・登板回避に関する報道の詳細も、本成果物では扱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回戦の逆転劇のプロセスを図にしました。0-1とリードされた8回、1死一・二塁からダブルスチールを成功させ、2死満塁から代打・広沢遼太朗選手の2点適時打で逆転。続く栄井彰選手の2点適時打で4-1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3回戦の最終スコアです。4-1で有明が逆転勝利し、初出場で甲子園ベスト8進出を決めました。1回戦・2回戦に続く3試合連続の逆転勝ちです。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3回戦の得点経過を詳しく一覧にしました。0-1の8回、ダブルスチールから代打・広沢遼太朗選手の適時打で逆転し、続く栄井彰選手の適時打で4-1としました。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3試合の有明高校の得点をグラフにしました。1回戦6点、2回戦3点、3回戦4点。いずれも相手を上回る逆転勝ちで、3試合連続でこの結果を残しています。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3試合連続逆転勝ちのポイントをまとめました。1回戦は9回2死から、2回戦は3-2で逆転(経過は未確認)、3回戦は8回のダブルスチールと適時打で逆転しました。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熊本地震の規模を確認します。2026年7月28日16時27分に発生したマグニチュード7.1の地震で、宇城市・八代郡氷川町で最大震度7を観測しました。気象庁公式ポータルで確認できる事実です。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熊本地震の詳細事実です。2026年7月28日16時27分に発生し、宇城市・八代郡氷川町で最大震度7を観測しました。熊本県内では10年3か月ぶり、国内では2024年1月の能登半島地震以来の震度7です。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震度7という数字の重みを確認します。熊本県内では2016年熊本地震以来10年3か月ぶり、国内でも2024年1月の能登半島地震以来という頻度の低さです。有明高校の初出場決定からわずか4日後の発生でした。</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被災地に勇気を届けた』という表現を正確に扱います。これは熊本県が地震の被害を受けた地域だという事実を踏まえたメディアの文脈づけであり、有明高校自体が被災したという確認された事実ではありません。この区別を明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2回戦の具体的な得点経過、投手負傷の詳細、地震による有明高校自体や選手・関係者への直接的な被害の有無や程度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未成年選手への配慮方針です。出場選手は未成年のため、個人の私生活を扇情的に扱わずチーム・地域の物語として構成しました。氏名は公表済みの範囲でテキストとしてのみ扱い、写真・肖像は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生まれがちです。確認できているのはM7.1・最大震度7という事実のみで、有明高校自体や選手・関係者への直接的な被害の有無は確認できていません。被害規模の数字も本成果物では扱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3試合連続逆転勝ちは大会通算の記録として位置づけられます。地震の事実とスポーツの記録は、それぞれ独立した事実として受け止める視点が役立ちます。次戦の結果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視聴者にとっての実践的な示唆をまとめました。高校野球ファンとして、地震関連の情報を見る立場として、情報を発信する立場として、それぞれで意識したい点です。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次の試合を確認します。8月18日15時30分開始の準々決勝で、対戦相手は健大高崎(群馬)です。この動画の制作時点ではまだ試合前であり、結果は確認できていません。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ここで事実と推測を分けます。熊本大会優勝・地震の発生・3試合の結果・3回戦の逆転経過はすべて出典で確認できた事実です。推測はほぼ用いておらず、2回戦の経過等は不明として明確に分けています。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有明高校が甲子園初出場で3試合連続の逆転勝ちを収めベスト8に進出した件と、熊本大会優勝の4日後に地元でM7.1の地震が発生していたという時系列を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初出場で3試合連続逆転勝ち、甲子園8強へ。</a:t>
            </a:r>
          </a:p>
          <a:p>
            <a:pPr algn="l">
              <a:lnSpc>
                <a:spcPct val="115000"/>
              </a:lnSpc>
            </a:pPr>
            <a:r>
              <a:rPr sz="4200" b="1">
                <a:solidFill>
                  <a:srgbClr val="FFFFFF"/>
                </a:solidFill>
                <a:latin typeface="Yu Gothic"/>
              </a:rPr>
              <a:t>有明高校、創部30年目の快進撃</a:t>
            </a:r>
          </a:p>
          <a:p>
            <a:pPr algn="l">
              <a:lnSpc>
                <a:spcPct val="115000"/>
              </a:lnSpc>
            </a:pPr>
            <a:r>
              <a:rPr sz="4200" b="1">
                <a:solidFill>
                  <a:srgbClr val="FFFFFF"/>
                </a:solidFill>
                <a:latin typeface="Yu Gothic"/>
              </a:rPr>
              <a:t>(熊本大会優勝から4日後、地元・熊本でM7.1の地震)</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2026年8月16日、東日本国際大昌平に4-1で逆転勝ち――出典付きで正確に整理してお届けします</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Yahoo!ニュース(Full-Count配信/スポーツ報知配信)・西日本新聞・NHKニュース・気象庁公式ポータル「令和8年熊本地震」(2026年8月16日時点)</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初出場で8強入り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有明高校(熊本県)が1回戦から3回戦まで3試合連続で逆転勝ち。3回戦(2026年8月16日)は0-1から4-1で東日本国際大昌平を破った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Yahoo!ニュース(Full-Count配信、2026-08-16)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有明高校・甲子園・熊本地震の基礎知識(初心者向け)</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甲子園までの道のりと3試合の結果</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3回戦(8/16)の逆転劇を数字で深掘りする</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熊本地震の事実関係と『被災地に勇気を届けた』を正確に扱う</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確認できていないこと・センシティブな配慮・出典一覧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3回戦(2026年8月16日)は着手日(2026年8月17日)の前日という鮮度の高い話題である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初出場校が3試合連続で逆転勝ちを収め、ベスト8まで勝ち上がったという明快な記録である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熊本大会優勝のわずか4日後に地元でM7.1の地震が発生していたという時系列を、複数のメディアが伝えている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Yahoo!ニュース(Full-Count配信)・西日本新聞・NHKニュース(2026-08-16〜17)</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有明高校・甲子園とは(初心者向け)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本題に入る前に、基礎知識を確認します。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有明高校(熊本県荒尾市)は、2026年7月24日の熊本大会決勝で東海大熊本星翔を破り、創部30年目で悲願の甲子園初出場を決めた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『甲子園』は夏の全国高校野球選手権大会の通称で、都道府県代表49校が出場するトーナメント。ベスト8(準々決勝進出)は上位にあたる成績である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選手は未成年であるため、本テーマでは個人の私生活ではなく、チーム・地域の物語として扱う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熊本地震とは(初心者向け・用語解説)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もう一つの重要な前提を確認します。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2026年7月28日16時27分、熊本県でマグニチュード7.1の地震が発生し、宇城市・八代郡氷川町で最大震度7を観測した(気象庁公式ポータル「令和8年熊本地震」で確認)</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熊本県内では2016年の熊本地震以来10年3か月ぶりの震度7、国内では2024年1月の能登半島地震以来の震度7だった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地震による具体的な被害規模(死者数・経済損失等)は本調査の範囲では確認できておらず、本成果物では扱わない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気象庁公式ポータル「令和8年熊本地震」</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有明高校、甲子園までの道のり</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7/24</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熊本大会決勝で東海大熊本星翔を破り、創部30年目で甲子園初出場を決定</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7/28</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4日後、熊本県でM7.1の地震が発生。宇城市・八代郡氷川町で最大震度7を観測</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1回戦</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立命館宇治に9回2死からの逆転で6-3</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2〜3回戦</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長崎日大に3-2、東日本国際大昌平に4-1と3試合連続の逆転勝ちで8強入り</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3試合のスコア一覧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2819323"/>
                <a:gridCol w="2819323"/>
                <a:gridCol w="2819323"/>
                <a:gridCol w="2819326"/>
              </a:tblGrid>
              <a:tr h="502920">
                <a:tc>
                  <a:txBody>
                    <a:bodyPr/>
                    <a:lstStyle/>
                    <a:p>
                      <a:pPr>
                        <a:defRPr sz="1300" b="1">
                          <a:solidFill>
                            <a:srgbClr val="FFFFFF"/>
                          </a:solidFill>
                          <a:latin typeface="Yu Gothic"/>
                        </a:defRPr>
                      </a:pPr>
                      <a:r>
                        <a:t>試合</a:t>
                      </a:r>
                    </a:p>
                  </a:txBody>
                  <a:tcPr>
                    <a:solidFill>
                      <a:srgbClr val="24523F"/>
                    </a:solidFill>
                  </a:tcPr>
                </a:tc>
                <a:tc>
                  <a:txBody>
                    <a:bodyPr/>
                    <a:lstStyle/>
                    <a:p>
                      <a:pPr>
                        <a:defRPr sz="1300" b="1">
                          <a:solidFill>
                            <a:srgbClr val="FFFFFF"/>
                          </a:solidFill>
                          <a:latin typeface="Yu Gothic"/>
                        </a:defRPr>
                      </a:pPr>
                      <a:r>
                        <a:t>対戦相手</a:t>
                      </a:r>
                    </a:p>
                  </a:txBody>
                  <a:tcPr>
                    <a:solidFill>
                      <a:srgbClr val="24523F"/>
                    </a:solidFill>
                  </a:tcPr>
                </a:tc>
                <a:tc>
                  <a:txBody>
                    <a:bodyPr/>
                    <a:lstStyle/>
                    <a:p>
                      <a:pPr>
                        <a:defRPr sz="1300" b="1">
                          <a:solidFill>
                            <a:srgbClr val="FFFFFF"/>
                          </a:solidFill>
                          <a:latin typeface="Yu Gothic"/>
                        </a:defRPr>
                      </a:pPr>
                      <a:r>
                        <a:t>結果</a:t>
                      </a:r>
                    </a:p>
                  </a:txBody>
                  <a:tcPr>
                    <a:solidFill>
                      <a:srgbClr val="24523F"/>
                    </a:solidFill>
                  </a:tcPr>
                </a:tc>
                <a:tc>
                  <a:txBody>
                    <a:bodyPr/>
                    <a:lstStyle/>
                    <a:p>
                      <a:pPr>
                        <a:defRPr sz="1300" b="1">
                          <a:solidFill>
                            <a:srgbClr val="FFFFFF"/>
                          </a:solidFill>
                          <a:latin typeface="Yu Gothic"/>
                        </a:defRPr>
                      </a:pPr>
                      <a:r>
                        <a:t>逆転の経過</a:t>
                      </a:r>
                    </a:p>
                  </a:txBody>
                  <a:tcPr>
                    <a:solidFill>
                      <a:srgbClr val="24523F"/>
                    </a:solidFill>
                  </a:tcPr>
                </a:tc>
              </a:tr>
              <a:tr h="502920">
                <a:tc>
                  <a:txBody>
                    <a:bodyPr/>
                    <a:lstStyle/>
                    <a:p>
                      <a:pPr>
                        <a:defRPr sz="1200">
                          <a:solidFill>
                            <a:srgbClr val="20261F"/>
                          </a:solidFill>
                          <a:latin typeface="Yu Gothic"/>
                        </a:defRPr>
                      </a:pPr>
                      <a:r>
                        <a:t>1回戦</a:t>
                      </a:r>
                    </a:p>
                  </a:txBody>
                  <a:tcPr>
                    <a:solidFill>
                      <a:srgbClr val="FFFFFF"/>
                    </a:solidFill>
                  </a:tcPr>
                </a:tc>
                <a:tc>
                  <a:txBody>
                    <a:bodyPr/>
                    <a:lstStyle/>
                    <a:p>
                      <a:pPr>
                        <a:defRPr sz="1200">
                          <a:solidFill>
                            <a:srgbClr val="20261F"/>
                          </a:solidFill>
                          <a:latin typeface="Yu Gothic"/>
                        </a:defRPr>
                      </a:pPr>
                      <a:r>
                        <a:t>立命館宇治</a:t>
                      </a:r>
                    </a:p>
                  </a:txBody>
                  <a:tcPr>
                    <a:solidFill>
                      <a:srgbClr val="FFFFFF"/>
                    </a:solidFill>
                  </a:tcPr>
                </a:tc>
                <a:tc>
                  <a:txBody>
                    <a:bodyPr/>
                    <a:lstStyle/>
                    <a:p>
                      <a:pPr>
                        <a:defRPr sz="1200">
                          <a:solidFill>
                            <a:srgbClr val="20261F"/>
                          </a:solidFill>
                          <a:latin typeface="Yu Gothic"/>
                        </a:defRPr>
                      </a:pPr>
                      <a:r>
                        <a:t>6-3で勝利</a:t>
                      </a:r>
                    </a:p>
                  </a:txBody>
                  <a:tcPr>
                    <a:solidFill>
                      <a:srgbClr val="FFFFFF"/>
                    </a:solidFill>
                  </a:tcPr>
                </a:tc>
                <a:tc>
                  <a:txBody>
                    <a:bodyPr/>
                    <a:lstStyle/>
                    <a:p>
                      <a:pPr>
                        <a:defRPr sz="1200">
                          <a:solidFill>
                            <a:srgbClr val="20261F"/>
                          </a:solidFill>
                          <a:latin typeface="Yu Gothic"/>
                        </a:defRPr>
                      </a:pPr>
                      <a:r>
                        <a:t>9回2死からの逆転</a:t>
                      </a:r>
                    </a:p>
                  </a:txBody>
                  <a:tcPr>
                    <a:solidFill>
                      <a:srgbClr val="FFFFFF"/>
                    </a:solidFill>
                  </a:tcPr>
                </a:tc>
              </a:tr>
              <a:tr h="502920">
                <a:tc>
                  <a:txBody>
                    <a:bodyPr/>
                    <a:lstStyle/>
                    <a:p>
                      <a:pPr>
                        <a:defRPr sz="1200">
                          <a:solidFill>
                            <a:srgbClr val="20261F"/>
                          </a:solidFill>
                          <a:latin typeface="Yu Gothic"/>
                        </a:defRPr>
                      </a:pPr>
                      <a:r>
                        <a:t>2回戦</a:t>
                      </a:r>
                    </a:p>
                  </a:txBody>
                  <a:tcPr>
                    <a:solidFill>
                      <a:srgbClr val="F4F1E6"/>
                    </a:solidFill>
                  </a:tcPr>
                </a:tc>
                <a:tc>
                  <a:txBody>
                    <a:bodyPr/>
                    <a:lstStyle/>
                    <a:p>
                      <a:pPr>
                        <a:defRPr sz="1200">
                          <a:solidFill>
                            <a:srgbClr val="20261F"/>
                          </a:solidFill>
                          <a:latin typeface="Yu Gothic"/>
                        </a:defRPr>
                      </a:pPr>
                      <a:r>
                        <a:t>長崎日大</a:t>
                      </a:r>
                    </a:p>
                  </a:txBody>
                  <a:tcPr>
                    <a:solidFill>
                      <a:srgbClr val="F4F1E6"/>
                    </a:solidFill>
                  </a:tcPr>
                </a:tc>
                <a:tc>
                  <a:txBody>
                    <a:bodyPr/>
                    <a:lstStyle/>
                    <a:p>
                      <a:pPr>
                        <a:defRPr sz="1200">
                          <a:solidFill>
                            <a:srgbClr val="20261F"/>
                          </a:solidFill>
                          <a:latin typeface="Yu Gothic"/>
                        </a:defRPr>
                      </a:pPr>
                      <a:r>
                        <a:t>3-2で勝利</a:t>
                      </a:r>
                    </a:p>
                  </a:txBody>
                  <a:tcPr>
                    <a:solidFill>
                      <a:srgbClr val="F4F1E6"/>
                    </a:solidFill>
                  </a:tcPr>
                </a:tc>
                <a:tc>
                  <a:txBody>
                    <a:bodyPr/>
                    <a:lstStyle/>
                    <a:p>
                      <a:pPr>
                        <a:defRPr sz="1200">
                          <a:solidFill>
                            <a:srgbClr val="20261F"/>
                          </a:solidFill>
                          <a:latin typeface="Yu Gothic"/>
                        </a:defRPr>
                      </a:pPr>
                      <a:r>
                        <a:t>逆転勝ちだが、具体的な得点経過は本調査の範囲では未確認</a:t>
                      </a:r>
                    </a:p>
                  </a:txBody>
                  <a:tcPr>
                    <a:solidFill>
                      <a:srgbClr val="F4F1E6"/>
                    </a:solidFill>
                  </a:tcPr>
                </a:tc>
              </a:tr>
              <a:tr h="502920">
                <a:tc>
                  <a:txBody>
                    <a:bodyPr/>
                    <a:lstStyle/>
                    <a:p>
                      <a:pPr>
                        <a:defRPr sz="1200">
                          <a:solidFill>
                            <a:srgbClr val="20261F"/>
                          </a:solidFill>
                          <a:latin typeface="Yu Gothic"/>
                        </a:defRPr>
                      </a:pPr>
                      <a:r>
                        <a:t>3回戦(8/16)</a:t>
                      </a:r>
                    </a:p>
                  </a:txBody>
                  <a:tcPr>
                    <a:solidFill>
                      <a:srgbClr val="FFFFFF"/>
                    </a:solidFill>
                  </a:tcPr>
                </a:tc>
                <a:tc>
                  <a:txBody>
                    <a:bodyPr/>
                    <a:lstStyle/>
                    <a:p>
                      <a:pPr>
                        <a:defRPr sz="1200">
                          <a:solidFill>
                            <a:srgbClr val="20261F"/>
                          </a:solidFill>
                          <a:latin typeface="Yu Gothic"/>
                        </a:defRPr>
                      </a:pPr>
                      <a:r>
                        <a:t>東日本国際大昌平</a:t>
                      </a:r>
                    </a:p>
                  </a:txBody>
                  <a:tcPr>
                    <a:solidFill>
                      <a:srgbClr val="FFFFFF"/>
                    </a:solidFill>
                  </a:tcPr>
                </a:tc>
                <a:tc>
                  <a:txBody>
                    <a:bodyPr/>
                    <a:lstStyle/>
                    <a:p>
                      <a:pPr>
                        <a:defRPr sz="1200">
                          <a:solidFill>
                            <a:srgbClr val="20261F"/>
                          </a:solidFill>
                          <a:latin typeface="Yu Gothic"/>
                        </a:defRPr>
                      </a:pPr>
                      <a:r>
                        <a:t>4-1で勝利</a:t>
                      </a:r>
                    </a:p>
                  </a:txBody>
                  <a:tcPr>
                    <a:solidFill>
                      <a:srgbClr val="FFFFFF"/>
                    </a:solidFill>
                  </a:tcPr>
                </a:tc>
                <a:tc>
                  <a:txBody>
                    <a:bodyPr/>
                    <a:lstStyle/>
                    <a:p>
                      <a:pPr>
                        <a:defRPr sz="1200">
                          <a:solidFill>
                            <a:srgbClr val="20261F"/>
                          </a:solidFill>
                          <a:latin typeface="Yu Gothic"/>
                        </a:defRPr>
                      </a:pPr>
                      <a:r>
                        <a:t>0-1の8回、ダブルスチール→代打の適時打で逆転</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Yahoo!ニュース(Full-Count配信/スポーツ報知配信)・西日本新聞(2026-08-16〜17)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1回戦のハイライト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9回2死から逆転</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1回戦・立命館宇治戦。土壇場での逆転で6-3の勝利を収めた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Yahoo!ニュース(Full-Count配信、2026-08-16〜17)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1回戦を数字で振り返る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9回2死</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追い込まれてからの逆転</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1回戦・立命館宇治戦、9回2死から逆転に成功した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6-3</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1回戦の最終スコア</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逆転の末、有明が接戦を制した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1試合目</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3試合連続逆転勝ちの始まり</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土壇場からの逆転が、大会を通じた戦い方の起点となった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2回戦の結果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3-2で逆転勝ち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2回戦・長崎日大戦。最終スコアの逆転は複数媒体で確認できたが、具体的な得点経過は本調査の範囲では確認できていない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Yahoo!ニュース(Full-Count配信、2026-08-16〜17)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2回戦について確認できていないこと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正直にお伝えします。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2回戦(長崎日大戦)の最終スコアが3-2での逆転勝利であることは複数媒体で確認できている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しかし、何回にどのような形で逆転したかという具体的な得点経過は、本調査の範囲では確認できていない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一部報道にある『先発投手の負傷・登板回避』についても、具体的な詳細は本調査の範囲では確認できておらず、本成果物では扱わない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3回戦(8/16)の逆転劇のプロセス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8回表終了時点</a:t>
            </a:r>
          </a:p>
        </p:txBody>
      </p:sp>
      <p:sp>
        <p:nvSpPr>
          <p:cNvPr id="9" name="TextBox 8"/>
          <p:cNvSpPr txBox="1"/>
          <p:nvPr/>
        </p:nvSpPr>
        <p:spPr>
          <a:xfrm>
            <a:off x="289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0-1でリードされる展開</a:t>
            </a:r>
          </a:p>
        </p:txBody>
      </p:sp>
      <p:sp>
        <p:nvSpPr>
          <p:cNvPr id="10" name="Right Arrow 9"/>
          <p:cNvSpPr/>
          <p:nvPr/>
        </p:nvSpPr>
        <p:spPr>
          <a:xfrm>
            <a:off x="25571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69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1死一・二塁でダブルスチール成功</a:t>
            </a:r>
          </a:p>
        </p:txBody>
      </p:sp>
      <p:sp>
        <p:nvSpPr>
          <p:cNvPr id="14" name="TextBox 13"/>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走者を進め、好機を広げる</a:t>
            </a:r>
          </a:p>
        </p:txBody>
      </p:sp>
      <p:sp>
        <p:nvSpPr>
          <p:cNvPr id="15" name="Right Arrow 14"/>
          <p:cNvSpPr/>
          <p:nvPr/>
        </p:nvSpPr>
        <p:spPr>
          <a:xfrm>
            <a:off x="57575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073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2死満塁、代打・広沢遼太朗が適時打</a:t>
            </a:r>
          </a:p>
        </p:txBody>
      </p:sp>
      <p:sp>
        <p:nvSpPr>
          <p:cNvPr id="19" name="TextBox 18"/>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2点適時打で逆転に成功</a:t>
            </a:r>
          </a:p>
        </p:txBody>
      </p:sp>
      <p:sp>
        <p:nvSpPr>
          <p:cNvPr id="20" name="Right Arrow 19"/>
          <p:cNvSpPr/>
          <p:nvPr/>
        </p:nvSpPr>
        <p:spPr>
          <a:xfrm>
            <a:off x="89579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707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栄井彰が続く適時打</a:t>
            </a:r>
          </a:p>
        </p:txBody>
      </p:sp>
      <p:sp>
        <p:nvSpPr>
          <p:cNvPr id="24" name="TextBox 23"/>
          <p:cNvSpPr txBox="1"/>
          <p:nvPr/>
        </p:nvSpPr>
        <p:spPr>
          <a:xfrm>
            <a:off x="9890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2点適時打で4-1とし試合を決定づけた</a:t>
            </a:r>
          </a:p>
        </p:txBody>
      </p:sp>
      <p:sp>
        <p:nvSpPr>
          <p:cNvPr id="25" name="TextBox 2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8回の攻撃だけで0-1から4-1へ。1イニングでの逆転劇だった</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Yahoo!ニュース(Full-Count配信/スポーツ報知配信、2026-08-16)</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3回戦の最終スコア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4-1で逆転勝利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0-1とリードされた8回、ダブルスチールから代打・広沢遼太朗選手、続く栄井彰選手の適時打で逆転。初出場で甲子園ベスト8進出を決めた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Yahoo!ニュース(Full-Count配信/スポーツ報知配信、2026-08-16)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3回戦の得点経過詳細</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場面</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8回表まで</a:t>
                      </a:r>
                    </a:p>
                  </a:txBody>
                  <a:tcPr>
                    <a:solidFill>
                      <a:srgbClr val="FFFFFF"/>
                    </a:solidFill>
                  </a:tcPr>
                </a:tc>
                <a:tc>
                  <a:txBody>
                    <a:bodyPr/>
                    <a:lstStyle/>
                    <a:p>
                      <a:pPr>
                        <a:defRPr sz="1200">
                          <a:solidFill>
                            <a:srgbClr val="20261F"/>
                          </a:solidFill>
                          <a:latin typeface="Yu Gothic"/>
                        </a:defRPr>
                      </a:pPr>
                      <a:r>
                        <a:t>0-1で東日本国際大昌平がリード</a:t>
                      </a:r>
                    </a:p>
                  </a:txBody>
                  <a:tcPr>
                    <a:solidFill>
                      <a:srgbClr val="FFFFFF"/>
                    </a:solidFill>
                  </a:tcPr>
                </a:tc>
              </a:tr>
              <a:tr h="502920">
                <a:tc>
                  <a:txBody>
                    <a:bodyPr/>
                    <a:lstStyle/>
                    <a:p>
                      <a:pPr>
                        <a:defRPr sz="1200">
                          <a:solidFill>
                            <a:srgbClr val="20261F"/>
                          </a:solidFill>
                          <a:latin typeface="Yu Gothic"/>
                        </a:defRPr>
                      </a:pPr>
                      <a:r>
                        <a:t>8回・1死一・二塁</a:t>
                      </a:r>
                    </a:p>
                  </a:txBody>
                  <a:tcPr>
                    <a:solidFill>
                      <a:srgbClr val="F4F1E6"/>
                    </a:solidFill>
                  </a:tcPr>
                </a:tc>
                <a:tc>
                  <a:txBody>
                    <a:bodyPr/>
                    <a:lstStyle/>
                    <a:p>
                      <a:pPr>
                        <a:defRPr sz="1200">
                          <a:solidFill>
                            <a:srgbClr val="20261F"/>
                          </a:solidFill>
                          <a:latin typeface="Yu Gothic"/>
                        </a:defRPr>
                      </a:pPr>
                      <a:r>
                        <a:t>ダブルスチールを成功させ好機を拡大</a:t>
                      </a:r>
                    </a:p>
                  </a:txBody>
                  <a:tcPr>
                    <a:solidFill>
                      <a:srgbClr val="F4F1E6"/>
                    </a:solidFill>
                  </a:tcPr>
                </a:tc>
              </a:tr>
              <a:tr h="502920">
                <a:tc>
                  <a:txBody>
                    <a:bodyPr/>
                    <a:lstStyle/>
                    <a:p>
                      <a:pPr>
                        <a:defRPr sz="1200">
                          <a:solidFill>
                            <a:srgbClr val="20261F"/>
                          </a:solidFill>
                          <a:latin typeface="Yu Gothic"/>
                        </a:defRPr>
                      </a:pPr>
                      <a:r>
                        <a:t>8回・2死満塁</a:t>
                      </a:r>
                    </a:p>
                  </a:txBody>
                  <a:tcPr>
                    <a:solidFill>
                      <a:srgbClr val="FFFFFF"/>
                    </a:solidFill>
                  </a:tcPr>
                </a:tc>
                <a:tc>
                  <a:txBody>
                    <a:bodyPr/>
                    <a:lstStyle/>
                    <a:p>
                      <a:pPr>
                        <a:defRPr sz="1200">
                          <a:solidFill>
                            <a:srgbClr val="20261F"/>
                          </a:solidFill>
                          <a:latin typeface="Yu Gothic"/>
                        </a:defRPr>
                      </a:pPr>
                      <a:r>
                        <a:t>代打・広沢遼太朗選手の2点適時打で逆転(2-1)</a:t>
                      </a:r>
                    </a:p>
                  </a:txBody>
                  <a:tcPr>
                    <a:solidFill>
                      <a:srgbClr val="FFFFFF"/>
                    </a:solidFill>
                  </a:tcPr>
                </a:tc>
              </a:tr>
              <a:tr h="502920">
                <a:tc>
                  <a:txBody>
                    <a:bodyPr/>
                    <a:lstStyle/>
                    <a:p>
                      <a:pPr>
                        <a:defRPr sz="1200">
                          <a:solidFill>
                            <a:srgbClr val="20261F"/>
                          </a:solidFill>
                          <a:latin typeface="Yu Gothic"/>
                        </a:defRPr>
                      </a:pPr>
                      <a:r>
                        <a:t>続く場面</a:t>
                      </a:r>
                    </a:p>
                  </a:txBody>
                  <a:tcPr>
                    <a:solidFill>
                      <a:srgbClr val="F4F1E6"/>
                    </a:solidFill>
                  </a:tcPr>
                </a:tc>
                <a:tc>
                  <a:txBody>
                    <a:bodyPr/>
                    <a:lstStyle/>
                    <a:p>
                      <a:pPr>
                        <a:defRPr sz="1200">
                          <a:solidFill>
                            <a:srgbClr val="20261F"/>
                          </a:solidFill>
                          <a:latin typeface="Yu Gothic"/>
                        </a:defRPr>
                      </a:pPr>
                      <a:r>
                        <a:t>栄井彰選手の2点適時打で4-1</a:t>
                      </a:r>
                    </a:p>
                  </a:txBody>
                  <a:tcPr>
                    <a:solidFill>
                      <a:srgbClr val="F4F1E6"/>
                    </a:solidFill>
                  </a:tcPr>
                </a:tc>
              </a:tr>
              <a:tr h="502920">
                <a:tc>
                  <a:txBody>
                    <a:bodyPr/>
                    <a:lstStyle/>
                    <a:p>
                      <a:pPr>
                        <a:defRPr sz="1200">
                          <a:solidFill>
                            <a:srgbClr val="20261F"/>
                          </a:solidFill>
                          <a:latin typeface="Yu Gothic"/>
                        </a:defRPr>
                      </a:pPr>
                      <a:r>
                        <a:t>試合終了</a:t>
                      </a:r>
                    </a:p>
                  </a:txBody>
                  <a:tcPr>
                    <a:solidFill>
                      <a:srgbClr val="FFFFFF"/>
                    </a:solidFill>
                  </a:tcPr>
                </a:tc>
                <a:tc>
                  <a:txBody>
                    <a:bodyPr/>
                    <a:lstStyle/>
                    <a:p>
                      <a:pPr>
                        <a:defRPr sz="1200">
                          <a:solidFill>
                            <a:srgbClr val="20261F"/>
                          </a:solidFill>
                          <a:latin typeface="Yu Gothic"/>
                        </a:defRPr>
                      </a:pPr>
                      <a:r>
                        <a:t>4-1で有明が勝利し、初出場でベスト8進出を決定</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Yahoo!ニュース(Full-Count配信/スポーツ報知配信、2026-08-16)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3試合の有明高校の得点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Yahoo!ニュース(Full-Count配信/スポーツ報知配信)・西日本新聞(2026-08-16〜17)</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3試合連続逆転勝ちのポイント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1回戦</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9回2死からの逆転</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立命館宇治に6-3で勝利</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2回戦</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3-2で逆転勝ち</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長崎日大戦。具体的な経過は未確認</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3回戦</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8回の逆転で4-1</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東日本国際大昌平にダブルスチールと適時打で逆転</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熊本地震の規模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M7.1</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2026年7月28日16時27分、熊本県で発生した地震の規模。宇城市・八代郡氷川町で最大震度7を観測した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気象庁公式ポータル「令和8年熊本地震」</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熊本地震の詳細事実</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気象庁公式ポータルで確認できる事実です。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発生日時: 2026年7月28日16時27分</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最大震度7を観測したのは宇城市・八代郡氷川町(気象庁公式ポータルで確認)</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熊本県内では2016年の熊本地震以来10年3か月ぶりの震度7、国内では2024年1月の能登半島地震以来の震度7だった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気象庁公式ポータル「令和8年熊本地震」</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震度7という数字の重み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過去の震度7(参考)</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2016年熊本地震で熊本県内は震度7を観測</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以降、熊本県内では10年3か月にわたり震度7の観測がなかった</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国内では2024年1月の能登半島地震が直近の震度7だった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2026年7月28日の地震</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M7.1、宇城市・八代郡氷川町で最大震度7を観測</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熊本県内では10年3か月ぶり、国内では能登半島地震以来の震度7</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有明高校の甲子園初出場決定(7/24)から4日後の発生だった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『被災地に勇気を届けた』を正確に扱う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本テーマで最も注意している点です。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複数の報道が、有明高校の3試合連続逆転勝ちを『地震の被災地・熊本に勇気を届けた』という文脈で伝えている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これはメディアが付けた文脈であり、有明高校自体や選手・関係者が地震で直接被害を受けたという事実を示すものではない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本成果物では、有明高校そのものが被災したと断定せず、熊本県が地震の被害を受けた地域であるという事実の範囲にとどめる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確認できていないこと(1)</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正直にお伝えします。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2回戦(長崎日大戦)の具体的な逆転の得点経過</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一部報道にある『先発投手の負傷・登板回避』の具体的な詳細</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地震による有明高校自体・選手・関係者への直接的な被害の有無や程度</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未成年選手への配慮方針</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本テーマ固有の配慮です。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出場選手は未成年であるため、個人の私生活を扇情的に扱わず、チーム・地域の物語として構成する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実在選手の氏名は公表済みの範囲(広沢遼太朗選手・栄井彰選手など)でテキストとしてのみ扱い、写真・肖像は使用しない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個々の選手への過度な注目・断定的な将来評価は避ける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有明高校自体が地震で大きな被害を受けた</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選手や関係者が地震で直接被災した</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地震の被害規模の詳細まで確認されている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確認できているのは熊本県内でM7.1・最大震度7を観測したという事実のみ</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有明高校自体・選手・関係者への直接的な被害の有無は本調査の範囲では確認できていない</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被害規模(死者数・経済損失等)は本成果物では扱わない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初出場校が3試合連続で逆転勝ちを収めたことは、大会通算の記録として位置づけられる(断定的な評価は避ける)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熊本地震という事実の重さと、スポーツの記録としての価値を混同せず、それぞれ独立した事実として受け止める視点が役立つ</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次戦(8月18日・健大高崎戦)の結果は本調査の範囲では確認できていない(試合前時点の情報)</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高校野球ファンとして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逆転劇の得点経過を、確認できた範囲の事実で正確に追うと理解が深まる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地震関連の情報を見る立場として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震度・マグニチュード等の事実と、報道の文脈的な表現を区別して受け止める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未確認の詳細を推測で補わず、正確に伝える姿勢が信頼につながる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次の試合(準々決勝)</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8/18 15:30〜</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準々決勝の対戦相手は健大高崎(群馬)。試合結果は本調査の範囲では確認できていない(試合前時点の情報)</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Yahoo!ニュース(Full-Count配信)・西日本新聞(2026-08-16〜17)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事実: 熊本大会優勝(7/24)・M7.1の地震(7/28、最大震度7)・1回戦6-3/2回戦3-2/3回戦4-1の3試合連続逆転勝ち・3回戦の逆転経過(ダブルスチール→広沢遼太朗選手・栄井彰選手の適時打)・次戦は8/18健大高崎戦</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推測: なし(本成果物では推測に基づく評価をほぼ用いず、事実の整理を優先している)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不明: 2回戦の具体的な得点経過、投手負傷の詳細、地震による学校・選手への直接的な被害の有無</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主な出典一覧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Yahoo!ニュース(Full-Count配信)</a:t>
                      </a:r>
                    </a:p>
                  </a:txBody>
                  <a:tcPr>
                    <a:solidFill>
                      <a:srgbClr val="FFFFFF"/>
                    </a:solidFill>
                  </a:tcPr>
                </a:tc>
                <a:tc>
                  <a:txBody>
                    <a:bodyPr/>
                    <a:lstStyle/>
                    <a:p>
                      <a:pPr>
                        <a:defRPr sz="1200">
                          <a:solidFill>
                            <a:srgbClr val="20261F"/>
                          </a:solidFill>
                          <a:latin typeface="Yu Gothic"/>
                        </a:defRPr>
                      </a:pPr>
                      <a:r>
                        <a:t>試合結果・逆転の経過(2026-08-16〜17)</a:t>
                      </a:r>
                    </a:p>
                  </a:txBody>
                  <a:tcPr>
                    <a:solidFill>
                      <a:srgbClr val="FFFFFF"/>
                    </a:solidFill>
                  </a:tcPr>
                </a:tc>
              </a:tr>
              <a:tr h="502920">
                <a:tc>
                  <a:txBody>
                    <a:bodyPr/>
                    <a:lstStyle/>
                    <a:p>
                      <a:pPr>
                        <a:defRPr sz="1200">
                          <a:solidFill>
                            <a:srgbClr val="20261F"/>
                          </a:solidFill>
                          <a:latin typeface="Yu Gothic"/>
                        </a:defRPr>
                      </a:pPr>
                      <a:r>
                        <a:t>Yahoo!ニュース(スポーツ報知配信)</a:t>
                      </a:r>
                    </a:p>
                  </a:txBody>
                  <a:tcPr>
                    <a:solidFill>
                      <a:srgbClr val="F4F1E6"/>
                    </a:solidFill>
                  </a:tcPr>
                </a:tc>
                <a:tc>
                  <a:txBody>
                    <a:bodyPr/>
                    <a:lstStyle/>
                    <a:p>
                      <a:pPr>
                        <a:defRPr sz="1200">
                          <a:solidFill>
                            <a:srgbClr val="20261F"/>
                          </a:solidFill>
                          <a:latin typeface="Yu Gothic"/>
                        </a:defRPr>
                      </a:pPr>
                      <a:r>
                        <a:t>試合結果・選手名の確認(2026-08-16〜17)</a:t>
                      </a:r>
                    </a:p>
                  </a:txBody>
                  <a:tcPr>
                    <a:solidFill>
                      <a:srgbClr val="F4F1E6"/>
                    </a:solidFill>
                  </a:tcPr>
                </a:tc>
              </a:tr>
              <a:tr h="502920">
                <a:tc>
                  <a:txBody>
                    <a:bodyPr/>
                    <a:lstStyle/>
                    <a:p>
                      <a:pPr>
                        <a:defRPr sz="1200">
                          <a:solidFill>
                            <a:srgbClr val="20261F"/>
                          </a:solidFill>
                          <a:latin typeface="Yu Gothic"/>
                        </a:defRPr>
                      </a:pPr>
                      <a:r>
                        <a:t>西日本新聞</a:t>
                      </a:r>
                    </a:p>
                  </a:txBody>
                  <a:tcPr>
                    <a:solidFill>
                      <a:srgbClr val="FFFFFF"/>
                    </a:solidFill>
                  </a:tcPr>
                </a:tc>
                <a:tc>
                  <a:txBody>
                    <a:bodyPr/>
                    <a:lstStyle/>
                    <a:p>
                      <a:pPr>
                        <a:defRPr sz="1200">
                          <a:solidFill>
                            <a:srgbClr val="20261F"/>
                          </a:solidFill>
                          <a:latin typeface="Yu Gothic"/>
                        </a:defRPr>
                      </a:pPr>
                      <a:r>
                        <a:t>地域の文脈・大会の経過(2026-08-16〜17)</a:t>
                      </a:r>
                    </a:p>
                  </a:txBody>
                  <a:tcPr>
                    <a:solidFill>
                      <a:srgbClr val="FFFFFF"/>
                    </a:solidFill>
                  </a:tcPr>
                </a:tc>
              </a:tr>
              <a:tr h="502920">
                <a:tc>
                  <a:txBody>
                    <a:bodyPr/>
                    <a:lstStyle/>
                    <a:p>
                      <a:pPr>
                        <a:defRPr sz="1200">
                          <a:solidFill>
                            <a:srgbClr val="20261F"/>
                          </a:solidFill>
                          <a:latin typeface="Yu Gothic"/>
                        </a:defRPr>
                      </a:pPr>
                      <a:r>
                        <a:t>NHKニュース</a:t>
                      </a:r>
                    </a:p>
                  </a:txBody>
                  <a:tcPr>
                    <a:solidFill>
                      <a:srgbClr val="F4F1E6"/>
                    </a:solidFill>
                  </a:tcPr>
                </a:tc>
                <a:tc>
                  <a:txBody>
                    <a:bodyPr/>
                    <a:lstStyle/>
                    <a:p>
                      <a:pPr>
                        <a:defRPr sz="1200">
                          <a:solidFill>
                            <a:srgbClr val="20261F"/>
                          </a:solidFill>
                          <a:latin typeface="Yu Gothic"/>
                        </a:defRPr>
                      </a:pPr>
                      <a:r>
                        <a:t>試合結果の確認(2026-08-16〜17)</a:t>
                      </a:r>
                    </a:p>
                  </a:txBody>
                  <a:tcPr>
                    <a:solidFill>
                      <a:srgbClr val="F4F1E6"/>
                    </a:solidFill>
                  </a:tcPr>
                </a:tc>
              </a:tr>
              <a:tr h="502920">
                <a:tc>
                  <a:txBody>
                    <a:bodyPr/>
                    <a:lstStyle/>
                    <a:p>
                      <a:pPr>
                        <a:defRPr sz="1200">
                          <a:solidFill>
                            <a:srgbClr val="20261F"/>
                          </a:solidFill>
                          <a:latin typeface="Yu Gothic"/>
                        </a:defRPr>
                      </a:pPr>
                      <a:r>
                        <a:t>気象庁公式ポータル「令和8年熊本地震」</a:t>
                      </a:r>
                    </a:p>
                  </a:txBody>
                  <a:tcPr>
                    <a:solidFill>
                      <a:srgbClr val="FFFFFF"/>
                    </a:solidFill>
                  </a:tcPr>
                </a:tc>
                <a:tc>
                  <a:txBody>
                    <a:bodyPr/>
                    <a:lstStyle/>
                    <a:p>
                      <a:pPr>
                        <a:defRPr sz="1200">
                          <a:solidFill>
                            <a:srgbClr val="20261F"/>
                          </a:solidFill>
                          <a:latin typeface="Yu Gothic"/>
                        </a:defRPr>
                      </a:pPr>
                      <a:r>
                        <a:t>地震の事実関係(マグニチュード・震度)</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Yahoo!ニュース(Full-Count配信/スポーツ報知配信)・西日本新聞・NHKニュース・気象庁公式ポータル(2026-08-16時点)</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初出場で8強へ。有明高校の挑戦は続く</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3試合連続の逆転勝ちと、熊本地震という事実を、それぞれ正確に出典付きで整理してお届けしました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