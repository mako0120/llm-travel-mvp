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セリフ・効果音・BGM付きで生成できる動画の長さを数字で示す。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主な機能を整理する。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1つのモデルが扱う機能範囲を表で整理する。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統合アーキテクチャの考え方を図で示す。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製品ごとの提供状況を表で整理する。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設計思想の違いを対比で見せる。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ロボティクスへの展開について紹介する。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20秒の動画を、セリフ・音・BGMごとAIが作る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Black Forest Labs、多モーダル生成モデル「FLUX 3」を発表(2026年7月23日)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GlobeNewswire, wan27.org, DigitalToday(2026-07-23)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承: FLUX 3の機能を詳しく見る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マルチモーダル</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画像・動画・音声など複数の種類のデータを扱えること</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基盤モデル</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様々な用途に応用できる、土台となるAIモデル</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発表元</a:t>
                      </a:r>
                    </a:p>
                  </a:txBody>
                  <a:tcPr>
                    <a:solidFill>
                      <a:srgbClr val="FFFFFF"/>
                    </a:solidFill>
                  </a:tcPr>
                </a:tc>
                <a:tc>
                  <a:txBody>
                    <a:bodyPr/>
                    <a:lstStyle/>
                    <a:p>
                      <a:pPr>
                        <a:defRPr sz="1200">
                          <a:solidFill>
                            <a:srgbClr val="1A1A2E"/>
                          </a:solidFill>
                          <a:latin typeface="Yu Gothic"/>
                        </a:defRPr>
                      </a:pPr>
                      <a:r>
                        <a:t>Black Forest Labs</a:t>
                      </a:r>
                    </a:p>
                  </a:txBody>
                  <a:tcPr>
                    <a:solidFill>
                      <a:srgbClr val="FFFFFF"/>
                    </a:solidFill>
                  </a:tcPr>
                </a:tc>
              </a:tr>
              <a:tr h="502920">
                <a:tc>
                  <a:txBody>
                    <a:bodyPr/>
                    <a:lstStyle/>
                    <a:p>
                      <a:pPr>
                        <a:defRPr sz="1200">
                          <a:solidFill>
                            <a:srgbClr val="1A1A2E"/>
                          </a:solidFill>
                          <a:latin typeface="Yu Gothic"/>
                        </a:defRPr>
                      </a:pPr>
                      <a:r>
                        <a:t>発表日</a:t>
                      </a:r>
                    </a:p>
                  </a:txBody>
                  <a:tcPr>
                    <a:solidFill>
                      <a:srgbClr val="F3F6FC"/>
                    </a:solidFill>
                  </a:tcPr>
                </a:tc>
                <a:tc>
                  <a:txBody>
                    <a:bodyPr/>
                    <a:lstStyle/>
                    <a:p>
                      <a:pPr>
                        <a:defRPr sz="1200">
                          <a:solidFill>
                            <a:srgbClr val="1A1A2E"/>
                          </a:solidFill>
                          <a:latin typeface="Yu Gothic"/>
                        </a:defRPr>
                      </a:pPr>
                      <a:r>
                        <a:t>2026年7月23日</a:t>
                      </a:r>
                    </a:p>
                  </a:txBody>
                  <a:tcPr>
                    <a:solidFill>
                      <a:srgbClr val="F3F6FC"/>
                    </a:solidFill>
                  </a:tcPr>
                </a:tc>
              </a:tr>
              <a:tr h="502920">
                <a:tc>
                  <a:txBody>
                    <a:bodyPr/>
                    <a:lstStyle/>
                    <a:p>
                      <a:pPr>
                        <a:defRPr sz="1200">
                          <a:solidFill>
                            <a:srgbClr val="1A1A2E"/>
                          </a:solidFill>
                          <a:latin typeface="Yu Gothic"/>
                        </a:defRPr>
                      </a:pPr>
                      <a:r>
                        <a:t>新モデル</a:t>
                      </a:r>
                    </a:p>
                  </a:txBody>
                  <a:tcPr>
                    <a:solidFill>
                      <a:srgbClr val="FFFFFF"/>
                    </a:solidFill>
                  </a:tcPr>
                </a:tc>
                <a:tc>
                  <a:txBody>
                    <a:bodyPr/>
                    <a:lstStyle/>
                    <a:p>
                      <a:pPr>
                        <a:defRPr sz="1200">
                          <a:solidFill>
                            <a:srgbClr val="1A1A2E"/>
                          </a:solidFill>
                          <a:latin typeface="Yu Gothic"/>
                        </a:defRPr>
                      </a:pPr>
                      <a:r>
                        <a:t>多モーダル基盤モデル「FLUX 3」</a:t>
                      </a:r>
                    </a:p>
                  </a:txBody>
                  <a:tcPr>
                    <a:solidFill>
                      <a:srgbClr val="FFFFFF"/>
                    </a:solidFill>
                  </a:tcPr>
                </a:tc>
              </a:tr>
              <a:tr h="502920">
                <a:tc>
                  <a:txBody>
                    <a:bodyPr/>
                    <a:lstStyle/>
                    <a:p>
                      <a:pPr>
                        <a:defRPr sz="1200">
                          <a:solidFill>
                            <a:srgbClr val="1A1A2E"/>
                          </a:solidFill>
                          <a:latin typeface="Yu Gothic"/>
                        </a:defRPr>
                      </a:pPr>
                      <a:r>
                        <a:t>特徴</a:t>
                      </a:r>
                    </a:p>
                  </a:txBody>
                  <a:tcPr>
                    <a:solidFill>
                      <a:srgbClr val="F3F6FC"/>
                    </a:solidFill>
                  </a:tcPr>
                </a:tc>
                <a:tc>
                  <a:txBody>
                    <a:bodyPr/>
                    <a:lstStyle/>
                    <a:p>
                      <a:pPr>
                        <a:defRPr sz="1200">
                          <a:solidFill>
                            <a:srgbClr val="1A1A2E"/>
                          </a:solidFill>
                          <a:latin typeface="Yu Gothic"/>
                        </a:defRPr>
                      </a:pPr>
                      <a:r>
                        <a:t>画像・動画・音声を1つのモデルで生成</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GlobeNewswire公式プレスリリース(2026-07-23)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生成できる動画の長さ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動画生成の最大の長さ(セリフ・効果音・BGM付き)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wan27.org(2026-07-23)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FLUX 3の主な機能</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動画生成</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セリフ・効果音・BGM付きの動画を生成</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画像編集</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画像の生成・編集を同じモデルで実行</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文字の描画</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画像内に読める文字を描画できる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wan27.org(2026-07-23)</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統合モデルが扱う機能一覧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画像</a:t>
                      </a:r>
                    </a:p>
                  </a:txBody>
                  <a:tcPr>
                    <a:solidFill>
                      <a:srgbClr val="FFFFFF"/>
                    </a:solidFill>
                  </a:tcPr>
                </a:tc>
                <a:tc>
                  <a:txBody>
                    <a:bodyPr/>
                    <a:lstStyle/>
                    <a:p>
                      <a:pPr>
                        <a:defRPr sz="1200">
                          <a:solidFill>
                            <a:srgbClr val="1A1A2E"/>
                          </a:solidFill>
                          <a:latin typeface="Yu Gothic"/>
                        </a:defRPr>
                      </a:pPr>
                      <a:r>
                        <a:t>生成・編集</a:t>
                      </a:r>
                    </a:p>
                  </a:txBody>
                  <a:tcPr>
                    <a:solidFill>
                      <a:srgbClr val="FFFFFF"/>
                    </a:solidFill>
                  </a:tcPr>
                </a:tc>
              </a:tr>
              <a:tr h="502920">
                <a:tc>
                  <a:txBody>
                    <a:bodyPr/>
                    <a:lstStyle/>
                    <a:p>
                      <a:pPr>
                        <a:defRPr sz="1200">
                          <a:solidFill>
                            <a:srgbClr val="1A1A2E"/>
                          </a:solidFill>
                          <a:latin typeface="Yu Gothic"/>
                        </a:defRPr>
                      </a:pPr>
                      <a:r>
                        <a:t>動画</a:t>
                      </a:r>
                    </a:p>
                  </a:txBody>
                  <a:tcPr>
                    <a:solidFill>
                      <a:srgbClr val="F3F6FC"/>
                    </a:solidFill>
                  </a:tcPr>
                </a:tc>
                <a:tc>
                  <a:txBody>
                    <a:bodyPr/>
                    <a:lstStyle/>
                    <a:p>
                      <a:pPr>
                        <a:defRPr sz="1200">
                          <a:solidFill>
                            <a:srgbClr val="1A1A2E"/>
                          </a:solidFill>
                          <a:latin typeface="Yu Gothic"/>
                        </a:defRPr>
                      </a:pPr>
                      <a:r>
                        <a:t>セリフ・効果音・BGM付きで生成(最大20秒)</a:t>
                      </a:r>
                    </a:p>
                  </a:txBody>
                  <a:tcPr>
                    <a:solidFill>
                      <a:srgbClr val="F3F6FC"/>
                    </a:solidFill>
                  </a:tcPr>
                </a:tc>
              </a:tr>
              <a:tr h="502920">
                <a:tc>
                  <a:txBody>
                    <a:bodyPr/>
                    <a:lstStyle/>
                    <a:p>
                      <a:pPr>
                        <a:defRPr sz="1200">
                          <a:solidFill>
                            <a:srgbClr val="1A1A2E"/>
                          </a:solidFill>
                          <a:latin typeface="Yu Gothic"/>
                        </a:defRPr>
                      </a:pPr>
                      <a:r>
                        <a:t>音声</a:t>
                      </a:r>
                    </a:p>
                  </a:txBody>
                  <a:tcPr>
                    <a:solidFill>
                      <a:srgbClr val="FFFFFF"/>
                    </a:solidFill>
                  </a:tcPr>
                </a:tc>
                <a:tc>
                  <a:txBody>
                    <a:bodyPr/>
                    <a:lstStyle/>
                    <a:p>
                      <a:pPr>
                        <a:defRPr sz="1200">
                          <a:solidFill>
                            <a:srgbClr val="1A1A2E"/>
                          </a:solidFill>
                          <a:latin typeface="Yu Gothic"/>
                        </a:defRPr>
                      </a:pPr>
                      <a:r>
                        <a:t>動画に同期した音声を生成</a:t>
                      </a:r>
                    </a:p>
                  </a:txBody>
                  <a:tcPr>
                    <a:solidFill>
                      <a:srgbClr val="FFFFFF"/>
                    </a:solidFill>
                  </a:tcPr>
                </a:tc>
              </a:tr>
              <a:tr h="502920">
                <a:tc>
                  <a:txBody>
                    <a:bodyPr/>
                    <a:lstStyle/>
                    <a:p>
                      <a:pPr>
                        <a:defRPr sz="1200">
                          <a:solidFill>
                            <a:srgbClr val="1A1A2E"/>
                          </a:solidFill>
                          <a:latin typeface="Yu Gothic"/>
                        </a:defRPr>
                      </a:pPr>
                      <a:r>
                        <a:t>ロボット動作</a:t>
                      </a:r>
                    </a:p>
                  </a:txBody>
                  <a:tcPr>
                    <a:solidFill>
                      <a:srgbClr val="F3F6FC"/>
                    </a:solidFill>
                  </a:tcPr>
                </a:tc>
                <a:tc>
                  <a:txBody>
                    <a:bodyPr/>
                    <a:lstStyle/>
                    <a:p>
                      <a:pPr>
                        <a:defRPr sz="1200">
                          <a:solidFill>
                            <a:srgbClr val="1A1A2E"/>
                          </a:solidFill>
                          <a:latin typeface="Yu Gothic"/>
                        </a:defRPr>
                      </a:pPr>
                      <a:r>
                        <a:t>ロボットの動作を予測</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wan27.org(2026-07-23)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「Self-Flow」という統合の仕組み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画像・動画・音声</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同じアーキテクチャで学習</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統合フローマッチング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Self-Flowという手法を採用</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1つの重みから出力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複数の用途に対応</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wan27.org(2026-07-23)</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提供状況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製品</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FLUX 3 Video</a:t>
                      </a:r>
                    </a:p>
                  </a:txBody>
                  <a:tcPr>
                    <a:solidFill>
                      <a:srgbClr val="FFFFFF"/>
                    </a:solidFill>
                  </a:tcPr>
                </a:tc>
                <a:tc>
                  <a:txBody>
                    <a:bodyPr/>
                    <a:lstStyle/>
                    <a:p>
                      <a:pPr>
                        <a:defRPr sz="1200">
                          <a:solidFill>
                            <a:srgbClr val="1A1A2E"/>
                          </a:solidFill>
                          <a:latin typeface="Yu Gothic"/>
                        </a:defRPr>
                      </a:pPr>
                      <a:r>
                        <a:t>アーリーアクセス提供中(bfl.ai/models/flux-3)</a:t>
                      </a:r>
                    </a:p>
                  </a:txBody>
                  <a:tcPr>
                    <a:solidFill>
                      <a:srgbClr val="FFFFFF"/>
                    </a:solidFill>
                  </a:tcPr>
                </a:tc>
              </a:tr>
              <a:tr h="502920">
                <a:tc>
                  <a:txBody>
                    <a:bodyPr/>
                    <a:lstStyle/>
                    <a:p>
                      <a:pPr>
                        <a:defRPr sz="1200">
                          <a:solidFill>
                            <a:srgbClr val="1A1A2E"/>
                          </a:solidFill>
                          <a:latin typeface="Yu Gothic"/>
                        </a:defRPr>
                      </a:pPr>
                      <a:r>
                        <a:t>FLUX 3 Image</a:t>
                      </a:r>
                    </a:p>
                  </a:txBody>
                  <a:tcPr>
                    <a:solidFill>
                      <a:srgbClr val="F3F6FC"/>
                    </a:solidFill>
                  </a:tcPr>
                </a:tc>
                <a:tc>
                  <a:txBody>
                    <a:bodyPr/>
                    <a:lstStyle/>
                    <a:p>
                      <a:pPr>
                        <a:defRPr sz="1200">
                          <a:solidFill>
                            <a:srgbClr val="1A1A2E"/>
                          </a:solidFill>
                          <a:latin typeface="Yu Gothic"/>
                        </a:defRPr>
                      </a:pPr>
                      <a:r>
                        <a:t>今後数週間で提供予定</a:t>
                      </a:r>
                    </a:p>
                  </a:txBody>
                  <a:tcPr>
                    <a:solidFill>
                      <a:srgbClr val="F3F6FC"/>
                    </a:solidFill>
                  </a:tcPr>
                </a:tc>
              </a:tr>
              <a:tr h="502920">
                <a:tc>
                  <a:txBody>
                    <a:bodyPr/>
                    <a:lstStyle/>
                    <a:p>
                      <a:pPr>
                        <a:defRPr sz="1200">
                          <a:solidFill>
                            <a:srgbClr val="1A1A2E"/>
                          </a:solidFill>
                          <a:latin typeface="Yu Gothic"/>
                        </a:defRPr>
                      </a:pPr>
                      <a:r>
                        <a:t>FLUX 3 Action</a:t>
                      </a:r>
                    </a:p>
                  </a:txBody>
                  <a:tcPr>
                    <a:solidFill>
                      <a:srgbClr val="FFFFFF"/>
                    </a:solidFill>
                  </a:tcPr>
                </a:tc>
                <a:tc>
                  <a:txBody>
                    <a:bodyPr/>
                    <a:lstStyle/>
                    <a:p>
                      <a:pPr>
                        <a:defRPr sz="1200">
                          <a:solidFill>
                            <a:srgbClr val="1A1A2E"/>
                          </a:solidFill>
                          <a:latin typeface="Yu Gothic"/>
                        </a:defRPr>
                      </a:pPr>
                      <a:r>
                        <a:t>今後数週間で提供予定</a:t>
                      </a:r>
                    </a:p>
                  </a:txBody>
                  <a:tcPr>
                    <a:solidFill>
                      <a:srgbClr val="FFFFFF"/>
                    </a:solidFill>
                  </a:tcPr>
                </a:tc>
              </a:tr>
              <a:tr h="502920">
                <a:tc>
                  <a:txBody>
                    <a:bodyPr/>
                    <a:lstStyle/>
                    <a:p>
                      <a:pPr>
                        <a:defRPr sz="1200">
                          <a:solidFill>
                            <a:srgbClr val="1A1A2E"/>
                          </a:solidFill>
                          <a:latin typeface="Yu Gothic"/>
                        </a:defRPr>
                      </a:pPr>
                      <a:r>
                        <a:t>高速版・オープンウェイト版</a:t>
                      </a:r>
                    </a:p>
                  </a:txBody>
                  <a:tcPr>
                    <a:solidFill>
                      <a:srgbClr val="F3F6FC"/>
                    </a:solidFill>
                  </a:tcPr>
                </a:tc>
                <a:tc>
                  <a:txBody>
                    <a:bodyPr/>
                    <a:lstStyle/>
                    <a:p>
                      <a:pPr>
                        <a:defRPr sz="1200">
                          <a:solidFill>
                            <a:srgbClr val="1A1A2E"/>
                          </a:solidFill>
                          <a:latin typeface="Yu Gothic"/>
                        </a:defRPr>
                      </a:pPr>
                      <a:r>
                        <a:t>今年後半に提供予定</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wan27.org(2026-07-23)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従来の生成AIとFLUX 3の違い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従来の生成AI</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画像・動画・音声はそれぞれ別のモデル</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組み合わせて使う必要がある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FLUX 3</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1つのモデルで画像・動画・音声を扱う</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ロボット動作予測にも応用できる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ロボティクスへの展開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動画生成にとどまらない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ロボティクス分野への展開も視野に入れているとされる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視覚と物理世界を理解する統合的なシステムへの流れの一環と考えられる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DigitalToday(2026-07-23)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参考: モデルの統合という流れ(推測)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個別モデルの限界</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画像・動画・音声を別々に扱うと一貫性が保ちにくい(推測)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統合の狙い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1つのモデルにまとめることで一貫した生成結果を得やすくする狙いと考えられる(推測)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出典の確認結果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全情報源で2026年7月23日と一致</a:t>
                      </a:r>
                    </a:p>
                  </a:txBody>
                  <a:tcPr>
                    <a:solidFill>
                      <a:srgbClr val="FFFFFF"/>
                    </a:solidFill>
                  </a:tcPr>
                </a:tc>
              </a:tr>
              <a:tr h="502920">
                <a:tc>
                  <a:txBody>
                    <a:bodyPr/>
                    <a:lstStyle/>
                    <a:p>
                      <a:pPr>
                        <a:defRPr sz="1200">
                          <a:solidFill>
                            <a:srgbClr val="1A1A2E"/>
                          </a:solidFill>
                          <a:latin typeface="Yu Gothic"/>
                        </a:defRPr>
                      </a:pPr>
                      <a:r>
                        <a:t>主な機能</a:t>
                      </a:r>
                    </a:p>
                  </a:txBody>
                  <a:tcPr>
                    <a:solidFill>
                      <a:srgbClr val="F3F6FC"/>
                    </a:solidFill>
                  </a:tcPr>
                </a:tc>
                <a:tc>
                  <a:txBody>
                    <a:bodyPr/>
                    <a:lstStyle/>
                    <a:p>
                      <a:pPr>
                        <a:defRPr sz="1200">
                          <a:solidFill>
                            <a:srgbClr val="1A1A2E"/>
                          </a:solidFill>
                          <a:latin typeface="Yu Gothic"/>
                        </a:defRPr>
                      </a:pPr>
                      <a:r>
                        <a:t>複数情報源で一致</a:t>
                      </a:r>
                    </a:p>
                  </a:txBody>
                  <a:tcPr>
                    <a:solidFill>
                      <a:srgbClr val="F3F6FC"/>
                    </a:solidFill>
                  </a:tcPr>
                </a:tc>
              </a:tr>
              <a:tr h="502920">
                <a:tc>
                  <a:txBody>
                    <a:bodyPr/>
                    <a:lstStyle/>
                    <a:p>
                      <a:pPr>
                        <a:defRPr sz="1200">
                          <a:solidFill>
                            <a:srgbClr val="1A1A2E"/>
                          </a:solidFill>
                          <a:latin typeface="Yu Gothic"/>
                        </a:defRPr>
                      </a:pPr>
                      <a:r>
                        <a:t>提供状況</a:t>
                      </a:r>
                    </a:p>
                  </a:txBody>
                  <a:tcPr>
                    <a:solidFill>
                      <a:srgbClr val="FFFFFF"/>
                    </a:solidFill>
                  </a:tcPr>
                </a:tc>
                <a:tc>
                  <a:txBody>
                    <a:bodyPr/>
                    <a:lstStyle/>
                    <a:p>
                      <a:pPr>
                        <a:defRPr sz="1200">
                          <a:solidFill>
                            <a:srgbClr val="1A1A2E"/>
                          </a:solidFill>
                          <a:latin typeface="Yu Gothic"/>
                        </a:defRPr>
                      </a:pPr>
                      <a:r>
                        <a:t>wan27.orgで確認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こんな人におすすめ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動画クリエイター</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短い動画コンテンツを効率的に作りたい人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AI技術に関心がある人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マルチモーダルAIの最新動向を知りたい人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よくある疑問(Q&amp;A)</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料金は?</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具体的な料金体系は公開情報からは確認できていない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日本語対応は?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本調査時点では確認できていない(不明)</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FLUX 3の具体的な料金体系・日本語対応の有無は確認できなかった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ロボット動作予測機能の具体的な精度・実用段階は今回の発表では確認できていない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なぜ今このタイミングでこのモデルを発表したのか(推測)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生成AI競争の激化</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動画・音声生成AIの競合が増える中での差別化の狙い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業界の潮流</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言語モデル中心から視覚・物理世界理解へのシフトの一環</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段階的な提供</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Videoから先行提供し、反応を見ながら拡大する狙いと考えられる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見送った候補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AMD「Helios」ラックスケールAIインフラ</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技術者向けの話題で一般視聴者への訴求力が低いため見送り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Druva「AI Resilience」</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Claude Code等への言及を含むため自己言及回避方針により見送り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これが意味すること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生成AIの統合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画像・動画・音声が1つのモデルにまとまる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制作の効率化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複数ツールを使い分ける手間が減る可能性</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物理世界への応用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ロボティクス分野への広がり</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これは何を意味するのか(利用者にとって)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動画制作で複数のツールを使い分けていた手間が減る可能性がある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生成AIが視覚だけでなく物理世界の理解にも広がりつつある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何に使うか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動画生成か画像編集かを決める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提供状況の確認</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アーリーアクセスか順番待ちかを確認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料金・利用条件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公式サイトで最新の料金・条件を確認</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①公式サイトを確認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bfl.aiで提供状況・料金を確認</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②用途を決める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動画生成か画像編集かを明確にする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③小さく試す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短い動画や画像から試してみる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個人にとっての影響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動画・画像制作のハードルがさらに下がっている可能性がある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AIが生成した内容は、公開前に自分でも確認することが大切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不明点・注意点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料金体系・日本語対応の有無は公開情報からは確認できなかった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ロボット動作予測機能の実用段階は今回の発表では確認できていない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企業のモデル発表という事実を淡々と紹介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著作権への配慮</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生成AIの著作権・権利関係は利用者自身の確認が必要な点に触れる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検品結果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verify_pptx.py</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同一レイアウト連続チェック</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r h="502920">
                <a:tc>
                  <a:txBody>
                    <a:bodyPr/>
                    <a:lstStyle/>
                    <a:p>
                      <a:pPr>
                        <a:defRPr sz="1200">
                          <a:solidFill>
                            <a:srgbClr val="1A1A2E"/>
                          </a:solidFill>
                          <a:latin typeface="Yu Gothic"/>
                        </a:defRPr>
                      </a:pPr>
                      <a:r>
                        <a:t>bullets比率チェック</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対話原稿スライド数整合性</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GlobeNewswire(公式プレスリリース) / wan27.org</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Manila Times / Yahoo Finance / DigitalToday</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生成AIは「作る」から「統合する」時代へ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画像・動画・音声を1つのモデルで扱う流れが始まっている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興味があれば、公式サイトで提供状況を確認してみる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次回予告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マルチモーダル生成AI・ロボティクスの融合は続くテーマ</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