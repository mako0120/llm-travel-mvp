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カナダのSt. Clair Collegeに、北米の大学として初めてUnitree R1ヒューマノイドロボットが届きました。2026年8月9日の発表です。今日はこの受領を出典付きで整理します。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まず結論です。St. Clair Collegeが、北米の大学として初めてUnitree R1を受領しました。研究・イノベーション部門に配備され、AI/LLM研究プラットフォームとして使われる予定です。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なぜ今このニュースを扱うのか。1日前という高い鮮度に加え、複数の独立した情報源が同じ内容を報じている点も採用理由です。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この発表を報じた情報源です。大学公式に加え、教育業界メディアと地元放送局という独立した情報源が同じ内容を確認しています。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『北米初』が何を指すのか、詳しく見ます。これはR1という製品の発表ではなく、北米の大学がこの製品を受領した個別の事象が初めてだった、という話です。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時系列を確認します。R1自体は4月から出荷されている既存製品で、今回新しいのは『北米の大学が初めて受領した』という部分です。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ここで用語を整理します。ヒューマノイドロボットは人型で人間に近い動作ができるロボットです。応用研究プラットフォームは、実際の業務に近い場面でAI技術を検証する枠組みを指します。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今回の受領の概要です。研究・イノベーション部門に配備され、産業界パートナーと協力しながらAI/LLM研究のプラットフォームとして使う予定です。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ロボットができることです。公式発表・報道によれば、歩く、走る、話す、踊るという4つの動作が確認できます。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ここからはR1という製品自体の仕様です。身長約1.21メートル、重量約25キログラム、関節数26個、双眼カメラと4マイクを搭載しています。これは製品解説記事の情報で、St. Clair College自体の発表内容ではありません。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価格帯を確認します。構成によって4,900ドルから10,500ドルという価格帯が製品解説記事で確認できます。ただしこれは一般販売価格であり、St. Clair Collegeが実際に支払った金額は公表されておらず、不明です。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製品としてのR1と、今回のニュースの中身を比べます。製品自体は新しくありませんが、大学が受領して研究に使うという事例は今回が初めてです。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ここで改めて整理します。これはロボットの新製品発表ではなく、既存製品を大学が導入した事例です。製品スペックと大学の発表内容を混同しないよう、この動画でも分けて扱っています。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関係を図にします。メーカーであるUnitreeがR1を開発し、St. Clair Collegeが受領し、実際には研究・イノベーション部門に配備されました。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研究プラットフォームとしての狙いは3つです。産業効率、生産性、そして業務上の意思決定を、それぞれどう改善できるか検証する予定です。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ここで確認できなかったことを一覧にします。実際の調達価格、パートナー企業名、成果の公開時期、いずれも本調査の範囲では確定できませんでした。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ここからは実践的な視点です。教育機関にとっては、先行事例としての注目度や、比較的検討しやすい価格帯が意味を持ちます。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学生・研究者にとっては、実機での研究機会や産業界との接点が生まれる可能性があります。ただし具体的な参加方法などはまだ公表されていません。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今後想定される流れです。配備はすでに完了しており、この先の研究プロジェクト開始・産業界との検証・成果公開はいずれも時期が明らかになっていません。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実践的な視点として、目的の見極め、産業界連携の重要性、そして続報の確認をおすすめします。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ここで一度、本テーマの扱い方についてお伝えします。見出しは注目を集める表現ですが、本文は事実に基づき、政治的な論争には踏み込まず、特定企業の推奨もしていません。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ここまでの内容を、確定事実・製品一般の情報・不明点に分けて早見表にしました。3つを混同しないことが重要です。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覚えておきたい数字をもう一つ挙げます。R1は26個の関節を持ち、これが人間に近い多様な動作を可能にしている要素の一つです。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この受領で何が変わり、何が変わらないかを整理します。教育現場への導入は進みますが、製品自体は変わらず、実際の研究成果はこれからです。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見出しの表現について正直に補足します。『安い』という表現は製品一般の価格帯という事実に基づいており、St. Clair Collegeが実際にいくらで買ったかは不明のままです。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本編は以上です。今回はSt. Clair Collegeが北米の大学として初めてUnitree R1を受領したという発表をお伝えしました。非公開の情報は不明として扱い、推測部分は推測と明記しています。次回もまた出典付きでお届けします。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北米の大学に、初めて</a:t>
            </a:r>
          </a:p>
          <a:p>
            <a:pPr algn="l">
              <a:lnSpc>
                <a:spcPct val="115000"/>
              </a:lnSpc>
            </a:pPr>
            <a:r>
              <a:rPr sz="4200" b="1">
                <a:solidFill>
                  <a:srgbClr val="FFFFFF"/>
                </a:solidFill>
                <a:latin typeface="Yu Gothic"/>
              </a:rPr>
              <a:t>『4,900ドルからのロボット』が</a:t>
            </a:r>
          </a:p>
          <a:p>
            <a:pPr algn="l">
              <a:lnSpc>
                <a:spcPct val="115000"/>
              </a:lnSpc>
            </a:pPr>
            <a:r>
              <a:rPr sz="4200" b="1">
                <a:solidFill>
                  <a:srgbClr val="FFFFFF"/>
                </a:solidFill>
                <a:latin typeface="Yu Gothic"/>
              </a:rPr>
              <a:t>届いた。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カナダ・St. Clair Collegeが、北米の大学として初めてUnitree R1ヒューマノイドロボットを受領(2026年8月9日発表)。研究・イノベーション部門でAI/LLM研究プラットフォームとして活用へ</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St. Clair College公式ニュース(2026-08-09)、Academica Group、CTV News Windsor。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北米初、大学へのR1受領</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St. Clair College(カナダ・オンタリオ州)が、研究・イノベーション部門にUnitree R1を受領。AI/LLM研究プラットフォームとして活用予定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St. Clair College公式(2026-08-09)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何が起きたのか(『北米初』の意味)</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ロボットは何に使われるのか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Unitree R1という製品自体の特徴(St. Clair発表とは別物)</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『製品発表』ではなく『導入事例』である理由</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確認できなかったこと、読み解く上での注意点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2026年8月9日の発表(着手日から1日前)。鮮度基準(2日以内)を満たす</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St. Clair College公式ニュースに加え、Academica Group・CTV News Windsorという独立した情報源が同一内容を報じている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『安価なヒューマノイドロボットが北米の大学に初めて届いた』という意外性が高い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AI/LLM研究への応用という、教育・テック両面の文脈がある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research/2026-08-10_theme-evaluation-round95.md</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この発表を報じた主な情報源</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3A5C"/>
                    </a:solidFill>
                  </a:tcPr>
                </a:tc>
                <a:tc>
                  <a:txBody>
                    <a:bodyPr/>
                    <a:lstStyle/>
                    <a:p>
                      <a:pPr>
                        <a:defRPr sz="1300" b="1">
                          <a:solidFill>
                            <a:srgbClr val="FFFFFF"/>
                          </a:solidFill>
                          <a:latin typeface="Yu Gothic"/>
                        </a:defRPr>
                      </a:pPr>
                      <a:r>
                        <a:t>確認できる内容</a:t>
                      </a:r>
                    </a:p>
                  </a:txBody>
                  <a:tcPr>
                    <a:solidFill>
                      <a:srgbClr val="1B3A5C"/>
                    </a:solidFill>
                  </a:tcPr>
                </a:tc>
              </a:tr>
              <a:tr h="502920">
                <a:tc>
                  <a:txBody>
                    <a:bodyPr/>
                    <a:lstStyle/>
                    <a:p>
                      <a:pPr>
                        <a:defRPr sz="1200">
                          <a:solidFill>
                            <a:srgbClr val="16202E"/>
                          </a:solidFill>
                          <a:latin typeface="Yu Gothic"/>
                        </a:defRPr>
                      </a:pPr>
                      <a:r>
                        <a:t>St. Clair College公式(2026-08-09)</a:t>
                      </a:r>
                    </a:p>
                  </a:txBody>
                  <a:tcPr>
                    <a:solidFill>
                      <a:srgbClr val="FFFFFF"/>
                    </a:solidFill>
                  </a:tcPr>
                </a:tc>
                <a:tc>
                  <a:txBody>
                    <a:bodyPr/>
                    <a:lstStyle/>
                    <a:p>
                      <a:pPr>
                        <a:defRPr sz="1200">
                          <a:solidFill>
                            <a:srgbClr val="16202E"/>
                          </a:solidFill>
                          <a:latin typeface="Yu Gothic"/>
                        </a:defRPr>
                      </a:pPr>
                      <a:r>
                        <a:t>「R1 Humanoid robot arrives at St. Clair College」、受領・配備先・活用予定を発表</a:t>
                      </a:r>
                    </a:p>
                  </a:txBody>
                  <a:tcPr>
                    <a:solidFill>
                      <a:srgbClr val="FFFFFF"/>
                    </a:solidFill>
                  </a:tcPr>
                </a:tc>
              </a:tr>
              <a:tr h="502920">
                <a:tc>
                  <a:txBody>
                    <a:bodyPr/>
                    <a:lstStyle/>
                    <a:p>
                      <a:pPr>
                        <a:defRPr sz="1200">
                          <a:solidFill>
                            <a:srgbClr val="16202E"/>
                          </a:solidFill>
                          <a:latin typeface="Yu Gothic"/>
                        </a:defRPr>
                      </a:pPr>
                      <a:r>
                        <a:t>Academica Group</a:t>
                      </a:r>
                    </a:p>
                  </a:txBody>
                  <a:tcPr>
                    <a:solidFill>
                      <a:srgbClr val="F2F6FA"/>
                    </a:solidFill>
                  </a:tcPr>
                </a:tc>
                <a:tc>
                  <a:txBody>
                    <a:bodyPr/>
                    <a:lstStyle/>
                    <a:p>
                      <a:pPr>
                        <a:defRPr sz="1200">
                          <a:solidFill>
                            <a:srgbClr val="16202E"/>
                          </a:solidFill>
                          <a:latin typeface="Yu Gothic"/>
                        </a:defRPr>
                      </a:pPr>
                      <a:r>
                        <a:t>「St Clair receives Unitree R1 humanoid robot」、同内容を教育業界メディアとして報道</a:t>
                      </a:r>
                    </a:p>
                  </a:txBody>
                  <a:tcPr>
                    <a:solidFill>
                      <a:srgbClr val="F2F6FA"/>
                    </a:solidFill>
                  </a:tcPr>
                </a:tc>
              </a:tr>
              <a:tr h="502920">
                <a:tc>
                  <a:txBody>
                    <a:bodyPr/>
                    <a:lstStyle/>
                    <a:p>
                      <a:pPr>
                        <a:defRPr sz="1200">
                          <a:solidFill>
                            <a:srgbClr val="16202E"/>
                          </a:solidFill>
                          <a:latin typeface="Yu Gothic"/>
                        </a:defRPr>
                      </a:pPr>
                      <a:r>
                        <a:t>CTV News Windsor</a:t>
                      </a:r>
                    </a:p>
                  </a:txBody>
                  <a:tcPr>
                    <a:solidFill>
                      <a:srgbClr val="FFFFFF"/>
                    </a:solidFill>
                  </a:tcPr>
                </a:tc>
                <a:tc>
                  <a:txBody>
                    <a:bodyPr/>
                    <a:lstStyle/>
                    <a:p>
                      <a:pPr>
                        <a:defRPr sz="1200">
                          <a:solidFill>
                            <a:srgbClr val="16202E"/>
                          </a:solidFill>
                          <a:latin typeface="Yu Gothic"/>
                        </a:defRPr>
                      </a:pPr>
                      <a:r>
                        <a:t>「St. Clair College welcomes humanoid robot」、地元放送局として報道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『北米初』とは何を指すのか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北米で初めて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北米の大学として初めて、Unitree R1ヒューマノイドロボットを受領したという個別の事象を指す(製品自体の発表ではない)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St. Clair College公式(2026-08-09)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R1出荷開始から、今回の発表までの時系列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2026年4月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Unitree R1が出荷開始(既存製品、St. Clair Collegeとは無関係の一般販売開始)</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2026年8月9日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St. Clair Collegeが北米初の大学受領を発表</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2026年8月10日(本日)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本動画でこの発表を出典付きで整理</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製品自体の出荷開始と、教育機関への導入という別の出来事の時系列</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CNX Software、St. Clair College公式より作成</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用語解説: 『ヒューマノイドロボット』『応用研究プラットフォーム』とは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『ヒューマノイドロボット』は、人型で二足歩行し、人間に近い動作(歩く・話すなど)ができるロボットの総称</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『応用研究プラットフォーム』とは、既製の機器を使い、実際の業務・産業に近い場面でAI技術の効果を検証する研究の枠組みを指す</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『大規模言語モデル(LLM)』は、文章の生成・理解に使われるAI技術で、対話AIの中核技術として使われる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St. Clair College公式(2026-08-09)</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今回の受領の概要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配備先</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研究・イノベーション部門</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St. Clair College内のResearch and Innovation departmentに配備された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活用目的</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AI/LLM研究プラットフォーム</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ロボティクス・AI・LLMが産業効率や意思決定をどう改善できるか検証する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協力先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産業界パートナー</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学生・研究者が産業界パートナーと協力する予定(具体的な企業名は不明)</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St. Clair College公式(2026-08-09)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ロボットができること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歩く</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二足歩行で移動できる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走る</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走行動作にも対応する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話す</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音声での対話動作ができる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踊る</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ダンス動作のデモも可能</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St. Clair College公式(2026-08-09)、CTV News Windsor</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Unitree R1(製品自体)の仕様早見表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身長</a:t>
                      </a:r>
                    </a:p>
                  </a:txBody>
                  <a:tcPr>
                    <a:solidFill>
                      <a:srgbClr val="FFFFFF"/>
                    </a:solidFill>
                  </a:tcPr>
                </a:tc>
                <a:tc>
                  <a:txBody>
                    <a:bodyPr/>
                    <a:lstStyle/>
                    <a:p>
                      <a:pPr>
                        <a:defRPr sz="1200">
                          <a:solidFill>
                            <a:srgbClr val="16202E"/>
                          </a:solidFill>
                          <a:latin typeface="Yu Gothic"/>
                        </a:defRPr>
                      </a:pPr>
                      <a:r>
                        <a:t>約1.21m</a:t>
                      </a:r>
                    </a:p>
                  </a:txBody>
                  <a:tcPr>
                    <a:solidFill>
                      <a:srgbClr val="FFFFFF"/>
                    </a:solidFill>
                  </a:tcPr>
                </a:tc>
              </a:tr>
              <a:tr h="502920">
                <a:tc>
                  <a:txBody>
                    <a:bodyPr/>
                    <a:lstStyle/>
                    <a:p>
                      <a:pPr>
                        <a:defRPr sz="1200">
                          <a:solidFill>
                            <a:srgbClr val="16202E"/>
                          </a:solidFill>
                          <a:latin typeface="Yu Gothic"/>
                        </a:defRPr>
                      </a:pPr>
                      <a:r>
                        <a:t>重量</a:t>
                      </a:r>
                    </a:p>
                  </a:txBody>
                  <a:tcPr>
                    <a:solidFill>
                      <a:srgbClr val="F2F6FA"/>
                    </a:solidFill>
                  </a:tcPr>
                </a:tc>
                <a:tc>
                  <a:txBody>
                    <a:bodyPr/>
                    <a:lstStyle/>
                    <a:p>
                      <a:pPr>
                        <a:defRPr sz="1200">
                          <a:solidFill>
                            <a:srgbClr val="16202E"/>
                          </a:solidFill>
                          <a:latin typeface="Yu Gothic"/>
                        </a:defRPr>
                      </a:pPr>
                      <a:r>
                        <a:t>約25kg</a:t>
                      </a:r>
                    </a:p>
                  </a:txBody>
                  <a:tcPr>
                    <a:solidFill>
                      <a:srgbClr val="F2F6FA"/>
                    </a:solidFill>
                  </a:tcPr>
                </a:tc>
              </a:tr>
              <a:tr h="502920">
                <a:tc>
                  <a:txBody>
                    <a:bodyPr/>
                    <a:lstStyle/>
                    <a:p>
                      <a:pPr>
                        <a:defRPr sz="1200">
                          <a:solidFill>
                            <a:srgbClr val="16202E"/>
                          </a:solidFill>
                          <a:latin typeface="Yu Gothic"/>
                        </a:defRPr>
                      </a:pPr>
                      <a:r>
                        <a:t>関節数</a:t>
                      </a:r>
                    </a:p>
                  </a:txBody>
                  <a:tcPr>
                    <a:solidFill>
                      <a:srgbClr val="FFFFFF"/>
                    </a:solidFill>
                  </a:tcPr>
                </a:tc>
                <a:tc>
                  <a:txBody>
                    <a:bodyPr/>
                    <a:lstStyle/>
                    <a:p>
                      <a:pPr>
                        <a:defRPr sz="1200">
                          <a:solidFill>
                            <a:srgbClr val="16202E"/>
                          </a:solidFill>
                          <a:latin typeface="Yu Gothic"/>
                        </a:defRPr>
                      </a:pPr>
                      <a:r>
                        <a:t>26個</a:t>
                      </a:r>
                    </a:p>
                  </a:txBody>
                  <a:tcPr>
                    <a:solidFill>
                      <a:srgbClr val="FFFFFF"/>
                    </a:solidFill>
                  </a:tcPr>
                </a:tc>
              </a:tr>
              <a:tr h="502920">
                <a:tc>
                  <a:txBody>
                    <a:bodyPr/>
                    <a:lstStyle/>
                    <a:p>
                      <a:pPr>
                        <a:defRPr sz="1200">
                          <a:solidFill>
                            <a:srgbClr val="16202E"/>
                          </a:solidFill>
                          <a:latin typeface="Yu Gothic"/>
                        </a:defRPr>
                      </a:pPr>
                      <a:r>
                        <a:t>センサー</a:t>
                      </a:r>
                    </a:p>
                  </a:txBody>
                  <a:tcPr>
                    <a:solidFill>
                      <a:srgbClr val="F2F6FA"/>
                    </a:solidFill>
                  </a:tcPr>
                </a:tc>
                <a:tc>
                  <a:txBody>
                    <a:bodyPr/>
                    <a:lstStyle/>
                    <a:p>
                      <a:pPr>
                        <a:defRPr sz="1200">
                          <a:solidFill>
                            <a:srgbClr val="16202E"/>
                          </a:solidFill>
                          <a:latin typeface="Yu Gothic"/>
                        </a:defRPr>
                      </a:pPr>
                      <a:r>
                        <a:t>双眼ステレオカメラ・4マイクアレイ</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CNX Software、RoboZaps(製品解説記事。St. Clair College自体の発表ではない)</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R1の価格帯(製品一般)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4,900〜10,500ドル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構成により変動するUnitree R1の一般販売価格帯。St. Clair Collegeが実際に支払った調達価格ではない(不明)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CNX Software、RoboZaps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製品としてのR1 / 今回のニュースの中身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製品としてのR1</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2026年4月から出荷開始済みの既存製品</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価格帯4,900〜10,500ドルで一般販売中</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今回のニュースの中身</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北米の大学として初めて受領した、という個別の事象</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研究・イノベーション部門でのAI/LLM研究活用が新しい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注記: これは『製品発表』ではなく『導入事例』である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誤解を避けるために明確にしておきます。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Unitree R1自体は2026年4月から出荷が始まっている既存製品であり、新製品発表ではない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本テーマが伝えるのは、St. Clair Collegeという教育機関がこの製品を『北米の大学として初めて受領した』という導入事例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製品スペック・価格帯(前スライド)は製品解説記事の情報であり、St. Clair College自体の発表内容と混同しないこと</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St. Clair College公式(2026-08-09)、CNX Software</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関係図: メーカーから研究部門まで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Unitree(メーカー)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中国のロボティクス企業。R1を開発・製造</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St. Clair College</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カナダ・オンタリオ州の大学。北米の大学として初めてR1を受領</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研究・イノベーション部門</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受領したR1が実際に配備された部門</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メーカーから受領校、配備部門までの関係</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St. Clair College公式(2026-08-09)より作成</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研究プラットフォームとしての狙い</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狙い1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産業効率の検証</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ロボティクス・AI・LLMが産業の効率をどう改善できるか検証する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狙い2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生産性の検証</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現場の生産性向上への貢献を検証する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狙い3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意思決定の検証</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業務上の意思決定をどう支援できるか検証する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St. Clair College公式(2026-08-09)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St. Clair Collegeが実際に支払った調達価格(製品の一般価格帯4,900〜10,500ドルとは別物)</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具体的な産業パートナーの企業名・共同研究テーマの詳細</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今後の研究成果・公開時期の見通し</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受領した正確な台数、研究に携わる学生・研究者の人数</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これは教育機関にとって何を意味するか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先行事例としての注目</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北米の大学として初めての受領は、教育機関側の先行事例として注目される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比較的低い導入コスト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R1の価格帯(4,900〜10,500ドル)は、産業用ロボットと比べれば教育機関でも検討しやすい水準</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産学連携の材料になりうる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産業界パートナーとの応用研究という枠組み自体が、他の教育機関にとっての参考事例になりうる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これは学生・研究者にとって何を意味するか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実機での研究機会</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AI/LLM技術を実機のロボットで検証できる研究機会が生まれる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産業界との接点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産業界パートナーと協力する応用研究への参加機会になりうる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詳細は今後の公開待ち</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具体的な研究テーマ・参加方法は本調査の範囲では未公表(不明)</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今後想定される流れ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ロボット配備</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研究・イノベーション部門にR1が配備された(完了)</a:t>
            </a:r>
          </a:p>
        </p:txBody>
      </p:sp>
      <p:sp>
        <p:nvSpPr>
          <p:cNvPr id="11" name="Chevron 10"/>
          <p:cNvSpPr/>
          <p:nvPr/>
        </p:nvSpPr>
        <p:spPr>
          <a:xfrm>
            <a:off x="3068040"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研究プロジェクト開始</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AI/LLMの応用研究プロジェクトが始まる見込み(開始時期は不明)</a:t>
            </a:r>
          </a:p>
        </p:txBody>
      </p:sp>
      <p:sp>
        <p:nvSpPr>
          <p:cNvPr id="17" name="Chevron 16"/>
          <p:cNvSpPr/>
          <p:nvPr/>
        </p:nvSpPr>
        <p:spPr>
          <a:xfrm>
            <a:off x="5978804"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産業界パートナーとの検証</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産業界パートナーと協力した検証が行われる予定(パートナー名は不明)</a:t>
            </a:r>
          </a:p>
        </p:txBody>
      </p:sp>
      <p:sp>
        <p:nvSpPr>
          <p:cNvPr id="23" name="Chevron 22"/>
          <p:cNvSpPr/>
          <p:nvPr/>
        </p:nvSpPr>
        <p:spPr>
          <a:xfrm>
            <a:off x="8889568"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成果公開(時期不明)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研究成果がいつ公開されるかは、本調査の範囲では確認できていない</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実践: この事例から確認したいこと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他の教育機関・企業がこの事例を参考にする場合の整理です。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自校・自社の研究目的に、ヒューマノイドロボットが本当に必要かを見極める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R1のような比較的安価な機体でも、産業界パートナーとの連携があって初めて研究成果につながる点に注意する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St. Clair Collegeの今後の続報(研究成果・パートナー公表)を継続して確認する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最新情報はSt. Clair College公式サイトで確認する(本記事の情報は2026年8月10日時点)</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誇張回避・政治的中立性に関する注記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本テーマの扱い方についてです。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冒頭の見出しは注目を集める表現だが、本文の内容自体は誇張していない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Unitreeは中国企業であるという事実は淡々と扱い、米中の技術覇権論争的な文脈には踏み込まない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本テーマでは、検討候補にあったFCCの外国製ロボット規制の話題は扱わない(既存テーマとの主題の近さ・政治的中立性への配慮から見送り)</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特定企業(Unitree)・製品への過度な推奨結論にはしていない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他の教育機関への波及</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他の北米の大学も同様の導入を検討する可能性がある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産業界パートナーの公表</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今後、具体的なパートナー企業名が公表される可能性がある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研究成果の発表時期</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早ければ次の学期以降に、初期的な研究成果が発表される可能性がある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事実・製品情報・不明点の早見表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確定事実</a:t>
                      </a:r>
                    </a:p>
                  </a:txBody>
                  <a:tcPr>
                    <a:solidFill>
                      <a:srgbClr val="FFFFFF"/>
                    </a:solidFill>
                  </a:tcPr>
                </a:tc>
                <a:tc>
                  <a:txBody>
                    <a:bodyPr/>
                    <a:lstStyle/>
                    <a:p>
                      <a:pPr>
                        <a:defRPr sz="1200">
                          <a:solidFill>
                            <a:srgbClr val="16202E"/>
                          </a:solidFill>
                          <a:latin typeface="Yu Gothic"/>
                        </a:defRPr>
                      </a:pPr>
                      <a:r>
                        <a:t>St. Clair Collegeが北米初の大学としてR1を受領(2026年8月9日発表)、研究・イノベーション部門に配備</a:t>
                      </a:r>
                    </a:p>
                  </a:txBody>
                  <a:tcPr>
                    <a:solidFill>
                      <a:srgbClr val="FFFFFF"/>
                    </a:solidFill>
                  </a:tcPr>
                </a:tc>
              </a:tr>
              <a:tr h="502920">
                <a:tc>
                  <a:txBody>
                    <a:bodyPr/>
                    <a:lstStyle/>
                    <a:p>
                      <a:pPr>
                        <a:defRPr sz="1200">
                          <a:solidFill>
                            <a:srgbClr val="16202E"/>
                          </a:solidFill>
                          <a:latin typeface="Yu Gothic"/>
                        </a:defRPr>
                      </a:pPr>
                      <a:r>
                        <a:t>製品一般の情報</a:t>
                      </a:r>
                    </a:p>
                  </a:txBody>
                  <a:tcPr>
                    <a:solidFill>
                      <a:srgbClr val="F2F6FA"/>
                    </a:solidFill>
                  </a:tcPr>
                </a:tc>
                <a:tc>
                  <a:txBody>
                    <a:bodyPr/>
                    <a:lstStyle/>
                    <a:p>
                      <a:pPr>
                        <a:defRPr sz="1200">
                          <a:solidFill>
                            <a:srgbClr val="16202E"/>
                          </a:solidFill>
                          <a:latin typeface="Yu Gothic"/>
                        </a:defRPr>
                      </a:pPr>
                      <a:r>
                        <a:t>身長1.21m・重量約25kg・26関節、価格帯4,900〜10,500ドル(St. Clair College固有の情報ではない)</a:t>
                      </a:r>
                    </a:p>
                  </a:txBody>
                  <a:tcPr>
                    <a:solidFill>
                      <a:srgbClr val="F2F6FA"/>
                    </a:solidFill>
                  </a:tcPr>
                </a:tc>
              </a:tr>
              <a:tr h="502920">
                <a:tc>
                  <a:txBody>
                    <a:bodyPr/>
                    <a:lstStyle/>
                    <a:p>
                      <a:pPr>
                        <a:defRPr sz="1200">
                          <a:solidFill>
                            <a:srgbClr val="16202E"/>
                          </a:solidFill>
                          <a:latin typeface="Yu Gothic"/>
                        </a:defRPr>
                      </a:pPr>
                      <a:r>
                        <a:t>不明</a:t>
                      </a:r>
                    </a:p>
                  </a:txBody>
                  <a:tcPr>
                    <a:solidFill>
                      <a:srgbClr val="FFFFFF"/>
                    </a:solidFill>
                  </a:tcPr>
                </a:tc>
                <a:tc>
                  <a:txBody>
                    <a:bodyPr/>
                    <a:lstStyle/>
                    <a:p>
                      <a:pPr>
                        <a:defRPr sz="1200">
                          <a:solidFill>
                            <a:srgbClr val="16202E"/>
                          </a:solidFill>
                          <a:latin typeface="Yu Gothic"/>
                        </a:defRPr>
                      </a:pPr>
                      <a:r>
                        <a:t>実際の調達価格、産業パートナー名、研究成果の公開時期、受領台数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覚えておきたい数字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26個の関節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Unitree R1が持つ関節数。人間に近い動作を可能にする要素の一つ(製品一般の情報)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CNX Software、RoboZaps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この受領で何が変わるか・変わらないか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変化</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教育現場への実機導入が進む</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北米の教育機関でのヒューマノイドロボット活用に先行事例が生まれた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変化なし</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R1という製品自体は変わらない</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製品スペック・価格帯は4月の出荷開始時点から変わっていない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未確定</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研究成果が出るかは今後次第</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実際に産業効率等の改善につながるかは、今後の研究結果を待つ必要がある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見出しの表現についての正直な補足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オーナー指示によるバズ路線の見出しについてです。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本ラウンドは視聴数を稼げるフック性の強い見出しを許容する運用としている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『安いロボット』という表現は、製品一般の価格帯(4,900〜10,500ドル)を根拠にした事実に基づく表現であり、金額そのものを創作していない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St. Clair College自体の調達価格は不明であるため、『安く買った』という断定は本文中で一切していない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産業パートナーの公表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具体的な企業名が今後公表されるかどうか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研究成果の発表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産業効率・生産性・意思決定に関する検証結果がいつ出るか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他の教育機関への波及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同様の導入が他の北米の大学に広がるかどうか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St. Clair College公式(2026-08-09)</a:t>
                      </a:r>
                    </a:p>
                  </a:txBody>
                  <a:tcPr>
                    <a:solidFill>
                      <a:srgbClr val="FFFFFF"/>
                    </a:solidFill>
                  </a:tcPr>
                </a:tc>
                <a:tc>
                  <a:txBody>
                    <a:bodyPr/>
                    <a:lstStyle/>
                    <a:p>
                      <a:pPr>
                        <a:defRPr sz="1200">
                          <a:solidFill>
                            <a:srgbClr val="16202E"/>
                          </a:solidFill>
                          <a:latin typeface="Yu Gothic"/>
                        </a:defRPr>
                      </a:pPr>
                      <a:r>
                        <a:t>北米初の受領・配備先・活用予定を発表</a:t>
                      </a:r>
                    </a:p>
                  </a:txBody>
                  <a:tcPr>
                    <a:solidFill>
                      <a:srgbClr val="FFFFFF"/>
                    </a:solidFill>
                  </a:tcPr>
                </a:tc>
              </a:tr>
              <a:tr h="502920">
                <a:tc>
                  <a:txBody>
                    <a:bodyPr/>
                    <a:lstStyle/>
                    <a:p>
                      <a:pPr>
                        <a:defRPr sz="1200">
                          <a:solidFill>
                            <a:srgbClr val="16202E"/>
                          </a:solidFill>
                          <a:latin typeface="Yu Gothic"/>
                        </a:defRPr>
                      </a:pPr>
                      <a:r>
                        <a:t>Academica Group</a:t>
                      </a:r>
                    </a:p>
                  </a:txBody>
                  <a:tcPr>
                    <a:solidFill>
                      <a:srgbClr val="F2F6FA"/>
                    </a:solidFill>
                  </a:tcPr>
                </a:tc>
                <a:tc>
                  <a:txBody>
                    <a:bodyPr/>
                    <a:lstStyle/>
                    <a:p>
                      <a:pPr>
                        <a:defRPr sz="1200">
                          <a:solidFill>
                            <a:srgbClr val="16202E"/>
                          </a:solidFill>
                          <a:latin typeface="Yu Gothic"/>
                        </a:defRPr>
                      </a:pPr>
                      <a:r>
                        <a:t>同内容を教育業界メディアとして報道</a:t>
                      </a:r>
                    </a:p>
                  </a:txBody>
                  <a:tcPr>
                    <a:solidFill>
                      <a:srgbClr val="F2F6FA"/>
                    </a:solidFill>
                  </a:tcPr>
                </a:tc>
              </a:tr>
              <a:tr h="502920">
                <a:tc>
                  <a:txBody>
                    <a:bodyPr/>
                    <a:lstStyle/>
                    <a:p>
                      <a:pPr>
                        <a:defRPr sz="1200">
                          <a:solidFill>
                            <a:srgbClr val="16202E"/>
                          </a:solidFill>
                          <a:latin typeface="Yu Gothic"/>
                        </a:defRPr>
                      </a:pPr>
                      <a:r>
                        <a:t>CTV News Windsor</a:t>
                      </a:r>
                    </a:p>
                  </a:txBody>
                  <a:tcPr>
                    <a:solidFill>
                      <a:srgbClr val="FFFFFF"/>
                    </a:solidFill>
                  </a:tcPr>
                </a:tc>
                <a:tc>
                  <a:txBody>
                    <a:bodyPr/>
                    <a:lstStyle/>
                    <a:p>
                      <a:pPr>
                        <a:defRPr sz="1200">
                          <a:solidFill>
                            <a:srgbClr val="16202E"/>
                          </a:solidFill>
                          <a:latin typeface="Yu Gothic"/>
                        </a:defRPr>
                      </a:pPr>
                      <a:r>
                        <a:t>同内容を地元放送局として報道</a:t>
                      </a:r>
                    </a:p>
                  </a:txBody>
                  <a:tcPr>
                    <a:solidFill>
                      <a:srgbClr val="FFFFFF"/>
                    </a:solidFill>
                  </a:tcPr>
                </a:tc>
              </a:tr>
              <a:tr h="502920">
                <a:tc>
                  <a:txBody>
                    <a:bodyPr/>
                    <a:lstStyle/>
                    <a:p>
                      <a:pPr>
                        <a:defRPr sz="1200">
                          <a:solidFill>
                            <a:srgbClr val="16202E"/>
                          </a:solidFill>
                          <a:latin typeface="Yu Gothic"/>
                        </a:defRPr>
                      </a:pPr>
                      <a:r>
                        <a:t>CNX Software / RoboZaps</a:t>
                      </a:r>
                    </a:p>
                  </a:txBody>
                  <a:tcPr>
                    <a:solidFill>
                      <a:srgbClr val="F2F6FA"/>
                    </a:solidFill>
                  </a:tcPr>
                </a:tc>
                <a:tc>
                  <a:txBody>
                    <a:bodyPr/>
                    <a:lstStyle/>
                    <a:p>
                      <a:pPr>
                        <a:defRPr sz="1200">
                          <a:solidFill>
                            <a:srgbClr val="16202E"/>
                          </a:solidFill>
                          <a:latin typeface="Yu Gothic"/>
                        </a:defRPr>
                      </a:pPr>
                      <a:r>
                        <a:t>Unitree R1製品自体の仕様・価格帯を解説</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St. Clair College公式(2026-08-09)ほか｜161本目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北米の大学に、初めて安価なロボットが届いた。研究はこれから始まる。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産業パートナーの公表・研究成果の公開時期が明らかになれば、続報として出典付きでお届けします。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