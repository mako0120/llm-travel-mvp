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大30日間。これは、政府がフロンティアAIモデルを一般公開前にチェックできる期間として、大統領令に基づき設計された枠組みの内容です。2026年8月4日、Anthropic、OpenAI、Google、Meta、Nvidia、Microsoftなど十数社の代表者がホワイトハウスと、この枠組みについての協議を締めくくりました。しかしホワイトハウスは、その具体的な内容を一般には公開しない方針だと表明しています。今日はこの経緯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まず枠組みの骨子となる数字から確認します。最大30日間、これが政府に与えられる事前アクセスの期間です。一般公開や他社への提供より前に、政府はこの期間、モデルにアクセスできるとされています。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今日はこの5つの流れでお伝えします。数字の出所と、公開されている情報・非公開の情報を丁寧に切り分けて整理します。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そもそもの発端は、2026年6月2日にトランプ大統領が署名した大統領令です。連邦政府機関に対し、8月1日までにこの枠組みを設計するよう義務付けました。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時系列で整理するとこうなります。6月に大統領令が出て、8月1日が期限、その直後に会合が行われました。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仕組みを図にするとこうなります。企業がモデルを開発し、公開前に政府へ事前アクセスを提供する。その期間が最大30日間、という流れです。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骨子を整理するとこの4点です。事前アクセス、最大30日間、信頼できるパートナーの選定、そして任意であること。この4つが柱になっています。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8月4日の会合には、約12社の代表者が集まったとされています。名前が判明しているのはAnthropic、OpenAI、Google、Meta、Nvidia、Microsoftです。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報道で名前が挙がっているのはこの6社です。約12社とされる参加企業のうち、残りの企業名は確認できていません。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2つの出来事の関係を表にしました。6月の大統領令が、8月の会合につながっている、という位置づけです。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ここが今回の一番のポイントです。ホワイトハウスは、この枠組みの中身を一般には公開しないと表明しています。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公開されているのは骨子だけです。評価基準や審査プロセスの詳細は非公開で、なぜ非公開なのかという公式の説明も確認できていません。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整理すると、公開されている情報と非公開の情報がはっきり分かれています。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情報の流れを図にすると、企業と政府の間だけで詳細が共有され、一般には骨子しか届かない、という構図になります。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確認できなかったことを3点、一覧にしました。数字を作らず、正直に不明として扱っています。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ここで一度立ち止まります。本テーマは政策の是非を評価するものではなく、何が起きたかという事実関係の整理です。政治的な立場からのコメントは行いません。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「任意」という言葉の意味を確認します。法律ではなく、企業の自主的な判断に委ねられている枠組みです。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改めて確認します。この枠組みはあくまで任意であり、法的な義務ではありません。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ここからは事実と推測を分けます。事実は複数メディアが確認していますが、その先の解釈は当社の推測であることを明確にします。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変わったことと変わらないことを整理しました。数字は判明しましたが、法的性質や非公開方針は変わっていません。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似たテーマとの違いを確認します。どちらも法的拘束力のある規制でしたが、本テーマは法的拘束力のない任意の枠組みです。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同じAI規制の領域でも、法的拘束力の有無という点で性質が異なります。この違いを意識して見ていただきたいです。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情報源の性質を改めて確認します。一次情報に完全にはアクセスできておらず、複数の報道を突き合わせています。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任意だから重要ではない、というわけでもなさそうです。ただし断定はできないので、慎重に受け止めていただきたいです。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今後注目しておきたいのはこの3点です。続報が出れば、また出典付きでお伝えします。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この3つも当社の推測です。断定はせず、可能性として提示しています。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最後にもう一度確認します。2026年8月4日、企業とホワイトハウスは枠組みについての協議を終えましたが、その内容は一般には公開されない見込みです。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大統領令に基づく任意の事前アクセス枠組みと、その内容が非公開のまま協議が終わったことをお伝えしました。政策の是非への評価は加えず、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AI大手十数社とホワイトハウスが決めたルール。</a:t>
            </a:r>
          </a:p>
          <a:p>
            <a:pPr algn="l">
              <a:lnSpc>
                <a:spcPct val="115000"/>
              </a:lnSpc>
            </a:pPr>
            <a:r>
              <a:rPr sz="4200" b="1">
                <a:solidFill>
                  <a:srgbClr val="FFFFFF"/>
                </a:solidFill>
                <a:latin typeface="Yu Gothic"/>
              </a:rPr>
              <a:t>その中身は、国民には教えないという。</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大統領令に基づく「任意の事前アクセス枠組み」をめぐる協議(2026年8月4日)を、出典付きで整理する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Fortune・CNBC・NY1 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政府がモデルを事前チェックできる期間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最大30日間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モデルの一般公開・他の信頼できるパートナーへの提供に先立って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Norton Rose Fulbright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発端: 2026年6月2日の大統領令</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枠組みの骨子: 事前アクセスと最大30日間</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2026年8月4日の会合で何が起きたか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非公開方針: 何が明かされ、何が明かされないか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読み解く上での注意点・確認できなかったこと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そもそもの発端: 大統領令の内容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2026年6月2日に署名された大統領令のポイントです。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正式名称は「Promoting Advanced Artificial Intelligence Innovation and Security」</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連邦政府機関に対し、2026年8月1日までに「任意の枠組み」の設計を義務付けた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対象はフロンティアAIモデル(最先端の大規模AIモデル)の開発企業</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目的は、モデルの一般公開前に政府が関与できるようにすること</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Skadden(2026-06) / Norton Rose Fulbright</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ここまでの流れ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2026/6/2</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大統領令に署名</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2026/8/1</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政府機関への設計期限</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2026/8/3</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CNBCが会合開催を予告報道</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2026/8/4</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企業とホワイトハウスが協議を締めくくる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枠組みの仕組み(概念図)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AI開発企業</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対象フロンティアモデルを開発</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政府への事前アクセス</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最大30日間</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一般公開 / 信頼できるパートナーへの提供</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事前アクセス後に実施</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「信頼できるパートナー」の選定は企業と政府が協力して行うとされる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枠組みの骨子(判明している内容)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大統領令に基づき設計された枠組みの骨子です。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「対象フロンティアモデル」についてAI開発企業が政府に事前アクセスを提供する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政府は一般公開・他の信頼できるパートナーへの提供に先立ち、最大30日間モデルにアクセスできる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どの「信頼できるパートナー」が早期アクセスを得るかは、企業と政府が協力して選定する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名称の通り「任意」であり、法律で定められた義務ではない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Norton Rose Fulbright</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会合に参加したとされる企業数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約12社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Anthropic・OpenAI・Google・Meta・Nvidia・Microsoftなどの代表者が参加したとされる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Fortune / NY1(2026-08-04)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判明している参加企業(一部)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1E2761"/>
                </a:solidFill>
                <a:latin typeface="Yu Gothic"/>
              </a:rPr>
              <a:t>Anthropic</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フロンティアAIモデルの開発企業</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1E2761"/>
                </a:solidFill>
                <a:latin typeface="Yu Gothic"/>
              </a:rPr>
              <a:t>OpenAI</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フロンティアAIモデルの開発企業</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1E2761"/>
                </a:solidFill>
                <a:latin typeface="Yu Gothic"/>
              </a:rPr>
              <a:t>Google</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フロンティアAIモデルの開発企業</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D9A441"/>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1E2761"/>
                </a:solidFill>
                <a:latin typeface="Yu Gothic"/>
              </a:rPr>
              <a:t>Meta / Nvidia / Microsoft</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報道で名前が挙がった他の参加企業</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Fortune / NY1</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大統領令と、8月4日の会合の関係</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時点</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2026年6月2日(大統領令)</a:t>
                      </a:r>
                    </a:p>
                  </a:txBody>
                  <a:tcPr>
                    <a:solidFill>
                      <a:srgbClr val="FFFFFF"/>
                    </a:solidFill>
                  </a:tcPr>
                </a:tc>
                <a:tc>
                  <a:txBody>
                    <a:bodyPr/>
                    <a:lstStyle/>
                    <a:p>
                      <a:pPr>
                        <a:defRPr sz="1200">
                          <a:solidFill>
                            <a:srgbClr val="1A1A2E"/>
                          </a:solidFill>
                          <a:latin typeface="Yu Gothic"/>
                        </a:defRPr>
                      </a:pPr>
                      <a:r>
                        <a:t>政府機関に対し、8月1日までに任意の枠組みを設計するよう義務付け</a:t>
                      </a:r>
                    </a:p>
                  </a:txBody>
                  <a:tcPr>
                    <a:solidFill>
                      <a:srgbClr val="FFFFFF"/>
                    </a:solidFill>
                  </a:tcPr>
                </a:tc>
              </a:tr>
              <a:tr h="502920">
                <a:tc>
                  <a:txBody>
                    <a:bodyPr/>
                    <a:lstStyle/>
                    <a:p>
                      <a:pPr>
                        <a:defRPr sz="1200">
                          <a:solidFill>
                            <a:srgbClr val="1A1A2E"/>
                          </a:solidFill>
                          <a:latin typeface="Yu Gothic"/>
                        </a:defRPr>
                      </a:pPr>
                      <a:r>
                        <a:t>2026年8月4日(会合)</a:t>
                      </a:r>
                    </a:p>
                  </a:txBody>
                  <a:tcPr>
                    <a:solidFill>
                      <a:srgbClr val="F3F6FC"/>
                    </a:solidFill>
                  </a:tcPr>
                </a:tc>
                <a:tc>
                  <a:txBody>
                    <a:bodyPr/>
                    <a:lstStyle/>
                    <a:p>
                      <a:pPr>
                        <a:defRPr sz="1200">
                          <a:solidFill>
                            <a:srgbClr val="1A1A2E"/>
                          </a:solidFill>
                          <a:latin typeface="Yu Gothic"/>
                        </a:defRPr>
                      </a:pPr>
                      <a:r>
                        <a:t>企業とホワイトハウスが、その枠組みについての協議を締めくくったとされる</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Skadden / NY1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枠組みの内容の一般公開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予定なし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ホワイトハウスは、枠組みの具体的な内容を一般に公開する予定がないと表明した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Fortune(2026-08-04)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何が公開され、何が公開されないか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報道から判明している範囲を整理します。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枠組みの存在・骨子(事前アクセス・最大30日間等)は報道により判明している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枠組みの具体的な評価基準・審査プロセスの詳細は非公開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内容を知るのは参加する企業側の関係者のみとなる見込み</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ホワイトハウスが非公開とする理由の公式説明は確認できていない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Fortune(2026-08-04)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公開されている情報 / 非公開の情報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公開されている情報</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枠組みの骨子(事前アクセス・最大30日間)</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会合が行われたこと自体</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判明している一部の参加企業名</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非公開の情報</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評価基準・審査プロセスの詳細</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対象フロンティアモデルの線引き基準</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参加企業の完全なリスト</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情報の流れ(概念図)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AI開発企業</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枠組みの詳細を把握</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ホワイトハウス</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枠組みの詳細を把握</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一般・国民</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骨子のみを報道を通じて把握</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内容を知るのは、参加企業とホワイトハウスの関係者に限られる見込み</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枠組みの具体的な評価基準・審査プロセス</a:t>
                      </a:r>
                    </a:p>
                  </a:txBody>
                  <a:tcPr>
                    <a:solidFill>
                      <a:srgbClr val="FFFFFF"/>
                    </a:solidFill>
                  </a:tcPr>
                </a:tc>
                <a:tc>
                  <a:txBody>
                    <a:bodyPr/>
                    <a:lstStyle/>
                    <a:p>
                      <a:pPr>
                        <a:defRPr sz="1200">
                          <a:solidFill>
                            <a:srgbClr val="1A1A2E"/>
                          </a:solidFill>
                          <a:latin typeface="Yu Gothic"/>
                        </a:defRPr>
                      </a:pPr>
                      <a:r>
                        <a:t>非公開のため確認できていない</a:t>
                      </a:r>
                    </a:p>
                  </a:txBody>
                  <a:tcPr>
                    <a:solidFill>
                      <a:srgbClr val="FFFFFF"/>
                    </a:solidFill>
                  </a:tcPr>
                </a:tc>
              </a:tr>
              <a:tr h="502920">
                <a:tc>
                  <a:txBody>
                    <a:bodyPr/>
                    <a:lstStyle/>
                    <a:p>
                      <a:pPr>
                        <a:defRPr sz="1200">
                          <a:solidFill>
                            <a:srgbClr val="1A1A2E"/>
                          </a:solidFill>
                          <a:latin typeface="Yu Gothic"/>
                        </a:defRPr>
                      </a:pPr>
                      <a:r>
                        <a:t>対象フロンティアモデルの線引き基準</a:t>
                      </a:r>
                    </a:p>
                  </a:txBody>
                  <a:tcPr>
                    <a:solidFill>
                      <a:srgbClr val="F3F6FC"/>
                    </a:solidFill>
                  </a:tcPr>
                </a:tc>
                <a:tc>
                  <a:txBody>
                    <a:bodyPr/>
                    <a:lstStyle/>
                    <a:p>
                      <a:pPr>
                        <a:defRPr sz="1200">
                          <a:solidFill>
                            <a:srgbClr val="1A1A2E"/>
                          </a:solidFill>
                          <a:latin typeface="Yu Gothic"/>
                        </a:defRPr>
                      </a:pPr>
                      <a:r>
                        <a:t>計算量等の具体的な基準は非公開</a:t>
                      </a:r>
                    </a:p>
                  </a:txBody>
                  <a:tcPr>
                    <a:solidFill>
                      <a:srgbClr val="F3F6FC"/>
                    </a:solidFill>
                  </a:tcPr>
                </a:tc>
              </a:tr>
              <a:tr h="502920">
                <a:tc>
                  <a:txBody>
                    <a:bodyPr/>
                    <a:lstStyle/>
                    <a:p>
                      <a:pPr>
                        <a:defRPr sz="1200">
                          <a:solidFill>
                            <a:srgbClr val="1A1A2E"/>
                          </a:solidFill>
                          <a:latin typeface="Yu Gothic"/>
                        </a:defRPr>
                      </a:pPr>
                      <a:r>
                        <a:t>参加企業の完全なリスト(約12社)</a:t>
                      </a:r>
                    </a:p>
                  </a:txBody>
                  <a:tcPr>
                    <a:solidFill>
                      <a:srgbClr val="FFFFFF"/>
                    </a:solidFill>
                  </a:tcPr>
                </a:tc>
                <a:tc>
                  <a:txBody>
                    <a:bodyPr/>
                    <a:lstStyle/>
                    <a:p>
                      <a:pPr>
                        <a:defRPr sz="1200">
                          <a:solidFill>
                            <a:srgbClr val="1A1A2E"/>
                          </a:solidFill>
                          <a:latin typeface="Yu Gothic"/>
                        </a:defRPr>
                      </a:pPr>
                      <a:r>
                        <a:t>判明している6社以外は未確認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本テーマの扱い方について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本テーマを見る際に、あらかじめお伝えしておきたい点です。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本テーマは大統領令・政府の政策対応という事実関係のみを扱う</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「良い政策か悪い政策か」という価値判断は行わない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特定の政党・政治家個人への評価・批判・支持は一切行わない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「非公開である」という点は、透明性の観点から議論を呼びうる客観的な事実として紹介する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「任意(voluntary)」とはどういう意味か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法的拘束力なし</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法律で定められた義務ではない</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企業の参加は任意</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参加するかどうかは企業の判断による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罰則規定は未確認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不参加時の罰則等は報道からは確認できていない</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枠組みの法的性質</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任意(voluntary)</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法律で定められた義務ではない、と報じられている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Norton Rose Fulbright / CNBC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事実: 大統領令の署名日・内容、会合の開催日・非公開方針は複数メディアが報道</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推測: 「任意」でも業界内の事実上の標準になりうる、という見方は当社の推測</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推測: 内容非公開により外部検証の機会が限定される可能性がある、という見方も推測</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不明: ホワイトハウスが非公開とする公式の理由</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透明性</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内容非公開が今後どう評価されるか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参加企業の広がり</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判明した6社以外にも枠組みに加わる企業が出るか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将来の義務化</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任意の枠組みが将来義務化される可能性の有無</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変わったこと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政府とフロンティアAI企業の事前アクセス枠組みが協議された</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最大30日間という具体的な数字が判明した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変わらないこと</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法律による義務化はされていない(任意のまま)</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枠組みの詳細な内容は依然として非公開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既存テーマとの関係(重複確認)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近いテーマ</a:t>
                      </a:r>
                    </a:p>
                  </a:txBody>
                  <a:tcPr>
                    <a:solidFill>
                      <a:srgbClr val="1E2761"/>
                    </a:solidFill>
                  </a:tcPr>
                </a:tc>
                <a:tc>
                  <a:txBody>
                    <a:bodyPr/>
                    <a:lstStyle/>
                    <a:p>
                      <a:pPr>
                        <a:defRPr sz="1300" b="1">
                          <a:solidFill>
                            <a:srgbClr val="FFFFFF"/>
                          </a:solidFill>
                          <a:latin typeface="Yu Gothic"/>
                        </a:defRPr>
                      </a:pPr>
                      <a:r>
                        <a:t>本テーマとの違い</a:t>
                      </a:r>
                    </a:p>
                  </a:txBody>
                  <a:tcPr>
                    <a:solidFill>
                      <a:srgbClr val="1E2761"/>
                    </a:solidFill>
                  </a:tcPr>
                </a:tc>
              </a:tr>
              <a:tr h="502920">
                <a:tc>
                  <a:txBody>
                    <a:bodyPr/>
                    <a:lstStyle/>
                    <a:p>
                      <a:pPr>
                        <a:defRPr sz="1200">
                          <a:solidFill>
                            <a:srgbClr val="1A1A2E"/>
                          </a:solidFill>
                          <a:latin typeface="Yu Gothic"/>
                        </a:defRPr>
                      </a:pPr>
                      <a:r>
                        <a:t>2026-08-03_eu-ai-act-transparency-obligations(既存)</a:t>
                      </a:r>
                    </a:p>
                  </a:txBody>
                  <a:tcPr>
                    <a:solidFill>
                      <a:srgbClr val="FFFFFF"/>
                    </a:solidFill>
                  </a:tcPr>
                </a:tc>
                <a:tc>
                  <a:txBody>
                    <a:bodyPr/>
                    <a:lstStyle/>
                    <a:p>
                      <a:pPr>
                        <a:defRPr sz="1200">
                          <a:solidFill>
                            <a:srgbClr val="1A1A2E"/>
                          </a:solidFill>
                          <a:latin typeface="Yu Gothic"/>
                        </a:defRPr>
                      </a:pPr>
                      <a:r>
                        <a:t>あちらはEUの法規制(透明性義務)の発効、本テーマは米国大統領令に基づく任意の枠組みの協議</a:t>
                      </a:r>
                    </a:p>
                  </a:txBody>
                  <a:tcPr>
                    <a:solidFill>
                      <a:srgbClr val="FFFFFF"/>
                    </a:solidFill>
                  </a:tcPr>
                </a:tc>
              </a:tr>
              <a:tr h="502920">
                <a:tc>
                  <a:txBody>
                    <a:bodyPr/>
                    <a:lstStyle/>
                    <a:p>
                      <a:pPr>
                        <a:defRPr sz="1200">
                          <a:solidFill>
                            <a:srgbClr val="1A1A2E"/>
                          </a:solidFill>
                          <a:latin typeface="Yu Gothic"/>
                        </a:defRPr>
                      </a:pPr>
                      <a:r>
                        <a:t>2026-08-03_california-ai-transparency-act(既存)</a:t>
                      </a:r>
                    </a:p>
                  </a:txBody>
                  <a:tcPr>
                    <a:solidFill>
                      <a:srgbClr val="F3F6FC"/>
                    </a:solidFill>
                  </a:tcPr>
                </a:tc>
                <a:tc>
                  <a:txBody>
                    <a:bodyPr/>
                    <a:lstStyle/>
                    <a:p>
                      <a:pPr>
                        <a:defRPr sz="1200">
                          <a:solidFill>
                            <a:srgbClr val="1A1A2E"/>
                          </a:solidFill>
                          <a:latin typeface="Yu Gothic"/>
                        </a:defRPr>
                      </a:pPr>
                      <a:r>
                        <a:t>あちらは州法の施行、本テーマは連邦政府(大統領令)と企業間の協議</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本パイプラインにおける位置づけ(概念図)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EU・州レベルの規制</a:t>
            </a:r>
          </a:p>
        </p:txBody>
      </p:sp>
      <p:sp>
        <p:nvSpPr>
          <p:cNvPr id="9" name="TextBox 8"/>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法的拘束力のある義務(既存テーマ)</a:t>
            </a:r>
          </a:p>
        </p:txBody>
      </p:sp>
      <p:sp>
        <p:nvSpPr>
          <p:cNvPr id="10" name="Right Arrow 9"/>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米国連邦の任意枠組み</a:t>
            </a:r>
          </a:p>
        </p:txBody>
      </p:sp>
      <p:sp>
        <p:nvSpPr>
          <p:cNvPr id="14" name="TextBox 13"/>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法的拘束力のない協議(本テーマ)</a:t>
            </a:r>
          </a:p>
        </p:txBody>
      </p:sp>
      <p:sp>
        <p:nvSpPr>
          <p:cNvPr id="15" name="TextBox 1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同じ「AI規制・政府対応」領域でも、法的性質が異なる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読み解く上での注意点(1)</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本テーマを見るときに意識しておきたい点です。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本テーマは企業の自社発表ではなく、政府と業界の協議に関する報道</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枠組みの内容自体は非公開のため、報道から判明する骨子のみを扱っている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複数の独立したメディア・法律事務所解説を突き合わせて整理している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大統領令原文・ホワイトハウス公式発表への直接アクセスは限定的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読み解く上での注意点(2)</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受け止め方についての整理です。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「任意」であることと「影響が小さい」ことは同じとは限らない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参加企業がAI開発の主要企業に及ぶため、業界内での位置づけは大きいと考えられる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一方で強制力・罰則は確認できておらず、断定的な評価は避ける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続報が出た場合は、本テーマの内容を更新する必要がある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今後、注目しておきたいポイント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内容公開の有無</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非公開方針が今後変わるかどうか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参加企業の拡大</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判明した6社以外の企業が加わるかどうか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法制化の動き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任意の枠組みが将来義務化されるかどうか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想定される影響(合理的推測)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業界内の実務標準化</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任意でも大手が足並みを揃えれば事実上の標準になりうる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外部検証の限定</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内容非公開により第三者による検証が限られる可能性がある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他国への波及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他国政府が同様の枠組みを検討する可能性はあるが確認できていない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メディア／機関</a:t>
                      </a:r>
                    </a:p>
                  </a:txBody>
                  <a:tcPr>
                    <a:solidFill>
                      <a:srgbClr val="1E2761"/>
                    </a:solidFill>
                  </a:tcPr>
                </a:tc>
                <a:tc>
                  <a:txBody>
                    <a:bodyPr/>
                    <a:lstStyle/>
                    <a:p>
                      <a:pPr>
                        <a:defRPr sz="1300" b="1">
                          <a:solidFill>
                            <a:srgbClr val="FFFFFF"/>
                          </a:solidFill>
                          <a:latin typeface="Yu Gothic"/>
                        </a:defRPr>
                      </a:pPr>
                      <a:r>
                        <a:t>報道・公開時期</a:t>
                      </a:r>
                    </a:p>
                  </a:txBody>
                  <a:tcPr>
                    <a:solidFill>
                      <a:srgbClr val="1E2761"/>
                    </a:solidFill>
                  </a:tcPr>
                </a:tc>
              </a:tr>
              <a:tr h="502920">
                <a:tc>
                  <a:txBody>
                    <a:bodyPr/>
                    <a:lstStyle/>
                    <a:p>
                      <a:pPr>
                        <a:defRPr sz="1200">
                          <a:solidFill>
                            <a:srgbClr val="1A1A2E"/>
                          </a:solidFill>
                          <a:latin typeface="Yu Gothic"/>
                        </a:defRPr>
                      </a:pPr>
                      <a:r>
                        <a:t>Fortune</a:t>
                      </a:r>
                    </a:p>
                  </a:txBody>
                  <a:tcPr>
                    <a:solidFill>
                      <a:srgbClr val="FFFFFF"/>
                    </a:solidFill>
                  </a:tcPr>
                </a:tc>
                <a:tc>
                  <a:txBody>
                    <a:bodyPr/>
                    <a:lstStyle/>
                    <a:p>
                      <a:pPr>
                        <a:defRPr sz="1200">
                          <a:solidFill>
                            <a:srgbClr val="1A1A2E"/>
                          </a:solidFill>
                          <a:latin typeface="Yu Gothic"/>
                        </a:defRPr>
                      </a:pPr>
                      <a:r>
                        <a:t>2026-08-04</a:t>
                      </a:r>
                    </a:p>
                  </a:txBody>
                  <a:tcPr>
                    <a:solidFill>
                      <a:srgbClr val="FFFFFF"/>
                    </a:solidFill>
                  </a:tcPr>
                </a:tc>
              </a:tr>
              <a:tr h="502920">
                <a:tc>
                  <a:txBody>
                    <a:bodyPr/>
                    <a:lstStyle/>
                    <a:p>
                      <a:pPr>
                        <a:defRPr sz="1200">
                          <a:solidFill>
                            <a:srgbClr val="1A1A2E"/>
                          </a:solidFill>
                          <a:latin typeface="Yu Gothic"/>
                        </a:defRPr>
                      </a:pPr>
                      <a:r>
                        <a:t>CNBC</a:t>
                      </a:r>
                    </a:p>
                  </a:txBody>
                  <a:tcPr>
                    <a:solidFill>
                      <a:srgbClr val="F3F6FC"/>
                    </a:solidFill>
                  </a:tcPr>
                </a:tc>
                <a:tc>
                  <a:txBody>
                    <a:bodyPr/>
                    <a:lstStyle/>
                    <a:p>
                      <a:pPr>
                        <a:defRPr sz="1200">
                          <a:solidFill>
                            <a:srgbClr val="1A1A2E"/>
                          </a:solidFill>
                          <a:latin typeface="Yu Gothic"/>
                        </a:defRPr>
                      </a:pPr>
                      <a:r>
                        <a:t>2026-08-03</a:t>
                      </a:r>
                    </a:p>
                  </a:txBody>
                  <a:tcPr>
                    <a:solidFill>
                      <a:srgbClr val="F3F6FC"/>
                    </a:solidFill>
                  </a:tcPr>
                </a:tc>
              </a:tr>
              <a:tr h="502920">
                <a:tc>
                  <a:txBody>
                    <a:bodyPr/>
                    <a:lstStyle/>
                    <a:p>
                      <a:pPr>
                        <a:defRPr sz="1200">
                          <a:solidFill>
                            <a:srgbClr val="1A1A2E"/>
                          </a:solidFill>
                          <a:latin typeface="Yu Gothic"/>
                        </a:defRPr>
                      </a:pPr>
                      <a:r>
                        <a:t>NY1</a:t>
                      </a:r>
                    </a:p>
                  </a:txBody>
                  <a:tcPr>
                    <a:solidFill>
                      <a:srgbClr val="FFFFFF"/>
                    </a:solidFill>
                  </a:tcPr>
                </a:tc>
                <a:tc>
                  <a:txBody>
                    <a:bodyPr/>
                    <a:lstStyle/>
                    <a:p>
                      <a:pPr>
                        <a:defRPr sz="1200">
                          <a:solidFill>
                            <a:srgbClr val="1A1A2E"/>
                          </a:solidFill>
                          <a:latin typeface="Yu Gothic"/>
                        </a:defRPr>
                      </a:pPr>
                      <a:r>
                        <a:t>2026-08-04</a:t>
                      </a:r>
                    </a:p>
                  </a:txBody>
                  <a:tcPr>
                    <a:solidFill>
                      <a:srgbClr val="FFFFFF"/>
                    </a:solidFill>
                  </a:tcPr>
                </a:tc>
              </a:tr>
              <a:tr h="502920">
                <a:tc>
                  <a:txBody>
                    <a:bodyPr/>
                    <a:lstStyle/>
                    <a:p>
                      <a:pPr>
                        <a:defRPr sz="1200">
                          <a:solidFill>
                            <a:srgbClr val="1A1A2E"/>
                          </a:solidFill>
                          <a:latin typeface="Yu Gothic"/>
                        </a:defRPr>
                      </a:pPr>
                      <a:r>
                        <a:t>Norton Rose Fulbright</a:t>
                      </a:r>
                    </a:p>
                  </a:txBody>
                  <a:tcPr>
                    <a:solidFill>
                      <a:srgbClr val="F3F6FC"/>
                    </a:solidFill>
                  </a:tcPr>
                </a:tc>
                <a:tc>
                  <a:txBody>
                    <a:bodyPr/>
                    <a:lstStyle/>
                    <a:p>
                      <a:pPr>
                        <a:defRPr sz="1200">
                          <a:solidFill>
                            <a:srgbClr val="1A1A2E"/>
                          </a:solidFill>
                          <a:latin typeface="Yu Gothic"/>
                        </a:defRPr>
                      </a:pPr>
                      <a:r>
                        <a:t>2026年6月(大統領令解説)</a:t>
                      </a:r>
                    </a:p>
                  </a:txBody>
                  <a:tcPr>
                    <a:solidFill>
                      <a:srgbClr val="F3F6FC"/>
                    </a:solidFill>
                  </a:tcPr>
                </a:tc>
              </a:tr>
              <a:tr h="502920">
                <a:tc>
                  <a:txBody>
                    <a:bodyPr/>
                    <a:lstStyle/>
                    <a:p>
                      <a:pPr>
                        <a:defRPr sz="1200">
                          <a:solidFill>
                            <a:srgbClr val="1A1A2E"/>
                          </a:solidFill>
                          <a:latin typeface="Yu Gothic"/>
                        </a:defRPr>
                      </a:pPr>
                      <a:r>
                        <a:t>Skadden</a:t>
                      </a:r>
                    </a:p>
                  </a:txBody>
                  <a:tcPr>
                    <a:solidFill>
                      <a:srgbClr val="FFFFFF"/>
                    </a:solidFill>
                  </a:tcPr>
                </a:tc>
                <a:tc>
                  <a:txBody>
                    <a:bodyPr/>
                    <a:lstStyle/>
                    <a:p>
                      <a:pPr>
                        <a:defRPr sz="1200">
                          <a:solidFill>
                            <a:srgbClr val="1A1A2E"/>
                          </a:solidFill>
                          <a:latin typeface="Yu Gothic"/>
                        </a:defRPr>
                      </a:pPr>
                      <a:r>
                        <a:t>2026年6月(大統領令解説)</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Fortune・CNBC・NY1 ほか(会合日2026-08-04)｜144本目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2026/8/4 協議終了・内容非公開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大統領令に基づく任意の事前アクセス枠組みについて、企業とホワイトハウスが協議を終えたが、内容は一般公開されない見込み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『任意』の枠組みが、どこまで実務を動かすか。続報を、出典付きで追っていく。</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非公開の内容がいずれ明らかになるか、今後も注目したいポイントです。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