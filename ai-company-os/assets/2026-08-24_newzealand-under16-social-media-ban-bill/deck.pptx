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ニュージーランド政府が、16歳未満の子どものSNS利用を禁止する法案を議会に提出しました。何が起きているのか、出典付きで正確に整理してお届けします。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結論から確認します。違反した企業には、世界全体の年間売上高の最大10%に相当する罰金が科される可能性があります。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本日の流れです。法案の概要から議会内の状況、そして確認できなかったことまで整理します。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着手日前日に複数メディアが一斉報道した、鮮度の高い話題です。政府公式発表も同日に行われています。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法案は、16歳未満の子どものSNS利用を禁止することを目的としています。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法案の正式名称は「Social Media (Age-Restricted Users) Bill」で、高リスクなSNSプラットフォームを対象としています。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法案の主な内容をまとめました。年齢基準・対象範囲・罰金・新設機関の4点が柱です。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年齢確認の手段として、既存のアカウント情報・顔認証技術・デジタルIDドキュメントの活用が想定されています。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違反した企業には、世界全体の年間売上高の最大10%に相当する罰金が科される可能性があります。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対象プラットフォームとして、Instagram・TikTok・Snapchat・Facebookなどが例示されていますが、これは対象範囲の例示です。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SNSプラットフォームは年齢確認を実施し、16歳未満の利用を制限する義務を負うことになります。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議会内では、ACT党とニュージーランド・ファースト党が本法案を支持しない意向を示しています。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ルクソン首相は、SNSが子どもたちの家族生活・メンタルヘルス・睡眠・教育に影響を与えていると述べています。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議会内で一部政党が不支持を表明しており、法案が可決されるかどうかは不透明とされています。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法案は提出された段階であり、審議・可決・施行という今後のステップが残っています。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法案には、オンライン安全規制機関の新設も盛り込まれています。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対象として例示されたプラットフォームは4社を超えます。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政府が法案を提出した一方、連立を組む一部政党が不支持を表明しています。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SNSの年齢規制は世界的なテーマですが、他国との詳細な比較は確認できていません。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複数の独立したメディア、および政府公式発表で内容の一貫性を確認しています。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現行制度と新法案では、SNS利用の年齢制限の有無が大きな違いです。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法案はまだ提出段階であり、施行時期は未定です。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本テーマは、SNS規制の世界的な議論の一事例として、事実のみを整理しています。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今回のニュースに至るまでのタイムラインです。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現時点はあくまで法案提出の段階であり、可決は確定していません。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16歳未満のSNS利用禁止、違反企業への最大10%の罰金という内容の法案が議会に提出されました。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本日はニュージーランドのSNS禁止法案についてお届けしました。確認できなかったことは正直に開示しています。次回もお楽しみに。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16歳未満は</a:t>
            </a:r>
          </a:p>
          <a:p>
            <a:pPr algn="l">
              <a:lnSpc>
                <a:spcPct val="115000"/>
              </a:lnSpc>
            </a:pPr>
            <a:r>
              <a:rPr sz="4200" b="1">
                <a:solidFill>
                  <a:srgbClr val="FFFFFF"/>
                </a:solidFill>
                <a:latin typeface="Yu Gothic"/>
              </a:rPr>
              <a:t>SNS禁止に</a:t>
            </a:r>
          </a:p>
          <a:p>
            <a:pPr algn="l">
              <a:lnSpc>
                <a:spcPct val="115000"/>
              </a:lnSpc>
            </a:pPr>
            <a:r>
              <a:rPr sz="4200" b="1">
                <a:solidFill>
                  <a:srgbClr val="FFFFFF"/>
                </a:solidFill>
                <a:latin typeface="Yu Gothic"/>
              </a:rPr>
              <a:t>ニュージーランドが法案提出</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違反企業には世界売上の10%の罰金も——出典付きで整理する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Bloomberg(2026年8月24日)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最大10% 違反企業への罰金(世界売上高比)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16歳未満のSNS利用を禁止する法案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法案の概要を確認する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年齢確認の方法・罰金制度を確認する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議会内の賛否の状況</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Bloomberg・Washington Post・RNZ等が2026年8月24日に一斉報道</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ニュージーランド政府公式(Beehive.govt.nz)も同日発表</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SNSと子どもの安全という世界的に関心の高いテーマ</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対象年齢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16歳未満 SNS利用が禁止される対象</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オンライン安全法案(Online Safety Bill)</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Beehive.govt.nz(2026年8月)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法案の概要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正式名称は「Social Media (Age-Restricted Users) Bill」</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「高リスク」に分類されるSNSプラットフォームが対象</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オンライン安全規制機関の設置・罰則制度の整備も含む</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Beehive.govt.nz(2026年8月)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法案の主な内容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対象年齢</a:t>
                      </a:r>
                    </a:p>
                  </a:txBody>
                  <a:tcPr>
                    <a:solidFill>
                      <a:srgbClr val="FFFFFF"/>
                    </a:solidFill>
                  </a:tcPr>
                </a:tc>
                <a:tc>
                  <a:txBody>
                    <a:bodyPr/>
                    <a:lstStyle/>
                    <a:p>
                      <a:pPr>
                        <a:defRPr sz="1200">
                          <a:solidFill>
                            <a:srgbClr val="1C2230"/>
                          </a:solidFill>
                          <a:latin typeface="Yu Gothic"/>
                        </a:defRPr>
                      </a:pPr>
                      <a:r>
                        <a:t>16歳未満</a:t>
                      </a:r>
                    </a:p>
                  </a:txBody>
                  <a:tcPr>
                    <a:solidFill>
                      <a:srgbClr val="FFFFFF"/>
                    </a:solidFill>
                  </a:tcPr>
                </a:tc>
              </a:tr>
              <a:tr h="502920">
                <a:tc>
                  <a:txBody>
                    <a:bodyPr/>
                    <a:lstStyle/>
                    <a:p>
                      <a:pPr>
                        <a:defRPr sz="1200">
                          <a:solidFill>
                            <a:srgbClr val="1C2230"/>
                          </a:solidFill>
                          <a:latin typeface="Yu Gothic"/>
                        </a:defRPr>
                      </a:pPr>
                      <a:r>
                        <a:t>対象プラットフォーム</a:t>
                      </a:r>
                    </a:p>
                  </a:txBody>
                  <a:tcPr>
                    <a:solidFill>
                      <a:srgbClr val="F1F5FA"/>
                    </a:solidFill>
                  </a:tcPr>
                </a:tc>
                <a:tc>
                  <a:txBody>
                    <a:bodyPr/>
                    <a:lstStyle/>
                    <a:p>
                      <a:pPr>
                        <a:defRPr sz="1200">
                          <a:solidFill>
                            <a:srgbClr val="1C2230"/>
                          </a:solidFill>
                          <a:latin typeface="Yu Gothic"/>
                        </a:defRPr>
                      </a:pPr>
                      <a:r>
                        <a:t>「高リスク」に分類されるSNS</a:t>
                      </a:r>
                    </a:p>
                  </a:txBody>
                  <a:tcPr>
                    <a:solidFill>
                      <a:srgbClr val="F1F5FA"/>
                    </a:solidFill>
                  </a:tcPr>
                </a:tc>
              </a:tr>
              <a:tr h="502920">
                <a:tc>
                  <a:txBody>
                    <a:bodyPr/>
                    <a:lstStyle/>
                    <a:p>
                      <a:pPr>
                        <a:defRPr sz="1200">
                          <a:solidFill>
                            <a:srgbClr val="1C2230"/>
                          </a:solidFill>
                          <a:latin typeface="Yu Gothic"/>
                        </a:defRPr>
                      </a:pPr>
                      <a:r>
                        <a:t>罰金上限</a:t>
                      </a:r>
                    </a:p>
                  </a:txBody>
                  <a:tcPr>
                    <a:solidFill>
                      <a:srgbClr val="FFFFFF"/>
                    </a:solidFill>
                  </a:tcPr>
                </a:tc>
                <a:tc>
                  <a:txBody>
                    <a:bodyPr/>
                    <a:lstStyle/>
                    <a:p>
                      <a:pPr>
                        <a:defRPr sz="1200">
                          <a:solidFill>
                            <a:srgbClr val="1C2230"/>
                          </a:solidFill>
                          <a:latin typeface="Yu Gothic"/>
                        </a:defRPr>
                      </a:pPr>
                      <a:r>
                        <a:t>世界売上高の最大10%</a:t>
                      </a:r>
                    </a:p>
                  </a:txBody>
                  <a:tcPr>
                    <a:solidFill>
                      <a:srgbClr val="FFFFFF"/>
                    </a:solidFill>
                  </a:tcPr>
                </a:tc>
              </a:tr>
              <a:tr h="502920">
                <a:tc>
                  <a:txBody>
                    <a:bodyPr/>
                    <a:lstStyle/>
                    <a:p>
                      <a:pPr>
                        <a:defRPr sz="1200">
                          <a:solidFill>
                            <a:srgbClr val="1C2230"/>
                          </a:solidFill>
                          <a:latin typeface="Yu Gothic"/>
                        </a:defRPr>
                      </a:pPr>
                      <a:r>
                        <a:t>新設機関</a:t>
                      </a:r>
                    </a:p>
                  </a:txBody>
                  <a:tcPr>
                    <a:solidFill>
                      <a:srgbClr val="F1F5FA"/>
                    </a:solidFill>
                  </a:tcPr>
                </a:tc>
                <a:tc>
                  <a:txBody>
                    <a:bodyPr/>
                    <a:lstStyle/>
                    <a:p>
                      <a:pPr>
                        <a:defRPr sz="1200">
                          <a:solidFill>
                            <a:srgbClr val="1C2230"/>
                          </a:solidFill>
                          <a:latin typeface="Yu Gothic"/>
                        </a:defRPr>
                      </a:pPr>
                      <a:r>
                        <a:t>オンライン安全規制機関</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年齢確認の方法</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既存のアカウント情報の活用</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顔認証技術の活用</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デジタルIDドキュメントの活用</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Washington Post(2026-08-24)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違反時の罰金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世界売上高の10% 違反企業への罰金上限</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プラットフォーム企業に大きな影響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Bloomberg(2026-08-24)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対象プラットフォーム</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Instagram・TikTok・Snapchat・Facebookなどが例示されている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「高リスク」と分類されるSNSが対象</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これらの企業が既に違反しているわけではない点に注意</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Washington Post(2026-08-24)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法案の仕組み(概念図)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SNSプラットフォーム</a:t>
            </a:r>
          </a:p>
        </p:txBody>
      </p:sp>
      <p:sp>
        <p:nvSpPr>
          <p:cNvPr id="9" name="Right Arrow 8"/>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年齢確認の実施</a:t>
            </a:r>
          </a:p>
        </p:txBody>
      </p:sp>
      <p:sp>
        <p:nvSpPr>
          <p:cNvPr id="13" name="Right Arrow 12"/>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16歳未満の利用制限</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違反時は世界売上高の最大10%の罰金対象に</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賛成・反対の政党</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立場</a:t>
                      </a:r>
                    </a:p>
                  </a:txBody>
                  <a:tcPr>
                    <a:solidFill>
                      <a:srgbClr val="2B3A55"/>
                    </a:solidFill>
                  </a:tcPr>
                </a:tc>
                <a:tc>
                  <a:txBody>
                    <a:bodyPr/>
                    <a:lstStyle/>
                    <a:p>
                      <a:pPr>
                        <a:defRPr sz="1300" b="1">
                          <a:solidFill>
                            <a:srgbClr val="FFFFFF"/>
                          </a:solidFill>
                          <a:latin typeface="Yu Gothic"/>
                        </a:defRPr>
                      </a:pPr>
                      <a:r>
                        <a:t>政党</a:t>
                      </a:r>
                    </a:p>
                  </a:txBody>
                  <a:tcPr>
                    <a:solidFill>
                      <a:srgbClr val="2B3A55"/>
                    </a:solidFill>
                  </a:tcPr>
                </a:tc>
              </a:tr>
              <a:tr h="502920">
                <a:tc>
                  <a:txBody>
                    <a:bodyPr/>
                    <a:lstStyle/>
                    <a:p>
                      <a:pPr>
                        <a:defRPr sz="1200">
                          <a:solidFill>
                            <a:srgbClr val="1C2230"/>
                          </a:solidFill>
                          <a:latin typeface="Yu Gothic"/>
                        </a:defRPr>
                      </a:pPr>
                      <a:r>
                        <a:t>法案提出</a:t>
                      </a:r>
                    </a:p>
                  </a:txBody>
                  <a:tcPr>
                    <a:solidFill>
                      <a:srgbClr val="FFFFFF"/>
                    </a:solidFill>
                  </a:tcPr>
                </a:tc>
                <a:tc>
                  <a:txBody>
                    <a:bodyPr/>
                    <a:lstStyle/>
                    <a:p>
                      <a:pPr>
                        <a:defRPr sz="1200">
                          <a:solidFill>
                            <a:srgbClr val="1C2230"/>
                          </a:solidFill>
                          <a:latin typeface="Yu Gothic"/>
                        </a:defRPr>
                      </a:pPr>
                      <a:r>
                        <a:t>ルクソン首相率いる政府</a:t>
                      </a:r>
                    </a:p>
                  </a:txBody>
                  <a:tcPr>
                    <a:solidFill>
                      <a:srgbClr val="FFFFFF"/>
                    </a:solidFill>
                  </a:tcPr>
                </a:tc>
              </a:tr>
              <a:tr h="502920">
                <a:tc>
                  <a:txBody>
                    <a:bodyPr/>
                    <a:lstStyle/>
                    <a:p>
                      <a:pPr>
                        <a:defRPr sz="1200">
                          <a:solidFill>
                            <a:srgbClr val="1C2230"/>
                          </a:solidFill>
                          <a:latin typeface="Yu Gothic"/>
                        </a:defRPr>
                      </a:pPr>
                      <a:r>
                        <a:t>不支持を表明</a:t>
                      </a:r>
                    </a:p>
                  </a:txBody>
                  <a:tcPr>
                    <a:solidFill>
                      <a:srgbClr val="F1F5FA"/>
                    </a:solidFill>
                  </a:tcPr>
                </a:tc>
                <a:tc>
                  <a:txBody>
                    <a:bodyPr/>
                    <a:lstStyle/>
                    <a:p>
                      <a:pPr>
                        <a:defRPr sz="1200">
                          <a:solidFill>
                            <a:srgbClr val="1C2230"/>
                          </a:solidFill>
                          <a:latin typeface="Yu Gothic"/>
                        </a:defRPr>
                      </a:pPr>
                      <a:r>
                        <a:t>ACT党・ニュージーランド・ファースト党</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RNZ(2026年8月)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首相のコメント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SNSは子どもたちを有害なコンテンツにさらしている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依存性の高い技術・プレッシャーに子どもは対応できていない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家族生活・メンタルヘルス・睡眠・教育に影響が出ていると指摘</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Washington Post(2026-08-24)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議会内の状況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可決は不透明 一部政党が不支持を表明</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ACT党・ニュージーランド・ファースト党</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RNZ(2026年8月)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法案成立までの流れ</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法案提出</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2026年8月、議会に提出</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審議</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議会での審議(スケジュール未確認)</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可決・施行</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可決の見通しは不透明</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規制機関の設置</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オンライン安全規制機関を新設する内容を含む</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プラットフォーム企業へのコンプライアンス圧力を強化</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罰則制度の運用主体になるとみられる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確定</a:t>
                      </a:r>
                    </a:p>
                  </a:txBody>
                  <a:tcPr>
                    <a:solidFill>
                      <a:srgbClr val="FFFFFF"/>
                    </a:solidFill>
                  </a:tcPr>
                </a:tc>
                <a:tc>
                  <a:txBody>
                    <a:bodyPr/>
                    <a:lstStyle/>
                    <a:p>
                      <a:pPr>
                        <a:defRPr sz="1200">
                          <a:solidFill>
                            <a:srgbClr val="1C2230"/>
                          </a:solidFill>
                          <a:latin typeface="Yu Gothic"/>
                        </a:defRPr>
                      </a:pPr>
                      <a:r>
                        <a:t>法案の対象年齢・罰金上限・議会内の賛否表明</a:t>
                      </a:r>
                    </a:p>
                  </a:txBody>
                  <a:tcPr>
                    <a:solidFill>
                      <a:srgbClr val="FFFFFF"/>
                    </a:solidFill>
                  </a:tcPr>
                </a:tc>
              </a:tr>
              <a:tr h="502920">
                <a:tc>
                  <a:txBody>
                    <a:bodyPr/>
                    <a:lstStyle/>
                    <a:p>
                      <a:pPr>
                        <a:defRPr sz="1200">
                          <a:solidFill>
                            <a:srgbClr val="1C2230"/>
                          </a:solidFill>
                          <a:latin typeface="Yu Gothic"/>
                        </a:defRPr>
                      </a:pPr>
                      <a:r>
                        <a:t>確定</a:t>
                      </a:r>
                    </a:p>
                  </a:txBody>
                  <a:tcPr>
                    <a:solidFill>
                      <a:srgbClr val="F1F5FA"/>
                    </a:solidFill>
                  </a:tcPr>
                </a:tc>
                <a:tc>
                  <a:txBody>
                    <a:bodyPr/>
                    <a:lstStyle/>
                    <a:p>
                      <a:pPr>
                        <a:defRPr sz="1200">
                          <a:solidFill>
                            <a:srgbClr val="1C2230"/>
                          </a:solidFill>
                          <a:latin typeface="Yu Gothic"/>
                        </a:defRPr>
                      </a:pPr>
                      <a:r>
                        <a:t>首相のコメント・年齢確認の想定手段</a:t>
                      </a:r>
                    </a:p>
                  </a:txBody>
                  <a:tcPr>
                    <a:solidFill>
                      <a:srgbClr val="F1F5FA"/>
                    </a:solidFill>
                  </a:tcPr>
                </a:tc>
              </a:tr>
              <a:tr h="502920">
                <a:tc>
                  <a:txBody>
                    <a:bodyPr/>
                    <a:lstStyle/>
                    <a:p>
                      <a:pPr>
                        <a:defRPr sz="1200">
                          <a:solidFill>
                            <a:srgbClr val="1C2230"/>
                          </a:solidFill>
                          <a:latin typeface="Yu Gothic"/>
                        </a:defRPr>
                      </a:pPr>
                      <a:r>
                        <a:t>未確認</a:t>
                      </a:r>
                    </a:p>
                  </a:txBody>
                  <a:tcPr>
                    <a:solidFill>
                      <a:srgbClr val="FFFFFF"/>
                    </a:solidFill>
                  </a:tcPr>
                </a:tc>
                <a:tc>
                  <a:txBody>
                    <a:bodyPr/>
                    <a:lstStyle/>
                    <a:p>
                      <a:pPr>
                        <a:defRPr sz="1200">
                          <a:solidFill>
                            <a:srgbClr val="1C2230"/>
                          </a:solidFill>
                          <a:latin typeface="Yu Gothic"/>
                        </a:defRPr>
                      </a:pPr>
                      <a:r>
                        <a:t>可決見通し・審議スケジュール・施行時期</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法案の具体的な可決見通し・審議スケジュール</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年齢確認の技術的な実装方法の詳細</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施行された場合の具体的な適用開始時期</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対象プラットフォームの例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4社超 例示されたSNSプラットフォーム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Instagram・TikTok・Snapchat・Facebook等</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Washington Post(2026-08-24)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賛成 vs 反対の政党</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法案を提出</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ルクソン首相率いる政府</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不支持を表明</a:t>
            </a:r>
          </a:p>
        </p:txBody>
      </p:sp>
      <p:sp>
        <p:nvSpPr>
          <p:cNvPr id="14" name="Oval 13"/>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ACT党</a:t>
            </a:r>
          </a:p>
        </p:txBody>
      </p:sp>
      <p:sp>
        <p:nvSpPr>
          <p:cNvPr id="16" name="Oval 15"/>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ニュージーランド・ファースト党</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他国の同様規制との違い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SNSの年齢規制は世界各国で議論されているテーマ</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本法案は罰金として世界売上高の10%という高い水準を設定</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他国の規制との具体的な比較は本調査の範囲では確認できていない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主要出典の一覧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B3A55"/>
                    </a:solidFill>
                  </a:tcPr>
                </a:tc>
                <a:tc>
                  <a:txBody>
                    <a:bodyPr/>
                    <a:lstStyle/>
                    <a:p>
                      <a:pPr>
                        <a:defRPr sz="1300" b="1">
                          <a:solidFill>
                            <a:srgbClr val="FFFFFF"/>
                          </a:solidFill>
                          <a:latin typeface="Yu Gothic"/>
                        </a:defRPr>
                      </a:pPr>
                      <a:r>
                        <a:t>報道日</a:t>
                      </a:r>
                    </a:p>
                  </a:txBody>
                  <a:tcPr>
                    <a:solidFill>
                      <a:srgbClr val="2B3A55"/>
                    </a:solidFill>
                  </a:tcPr>
                </a:tc>
              </a:tr>
              <a:tr h="502920">
                <a:tc>
                  <a:txBody>
                    <a:bodyPr/>
                    <a:lstStyle/>
                    <a:p>
                      <a:pPr>
                        <a:defRPr sz="1200">
                          <a:solidFill>
                            <a:srgbClr val="1C2230"/>
                          </a:solidFill>
                          <a:latin typeface="Yu Gothic"/>
                        </a:defRPr>
                      </a:pPr>
                      <a:r>
                        <a:t>Bloomberg</a:t>
                      </a:r>
                    </a:p>
                  </a:txBody>
                  <a:tcPr>
                    <a:solidFill>
                      <a:srgbClr val="FFFFFF"/>
                    </a:solidFill>
                  </a:tcPr>
                </a:tc>
                <a:tc>
                  <a:txBody>
                    <a:bodyPr/>
                    <a:lstStyle/>
                    <a:p>
                      <a:pPr>
                        <a:defRPr sz="1200">
                          <a:solidFill>
                            <a:srgbClr val="1C2230"/>
                          </a:solidFill>
                          <a:latin typeface="Yu Gothic"/>
                        </a:defRPr>
                      </a:pPr>
                      <a:r>
                        <a:t>2026年8月24日</a:t>
                      </a:r>
                    </a:p>
                  </a:txBody>
                  <a:tcPr>
                    <a:solidFill>
                      <a:srgbClr val="FFFFFF"/>
                    </a:solidFill>
                  </a:tcPr>
                </a:tc>
              </a:tr>
              <a:tr h="502920">
                <a:tc>
                  <a:txBody>
                    <a:bodyPr/>
                    <a:lstStyle/>
                    <a:p>
                      <a:pPr>
                        <a:defRPr sz="1200">
                          <a:solidFill>
                            <a:srgbClr val="1C2230"/>
                          </a:solidFill>
                          <a:latin typeface="Yu Gothic"/>
                        </a:defRPr>
                      </a:pPr>
                      <a:r>
                        <a:t>The Washington Post</a:t>
                      </a:r>
                    </a:p>
                  </a:txBody>
                  <a:tcPr>
                    <a:solidFill>
                      <a:srgbClr val="F1F5FA"/>
                    </a:solidFill>
                  </a:tcPr>
                </a:tc>
                <a:tc>
                  <a:txBody>
                    <a:bodyPr/>
                    <a:lstStyle/>
                    <a:p>
                      <a:pPr>
                        <a:defRPr sz="1200">
                          <a:solidFill>
                            <a:srgbClr val="1C2230"/>
                          </a:solidFill>
                          <a:latin typeface="Yu Gothic"/>
                        </a:defRPr>
                      </a:pPr>
                      <a:r>
                        <a:t>2026年8月24日</a:t>
                      </a:r>
                    </a:p>
                  </a:txBody>
                  <a:tcPr>
                    <a:solidFill>
                      <a:srgbClr val="F1F5FA"/>
                    </a:solidFill>
                  </a:tcPr>
                </a:tc>
              </a:tr>
              <a:tr h="502920">
                <a:tc>
                  <a:txBody>
                    <a:bodyPr/>
                    <a:lstStyle/>
                    <a:p>
                      <a:pPr>
                        <a:defRPr sz="1200">
                          <a:solidFill>
                            <a:srgbClr val="1C2230"/>
                          </a:solidFill>
                          <a:latin typeface="Yu Gothic"/>
                        </a:defRPr>
                      </a:pPr>
                      <a:r>
                        <a:t>RNZ</a:t>
                      </a:r>
                    </a:p>
                  </a:txBody>
                  <a:tcPr>
                    <a:solidFill>
                      <a:srgbClr val="FFFFFF"/>
                    </a:solidFill>
                  </a:tcPr>
                </a:tc>
                <a:tc>
                  <a:txBody>
                    <a:bodyPr/>
                    <a:lstStyle/>
                    <a:p>
                      <a:pPr>
                        <a:defRPr sz="1200">
                          <a:solidFill>
                            <a:srgbClr val="1C2230"/>
                          </a:solidFill>
                          <a:latin typeface="Yu Gothic"/>
                        </a:defRPr>
                      </a:pPr>
                      <a:r>
                        <a:t>2026年8月</a:t>
                      </a:r>
                    </a:p>
                  </a:txBody>
                  <a:tcPr>
                    <a:solidFill>
                      <a:srgbClr val="FFFFFF"/>
                    </a:solidFill>
                  </a:tcPr>
                </a:tc>
              </a:tr>
              <a:tr h="502920">
                <a:tc>
                  <a:txBody>
                    <a:bodyPr/>
                    <a:lstStyle/>
                    <a:p>
                      <a:pPr>
                        <a:defRPr sz="1200">
                          <a:solidFill>
                            <a:srgbClr val="1C2230"/>
                          </a:solidFill>
                          <a:latin typeface="Yu Gothic"/>
                        </a:defRPr>
                      </a:pPr>
                      <a:r>
                        <a:t>Beehive.govt.nz(政府公式)</a:t>
                      </a:r>
                    </a:p>
                  </a:txBody>
                  <a:tcPr>
                    <a:solidFill>
                      <a:srgbClr val="F1F5FA"/>
                    </a:solidFill>
                  </a:tcPr>
                </a:tc>
                <a:tc>
                  <a:txBody>
                    <a:bodyPr/>
                    <a:lstStyle/>
                    <a:p>
                      <a:pPr>
                        <a:defRPr sz="1200">
                          <a:solidFill>
                            <a:srgbClr val="1C2230"/>
                          </a:solidFill>
                          <a:latin typeface="Yu Gothic"/>
                        </a:defRPr>
                      </a:pPr>
                      <a:r>
                        <a:t>2026年8月</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現行制度 vs 新法案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現行</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SNS利用に法的な年齢制限なし</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新法案(可決された場合)</a:t>
            </a:r>
          </a:p>
        </p:txBody>
      </p:sp>
      <p:sp>
        <p:nvSpPr>
          <p:cNvPr id="14" name="Oval 13"/>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16歳未満の利用を禁止</a:t>
            </a:r>
          </a:p>
        </p:txBody>
      </p:sp>
      <p:sp>
        <p:nvSpPr>
          <p:cNvPr id="16" name="Oval 15"/>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違反企業に高額罰金</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施行時期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未定 可決見通しも不透明</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法案提出段階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RNZ(2026年8月)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今回のニュースの3つの注目ポイント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16歳未満のSNS利用を禁止する法案</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罰金は世界売上高の最大10%という高水準</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連立与党内でも賛否が分かれている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視聴者にとっての意味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SNS企業の規制動向を追う人に参考になる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子どものオンライン安全という世界的な議論の一事例になる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法案の是非についての政治的評価は行わない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タイムライン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B3A55"/>
                    </a:solidFill>
                  </a:tcPr>
                </a:tc>
                <a:tc>
                  <a:txBody>
                    <a:bodyPr/>
                    <a:lstStyle/>
                    <a:p>
                      <a:pPr>
                        <a:defRPr sz="1300" b="1">
                          <a:solidFill>
                            <a:srgbClr val="FFFFFF"/>
                          </a:solidFill>
                          <a:latin typeface="Yu Gothic"/>
                        </a:defRPr>
                      </a:pPr>
                      <a:r>
                        <a:t>できごと</a:t>
                      </a:r>
                    </a:p>
                  </a:txBody>
                  <a:tcPr>
                    <a:solidFill>
                      <a:srgbClr val="2B3A55"/>
                    </a:solidFill>
                  </a:tcPr>
                </a:tc>
              </a:tr>
              <a:tr h="502920">
                <a:tc>
                  <a:txBody>
                    <a:bodyPr/>
                    <a:lstStyle/>
                    <a:p>
                      <a:pPr>
                        <a:defRPr sz="1200">
                          <a:solidFill>
                            <a:srgbClr val="1C2230"/>
                          </a:solidFill>
                          <a:latin typeface="Yu Gothic"/>
                        </a:defRPr>
                      </a:pPr>
                      <a:r>
                        <a:t>2026年8月23日頃</a:t>
                      </a:r>
                    </a:p>
                  </a:txBody>
                  <a:tcPr>
                    <a:solidFill>
                      <a:srgbClr val="FFFFFF"/>
                    </a:solidFill>
                  </a:tcPr>
                </a:tc>
                <a:tc>
                  <a:txBody>
                    <a:bodyPr/>
                    <a:lstStyle/>
                    <a:p>
                      <a:pPr>
                        <a:defRPr sz="1200">
                          <a:solidFill>
                            <a:srgbClr val="1C2230"/>
                          </a:solidFill>
                          <a:latin typeface="Yu Gothic"/>
                        </a:defRPr>
                      </a:pPr>
                      <a:r>
                        <a:t>法案の内容が固まる</a:t>
                      </a:r>
                    </a:p>
                  </a:txBody>
                  <a:tcPr>
                    <a:solidFill>
                      <a:srgbClr val="FFFFFF"/>
                    </a:solidFill>
                  </a:tcPr>
                </a:tc>
              </a:tr>
              <a:tr h="502920">
                <a:tc>
                  <a:txBody>
                    <a:bodyPr/>
                    <a:lstStyle/>
                    <a:p>
                      <a:pPr>
                        <a:defRPr sz="1200">
                          <a:solidFill>
                            <a:srgbClr val="1C2230"/>
                          </a:solidFill>
                          <a:latin typeface="Yu Gothic"/>
                        </a:defRPr>
                      </a:pPr>
                      <a:r>
                        <a:t>2026年8月24日</a:t>
                      </a:r>
                    </a:p>
                  </a:txBody>
                  <a:tcPr>
                    <a:solidFill>
                      <a:srgbClr val="F1F5FA"/>
                    </a:solidFill>
                  </a:tcPr>
                </a:tc>
                <a:tc>
                  <a:txBody>
                    <a:bodyPr/>
                    <a:lstStyle/>
                    <a:p>
                      <a:pPr>
                        <a:defRPr sz="1200">
                          <a:solidFill>
                            <a:srgbClr val="1C2230"/>
                          </a:solidFill>
                          <a:latin typeface="Yu Gothic"/>
                        </a:defRPr>
                      </a:pPr>
                      <a:r>
                        <a:t>議会に法案提出、複数メディアが一斉報道</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法案提出 vs 法案可決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法案提出(現時点)</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議会に提出された段階</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審議はこれから</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法案可決(将来、不確実)</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可決すれば施行へ</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一部政党の不支持で不透明</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16歳未満禁止・罰金最大10% ニュージーランドの新法案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2026年8月24日時点で確認できた事実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Bloomberg(2026-08-24)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