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本日はDeepSeekの軽量モデル『DeepSeek-V4-Flash』の公開ベータ提供開始という話題をお届けします。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今日は、何が起きたのか、価格、上位版との比較、AI業界の価格競争、確認できたこと・できなかったことをお伝えします。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DeepSeekが7月31日、軽量モデルDeepSeek-V4-Flashの公開ベータ提供を開始したと報じられました。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その発表日がこちら、着手日の3日前です。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DeepSeek-V4-Flashは、DeepSeekが提供する軽量モデルの公開ベータAPIです。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価格の内訳は、入力0.14ドル、出力0.28ドル、上位版の約3分の1という水準です。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入力価格は100万トークンあたり0.14ドルです。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上位版の約3分の1という価格でありながら、旗艦モデルを上回る性能とされている点が話題です。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価格と性能の関係を図で見ると、軽量版でありながら旗艦モデルを上回るとされる点が特徴的です。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価格比較をまとめると、この表の通りです。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出力価格は100万トークンあたり0.28ドルです。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報じたメディアは、codezine、tech-noisy、BigGoファイナンスです。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複数のメディアが、AI業界全体の価格競争が激化している文脈の一つとして位置づけています。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報道の広がり方を図で見ると、公開ベータ提供開始から3日後の本日、話題化しています。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ここまでを総括します。軽量版でありながら旗艦モデルを超えるとされる点が、今回の話題の核心です。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本テーマでは、技術・価格の客観的な事実のみを扱い、特定国・企業への政治的評価は行っていません。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ここからは推測です。他社の対抗値下げ、利用の広がり、第三者による性能評価の検証が焦点になりそうです。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想定される影響としては、開発者の選択肢の増加、業界全体の価格競争の激化が挙げられます。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低価格化は、開発者にとってコスト面・性能面での選択肢の広がりを意味します。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本テーマでは数字の創作をせず、性能評価の根拠が未確認であることも明記しています。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出典はこの表の通り、独立した複数のテック専門メディアです。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確認できたことと確認できなかったことを正直に整理します。性能評価の基準の詳細はまだ確認できていません。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改めて確認します。DeepSeek-V4-Flashは、上位版の約3分の1という価格で公開ベータ提供が始まりました。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既に紹介したMiniMax H3と比べると、扱う分野・話題の性質が異なり、重複ではありません。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皆さんは、低価格・高性能の軽量モデルをどんな用途に使ってみたいですか。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数字で見ると、入力0.14ドル、出力0.28ドル、上位版の約3分の1という水準です。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改めて総括します。低価格化と高性能化が同時に進む、その一つの節目でした。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第三者ベンチマークによる性能検証、そして他社の対応に注目していきましょう。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今回もありがとうございました。DeepSeek-V4-Flashの公開ベータ提供開始の話題をお届けしました。次回もお楽しみに。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軽量モデルが、旗艦モデルを超えてくる時代</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DeepSeek「DeepSeek-V4-Flash」公開ベータ提供開始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codezine・tech-noisy・BigGoファイナンス ほか(2026-07-31)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DeepSeek-V4-Flashの価格</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上位版との比較</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AI業界の価格競争</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DeepSeekが軽量モデル『DeepSeek-V4-Flash』の公開ベータ提供を開始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発表日は2026年7月31日、着手日の3日前</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軽量版でありながら旗艦モデルを上回る性能とされる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codezine(2026-07-31頃)</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2026年7月31日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着手日の3日前という高い鮮度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codezine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提供元</a:t>
                      </a:r>
                    </a:p>
                  </a:txBody>
                  <a:tcPr>
                    <a:solidFill>
                      <a:srgbClr val="FFFFFF"/>
                    </a:solidFill>
                  </a:tcPr>
                </a:tc>
                <a:tc>
                  <a:txBody>
                    <a:bodyPr/>
                    <a:lstStyle/>
                    <a:p>
                      <a:pPr>
                        <a:defRPr sz="1200">
                          <a:solidFill>
                            <a:srgbClr val="20261F"/>
                          </a:solidFill>
                          <a:latin typeface="Yu Gothic"/>
                        </a:defRPr>
                      </a:pPr>
                      <a:r>
                        <a:t>DeepSeek</a:t>
                      </a:r>
                    </a:p>
                  </a:txBody>
                  <a:tcPr>
                    <a:solidFill>
                      <a:srgbClr val="FFFFFF"/>
                    </a:solidFill>
                  </a:tcPr>
                </a:tc>
              </a:tr>
              <a:tr h="502920">
                <a:tc>
                  <a:txBody>
                    <a:bodyPr/>
                    <a:lstStyle/>
                    <a:p>
                      <a:pPr>
                        <a:defRPr sz="1200">
                          <a:solidFill>
                            <a:srgbClr val="20261F"/>
                          </a:solidFill>
                          <a:latin typeface="Yu Gothic"/>
                        </a:defRPr>
                      </a:pPr>
                      <a:r>
                        <a:t>モデル名</a:t>
                      </a:r>
                    </a:p>
                  </a:txBody>
                  <a:tcPr>
                    <a:solidFill>
                      <a:srgbClr val="F4F1E6"/>
                    </a:solidFill>
                  </a:tcPr>
                </a:tc>
                <a:tc>
                  <a:txBody>
                    <a:bodyPr/>
                    <a:lstStyle/>
                    <a:p>
                      <a:pPr>
                        <a:defRPr sz="1200">
                          <a:solidFill>
                            <a:srgbClr val="20261F"/>
                          </a:solidFill>
                          <a:latin typeface="Yu Gothic"/>
                        </a:defRPr>
                      </a:pPr>
                      <a:r>
                        <a:t>DeepSeek-V4-Flash</a:t>
                      </a:r>
                    </a:p>
                  </a:txBody>
                  <a:tcPr>
                    <a:solidFill>
                      <a:srgbClr val="F4F1E6"/>
                    </a:solidFill>
                  </a:tcPr>
                </a:tc>
              </a:tr>
              <a:tr h="502920">
                <a:tc>
                  <a:txBody>
                    <a:bodyPr/>
                    <a:lstStyle/>
                    <a:p>
                      <a:pPr>
                        <a:defRPr sz="1200">
                          <a:solidFill>
                            <a:srgbClr val="20261F"/>
                          </a:solidFill>
                          <a:latin typeface="Yu Gothic"/>
                        </a:defRPr>
                      </a:pPr>
                      <a:r>
                        <a:t>提供形態</a:t>
                      </a:r>
                    </a:p>
                  </a:txBody>
                  <a:tcPr>
                    <a:solidFill>
                      <a:srgbClr val="FFFFFF"/>
                    </a:solidFill>
                  </a:tcPr>
                </a:tc>
                <a:tc>
                  <a:txBody>
                    <a:bodyPr/>
                    <a:lstStyle/>
                    <a:p>
                      <a:pPr>
                        <a:defRPr sz="1200">
                          <a:solidFill>
                            <a:srgbClr val="20261F"/>
                          </a:solidFill>
                          <a:latin typeface="Yu Gothic"/>
                        </a:defRPr>
                      </a:pPr>
                      <a:r>
                        <a:t>公開ベータAPI</a:t>
                      </a:r>
                    </a:p>
                  </a:txBody>
                  <a:tcPr>
                    <a:solidFill>
                      <a:srgbClr val="FFFFFF"/>
                    </a:solidFill>
                  </a:tcPr>
                </a:tc>
              </a:tr>
              <a:tr h="502920">
                <a:tc>
                  <a:txBody>
                    <a:bodyPr/>
                    <a:lstStyle/>
                    <a:p>
                      <a:pPr>
                        <a:defRPr sz="1200">
                          <a:solidFill>
                            <a:srgbClr val="20261F"/>
                          </a:solidFill>
                          <a:latin typeface="Yu Gothic"/>
                        </a:defRPr>
                      </a:pPr>
                      <a:r>
                        <a:t>特徴</a:t>
                      </a:r>
                    </a:p>
                  </a:txBody>
                  <a:tcPr>
                    <a:solidFill>
                      <a:srgbClr val="F4F1E6"/>
                    </a:solidFill>
                  </a:tcPr>
                </a:tc>
                <a:tc>
                  <a:txBody>
                    <a:bodyPr/>
                    <a:lstStyle/>
                    <a:p>
                      <a:pPr>
                        <a:defRPr sz="1200">
                          <a:solidFill>
                            <a:srgbClr val="20261F"/>
                          </a:solidFill>
                          <a:latin typeface="Yu Gothic"/>
                        </a:defRPr>
                      </a:pPr>
                      <a:r>
                        <a:t>軽量版が旗艦モデルを上回る性能とされる</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DeepSeek-V4-Flashとは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提供元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DeepSeek</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位置づけ</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軽量モデル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提供形態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公開ベータAPI</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価格の内訳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入力</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100万トークンあたり0.14ドル</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出力</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100万トークンあたり0.28ドル</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水準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上位版の約3分の1</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提供形態</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公開ベータAPI</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入力価格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0.14ドル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DeepSeek-V4-Flashの入力トークン価格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tech-noisy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上位版との価格差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DeepSeek-V4-Flashの価格は、上位版の約3分の1とされる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軽量版でありながら旗艦モデルを上回る性能とされる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『軽量版が上位版を超える』という意外性が話題に</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tech-noisy</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価格と性能の関係(概念)</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旗艦モデル</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上位版、価格は約3倍</a:t>
            </a:r>
          </a:p>
        </p:txBody>
      </p:sp>
      <p:sp>
        <p:nvSpPr>
          <p:cNvPr id="10" name="Right Arrow 9"/>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DeepSeek-V4-Flash</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軽量版、低価格ながら旗艦を上回る性能とされる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価格比較(1トークンあたり)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4523F"/>
                    </a:solidFill>
                  </a:tcPr>
                </a:tc>
                <a:tc>
                  <a:txBody>
                    <a:bodyPr/>
                    <a:lstStyle/>
                    <a:p>
                      <a:pPr>
                        <a:defRPr sz="1300" b="1">
                          <a:solidFill>
                            <a:srgbClr val="FFFFFF"/>
                          </a:solidFill>
                          <a:latin typeface="Yu Gothic"/>
                        </a:defRPr>
                      </a:pPr>
                      <a:r>
                        <a:t>価格(100万トークンあたり)</a:t>
                      </a:r>
                    </a:p>
                  </a:txBody>
                  <a:tcPr>
                    <a:solidFill>
                      <a:srgbClr val="24523F"/>
                    </a:solidFill>
                  </a:tcPr>
                </a:tc>
              </a:tr>
              <a:tr h="502920">
                <a:tc>
                  <a:txBody>
                    <a:bodyPr/>
                    <a:lstStyle/>
                    <a:p>
                      <a:pPr>
                        <a:defRPr sz="1200">
                          <a:solidFill>
                            <a:srgbClr val="20261F"/>
                          </a:solidFill>
                          <a:latin typeface="Yu Gothic"/>
                        </a:defRPr>
                      </a:pPr>
                      <a:r>
                        <a:t>入力</a:t>
                      </a:r>
                    </a:p>
                  </a:txBody>
                  <a:tcPr>
                    <a:solidFill>
                      <a:srgbClr val="FFFFFF"/>
                    </a:solidFill>
                  </a:tcPr>
                </a:tc>
                <a:tc>
                  <a:txBody>
                    <a:bodyPr/>
                    <a:lstStyle/>
                    <a:p>
                      <a:pPr>
                        <a:defRPr sz="1200">
                          <a:solidFill>
                            <a:srgbClr val="20261F"/>
                          </a:solidFill>
                          <a:latin typeface="Yu Gothic"/>
                        </a:defRPr>
                      </a:pPr>
                      <a:r>
                        <a:t>0.14ドル</a:t>
                      </a:r>
                    </a:p>
                  </a:txBody>
                  <a:tcPr>
                    <a:solidFill>
                      <a:srgbClr val="FFFFFF"/>
                    </a:solidFill>
                  </a:tcPr>
                </a:tc>
              </a:tr>
              <a:tr h="502920">
                <a:tc>
                  <a:txBody>
                    <a:bodyPr/>
                    <a:lstStyle/>
                    <a:p>
                      <a:pPr>
                        <a:defRPr sz="1200">
                          <a:solidFill>
                            <a:srgbClr val="20261F"/>
                          </a:solidFill>
                          <a:latin typeface="Yu Gothic"/>
                        </a:defRPr>
                      </a:pPr>
                      <a:r>
                        <a:t>出力</a:t>
                      </a:r>
                    </a:p>
                  </a:txBody>
                  <a:tcPr>
                    <a:solidFill>
                      <a:srgbClr val="F4F1E6"/>
                    </a:solidFill>
                  </a:tcPr>
                </a:tc>
                <a:tc>
                  <a:txBody>
                    <a:bodyPr/>
                    <a:lstStyle/>
                    <a:p>
                      <a:pPr>
                        <a:defRPr sz="1200">
                          <a:solidFill>
                            <a:srgbClr val="20261F"/>
                          </a:solidFill>
                          <a:latin typeface="Yu Gothic"/>
                        </a:defRPr>
                      </a:pPr>
                      <a:r>
                        <a:t>0.28ドル</a:t>
                      </a:r>
                    </a:p>
                  </a:txBody>
                  <a:tcPr>
                    <a:solidFill>
                      <a:srgbClr val="F4F1E6"/>
                    </a:solidFill>
                  </a:tcPr>
                </a:tc>
              </a:tr>
              <a:tr h="502920">
                <a:tc>
                  <a:txBody>
                    <a:bodyPr/>
                    <a:lstStyle/>
                    <a:p>
                      <a:pPr>
                        <a:defRPr sz="1200">
                          <a:solidFill>
                            <a:srgbClr val="20261F"/>
                          </a:solidFill>
                          <a:latin typeface="Yu Gothic"/>
                        </a:defRPr>
                      </a:pPr>
                      <a:r>
                        <a:t>上位版比</a:t>
                      </a:r>
                    </a:p>
                  </a:txBody>
                  <a:tcPr>
                    <a:solidFill>
                      <a:srgbClr val="FFFFFF"/>
                    </a:solidFill>
                  </a:tcPr>
                </a:tc>
                <a:tc>
                  <a:txBody>
                    <a:bodyPr/>
                    <a:lstStyle/>
                    <a:p>
                      <a:pPr>
                        <a:defRPr sz="1200">
                          <a:solidFill>
                            <a:srgbClr val="20261F"/>
                          </a:solidFill>
                          <a:latin typeface="Yu Gothic"/>
                        </a:defRPr>
                      </a:pPr>
                      <a:r>
                        <a:t>約3分の1の水準</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出力価格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0.28ドル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DeepSeek-V4-Flashの出力トークン価格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tech-noisy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報じたメディア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codezine</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公開ベータ提供開始・価格を報道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tech-noisy</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価格設定の詳細を報道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BigGoファイナンス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業界の価格競争という文脈で分析</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AI業界の価格競争という文脈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複数メディアが、AI業界全体の低価格化競争の一環として位置づけている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ただしこの評価自体は各メディアの論評であり、独自の定量的裏付けはない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客観的な事実(価格・提供開始日)と論評を分けて伝える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BigGoファイナンス</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報道の広がり方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公開ベータ提供開始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2026年7月31日</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複数メディアが報道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テック専門メディアが追随</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3日後の本日、注目を集める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軽量版が、旗艦モデルを超える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低価格化と高性能化が同時に進む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政治的中立性への配慮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DeepSeekは中国企業だが、本テーマは技術・価格の客観的事実を扱う</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特定国・企業への政治的評価は行わない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地政学的な文脈への言及は避け、公表された価格・機能の事実のみを扱う</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他社の対抗値下げ</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競合他社が追随する可能性</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利用の広がり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低価格を背景に採用が広がる可能性</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性能評価の検証</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第三者ベンチマークによる検証が進む可能性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開発者</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低価格でAPIを利用できる選択肢が増える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AI業界全体</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価格競争がさらに激化する可能性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利用者</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軽量モデルの実用性への関心が高まる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低価格化が開発者にもたらす選択肢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観点</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コスト面</a:t>
                      </a:r>
                    </a:p>
                  </a:txBody>
                  <a:tcPr>
                    <a:solidFill>
                      <a:srgbClr val="FFFFFF"/>
                    </a:solidFill>
                  </a:tcPr>
                </a:tc>
                <a:tc>
                  <a:txBody>
                    <a:bodyPr/>
                    <a:lstStyle/>
                    <a:p>
                      <a:pPr>
                        <a:defRPr sz="1200">
                          <a:solidFill>
                            <a:srgbClr val="20261F"/>
                          </a:solidFill>
                          <a:latin typeface="Yu Gothic"/>
                        </a:defRPr>
                      </a:pPr>
                      <a:r>
                        <a:t>大量のトークンを扱う用途でも試しやすい価格帯</a:t>
                      </a:r>
                    </a:p>
                  </a:txBody>
                  <a:tcPr>
                    <a:solidFill>
                      <a:srgbClr val="FFFFFF"/>
                    </a:solidFill>
                  </a:tcPr>
                </a:tc>
              </a:tr>
              <a:tr h="502920">
                <a:tc>
                  <a:txBody>
                    <a:bodyPr/>
                    <a:lstStyle/>
                    <a:p>
                      <a:pPr>
                        <a:defRPr sz="1200">
                          <a:solidFill>
                            <a:srgbClr val="20261F"/>
                          </a:solidFill>
                          <a:latin typeface="Yu Gothic"/>
                        </a:defRPr>
                      </a:pPr>
                      <a:r>
                        <a:t>性能面</a:t>
                      </a:r>
                    </a:p>
                  </a:txBody>
                  <a:tcPr>
                    <a:solidFill>
                      <a:srgbClr val="F4F1E6"/>
                    </a:solidFill>
                  </a:tcPr>
                </a:tc>
                <a:tc>
                  <a:txBody>
                    <a:bodyPr/>
                    <a:lstStyle/>
                    <a:p>
                      <a:pPr>
                        <a:defRPr sz="1200">
                          <a:solidFill>
                            <a:srgbClr val="20261F"/>
                          </a:solidFill>
                          <a:latin typeface="Yu Gothic"/>
                        </a:defRPr>
                      </a:pPr>
                      <a:r>
                        <a:t>軽量ながら旗艦モデルを上回るとされる点が評価される可能性</a:t>
                      </a:r>
                    </a:p>
                  </a:txBody>
                  <a:tcPr>
                    <a:solidFill>
                      <a:srgbClr val="F4F1E6"/>
                    </a:solidFill>
                  </a:tcPr>
                </a:tc>
              </a:tr>
              <a:tr h="502920">
                <a:tc>
                  <a:txBody>
                    <a:bodyPr/>
                    <a:lstStyle/>
                    <a:p>
                      <a:pPr>
                        <a:defRPr sz="1200">
                          <a:solidFill>
                            <a:srgbClr val="20261F"/>
                          </a:solidFill>
                          <a:latin typeface="Yu Gothic"/>
                        </a:defRPr>
                      </a:pPr>
                      <a:r>
                        <a:t>選択の幅</a:t>
                      </a:r>
                    </a:p>
                  </a:txBody>
                  <a:tcPr>
                    <a:solidFill>
                      <a:srgbClr val="FFFFFF"/>
                    </a:solidFill>
                  </a:tcPr>
                </a:tc>
                <a:tc>
                  <a:txBody>
                    <a:bodyPr/>
                    <a:lstStyle/>
                    <a:p>
                      <a:pPr>
                        <a:defRPr sz="1200">
                          <a:solidFill>
                            <a:srgbClr val="20261F"/>
                          </a:solidFill>
                          <a:latin typeface="Yu Gothic"/>
                        </a:defRPr>
                      </a:pPr>
                      <a:r>
                        <a:t>用途に応じてモデルを使い分ける選択肢が広がる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数字の創作はせず、報道された価格のみを扱う</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『旗艦モデルを上回る性能』の評価基準は未確認と明記する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特定企業・製品の利用を強く推奨する結論にはしない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codezine</a:t>
                      </a:r>
                    </a:p>
                  </a:txBody>
                  <a:tcPr>
                    <a:solidFill>
                      <a:srgbClr val="FFFFFF"/>
                    </a:solidFill>
                  </a:tcPr>
                </a:tc>
                <a:tc>
                  <a:txBody>
                    <a:bodyPr/>
                    <a:lstStyle/>
                    <a:p>
                      <a:pPr>
                        <a:defRPr sz="1200">
                          <a:solidFill>
                            <a:srgbClr val="20261F"/>
                          </a:solidFill>
                          <a:latin typeface="Yu Gothic"/>
                        </a:defRPr>
                      </a:pPr>
                      <a:r>
                        <a:t>公開ベータ提供開始・価格を報道</a:t>
                      </a:r>
                    </a:p>
                  </a:txBody>
                  <a:tcPr>
                    <a:solidFill>
                      <a:srgbClr val="FFFFFF"/>
                    </a:solidFill>
                  </a:tcPr>
                </a:tc>
              </a:tr>
              <a:tr h="502920">
                <a:tc>
                  <a:txBody>
                    <a:bodyPr/>
                    <a:lstStyle/>
                    <a:p>
                      <a:pPr>
                        <a:defRPr sz="1200">
                          <a:solidFill>
                            <a:srgbClr val="20261F"/>
                          </a:solidFill>
                          <a:latin typeface="Yu Gothic"/>
                        </a:defRPr>
                      </a:pPr>
                      <a:r>
                        <a:t>tech-noisy</a:t>
                      </a:r>
                    </a:p>
                  </a:txBody>
                  <a:tcPr>
                    <a:solidFill>
                      <a:srgbClr val="F4F1E6"/>
                    </a:solidFill>
                  </a:tcPr>
                </a:tc>
                <a:tc>
                  <a:txBody>
                    <a:bodyPr/>
                    <a:lstStyle/>
                    <a:p>
                      <a:pPr>
                        <a:defRPr sz="1200">
                          <a:solidFill>
                            <a:srgbClr val="20261F"/>
                          </a:solidFill>
                          <a:latin typeface="Yu Gothic"/>
                        </a:defRPr>
                      </a:pPr>
                      <a:r>
                        <a:t>価格設定の詳細・上位版との比較を報道</a:t>
                      </a:r>
                    </a:p>
                  </a:txBody>
                  <a:tcPr>
                    <a:solidFill>
                      <a:srgbClr val="F4F1E6"/>
                    </a:solidFill>
                  </a:tcPr>
                </a:tc>
              </a:tr>
              <a:tr h="502920">
                <a:tc>
                  <a:txBody>
                    <a:bodyPr/>
                    <a:lstStyle/>
                    <a:p>
                      <a:pPr>
                        <a:defRPr sz="1200">
                          <a:solidFill>
                            <a:srgbClr val="20261F"/>
                          </a:solidFill>
                          <a:latin typeface="Yu Gothic"/>
                        </a:defRPr>
                      </a:pPr>
                      <a:r>
                        <a:t>BigGoファイナンス</a:t>
                      </a:r>
                    </a:p>
                  </a:txBody>
                  <a:tcPr>
                    <a:solidFill>
                      <a:srgbClr val="FFFFFF"/>
                    </a:solidFill>
                  </a:tcPr>
                </a:tc>
                <a:tc>
                  <a:txBody>
                    <a:bodyPr/>
                    <a:lstStyle/>
                    <a:p>
                      <a:pPr>
                        <a:defRPr sz="1200">
                          <a:solidFill>
                            <a:srgbClr val="20261F"/>
                          </a:solidFill>
                          <a:latin typeface="Yu Gothic"/>
                        </a:defRPr>
                      </a:pPr>
                      <a:r>
                        <a:t>AI業界の価格競争という文脈で分析</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確認済み: 発表日・入力/出力価格・上位版との価格差</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『旗艦モデルを上回る性能』の評価基準・ベンチマーク</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モデルのパラメータ数・アーキテクチャの詳細</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公開ベータの提供地域・利用制限の有無</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DeepSeek-V4-Flash</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0.14ドル / 100万トークン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上位版の約3分の1という価格で公開ベータ提供開始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DeepSeek-V4-FlashとMiniMax H3(参考)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DeepSeek-V4-Flash</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軽量LLM、低価格APIが特徴</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2026年7月31日に公開ベータ開始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MiniMax H3(既存テーマ)</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動画生成AI、オープンウェイトが特徴</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2026年8月3日に公開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視聴者への問いかけ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低価格・高性能の軽量モデル、どんな用途に使ってみたいですか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AI業界の価格競争、今後どこまで続くと思いますか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数字で見るDeepSeek-V4-Flash</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入力価格</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0.14ドル / 100万トークン</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出力価格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0.28ドル / 100万トークン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上位版比</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約3分の1の水準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低価格化と高性能化が、同時に進む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DeepSeek-V4-Flash、2026年7月31日に公開ベータ提供開始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第三者ベンチマークによる性能検証、他社の対応に注目していきます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DeepSeekの軽量モデル『DeepSeek-V4-Flash』、公開ベータ提供開始(2026年7月31日)</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価格は上位版の約3分の1、軽量版が旗艦モデルを上回る性能とされる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性能評価の根拠は未確認、AI業界の価格競争という文脈で紹介した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codezine・tech-noisy・BigGoファイナンス ほか(2026-07-31)｜定期実行103本目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