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本数(号)</c:v>
                </c:pt>
              </c:strCache>
            </c:strRef>
          </c:tx>
          <c:spPr>
            <a:solidFill>
              <a:srgbClr val="1B2A2E"/>
            </a:solidFill>
          </c:spPr>
          <c:cat>
            <c:strRef>
              <c:f>Sheet1!$A$2:$A$3</c:f>
              <c:strCache>
                <c:ptCount val="2"/>
                <c:pt idx="0">
                  <c:v>移籍前(エンゼルス時代)</c:v>
                </c:pt>
                <c:pt idx="1">
                  <c:v>移籍後(2024年以降)</c:v>
                </c:pt>
              </c:strCache>
            </c:strRef>
          </c:cat>
          <c:val>
            <c:numRef>
              <c:f>Sheet1!$B$2:$B$3</c:f>
              <c:numCache>
                <c:formatCode>General</c:formatCode>
                <c:ptCount val="2"/>
                <c:pt idx="0">
                  <c:v>99</c:v>
                </c:pt>
                <c:pt idx="1">
                  <c:v>1</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大谷翔平選手が古巣エンゼルスの本拠地エンゼルスタジアムで、移籍後初めてとなる本塁打を放ちました。しかもそれは、この球場での通算100本目という記念すべき一本で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結論から言うと、大谷選手はエンゼルスタジアムでの通算本塁打を100本目に到達させました。2026年8月11日、42号ソロホームランによる記録です。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今日は、何が起きたのか、本塁打の詳細、古巣との関係、数字で見る100本目、注意点・不明点、今後の見方をお伝えします。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この話題を今回取り上げる理由は3つです。着手日当日という高い鮮度、複数メディアの一致した報道、そして古巣での移籍後初かつ通算100本目という物語性の強さです。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試合の基本情報をまとめると、この表の通りです。場所は大谷選手の古巣エンゼルスタジアムで、試合はドジャースが4対7で敗れました。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打席の流れを整理すると、フルカウントまで粘った末、内角のカットボールを捉え、右翼席への42号ソロホームランとなりました。これが3試合連続本塁打・同球場通算100本目の記録です。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その一発がこちら、今季42号です。フルカウントから内角のカットボールを捉えました。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この一発には3つの記録が重なっています。同球場通算100本目、移籍後初、そして3試合連続本塁打です。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古巣との関係を時系列で見ると、エンゼルス時代に積み重ねた本塁打が、2024年の移籍を経て、2026年8月11日に移籍後初・通算100本目という形で更新されました。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初めての方向けに大谷選手を簡単に紹介します。ドジャース所属で投打二刀流の選手で、2024年にエンゼルスから移籍しました。エンゼルスタジアムはそのかつての本拠地です。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用語を確認しておきます。「古巣」は以前所属していたチームの本拠地、「移籍後初」はチームを移ってから初めて記録したという意味です。今回はこの2つが同時に重なりました。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移籍前と移籍後を比べると、移籍前は本拠地として本塁打を積み重ねていましたが、移籍後は同球場での本塁打がゼロの状態が続いていました。それが今回、待望の第1号となりました。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直近の勢いにも注目です。今回の一発を含め、3試合連続で本塁打を記録しています。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この内訳は独自の統計ではなく、確定している2つの事実(通算100本目・移籍後は今回が初)から算出した数字です。移籍前が99本、移籍後が1本という計算になります。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ここまでの数字をまとめると、この表の通りです。42号、同球場通算100本目、3試合連続、移籍後初アーチ、そして試合は4対7で敗戦でした。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確認できている事実を整理すると、この4点です。日付、場所、本塁打の内容、そして試合結果です。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本塁打から報道、話題化までの流れを図にすると、このようになります。「古巣で100本目」という切り口が話題を広げました。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ここで大事な点を確認します。本テーマは大谷選手個人の記録が主題ですが、古巣エンゼルスや試合の敗戦という事実も正直に伝えます。特定チーム・選手を貶める、過度に持ち上げる表現はしていません。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この記録を知ると何が変わるか。移籍後も元の本拠地での記録が積み重なっていくというキャリアの見方が分かりますし、次に古巣対決のニュースを見るときの新しい視点にもなります。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この話題を楽しむポイントは3つです。確定した数字を確認すること、記録の背景を理解すること、そして試合結果も含めて全体を見ることです。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既存テーマとの違いを確認します。7月30日の回は別の日程・別の記録、8月3日の回は鈴木誠也選手が主役で大谷選手は対戦相手としての登場でした。本テーマは大谷選手自身の、この日の記録が主題です。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注意点です。今後の本塁打数の見通しやシーズン成績の予測は本テーマでは扱いません。また、試合中に一部で報じられていた未確認情報にも触れていません。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出典はこの表の通りです。日刊スポーツをはじめ、複数の独立したスポーツニュースサイトが同じ内容を報じています。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確認できたことと確認できなかったことを正直に整理します。本塁打の詳細や記録は確認済みですが、投球の細かい数値や、未確認の身体的懸念に関する情報は扱っていません。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改めて試合結果です。記念すべき一発を放ちながらも、ドジャースは4対7で敗れました。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今回の制作で意識した教訓は3つです。数字を創作しないこと、不明点は不明と書くこと、そして良い記録の裏にある敗戦も隠さず伝えることです。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最後に整理します。確定事実として扱ったのはこの5点、あえて扱わなかったのはこの3種類の情報です。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ここからは推測です。今後の本塁打ペース、古巣との今後の対戦、シーズン終盤の活躍に注目が集まりそうです。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大谷選手の今後の本塁打、そして古巣エンゼルスとの今後の対戦にも注目していきましょう。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今回もありがとうございました。大谷翔平選手が古巣エンゼルスタジアムで放った、通算100本目・移籍後初の一発の話題をお届けしました。次回もお楽しみに。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かつての本拠地で、彼は移籍後初めて、記念すべき一本を放った。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大谷翔平選手、エンゼルスタジアムで通算100本塁打・42号ソロ(2026年8月11日)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日刊スポーツ(dメニューニュース経由、2026-08-11/12)ほか複数のスポーツニュースサイト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100本目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エンゼルスタジアムでの大谷選手の通算本塁打が100本に到達(2026年8月11日、42号ソロ)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日刊スポーツ(2026-08-11/12)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何が起きたのか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本塁打の詳細</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古巣との関係</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数字で見る100本目</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注意点・不明点</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今後の見方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2026年8月11日(現地)/8月12日(日本時間)発表で、着手日当日の高い鮮度</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日刊スポーツ(dメニューニュース経由)ほか複数のスポーツニュースサイトが同じ内容を報道</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「古巣で移籍後初、しかも通算100本目」という物語性の強い記録</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ai-company-os/research/2026-08-11_theme-evaluation-round99.md</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試合の基本情報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日付</a:t>
                      </a:r>
                    </a:p>
                  </a:txBody>
                  <a:tcPr>
                    <a:solidFill>
                      <a:srgbClr val="FFFFFF"/>
                    </a:solidFill>
                  </a:tcPr>
                </a:tc>
                <a:tc>
                  <a:txBody>
                    <a:bodyPr/>
                    <a:lstStyle/>
                    <a:p>
                      <a:pPr>
                        <a:defRPr sz="1200">
                          <a:solidFill>
                            <a:srgbClr val="121C1F"/>
                          </a:solidFill>
                          <a:latin typeface="Yu Gothic"/>
                        </a:defRPr>
                      </a:pPr>
                      <a:r>
                        <a:t>2026年8月11日(現地時間)/8月12日(日本時間)発表</a:t>
                      </a:r>
                    </a:p>
                  </a:txBody>
                  <a:tcPr>
                    <a:solidFill>
                      <a:srgbClr val="FFFFFF"/>
                    </a:solidFill>
                  </a:tcPr>
                </a:tc>
              </a:tr>
              <a:tr h="502920">
                <a:tc>
                  <a:txBody>
                    <a:bodyPr/>
                    <a:lstStyle/>
                    <a:p>
                      <a:pPr>
                        <a:defRPr sz="1200">
                          <a:solidFill>
                            <a:srgbClr val="121C1F"/>
                          </a:solidFill>
                          <a:latin typeface="Yu Gothic"/>
                        </a:defRPr>
                      </a:pPr>
                      <a:r>
                        <a:t>球場</a:t>
                      </a:r>
                    </a:p>
                  </a:txBody>
                  <a:tcPr>
                    <a:solidFill>
                      <a:srgbClr val="F0F7F4"/>
                    </a:solidFill>
                  </a:tcPr>
                </a:tc>
                <a:tc>
                  <a:txBody>
                    <a:bodyPr/>
                    <a:lstStyle/>
                    <a:p>
                      <a:pPr>
                        <a:defRPr sz="1200">
                          <a:solidFill>
                            <a:srgbClr val="121C1F"/>
                          </a:solidFill>
                          <a:latin typeface="Yu Gothic"/>
                        </a:defRPr>
                      </a:pPr>
                      <a:r>
                        <a:t>エンゼルスタジアム(大谷選手の古巣・エンゼルス本拠地)</a:t>
                      </a:r>
                    </a:p>
                  </a:txBody>
                  <a:tcPr>
                    <a:solidFill>
                      <a:srgbClr val="F0F7F4"/>
                    </a:solidFill>
                  </a:tcPr>
                </a:tc>
              </a:tr>
              <a:tr h="502920">
                <a:tc>
                  <a:txBody>
                    <a:bodyPr/>
                    <a:lstStyle/>
                    <a:p>
                      <a:pPr>
                        <a:defRPr sz="1200">
                          <a:solidFill>
                            <a:srgbClr val="121C1F"/>
                          </a:solidFill>
                          <a:latin typeface="Yu Gothic"/>
                        </a:defRPr>
                      </a:pPr>
                      <a:r>
                        <a:t>対戦</a:t>
                      </a:r>
                    </a:p>
                  </a:txBody>
                  <a:tcPr>
                    <a:solidFill>
                      <a:srgbClr val="FFFFFF"/>
                    </a:solidFill>
                  </a:tcPr>
                </a:tc>
                <a:tc>
                  <a:txBody>
                    <a:bodyPr/>
                    <a:lstStyle/>
                    <a:p>
                      <a:pPr>
                        <a:defRPr sz="1200">
                          <a:solidFill>
                            <a:srgbClr val="121C1F"/>
                          </a:solidFill>
                          <a:latin typeface="Yu Gothic"/>
                        </a:defRPr>
                      </a:pPr>
                      <a:r>
                        <a:t>ドジャース at エンゼルス</a:t>
                      </a:r>
                    </a:p>
                  </a:txBody>
                  <a:tcPr>
                    <a:solidFill>
                      <a:srgbClr val="FFFFFF"/>
                    </a:solidFill>
                  </a:tcPr>
                </a:tc>
              </a:tr>
              <a:tr h="502920">
                <a:tc>
                  <a:txBody>
                    <a:bodyPr/>
                    <a:lstStyle/>
                    <a:p>
                      <a:pPr>
                        <a:defRPr sz="1200">
                          <a:solidFill>
                            <a:srgbClr val="121C1F"/>
                          </a:solidFill>
                          <a:latin typeface="Yu Gothic"/>
                        </a:defRPr>
                      </a:pPr>
                      <a:r>
                        <a:t>試合結果</a:t>
                      </a:r>
                    </a:p>
                  </a:txBody>
                  <a:tcPr>
                    <a:solidFill>
                      <a:srgbClr val="F0F7F4"/>
                    </a:solidFill>
                  </a:tcPr>
                </a:tc>
                <a:tc>
                  <a:txBody>
                    <a:bodyPr/>
                    <a:lstStyle/>
                    <a:p>
                      <a:pPr>
                        <a:defRPr sz="1200">
                          <a:solidFill>
                            <a:srgbClr val="121C1F"/>
                          </a:solidFill>
                          <a:latin typeface="Yu Gothic"/>
                        </a:defRPr>
                      </a:pPr>
                      <a:r>
                        <a:t>ドジャースが4-7で敗戦</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日刊スポーツ(2026-08-11/12)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打席の流れ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カウント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フルカウントまで粘る</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投球</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内角のカットボール</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結果</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右翼席への42号ソロホームラン</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記録</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3試合連続本塁打・同球場通算100本目</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本塁打の詳細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42号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2026年8月11日、フルカウントから内角のカットボールを右翼席へ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日刊スポーツ(2026-08-11/12)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この一発の3つの記録</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100本目</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エンゼルスタジアム通算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大谷選手が同球場で放った通算100本目の本塁打</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移籍後初</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2024年移籍後</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ドジャース移籍後、同球場での本塁打はこれが初めて</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3試合連続</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直近の勢い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3試合連続で本塁打を記録</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日刊スポーツ(2026-08-11/12)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古巣との関係(タイムライン)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エンゼルス時代</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本拠地エンゼルスタジアムで本塁打を積み重ねる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2024年</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ドジャースへ移籍</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2026年8月11日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古巣で移籍後初、通算100本目の一発</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古巣での記録は、移籍後も静かに積み重なっていた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大谷翔平選手とは(初心者向け基礎知識)</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ドジャース所属、投打二刀流で活躍するMLB選手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2024年にエンゼルスからドジャースへ移籍</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エンゼルスタジアムはかつての本拠地(古巣)</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用語解説:「古巣」「移籍後初」とは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「古巣」= 以前所属していたチームの本拠地球場のこと</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「移籍後初」= チームを移ってから初めて記録した、という意味</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今回はこの2つが同時に重なった記念すべき一本</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移籍前 vs 移籍後の古巣本塁打</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移籍前(エンゼルス時代)</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エンゼルスタジアムを本拠地として本塁打を積み重ねた</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地元ファンの前でのプレーが日常だった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移籍後(2024年以降)</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2024年の移籍後、同球場での本塁打はゼロが続いていた</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2026年8月11日、待望の移籍後第1号を記録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直近の勢い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3試合連続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直近3試合で本塁打を記録する勢い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日刊スポーツ(2026-08-11/12)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エンゼルスタジアム本塁打100本の内訳(算出)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算出:「同球場通算100本目」「移籍後初本塁打」という確定事実からの引き算(100-1=99)。個別本数の一次資料そのものは未確認</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数字まとめ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2A2E"/>
                    </a:solidFill>
                  </a:tcPr>
                </a:tc>
                <a:tc>
                  <a:txBody>
                    <a:bodyPr/>
                    <a:lstStyle/>
                    <a:p>
                      <a:pPr>
                        <a:defRPr sz="1300" b="1">
                          <a:solidFill>
                            <a:srgbClr val="FFFFFF"/>
                          </a:solidFill>
                          <a:latin typeface="Yu Gothic"/>
                        </a:defRPr>
                      </a:pPr>
                      <a:r>
                        <a:t>数字</a:t>
                      </a:r>
                    </a:p>
                  </a:txBody>
                  <a:tcPr>
                    <a:solidFill>
                      <a:srgbClr val="1B2A2E"/>
                    </a:solidFill>
                  </a:tcPr>
                </a:tc>
              </a:tr>
              <a:tr h="502920">
                <a:tc>
                  <a:txBody>
                    <a:bodyPr/>
                    <a:lstStyle/>
                    <a:p>
                      <a:pPr>
                        <a:defRPr sz="1200">
                          <a:solidFill>
                            <a:srgbClr val="121C1F"/>
                          </a:solidFill>
                          <a:latin typeface="Yu Gothic"/>
                        </a:defRPr>
                      </a:pPr>
                      <a:r>
                        <a:t>本塁打番号</a:t>
                      </a:r>
                    </a:p>
                  </a:txBody>
                  <a:tcPr>
                    <a:solidFill>
                      <a:srgbClr val="FFFFFF"/>
                    </a:solidFill>
                  </a:tcPr>
                </a:tc>
                <a:tc>
                  <a:txBody>
                    <a:bodyPr/>
                    <a:lstStyle/>
                    <a:p>
                      <a:pPr>
                        <a:defRPr sz="1200">
                          <a:solidFill>
                            <a:srgbClr val="121C1F"/>
                          </a:solidFill>
                          <a:latin typeface="Yu Gothic"/>
                        </a:defRPr>
                      </a:pPr>
                      <a:r>
                        <a:t>42号</a:t>
                      </a:r>
                    </a:p>
                  </a:txBody>
                  <a:tcPr>
                    <a:solidFill>
                      <a:srgbClr val="FFFFFF"/>
                    </a:solidFill>
                  </a:tcPr>
                </a:tc>
              </a:tr>
              <a:tr h="502920">
                <a:tc>
                  <a:txBody>
                    <a:bodyPr/>
                    <a:lstStyle/>
                    <a:p>
                      <a:pPr>
                        <a:defRPr sz="1200">
                          <a:solidFill>
                            <a:srgbClr val="121C1F"/>
                          </a:solidFill>
                          <a:latin typeface="Yu Gothic"/>
                        </a:defRPr>
                      </a:pPr>
                      <a:r>
                        <a:t>同球場通算</a:t>
                      </a:r>
                    </a:p>
                  </a:txBody>
                  <a:tcPr>
                    <a:solidFill>
                      <a:srgbClr val="F0F7F4"/>
                    </a:solidFill>
                  </a:tcPr>
                </a:tc>
                <a:tc>
                  <a:txBody>
                    <a:bodyPr/>
                    <a:lstStyle/>
                    <a:p>
                      <a:pPr>
                        <a:defRPr sz="1200">
                          <a:solidFill>
                            <a:srgbClr val="121C1F"/>
                          </a:solidFill>
                          <a:latin typeface="Yu Gothic"/>
                        </a:defRPr>
                      </a:pPr>
                      <a:r>
                        <a:t>100本目</a:t>
                      </a:r>
                    </a:p>
                  </a:txBody>
                  <a:tcPr>
                    <a:solidFill>
                      <a:srgbClr val="F0F7F4"/>
                    </a:solidFill>
                  </a:tcPr>
                </a:tc>
              </a:tr>
              <a:tr h="502920">
                <a:tc>
                  <a:txBody>
                    <a:bodyPr/>
                    <a:lstStyle/>
                    <a:p>
                      <a:pPr>
                        <a:defRPr sz="1200">
                          <a:solidFill>
                            <a:srgbClr val="121C1F"/>
                          </a:solidFill>
                          <a:latin typeface="Yu Gothic"/>
                        </a:defRPr>
                      </a:pPr>
                      <a:r>
                        <a:t>直近の勢い</a:t>
                      </a:r>
                    </a:p>
                  </a:txBody>
                  <a:tcPr>
                    <a:solidFill>
                      <a:srgbClr val="FFFFFF"/>
                    </a:solidFill>
                  </a:tcPr>
                </a:tc>
                <a:tc>
                  <a:txBody>
                    <a:bodyPr/>
                    <a:lstStyle/>
                    <a:p>
                      <a:pPr>
                        <a:defRPr sz="1200">
                          <a:solidFill>
                            <a:srgbClr val="121C1F"/>
                          </a:solidFill>
                          <a:latin typeface="Yu Gothic"/>
                        </a:defRPr>
                      </a:pPr>
                      <a:r>
                        <a:t>3試合連続</a:t>
                      </a:r>
                    </a:p>
                  </a:txBody>
                  <a:tcPr>
                    <a:solidFill>
                      <a:srgbClr val="FFFFFF"/>
                    </a:solidFill>
                  </a:tcPr>
                </a:tc>
              </a:tr>
              <a:tr h="502920">
                <a:tc>
                  <a:txBody>
                    <a:bodyPr/>
                    <a:lstStyle/>
                    <a:p>
                      <a:pPr>
                        <a:defRPr sz="1200">
                          <a:solidFill>
                            <a:srgbClr val="121C1F"/>
                          </a:solidFill>
                          <a:latin typeface="Yu Gothic"/>
                        </a:defRPr>
                      </a:pPr>
                      <a:r>
                        <a:t>移籍後</a:t>
                      </a:r>
                    </a:p>
                  </a:txBody>
                  <a:tcPr>
                    <a:solidFill>
                      <a:srgbClr val="F0F7F4"/>
                    </a:solidFill>
                  </a:tcPr>
                </a:tc>
                <a:tc>
                  <a:txBody>
                    <a:bodyPr/>
                    <a:lstStyle/>
                    <a:p>
                      <a:pPr>
                        <a:defRPr sz="1200">
                          <a:solidFill>
                            <a:srgbClr val="121C1F"/>
                          </a:solidFill>
                          <a:latin typeface="Yu Gothic"/>
                        </a:defRPr>
                      </a:pPr>
                      <a:r>
                        <a:t>初アーチ</a:t>
                      </a:r>
                    </a:p>
                  </a:txBody>
                  <a:tcPr>
                    <a:solidFill>
                      <a:srgbClr val="F0F7F4"/>
                    </a:solidFill>
                  </a:tcPr>
                </a:tc>
              </a:tr>
              <a:tr h="502920">
                <a:tc>
                  <a:txBody>
                    <a:bodyPr/>
                    <a:lstStyle/>
                    <a:p>
                      <a:pPr>
                        <a:defRPr sz="1200">
                          <a:solidFill>
                            <a:srgbClr val="121C1F"/>
                          </a:solidFill>
                          <a:latin typeface="Yu Gothic"/>
                        </a:defRPr>
                      </a:pPr>
                      <a:r>
                        <a:t>試合結果</a:t>
                      </a:r>
                    </a:p>
                  </a:txBody>
                  <a:tcPr>
                    <a:solidFill>
                      <a:srgbClr val="FFFFFF"/>
                    </a:solidFill>
                  </a:tcPr>
                </a:tc>
                <a:tc>
                  <a:txBody>
                    <a:bodyPr/>
                    <a:lstStyle/>
                    <a:p>
                      <a:pPr>
                        <a:defRPr sz="1200">
                          <a:solidFill>
                            <a:srgbClr val="121C1F"/>
                          </a:solidFill>
                          <a:latin typeface="Yu Gothic"/>
                        </a:defRPr>
                      </a:pPr>
                      <a:r>
                        <a:t>4-7で敗戦</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日刊スポーツ(2026-08-11/12)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確認できている事実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日付</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2026年8月11日(現地)/8月12日(日本時間)発表</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場所</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エンゼルスタジアム(古巣)</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本塁打</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フルカウントから内角カットボールを右翼席へ、42号ソロ</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試合結果</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ドジャースが4-7で敗戦</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話題の広がり方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本塁打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8月11日、古巣での42号ソロ</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複数のスポーツニュースサイトが速報</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「古巣で100本目」がSNS・ニュースで話題に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【重要】中立性・配慮についての開示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本テーマは大谷選手個人の記録を主題とする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古巣エンゼルス・対戦結果(敗戦)についても事実として正直に伝える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特定チーム・選手を貶める、あるいは過度に持ち上げる表現はしない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移籍後も「元の本拠地での記録」が積み重なっていく、というキャリアの見方が分かる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「移籍後初」と「通算100本目」が同じ試合で重なるのは珍しく、記録の希少性を楽しめる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次に古巣対決のニュースを見るときの新しい視点になる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この話題をどう楽しむか(活用ポイント)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確認1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日付・球場・本塁打番号など、確定した数字を確認する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確認2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「移籍後初」「通算100本目」がなぜ話題になるのか、背景を理解する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確認3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試合結果(敗戦)も含めて、一面的にならないよう全体を見る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既存テーマ</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7/30: 大谷選手の23号先頭打者本塁打・71年ぶりの珍記録(別日程・別記録)</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8/3: 鈴木誠也選手の19号2ラン(大谷選手は対戦相手として登場のみ)</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本テーマ</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大谷選手自身が主題</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エンゼルスタジアムでの通算100本目・移籍後初アーチ・3試合連続本塁打が主題</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注意点・過度な期待への注意</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今後の本塁打数の見通し・シーズン成績の予測は本テーマでは扱わない(不明)</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試合中に一部で報じられていた大谷選手の様子に関する未確認情報は、公式発表ではないため触れない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相手投手名・球速など一部の詳細情報は本調査の範囲では確認できていない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日刊スポーツ(dメニューニュース経由)</a:t>
                      </a:r>
                    </a:p>
                  </a:txBody>
                  <a:tcPr>
                    <a:solidFill>
                      <a:srgbClr val="FFFFFF"/>
                    </a:solidFill>
                  </a:tcPr>
                </a:tc>
                <a:tc>
                  <a:txBody>
                    <a:bodyPr/>
                    <a:lstStyle/>
                    <a:p>
                      <a:pPr>
                        <a:defRPr sz="1200">
                          <a:solidFill>
                            <a:srgbClr val="121C1F"/>
                          </a:solidFill>
                          <a:latin typeface="Yu Gothic"/>
                        </a:defRPr>
                      </a:pPr>
                      <a:r>
                        <a:t>2026-08-11/12</a:t>
                      </a:r>
                    </a:p>
                  </a:txBody>
                  <a:tcPr>
                    <a:solidFill>
                      <a:srgbClr val="FFFFFF"/>
                    </a:solidFill>
                  </a:tcPr>
                </a:tc>
                <a:tc>
                  <a:txBody>
                    <a:bodyPr/>
                    <a:lstStyle/>
                    <a:p>
                      <a:pPr>
                        <a:defRPr sz="1200">
                          <a:solidFill>
                            <a:srgbClr val="121C1F"/>
                          </a:solidFill>
                          <a:latin typeface="Yu Gothic"/>
                        </a:defRPr>
                      </a:pPr>
                      <a:r>
                        <a:t>42号ソロ・同球場通算100本目・移籍後初を報道</a:t>
                      </a:r>
                    </a:p>
                  </a:txBody>
                  <a:tcPr>
                    <a:solidFill>
                      <a:srgbClr val="FFFFFF"/>
                    </a:solidFill>
                  </a:tcPr>
                </a:tc>
              </a:tr>
              <a:tr h="502920">
                <a:tc>
                  <a:txBody>
                    <a:bodyPr/>
                    <a:lstStyle/>
                    <a:p>
                      <a:pPr>
                        <a:defRPr sz="1200">
                          <a:solidFill>
                            <a:srgbClr val="121C1F"/>
                          </a:solidFill>
                          <a:latin typeface="Yu Gothic"/>
                        </a:defRPr>
                      </a:pPr>
                      <a:r>
                        <a:t>複数のスポーツニュースサイト</a:t>
                      </a:r>
                    </a:p>
                  </a:txBody>
                  <a:tcPr>
                    <a:solidFill>
                      <a:srgbClr val="F0F7F4"/>
                    </a:solidFill>
                  </a:tcPr>
                </a:tc>
                <a:tc>
                  <a:txBody>
                    <a:bodyPr/>
                    <a:lstStyle/>
                    <a:p>
                      <a:pPr>
                        <a:defRPr sz="1200">
                          <a:solidFill>
                            <a:srgbClr val="121C1F"/>
                          </a:solidFill>
                          <a:latin typeface="Yu Gothic"/>
                        </a:defRPr>
                      </a:pPr>
                      <a:r>
                        <a:t>2026-08-11/12</a:t>
                      </a:r>
                    </a:p>
                  </a:txBody>
                  <a:tcPr>
                    <a:solidFill>
                      <a:srgbClr val="F0F7F4"/>
                    </a:solidFill>
                  </a:tcPr>
                </a:tc>
                <a:tc>
                  <a:txBody>
                    <a:bodyPr/>
                    <a:lstStyle/>
                    <a:p>
                      <a:pPr>
                        <a:defRPr sz="1200">
                          <a:solidFill>
                            <a:srgbClr val="121C1F"/>
                          </a:solidFill>
                          <a:latin typeface="Yu Gothic"/>
                        </a:defRPr>
                      </a:pPr>
                      <a:r>
                        <a:t>3試合連続本塁打・試合結果(4-7敗戦)を報道</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確認済み: 本塁打の詳細(日付・球場・42号・投球コース)</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確認済み: 3試合連続本塁打、同球場通算100本目、移籍後初、試合結果4-7</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未確認: 相手投手名・球速・打球速度・飛距離の具体的数値</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未確認: 試合中の身体的懸念に関する情報(公式発表がないため扱わない)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試合結果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ドジャースは記念すべき一発を放ちながらも敗戦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日刊スポーツ(2026-08-11/12)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今回の教訓(正直さ・出典・中立性)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数字は創作しない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確定した事実の数字のみを使用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不明点は不明と書く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未確認情報は扱わない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勝敗も正直に伝える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良い記録の裏の敗戦も隠さない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確定事実と、扱わなかった情報の整理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確定事実</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42号・同球場100本目・移籍後初・3試合連続・4-7敗戦</a:t>
            </a:r>
          </a:p>
        </p:txBody>
      </p:sp>
      <p:sp>
        <p:nvSpPr>
          <p:cNvPr id="10" name="Right Arrow 9"/>
          <p:cNvSpPr/>
          <p:nvPr/>
        </p:nvSpPr>
        <p:spPr>
          <a:xfrm>
            <a:off x="57575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扱わなかった情報</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身体的懸念の未確認情報・今後の見通し・投球の詳細数値</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注目1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今後の本塁打ペースへの注目(推測)</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注目2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古巣との今後の対戦カードへの関心(推測)</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注目3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シーズン終盤に向けた活躍への期待(推測)</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大谷選手の今後の本塁打、そして古巣エンゼルスとの今後の対戦にも注目していきます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大谷翔平選手が2026年8月11日、古巣エンゼルスタジアムで42号ソロを放つ</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同球場での通算100本目、2024年移籍後は初めての一発だった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3試合連続本塁打という勢いの中での記録。試合はドジャースが4-7で敗戦</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日刊スポーツ(dメニューニュース経由、2026-08-11/12)｜定期実行168本目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