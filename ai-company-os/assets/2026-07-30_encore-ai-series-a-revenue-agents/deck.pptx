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こんにちは。今日取り上げるのは、2026年7月29日に発表されたAIエージェント企業Encore AIの資金調達です。面白いのは、投資家の中に自社の顧客だった銀行や保険会社が含まれていること。この動画では、何が起きているのか、どんな数字が確認できて何が確認できなかったのかを、出典つ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まず結論からです。Encore AIはシリーズAで3,000万ドルを調達し、シード調達から18か月未満でARR、つまり年間経常収益が5倍超に成長しました。そして投資家の中には、銀行のBank Leumiや保険会社のHarelなど、実際にサービスを使っている顧客企業が含まれています。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この動画を見ると、発表の概要、Encore AIが実際に何をする会社なのか、コスト削減ではなく売上創出という打ち出し方の中身、顧客が投資家になった構図、そして確認できなかったことまで分かります。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この話がどれくらい確かなのかにも触れておきます。PRNewswireの一次発表に加えて、TechCrunch、イスラエルの主要IT媒体Calcalist、Fintech.global、Yahoo Financeという独立した複数のメディアが同じ発表を報じています。一方で、企業評価額や日本国内の顧客の有無など、確認できなかった点もあり、本編で正直にお伝えします。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今日はこの5つの流れで話します。まず前提として、なぜ売上創出型のAIエージェントが登場したのかを整理し、次に発表の中身、Encore AIの仕組み、顧客が投資家になった構図、最後に日本への関連と確認できなかったことについて話します。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既存のAIエージェント製品の多くは、問い合わせ対応の自動化など人件費削減を訴求するものが中心です。一方で顧客対応の質そのものを底上げして売上を伸ばすという観点の製品は相対的に少なく、特に銀行や保険のように顧客対応の質が長期的な関係構築に直結する業界では、そうしたニーズが強い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改めて数字を見てみましょう。Encore AIのシリーズA調達額は3,000万ドルです。Team8、Planven、The Garageが主導し、複数の金融機関も参加しています。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投資家の顔ぶれを整理するとこうなります。Team8、Planven、The Garageが主導投資家で、Lukatzも参加しています。そして、Bank LeumiやHarelといった顧客企業が、投資家としても参加している点が特徴的です。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シリーズAとして3,000万ドルを調達し、資金は米国での営業体制拡大と、大手金融機関へのさらなる導入に使われる予定です。PRNewswireの公式発表に加えて、TechCrunchやCalcalistといった媒体がこの発表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仕組みを図で見てみます。従業員と顧客の会話データを収集し、成果につながった対応パターンを特定します。そのパターンでAIエージェントを学習させ、顧客対応チームと並走させる、または自律的に稼働させる、という構造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Encore AIが行う作業を3ステップで見てみます。まず従業員と顧客の会話データを集め、次に成果につながった対応パターンを特定します。そのパターンでAIエージェントを学習させ、顧客対応の現場に投入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前身のInsaitからの変化を整理するとこうなります。2022年にInsait IOとして創業し、当初は金融アドバイザー向けの推奨ソフトウェアを開発していました。シード調達から18か月未満でARRが5倍超に成長し、今回、Encore AIへと改名してシリーズAで3,000万ドルを調達しました。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ここで前提知識を整理します。コスト削減型は、人が対応していた作業をAIに置き換えて人件費を減らす発想です。一方、売上創出型は、AIが人の対応の質を底上げして成果を伸ばす発想です。Encore AIのCEOはこれを「方程式のもう一方の側」と表現しています。どちらが優れているというより、目的の違いとして捉えるのが実態に近いと思います。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もう一つの重要な数字がこちらです。シード調達から18か月未満という短い期間で、ARR、つまり年間経常収益は5倍超に成長したと報じられています。ただし、具体的な実額は公表されていません。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投資家の顔ぶれをもう一度見てみます。Team8、Planven、The Garageが主導投資家、Lukatzが参加投資家です。そして、Bank LeumiやHarelといった実際の顧客企業も、投資家として名を連ねています。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この違いを整理すると、市場の主流であるコスト削減型は問い合わせ対応の自動化が中心で、人件費削減を目的とし、対応件数や処理時間が成果指標になります。それに対してEncore AIが主張する売上創出型は、トップ担当者のノウハウを学習させ、売上や顧客満足度の向上を目的とし、成約率や満足度が成果指標になります。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創業者でCEOのDvir Ginzburg氏はこう述べています。今日の企業向けAI業界はコスト削減に最適化されている、Encoreは方程式のもう一方の側のために作られた、あらゆる組織にはすでに最も優秀な人材が何を違えてやっているかを示すデータが存在する、というコメ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顧客が投資家になった構図を図にすると、まず顧客としてEncore AIを利用し、効果を実感したうえで、今回のシリーズAに投資家として参加した、という流れが見えてきます。ただし、具体的にどのような効果を実感したのかという詳細までは、一次情報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顧客兼投資家について、分かっていることと分かっていないことを整理します。分かっているのは、Bank Leumi、Harel、Garageが顧客かつ投資家として参加していること。分かっていないのは、各社の具体的な導入効果や出資額の内訳です。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CEOはもう一つ、こう述べています。今回のラウンドの投資家の多くは顧客でもある、Harel、Bank Leumi、Garageが含まれており、これはすでにプラットフォームから得ている価値を反映している、という趣旨です。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要顧客の業種と、顧客対応が重要な理由を整理します。銀行は長期的な信頼関係が取引継続に直結し、保険会社は契約更新や請求対応の質が継続利用を左右します。ヘルスケア事業者も、患者や利用者対応の質がサービス評価に直結する業界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になるのは、日本への関連です。現時点で報道から確認できている従業員の拠点は、イスラエル、米国ニューヨーク、オーストラリアで、日本は含まれていません。日本国内の顧客企業があるかどうかは、今回の調査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企業評価額、シード調達時の具体的な金額、日本国内の顧客・拠点、各投資家の出資比率、そしてPRNewswire一次発表の本文全体。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外の方にも参考になる点があります。コスト削減ではなく売上創出という打ち出し方は、他業界のAI製品開発にも応用できる視点ですし、顧客の成功事例を投資参加という形で見せる資金調達の作り方も参考になります。トップ担当者のノウハウをデータ化するという発想は、社内のナレッジ共有にも応用できるでしょう。</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3,000万ドル・ARR5倍超という数字の大きさを把握し、次にコスト削減ではなく売上創出という切り口の違いを確認し、最後に評価額や日本への関連など、まだ分からない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トップ担当者のノウハウを学習させることで、経験の浅い担当者でもより質の高い対応ができるようになる可能性がありますし、銀行や保険といった専門性の高い業界でもAIエージェントの導入が進むかもしれません。顧客が投資家になるという資金調達の形が、他社にも広がる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ARR5倍超の実額や企業評価額が公表されていないこと。2つ目は、顧客が投資家になった具体的な導入効果の数値までは示されていないこと。3つ目は、急成長が続いているとはいえ、これは一企業の発表数値であり、業界全体の傾向だと断定はできない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AIエージェント業界における差別化戦略の広がり方を図にすると、コスト削減が主流の市場の中で、Encore AIのような売上創出という打ち出し方が登場し、その先に訴求軸の多様化があるという流れが見えてきます。最後の他社への波及の部分は推測であることを明記しておきます。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今日の要点を3つにまとめます。シリーズA調達額は3,000万ドルで、Team8・Planven・The Garageが主導。シード後18か月未満でARRは5倍超に成長しましたが、実額は非公表です。そして投資家にはBank LeumiやHarelといった自社顧客が含まれています。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今日は、Encore AIのシリーズA調達について、調達額・成長率・投資家の構成という3つの軸で確認してきました。AIエージェントのニュースを見るときは、今日紹介したような視点で誰が投資しているかも含めて確認す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投資家が、まず「顧客」だった</a:t>
            </a:r>
          </a:p>
          <a:p>
            <a:pPr algn="l">
              <a:lnSpc>
                <a:spcPct val="115000"/>
              </a:lnSpc>
            </a:pPr>
            <a:r>
              <a:rPr sz="4200" b="1">
                <a:solidFill>
                  <a:srgbClr val="FFFFFF"/>
                </a:solidFill>
                <a:latin typeface="Yu Gothic"/>
              </a:rPr>
              <a:t>AIエージェント企業の話</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2026年7月29日発表「Encore AI シリーズA調達」から読み解く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AI Company OS 定期実行57本目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今回の結論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3,000万ドル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シリーズA調達額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Team8・Planven・The Garageが主導</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ARR5倍超</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シード後18か月未満の成長率</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年間経常収益(ARR)がシード調達から5倍超に成長</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顧客が投資家</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投資家の構成</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銀行Bank Leumi・保険会社Harelなど自社顧客が投資家として参加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PRNewswire / TechCrunch(2026-07-29)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何が発表されたのか、いつ・どんな規模の調達なのかが分かる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Encore AIが何をするAIエージェントなのかが分かる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「コスト削減」ではなく「売上創出」という打ち出し方の中身が分かる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顧客が投資家になった構図の具体的な事例が分かる</a:t>
            </a:r>
          </a:p>
        </p:txBody>
      </p:sp>
      <p:sp>
        <p:nvSpPr>
          <p:cNvPr id="14" name="Oval 13"/>
          <p:cNvSpPr/>
          <p:nvPr/>
        </p:nvSpPr>
        <p:spPr>
          <a:xfrm>
            <a:off x="457200" y="459028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PRNewswireの一次発表(プレスリリース)を確認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独立した複数メディア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TechCrunch・Calcalist・Fintech.global・Yahoo Financeが同じ発表を報道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不明点は明記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企業評価額や日本国内の顧客有無など、確認できなかった点は本編で明示します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前提: なぜ「売上創出型」のAIエージェントが登場したのか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発表の中身: 調達額・投資家・実績数値</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仕組み: 会話データからどうエージェントが学習するか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顧客が投資家になった構図と、まだ分からない点</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日本への関連と、確認できなかったこと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前提: なぜ「売上創出型」AIエージェントか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既存のAIエージェントの多くはコスト削減志向</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問い合わせ対応の自動化など、人件費削減を訴求する製品が多い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「売上を伸ばす」観点は手薄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顧客対応の質そのものを底上げする発想の製品は相対的に少ない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規制業界特有のニーズ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銀行・保険は顧客対応の質が長期的な関係構築に直結する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シリーズA調達額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Team8・Planven・The Garageが主導、複数の金融機関も参加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PRNewswire / TechCrunch(2026-07-29)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投資家の顔ぶれ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4523F"/>
                    </a:solidFill>
                  </a:tcPr>
                </a:tc>
                <a:tc>
                  <a:txBody>
                    <a:bodyPr/>
                    <a:lstStyle/>
                    <a:p>
                      <a:pPr>
                        <a:defRPr sz="1300" b="1">
                          <a:solidFill>
                            <a:srgbClr val="FFFFFF"/>
                          </a:solidFill>
                          <a:latin typeface="Yu Gothic"/>
                        </a:defRPr>
                      </a:pPr>
                      <a:r>
                        <a:t>投資家名</a:t>
                      </a:r>
                    </a:p>
                  </a:txBody>
                  <a:tcPr>
                    <a:solidFill>
                      <a:srgbClr val="24523F"/>
                    </a:solidFill>
                  </a:tcPr>
                </a:tc>
              </a:tr>
              <a:tr h="502920">
                <a:tc>
                  <a:txBody>
                    <a:bodyPr/>
                    <a:lstStyle/>
                    <a:p>
                      <a:pPr>
                        <a:defRPr sz="1200">
                          <a:solidFill>
                            <a:srgbClr val="20261F"/>
                          </a:solidFill>
                          <a:latin typeface="Yu Gothic"/>
                        </a:defRPr>
                      </a:pPr>
                      <a:r>
                        <a:t>主導投資家</a:t>
                      </a:r>
                    </a:p>
                  </a:txBody>
                  <a:tcPr>
                    <a:solidFill>
                      <a:srgbClr val="FFFFFF"/>
                    </a:solidFill>
                  </a:tcPr>
                </a:tc>
                <a:tc>
                  <a:txBody>
                    <a:bodyPr/>
                    <a:lstStyle/>
                    <a:p>
                      <a:pPr>
                        <a:defRPr sz="1200">
                          <a:solidFill>
                            <a:srgbClr val="20261F"/>
                          </a:solidFill>
                          <a:latin typeface="Yu Gothic"/>
                        </a:defRPr>
                      </a:pPr>
                      <a:r>
                        <a:t>Team8・Planven・The Garage</a:t>
                      </a:r>
                    </a:p>
                  </a:txBody>
                  <a:tcPr>
                    <a:solidFill>
                      <a:srgbClr val="FFFFFF"/>
                    </a:solidFill>
                  </a:tcPr>
                </a:tc>
              </a:tr>
              <a:tr h="502920">
                <a:tc>
                  <a:txBody>
                    <a:bodyPr/>
                    <a:lstStyle/>
                    <a:p>
                      <a:pPr>
                        <a:defRPr sz="1200">
                          <a:solidFill>
                            <a:srgbClr val="20261F"/>
                          </a:solidFill>
                          <a:latin typeface="Yu Gothic"/>
                        </a:defRPr>
                      </a:pPr>
                      <a:r>
                        <a:t>参加投資家</a:t>
                      </a:r>
                    </a:p>
                  </a:txBody>
                  <a:tcPr>
                    <a:solidFill>
                      <a:srgbClr val="F4F1E6"/>
                    </a:solidFill>
                  </a:tcPr>
                </a:tc>
                <a:tc>
                  <a:txBody>
                    <a:bodyPr/>
                    <a:lstStyle/>
                    <a:p>
                      <a:pPr>
                        <a:defRPr sz="1200">
                          <a:solidFill>
                            <a:srgbClr val="20261F"/>
                          </a:solidFill>
                          <a:latin typeface="Yu Gothic"/>
                        </a:defRPr>
                      </a:pPr>
                      <a:r>
                        <a:t>Lukatz</a:t>
                      </a:r>
                    </a:p>
                  </a:txBody>
                  <a:tcPr>
                    <a:solidFill>
                      <a:srgbClr val="F4F1E6"/>
                    </a:solidFill>
                  </a:tcPr>
                </a:tc>
              </a:tr>
              <a:tr h="502920">
                <a:tc>
                  <a:txBody>
                    <a:bodyPr/>
                    <a:lstStyle/>
                    <a:p>
                      <a:pPr>
                        <a:defRPr sz="1200">
                          <a:solidFill>
                            <a:srgbClr val="20261F"/>
                          </a:solidFill>
                          <a:latin typeface="Yu Gothic"/>
                        </a:defRPr>
                      </a:pPr>
                      <a:r>
                        <a:t>顧客から投資家になった企業</a:t>
                      </a:r>
                    </a:p>
                  </a:txBody>
                  <a:tcPr>
                    <a:solidFill>
                      <a:srgbClr val="FFFFFF"/>
                    </a:solidFill>
                  </a:tcPr>
                </a:tc>
                <a:tc>
                  <a:txBody>
                    <a:bodyPr/>
                    <a:lstStyle/>
                    <a:p>
                      <a:pPr>
                        <a:defRPr sz="1200">
                          <a:solidFill>
                            <a:srgbClr val="20261F"/>
                          </a:solidFill>
                          <a:latin typeface="Yu Gothic"/>
                        </a:defRPr>
                      </a:pPr>
                      <a:r>
                        <a:t>Bank Leumi(銀行)・Harel(保険会社)・Garage</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Calcalist / Fintech.global(2026-07-29)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何が発表されたか(2026年7月29日)</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調達額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シリーズAとして3,000万ドル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資金使途</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米国での営業体制拡大、大手金融機関へのさらなる導入</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報じたメディア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PRNewswire公式に加えTechCrunch・Calcalistなどが報道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PRNewswire / TechCrunch / Calcalist(いずれも2026-07-29)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Encore AIの仕組みの全体像</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会話データ</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従業員と顧客のやり取りを収集</a:t>
            </a:r>
          </a:p>
        </p:txBody>
      </p:sp>
      <p:sp>
        <p:nvSpPr>
          <p:cNvPr id="10" name="Right Arrow 9"/>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成功パターンの特定</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成果につながった対応を分析</a:t>
            </a:r>
          </a:p>
        </p:txBody>
      </p:sp>
      <p:sp>
        <p:nvSpPr>
          <p:cNvPr id="15" name="Right Arrow 14"/>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AIエージェントの学習</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特定したパターンで学習させる</a:t>
            </a:r>
          </a:p>
        </p:txBody>
      </p:sp>
      <p:sp>
        <p:nvSpPr>
          <p:cNvPr id="20" name="Right Arrow 19"/>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顧客対応チームと並走・自律稼働</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売上・満足度の向上を狙う</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会話データからAIエージェントを学習させ、顧客対応の現場に投入する構造</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Calcalist(2026-07-29)</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Encore AIが行う3つのステップ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収集</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従業員と顧客の会話データを集める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分析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成果につながった対応パターンを特定する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学習・展開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パターンでAIエージェントを学習させ現場に投入する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前身Insaitからの変化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できごと</a:t>
                      </a:r>
                    </a:p>
                  </a:txBody>
                  <a:tcPr>
                    <a:solidFill>
                      <a:srgbClr val="24523F"/>
                    </a:solidFill>
                  </a:tcPr>
                </a:tc>
              </a:tr>
              <a:tr h="502920">
                <a:tc>
                  <a:txBody>
                    <a:bodyPr/>
                    <a:lstStyle/>
                    <a:p>
                      <a:pPr>
                        <a:defRPr sz="1200">
                          <a:solidFill>
                            <a:srgbClr val="20261F"/>
                          </a:solidFill>
                          <a:latin typeface="Yu Gothic"/>
                        </a:defRPr>
                      </a:pPr>
                      <a:r>
                        <a:t>2022年</a:t>
                      </a:r>
                    </a:p>
                  </a:txBody>
                  <a:tcPr>
                    <a:solidFill>
                      <a:srgbClr val="FFFFFF"/>
                    </a:solidFill>
                  </a:tcPr>
                </a:tc>
                <a:tc>
                  <a:txBody>
                    <a:bodyPr/>
                    <a:lstStyle/>
                    <a:p>
                      <a:pPr>
                        <a:defRPr sz="1200">
                          <a:solidFill>
                            <a:srgbClr val="20261F"/>
                          </a:solidFill>
                          <a:latin typeface="Yu Gothic"/>
                        </a:defRPr>
                      </a:pPr>
                      <a:r>
                        <a:t>Insait IOとして創業。金融アドバイザー向け推奨ソフトを開発</a:t>
                      </a:r>
                    </a:p>
                  </a:txBody>
                  <a:tcPr>
                    <a:solidFill>
                      <a:srgbClr val="FFFFFF"/>
                    </a:solidFill>
                  </a:tcPr>
                </a:tc>
              </a:tr>
              <a:tr h="502920">
                <a:tc>
                  <a:txBody>
                    <a:bodyPr/>
                    <a:lstStyle/>
                    <a:p>
                      <a:pPr>
                        <a:defRPr sz="1200">
                          <a:solidFill>
                            <a:srgbClr val="20261F"/>
                          </a:solidFill>
                          <a:latin typeface="Yu Gothic"/>
                        </a:defRPr>
                      </a:pPr>
                      <a:r>
                        <a:t>シード調達後18か月未満</a:t>
                      </a:r>
                    </a:p>
                  </a:txBody>
                  <a:tcPr>
                    <a:solidFill>
                      <a:srgbClr val="F4F1E6"/>
                    </a:solidFill>
                  </a:tcPr>
                </a:tc>
                <a:tc>
                  <a:txBody>
                    <a:bodyPr/>
                    <a:lstStyle/>
                    <a:p>
                      <a:pPr>
                        <a:defRPr sz="1200">
                          <a:solidFill>
                            <a:srgbClr val="20261F"/>
                          </a:solidFill>
                          <a:latin typeface="Yu Gothic"/>
                        </a:defRPr>
                      </a:pPr>
                      <a:r>
                        <a:t>ARRが5倍超に成長</a:t>
                      </a:r>
                    </a:p>
                  </a:txBody>
                  <a:tcPr>
                    <a:solidFill>
                      <a:srgbClr val="F4F1E6"/>
                    </a:solidFill>
                  </a:tcPr>
                </a:tc>
              </a:tr>
              <a:tr h="502920">
                <a:tc>
                  <a:txBody>
                    <a:bodyPr/>
                    <a:lstStyle/>
                    <a:p>
                      <a:pPr>
                        <a:defRPr sz="1200">
                          <a:solidFill>
                            <a:srgbClr val="20261F"/>
                          </a:solidFill>
                          <a:latin typeface="Yu Gothic"/>
                        </a:defRPr>
                      </a:pPr>
                      <a:r>
                        <a:t>2026年7月29日</a:t>
                      </a:r>
                    </a:p>
                  </a:txBody>
                  <a:tcPr>
                    <a:solidFill>
                      <a:srgbClr val="FFFFFF"/>
                    </a:solidFill>
                  </a:tcPr>
                </a:tc>
                <a:tc>
                  <a:txBody>
                    <a:bodyPr/>
                    <a:lstStyle/>
                    <a:p>
                      <a:pPr>
                        <a:defRPr sz="1200">
                          <a:solidFill>
                            <a:srgbClr val="20261F"/>
                          </a:solidFill>
                          <a:latin typeface="Yu Gothic"/>
                        </a:defRPr>
                      </a:pPr>
                      <a:r>
                        <a:t>Encore AIに改名し、シリーズAで3,000万ドル調達</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前提知識: 「コスト削減型」と「売上創出型」の違い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コスト削減型は、人が対応していた作業をAIに置き換えて人件費を減らす発想</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売上創出型は、AIが人の対応の質を底上げして成果を伸ばす発想</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Encore AIはCEOの言葉で「方程式のもう一方の側」と表現している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どちらが優れているというより、目的の違いとして捉えるのが実態に近い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シード後18か月未満のARR成長率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5倍超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年間経常収益(ARR)がシード調達から5倍超に成長(具体的な実額は非公表)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TechCrunch(2026-07-29)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主導・参加投資家の顔ぶれ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主導投資家</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Team8・Planven・The Garage</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参加投資家</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Lukatz</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顧客兼投資家</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Bank Leumi・Harel・Garage</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Calcalist(2026-07-29)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「コスト削減型」と「売上創出型」のAIエージェント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コスト削減型(市場の主流)</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問い合わせ対応の自動化が中心</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人件費の削減を主な目的とする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成果指標は対応件数・処理時間</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売上創出型(Encore AIの主張)</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トップ担当者のノウハウを学習させる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売上・顧客満足度の向上を主な目的とする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成果指標は成約率・満足度</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“今日の企業向けAI業界はコスト削減に最適化されている。Encoreは方程式のもう一方の側のために作られた。あらゆる組織にはすでに、最も優秀な人材が何を違えてやっているかを示すデータが存在する”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Encore AI創業者兼CEO Dvir Ginzburg氏(複数媒体経由の引用)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顧客が投資家になった構図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導入前</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Bank Leumi・Harelが顧客としてEncore AIを利用</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効果を実感</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自社の顧客対応の成果向上を確認(推測を含む)</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投資家として参加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今回のシリーズAに投資家として参加</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顧客から投資家へという流れは今回の報道から読み取れる範囲の整理</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Calcalist(2026-07-29)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顧客兼投資家について分かっていること・いないこと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Bank Leumi・Harel・Garageが顧客かつ投資家として参加していること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各社の具体的な導入効果・出資額の内訳</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他の顧客企業からも同様の投資参加が続くかどうか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Calcalist(2026-07-29)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“今回のラウンドの投資家の多くは顧客でもある。Harel、Bank Leumi、Garageが含まれており、これはすでにプラットフォームから得ている価値を反映している”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Encore AI創業者兼CEO Dvir Ginzburg氏(複数媒体経由の引用)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主要顧客の業種と特徴</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業種</a:t>
                      </a:r>
                    </a:p>
                  </a:txBody>
                  <a:tcPr>
                    <a:solidFill>
                      <a:srgbClr val="24523F"/>
                    </a:solidFill>
                  </a:tcPr>
                </a:tc>
                <a:tc>
                  <a:txBody>
                    <a:bodyPr/>
                    <a:lstStyle/>
                    <a:p>
                      <a:pPr>
                        <a:defRPr sz="1300" b="1">
                          <a:solidFill>
                            <a:srgbClr val="FFFFFF"/>
                          </a:solidFill>
                          <a:latin typeface="Yu Gothic"/>
                        </a:defRPr>
                      </a:pPr>
                      <a:r>
                        <a:t>顧客対応が重要な理由</a:t>
                      </a:r>
                    </a:p>
                  </a:txBody>
                  <a:tcPr>
                    <a:solidFill>
                      <a:srgbClr val="24523F"/>
                    </a:solidFill>
                  </a:tcPr>
                </a:tc>
              </a:tr>
              <a:tr h="502920">
                <a:tc>
                  <a:txBody>
                    <a:bodyPr/>
                    <a:lstStyle/>
                    <a:p>
                      <a:pPr>
                        <a:defRPr sz="1200">
                          <a:solidFill>
                            <a:srgbClr val="20261F"/>
                          </a:solidFill>
                          <a:latin typeface="Yu Gothic"/>
                        </a:defRPr>
                      </a:pPr>
                      <a:r>
                        <a:t>銀行</a:t>
                      </a:r>
                    </a:p>
                  </a:txBody>
                  <a:tcPr>
                    <a:solidFill>
                      <a:srgbClr val="FFFFFF"/>
                    </a:solidFill>
                  </a:tcPr>
                </a:tc>
                <a:tc>
                  <a:txBody>
                    <a:bodyPr/>
                    <a:lstStyle/>
                    <a:p>
                      <a:pPr>
                        <a:defRPr sz="1200">
                          <a:solidFill>
                            <a:srgbClr val="20261F"/>
                          </a:solidFill>
                          <a:latin typeface="Yu Gothic"/>
                        </a:defRPr>
                      </a:pPr>
                      <a:r>
                        <a:t>長期的な信頼関係が資産運用・融資などの取引継続に直結する</a:t>
                      </a:r>
                    </a:p>
                  </a:txBody>
                  <a:tcPr>
                    <a:solidFill>
                      <a:srgbClr val="FFFFFF"/>
                    </a:solidFill>
                  </a:tcPr>
                </a:tc>
              </a:tr>
              <a:tr h="502920">
                <a:tc>
                  <a:txBody>
                    <a:bodyPr/>
                    <a:lstStyle/>
                    <a:p>
                      <a:pPr>
                        <a:defRPr sz="1200">
                          <a:solidFill>
                            <a:srgbClr val="20261F"/>
                          </a:solidFill>
                          <a:latin typeface="Yu Gothic"/>
                        </a:defRPr>
                      </a:pPr>
                      <a:r>
                        <a:t>保険会社</a:t>
                      </a:r>
                    </a:p>
                  </a:txBody>
                  <a:tcPr>
                    <a:solidFill>
                      <a:srgbClr val="F4F1E6"/>
                    </a:solidFill>
                  </a:tcPr>
                </a:tc>
                <a:tc>
                  <a:txBody>
                    <a:bodyPr/>
                    <a:lstStyle/>
                    <a:p>
                      <a:pPr>
                        <a:defRPr sz="1200">
                          <a:solidFill>
                            <a:srgbClr val="20261F"/>
                          </a:solidFill>
                          <a:latin typeface="Yu Gothic"/>
                        </a:defRPr>
                      </a:pPr>
                      <a:r>
                        <a:t>契約更新・請求対応の質が顧客の継続利用を左右する</a:t>
                      </a:r>
                    </a:p>
                  </a:txBody>
                  <a:tcPr>
                    <a:solidFill>
                      <a:srgbClr val="F4F1E6"/>
                    </a:solidFill>
                  </a:tcPr>
                </a:tc>
              </a:tr>
              <a:tr h="502920">
                <a:tc>
                  <a:txBody>
                    <a:bodyPr/>
                    <a:lstStyle/>
                    <a:p>
                      <a:pPr>
                        <a:defRPr sz="1200">
                          <a:solidFill>
                            <a:srgbClr val="20261F"/>
                          </a:solidFill>
                          <a:latin typeface="Yu Gothic"/>
                        </a:defRPr>
                      </a:pPr>
                      <a:r>
                        <a:t>ヘルスケア事業者</a:t>
                      </a:r>
                    </a:p>
                  </a:txBody>
                  <a:tcPr>
                    <a:solidFill>
                      <a:srgbClr val="FFFFFF"/>
                    </a:solidFill>
                  </a:tcPr>
                </a:tc>
                <a:tc>
                  <a:txBody>
                    <a:bodyPr/>
                    <a:lstStyle/>
                    <a:p>
                      <a:pPr>
                        <a:defRPr sz="1200">
                          <a:solidFill>
                            <a:srgbClr val="20261F"/>
                          </a:solidFill>
                          <a:latin typeface="Yu Gothic"/>
                        </a:defRPr>
                      </a:pPr>
                      <a:r>
                        <a:t>患者・利用者対応の質がサービス評価に直結する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Calcalist(2026-07-29)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日本への関連(現時点で分かる範囲)</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拠点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イスラエル・米国ニューヨーク・オーストラリアに従業員がいる(日本は含まれない)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日本国内の顧客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一次情報では確認できていない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日本の金融・保険業界からの導入発表があるかを継続的に確認する必要がある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Encore AIの企業評価額(バリュエーション)</a:t>
                      </a:r>
                    </a:p>
                  </a:txBody>
                  <a:tcPr>
                    <a:solidFill>
                      <a:srgbClr val="FFFFFF"/>
                    </a:solidFill>
                  </a:tcPr>
                </a:tc>
                <a:tc>
                  <a:txBody>
                    <a:bodyPr/>
                    <a:lstStyle/>
                    <a:p>
                      <a:pPr>
                        <a:defRPr sz="1200">
                          <a:solidFill>
                            <a:srgbClr val="20261F"/>
                          </a:solidFill>
                          <a:latin typeface="Yu Gothic"/>
                        </a:defRPr>
                      </a:pPr>
                      <a:r>
                        <a:t>一次情報では確認できず</a:t>
                      </a:r>
                    </a:p>
                  </a:txBody>
                  <a:tcPr>
                    <a:solidFill>
                      <a:srgbClr val="FFFFFF"/>
                    </a:solidFill>
                  </a:tcPr>
                </a:tc>
              </a:tr>
              <a:tr h="502920">
                <a:tc>
                  <a:txBody>
                    <a:bodyPr/>
                    <a:lstStyle/>
                    <a:p>
                      <a:pPr>
                        <a:defRPr sz="1200">
                          <a:solidFill>
                            <a:srgbClr val="20261F"/>
                          </a:solidFill>
                          <a:latin typeface="Yu Gothic"/>
                        </a:defRPr>
                      </a:pPr>
                      <a:r>
                        <a:t>シード調達時の具体的な調達額</a:t>
                      </a:r>
                    </a:p>
                  </a:txBody>
                  <a:tcPr>
                    <a:solidFill>
                      <a:srgbClr val="F4F1E6"/>
                    </a:solidFill>
                  </a:tcPr>
                </a:tc>
                <a:tc>
                  <a:txBody>
                    <a:bodyPr/>
                    <a:lstStyle/>
                    <a:p>
                      <a:pPr>
                        <a:defRPr sz="1200">
                          <a:solidFill>
                            <a:srgbClr val="20261F"/>
                          </a:solidFill>
                          <a:latin typeface="Yu Gothic"/>
                        </a:defRPr>
                      </a:pPr>
                      <a:r>
                        <a:t>「ARR5倍超」とのみ報道、実額は非公表</a:t>
                      </a:r>
                    </a:p>
                  </a:txBody>
                  <a:tcPr>
                    <a:solidFill>
                      <a:srgbClr val="F4F1E6"/>
                    </a:solidFill>
                  </a:tcPr>
                </a:tc>
              </a:tr>
              <a:tr h="502920">
                <a:tc>
                  <a:txBody>
                    <a:bodyPr/>
                    <a:lstStyle/>
                    <a:p>
                      <a:pPr>
                        <a:defRPr sz="1200">
                          <a:solidFill>
                            <a:srgbClr val="20261F"/>
                          </a:solidFill>
                          <a:latin typeface="Yu Gothic"/>
                        </a:defRPr>
                      </a:pPr>
                      <a:r>
                        <a:t>日本国内の顧客企業・拠点の有無</a:t>
                      </a:r>
                    </a:p>
                  </a:txBody>
                  <a:tcPr>
                    <a:solidFill>
                      <a:srgbClr val="FFFFFF"/>
                    </a:solidFill>
                  </a:tcPr>
                </a:tc>
                <a:tc>
                  <a:txBody>
                    <a:bodyPr/>
                    <a:lstStyle/>
                    <a:p>
                      <a:pPr>
                        <a:defRPr sz="1200">
                          <a:solidFill>
                            <a:srgbClr val="20261F"/>
                          </a:solidFill>
                          <a:latin typeface="Yu Gothic"/>
                        </a:defRPr>
                      </a:pPr>
                      <a:r>
                        <a:t>一次情報では確認できず</a:t>
                      </a:r>
                    </a:p>
                  </a:txBody>
                  <a:tcPr>
                    <a:solidFill>
                      <a:srgbClr val="FFFFFF"/>
                    </a:solidFill>
                  </a:tcPr>
                </a:tc>
              </a:tr>
              <a:tr h="502920">
                <a:tc>
                  <a:txBody>
                    <a:bodyPr/>
                    <a:lstStyle/>
                    <a:p>
                      <a:pPr>
                        <a:defRPr sz="1200">
                          <a:solidFill>
                            <a:srgbClr val="20261F"/>
                          </a:solidFill>
                          <a:latin typeface="Yu Gothic"/>
                        </a:defRPr>
                      </a:pPr>
                      <a:r>
                        <a:t>各投資家の出資比率・出資額の内訳</a:t>
                      </a:r>
                    </a:p>
                  </a:txBody>
                  <a:tcPr>
                    <a:solidFill>
                      <a:srgbClr val="F4F1E6"/>
                    </a:solidFill>
                  </a:tcPr>
                </a:tc>
                <a:tc>
                  <a:txBody>
                    <a:bodyPr/>
                    <a:lstStyle/>
                    <a:p>
                      <a:pPr>
                        <a:defRPr sz="1200">
                          <a:solidFill>
                            <a:srgbClr val="20261F"/>
                          </a:solidFill>
                          <a:latin typeface="Yu Gothic"/>
                        </a:defRPr>
                      </a:pPr>
                      <a:r>
                        <a:t>一次情報では確認できず</a:t>
                      </a:r>
                    </a:p>
                  </a:txBody>
                  <a:tcPr>
                    <a:solidFill>
                      <a:srgbClr val="F4F1E6"/>
                    </a:solidFill>
                  </a:tcPr>
                </a:tc>
              </a:tr>
              <a:tr h="502920">
                <a:tc>
                  <a:txBody>
                    <a:bodyPr/>
                    <a:lstStyle/>
                    <a:p>
                      <a:pPr>
                        <a:defRPr sz="1200">
                          <a:solidFill>
                            <a:srgbClr val="20261F"/>
                          </a:solidFill>
                          <a:latin typeface="Yu Gothic"/>
                        </a:defRPr>
                      </a:pPr>
                      <a:r>
                        <a:t>PRNewswire一次発表の本文全体</a:t>
                      </a:r>
                    </a:p>
                  </a:txBody>
                  <a:tcPr>
                    <a:solidFill>
                      <a:srgbClr val="FFFFFF"/>
                    </a:solidFill>
                  </a:tcPr>
                </a:tc>
                <a:tc>
                  <a:txBody>
                    <a:bodyPr/>
                    <a:lstStyle/>
                    <a:p>
                      <a:pPr>
                        <a:defRPr sz="1200">
                          <a:solidFill>
                            <a:srgbClr val="20261F"/>
                          </a:solidFill>
                          <a:latin typeface="Yu Gothic"/>
                        </a:defRPr>
                      </a:pPr>
                      <a:r>
                        <a:t>WebFetchのアクセス制限により複数媒体要約経由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業界外の人にも参考になる点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「コスト削減ではなく売上創出」という打ち出し方は、他業界のAI製品開発にも応用できる視点</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顧客の成功事例を投資参加という形で見せる資金調達の作り方は参考になる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「トップ担当者のノウハウをデータ化する」という発想は、社内のナレッジ共有にも応用できる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規制業界向けの専門性の高いAI製品でも、具体的な数字で成長が語られ始めている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規模を見る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3,000万ドル・ARR5倍超という数字の大きさをまず把握する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打ち出し方を見る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コスト削減ではなく売上創出という切り口の違いを確認する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未確認点を見る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評価額や日本への関連など、まだ分からない点を押さえる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顧客対応の質の底上げ</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経験の浅い担当者でもトップ担当者に近い対応ができる可能性がある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規制業界への浸透</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銀行・保険など専門性の高い業界でAIエージェント導入が進む可能性がある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投資モデルの広がり</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顧客が投資家になる資金調達の形が他社にも広がる可能性がある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冷静に見る点、3つ</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「ARR5倍超」の実額や、企業評価額は公表されていない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顧客が投資家になった具体的な導入効果の数値までは示されていない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急成長が続いているとはいえ、一企業の発表数値であり業界全体の断定はできない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AIエージェント業界における差別化戦略の広がり方(推測)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コスト削減が主流</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現在の市場の中心的な訴求軸</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売上創出という差別化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Encore AIのような打ち出し方が登場(今回の発表)</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訴求軸の多様化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他社にも同様の打ち出し方が広がる(推測)</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コスト削減から売上創出への訴求軸の広がりは今回の発表から読み取れる範囲の整理。他社への波及は推測</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今日の要点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3,000万ドル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シリーズA調達額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Team8・Planven・The Garageが主導</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ARR5倍超</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シード後18か月未満の成長率</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具体的な実額は非公表</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顧客が投資家</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投資家の構成</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Bank Leumi・Harelなど自社顧客が参加</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定期実行57本目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「誰が投資しているか」も、数字の一部として見る習慣を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AIエージェントのニュースを見るときは、調達額・成長率・投資家の構成を分けて確認しましょう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営業・カスタマーサポート業務に関わる方は、コスト削減型と売上創出型、どちらの発想の製品を使っているか一度確認してみてください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