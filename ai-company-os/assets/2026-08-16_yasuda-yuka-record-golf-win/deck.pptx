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スコア(打数)</c:v>
                </c:pt>
              </c:strCache>
            </c:strRef>
          </c:tx>
          <c:spPr>
            <a:ln w="31750">
              <a:solidFill>
                <a:srgbClr val="00D2A0"/>
              </a:solidFill>
            </a:ln>
          </c:spPr>
          <c:cat>
            <c:strRef>
              <c:f>Sheet1!$A$2:$A$4</c:f>
              <c:strCache>
                <c:ptCount val="3"/>
                <c:pt idx="0">
                  <c:v>1日目</c:v>
                </c:pt>
                <c:pt idx="1">
                  <c:v>2日目</c:v>
                </c:pt>
                <c:pt idx="2">
                  <c:v>3日目</c:v>
                </c:pt>
              </c:strCache>
            </c:strRef>
          </c:cat>
          <c:val>
            <c:numRef>
              <c:f>Sheet1!$B$2:$B$4</c:f>
              <c:numCache>
                <c:formatCode>General</c:formatCode>
                <c:ptCount val="3"/>
                <c:pt idx="0">
                  <c:v>61</c:v>
                </c:pt>
                <c:pt idx="1">
                  <c:v>64</c:v>
                </c:pt>
                <c:pt idx="2">
                  <c:v>68</c:v>
                </c:pt>
              </c:numCache>
            </c:numRef>
          </c:val>
          <c:smooth val="0"/>
        </c:ser>
        <c:dLbls>
          <c:numFmt formatCode="#,##0" sourceLinked="0"/>
          <c:txPr>
            <a:bodyPr/>
            <a:lstStyle/>
            <a:p>
              <a:pPr>
                <a:defRPr sz="1100">
                  <a:solidFill>
                    <a:srgbClr val="1B2A2E"/>
                  </a:solidFill>
                  <a:latin typeface="Yu Gothic"/>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通算アンダー</c:v>
                </c:pt>
              </c:strCache>
            </c:strRef>
          </c:tx>
          <c:spPr>
            <a:solidFill>
              <a:srgbClr val="1B2A2E"/>
            </a:solidFill>
          </c:spPr>
          <c:cat>
            <c:strRef>
              <c:f>Sheet1!$A$2:$A$3</c:f>
              <c:strCache>
                <c:ptCount val="2"/>
                <c:pt idx="0">
                  <c:v>原江里菜(2008年)</c:v>
                </c:pt>
                <c:pt idx="1">
                  <c:v>安田祐香(2026年)</c:v>
                </c:pt>
              </c:strCache>
            </c:strRef>
          </c:cat>
          <c:val>
            <c:numRef>
              <c:f>Sheet1!$B$2:$B$3</c:f>
              <c:numCache>
                <c:formatCode>General</c:formatCode>
                <c:ptCount val="2"/>
                <c:pt idx="0">
                  <c:v>21</c:v>
                </c:pt>
                <c:pt idx="1">
                  <c:v>23</c:v>
                </c:pt>
              </c:numCache>
            </c:numRef>
          </c:val>
        </c:ser>
        <c:dLbls>
          <c:numFmt formatCode="#,##0" sourceLinked="0"/>
          <c:txPr>
            <a:bodyPr/>
            <a:lstStyle/>
            <a:p>
              <a:pPr>
                <a:defRPr sz="1200" b="1">
                  <a:solidFill>
                    <a:srgbClr val="1B2A2E"/>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バーディー数</c:v>
                </c:pt>
              </c:strCache>
            </c:strRef>
          </c:tx>
          <c:spPr>
            <a:solidFill>
              <a:srgbClr val="1B2A2E"/>
            </a:solidFill>
          </c:spPr>
          <c:cat>
            <c:strRef>
              <c:f>Sheet1!$A$2:$A$3</c:f>
              <c:strCache>
                <c:ptCount val="2"/>
                <c:pt idx="0">
                  <c:v>ソレンスタム(2003年)</c:v>
                </c:pt>
                <c:pt idx="1">
                  <c:v>安田祐香(2026年)</c:v>
                </c:pt>
              </c:strCache>
            </c:strRef>
          </c:cat>
          <c:val>
            <c:numRef>
              <c:f>Sheet1!$B$2:$B$3</c:f>
              <c:numCache>
                <c:formatCode>General</c:formatCode>
                <c:ptCount val="2"/>
                <c:pt idx="0">
                  <c:v>24</c:v>
                </c:pt>
                <c:pt idx="1">
                  <c:v>26</c:v>
                </c:pt>
              </c:numCache>
            </c:numRef>
          </c:val>
        </c:ser>
        <c:dLbls>
          <c:numFmt formatCode="#,##0" sourceLinked="0"/>
          <c:txPr>
            <a:bodyPr/>
            <a:lstStyle/>
            <a:p>
              <a:pPr>
                <a:defRPr sz="1200" b="1">
                  <a:solidFill>
                    <a:srgbClr val="1B2A2E"/>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16日、NEC軽井沢72ゴルフトーナメントの最終日、安田祐香選手が3日間通算23アンダーで完全優勝しました。54ホールで26バーディーという内容は、あのアニカ・ソレンスタムが2003年に持っていた記録を23年ぶりに更新するものです。今日はこの2つの記録更新を出典付き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安田祐香選手が3日間通算23アンダーで完全優勝しました。しかもこの優勝には、大会記録の更新とアニカ・ソレンスタムの記録更新という、2つの異なる記録更新が重なっています。これから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3日間のスコア推移から、大会記録とソレンスタム記録という2つの異なる記録更新まで、正確に数字を引用しながら整理します。誇張や創作は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優勝確定が着手日当日という新しさに加えて、世界的に名前が知られるアニカ・ソレンスタムの記録を23年ぶりに更新したという対比が、このテーマ最大の見どころです。複数のメディアが数値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安田祐香選手の前提を確認します。2000年12月24日生まれ、兵庫県出身でNEC所属の選手です。2019年にプロテストを一発合格し、2020年から本格的にプロ活動を開始しました。今回の優勝はツアー通算3勝目にあたり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パーはそのホールの基準打数、バーディーは基準より1打少なく終えること、アンダーは合計が基準よりどれだけ少なかったかを示す数字です。数字が大きいほど好成績、というのがゴルフのスコアの基本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3日間のタイムラインです。初日61で大会コースレコードにタイし、2日目64、3日目68と、3日間とも首位を譲りませんでした。最終的に2位に7打差をつけての優勝で、これがツアー通算3勝目です。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グラフにすると3日間の推移がよく分かります。初日の61が最も低く、大会コースレコードにタイする内容でした。数値は上がっていますが、3日間を通じて首位を守り切ったワイヤー・トゥ・ワイヤーの優勝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まず1つ目の記録です。通算23アンダーは、2008年に原江里菜選手が記録した大会記録21アンダーを更新する新記録でした。これはあくまで『NEC軽井沢72という大会そのもの』の歴代記録です。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目の記録です。54ホールで26バーディーを記録し、アニカ・ソレンスタムが2003年に持っていた『3日間大会で優勝した際の最多バーディー』記録、24バーディーを23年ぶりに更新しました。この2つの記録は対象範囲が違う点に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記録更新の関係を図にしました。同じ優勝の中で、大会そのものの歴代記録と、アニカ・ソレンスタムが持っていた記録という、性質の異なる2つの記録が同時に更新されています。次のスライドで、この違いをさらに詳しく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2つの記録の違いを表にしました。対象範囲が異なる別々の記録であることが分かります。この違いを混同すると誇張表現になってしまうため、本テーマでは常にこの2つを分けて扱います。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大会記録の比較です。2008年の原江里菜選手の21アンダーから、今回の23アンダーへと2打更新されました。これはあくまでNEC軽井沢72という大会内の歴代記録です。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もう一方の記録の比較です。2003年のアニカ・ソレンスタムの24バーディーから、今回の26バーディーへと2個更新されました。23年間保持されてきた記録が更新されたことになります。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2位との差を確認します。7打差というスコアは、単独首位を守り切った完全優勝の内容を裏付ける数字です。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今回の優勝は、安田選手にとってツアー通算3勝目です。過去2勝の大会名・年については本調査の範囲では確認できておらず、後ほど『確認できていないこと』としてお伝えします。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完全優勝を支えた3つのポイントです。首位を譲らない安定感、圧倒的なスコア、そして多いバーディー数、いずれも複数のメディアが一致して報じている内容です。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ニカ・ソレンスタム超え』という表現を正確に確認します。世界的に知られる選手が2003年に持っていた、3日間大会・優勝時の最多バーディーという具体的な記録を更新したという意味です。キャリア全体を比較した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改めて2つの記録を並べて比較します。対象とする範囲がまったく異なる別々の記録であることが視覚的に分かります。この違いを混同した誇張表現はしません。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誇張を避けるための補足です。2つの記録の対象範囲を曖昧にした表現は使わず、数字はすべて出典どおり正確に扱います。断定的な将来予測もしません。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何を意味するかを整理します。複数の記録更新が同時に起きた場合、それぞれの対象範囲を分けて理解することの重要性が分かる一例です。賞金額や今後の予定は確認できておらず、推測では述べ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視聴者にとっての実践的な示唆をまとめました。ゴルフファンとして、スポーツニュースを追う立場として、情報を発信する立場として、それぞれで意識したい点です。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プロフィールを確認します。2000年12月24日生まれ、兵庫県出身、NEC所属です。2019年にプロテストを一発合格し、2020年から本格的にプロ活動を開始しました。それ以上の詳細な経歴は確認できておらず、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見出しの印象と実際の内容にはギャップが生まれがちです。今回はあくまで特定の記録の更新であり、選手のキャリア全体を比較したものでも、今後の勝利を保証するものでもありません。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確認できていないことを正直にお伝えします。優勝賞金の金額、世界ランキングへの影響、次回大会の予定は、本調査の範囲では確認できていません。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確認できていないことを一覧にしました。数字や詳細を推測で埋めず、正直に不明として扱っています。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3日間のスコアと2つの記録更新は、それぞれ複数の情報源で確認できた事実です。プレー内容の評価はあくまで一般的な推測であり、断定はしていません。不明な点も明確に分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本テーマの鮮度を数字で確認します。優勝確定は着手日と同じ2026年8月16日です。2日以内という当社の基準を最も新しい形で満たしています。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安田祐香選手が、NEC軽井沢72ゴルフトーナメントで23アンダーの大会記録更新と、アニカ・ソレンスタムの26バーディー記録更新という、2つの記録更新を伴う完全優勝を果たした件をお伝えしました。数字は正確に引用し、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アニカ・ソレンスタムを、23年ぶりに超えた。</a:t>
            </a:r>
          </a:p>
          <a:p>
            <a:pPr algn="l">
              <a:lnSpc>
                <a:spcPct val="115000"/>
              </a:lnSpc>
            </a:pPr>
            <a:r>
              <a:rPr sz="4200" b="1">
                <a:solidFill>
                  <a:srgbClr val="FFFFFF"/>
                </a:solidFill>
                <a:latin typeface="Yu Gothic"/>
              </a:rPr>
              <a:t>安田祐香、54ホールで26バーディー、</a:t>
            </a:r>
          </a:p>
          <a:p>
            <a:pPr algn="l">
              <a:lnSpc>
                <a:spcPct val="115000"/>
              </a:lnSpc>
            </a:pPr>
            <a:r>
              <a:rPr sz="4200" b="1">
                <a:solidFill>
                  <a:srgbClr val="FFFFFF"/>
                </a:solidFill>
                <a:latin typeface="Yu Gothic"/>
              </a:rPr>
              <a:t>23アンダーで完全優勝。</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2026年8月16日、NEC軽井沢72ゴルフトーナメント最終日――出典付きで2つの記録更新を整理する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日刊スポーツ(docomoニュース経由)・THE ANSWER・JLPGA公式ニュース・ゴルフダイジェスト(GDO)・eGolf(いずれも2026年8月16日)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23アンダー・完全優勝</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2026年8月16日、NEC軽井沢72ゴルフトーナメント最終日。安田祐香選手が54ホールで26バーディー、3日間首位を譲らないワイヤー・トゥ・ワイヤーの優勝を果たした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日刊スポーツ・THE ANSWER・JLPGA公式ニュース(2026-08-16)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安田祐香選手とは(初心者向け解説つき)</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3日間のスコア推移とタイムライン</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2つの記録更新を数字で比較する</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『アニカ・ソレンスタム超え』が意味すること・読者への示唆</a:t>
            </a:r>
          </a:p>
        </p:txBody>
      </p:sp>
      <p:sp>
        <p:nvSpPr>
          <p:cNvPr id="15" name="Oval 14"/>
          <p:cNvSpPr/>
          <p:nvPr/>
        </p:nvSpPr>
        <p:spPr>
          <a:xfrm>
            <a:off x="548640" y="58064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FE8DE"/>
                </a:solidFill>
                <a:latin typeface="Yu Gothic"/>
              </a:rPr>
              <a:t>確認できなかったこと・出典一覧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優勝確定(2026年8月16日、日本時間)が着手日当日という、最も新しい話題である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『23年ぶりにアニカ・ソレンスタムの記録を更新』というストーリー性の高いフックがある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複数のスポーツ専門メディア・JLPGA公式ニュースが数値を一致させて報じている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日刊スポーツ・THE ANSWER・JLPGA公式ニュース(2026-08-16)</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日刊スポーツ(docomoニュース経由)・THE ANSWER・JLPGA公式ニュース・ゴルフダイジェスト(GDO)・eGolf(いずれも2026-08-16)｜本日4本目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安田祐香選手とは(初心者向け)</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本題に入る前に、選手の前提を確認します。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2000年12月24日生まれ、兵庫県出身、NEC所属の女子プロゴルファー</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2019年11月にプロテストを一発合格し、2020年から本格的にプロ活動を開始した</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今回の優勝は、本人にとってツアー通算3勝目にあたる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JLPGA公式ニュース(2026-08-16)</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日刊スポーツ(docomoニュース経由)・THE ANSWER・JLPGA公式ニュース・ゴルフダイジェスト(GDO)・eGolf(いずれも2026-08-16)｜本日4本目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前提知識:「アンダーパー」「バーディー」とは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パー: そのホールを何打で終えるのが基準かを示す数字。ゴルフの得点の基準線</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バーディー: 基準(パー)より1打少なくホールを終えること。少ないほど好成績</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『◯◯アンダー』: 全ホールの合計が基準よりどれだけ少ない打数だったかを示す指標</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日刊スポーツ(docomoニュース経由)・THE ANSWER・JLPGA公式ニュース・ゴルフダイジェスト(GDO)・eGolf(いずれも2026-08-16)｜本日4本目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3日間のタイムライン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1日目</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61(大会コースレコードタイ)。首位でスタート</a:t>
            </a:r>
          </a:p>
        </p:txBody>
      </p:sp>
      <p:sp>
        <p:nvSpPr>
          <p:cNvPr id="11" name="Chevron 10"/>
          <p:cNvSpPr/>
          <p:nvPr/>
        </p:nvSpPr>
        <p:spPr>
          <a:xfrm>
            <a:off x="3068040"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2日目</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64。2日目も首位を守り、ワイヤー・トゥ・ワイヤーの流れを維持</a:t>
            </a:r>
          </a:p>
        </p:txBody>
      </p:sp>
      <p:sp>
        <p:nvSpPr>
          <p:cNvPr id="17" name="Chevron 16"/>
          <p:cNvSpPr/>
          <p:nvPr/>
        </p:nvSpPr>
        <p:spPr>
          <a:xfrm>
            <a:off x="5978804"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3日目</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68。3日間首位を譲らず、通算23アンダーで完全優勝</a:t>
            </a:r>
          </a:p>
        </p:txBody>
      </p:sp>
      <p:sp>
        <p:nvSpPr>
          <p:cNvPr id="23" name="Chevron 22"/>
          <p:cNvSpPr/>
          <p:nvPr/>
        </p:nvSpPr>
        <p:spPr>
          <a:xfrm>
            <a:off x="8889568"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B2A2E"/>
                </a:solidFill>
                <a:latin typeface="Yu Gothic"/>
              </a:rPr>
              <a:t>最終結果</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2位に7打差をつけての優勝。ツアー通算3勝目</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日刊スポーツ(docomoニュース経由)・THE ANSWER・JLPGA公式ニュース・ゴルフダイジェスト(GDO)・eGolf(いずれも2026-08-16)｜本日4本目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3日間のスコア推移(打数)</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日刊スポーツ(docomoニュース経由)・GDO・eGolf(2026-08-16)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日刊スポーツ(docomoニュース経由)・THE ANSWER・JLPGA公式ニュース・ゴルフダイジェスト(GDO)・eGolf(いずれも2026-08-16)｜本日4本目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通算23アンダー</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23アンダー</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3日間(54ホール)の通算スコア。2008年に原江里菜選手が記録した大会記録21アンダーを更新する新記録となった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THE ANSWER・GDO(2026-08-16)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26バーディー</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26バーディー</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54ホールで記録したバーディー数。アニカ・ソレンスタムが2003年に持っていた『3日間大会・優勝時の最多バーディー』記録(24バーディー)を23年ぶりに更新した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日刊スポーツ・THE ANSWER・eGolf(2026-08-16)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2つの記録更新の関係(概念図)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記録(1)大会記録</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通算23アンダー。2008年・原江里菜21アンダーを更新</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同じ優勝の中で</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54ホール・3日間のプレー</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記録(2)ソレンスタム記録</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26バーディー。2003年・24バーディーを23年ぶりに更新</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1つの優勝の中で、性質の異なる2つの記録が同時に更新された。混同せず、それぞれ正確に扱う</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THE ANSWER・GDO・eGolf(2026-08-16)</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日刊スポーツ(docomoニュース経由)・THE ANSWER・JLPGA公式ニュース・ゴルフダイジェスト(GDO)・eGolf(いずれも2026-08-16)｜本日4本目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記録(1)と記録(2)の違いを比較する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記録(1)大会記録</a:t>
                      </a:r>
                    </a:p>
                  </a:txBody>
                  <a:tcPr>
                    <a:solidFill>
                      <a:srgbClr val="1B2A2E"/>
                    </a:solidFill>
                  </a:tcPr>
                </a:tc>
                <a:tc>
                  <a:txBody>
                    <a:bodyPr/>
                    <a:lstStyle/>
                    <a:p>
                      <a:pPr>
                        <a:defRPr sz="1300" b="1">
                          <a:solidFill>
                            <a:srgbClr val="FFFFFF"/>
                          </a:solidFill>
                          <a:latin typeface="Yu Gothic"/>
                        </a:defRPr>
                      </a:pPr>
                      <a:r>
                        <a:t>記録(2)ソレンスタム記録</a:t>
                      </a:r>
                    </a:p>
                  </a:txBody>
                  <a:tcPr>
                    <a:solidFill>
                      <a:srgbClr val="1B2A2E"/>
                    </a:solidFill>
                  </a:tcPr>
                </a:tc>
              </a:tr>
              <a:tr h="502920">
                <a:tc>
                  <a:txBody>
                    <a:bodyPr/>
                    <a:lstStyle/>
                    <a:p>
                      <a:pPr>
                        <a:defRPr sz="1200">
                          <a:solidFill>
                            <a:srgbClr val="121C1F"/>
                          </a:solidFill>
                          <a:latin typeface="Yu Gothic"/>
                        </a:defRPr>
                      </a:pPr>
                      <a:r>
                        <a:t>対象範囲</a:t>
                      </a:r>
                    </a:p>
                  </a:txBody>
                  <a:tcPr>
                    <a:solidFill>
                      <a:srgbClr val="FFFFFF"/>
                    </a:solidFill>
                  </a:tcPr>
                </a:tc>
                <a:tc>
                  <a:txBody>
                    <a:bodyPr/>
                    <a:lstStyle/>
                    <a:p>
                      <a:pPr>
                        <a:defRPr sz="1200">
                          <a:solidFill>
                            <a:srgbClr val="121C1F"/>
                          </a:solidFill>
                          <a:latin typeface="Yu Gothic"/>
                        </a:defRPr>
                      </a:pPr>
                      <a:r>
                        <a:t>NEC軽井沢72という大会の歴代記録</a:t>
                      </a:r>
                    </a:p>
                  </a:txBody>
                  <a:tcPr>
                    <a:solidFill>
                      <a:srgbClr val="FFFFFF"/>
                    </a:solidFill>
                  </a:tcPr>
                </a:tc>
                <a:tc>
                  <a:txBody>
                    <a:bodyPr/>
                    <a:lstStyle/>
                    <a:p>
                      <a:pPr>
                        <a:defRPr sz="1200">
                          <a:solidFill>
                            <a:srgbClr val="121C1F"/>
                          </a:solidFill>
                          <a:latin typeface="Yu Gothic"/>
                        </a:defRPr>
                      </a:pPr>
                      <a:r>
                        <a:t>3日間大会・優勝時の最多バーディー記録(大会を問わない)</a:t>
                      </a:r>
                    </a:p>
                  </a:txBody>
                  <a:tcPr>
                    <a:solidFill>
                      <a:srgbClr val="FFFFFF"/>
                    </a:solidFill>
                  </a:tcPr>
                </a:tc>
              </a:tr>
              <a:tr h="502920">
                <a:tc>
                  <a:txBody>
                    <a:bodyPr/>
                    <a:lstStyle/>
                    <a:p>
                      <a:pPr>
                        <a:defRPr sz="1200">
                          <a:solidFill>
                            <a:srgbClr val="121C1F"/>
                          </a:solidFill>
                          <a:latin typeface="Yu Gothic"/>
                        </a:defRPr>
                      </a:pPr>
                      <a:r>
                        <a:t>今回の数字</a:t>
                      </a:r>
                    </a:p>
                  </a:txBody>
                  <a:tcPr>
                    <a:solidFill>
                      <a:srgbClr val="F0F7F4"/>
                    </a:solidFill>
                  </a:tcPr>
                </a:tc>
                <a:tc>
                  <a:txBody>
                    <a:bodyPr/>
                    <a:lstStyle/>
                    <a:p>
                      <a:pPr>
                        <a:defRPr sz="1200">
                          <a:solidFill>
                            <a:srgbClr val="121C1F"/>
                          </a:solidFill>
                          <a:latin typeface="Yu Gothic"/>
                        </a:defRPr>
                      </a:pPr>
                      <a:r>
                        <a:t>23アンダー</a:t>
                      </a:r>
                    </a:p>
                  </a:txBody>
                  <a:tcPr>
                    <a:solidFill>
                      <a:srgbClr val="F0F7F4"/>
                    </a:solidFill>
                  </a:tcPr>
                </a:tc>
                <a:tc>
                  <a:txBody>
                    <a:bodyPr/>
                    <a:lstStyle/>
                    <a:p>
                      <a:pPr>
                        <a:defRPr sz="1200">
                          <a:solidFill>
                            <a:srgbClr val="121C1F"/>
                          </a:solidFill>
                          <a:latin typeface="Yu Gothic"/>
                        </a:defRPr>
                      </a:pPr>
                      <a:r>
                        <a:t>26バーディー</a:t>
                      </a:r>
                    </a:p>
                  </a:txBody>
                  <a:tcPr>
                    <a:solidFill>
                      <a:srgbClr val="F0F7F4"/>
                    </a:solidFill>
                  </a:tcPr>
                </a:tc>
              </a:tr>
              <a:tr h="502920">
                <a:tc>
                  <a:txBody>
                    <a:bodyPr/>
                    <a:lstStyle/>
                    <a:p>
                      <a:pPr>
                        <a:defRPr sz="1200">
                          <a:solidFill>
                            <a:srgbClr val="121C1F"/>
                          </a:solidFill>
                          <a:latin typeface="Yu Gothic"/>
                        </a:defRPr>
                      </a:pPr>
                      <a:r>
                        <a:t>従来の記録保持者</a:t>
                      </a:r>
                    </a:p>
                  </a:txBody>
                  <a:tcPr>
                    <a:solidFill>
                      <a:srgbClr val="FFFFFF"/>
                    </a:solidFill>
                  </a:tcPr>
                </a:tc>
                <a:tc>
                  <a:txBody>
                    <a:bodyPr/>
                    <a:lstStyle/>
                    <a:p>
                      <a:pPr>
                        <a:defRPr sz="1200">
                          <a:solidFill>
                            <a:srgbClr val="121C1F"/>
                          </a:solidFill>
                          <a:latin typeface="Yu Gothic"/>
                        </a:defRPr>
                      </a:pPr>
                      <a:r>
                        <a:t>原江里菜選手(2008年・21アンダー)</a:t>
                      </a:r>
                    </a:p>
                  </a:txBody>
                  <a:tcPr>
                    <a:solidFill>
                      <a:srgbClr val="FFFFFF"/>
                    </a:solidFill>
                  </a:tcPr>
                </a:tc>
                <a:tc>
                  <a:txBody>
                    <a:bodyPr/>
                    <a:lstStyle/>
                    <a:p>
                      <a:pPr>
                        <a:defRPr sz="1200">
                          <a:solidFill>
                            <a:srgbClr val="121C1F"/>
                          </a:solidFill>
                          <a:latin typeface="Yu Gothic"/>
                        </a:defRPr>
                      </a:pPr>
                      <a:r>
                        <a:t>アニカ・ソレンスタム氏(2003年・24バーディー)</a:t>
                      </a:r>
                    </a:p>
                  </a:txBody>
                  <a:tcPr>
                    <a:solidFill>
                      <a:srgbClr val="FFFFFF"/>
                    </a:solidFill>
                  </a:tcPr>
                </a:tc>
              </a:tr>
              <a:tr h="502920">
                <a:tc>
                  <a:txBody>
                    <a:bodyPr/>
                    <a:lstStyle/>
                    <a:p>
                      <a:pPr>
                        <a:defRPr sz="1200">
                          <a:solidFill>
                            <a:srgbClr val="121C1F"/>
                          </a:solidFill>
                          <a:latin typeface="Yu Gothic"/>
                        </a:defRPr>
                      </a:pPr>
                      <a:r>
                        <a:t>更新幅・経過年数</a:t>
                      </a:r>
                    </a:p>
                  </a:txBody>
                  <a:tcPr>
                    <a:solidFill>
                      <a:srgbClr val="F0F7F4"/>
                    </a:solidFill>
                  </a:tcPr>
                </a:tc>
                <a:tc>
                  <a:txBody>
                    <a:bodyPr/>
                    <a:lstStyle/>
                    <a:p>
                      <a:pPr>
                        <a:defRPr sz="1200">
                          <a:solidFill>
                            <a:srgbClr val="121C1F"/>
                          </a:solidFill>
                          <a:latin typeface="Yu Gothic"/>
                        </a:defRPr>
                      </a:pPr>
                      <a:r>
                        <a:t>2打更新</a:t>
                      </a:r>
                    </a:p>
                  </a:txBody>
                  <a:tcPr>
                    <a:solidFill>
                      <a:srgbClr val="F0F7F4"/>
                    </a:solidFill>
                  </a:tcPr>
                </a:tc>
                <a:tc>
                  <a:txBody>
                    <a:bodyPr/>
                    <a:lstStyle/>
                    <a:p>
                      <a:pPr>
                        <a:defRPr sz="1200">
                          <a:solidFill>
                            <a:srgbClr val="121C1F"/>
                          </a:solidFill>
                          <a:latin typeface="Yu Gothic"/>
                        </a:defRPr>
                      </a:pPr>
                      <a:r>
                        <a:t>2個更新・23年ぶり</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THE ANSWER・GDO・eGolf(2026-08-16)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日刊スポーツ(docomoニュース経由)・THE ANSWER・JLPGA公式ニュース・ゴルフダイジェスト(GDO)・eGolf(いずれも2026-08-16)｜本日4本目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大会記録の比較(21アンダー→23アンダー)</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THE ANSWER・GDO(2026-08-16)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日刊スポーツ(docomoニュース経由)・THE ANSWER・JLPGA公式ニュース・ゴルフダイジェスト(GDO)・eGolf(いずれも2026-08-16)｜本日4本目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ソレンスタム記録の比較(24バーディー→26バーディー)</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THE ANSWER・eGolf(2026-08-16)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日刊スポーツ(docomoニュース経由)・THE ANSWER・JLPGA公式ニュース・ゴルフダイジェスト(GDO)・eGolf(いずれも2026-08-16)｜本日4本目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2位との差</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7打差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2位との差は7打。3日間首位を譲らないワイヤー・トゥ・ワイヤーの優勝だった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日刊スポーツ・THE ANSWER(2026-08-16)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ツアー通算3勝目</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通算3勝目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安田祐香選手にとって、今回の優勝はツアー通算3勝目にあたる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日刊スポーツ・JLPGA公式ニュース(2026-08-16)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完全優勝を支えた3つのポイント</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首位を譲らない安定感</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3日間ともに首位を守り切ったワイヤー・トゥ・ワイヤーの優勝</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圧倒的なスコア</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3日間通算23アンダーで、2008年からの大会記録を更新した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多いバーディー数</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54ホールで26バーディー、23年前のソレンスタム記録を更新した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日刊スポーツ(docomoニュース経由)・THE ANSWER・JLPGA公式ニュース・ゴルフダイジェスト(GDO)・eGolf(いずれも2026-08-16)｜本日4本目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『アニカ・ソレンスタム超え』の正確な意味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この表現の意味を確認します。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アニカ・ソレンスタム氏は、世界の女子ゴルフ史を代表するトッププロの一人として知られる選手である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今回更新したのは『3日間大会で優勝した際の最多バーディー数』という具体的な記録(2003年・24バーディー)のみである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ソレンスタム氏のキャリア全体を上回ったという意味ではなく、この特定の記録に限定した比較であることに注意する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THE ANSWER・eGolf(2026-08-16)</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日刊スポーツ(docomoニュース経由)・THE ANSWER・JLPGA公式ニュース・ゴルフダイジェスト(GDO)・eGolf(いずれも2026-08-16)｜本日4本目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記録(1)と記録(2)、混同しないために</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記録(1)大会記録(23アンダー)</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NEC軽井沢72という大会限定の歴代記録</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2008年・原江里菜選手の21アンダーを更新</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この大会に出場した選手同士の比較</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記録(2)ソレンスタム記録(26バーディー)</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大会を問わない『3日間優勝時の最多バーディー』記録</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2003年・アニカ・ソレンスタム氏の24バーディーを更新</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世界のトップ選手の記録との比較</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日刊スポーツ(docomoニュース経由)・THE ANSWER・JLPGA公式ニュース・ゴルフダイジェスト(GDO)・eGolf(いずれも2026-08-16)｜本日4本目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誇張回避のための補足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『2つの世界記録を破った』のような、対象範囲を曖昧にした誇張表現は使わない</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数字(スコア・バーディー数・打差・通算勝利数)はすべて出典どおり正確に扱い、丸めや誇張を行わない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選手への敬意を保ち、断定的な将来予測(今後も勝ち続ける等)は行わない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日刊スポーツ(docomoニュース経由)・THE ANSWER・JLPGA公式ニュース・ゴルフダイジェスト(GDO)・eGolf(いずれも2026-08-16)｜本日4本目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これで何が変わるか・読者への示唆</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このニュースが意味することを整理します。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安田祐香選手はツアー通算3勝目を挙げ、複数の記録を同時に更新する優勝を果たした</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1つのニュースに複数の記録更新が含まれる場合、それぞれの対象範囲を分けて理解することの重要性が分かる一例である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賞金額・世界ランキングへの影響・次回大会の予定は、本調査の範囲では確認できていない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日刊スポーツ(docomoニュース経由)・THE ANSWER・JLPGA公式ニュース・ゴルフダイジェスト(GDO)・eGolf(いずれも2026-08-16)｜本日4本目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視聴者にとっての実践的な示唆</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ゴルフファンとして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スコアの数字だけでなく、その記録がどの範囲を対象にしたものかまで確認すると理解が深まる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スポーツニュースを追う立場として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『世界的な名前との対比』という見出しの背景にある、具体的な記録の中身を確認する習慣が役立つ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複数の記録更新を扱う際、対象範囲を曖昧にせず出典付きで正確に伝える姿勢が信頼につながる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日刊スポーツ(docomoニュース経由)・THE ANSWER・JLPGA公式ニュース・ゴルフダイジェスト(GDO)・eGolf(いずれも2026-08-16)｜本日4本目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安田祐香選手のプロフィール</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改めて選手のプロフィールを確認します。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生年月日: 2000年12月24日、出身: 兵庫県、所属: NEC</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2019年11月にプロテストを一発合格し、2020年から本格的にプロ活動を開始した</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過去2勝の大会名・年、家族構成やスポンサー契約などの詳細は本調査の範囲では確認できていない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JLPGA公式ニュース(2026-08-16)</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日刊スポーツ(docomoニュース経由)・THE ANSWER・JLPGA公式ニュース・ゴルフダイジェスト(GDO)・eGolf(いずれも2026-08-16)｜本日4本目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ソレンスタムそのものを超えた選手になった</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世界記録を塗り替えた快挙である</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今後の大会でも勝ち続けることが確定している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実際に報じられている内容</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更新したのは『3日間優勝時の最多バーディー』という特定の記録のみ</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大会記録(21→23アンダー)とソレンスタム記録(24→26バーディー)という別々の記録</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今後の成績・世界ランキングへの影響は本調査の範囲では確認できていない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日刊スポーツ(docomoニュース経由)・THE ANSWER・JLPGA公式ニュース・ゴルフダイジェスト(GDO)・eGolf(いずれも2026-08-16)｜本日4本目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確認できていないこと(1)</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正直にお伝えします。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優勝賞金の具体的な金額</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世界ランキング(Rolex Rankings等)への影響</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次回出場予定の大会・今後のスケジュール</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日刊スポーツ(docomoニュース経由)・THE ANSWER・JLPGA公式ニュース・ゴルフダイジェスト(GDO)・eGolf(いずれも2026-08-16)｜本日4本目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確認できていないこと(2・一覧)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状況</a:t>
                      </a:r>
                    </a:p>
                  </a:txBody>
                  <a:tcPr>
                    <a:solidFill>
                      <a:srgbClr val="1B2A2E"/>
                    </a:solidFill>
                  </a:tcPr>
                </a:tc>
              </a:tr>
              <a:tr h="502920">
                <a:tc>
                  <a:txBody>
                    <a:bodyPr/>
                    <a:lstStyle/>
                    <a:p>
                      <a:pPr>
                        <a:defRPr sz="1200">
                          <a:solidFill>
                            <a:srgbClr val="121C1F"/>
                          </a:solidFill>
                          <a:latin typeface="Yu Gothic"/>
                        </a:defRPr>
                      </a:pPr>
                      <a:r>
                        <a:t>安田選手の過去2勝の大会名・年</a:t>
                      </a:r>
                    </a:p>
                  </a:txBody>
                  <a:tcPr>
                    <a:solidFill>
                      <a:srgbClr val="FFFFFF"/>
                    </a:solidFill>
                  </a:tcPr>
                </a:tc>
                <a:tc>
                  <a:txBody>
                    <a:bodyPr/>
                    <a:lstStyle/>
                    <a:p>
                      <a:pPr>
                        <a:defRPr sz="1200">
                          <a:solidFill>
                            <a:srgbClr val="121C1F"/>
                          </a:solidFill>
                          <a:latin typeface="Yu Gothic"/>
                        </a:defRPr>
                      </a:pPr>
                      <a:r>
                        <a:t>本調査の範囲では確認できていない</a:t>
                      </a:r>
                    </a:p>
                  </a:txBody>
                  <a:tcPr>
                    <a:solidFill>
                      <a:srgbClr val="FFFFFF"/>
                    </a:solidFill>
                  </a:tcPr>
                </a:tc>
              </a:tr>
              <a:tr h="502920">
                <a:tc>
                  <a:txBody>
                    <a:bodyPr/>
                    <a:lstStyle/>
                    <a:p>
                      <a:pPr>
                        <a:defRPr sz="1200">
                          <a:solidFill>
                            <a:srgbClr val="121C1F"/>
                          </a:solidFill>
                          <a:latin typeface="Yu Gothic"/>
                        </a:defRPr>
                      </a:pPr>
                      <a:r>
                        <a:t>最終日(3日目・68)のホールごとのスコア推移</a:t>
                      </a:r>
                    </a:p>
                  </a:txBody>
                  <a:tcPr>
                    <a:solidFill>
                      <a:srgbClr val="F0F7F4"/>
                    </a:solidFill>
                  </a:tcPr>
                </a:tc>
                <a:tc>
                  <a:txBody>
                    <a:bodyPr/>
                    <a:lstStyle/>
                    <a:p>
                      <a:pPr>
                        <a:defRPr sz="1200">
                          <a:solidFill>
                            <a:srgbClr val="121C1F"/>
                          </a:solidFill>
                          <a:latin typeface="Yu Gothic"/>
                        </a:defRPr>
                      </a:pPr>
                      <a:r>
                        <a:t>本調査の範囲では確認できていない</a:t>
                      </a:r>
                    </a:p>
                  </a:txBody>
                  <a:tcPr>
                    <a:solidFill>
                      <a:srgbClr val="F0F7F4"/>
                    </a:solidFill>
                  </a:tcPr>
                </a:tc>
              </a:tr>
              <a:tr h="502920">
                <a:tc>
                  <a:txBody>
                    <a:bodyPr/>
                    <a:lstStyle/>
                    <a:p>
                      <a:pPr>
                        <a:defRPr sz="1200">
                          <a:solidFill>
                            <a:srgbClr val="121C1F"/>
                          </a:solidFill>
                          <a:latin typeface="Yu Gothic"/>
                        </a:defRPr>
                      </a:pPr>
                      <a:r>
                        <a:t>家族構成・スポンサー契約などの個人的な経歴</a:t>
                      </a:r>
                    </a:p>
                  </a:txBody>
                  <a:tcPr>
                    <a:solidFill>
                      <a:srgbClr val="FFFFFF"/>
                    </a:solidFill>
                  </a:tcPr>
                </a:tc>
                <a:tc>
                  <a:txBody>
                    <a:bodyPr/>
                    <a:lstStyle/>
                    <a:p>
                      <a:pPr>
                        <a:defRPr sz="1200">
                          <a:solidFill>
                            <a:srgbClr val="121C1F"/>
                          </a:solidFill>
                          <a:latin typeface="Yu Gothic"/>
                        </a:defRPr>
                      </a:pPr>
                      <a:r>
                        <a:t>本調査の範囲では確認できていない(推測で補わない)</a:t>
                      </a:r>
                    </a:p>
                  </a:txBody>
                  <a:tcPr>
                    <a:solidFill>
                      <a:srgbClr val="FFFFFF"/>
                    </a:solidFill>
                  </a:tcPr>
                </a:tc>
              </a:tr>
              <a:tr h="502920">
                <a:tc>
                  <a:txBody>
                    <a:bodyPr/>
                    <a:lstStyle/>
                    <a:p>
                      <a:pPr>
                        <a:defRPr sz="1200">
                          <a:solidFill>
                            <a:srgbClr val="121C1F"/>
                          </a:solidFill>
                          <a:latin typeface="Yu Gothic"/>
                        </a:defRPr>
                      </a:pPr>
                      <a:r>
                        <a:t>ソレンスタム氏のキャリア全体の評価</a:t>
                      </a:r>
                    </a:p>
                  </a:txBody>
                  <a:tcPr>
                    <a:solidFill>
                      <a:srgbClr val="F0F7F4"/>
                    </a:solidFill>
                  </a:tcPr>
                </a:tc>
                <a:tc>
                  <a:txBody>
                    <a:bodyPr/>
                    <a:lstStyle/>
                    <a:p>
                      <a:pPr>
                        <a:defRPr sz="1200">
                          <a:solidFill>
                            <a:srgbClr val="121C1F"/>
                          </a:solidFill>
                          <a:latin typeface="Yu Gothic"/>
                        </a:defRPr>
                      </a:pPr>
                      <a:r>
                        <a:t>本テーマでは2003年の当該記録のみを扱い、範囲外とする</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日刊スポーツ(docomoニュース経由)・THE ANSWER・JLPGA公式ニュース・ゴルフダイジェスト(GDO)・eGolf(いずれも2026-08-16)｜本日4本目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事実: 3日間のスコア(61・64・68)・通算23アンダー・26バーディー・7打差・通算3勝目は複数メディアが一致</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事実: 大会記録更新(21→23アンダー)とソレンスタム記録更新(24→26バーディー)は、それぞれ別の対象範囲の記録</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推測: プレー内容の安定感がうかがえるという評価(具体的な技術要因は断定しない)</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不明: 優勝賞金額、世界ランキングへの影響、次回大会予定、過去2勝の詳細</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日刊スポーツ(docomoニュース経由)・THE ANSWER・JLPGA公式ニュース・ゴルフダイジェスト(GDO)・eGolf(いずれも2026-08-16)｜本日4本目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着手日当日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優勝確定(2026年8月16日、日本時間)は着手日(2026年8月16日)当日。着手日を含めて2日以内という基準を最も新しい形で満たす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docs/06_Content_R&amp;D.md基準</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主な出典一覧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日刊スポーツ(docomoニュース経由)</a:t>
                      </a:r>
                    </a:p>
                  </a:txBody>
                  <a:tcPr>
                    <a:solidFill>
                      <a:srgbClr val="FFFFFF"/>
                    </a:solidFill>
                  </a:tcPr>
                </a:tc>
                <a:tc>
                  <a:txBody>
                    <a:bodyPr/>
                    <a:lstStyle/>
                    <a:p>
                      <a:pPr>
                        <a:defRPr sz="1200">
                          <a:solidFill>
                            <a:srgbClr val="121C1F"/>
                          </a:solidFill>
                          <a:latin typeface="Yu Gothic"/>
                        </a:defRPr>
                      </a:pPr>
                      <a:r>
                        <a:t>3日間のスコア・通算23アンダー・7打差・通算3勝目(2026-08-16)</a:t>
                      </a:r>
                    </a:p>
                  </a:txBody>
                  <a:tcPr>
                    <a:solidFill>
                      <a:srgbClr val="FFFFFF"/>
                    </a:solidFill>
                  </a:tcPr>
                </a:tc>
              </a:tr>
              <a:tr h="502920">
                <a:tc>
                  <a:txBody>
                    <a:bodyPr/>
                    <a:lstStyle/>
                    <a:p>
                      <a:pPr>
                        <a:defRPr sz="1200">
                          <a:solidFill>
                            <a:srgbClr val="121C1F"/>
                          </a:solidFill>
                          <a:latin typeface="Yu Gothic"/>
                        </a:defRPr>
                      </a:pPr>
                      <a:r>
                        <a:t>THE ANSWER</a:t>
                      </a:r>
                    </a:p>
                  </a:txBody>
                  <a:tcPr>
                    <a:solidFill>
                      <a:srgbClr val="F0F7F4"/>
                    </a:solidFill>
                  </a:tcPr>
                </a:tc>
                <a:tc>
                  <a:txBody>
                    <a:bodyPr/>
                    <a:lstStyle/>
                    <a:p>
                      <a:pPr>
                        <a:defRPr sz="1200">
                          <a:solidFill>
                            <a:srgbClr val="121C1F"/>
                          </a:solidFill>
                          <a:latin typeface="Yu Gothic"/>
                        </a:defRPr>
                      </a:pPr>
                      <a:r>
                        <a:t>大会記録更新・ソレンスタム記録更新の詳細(2026-08-16)</a:t>
                      </a:r>
                    </a:p>
                  </a:txBody>
                  <a:tcPr>
                    <a:solidFill>
                      <a:srgbClr val="F0F7F4"/>
                    </a:solidFill>
                  </a:tcPr>
                </a:tc>
              </a:tr>
              <a:tr h="502920">
                <a:tc>
                  <a:txBody>
                    <a:bodyPr/>
                    <a:lstStyle/>
                    <a:p>
                      <a:pPr>
                        <a:defRPr sz="1200">
                          <a:solidFill>
                            <a:srgbClr val="121C1F"/>
                          </a:solidFill>
                          <a:latin typeface="Yu Gothic"/>
                        </a:defRPr>
                      </a:pPr>
                      <a:r>
                        <a:t>JLPGA公式ニュース</a:t>
                      </a:r>
                    </a:p>
                  </a:txBody>
                  <a:tcPr>
                    <a:solidFill>
                      <a:srgbClr val="FFFFFF"/>
                    </a:solidFill>
                  </a:tcPr>
                </a:tc>
                <a:tc>
                  <a:txBody>
                    <a:bodyPr/>
                    <a:lstStyle/>
                    <a:p>
                      <a:pPr>
                        <a:defRPr sz="1200">
                          <a:solidFill>
                            <a:srgbClr val="121C1F"/>
                          </a:solidFill>
                          <a:latin typeface="Yu Gothic"/>
                        </a:defRPr>
                      </a:pPr>
                      <a:r>
                        <a:t>優勝結果・選手プロフィール(2026-08-16)</a:t>
                      </a:r>
                    </a:p>
                  </a:txBody>
                  <a:tcPr>
                    <a:solidFill>
                      <a:srgbClr val="FFFFFF"/>
                    </a:solidFill>
                  </a:tcPr>
                </a:tc>
              </a:tr>
              <a:tr h="502920">
                <a:tc>
                  <a:txBody>
                    <a:bodyPr/>
                    <a:lstStyle/>
                    <a:p>
                      <a:pPr>
                        <a:defRPr sz="1200">
                          <a:solidFill>
                            <a:srgbClr val="121C1F"/>
                          </a:solidFill>
                          <a:latin typeface="Yu Gothic"/>
                        </a:defRPr>
                      </a:pPr>
                      <a:r>
                        <a:t>ゴルフダイジェスト(GDO)</a:t>
                      </a:r>
                    </a:p>
                  </a:txBody>
                  <a:tcPr>
                    <a:solidFill>
                      <a:srgbClr val="F0F7F4"/>
                    </a:solidFill>
                  </a:tcPr>
                </a:tc>
                <a:tc>
                  <a:txBody>
                    <a:bodyPr/>
                    <a:lstStyle/>
                    <a:p>
                      <a:pPr>
                        <a:defRPr sz="1200">
                          <a:solidFill>
                            <a:srgbClr val="121C1F"/>
                          </a:solidFill>
                          <a:latin typeface="Yu Gothic"/>
                        </a:defRPr>
                      </a:pPr>
                      <a:r>
                        <a:t>コースレコードタイ・大会記録の詳細(2026-08-16)</a:t>
                      </a:r>
                    </a:p>
                  </a:txBody>
                  <a:tcPr>
                    <a:solidFill>
                      <a:srgbClr val="F0F7F4"/>
                    </a:solidFill>
                  </a:tcPr>
                </a:tc>
              </a:tr>
              <a:tr h="502920">
                <a:tc>
                  <a:txBody>
                    <a:bodyPr/>
                    <a:lstStyle/>
                    <a:p>
                      <a:pPr>
                        <a:defRPr sz="1200">
                          <a:solidFill>
                            <a:srgbClr val="121C1F"/>
                          </a:solidFill>
                          <a:latin typeface="Yu Gothic"/>
                        </a:defRPr>
                      </a:pPr>
                      <a:r>
                        <a:t>eGolf</a:t>
                      </a:r>
                    </a:p>
                  </a:txBody>
                  <a:tcPr>
                    <a:solidFill>
                      <a:srgbClr val="FFFFFF"/>
                    </a:solidFill>
                  </a:tcPr>
                </a:tc>
                <a:tc>
                  <a:txBody>
                    <a:bodyPr/>
                    <a:lstStyle/>
                    <a:p>
                      <a:pPr>
                        <a:defRPr sz="1200">
                          <a:solidFill>
                            <a:srgbClr val="121C1F"/>
                          </a:solidFill>
                          <a:latin typeface="Yu Gothic"/>
                        </a:defRPr>
                      </a:pPr>
                      <a:r>
                        <a:t>バーディー数・ソレンスタム記録の詳細(2026-08-16)</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日刊スポーツ(docomoニュース経由)・THE ANSWER・JLPGA公式ニュース・ゴルフダイジェスト(GDO)・eGolf(いずれも2026-08-16)｜本日4本目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23年ぶりに更新された記録、そして大会新記録。</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1つの優勝の中に、性質の異なる2つの記録更新がありました。数字を正確に、出典付きで整理してお届けしました。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