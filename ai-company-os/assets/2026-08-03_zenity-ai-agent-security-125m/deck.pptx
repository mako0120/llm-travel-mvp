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億台のAIエージェントを、誰が守るのか。SoftBank・日立・LGが、1.25億ドルを賭けた企業があります。AIエージェントセキュリティ企業Zenityが、シリーズCの資金調達を発表しました。今日はこ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今日わかることは6つです。何が起きたのか、Zenityとはどんな会社か、資金調達の内訳と参加投資家、創業者の経歴、AIエージェントセキュリティの背景、そして確認できたこと・できなかったことです。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何が起きたのか整理します。Zenityが2026年8月3日、シリーズCで1.25億ドルの資金調達を発表しました。主導はNorwestで、SoftBankや日立、LGなど著名企業が新規参加しています。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調達額はこちら、1.25億ドルです。Norwestが主導するシリーズCとして発表されました。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調達概要を表にまとめました。企業名はZenity、調達額はシリーズCの1.25億ドルで、累計は約1.85億ドルです。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Zenityとはどんな会社か紹介します。2021年、Unit 8200出身のBen Kliger氏とMichael Bargury氏が創業した、AIエージェントセキュリティ企業です。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Zenityの歩みを概要で紹介します。2021年の創業から事業を拡大し、2026年8月にシリーズCで1.25億ドルを調達しました。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創業者の経歴を見ていきます。CEOのBen Kliger氏、CTOのMichael Bargury氏はともにUnit 8200出身で、Microsoft時代にクラウド・OTセキュリティ製品を率いた同僚です。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資金調達の推移を概要で示します。これまでの調達に加え、今回のシリーズC1.25億ドルにより、累計は約1.85億ドルとなりました。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投資家陣容の全体像です。Norwestが主導し、新規参加4社、既存投資家4社が継続参加しています。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新規参加の投資家です。Qumra Capital、SoftBank Vision Fund 2、日立ベンチャーズ、LGテクノロジーベンチャーズが新たに参加しました。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新規参加投資家数を確認します。Qumra Capital、SoftBank Vision Fund 2、日立ベンチャーズ、LGテクノロジーベンチャーズの4社が新たに参加しました。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既存投資家の継続参加です。Vertex Ventures、Third Point Ventures、DTCP、Intel Capitalが引き続き参加しています。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新規投資家と既存投資家を比較します。新規4社、既存4社が今回のシリーズCに顔をそろえました。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ここで確認できたこと・できなかったことを正直に整理します。調達額や投資家名は複数媒体で一致していますが、顧客数やARR、バリュエーションは確認できていません。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初心者向けにAIエージェントセキュリティを説明します。自律的に動くAIエージェント特有のリスクを管理・防止する技術です。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なぜ今AIエージェントセキュリティが注目されるのかを概要で示します。導入拡大とともに新しいリスクが生まれ、専用セキュリティ企業への投資が拡大しています。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鮮度について正直に開示します。本発表は着手日の1日前であり、鮮度基準を満たしています。直近のテーマの中でも特に鮮度が高い部類です。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累計調達額を確認します。2021年の創業以来、今回のシリーズCを含めて約1.85億ドルとなりました。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資金の使い道を報道から整理します。製品開発の加速、グローバル展開、企業需要への対応が挙げられています。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創業者2人のプロフィールを改めて紹介します。CEOのBen Kliger氏、CTOのMichael Bargury氏はともにUnit 8200出身、Microsoft時代からの同僚です。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出典一覧です。SiliconANGLE、Fortune、BusinessWire、Pulse2、Calcalistech、citybizという、独立した複数の技術・ビジネス専門媒体です。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調達概要を再確認します。Zenityが、シリーズCで1.25億ドルを調達しました。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既存テーマとの関係を確認しました。Zenityを主題として扱った既存テーマはなく、重複ではありません。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ここからは推測です。AIエージェントセキュリティ分野への投資はさらに拡大する可能性があります。SoftBankや日立、LGの参加は、日本市場での関心の高まりを示唆するかもしれません。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従来型セキュリティとAIエージェントセキュリティの違いを概要で比較します。自律的に動くAIエージェント特有のリスク管理が求められています。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今後の展開を概要で示します。製品開発の継続、グローバル展開を経て、業界内での評価が注目されます。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リスクと課題を正直に開示します。具体的な顧客数・ARR・バリュエーションは確認できていません。数字は報道された内容のみを扱っています。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皆さんはこのAIエージェントセキュリティ、どう見ますか。10億台のAIエージェントを誰が守るのか、今後も注目していきましょう。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まとめです。Zenityが2026年8月3日、シリーズCで1.25億ドルの資金調達を発表しました。今回もご視聴ありがとうございました。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10億台のAIエージェントを誰が守るのか。SoftBank・日立・LGが1.25億ドルを賭けた企業</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Zenity、AIエージェントセキュリティでシリーズC 1.25億ドル調達</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SiliconANGLE・Fortune ほか(2026-08-03)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何が起きたのか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Zenityとはどんな会社か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資金調達の内訳と参加投資家</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創業者の経歴</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AIエージェントセキュリティの背景</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確認できたこと・できなかったこと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Zenityが2026年8月3日、シリーズCで1.25億ドルの資金調達を発表</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主導投資家はNorwest</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SoftBank Vision Fund 2・日立ベンチャーズ・LGテクノロジーベンチャーズ等が新規参加</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累計調達額は約1.85億ドルに到達</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SiliconANGLE(2026-08-03)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シリーズC調達額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1.25億ドル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Norwest主導のシリーズC(2026年8月3日発表)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SiliconANGLE(2026-08-03)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調達概要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企業名</a:t>
                      </a:r>
                    </a:p>
                  </a:txBody>
                  <a:tcPr>
                    <a:solidFill>
                      <a:srgbClr val="FFFFFF"/>
                    </a:solidFill>
                  </a:tcPr>
                </a:tc>
                <a:tc>
                  <a:txBody>
                    <a:bodyPr/>
                    <a:lstStyle/>
                    <a:p>
                      <a:pPr>
                        <a:defRPr sz="1200">
                          <a:solidFill>
                            <a:srgbClr val="1C2230"/>
                          </a:solidFill>
                          <a:latin typeface="Yu Gothic"/>
                        </a:defRPr>
                      </a:pPr>
                      <a:r>
                        <a:t>Zenity</a:t>
                      </a:r>
                    </a:p>
                  </a:txBody>
                  <a:tcPr>
                    <a:solidFill>
                      <a:srgbClr val="FFFFFF"/>
                    </a:solidFill>
                  </a:tcPr>
                </a:tc>
              </a:tr>
              <a:tr h="502920">
                <a:tc>
                  <a:txBody>
                    <a:bodyPr/>
                    <a:lstStyle/>
                    <a:p>
                      <a:pPr>
                        <a:defRPr sz="1200">
                          <a:solidFill>
                            <a:srgbClr val="1C2230"/>
                          </a:solidFill>
                          <a:latin typeface="Yu Gothic"/>
                        </a:defRPr>
                      </a:pPr>
                      <a:r>
                        <a:t>調達ラウンド</a:t>
                      </a:r>
                    </a:p>
                  </a:txBody>
                  <a:tcPr>
                    <a:solidFill>
                      <a:srgbClr val="F1F5FA"/>
                    </a:solidFill>
                  </a:tcPr>
                </a:tc>
                <a:tc>
                  <a:txBody>
                    <a:bodyPr/>
                    <a:lstStyle/>
                    <a:p>
                      <a:pPr>
                        <a:defRPr sz="1200">
                          <a:solidFill>
                            <a:srgbClr val="1C2230"/>
                          </a:solidFill>
                          <a:latin typeface="Yu Gothic"/>
                        </a:defRPr>
                      </a:pPr>
                      <a:r>
                        <a:t>シリーズC</a:t>
                      </a:r>
                    </a:p>
                  </a:txBody>
                  <a:tcPr>
                    <a:solidFill>
                      <a:srgbClr val="F1F5FA"/>
                    </a:solidFill>
                  </a:tcPr>
                </a:tc>
              </a:tr>
              <a:tr h="502920">
                <a:tc>
                  <a:txBody>
                    <a:bodyPr/>
                    <a:lstStyle/>
                    <a:p>
                      <a:pPr>
                        <a:defRPr sz="1200">
                          <a:solidFill>
                            <a:srgbClr val="1C2230"/>
                          </a:solidFill>
                          <a:latin typeface="Yu Gothic"/>
                        </a:defRPr>
                      </a:pPr>
                      <a:r>
                        <a:t>調達額</a:t>
                      </a:r>
                    </a:p>
                  </a:txBody>
                  <a:tcPr>
                    <a:solidFill>
                      <a:srgbClr val="FFFFFF"/>
                    </a:solidFill>
                  </a:tcPr>
                </a:tc>
                <a:tc>
                  <a:txBody>
                    <a:bodyPr/>
                    <a:lstStyle/>
                    <a:p>
                      <a:pPr>
                        <a:defRPr sz="1200">
                          <a:solidFill>
                            <a:srgbClr val="1C2230"/>
                          </a:solidFill>
                          <a:latin typeface="Yu Gothic"/>
                        </a:defRPr>
                      </a:pPr>
                      <a:r>
                        <a:t>1.25億ドル</a:t>
                      </a:r>
                    </a:p>
                  </a:txBody>
                  <a:tcPr>
                    <a:solidFill>
                      <a:srgbClr val="FFFFFF"/>
                    </a:solidFill>
                  </a:tcPr>
                </a:tc>
              </a:tr>
              <a:tr h="502920">
                <a:tc>
                  <a:txBody>
                    <a:bodyPr/>
                    <a:lstStyle/>
                    <a:p>
                      <a:pPr>
                        <a:defRPr sz="1200">
                          <a:solidFill>
                            <a:srgbClr val="1C2230"/>
                          </a:solidFill>
                          <a:latin typeface="Yu Gothic"/>
                        </a:defRPr>
                      </a:pPr>
                      <a:r>
                        <a:t>累計調達額</a:t>
                      </a:r>
                    </a:p>
                  </a:txBody>
                  <a:tcPr>
                    <a:solidFill>
                      <a:srgbClr val="F1F5FA"/>
                    </a:solidFill>
                  </a:tcPr>
                </a:tc>
                <a:tc>
                  <a:txBody>
                    <a:bodyPr/>
                    <a:lstStyle/>
                    <a:p>
                      <a:pPr>
                        <a:defRPr sz="1200">
                          <a:solidFill>
                            <a:srgbClr val="1C2230"/>
                          </a:solidFill>
                          <a:latin typeface="Yu Gothic"/>
                        </a:defRPr>
                      </a:pPr>
                      <a:r>
                        <a:t>約1.85億ドル</a:t>
                      </a:r>
                    </a:p>
                  </a:txBody>
                  <a:tcPr>
                    <a:solidFill>
                      <a:srgbClr val="F1F5FA"/>
                    </a:solidFill>
                  </a:tcPr>
                </a:tc>
              </a:tr>
              <a:tr h="502920">
                <a:tc>
                  <a:txBody>
                    <a:bodyPr/>
                    <a:lstStyle/>
                    <a:p>
                      <a:pPr>
                        <a:defRPr sz="1200">
                          <a:solidFill>
                            <a:srgbClr val="1C2230"/>
                          </a:solidFill>
                          <a:latin typeface="Yu Gothic"/>
                        </a:defRPr>
                      </a:pPr>
                      <a:r>
                        <a:t>主導投資家</a:t>
                      </a:r>
                    </a:p>
                  </a:txBody>
                  <a:tcPr>
                    <a:solidFill>
                      <a:srgbClr val="FFFFFF"/>
                    </a:solidFill>
                  </a:tcPr>
                </a:tc>
                <a:tc>
                  <a:txBody>
                    <a:bodyPr/>
                    <a:lstStyle/>
                    <a:p>
                      <a:pPr>
                        <a:defRPr sz="1200">
                          <a:solidFill>
                            <a:srgbClr val="1C2230"/>
                          </a:solidFill>
                          <a:latin typeface="Yu Gothic"/>
                        </a:defRPr>
                      </a:pPr>
                      <a:r>
                        <a:t>Norwest</a:t>
                      </a:r>
                    </a:p>
                  </a:txBody>
                  <a:tcPr>
                    <a:solidFill>
                      <a:srgbClr val="FFFFFF"/>
                    </a:solidFill>
                  </a:tcPr>
                </a:tc>
              </a:tr>
              <a:tr h="502920">
                <a:tc>
                  <a:txBody>
                    <a:bodyPr/>
                    <a:lstStyle/>
                    <a:p>
                      <a:pPr>
                        <a:defRPr sz="1200">
                          <a:solidFill>
                            <a:srgbClr val="1C2230"/>
                          </a:solidFill>
                          <a:latin typeface="Yu Gothic"/>
                        </a:defRPr>
                      </a:pPr>
                      <a:r>
                        <a:t>発表日</a:t>
                      </a:r>
                    </a:p>
                  </a:txBody>
                  <a:tcPr>
                    <a:solidFill>
                      <a:srgbClr val="F1F5FA"/>
                    </a:solidFill>
                  </a:tcPr>
                </a:tc>
                <a:tc>
                  <a:txBody>
                    <a:bodyPr/>
                    <a:lstStyle/>
                    <a:p>
                      <a:pPr>
                        <a:defRPr sz="1200">
                          <a:solidFill>
                            <a:srgbClr val="1C2230"/>
                          </a:solidFill>
                          <a:latin typeface="Yu Gothic"/>
                        </a:defRPr>
                      </a:pPr>
                      <a:r>
                        <a:t>2026年8月3日</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Zenityとは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創業</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2021年、Ben Kliger氏(CEO)とMichael Bargury氏(CTO)が創業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創業者の出自</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両氏ともイスラエル軍情報部隊Unit 8200出身</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事業領域</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AIエージェントのセキュリティ・ガバナンスを提供するプラットフォーム</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Zenityの歩み(概要)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1. 2021年創業</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Unit 8200出身の2人が創業</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 事業拡大</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AIエージェントのセキュリティ・ガバナンス製品を展開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3. 2026年8月 シリーズC</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1.25億ドルを調達し、次の成長段階へ</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創業者の経歴</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Ben Kliger氏(CEO): Unit 8200出身</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Michael Bargury氏(CTO): Unit 8200出身</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両氏はMicrosoftでクラウド・OTセキュリティ製品を率いた同僚</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セキュリティ分野での豊富な経験を持つチーム</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SiliconANGLE・Fortune(2026-08-03)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資金調達の推移(概要)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シリーズC以前</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これまでの累計調達</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シリーズC(今回)</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1.25億ドル、2026年8月3日</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累計調達額</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約1.85億ドル</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投資家陣容の全体像</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主導投資家</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Norwest</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新規参加投資家</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4社(Qumra Capital・SoftBank Vision Fund 2・日立ベンチャーズ・LGテクノロジーベンチャーズ)</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既存投資家(継続参加)</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4社(Vertex Ventures・Third Point Ventures・DTCP・Intel Capital)</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新規参加の投資家</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投資家</a:t>
                      </a:r>
                    </a:p>
                  </a:txBody>
                  <a:tcPr>
                    <a:solidFill>
                      <a:srgbClr val="2B3A55"/>
                    </a:solidFill>
                  </a:tcPr>
                </a:tc>
                <a:tc>
                  <a:txBody>
                    <a:bodyPr/>
                    <a:lstStyle/>
                    <a:p>
                      <a:pPr>
                        <a:defRPr sz="1300" b="1">
                          <a:solidFill>
                            <a:srgbClr val="FFFFFF"/>
                          </a:solidFill>
                          <a:latin typeface="Yu Gothic"/>
                        </a:defRPr>
                      </a:pPr>
                      <a:r>
                        <a:t>役割</a:t>
                      </a:r>
                    </a:p>
                  </a:txBody>
                  <a:tcPr>
                    <a:solidFill>
                      <a:srgbClr val="2B3A55"/>
                    </a:solidFill>
                  </a:tcPr>
                </a:tc>
              </a:tr>
              <a:tr h="502920">
                <a:tc>
                  <a:txBody>
                    <a:bodyPr/>
                    <a:lstStyle/>
                    <a:p>
                      <a:pPr>
                        <a:defRPr sz="1200">
                          <a:solidFill>
                            <a:srgbClr val="1C2230"/>
                          </a:solidFill>
                          <a:latin typeface="Yu Gothic"/>
                        </a:defRPr>
                      </a:pPr>
                      <a:r>
                        <a:t>Qumra Capital</a:t>
                      </a:r>
                    </a:p>
                  </a:txBody>
                  <a:tcPr>
                    <a:solidFill>
                      <a:srgbClr val="FFFFFF"/>
                    </a:solidFill>
                  </a:tcPr>
                </a:tc>
                <a:tc>
                  <a:txBody>
                    <a:bodyPr/>
                    <a:lstStyle/>
                    <a:p>
                      <a:pPr>
                        <a:defRPr sz="1200">
                          <a:solidFill>
                            <a:srgbClr val="1C2230"/>
                          </a:solidFill>
                          <a:latin typeface="Yu Gothic"/>
                        </a:defRPr>
                      </a:pPr>
                      <a:r>
                        <a:t>新規参加</a:t>
                      </a:r>
                    </a:p>
                  </a:txBody>
                  <a:tcPr>
                    <a:solidFill>
                      <a:srgbClr val="FFFFFF"/>
                    </a:solidFill>
                  </a:tcPr>
                </a:tc>
              </a:tr>
              <a:tr h="502920">
                <a:tc>
                  <a:txBody>
                    <a:bodyPr/>
                    <a:lstStyle/>
                    <a:p>
                      <a:pPr>
                        <a:defRPr sz="1200">
                          <a:solidFill>
                            <a:srgbClr val="1C2230"/>
                          </a:solidFill>
                          <a:latin typeface="Yu Gothic"/>
                        </a:defRPr>
                      </a:pPr>
                      <a:r>
                        <a:t>SoftBank Vision Fund 2</a:t>
                      </a:r>
                    </a:p>
                  </a:txBody>
                  <a:tcPr>
                    <a:solidFill>
                      <a:srgbClr val="F1F5FA"/>
                    </a:solidFill>
                  </a:tcPr>
                </a:tc>
                <a:tc>
                  <a:txBody>
                    <a:bodyPr/>
                    <a:lstStyle/>
                    <a:p>
                      <a:pPr>
                        <a:defRPr sz="1200">
                          <a:solidFill>
                            <a:srgbClr val="1C2230"/>
                          </a:solidFill>
                          <a:latin typeface="Yu Gothic"/>
                        </a:defRPr>
                      </a:pPr>
                      <a:r>
                        <a:t>新規参加</a:t>
                      </a:r>
                    </a:p>
                  </a:txBody>
                  <a:tcPr>
                    <a:solidFill>
                      <a:srgbClr val="F1F5FA"/>
                    </a:solidFill>
                  </a:tcPr>
                </a:tc>
              </a:tr>
              <a:tr h="502920">
                <a:tc>
                  <a:txBody>
                    <a:bodyPr/>
                    <a:lstStyle/>
                    <a:p>
                      <a:pPr>
                        <a:defRPr sz="1200">
                          <a:solidFill>
                            <a:srgbClr val="1C2230"/>
                          </a:solidFill>
                          <a:latin typeface="Yu Gothic"/>
                        </a:defRPr>
                      </a:pPr>
                      <a:r>
                        <a:t>日立ベンチャーズ(Hitachi Ventures)</a:t>
                      </a:r>
                    </a:p>
                  </a:txBody>
                  <a:tcPr>
                    <a:solidFill>
                      <a:srgbClr val="FFFFFF"/>
                    </a:solidFill>
                  </a:tcPr>
                </a:tc>
                <a:tc>
                  <a:txBody>
                    <a:bodyPr/>
                    <a:lstStyle/>
                    <a:p>
                      <a:pPr>
                        <a:defRPr sz="1200">
                          <a:solidFill>
                            <a:srgbClr val="1C2230"/>
                          </a:solidFill>
                          <a:latin typeface="Yu Gothic"/>
                        </a:defRPr>
                      </a:pPr>
                      <a:r>
                        <a:t>新規参加</a:t>
                      </a:r>
                    </a:p>
                  </a:txBody>
                  <a:tcPr>
                    <a:solidFill>
                      <a:srgbClr val="FFFFFF"/>
                    </a:solidFill>
                  </a:tcPr>
                </a:tc>
              </a:tr>
              <a:tr h="502920">
                <a:tc>
                  <a:txBody>
                    <a:bodyPr/>
                    <a:lstStyle/>
                    <a:p>
                      <a:pPr>
                        <a:defRPr sz="1200">
                          <a:solidFill>
                            <a:srgbClr val="1C2230"/>
                          </a:solidFill>
                          <a:latin typeface="Yu Gothic"/>
                        </a:defRPr>
                      </a:pPr>
                      <a:r>
                        <a:t>LGテクノロジーベンチャーズ(LG Technology Ventures)</a:t>
                      </a:r>
                    </a:p>
                  </a:txBody>
                  <a:tcPr>
                    <a:solidFill>
                      <a:srgbClr val="F1F5FA"/>
                    </a:solidFill>
                  </a:tcPr>
                </a:tc>
                <a:tc>
                  <a:txBody>
                    <a:bodyPr/>
                    <a:lstStyle/>
                    <a:p>
                      <a:pPr>
                        <a:defRPr sz="1200">
                          <a:solidFill>
                            <a:srgbClr val="1C2230"/>
                          </a:solidFill>
                          <a:latin typeface="Yu Gothic"/>
                        </a:defRPr>
                      </a:pPr>
                      <a:r>
                        <a:t>新規参加</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新規参加投資家数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Qumra Capital・SoftBank Vision Fund 2・日立ベンチャーズ・LGテクノロジーベンチャーズ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Fortune(2026-08-03)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既存投資家(継続参加)</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投資家</a:t>
                      </a:r>
                    </a:p>
                  </a:txBody>
                  <a:tcPr>
                    <a:solidFill>
                      <a:srgbClr val="2B3A55"/>
                    </a:solidFill>
                  </a:tcPr>
                </a:tc>
                <a:tc>
                  <a:txBody>
                    <a:bodyPr/>
                    <a:lstStyle/>
                    <a:p>
                      <a:pPr>
                        <a:defRPr sz="1300" b="1">
                          <a:solidFill>
                            <a:srgbClr val="FFFFFF"/>
                          </a:solidFill>
                          <a:latin typeface="Yu Gothic"/>
                        </a:defRPr>
                      </a:pPr>
                      <a:r>
                        <a:t>役割</a:t>
                      </a:r>
                    </a:p>
                  </a:txBody>
                  <a:tcPr>
                    <a:solidFill>
                      <a:srgbClr val="2B3A55"/>
                    </a:solidFill>
                  </a:tcPr>
                </a:tc>
              </a:tr>
              <a:tr h="502920">
                <a:tc>
                  <a:txBody>
                    <a:bodyPr/>
                    <a:lstStyle/>
                    <a:p>
                      <a:pPr>
                        <a:defRPr sz="1200">
                          <a:solidFill>
                            <a:srgbClr val="1C2230"/>
                          </a:solidFill>
                          <a:latin typeface="Yu Gothic"/>
                        </a:defRPr>
                      </a:pPr>
                      <a:r>
                        <a:t>Vertex Ventures</a:t>
                      </a:r>
                    </a:p>
                  </a:txBody>
                  <a:tcPr>
                    <a:solidFill>
                      <a:srgbClr val="FFFFFF"/>
                    </a:solidFill>
                  </a:tcPr>
                </a:tc>
                <a:tc>
                  <a:txBody>
                    <a:bodyPr/>
                    <a:lstStyle/>
                    <a:p>
                      <a:pPr>
                        <a:defRPr sz="1200">
                          <a:solidFill>
                            <a:srgbClr val="1C2230"/>
                          </a:solidFill>
                          <a:latin typeface="Yu Gothic"/>
                        </a:defRPr>
                      </a:pPr>
                      <a:r>
                        <a:t>継続参加</a:t>
                      </a:r>
                    </a:p>
                  </a:txBody>
                  <a:tcPr>
                    <a:solidFill>
                      <a:srgbClr val="FFFFFF"/>
                    </a:solidFill>
                  </a:tcPr>
                </a:tc>
              </a:tr>
              <a:tr h="502920">
                <a:tc>
                  <a:txBody>
                    <a:bodyPr/>
                    <a:lstStyle/>
                    <a:p>
                      <a:pPr>
                        <a:defRPr sz="1200">
                          <a:solidFill>
                            <a:srgbClr val="1C2230"/>
                          </a:solidFill>
                          <a:latin typeface="Yu Gothic"/>
                        </a:defRPr>
                      </a:pPr>
                      <a:r>
                        <a:t>Third Point Ventures</a:t>
                      </a:r>
                    </a:p>
                  </a:txBody>
                  <a:tcPr>
                    <a:solidFill>
                      <a:srgbClr val="F1F5FA"/>
                    </a:solidFill>
                  </a:tcPr>
                </a:tc>
                <a:tc>
                  <a:txBody>
                    <a:bodyPr/>
                    <a:lstStyle/>
                    <a:p>
                      <a:pPr>
                        <a:defRPr sz="1200">
                          <a:solidFill>
                            <a:srgbClr val="1C2230"/>
                          </a:solidFill>
                          <a:latin typeface="Yu Gothic"/>
                        </a:defRPr>
                      </a:pPr>
                      <a:r>
                        <a:t>継続参加</a:t>
                      </a:r>
                    </a:p>
                  </a:txBody>
                  <a:tcPr>
                    <a:solidFill>
                      <a:srgbClr val="F1F5FA"/>
                    </a:solidFill>
                  </a:tcPr>
                </a:tc>
              </a:tr>
              <a:tr h="502920">
                <a:tc>
                  <a:txBody>
                    <a:bodyPr/>
                    <a:lstStyle/>
                    <a:p>
                      <a:pPr>
                        <a:defRPr sz="1200">
                          <a:solidFill>
                            <a:srgbClr val="1C2230"/>
                          </a:solidFill>
                          <a:latin typeface="Yu Gothic"/>
                        </a:defRPr>
                      </a:pPr>
                      <a:r>
                        <a:t>DTCP</a:t>
                      </a:r>
                    </a:p>
                  </a:txBody>
                  <a:tcPr>
                    <a:solidFill>
                      <a:srgbClr val="FFFFFF"/>
                    </a:solidFill>
                  </a:tcPr>
                </a:tc>
                <a:tc>
                  <a:txBody>
                    <a:bodyPr/>
                    <a:lstStyle/>
                    <a:p>
                      <a:pPr>
                        <a:defRPr sz="1200">
                          <a:solidFill>
                            <a:srgbClr val="1C2230"/>
                          </a:solidFill>
                          <a:latin typeface="Yu Gothic"/>
                        </a:defRPr>
                      </a:pPr>
                      <a:r>
                        <a:t>継続参加</a:t>
                      </a:r>
                    </a:p>
                  </a:txBody>
                  <a:tcPr>
                    <a:solidFill>
                      <a:srgbClr val="FFFFFF"/>
                    </a:solidFill>
                  </a:tcPr>
                </a:tc>
              </a:tr>
              <a:tr h="502920">
                <a:tc>
                  <a:txBody>
                    <a:bodyPr/>
                    <a:lstStyle/>
                    <a:p>
                      <a:pPr>
                        <a:defRPr sz="1200">
                          <a:solidFill>
                            <a:srgbClr val="1C2230"/>
                          </a:solidFill>
                          <a:latin typeface="Yu Gothic"/>
                        </a:defRPr>
                      </a:pPr>
                      <a:r>
                        <a:t>Intel Capital</a:t>
                      </a:r>
                    </a:p>
                  </a:txBody>
                  <a:tcPr>
                    <a:solidFill>
                      <a:srgbClr val="F1F5FA"/>
                    </a:solidFill>
                  </a:tcPr>
                </a:tc>
                <a:tc>
                  <a:txBody>
                    <a:bodyPr/>
                    <a:lstStyle/>
                    <a:p>
                      <a:pPr>
                        <a:defRPr sz="1200">
                          <a:solidFill>
                            <a:srgbClr val="1C2230"/>
                          </a:solidFill>
                          <a:latin typeface="Yu Gothic"/>
                        </a:defRPr>
                      </a:pPr>
                      <a:r>
                        <a:t>継続参加</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新規投資家 vs 既存投資家</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新規参加(4社)</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Qumra Capital</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SoftBank Vision Fund 2</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日立ベンチャーズ</a:t>
            </a:r>
          </a:p>
        </p:txBody>
      </p:sp>
      <p:sp>
        <p:nvSpPr>
          <p:cNvPr id="15" name="Oval 14"/>
          <p:cNvSpPr/>
          <p:nvPr/>
        </p:nvSpPr>
        <p:spPr>
          <a:xfrm>
            <a:off x="777240" y="4178807"/>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6" name="TextBox 15"/>
          <p:cNvSpPr txBox="1"/>
          <p:nvPr/>
        </p:nvSpPr>
        <p:spPr>
          <a:xfrm>
            <a:off x="1188720" y="416052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LGテクノロジーベンチャーズ</a:t>
            </a:r>
          </a:p>
        </p:txBody>
      </p:sp>
      <p:sp>
        <p:nvSpPr>
          <p:cNvPr id="17" name="Rounded Rectangle 16"/>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既存投資家(継続、4社)</a:t>
            </a:r>
          </a:p>
        </p:txBody>
      </p:sp>
      <p:sp>
        <p:nvSpPr>
          <p:cNvPr id="20" name="Oval 19"/>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Vertex Ventures</a:t>
            </a:r>
          </a:p>
        </p:txBody>
      </p:sp>
      <p:sp>
        <p:nvSpPr>
          <p:cNvPr id="22" name="Oval 21"/>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Third Point Ventures</a:t>
            </a:r>
          </a:p>
        </p:txBody>
      </p:sp>
      <p:sp>
        <p:nvSpPr>
          <p:cNvPr id="24" name="Oval 23"/>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5" name="TextBox 24"/>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DTCP</a:t>
            </a:r>
          </a:p>
        </p:txBody>
      </p:sp>
      <p:sp>
        <p:nvSpPr>
          <p:cNvPr id="26" name="Oval 25"/>
          <p:cNvSpPr/>
          <p:nvPr/>
        </p:nvSpPr>
        <p:spPr>
          <a:xfrm>
            <a:off x="6598767" y="4178807"/>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7" name="TextBox 26"/>
          <p:cNvSpPr txBox="1"/>
          <p:nvPr/>
        </p:nvSpPr>
        <p:spPr>
          <a:xfrm>
            <a:off x="7010247" y="416052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Intel Capital</a:t>
            </a:r>
          </a:p>
        </p:txBody>
      </p:sp>
      <p:sp>
        <p:nvSpPr>
          <p:cNvPr id="28" name="TextBox 2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29" name="TextBox 2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調達額・投資家・創業者の経歴は複数媒体で一致</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Zenityの具体的な顧客数・ARR(年間経常収益)は確認できていない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バリュエーション(企業価値)は本調査の範囲では確認できていない</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製品の詳細な技術仕様までは確認できていない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SiliconANGLE・Fortune・BusinessWire(2026-08-03)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初心者向け: AIエージェントセキュリティとは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AIエージェント</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人間の指示なしに自律的にタスクを実行するAIプログラム</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ガバナンス課題</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権限管理・行動監視など、従来のセキュリティ対策と異なる課題が生じる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Zenityの役割</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こうしたリスクを管理・防止する技術を提供する企業</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なぜ今AIエージェントセキュリティが注目されるのか(概要)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AIエージェント導入拡大</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企業内での利用が急速に拡大</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新しいリスクの発生</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自律的な行動による権限管理等の課題</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専用セキュリティへの投資拡大</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Zenity等への大型資金調達</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鮮度についての正直な開示(良好な鮮度)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本発表は2026年8月3日、着手日(2026年8月4日)の1日前である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`docs/06_Content_R&amp;D.md`の鮮度基準(着手日の前日以内)を満たしている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直近のテーマと比べても特に鮮度が高い部類にあたる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約1.85億ドル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2021年創業以来の累計調達額(シリーズC込み)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SiliconANGLE(2026-08-03)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資金の使い道(報道からの整理)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1. 製品開発の加速</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AIエージェントセキュリティ製品の開発を加速</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 グローバル展開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世界規模での事業展開を推進</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3. 需要への対応</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企業のAIエージェントセキュリティ需要の高まりに対応</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創業者2人のプロフィール</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Ben Kliger氏</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CEO。Unit 8200出身、Microsoftでクラウドセキュリティ製品を主導</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Michael Bargury氏</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CTO。Unit 8200出身、MicrosoftでOTセキュリティ製品を主導</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共通点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ともにMicrosoft時代からの同僚</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B3A55"/>
                    </a:solidFill>
                  </a:tcPr>
                </a:tc>
                <a:tc>
                  <a:txBody>
                    <a:bodyPr/>
                    <a:lstStyle/>
                    <a:p>
                      <a:pPr>
                        <a:defRPr sz="1300" b="1">
                          <a:solidFill>
                            <a:srgbClr val="FFFFFF"/>
                          </a:solidFill>
                          <a:latin typeface="Yu Gothic"/>
                        </a:defRPr>
                      </a:pPr>
                      <a:r>
                        <a:t>日付</a:t>
                      </a:r>
                    </a:p>
                  </a:txBody>
                  <a:tcPr>
                    <a:solidFill>
                      <a:srgbClr val="2B3A55"/>
                    </a:solidFill>
                  </a:tcPr>
                </a:tc>
              </a:tr>
              <a:tr h="502920">
                <a:tc>
                  <a:txBody>
                    <a:bodyPr/>
                    <a:lstStyle/>
                    <a:p>
                      <a:pPr>
                        <a:defRPr sz="1200">
                          <a:solidFill>
                            <a:srgbClr val="1C2230"/>
                          </a:solidFill>
                          <a:latin typeface="Yu Gothic"/>
                        </a:defRPr>
                      </a:pPr>
                      <a:r>
                        <a:t>SiliconANGLE</a:t>
                      </a:r>
                    </a:p>
                  </a:txBody>
                  <a:tcPr>
                    <a:solidFill>
                      <a:srgbClr val="FFFFFF"/>
                    </a:solidFill>
                  </a:tcPr>
                </a:tc>
                <a:tc>
                  <a:txBody>
                    <a:bodyPr/>
                    <a:lstStyle/>
                    <a:p>
                      <a:pPr>
                        <a:defRPr sz="1200">
                          <a:solidFill>
                            <a:srgbClr val="1C2230"/>
                          </a:solidFill>
                          <a:latin typeface="Yu Gothic"/>
                        </a:defRPr>
                      </a:pPr>
                      <a:r>
                        <a:t>2026-08-03</a:t>
                      </a:r>
                    </a:p>
                  </a:txBody>
                  <a:tcPr>
                    <a:solidFill>
                      <a:srgbClr val="FFFFFF"/>
                    </a:solidFill>
                  </a:tcPr>
                </a:tc>
              </a:tr>
              <a:tr h="502920">
                <a:tc>
                  <a:txBody>
                    <a:bodyPr/>
                    <a:lstStyle/>
                    <a:p>
                      <a:pPr>
                        <a:defRPr sz="1200">
                          <a:solidFill>
                            <a:srgbClr val="1C2230"/>
                          </a:solidFill>
                          <a:latin typeface="Yu Gothic"/>
                        </a:defRPr>
                      </a:pPr>
                      <a:r>
                        <a:t>Fortune</a:t>
                      </a:r>
                    </a:p>
                  </a:txBody>
                  <a:tcPr>
                    <a:solidFill>
                      <a:srgbClr val="F1F5FA"/>
                    </a:solidFill>
                  </a:tcPr>
                </a:tc>
                <a:tc>
                  <a:txBody>
                    <a:bodyPr/>
                    <a:lstStyle/>
                    <a:p>
                      <a:pPr>
                        <a:defRPr sz="1200">
                          <a:solidFill>
                            <a:srgbClr val="1C2230"/>
                          </a:solidFill>
                          <a:latin typeface="Yu Gothic"/>
                        </a:defRPr>
                      </a:pPr>
                      <a:r>
                        <a:t>2026-08-03</a:t>
                      </a:r>
                    </a:p>
                  </a:txBody>
                  <a:tcPr>
                    <a:solidFill>
                      <a:srgbClr val="F1F5FA"/>
                    </a:solidFill>
                  </a:tcPr>
                </a:tc>
              </a:tr>
              <a:tr h="502920">
                <a:tc>
                  <a:txBody>
                    <a:bodyPr/>
                    <a:lstStyle/>
                    <a:p>
                      <a:pPr>
                        <a:defRPr sz="1200">
                          <a:solidFill>
                            <a:srgbClr val="1C2230"/>
                          </a:solidFill>
                          <a:latin typeface="Yu Gothic"/>
                        </a:defRPr>
                      </a:pPr>
                      <a:r>
                        <a:t>BusinessWire</a:t>
                      </a:r>
                    </a:p>
                  </a:txBody>
                  <a:tcPr>
                    <a:solidFill>
                      <a:srgbClr val="FFFFFF"/>
                    </a:solidFill>
                  </a:tcPr>
                </a:tc>
                <a:tc>
                  <a:txBody>
                    <a:bodyPr/>
                    <a:lstStyle/>
                    <a:p>
                      <a:pPr>
                        <a:defRPr sz="1200">
                          <a:solidFill>
                            <a:srgbClr val="1C2230"/>
                          </a:solidFill>
                          <a:latin typeface="Yu Gothic"/>
                        </a:defRPr>
                      </a:pPr>
                      <a:r>
                        <a:t>2026-08-03</a:t>
                      </a:r>
                    </a:p>
                  </a:txBody>
                  <a:tcPr>
                    <a:solidFill>
                      <a:srgbClr val="FFFFFF"/>
                    </a:solidFill>
                  </a:tcPr>
                </a:tc>
              </a:tr>
              <a:tr h="502920">
                <a:tc>
                  <a:txBody>
                    <a:bodyPr/>
                    <a:lstStyle/>
                    <a:p>
                      <a:pPr>
                        <a:defRPr sz="1200">
                          <a:solidFill>
                            <a:srgbClr val="1C2230"/>
                          </a:solidFill>
                          <a:latin typeface="Yu Gothic"/>
                        </a:defRPr>
                      </a:pPr>
                      <a:r>
                        <a:t>Pulse2</a:t>
                      </a:r>
                    </a:p>
                  </a:txBody>
                  <a:tcPr>
                    <a:solidFill>
                      <a:srgbClr val="F1F5FA"/>
                    </a:solidFill>
                  </a:tcPr>
                </a:tc>
                <a:tc>
                  <a:txBody>
                    <a:bodyPr/>
                    <a:lstStyle/>
                    <a:p>
                      <a:pPr>
                        <a:defRPr sz="1200">
                          <a:solidFill>
                            <a:srgbClr val="1C2230"/>
                          </a:solidFill>
                          <a:latin typeface="Yu Gothic"/>
                        </a:defRPr>
                      </a:pPr>
                      <a:r>
                        <a:t>2026-08-03</a:t>
                      </a:r>
                    </a:p>
                  </a:txBody>
                  <a:tcPr>
                    <a:solidFill>
                      <a:srgbClr val="F1F5FA"/>
                    </a:solidFill>
                  </a:tcPr>
                </a:tc>
              </a:tr>
              <a:tr h="502920">
                <a:tc>
                  <a:txBody>
                    <a:bodyPr/>
                    <a:lstStyle/>
                    <a:p>
                      <a:pPr>
                        <a:defRPr sz="1200">
                          <a:solidFill>
                            <a:srgbClr val="1C2230"/>
                          </a:solidFill>
                          <a:latin typeface="Yu Gothic"/>
                        </a:defRPr>
                      </a:pPr>
                      <a:r>
                        <a:t>Calcalistech</a:t>
                      </a:r>
                    </a:p>
                  </a:txBody>
                  <a:tcPr>
                    <a:solidFill>
                      <a:srgbClr val="FFFFFF"/>
                    </a:solidFill>
                  </a:tcPr>
                </a:tc>
                <a:tc>
                  <a:txBody>
                    <a:bodyPr/>
                    <a:lstStyle/>
                    <a:p>
                      <a:pPr>
                        <a:defRPr sz="1200">
                          <a:solidFill>
                            <a:srgbClr val="1C2230"/>
                          </a:solidFill>
                          <a:latin typeface="Yu Gothic"/>
                        </a:defRPr>
                      </a:pPr>
                      <a:r>
                        <a:t>2026-08-03</a:t>
                      </a:r>
                    </a:p>
                  </a:txBody>
                  <a:tcPr>
                    <a:solidFill>
                      <a:srgbClr val="FFFFFF"/>
                    </a:solidFill>
                  </a:tcPr>
                </a:tc>
              </a:tr>
              <a:tr h="502920">
                <a:tc>
                  <a:txBody>
                    <a:bodyPr/>
                    <a:lstStyle/>
                    <a:p>
                      <a:pPr>
                        <a:defRPr sz="1200">
                          <a:solidFill>
                            <a:srgbClr val="1C2230"/>
                          </a:solidFill>
                          <a:latin typeface="Yu Gothic"/>
                        </a:defRPr>
                      </a:pPr>
                      <a:r>
                        <a:t>citybiz</a:t>
                      </a:r>
                    </a:p>
                  </a:txBody>
                  <a:tcPr>
                    <a:solidFill>
                      <a:srgbClr val="F1F5FA"/>
                    </a:solidFill>
                  </a:tcPr>
                </a:tc>
                <a:tc>
                  <a:txBody>
                    <a:bodyPr/>
                    <a:lstStyle/>
                    <a:p>
                      <a:pPr>
                        <a:defRPr sz="1200">
                          <a:solidFill>
                            <a:srgbClr val="1C2230"/>
                          </a:solidFill>
                          <a:latin typeface="Yu Gothic"/>
                        </a:defRPr>
                      </a:pPr>
                      <a:r>
                        <a:t>2026-08-03</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調達概要の再確認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企業名: Zenity</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調達額: シリーズC 1.25億ドル(累計約1.85億ドル)</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主導投資家: Norwest</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発表日: 2026年8月3日</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Zenityを主題としたテーマ</a:t>
                      </a:r>
                    </a:p>
                  </a:txBody>
                  <a:tcPr>
                    <a:solidFill>
                      <a:srgbClr val="FFFFFF"/>
                    </a:solidFill>
                  </a:tcPr>
                </a:tc>
                <a:tc>
                  <a:txBody>
                    <a:bodyPr/>
                    <a:lstStyle/>
                    <a:p>
                      <a:pPr>
                        <a:defRPr sz="1200">
                          <a:solidFill>
                            <a:srgbClr val="1C2230"/>
                          </a:solidFill>
                          <a:latin typeface="Yu Gothic"/>
                        </a:defRPr>
                      </a:pPr>
                      <a:r>
                        <a:t>既存テーマになし</a:t>
                      </a:r>
                    </a:p>
                  </a:txBody>
                  <a:tcPr>
                    <a:solidFill>
                      <a:srgbClr val="FFFFFF"/>
                    </a:solidFill>
                  </a:tcPr>
                </a:tc>
              </a:tr>
              <a:tr h="502920">
                <a:tc>
                  <a:txBody>
                    <a:bodyPr/>
                    <a:lstStyle/>
                    <a:p>
                      <a:pPr>
                        <a:defRPr sz="1200">
                          <a:solidFill>
                            <a:srgbClr val="1C2230"/>
                          </a:solidFill>
                          <a:latin typeface="Yu Gothic"/>
                        </a:defRPr>
                      </a:pPr>
                      <a:r>
                        <a:t>判定</a:t>
                      </a:r>
                    </a:p>
                  </a:txBody>
                  <a:tcPr>
                    <a:solidFill>
                      <a:srgbClr val="F1F5FA"/>
                    </a:solidFill>
                  </a:tcPr>
                </a:tc>
                <a:tc>
                  <a:txBody>
                    <a:bodyPr/>
                    <a:lstStyle/>
                    <a:p>
                      <a:pPr>
                        <a:defRPr sz="1200">
                          <a:solidFill>
                            <a:srgbClr val="1C2230"/>
                          </a:solidFill>
                          <a:latin typeface="Yu Gothic"/>
                        </a:defRPr>
                      </a:pPr>
                      <a:r>
                        <a:t>重複ではない</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業界への影響(ここからは推測)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ここからは推測ですが、AIエージェントセキュリティ分野への投資はさらに拡大する可能性がある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SoftBank・日立・LGなど日本にも馴染みのある企業の参加は、日本市場での関心の高まりを示唆する可能性がある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Unit 8200出身者による創業パターンが今後も続く可能性がある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従来型セキュリティとAIエージェントセキュリティの違い(概要)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従来型セキュリティ</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人間のユーザーの行動を監視・防御</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既知の脅威パターンへの対応が中心</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AIエージェントセキュリティ</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自律的に動くAIエージェントの権限・行動を管理</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新しい種類のリスクへの対応が求められる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今後の展開(概要)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製品開発の継続</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AIエージェントセキュリティ技術の磨き込み</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グローバル展開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世界規模での事業拡大</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業界での評価</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著名投資家の支援を受けた注目企業として</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リスクと課題(正直な開示)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具体的な顧客数・ARR・バリュエーションは確認できていない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製品の技術的詳細までは確認できていない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数字は報道された内容のみを扱い、創作していない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あなたはこのAIエージェントセキュリティ、どう見ますか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10億台のAIエージェントを誰が守るのか、今後も注目していきましょう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Zenityが2026年8月3日、シリーズCで1.25億ドルの資金調達を発表</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主導はNorwest、SoftBank・日立・LGなど著名企業が新規参加</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累計調達額は約1.85億ドルに到達</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顧客数・ARR・バリュエーション等は確認できていない点を正直に開示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SiliconANGLE・Fortune ほか(2026-08-03)｜定期実行127本目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