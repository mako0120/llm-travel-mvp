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ワークフロー自動化AIスタートアップ「Relay」が事業を終了しました。しかし本当に新しいニュースは、創業者兼CEOのジェイコブ・バンク氏が2026年8月17日、Googleに復帰しChrome担当のプロダクト担当VPに就任したという発表です。今日はこの件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Relayの創業者兼CEOだったジェイコブ・バンク氏が、2026年8月17日、Googleに復帰しChrome担当のプロダクト担当VPに就任したことが発表されました。Relayのスタッフの一部も一緒にGoogleのChromeチームに合流します。ここから数字と時系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まず鮮度の整理から入り、Relayとバンク氏の基礎知識、事業終了のタイムライン、バンク氏のキャリア、VP就任の内容、そして確認できていないことまで、正確に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このテーマを扱う理由を、鮮度の観点から整理します。事業終了自体は7月発表の既定路線で、本テーマの新しさではありません。新しいのは、創業者が8月17日にGoogle Chrome担当VPに就任したという発表です。複数の報道機関が同日付で内容を一致させています。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Relayの前提を確認します。複数のアプリを連携させ定型作業を自動化する、ワークフロー自動化AIスタートアップで、Zapierの競合として位置づけられていました。2026年8月、事業を終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ジェイコブ・バンク氏はRelayの創業者兼CEOで、2021年までGoogleに在籍していました。プロダクト担当VPとは、製品領域の戦略を統括する上級役職です。今回、ChromeのプロダクトとDeveloper Relationsチームを率いる立場に就任します。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時系列で確認します。2015年にバンク氏創業のTimeful社がGoogleに買収され、2021年にGoogleを離れてRelayを創業しました。2026年7月に事業終了が発表され、8月17日にバンク氏のGoogle Chrome担当VP就任が発表されました。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y事業終了の主要日程を一覧にしました。無料アカウントは8月15日にすでにアクセスが終了し、有料アカウントは9月14日まで利用可能とされています。この2日後にあたる8月17日、バンク氏のGoogle復帰が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無料アカウントの終了日です。2026年8月15日にアクセスが終了しました。次に、有料アカウントの終了日を確認します。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有料アカウントの終了予定日です。2026年9月14日までアクセス可能とされています。ここまでが事業終了の背景情報で、ここからバンク氏のキャリアを深掘りします。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バンク氏のGoogleでのキャリアです。プロダクトマネージャーとして入社し、Gmail・カレンダー・Chat担当の責任者に昇進。2015年に自身が創業したTimeful社がGoogleに買収され、2021年にGoogleを離れてRelayを創業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Timeful社の買収です。バンク氏が創業したスマートカレンダーアシスタント企業で、2015年にGoogleに売却されました。バンク氏にとって、Googleとの関わりの原点の1つです。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での在籍期間です。バンク氏は過去6年間Googleに在籍し、プロダクトマネージャーからGmail・カレンダー・Chat担当の責任者にまで昇進しました。具体的な開始年は報道に明記がないため、期間の長さとしてのみ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Relay・バンク氏・Googleの関係を図にしました。Relayは事業を終了し、創業者のバンク氏はGoogleに復帰してChrome担当VPに就任。Relayのスタッフの一部も一緒にChromeチームに合流します。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これまでとこれからを並べて確認します。2021年から2026年までRelayの創業者兼CEOを務め、2026年8月17日からはGoogle Chrome担当VPとしてプロダクトとDeveloper Relationsチームを率います。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Chrome担当VPとしての役割です。プロダクトチームとDeveloper Relationsチームの両方を率います。具体的な施策の詳細は今回の発表では確認できていません。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Relayスタッフの移籍についてです。一部のスタッフがバンク氏とともにChromeチームに合流すると報じられていますが、具体的な人数は確認できていません。人数は推測せず、報道どおりの表現にとどめます。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Relay事業終了の理由についてです。具体的な経営上の理由は確認できておらず、資金不足や競争敗北といった理由を推測で断定しません。確認できているのは事業終了の事実と、日程のみです。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確認できていない項目を一覧にしました。移籍スタッフの人数、事業終了の具体的な理由は、いずれも本調査の範囲では確認できていません。推測で数字や理由を埋めていません。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本テーマの鮮度を数字で確認します。VP就任発表は着手日の前日にあたる2026年8月17日でした。事業終了自体の発表(7月)ではなく、この発表日を鮮度基準の根拠にしています。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情報源を確認します。TechCrunch・9to5Google・Shopifreaks・PRIMA NEWSという4つの独立した媒体が、いずれも2026年8月17日付で内容を一致させて報じています。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AIスタートアップの終焉と創業者の大手テック企業への復帰が同時に起きた事例です。Relay利用者にとっては、移行期限の確認が実務上の論点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立場別の実践的な示唆です。Relay利用者は移行期限の確認、業界を追う立場は他サービスの動向確認、発信する立場は未確認の詳細を推測で補わない姿勢が、それぞれ役立ちます。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誇張を避けるための補足です。Google・Relay・バンク氏を扱いますが、中立的な事実紹介にとどめています。写真・肖像は使用せず、数字・事実の捏造や誇張は一切行っていません。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見出しの印象と実際の内容にはギャップが生まれがちです。事業終了自体は既定路線で新しいのはバンク氏のVP就任、スタッフは一部のみ、終了理由は不明です。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ここで事実と推測を分けます。事業終了の日程やVP就任の発表内容は複数の情報源で確認できた事実です。プロダクトリーダーとしての評価はあくまで一般的な推測であり、断定はしていません。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確認できていないことを一覧にしました。移籍人数・終了理由・具体的施策・在籍開始年は、いずれも推測で埋めず、正直に不明として扱っています。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今回のニュースを支えた3つのポイントです。事業終了と復帰の対比、バンク氏が積み上げてきたキャリア、そしてスタッフの一部も同行するという事実です。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本編は以上です。今回はRelayの事業終了と、創業者ジェイコブ・バンク氏のGoogle Chrome担当VP就任という2つの出来事を、時期を混同せず出典付きでお伝えしました。数字は正確に引用し、確認できなかったことは正直にお伝えしました。次回もまた出典付きでお届けします。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Zapierのライバル『Relay』が消える。</a:t>
            </a:r>
          </a:p>
          <a:p>
            <a:pPr algn="l">
              <a:lnSpc>
                <a:spcPct val="115000"/>
              </a:lnSpc>
            </a:pPr>
            <a:r>
              <a:rPr sz="4200" b="1">
                <a:solidFill>
                  <a:srgbClr val="FFFFFF"/>
                </a:solidFill>
                <a:latin typeface="Yu Gothic"/>
              </a:rPr>
              <a:t>創業者はGoogleへ電撃復帰、</a:t>
            </a:r>
          </a:p>
          <a:p>
            <a:pPr algn="l">
              <a:lnSpc>
                <a:spcPct val="115000"/>
              </a:lnSpc>
            </a:pPr>
            <a:r>
              <a:rPr sz="4200" b="1">
                <a:solidFill>
                  <a:srgbClr val="FFFFFF"/>
                </a:solidFill>
                <a:latin typeface="Yu Gothic"/>
              </a:rPr>
              <a:t>Chrome担当VPに</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2026年8月17日発表――事業終了の裏側で明らかになった創業者の新天地を出典付きで整理する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TechCrunch・9to5Google・Shopifreaks・PRIMA NEWS(いずれも2026年8月17日)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Chrome担当プロダクト担当VPに就任</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Relay創業者兼CEOのジェイコブ・バンク氏が2026年8月17日、Googleに復帰。Relayのスタッフの一部も同行する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TechCrunch・9to5Google(2026-08-17)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なぜ今このテーマを扱うのか(鮮度の整理)</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Relay・バンク氏の基礎知識</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Relay事業終了のタイムライン</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バンク氏のGoogleでのキャリアを深掘りする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Chrome担当VP就任の内容と、確認できていないこと</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このニュースの意味・出典一覧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なぜ今このテーマを扱うのか(鮮度の整理)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本テーマを取り上げる理由と、鮮度の混同を避けるための整理です。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Relayの事業終了自体は2026年7月に発表された既定路線であり、本テーマの新しい部分ではない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新しいのは、創業者バンク氏が2026年8月17日にGoogle Chrome担当VPへ就任したという発表である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複数の独立した報道機関(TechCrunch・9to5Google・Shopifreaks・PRIMA NEWS)が同日付で内容を一致させて報じている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TechCrunch・9to5Google・Shopifreaks・PRIMA NEWS(2026-08-17)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Relayとは(初心者向け)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本題に入る前に、Relayというサービスの前提を確認します。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Relayは、複数のアプリ・サービスを連携させ定型作業を自動化する『ワークフロー自動化AI』スタートアップである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同分野の代表格であるZapierの競合として位置づけられていた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2026年8月、Relayは事業を終了した</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ジェイコブ・バンク氏とVP of Productとは(初心者向け)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ジェイコブ・バンク氏は、Relayの創業者兼CEOであり、2021年までGoogleに在籍していた人物である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『Vice President of Product(プロダクト担当VP)』とは、特定製品領域のプロダクト戦略を統括する上級役職を指す</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バンク氏は今回、ChromeのプロダクトおよびDeveloper Relationsチームを率いる立場に就任する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TechCrunch・9to5Google(2026-08-17)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時系列で見るRelayとバンク氏</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2015年</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バンク氏創業のTimeful社がGoogleに売却(買収)された</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2021年</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バンク氏がGoogleを離れ、Relayを創業</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2026年7月</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Relayの事業終了が発表される(背景情報)</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2026年8月17日</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バンク氏がGoogle Chrome担当VPに就任したことが発表される(本テーマの核心)</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Relay事業終了の主要日程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日付</a:t>
                      </a:r>
                    </a:p>
                  </a:txBody>
                  <a:tcPr>
                    <a:solidFill>
                      <a:srgbClr val="24523F"/>
                    </a:solidFill>
                  </a:tcPr>
                </a:tc>
              </a:tr>
              <a:tr h="502920">
                <a:tc>
                  <a:txBody>
                    <a:bodyPr/>
                    <a:lstStyle/>
                    <a:p>
                      <a:pPr>
                        <a:defRPr sz="1200">
                          <a:solidFill>
                            <a:srgbClr val="20261F"/>
                          </a:solidFill>
                          <a:latin typeface="Yu Gothic"/>
                        </a:defRPr>
                      </a:pPr>
                      <a:r>
                        <a:t>無料アカウントのアクセス終了</a:t>
                      </a:r>
                    </a:p>
                  </a:txBody>
                  <a:tcPr>
                    <a:solidFill>
                      <a:srgbClr val="FFFFFF"/>
                    </a:solidFill>
                  </a:tcPr>
                </a:tc>
                <a:tc>
                  <a:txBody>
                    <a:bodyPr/>
                    <a:lstStyle/>
                    <a:p>
                      <a:pPr>
                        <a:defRPr sz="1200">
                          <a:solidFill>
                            <a:srgbClr val="20261F"/>
                          </a:solidFill>
                          <a:latin typeface="Yu Gothic"/>
                        </a:defRPr>
                      </a:pPr>
                      <a:r>
                        <a:t>2026年8月15日</a:t>
                      </a:r>
                    </a:p>
                  </a:txBody>
                  <a:tcPr>
                    <a:solidFill>
                      <a:srgbClr val="FFFFFF"/>
                    </a:solidFill>
                  </a:tcPr>
                </a:tc>
              </a:tr>
              <a:tr h="502920">
                <a:tc>
                  <a:txBody>
                    <a:bodyPr/>
                    <a:lstStyle/>
                    <a:p>
                      <a:pPr>
                        <a:defRPr sz="1200">
                          <a:solidFill>
                            <a:srgbClr val="20261F"/>
                          </a:solidFill>
                          <a:latin typeface="Yu Gothic"/>
                        </a:defRPr>
                      </a:pPr>
                      <a:r>
                        <a:t>有料アカウントのアクセス終了(予定)</a:t>
                      </a:r>
                    </a:p>
                  </a:txBody>
                  <a:tcPr>
                    <a:solidFill>
                      <a:srgbClr val="F4F1E6"/>
                    </a:solidFill>
                  </a:tcPr>
                </a:tc>
                <a:tc>
                  <a:txBody>
                    <a:bodyPr/>
                    <a:lstStyle/>
                    <a:p>
                      <a:pPr>
                        <a:defRPr sz="1200">
                          <a:solidFill>
                            <a:srgbClr val="20261F"/>
                          </a:solidFill>
                          <a:latin typeface="Yu Gothic"/>
                        </a:defRPr>
                      </a:pPr>
                      <a:r>
                        <a:t>2026年9月14日</a:t>
                      </a:r>
                    </a:p>
                  </a:txBody>
                  <a:tcPr>
                    <a:solidFill>
                      <a:srgbClr val="F4F1E6"/>
                    </a:solidFill>
                  </a:tcPr>
                </a:tc>
              </a:tr>
              <a:tr h="502920">
                <a:tc>
                  <a:txBody>
                    <a:bodyPr/>
                    <a:lstStyle/>
                    <a:p>
                      <a:pPr>
                        <a:defRPr sz="1200">
                          <a:solidFill>
                            <a:srgbClr val="20261F"/>
                          </a:solidFill>
                          <a:latin typeface="Yu Gothic"/>
                        </a:defRPr>
                      </a:pPr>
                      <a:r>
                        <a:t>バンク氏のGoogle Chrome VP就任発表</a:t>
                      </a:r>
                    </a:p>
                  </a:txBody>
                  <a:tcPr>
                    <a:solidFill>
                      <a:srgbClr val="FFFFFF"/>
                    </a:solidFill>
                  </a:tcPr>
                </a:tc>
                <a:tc>
                  <a:txBody>
                    <a:bodyPr/>
                    <a:lstStyle/>
                    <a:p>
                      <a:pPr>
                        <a:defRPr sz="1200">
                          <a:solidFill>
                            <a:srgbClr val="20261F"/>
                          </a:solidFill>
                          <a:latin typeface="Yu Gothic"/>
                        </a:defRPr>
                      </a:pPr>
                      <a:r>
                        <a:t>2026年8月17日</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TechCrunch・9to5Google・Shopifreaks・PRIMA NEWS(2026-08-17)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無料アカウントの終了日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2026年8月15日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Relayの無料アカウントは、この日にアクセスが終了した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TechCrunch・9to5Google(2026-08-17)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有料アカウントの終了予定日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2026年9月14日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Relayの有料アカウントは、この日までアクセス可能とされている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TechCrunch・9to5Google(2026-08-17)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バンク氏のGoogleでのキャリア</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PM</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プロダクトマネージャーとして入社</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その後、Gmail・カレンダー・Chat担当のプロダクトマネジメント責任者に昇進した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2015</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Timeful社の売却</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バンク氏創業のスマートカレンダーアシスタント『Timeful』社がGoogleに買収された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2021</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Googleを離れる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Googleを離れ、ワークフロー自動化AIスタートアップRelayを創業した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Timeful社の買収</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2015年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バンク氏創業のスマートカレンダーアシスタント『Timeful』社が、この年Googleに売却(買収)された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TechCrunch・9to5Google(2026-08-17)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Googleでの在籍期間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過去6年間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バンク氏はGoogleに過去6年間在籍し、プロダクトマネージャーからGmail・カレンダー・Chat担当の責任者にまで昇進した(具体的な開始年は報道で明記されておらず、期間の長さとして扱う)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TechCrunch・9to5Google(2026-08-17)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Relay・バンク氏・Googleの関係(概念図)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Relay</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ワークフロー自動化AIスタートアップ。2026年8月に事業終了</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ジェイコブ・バンク氏</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創業者兼CEO。2026年8月17日、Googleに復帰</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Google Chrome</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プロダクト担当VPに就任。スタッフの一部も合流</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スタートアップの終焉と、創業者の大手テック企業への復帰が同時に起きた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TechCrunch・9to5Google(2026-08-17)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これまで(Relay CEO) / これから(Google VP)</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これまで:Relay創業者兼CEO(2021〜2026年)</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ワークフロー自動化AIスタートアップを創業</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Zapierの競合として事業を展開</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2026年、事業終了に至った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これから:Google Chrome担当VP(2026年8月17日〜)</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ChromeのプロダクトとDeveloper Relationsチームを率いる</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Relayのスタッフの一部も同行する</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過去にもGoogleでプロダクト職を務めた経歴がある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Chrome担当VPとしての役割</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今回の就任内容を確認します。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バンク氏はChromeのプロダクトチームを率いる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同時にDeveloper Relations(開発者との関係構築)チームも率いる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具体的な施策・ロードマップの詳細は本調査の範囲では確認できていない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TechCrunch・9to5Google(2026-08-17)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Relayスタッフの移籍について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スタッフの動向を確認します。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Relayのスタッフの一部が、バンク氏とともにGoogleのChromeチームに合流することが報じられている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ただし、具体的に何名が移籍するのかという人数は本調査の範囲では確認できていない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人数を推測で埋めることはせず、『一部』という報道どおりの表現にとどめる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TechCrunch・9to5Google(2026-08-17)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Relay事業終了の理由について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誤解を避けるために明確にしておきます。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Relayが事業終了に至った具体的な経営上の理由(資金・競争環境等)は、本調査の範囲では確認できていない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『資金不足だった』『競争に敗れた』等の理由を推測で断定しない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確認できているのは、事業終了という事実と、無料・有料アカウントの終了日程のみである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TechCrunch・9to5Google・Shopifreaks・PRIMA NEWS(2026-08-17)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確認できていない項目(1)</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Relayから移籍するスタッフの具体的な人数</a:t>
                      </a:r>
                    </a:p>
                  </a:txBody>
                  <a:tcPr>
                    <a:solidFill>
                      <a:srgbClr val="FFFFFF"/>
                    </a:solidFill>
                  </a:tcPr>
                </a:tc>
                <a:tc>
                  <a:txBody>
                    <a:bodyPr/>
                    <a:lstStyle/>
                    <a:p>
                      <a:pPr>
                        <a:defRPr sz="1200">
                          <a:solidFill>
                            <a:srgbClr val="20261F"/>
                          </a:solidFill>
                          <a:latin typeface="Yu Gothic"/>
                        </a:defRPr>
                      </a:pPr>
                      <a:r>
                        <a:t>本調査の範囲では確認できていない</a:t>
                      </a:r>
                    </a:p>
                  </a:txBody>
                  <a:tcPr>
                    <a:solidFill>
                      <a:srgbClr val="FFFFFF"/>
                    </a:solidFill>
                  </a:tcPr>
                </a:tc>
              </a:tr>
              <a:tr h="502920">
                <a:tc>
                  <a:txBody>
                    <a:bodyPr/>
                    <a:lstStyle/>
                    <a:p>
                      <a:pPr>
                        <a:defRPr sz="1200">
                          <a:solidFill>
                            <a:srgbClr val="20261F"/>
                          </a:solidFill>
                          <a:latin typeface="Yu Gothic"/>
                        </a:defRPr>
                      </a:pPr>
                      <a:r>
                        <a:t>Relay事業終了の具体的な経営上の理由</a:t>
                      </a:r>
                    </a:p>
                  </a:txBody>
                  <a:tcPr>
                    <a:solidFill>
                      <a:srgbClr val="F4F1E6"/>
                    </a:solidFill>
                  </a:tcPr>
                </a:tc>
                <a:tc>
                  <a:txBody>
                    <a:bodyPr/>
                    <a:lstStyle/>
                    <a:p>
                      <a:pPr>
                        <a:defRPr sz="1200">
                          <a:solidFill>
                            <a:srgbClr val="20261F"/>
                          </a:solidFill>
                          <a:latin typeface="Yu Gothic"/>
                        </a:defRPr>
                      </a:pPr>
                      <a:r>
                        <a:t>本調査の範囲では確認できていない</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発表から1日後</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バンク氏のGoogle Chrome VP就任発表(2026年8月17日)は、着手日(2026年8月18日)の前日。着手日を含めて2日以内という基準を満たす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docs/06_Content_R&amp;D.md基準</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情報源の確認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4媒体</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独立した情報源</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TechCrunch・9to5Google・Shopifreaks・PRIMA NEWS</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同日</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2026年8月17日</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いずれの媒体も同日付で発表内容を報じている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一致</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内容のクロスチェック</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複数媒体で事実関係(就任内容・スタッフ合流)が一致することを確認した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このニュースが意味すること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読者にとっての意味を整理します。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AIスタートアップの終焉と、創業者の大手テック企業への復帰が同時に起きた事例として位置づけられる(断定的な業界評価は避ける)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バンク氏の過去のGoogleでのキャリア(Timeful買収・Gmail等の責任者経験)が、今回の復帰の文脈として確認できる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Relay無料/有料アカウントの利用者にとっては、移行期限の確認が実務上の論点になる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立場別の実践的な示唆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Relay利用者として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無料アカウントはすでに終了、有料アカウントも2026年9月14日までに移行先を確認する必要がある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AI自動化業界を追う立場として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Zapier等、同分野の他サービスの動向もあわせて確認する視点が役立つ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移籍人数・終了理由等、未確認の詳細を推測で補わず正確に伝える姿勢が信頼につながる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誇張回避のための補足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Google・Relayという企業名、バンク氏という個人名を扱うが、中立的な事実紹介にとどめ、製品利用を推奨する表現はしない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『電撃復帰』という表現はフックとして用いているが、移籍人数・終了理由等の数字・事実の捏造や誇張は一切行っていない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ジェイコブ・バンク氏の写真・肖像は使用せず、抽象的な図解・アイコンのみで構成している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Relayが今まさに突然倒産した</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Relayの全スタッフがGoogleに移籍する</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事業終了の理由が明確にわかっている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事業終了自体は2026年7月発表の既定路線で、新しいのはバンク氏のVP就任</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確認できているのは『一部のスタッフ』の合流のみで人数は不明</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事業終了の具体的な経営理由は報道で明記されておらず不明</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事実: Relay事業終了・無料終了8/15・有料終了予定9/14・バンク氏VP就任8/17発表・Chrome担当・スタッフ一部合流・Timeful買収2015・Google離脱2021</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推測: バンク氏がGoogle社内でプロダクトリーダーとして評価されてきたという位置づけ(具体的な起用理由は断定しない)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不明: 移籍スタッフの具体的人数、事業終了の具体的理由、バンク氏の施策の詳細、Google在籍6年間の具体的な開始年</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確認できていない項目(2・一覧)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Relayから移籍するスタッフの具体的な人数</a:t>
                      </a:r>
                    </a:p>
                  </a:txBody>
                  <a:tcPr>
                    <a:solidFill>
                      <a:srgbClr val="FFFFFF"/>
                    </a:solidFill>
                  </a:tcPr>
                </a:tc>
                <a:tc>
                  <a:txBody>
                    <a:bodyPr/>
                    <a:lstStyle/>
                    <a:p>
                      <a:pPr>
                        <a:defRPr sz="1200">
                          <a:solidFill>
                            <a:srgbClr val="20261F"/>
                          </a:solidFill>
                          <a:latin typeface="Yu Gothic"/>
                        </a:defRPr>
                      </a:pPr>
                      <a:r>
                        <a:t>本調査の範囲では確認できていない</a:t>
                      </a:r>
                    </a:p>
                  </a:txBody>
                  <a:tcPr>
                    <a:solidFill>
                      <a:srgbClr val="FFFFFF"/>
                    </a:solidFill>
                  </a:tcPr>
                </a:tc>
              </a:tr>
              <a:tr h="502920">
                <a:tc>
                  <a:txBody>
                    <a:bodyPr/>
                    <a:lstStyle/>
                    <a:p>
                      <a:pPr>
                        <a:defRPr sz="1200">
                          <a:solidFill>
                            <a:srgbClr val="20261F"/>
                          </a:solidFill>
                          <a:latin typeface="Yu Gothic"/>
                        </a:defRPr>
                      </a:pPr>
                      <a:r>
                        <a:t>Relay事業終了の具体的な経営上の理由</a:t>
                      </a:r>
                    </a:p>
                  </a:txBody>
                  <a:tcPr>
                    <a:solidFill>
                      <a:srgbClr val="F4F1E6"/>
                    </a:solidFill>
                  </a:tcPr>
                </a:tc>
                <a:tc>
                  <a:txBody>
                    <a:bodyPr/>
                    <a:lstStyle/>
                    <a:p>
                      <a:pPr>
                        <a:defRPr sz="1200">
                          <a:solidFill>
                            <a:srgbClr val="20261F"/>
                          </a:solidFill>
                          <a:latin typeface="Yu Gothic"/>
                        </a:defRPr>
                      </a:pPr>
                      <a:r>
                        <a:t>本調査の範囲では確認できていない</a:t>
                      </a:r>
                    </a:p>
                  </a:txBody>
                  <a:tcPr>
                    <a:solidFill>
                      <a:srgbClr val="F4F1E6"/>
                    </a:solidFill>
                  </a:tcPr>
                </a:tc>
              </a:tr>
              <a:tr h="502920">
                <a:tc>
                  <a:txBody>
                    <a:bodyPr/>
                    <a:lstStyle/>
                    <a:p>
                      <a:pPr>
                        <a:defRPr sz="1200">
                          <a:solidFill>
                            <a:srgbClr val="20261F"/>
                          </a:solidFill>
                          <a:latin typeface="Yu Gothic"/>
                        </a:defRPr>
                      </a:pPr>
                      <a:r>
                        <a:t>バンク氏のChrome担当VPとしての具体的な施策</a:t>
                      </a:r>
                    </a:p>
                  </a:txBody>
                  <a:tcPr>
                    <a:solidFill>
                      <a:srgbClr val="FFFFFF"/>
                    </a:solidFill>
                  </a:tcPr>
                </a:tc>
                <a:tc>
                  <a:txBody>
                    <a:bodyPr/>
                    <a:lstStyle/>
                    <a:p>
                      <a:pPr>
                        <a:defRPr sz="1200">
                          <a:solidFill>
                            <a:srgbClr val="20261F"/>
                          </a:solidFill>
                          <a:latin typeface="Yu Gothic"/>
                        </a:defRPr>
                      </a:pPr>
                      <a:r>
                        <a:t>本調査の範囲では確認できていない</a:t>
                      </a:r>
                    </a:p>
                  </a:txBody>
                  <a:tcPr>
                    <a:solidFill>
                      <a:srgbClr val="FFFFFF"/>
                    </a:solidFill>
                  </a:tcPr>
                </a:tc>
              </a:tr>
              <a:tr h="502920">
                <a:tc>
                  <a:txBody>
                    <a:bodyPr/>
                    <a:lstStyle/>
                    <a:p>
                      <a:pPr>
                        <a:defRPr sz="1200">
                          <a:solidFill>
                            <a:srgbClr val="20261F"/>
                          </a:solidFill>
                          <a:latin typeface="Yu Gothic"/>
                        </a:defRPr>
                      </a:pPr>
                      <a:r>
                        <a:t>バンク氏のGoogle在籍『6年間』の具体的な開始年</a:t>
                      </a:r>
                    </a:p>
                  </a:txBody>
                  <a:tcPr>
                    <a:solidFill>
                      <a:srgbClr val="F4F1E6"/>
                    </a:solidFill>
                  </a:tcPr>
                </a:tc>
                <a:tc>
                  <a:txBody>
                    <a:bodyPr/>
                    <a:lstStyle/>
                    <a:p>
                      <a:pPr>
                        <a:defRPr sz="1200">
                          <a:solidFill>
                            <a:srgbClr val="20261F"/>
                          </a:solidFill>
                          <a:latin typeface="Yu Gothic"/>
                        </a:defRPr>
                      </a:pPr>
                      <a:r>
                        <a:t>本調査の範囲では確認できていない</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今回のニュースを支えた3つのポイント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事業終了と復帰の対比</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Relayが事業を終了する一方、創業者はGoogleのChrome担当VPに就任した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積み上げてきたキャリア</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Timeful社の売却(2015年)・Gmail等担当の責任者経験を経ての復帰である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スタッフの一部も同行</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Relayのスタッフの一部もバンク氏とともにChromeチームに合流する(人数は不明)</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TechCrunch</a:t>
                      </a:r>
                    </a:p>
                  </a:txBody>
                  <a:tcPr>
                    <a:solidFill>
                      <a:srgbClr val="FFFFFF"/>
                    </a:solidFill>
                  </a:tcPr>
                </a:tc>
                <a:tc>
                  <a:txBody>
                    <a:bodyPr/>
                    <a:lstStyle/>
                    <a:p>
                      <a:pPr>
                        <a:defRPr sz="1200">
                          <a:solidFill>
                            <a:srgbClr val="20261F"/>
                          </a:solidFill>
                          <a:latin typeface="Yu Gothic"/>
                        </a:defRPr>
                      </a:pPr>
                      <a:r>
                        <a:t>VP就任・Chrome担当・キャリア経歴の確認(2026-08-17)</a:t>
                      </a:r>
                    </a:p>
                  </a:txBody>
                  <a:tcPr>
                    <a:solidFill>
                      <a:srgbClr val="FFFFFF"/>
                    </a:solidFill>
                  </a:tcPr>
                </a:tc>
              </a:tr>
              <a:tr h="502920">
                <a:tc>
                  <a:txBody>
                    <a:bodyPr/>
                    <a:lstStyle/>
                    <a:p>
                      <a:pPr>
                        <a:defRPr sz="1200">
                          <a:solidFill>
                            <a:srgbClr val="20261F"/>
                          </a:solidFill>
                          <a:latin typeface="Yu Gothic"/>
                        </a:defRPr>
                      </a:pPr>
                      <a:r>
                        <a:t>9to5Google</a:t>
                      </a:r>
                    </a:p>
                  </a:txBody>
                  <a:tcPr>
                    <a:solidFill>
                      <a:srgbClr val="F4F1E6"/>
                    </a:solidFill>
                  </a:tcPr>
                </a:tc>
                <a:tc>
                  <a:txBody>
                    <a:bodyPr/>
                    <a:lstStyle/>
                    <a:p>
                      <a:pPr>
                        <a:defRPr sz="1200">
                          <a:solidFill>
                            <a:srgbClr val="20261F"/>
                          </a:solidFill>
                          <a:latin typeface="Yu Gothic"/>
                        </a:defRPr>
                      </a:pPr>
                      <a:r>
                        <a:t>VP就任・スタッフ合流・キャリア経歴の確認(2026-08-17)</a:t>
                      </a:r>
                    </a:p>
                  </a:txBody>
                  <a:tcPr>
                    <a:solidFill>
                      <a:srgbClr val="F4F1E6"/>
                    </a:solidFill>
                  </a:tcPr>
                </a:tc>
              </a:tr>
              <a:tr h="502920">
                <a:tc>
                  <a:txBody>
                    <a:bodyPr/>
                    <a:lstStyle/>
                    <a:p>
                      <a:pPr>
                        <a:defRPr sz="1200">
                          <a:solidFill>
                            <a:srgbClr val="20261F"/>
                          </a:solidFill>
                          <a:latin typeface="Yu Gothic"/>
                        </a:defRPr>
                      </a:pPr>
                      <a:r>
                        <a:t>Shopifreaks</a:t>
                      </a:r>
                    </a:p>
                  </a:txBody>
                  <a:tcPr>
                    <a:solidFill>
                      <a:srgbClr val="FFFFFF"/>
                    </a:solidFill>
                  </a:tcPr>
                </a:tc>
                <a:tc>
                  <a:txBody>
                    <a:bodyPr/>
                    <a:lstStyle/>
                    <a:p>
                      <a:pPr>
                        <a:defRPr sz="1200">
                          <a:solidFill>
                            <a:srgbClr val="20261F"/>
                          </a:solidFill>
                          <a:latin typeface="Yu Gothic"/>
                        </a:defRPr>
                      </a:pPr>
                      <a:r>
                        <a:t>Relay事業終了・アカウント終了日程の確認(2026-08-17)</a:t>
                      </a:r>
                    </a:p>
                  </a:txBody>
                  <a:tcPr>
                    <a:solidFill>
                      <a:srgbClr val="FFFFFF"/>
                    </a:solidFill>
                  </a:tcPr>
                </a:tc>
              </a:tr>
              <a:tr h="502920">
                <a:tc>
                  <a:txBody>
                    <a:bodyPr/>
                    <a:lstStyle/>
                    <a:p>
                      <a:pPr>
                        <a:defRPr sz="1200">
                          <a:solidFill>
                            <a:srgbClr val="20261F"/>
                          </a:solidFill>
                          <a:latin typeface="Yu Gothic"/>
                        </a:defRPr>
                      </a:pPr>
                      <a:r>
                        <a:t>PRIMA NEWS</a:t>
                      </a:r>
                    </a:p>
                  </a:txBody>
                  <a:tcPr>
                    <a:solidFill>
                      <a:srgbClr val="F4F1E6"/>
                    </a:solidFill>
                  </a:tcPr>
                </a:tc>
                <a:tc>
                  <a:txBody>
                    <a:bodyPr/>
                    <a:lstStyle/>
                    <a:p>
                      <a:pPr>
                        <a:defRPr sz="1200">
                          <a:solidFill>
                            <a:srgbClr val="20261F"/>
                          </a:solidFill>
                          <a:latin typeface="Yu Gothic"/>
                        </a:defRPr>
                      </a:pPr>
                      <a:r>
                        <a:t>Relay事業終了・VP就任の確認(2026-08-17)</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TechCrunch・9to5Google・Shopifreaks・PRIMA NEWS(いずれも2026-08-17)</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Relayは消える。創業者はGoogleへ。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ワークフロー自動化AIスタートアップRelayの事業終了と、創業者ジェイコブ・バンク氏のGoogle Chrome担当VP就任(2026年8月17日発表)を、事実と不明点を分けて出典付きで整理してお届けしました。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