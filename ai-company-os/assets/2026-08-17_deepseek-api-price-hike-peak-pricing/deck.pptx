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出力料金(ドル/百万トークン)</c:v>
                </c:pt>
              </c:strCache>
            </c:strRef>
          </c:tx>
          <c:spPr>
            <a:solidFill>
              <a:srgbClr val="2B3A55"/>
            </a:solidFill>
          </c:spPr>
          <c:cat>
            <c:strRef>
              <c:f>Sheet1!$A$2:$A$4</c:f>
              <c:strCache>
                <c:ptCount val="3"/>
                <c:pt idx="0">
                  <c:v>改定前(一律)</c:v>
                </c:pt>
                <c:pt idx="1">
                  <c:v>ピーク</c:v>
                </c:pt>
                <c:pt idx="2">
                  <c:v>オフピーク</c:v>
                </c:pt>
              </c:strCache>
            </c:strRef>
          </c:cat>
          <c:val>
            <c:numRef>
              <c:f>Sheet1!$B$2:$B$4</c:f>
              <c:numCache>
                <c:formatCode>General</c:formatCode>
                <c:ptCount val="3"/>
                <c:pt idx="0">
                  <c:v>0.28</c:v>
                </c:pt>
                <c:pt idx="1">
                  <c:v>1.32</c:v>
                </c:pt>
                <c:pt idx="2">
                  <c:v>0.66</c:v>
                </c:pt>
              </c:numCache>
            </c:numRef>
          </c:val>
        </c:ser>
        <c:dLbls>
          <c:numFmt formatCode="0.0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出力料金(ドル/百万トークン)</c:v>
                </c:pt>
              </c:strCache>
            </c:strRef>
          </c:tx>
          <c:spPr>
            <a:solidFill>
              <a:srgbClr val="2B3A55"/>
            </a:solidFill>
          </c:spPr>
          <c:cat>
            <c:strRef>
              <c:f>Sheet1!$A$2:$A$4</c:f>
              <c:strCache>
                <c:ptCount val="3"/>
                <c:pt idx="0">
                  <c:v>改定前(一律)</c:v>
                </c:pt>
                <c:pt idx="1">
                  <c:v>ピーク</c:v>
                </c:pt>
                <c:pt idx="2">
                  <c:v>オフピーク</c:v>
                </c:pt>
              </c:strCache>
            </c:strRef>
          </c:cat>
          <c:val>
            <c:numRef>
              <c:f>Sheet1!$B$2:$B$4</c:f>
              <c:numCache>
                <c:formatCode>General</c:formatCode>
                <c:ptCount val="3"/>
                <c:pt idx="0">
                  <c:v>0.87</c:v>
                </c:pt>
                <c:pt idx="1">
                  <c:v>3.96</c:v>
                </c:pt>
                <c:pt idx="2">
                  <c:v>1.98</c:v>
                </c:pt>
              </c:numCache>
            </c:numRef>
          </c:val>
        </c:ser>
        <c:dLbls>
          <c:numFmt formatCode="0.0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中国DeepSeekが、V4-ProとV4-FlashのAPI料金を改定しました。新料金は現行比で最大1,100%、約12倍にもなると報じられています。Reutersが伝えた内容です。今日はこの数字を、出典付きで正直に整理していきます。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DeepSeekは、V4-ProとV4-FlashのAPI料金に、ピーク時間帯とオフピーク時間帯という考え方を初めて導入しました。新料金は現行の一律料金に比べて、最大1,100%、約12倍にもなると報じられています。発効日は今日、2026年8月17日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は、V4-FlashとV4-Proの具体的な新料金、ピーク・オフピーク時間帯の正確な定義、そして「最大1,100%」という報道の数字が、実際に確認できた数字とどう対応しているのか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このテーマを扱う理由です。改定の発効日は本日で、非常に鮮度の高い話題です。Reuters、Yahoo Finance、PYMNTS、そしてDeepSeek公式のドキュメントという複数の独立した情報源で、同じ数値が確認できています。API料金の値上げは、実際に開発しているエンジニアに直接影響するわかりやすいテーマで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2026年7月31日、V4-Flashが公開ベータとして提供開始され、当初は入力0.14ドル・出力0.28ドルという一律料金でした。それから約2週間半後の8月17日、V4-ProとV4-Flashともに料金改定が発表され、ピーク・オフピーク時間帯制が初めて導入されます。同日から新料金が発効し、最大1,100%の値上げ幅にな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テーマを扱う理由、ピーク・オフピーク時間帯の仕組み、API従量課金の基礎知識、V4-FlashとV4-Proの新旧料金を数字で比較、これで何が変わるか・注意点、そして確認できていないことと今後の見通し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今回の情報源です。Reuters、PYMNTS、Yahoo Financeという独立した複数のメディアに加えて、DeepSeek公式のAPIドキュメントのChange Logでも同じ内容が確認できます。一次情報である公式ドキュメントと報道が一致している点が、今回の裏付けの強さです。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ーク・オフピーク料金の仕組みを図にしました。ピーク時間帯はUTCの01時から04時、06時から10時で、ここが新しい基準料金になります。それ以外の時間帯はオフピークで、ピーク料金のちょうど半額です。DeepSeekにとって、時間帯によって料金を変えるのは今回が初めて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用語を確認します。AIモデルのAPI利用は、多くが入力トークン・出力トークンという処理単位に応じた従量課金です。ピーク・オフピーク料金は、需要が集中する時間帯の料金を高く、そうでない時間帯を安くする仕組みで、電力料金やクラウドサービスの一部で見られる価格設定手法を、API料金にも適用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モデルについても確認します。V4-Flashは2026年7月31日に公開ベータとして提供を開始した軽量モデルで、V4-Proはそれより上位に位置づけられるモデルです。改定前の出力トークン料金は、V4-Flashが一律0.28ドル、V4-Proが一律0.87ドルで、いずれも100万トークンあたりの金額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定前と改定後を比較します。改定前は時間帯を問わず同じ一律料金でした。改定後はピーク時間帯とオフピーク時間帯で料金が変わり、V4-Flashの出力はピーク時1.32ドル・オフピーク時0.66ドル、V4-Proの出力はピーク時3.96ドル・オフピーク時1.98ドル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比較対象の数字を1つずつ確認します。まずV4-Flashの改定前の出力料金です。100万トークンあたり0.28ドルで、時間帯を問わない一律料金でした。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続いて、改定後のピーク時料金です。V4-Flashの出力は100万トークンあたり1.32ドルになります。改定前の0.28ドルと比べると、約4.7倍という計算になります。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オフピーク時の料金も確認します。V4-Flashの出力はオフピーク時に100万トークンあたり0.66ドルで、これはピーク料金1.32ドルのちょうど半額です。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4-Flashの出力料金の推移をグラフにしました。改定前の0.28ドルから、ピーク時は1.32ドル、オフピーク時は0.66ドルへと変わります。ピークとオフピークの差が、ちょうど2倍になっていることも視覚的に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次にV4-Proの数字を確認します。改定前の出力料金は、100万トークンあたり0.87ドルの一律料金でした。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改定後のピーク時料金です。V4-Proの出力は100万トークンあたり3.96ドルになります。改定前の0.87ドルと比べると、約4.6倍という計算です。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V4-Proの出力料金の推移もグラフにしました。改定前の0.87ドルから、ピーク時は3.96ドル、オフピーク時は1.98ドルへと変わります。V4-Flashと同じく、オフピークはピークのちょうど半額です。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カードでまとめました。確認できたV4-Flash・V4-Pro出力料金のピーク時倍率は約4.6〜4.7倍、オフピークはピーク料金のちょうど半額です。一方で報道されている値上げ幅の上限は最大1,100%、約12倍とされており、確認できた数字よりもさらに大きい点は次のスライドで補足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ーク・オフピーク時間帯の定義を表にしました。ピークはUTCの01時から04時、そして06時から10時です。それ以外の時間帯がオフピークで、料金はピークのちょうど半額になります。ご自身の地域の時間に変換して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正直に補足します。報道されているのは、モデル・トークン種別・時間帯によって50%から1,100%、最大約12倍まで幅があるという全体のレンジです。本調査で確認できたV4-Flash・V4-Pro出力料金の倍率は、いずれも約2.3倍から4.7倍の範囲にとどまっています。レンジの上限がどの組み合わせで発生するのかは、入力トークンの具体的な数字を含めて、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開発者にとって何を意味するかを整理します。同じ処理でも、実行する時間帯によってAPIコストが数倍変わる可能性があります。バッチ処理のように即時性を要さない処理は、オフピーク時間帯に寄せることでコストを抑えられる可能性がありますが、実際の影響は利用しているトークン種別や実行時間帯によって異なるため、それぞれの利用状況を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のAI導入担当者にとっての意味も整理します。低価格を理由にDeepSeek系モデルを選定していた場合、今回の値上げを踏まえたコスト試算の見直しが必要になる可能性があります。時間帯別料金という仕組み自体が、他のAIモデル提供元にも広がる可能性はありますが、これは推測です。特定のモデルや提供元を推奨する意図はなく、料金体系の変化として中立的に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リットと注意点を整理します。時間帯を選べればオフピーク料金でコストを抑えられる余地がある一方、ピーク時間帯に処理が集中すると、コストが大きく跳ね上がるリスクがあります。UTC基準の時間帯を、自分のタイムゾーンに正しく変換して把握しておく必要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ユーザーが確認すべきことを整理しました。自社の処理がピーク時間帯に集中していないか、改定前後の料金差を実際の利用トークン数に当てはめて試算すること、即時性を要さない処理をオフピークに移せないか、そして公式ドキュメントで最新の情報を確認す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値上げの公式な理由、V3系列など他モデルへの影響、入力トークン側の具体的な料金は、いずれも本調査の範囲では確認できておらず、推測で埋めずに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料金改定に関する事実紹介であり、DeepSeekという企業自体への評価や優劣の論評は行いません。一部の報道には他社との価格比較も見られますが、本パイプライン自身の運営元との利益相反を避けるため、本テーマでは採用していません。数字や固有名詞の創作は行わず、確認できなかったことは不明と明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通しについて触れますが、あくまで推測であり断定ではありません。ピーク・オフピーク料金という仕組みが、他のAIモデル提供元にも広がる可能性はありますが、値上げの背景に何があるのか公式な説明はまだ確認できていません。他モデルへの適用範囲や正式な理由については、判断材料がなく不明と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DeepSeekがV4-ProとV4-FlashのAPI料金を改定し、ピーク・オフピーク時間帯制を初めて導入したというニュースについてお伝えしました。確認できた事実と、確認できなかったことの両方を、出典付きで正直に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最大1,100%値上げ。</a:t>
            </a:r>
          </a:p>
          <a:p>
            <a:pPr algn="l">
              <a:lnSpc>
                <a:spcPct val="115000"/>
              </a:lnSpc>
            </a:pPr>
            <a:r>
              <a:rPr sz="4200" b="1">
                <a:solidFill>
                  <a:srgbClr val="FFFFFF"/>
                </a:solidFill>
                <a:latin typeface="Yu Gothic"/>
              </a:rPr>
              <a:t>DeepSeekのAPI料金に</a:t>
            </a:r>
          </a:p>
          <a:p>
            <a:pPr algn="l">
              <a:lnSpc>
                <a:spcPct val="115000"/>
              </a:lnSpc>
            </a:pPr>
            <a:r>
              <a:rPr sz="4200" b="1">
                <a:solidFill>
                  <a:srgbClr val="FFFFFF"/>
                </a:solidFill>
                <a:latin typeface="Yu Gothic"/>
              </a:rPr>
              <a:t>「ピーク時間帯制」登場。</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中国DeepSeekがV4-Pro/V4-FlashのAPI料金を改定、2026年8月17日発効――出典付きで数字を正直に整理する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Reuters「DeepSeek Raises API Pricing for Its V4 Models」(USNews.com・Investing.com経由)・PYMNTS「DeepSeek Introduces Peak-Hour Pricing That Quadruples Current Levels」・DeepSeek公式APIドキュメントChange 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最大1,100%値上げ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DeepSeekがV4-Pro/V4-FlashのAPI料金を改定。ピーク時間帯(UTC 01-04時・06-10時)は現行比最大約12倍、オフピークはピーク料金の半額。発効日は2026年8月17日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Reuters(USNews.com・Investing.com経由)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V4-Flash・V4-Proの具体的な新料金(ピーク時・オフピーク時)</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ピーク時間帯とオフピーク時間帯の正確な定義(UTC基準)</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「最大1,100%」という報道の数字と、確認できた具体的な数字の関係</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改定の発効日が本日2026年8月17日という、最も新しい部類の話題である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Reuters・Yahoo Finance・PYMNTS・DeepSeek公式ドキュメントという複数の独立した情報源で数値が一致している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API料金の値上げ・時間帯別料金という、開発者に直接影響するわかりやすいテーマである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Reuters・DeepSeek公式APIドキュメント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時系列で見る、DeepSeekの料金の推移</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2026年7月31日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V4-Flashが公開ベータ提供開始。当初は入力0.14ドル・出力0.28ドルの一律料金</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2026年8月17日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V4-Pro・V4-Flashともに料金改定を発表。ピーク/オフピーク時間帯制を初導入</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2026年8月17日〜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新料金が発効。現行比最大1,100%(約12倍)の値上げ幅と報じられる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ピーク/オフピーク時間帯の仕組み</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API従量課金・時間帯別料金の基礎知識</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数字で見るV4-Flash・V4-Proの新旧料金</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これで何が変わるか・注意点</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確認できていないこと・今後の見通し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情報源一覧(複数媒体で一致)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Reuters(USNews.com・Investing.com経由)</a:t>
                      </a:r>
                    </a:p>
                  </a:txBody>
                  <a:tcPr>
                    <a:solidFill>
                      <a:srgbClr val="FFFFFF"/>
                    </a:solidFill>
                  </a:tcPr>
                </a:tc>
                <a:tc>
                  <a:txBody>
                    <a:bodyPr/>
                    <a:lstStyle/>
                    <a:p>
                      <a:pPr>
                        <a:defRPr sz="1200">
                          <a:solidFill>
                            <a:srgbClr val="1C2230"/>
                          </a:solidFill>
                          <a:latin typeface="Yu Gothic"/>
                        </a:defRPr>
                      </a:pPr>
                      <a:r>
                        <a:t>「DeepSeek Raises API Pricing for Its V4 Models」</a:t>
                      </a:r>
                    </a:p>
                  </a:txBody>
                  <a:tcPr>
                    <a:solidFill>
                      <a:srgbClr val="FFFFFF"/>
                    </a:solidFill>
                  </a:tcPr>
                </a:tc>
              </a:tr>
              <a:tr h="502920">
                <a:tc>
                  <a:txBody>
                    <a:bodyPr/>
                    <a:lstStyle/>
                    <a:p>
                      <a:pPr>
                        <a:defRPr sz="1200">
                          <a:solidFill>
                            <a:srgbClr val="1C2230"/>
                          </a:solidFill>
                          <a:latin typeface="Yu Gothic"/>
                        </a:defRPr>
                      </a:pPr>
                      <a:r>
                        <a:t>PYMNTS</a:t>
                      </a:r>
                    </a:p>
                  </a:txBody>
                  <a:tcPr>
                    <a:solidFill>
                      <a:srgbClr val="F1F5FA"/>
                    </a:solidFill>
                  </a:tcPr>
                </a:tc>
                <a:tc>
                  <a:txBody>
                    <a:bodyPr/>
                    <a:lstStyle/>
                    <a:p>
                      <a:pPr>
                        <a:defRPr sz="1200">
                          <a:solidFill>
                            <a:srgbClr val="1C2230"/>
                          </a:solidFill>
                          <a:latin typeface="Yu Gothic"/>
                        </a:defRPr>
                      </a:pPr>
                      <a:r>
                        <a:t>「DeepSeek Introduces Peak-Hour Pricing That Quadruples Current Levels」</a:t>
                      </a:r>
                    </a:p>
                  </a:txBody>
                  <a:tcPr>
                    <a:solidFill>
                      <a:srgbClr val="F1F5FA"/>
                    </a:solidFill>
                  </a:tcPr>
                </a:tc>
              </a:tr>
              <a:tr h="502920">
                <a:tc>
                  <a:txBody>
                    <a:bodyPr/>
                    <a:lstStyle/>
                    <a:p>
                      <a:pPr>
                        <a:defRPr sz="1200">
                          <a:solidFill>
                            <a:srgbClr val="1C2230"/>
                          </a:solidFill>
                          <a:latin typeface="Yu Gothic"/>
                        </a:defRPr>
                      </a:pPr>
                      <a:r>
                        <a:t>Yahoo Finance</a:t>
                      </a:r>
                    </a:p>
                  </a:txBody>
                  <a:tcPr>
                    <a:solidFill>
                      <a:srgbClr val="FFFFFF"/>
                    </a:solidFill>
                  </a:tcPr>
                </a:tc>
                <a:tc>
                  <a:txBody>
                    <a:bodyPr/>
                    <a:lstStyle/>
                    <a:p>
                      <a:pPr>
                        <a:defRPr sz="1200">
                          <a:solidFill>
                            <a:srgbClr val="1C2230"/>
                          </a:solidFill>
                          <a:latin typeface="Yu Gothic"/>
                        </a:defRPr>
                      </a:pPr>
                      <a:r>
                        <a:t>同内容を配信・引用</a:t>
                      </a:r>
                    </a:p>
                  </a:txBody>
                  <a:tcPr>
                    <a:solidFill>
                      <a:srgbClr val="FFFFFF"/>
                    </a:solidFill>
                  </a:tcPr>
                </a:tc>
              </a:tr>
              <a:tr h="502920">
                <a:tc>
                  <a:txBody>
                    <a:bodyPr/>
                    <a:lstStyle/>
                    <a:p>
                      <a:pPr>
                        <a:defRPr sz="1200">
                          <a:solidFill>
                            <a:srgbClr val="1C2230"/>
                          </a:solidFill>
                          <a:latin typeface="Yu Gothic"/>
                        </a:defRPr>
                      </a:pPr>
                      <a:r>
                        <a:t>DeepSeek公式APIドキュメント</a:t>
                      </a:r>
                    </a:p>
                  </a:txBody>
                  <a:tcPr>
                    <a:solidFill>
                      <a:srgbClr val="F1F5FA"/>
                    </a:solidFill>
                  </a:tcPr>
                </a:tc>
                <a:tc>
                  <a:txBody>
                    <a:bodyPr/>
                    <a:lstStyle/>
                    <a:p>
                      <a:pPr>
                        <a:defRPr sz="1200">
                          <a:solidFill>
                            <a:srgbClr val="1C2230"/>
                          </a:solidFill>
                          <a:latin typeface="Yu Gothic"/>
                        </a:defRPr>
                      </a:pPr>
                      <a:r>
                        <a:t>Change Logで料金改定を記載</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ピーク/オフピーク料金の仕組み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ピーク時間帯</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UTC 01:00〜04:00・06:00〜10:00は新しい基準料金</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オフピーク時間帯</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上記以外の時間帯はピーク料金の半額</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DeepSeekとして初導入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従来は時間帯を問わない一律料金だった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ピーク時間帯・オフピーク時間帯という考え方は、DeepSeekのAPI料金として今回が初導入とされる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Reuters・DeepSeek公式APIドキュメントChange Log</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前提知識: API従量課金・ピーク/オフピーク料金とは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本題に入る前に、用語を確認します。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AIモデルのAPI利用は、多くが入力・出力トークン数に応じた従量課金である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ピーク/オフピーク料金は、需要が集中する時間帯を高く、そうでない時間帯を安くする仕組み</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電力料金やクラウドサービスの一部で見られる価格設定手法をAPI料金に適用したもの</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前提知識: V4-Pro / V4-Flashとは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もう一つ、モデルの基礎知識を確認します。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V4-Flashは2026年7月31日に公開ベータ提供を開始した軽量モデル</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V4-Proは、より上位に位置づけられるモデル</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改定前の出力料金は、V4-Flashが一律0.28ドル、V4-Proが一律0.87ドルだった(いずれも100万トークンあたり)</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改定前と改定後を比較する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改定前(一律料金)</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時間帯を問わず同じ料金</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V4-Flash出力: 0.28ドル/百万トークン</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V4-Pro出力: 0.87ドル/百万トークン</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改定後(ピーク/オフピーク)</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ピーク(UTC 01-04・06-10時)とオフピークで料金が変わる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V4-Flash出力: ピーク1.32ドル/オフピーク0.66ドル</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V4-Pro出力: ピーク3.96ドル/オフピーク1.98ドル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V4-Flash出力: 改定前の料金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$0.28</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改定前、V4-Flashの出力トークン料金(100万トークンあたり、一律)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Reuters・DeepSeek公式APIドキュメント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V4-Flash出力: ピーク時の新料金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$1.32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改定後、V4-Flashの出力トークン料金(ピーク時間帯、100万トークンあたり)。改定前比で約4.7倍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Reuters・DeepSeek公式APIドキュメント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V4-Flash出力: オフピーク時の新料金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$0.66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改定後、V4-Flashの出力トークン料金(オフピーク時間帯、100万トークンあたり)。ピーク料金のちょうど半額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Reuters・DeepSeek公式APIドキュメント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V4-Flash出力料金の推移をグラフで見る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Reuters・DeepSeek公式APIドキュメント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V4-Pro出力: 改定前の料金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$0.87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改定前、V4-Proの出力トークン料金(100万トークンあたり、一律)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Reuters・DeepSeek公式APIドキュメント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V4-Pro出力: ピーク時の新料金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$3.96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改定後、V4-Proの出力トークン料金(ピーク時間帯、100万トークンあたり)。改定前比で約4.6倍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Reuters・DeepSeek公式APIドキュメント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V4-Pro出力料金の推移をグラフで見る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Reuters・DeepSeek公式APIドキュメント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数字で振り返る、今回の改定</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約4.7倍</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V4-Flash出力(ピーク)</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改定前0.28ドル→ピーク1.32ドル</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約4.6倍</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V4-Pro出力(ピーク)</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改定前0.87ドル→ピーク3.96ドル</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1/2</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オフピーク料金の比率</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オフピークはピーク料金のちょうど半額</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最大1,100%</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報道されている値上げ幅の上限</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モデル・トークン種別・時間帯により最大約12倍とされる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Reuters・PYMNTS・DeepSeek公式APIドキュメント</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ピーク/オフピーク時間帯の定義(UTC基準)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時間帯(UTC)</a:t>
                      </a:r>
                    </a:p>
                  </a:txBody>
                  <a:tcPr>
                    <a:solidFill>
                      <a:srgbClr val="2B3A55"/>
                    </a:solidFill>
                  </a:tcPr>
                </a:tc>
                <a:tc>
                  <a:txBody>
                    <a:bodyPr/>
                    <a:lstStyle/>
                    <a:p>
                      <a:pPr>
                        <a:defRPr sz="1300" b="1">
                          <a:solidFill>
                            <a:srgbClr val="FFFFFF"/>
                          </a:solidFill>
                          <a:latin typeface="Yu Gothic"/>
                        </a:defRPr>
                      </a:pPr>
                      <a:r>
                        <a:t>料金</a:t>
                      </a:r>
                    </a:p>
                  </a:txBody>
                  <a:tcPr>
                    <a:solidFill>
                      <a:srgbClr val="2B3A55"/>
                    </a:solidFill>
                  </a:tcPr>
                </a:tc>
              </a:tr>
              <a:tr h="502920">
                <a:tc>
                  <a:txBody>
                    <a:bodyPr/>
                    <a:lstStyle/>
                    <a:p>
                      <a:pPr>
                        <a:defRPr sz="1200">
                          <a:solidFill>
                            <a:srgbClr val="1C2230"/>
                          </a:solidFill>
                          <a:latin typeface="Yu Gothic"/>
                        </a:defRPr>
                      </a:pPr>
                      <a:r>
                        <a:t>ピーク</a:t>
                      </a:r>
                    </a:p>
                  </a:txBody>
                  <a:tcPr>
                    <a:solidFill>
                      <a:srgbClr val="FFFFFF"/>
                    </a:solidFill>
                  </a:tcPr>
                </a:tc>
                <a:tc>
                  <a:txBody>
                    <a:bodyPr/>
                    <a:lstStyle/>
                    <a:p>
                      <a:pPr>
                        <a:defRPr sz="1200">
                          <a:solidFill>
                            <a:srgbClr val="1C2230"/>
                          </a:solidFill>
                          <a:latin typeface="Yu Gothic"/>
                        </a:defRPr>
                      </a:pPr>
                      <a:r>
                        <a:t>01:00〜04:00 / 06:00〜10:00</a:t>
                      </a:r>
                    </a:p>
                  </a:txBody>
                  <a:tcPr>
                    <a:solidFill>
                      <a:srgbClr val="FFFFFF"/>
                    </a:solidFill>
                  </a:tcPr>
                </a:tc>
                <a:tc>
                  <a:txBody>
                    <a:bodyPr/>
                    <a:lstStyle/>
                    <a:p>
                      <a:pPr>
                        <a:defRPr sz="1200">
                          <a:solidFill>
                            <a:srgbClr val="1C2230"/>
                          </a:solidFill>
                          <a:latin typeface="Yu Gothic"/>
                        </a:defRPr>
                      </a:pPr>
                      <a:r>
                        <a:t>新しい基準料金</a:t>
                      </a:r>
                    </a:p>
                  </a:txBody>
                  <a:tcPr>
                    <a:solidFill>
                      <a:srgbClr val="FFFFFF"/>
                    </a:solidFill>
                  </a:tcPr>
                </a:tc>
              </a:tr>
              <a:tr h="502920">
                <a:tc>
                  <a:txBody>
                    <a:bodyPr/>
                    <a:lstStyle/>
                    <a:p>
                      <a:pPr>
                        <a:defRPr sz="1200">
                          <a:solidFill>
                            <a:srgbClr val="1C2230"/>
                          </a:solidFill>
                          <a:latin typeface="Yu Gothic"/>
                        </a:defRPr>
                      </a:pPr>
                      <a:r>
                        <a:t>オフピーク</a:t>
                      </a:r>
                    </a:p>
                  </a:txBody>
                  <a:tcPr>
                    <a:solidFill>
                      <a:srgbClr val="F1F5FA"/>
                    </a:solidFill>
                  </a:tcPr>
                </a:tc>
                <a:tc>
                  <a:txBody>
                    <a:bodyPr/>
                    <a:lstStyle/>
                    <a:p>
                      <a:pPr>
                        <a:defRPr sz="1200">
                          <a:solidFill>
                            <a:srgbClr val="1C2230"/>
                          </a:solidFill>
                          <a:latin typeface="Yu Gothic"/>
                        </a:defRPr>
                      </a:pPr>
                      <a:r>
                        <a:t>上記以外の時間帯</a:t>
                      </a:r>
                    </a:p>
                  </a:txBody>
                  <a:tcPr>
                    <a:solidFill>
                      <a:srgbClr val="F1F5FA"/>
                    </a:solidFill>
                  </a:tcPr>
                </a:tc>
                <a:tc>
                  <a:txBody>
                    <a:bodyPr/>
                    <a:lstStyle/>
                    <a:p>
                      <a:pPr>
                        <a:defRPr sz="1200">
                          <a:solidFill>
                            <a:srgbClr val="1C2230"/>
                          </a:solidFill>
                          <a:latin typeface="Yu Gothic"/>
                        </a:defRPr>
                      </a:pPr>
                      <a:r>
                        <a:t>ピーク料金のちょうど半額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Reuters・DeepSeek公式APIドキュメントChange Log</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「最大1,100%」という数字について、正直に補足する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確認できた数字と、報道されているレンジの関係です。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報道されているのは「モデル・トークン種別・時間帯により50%〜1,100%(最大約12倍)」という全体レンジ</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本調査で確認できたV4-Flash・V4-Pro出力料金の倍率は、いずれも約2.3〜4.7倍の範囲</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レンジ上限(1,100%)がどの組み合わせに対応するかは、入力トークンの具体的な数字を含め本調査の範囲では未確認</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これで何が変わるか: 開発者にとって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このニュースが開発者にとって意味することを整理します。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同じ処理でも、実行する時間帯によってAPIコストが数倍変わりうる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バッチ処理など即時性を要さない処理は、オフピーク時間帯に寄せることでコストを抑えられる可能性がある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実際の請求額への影響は、利用しているトークン種別・実行時間帯によって異なるため、各自の利用状況の確認が必要</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これで何が変わるか: 企業のAI導入担当者にとって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企業の立場から見た意味も整理します。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低価格を理由にDeepSeek系モデルを選定していた場合、コスト試算の見直しが必要になりうる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時間帯別料金という仕組み自体が、他のAIモデル提供元にも広がる可能性がある(推測)</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特定のモデル・提供元を過度に推奨する意図はなく、料金体系の変化として中立的に確認する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ピーク/オフピーク料金のメリットと注意点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メリット(考えられる点)</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時間帯を選べば、オフピーク料金でコストを抑えられる余地がある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需要の平準化につながる可能性がある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注意点</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ピーク時間帯に処理が集中すると、コストが大きく跳ね上がる</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UTC基準の時間帯を、自身のタイムゾーンに正しく変換する必要がある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既存ユーザーが確認すべきこと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自社の処理がピーク時間帯(UTC 01-04・06-10時)に集中していないか確認する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改定前後の料金差を、実際の利用トークン数に当てはめて試算する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即時性を要さない処理をオフピーク時間帯に移せないか検討する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DeepSeek公式ドキュメントのChange Logで最新の料金・時間帯定義を確認する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値上げの公式な理由(コスト増か収益化戦略か)</a:t>
                      </a:r>
                    </a:p>
                  </a:txBody>
                  <a:tcPr>
                    <a:solidFill>
                      <a:srgbClr val="FFFFFF"/>
                    </a:solidFill>
                  </a:tcPr>
                </a:tc>
                <a:tc>
                  <a:txBody>
                    <a:bodyPr/>
                    <a:lstStyle/>
                    <a:p>
                      <a:pPr>
                        <a:defRPr sz="1200">
                          <a:solidFill>
                            <a:srgbClr val="1C2230"/>
                          </a:solidFill>
                          <a:latin typeface="Yu Gothic"/>
                        </a:defRPr>
                      </a:pPr>
                      <a:r>
                        <a:t>不明(本調査の範囲では確認できず)</a:t>
                      </a:r>
                    </a:p>
                  </a:txBody>
                  <a:tcPr>
                    <a:solidFill>
                      <a:srgbClr val="FFFFFF"/>
                    </a:solidFill>
                  </a:tcPr>
                </a:tc>
              </a:tr>
              <a:tr h="502920">
                <a:tc>
                  <a:txBody>
                    <a:bodyPr/>
                    <a:lstStyle/>
                    <a:p>
                      <a:pPr>
                        <a:defRPr sz="1200">
                          <a:solidFill>
                            <a:srgbClr val="1C2230"/>
                          </a:solidFill>
                          <a:latin typeface="Yu Gothic"/>
                        </a:defRPr>
                      </a:pPr>
                      <a:r>
                        <a:t>他のDeepSeekモデル(V3系列等)への影響</a:t>
                      </a:r>
                    </a:p>
                  </a:txBody>
                  <a:tcPr>
                    <a:solidFill>
                      <a:srgbClr val="F1F5FA"/>
                    </a:solidFill>
                  </a:tcPr>
                </a:tc>
                <a:tc>
                  <a:txBody>
                    <a:bodyPr/>
                    <a:lstStyle/>
                    <a:p>
                      <a:pPr>
                        <a:defRPr sz="1200">
                          <a:solidFill>
                            <a:srgbClr val="1C2230"/>
                          </a:solidFill>
                          <a:latin typeface="Yu Gothic"/>
                        </a:defRPr>
                      </a:pPr>
                      <a:r>
                        <a:t>不明(本調査の範囲では確認できず)</a:t>
                      </a:r>
                    </a:p>
                  </a:txBody>
                  <a:tcPr>
                    <a:solidFill>
                      <a:srgbClr val="F1F5FA"/>
                    </a:solidFill>
                  </a:tcPr>
                </a:tc>
              </a:tr>
              <a:tr h="502920">
                <a:tc>
                  <a:txBody>
                    <a:bodyPr/>
                    <a:lstStyle/>
                    <a:p>
                      <a:pPr>
                        <a:defRPr sz="1200">
                          <a:solidFill>
                            <a:srgbClr val="1C2230"/>
                          </a:solidFill>
                          <a:latin typeface="Yu Gothic"/>
                        </a:defRPr>
                      </a:pPr>
                      <a:r>
                        <a:t>入力トークン側の具体的な改定前後の料金</a:t>
                      </a:r>
                    </a:p>
                  </a:txBody>
                  <a:tcPr>
                    <a:solidFill>
                      <a:srgbClr val="FFFFFF"/>
                    </a:solidFill>
                  </a:tcPr>
                </a:tc>
                <a:tc>
                  <a:txBody>
                    <a:bodyPr/>
                    <a:lstStyle/>
                    <a:p>
                      <a:pPr>
                        <a:defRPr sz="1200">
                          <a:solidFill>
                            <a:srgbClr val="1C2230"/>
                          </a:solidFill>
                          <a:latin typeface="Yu Gothic"/>
                        </a:defRPr>
                      </a:pPr>
                      <a:r>
                        <a:t>不明(出力トークンのみ確認できている)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本テーマの扱い方について(中立性の確認)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本テーマは料金改定に関する事実紹介であり、DeepSeekという企業自体への評価・優劣の論評は行わない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一部報道にある他社AIモデルとの価格比較は、本パイプライン自身の運営元との利益相反を避けるため採用していない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数字・固有名詞の創作は行わず、確認できなかったことは不明と明記している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今後の見通し(推測であることを明記)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以下はあくまで合理的推測であり、断定ではありません。</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ピーク/オフピーク料金という仕組みが、他のAIモデル提供元にも広がる可能性がある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値上げの背景には利用拡大に伴うインフラコスト増があるかもしれないが、公式説明は未確認</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他モデルへの適用範囲・値上げの正式な理由は、本調査の範囲では判断材料がない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最大1,100%という数字の中身を、出典付きで正直にお届けした。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確認できた具体的な数字と、報道されている全体レンジの違いも含めて、中立的に整理しました。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Reuters</a:t>
                      </a:r>
                    </a:p>
                  </a:txBody>
                  <a:tcPr>
                    <a:solidFill>
                      <a:srgbClr val="FFFFFF"/>
                    </a:solidFill>
                  </a:tcPr>
                </a:tc>
                <a:tc>
                  <a:txBody>
                    <a:bodyPr/>
                    <a:lstStyle/>
                    <a:p>
                      <a:pPr>
                        <a:defRPr sz="1200">
                          <a:solidFill>
                            <a:srgbClr val="1C2230"/>
                          </a:solidFill>
                          <a:latin typeface="Yu Gothic"/>
                        </a:defRPr>
                      </a:pPr>
                      <a:r>
                        <a:t>「DeepSeek Raises API Pricing for Its V4 Models」(USNews.com・Investing.com経由配信)</a:t>
                      </a:r>
                    </a:p>
                  </a:txBody>
                  <a:tcPr>
                    <a:solidFill>
                      <a:srgbClr val="FFFFFF"/>
                    </a:solidFill>
                  </a:tcPr>
                </a:tc>
              </a:tr>
              <a:tr h="502920">
                <a:tc>
                  <a:txBody>
                    <a:bodyPr/>
                    <a:lstStyle/>
                    <a:p>
                      <a:pPr>
                        <a:defRPr sz="1200">
                          <a:solidFill>
                            <a:srgbClr val="1C2230"/>
                          </a:solidFill>
                          <a:latin typeface="Yu Gothic"/>
                        </a:defRPr>
                      </a:pPr>
                      <a:r>
                        <a:t>PYMNTS</a:t>
                      </a:r>
                    </a:p>
                  </a:txBody>
                  <a:tcPr>
                    <a:solidFill>
                      <a:srgbClr val="F1F5FA"/>
                    </a:solidFill>
                  </a:tcPr>
                </a:tc>
                <a:tc>
                  <a:txBody>
                    <a:bodyPr/>
                    <a:lstStyle/>
                    <a:p>
                      <a:pPr>
                        <a:defRPr sz="1200">
                          <a:solidFill>
                            <a:srgbClr val="1C2230"/>
                          </a:solidFill>
                          <a:latin typeface="Yu Gothic"/>
                        </a:defRPr>
                      </a:pPr>
                      <a:r>
                        <a:t>「DeepSeek Introduces Peak-Hour Pricing That Quadruples Current Levels」</a:t>
                      </a:r>
                    </a:p>
                  </a:txBody>
                  <a:tcPr>
                    <a:solidFill>
                      <a:srgbClr val="F1F5FA"/>
                    </a:solidFill>
                  </a:tcPr>
                </a:tc>
              </a:tr>
              <a:tr h="502920">
                <a:tc>
                  <a:txBody>
                    <a:bodyPr/>
                    <a:lstStyle/>
                    <a:p>
                      <a:pPr>
                        <a:defRPr sz="1200">
                          <a:solidFill>
                            <a:srgbClr val="1C2230"/>
                          </a:solidFill>
                          <a:latin typeface="Yu Gothic"/>
                        </a:defRPr>
                      </a:pPr>
                      <a:r>
                        <a:t>Yahoo Finance / DeepSeek公式APIドキュメント</a:t>
                      </a:r>
                    </a:p>
                  </a:txBody>
                  <a:tcPr>
                    <a:solidFill>
                      <a:srgbClr val="FFFFFF"/>
                    </a:solidFill>
                  </a:tcPr>
                </a:tc>
                <a:tc>
                  <a:txBody>
                    <a:bodyPr/>
                    <a:lstStyle/>
                    <a:p>
                      <a:pPr>
                        <a:defRPr sz="1200">
                          <a:solidFill>
                            <a:srgbClr val="1C2230"/>
                          </a:solidFill>
                          <a:latin typeface="Yu Gothic"/>
                        </a:defRPr>
                      </a:pPr>
                      <a:r>
                        <a:t>同内容の配信・引用、および公式Change Log</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Reuters(USNews.com・Investing.com経由)・Yahoo Finance・PYMNTS・DeepSeek公式APIドキュメント｜2026-08-17発効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