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州議会の演説で、AIチャットボットへの指示文がそのまま読み上げられ、話題になりました。ニューブランズウィック州議会での出来事です。今日はこの話題を出典付き・政治的に中立な形でお伝えします。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今日わかることは6つです。何が起きたのか、話題となった一言、報道の広がり、初心者向け解説、そして確認できたこと・できなかったことをお伝えします。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何が起きたのか整理します。ニューブランズウィック州議会での演説中、AIチャットボットの言い回しのような一文が読み上げられ、話題になりました。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題の発端となった一言がこちらです。「この部分を、箇条書きではなく議会演説らしい、より自然で流れるような言い回しにしました」という趣旨で、AIチャットボットが書き直しを提案する際の典型的な言い回しに酷似していると指摘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誰が、いつ、何が起きたかを表にまとめました。Bill Oliver氏の州議会での演説が発端です。氏名・所属政党は報道された事実確認としてのみ記載しています。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登場する組織・人物を紹介します。演説はニューブランズウィック州のAdvocateという機関に関する内容の中で行われました。案件の中身自体には立ち入りません。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話題になるまでの流れを概念図で示します。原稿にAIの返信が残っていた経緯自体は確認できていませんが、編集されないまま読み上げられ、映像が拡散しました。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経緯を4段階で整理します。演説中の一言から、映像拡散、報道まで、短期間で進みました。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なぜAIの一言だと気づかれたのか説明します。演説の内容ではなく、文章の書き直し方についてのコメントだったことが手がかりになりました。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最初の報道日を確認します。2026年7月25日、1Newsが最初にこの話題を報じました。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報道の広がりを時系列で示します。7月25日から29日にかけて、複数の海外メディアが続けて報じました。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他にも見つかったとされる痕跡を紹介します。1回限りの言い間違いではなく、複数箇所に及んでいた可能性が報じられていますが、詳細は確認できていません。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この件が示す失敗パターンを整理します。AIの返信に含まれる説明文が、本文と混ざったまま残ってしまうという現象です。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原稿制作からスピーチまでの一般的な流れです。どこで確認が抜けると、説明文が残ったまま使われてしまうのかを示しています。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本テーマの姿勢について明示します。政党の主張や案件の是非には立ち入らず、AIの編集漏れという現象だけを扱っています。本人の能力や適性についての評価も行いません。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報道のトーンの違いを紹介します。話題性を重視した報道と、事実を淡々と伝える報道の両方があります。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初心者向けに解説します。AIチャットボットは本文と一緒に説明コメントを返すことがあり、それがそのまま原稿に混ざってしまうことがあります。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一般的なAI活用ワークフローと確認ポイントを紹介します。声に出して確認する工程が、今回のようなケースを防ぐ手がかりになります。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同種の失敗パターンとの共通点を紹介します。AI出力を十分確認せずに使ってしまうという型は、分野を問わず起こり得ます。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失敗の型を概念図で示します。AI出力をコピーし、確認せず貼り付け、そのまま公開・使用してしまうという流れです。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ここから広がる論点を紹介します。AI活用そのものより、確認・編集プロセスの重要性が焦点になっています。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確認できていないことを正直にお伝えします。使用したAIツール、本人からの公式な声明の有無、具体的な拡散規模は確認できていません。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出典一覧です。ニュース系・テック系の独立した複数の媒体が報じています。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鮮度について正直に開示します。最初の報道から10日、直近の続報からも6日が経過しており、厳密な基準は満たしていませんが、話題性と論点の普遍性を踏まえて採用しました。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着手日から見た報道の新しさです。最初の報道は10日前、直近の続報は6日前と、比較的続報の続いた話題です。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本テーマで大切にしたことを紹介します。事実の限定、政治的論点を避けること、人格への言及を避けることの3点です。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AI活用そのものと、確認・編集プロセスを分けて整理します。論点は活用の是非ではなく、確認プロセスにあります。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ここからは推測です。公式な反応の有無や、再発防止の議論の広がりについて考えられる展開を紹介します。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皆さんは、AIの出力をそのまま使ってしまいそうになったことはありますか。続報が入り次第、改めてお届けします。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まとめです。AIチャットボットの指示文が議会演説でそのまま読み上げられ話題になった件を、出典付き・政治的に中立な形でお届けしました。今回もご視聴ありがとうございました。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2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州議会の演説で、AIチャットボットへの「指示文」をそのまま読み上げてしまった日</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9E2D0"/>
                </a:solidFill>
                <a:latin typeface="Yu Gothic"/>
              </a:rPr>
              <a:t>ニューブランズウィック州議会、AI下書きの編集漏れが動画で拡散(2026年7月25日〜)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C7BC9E"/>
                </a:solidFill>
                <a:latin typeface="Yu Gothic"/>
              </a:rPr>
              <a:t>出典: 1News・Breitbart・Al Jazeera・TimesLIVE 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F32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9E2D0"/>
                </a:solidFill>
                <a:latin typeface="Yu Gothic"/>
              </a:rPr>
              <a:t>何が起きたのか</a:t>
            </a:r>
          </a:p>
        </p:txBody>
      </p:sp>
      <p:sp>
        <p:nvSpPr>
          <p:cNvPr id="7" name="Oval 6"/>
          <p:cNvSpPr/>
          <p:nvPr/>
        </p:nvSpPr>
        <p:spPr>
          <a:xfrm>
            <a:off x="548640" y="2697480"/>
            <a:ext cx="548640" cy="5486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9E2D0"/>
                </a:solidFill>
                <a:latin typeface="Yu Gothic"/>
              </a:rPr>
              <a:t>話題となった一言</a:t>
            </a:r>
          </a:p>
        </p:txBody>
      </p:sp>
      <p:sp>
        <p:nvSpPr>
          <p:cNvPr id="9" name="Oval 8"/>
          <p:cNvSpPr/>
          <p:nvPr/>
        </p:nvSpPr>
        <p:spPr>
          <a:xfrm>
            <a:off x="548640" y="3474720"/>
            <a:ext cx="548640" cy="5486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9E2D0"/>
                </a:solidFill>
                <a:latin typeface="Yu Gothic"/>
              </a:rPr>
              <a:t>誰が・いつ・何が起きたか</a:t>
            </a:r>
          </a:p>
        </p:txBody>
      </p:sp>
      <p:sp>
        <p:nvSpPr>
          <p:cNvPr id="11" name="Oval 10"/>
          <p:cNvSpPr/>
          <p:nvPr/>
        </p:nvSpPr>
        <p:spPr>
          <a:xfrm>
            <a:off x="548640" y="4251960"/>
            <a:ext cx="548640" cy="5486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9E2D0"/>
                </a:solidFill>
                <a:latin typeface="Yu Gothic"/>
              </a:rPr>
              <a:t>報道の広がり</a:t>
            </a:r>
          </a:p>
        </p:txBody>
      </p:sp>
      <p:sp>
        <p:nvSpPr>
          <p:cNvPr id="13" name="Oval 12"/>
          <p:cNvSpPr/>
          <p:nvPr/>
        </p:nvSpPr>
        <p:spPr>
          <a:xfrm>
            <a:off x="548640" y="5029200"/>
            <a:ext cx="548640" cy="5486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9E2D0"/>
                </a:solidFill>
                <a:latin typeface="Yu Gothic"/>
              </a:rPr>
              <a:t>なぜAIの指示文が原稿に残るのか(初心者向け解説)</a:t>
            </a:r>
          </a:p>
        </p:txBody>
      </p:sp>
      <p:sp>
        <p:nvSpPr>
          <p:cNvPr id="15" name="Oval 14"/>
          <p:cNvSpPr/>
          <p:nvPr/>
        </p:nvSpPr>
        <p:spPr>
          <a:xfrm>
            <a:off x="548640" y="5806440"/>
            <a:ext cx="548640" cy="5486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E9E2D0"/>
                </a:solidFill>
                <a:latin typeface="Yu Gothic"/>
              </a:rPr>
              <a:t>確認できたこと・できなかったこと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何が起きたのか</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ニューブランズウィック州議会(カナダ)での演説中、ある議員が読み上げた一文が話題になった</a:t>
            </a:r>
          </a:p>
        </p:txBody>
      </p:sp>
      <p:sp>
        <p:nvSpPr>
          <p:cNvPr id="8" name="Oval 7"/>
          <p:cNvSpPr/>
          <p:nvPr/>
        </p:nvSpPr>
        <p:spPr>
          <a:xfrm>
            <a:off x="457200" y="225856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その一文は、演説の内容そのものではなく、AIチャットボットが文章の書き直しを提案する際に使うような言い回しだった</a:t>
            </a:r>
          </a:p>
        </p:txBody>
      </p:sp>
      <p:sp>
        <p:nvSpPr>
          <p:cNvPr id="10" name="Oval 9"/>
          <p:cNvSpPr/>
          <p:nvPr/>
        </p:nvSpPr>
        <p:spPr>
          <a:xfrm>
            <a:off x="457200" y="303580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映像がSNSで拡散し、複数の海外メディアが取り上げた</a:t>
            </a:r>
          </a:p>
        </p:txBody>
      </p:sp>
      <p:sp>
        <p:nvSpPr>
          <p:cNvPr id="12" name="Oval 11"/>
          <p:cNvSpPr/>
          <p:nvPr/>
        </p:nvSpPr>
        <p:spPr>
          <a:xfrm>
            <a:off x="457200" y="381304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2026年7月25日、1Newsが最初にこの話題を報じた</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6558"/>
                </a:solidFill>
                <a:latin typeface="Yu Gothic"/>
              </a:rPr>
              <a:t>出典: 1News(2026-07-25)</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32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“Here's a more natural, flowing version of that section that reads like a legislative speech rather than a series of short points.”</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E9E2D0"/>
                </a:solidFill>
                <a:latin typeface="Yu Gothic"/>
              </a:rPr>
              <a:t>— ニューブランズウィック州議会の演説でBill Oliver氏が読み上げたとされる一言(報道による)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誰が・いつ・何が起きたか</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5505B"/>
                    </a:solidFill>
                  </a:tcPr>
                </a:tc>
                <a:tc>
                  <a:txBody>
                    <a:bodyPr/>
                    <a:lstStyle/>
                    <a:p>
                      <a:pPr>
                        <a:defRPr sz="1300" b="1">
                          <a:solidFill>
                            <a:srgbClr val="FFFFFF"/>
                          </a:solidFill>
                          <a:latin typeface="Yu Gothic"/>
                        </a:defRPr>
                      </a:pPr>
                      <a:r>
                        <a:t>内容</a:t>
                      </a:r>
                    </a:p>
                  </a:txBody>
                  <a:tcPr>
                    <a:solidFill>
                      <a:srgbClr val="35505B"/>
                    </a:solidFill>
                  </a:tcPr>
                </a:tc>
              </a:tr>
              <a:tr h="502920">
                <a:tc>
                  <a:txBody>
                    <a:bodyPr/>
                    <a:lstStyle/>
                    <a:p>
                      <a:pPr>
                        <a:defRPr sz="1200">
                          <a:solidFill>
                            <a:srgbClr val="24211C"/>
                          </a:solidFill>
                          <a:latin typeface="Yu Gothic"/>
                        </a:defRPr>
                      </a:pPr>
                      <a:r>
                        <a:t>人物</a:t>
                      </a:r>
                    </a:p>
                  </a:txBody>
                  <a:tcPr>
                    <a:solidFill>
                      <a:srgbClr val="FFFFFF"/>
                    </a:solidFill>
                  </a:tcPr>
                </a:tc>
                <a:tc>
                  <a:txBody>
                    <a:bodyPr/>
                    <a:lstStyle/>
                    <a:p>
                      <a:pPr>
                        <a:defRPr sz="1200">
                          <a:solidFill>
                            <a:srgbClr val="24211C"/>
                          </a:solidFill>
                          <a:latin typeface="Yu Gothic"/>
                        </a:defRPr>
                      </a:pPr>
                      <a:r>
                        <a:t>Bill Oliver氏(ニューブランズウィック州議会議員、進歩保守党)</a:t>
                      </a:r>
                    </a:p>
                  </a:txBody>
                  <a:tcPr>
                    <a:solidFill>
                      <a:srgbClr val="FFFFFF"/>
                    </a:solidFill>
                  </a:tcPr>
                </a:tc>
              </a:tr>
              <a:tr h="502920">
                <a:tc>
                  <a:txBody>
                    <a:bodyPr/>
                    <a:lstStyle/>
                    <a:p>
                      <a:pPr>
                        <a:defRPr sz="1200">
                          <a:solidFill>
                            <a:srgbClr val="24211C"/>
                          </a:solidFill>
                          <a:latin typeface="Yu Gothic"/>
                        </a:defRPr>
                      </a:pPr>
                      <a:r>
                        <a:t>場所</a:t>
                      </a:r>
                    </a:p>
                  </a:txBody>
                  <a:tcPr>
                    <a:solidFill>
                      <a:srgbClr val="F5F1E6"/>
                    </a:solidFill>
                  </a:tcPr>
                </a:tc>
                <a:tc>
                  <a:txBody>
                    <a:bodyPr/>
                    <a:lstStyle/>
                    <a:p>
                      <a:pPr>
                        <a:defRPr sz="1200">
                          <a:solidFill>
                            <a:srgbClr val="24211C"/>
                          </a:solidFill>
                          <a:latin typeface="Yu Gothic"/>
                        </a:defRPr>
                      </a:pPr>
                      <a:r>
                        <a:t>ニューブランズウィック州議会(カナダ)</a:t>
                      </a:r>
                    </a:p>
                  </a:txBody>
                  <a:tcPr>
                    <a:solidFill>
                      <a:srgbClr val="F5F1E6"/>
                    </a:solidFill>
                  </a:tcPr>
                </a:tc>
              </a:tr>
              <a:tr h="502920">
                <a:tc>
                  <a:txBody>
                    <a:bodyPr/>
                    <a:lstStyle/>
                    <a:p>
                      <a:pPr>
                        <a:defRPr sz="1200">
                          <a:solidFill>
                            <a:srgbClr val="24211C"/>
                          </a:solidFill>
                          <a:latin typeface="Yu Gothic"/>
                        </a:defRPr>
                      </a:pPr>
                      <a:r>
                        <a:t>話題の一言</a:t>
                      </a:r>
                    </a:p>
                  </a:txBody>
                  <a:tcPr>
                    <a:solidFill>
                      <a:srgbClr val="FFFFFF"/>
                    </a:solidFill>
                  </a:tcPr>
                </a:tc>
                <a:tc>
                  <a:txBody>
                    <a:bodyPr/>
                    <a:lstStyle/>
                    <a:p>
                      <a:pPr>
                        <a:defRPr sz="1200">
                          <a:solidFill>
                            <a:srgbClr val="24211C"/>
                          </a:solidFill>
                          <a:latin typeface="Yu Gothic"/>
                        </a:defRPr>
                      </a:pPr>
                      <a:r>
                        <a:t>AIチャットボットの返信とみられる指示文をそのまま読み上げた</a:t>
                      </a:r>
                    </a:p>
                  </a:txBody>
                  <a:tcPr>
                    <a:solidFill>
                      <a:srgbClr val="FFFFFF"/>
                    </a:solidFill>
                  </a:tcPr>
                </a:tc>
              </a:tr>
              <a:tr h="502920">
                <a:tc>
                  <a:txBody>
                    <a:bodyPr/>
                    <a:lstStyle/>
                    <a:p>
                      <a:pPr>
                        <a:defRPr sz="1200">
                          <a:solidFill>
                            <a:srgbClr val="24211C"/>
                          </a:solidFill>
                          <a:latin typeface="Yu Gothic"/>
                        </a:defRPr>
                      </a:pPr>
                      <a:r>
                        <a:t>最初の報道</a:t>
                      </a:r>
                    </a:p>
                  </a:txBody>
                  <a:tcPr>
                    <a:solidFill>
                      <a:srgbClr val="F5F1E6"/>
                    </a:solidFill>
                  </a:tcPr>
                </a:tc>
                <a:tc>
                  <a:txBody>
                    <a:bodyPr/>
                    <a:lstStyle/>
                    <a:p>
                      <a:pPr>
                        <a:defRPr sz="1200">
                          <a:solidFill>
                            <a:srgbClr val="24211C"/>
                          </a:solidFill>
                          <a:latin typeface="Yu Gothic"/>
                        </a:defRPr>
                      </a:pPr>
                      <a:r>
                        <a:t>2026年7月25日(1News)</a:t>
                      </a:r>
                    </a:p>
                  </a:txBody>
                  <a:tcPr>
                    <a:solidFill>
                      <a:srgbClr val="F5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登場する組織・人物</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35505B"/>
                </a:solidFill>
                <a:latin typeface="Yu Gothic"/>
              </a:rPr>
              <a:t>Bill Oliver氏</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B6558"/>
                </a:solidFill>
                <a:latin typeface="Yu Gothic"/>
              </a:rPr>
              <a:t>ニューブランズウィック州議会議員(進歩保守党)</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35505B"/>
                </a:solidFill>
                <a:latin typeface="Yu Gothic"/>
              </a:rPr>
              <a:t>ニューブランズウィック州議会</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B6558"/>
                </a:solidFill>
                <a:latin typeface="Yu Gothic"/>
              </a:rPr>
              <a:t>カナダ・ニューブランズウィック州の立法議会</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35505B"/>
                </a:solidFill>
                <a:latin typeface="Yu Gothic"/>
              </a:rPr>
              <a:t>New Brunswick Advocate</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B6558"/>
                </a:solidFill>
                <a:latin typeface="Yu Gothic"/>
              </a:rPr>
              <a:t>演説で取り上げられていた、州のオンブズマン的機関(苦情処理・監視の役割)</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話題になるまでの流れ(概念図)</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35505B"/>
                </a:solidFill>
                <a:latin typeface="Yu Gothic"/>
              </a:rPr>
              <a:t>原稿にAIの返信が混入(経緯不明)</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6B6558"/>
                </a:solidFill>
                <a:latin typeface="Yu Gothic"/>
              </a:rPr>
              <a:t>具体的な作成過程は確認できていない</a:t>
            </a:r>
          </a:p>
        </p:txBody>
      </p:sp>
      <p:sp>
        <p:nvSpPr>
          <p:cNvPr id="10" name="Right Arrow 9"/>
          <p:cNvSpPr/>
          <p:nvPr/>
        </p:nvSpPr>
        <p:spPr>
          <a:xfrm>
            <a:off x="2557119" y="3108959"/>
            <a:ext cx="676656" cy="365760"/>
          </a:xfrm>
          <a:prstGeom prst="rightArrow">
            <a:avLst/>
          </a:prstGeom>
          <a:solidFill>
            <a:srgbClr val="8B5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35505B"/>
                </a:solidFill>
                <a:latin typeface="Yu Gothic"/>
              </a:rPr>
              <a:t>編集されずに残る</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6B6558"/>
                </a:solidFill>
                <a:latin typeface="Yu Gothic"/>
              </a:rPr>
              <a:t>チャットボットの返信とみられる一文が原稿に残った</a:t>
            </a:r>
          </a:p>
        </p:txBody>
      </p:sp>
      <p:sp>
        <p:nvSpPr>
          <p:cNvPr id="15" name="Right Arrow 14"/>
          <p:cNvSpPr/>
          <p:nvPr/>
        </p:nvSpPr>
        <p:spPr>
          <a:xfrm>
            <a:off x="5757519" y="3108959"/>
            <a:ext cx="676656" cy="365760"/>
          </a:xfrm>
          <a:prstGeom prst="rightArrow">
            <a:avLst/>
          </a:prstGeom>
          <a:solidFill>
            <a:srgbClr val="8B5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35505B"/>
                </a:solidFill>
                <a:latin typeface="Yu Gothic"/>
              </a:rPr>
              <a:t>議会で読み上げ</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6B6558"/>
                </a:solidFill>
                <a:latin typeface="Yu Gothic"/>
              </a:rPr>
              <a:t>2026年7月25日ごろ、演説の中でそのまま読み上げられた</a:t>
            </a:r>
          </a:p>
        </p:txBody>
      </p:sp>
      <p:sp>
        <p:nvSpPr>
          <p:cNvPr id="20" name="Right Arrow 19"/>
          <p:cNvSpPr/>
          <p:nvPr/>
        </p:nvSpPr>
        <p:spPr>
          <a:xfrm>
            <a:off x="8957919" y="3108959"/>
            <a:ext cx="676656" cy="365760"/>
          </a:xfrm>
          <a:prstGeom prst="rightArrow">
            <a:avLst/>
          </a:prstGeom>
          <a:solidFill>
            <a:srgbClr val="8B5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35505B"/>
                </a:solidFill>
                <a:latin typeface="Yu Gothic"/>
              </a:rPr>
              <a:t>映像がSNSで拡散</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6B6558"/>
                </a:solidFill>
                <a:latin typeface="Yu Gothic"/>
              </a:rPr>
              <a:t>ニューブランズウィック板(Reddit)に投稿され話題に</a:t>
            </a:r>
          </a:p>
        </p:txBody>
      </p:sp>
      <p:sp>
        <p:nvSpPr>
          <p:cNvPr id="25" name="TextBox 2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26" name="TextBox 2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経緯の整理(4段階)</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35505B"/>
                </a:solidFill>
                <a:latin typeface="Yu Gothic"/>
              </a:rPr>
              <a:t>1. 演説</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6B6558"/>
                </a:solidFill>
                <a:latin typeface="Yu Gothic"/>
              </a:rPr>
              <a:t>Bill Oliver氏がニューブランズウィック州議会で演説</a:t>
            </a:r>
          </a:p>
        </p:txBody>
      </p:sp>
      <p:sp>
        <p:nvSpPr>
          <p:cNvPr id="11" name="Chevron 10"/>
          <p:cNvSpPr/>
          <p:nvPr/>
        </p:nvSpPr>
        <p:spPr>
          <a:xfrm>
            <a:off x="3068040" y="3200400"/>
            <a:ext cx="234086" cy="365760"/>
          </a:xfrm>
          <a:prstGeom prst="chevron">
            <a:avLst/>
          </a:prstGeom>
          <a:solidFill>
            <a:srgbClr val="8B5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35505B"/>
                </a:solidFill>
                <a:latin typeface="Yu Gothic"/>
              </a:rPr>
              <a:t>2. 一言が話題に</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6B6558"/>
                </a:solidFill>
                <a:latin typeface="Yu Gothic"/>
              </a:rPr>
              <a:t>AIチャットボットの指示文のような一言を読み上げた</a:t>
            </a:r>
          </a:p>
        </p:txBody>
      </p:sp>
      <p:sp>
        <p:nvSpPr>
          <p:cNvPr id="17" name="Chevron 16"/>
          <p:cNvSpPr/>
          <p:nvPr/>
        </p:nvSpPr>
        <p:spPr>
          <a:xfrm>
            <a:off x="5978804" y="3200400"/>
            <a:ext cx="234086" cy="365760"/>
          </a:xfrm>
          <a:prstGeom prst="chevron">
            <a:avLst/>
          </a:prstGeom>
          <a:solidFill>
            <a:srgbClr val="8B5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35505B"/>
                </a:solidFill>
                <a:latin typeface="Yu Gothic"/>
              </a:rPr>
              <a:t>3. 映像が拡散</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6B6558"/>
                </a:solidFill>
                <a:latin typeface="Yu Gothic"/>
              </a:rPr>
              <a:t>映像がRedditのニューブランズウィック板に投稿され拡散</a:t>
            </a:r>
          </a:p>
        </p:txBody>
      </p:sp>
      <p:sp>
        <p:nvSpPr>
          <p:cNvPr id="23" name="Chevron 22"/>
          <p:cNvSpPr/>
          <p:nvPr/>
        </p:nvSpPr>
        <p:spPr>
          <a:xfrm>
            <a:off x="8889568" y="3200400"/>
            <a:ext cx="234086" cy="365760"/>
          </a:xfrm>
          <a:prstGeom prst="chevron">
            <a:avLst/>
          </a:prstGeom>
          <a:solidFill>
            <a:srgbClr val="8B5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35505B"/>
                </a:solidFill>
                <a:latin typeface="Yu Gothic"/>
              </a:rPr>
              <a:t>4. 報道</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6B6558"/>
                </a:solidFill>
                <a:latin typeface="Yu Gothic"/>
              </a:rPr>
              <a:t>2026年7月25日、1Newsが最初に報じた</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なぜAIの一言だと気づかれたのか</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読み上げられた一文が、演説の内容ではなく、文章の書き方についてのコメントだった</a:t>
            </a:r>
          </a:p>
        </p:txBody>
      </p:sp>
      <p:sp>
        <p:nvSpPr>
          <p:cNvPr id="8" name="Oval 7"/>
          <p:cNvSpPr/>
          <p:nvPr/>
        </p:nvSpPr>
        <p:spPr>
          <a:xfrm>
            <a:off x="457200" y="225856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「もっと自然で、流れるような言い回しに変えました」という表現が、AIチャットボットが文章の書き直しを提案する際の典型的な言い回しに酷似していた</a:t>
            </a:r>
          </a:p>
        </p:txBody>
      </p:sp>
      <p:sp>
        <p:nvSpPr>
          <p:cNvPr id="10" name="Oval 9"/>
          <p:cNvSpPr/>
          <p:nvPr/>
        </p:nvSpPr>
        <p:spPr>
          <a:xfrm>
            <a:off x="457200" y="303580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内容そのものが演説の一部ではなく、AIへの指示・AIからの返信の一部にしか見えない文体だった</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6558"/>
                </a:solidFill>
                <a:latin typeface="Yu Gothic"/>
              </a:rPr>
              <a:t>出典: 1News(2026-07-25)</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F32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9E2D0"/>
                </a:solidFill>
                <a:latin typeface="Yu Gothic"/>
              </a:rPr>
              <a:t>最初の報道日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8B5E3C"/>
                </a:solidFill>
                <a:latin typeface="Yu Gothic"/>
              </a:rPr>
              <a:t>2026年7月25日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1Newsが最初にこの話題を報じた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C7BC9E"/>
                </a:solidFill>
                <a:latin typeface="Yu Gothic"/>
              </a:rPr>
              <a:t>出典: 1News(2026-07-25)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報道の広がり(時系列)</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35505B"/>
                    </a:solidFill>
                  </a:tcPr>
                </a:tc>
                <a:tc>
                  <a:txBody>
                    <a:bodyPr/>
                    <a:lstStyle/>
                    <a:p>
                      <a:pPr>
                        <a:defRPr sz="1300" b="1">
                          <a:solidFill>
                            <a:srgbClr val="FFFFFF"/>
                          </a:solidFill>
                          <a:latin typeface="Yu Gothic"/>
                        </a:defRPr>
                      </a:pPr>
                      <a:r>
                        <a:t>報道内容</a:t>
                      </a:r>
                    </a:p>
                  </a:txBody>
                  <a:tcPr>
                    <a:solidFill>
                      <a:srgbClr val="35505B"/>
                    </a:solidFill>
                  </a:tcPr>
                </a:tc>
              </a:tr>
              <a:tr h="502920">
                <a:tc>
                  <a:txBody>
                    <a:bodyPr/>
                    <a:lstStyle/>
                    <a:p>
                      <a:pPr>
                        <a:defRPr sz="1200">
                          <a:solidFill>
                            <a:srgbClr val="24211C"/>
                          </a:solidFill>
                          <a:latin typeface="Yu Gothic"/>
                        </a:defRPr>
                      </a:pPr>
                      <a:r>
                        <a:t>2026-07-25</a:t>
                      </a:r>
                    </a:p>
                  </a:txBody>
                  <a:tcPr>
                    <a:solidFill>
                      <a:srgbClr val="FFFFFF"/>
                    </a:solidFill>
                  </a:tcPr>
                </a:tc>
                <a:tc>
                  <a:txBody>
                    <a:bodyPr/>
                    <a:lstStyle/>
                    <a:p>
                      <a:pPr>
                        <a:defRPr sz="1200">
                          <a:solidFill>
                            <a:srgbClr val="24211C"/>
                          </a:solidFill>
                          <a:latin typeface="Yu Gothic"/>
                        </a:defRPr>
                      </a:pPr>
                      <a:r>
                        <a:t>1News: 「Canadian politician reads AI chatbot prompt aloud in legislature」と報道</a:t>
                      </a:r>
                    </a:p>
                  </a:txBody>
                  <a:tcPr>
                    <a:solidFill>
                      <a:srgbClr val="FFFFFF"/>
                    </a:solidFill>
                  </a:tcPr>
                </a:tc>
              </a:tr>
              <a:tr h="502920">
                <a:tc>
                  <a:txBody>
                    <a:bodyPr/>
                    <a:lstStyle/>
                    <a:p>
                      <a:pPr>
                        <a:defRPr sz="1200">
                          <a:solidFill>
                            <a:srgbClr val="24211C"/>
                          </a:solidFill>
                          <a:latin typeface="Yu Gothic"/>
                        </a:defRPr>
                      </a:pPr>
                      <a:r>
                        <a:t>2026-07-27</a:t>
                      </a:r>
                    </a:p>
                  </a:txBody>
                  <a:tcPr>
                    <a:solidFill>
                      <a:srgbClr val="F5F1E6"/>
                    </a:solidFill>
                  </a:tcPr>
                </a:tc>
                <a:tc>
                  <a:txBody>
                    <a:bodyPr/>
                    <a:lstStyle/>
                    <a:p>
                      <a:pPr>
                        <a:defRPr sz="1200">
                          <a:solidFill>
                            <a:srgbClr val="24211C"/>
                          </a:solidFill>
                          <a:latin typeface="Yu Gothic"/>
                        </a:defRPr>
                      </a:pPr>
                      <a:r>
                        <a:t>Breitbart: 「Canadian Politician Reads AI Writing Instructions Aloud During Legislative Speech」と報道</a:t>
                      </a:r>
                    </a:p>
                  </a:txBody>
                  <a:tcPr>
                    <a:solidFill>
                      <a:srgbClr val="F5F1E6"/>
                    </a:solidFill>
                  </a:tcPr>
                </a:tc>
              </a:tr>
              <a:tr h="502920">
                <a:tc>
                  <a:txBody>
                    <a:bodyPr/>
                    <a:lstStyle/>
                    <a:p>
                      <a:pPr>
                        <a:defRPr sz="1200">
                          <a:solidFill>
                            <a:srgbClr val="24211C"/>
                          </a:solidFill>
                          <a:latin typeface="Yu Gothic"/>
                        </a:defRPr>
                      </a:pPr>
                      <a:r>
                        <a:t>2026-07-28</a:t>
                      </a:r>
                    </a:p>
                  </a:txBody>
                  <a:tcPr>
                    <a:solidFill>
                      <a:srgbClr val="FFFFFF"/>
                    </a:solidFill>
                  </a:tcPr>
                </a:tc>
                <a:tc>
                  <a:txBody>
                    <a:bodyPr/>
                    <a:lstStyle/>
                    <a:p>
                      <a:pPr>
                        <a:defRPr sz="1200">
                          <a:solidFill>
                            <a:srgbClr val="24211C"/>
                          </a:solidFill>
                          <a:latin typeface="Yu Gothic"/>
                        </a:defRPr>
                      </a:pPr>
                      <a:r>
                        <a:t>Al Jazeera: 映像付きで話題を報道</a:t>
                      </a:r>
                    </a:p>
                  </a:txBody>
                  <a:tcPr>
                    <a:solidFill>
                      <a:srgbClr val="FFFFFF"/>
                    </a:solidFill>
                  </a:tcPr>
                </a:tc>
              </a:tr>
              <a:tr h="502920">
                <a:tc>
                  <a:txBody>
                    <a:bodyPr/>
                    <a:lstStyle/>
                    <a:p>
                      <a:pPr>
                        <a:defRPr sz="1200">
                          <a:solidFill>
                            <a:srgbClr val="24211C"/>
                          </a:solidFill>
                          <a:latin typeface="Yu Gothic"/>
                        </a:defRPr>
                      </a:pPr>
                      <a:r>
                        <a:t>2026-07-29</a:t>
                      </a:r>
                    </a:p>
                  </a:txBody>
                  <a:tcPr>
                    <a:solidFill>
                      <a:srgbClr val="F5F1E6"/>
                    </a:solidFill>
                  </a:tcPr>
                </a:tc>
                <a:tc>
                  <a:txBody>
                    <a:bodyPr/>
                    <a:lstStyle/>
                    <a:p>
                      <a:pPr>
                        <a:defRPr sz="1200">
                          <a:solidFill>
                            <a:srgbClr val="24211C"/>
                          </a:solidFill>
                          <a:latin typeface="Yu Gothic"/>
                        </a:defRPr>
                      </a:pPr>
                      <a:r>
                        <a:t>TimesLIVE: 「Canadian politician goes viral after 'reading ChatGPT prompt' during speech」と報道</a:t>
                      </a:r>
                    </a:p>
                  </a:txBody>
                  <a:tcPr>
                    <a:solidFill>
                      <a:srgbClr val="F5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他にも見つかったとされる痕跡</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35505B"/>
                </a:solidFill>
                <a:latin typeface="Yu Gothic"/>
              </a:rPr>
              <a:t>「2回」との報道</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B6558"/>
                </a:solidFill>
                <a:latin typeface="Yu Gothic"/>
              </a:rPr>
              <a:t>Yahoo Newsは見出しで、演説中に2回にわたってAIの指示文を読み上げたと示唆している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35505B"/>
                </a:solidFill>
                <a:latin typeface="Yu Gothic"/>
              </a:rPr>
              <a:t>他にも指示文的な表現</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B6558"/>
                </a:solidFill>
                <a:latin typeface="Yu Gothic"/>
              </a:rPr>
              <a:t>最終稿の他の箇所にも、AI生成とみられる指示文的な表現が複数見つかったと報じられている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35505B"/>
                </a:solidFill>
                <a:latin typeface="Yu Gothic"/>
              </a:rPr>
              <a:t>詳細は確認できず</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B6558"/>
                </a:solidFill>
                <a:latin typeface="Yu Gothic"/>
              </a:rPr>
              <a:t>該当箇所の具体的な全文・正確な個数は、本調査の範囲では確認できていない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この件が示す「編集漏れ」という失敗パターン</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生成AIは、依頼への返信の中に「こう直しました」という説明文を含めることがある</a:t>
            </a:r>
          </a:p>
        </p:txBody>
      </p:sp>
      <p:sp>
        <p:nvSpPr>
          <p:cNvPr id="8" name="Oval 7"/>
          <p:cNvSpPr/>
          <p:nvPr/>
        </p:nvSpPr>
        <p:spPr>
          <a:xfrm>
            <a:off x="457200" y="225856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その説明文ごとコピーして原稿に貼り付けると、本文とAIの相槌が混ざったまま残ってしまう</a:t>
            </a:r>
          </a:p>
        </p:txBody>
      </p:sp>
      <p:sp>
        <p:nvSpPr>
          <p:cNvPr id="10" name="Oval 9"/>
          <p:cNvSpPr/>
          <p:nvPr/>
        </p:nvSpPr>
        <p:spPr>
          <a:xfrm>
            <a:off x="457200" y="303580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声に出して読む・第三者が確認する等の工程がないと、そのまま公の場で使われてしまうリスクがある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原稿制作からスピーチまでの一般的な流れ(概念図)</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35505B"/>
                </a:solidFill>
                <a:latin typeface="Yu Gothic"/>
              </a:rPr>
              <a:t>AIに下書きを依頼</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6B6558"/>
                </a:solidFill>
                <a:latin typeface="Yu Gothic"/>
              </a:rPr>
              <a:t>構成・言い回しの提案を求める</a:t>
            </a:r>
          </a:p>
        </p:txBody>
      </p:sp>
      <p:sp>
        <p:nvSpPr>
          <p:cNvPr id="10" name="Right Arrow 9"/>
          <p:cNvSpPr/>
          <p:nvPr/>
        </p:nvSpPr>
        <p:spPr>
          <a:xfrm>
            <a:off x="2557119" y="3108959"/>
            <a:ext cx="676656" cy="365760"/>
          </a:xfrm>
          <a:prstGeom prst="rightArrow">
            <a:avLst/>
          </a:prstGeom>
          <a:solidFill>
            <a:srgbClr val="8B5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35505B"/>
                </a:solidFill>
                <a:latin typeface="Yu Gothic"/>
              </a:rPr>
              <a:t>AIの返信を受け取る</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6B6558"/>
                </a:solidFill>
                <a:latin typeface="Yu Gothic"/>
              </a:rPr>
              <a:t>本文提案と説明文が一緒に返ってくることがある</a:t>
            </a:r>
          </a:p>
        </p:txBody>
      </p:sp>
      <p:sp>
        <p:nvSpPr>
          <p:cNvPr id="15" name="Right Arrow 14"/>
          <p:cNvSpPr/>
          <p:nvPr/>
        </p:nvSpPr>
        <p:spPr>
          <a:xfrm>
            <a:off x="5757519" y="3108959"/>
            <a:ext cx="676656" cy="365760"/>
          </a:xfrm>
          <a:prstGeom prst="rightArrow">
            <a:avLst/>
          </a:prstGeom>
          <a:solidFill>
            <a:srgbClr val="8B5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35505B"/>
                </a:solidFill>
                <a:latin typeface="Yu Gothic"/>
              </a:rPr>
              <a:t>人が編集・確認</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6B6558"/>
                </a:solidFill>
                <a:latin typeface="Yu Gothic"/>
              </a:rPr>
              <a:t>本来はここで説明文を取り除く</a:t>
            </a:r>
          </a:p>
        </p:txBody>
      </p:sp>
      <p:sp>
        <p:nvSpPr>
          <p:cNvPr id="20" name="Right Arrow 19"/>
          <p:cNvSpPr/>
          <p:nvPr/>
        </p:nvSpPr>
        <p:spPr>
          <a:xfrm>
            <a:off x="8957919" y="3108959"/>
            <a:ext cx="676656" cy="365760"/>
          </a:xfrm>
          <a:prstGeom prst="rightArrow">
            <a:avLst/>
          </a:prstGeom>
          <a:solidFill>
            <a:srgbClr val="8B5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35505B"/>
                </a:solidFill>
                <a:latin typeface="Yu Gothic"/>
              </a:rPr>
              <a:t>最終稿として使用</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6B6558"/>
                </a:solidFill>
                <a:latin typeface="Yu Gothic"/>
              </a:rPr>
              <a:t>確認が不十分だと説明文が残ったまま使われる</a:t>
            </a:r>
          </a:p>
        </p:txBody>
      </p:sp>
      <p:sp>
        <p:nvSpPr>
          <p:cNvPr id="25" name="TextBox 2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26" name="TextBox 2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本テーマについて: 政治的中立性への配慮</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35505B"/>
                </a:solidFill>
                <a:latin typeface="Yu Gothic"/>
              </a:rPr>
              <a:t>扱う論点を限定</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B6558"/>
                </a:solidFill>
                <a:latin typeface="Yu Gothic"/>
              </a:rPr>
              <a:t>本テーマは「AI下書きの編集漏れ」という現象のみを扱い、政党の主張やAdvocate案件の是非には立ち入らない</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35505B"/>
                </a:solidFill>
                <a:latin typeface="Yu Gothic"/>
              </a:rPr>
              <a:t>氏名・党名は事実確認のみ</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B6558"/>
                </a:solidFill>
                <a:latin typeface="Yu Gothic"/>
              </a:rPr>
              <a:t>Bill Oliver氏の氏名・所属政党(進歩保守党)は、報道された事実確認としてのみ記載する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35505B"/>
                </a:solidFill>
                <a:latin typeface="Yu Gothic"/>
              </a:rPr>
              <a:t>能力・適性への言及なし</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B6558"/>
                </a:solidFill>
                <a:latin typeface="Yu Gothic"/>
              </a:rPr>
              <a:t>今回のことが本人の能力や議員としての適性を示すものだという評価・示唆は行わない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報道のトーン: 話題性重視 と 事実整理重視</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5505B"/>
                </a:solidFill>
                <a:latin typeface="Yu Gothic"/>
              </a:rPr>
              <a:t>話題性を重視した報道</a:t>
            </a:r>
          </a:p>
        </p:txBody>
      </p:sp>
      <p:sp>
        <p:nvSpPr>
          <p:cNvPr id="9" name="Oval 8"/>
          <p:cNvSpPr/>
          <p:nvPr/>
        </p:nvSpPr>
        <p:spPr>
          <a:xfrm>
            <a:off x="777240" y="2532888"/>
            <a:ext cx="274320" cy="27432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4211C"/>
                </a:solidFill>
                <a:latin typeface="Yu Gothic"/>
              </a:rPr>
              <a:t>Yahoo News・Futurismなど、意外性・SNS拡散に着目した見出し</a:t>
            </a:r>
          </a:p>
        </p:txBody>
      </p:sp>
      <p:sp>
        <p:nvSpPr>
          <p:cNvPr id="11" name="Oval 10"/>
          <p:cNvSpPr/>
          <p:nvPr/>
        </p:nvSpPr>
        <p:spPr>
          <a:xfrm>
            <a:off x="777240" y="3081528"/>
            <a:ext cx="274320" cy="27432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4211C"/>
                </a:solidFill>
                <a:latin typeface="Yu Gothic"/>
              </a:rPr>
              <a:t>「Twice(2回)」など具体的なエピソードを強調</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5505B"/>
                </a:solidFill>
                <a:latin typeface="Yu Gothic"/>
              </a:rPr>
              <a:t>事実整理を重視した報道</a:t>
            </a:r>
          </a:p>
        </p:txBody>
      </p:sp>
      <p:sp>
        <p:nvSpPr>
          <p:cNvPr id="16" name="Oval 15"/>
          <p:cNvSpPr/>
          <p:nvPr/>
        </p:nvSpPr>
        <p:spPr>
          <a:xfrm>
            <a:off x="6598767" y="2532888"/>
            <a:ext cx="274320" cy="27432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4211C"/>
                </a:solidFill>
                <a:latin typeface="Yu Gothic"/>
              </a:rPr>
              <a:t>Al Jazeera・TimesLIVEなど、映像と経緯を淡々と伝える報道</a:t>
            </a:r>
          </a:p>
        </p:txBody>
      </p:sp>
      <p:sp>
        <p:nvSpPr>
          <p:cNvPr id="18" name="Oval 17"/>
          <p:cNvSpPr/>
          <p:nvPr/>
        </p:nvSpPr>
        <p:spPr>
          <a:xfrm>
            <a:off x="6598767" y="3081528"/>
            <a:ext cx="274320" cy="27432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4211C"/>
                </a:solidFill>
                <a:latin typeface="Yu Gothic"/>
              </a:rPr>
              <a:t>政党や政策論争には踏み込まない構成</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初心者向け: なぜAIの指示文が原稿に残ってしまうのか</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35505B"/>
                </a:solidFill>
                <a:latin typeface="Yu Gothic"/>
              </a:rPr>
              <a:t>AIは「返信文」を返す</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B6558"/>
                </a:solidFill>
                <a:latin typeface="Yu Gothic"/>
              </a:rPr>
              <a:t>チャットボットは、依頼への回答として本文と一緒に説明コメントを返すことがある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35505B"/>
                </a:solidFill>
                <a:latin typeface="Yu Gothic"/>
              </a:rPr>
              <a:t>コピペでそのまま貼ると混ざる</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B6558"/>
                </a:solidFill>
                <a:latin typeface="Yu Gothic"/>
              </a:rPr>
              <a:t>本文だけを抜き出さずにまるごと貼り付けると、説明コメントが原稿に混入する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35505B"/>
                </a:solidFill>
                <a:latin typeface="Yu Gothic"/>
              </a:rPr>
              <a:t>読み上げるまで気づかれないことがある</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B6558"/>
                </a:solidFill>
                <a:latin typeface="Yu Gothic"/>
              </a:rPr>
              <a:t>黙読では気づいても、声に出して初めて違和感に気づくケースもある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一般的なAI活用ワークフローと確認ポイント</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35505B"/>
                </a:solidFill>
                <a:latin typeface="Yu Gothic"/>
              </a:rPr>
              <a:t>1. AIに下書きを依頼</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6B6558"/>
                </a:solidFill>
                <a:latin typeface="Yu Gothic"/>
              </a:rPr>
              <a:t>構成案・言い回しの提案を求める</a:t>
            </a:r>
          </a:p>
        </p:txBody>
      </p:sp>
      <p:sp>
        <p:nvSpPr>
          <p:cNvPr id="11" name="Chevron 10"/>
          <p:cNvSpPr/>
          <p:nvPr/>
        </p:nvSpPr>
        <p:spPr>
          <a:xfrm>
            <a:off x="3068040" y="3200400"/>
            <a:ext cx="234086" cy="365760"/>
          </a:xfrm>
          <a:prstGeom prst="chevron">
            <a:avLst/>
          </a:prstGeom>
          <a:solidFill>
            <a:srgbClr val="8B5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35505B"/>
                </a:solidFill>
                <a:latin typeface="Yu Gothic"/>
              </a:rPr>
              <a:t>2. 出力を全文確認</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6B6558"/>
                </a:solidFill>
                <a:latin typeface="Yu Gothic"/>
              </a:rPr>
              <a:t>本文と説明コメントを区別して読む</a:t>
            </a:r>
          </a:p>
        </p:txBody>
      </p:sp>
      <p:sp>
        <p:nvSpPr>
          <p:cNvPr id="17" name="Chevron 16"/>
          <p:cNvSpPr/>
          <p:nvPr/>
        </p:nvSpPr>
        <p:spPr>
          <a:xfrm>
            <a:off x="5978804" y="3200400"/>
            <a:ext cx="234086" cy="365760"/>
          </a:xfrm>
          <a:prstGeom prst="chevron">
            <a:avLst/>
          </a:prstGeom>
          <a:solidFill>
            <a:srgbClr val="8B5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35505B"/>
                </a:solidFill>
                <a:latin typeface="Yu Gothic"/>
              </a:rPr>
              <a:t>3. 不要な部分を削除</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6B6558"/>
                </a:solidFill>
                <a:latin typeface="Yu Gothic"/>
              </a:rPr>
              <a:t>説明コメント・メタ的な文言を取り除く</a:t>
            </a:r>
          </a:p>
        </p:txBody>
      </p:sp>
      <p:sp>
        <p:nvSpPr>
          <p:cNvPr id="23" name="Chevron 22"/>
          <p:cNvSpPr/>
          <p:nvPr/>
        </p:nvSpPr>
        <p:spPr>
          <a:xfrm>
            <a:off x="8889568" y="3200400"/>
            <a:ext cx="234086" cy="365760"/>
          </a:xfrm>
          <a:prstGeom prst="chevron">
            <a:avLst/>
          </a:prstGeom>
          <a:solidFill>
            <a:srgbClr val="8B5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35505B"/>
                </a:solidFill>
                <a:latin typeface="Yu Gothic"/>
              </a:rPr>
              <a:t>4. 声に出して確認</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6B6558"/>
                </a:solidFill>
                <a:latin typeface="Yu Gothic"/>
              </a:rPr>
              <a:t>読み上げてみて違和感がないか最終チェックする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同種の失敗パターンとの共通点(一般論)</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「AI出力を十分確認せずに使ってしまう」という失敗は、幅広い分野で報告されている</a:t>
            </a:r>
          </a:p>
        </p:txBody>
      </p:sp>
      <p:sp>
        <p:nvSpPr>
          <p:cNvPr id="8" name="Oval 7"/>
          <p:cNvSpPr/>
          <p:nvPr/>
        </p:nvSpPr>
        <p:spPr>
          <a:xfrm>
            <a:off x="457200" y="225856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本テーマは州議会での事例だが、失敗の型としては他分野の事例とも共通する</a:t>
            </a:r>
          </a:p>
        </p:txBody>
      </p:sp>
      <p:sp>
        <p:nvSpPr>
          <p:cNvPr id="10" name="Oval 9"/>
          <p:cNvSpPr/>
          <p:nvPr/>
        </p:nvSpPr>
        <p:spPr>
          <a:xfrm>
            <a:off x="457200" y="303580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個別の分野の是非ではなく、AI活用と確認プロセスという論点として紹介する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「コピペ→未編集→公開」という失敗の型(概念図)</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5505B"/>
                </a:solidFill>
                <a:latin typeface="Yu Gothic"/>
              </a:rPr>
              <a:t>AI出力をコピー</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6558"/>
                </a:solidFill>
                <a:latin typeface="Yu Gothic"/>
              </a:rPr>
              <a:t>本文と説明文をまとめて取得</a:t>
            </a:r>
          </a:p>
        </p:txBody>
      </p:sp>
      <p:sp>
        <p:nvSpPr>
          <p:cNvPr id="10" name="Right Arrow 9"/>
          <p:cNvSpPr/>
          <p:nvPr/>
        </p:nvSpPr>
        <p:spPr>
          <a:xfrm>
            <a:off x="4157319" y="3108959"/>
            <a:ext cx="676656" cy="365760"/>
          </a:xfrm>
          <a:prstGeom prst="rightArrow">
            <a:avLst/>
          </a:prstGeom>
          <a:solidFill>
            <a:srgbClr val="8B5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5505B"/>
                </a:solidFill>
                <a:latin typeface="Yu Gothic"/>
              </a:rPr>
              <a:t>確認せず貼り付け</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6558"/>
                </a:solidFill>
                <a:latin typeface="Yu Gothic"/>
              </a:rPr>
              <a:t>必要な部分だけを取り出す作業を省略</a:t>
            </a:r>
          </a:p>
        </p:txBody>
      </p:sp>
      <p:sp>
        <p:nvSpPr>
          <p:cNvPr id="15" name="Right Arrow 14"/>
          <p:cNvSpPr/>
          <p:nvPr/>
        </p:nvSpPr>
        <p:spPr>
          <a:xfrm>
            <a:off x="7357719" y="3108959"/>
            <a:ext cx="676656" cy="365760"/>
          </a:xfrm>
          <a:prstGeom prst="rightArrow">
            <a:avLst/>
          </a:prstGeom>
          <a:solidFill>
            <a:srgbClr val="8B5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5505B"/>
                </a:solidFill>
                <a:latin typeface="Yu Gothic"/>
              </a:rPr>
              <a:t>そのまま公開・使用</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6558"/>
                </a:solidFill>
                <a:latin typeface="Yu Gothic"/>
              </a:rPr>
              <a:t>チェック工程を経ないまま最終版になる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広がる論点: 公式な場でのAI活用と確認体制</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議会演説のような公式な場でも、原稿作成にAIを活用する事例が今後増えていくと見られる</a:t>
            </a:r>
          </a:p>
        </p:txBody>
      </p:sp>
      <p:sp>
        <p:nvSpPr>
          <p:cNvPr id="8" name="Oval 7"/>
          <p:cNvSpPr/>
          <p:nvPr/>
        </p:nvSpPr>
        <p:spPr>
          <a:xfrm>
            <a:off x="457200" y="225856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今回の件は、AI活用そのものよりも、活用後の確認・編集プロセスの重要性を示す事例として紹介されている</a:t>
            </a:r>
          </a:p>
        </p:txBody>
      </p:sp>
      <p:sp>
        <p:nvSpPr>
          <p:cNvPr id="10" name="Oval 9"/>
          <p:cNvSpPr/>
          <p:nvPr/>
        </p:nvSpPr>
        <p:spPr>
          <a:xfrm>
            <a:off x="457200" y="303580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本テーマでは、AI活用の是非を断定せず、確認プロセスという論点を中立的に紹介する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確認できていないこと(正直な開示)</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原稿作成にどのAIツールが使われたかは確認できていない</a:t>
            </a:r>
          </a:p>
        </p:txBody>
      </p:sp>
      <p:sp>
        <p:nvSpPr>
          <p:cNvPr id="8" name="Oval 7"/>
          <p:cNvSpPr/>
          <p:nvPr/>
        </p:nvSpPr>
        <p:spPr>
          <a:xfrm>
            <a:off x="457200" y="225856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Oliver氏本人からの公式な声明・謝罪の有無は確認できていない</a:t>
            </a:r>
          </a:p>
        </p:txBody>
      </p:sp>
      <p:sp>
        <p:nvSpPr>
          <p:cNvPr id="10" name="Oval 9"/>
          <p:cNvSpPr/>
          <p:nvPr/>
        </p:nvSpPr>
        <p:spPr>
          <a:xfrm>
            <a:off x="457200" y="303580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州議会や所属政党からの公式な反応があったかどうかは確認できていない</a:t>
            </a:r>
          </a:p>
        </p:txBody>
      </p:sp>
      <p:sp>
        <p:nvSpPr>
          <p:cNvPr id="12" name="Oval 11"/>
          <p:cNvSpPr/>
          <p:nvPr/>
        </p:nvSpPr>
        <p:spPr>
          <a:xfrm>
            <a:off x="457200" y="381304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Reddit投稿や動画の具体的な再生回数・拡散規模の数字は確認できていない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出典一覧</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35505B"/>
                    </a:solidFill>
                  </a:tcPr>
                </a:tc>
                <a:tc>
                  <a:txBody>
                    <a:bodyPr/>
                    <a:lstStyle/>
                    <a:p>
                      <a:pPr>
                        <a:defRPr sz="1300" b="1">
                          <a:solidFill>
                            <a:srgbClr val="FFFFFF"/>
                          </a:solidFill>
                          <a:latin typeface="Yu Gothic"/>
                        </a:defRPr>
                      </a:pPr>
                      <a:r>
                        <a:t>日付</a:t>
                      </a:r>
                    </a:p>
                  </a:txBody>
                  <a:tcPr>
                    <a:solidFill>
                      <a:srgbClr val="35505B"/>
                    </a:solidFill>
                  </a:tcPr>
                </a:tc>
              </a:tr>
              <a:tr h="502920">
                <a:tc>
                  <a:txBody>
                    <a:bodyPr/>
                    <a:lstStyle/>
                    <a:p>
                      <a:pPr>
                        <a:defRPr sz="1200">
                          <a:solidFill>
                            <a:srgbClr val="24211C"/>
                          </a:solidFill>
                          <a:latin typeface="Yu Gothic"/>
                        </a:defRPr>
                      </a:pPr>
                      <a:r>
                        <a:t>1News</a:t>
                      </a:r>
                    </a:p>
                  </a:txBody>
                  <a:tcPr>
                    <a:solidFill>
                      <a:srgbClr val="FFFFFF"/>
                    </a:solidFill>
                  </a:tcPr>
                </a:tc>
                <a:tc>
                  <a:txBody>
                    <a:bodyPr/>
                    <a:lstStyle/>
                    <a:p>
                      <a:pPr>
                        <a:defRPr sz="1200">
                          <a:solidFill>
                            <a:srgbClr val="24211C"/>
                          </a:solidFill>
                          <a:latin typeface="Yu Gothic"/>
                        </a:defRPr>
                      </a:pPr>
                      <a:r>
                        <a:t>2026-07-25</a:t>
                      </a:r>
                    </a:p>
                  </a:txBody>
                  <a:tcPr>
                    <a:solidFill>
                      <a:srgbClr val="FFFFFF"/>
                    </a:solidFill>
                  </a:tcPr>
                </a:tc>
              </a:tr>
              <a:tr h="502920">
                <a:tc>
                  <a:txBody>
                    <a:bodyPr/>
                    <a:lstStyle/>
                    <a:p>
                      <a:pPr>
                        <a:defRPr sz="1200">
                          <a:solidFill>
                            <a:srgbClr val="24211C"/>
                          </a:solidFill>
                          <a:latin typeface="Yu Gothic"/>
                        </a:defRPr>
                      </a:pPr>
                      <a:r>
                        <a:t>Breitbart</a:t>
                      </a:r>
                    </a:p>
                  </a:txBody>
                  <a:tcPr>
                    <a:solidFill>
                      <a:srgbClr val="F5F1E6"/>
                    </a:solidFill>
                  </a:tcPr>
                </a:tc>
                <a:tc>
                  <a:txBody>
                    <a:bodyPr/>
                    <a:lstStyle/>
                    <a:p>
                      <a:pPr>
                        <a:defRPr sz="1200">
                          <a:solidFill>
                            <a:srgbClr val="24211C"/>
                          </a:solidFill>
                          <a:latin typeface="Yu Gothic"/>
                        </a:defRPr>
                      </a:pPr>
                      <a:r>
                        <a:t>2026-07-27</a:t>
                      </a:r>
                    </a:p>
                  </a:txBody>
                  <a:tcPr>
                    <a:solidFill>
                      <a:srgbClr val="F5F1E6"/>
                    </a:solidFill>
                  </a:tcPr>
                </a:tc>
              </a:tr>
              <a:tr h="502920">
                <a:tc>
                  <a:txBody>
                    <a:bodyPr/>
                    <a:lstStyle/>
                    <a:p>
                      <a:pPr>
                        <a:defRPr sz="1200">
                          <a:solidFill>
                            <a:srgbClr val="24211C"/>
                          </a:solidFill>
                          <a:latin typeface="Yu Gothic"/>
                        </a:defRPr>
                      </a:pPr>
                      <a:r>
                        <a:t>Yahoo News</a:t>
                      </a:r>
                    </a:p>
                  </a:txBody>
                  <a:tcPr>
                    <a:solidFill>
                      <a:srgbClr val="FFFFFF"/>
                    </a:solidFill>
                  </a:tcPr>
                </a:tc>
                <a:tc>
                  <a:txBody>
                    <a:bodyPr/>
                    <a:lstStyle/>
                    <a:p>
                      <a:pPr>
                        <a:defRPr sz="1200">
                          <a:solidFill>
                            <a:srgbClr val="24211C"/>
                          </a:solidFill>
                          <a:latin typeface="Yu Gothic"/>
                        </a:defRPr>
                      </a:pPr>
                      <a:r>
                        <a:t>2026-07-27頃</a:t>
                      </a:r>
                    </a:p>
                  </a:txBody>
                  <a:tcPr>
                    <a:solidFill>
                      <a:srgbClr val="FFFFFF"/>
                    </a:solidFill>
                  </a:tcPr>
                </a:tc>
              </a:tr>
              <a:tr h="502920">
                <a:tc>
                  <a:txBody>
                    <a:bodyPr/>
                    <a:lstStyle/>
                    <a:p>
                      <a:pPr>
                        <a:defRPr sz="1200">
                          <a:solidFill>
                            <a:srgbClr val="24211C"/>
                          </a:solidFill>
                          <a:latin typeface="Yu Gothic"/>
                        </a:defRPr>
                      </a:pPr>
                      <a:r>
                        <a:t>Futurism</a:t>
                      </a:r>
                    </a:p>
                  </a:txBody>
                  <a:tcPr>
                    <a:solidFill>
                      <a:srgbClr val="F5F1E6"/>
                    </a:solidFill>
                  </a:tcPr>
                </a:tc>
                <a:tc>
                  <a:txBody>
                    <a:bodyPr/>
                    <a:lstStyle/>
                    <a:p>
                      <a:pPr>
                        <a:defRPr sz="1200">
                          <a:solidFill>
                            <a:srgbClr val="24211C"/>
                          </a:solidFill>
                          <a:latin typeface="Yu Gothic"/>
                        </a:defRPr>
                      </a:pPr>
                      <a:r>
                        <a:t>2026-07-27頃</a:t>
                      </a:r>
                    </a:p>
                  </a:txBody>
                  <a:tcPr>
                    <a:solidFill>
                      <a:srgbClr val="F5F1E6"/>
                    </a:solidFill>
                  </a:tcPr>
                </a:tc>
              </a:tr>
              <a:tr h="502920">
                <a:tc>
                  <a:txBody>
                    <a:bodyPr/>
                    <a:lstStyle/>
                    <a:p>
                      <a:pPr>
                        <a:defRPr sz="1200">
                          <a:solidFill>
                            <a:srgbClr val="24211C"/>
                          </a:solidFill>
                          <a:latin typeface="Yu Gothic"/>
                        </a:defRPr>
                      </a:pPr>
                      <a:r>
                        <a:t>Al Jazeera</a:t>
                      </a:r>
                    </a:p>
                  </a:txBody>
                  <a:tcPr>
                    <a:solidFill>
                      <a:srgbClr val="FFFFFF"/>
                    </a:solidFill>
                  </a:tcPr>
                </a:tc>
                <a:tc>
                  <a:txBody>
                    <a:bodyPr/>
                    <a:lstStyle/>
                    <a:p>
                      <a:pPr>
                        <a:defRPr sz="1200">
                          <a:solidFill>
                            <a:srgbClr val="24211C"/>
                          </a:solidFill>
                          <a:latin typeface="Yu Gothic"/>
                        </a:defRPr>
                      </a:pPr>
                      <a:r>
                        <a:t>2026-07-28</a:t>
                      </a:r>
                    </a:p>
                  </a:txBody>
                  <a:tcPr>
                    <a:solidFill>
                      <a:srgbClr val="FFFFFF"/>
                    </a:solidFill>
                  </a:tcPr>
                </a:tc>
              </a:tr>
              <a:tr h="502920">
                <a:tc>
                  <a:txBody>
                    <a:bodyPr/>
                    <a:lstStyle/>
                    <a:p>
                      <a:pPr>
                        <a:defRPr sz="1200">
                          <a:solidFill>
                            <a:srgbClr val="24211C"/>
                          </a:solidFill>
                          <a:latin typeface="Yu Gothic"/>
                        </a:defRPr>
                      </a:pPr>
                      <a:r>
                        <a:t>TimesLIVE</a:t>
                      </a:r>
                    </a:p>
                  </a:txBody>
                  <a:tcPr>
                    <a:solidFill>
                      <a:srgbClr val="F5F1E6"/>
                    </a:solidFill>
                  </a:tcPr>
                </a:tc>
                <a:tc>
                  <a:txBody>
                    <a:bodyPr/>
                    <a:lstStyle/>
                    <a:p>
                      <a:pPr>
                        <a:defRPr sz="1200">
                          <a:solidFill>
                            <a:srgbClr val="24211C"/>
                          </a:solidFill>
                          <a:latin typeface="Yu Gothic"/>
                        </a:defRPr>
                      </a:pPr>
                      <a:r>
                        <a:t>2026-07-29</a:t>
                      </a:r>
                    </a:p>
                  </a:txBody>
                  <a:tcPr>
                    <a:solidFill>
                      <a:srgbClr val="F5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鮮度についての正直な開示(重要)</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最初の報道は2026年7月25日(1News)、続報は7月27日(Breitbart・Yahoo News・Futurism)、7月28日(Al Jazeera)、7月29日(TimesLIVE)と続いた</a:t>
            </a:r>
          </a:p>
        </p:txBody>
      </p:sp>
      <p:sp>
        <p:nvSpPr>
          <p:cNvPr id="8" name="Oval 7"/>
          <p:cNvSpPr/>
          <p:nvPr/>
        </p:nvSpPr>
        <p:spPr>
          <a:xfrm>
            <a:off x="457200" y="225856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着手日である2026年8月4日から見ると、最初の報道から10日、直近確認できた続報からも6日が経過しており、`docs/06_Content_R&amp;D.md`の鮮度基準(着手日の前日以内)は厳密には満たしていない</a:t>
            </a:r>
          </a:p>
        </p:txBody>
      </p:sp>
      <p:sp>
        <p:nvSpPr>
          <p:cNvPr id="10" name="Oval 9"/>
          <p:cNvSpPr/>
          <p:nvPr/>
        </p:nvSpPr>
        <p:spPr>
          <a:xfrm>
            <a:off x="457200" y="303580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検索クエリを変える等の努力を尽くした上で、複数の独立メディアが継続的に報じ続けている話題性と、AI活用・確認プロセスという論点の普遍性を踏まえ、鮮度の面ではやや妥協して採用した</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F32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9E2D0"/>
                </a:solidFill>
                <a:latin typeface="Yu Gothic"/>
              </a:rPr>
              <a:t>着手日から見た報道の新しさ</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8B5E3C"/>
                </a:solidFill>
                <a:latin typeface="Yu Gothic"/>
              </a:rPr>
              <a:t>6〜10日前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着手日(2026年8月4日)から見て、最初の報道(7/25)は10日前、直近の続報(7/29)は6日前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C7BC9E"/>
                </a:solidFill>
                <a:latin typeface="Yu Gothic"/>
              </a:rPr>
              <a:t>出典: 1News(2026-07-25)・TimesLIVE(2026-07-29)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本テーマで大切にしたこと</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35505B"/>
                </a:solidFill>
                <a:latin typeface="Yu Gothic"/>
              </a:rPr>
              <a:t>事実の限定</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B6558"/>
                </a:solidFill>
                <a:latin typeface="Yu Gothic"/>
              </a:rPr>
              <a:t>報じられた事実(発言内容・日付・媒体)のみを扱い、憶測を加えない</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35505B"/>
                </a:solidFill>
                <a:latin typeface="Yu Gothic"/>
              </a:rPr>
              <a:t>政治的論点に立ち入らない</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B6558"/>
                </a:solidFill>
                <a:latin typeface="Yu Gothic"/>
              </a:rPr>
              <a:t>政党・政策・Advocate案件の是非には言及しない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35505B"/>
                </a:solidFill>
                <a:latin typeface="Yu Gothic"/>
              </a:rPr>
              <a:t>人格・適性への言及を避ける</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B6558"/>
                </a:solidFill>
                <a:latin typeface="Yu Gothic"/>
              </a:rPr>
              <a:t>本人の能力や適性についての評価・揶揄は一切行わない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AI活用そのもの と 確認・編集プロセス</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5505B"/>
                </a:solidFill>
                <a:latin typeface="Yu Gothic"/>
              </a:rPr>
              <a:t>AI活用そのもの</a:t>
            </a:r>
          </a:p>
        </p:txBody>
      </p:sp>
      <p:sp>
        <p:nvSpPr>
          <p:cNvPr id="9" name="Oval 8"/>
          <p:cNvSpPr/>
          <p:nvPr/>
        </p:nvSpPr>
        <p:spPr>
          <a:xfrm>
            <a:off x="777240" y="2532888"/>
            <a:ext cx="274320" cy="27432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4211C"/>
                </a:solidFill>
                <a:latin typeface="Yu Gothic"/>
              </a:rPr>
              <a:t>原稿作成の効率化に広く使われている</a:t>
            </a:r>
          </a:p>
        </p:txBody>
      </p:sp>
      <p:sp>
        <p:nvSpPr>
          <p:cNvPr id="11" name="Oval 10"/>
          <p:cNvSpPr/>
          <p:nvPr/>
        </p:nvSpPr>
        <p:spPr>
          <a:xfrm>
            <a:off x="777240" y="3081528"/>
            <a:ext cx="274320" cy="27432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4211C"/>
                </a:solidFill>
                <a:latin typeface="Yu Gothic"/>
              </a:rPr>
              <a:t>本テーマでは活用の是非を断定しない</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5505B"/>
                </a:solidFill>
                <a:latin typeface="Yu Gothic"/>
              </a:rPr>
              <a:t>確認・編集プロセス</a:t>
            </a:r>
          </a:p>
        </p:txBody>
      </p:sp>
      <p:sp>
        <p:nvSpPr>
          <p:cNvPr id="16" name="Oval 15"/>
          <p:cNvSpPr/>
          <p:nvPr/>
        </p:nvSpPr>
        <p:spPr>
          <a:xfrm>
            <a:off x="6598767" y="2532888"/>
            <a:ext cx="274320" cy="27432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4211C"/>
                </a:solidFill>
                <a:latin typeface="Yu Gothic"/>
              </a:rPr>
              <a:t>AI出力をそのまま使わず、本文と説明コメントを分けて確認する</a:t>
            </a:r>
          </a:p>
        </p:txBody>
      </p:sp>
      <p:sp>
        <p:nvSpPr>
          <p:cNvPr id="18" name="Oval 17"/>
          <p:cNvSpPr/>
          <p:nvPr/>
        </p:nvSpPr>
        <p:spPr>
          <a:xfrm>
            <a:off x="6598767" y="3081528"/>
            <a:ext cx="274320" cy="27432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4211C"/>
                </a:solidFill>
                <a:latin typeface="Yu Gothic"/>
              </a:rPr>
              <a:t>声に出して読む等、最終チェックの工程が重要</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今後の見通し(ここからは推測)</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5505B"/>
                </a:solidFill>
                <a:latin typeface="Yu Gothic"/>
              </a:rPr>
              <a:t>1. 公式な反応の有無</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6558"/>
                </a:solidFill>
                <a:latin typeface="Yu Gothic"/>
              </a:rPr>
              <a:t>本人や議会からの公式な説明があるかは今後の報道次第</a:t>
            </a:r>
          </a:p>
        </p:txBody>
      </p:sp>
      <p:sp>
        <p:nvSpPr>
          <p:cNvPr id="11" name="Chevron 10"/>
          <p:cNvSpPr/>
          <p:nvPr/>
        </p:nvSpPr>
        <p:spPr>
          <a:xfrm>
            <a:off x="4038295" y="3200400"/>
            <a:ext cx="234086" cy="365760"/>
          </a:xfrm>
          <a:prstGeom prst="chevron">
            <a:avLst/>
          </a:prstGeom>
          <a:solidFill>
            <a:srgbClr val="8B5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5505B"/>
                </a:solidFill>
                <a:latin typeface="Yu Gothic"/>
              </a:rPr>
              <a:t>2. 再発防止の議論</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6558"/>
                </a:solidFill>
                <a:latin typeface="Yu Gothic"/>
              </a:rPr>
              <a:t>公式な場でのAI活用ガイドラインの議論が広がる可能性がある</a:t>
            </a:r>
          </a:p>
        </p:txBody>
      </p:sp>
      <p:sp>
        <p:nvSpPr>
          <p:cNvPr id="17" name="Chevron 16"/>
          <p:cNvSpPr/>
          <p:nvPr/>
        </p:nvSpPr>
        <p:spPr>
          <a:xfrm>
            <a:off x="7919313" y="3200400"/>
            <a:ext cx="234086" cy="365760"/>
          </a:xfrm>
          <a:prstGeom prst="chevron">
            <a:avLst/>
          </a:prstGeom>
          <a:solidFill>
            <a:srgbClr val="8B5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5505B"/>
                </a:solidFill>
                <a:latin typeface="Yu Gothic"/>
              </a:rPr>
              <a:t>3. 他分野への波及</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6558"/>
                </a:solidFill>
                <a:latin typeface="Yu Gothic"/>
              </a:rPr>
              <a:t>AI活用と確認プロセスの重要性が、他分野でも改めて注目される可能性がある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F32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あなたの職場や作業で、AIの出力をそのまま使ってしまいそうになったことはありますか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9E2D0"/>
                </a:solidFill>
                <a:latin typeface="Yu Gothic"/>
              </a:rPr>
              <a:t>報じられた事実を、出典付き・政治的に中立な形でお届けしました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5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5505B"/>
                </a:solidFill>
                <a:latin typeface="Yu Gothic"/>
              </a:rPr>
              <a:t>続報が入り次第、改めてお届けします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7B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5505B"/>
                </a:solidFill>
                <a:latin typeface="Yu Gothic"/>
              </a:rPr>
              <a:t>まとめ</a:t>
            </a:r>
          </a:p>
        </p:txBody>
      </p:sp>
      <p:sp>
        <p:nvSpPr>
          <p:cNvPr id="5" name="Rectangle 4"/>
          <p:cNvSpPr/>
          <p:nvPr/>
        </p:nvSpPr>
        <p:spPr>
          <a:xfrm>
            <a:off x="457200" y="1188720"/>
            <a:ext cx="502920" cy="54864"/>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ニューブランズウィック州議会で、AIチャットボットの指示文とみられる一文がそのまま読み上げられ話題になった</a:t>
            </a:r>
          </a:p>
        </p:txBody>
      </p:sp>
      <p:sp>
        <p:nvSpPr>
          <p:cNvPr id="8" name="Oval 7"/>
          <p:cNvSpPr/>
          <p:nvPr/>
        </p:nvSpPr>
        <p:spPr>
          <a:xfrm>
            <a:off x="457200" y="225856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映像がRedditで拡散し、複数の海外メディアが2026年7月25日〜29日にかけて報じた</a:t>
            </a:r>
          </a:p>
        </p:txBody>
      </p:sp>
      <p:sp>
        <p:nvSpPr>
          <p:cNvPr id="10" name="Oval 9"/>
          <p:cNvSpPr/>
          <p:nvPr/>
        </p:nvSpPr>
        <p:spPr>
          <a:xfrm>
            <a:off x="457200" y="303580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本人の公式な声明や議会の反応、使用したAIツールの詳細などは確認できていない</a:t>
            </a:r>
          </a:p>
        </p:txBody>
      </p:sp>
      <p:sp>
        <p:nvSpPr>
          <p:cNvPr id="12" name="Oval 11"/>
          <p:cNvSpPr/>
          <p:nvPr/>
        </p:nvSpPr>
        <p:spPr>
          <a:xfrm>
            <a:off x="457200" y="3813048"/>
            <a:ext cx="320040" cy="320040"/>
          </a:xfrm>
          <a:prstGeom prst="ellipse">
            <a:avLst/>
          </a:prstGeom>
          <a:solidFill>
            <a:srgbClr val="35505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4211C"/>
                </a:solidFill>
                <a:latin typeface="Yu Gothic"/>
              </a:rPr>
              <a:t>AI活用そのものより、確認・編集プロセスの重要性を示す事例として、政治的に中立な形で紹介した</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6558"/>
                </a:solidFill>
                <a:latin typeface="Yu Gothic"/>
              </a:rPr>
              <a:t>AI Company OS｜出典: 1News・Breitbart・Al Jazeera・TimesLIVE ほか(2026-07-25〜29報道)｜定期実行132本目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6558"/>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