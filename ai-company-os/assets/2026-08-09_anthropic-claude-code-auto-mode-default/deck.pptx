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有害な操作の検知率(%)</c:v>
                </c:pt>
              </c:strCache>
            </c:strRef>
          </c:tx>
          <c:spPr>
            <a:solidFill>
              <a:srgbClr val="3A4750"/>
            </a:solidFill>
          </c:spPr>
          <c:cat>
            <c:strRef>
              <c:f>Sheet1!$A$2:$A$3</c:f>
              <c:strCache>
                <c:ptCount val="2"/>
                <c:pt idx="0">
                  <c:v>Auto Modeの検知率</c:v>
                </c:pt>
                <c:pt idx="1">
                  <c:v>人間レビューの検知率</c:v>
                </c:pt>
              </c:strCache>
            </c:strRef>
          </c:cat>
          <c:val>
            <c:numRef>
              <c:f>Sheet1!$B$2:$B$3</c:f>
              <c:numCache>
                <c:formatCode>General</c:formatCode>
                <c:ptCount val="2"/>
                <c:pt idx="0">
                  <c:v>89</c:v>
                </c:pt>
                <c:pt idx="1">
                  <c:v>13.6</c:v>
                </c:pt>
              </c:numCache>
            </c:numRef>
          </c:val>
        </c:ser>
        <c:dLbls>
          <c:numFmt formatCode="0.0&quot;%&quot;" sourceLinked="0"/>
          <c:txPr>
            <a:bodyPr/>
            <a:lstStyle/>
            <a:p>
              <a:pPr>
                <a:defRPr sz="1200" b="1">
                  <a:solidFill>
                    <a:srgbClr val="3A4750"/>
                  </a:solidFill>
                  <a:latin typeface="Yu Gothic"/>
                </a:defRPr>
              </a:pPr>
            </a:p>
          </c:txPr>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l"/>
        <c:majorTickMark val="out"/>
        <c:minorTickMark val="none"/>
        <c:tickLblPos val="nextTo"/>
        <c:crossAx val="-2113994440"/>
        <c:crosses val="autoZero"/>
        <c:auto val="1"/>
        <c:lblAlgn val="ctr"/>
        <c:lblOffset val="100"/>
        <c:noMultiLvlLbl val="0"/>
      </c:catAx>
      <c:valAx>
        <c:axId val="-2113994440"/>
        <c:scaling/>
        <c:delete val="0"/>
        <c:axPos val="b"/>
        <c:majorGridlines/>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2026年8月9日、TechCrunchが『Anthropicが Claude Codeの自動実行モードを既定にする』と報じました。これまで操作のたびに人間の承認を求めていたClaude Codeが、8月14日から多くの操作を自分で判断して自動実行するようになります。今日はこの発表を出典付きで整理します。</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まず結論です。Claude CodeのPro・Max・Teamプランを使う全アカウントで、8月14日からAuto Modeが既定設定になります。これまでのように毎回の操作で承認を求める方式が、標準ではなくなるということです。</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今日はこの5つの流れでお伝えします。事実と、当社の推測、確認できなかったことをはっきり分けて整理します。</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なぜ今このニュースを扱うのか。1日前という新しさと、AIが自分で判断して動き出すという展開のインパクト、そして具体的な数字が複数示されている点が理由です。</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何が起きたのか整理します。AnthropicがAuto Modeを既定設定にすると発表し、対象はPro・Max・Teamの全アカウントです。これをTechCrunchが報じ、複数メディアが追随しています。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複数の独立したメディアが同じ内容を報じています。TechCrunchに加えて、The Decoder・TECHi・BigGo Finance・The New Stackなどが同内容を裏付けています。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ここで用語を整理します。Auto ModeはClaude Codeの実行モードの一つで、一定の基準に該当しない操作は人間の承認を待たずに自動実行されます。テスト版自体は2026年3月から存在していました。</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従来方式とAuto Modeを並べるとこうなります。従来は毎回の承認が実質的に機能していなかった可能性があり、Auto Modeは一定の基準を超える操作だけに承認を求める設計です。</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Auto Modeが操作を判定する仕組みです。操作のリクエストがあると、分類器が『不可逆的・破壊的・環境外』に該当するかを判定し、該当しなければ自動実行、該当すれば人間の承認を求めます。ただしこの判定基準の詳細な中身は確認できておらず、不明として扱います。</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Auto Modeに関わる主な要素は3つです。分類による自動判定、追加の安全機能、そして対象プランです。</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1つ目の数字です。1,053名の有償テスターを対象とした社内調査で、Auto Modeは有害な操作の89%を検知しました。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2つ目の数字です。同じ調査で、人間によるレビューでは有害な操作の13.6%しか検知できませんでした。Auto Modeの89%と大きな差があります。</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グラフにするとこうです。Auto Modeの89%に対し、人間レビューは13.6%にとどまります。この差をAnthropicは、後で説明する『承認疲れ』が原因だと説明しています。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3つ目の数字です。Claude Codeユーザーは全許可プロンプトの97%を承認していました。Anthropicはこれを『反射的なクリック』と表現しています。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人間レビューの検知率がなぜ低かったのか。Anthropicは、ユーザーが97%を反射的に承認しており、承認疲れが起きていたためだと説明しています。ただしこの解釈自体はAnthropic側の説明である点には留意が必要です。</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4つ目の数字です。Auto Modeを採用したチームは、プルリクエスト数が約25%増加したと報告されています。ただし無作為化された比較試験ではなく、元々開発速度の速いチームがAuto Modeを採用している可能性もある点には注意が必要です。</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Claude Code責任者のBoris Cherny氏はX投稿でこう述べています。『チームは何か月も前からAuto Modeのみを使っており、承認プロンプトに戻ることは考えられない』。</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時系列を整理するとこうです。2026年3月にテスト版が公開され、2026年8月9日に既定化の発表が報じられ、8月14日から実際に既定設定が切り替わる予定です。</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全アカウントが一律に対象というわけではありません。Enterprise・APIのアカウントは当面オプトインのまま据え置かれ、管理者が確認する時間を確保したうえで対象を広げる方針とされています。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既定化とあわせて、プロンプトインジェクション対策のスクリーニングや、管理者が設定できる拒否ルールなどの追加の安全機能も展開されているとされます。ただし技術的な詳細まで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ここで一度、確認できなかったことを一覧にします。判定基準の詳細、オフに戻せるかどうか、セキュリティインシデントの有無、数字の算出方法、いずれも非公表または未確認です。</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開発者個人にとっては、承認の頻度が減る一方で、何が自動化される範囲なのかを理解しておくことが重要になります。設定を確認しておくことも考えられます。</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開発チーム・企業にとっては、開発速度への影響、ガバナンス設計の見直し、Enterprise/APIが当面現状維持であることを踏まえた検討が参考になります。</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賛否両論を並べるとこうなります。生産性向上を支持する見方がある一方、判定基準の不透明さや設定変更の可否など、自動化リスクを懸念する見方もあります。どちらか一方が正しいと決めつけず、両方の論点を押さえておくことが大切です。</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ここで一度、本シリーズとClaude Codeの関係についてお伝えします。本シリーズ自体がClaude Codeを使って作られているため、自己宣伝にならないよう、賛否両論を中立的に扱い、特定製品の利用を強く推奨する結論にはしていません。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この図はあくまで推測です。Enterprise・APIへの拡大や、他のAIコーディングツールへの波及の可能性はありますが、公式な見通しは確認できていません。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この3つは当社の推測です。断定はせず、今後注目されうる論点として整理しました。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最後にもう一度確認します。2026年8月14日、Claude CodeのPro/Max/Team全アカウントでAuto Modeが既定になります。複数の数字が示された一方、判定基準の詳細や設定変更の可否、セキュリティ事例の有無は非公表です。</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本編で使った出典を一覧にしました。詳細はresearch.mdをご確認ください。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本編は以上です。今回はAnthropicがClaude CodeのAuto Modeを既定化すると発表したことをお伝えしました。非公開の情報は不明として扱い、推測部分は推測と明記しています。次回もまた出典付きでお届けします。</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23292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0"/>
            <a:ext cx="11064240" cy="2103120"/>
          </a:xfrm>
          <a:prstGeom prst="rect">
            <a:avLst/>
          </a:prstGeom>
          <a:noFill/>
        </p:spPr>
        <p:txBody>
          <a:bodyPr wrap="square" anchor="t" lIns="0" rIns="0" tIns="0" bIns="0">
            <a:spAutoFit/>
          </a:bodyPr>
          <a:lstStyle/>
          <a:p>
            <a:pPr algn="l">
              <a:lnSpc>
                <a:spcPct val="115000"/>
              </a:lnSpc>
            </a:pPr>
            <a:r>
              <a:rPr sz="4200" b="1">
                <a:solidFill>
                  <a:srgbClr val="FFFFFF"/>
                </a:solidFill>
                <a:latin typeface="Yu Gothic"/>
              </a:rPr>
              <a:t>もう人間の許可はいらない。</a:t>
            </a:r>
          </a:p>
          <a:p>
            <a:pPr algn="l">
              <a:lnSpc>
                <a:spcPct val="115000"/>
              </a:lnSpc>
            </a:pPr>
            <a:r>
              <a:rPr sz="4200" b="1">
                <a:solidFill>
                  <a:srgbClr val="FFFFFF"/>
                </a:solidFill>
                <a:latin typeface="Yu Gothic"/>
              </a:rPr>
              <a:t>Claude Codeが自分で判断して動き出す。</a:t>
            </a:r>
          </a:p>
        </p:txBody>
      </p:sp>
      <p:sp>
        <p:nvSpPr>
          <p:cNvPr id="5" name="TextBox 4"/>
          <p:cNvSpPr txBox="1"/>
          <p:nvPr/>
        </p:nvSpPr>
        <p:spPr>
          <a:xfrm>
            <a:off x="548640" y="4206240"/>
            <a:ext cx="10515600" cy="548640"/>
          </a:xfrm>
          <a:prstGeom prst="rect">
            <a:avLst/>
          </a:prstGeom>
          <a:noFill/>
        </p:spPr>
        <p:txBody>
          <a:bodyPr wrap="square" anchor="t" lIns="0" rIns="0" tIns="0" bIns="0">
            <a:spAutoFit/>
          </a:bodyPr>
          <a:lstStyle/>
          <a:p>
            <a:pPr algn="l"/>
            <a:r>
              <a:rPr sz="2000" b="0">
                <a:solidFill>
                  <a:srgbClr val="F5D9A8"/>
                </a:solidFill>
                <a:latin typeface="Yu Gothic"/>
              </a:rPr>
              <a:t>Anthropic、Claude Codeの「Auto Mode」を2026年8月14日よりPro/Max/Team全アカウントの既定設定に変更すると発表(2026年8月9日 TechCrunch報道)</a:t>
            </a:r>
          </a:p>
        </p:txBody>
      </p:sp>
      <p:sp>
        <p:nvSpPr>
          <p:cNvPr id="6" name="TextBox 5"/>
          <p:cNvSpPr txBox="1"/>
          <p:nvPr/>
        </p:nvSpPr>
        <p:spPr>
          <a:xfrm>
            <a:off x="548640" y="5943600"/>
            <a:ext cx="10515600" cy="365760"/>
          </a:xfrm>
          <a:prstGeom prst="rect">
            <a:avLst/>
          </a:prstGeom>
          <a:noFill/>
        </p:spPr>
        <p:txBody>
          <a:bodyPr wrap="square" anchor="t" lIns="0" rIns="0" tIns="0" bIns="0">
            <a:spAutoFit/>
          </a:bodyPr>
          <a:lstStyle/>
          <a:p>
            <a:pPr algn="l"/>
            <a:r>
              <a:rPr sz="1200" b="0">
                <a:solidFill>
                  <a:srgbClr val="D9A857"/>
                </a:solidFill>
                <a:latin typeface="Yu Gothic"/>
              </a:rPr>
              <a:t>出典: TechCrunch(2026-08-09)ほか。</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23292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F5D9A8"/>
                </a:solidFill>
                <a:latin typeface="Yu Gothic"/>
              </a:rPr>
              <a:t>今回の結論</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E8871E"/>
                </a:solidFill>
                <a:latin typeface="Yu Gothic"/>
              </a:rPr>
              <a:t>8/14よりAuto Modeが既定に</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Claude CodeのPro/Max/Team全アカウントで、Auto Mode(自動実行モード)が2026年8月14日から既定設定になるとAnthropicが発表</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D9A857"/>
                </a:solidFill>
                <a:latin typeface="Yu Gothic"/>
              </a:rPr>
              <a:t>出典: TechCrunch(2026-08-09)</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23292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
            <a:ext cx="11064240" cy="914400"/>
          </a:xfrm>
          <a:prstGeom prst="rect">
            <a:avLst/>
          </a:prstGeom>
          <a:noFill/>
        </p:spPr>
        <p:txBody>
          <a:bodyPr wrap="square" anchor="t" lIns="0" rIns="0" tIns="0" bIns="0">
            <a:spAutoFit/>
          </a:bodyPr>
          <a:lstStyle/>
          <a:p>
            <a:pPr algn="l"/>
            <a:r>
              <a:rPr sz="3200" b="1">
                <a:solidFill>
                  <a:srgbClr val="FFFFFF"/>
                </a:solidFill>
                <a:latin typeface="Yu Gothic"/>
              </a:rPr>
              <a:t>この動画で分かること</a:t>
            </a:r>
          </a:p>
        </p:txBody>
      </p:sp>
      <p:sp>
        <p:nvSpPr>
          <p:cNvPr id="5" name="Oval 4"/>
          <p:cNvSpPr/>
          <p:nvPr/>
        </p:nvSpPr>
        <p:spPr>
          <a:xfrm>
            <a:off x="548640" y="1920240"/>
            <a:ext cx="548640" cy="5486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1</a:t>
            </a:r>
          </a:p>
        </p:txBody>
      </p:sp>
      <p:sp>
        <p:nvSpPr>
          <p:cNvPr id="6" name="TextBox 5"/>
          <p:cNvSpPr txBox="1"/>
          <p:nvPr/>
        </p:nvSpPr>
        <p:spPr>
          <a:xfrm>
            <a:off x="1325880" y="1938528"/>
            <a:ext cx="9601200" cy="548640"/>
          </a:xfrm>
          <a:prstGeom prst="rect">
            <a:avLst/>
          </a:prstGeom>
          <a:noFill/>
        </p:spPr>
        <p:txBody>
          <a:bodyPr wrap="square" anchor="ctr" lIns="0" rIns="0" tIns="0" bIns="0">
            <a:spAutoFit/>
          </a:bodyPr>
          <a:lstStyle/>
          <a:p>
            <a:pPr algn="l"/>
            <a:r>
              <a:rPr sz="2000" b="0">
                <a:solidFill>
                  <a:srgbClr val="F5D9A8"/>
                </a:solidFill>
                <a:latin typeface="Yu Gothic"/>
              </a:rPr>
              <a:t>そもそも『Auto Mode』とは何か(基礎知識)</a:t>
            </a:r>
          </a:p>
        </p:txBody>
      </p:sp>
      <p:sp>
        <p:nvSpPr>
          <p:cNvPr id="7" name="Oval 6"/>
          <p:cNvSpPr/>
          <p:nvPr/>
        </p:nvSpPr>
        <p:spPr>
          <a:xfrm>
            <a:off x="548640" y="2697480"/>
            <a:ext cx="548640" cy="5486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2</a:t>
            </a:r>
          </a:p>
        </p:txBody>
      </p:sp>
      <p:sp>
        <p:nvSpPr>
          <p:cNvPr id="8" name="TextBox 7"/>
          <p:cNvSpPr txBox="1"/>
          <p:nvPr/>
        </p:nvSpPr>
        <p:spPr>
          <a:xfrm>
            <a:off x="1325880" y="2715768"/>
            <a:ext cx="9601200" cy="548640"/>
          </a:xfrm>
          <a:prstGeom prst="rect">
            <a:avLst/>
          </a:prstGeom>
          <a:noFill/>
        </p:spPr>
        <p:txBody>
          <a:bodyPr wrap="square" anchor="ctr" lIns="0" rIns="0" tIns="0" bIns="0">
            <a:spAutoFit/>
          </a:bodyPr>
          <a:lstStyle/>
          <a:p>
            <a:pPr algn="l"/>
            <a:r>
              <a:rPr sz="2000" b="0">
                <a:solidFill>
                  <a:srgbClr val="F5D9A8"/>
                </a:solidFill>
                <a:latin typeface="Yu Gothic"/>
              </a:rPr>
              <a:t>従来の承認プロンプト方式と何が変わるのか</a:t>
            </a:r>
          </a:p>
        </p:txBody>
      </p:sp>
      <p:sp>
        <p:nvSpPr>
          <p:cNvPr id="9" name="Oval 8"/>
          <p:cNvSpPr/>
          <p:nvPr/>
        </p:nvSpPr>
        <p:spPr>
          <a:xfrm>
            <a:off x="548640" y="3474720"/>
            <a:ext cx="548640" cy="5486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3</a:t>
            </a:r>
          </a:p>
        </p:txBody>
      </p:sp>
      <p:sp>
        <p:nvSpPr>
          <p:cNvPr id="10" name="TextBox 9"/>
          <p:cNvSpPr txBox="1"/>
          <p:nvPr/>
        </p:nvSpPr>
        <p:spPr>
          <a:xfrm>
            <a:off x="1325880" y="3493008"/>
            <a:ext cx="9601200" cy="548640"/>
          </a:xfrm>
          <a:prstGeom prst="rect">
            <a:avLst/>
          </a:prstGeom>
          <a:noFill/>
        </p:spPr>
        <p:txBody>
          <a:bodyPr wrap="square" anchor="ctr" lIns="0" rIns="0" tIns="0" bIns="0">
            <a:spAutoFit/>
          </a:bodyPr>
          <a:lstStyle/>
          <a:p>
            <a:pPr algn="l"/>
            <a:r>
              <a:rPr sz="2000" b="0">
                <a:solidFill>
                  <a:srgbClr val="F5D9A8"/>
                </a:solidFill>
                <a:latin typeface="Yu Gothic"/>
              </a:rPr>
              <a:t>89%対13.6%、97%、25%——発表された数字の中身</a:t>
            </a:r>
          </a:p>
        </p:txBody>
      </p:sp>
      <p:sp>
        <p:nvSpPr>
          <p:cNvPr id="11" name="Oval 10"/>
          <p:cNvSpPr/>
          <p:nvPr/>
        </p:nvSpPr>
        <p:spPr>
          <a:xfrm>
            <a:off x="548640" y="4251960"/>
            <a:ext cx="548640" cy="5486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4</a:t>
            </a:r>
          </a:p>
        </p:txBody>
      </p:sp>
      <p:sp>
        <p:nvSpPr>
          <p:cNvPr id="12" name="TextBox 11"/>
          <p:cNvSpPr txBox="1"/>
          <p:nvPr/>
        </p:nvSpPr>
        <p:spPr>
          <a:xfrm>
            <a:off x="1325880" y="4270248"/>
            <a:ext cx="9601200" cy="548640"/>
          </a:xfrm>
          <a:prstGeom prst="rect">
            <a:avLst/>
          </a:prstGeom>
          <a:noFill/>
        </p:spPr>
        <p:txBody>
          <a:bodyPr wrap="square" anchor="ctr" lIns="0" rIns="0" tIns="0" bIns="0">
            <a:spAutoFit/>
          </a:bodyPr>
          <a:lstStyle/>
          <a:p>
            <a:pPr algn="l"/>
            <a:r>
              <a:rPr sz="2000" b="0">
                <a:solidFill>
                  <a:srgbClr val="F5D9A8"/>
                </a:solidFill>
                <a:latin typeface="Yu Gothic"/>
              </a:rPr>
              <a:t>Claude Code責任者の発言と、賛否両論の論点</a:t>
            </a:r>
          </a:p>
        </p:txBody>
      </p:sp>
      <p:sp>
        <p:nvSpPr>
          <p:cNvPr id="13" name="Oval 12"/>
          <p:cNvSpPr/>
          <p:nvPr/>
        </p:nvSpPr>
        <p:spPr>
          <a:xfrm>
            <a:off x="548640" y="5029200"/>
            <a:ext cx="548640" cy="5486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5</a:t>
            </a:r>
          </a:p>
        </p:txBody>
      </p:sp>
      <p:sp>
        <p:nvSpPr>
          <p:cNvPr id="14" name="TextBox 13"/>
          <p:cNvSpPr txBox="1"/>
          <p:nvPr/>
        </p:nvSpPr>
        <p:spPr>
          <a:xfrm>
            <a:off x="1325880" y="5047488"/>
            <a:ext cx="9601200" cy="548640"/>
          </a:xfrm>
          <a:prstGeom prst="rect">
            <a:avLst/>
          </a:prstGeom>
          <a:noFill/>
        </p:spPr>
        <p:txBody>
          <a:bodyPr wrap="square" anchor="ctr" lIns="0" rIns="0" tIns="0" bIns="0">
            <a:spAutoFit/>
          </a:bodyPr>
          <a:lstStyle/>
          <a:p>
            <a:pPr algn="l"/>
            <a:r>
              <a:rPr sz="2000" b="0">
                <a:solidFill>
                  <a:srgbClr val="F5D9A8"/>
                </a:solidFill>
                <a:latin typeface="Yu Gothic"/>
              </a:rPr>
              <a:t>確認できなかったこと、読み解く上での注意点</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25559"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なぜ今、このニュースを扱うのか</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B7280"/>
                </a:solidFill>
                <a:latin typeface="Yu Gothic"/>
              </a:rPr>
              <a:t>このテーマを選んだ理由です。</a:t>
            </a:r>
          </a:p>
        </p:txBody>
      </p:sp>
      <p:sp>
        <p:nvSpPr>
          <p:cNvPr id="7" name="Oval 6"/>
          <p:cNvSpPr/>
          <p:nvPr/>
        </p:nvSpPr>
        <p:spPr>
          <a:xfrm>
            <a:off x="457200" y="212140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発表は2026年8月9日。着手日(2026年8月10日)から見て1日前の、鮮度の高いニュース</a:t>
            </a:r>
          </a:p>
        </p:txBody>
      </p:sp>
      <p:sp>
        <p:nvSpPr>
          <p:cNvPr id="9" name="Oval 8"/>
          <p:cNvSpPr/>
          <p:nvPr/>
        </p:nvSpPr>
        <p:spPr>
          <a:xfrm>
            <a:off x="457200" y="289864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『AIが人間の承認なしに自ら判断して動き出す』という展開自体が強いフック</a:t>
            </a:r>
          </a:p>
        </p:txBody>
      </p:sp>
      <p:sp>
        <p:nvSpPr>
          <p:cNvPr id="11" name="Oval 10"/>
          <p:cNvSpPr/>
          <p:nvPr/>
        </p:nvSpPr>
        <p:spPr>
          <a:xfrm>
            <a:off x="457200" y="3675887"/>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TechCrunchに加え、The Decoder・TECHi・BigGo Finance・The New Stackなど複数の独立メディアが報道</a:t>
            </a:r>
          </a:p>
        </p:txBody>
      </p:sp>
      <p:sp>
        <p:nvSpPr>
          <p:cNvPr id="13" name="Oval 12"/>
          <p:cNvSpPr/>
          <p:nvPr/>
        </p:nvSpPr>
        <p:spPr>
          <a:xfrm>
            <a:off x="457200" y="4453127"/>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89%対13.6%、97%、25%という、検証可能な複数の具体的な数字が示されている</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B7280"/>
                </a:solidFill>
                <a:latin typeface="Yu Gothic"/>
              </a:rPr>
              <a:t>出典: TechCrunch(2026-08-09)ほか</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TechCrunch(2026-08-09)ほか｜157本目</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4 / 30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31949"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何が起きたのか(概要)</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B7280"/>
                </a:solidFill>
                <a:latin typeface="Yu Gothic"/>
              </a:rPr>
              <a:t>まず起きたことを整理します。</a:t>
            </a:r>
          </a:p>
        </p:txBody>
      </p:sp>
      <p:sp>
        <p:nvSpPr>
          <p:cNvPr id="7" name="Oval 6"/>
          <p:cNvSpPr/>
          <p:nvPr/>
        </p:nvSpPr>
        <p:spPr>
          <a:xfrm>
            <a:off x="457200" y="212140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Anthropicが、Claude Codeの『Auto Mode』を2026年8月14日から既定設定にすると発表</a:t>
            </a:r>
          </a:p>
        </p:txBody>
      </p:sp>
      <p:sp>
        <p:nvSpPr>
          <p:cNvPr id="9" name="Oval 8"/>
          <p:cNvSpPr/>
          <p:nvPr/>
        </p:nvSpPr>
        <p:spPr>
          <a:xfrm>
            <a:off x="457200" y="289864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対象はPro・Max・Teamプランの全アカウント(Enterprise・APIは当面対象外、後述)</a:t>
            </a:r>
          </a:p>
        </p:txBody>
      </p:sp>
      <p:sp>
        <p:nvSpPr>
          <p:cNvPr id="11" name="Oval 10"/>
          <p:cNvSpPr/>
          <p:nvPr/>
        </p:nvSpPr>
        <p:spPr>
          <a:xfrm>
            <a:off x="457200" y="3675887"/>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従来は操作ごとに人間の承認プロンプトを出していたが、Auto Modeでは多くの操作を自動実行する</a:t>
            </a:r>
          </a:p>
        </p:txBody>
      </p:sp>
      <p:sp>
        <p:nvSpPr>
          <p:cNvPr id="13" name="Oval 12"/>
          <p:cNvSpPr/>
          <p:nvPr/>
        </p:nvSpPr>
        <p:spPr>
          <a:xfrm>
            <a:off x="457200" y="4453127"/>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TechCrunchが2026年8月9日に報じ、複数メディアが追随した</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B7280"/>
                </a:solidFill>
                <a:latin typeface="Yu Gothic"/>
              </a:rPr>
              <a:t>出典: TechCrunch(2026-08-09)</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TechCrunch(2026-08-09)ほか｜157本目</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5 / 30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438339"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この発表を報じた主なメディア</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301752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メディア</a:t>
                      </a:r>
                    </a:p>
                  </a:txBody>
                  <a:tcPr>
                    <a:solidFill>
                      <a:srgbClr val="3A4750"/>
                    </a:solidFill>
                  </a:tcPr>
                </a:tc>
                <a:tc>
                  <a:txBody>
                    <a:bodyPr/>
                    <a:lstStyle/>
                    <a:p>
                      <a:pPr>
                        <a:defRPr sz="1300" b="1">
                          <a:solidFill>
                            <a:srgbClr val="FFFFFF"/>
                          </a:solidFill>
                          <a:latin typeface="Yu Gothic"/>
                        </a:defRPr>
                      </a:pPr>
                      <a:r>
                        <a:t>確認できる内容</a:t>
                      </a:r>
                    </a:p>
                  </a:txBody>
                  <a:tcPr>
                    <a:solidFill>
                      <a:srgbClr val="3A4750"/>
                    </a:solidFill>
                  </a:tcPr>
                </a:tc>
              </a:tr>
              <a:tr h="502920">
                <a:tc>
                  <a:txBody>
                    <a:bodyPr/>
                    <a:lstStyle/>
                    <a:p>
                      <a:pPr>
                        <a:defRPr sz="1200">
                          <a:solidFill>
                            <a:srgbClr val="1E2124"/>
                          </a:solidFill>
                          <a:latin typeface="Yu Gothic"/>
                        </a:defRPr>
                      </a:pPr>
                      <a:r>
                        <a:t>TechCrunch(2026-08-09)</a:t>
                      </a:r>
                    </a:p>
                  </a:txBody>
                  <a:tcPr>
                    <a:solidFill>
                      <a:srgbClr val="FFFFFF"/>
                    </a:solidFill>
                  </a:tcPr>
                </a:tc>
                <a:tc>
                  <a:txBody>
                    <a:bodyPr/>
                    <a:lstStyle/>
                    <a:p>
                      <a:pPr>
                        <a:defRPr sz="1200">
                          <a:solidFill>
                            <a:srgbClr val="1E2124"/>
                          </a:solidFill>
                          <a:latin typeface="Yu Gothic"/>
                        </a:defRPr>
                      </a:pPr>
                      <a:r>
                        <a:t>発表の内容・数字を詳しく報じる記事</a:t>
                      </a:r>
                    </a:p>
                  </a:txBody>
                  <a:tcPr>
                    <a:solidFill>
                      <a:srgbClr val="FFFFFF"/>
                    </a:solidFill>
                  </a:tcPr>
                </a:tc>
              </a:tr>
              <a:tr h="502920">
                <a:tc>
                  <a:txBody>
                    <a:bodyPr/>
                    <a:lstStyle/>
                    <a:p>
                      <a:pPr>
                        <a:defRPr sz="1200">
                          <a:solidFill>
                            <a:srgbClr val="1E2124"/>
                          </a:solidFill>
                          <a:latin typeface="Yu Gothic"/>
                        </a:defRPr>
                      </a:pPr>
                      <a:r>
                        <a:t>The Decoder / TECHi</a:t>
                      </a:r>
                    </a:p>
                  </a:txBody>
                  <a:tcPr>
                    <a:solidFill>
                      <a:srgbClr val="F7F4EF"/>
                    </a:solidFill>
                  </a:tcPr>
                </a:tc>
                <a:tc>
                  <a:txBody>
                    <a:bodyPr/>
                    <a:lstStyle/>
                    <a:p>
                      <a:pPr>
                        <a:defRPr sz="1200">
                          <a:solidFill>
                            <a:srgbClr val="1E2124"/>
                          </a:solidFill>
                          <a:latin typeface="Yu Gothic"/>
                        </a:defRPr>
                      </a:pPr>
                      <a:r>
                        <a:t>同内容を裏付ける報道</a:t>
                      </a:r>
                    </a:p>
                  </a:txBody>
                  <a:tcPr>
                    <a:solidFill>
                      <a:srgbClr val="F7F4EF"/>
                    </a:solidFill>
                  </a:tcPr>
                </a:tc>
              </a:tr>
              <a:tr h="502920">
                <a:tc>
                  <a:txBody>
                    <a:bodyPr/>
                    <a:lstStyle/>
                    <a:p>
                      <a:pPr>
                        <a:defRPr sz="1200">
                          <a:solidFill>
                            <a:srgbClr val="1E2124"/>
                          </a:solidFill>
                          <a:latin typeface="Yu Gothic"/>
                        </a:defRPr>
                      </a:pPr>
                      <a:r>
                        <a:t>BigGo Finance</a:t>
                      </a:r>
                    </a:p>
                  </a:txBody>
                  <a:tcPr>
                    <a:solidFill>
                      <a:srgbClr val="FFFFFF"/>
                    </a:solidFill>
                  </a:tcPr>
                </a:tc>
                <a:tc>
                  <a:txBody>
                    <a:bodyPr/>
                    <a:lstStyle/>
                    <a:p>
                      <a:pPr>
                        <a:defRPr sz="1200">
                          <a:solidFill>
                            <a:srgbClr val="1E2124"/>
                          </a:solidFill>
                          <a:latin typeface="Yu Gothic"/>
                        </a:defRPr>
                      </a:pPr>
                      <a:r>
                        <a:t>Boris Cherny氏の発言を含む報道</a:t>
                      </a:r>
                    </a:p>
                  </a:txBody>
                  <a:tcPr>
                    <a:solidFill>
                      <a:srgbClr val="FFFFFF"/>
                    </a:solidFill>
                  </a:tcPr>
                </a:tc>
              </a:tr>
              <a:tr h="502920">
                <a:tc>
                  <a:txBody>
                    <a:bodyPr/>
                    <a:lstStyle/>
                    <a:p>
                      <a:pPr>
                        <a:defRPr sz="1200">
                          <a:solidFill>
                            <a:srgbClr val="1E2124"/>
                          </a:solidFill>
                          <a:latin typeface="Yu Gothic"/>
                        </a:defRPr>
                      </a:pPr>
                      <a:r>
                        <a:t>The New Stack</a:t>
                      </a:r>
                    </a:p>
                  </a:txBody>
                  <a:tcPr>
                    <a:solidFill>
                      <a:srgbClr val="F7F4EF"/>
                    </a:solidFill>
                  </a:tcPr>
                </a:tc>
                <a:tc>
                  <a:txBody>
                    <a:bodyPr/>
                    <a:lstStyle/>
                    <a:p>
                      <a:pPr>
                        <a:defRPr sz="1200">
                          <a:solidFill>
                            <a:srgbClr val="1E2124"/>
                          </a:solidFill>
                          <a:latin typeface="Yu Gothic"/>
                        </a:defRPr>
                      </a:pPr>
                      <a:r>
                        <a:t>Auto Modeの判定基準に関する報道</a:t>
                      </a:r>
                    </a:p>
                  </a:txBody>
                  <a:tcPr>
                    <a:solidFill>
                      <a:srgbClr val="F7F4EF"/>
                    </a:solidFill>
                  </a:tcPr>
                </a:tc>
              </a:tr>
              <a:tr h="502920">
                <a:tc>
                  <a:txBody>
                    <a:bodyPr/>
                    <a:lstStyle/>
                    <a:p>
                      <a:pPr>
                        <a:defRPr sz="1200">
                          <a:solidFill>
                            <a:srgbClr val="1E2124"/>
                          </a:solidFill>
                          <a:latin typeface="Yu Gothic"/>
                        </a:defRPr>
                      </a:pPr>
                      <a:r>
                        <a:t>Mezha(Ukraine) / EGamers.io</a:t>
                      </a:r>
                    </a:p>
                  </a:txBody>
                  <a:tcPr>
                    <a:solidFill>
                      <a:srgbClr val="FFFFFF"/>
                    </a:solidFill>
                  </a:tcPr>
                </a:tc>
                <a:tc>
                  <a:txBody>
                    <a:bodyPr/>
                    <a:lstStyle/>
                    <a:p>
                      <a:pPr>
                        <a:defRPr sz="1200">
                          <a:solidFill>
                            <a:srgbClr val="1E2124"/>
                          </a:solidFill>
                          <a:latin typeface="Yu Gothic"/>
                        </a:defRPr>
                      </a:pPr>
                      <a:r>
                        <a:t>同内容を裏付ける報道</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B7280"/>
                </a:solidFill>
                <a:latin typeface="Yu Gothic"/>
              </a:rPr>
              <a:t>出典: research.md参照</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TechCrunch(2026-08-09)ほか｜157本目</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6 / 30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844728"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用語解説: そもそも『Auto Mode』とは何か</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B7280"/>
                </a:solidFill>
                <a:latin typeface="Yu Gothic"/>
              </a:rPr>
              <a:t>本題に入る前に、専門用語を整理します。</a:t>
            </a:r>
          </a:p>
        </p:txBody>
      </p:sp>
      <p:sp>
        <p:nvSpPr>
          <p:cNvPr id="7" name="Oval 6"/>
          <p:cNvSpPr/>
          <p:nvPr/>
        </p:nvSpPr>
        <p:spPr>
          <a:xfrm>
            <a:off x="457200" y="212140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Claude Code(Anthropicが提供するAIコーディングツール)の実行モードの一つ</a:t>
            </a:r>
          </a:p>
        </p:txBody>
      </p:sp>
      <p:sp>
        <p:nvSpPr>
          <p:cNvPr id="9" name="Oval 8"/>
          <p:cNvSpPr/>
          <p:nvPr/>
        </p:nvSpPr>
        <p:spPr>
          <a:xfrm>
            <a:off x="457200" y="289864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従来は、ファイル編集やコマンド実行などの操作のたびに、人間が『承認』ボタンを押す必要があった</a:t>
            </a:r>
          </a:p>
        </p:txBody>
      </p:sp>
      <p:sp>
        <p:nvSpPr>
          <p:cNvPr id="11" name="Oval 10"/>
          <p:cNvSpPr/>
          <p:nvPr/>
        </p:nvSpPr>
        <p:spPr>
          <a:xfrm>
            <a:off x="457200" y="3675887"/>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Auto Modeでは、一定の基準に該当しない操作は人間の承認を待たずに自動で実行される</a:t>
            </a:r>
          </a:p>
        </p:txBody>
      </p:sp>
      <p:sp>
        <p:nvSpPr>
          <p:cNvPr id="13" name="Oval 12"/>
          <p:cNvSpPr/>
          <p:nvPr/>
        </p:nvSpPr>
        <p:spPr>
          <a:xfrm>
            <a:off x="457200" y="4453127"/>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テスト版自体は2026年3月に、Teamプラン向けのリサーチプレビューとして初公開されていた</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B7280"/>
                </a:solidFill>
                <a:latin typeface="Yu Gothic"/>
              </a:rPr>
              <a:t>出典: TechCrunch(2026-08-09)、MikeGingerich.com</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TechCrunch(2026-08-09)ほか｜157本目</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7 / 30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51118"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従来の承認プロンプト方式 / Auto Mode</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3A4750"/>
                </a:solidFill>
                <a:latin typeface="Yu Gothic"/>
              </a:rPr>
              <a:t>従来(承認プロンプト方式)</a:t>
            </a:r>
          </a:p>
        </p:txBody>
      </p:sp>
      <p:sp>
        <p:nvSpPr>
          <p:cNvPr id="9" name="Oval 8"/>
          <p:cNvSpPr/>
          <p:nvPr/>
        </p:nvSpPr>
        <p:spPr>
          <a:xfrm>
            <a:off x="777240" y="2532888"/>
            <a:ext cx="274320" cy="27432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E2124"/>
                </a:solidFill>
                <a:latin typeface="Yu Gothic"/>
              </a:rPr>
              <a:t>操作のたびに人間が承認ボタンを押す</a:t>
            </a:r>
          </a:p>
        </p:txBody>
      </p:sp>
      <p:sp>
        <p:nvSpPr>
          <p:cNvPr id="11" name="Oval 10"/>
          <p:cNvSpPr/>
          <p:nvPr/>
        </p:nvSpPr>
        <p:spPr>
          <a:xfrm>
            <a:off x="777240" y="3081528"/>
            <a:ext cx="274320" cy="27432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E2124"/>
                </a:solidFill>
                <a:latin typeface="Yu Gothic"/>
              </a:rPr>
              <a:t>承認は全プロンプトの97%が『はい』</a:t>
            </a:r>
          </a:p>
        </p:txBody>
      </p:sp>
      <p:sp>
        <p:nvSpPr>
          <p:cNvPr id="13" name="Oval 12"/>
          <p:cNvSpPr/>
          <p:nvPr/>
        </p:nvSpPr>
        <p:spPr>
          <a:xfrm>
            <a:off x="777240" y="3630168"/>
            <a:ext cx="274320" cy="27432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4" name="TextBox 13"/>
          <p:cNvSpPr txBox="1"/>
          <p:nvPr/>
        </p:nvSpPr>
        <p:spPr>
          <a:xfrm>
            <a:off x="1188720" y="3611880"/>
            <a:ext cx="4404207" cy="548640"/>
          </a:xfrm>
          <a:prstGeom prst="rect">
            <a:avLst/>
          </a:prstGeom>
          <a:noFill/>
        </p:spPr>
        <p:txBody>
          <a:bodyPr wrap="square" anchor="t" lIns="0" rIns="0" tIns="0" bIns="0">
            <a:spAutoFit/>
          </a:bodyPr>
          <a:lstStyle/>
          <a:p>
            <a:pPr algn="l">
              <a:lnSpc>
                <a:spcPct val="110000"/>
              </a:lnSpc>
            </a:pPr>
            <a:r>
              <a:rPr sz="1400" b="0">
                <a:solidFill>
                  <a:srgbClr val="1E2124"/>
                </a:solidFill>
                <a:latin typeface="Yu Gothic"/>
              </a:rPr>
              <a:t>Anthropicは『反射的なクリック』と表現</a:t>
            </a:r>
          </a:p>
        </p:txBody>
      </p:sp>
      <p:sp>
        <p:nvSpPr>
          <p:cNvPr id="15" name="Rounded Rectangle 14"/>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78727" y="1554480"/>
            <a:ext cx="5455767" cy="42062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3A4750"/>
                </a:solidFill>
                <a:latin typeface="Yu Gothic"/>
              </a:rPr>
              <a:t>Auto Mode(2026年8月14日〜既定)</a:t>
            </a:r>
          </a:p>
        </p:txBody>
      </p:sp>
      <p:sp>
        <p:nvSpPr>
          <p:cNvPr id="18" name="Oval 17"/>
          <p:cNvSpPr/>
          <p:nvPr/>
        </p:nvSpPr>
        <p:spPr>
          <a:xfrm>
            <a:off x="6598767" y="2532888"/>
            <a:ext cx="274320" cy="27432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E2124"/>
                </a:solidFill>
                <a:latin typeface="Yu Gothic"/>
              </a:rPr>
              <a:t>一定の基準に該当しない操作は自動実行</a:t>
            </a:r>
          </a:p>
        </p:txBody>
      </p:sp>
      <p:sp>
        <p:nvSpPr>
          <p:cNvPr id="20" name="Oval 19"/>
          <p:cNvSpPr/>
          <p:nvPr/>
        </p:nvSpPr>
        <p:spPr>
          <a:xfrm>
            <a:off x="6598767" y="3081528"/>
            <a:ext cx="274320" cy="27432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1" name="TextBox 20"/>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E2124"/>
                </a:solidFill>
                <a:latin typeface="Yu Gothic"/>
              </a:rPr>
              <a:t>『不可逆的・破壊的・環境外』な操作のみ承認を求める</a:t>
            </a:r>
          </a:p>
        </p:txBody>
      </p:sp>
      <p:sp>
        <p:nvSpPr>
          <p:cNvPr id="22" name="Oval 21"/>
          <p:cNvSpPr/>
          <p:nvPr/>
        </p:nvSpPr>
        <p:spPr>
          <a:xfrm>
            <a:off x="6598767" y="3630168"/>
            <a:ext cx="274320" cy="27432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3" name="TextBox 22"/>
          <p:cNvSpPr txBox="1"/>
          <p:nvPr/>
        </p:nvSpPr>
        <p:spPr>
          <a:xfrm>
            <a:off x="7010247" y="3611880"/>
            <a:ext cx="4404207" cy="548640"/>
          </a:xfrm>
          <a:prstGeom prst="rect">
            <a:avLst/>
          </a:prstGeom>
          <a:noFill/>
        </p:spPr>
        <p:txBody>
          <a:bodyPr wrap="square" anchor="t" lIns="0" rIns="0" tIns="0" bIns="0">
            <a:spAutoFit/>
          </a:bodyPr>
          <a:lstStyle/>
          <a:p>
            <a:pPr algn="l">
              <a:lnSpc>
                <a:spcPct val="110000"/>
              </a:lnSpc>
            </a:pPr>
            <a:r>
              <a:rPr sz="1400" b="0">
                <a:solidFill>
                  <a:srgbClr val="1E2124"/>
                </a:solidFill>
                <a:latin typeface="Yu Gothic"/>
              </a:rPr>
              <a:t>Pro/Max/Teamの全アカウントが対象</a:t>
            </a:r>
          </a:p>
        </p:txBody>
      </p:sp>
      <p:sp>
        <p:nvSpPr>
          <p:cNvPr id="24" name="TextBox 2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TechCrunch(2026-08-09)ほか｜157本目</a:t>
            </a:r>
          </a:p>
        </p:txBody>
      </p:sp>
      <p:sp>
        <p:nvSpPr>
          <p:cNvPr id="25" name="TextBox 2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8 / 30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508"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Auto Modeが操作を判定する仕組み(概念図)</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3A4750"/>
                </a:solidFill>
                <a:latin typeface="Yu Gothic"/>
              </a:rPr>
              <a:t>操作をリクエスト</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6B7280"/>
                </a:solidFill>
                <a:latin typeface="Yu Gothic"/>
              </a:rPr>
              <a:t>コード編集・コマンド実行など</a:t>
            </a:r>
          </a:p>
        </p:txBody>
      </p:sp>
      <p:sp>
        <p:nvSpPr>
          <p:cNvPr id="10" name="Right Arrow 9"/>
          <p:cNvSpPr/>
          <p:nvPr/>
        </p:nvSpPr>
        <p:spPr>
          <a:xfrm>
            <a:off x="4157319" y="3108959"/>
            <a:ext cx="676656" cy="365760"/>
          </a:xfrm>
          <a:prstGeom prst="rightArrow">
            <a:avLst/>
          </a:prstGeom>
          <a:solidFill>
            <a:srgbClr val="E887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3A4750"/>
                </a:solidFill>
                <a:latin typeface="Yu Gothic"/>
              </a:rPr>
              <a:t>分類器が影響度を判定</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6B7280"/>
                </a:solidFill>
                <a:latin typeface="Yu Gothic"/>
              </a:rPr>
              <a:t>『不可逆的・破壊的・環境外』に該当するかを判定</a:t>
            </a:r>
          </a:p>
        </p:txBody>
      </p:sp>
      <p:sp>
        <p:nvSpPr>
          <p:cNvPr id="15" name="Right Arrow 14"/>
          <p:cNvSpPr/>
          <p:nvPr/>
        </p:nvSpPr>
        <p:spPr>
          <a:xfrm>
            <a:off x="7357719" y="3108959"/>
            <a:ext cx="676656" cy="365760"/>
          </a:xfrm>
          <a:prstGeom prst="rightArrow">
            <a:avLst/>
          </a:prstGeom>
          <a:solidFill>
            <a:srgbClr val="E887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3A4750"/>
                </a:solidFill>
                <a:latin typeface="Yu Gothic"/>
              </a:rPr>
              <a:t>自動実行 または 承認を要求</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6B7280"/>
                </a:solidFill>
                <a:latin typeface="Yu Gothic"/>
              </a:rPr>
              <a:t>該当しなければ自動実行、該当すれば人間の承認を求める</a:t>
            </a:r>
          </a:p>
        </p:txBody>
      </p:sp>
      <p:sp>
        <p:nvSpPr>
          <p:cNvPr id="20" name="TextBox 19"/>
          <p:cNvSpPr txBox="1"/>
          <p:nvPr/>
        </p:nvSpPr>
        <p:spPr>
          <a:xfrm>
            <a:off x="548640" y="4480560"/>
            <a:ext cx="11094415" cy="731520"/>
          </a:xfrm>
          <a:prstGeom prst="rect">
            <a:avLst/>
          </a:prstGeom>
          <a:noFill/>
        </p:spPr>
        <p:txBody>
          <a:bodyPr wrap="square" anchor="t" lIns="0" rIns="0" tIns="0" bIns="0">
            <a:spAutoFit/>
          </a:bodyPr>
          <a:lstStyle/>
          <a:p>
            <a:pPr algn="ctr">
              <a:lnSpc>
                <a:spcPct val="120000"/>
              </a:lnSpc>
            </a:pPr>
            <a:r>
              <a:rPr sz="1400" b="0">
                <a:solidFill>
                  <a:srgbClr val="6B7280"/>
                </a:solidFill>
                <a:latin typeface="Yu Gothic"/>
              </a:rPr>
              <a:t>判定基準の技術的な詳細(該当するコマンドの網羅的な一覧など)は本調査の範囲では確認できず、『不明』として扱う</a:t>
            </a:r>
          </a:p>
        </p:txBody>
      </p:sp>
      <p:sp>
        <p:nvSpPr>
          <p:cNvPr id="21" name="TextBox 20"/>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B7280"/>
                </a:solidFill>
                <a:latin typeface="Yu Gothic"/>
              </a:rPr>
              <a:t>出典: TechCrunch(2026-08-09)、The New Stack</a:t>
            </a:r>
          </a:p>
        </p:txBody>
      </p:sp>
      <p:sp>
        <p:nvSpPr>
          <p:cNvPr id="22" name="TextBox 2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TechCrunch(2026-08-09)ほか｜157本目</a:t>
            </a:r>
          </a:p>
        </p:txBody>
      </p:sp>
      <p:sp>
        <p:nvSpPr>
          <p:cNvPr id="23" name="TextBox 2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9 / 30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Auto Modeに関わる主な要素</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E8871E"/>
                </a:solidFill>
                <a:latin typeface="Yu Gothic"/>
              </a:rPr>
              <a:t>1</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3A4750"/>
                </a:solidFill>
                <a:latin typeface="Yu Gothic"/>
              </a:rPr>
              <a:t>分類による自動判定</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6B7280"/>
                </a:solidFill>
                <a:latin typeface="Yu Gothic"/>
              </a:rPr>
              <a:t>『不可逆的・破壊的・環境外』かどうかを分類器が判定する</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E8871E"/>
                </a:solidFill>
                <a:latin typeface="Yu Gothic"/>
              </a:rPr>
              <a:t>2</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3A4750"/>
                </a:solidFill>
                <a:latin typeface="Yu Gothic"/>
              </a:rPr>
              <a:t>追加の安全機能</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6B7280"/>
                </a:solidFill>
                <a:latin typeface="Yu Gothic"/>
              </a:rPr>
              <a:t>プロンプトインジェクション対策のスクリーニング、管理者が設定できる拒否ルールなど</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E8871E"/>
                </a:solidFill>
                <a:latin typeface="Yu Gothic"/>
              </a:rPr>
              <a:t>3</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3A4750"/>
                </a:solidFill>
                <a:latin typeface="Yu Gothic"/>
              </a:rPr>
              <a:t>対象プラン</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6B7280"/>
                </a:solidFill>
                <a:latin typeface="Yu Gothic"/>
              </a:rPr>
              <a:t>Pro・Max・Teamの全アカウントが2026年8月14日から対象</a:t>
            </a:r>
          </a:p>
        </p:txBody>
      </p:sp>
      <p:sp>
        <p:nvSpPr>
          <p:cNvPr id="21" name="TextBox 20"/>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B7280"/>
                </a:solidFill>
                <a:latin typeface="Yu Gothic"/>
              </a:rPr>
              <a:t>出典: TechCrunch(2026-08-09)、BigGo Finance</a:t>
            </a:r>
          </a:p>
        </p:txBody>
      </p:sp>
      <p:sp>
        <p:nvSpPr>
          <p:cNvPr id="22" name="TextBox 2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TechCrunch(2026-08-09)ほか｜157本目</a:t>
            </a:r>
          </a:p>
        </p:txBody>
      </p:sp>
      <p:sp>
        <p:nvSpPr>
          <p:cNvPr id="23" name="TextBox 2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10 / 30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23292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470288"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F5D9A8"/>
                </a:solidFill>
                <a:latin typeface="Yu Gothic"/>
              </a:rPr>
              <a:t>内部調査: Auto Modeの検知率</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E8871E"/>
                </a:solidFill>
                <a:latin typeface="Yu Gothic"/>
              </a:rPr>
              <a:t>89%</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1,053名の有償テスターを対象とした社内調査で、Auto Modeは有害な操作の89%を検知した</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D9A857"/>
                </a:solidFill>
                <a:latin typeface="Yu Gothic"/>
              </a:rPr>
              <a:t>出典: TechCrunch(2026-08-09)</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23292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876678"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F5D9A8"/>
                </a:solidFill>
                <a:latin typeface="Yu Gothic"/>
              </a:rPr>
              <a:t>内部調査: 人間レビューの検知率</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E8871E"/>
                </a:solidFill>
                <a:latin typeface="Yu Gothic"/>
              </a:rPr>
              <a:t>13.6%</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同じ調査で、人間によるレビューでは有害な操作の13.6%しか検知できなかった</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D9A857"/>
                </a:solidFill>
                <a:latin typeface="Yu Gothic"/>
              </a:rPr>
              <a:t>出典: TechCrunch(2026-08-09)、TECHi</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283067"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検知率の比較(1,053名の有償テスター調査)</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Chart 5"/>
          <p:cNvGraphicFramePr>
            <a:graphicFrameLocks noGrp="1"/>
          </p:cNvGraphicFramePr>
          <p:nvPr/>
        </p:nvGraphicFramePr>
        <p:xfrm>
          <a:off x="640080" y="1463040"/>
          <a:ext cx="10881360" cy="4297680"/>
        </p:xfrm>
        <a:graphic>
          <a:graphicData uri="http://schemas.openxmlformats.org/drawingml/2006/chart">
            <c:chart xmlns:c="http://schemas.openxmlformats.org/drawingml/2006/chart" r:id="rId2"/>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B7280"/>
                </a:solidFill>
                <a:latin typeface="Yu Gothic"/>
              </a:rPr>
              <a:t>出典: TechCrunch(2026-08-09)</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TechCrunch(2026-08-09)ほか｜157本目</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13 / 30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23292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689457"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F5D9A8"/>
                </a:solidFill>
                <a:latin typeface="Yu Gothic"/>
              </a:rPr>
              <a:t>全許可プロンプトの承認率</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E8871E"/>
                </a:solidFill>
                <a:latin typeface="Yu Gothic"/>
              </a:rPr>
              <a:t>97%</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Claude Codeユーザーは全許可プロンプトの97%を承認しており、Anthropicは従来の承認プロセスが『反射的なクリック』と化していたと指摘</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D9A857"/>
                </a:solidFill>
                <a:latin typeface="Yu Gothic"/>
              </a:rPr>
              <a:t>出典: TechCrunch(2026-08-09)</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095847"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なぜ人間レビューの検知率は低かったのか</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B7280"/>
                </a:solidFill>
                <a:latin typeface="Yu Gothic"/>
              </a:rPr>
              <a:t>Anthropicが挙げる理由です。</a:t>
            </a:r>
          </a:p>
        </p:txBody>
      </p:sp>
      <p:sp>
        <p:nvSpPr>
          <p:cNvPr id="7" name="Oval 6"/>
          <p:cNvSpPr/>
          <p:nvPr/>
        </p:nvSpPr>
        <p:spPr>
          <a:xfrm>
            <a:off x="457200" y="212140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ユーザーは全許可プロンプトの97%を『承認』しており、実質的に内容を精査していなかった可能性がある</a:t>
            </a:r>
          </a:p>
        </p:txBody>
      </p:sp>
      <p:sp>
        <p:nvSpPr>
          <p:cNvPr id="9" name="Oval 8"/>
          <p:cNvSpPr/>
          <p:nvPr/>
        </p:nvSpPr>
        <p:spPr>
          <a:xfrm>
            <a:off x="457200" y="289864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Anthropicはこの状態を『承認疲れ(approval fatigue)』による『反射的なクリック』と表現している</a:t>
            </a:r>
          </a:p>
        </p:txBody>
      </p:sp>
      <p:sp>
        <p:nvSpPr>
          <p:cNvPr id="11" name="Oval 10"/>
          <p:cNvSpPr/>
          <p:nvPr/>
        </p:nvSpPr>
        <p:spPr>
          <a:xfrm>
            <a:off x="457200" y="3675887"/>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毎回の承認プロンプトが、安全のためのチェックとして機能していなかったという指摘</a:t>
            </a:r>
          </a:p>
        </p:txBody>
      </p:sp>
      <p:sp>
        <p:nvSpPr>
          <p:cNvPr id="13" name="Oval 12"/>
          <p:cNvSpPr/>
          <p:nvPr/>
        </p:nvSpPr>
        <p:spPr>
          <a:xfrm>
            <a:off x="457200" y="4453127"/>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この解釈自体はAnthropic側の説明であり、第三者による独立検証は本調査の範囲では確認できていない</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B7280"/>
                </a:solidFill>
                <a:latin typeface="Yu Gothic"/>
              </a:rPr>
              <a:t>出典: TechCrunch(2026-08-09)</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TechCrunch(2026-08-09)ほか｜157本目</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15 / 30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23292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502237"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F5D9A8"/>
                </a:solidFill>
                <a:latin typeface="Yu Gothic"/>
              </a:rPr>
              <a:t>Auto Mode採用チームの変化</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E8871E"/>
                </a:solidFill>
                <a:latin typeface="Yu Gothic"/>
              </a:rPr>
              <a:t>PR数 約25%増加</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Auto Mode採用チームはプルリクエスト(PR)数が約25%増加したと報告されている(Anthropic社内データ。無作為化比較試験ではない点に留意)</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D9A857"/>
                </a:solidFill>
                <a:latin typeface="Yu Gothic"/>
              </a:rPr>
              <a:t>出典: Blockchain.News(WebSearch要約経由)</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23292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908627"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1828800"/>
            <a:ext cx="9966960" cy="2560320"/>
          </a:xfrm>
          <a:prstGeom prst="rect">
            <a:avLst/>
          </a:prstGeom>
          <a:noFill/>
        </p:spPr>
        <p:txBody>
          <a:bodyPr wrap="square" anchor="ctr" lIns="0" rIns="0" tIns="0" bIns="0">
            <a:spAutoFit/>
          </a:bodyPr>
          <a:lstStyle/>
          <a:p>
            <a:pPr algn="l">
              <a:lnSpc>
                <a:spcPct val="125000"/>
              </a:lnSpc>
            </a:pPr>
            <a:r>
              <a:rPr sz="2800" b="1">
                <a:solidFill>
                  <a:srgbClr val="FFFFFF"/>
                </a:solidFill>
                <a:latin typeface="Yu Gothic"/>
              </a:rPr>
              <a:t>“チームは何か月も前からAuto Modeのみを使っており、承認プロンプトに戻ることは考えられない。</a:t>
            </a:r>
          </a:p>
          <a:p>
            <a:pPr algn="l">
              <a:lnSpc>
                <a:spcPct val="125000"/>
              </a:lnSpc>
            </a:pPr>
            <a:r>
              <a:rPr sz="2800" b="1">
                <a:solidFill>
                  <a:srgbClr val="FFFFFF"/>
                </a:solidFill>
                <a:latin typeface="Yu Gothic"/>
              </a:rPr>
              <a:t>(The team and I use Auto mode exclusively, and have been for many months.)”</a:t>
            </a:r>
          </a:p>
        </p:txBody>
      </p:sp>
      <p:sp>
        <p:nvSpPr>
          <p:cNvPr id="5" name="TextBox 4"/>
          <p:cNvSpPr txBox="1"/>
          <p:nvPr/>
        </p:nvSpPr>
        <p:spPr>
          <a:xfrm>
            <a:off x="1097280" y="4572000"/>
            <a:ext cx="9966960" cy="548640"/>
          </a:xfrm>
          <a:prstGeom prst="rect">
            <a:avLst/>
          </a:prstGeom>
          <a:noFill/>
        </p:spPr>
        <p:txBody>
          <a:bodyPr wrap="square" anchor="t" lIns="0" rIns="0" tIns="0" bIns="0">
            <a:spAutoFit/>
          </a:bodyPr>
          <a:lstStyle/>
          <a:p>
            <a:pPr algn="l"/>
            <a:r>
              <a:rPr sz="1600" b="0">
                <a:solidFill>
                  <a:srgbClr val="F5D9A8"/>
                </a:solidFill>
                <a:latin typeface="Yu Gothic"/>
              </a:rPr>
              <a:t>— Boris Cherny氏(Claude Code責任者)、X投稿(TechCrunch(2026-08-09)経由)</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017"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Auto Modeをめぐる時系列</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3515258" cy="32918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2966618" cy="548640"/>
          </a:xfrm>
          <a:prstGeom prst="rect">
            <a:avLst/>
          </a:prstGeom>
          <a:noFill/>
        </p:spPr>
        <p:txBody>
          <a:bodyPr wrap="square" anchor="t" lIns="0" rIns="0" tIns="0" bIns="0">
            <a:spAutoFit/>
          </a:bodyPr>
          <a:lstStyle/>
          <a:p>
            <a:pPr algn="l"/>
            <a:r>
              <a:rPr sz="1600" b="1">
                <a:solidFill>
                  <a:srgbClr val="3A4750"/>
                </a:solidFill>
                <a:latin typeface="Yu Gothic"/>
              </a:rPr>
              <a:t>2026年3月</a:t>
            </a:r>
          </a:p>
        </p:txBody>
      </p:sp>
      <p:sp>
        <p:nvSpPr>
          <p:cNvPr id="10" name="TextBox 9"/>
          <p:cNvSpPr txBox="1"/>
          <p:nvPr/>
        </p:nvSpPr>
        <p:spPr>
          <a:xfrm>
            <a:off x="731520" y="3566160"/>
            <a:ext cx="2966618" cy="1280160"/>
          </a:xfrm>
          <a:prstGeom prst="rect">
            <a:avLst/>
          </a:prstGeom>
          <a:noFill/>
        </p:spPr>
        <p:txBody>
          <a:bodyPr wrap="square" anchor="t" lIns="0" rIns="0" tIns="0" bIns="0">
            <a:spAutoFit/>
          </a:bodyPr>
          <a:lstStyle/>
          <a:p>
            <a:pPr algn="l">
              <a:lnSpc>
                <a:spcPct val="115000"/>
              </a:lnSpc>
            </a:pPr>
            <a:r>
              <a:rPr sz="1200" b="0">
                <a:solidFill>
                  <a:srgbClr val="6B7280"/>
                </a:solidFill>
                <a:latin typeface="Yu Gothic"/>
              </a:rPr>
              <a:t>Teamプラン向けのリサーチプレビューとしてテスト版を初公開</a:t>
            </a:r>
          </a:p>
        </p:txBody>
      </p:sp>
      <p:sp>
        <p:nvSpPr>
          <p:cNvPr id="11" name="Chevron 10"/>
          <p:cNvSpPr/>
          <p:nvPr/>
        </p:nvSpPr>
        <p:spPr>
          <a:xfrm>
            <a:off x="4038295" y="3200400"/>
            <a:ext cx="234086" cy="365760"/>
          </a:xfrm>
          <a:prstGeom prst="chevron">
            <a:avLst/>
          </a:prstGeom>
          <a:solidFill>
            <a:srgbClr val="E887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83938"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38218" y="1737360"/>
            <a:ext cx="3515258" cy="32918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12538" y="2011680"/>
            <a:ext cx="640080" cy="64008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4612538" y="2926080"/>
            <a:ext cx="2966618" cy="548640"/>
          </a:xfrm>
          <a:prstGeom prst="rect">
            <a:avLst/>
          </a:prstGeom>
          <a:noFill/>
        </p:spPr>
        <p:txBody>
          <a:bodyPr wrap="square" anchor="t" lIns="0" rIns="0" tIns="0" bIns="0">
            <a:spAutoFit/>
          </a:bodyPr>
          <a:lstStyle/>
          <a:p>
            <a:pPr algn="l"/>
            <a:r>
              <a:rPr sz="1600" b="1">
                <a:solidFill>
                  <a:srgbClr val="3A4750"/>
                </a:solidFill>
                <a:latin typeface="Yu Gothic"/>
              </a:rPr>
              <a:t>2026年8月9日</a:t>
            </a:r>
          </a:p>
        </p:txBody>
      </p:sp>
      <p:sp>
        <p:nvSpPr>
          <p:cNvPr id="16" name="TextBox 15"/>
          <p:cNvSpPr txBox="1"/>
          <p:nvPr/>
        </p:nvSpPr>
        <p:spPr>
          <a:xfrm>
            <a:off x="4612538" y="3566160"/>
            <a:ext cx="2966618" cy="1280160"/>
          </a:xfrm>
          <a:prstGeom prst="rect">
            <a:avLst/>
          </a:prstGeom>
          <a:noFill/>
        </p:spPr>
        <p:txBody>
          <a:bodyPr wrap="square" anchor="t" lIns="0" rIns="0" tIns="0" bIns="0">
            <a:spAutoFit/>
          </a:bodyPr>
          <a:lstStyle/>
          <a:p>
            <a:pPr algn="l">
              <a:lnSpc>
                <a:spcPct val="115000"/>
              </a:lnSpc>
            </a:pPr>
            <a:r>
              <a:rPr sz="1200" b="0">
                <a:solidFill>
                  <a:srgbClr val="6B7280"/>
                </a:solidFill>
                <a:latin typeface="Yu Gothic"/>
              </a:rPr>
              <a:t>TechCrunchが、8/14からの既定化をAnthropicが発表したと報道</a:t>
            </a:r>
          </a:p>
        </p:txBody>
      </p:sp>
      <p:sp>
        <p:nvSpPr>
          <p:cNvPr id="17" name="Chevron 16"/>
          <p:cNvSpPr/>
          <p:nvPr/>
        </p:nvSpPr>
        <p:spPr>
          <a:xfrm>
            <a:off x="7919313" y="3200400"/>
            <a:ext cx="234086" cy="365760"/>
          </a:xfrm>
          <a:prstGeom prst="chevron">
            <a:avLst/>
          </a:prstGeom>
          <a:solidFill>
            <a:srgbClr val="E887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64956"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219236" y="1737360"/>
            <a:ext cx="3515258" cy="32918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93556" y="2011680"/>
            <a:ext cx="640080" cy="64008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8493556" y="2926080"/>
            <a:ext cx="2966618" cy="548640"/>
          </a:xfrm>
          <a:prstGeom prst="rect">
            <a:avLst/>
          </a:prstGeom>
          <a:noFill/>
        </p:spPr>
        <p:txBody>
          <a:bodyPr wrap="square" anchor="t" lIns="0" rIns="0" tIns="0" bIns="0">
            <a:spAutoFit/>
          </a:bodyPr>
          <a:lstStyle/>
          <a:p>
            <a:pPr algn="l"/>
            <a:r>
              <a:rPr sz="1600" b="1">
                <a:solidFill>
                  <a:srgbClr val="3A4750"/>
                </a:solidFill>
                <a:latin typeface="Yu Gothic"/>
              </a:rPr>
              <a:t>2026年8月14日</a:t>
            </a:r>
          </a:p>
        </p:txBody>
      </p:sp>
      <p:sp>
        <p:nvSpPr>
          <p:cNvPr id="22" name="TextBox 21"/>
          <p:cNvSpPr txBox="1"/>
          <p:nvPr/>
        </p:nvSpPr>
        <p:spPr>
          <a:xfrm>
            <a:off x="8493556" y="3566160"/>
            <a:ext cx="2966618" cy="1280160"/>
          </a:xfrm>
          <a:prstGeom prst="rect">
            <a:avLst/>
          </a:prstGeom>
          <a:noFill/>
        </p:spPr>
        <p:txBody>
          <a:bodyPr wrap="square" anchor="t" lIns="0" rIns="0" tIns="0" bIns="0">
            <a:spAutoFit/>
          </a:bodyPr>
          <a:lstStyle/>
          <a:p>
            <a:pPr algn="l">
              <a:lnSpc>
                <a:spcPct val="115000"/>
              </a:lnSpc>
            </a:pPr>
            <a:r>
              <a:rPr sz="1200" b="0">
                <a:solidFill>
                  <a:srgbClr val="6B7280"/>
                </a:solidFill>
                <a:latin typeface="Yu Gothic"/>
              </a:rPr>
              <a:t>Pro/Max/Teamの全アカウントでAuto Modeが既定設定になる予定</a:t>
            </a:r>
          </a:p>
        </p:txBody>
      </p:sp>
      <p:sp>
        <p:nvSpPr>
          <p:cNvPr id="23" name="TextBox 2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TechCrunch(2026-08-09)ほか｜157本目</a:t>
            </a:r>
          </a:p>
        </p:txBody>
      </p:sp>
      <p:sp>
        <p:nvSpPr>
          <p:cNvPr id="24" name="TextBox 2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18 / 30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21406"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Enterprise・APIアカウントの扱い</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B7280"/>
                </a:solidFill>
                <a:latin typeface="Yu Gothic"/>
              </a:rPr>
              <a:t>全アカウントが対象というわけではありません。</a:t>
            </a:r>
          </a:p>
        </p:txBody>
      </p:sp>
      <p:sp>
        <p:nvSpPr>
          <p:cNvPr id="7" name="Oval 6"/>
          <p:cNvSpPr/>
          <p:nvPr/>
        </p:nvSpPr>
        <p:spPr>
          <a:xfrm>
            <a:off x="457200" y="212140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今回の8/14既定化の対象は、Pro・Max・Teamプランのアカウント</a:t>
            </a:r>
          </a:p>
        </p:txBody>
      </p:sp>
      <p:sp>
        <p:nvSpPr>
          <p:cNvPr id="9" name="Oval 8"/>
          <p:cNvSpPr/>
          <p:nvPr/>
        </p:nvSpPr>
        <p:spPr>
          <a:xfrm>
            <a:off x="457200" y="289864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Enterprise・APIのアカウントは当面オプトイン(手動で有効化する方式)のまま据え置かれる</a:t>
            </a:r>
          </a:p>
        </p:txBody>
      </p:sp>
      <p:sp>
        <p:nvSpPr>
          <p:cNvPr id="11" name="Oval 10"/>
          <p:cNvSpPr/>
          <p:nvPr/>
        </p:nvSpPr>
        <p:spPr>
          <a:xfrm>
            <a:off x="457200" y="3675887"/>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Anthropicは、管理者が変更内容を確認する時間を確保したうえで、今後既定化の対象を広げる方針とされる</a:t>
            </a:r>
          </a:p>
        </p:txBody>
      </p:sp>
      <p:sp>
        <p:nvSpPr>
          <p:cNvPr id="13" name="Oval 12"/>
          <p:cNvSpPr/>
          <p:nvPr/>
        </p:nvSpPr>
        <p:spPr>
          <a:xfrm>
            <a:off x="457200" y="4453127"/>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拡大の正確な実施時期は本調査の範囲では確認できておらず、『不明』として扱う</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B7280"/>
                </a:solidFill>
                <a:latin typeface="Yu Gothic"/>
              </a:rPr>
              <a:t>出典: TechCrunch(2026-08-09)(WebSearch要約経由)</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TechCrunch(2026-08-09)ほか｜157本目</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19 / 30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6"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あわせて発表された追加の安全機能</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B7280"/>
                </a:solidFill>
                <a:latin typeface="Yu Gothic"/>
              </a:rPr>
              <a:t>既定化とあわせて強化されたとされる機能です。</a:t>
            </a:r>
          </a:p>
        </p:txBody>
      </p:sp>
      <p:sp>
        <p:nvSpPr>
          <p:cNvPr id="7" name="Oval 6"/>
          <p:cNvSpPr/>
          <p:nvPr/>
        </p:nvSpPr>
        <p:spPr>
          <a:xfrm>
            <a:off x="457200" y="212140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プロンプトインジェクション対策のスクリーニング機能</a:t>
            </a:r>
          </a:p>
        </p:txBody>
      </p:sp>
      <p:sp>
        <p:nvSpPr>
          <p:cNvPr id="9" name="Oval 8"/>
          <p:cNvSpPr/>
          <p:nvPr/>
        </p:nvSpPr>
        <p:spPr>
          <a:xfrm>
            <a:off x="457200" y="289864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管理者がカスタマイズできる『ハード拒否ルール(hard deny rules)』</a:t>
            </a:r>
          </a:p>
        </p:txBody>
      </p:sp>
      <p:sp>
        <p:nvSpPr>
          <p:cNvPr id="11" name="Oval 10"/>
          <p:cNvSpPr/>
          <p:nvPr/>
        </p:nvSpPr>
        <p:spPr>
          <a:xfrm>
            <a:off x="457200" y="3675887"/>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これらは既定化にあわせてAnthropicが展開しているとされる追加の安全対策</a:t>
            </a:r>
          </a:p>
        </p:txBody>
      </p:sp>
      <p:sp>
        <p:nvSpPr>
          <p:cNvPr id="13" name="Oval 12"/>
          <p:cNvSpPr/>
          <p:nvPr/>
        </p:nvSpPr>
        <p:spPr>
          <a:xfrm>
            <a:off x="457200" y="4453127"/>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各機能の技術的な詳細・適用範囲までは本調査の範囲では確認できていない</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B7280"/>
                </a:solidFill>
                <a:latin typeface="Yu Gothic"/>
              </a:rPr>
              <a:t>出典: BigGo Finance(WebSearch要約経由)</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TechCrunch(2026-08-09)ほか｜157本目</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20 / 30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確認できなかったこと(一覧)</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B7280"/>
                </a:solidFill>
                <a:latin typeface="Yu Gothic"/>
              </a:rPr>
              <a:t>正直に『不明』として扱う項目です。</a:t>
            </a:r>
          </a:p>
        </p:txBody>
      </p:sp>
      <p:sp>
        <p:nvSpPr>
          <p:cNvPr id="7" name="Oval 6"/>
          <p:cNvSpPr/>
          <p:nvPr/>
        </p:nvSpPr>
        <p:spPr>
          <a:xfrm>
            <a:off x="457200" y="212140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『不可逆的・破壊的・環境外に影響する』の具体的な判定基準の詳細</a:t>
            </a:r>
          </a:p>
        </p:txBody>
      </p:sp>
      <p:sp>
        <p:nvSpPr>
          <p:cNvPr id="9" name="Oval 8"/>
          <p:cNvSpPr/>
          <p:nvPr/>
        </p:nvSpPr>
        <p:spPr>
          <a:xfrm>
            <a:off x="457200" y="289864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2026年8月14日以降、ユーザーが既定設定を手動でオフに戻せるかどうか</a:t>
            </a:r>
          </a:p>
        </p:txBody>
      </p:sp>
      <p:sp>
        <p:nvSpPr>
          <p:cNvPr id="11" name="Oval 10"/>
          <p:cNvSpPr/>
          <p:nvPr/>
        </p:nvSpPr>
        <p:spPr>
          <a:xfrm>
            <a:off x="457200" y="3675887"/>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Auto Mode導入によるセキュリティインシデントの有無</a:t>
            </a:r>
          </a:p>
        </p:txBody>
      </p:sp>
      <p:sp>
        <p:nvSpPr>
          <p:cNvPr id="13" name="Oval 12"/>
          <p:cNvSpPr/>
          <p:nvPr/>
        </p:nvSpPr>
        <p:spPr>
          <a:xfrm>
            <a:off x="457200" y="4453127"/>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『約25%増加』の算出方法(比較対象・期間・統計的な検証手法)の詳細</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B7280"/>
                </a:solidFill>
                <a:latin typeface="Yu Gothic"/>
              </a:rPr>
              <a:t>出典: research.md参照</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TechCrunch(2026-08-09)ほか｜157本目</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21 / 30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940576"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これは開発者個人にとって何を意味するか</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E8871E"/>
                </a:solidFill>
                <a:latin typeface="Yu Gothic"/>
              </a:rPr>
              <a:t>変化</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3A4750"/>
                </a:solidFill>
                <a:latin typeface="Yu Gothic"/>
              </a:rPr>
              <a:t>承認の頻度が減る</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6B7280"/>
                </a:solidFill>
                <a:latin typeface="Yu Gothic"/>
              </a:rPr>
              <a:t>多くの操作で、逐一の承認ボタンを押す作業がなくなる可能性がある</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E8871E"/>
                </a:solidFill>
                <a:latin typeface="Yu Gothic"/>
              </a:rPr>
              <a:t>着目点</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3A4750"/>
                </a:solidFill>
                <a:latin typeface="Yu Gothic"/>
              </a:rPr>
              <a:t>『何が自動化されるか』の理解が必要</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6B7280"/>
                </a:solidFill>
                <a:latin typeface="Yu Gothic"/>
              </a:rPr>
              <a:t>自動実行される範囲を把握しないまま使うと、意図しない変更に気づきにくくなる</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E8871E"/>
                </a:solidFill>
                <a:latin typeface="Yu Gothic"/>
              </a:rPr>
              <a:t>注意</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3A4750"/>
                </a:solidFill>
                <a:latin typeface="Yu Gothic"/>
              </a:rPr>
              <a:t>設定の確認を</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6B7280"/>
                </a:solidFill>
                <a:latin typeface="Yu Gothic"/>
              </a:rPr>
              <a:t>既定設定がオフに戻せるかは不明なため、現状の設定を確認しておくことが考えられる</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TechCrunch(2026-08-09)ほか｜157本目</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22 / 30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346966"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これは開発チーム・企業にとって何を意味するか</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E8871E"/>
                </a:solidFill>
                <a:latin typeface="Yu Gothic"/>
              </a:rPr>
              <a:t>視点1</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3A4750"/>
                </a:solidFill>
                <a:latin typeface="Yu Gothic"/>
              </a:rPr>
              <a:t>開発速度への影響</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6B7280"/>
                </a:solidFill>
                <a:latin typeface="Yu Gothic"/>
              </a:rPr>
              <a:t>Auto Mode採用チームでPR数約25%増加という報告があるが、選択バイアスの可能性もある</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E8871E"/>
                </a:solidFill>
                <a:latin typeface="Yu Gothic"/>
              </a:rPr>
              <a:t>視点2</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3A4750"/>
                </a:solidFill>
                <a:latin typeface="Yu Gothic"/>
              </a:rPr>
              <a:t>ガバナンス設計の見直し</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6B7280"/>
                </a:solidFill>
                <a:latin typeface="Yu Gothic"/>
              </a:rPr>
              <a:t>『ハード拒否ルール』等、管理者側の設定・運用ルールの整備が必要になりうる</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E8871E"/>
                </a:solidFill>
                <a:latin typeface="Yu Gothic"/>
              </a:rPr>
              <a:t>視点3</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3A4750"/>
                </a:solidFill>
                <a:latin typeface="Yu Gothic"/>
              </a:rPr>
              <a:t>Enterprise/APIは当面現状維持</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6B7280"/>
                </a:solidFill>
                <a:latin typeface="Yu Gothic"/>
              </a:rPr>
              <a:t>大規模・高リスクな運用環境ではオプトインのままである点を踏まえた検討が考えられる</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TechCrunch(2026-08-09)ほか｜157本目</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23 / 30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753356"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賛否両論: 生産性向上の主張 / 自動化リスクへの懸念</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3A4750"/>
                </a:solidFill>
                <a:latin typeface="Yu Gothic"/>
              </a:rPr>
              <a:t>生産性向上を支持する見方</a:t>
            </a:r>
          </a:p>
        </p:txBody>
      </p:sp>
      <p:sp>
        <p:nvSpPr>
          <p:cNvPr id="9" name="Oval 8"/>
          <p:cNvSpPr/>
          <p:nvPr/>
        </p:nvSpPr>
        <p:spPr>
          <a:xfrm>
            <a:off x="777240" y="2532888"/>
            <a:ext cx="274320" cy="27432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E2124"/>
                </a:solidFill>
                <a:latin typeface="Yu Gothic"/>
              </a:rPr>
              <a:t>承認疲れによる形骸化した承認より高い検知率(89%)</a:t>
            </a:r>
          </a:p>
        </p:txBody>
      </p:sp>
      <p:sp>
        <p:nvSpPr>
          <p:cNvPr id="11" name="Oval 10"/>
          <p:cNvSpPr/>
          <p:nvPr/>
        </p:nvSpPr>
        <p:spPr>
          <a:xfrm>
            <a:off x="777240" y="3081528"/>
            <a:ext cx="274320" cy="27432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E2124"/>
                </a:solidFill>
                <a:latin typeface="Yu Gothic"/>
              </a:rPr>
              <a:t>PR数約25%増加という報告</a:t>
            </a:r>
          </a:p>
        </p:txBody>
      </p:sp>
      <p:sp>
        <p:nvSpPr>
          <p:cNvPr id="13" name="Oval 12"/>
          <p:cNvSpPr/>
          <p:nvPr/>
        </p:nvSpPr>
        <p:spPr>
          <a:xfrm>
            <a:off x="777240" y="3630168"/>
            <a:ext cx="274320" cy="27432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4" name="TextBox 13"/>
          <p:cNvSpPr txBox="1"/>
          <p:nvPr/>
        </p:nvSpPr>
        <p:spPr>
          <a:xfrm>
            <a:off x="1188720" y="3611880"/>
            <a:ext cx="4404207" cy="548640"/>
          </a:xfrm>
          <a:prstGeom prst="rect">
            <a:avLst/>
          </a:prstGeom>
          <a:noFill/>
        </p:spPr>
        <p:txBody>
          <a:bodyPr wrap="square" anchor="t" lIns="0" rIns="0" tIns="0" bIns="0">
            <a:spAutoFit/>
          </a:bodyPr>
          <a:lstStyle/>
          <a:p>
            <a:pPr algn="l">
              <a:lnSpc>
                <a:spcPct val="110000"/>
              </a:lnSpc>
            </a:pPr>
            <a:r>
              <a:rPr sz="1400" b="0">
                <a:solidFill>
                  <a:srgbClr val="1E2124"/>
                </a:solidFill>
                <a:latin typeface="Yu Gothic"/>
              </a:rPr>
              <a:t>責任者自身が『戻れない』と発言</a:t>
            </a:r>
          </a:p>
        </p:txBody>
      </p:sp>
      <p:sp>
        <p:nvSpPr>
          <p:cNvPr id="15" name="Rounded Rectangle 14"/>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78727" y="1554480"/>
            <a:ext cx="5455767" cy="42062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3A4750"/>
                </a:solidFill>
                <a:latin typeface="Yu Gothic"/>
              </a:rPr>
              <a:t>自動化リスクを懸念する見方</a:t>
            </a:r>
          </a:p>
        </p:txBody>
      </p:sp>
      <p:sp>
        <p:nvSpPr>
          <p:cNvPr id="18" name="Oval 17"/>
          <p:cNvSpPr/>
          <p:nvPr/>
        </p:nvSpPr>
        <p:spPr>
          <a:xfrm>
            <a:off x="6598767" y="2532888"/>
            <a:ext cx="274320" cy="27432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E2124"/>
                </a:solidFill>
                <a:latin typeface="Yu Gothic"/>
              </a:rPr>
              <a:t>判定基準の詳細が非公開で外部検証が難しい</a:t>
            </a:r>
          </a:p>
        </p:txBody>
      </p:sp>
      <p:sp>
        <p:nvSpPr>
          <p:cNvPr id="20" name="Oval 19"/>
          <p:cNvSpPr/>
          <p:nvPr/>
        </p:nvSpPr>
        <p:spPr>
          <a:xfrm>
            <a:off x="6598767" y="3081528"/>
            <a:ext cx="274320" cy="27432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1" name="TextBox 20"/>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E2124"/>
                </a:solidFill>
                <a:latin typeface="Yu Gothic"/>
              </a:rPr>
              <a:t>既定変更後にオフへ戻せるか不明</a:t>
            </a:r>
          </a:p>
        </p:txBody>
      </p:sp>
      <p:sp>
        <p:nvSpPr>
          <p:cNvPr id="22" name="Oval 21"/>
          <p:cNvSpPr/>
          <p:nvPr/>
        </p:nvSpPr>
        <p:spPr>
          <a:xfrm>
            <a:off x="6598767" y="3630168"/>
            <a:ext cx="274320" cy="27432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3" name="TextBox 22"/>
          <p:cNvSpPr txBox="1"/>
          <p:nvPr/>
        </p:nvSpPr>
        <p:spPr>
          <a:xfrm>
            <a:off x="7010247" y="3611880"/>
            <a:ext cx="4404207" cy="548640"/>
          </a:xfrm>
          <a:prstGeom prst="rect">
            <a:avLst/>
          </a:prstGeom>
          <a:noFill/>
        </p:spPr>
        <p:txBody>
          <a:bodyPr wrap="square" anchor="t" lIns="0" rIns="0" tIns="0" bIns="0">
            <a:spAutoFit/>
          </a:bodyPr>
          <a:lstStyle/>
          <a:p>
            <a:pPr algn="l">
              <a:lnSpc>
                <a:spcPct val="110000"/>
              </a:lnSpc>
            </a:pPr>
            <a:r>
              <a:rPr sz="1400" b="0">
                <a:solidFill>
                  <a:srgbClr val="1E2124"/>
                </a:solidFill>
                <a:latin typeface="Yu Gothic"/>
              </a:rPr>
              <a:t>セキュリティインシデントの有無が未確認</a:t>
            </a:r>
          </a:p>
        </p:txBody>
      </p:sp>
      <p:sp>
        <p:nvSpPr>
          <p:cNvPr id="24" name="TextBox 2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TechCrunch(2026-08-09)ほか｜157本目</a:t>
            </a:r>
          </a:p>
        </p:txBody>
      </p:sp>
      <p:sp>
        <p:nvSpPr>
          <p:cNvPr id="25" name="TextBox 2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24 / 30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159746"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本テーマの扱い方についての注記</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B7280"/>
                </a:solidFill>
                <a:latin typeface="Yu Gothic"/>
              </a:rPr>
              <a:t>本シリーズとClaude Codeの関係について、正直に開示します。</a:t>
            </a:r>
          </a:p>
        </p:txBody>
      </p:sp>
      <p:sp>
        <p:nvSpPr>
          <p:cNvPr id="7" name="Oval 6"/>
          <p:cNvSpPr/>
          <p:nvPr/>
        </p:nvSpPr>
        <p:spPr>
          <a:xfrm>
            <a:off x="457200" y="212140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本シリーズ(AI Company OS)自体が、Claude Codeを使って制作・運用されている</a:t>
            </a:r>
          </a:p>
        </p:txBody>
      </p:sp>
      <p:sp>
        <p:nvSpPr>
          <p:cNvPr id="9" name="Oval 8"/>
          <p:cNvSpPr/>
          <p:nvPr/>
        </p:nvSpPr>
        <p:spPr>
          <a:xfrm>
            <a:off x="457200" y="289864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そのため本テーマは、本シリーズ制作AI自身に関わる製品の発表を扱っている</a:t>
            </a:r>
          </a:p>
        </p:txBody>
      </p:sp>
      <p:sp>
        <p:nvSpPr>
          <p:cNvPr id="11" name="Oval 10"/>
          <p:cNvSpPr/>
          <p:nvPr/>
        </p:nvSpPr>
        <p:spPr>
          <a:xfrm>
            <a:off x="457200" y="3675887"/>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自己宣伝・過度な好意的評価にならないよう、生産性向上の主張と自動化リスクへの懸念の両方を中立的に扱った(前スライド参照)</a:t>
            </a:r>
          </a:p>
        </p:txBody>
      </p:sp>
      <p:sp>
        <p:nvSpPr>
          <p:cNvPr id="13" name="Oval 12"/>
          <p:cNvSpPr/>
          <p:nvPr/>
        </p:nvSpPr>
        <p:spPr>
          <a:xfrm>
            <a:off x="457200" y="4453127"/>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『Claude Codeを使うべき』等、特定企業・製品の利用を強く推奨する結論にはしていない</a:t>
            </a:r>
          </a:p>
        </p:txBody>
      </p:sp>
      <p:sp>
        <p:nvSpPr>
          <p:cNvPr id="15" name="TextBox 14"/>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TechCrunch(2026-08-09)ほか｜157本目</a:t>
            </a:r>
          </a:p>
        </p:txBody>
      </p:sp>
      <p:sp>
        <p:nvSpPr>
          <p:cNvPr id="16" name="TextBox 15"/>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25 / 30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566135"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今後の展開(推測、概念図)</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3A4750"/>
                </a:solidFill>
                <a:latin typeface="Yu Gothic"/>
              </a:rPr>
              <a:t>現在(2026年8月〜)</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6B7280"/>
                </a:solidFill>
                <a:latin typeface="Yu Gothic"/>
              </a:rPr>
              <a:t>Pro/Max/TeamでAuto Modeが既定化</a:t>
            </a:r>
          </a:p>
        </p:txBody>
      </p:sp>
      <p:sp>
        <p:nvSpPr>
          <p:cNvPr id="10" name="Right Arrow 9"/>
          <p:cNvSpPr/>
          <p:nvPr/>
        </p:nvSpPr>
        <p:spPr>
          <a:xfrm>
            <a:off x="4157319" y="3108959"/>
            <a:ext cx="676656" cy="365760"/>
          </a:xfrm>
          <a:prstGeom prst="rightArrow">
            <a:avLst/>
          </a:prstGeom>
          <a:solidFill>
            <a:srgbClr val="E887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3A4750"/>
                </a:solidFill>
                <a:latin typeface="Yu Gothic"/>
              </a:rPr>
              <a:t>今後(推測)</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6B7280"/>
                </a:solidFill>
                <a:latin typeface="Yu Gothic"/>
              </a:rPr>
              <a:t>Enterprise・APIにも既定化が拡大される可能性</a:t>
            </a:r>
          </a:p>
        </p:txBody>
      </p:sp>
      <p:sp>
        <p:nvSpPr>
          <p:cNvPr id="15" name="Right Arrow 14"/>
          <p:cNvSpPr/>
          <p:nvPr/>
        </p:nvSpPr>
        <p:spPr>
          <a:xfrm>
            <a:off x="7357719" y="3108959"/>
            <a:ext cx="676656" cy="365760"/>
          </a:xfrm>
          <a:prstGeom prst="rightArrow">
            <a:avLst/>
          </a:prstGeom>
          <a:solidFill>
            <a:srgbClr val="E887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3A4750"/>
                </a:solidFill>
                <a:latin typeface="Yu Gothic"/>
              </a:rPr>
              <a:t>将来像(推測)</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6B7280"/>
                </a:solidFill>
                <a:latin typeface="Yu Gothic"/>
              </a:rPr>
              <a:t>他のAIコーディングツールでも同様の自動化の既定化が進む可能性</a:t>
            </a:r>
          </a:p>
        </p:txBody>
      </p:sp>
      <p:sp>
        <p:nvSpPr>
          <p:cNvPr id="20" name="TextBox 19"/>
          <p:cNvSpPr txBox="1"/>
          <p:nvPr/>
        </p:nvSpPr>
        <p:spPr>
          <a:xfrm>
            <a:off x="548640" y="4480560"/>
            <a:ext cx="11094415" cy="731520"/>
          </a:xfrm>
          <a:prstGeom prst="rect">
            <a:avLst/>
          </a:prstGeom>
          <a:noFill/>
        </p:spPr>
        <p:txBody>
          <a:bodyPr wrap="square" anchor="t" lIns="0" rIns="0" tIns="0" bIns="0">
            <a:spAutoFit/>
          </a:bodyPr>
          <a:lstStyle/>
          <a:p>
            <a:pPr algn="ctr">
              <a:lnSpc>
                <a:spcPct val="120000"/>
              </a:lnSpc>
            </a:pPr>
            <a:r>
              <a:rPr sz="1400" b="0">
                <a:solidFill>
                  <a:srgbClr val="6B7280"/>
                </a:solidFill>
                <a:latin typeface="Yu Gothic"/>
              </a:rPr>
              <a:t>この図は当社の推測であり、Anthropicや業界の公式な見通しそのものではない</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TechCrunch(2026-08-09)ほか｜157本目</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26 / 30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525"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今後、論点になりうる点(推測)</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E8871E"/>
                </a:solidFill>
                <a:latin typeface="Yu Gothic"/>
              </a:rPr>
              <a:t>推測</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3A4750"/>
                </a:solidFill>
                <a:latin typeface="Yu Gothic"/>
              </a:rPr>
              <a:t>判定基準の透明性</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6B7280"/>
                </a:solidFill>
                <a:latin typeface="Yu Gothic"/>
              </a:rPr>
              <a:t>『不可逆的・破壊的』の基準がどこまで公開されるか</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E8871E"/>
                </a:solidFill>
                <a:latin typeface="Yu Gothic"/>
              </a:rPr>
              <a:t>推測</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3A4750"/>
                </a:solidFill>
                <a:latin typeface="Yu Gothic"/>
              </a:rPr>
              <a:t>セキュリティ事例の有無</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6B7280"/>
                </a:solidFill>
                <a:latin typeface="Yu Gothic"/>
              </a:rPr>
              <a:t>導入後にインシデントが報告されるかどうか</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E8871E"/>
                </a:solidFill>
                <a:latin typeface="Yu Gothic"/>
              </a:rPr>
              <a:t>推測</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3A4750"/>
                </a:solidFill>
                <a:latin typeface="Yu Gothic"/>
              </a:rPr>
              <a:t>他社の追随</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6B7280"/>
                </a:solidFill>
                <a:latin typeface="Yu Gothic"/>
              </a:rPr>
              <a:t>他のAIコーディングツールでも同様の既定変更が起きるかどうか</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TechCrunch(2026-08-09)ほか｜157本目</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27 / 30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23292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378915"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F5D9A8"/>
                </a:solidFill>
                <a:latin typeface="Yu Gothic"/>
              </a:rPr>
              <a:t>まとめ</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E8871E"/>
                </a:solidFill>
                <a:latin typeface="Yu Gothic"/>
              </a:rPr>
              <a:t>2026/8/14 既定化</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Claude CodeのPro/Max/Team全アカウントでAuto Modeが既定設定になる。89%対13.6%・97%・25%という数字が示された一方、判定基準の詳細・オフに戻せるかどうか・セキュリティインシデントの有無は非公表</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D9A857"/>
                </a:solidFill>
                <a:latin typeface="Yu Gothic"/>
              </a:rPr>
              <a:t>出典: TechCrunch(2026-08-09)ほか</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785305"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主な出典一覧</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メディア</a:t>
                      </a:r>
                    </a:p>
                  </a:txBody>
                  <a:tcPr>
                    <a:solidFill>
                      <a:srgbClr val="3A4750"/>
                    </a:solidFill>
                  </a:tcPr>
                </a:tc>
                <a:tc>
                  <a:txBody>
                    <a:bodyPr/>
                    <a:lstStyle/>
                    <a:p>
                      <a:pPr>
                        <a:defRPr sz="1300" b="1">
                          <a:solidFill>
                            <a:srgbClr val="FFFFFF"/>
                          </a:solidFill>
                          <a:latin typeface="Yu Gothic"/>
                        </a:defRPr>
                      </a:pPr>
                      <a:r>
                        <a:t>内容</a:t>
                      </a:r>
                    </a:p>
                  </a:txBody>
                  <a:tcPr>
                    <a:solidFill>
                      <a:srgbClr val="3A4750"/>
                    </a:solidFill>
                  </a:tcPr>
                </a:tc>
              </a:tr>
              <a:tr h="502920">
                <a:tc>
                  <a:txBody>
                    <a:bodyPr/>
                    <a:lstStyle/>
                    <a:p>
                      <a:pPr>
                        <a:defRPr sz="1200">
                          <a:solidFill>
                            <a:srgbClr val="1E2124"/>
                          </a:solidFill>
                          <a:latin typeface="Yu Gothic"/>
                        </a:defRPr>
                      </a:pPr>
                      <a:r>
                        <a:t>TechCrunch(2026-08-09)</a:t>
                      </a:r>
                    </a:p>
                  </a:txBody>
                  <a:tcPr>
                    <a:solidFill>
                      <a:srgbClr val="FFFFFF"/>
                    </a:solidFill>
                  </a:tcPr>
                </a:tc>
                <a:tc>
                  <a:txBody>
                    <a:bodyPr/>
                    <a:lstStyle/>
                    <a:p>
                      <a:pPr>
                        <a:defRPr sz="1200">
                          <a:solidFill>
                            <a:srgbClr val="1E2124"/>
                          </a:solidFill>
                          <a:latin typeface="Yu Gothic"/>
                        </a:defRPr>
                      </a:pPr>
                      <a:r>
                        <a:t>発表内容・数字を詳しく報じる記事</a:t>
                      </a:r>
                    </a:p>
                  </a:txBody>
                  <a:tcPr>
                    <a:solidFill>
                      <a:srgbClr val="FFFFFF"/>
                    </a:solidFill>
                  </a:tcPr>
                </a:tc>
              </a:tr>
              <a:tr h="502920">
                <a:tc>
                  <a:txBody>
                    <a:bodyPr/>
                    <a:lstStyle/>
                    <a:p>
                      <a:pPr>
                        <a:defRPr sz="1200">
                          <a:solidFill>
                            <a:srgbClr val="1E2124"/>
                          </a:solidFill>
                          <a:latin typeface="Yu Gothic"/>
                        </a:defRPr>
                      </a:pPr>
                      <a:r>
                        <a:t>The Decoder / TECHi</a:t>
                      </a:r>
                    </a:p>
                  </a:txBody>
                  <a:tcPr>
                    <a:solidFill>
                      <a:srgbClr val="F7F4EF"/>
                    </a:solidFill>
                  </a:tcPr>
                </a:tc>
                <a:tc>
                  <a:txBody>
                    <a:bodyPr/>
                    <a:lstStyle/>
                    <a:p>
                      <a:pPr>
                        <a:defRPr sz="1200">
                          <a:solidFill>
                            <a:srgbClr val="1E2124"/>
                          </a:solidFill>
                          <a:latin typeface="Yu Gothic"/>
                        </a:defRPr>
                      </a:pPr>
                      <a:r>
                        <a:t>同内容を裏付ける報道</a:t>
                      </a:r>
                    </a:p>
                  </a:txBody>
                  <a:tcPr>
                    <a:solidFill>
                      <a:srgbClr val="F7F4EF"/>
                    </a:solidFill>
                  </a:tcPr>
                </a:tc>
              </a:tr>
              <a:tr h="502920">
                <a:tc>
                  <a:txBody>
                    <a:bodyPr/>
                    <a:lstStyle/>
                    <a:p>
                      <a:pPr>
                        <a:defRPr sz="1200">
                          <a:solidFill>
                            <a:srgbClr val="1E2124"/>
                          </a:solidFill>
                          <a:latin typeface="Yu Gothic"/>
                        </a:defRPr>
                      </a:pPr>
                      <a:r>
                        <a:t>BigGo Finance / The New Stack</a:t>
                      </a:r>
                    </a:p>
                  </a:txBody>
                  <a:tcPr>
                    <a:solidFill>
                      <a:srgbClr val="FFFFFF"/>
                    </a:solidFill>
                  </a:tcPr>
                </a:tc>
                <a:tc>
                  <a:txBody>
                    <a:bodyPr/>
                    <a:lstStyle/>
                    <a:p>
                      <a:pPr>
                        <a:defRPr sz="1200">
                          <a:solidFill>
                            <a:srgbClr val="1E2124"/>
                          </a:solidFill>
                          <a:latin typeface="Yu Gothic"/>
                        </a:defRPr>
                      </a:pPr>
                      <a:r>
                        <a:t>追加の安全機能・判定基準に関する報道</a:t>
                      </a:r>
                    </a:p>
                  </a:txBody>
                  <a:tcPr>
                    <a:solidFill>
                      <a:srgbClr val="FFFFFF"/>
                    </a:solidFill>
                  </a:tcPr>
                </a:tc>
              </a:tr>
              <a:tr h="502920">
                <a:tc>
                  <a:txBody>
                    <a:bodyPr/>
                    <a:lstStyle/>
                    <a:p>
                      <a:pPr>
                        <a:defRPr sz="1200">
                          <a:solidFill>
                            <a:srgbClr val="1E2124"/>
                          </a:solidFill>
                          <a:latin typeface="Yu Gothic"/>
                        </a:defRPr>
                      </a:pPr>
                      <a:r>
                        <a:t>Mezha / EGamers.io</a:t>
                      </a:r>
                    </a:p>
                  </a:txBody>
                  <a:tcPr>
                    <a:solidFill>
                      <a:srgbClr val="F7F4EF"/>
                    </a:solidFill>
                  </a:tcPr>
                </a:tc>
                <a:tc>
                  <a:txBody>
                    <a:bodyPr/>
                    <a:lstStyle/>
                    <a:p>
                      <a:pPr>
                        <a:defRPr sz="1200">
                          <a:solidFill>
                            <a:srgbClr val="1E2124"/>
                          </a:solidFill>
                          <a:latin typeface="Yu Gothic"/>
                        </a:defRPr>
                      </a:pPr>
                      <a:r>
                        <a:t>同内容を裏付ける報道</a:t>
                      </a:r>
                    </a:p>
                  </a:txBody>
                  <a:tcPr>
                    <a:solidFill>
                      <a:srgbClr val="F7F4EF"/>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TechCrunch(2026-08-09)ほか｜157本目</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29 / 30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23292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1064240" cy="1463040"/>
          </a:xfrm>
          <a:prstGeom prst="rect">
            <a:avLst/>
          </a:prstGeom>
          <a:noFill/>
        </p:spPr>
        <p:txBody>
          <a:bodyPr wrap="square" anchor="t" lIns="0" rIns="0" tIns="0" bIns="0">
            <a:spAutoFit/>
          </a:bodyPr>
          <a:lstStyle/>
          <a:p>
            <a:pPr algn="l">
              <a:lnSpc>
                <a:spcPct val="115000"/>
              </a:lnSpc>
            </a:pPr>
            <a:r>
              <a:rPr sz="3600" b="1">
                <a:solidFill>
                  <a:srgbClr val="FFFFFF"/>
                </a:solidFill>
                <a:latin typeface="Yu Gothic"/>
              </a:rPr>
              <a:t>承認は、人間からアルゴリズムへ。次に問われるのは、その基準の中身だ。</a:t>
            </a:r>
          </a:p>
        </p:txBody>
      </p:sp>
      <p:sp>
        <p:nvSpPr>
          <p:cNvPr id="5" name="TextBox 4"/>
          <p:cNvSpPr txBox="1"/>
          <p:nvPr/>
        </p:nvSpPr>
        <p:spPr>
          <a:xfrm>
            <a:off x="548640" y="3291840"/>
            <a:ext cx="10515600" cy="914400"/>
          </a:xfrm>
          <a:prstGeom prst="rect">
            <a:avLst/>
          </a:prstGeom>
          <a:noFill/>
        </p:spPr>
        <p:txBody>
          <a:bodyPr wrap="square" anchor="t" lIns="0" rIns="0" tIns="0" bIns="0">
            <a:spAutoFit/>
          </a:bodyPr>
          <a:lstStyle/>
          <a:p>
            <a:pPr algn="l">
              <a:lnSpc>
                <a:spcPct val="120000"/>
              </a:lnSpc>
            </a:pPr>
            <a:r>
              <a:rPr sz="1800" b="0">
                <a:solidFill>
                  <a:srgbClr val="F5D9A8"/>
                </a:solidFill>
                <a:latin typeface="Yu Gothic"/>
              </a:rPr>
              <a:t>判定基準の詳細やセキュリティ事例が明らかになれば、続報として出典付きでお届けします。</a:t>
            </a:r>
          </a:p>
        </p:txBody>
      </p:sp>
      <p:sp>
        <p:nvSpPr>
          <p:cNvPr id="6" name="Rounded Rectangle 5"/>
          <p:cNvSpPr/>
          <p:nvPr/>
        </p:nvSpPr>
        <p:spPr>
          <a:xfrm>
            <a:off x="594360" y="4626864"/>
            <a:ext cx="7315200" cy="1005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4572000"/>
            <a:ext cx="7315200" cy="10058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828032"/>
            <a:ext cx="6766560" cy="548640"/>
          </a:xfrm>
          <a:prstGeom prst="rect">
            <a:avLst/>
          </a:prstGeom>
          <a:noFill/>
        </p:spPr>
        <p:txBody>
          <a:bodyPr wrap="square" anchor="t" lIns="0" rIns="0" tIns="0" bIns="0">
            <a:spAutoFit/>
          </a:bodyPr>
          <a:lstStyle/>
          <a:p>
            <a:pPr algn="l"/>
            <a:r>
              <a:rPr sz="1800" b="1">
                <a:solidFill>
                  <a:srgbClr val="3A4750"/>
                </a:solidFill>
                <a:latin typeface="Yu Gothic"/>
              </a:rPr>
              <a:t>research.mdで出典一覧・確認できなかったことの詳細を確認する</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