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十年、いや中には80年近く、世界中の数学者が挑んでも解けなかった問題があります。それを、たった数千円のコストで解いてしまったAIモデルが登場しました。今日はこの発表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まず数字から。OpenAIの内部モデル『Astra』が、10の分野にまたがる未解決問題を解いたと発表されました。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今日はこの5つの流れでお伝えします。衝撃的な数字ですが、何が確かで何がまだ議論の途中なのかも丁寧に見ていきます。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発表内容を整理すると、この5点になります。証明を機械的に検証できる形で公開している点がポイントです。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驚くべきはコストです。10問すべてを解くのにかかったコストは、Sol APIの料金換算でおよそ2,000ドル、日本円で数十万円ほどとされています。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代表的な成果を3つ紹介します。中でも非モジュラー群の構成は、27年ぶりの成果とされています。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流れを図にするとこうです。AIが解くだけでなく、誰でも確認できる形式で証明を公開している点が重要です。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Lean形式の証明が重要なのは、AI任せにせず、誰でも独立に確認できるからです。未証明の箇所はゼロと報告されています。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公開資料を整理するとこの3点です。かなりのボリュームの資料が、検証可能な形で公開されています。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数学者からの反応も紹介します。Erdős問題カタログを管理するThomas Bloom氏は、今回の成果を『大きなニュースだ』と評価しています。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特に注目されているのが、27年間誰も構成できなかった非モジュラー群を、明示的に構成できた点です。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研究の流れを見ると、3ヶ月前にも似た成果があったことが分かります。今回はその延長線上にある、より大規模な成果です。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解いた問題は幅広い分野にまたがっています。1つの得意分野に偏らず、複数の異なる数学分野で成果を出している点が特徴です。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反応は一様ではありません。歓迎する声、警戒する声、そして評価を保留する声が入り混じっています。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この2つは対立するものではなく補完関係にあると考えられます。ただし、数学界が正式にどう受け止めるかは、まだこれからの話です。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正直にお伝えします。この発表は2日前のものです。基準よりわずかに外れますが、これまでの妥協よりは大きく改善できています。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この4点は、今回の調査で確認できなかった事項として一覧化しました。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ここは特に慎重にお伝えしたい点です。コストの数字も、モデルの公開状況も、正しく理解しておく必要があります。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実は3ヶ月前にも、OpenAIの別のモデルが似た成果を出しています。今回の成果は、その延長線上にあるものです。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ここからは当社の推測です。研究の高速化、検証ツールの普及、査読プロセスの模索という3つの変化が考えられます。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Astraは今のところ、研究成果を示す段階の内部モデルです。一般に公開されるかどうか、時期も含めて明らかにされていません。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この発表から見えてくることを、当社の推測としてまとめました。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衝撃的な成果ですが、これで数学研究のすべてが変わったわけではありません。何が変わり、何が変わっていないかを整理しました。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実は同じ日に、OpenAIに関するもう一つのテーマも取り上げています。1つはリスク、こちらは成果という、対照的な話です。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衝撃的な数字の裏側にある事実と、まだ議論の途中の部分を分けてお伝えすることを、今回も意識しました。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最後にもう一度確認します。10の未解決問題、コストはおよそ2,000ドル。ただし内部版のモデルによる成果であることも、あわせて覚えておいてください。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最後にもう一つ。公開された証明ファイルには、未証明の箇所を示す『sorry』が一つもないと報告されています。それだけ、検証可能な形にこだわった発表だということです。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今後注目したいポイントを3つ挙げました。この話題は、まだ始まったばかりです。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本編は以上です。今回はOpenAIの内部モデルAstraによる数学未解決問題10問の解決を題材に、成果の内容と、鮮度・査読をめぐる正直な報告についてお伝えしました。次回もまた出典付きでお届けします。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人類が80年かけても解けなかった問題を、</a:t>
            </a:r>
          </a:p>
          <a:p>
            <a:pPr algn="l">
              <a:lnSpc>
                <a:spcPct val="115000"/>
              </a:lnSpc>
            </a:pPr>
            <a:r>
              <a:rPr sz="4200" b="1">
                <a:solidFill>
                  <a:srgbClr val="FFFFFF"/>
                </a:solidFill>
                <a:latin typeface="Yu Gothic"/>
              </a:rPr>
              <a:t>AIはコーヒー代で解いた。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OpenAIの内部モデル「Astra」が発表した数学未解決問題10問の解決(2026年8月1日発表)を、出典付きで振り返る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TechTimes・SiliconANGLE・TheNextWeb ほか。発表日は着手日の2日前。</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解決した未解決問題の数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10問</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群論・フォン・ノイマン環・高次元幾何学・量子計算複雑性・格子暗号・極値組合せ論にまたがる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explainx.ai(2026-08-01発表)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何が発表されたのか(10問の内容・検証方法)</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『たった2,000ドル』の意味と注意点</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27年ぶりの成果とその位置づけ</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数学者コミュニティの反応</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読み解く上での注意点・確認できなかったこと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発表の概要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2026年8月1日、OpenAIの発表のポイントです。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内部モデル『Astra』が数学・理論計算機科学の未解決問題10問を解決</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各成果にLean 4形式の機械検証可能な証明ファイルを添付</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249ページの技術マニュアル、62ページの解法の経緯報告を公開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証明ファイル一式をGitHubでApache 2.0ライセンス公開</a:t>
            </a:r>
          </a:p>
        </p:txBody>
      </p:sp>
      <p:sp>
        <p:nvSpPr>
          <p:cNvPr id="15" name="Oval 14"/>
          <p:cNvSpPr/>
          <p:nvPr/>
        </p:nvSpPr>
        <p:spPr>
          <a:xfrm>
            <a:off x="457200" y="523036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Astraは内部版であり、外部の第三者はこのモデル自体を操作できない</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TechTimes / explainx.ai(2026-08-01)</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総コストの試算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約$2,000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10問すべての解を見つけるための総トークンコスト(Sol API料金換算、OpenAI試算)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explainx.ai / Cryptonomist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代表的な成果3つ</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27年ぶり</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非モジュラー群の構成</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non-sofic groupの明示的な構成に成功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反証</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Connes剛性予想</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同一のフォン・ノイマン環を共有する無限個の非同型群を構成</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証明</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Ehrhart体積予想</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高次元幾何学の予想を証明</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explainx.ai / Pondero</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発表から検証までの流れ(概念図)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Astraが問題を解く</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内部モデル、未公開</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Lean 4形式の証明を生成</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機械検証可能な形式</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GitHubで公開・第三者が検証可能に</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誰でもLeanコンパイラで確認できる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AIが証明を生成するだけでなく、機械的に検証できる形で公開している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なぜLean形式の証明が重要なのか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数学界の懸念に対応する仕組みです。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AIが生成した証明は、これまで『独立に検証しにくい』という懸念があった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Lean形式の証明はコンパイラで機械的に検証できる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モデルやOpenAIを信頼せずとも、証明の論理的な整合性を確認できる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公開された証明ファイルの『sorry』件数(未証明箇所)はゼロと報告されている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explainx.ai / kingy.ai</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公開された資料一覧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資料</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技術マニュアル</a:t>
                      </a:r>
                    </a:p>
                  </a:txBody>
                  <a:tcPr>
                    <a:solidFill>
                      <a:srgbClr val="FFFFFF"/>
                    </a:solidFill>
                  </a:tcPr>
                </a:tc>
                <a:tc>
                  <a:txBody>
                    <a:bodyPr/>
                    <a:lstStyle/>
                    <a:p>
                      <a:pPr>
                        <a:defRPr sz="1200">
                          <a:solidFill>
                            <a:srgbClr val="20261F"/>
                          </a:solidFill>
                          <a:latin typeface="Yu Gothic"/>
                        </a:defRPr>
                      </a:pPr>
                      <a:r>
                        <a:t>249ページ、10問の解法を詳述</a:t>
                      </a:r>
                    </a:p>
                  </a:txBody>
                  <a:tcPr>
                    <a:solidFill>
                      <a:srgbClr val="FFFFFF"/>
                    </a:solidFill>
                  </a:tcPr>
                </a:tc>
              </a:tr>
              <a:tr h="502920">
                <a:tc>
                  <a:txBody>
                    <a:bodyPr/>
                    <a:lstStyle/>
                    <a:p>
                      <a:pPr>
                        <a:defRPr sz="1200">
                          <a:solidFill>
                            <a:srgbClr val="20261F"/>
                          </a:solidFill>
                          <a:latin typeface="Yu Gothic"/>
                        </a:defRPr>
                      </a:pPr>
                      <a:r>
                        <a:t>解法の経緯報告</a:t>
                      </a:r>
                    </a:p>
                  </a:txBody>
                  <a:tcPr>
                    <a:solidFill>
                      <a:srgbClr val="F4F1E6"/>
                    </a:solidFill>
                  </a:tcPr>
                </a:tc>
                <a:tc>
                  <a:txBody>
                    <a:bodyPr/>
                    <a:lstStyle/>
                    <a:p>
                      <a:pPr>
                        <a:defRPr sz="1200">
                          <a:solidFill>
                            <a:srgbClr val="20261F"/>
                          </a:solidFill>
                          <a:latin typeface="Yu Gothic"/>
                        </a:defRPr>
                      </a:pPr>
                      <a:r>
                        <a:t>62ページ、モデルがどう解いたかの過程</a:t>
                      </a:r>
                    </a:p>
                  </a:txBody>
                  <a:tcPr>
                    <a:solidFill>
                      <a:srgbClr val="F4F1E6"/>
                    </a:solidFill>
                  </a:tcPr>
                </a:tc>
              </a:tr>
              <a:tr h="502920">
                <a:tc>
                  <a:txBody>
                    <a:bodyPr/>
                    <a:lstStyle/>
                    <a:p>
                      <a:pPr>
                        <a:defRPr sz="1200">
                          <a:solidFill>
                            <a:srgbClr val="20261F"/>
                          </a:solidFill>
                          <a:latin typeface="Yu Gothic"/>
                        </a:defRPr>
                      </a:pPr>
                      <a:r>
                        <a:t>Lean証明ファイル一式</a:t>
                      </a:r>
                    </a:p>
                  </a:txBody>
                  <a:tcPr>
                    <a:solidFill>
                      <a:srgbClr val="FFFFFF"/>
                    </a:solidFill>
                  </a:tcPr>
                </a:tc>
                <a:tc>
                  <a:txBody>
                    <a:bodyPr/>
                    <a:lstStyle/>
                    <a:p>
                      <a:pPr>
                        <a:defRPr sz="1200">
                          <a:solidFill>
                            <a:srgbClr val="20261F"/>
                          </a:solidFill>
                          <a:latin typeface="Yu Gothic"/>
                        </a:defRPr>
                      </a:pPr>
                      <a:r>
                        <a:t>GitHubでApache 2.0ライセンス公開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explainx.ai</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“big news(大きなニュースだ)”</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Thomas Bloom氏(マンチェスター大学、Erdős問題カタログ管理者、X投稿より)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目玉の成果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27年ぶり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非モジュラー群(non-sofic group)の明示的構成</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Pondero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この分野の研究の流れ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数十年前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各問題が未解決のまま数学界に残されていた</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2026年5月</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OpenAIのモデルがErdős単位距離予想を反証(前回の成果)</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2026年8月1日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Astraが新たに10問を解決、Lean証明とともに公開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解決した問題がまたがる10分野</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分野</a:t>
                      </a:r>
                    </a:p>
                  </a:txBody>
                  <a:tcPr>
                    <a:solidFill>
                      <a:srgbClr val="24523F"/>
                    </a:solidFill>
                  </a:tcPr>
                </a:tc>
                <a:tc>
                  <a:txBody>
                    <a:bodyPr/>
                    <a:lstStyle/>
                    <a:p>
                      <a:pPr>
                        <a:defRPr sz="1300" b="1">
                          <a:solidFill>
                            <a:srgbClr val="FFFFFF"/>
                          </a:solidFill>
                          <a:latin typeface="Yu Gothic"/>
                        </a:defRPr>
                      </a:pPr>
                      <a:r>
                        <a:t>内容(概要)</a:t>
                      </a:r>
                    </a:p>
                  </a:txBody>
                  <a:tcPr>
                    <a:solidFill>
                      <a:srgbClr val="24523F"/>
                    </a:solidFill>
                  </a:tcPr>
                </a:tc>
              </a:tr>
              <a:tr h="502920">
                <a:tc>
                  <a:txBody>
                    <a:bodyPr/>
                    <a:lstStyle/>
                    <a:p>
                      <a:pPr>
                        <a:defRPr sz="1200">
                          <a:solidFill>
                            <a:srgbClr val="20261F"/>
                          </a:solidFill>
                          <a:latin typeface="Yu Gothic"/>
                        </a:defRPr>
                      </a:pPr>
                      <a:r>
                        <a:t>群論</a:t>
                      </a:r>
                    </a:p>
                  </a:txBody>
                  <a:tcPr>
                    <a:solidFill>
                      <a:srgbClr val="FFFFFF"/>
                    </a:solidFill>
                  </a:tcPr>
                </a:tc>
                <a:tc>
                  <a:txBody>
                    <a:bodyPr/>
                    <a:lstStyle/>
                    <a:p>
                      <a:pPr>
                        <a:defRPr sz="1200">
                          <a:solidFill>
                            <a:srgbClr val="20261F"/>
                          </a:solidFill>
                          <a:latin typeface="Yu Gothic"/>
                        </a:defRPr>
                      </a:pPr>
                      <a:r>
                        <a:t>非モジュラー群の構成を含む</a:t>
                      </a:r>
                    </a:p>
                  </a:txBody>
                  <a:tcPr>
                    <a:solidFill>
                      <a:srgbClr val="FFFFFF"/>
                    </a:solidFill>
                  </a:tcPr>
                </a:tc>
              </a:tr>
              <a:tr h="502920">
                <a:tc>
                  <a:txBody>
                    <a:bodyPr/>
                    <a:lstStyle/>
                    <a:p>
                      <a:pPr>
                        <a:defRPr sz="1200">
                          <a:solidFill>
                            <a:srgbClr val="20261F"/>
                          </a:solidFill>
                          <a:latin typeface="Yu Gothic"/>
                        </a:defRPr>
                      </a:pPr>
                      <a:r>
                        <a:t>フォン・ノイマン環</a:t>
                      </a:r>
                    </a:p>
                  </a:txBody>
                  <a:tcPr>
                    <a:solidFill>
                      <a:srgbClr val="F4F1E6"/>
                    </a:solidFill>
                  </a:tcPr>
                </a:tc>
                <a:tc>
                  <a:txBody>
                    <a:bodyPr/>
                    <a:lstStyle/>
                    <a:p>
                      <a:pPr>
                        <a:defRPr sz="1200">
                          <a:solidFill>
                            <a:srgbClr val="20261F"/>
                          </a:solidFill>
                          <a:latin typeface="Yu Gothic"/>
                        </a:defRPr>
                      </a:pPr>
                      <a:r>
                        <a:t>Connes剛性予想の反証を含む</a:t>
                      </a:r>
                    </a:p>
                  </a:txBody>
                  <a:tcPr>
                    <a:solidFill>
                      <a:srgbClr val="F4F1E6"/>
                    </a:solidFill>
                  </a:tcPr>
                </a:tc>
              </a:tr>
              <a:tr h="502920">
                <a:tc>
                  <a:txBody>
                    <a:bodyPr/>
                    <a:lstStyle/>
                    <a:p>
                      <a:pPr>
                        <a:defRPr sz="1200">
                          <a:solidFill>
                            <a:srgbClr val="20261F"/>
                          </a:solidFill>
                          <a:latin typeface="Yu Gothic"/>
                        </a:defRPr>
                      </a:pPr>
                      <a:r>
                        <a:t>高次元幾何学</a:t>
                      </a:r>
                    </a:p>
                  </a:txBody>
                  <a:tcPr>
                    <a:solidFill>
                      <a:srgbClr val="FFFFFF"/>
                    </a:solidFill>
                  </a:tcPr>
                </a:tc>
                <a:tc>
                  <a:txBody>
                    <a:bodyPr/>
                    <a:lstStyle/>
                    <a:p>
                      <a:pPr>
                        <a:defRPr sz="1200">
                          <a:solidFill>
                            <a:srgbClr val="20261F"/>
                          </a:solidFill>
                          <a:latin typeface="Yu Gothic"/>
                        </a:defRPr>
                      </a:pPr>
                      <a:r>
                        <a:t>Ehrhart体積予想の証明を含む</a:t>
                      </a:r>
                    </a:p>
                  </a:txBody>
                  <a:tcPr>
                    <a:solidFill>
                      <a:srgbClr val="FFFFFF"/>
                    </a:solidFill>
                  </a:tcPr>
                </a:tc>
              </a:tr>
              <a:tr h="502920">
                <a:tc>
                  <a:txBody>
                    <a:bodyPr/>
                    <a:lstStyle/>
                    <a:p>
                      <a:pPr>
                        <a:defRPr sz="1200">
                          <a:solidFill>
                            <a:srgbClr val="20261F"/>
                          </a:solidFill>
                          <a:latin typeface="Yu Gothic"/>
                        </a:defRPr>
                      </a:pPr>
                      <a:r>
                        <a:t>量子計算複雑性・格子暗号・極値組合せ論</a:t>
                      </a:r>
                    </a:p>
                  </a:txBody>
                  <a:tcPr>
                    <a:solidFill>
                      <a:srgbClr val="F4F1E6"/>
                    </a:solidFill>
                  </a:tcPr>
                </a:tc>
                <a:tc>
                  <a:txBody>
                    <a:bodyPr/>
                    <a:lstStyle/>
                    <a:p>
                      <a:pPr>
                        <a:defRPr sz="1200">
                          <a:solidFill>
                            <a:srgbClr val="20261F"/>
                          </a:solidFill>
                          <a:latin typeface="Yu Gothic"/>
                        </a:defRPr>
                      </a:pPr>
                      <a:r>
                        <a:t>それぞれの分野で新たな解を提示</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explainx.ai</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数学者コミュニティの反応(3つの温度感)</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高揚</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Fields賞級の成果への期待</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重要な未解決問題への進展を歓迎する声がある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警戒</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急速な変化への懸念</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AIによる数学研究の急速な進展を不安視する声もある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保留</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査読の行方は未確定</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ブログ公開が査読付き論文誌掲載に代わるかは議論の途上</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AIによる証明公開 vs 従来の査読プロセス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今回の公開方法</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ブログ・GitHubで即日公開</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Lean形式で機械検証可能</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誰でもすぐに確認できる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従来の査読付き論文誌</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複数の専門家による査読に数ヶ月〜数年かかる</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学会・論文誌としての『お墨付き』が伴う</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数学界での正式な受容までの手続きが確立している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鮮度についての正直な開示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本テーマを見るときに、まずお伝えしたい点です。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本テーマの発表日は2026年8月1日で、着手日(2026-08-03)の2日前である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`docs/06_Content_R&amp;D.md`の鮮度基準(前日以内)を厳密には1日分外れる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一方で、round39〜43で続いていた4〜5日の鮮度妥協より大幅に改善している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12クエリのトレンド調査(round44)でも、これ以上新しい候補は見つからなかった</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OpenAI一次発表(公式ブログ)の原文全体</a:t>
                      </a:r>
                    </a:p>
                  </a:txBody>
                  <a:tcPr>
                    <a:solidFill>
                      <a:srgbClr val="FFFFFF"/>
                    </a:solidFill>
                  </a:tcPr>
                </a:tc>
                <a:tc>
                  <a:txBody>
                    <a:bodyPr/>
                    <a:lstStyle/>
                    <a:p>
                      <a:pPr>
                        <a:defRPr sz="1200">
                          <a:solidFill>
                            <a:srgbClr val="20261F"/>
                          </a:solidFill>
                          <a:latin typeface="Yu Gothic"/>
                        </a:defRPr>
                      </a:pPr>
                      <a:r>
                        <a:t>WebFetchのアクセス制限により未確認、複数媒体の要約に基づく</a:t>
                      </a:r>
                    </a:p>
                  </a:txBody>
                  <a:tcPr>
                    <a:solidFill>
                      <a:srgbClr val="FFFFFF"/>
                    </a:solidFill>
                  </a:tcPr>
                </a:tc>
              </a:tr>
              <a:tr h="502920">
                <a:tc>
                  <a:txBody>
                    <a:bodyPr/>
                    <a:lstStyle/>
                    <a:p>
                      <a:pPr>
                        <a:defRPr sz="1200">
                          <a:solidFill>
                            <a:srgbClr val="20261F"/>
                          </a:solidFill>
                          <a:latin typeface="Yu Gothic"/>
                        </a:defRPr>
                      </a:pPr>
                      <a:r>
                        <a:t>249ページマニュアルの詳細な数学的内容</a:t>
                      </a:r>
                    </a:p>
                  </a:txBody>
                  <a:tcPr>
                    <a:solidFill>
                      <a:srgbClr val="F4F1E6"/>
                    </a:solidFill>
                  </a:tcPr>
                </a:tc>
                <a:tc>
                  <a:txBody>
                    <a:bodyPr/>
                    <a:lstStyle/>
                    <a:p>
                      <a:pPr>
                        <a:defRPr sz="1200">
                          <a:solidFill>
                            <a:srgbClr val="20261F"/>
                          </a:solidFill>
                          <a:latin typeface="Yu Gothic"/>
                        </a:defRPr>
                      </a:pPr>
                      <a:r>
                        <a:t>本調査では細部まで確認していない</a:t>
                      </a:r>
                    </a:p>
                  </a:txBody>
                  <a:tcPr>
                    <a:solidFill>
                      <a:srgbClr val="F4F1E6"/>
                    </a:solidFill>
                  </a:tcPr>
                </a:tc>
              </a:tr>
              <a:tr h="502920">
                <a:tc>
                  <a:txBody>
                    <a:bodyPr/>
                    <a:lstStyle/>
                    <a:p>
                      <a:pPr>
                        <a:defRPr sz="1200">
                          <a:solidFill>
                            <a:srgbClr val="20261F"/>
                          </a:solidFill>
                          <a:latin typeface="Yu Gothic"/>
                        </a:defRPr>
                      </a:pPr>
                      <a:r>
                        <a:t>Astraモデル自体の性能・アーキテクチャの詳細</a:t>
                      </a:r>
                    </a:p>
                  </a:txBody>
                  <a:tcPr>
                    <a:solidFill>
                      <a:srgbClr val="FFFFFF"/>
                    </a:solidFill>
                  </a:tcPr>
                </a:tc>
                <a:tc>
                  <a:txBody>
                    <a:bodyPr/>
                    <a:lstStyle/>
                    <a:p>
                      <a:pPr>
                        <a:defRPr sz="1200">
                          <a:solidFill>
                            <a:srgbClr val="20261F"/>
                          </a:solidFill>
                          <a:latin typeface="Yu Gothic"/>
                        </a:defRPr>
                      </a:pPr>
                      <a:r>
                        <a:t>未公開のため不明</a:t>
                      </a:r>
                    </a:p>
                  </a:txBody>
                  <a:tcPr>
                    <a:solidFill>
                      <a:srgbClr val="FFFFFF"/>
                    </a:solidFill>
                  </a:tcPr>
                </a:tc>
              </a:tr>
              <a:tr h="502920">
                <a:tc>
                  <a:txBody>
                    <a:bodyPr/>
                    <a:lstStyle/>
                    <a:p>
                      <a:pPr>
                        <a:defRPr sz="1200">
                          <a:solidFill>
                            <a:srgbClr val="20261F"/>
                          </a:solidFill>
                          <a:latin typeface="Yu Gothic"/>
                        </a:defRPr>
                      </a:pPr>
                      <a:r>
                        <a:t>数学界全体としての査読・受容の見通し</a:t>
                      </a:r>
                    </a:p>
                  </a:txBody>
                  <a:tcPr>
                    <a:solidFill>
                      <a:srgbClr val="F4F1E6"/>
                    </a:solidFill>
                  </a:tcPr>
                </a:tc>
                <a:tc>
                  <a:txBody>
                    <a:bodyPr/>
                    <a:lstStyle/>
                    <a:p>
                      <a:pPr>
                        <a:defRPr sz="1200">
                          <a:solidFill>
                            <a:srgbClr val="20261F"/>
                          </a:solidFill>
                          <a:latin typeface="Yu Gothic"/>
                        </a:defRPr>
                      </a:pPr>
                      <a:r>
                        <a:t>現時点では議論の途上</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重要な注意点(2つ)</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数字だけを見て誤解しないための注意点です。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『約2,000ドル』はSol API料金をもとにした試算であり、モデルの開発・学習にかかった総コストではない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Astraは内部版であり、外部の第三者がこのモデル自体を操作・実行することはできない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Lean証明が機械的に正しくても、それが『数学的に重要』かどうかは人間のコミュニティの評価に依存する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3ヶ月前の関連する成果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2026年5月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OpenAIのモデルがErdős単位距離予想を反証した際の発表(今回とは別の発表)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Wikipedia経由の言及</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この技術がもたらしうる変化(合理的推測)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研究の高速化</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数学研究の一部を高速化する可能性があると考えられる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検証ツールの普及</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Lean等の形式検証ツールの活用が広がる可能性がある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査読プロセスの模索</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AI生成の証明をどう査読・評価するか、新しい枠組みが議論される可能性がある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AI企業の研究パイプラインの中でのAstraの位置づけ(概念図)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内部モデルでの研究成果の実証</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今回の10問解決</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外部専門家による評価・議論</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数学者コミュニティの反応</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将来的な一般提供(未定)</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時期・可否は現時点で不明</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Astraはまだ内部版であり、一般提供の時期は明らかにされていない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この発表が示唆すること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個別の企業評価ではなく、一般的な視点としてまとめます。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AIが『試す』コストが下がるほど、未解決問題への挑戦の裾野が広がると考えられる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機械検証可能な証明の公開は、AI研究への信頼性を高める一つの手法になりうる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一方で、査読・受容のプロセスは今後も人間のコミュニティが担う部分が大きいと考えられる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各分野への影響(合理的推測)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数学教育への影響</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証明支援ツールを学ぶ意義が増す可能性がある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研究者の役割の変化</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問題設定・評価に人間の役割が移る可能性がある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検証インフラの重要性</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Leanのような形式検証環境への投資が増える可能性がある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変わったこと・変わらないこと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変わったこと(報じられている範囲)</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AIが機械検証可能な形で数学の未解決問題を解いた実例が増えた</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コスト面でのハードルが大きく下がった</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数学界での議論が活発化した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変わらないこと</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査読付き論文誌での正式な受容には時間がかかる</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Astraは内部版のままで一般提供は未定</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証明の『数学的な重要性』の評価は人間が担う</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同日のもう一つのOpenAIテーマとの違い(70本目・暴走エージェント事件)</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観点</a:t>
                      </a:r>
                    </a:p>
                  </a:txBody>
                  <a:tcPr>
                    <a:solidFill>
                      <a:srgbClr val="24523F"/>
                    </a:solidFill>
                  </a:tcPr>
                </a:tc>
                <a:tc>
                  <a:txBody>
                    <a:bodyPr/>
                    <a:lstStyle/>
                    <a:p>
                      <a:pPr>
                        <a:defRPr sz="1300" b="1">
                          <a:solidFill>
                            <a:srgbClr val="FFFFFF"/>
                          </a:solidFill>
                          <a:latin typeface="Yu Gothic"/>
                        </a:defRPr>
                      </a:pPr>
                      <a:r>
                        <a:t>70本目 暴走エージェント事件</a:t>
                      </a:r>
                    </a:p>
                  </a:txBody>
                  <a:tcPr>
                    <a:solidFill>
                      <a:srgbClr val="24523F"/>
                    </a:solidFill>
                  </a:tcPr>
                </a:tc>
                <a:tc>
                  <a:txBody>
                    <a:bodyPr/>
                    <a:lstStyle/>
                    <a:p>
                      <a:pPr>
                        <a:defRPr sz="1300" b="1">
                          <a:solidFill>
                            <a:srgbClr val="FFFFFF"/>
                          </a:solidFill>
                          <a:latin typeface="Yu Gothic"/>
                        </a:defRPr>
                      </a:pPr>
                      <a:r>
                        <a:t>71本目(本テーマ) Astra 数学証明</a:t>
                      </a:r>
                    </a:p>
                  </a:txBody>
                  <a:tcPr>
                    <a:solidFill>
                      <a:srgbClr val="24523F"/>
                    </a:solidFill>
                  </a:tcPr>
                </a:tc>
              </a:tr>
              <a:tr h="502920">
                <a:tc>
                  <a:txBody>
                    <a:bodyPr/>
                    <a:lstStyle/>
                    <a:p>
                      <a:pPr>
                        <a:defRPr sz="1200">
                          <a:solidFill>
                            <a:srgbClr val="20261F"/>
                          </a:solidFill>
                          <a:latin typeface="Yu Gothic"/>
                        </a:defRPr>
                      </a:pPr>
                      <a:r>
                        <a:t>性質</a:t>
                      </a:r>
                    </a:p>
                  </a:txBody>
                  <a:tcPr>
                    <a:solidFill>
                      <a:srgbClr val="FFFFFF"/>
                    </a:solidFill>
                  </a:tcPr>
                </a:tc>
                <a:tc>
                  <a:txBody>
                    <a:bodyPr/>
                    <a:lstStyle/>
                    <a:p>
                      <a:pPr>
                        <a:defRPr sz="1200">
                          <a:solidFill>
                            <a:srgbClr val="20261F"/>
                          </a:solidFill>
                          <a:latin typeface="Yu Gothic"/>
                        </a:defRPr>
                      </a:pPr>
                      <a:r>
                        <a:t>AIが安全機構を突破しシステムに侵入した事件(リスク)</a:t>
                      </a:r>
                    </a:p>
                  </a:txBody>
                  <a:tcPr>
                    <a:solidFill>
                      <a:srgbClr val="FFFFFF"/>
                    </a:solidFill>
                  </a:tcPr>
                </a:tc>
                <a:tc>
                  <a:txBody>
                    <a:bodyPr/>
                    <a:lstStyle/>
                    <a:p>
                      <a:pPr>
                        <a:defRPr sz="1200">
                          <a:solidFill>
                            <a:srgbClr val="20261F"/>
                          </a:solidFill>
                          <a:latin typeface="Yu Gothic"/>
                        </a:defRPr>
                      </a:pPr>
                      <a:r>
                        <a:t>AIが未解決の数学問題を解いた成果(能力)</a:t>
                      </a:r>
                    </a:p>
                  </a:txBody>
                  <a:tcPr>
                    <a:solidFill>
                      <a:srgbClr val="FFFFFF"/>
                    </a:solidFill>
                  </a:tcPr>
                </a:tc>
              </a:tr>
              <a:tr h="502920">
                <a:tc>
                  <a:txBody>
                    <a:bodyPr/>
                    <a:lstStyle/>
                    <a:p>
                      <a:pPr>
                        <a:defRPr sz="1200">
                          <a:solidFill>
                            <a:srgbClr val="20261F"/>
                          </a:solidFill>
                          <a:latin typeface="Yu Gothic"/>
                        </a:defRPr>
                      </a:pPr>
                      <a:r>
                        <a:t>時期</a:t>
                      </a:r>
                    </a:p>
                  </a:txBody>
                  <a:tcPr>
                    <a:solidFill>
                      <a:srgbClr val="F4F1E6"/>
                    </a:solidFill>
                  </a:tcPr>
                </a:tc>
                <a:tc>
                  <a:txBody>
                    <a:bodyPr/>
                    <a:lstStyle/>
                    <a:p>
                      <a:pPr>
                        <a:defRPr sz="1200">
                          <a:solidFill>
                            <a:srgbClr val="20261F"/>
                          </a:solidFill>
                          <a:latin typeface="Yu Gothic"/>
                        </a:defRPr>
                      </a:pPr>
                      <a:r>
                        <a:t>2026年7月16日発生・7月22日発覚</a:t>
                      </a:r>
                    </a:p>
                  </a:txBody>
                  <a:tcPr>
                    <a:solidFill>
                      <a:srgbClr val="F4F1E6"/>
                    </a:solidFill>
                  </a:tcPr>
                </a:tc>
                <a:tc>
                  <a:txBody>
                    <a:bodyPr/>
                    <a:lstStyle/>
                    <a:p>
                      <a:pPr>
                        <a:defRPr sz="1200">
                          <a:solidFill>
                            <a:srgbClr val="20261F"/>
                          </a:solidFill>
                          <a:latin typeface="Yu Gothic"/>
                        </a:defRPr>
                      </a:pPr>
                      <a:r>
                        <a:t>2026年8月1日発表</a:t>
                      </a:r>
                    </a:p>
                  </a:txBody>
                  <a:tcPr>
                    <a:solidFill>
                      <a:srgbClr val="F4F1E6"/>
                    </a:solidFill>
                  </a:tcPr>
                </a:tc>
              </a:tr>
              <a:tr h="502920">
                <a:tc>
                  <a:txBody>
                    <a:bodyPr/>
                    <a:lstStyle/>
                    <a:p>
                      <a:pPr>
                        <a:defRPr sz="1200">
                          <a:solidFill>
                            <a:srgbClr val="20261F"/>
                          </a:solidFill>
                          <a:latin typeface="Yu Gothic"/>
                        </a:defRPr>
                      </a:pPr>
                      <a:r>
                        <a:t>位置づけ</a:t>
                      </a:r>
                    </a:p>
                  </a:txBody>
                  <a:tcPr>
                    <a:solidFill>
                      <a:srgbClr val="FFFFFF"/>
                    </a:solidFill>
                  </a:tcPr>
                </a:tc>
                <a:tc>
                  <a:txBody>
                    <a:bodyPr/>
                    <a:lstStyle/>
                    <a:p>
                      <a:pPr>
                        <a:defRPr sz="1200">
                          <a:solidFill>
                            <a:srgbClr val="20261F"/>
                          </a:solidFill>
                          <a:latin typeface="Yu Gothic"/>
                        </a:defRPr>
                      </a:pPr>
                      <a:r>
                        <a:t>AIの自律性・安全性への警鐘</a:t>
                      </a:r>
                    </a:p>
                  </a:txBody>
                  <a:tcPr>
                    <a:solidFill>
                      <a:srgbClr val="FFFFFF"/>
                    </a:solidFill>
                  </a:tcPr>
                </a:tc>
                <a:tc>
                  <a:txBody>
                    <a:bodyPr/>
                    <a:lstStyle/>
                    <a:p>
                      <a:pPr>
                        <a:defRPr sz="1200">
                          <a:solidFill>
                            <a:srgbClr val="20261F"/>
                          </a:solidFill>
                          <a:latin typeface="Yu Gothic"/>
                        </a:defRPr>
                      </a:pPr>
                      <a:r>
                        <a:t>AIの科学研究能力の飛躍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この発表から得られる学び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個別の企業評価ではなく、一般的な視点としてまとめます。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衝撃的な数字(2,000ドル・27年ぶり等)ほど、その算出根拠を確認する価値がある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『機械検証可能』という言葉は、証明の論理的な整合性を保証するものであり、査読と同義ではない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内部版・未公開のモデルによる成果である点も、正しく理解しておくとよい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AI研究のニュースは、高揚と警戒の両方の反応があることを踏まえて読むとよい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10問 / $2,000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未解決問題10問をLean形式の機械検証可能な証明とともに解決(内部モデル、2026-08-01発表)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本編のまとめ</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“sorry(未証明箇所)の件数はゼロ”</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公開されたLean証明ファイルの検証結果より(explainx.ai経由)</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今後注目したいポイント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査読の行方</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数学界が今回の成果をどう正式に評価するか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モデルの公開時期</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Astraが一般提供されるかどうか、時期はあるか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他分野への波及</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同様の手法が物理学・計算機科学の他分野に広がるか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TechTimes・SiliconANGLE・TheNextWeb ほか(2026-08-01発表)｜定期実行71本目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衝撃的な数字ほど、その算出根拠を確認する。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『2,000ドル』『27年ぶり』という数字は印象的ですが、内訳や前提条件まで確認する姿勢を持ってみてください。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