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2026年8月11日から12日にかけて、AnthropicがEU AI Act第50条の透明性要件への対応として、Claudeが生成するテキストに機械可読な電子透かしを付与すると発表しました。今日はこの発表を、複数の媒体の報道にもとづいて出典付きで整理してお伝えします。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まず結論です。Anthropicが、EU AI Act第50条の透明性要件への対応として、Claude生成テキストに機械可読な電子透かしを付与すると発表しました。この措置はEU域内に限らず、世界全体で適用されるとされています。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今日はこの5つの流れでお伝えします。専門用語をかみ砕きながら、確定している事実と、確認できなかったことをはっきり分けて整理していきます。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このテーマを扱う理由は3つです。着手日からわずか1〜2日前という新しい話題であること、規制と技術が交差する時事性の高い話題であること、そして世界全体で適用されるという規模感があることです。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まず全体像です。EU AI Act第50条が定める透明性要件に対応する形で、Anthropicが行動規範に署名し、Claudeが生成するテキストに電子透かしを付与すると発表しました。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2026年8月2日以降にリリースされたモデルから対応が始まっており、8月11日から12日にかけて今回の発表がありました。2026年12月2日までに、それ以前のモデルにも対応を追加する予定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報道され方を見ると、Anthropic公式ニュースに加えて、Euronews・TechXplore・Axiosなど複数の独立した媒体が一致してこの発表を報じています。Euronewsは世界全体への適用を強調する見出しを使っています。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発表の概要を表にまとめました。Anthropicが2026年8月11日から12日にかけて発表した内容は、Claude生成テキストへの電子透かし付与であり、EU AI Act第50条の要件に対応する形で、世界全体に適用されるとされています。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 AI Act第50条』とは、EUが定めるAI規制法の中で、AI生成コンテンツの透明性を扱う条文です。AIが生成したコンテンツであることを利用者が判別できるようにすることを求める趣旨とされています。本テーマではEU規制そのものへの評価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子透かし』とは、コンテンツの中に目に見えない形で埋め込まれる機械可読なマーキングのことです。人間が読んでも気づきませんが、専用の仕組みで検出できるとされています。ただし具体的な技術的仕組み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『来歴情報』とは、コンテンツがいつ・何によって作られたかを示す、署名付きの情報のことです。対応するファイル形式には、この署名付きの来歴情報が付与されるとされています。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前と導入後を比べるとこうなります。これまでは生成テキストへの機械可読なマーキングはなかったとされますが、今回の発表では新しいモデルの生成テキストに電子透かしと来歴情報を付与し、それを世界全体に適用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発表の3つのポイントです。機械可読な電子透かし、署名付きの来歴情報、そしてそれを世界全体で適用するという方針です。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1つ目の数字は2026年8月2日です。この日以降にリリースされたモデルから、電子透かし対応がすでに始まっているとされています。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2つ目の数字は2026年12月2日です。EUの既存システム向け猶予期間の終了日にあたり、この日までに、それ以前のモデルにも電子透かし対応を追加する予定とされています。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3つ目のポイントは適用範囲です。EU AI Act対応として始まった取り組みですが、地域を限定せず世界全体に適用されるとされています。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対応スケジュールを一覧にしました。8月2日以降のリリースモデルから対応が始まっており、8月11日から12日に発表があり、12月2日までに旧モデルへの対応も完了する予定とされています。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発表の根拠となったのが、EUの『AI生成コンテンツに関する行動規範』です。Anthropicはこの行動規範に署名したと発表しています。ただし規範の原文までは、本調査の範囲では直接確認できていません。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ここまでの骨子をカードで振り返ります。1社の発表、複数媒体による一致した報道、8月2日という対応開始日、12月2日という対応完了予定という点です。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子透かしの位置づけを図にしました。Claudeがテキストを生成する際に電子透かしが付与され、それがAI生成かどうかの判別材料になると位置づけられると考えられます。ただし実際の判別精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にとっての意味です。対象となる新しいClaudeモデルで生成したテキストには電子透かしが付与される可能性がありますが、検出・検証する具体的な方法は本調査の範囲では確認できていません。続報を確認するのが実践的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組織にとっての意味です。AI生成コンテンツの真正性表示に関する社内ルール整備の参考材料になりえます。EU域内で事業を行う組織は、この動向を注視する価値があるとされていますが、具体的な業務影響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5点、一覧にしました。技術的な仕組み、検出方法、UXへの影響、対象モダリティの線引き、回避対策への言及、いずれも本調査の範囲では確認できておらず、推測で埋めず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発表時期や対応スケジュール、適用範囲は検証済みの事実です。判別手がかりとしての位置づけなどは推測であり、技術的仕組みや競合動向の詳細は確認できておらず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競合他社の動向についてです。OpenAIやGoogleなど競合他社の同種の電子透かしの取り組みについては、本ラウンドの調査範囲では確認できていません。存在しない競合動向を捏造せず、不明とし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nthropic社に関するテーマです。本パイプライン自体がAnthropic社のClaudeを基盤として制作されている点を、ここで明確に開示します。賞賛的な表現や宣伝は避け、AIが人間の仕事を代替するという論調も取らず、確認できた事実を淡々と報告する構成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を見て確認すべきことです。まず技術的仕組みや検出方法などの続報を待つこと、Anthropic公式やEUの原文といった一次情報にあたること、そして透かしの判別精度を過信も過小評価もしないこと、この3つ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立場別に整理すると、個人は真正性表示の仕組みが広がっている動きとして把握すること、企業・組織はEU AI Act対応の動向として注視すること、情報の受け手は透かしの有無だけで断定しないこと、それぞれに実践的な示唆があります。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本編で使った出典を一覧にしました。Anthropic公式ニュースに加え、Euronews・TechXplore・Axios・Interesting Engineering・Search Engine Journalが確認できた出典です。詳細はresearch.mdをご確認ください。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本編は以上です。今回はAnthropicがEU AI Act対応としてClaude生成テキストへの電子透かし付与を発表したというニュースをお伝えしました。確認できた事実と確認できなかったことを分けて、淡々とご紹介しました。本パイプライン自体がAnthropic社のClaudeを基盤としている点も開示した上で、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Claudeの生成テキストに、見えない印がつく。</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AnthropicがEU AI Act第50条対応として電子透かしの付与を発表——世界全体に適用される2026年8月11〜12日発表の要点を出典付きで整理する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Anthropic公式ニュース、Euronews、TechXplore、Axios ほか(2026-08-11〜12)。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世界全体で適用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Anthropicが、EU AI Act第50条対応としてClaude生成テキストに機械可読な電子透かしを付与すると発表。EU域内に限らず世界全体で適用されるとされる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Anthropic公式ニュース、Euronews、TechXplore、Axiosほか(2026-08-11〜12)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このニュースとは何か・なぜ今話題なのか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基礎知識(EU AI Act・電子透かし・来歴情報とは)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発表内容を要素ごとに数字で深掘り</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これで何が変わるか・どう向き合えばよいか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確認できなかったこと・自己参照リスクへの配慮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2026年8月11〜12日発表で、着手日から1〜2日前という新しい話題である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AI生成コンテンツの真正性表示という、規制と技術が交差する時事性の高い話題である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「世界全体で適用」という規模感が、単なるEU域内の話にとどまらない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EU AI Act 第50条</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AI生成コンテンツの透明性要件を定める規定</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Anthropic</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EUの行動規範(Code of Practice)に署名したと発表</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Claude生成テキスト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機械可読な電子透かしを付与するとされる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AnthropicがEU AI Act第50条対応として行動規範に署名し、Claude生成テキストへの電子透かし付与を発表したと報じられている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対応スケジュールの時系列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2026年8月2日〜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この日以降にリリースされたモデルから電子透かし対応が始まっているとされる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2026年8月11〜12日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Anthropicが電子透かし付与の方針を発表</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2026年12月2日まで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EUの猶予期間終了日までに、それ以前のモデルにも対応を追加する予定とされる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報道され方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本調査で確認できた出典を正直にお伝えします。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Anthropic公式ニュースに加え、Euronews・TechXplore・Axios・Interesting Engineering・Search Engine Journalが報道</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Euronewsは「EU compliance, delivered globally」という見出しで、世界全体への適用を強調</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複数の独立した媒体が同じ内容で一致して報じている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Anthropic公式ニュース、Euronews、TechXplore、Axiosほか(2026-08-11〜12)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発表主体</a:t>
                      </a:r>
                    </a:p>
                  </a:txBody>
                  <a:tcPr>
                    <a:solidFill>
                      <a:srgbClr val="FFFFFF"/>
                    </a:solidFill>
                  </a:tcPr>
                </a:tc>
                <a:tc>
                  <a:txBody>
                    <a:bodyPr/>
                    <a:lstStyle/>
                    <a:p>
                      <a:pPr>
                        <a:defRPr sz="1200">
                          <a:solidFill>
                            <a:srgbClr val="1C1B33"/>
                          </a:solidFill>
                          <a:latin typeface="Yu Gothic"/>
                        </a:defRPr>
                      </a:pPr>
                      <a:r>
                        <a:t>Anthropic</a:t>
                      </a:r>
                    </a:p>
                  </a:txBody>
                  <a:tcPr>
                    <a:solidFill>
                      <a:srgbClr val="FFFFFF"/>
                    </a:solidFill>
                  </a:tcPr>
                </a:tc>
              </a:tr>
              <a:tr h="502920">
                <a:tc>
                  <a:txBody>
                    <a:bodyPr/>
                    <a:lstStyle/>
                    <a:p>
                      <a:pPr>
                        <a:defRPr sz="1200">
                          <a:solidFill>
                            <a:srgbClr val="1C1B33"/>
                          </a:solidFill>
                          <a:latin typeface="Yu Gothic"/>
                        </a:defRPr>
                      </a:pPr>
                      <a:r>
                        <a:t>対応内容</a:t>
                      </a:r>
                    </a:p>
                  </a:txBody>
                  <a:tcPr>
                    <a:solidFill>
                      <a:srgbClr val="F4F3FC"/>
                    </a:solidFill>
                  </a:tcPr>
                </a:tc>
                <a:tc>
                  <a:txBody>
                    <a:bodyPr/>
                    <a:lstStyle/>
                    <a:p>
                      <a:pPr>
                        <a:defRPr sz="1200">
                          <a:solidFill>
                            <a:srgbClr val="1C1B33"/>
                          </a:solidFill>
                          <a:latin typeface="Yu Gothic"/>
                        </a:defRPr>
                      </a:pPr>
                      <a:r>
                        <a:t>Claude生成テキストへの機械可読な電子透かし付与</a:t>
                      </a:r>
                    </a:p>
                  </a:txBody>
                  <a:tcPr>
                    <a:solidFill>
                      <a:srgbClr val="F4F3FC"/>
                    </a:solidFill>
                  </a:tcPr>
                </a:tc>
              </a:tr>
              <a:tr h="502920">
                <a:tc>
                  <a:txBody>
                    <a:bodyPr/>
                    <a:lstStyle/>
                    <a:p>
                      <a:pPr>
                        <a:defRPr sz="1200">
                          <a:solidFill>
                            <a:srgbClr val="1C1B33"/>
                          </a:solidFill>
                          <a:latin typeface="Yu Gothic"/>
                        </a:defRPr>
                      </a:pPr>
                      <a:r>
                        <a:t>発表時期</a:t>
                      </a:r>
                    </a:p>
                  </a:txBody>
                  <a:tcPr>
                    <a:solidFill>
                      <a:srgbClr val="FFFFFF"/>
                    </a:solidFill>
                  </a:tcPr>
                </a:tc>
                <a:tc>
                  <a:txBody>
                    <a:bodyPr/>
                    <a:lstStyle/>
                    <a:p>
                      <a:pPr>
                        <a:defRPr sz="1200">
                          <a:solidFill>
                            <a:srgbClr val="1C1B33"/>
                          </a:solidFill>
                          <a:latin typeface="Yu Gothic"/>
                        </a:defRPr>
                      </a:pPr>
                      <a:r>
                        <a:t>2026年8月11〜12日</a:t>
                      </a:r>
                    </a:p>
                  </a:txBody>
                  <a:tcPr>
                    <a:solidFill>
                      <a:srgbClr val="FFFFFF"/>
                    </a:solidFill>
                  </a:tcPr>
                </a:tc>
              </a:tr>
              <a:tr h="502920">
                <a:tc>
                  <a:txBody>
                    <a:bodyPr/>
                    <a:lstStyle/>
                    <a:p>
                      <a:pPr>
                        <a:defRPr sz="1200">
                          <a:solidFill>
                            <a:srgbClr val="1C1B33"/>
                          </a:solidFill>
                          <a:latin typeface="Yu Gothic"/>
                        </a:defRPr>
                      </a:pPr>
                      <a:r>
                        <a:t>適用範囲</a:t>
                      </a:r>
                    </a:p>
                  </a:txBody>
                  <a:tcPr>
                    <a:solidFill>
                      <a:srgbClr val="F4F3FC"/>
                    </a:solidFill>
                  </a:tcPr>
                </a:tc>
                <a:tc>
                  <a:txBody>
                    <a:bodyPr/>
                    <a:lstStyle/>
                    <a:p>
                      <a:pPr>
                        <a:defRPr sz="1200">
                          <a:solidFill>
                            <a:srgbClr val="1C1B33"/>
                          </a:solidFill>
                          <a:latin typeface="Yu Gothic"/>
                        </a:defRPr>
                      </a:pPr>
                      <a:r>
                        <a:t>EU域内に限らず世界全体</a:t>
                      </a:r>
                    </a:p>
                  </a:txBody>
                  <a:tcPr>
                    <a:solidFill>
                      <a:srgbClr val="F4F3FC"/>
                    </a:solidFill>
                  </a:tcPr>
                </a:tc>
              </a:tr>
              <a:tr h="502920">
                <a:tc>
                  <a:txBody>
                    <a:bodyPr/>
                    <a:lstStyle/>
                    <a:p>
                      <a:pPr>
                        <a:defRPr sz="1200">
                          <a:solidFill>
                            <a:srgbClr val="1C1B33"/>
                          </a:solidFill>
                          <a:latin typeface="Yu Gothic"/>
                        </a:defRPr>
                      </a:pPr>
                      <a:r>
                        <a:t>根拠</a:t>
                      </a:r>
                    </a:p>
                  </a:txBody>
                  <a:tcPr>
                    <a:solidFill>
                      <a:srgbClr val="FFFFFF"/>
                    </a:solidFill>
                  </a:tcPr>
                </a:tc>
                <a:tc>
                  <a:txBody>
                    <a:bodyPr/>
                    <a:lstStyle/>
                    <a:p>
                      <a:pPr>
                        <a:defRPr sz="1200">
                          <a:solidFill>
                            <a:srgbClr val="1C1B33"/>
                          </a:solidFill>
                          <a:latin typeface="Yu Gothic"/>
                        </a:defRPr>
                      </a:pPr>
                      <a:r>
                        <a:t>EU AI Act第50条・EUの行動規範(Code of Practice)への署名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Anthropic公式ニュース、Euronews、TechXploreほか(2026-08-11〜12)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基礎知識:「EU AI Act 第50条」とは(初心者向け)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EUが定めるAI規制法(AI Act)の中で、AI生成コンテンツの透明性を扱う条文</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AIが生成したコンテンツであることを、利用者が判別できるようにすることを求める趣旨とされる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本テーマではEU規制そのものへの評価は行わず、事実の整理にとどめる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基礎知識:「電子透かし(digital watermark)」とは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もう1つの重要な用語です。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コンテンツの中に、目に見えない形で埋め込まれる機械可読なマーキングのこと</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人間が読んでも気づかないが、専用の仕組みで検出できるとされる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具体的な技術的仕組み・検出方法の詳細は、本調査の範囲では確認できていない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基礎知識:「来歴情報(provenance information)」とは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3つ目の用語です。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コンテンツが「いつ・何によって作られたか」を示す、署名付きの情報のこと</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対応するファイル形式には、この署名付きの来歴情報が付与されるとされる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電子透かしとあわせて、AI生成コンテンツかどうかを判別する手がかりになると位置づけられる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電子透かし導入前 / 導入後の生成テキスト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これまで</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生成テキストに機械可読なマーキングは付与されていなかったとされる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AI生成かどうかの判別は、外部ツールでの推測に頼る面が大きかった</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EU域内での透明性要件への対応方針は、本発表以前は確認できていない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発表された対応</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新しいモデルの生成テキストに機械可読な電子透かしを付与</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対応ファイル形式には署名付きの来歴情報を付与</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EU域内に限らず世界全体で適用されるとされる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発表の3つのポイント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機械可読な電子透かし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新しいClaudeモデルの生成テキストに付与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署名付き来歴情報</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対応するファイル形式に付与するとされる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世界全体で適用</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EU域内に限らない対応方針とされる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起点となる日付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2026年8月2日〜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この日以降にリリースされたモデルから、電子透かし対応が始まっているとされる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Anthropic公式ニュース、Euronewsほか(2026-08-11〜12)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旧モデルへの対応期限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2026年12月2日まで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EUの既存システム向け猶予期間の終了日。この日までに、それ以前のモデルにも電子透かし対応を追加する予定とされる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Anthropic公式ニュース、Euronewsほか(2026-08-11〜12)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適用範囲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EU域内に限らず世界全体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EU AI Act対応として始まった取り組みだが、地域を限定せず世界全体に適用されるとされる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Euronews「EU compliance, delivered globally」ほか(2026-08-11〜12)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対応スケジュール一覧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2026年8月2日〜</a:t>
                      </a:r>
                    </a:p>
                  </a:txBody>
                  <a:tcPr>
                    <a:solidFill>
                      <a:srgbClr val="FFFFFF"/>
                    </a:solidFill>
                  </a:tcPr>
                </a:tc>
                <a:tc>
                  <a:txBody>
                    <a:bodyPr/>
                    <a:lstStyle/>
                    <a:p>
                      <a:pPr>
                        <a:defRPr sz="1200">
                          <a:solidFill>
                            <a:srgbClr val="1C1B33"/>
                          </a:solidFill>
                          <a:latin typeface="Yu Gothic"/>
                        </a:defRPr>
                      </a:pPr>
                      <a:r>
                        <a:t>この日以降のリリースモデルから電子透かし対応が始まっているとされる</a:t>
                      </a:r>
                    </a:p>
                  </a:txBody>
                  <a:tcPr>
                    <a:solidFill>
                      <a:srgbClr val="FFFFFF"/>
                    </a:solidFill>
                  </a:tcPr>
                </a:tc>
              </a:tr>
              <a:tr h="502920">
                <a:tc>
                  <a:txBody>
                    <a:bodyPr/>
                    <a:lstStyle/>
                    <a:p>
                      <a:pPr>
                        <a:defRPr sz="1200">
                          <a:solidFill>
                            <a:srgbClr val="1C1B33"/>
                          </a:solidFill>
                          <a:latin typeface="Yu Gothic"/>
                        </a:defRPr>
                      </a:pPr>
                      <a:r>
                        <a:t>2026年8月11〜12日</a:t>
                      </a:r>
                    </a:p>
                  </a:txBody>
                  <a:tcPr>
                    <a:solidFill>
                      <a:srgbClr val="F4F3FC"/>
                    </a:solidFill>
                  </a:tcPr>
                </a:tc>
                <a:tc>
                  <a:txBody>
                    <a:bodyPr/>
                    <a:lstStyle/>
                    <a:p>
                      <a:pPr>
                        <a:defRPr sz="1200">
                          <a:solidFill>
                            <a:srgbClr val="1C1B33"/>
                          </a:solidFill>
                          <a:latin typeface="Yu Gothic"/>
                        </a:defRPr>
                      </a:pPr>
                      <a:r>
                        <a:t>Anthropicが対応方針を発表</a:t>
                      </a:r>
                    </a:p>
                  </a:txBody>
                  <a:tcPr>
                    <a:solidFill>
                      <a:srgbClr val="F4F3FC"/>
                    </a:solidFill>
                  </a:tcPr>
                </a:tc>
              </a:tr>
              <a:tr h="502920">
                <a:tc>
                  <a:txBody>
                    <a:bodyPr/>
                    <a:lstStyle/>
                    <a:p>
                      <a:pPr>
                        <a:defRPr sz="1200">
                          <a:solidFill>
                            <a:srgbClr val="1C1B33"/>
                          </a:solidFill>
                          <a:latin typeface="Yu Gothic"/>
                        </a:defRPr>
                      </a:pPr>
                      <a:r>
                        <a:t>2026年12月2日まで</a:t>
                      </a:r>
                    </a:p>
                  </a:txBody>
                  <a:tcPr>
                    <a:solidFill>
                      <a:srgbClr val="FFFFFF"/>
                    </a:solidFill>
                  </a:tcPr>
                </a:tc>
                <a:tc>
                  <a:txBody>
                    <a:bodyPr/>
                    <a:lstStyle/>
                    <a:p>
                      <a:pPr>
                        <a:defRPr sz="1200">
                          <a:solidFill>
                            <a:srgbClr val="1C1B33"/>
                          </a:solidFill>
                          <a:latin typeface="Yu Gothic"/>
                        </a:defRPr>
                      </a:pPr>
                      <a:r>
                        <a:t>旧モデルへの対応を完了する予定とされる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基礎知識:EUの「AI生成コンテンツに関する行動規範」とは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発表の根拠となった枠組みです。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EUがAI生成コンテンツの透明性確保のために設けた、企業が任意で署名する行動規範とされる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Anthropicはこの行動規範に署名したと発表した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行動規範の詳細な原文までは、本調査の範囲では直接確認できていない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Anthropic公式ニュース、Euronewsほか(2026-08-11〜12)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数字で振り返る発表の骨子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1社</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発表主体</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Anthropicが電子透かし付与を発表</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6媒体</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確認できた出典数</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公式ニュース含め複数媒体が一致して報道</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8/2</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対応開始</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この日以降のモデルから対応開始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12/2</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対応完了予定</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旧モデルへの対応完了期限とされる</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電子透かしの位置づけ(概念図)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Claudeがテキストを生成</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新しいモデルでの生成時</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機械可読な電子透かしを付与</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目に見えないマーキングとされる</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AI生成かどうかの判別材料になる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判別の実用精度は本調査の範囲では確認できていない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電子透かしは、AI生成コンテンツかどうかを判別する手がかりを増やす取り組みと位置づけられると考えられるが、実際の判別精度は確認できていない(推測との区別)</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これで何が変わるか・どう使えるか(個人にとって)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読み手にとっての意味を整理します。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対象となる新しいClaudeモデルで生成したテキストには、電子透かしが付与される可能性がある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透かしを検出・検証する具体的な方法は、本調査の範囲では確認できていない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生成物の真正性を過信も過小評価もせず、続報を確認するのが実践的とされる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これで何が変わるか・どう使えるか(企業・組織にとって)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企業・組織にとっての意味を整理します。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AI生成コンテンツの真正性表示に関する社内ルール整備の参考材料になりうる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EU域内で事業を行う組織は、EU AI Act第50条対応の動向として注視する価値があるとされる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具体的な業務影響・コストは、本調査の範囲では確認できていない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電子透かしの具体的な技術的仕組み</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透かしを検出・検証する具体的な方法・ツール</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r h="502920">
                <a:tc>
                  <a:txBody>
                    <a:bodyPr/>
                    <a:lstStyle/>
                    <a:p>
                      <a:pPr>
                        <a:defRPr sz="1200">
                          <a:solidFill>
                            <a:srgbClr val="1C1B33"/>
                          </a:solidFill>
                          <a:latin typeface="Yu Gothic"/>
                        </a:defRPr>
                      </a:pPr>
                      <a:r>
                        <a:t>ユーザー体験(応答速度・品質)への影響の有無</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対象がテキストのみか、画像・音声等も含むかの詳細な線引き</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r h="502920">
                <a:tc>
                  <a:txBody>
                    <a:bodyPr/>
                    <a:lstStyle/>
                    <a:p>
                      <a:pPr>
                        <a:defRPr sz="1200">
                          <a:solidFill>
                            <a:srgbClr val="1C1B33"/>
                          </a:solidFill>
                          <a:latin typeface="Yu Gothic"/>
                        </a:defRPr>
                      </a:pPr>
                      <a:r>
                        <a:t>透かしを回避・除去する行為への対策の有無</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事実・推測・不明の区別</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検証済み事実</a:t>
                      </a:r>
                    </a:p>
                  </a:txBody>
                  <a:tcPr>
                    <a:solidFill>
                      <a:srgbClr val="FFFFFF"/>
                    </a:solidFill>
                  </a:tcPr>
                </a:tc>
                <a:tc>
                  <a:txBody>
                    <a:bodyPr/>
                    <a:lstStyle/>
                    <a:p>
                      <a:pPr>
                        <a:defRPr sz="1200">
                          <a:solidFill>
                            <a:srgbClr val="1C1B33"/>
                          </a:solidFill>
                          <a:latin typeface="Yu Gothic"/>
                        </a:defRPr>
                      </a:pPr>
                      <a:r>
                        <a:t>発表時期・対応開始日・対応完了予定日・適用範囲・行動規範への署名</a:t>
                      </a:r>
                    </a:p>
                  </a:txBody>
                  <a:tcPr>
                    <a:solidFill>
                      <a:srgbClr val="FFFFFF"/>
                    </a:solidFill>
                  </a:tcPr>
                </a:tc>
              </a:tr>
              <a:tr h="502920">
                <a:tc>
                  <a:txBody>
                    <a:bodyPr/>
                    <a:lstStyle/>
                    <a:p>
                      <a:pPr>
                        <a:defRPr sz="1200">
                          <a:solidFill>
                            <a:srgbClr val="1C1B33"/>
                          </a:solidFill>
                          <a:latin typeface="Yu Gothic"/>
                        </a:defRPr>
                      </a:pPr>
                      <a:r>
                        <a:t>合理的推測</a:t>
                      </a:r>
                    </a:p>
                  </a:txBody>
                  <a:tcPr>
                    <a:solidFill>
                      <a:srgbClr val="F4F3FC"/>
                    </a:solidFill>
                  </a:tcPr>
                </a:tc>
                <a:tc>
                  <a:txBody>
                    <a:bodyPr/>
                    <a:lstStyle/>
                    <a:p>
                      <a:pPr>
                        <a:defRPr sz="1200">
                          <a:solidFill>
                            <a:srgbClr val="1C1B33"/>
                          </a:solidFill>
                          <a:latin typeface="Yu Gothic"/>
                        </a:defRPr>
                      </a:pPr>
                      <a:r>
                        <a:t>電子透かしがAI生成コンテンツの判別手がかりを増やす取り組みと位置づけられること、世界全体への適用が運用コストの観点で合理的な可能性があること</a:t>
                      </a:r>
                    </a:p>
                  </a:txBody>
                  <a:tcPr>
                    <a:solidFill>
                      <a:srgbClr val="F4F3FC"/>
                    </a:solidFill>
                  </a:tcPr>
                </a:tc>
              </a:tr>
              <a:tr h="502920">
                <a:tc>
                  <a:txBody>
                    <a:bodyPr/>
                    <a:lstStyle/>
                    <a:p>
                      <a:pPr>
                        <a:defRPr sz="1200">
                          <a:solidFill>
                            <a:srgbClr val="1C1B33"/>
                          </a:solidFill>
                          <a:latin typeface="Yu Gothic"/>
                        </a:defRPr>
                      </a:pPr>
                      <a:r>
                        <a:t>不明</a:t>
                      </a:r>
                    </a:p>
                  </a:txBody>
                  <a:tcPr>
                    <a:solidFill>
                      <a:srgbClr val="FFFFFF"/>
                    </a:solidFill>
                  </a:tcPr>
                </a:tc>
                <a:tc>
                  <a:txBody>
                    <a:bodyPr/>
                    <a:lstStyle/>
                    <a:p>
                      <a:pPr>
                        <a:defRPr sz="1200">
                          <a:solidFill>
                            <a:srgbClr val="1C1B33"/>
                          </a:solidFill>
                          <a:latin typeface="Yu Gothic"/>
                        </a:defRPr>
                      </a:pPr>
                      <a:r>
                        <a:t>技術的仕組み・検出方法・UXへの影響・対象モダリティの詳細・競合他社の同種の取り組みの詳細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競合他社の動向について(正直な開示)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捏造せず、正直にお伝えします。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OpenAI・Google等、競合他社の同種の電子透かしの取り組みについて、本ラウンドの調査範囲では確認できていない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存在しない競合動向を推測で書くことはせず、「不明」として扱う</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競合比較が必要な場合は、別途追加調査が必要になる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本テーマの取り扱い方針(自己参照リスクへの配慮・削除禁止)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本テーマがAnthropic社に関するテーマであることを踏まえた必須の開示です。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本パイプライン(AI Company OS)自体が、Anthropic社のClaude(Claude Code)を基盤として制作されている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そのため「最も優れている」「業界をリードする」等の賞賛・宣伝的な表現は一切使わない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「AIが人間の仕事を代替する」という論調は取らず、特定製品としてのClaudeの利用を推奨する結論にもしない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この発表を見て確認すべきこと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続報を待つ</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技術的仕組み・検出方法などの続報を確認する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一次情報にあたる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Anthropic公式ブログ・EUの行動規範原文を確認する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断定しない</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透かしの判別精度・実用性を過信も過小評価もしない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立場別の実践的示唆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個人として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生成物の真正性表示の仕組みが広がっている動きとして把握する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企業・組織として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EU AI Act対応の動向として注視し、社内ルール整備の参考にする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情報の受け手として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透かしの有無だけでAI生成か否かを断定しない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報道日</a:t>
                      </a:r>
                    </a:p>
                  </a:txBody>
                  <a:tcPr>
                    <a:solidFill>
                      <a:srgbClr val="2E2A72"/>
                    </a:solidFill>
                  </a:tcPr>
                </a:tc>
              </a:tr>
              <a:tr h="502920">
                <a:tc>
                  <a:txBody>
                    <a:bodyPr/>
                    <a:lstStyle/>
                    <a:p>
                      <a:pPr>
                        <a:defRPr sz="1200">
                          <a:solidFill>
                            <a:srgbClr val="1C1B33"/>
                          </a:solidFill>
                          <a:latin typeface="Yu Gothic"/>
                        </a:defRPr>
                      </a:pPr>
                      <a:r>
                        <a:t>Anthropic公式ニュース</a:t>
                      </a:r>
                    </a:p>
                  </a:txBody>
                  <a:tcPr>
                    <a:solidFill>
                      <a:srgbClr val="FFFFFF"/>
                    </a:solidFill>
                  </a:tcPr>
                </a:tc>
                <a:tc>
                  <a:txBody>
                    <a:bodyPr/>
                    <a:lstStyle/>
                    <a:p>
                      <a:pPr>
                        <a:defRPr sz="1200">
                          <a:solidFill>
                            <a:srgbClr val="1C1B33"/>
                          </a:solidFill>
                          <a:latin typeface="Yu Gothic"/>
                        </a:defRPr>
                      </a:pPr>
                      <a:r>
                        <a:t>2026-08-11〜12</a:t>
                      </a:r>
                    </a:p>
                  </a:txBody>
                  <a:tcPr>
                    <a:solidFill>
                      <a:srgbClr val="FFFFFF"/>
                    </a:solidFill>
                  </a:tcPr>
                </a:tc>
              </a:tr>
              <a:tr h="502920">
                <a:tc>
                  <a:txBody>
                    <a:bodyPr/>
                    <a:lstStyle/>
                    <a:p>
                      <a:pPr>
                        <a:defRPr sz="1200">
                          <a:solidFill>
                            <a:srgbClr val="1C1B33"/>
                          </a:solidFill>
                          <a:latin typeface="Yu Gothic"/>
                        </a:defRPr>
                      </a:pPr>
                      <a:r>
                        <a:t>Euronews</a:t>
                      </a:r>
                    </a:p>
                  </a:txBody>
                  <a:tcPr>
                    <a:solidFill>
                      <a:srgbClr val="F4F3FC"/>
                    </a:solidFill>
                  </a:tcPr>
                </a:tc>
                <a:tc>
                  <a:txBody>
                    <a:bodyPr/>
                    <a:lstStyle/>
                    <a:p>
                      <a:pPr>
                        <a:defRPr sz="1200">
                          <a:solidFill>
                            <a:srgbClr val="1C1B33"/>
                          </a:solidFill>
                          <a:latin typeface="Yu Gothic"/>
                        </a:defRPr>
                      </a:pPr>
                      <a:r>
                        <a:t>2026-08-11〜12</a:t>
                      </a:r>
                    </a:p>
                  </a:txBody>
                  <a:tcPr>
                    <a:solidFill>
                      <a:srgbClr val="F4F3FC"/>
                    </a:solidFill>
                  </a:tcPr>
                </a:tc>
              </a:tr>
              <a:tr h="502920">
                <a:tc>
                  <a:txBody>
                    <a:bodyPr/>
                    <a:lstStyle/>
                    <a:p>
                      <a:pPr>
                        <a:defRPr sz="1200">
                          <a:solidFill>
                            <a:srgbClr val="1C1B33"/>
                          </a:solidFill>
                          <a:latin typeface="Yu Gothic"/>
                        </a:defRPr>
                      </a:pPr>
                      <a:r>
                        <a:t>TechXplore</a:t>
                      </a:r>
                    </a:p>
                  </a:txBody>
                  <a:tcPr>
                    <a:solidFill>
                      <a:srgbClr val="FFFFFF"/>
                    </a:solidFill>
                  </a:tcPr>
                </a:tc>
                <a:tc>
                  <a:txBody>
                    <a:bodyPr/>
                    <a:lstStyle/>
                    <a:p>
                      <a:pPr>
                        <a:defRPr sz="1200">
                          <a:solidFill>
                            <a:srgbClr val="1C1B33"/>
                          </a:solidFill>
                          <a:latin typeface="Yu Gothic"/>
                        </a:defRPr>
                      </a:pPr>
                      <a:r>
                        <a:t>2026-08-11〜12</a:t>
                      </a:r>
                    </a:p>
                  </a:txBody>
                  <a:tcPr>
                    <a:solidFill>
                      <a:srgbClr val="FFFFFF"/>
                    </a:solidFill>
                  </a:tcPr>
                </a:tc>
              </a:tr>
              <a:tr h="502920">
                <a:tc>
                  <a:txBody>
                    <a:bodyPr/>
                    <a:lstStyle/>
                    <a:p>
                      <a:pPr>
                        <a:defRPr sz="1200">
                          <a:solidFill>
                            <a:srgbClr val="1C1B33"/>
                          </a:solidFill>
                          <a:latin typeface="Yu Gothic"/>
                        </a:defRPr>
                      </a:pPr>
                      <a:r>
                        <a:t>Axios</a:t>
                      </a:r>
                    </a:p>
                  </a:txBody>
                  <a:tcPr>
                    <a:solidFill>
                      <a:srgbClr val="F4F3FC"/>
                    </a:solidFill>
                  </a:tcPr>
                </a:tc>
                <a:tc>
                  <a:txBody>
                    <a:bodyPr/>
                    <a:lstStyle/>
                    <a:p>
                      <a:pPr>
                        <a:defRPr sz="1200">
                          <a:solidFill>
                            <a:srgbClr val="1C1B33"/>
                          </a:solidFill>
                          <a:latin typeface="Yu Gothic"/>
                        </a:defRPr>
                      </a:pPr>
                      <a:r>
                        <a:t>2026-08-11〜12</a:t>
                      </a:r>
                    </a:p>
                  </a:txBody>
                  <a:tcPr>
                    <a:solidFill>
                      <a:srgbClr val="F4F3FC"/>
                    </a:solidFill>
                  </a:tcPr>
                </a:tc>
              </a:tr>
              <a:tr h="502920">
                <a:tc>
                  <a:txBody>
                    <a:bodyPr/>
                    <a:lstStyle/>
                    <a:p>
                      <a:pPr>
                        <a:defRPr sz="1200">
                          <a:solidFill>
                            <a:srgbClr val="1C1B33"/>
                          </a:solidFill>
                          <a:latin typeface="Yu Gothic"/>
                        </a:defRPr>
                      </a:pPr>
                      <a:r>
                        <a:t>Interesting Engineering / Search Engine Journal</a:t>
                      </a:r>
                    </a:p>
                  </a:txBody>
                  <a:tcPr>
                    <a:solidFill>
                      <a:srgbClr val="FFFFFF"/>
                    </a:solidFill>
                  </a:tcPr>
                </a:tc>
                <a:tc>
                  <a:txBody>
                    <a:bodyPr/>
                    <a:lstStyle/>
                    <a:p>
                      <a:pPr>
                        <a:defRPr sz="1200">
                          <a:solidFill>
                            <a:srgbClr val="1C1B33"/>
                          </a:solidFill>
                          <a:latin typeface="Yu Gothic"/>
                        </a:defRPr>
                      </a:pPr>
                      <a:r>
                        <a:t>2026-08-11〜12</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本調査で確認できた出典</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Anthropic公式ニュース、Euronews、TechXplore、Axios ほか(2026-08-11〜12報道)｜193本目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電子透かしの付与は、AI生成コンテンツの透明性表示が広がる一つの動きとして報じられている。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特定企業・製品の利用を強く推奨する結論や、技術的な優劣についての断定は一切行っていません。本パイプライン自体がAnthropic社のClaudeを基盤としている点もあわせて開示しています。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