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2026年8月24日、OpenAIはChatGPT上の広告表示を欧州31市場で開始しました。予告から実施へ、何が確定したのかを出典付きで整理してお届けします。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結論から確認します。本日2026年8月24日、ChatGPT広告が欧州31市場へ一気に展開されました。これはChatGPT広告事業として過去最大の地理的拡大です。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今日は6つの流れでお伝えします。予告から実施までの変化に注目しながら、正確に事実を引用して整理します。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このテーマを扱う理由です。当日性の高さと、予告から実施への変化という点に注目しました。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本日起きたことの基本情報です。米国での試験導入から6か月かけて、欧州へと展開が広がりました。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今回の展開規模の大きさを確認します。一度に約31もの市場をカバーする、過去最大の拡大です。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対応市場数は約9から約40へと一気に拡大しました。これほど大きな一回の拡大は今回が初めてです。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対象プランは無料のFreeと低価格帯のGoのみです。有料の上位プランは引き続き広告なしで利用できます。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米国での試験導入から欧州展開まで、6か月かけて段階的に広がってきた流れを図にしました。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通知メールから本日のローンチまでの流れを3ステップで総括しました。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GDPRという欧州特有の規制を踏まえ、当初はパーソナライズなしの文脈連動型広告のみで開始する点が特徴です。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文脈連動型広告とパーソナライズ広告の違いを対比しました。欧州で始まったのは前者のみです。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広告の見た目について、回答本文と混同しないよう明確に区別されている点が確認されています。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料金プランごとの広告表示の有無をまとめました。広告を避けたい場合はPlus以上のプランが必要です。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広告を避けたい場合、Plusプランで月額約23ユーロが必要になります。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広告主側は当面、代理店経由でのみアクセスできる仕組みです。セルフサーブは今後の課題として残っています。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ローンチ時点でアクセス可能な代理店・技術パートナーの一覧です。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米国での試験導入から約6か月をかけて、段階的に地域を広げてきた結果が今回の欧州展開です。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8月16日付の既存テーマとの違いを確認します。あの時『不明』だった項目が、本日すべて確定しました。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予告時点で不明だった項目が、本日すべて確定した事実として公表されました。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AI業界全体における位置づけを確認します。無料AIサービスの収益化という大きな流れの一例です。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広告が表示されるのはFree・Goの2プランのみで、それ以外の上位プランは引き続き広告なしです。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視聴者にとっての意味を確認します。無料で使い続けたい方にとって、広告表示は今後の利用体験に関わる変化です。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確認できなかったことを正直にお伝えします。収益額や個別の広告主名は公表されていません。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低価格帯のGoプランは月額約7ユーロですが、Freeプランと同様に広告が表示されます。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本編のまとめです。予告から実施へ、確定した事実を出典付きで整理してお伝えしました。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ChatGPT広告の欧州展開について、予告から実施までの変化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ChatGPT広告、</a:t>
            </a:r>
          </a:p>
          <a:p>
            <a:pPr algn="l">
              <a:lnSpc>
                <a:spcPct val="115000"/>
              </a:lnSpc>
            </a:pPr>
            <a:r>
              <a:rPr sz="4200" b="1">
                <a:solidFill>
                  <a:srgbClr val="FFFFFF"/>
                </a:solidFill>
                <a:latin typeface="Yu Gothic"/>
              </a:rPr>
              <a:t>欧州31市場で</a:t>
            </a:r>
          </a:p>
          <a:p>
            <a:pPr algn="l">
              <a:lnSpc>
                <a:spcPct val="115000"/>
              </a:lnSpc>
            </a:pPr>
            <a:r>
              <a:rPr sz="4200" b="1">
                <a:solidFill>
                  <a:srgbClr val="FFFFFF"/>
                </a:solidFill>
                <a:latin typeface="Yu Gothic"/>
              </a:rPr>
              <a:t>本日ローンチ</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2026年8月24日——予告されていた広告表示が、ついに実際に始まった</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OpenAI公式ブログ・Digiday(2026年8月24日)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本日31市場 ChatGPT広告事業として過去最大の地理的拡大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EU加盟27カ国+ノルウェー・アイスランド・リヒテンシュタイン・スイス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OpenAI公式ブログ・Digiday(2026-08-24)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本日何が起きたのかを確認する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対象プラン・広告の仕組みを確認する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料金プランと広告主のアクセス方法を確認する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予告時点(8月16日)との違いを確認する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着手日当日(2026年8月24日)に実際にローンチが行われた、鮮度の高い話題である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『予告』段階だった8月16日付の既存テーマから一歩進み、確定した新規事実が多く公表された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OpenAI公式ブログを含む複数の独立したメディアが同日に同一の事実を報じている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多くの人が日常的に使うChatGPTに関わる、生活に直結する話題である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OpenAI公式ブログ・Digiday(2026-08-24)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本日何が起きたのか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実施日</a:t>
                      </a:r>
                    </a:p>
                  </a:txBody>
                  <a:tcPr>
                    <a:solidFill>
                      <a:srgbClr val="FFFFFF"/>
                    </a:solidFill>
                  </a:tcPr>
                </a:tc>
                <a:tc>
                  <a:txBody>
                    <a:bodyPr/>
                    <a:lstStyle/>
                    <a:p>
                      <a:pPr>
                        <a:defRPr sz="1200">
                          <a:solidFill>
                            <a:srgbClr val="20261F"/>
                          </a:solidFill>
                          <a:latin typeface="Yu Gothic"/>
                        </a:defRPr>
                      </a:pPr>
                      <a:r>
                        <a:t>2026年8月24日(月)</a:t>
                      </a:r>
                    </a:p>
                  </a:txBody>
                  <a:tcPr>
                    <a:solidFill>
                      <a:srgbClr val="FFFFFF"/>
                    </a:solidFill>
                  </a:tcPr>
                </a:tc>
              </a:tr>
              <a:tr h="502920">
                <a:tc>
                  <a:txBody>
                    <a:bodyPr/>
                    <a:lstStyle/>
                    <a:p>
                      <a:pPr>
                        <a:defRPr sz="1200">
                          <a:solidFill>
                            <a:srgbClr val="20261F"/>
                          </a:solidFill>
                          <a:latin typeface="Yu Gothic"/>
                        </a:defRPr>
                      </a:pPr>
                      <a:r>
                        <a:t>対象市場数</a:t>
                      </a:r>
                    </a:p>
                  </a:txBody>
                  <a:tcPr>
                    <a:solidFill>
                      <a:srgbClr val="F4F1E6"/>
                    </a:solidFill>
                  </a:tcPr>
                </a:tc>
                <a:tc>
                  <a:txBody>
                    <a:bodyPr/>
                    <a:lstStyle/>
                    <a:p>
                      <a:pPr>
                        <a:defRPr sz="1200">
                          <a:solidFill>
                            <a:srgbClr val="20261F"/>
                          </a:solidFill>
                          <a:latin typeface="Yu Gothic"/>
                        </a:defRPr>
                      </a:pPr>
                      <a:r>
                        <a:t>31市場(EU加盟27カ国+ノルウェー・アイスランド・リヒテンシュタイン・スイス)</a:t>
                      </a:r>
                    </a:p>
                  </a:txBody>
                  <a:tcPr>
                    <a:solidFill>
                      <a:srgbClr val="F4F1E6"/>
                    </a:solidFill>
                  </a:tcPr>
                </a:tc>
              </a:tr>
              <a:tr h="502920">
                <a:tc>
                  <a:txBody>
                    <a:bodyPr/>
                    <a:lstStyle/>
                    <a:p>
                      <a:pPr>
                        <a:defRPr sz="1200">
                          <a:solidFill>
                            <a:srgbClr val="20261F"/>
                          </a:solidFill>
                          <a:latin typeface="Yu Gothic"/>
                        </a:defRPr>
                      </a:pPr>
                      <a:r>
                        <a:t>米国試験導入からの期間</a:t>
                      </a:r>
                    </a:p>
                  </a:txBody>
                  <a:tcPr>
                    <a:solidFill>
                      <a:srgbClr val="FFFFFF"/>
                    </a:solidFill>
                  </a:tcPr>
                </a:tc>
                <a:tc>
                  <a:txBody>
                    <a:bodyPr/>
                    <a:lstStyle/>
                    <a:p>
                      <a:pPr>
                        <a:defRPr sz="1200">
                          <a:solidFill>
                            <a:srgbClr val="20261F"/>
                          </a:solidFill>
                          <a:latin typeface="Yu Gothic"/>
                        </a:defRPr>
                      </a:pPr>
                      <a:r>
                        <a:t>約6か月(2026年2月に開始)</a:t>
                      </a:r>
                    </a:p>
                  </a:txBody>
                  <a:tcPr>
                    <a:solidFill>
                      <a:srgbClr val="FFFFFF"/>
                    </a:solidFill>
                  </a:tcPr>
                </a:tc>
              </a:tr>
              <a:tr h="502920">
                <a:tc>
                  <a:txBody>
                    <a:bodyPr/>
                    <a:lstStyle/>
                    <a:p>
                      <a:pPr>
                        <a:defRPr sz="1200">
                          <a:solidFill>
                            <a:srgbClr val="20261F"/>
                          </a:solidFill>
                          <a:latin typeface="Yu Gothic"/>
                        </a:defRPr>
                      </a:pPr>
                      <a:r>
                        <a:t>既存展開先</a:t>
                      </a:r>
                    </a:p>
                  </a:txBody>
                  <a:tcPr>
                    <a:solidFill>
                      <a:srgbClr val="F4F1E6"/>
                    </a:solidFill>
                  </a:tcPr>
                </a:tc>
                <a:tc>
                  <a:txBody>
                    <a:bodyPr/>
                    <a:lstStyle/>
                    <a:p>
                      <a:pPr>
                        <a:defRPr sz="1200">
                          <a:solidFill>
                            <a:srgbClr val="20261F"/>
                          </a:solidFill>
                          <a:latin typeface="Yu Gothic"/>
                        </a:defRPr>
                      </a:pPr>
                      <a:r>
                        <a:t>カナダ・オーストラリア・NZ・英国・メキシコ・ブラジル・日本・韓国</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OpenAI公式ブログ・Digiday(2026-08-24)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展開の規模</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今回の拡大がどれほど大きいかを確認します。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対応市場数が約9から一気に約40へ増加した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ChatGPT広告事業としては過去最大の地理的拡大にあたる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欧州単独で27カ国+周辺3カ国を一度にカバーする形となった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Digiday(2026-08-24)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対応市場数の変化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約9→約40 今回の展開前後での対応市場数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欧州31市場の追加により一気に拡大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Digiday(2026-08-24)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対象プラン・非対象プラン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広告が表示されるプランを確認します。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広告が表示されるのはFree・Goプランのみである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Plus・Pro・Enterpriseプランは引き続き広告非表示のままである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広告は回答本文と視覚的に明確に区別して表示される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OpenAI公式ブログ・Yahoo Finance(2026-08-24)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展開までの流れ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米国で試験導入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2026年2月</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他地域へ順次展開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カナダ・豪州・英国・日本・韓国等</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欧州31市場で本日ローンチ</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2026年8月24日</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米国試験導入から欧州展開までの流れ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OpenAI公式ブログ・Digiday(2026-08-24)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予告から実施までの3ステップ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通知メール送付</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2026年8月15日、欧州ユーザーへ事前通知</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具体的な日程が予告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8月19日以降、8月24日開始と報道</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本日、実際にローンチ</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2026年8月24日、31市場で開始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GDPR対応・文脈連動型広告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欧州展開特有の配慮を確認します。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欧州展開ではGDPR準拠のため、パーソナライズなし(会話履歴を使わない)の広告のみで開始する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広告は「今の会話の話題」「大まかな位置情報」「デバイス種別」といった文脈情報のみに基づいて選ばれる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チャット履歴やメモリー機能を使ったパーソナライズ広告は、欧州では当初提供されない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Neowin・techjournal.org(2026-08-24)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文脈連動型広告 vs パーソナライズ広告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文脈連動型広告(欧州で今回開始)</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今の会話の話題のみに基づく</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過去の会話やプロフィールは使わない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パーソナライズ広告(欧州では当初なし)</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チャット履歴・メモリー機能を使用</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個人ごとに最適化される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広告の見た目・表示の仕方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広告がどう表示されるかを確認します。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広告はChatGPTの回答本文と視覚的に明確に区別して表示される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広告主の情報がユーザーの会話内容と混同されない設計になっている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OpenAIは広告表示の透明性を重視する方針を公式ブログで説明している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料金プランと広告表示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プラン</a:t>
                      </a:r>
                    </a:p>
                  </a:txBody>
                  <a:tcPr>
                    <a:solidFill>
                      <a:srgbClr val="24523F"/>
                    </a:solidFill>
                  </a:tcPr>
                </a:tc>
                <a:tc>
                  <a:txBody>
                    <a:bodyPr/>
                    <a:lstStyle/>
                    <a:p>
                      <a:pPr>
                        <a:defRPr sz="1300" b="1">
                          <a:solidFill>
                            <a:srgbClr val="FFFFFF"/>
                          </a:solidFill>
                          <a:latin typeface="Yu Gothic"/>
                        </a:defRPr>
                      </a:pPr>
                      <a:r>
                        <a:t>月額(欧州)</a:t>
                      </a:r>
                    </a:p>
                  </a:txBody>
                  <a:tcPr>
                    <a:solidFill>
                      <a:srgbClr val="24523F"/>
                    </a:solidFill>
                  </a:tcPr>
                </a:tc>
                <a:tc>
                  <a:txBody>
                    <a:bodyPr/>
                    <a:lstStyle/>
                    <a:p>
                      <a:pPr>
                        <a:defRPr sz="1300" b="1">
                          <a:solidFill>
                            <a:srgbClr val="FFFFFF"/>
                          </a:solidFill>
                          <a:latin typeface="Yu Gothic"/>
                        </a:defRPr>
                      </a:pPr>
                      <a:r>
                        <a:t>広告</a:t>
                      </a:r>
                    </a:p>
                  </a:txBody>
                  <a:tcPr>
                    <a:solidFill>
                      <a:srgbClr val="24523F"/>
                    </a:solidFill>
                  </a:tcPr>
                </a:tc>
              </a:tr>
              <a:tr h="502920">
                <a:tc>
                  <a:txBody>
                    <a:bodyPr/>
                    <a:lstStyle/>
                    <a:p>
                      <a:pPr>
                        <a:defRPr sz="1200">
                          <a:solidFill>
                            <a:srgbClr val="20261F"/>
                          </a:solidFill>
                          <a:latin typeface="Yu Gothic"/>
                        </a:defRPr>
                      </a:pPr>
                      <a:r>
                        <a:t>Go</a:t>
                      </a:r>
                    </a:p>
                  </a:txBody>
                  <a:tcPr>
                    <a:solidFill>
                      <a:srgbClr val="FFFFFF"/>
                    </a:solidFill>
                  </a:tcPr>
                </a:tc>
                <a:tc>
                  <a:txBody>
                    <a:bodyPr/>
                    <a:lstStyle/>
                    <a:p>
                      <a:pPr>
                        <a:defRPr sz="1200">
                          <a:solidFill>
                            <a:srgbClr val="20261F"/>
                          </a:solidFill>
                          <a:latin typeface="Yu Gothic"/>
                        </a:defRPr>
                      </a:pPr>
                      <a:r>
                        <a:t>約7ユーロ</a:t>
                      </a:r>
                    </a:p>
                  </a:txBody>
                  <a:tcPr>
                    <a:solidFill>
                      <a:srgbClr val="FFFFFF"/>
                    </a:solidFill>
                  </a:tcPr>
                </a:tc>
                <a:tc>
                  <a:txBody>
                    <a:bodyPr/>
                    <a:lstStyle/>
                    <a:p>
                      <a:pPr>
                        <a:defRPr sz="1200">
                          <a:solidFill>
                            <a:srgbClr val="20261F"/>
                          </a:solidFill>
                          <a:latin typeface="Yu Gothic"/>
                        </a:defRPr>
                      </a:pPr>
                      <a:r>
                        <a:t>表示される</a:t>
                      </a:r>
                    </a:p>
                  </a:txBody>
                  <a:tcPr>
                    <a:solidFill>
                      <a:srgbClr val="FFFFFF"/>
                    </a:solidFill>
                  </a:tcPr>
                </a:tc>
              </a:tr>
              <a:tr h="502920">
                <a:tc>
                  <a:txBody>
                    <a:bodyPr/>
                    <a:lstStyle/>
                    <a:p>
                      <a:pPr>
                        <a:defRPr sz="1200">
                          <a:solidFill>
                            <a:srgbClr val="20261F"/>
                          </a:solidFill>
                          <a:latin typeface="Yu Gothic"/>
                        </a:defRPr>
                      </a:pPr>
                      <a:r>
                        <a:t>Free</a:t>
                      </a:r>
                    </a:p>
                  </a:txBody>
                  <a:tcPr>
                    <a:solidFill>
                      <a:srgbClr val="F4F1E6"/>
                    </a:solidFill>
                  </a:tcPr>
                </a:tc>
                <a:tc>
                  <a:txBody>
                    <a:bodyPr/>
                    <a:lstStyle/>
                    <a:p>
                      <a:pPr>
                        <a:defRPr sz="1200">
                          <a:solidFill>
                            <a:srgbClr val="20261F"/>
                          </a:solidFill>
                          <a:latin typeface="Yu Gothic"/>
                        </a:defRPr>
                      </a:pPr>
                      <a:r>
                        <a:t>無料</a:t>
                      </a:r>
                    </a:p>
                  </a:txBody>
                  <a:tcPr>
                    <a:solidFill>
                      <a:srgbClr val="F4F1E6"/>
                    </a:solidFill>
                  </a:tcPr>
                </a:tc>
                <a:tc>
                  <a:txBody>
                    <a:bodyPr/>
                    <a:lstStyle/>
                    <a:p>
                      <a:pPr>
                        <a:defRPr sz="1200">
                          <a:solidFill>
                            <a:srgbClr val="20261F"/>
                          </a:solidFill>
                          <a:latin typeface="Yu Gothic"/>
                        </a:defRPr>
                      </a:pPr>
                      <a:r>
                        <a:t>表示される</a:t>
                      </a:r>
                    </a:p>
                  </a:txBody>
                  <a:tcPr>
                    <a:solidFill>
                      <a:srgbClr val="F4F1E6"/>
                    </a:solidFill>
                  </a:tcPr>
                </a:tc>
              </a:tr>
              <a:tr h="502920">
                <a:tc>
                  <a:txBody>
                    <a:bodyPr/>
                    <a:lstStyle/>
                    <a:p>
                      <a:pPr>
                        <a:defRPr sz="1200">
                          <a:solidFill>
                            <a:srgbClr val="20261F"/>
                          </a:solidFill>
                          <a:latin typeface="Yu Gothic"/>
                        </a:defRPr>
                      </a:pPr>
                      <a:r>
                        <a:t>Plus</a:t>
                      </a:r>
                    </a:p>
                  </a:txBody>
                  <a:tcPr>
                    <a:solidFill>
                      <a:srgbClr val="FFFFFF"/>
                    </a:solidFill>
                  </a:tcPr>
                </a:tc>
                <a:tc>
                  <a:txBody>
                    <a:bodyPr/>
                    <a:lstStyle/>
                    <a:p>
                      <a:pPr>
                        <a:defRPr sz="1200">
                          <a:solidFill>
                            <a:srgbClr val="20261F"/>
                          </a:solidFill>
                          <a:latin typeface="Yu Gothic"/>
                        </a:defRPr>
                      </a:pPr>
                      <a:r>
                        <a:t>約23ユーロ</a:t>
                      </a:r>
                    </a:p>
                  </a:txBody>
                  <a:tcPr>
                    <a:solidFill>
                      <a:srgbClr val="FFFFFF"/>
                    </a:solidFill>
                  </a:tcPr>
                </a:tc>
                <a:tc>
                  <a:txBody>
                    <a:bodyPr/>
                    <a:lstStyle/>
                    <a:p>
                      <a:pPr>
                        <a:defRPr sz="1200">
                          <a:solidFill>
                            <a:srgbClr val="20261F"/>
                          </a:solidFill>
                          <a:latin typeface="Yu Gothic"/>
                        </a:defRPr>
                      </a:pPr>
                      <a:r>
                        <a:t>表示されない</a:t>
                      </a:r>
                    </a:p>
                  </a:txBody>
                  <a:tcPr>
                    <a:solidFill>
                      <a:srgbClr val="FFFFFF"/>
                    </a:solidFill>
                  </a:tcPr>
                </a:tc>
              </a:tr>
              <a:tr h="502920">
                <a:tc>
                  <a:txBody>
                    <a:bodyPr/>
                    <a:lstStyle/>
                    <a:p>
                      <a:pPr>
                        <a:defRPr sz="1200">
                          <a:solidFill>
                            <a:srgbClr val="20261F"/>
                          </a:solidFill>
                          <a:latin typeface="Yu Gothic"/>
                        </a:defRPr>
                      </a:pPr>
                      <a:r>
                        <a:t>Pro</a:t>
                      </a:r>
                    </a:p>
                  </a:txBody>
                  <a:tcPr>
                    <a:solidFill>
                      <a:srgbClr val="F4F1E6"/>
                    </a:solidFill>
                  </a:tcPr>
                </a:tc>
                <a:tc>
                  <a:txBody>
                    <a:bodyPr/>
                    <a:lstStyle/>
                    <a:p>
                      <a:pPr>
                        <a:defRPr sz="1200">
                          <a:solidFill>
                            <a:srgbClr val="20261F"/>
                          </a:solidFill>
                          <a:latin typeface="Yu Gothic"/>
                        </a:defRPr>
                      </a:pPr>
                      <a:r>
                        <a:t>約229ユーロ</a:t>
                      </a:r>
                    </a:p>
                  </a:txBody>
                  <a:tcPr>
                    <a:solidFill>
                      <a:srgbClr val="F4F1E6"/>
                    </a:solidFill>
                  </a:tcPr>
                </a:tc>
                <a:tc>
                  <a:txBody>
                    <a:bodyPr/>
                    <a:lstStyle/>
                    <a:p>
                      <a:pPr>
                        <a:defRPr sz="1200">
                          <a:solidFill>
                            <a:srgbClr val="20261F"/>
                          </a:solidFill>
                          <a:latin typeface="Yu Gothic"/>
                        </a:defRPr>
                      </a:pPr>
                      <a:r>
                        <a:t>表示されない</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Digiday(2026-08-24)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Plusプランの月額料金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約23ユーロ 広告非表示のPlusプラン(欧州)の月額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約27ドル相当。Goプラン(約7ユーロ)との差額で広告非表示を選べる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Digiday(2026-08-24)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広告主のアクセス方法</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広告主側の仕組みを確認します。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ローンチ時点では、広告主はOpenAI Ads Solutions Teamおよび代理店・技術パートナー経由でのみアクセス可能である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セルフサーブ(自分で管理画面から出稿する仕組み、Ads Manager)は後日提供予定とされている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現時点で欧州の広告主が自分で広告枠を予約・購入することはまだできない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Digiday・SEROundtable(2026-08-24)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ローンチ時点の代理店パートナー</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11277295"/>
              </a:tblGrid>
              <a:tr h="502920">
                <a:tc>
                  <a:txBody>
                    <a:bodyPr/>
                    <a:lstStyle/>
                    <a:p>
                      <a:pPr>
                        <a:defRPr sz="1300" b="1">
                          <a:solidFill>
                            <a:srgbClr val="FFFFFF"/>
                          </a:solidFill>
                          <a:latin typeface="Yu Gothic"/>
                        </a:defRPr>
                      </a:pPr>
                      <a:r>
                        <a:t>代理店・パートナー</a:t>
                      </a:r>
                    </a:p>
                  </a:txBody>
                  <a:tcPr>
                    <a:solidFill>
                      <a:srgbClr val="24523F"/>
                    </a:solidFill>
                  </a:tcPr>
                </a:tc>
              </a:tr>
              <a:tr h="502920">
                <a:tc>
                  <a:txBody>
                    <a:bodyPr/>
                    <a:lstStyle/>
                    <a:p>
                      <a:pPr>
                        <a:defRPr sz="1200">
                          <a:solidFill>
                            <a:srgbClr val="20261F"/>
                          </a:solidFill>
                          <a:latin typeface="Yu Gothic"/>
                        </a:defRPr>
                      </a:pPr>
                      <a:r>
                        <a:t>Publicis</a:t>
                      </a:r>
                    </a:p>
                  </a:txBody>
                  <a:tcPr>
                    <a:solidFill>
                      <a:srgbClr val="FFFFFF"/>
                    </a:solidFill>
                  </a:tcPr>
                </a:tc>
              </a:tr>
              <a:tr h="502920">
                <a:tc>
                  <a:txBody>
                    <a:bodyPr/>
                    <a:lstStyle/>
                    <a:p>
                      <a:pPr>
                        <a:defRPr sz="1200">
                          <a:solidFill>
                            <a:srgbClr val="20261F"/>
                          </a:solidFill>
                          <a:latin typeface="Yu Gothic"/>
                        </a:defRPr>
                      </a:pPr>
                      <a:r>
                        <a:t>WPP</a:t>
                      </a:r>
                    </a:p>
                  </a:txBody>
                  <a:tcPr>
                    <a:solidFill>
                      <a:srgbClr val="F4F1E6"/>
                    </a:solidFill>
                  </a:tcPr>
                </a:tc>
              </a:tr>
              <a:tr h="502920">
                <a:tc>
                  <a:txBody>
                    <a:bodyPr/>
                    <a:lstStyle/>
                    <a:p>
                      <a:pPr>
                        <a:defRPr sz="1200">
                          <a:solidFill>
                            <a:srgbClr val="20261F"/>
                          </a:solidFill>
                          <a:latin typeface="Yu Gothic"/>
                        </a:defRPr>
                      </a:pPr>
                      <a:r>
                        <a:t>Omnicom</a:t>
                      </a:r>
                    </a:p>
                  </a:txBody>
                  <a:tcPr>
                    <a:solidFill>
                      <a:srgbClr val="FFFFFF"/>
                    </a:solidFill>
                  </a:tcPr>
                </a:tc>
              </a:tr>
              <a:tr h="502920">
                <a:tc>
                  <a:txBody>
                    <a:bodyPr/>
                    <a:lstStyle/>
                    <a:p>
                      <a:pPr>
                        <a:defRPr sz="1200">
                          <a:solidFill>
                            <a:srgbClr val="20261F"/>
                          </a:solidFill>
                          <a:latin typeface="Yu Gothic"/>
                        </a:defRPr>
                      </a:pPr>
                      <a:r>
                        <a:t>MediaPlus</a:t>
                      </a:r>
                    </a:p>
                  </a:txBody>
                  <a:tcPr>
                    <a:solidFill>
                      <a:srgbClr val="F4F1E6"/>
                    </a:solidFill>
                  </a:tcPr>
                </a:tc>
              </a:tr>
              <a:tr h="502920">
                <a:tc>
                  <a:txBody>
                    <a:bodyPr/>
                    <a:lstStyle/>
                    <a:p>
                      <a:pPr>
                        <a:defRPr sz="1200">
                          <a:solidFill>
                            <a:srgbClr val="20261F"/>
                          </a:solidFill>
                          <a:latin typeface="Yu Gothic"/>
                        </a:defRPr>
                      </a:pPr>
                      <a:r>
                        <a:t>Havas</a:t>
                      </a:r>
                    </a:p>
                  </a:txBody>
                  <a:tcPr>
                    <a:solidFill>
                      <a:srgbClr val="FFFFFF"/>
                    </a:solidFill>
                  </a:tcPr>
                </a:tc>
              </a:tr>
              <a:tr h="502920">
                <a:tc>
                  <a:txBody>
                    <a:bodyPr/>
                    <a:lstStyle/>
                    <a:p>
                      <a:pPr>
                        <a:defRPr sz="1200">
                          <a:solidFill>
                            <a:srgbClr val="20261F"/>
                          </a:solidFill>
                          <a:latin typeface="Yu Gothic"/>
                        </a:defRPr>
                      </a:pPr>
                      <a:r>
                        <a:t>dentsu</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Digiday・SEROundtable(2026-08-24)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米国試験導入からの期間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約6か月 米国での試験導入から欧州展開までの期間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2026年2月の米国試験導入から今回の欧州展開まで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Digiday(2026-08-24)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8月16日付テーマとの違い(1)</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既存テーマとの関係を確認します。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8月16日付の既存テーマは、8月15日に送付された通知メール(『今月後半』に広告導入予定という予告)を扱っていた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当時は具体的な開始日・対象市場数・料金プラン・代理店パートナーがいずれも『不明』と明記されていた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本テーマは、それらが実際に確定した『本日のローンチ』を扱う</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ai-company-os既存テーマ(2026-08-16)との比較</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予告時点(8/16) vs 本日確定した事実(8/24)</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予告時点(8月16日)</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開始日: 『今月後半』としか不明</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対象市場数: 不明</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料金・代理店パートナー: 不明</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本日確定した事実(8月24日)</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開始日: 2026年8月24日</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対象市場数: 31市場</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料金: Plus約23ユーロ等、代理店6社確認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AI業界における位置づけ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業界内での注目点です。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無料AIサービスの収益化モデルとして、広告事業の存在感が増していることを示す事例である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GDPRという厳格な規制環境の中で、大手AI企業がどう対応するかのモデルケースとなる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他のAIチャットサービスにも同様の広告導入が広がる可能性を示唆する動きである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対象プラン数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2プランのみ 広告が表示されるのはFree・Goの2プラン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Plus・Pro・Enterpriseは引き続き広告非表示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OpenAI公式ブログ(2026-08-24)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無料でChatGPTを使っている人は、今後広告が表示されるようになる可能性がある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広告を避けたい場合は、有料プラン(Plus以上)への加入が選択肢となる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AIサービスの収益化モデルの変化を知ることは、今後の利用プラン選びの参考になる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OpenAI側が想定する具体的な広告収益額・広告単価は、本調査の範囲では確認できていない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実際に出稿した個々の広告主企業名は、本調査の範囲では確認できていない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セルフサーブ(Ads Manager)の欧州提供開始時期は『後日』としか分かっていない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確認できている事実</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開始日・対象市場数・対象プラン</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料金プラン(Plus約23ユーロ等)</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代理店パートナー6社</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今後の不確定要素</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広告収益額・広告単価</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個々の広告主企業名</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セルフサーブ提供開始時期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主な情報源</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報道内容</a:t>
                      </a:r>
                    </a:p>
                  </a:txBody>
                  <a:tcPr>
                    <a:solidFill>
                      <a:srgbClr val="24523F"/>
                    </a:solidFill>
                  </a:tcPr>
                </a:tc>
              </a:tr>
              <a:tr h="502920">
                <a:tc>
                  <a:txBody>
                    <a:bodyPr/>
                    <a:lstStyle/>
                    <a:p>
                      <a:pPr>
                        <a:defRPr sz="1200">
                          <a:solidFill>
                            <a:srgbClr val="20261F"/>
                          </a:solidFill>
                          <a:latin typeface="Yu Gothic"/>
                        </a:defRPr>
                      </a:pPr>
                      <a:r>
                        <a:t>OpenAI公式ブログ(2026-08-24)</a:t>
                      </a:r>
                    </a:p>
                  </a:txBody>
                  <a:tcPr>
                    <a:solidFill>
                      <a:srgbClr val="FFFFFF"/>
                    </a:solidFill>
                  </a:tcPr>
                </a:tc>
                <a:tc>
                  <a:txBody>
                    <a:bodyPr/>
                    <a:lstStyle/>
                    <a:p>
                      <a:pPr>
                        <a:defRPr sz="1200">
                          <a:solidFill>
                            <a:srgbClr val="20261F"/>
                          </a:solidFill>
                          <a:latin typeface="Yu Gothic"/>
                        </a:defRPr>
                      </a:pPr>
                      <a:r>
                        <a:t>ローンチの公式発表</a:t>
                      </a:r>
                    </a:p>
                  </a:txBody>
                  <a:tcPr>
                    <a:solidFill>
                      <a:srgbClr val="FFFFFF"/>
                    </a:solidFill>
                  </a:tcPr>
                </a:tc>
              </a:tr>
              <a:tr h="502920">
                <a:tc>
                  <a:txBody>
                    <a:bodyPr/>
                    <a:lstStyle/>
                    <a:p>
                      <a:pPr>
                        <a:defRPr sz="1200">
                          <a:solidFill>
                            <a:srgbClr val="20261F"/>
                          </a:solidFill>
                          <a:latin typeface="Yu Gothic"/>
                        </a:defRPr>
                      </a:pPr>
                      <a:r>
                        <a:t>Digiday(2026-08-24)</a:t>
                      </a:r>
                    </a:p>
                  </a:txBody>
                  <a:tcPr>
                    <a:solidFill>
                      <a:srgbClr val="F4F1E6"/>
                    </a:solidFill>
                  </a:tcPr>
                </a:tc>
                <a:tc>
                  <a:txBody>
                    <a:bodyPr/>
                    <a:lstStyle/>
                    <a:p>
                      <a:pPr>
                        <a:defRPr sz="1200">
                          <a:solidFill>
                            <a:srgbClr val="20261F"/>
                          </a:solidFill>
                          <a:latin typeface="Yu Gothic"/>
                        </a:defRPr>
                      </a:pPr>
                      <a:r>
                        <a:t>展開規模・料金・代理店パートナーの詳細</a:t>
                      </a:r>
                    </a:p>
                  </a:txBody>
                  <a:tcPr>
                    <a:solidFill>
                      <a:srgbClr val="F4F1E6"/>
                    </a:solidFill>
                  </a:tcPr>
                </a:tc>
              </a:tr>
              <a:tr h="502920">
                <a:tc>
                  <a:txBody>
                    <a:bodyPr/>
                    <a:lstStyle/>
                    <a:p>
                      <a:pPr>
                        <a:defRPr sz="1200">
                          <a:solidFill>
                            <a:srgbClr val="20261F"/>
                          </a:solidFill>
                          <a:latin typeface="Yu Gothic"/>
                        </a:defRPr>
                      </a:pPr>
                      <a:r>
                        <a:t>Dataconomy(2026-08-19)</a:t>
                      </a:r>
                    </a:p>
                  </a:txBody>
                  <a:tcPr>
                    <a:solidFill>
                      <a:srgbClr val="FFFFFF"/>
                    </a:solidFill>
                  </a:tcPr>
                </a:tc>
                <a:tc>
                  <a:txBody>
                    <a:bodyPr/>
                    <a:lstStyle/>
                    <a:p>
                      <a:pPr>
                        <a:defRPr sz="1200">
                          <a:solidFill>
                            <a:srgbClr val="20261F"/>
                          </a:solidFill>
                          <a:latin typeface="Yu Gothic"/>
                        </a:defRPr>
                      </a:pPr>
                      <a:r>
                        <a:t>開始日の事前予告報道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無料でChatGPTを使う立場として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今後広告が表示されるようになる可能性があり、有料プランとの比較検討材料になる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広告・マーケティング業界の立場として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AIチャットサービスという新しい広告枠の登場と、代理店経由のアクセス方法を把握できる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AI業界動向を追う立場として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無料AIサービスの収益化モデルの変化を、具体的な事実に基づいて理解できる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Goプランの月額料金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約7ユーロ 広告ありの低価格帯Goプラン(欧州)の月額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Freeプランと同様に広告が表示される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Digiday(2026-08-24)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2026年8月24日、OpenAIはChatGPT広告を欧州31市場で本日ローンチした。ChatGPT広告事業として過去最大の地理的拡大である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広告はFree・Goプランにのみ表示され、GDPR準拠のためパーソナライズなしの文脈連動型広告のみで開始する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8月16日付の既存テーマで『不明』だった開始日・料金・代理店パートナーが、本日すべて確定した事実として公表された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広告収益額や個々の広告主企業名など、確認できていない項目は不明のまま正直にお伝えした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OpenAI公式ブログ・Digiday(2026-08-24)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ChatGPT広告、欧州31市場で本日ローンチ。</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2026年8月24日、予告されていたChatGPT広告が欧州31市場で実際に始まりました。確定した事実と、まだ不明な点を区別しながら、出典付きで整理してお届けしました。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