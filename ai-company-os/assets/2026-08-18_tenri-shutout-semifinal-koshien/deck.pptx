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天理の累計得点</c:v>
                </c:pt>
              </c:strCache>
            </c:strRef>
          </c:tx>
          <c:spPr>
            <a:solidFill>
              <a:srgbClr val="1B2A2E"/>
            </a:solidFill>
          </c:spPr>
          <c:cat>
            <c:strRef>
              <c:f>Sheet1!$A$2:$A$4</c:f>
              <c:strCache>
                <c:ptCount val="3"/>
                <c:pt idx="0">
                  <c:v>7回裏終了時点</c:v>
                </c:pt>
                <c:pt idx="1">
                  <c:v>8回表終了時点</c:v>
                </c:pt>
                <c:pt idx="2">
                  <c:v>9回表(最終)</c:v>
                </c:pt>
              </c:strCache>
            </c:strRef>
          </c:cat>
          <c:val>
            <c:numRef>
              <c:f>Sheet1!$B$2:$B$4</c:f>
              <c:numCache>
                <c:formatCode>General</c:formatCode>
                <c:ptCount val="3"/>
                <c:pt idx="0">
                  <c:v>2</c:v>
                </c:pt>
                <c:pt idx="1">
                  <c:v>5</c:v>
                </c:pt>
                <c:pt idx="2">
                  <c:v>7</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夏の甲子園(第108回全国高校野球選手権大会)準々決勝第1試合が甲子園球場で午前8時に開始され、天理(奈良)が三重(三重)を7-0で破りました。2017年以来9年ぶりのベスト4進出です。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天理が三重を7-0で破り、2017年以来9年ぶりのベスト4進出を決めました。7回裏まで2-0の接戦でしたが、8回表・9回表に加点し、最終的に相手を完封しています。ここから数字と時系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結果の中身から、天理・三重それぞれの実績、確認できていないことまで、出典付きで正確に整理します。未成年の選手・敗れた三重側の結果という2つの点に配慮し、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このテーマを扱う理由です。試合当日という新しさに加え、7-0の完封勝ちで9年ぶりのベスト4進出という明快な結果があります。終盤に加点が集中する展開も、複数のメディアが一致して報じています。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甲子園は夏の全国高校野球選手権大会の通称で、準々決勝はベスト8が対戦しベスト4進出をかけて戦う試合です。完封は相手に一度も得点を許さずに勝つこと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天理・三重それぞれの背景を確認します。天理は2017年以来9年ぶりのベスト4進出を目指し、三重は2014年準優勝以来12年ぶりのベスト8進出でした。選手は未成年のため、本テーマでは個人の私生活ではなくチーム・学校の物語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流れを、判明している範囲で整理しました。午前8時に試合が始まり、7回裏まで天理が2-0でリード。8回表に大塚選手の安打とエラーで4-0、小澤選手の適時打で5-0とし、9回表には金本選手の適時三塁打と暴投で7-0としました。試合前半の具体的な得点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得点経過を、判明している範囲で一覧にしました。7回裏まで2-0、8回表に5-0、9回表に7-0と、終盤にかけて加点しています。それ以前の試合前半の得点経過は本調査の範囲では確認できていません。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7回裏終了時点を確認します。天理は三重に2-0でリードしていました。それ以前の試合前半の具体的な得点経過は、本調査の範囲では確認できていません。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8回表の得点プロセスを図にしました。大塚選手の右前安打と守備側のエラーで2点を追加して4-0とし、続く小澤選手の適時打で5-0としました。このイニングから終盤の加点が始まっています。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8回表を数字で振り返ります。大塚選手の安打とエラーで2点、小澤選手の適時打で1点、合わせて3点を追加し2-0から5-0としました。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8回表終了時点を確認します。大塚選手の安打とエラー、小澤選手の適時打で天理は5-0とリードを拡大しました。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9回表の得点プロセスです。金本選手の適時三塁打で6-0とし、続く暴投で7-0としました。この2点で三重を完封する形になりました。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最終スコアです。天理は7-0で三重を完封し、2017年以来9年ぶりのベスト4進出を決めました。7回裏まで2-0の接戦から、終盤2イニングで5点を追加しています。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天理の得点の伸びをグラフにしました。7回裏まで2点、8回表で5点、9回表で7点と、終盤にかけて加点が伸びていることが分かります。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7-0で完封したという結果は複数媒体で一致していますが、投手の奪三振数や被安打数といった投球内容の詳細、投手交代の有無は本調査の範囲では確認できていません。推測では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天理の9年ぶり4強を数字で確認します。前回のベスト4進出は2017年で、今回は9年ぶり。準々決勝で三重を7-0で完封して達成しました。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天理のベスト4進出を2017年と2026年で比べます。前回からの間隔は9年で、今回は準々決勝で三重を7-0の完封で下して達成しました。2017年の試合内容との詳細な比較は本調査の範囲では確認できていません。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三重の12年ぶりベスト8を確認します。三重は2014年に準優勝しており、今回は2014年以来12年ぶりのベスト8進出でした。この準々決勝で天理に0-7で敗れ、ベスト4進出はなりませんでした。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三重の実績を確認します。2014年準優勝以来12年ぶりのベスト8進出でしたが、準々決勝で天理に0-7で敗れました。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三重の結果を正確に伝えます。12年ぶりのベスト8進出という実績と、この試合で0-7で敗れたという結果は、どちらも事実として正確に扱います。反撃が実らなかった要因は確認できていません。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敗戦を正直に伝える方針です。三重の0-7という結果はそのまま正直に伝えつつ、12年ぶりのベスト8進出という実績も敗戦の陰に埋もれさせません。スピンをかけず、また過度にドラマ化もしない報道姿勢を徹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事実確認の状況を一覧にしました。最終スコア・得点経過・両校の実績は複数媒体で確認できていますが、天理の投球内容の詳細と三重の反撃が実らなかった要因は未確認です。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選手への配慮方針です。出場選手は未成年のため、個人の私生活を扇情的に扱わずチーム・学校の物語として構成しました。氏名は公表済みの範囲でテキストとしてのみ扱い、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視聴者にとっての実践的な示唆をまとめました。高校野球ファンとして、勝敗両方の結果を見る立場として、情報を発信する立場として、それぞれで意識したい点です。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天理の9年ぶり4強と三重の12年ぶりベスト8は、どちらも大会通算の記録として位置づけられます。結果とその要因は別物であり、確認できていない要因を推測で埋めない視点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この先の展開を確認します。天理はベスト4(準決勝)に進出しました。準決勝の日程・対戦相手については、本調査の範囲では確認できていません。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ここで事実と推測を分けます。最終スコア・得点経過・両校の実績はすべて出典で確認できた事実です。推測はほぼ用いておらず、投球内容の詳細や敗因等は不明として明確に分けています。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天理が夏の甲子園準々決勝で三重を7-0で完封し、9年ぶりのベスト4進出を決めた件をお伝えしました。三重の12年ぶりベスト8という実績も、敗戦の陰に埋もれさせず正確に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天理、完封で9年ぶり4強。</a:t>
            </a:r>
          </a:p>
          <a:p>
            <a:pPr algn="l">
              <a:lnSpc>
                <a:spcPct val="115000"/>
              </a:lnSpc>
            </a:pPr>
            <a:r>
              <a:rPr sz="4200" b="1">
                <a:solidFill>
                  <a:srgbClr val="FFFFFF"/>
                </a:solidFill>
                <a:latin typeface="Yu Gothic"/>
              </a:rPr>
              <a:t>夏の甲子園準々決勝、三重を7-0で下す</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2026年8月18日午前8時、甲子園球場――終盤の加点で完封勝ち。出典付きで正確に整理してお届けします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SANSPO(docomoニュース配信)・Yahoo!スポーツナビ(バーチャル高校野球)・ベースボールチャンネル・高校野球ドットコム(Yahoo!ニュース配信)(2026年8月18日時点)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7-0で完封、9年ぶり4強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天理(奈良)が三重(三重)を7-0で破り、2017年以来9年ぶりのベスト4進出を決めた(2026年8月18日、準々決勝第1試合)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SANSPO(docomoニュース配信、2026-08-18)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甲子園・準々決勝の基礎知識(初心者向け)</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天理・三重それぞれの背景</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終盤の得点経過を数字で深掘りする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天理の9年ぶり4強、三重の12年ぶりベスト8を正確に扱う</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確認できていないこと・センシティブな配慮・出典一覧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準々決勝(2026年8月18日午前8時開始)は着手日(同日)当日という、最も新しい形で鮮度基準を満たす</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7-0の完封勝ちで9年ぶりのベスト4進出という、明快で分かりやすい結果である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終盤(8回表・9回表)に加点が集中するという展開が、複数の独立したメディアで一致して報じられている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SANSPO(docomoニュース配信)・Yahoo!スポーツナビ(バーチャル高校野球)(2026-08-18)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甲子園・準々決勝とは(初心者向け)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『甲子園』は夏に行われる全国高校野球選手権大会(今大会で第108回)の通称。都道府県代表校が出場するトーナメント方式の大会である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『準々決勝』はベスト8の8校が対戦し、勝てばベスト4(準決勝進出)となる試合。今大会で上位にあたる成績である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『完封』は相手チームに一度も得点を許さずに勝利することを指す野球用語である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天理・三重それぞれの背景(初心者向け)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天理高校(奈良県)は甲子園の常連校として知られ、今回は2017年以来9年ぶりのベスト4進出をかけて臨んだ</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三重高校(三重県)は2014年に準優勝しており、今回は2014年以来12年ぶりのベスト8進出だった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選手は未成年であるため、本テーマでは個人の私生活ではなく、チーム・学校の物語として扱う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Yahoo!スポーツナビ(バーチャル高校野球)・高校野球ドットコム(Yahoo!ニュース配信、2026-08-18)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試合の流れ(判明している範囲)</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試合開始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8月18日午前8時、甲子園球場で準々決勝第1試合が開始</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7回裏まで</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天理が2-0でリード</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8回表</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大塚の右前安打とエラーで4-0、小澤の適時打で5-0</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9回表</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金本の適時三塁打と暴投で7-0、三重を完封</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得点経過サマリー(判明している範囲)</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局面</a:t>
                      </a:r>
                    </a:p>
                  </a:txBody>
                  <a:tcPr>
                    <a:solidFill>
                      <a:srgbClr val="1B2A2E"/>
                    </a:solidFill>
                  </a:tcPr>
                </a:tc>
                <a:tc>
                  <a:txBody>
                    <a:bodyPr/>
                    <a:lstStyle/>
                    <a:p>
                      <a:pPr>
                        <a:defRPr sz="1300" b="1">
                          <a:solidFill>
                            <a:srgbClr val="FFFFFF"/>
                          </a:solidFill>
                          <a:latin typeface="Yu Gothic"/>
                        </a:defRPr>
                      </a:pPr>
                      <a:r>
                        <a:t>スコア</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7回裏終了時点</a:t>
                      </a:r>
                    </a:p>
                  </a:txBody>
                  <a:tcPr>
                    <a:solidFill>
                      <a:srgbClr val="FFFFFF"/>
                    </a:solidFill>
                  </a:tcPr>
                </a:tc>
                <a:tc>
                  <a:txBody>
                    <a:bodyPr/>
                    <a:lstStyle/>
                    <a:p>
                      <a:pPr>
                        <a:defRPr sz="1200">
                          <a:solidFill>
                            <a:srgbClr val="121C1F"/>
                          </a:solidFill>
                          <a:latin typeface="Yu Gothic"/>
                        </a:defRPr>
                      </a:pPr>
                      <a:r>
                        <a:t>2-0</a:t>
                      </a:r>
                    </a:p>
                  </a:txBody>
                  <a:tcPr>
                    <a:solidFill>
                      <a:srgbClr val="FFFFFF"/>
                    </a:solidFill>
                  </a:tcPr>
                </a:tc>
                <a:tc>
                  <a:txBody>
                    <a:bodyPr/>
                    <a:lstStyle/>
                    <a:p>
                      <a:pPr>
                        <a:defRPr sz="1200">
                          <a:solidFill>
                            <a:srgbClr val="121C1F"/>
                          </a:solidFill>
                          <a:latin typeface="Yu Gothic"/>
                        </a:defRPr>
                      </a:pPr>
                      <a:r>
                        <a:t>天理がリード(それ以前の得点経過は本調査の範囲では未確認)</a:t>
                      </a:r>
                    </a:p>
                  </a:txBody>
                  <a:tcPr>
                    <a:solidFill>
                      <a:srgbClr val="FFFFFF"/>
                    </a:solidFill>
                  </a:tcPr>
                </a:tc>
              </a:tr>
              <a:tr h="502920">
                <a:tc>
                  <a:txBody>
                    <a:bodyPr/>
                    <a:lstStyle/>
                    <a:p>
                      <a:pPr>
                        <a:defRPr sz="1200">
                          <a:solidFill>
                            <a:srgbClr val="121C1F"/>
                          </a:solidFill>
                          <a:latin typeface="Yu Gothic"/>
                        </a:defRPr>
                      </a:pPr>
                      <a:r>
                        <a:t>8回表</a:t>
                      </a:r>
                    </a:p>
                  </a:txBody>
                  <a:tcPr>
                    <a:solidFill>
                      <a:srgbClr val="F0F7F4"/>
                    </a:solidFill>
                  </a:tcPr>
                </a:tc>
                <a:tc>
                  <a:txBody>
                    <a:bodyPr/>
                    <a:lstStyle/>
                    <a:p>
                      <a:pPr>
                        <a:defRPr sz="1200">
                          <a:solidFill>
                            <a:srgbClr val="121C1F"/>
                          </a:solidFill>
                          <a:latin typeface="Yu Gothic"/>
                        </a:defRPr>
                      </a:pPr>
                      <a:r>
                        <a:t>5-0</a:t>
                      </a:r>
                    </a:p>
                  </a:txBody>
                  <a:tcPr>
                    <a:solidFill>
                      <a:srgbClr val="F0F7F4"/>
                    </a:solidFill>
                  </a:tcPr>
                </a:tc>
                <a:tc>
                  <a:txBody>
                    <a:bodyPr/>
                    <a:lstStyle/>
                    <a:p>
                      <a:pPr>
                        <a:defRPr sz="1200">
                          <a:solidFill>
                            <a:srgbClr val="121C1F"/>
                          </a:solidFill>
                          <a:latin typeface="Yu Gothic"/>
                        </a:defRPr>
                      </a:pPr>
                      <a:r>
                        <a:t>大塚の右前安打とエラーで4-0、続く小澤の適時打で5-0</a:t>
                      </a:r>
                    </a:p>
                  </a:txBody>
                  <a:tcPr>
                    <a:solidFill>
                      <a:srgbClr val="F0F7F4"/>
                    </a:solidFill>
                  </a:tcPr>
                </a:tc>
              </a:tr>
              <a:tr h="502920">
                <a:tc>
                  <a:txBody>
                    <a:bodyPr/>
                    <a:lstStyle/>
                    <a:p>
                      <a:pPr>
                        <a:defRPr sz="1200">
                          <a:solidFill>
                            <a:srgbClr val="121C1F"/>
                          </a:solidFill>
                          <a:latin typeface="Yu Gothic"/>
                        </a:defRPr>
                      </a:pPr>
                      <a:r>
                        <a:t>9回表</a:t>
                      </a:r>
                    </a:p>
                  </a:txBody>
                  <a:tcPr>
                    <a:solidFill>
                      <a:srgbClr val="FFFFFF"/>
                    </a:solidFill>
                  </a:tcPr>
                </a:tc>
                <a:tc>
                  <a:txBody>
                    <a:bodyPr/>
                    <a:lstStyle/>
                    <a:p>
                      <a:pPr>
                        <a:defRPr sz="1200">
                          <a:solidFill>
                            <a:srgbClr val="121C1F"/>
                          </a:solidFill>
                          <a:latin typeface="Yu Gothic"/>
                        </a:defRPr>
                      </a:pPr>
                      <a:r>
                        <a:t>7-0</a:t>
                      </a:r>
                    </a:p>
                  </a:txBody>
                  <a:tcPr>
                    <a:solidFill>
                      <a:srgbClr val="FFFFFF"/>
                    </a:solidFill>
                  </a:tcPr>
                </a:tc>
                <a:tc>
                  <a:txBody>
                    <a:bodyPr/>
                    <a:lstStyle/>
                    <a:p>
                      <a:pPr>
                        <a:defRPr sz="1200">
                          <a:solidFill>
                            <a:srgbClr val="121C1F"/>
                          </a:solidFill>
                          <a:latin typeface="Yu Gothic"/>
                        </a:defRPr>
                      </a:pPr>
                      <a:r>
                        <a:t>金本の適時三塁打と暴投で7-0</a:t>
                      </a:r>
                    </a:p>
                  </a:txBody>
                  <a:tcPr>
                    <a:solidFill>
                      <a:srgbClr val="FFFFFF"/>
                    </a:solidFill>
                  </a:tcPr>
                </a:tc>
              </a:tr>
              <a:tr h="502920">
                <a:tc>
                  <a:txBody>
                    <a:bodyPr/>
                    <a:lstStyle/>
                    <a:p>
                      <a:pPr>
                        <a:defRPr sz="1200">
                          <a:solidFill>
                            <a:srgbClr val="121C1F"/>
                          </a:solidFill>
                          <a:latin typeface="Yu Gothic"/>
                        </a:defRPr>
                      </a:pPr>
                      <a:r>
                        <a:t>試合終了</a:t>
                      </a:r>
                    </a:p>
                  </a:txBody>
                  <a:tcPr>
                    <a:solidFill>
                      <a:srgbClr val="F0F7F4"/>
                    </a:solidFill>
                  </a:tcPr>
                </a:tc>
                <a:tc>
                  <a:txBody>
                    <a:bodyPr/>
                    <a:lstStyle/>
                    <a:p>
                      <a:pPr>
                        <a:defRPr sz="1200">
                          <a:solidFill>
                            <a:srgbClr val="121C1F"/>
                          </a:solidFill>
                          <a:latin typeface="Yu Gothic"/>
                        </a:defRPr>
                      </a:pPr>
                      <a:r>
                        <a:t>7-0</a:t>
                      </a:r>
                    </a:p>
                  </a:txBody>
                  <a:tcPr>
                    <a:solidFill>
                      <a:srgbClr val="F0F7F4"/>
                    </a:solidFill>
                  </a:tcPr>
                </a:tc>
                <a:tc>
                  <a:txBody>
                    <a:bodyPr/>
                    <a:lstStyle/>
                    <a:p>
                      <a:pPr>
                        <a:defRPr sz="1200">
                          <a:solidFill>
                            <a:srgbClr val="121C1F"/>
                          </a:solidFill>
                          <a:latin typeface="Yu Gothic"/>
                        </a:defRPr>
                      </a:pPr>
                      <a:r>
                        <a:t>天理が三重を完封し、9年ぶりのベスト4進出を決定</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SANSPO(docomoニュース配信)・ベースボールチャンネル・高校野球ドットコム(2026-08-18)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7回裏終了時点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天理が三重に2-0でリード。試合前半の具体的な得点経過は本調査の範囲では確認できていない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SANSPO(docomoニュース配信、2026-08-18)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8回表の得点プロセス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7回裏まで2-0</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天理がリードして8回表へ</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大塚の右前安打とエラー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2点を追加し4-0に</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小澤の適時打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1点を追加し5-0に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8回表だけで2-0から5-0へ。終盤の加点が始まったイニングだった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SANSPO(docomoニュース配信)・ベースボールチャンネル(2026-08-18)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8回表を数字で振り返る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大塚</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右前安打+エラー</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2点を追加し4-0とした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小澤</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適時打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1点を追加し5-0とした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8回表合計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3点差を拡大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2-0から5-0へ、1イニングで3点を追加した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8回表終了時点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大塚の右前安打とエラー、続く小澤の適時打で天理が5-0とリードを拡大した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SANSPO(docomoニュース配信、2026-08-18)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9回表の得点プロセス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8回表まで5-0</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天理が5点リードして9回表へ</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金本の適時三塁打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1点を追加し6-0に</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続く暴投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1点を追加し7-0に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9回表の2点追加で7-0とし、三重を完封した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SANSPO(docomoニュース配信)・高校野球ドットコム(2026-08-18)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7-0で完封勝利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天理が三重を7-0で破り、2017年以来9年ぶりのベスト4進出を決めた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SANSPO(docomoニュース配信)・Yahoo!スポーツナビ(バーチャル高校野球、2026-08-18)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天理の得点の伸び(累計)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SANSPO(docomoニュース配信)・ベースボールチャンネル(2026-08-18)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確認できていないこと(投球内容)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『7-0で完封した』という結果は複数媒体で一致しているが、天理の先発投手・救援投手の投球内容(奪三振数・被安打数等)の詳細は本調査の範囲では確認できていない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投手交代の有無についても本調査の範囲では確認できておらず、本成果物では扱わない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確認できた『完封』という結果のみを事実として扱い、投球内容の詳細を推測で補わない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天理の9年ぶり4強</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2017年</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前回のベスト4</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前回のベスト4進出は2017年だった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9年ぶり</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今回の間隔</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2017年から2026年まで9年ぶりのベスト4進出</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7-0</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決めた試合の結果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準々決勝で三重を完封して達成した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Yahoo!スポーツナビ(バーチャル高校野球)・高校野球ドットコム(2026-08-18)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天理のベスト4進出、2017年と2026年</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2017年(前回)</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天理がベスト4に進出した年</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本調査では今回との共通点・相違点の詳細は確認できていない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2026年(今回)</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準々決勝で三重を7-0で完封して達成</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2017年から数えて9年ぶりのベスト4進出</a:t>
            </a:r>
          </a:p>
        </p:txBody>
      </p:sp>
      <p:sp>
        <p:nvSpPr>
          <p:cNvPr id="20" name="Oval 19"/>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7回裏まで2-0の接戦から終盤に加点した</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三重の12年ぶりベスト8</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敗れた側の実績も、正確にお伝えします。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三重は2014年に準優勝しており、今回は2014年以来12年ぶりのベスト8進出だった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三重にとっても、12年ぶりの好成績という点で価値のある結果である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この準々決勝で天理に0-7で敗れ、ベスト4進出はならなかった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Yahoo!スポーツナビ(バーチャル高校野球)・高校野球ドットコム(2026-08-18)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三重の実績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12年ぶりのベスト8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三重は準優勝した2014年以来12年ぶりのベスト8進出だったが、準々決勝で天理に0-7で敗れた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Yahoo!スポーツナビ(バーチャル高校野球、2026-08-18)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三重の結果を正確に伝える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達成したこと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2014年準優勝以来12年ぶりのベスト8進出</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準々決勝まで勝ち上がった実績そのものは事実として価値がある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この試合の結果</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準々決勝で天理に0-7で完封負け</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ベスト4進出はならなかった</a:t>
            </a:r>
          </a:p>
        </p:txBody>
      </p:sp>
      <p:sp>
        <p:nvSpPr>
          <p:cNvPr id="20" name="Oval 19"/>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反撃が実らなかった具体的な要因は本調査の範囲では確認できていない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敗戦を正直に伝える方針(本テーマ固有)</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本テーマで大切にしている点です。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三重が0-7で完封負けを喫したという結果は、隠さず・ごまかさず、事実として正直に伝える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同時に、三重の12年ぶりベスト8進出という実績も、敗戦の陰に埋もれさせず正確に伝える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敗戦を『隠れた勝利』として演出せず、また過度に悲劇的に演出もしない、淡々とした事実の報道を徹底する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事実確認の一覧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状態</a:t>
                      </a:r>
                    </a:p>
                  </a:txBody>
                  <a:tcPr>
                    <a:solidFill>
                      <a:srgbClr val="1B2A2E"/>
                    </a:solidFill>
                  </a:tcPr>
                </a:tc>
              </a:tr>
              <a:tr h="502920">
                <a:tc>
                  <a:txBody>
                    <a:bodyPr/>
                    <a:lstStyle/>
                    <a:p>
                      <a:pPr>
                        <a:defRPr sz="1200">
                          <a:solidFill>
                            <a:srgbClr val="121C1F"/>
                          </a:solidFill>
                          <a:latin typeface="Yu Gothic"/>
                        </a:defRPr>
                      </a:pPr>
                      <a:r>
                        <a:t>最終スコア(7-0)</a:t>
                      </a:r>
                    </a:p>
                  </a:txBody>
                  <a:tcPr>
                    <a:solidFill>
                      <a:srgbClr val="FFFFFF"/>
                    </a:solidFill>
                  </a:tcPr>
                </a:tc>
                <a:tc>
                  <a:txBody>
                    <a:bodyPr/>
                    <a:lstStyle/>
                    <a:p>
                      <a:pPr>
                        <a:defRPr sz="1200">
                          <a:solidFill>
                            <a:srgbClr val="121C1F"/>
                          </a:solidFill>
                          <a:latin typeface="Yu Gothic"/>
                        </a:defRPr>
                      </a:pPr>
                      <a:r>
                        <a:t>確認済み(複数媒体一致)</a:t>
                      </a:r>
                    </a:p>
                  </a:txBody>
                  <a:tcPr>
                    <a:solidFill>
                      <a:srgbClr val="FFFFFF"/>
                    </a:solidFill>
                  </a:tcPr>
                </a:tc>
              </a:tr>
              <a:tr h="502920">
                <a:tc>
                  <a:txBody>
                    <a:bodyPr/>
                    <a:lstStyle/>
                    <a:p>
                      <a:pPr>
                        <a:defRPr sz="1200">
                          <a:solidFill>
                            <a:srgbClr val="121C1F"/>
                          </a:solidFill>
                          <a:latin typeface="Yu Gothic"/>
                        </a:defRPr>
                      </a:pPr>
                      <a:r>
                        <a:t>7回裏2-0、8回表5-0、9回表7-0の得点経過</a:t>
                      </a:r>
                    </a:p>
                  </a:txBody>
                  <a:tcPr>
                    <a:solidFill>
                      <a:srgbClr val="F0F7F4"/>
                    </a:solidFill>
                  </a:tcPr>
                </a:tc>
                <a:tc>
                  <a:txBody>
                    <a:bodyPr/>
                    <a:lstStyle/>
                    <a:p>
                      <a:pPr>
                        <a:defRPr sz="1200">
                          <a:solidFill>
                            <a:srgbClr val="121C1F"/>
                          </a:solidFill>
                          <a:latin typeface="Yu Gothic"/>
                        </a:defRPr>
                      </a:pPr>
                      <a:r>
                        <a:t>確認済み(複数媒体一致)</a:t>
                      </a:r>
                    </a:p>
                  </a:txBody>
                  <a:tcPr>
                    <a:solidFill>
                      <a:srgbClr val="F0F7F4"/>
                    </a:solidFill>
                  </a:tcPr>
                </a:tc>
              </a:tr>
              <a:tr h="502920">
                <a:tc>
                  <a:txBody>
                    <a:bodyPr/>
                    <a:lstStyle/>
                    <a:p>
                      <a:pPr>
                        <a:defRPr sz="1200">
                          <a:solidFill>
                            <a:srgbClr val="121C1F"/>
                          </a:solidFill>
                          <a:latin typeface="Yu Gothic"/>
                        </a:defRPr>
                      </a:pPr>
                      <a:r>
                        <a:t>天理の9年ぶり4強・三重の12年ぶりベスト8</a:t>
                      </a:r>
                    </a:p>
                  </a:txBody>
                  <a:tcPr>
                    <a:solidFill>
                      <a:srgbClr val="FFFFFF"/>
                    </a:solidFill>
                  </a:tcPr>
                </a:tc>
                <a:tc>
                  <a:txBody>
                    <a:bodyPr/>
                    <a:lstStyle/>
                    <a:p>
                      <a:pPr>
                        <a:defRPr sz="1200">
                          <a:solidFill>
                            <a:srgbClr val="121C1F"/>
                          </a:solidFill>
                          <a:latin typeface="Yu Gothic"/>
                        </a:defRPr>
                      </a:pPr>
                      <a:r>
                        <a:t>確認済み(複数媒体一致)</a:t>
                      </a:r>
                    </a:p>
                  </a:txBody>
                  <a:tcPr>
                    <a:solidFill>
                      <a:srgbClr val="FFFFFF"/>
                    </a:solidFill>
                  </a:tcPr>
                </a:tc>
              </a:tr>
              <a:tr h="502920">
                <a:tc>
                  <a:txBody>
                    <a:bodyPr/>
                    <a:lstStyle/>
                    <a:p>
                      <a:pPr>
                        <a:defRPr sz="1200">
                          <a:solidFill>
                            <a:srgbClr val="121C1F"/>
                          </a:solidFill>
                          <a:latin typeface="Yu Gothic"/>
                        </a:defRPr>
                      </a:pPr>
                      <a:r>
                        <a:t>天理投手陣の投球内容(奪三振数・被安打数等)</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r h="502920">
                <a:tc>
                  <a:txBody>
                    <a:bodyPr/>
                    <a:lstStyle/>
                    <a:p>
                      <a:pPr>
                        <a:defRPr sz="1200">
                          <a:solidFill>
                            <a:srgbClr val="121C1F"/>
                          </a:solidFill>
                          <a:latin typeface="Yu Gothic"/>
                        </a:defRPr>
                      </a:pPr>
                      <a:r>
                        <a:t>三重側の反撃が実らなかった具体的な要因</a:t>
                      </a:r>
                    </a:p>
                  </a:txBody>
                  <a:tcPr>
                    <a:solidFill>
                      <a:srgbClr val="FFFFFF"/>
                    </a:solidFill>
                  </a:tcPr>
                </a:tc>
                <a:tc>
                  <a:txBody>
                    <a:bodyPr/>
                    <a:lstStyle/>
                    <a:p>
                      <a:pPr>
                        <a:defRPr sz="1200">
                          <a:solidFill>
                            <a:srgbClr val="121C1F"/>
                          </a:solidFill>
                          <a:latin typeface="Yu Gothic"/>
                        </a:defRPr>
                      </a:pPr>
                      <a:r>
                        <a:t>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SANSPO・Yahoo!スポーツナビ・ベースボールチャンネル・高校野球ドットコム(2026-08-18)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未成年選手への配慮方針</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本テーマ固有の配慮です。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出場選手は未成年であるため、個人の私生活を扇情的に扱わず、チーム・学校の物語として構成する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実在選手の氏名は公表済みの範囲(大塚選手・小澤選手・金本選手など)でテキストとしてのみ扱い、写真・肖像は使用しない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個々の選手への過度な注目・断定的な将来評価は避ける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終盤の得点経過を、確認できた範囲の事実で正確に追うと理解が深まる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勝敗両方の結果を見る立場として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勝った側の実績だけでなく、敗れた側の実績も同じ重みで受け止める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未確認の詳細(投球内容・敗因)を推測で補わず、正確に伝える姿勢が信頼につながる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天理の9年ぶり4強・三重の12年ぶりベスト8は、どちらも大会通算の記録として位置づけられる(断定的な評価は避ける)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終盤の加点で完封したという結果と、なぜそうなったかという要因(投球内容・敗因)は別物であり、確認できていない要因を推測で埋めない視点が役立つ</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準決勝の日程・対戦相手は本調査の範囲では確認できていない(本調査時点の情報)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準決勝進出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天理はベスト4に進出した。準決勝の日程・対戦相手は本調査の範囲では確認できていない(本調査時点の情報)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SANSPO(docomoニュース配信、2026-08-18)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事実: 最終スコア7-0・7回裏2-0/8回表5-0/9回表7-0の得点経過・天理の9年ぶり4強・三重の12年ぶりベスト8</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不明: 天理投手陣の投球内容の詳細、三重側の反撃が実らなかった具体的な要因、試合前半の得点経過、準決勝の日程・対戦相手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SANSPO(docomoニュース配信)</a:t>
                      </a:r>
                    </a:p>
                  </a:txBody>
                  <a:tcPr>
                    <a:solidFill>
                      <a:srgbClr val="FFFFFF"/>
                    </a:solidFill>
                  </a:tcPr>
                </a:tc>
                <a:tc>
                  <a:txBody>
                    <a:bodyPr/>
                    <a:lstStyle/>
                    <a:p>
                      <a:pPr>
                        <a:defRPr sz="1200">
                          <a:solidFill>
                            <a:srgbClr val="121C1F"/>
                          </a:solidFill>
                          <a:latin typeface="Yu Gothic"/>
                        </a:defRPr>
                      </a:pPr>
                      <a:r>
                        <a:t>試合結果・得点経過(2026-08-18)</a:t>
                      </a:r>
                    </a:p>
                  </a:txBody>
                  <a:tcPr>
                    <a:solidFill>
                      <a:srgbClr val="FFFFFF"/>
                    </a:solidFill>
                  </a:tcPr>
                </a:tc>
              </a:tr>
              <a:tr h="502920">
                <a:tc>
                  <a:txBody>
                    <a:bodyPr/>
                    <a:lstStyle/>
                    <a:p>
                      <a:pPr>
                        <a:defRPr sz="1200">
                          <a:solidFill>
                            <a:srgbClr val="121C1F"/>
                          </a:solidFill>
                          <a:latin typeface="Yu Gothic"/>
                        </a:defRPr>
                      </a:pPr>
                      <a:r>
                        <a:t>Yahoo!スポーツナビ(バーチャル高校野球)</a:t>
                      </a:r>
                    </a:p>
                  </a:txBody>
                  <a:tcPr>
                    <a:solidFill>
                      <a:srgbClr val="F0F7F4"/>
                    </a:solidFill>
                  </a:tcPr>
                </a:tc>
                <a:tc>
                  <a:txBody>
                    <a:bodyPr/>
                    <a:lstStyle/>
                    <a:p>
                      <a:pPr>
                        <a:defRPr sz="1200">
                          <a:solidFill>
                            <a:srgbClr val="121C1F"/>
                          </a:solidFill>
                          <a:latin typeface="Yu Gothic"/>
                        </a:defRPr>
                      </a:pPr>
                      <a:r>
                        <a:t>試合結果・両校の実績(2026-08-18)</a:t>
                      </a:r>
                    </a:p>
                  </a:txBody>
                  <a:tcPr>
                    <a:solidFill>
                      <a:srgbClr val="F0F7F4"/>
                    </a:solidFill>
                  </a:tcPr>
                </a:tc>
              </a:tr>
              <a:tr h="502920">
                <a:tc>
                  <a:txBody>
                    <a:bodyPr/>
                    <a:lstStyle/>
                    <a:p>
                      <a:pPr>
                        <a:defRPr sz="1200">
                          <a:solidFill>
                            <a:srgbClr val="121C1F"/>
                          </a:solidFill>
                          <a:latin typeface="Yu Gothic"/>
                        </a:defRPr>
                      </a:pPr>
                      <a:r>
                        <a:t>ベースボールチャンネル</a:t>
                      </a:r>
                    </a:p>
                  </a:txBody>
                  <a:tcPr>
                    <a:solidFill>
                      <a:srgbClr val="FFFFFF"/>
                    </a:solidFill>
                  </a:tcPr>
                </a:tc>
                <a:tc>
                  <a:txBody>
                    <a:bodyPr/>
                    <a:lstStyle/>
                    <a:p>
                      <a:pPr>
                        <a:defRPr sz="1200">
                          <a:solidFill>
                            <a:srgbClr val="121C1F"/>
                          </a:solidFill>
                          <a:latin typeface="Yu Gothic"/>
                        </a:defRPr>
                      </a:pPr>
                      <a:r>
                        <a:t>得点経過の確認(2026-08-18)</a:t>
                      </a:r>
                    </a:p>
                  </a:txBody>
                  <a:tcPr>
                    <a:solidFill>
                      <a:srgbClr val="FFFFFF"/>
                    </a:solidFill>
                  </a:tcPr>
                </a:tc>
              </a:tr>
              <a:tr h="502920">
                <a:tc>
                  <a:txBody>
                    <a:bodyPr/>
                    <a:lstStyle/>
                    <a:p>
                      <a:pPr>
                        <a:defRPr sz="1200">
                          <a:solidFill>
                            <a:srgbClr val="121C1F"/>
                          </a:solidFill>
                          <a:latin typeface="Yu Gothic"/>
                        </a:defRPr>
                      </a:pPr>
                      <a:r>
                        <a:t>高校野球ドットコム(Yahoo!ニュース配信)</a:t>
                      </a:r>
                    </a:p>
                  </a:txBody>
                  <a:tcPr>
                    <a:solidFill>
                      <a:srgbClr val="F0F7F4"/>
                    </a:solidFill>
                  </a:tcPr>
                </a:tc>
                <a:tc>
                  <a:txBody>
                    <a:bodyPr/>
                    <a:lstStyle/>
                    <a:p>
                      <a:pPr>
                        <a:defRPr sz="1200">
                          <a:solidFill>
                            <a:srgbClr val="121C1F"/>
                          </a:solidFill>
                          <a:latin typeface="Yu Gothic"/>
                        </a:defRPr>
                      </a:pPr>
                      <a:r>
                        <a:t>試合結果・三重の実績(2026-08-18)</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SANSPO(docomoニュース配信)・Yahoo!スポーツナビ(バーチャル高校野球)・ベースボールチャンネル・高校野球ドットコム(Yahoo!ニュース配信)(2026年8月18日時点)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9年ぶり4強へ。天理の完封勝ちを正確に整理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7-0の完封勝ちと、三重の12年ぶりベスト8という実績を、それぞれ正確に出典付きで整理してお届けしました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