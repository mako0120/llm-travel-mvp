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NASAの新しい宇宙望遠鏡「ナンシー・グレース・ローマン宇宙望遠鏡」が、8月30日の打ち上げに向けて最終準備を完了しました。何が発表されたのか、出典付きで正確に整理してお届けします。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結論から確認します。ローマン宇宙望遠鏡は、8月30日の打ち上げに向けて8月21日に飛行準備審査を完了しました。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今日は6つの流れでお伝えします。打ち上げの基本情報から望遠鏡の性能、準備の経緯まで、正確に事実を引用しながら整理します。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このテーマを扱う理由です。ハッブルの100倍の視野角という数字のインパクトに注目しました。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打ち上げの基本情報です。8月30日、ファルコンヘビーによる打ち上げが予定されています。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フライト・レディネス・レビューとは何かを確認します。打ち上げ前の重要な節目です。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ローマン宇宙望遠鏡は、ハッブルの100倍という広い視野角で赤外線宇宙を観測できます。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打ち上げまでの流れを図にしました。段階的な準備を経て打ち上げに臨みます。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望遠鏡の性能です。ハッブルと同サイズの主鏡で、100倍の視野角を実現しています。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主鏡の口径は2.4メートルで、ハッブル宇宙望遠鏡と同じサイズです。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ハッブルとの比較です。同じ主鏡サイズながら、視野角は大きく異なります。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宇宙科学に関心がある立場にとっての意味です。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望遠鏡の名前の由来です。NASA初の主任天文学者にちなんで名付けられました。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リハーサルと実際の打ち上げを対比しました。あくまで予定であることを明記します。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確認できなかったことを正直にお伝えします。単一情報源のみの数値は採用しません。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8月20日、打ち上げ日を想定した本番同様のリハーサルが実施されました。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打ち上げロケットについてです。SpaceXの大型ロケットが使用されます。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8月21日に飛行準備審査が完了し、最終準備活動へ進むことが承認されました。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ローマン宇宙望遠鏡の仕様をまとめました。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審査完了から打ち上げまで、約6日という短い期間での最終準備です。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海外メディアの報道時期をまとめました。継続的に報じられ続けている話題です。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打ち上げは、ケネディ宇宙センターの発射施設39Aから行われる予定です。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一般的な宇宙望遠鏡打ち上げと、今回のローマンを対比しました。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本編のまとめです。ローマン宇宙望遠鏡の打ち上げ準備について、出典付きで整理してお伝えしました。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ローマン宇宙望遠鏡の打ち上げ準備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NASA新望遠鏡</a:t>
            </a:r>
          </a:p>
          <a:p>
            <a:pPr algn="l">
              <a:lnSpc>
                <a:spcPct val="115000"/>
              </a:lnSpc>
            </a:pPr>
            <a:r>
              <a:rPr sz="4200" b="1">
                <a:solidFill>
                  <a:srgbClr val="FFFFFF"/>
                </a:solidFill>
                <a:latin typeface="Yu Gothic"/>
              </a:rPr>
              <a:t>「ローマン」</a:t>
            </a:r>
          </a:p>
          <a:p>
            <a:pPr algn="l">
              <a:lnSpc>
                <a:spcPct val="115000"/>
              </a:lnSpc>
            </a:pPr>
            <a:r>
              <a:rPr sz="4200" b="1">
                <a:solidFill>
                  <a:srgbClr val="FFFFFF"/>
                </a:solidFill>
                <a:latin typeface="Yu Gothic"/>
              </a:rPr>
              <a:t>8月30日打ち上げへ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2026年8月21〜24日発表——出典付きで整理する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NASA・Space.com(2026年8月21〜24日)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8月30日 ローマン宇宙望遠鏡の打ち上げ予定日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8月21日にフライト・レディネス・レビューを完了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NASA・SpaceNews(2026年8月)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打ち上げの基本情報を確認する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ローマン宇宙望遠鏡の性能を確認する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準備完了までの経緯を確認する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望遠鏡の名前の由来を確認する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着手日(2026年8月24日)にも複数の海外メディアが続報を報じている進行中の話題である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ハッブルの100倍の視野角という、数字のインパクトが大きい科学ミッションである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打ち上げまで残りわずかという、タイミングの緊迫感がある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複数の独立したメディアが同じ中心事実を報じており、情報の一貫性を確認できた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NASA・Space.com(2026年8月)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打ち上げの基本情報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ミッション名</a:t>
                      </a:r>
                    </a:p>
                  </a:txBody>
                  <a:tcPr>
                    <a:solidFill>
                      <a:srgbClr val="FFFFFF"/>
                    </a:solidFill>
                  </a:tcPr>
                </a:tc>
                <a:tc>
                  <a:txBody>
                    <a:bodyPr/>
                    <a:lstStyle/>
                    <a:p>
                      <a:pPr>
                        <a:defRPr sz="1200">
                          <a:solidFill>
                            <a:srgbClr val="1A1A2E"/>
                          </a:solidFill>
                          <a:latin typeface="Yu Gothic"/>
                        </a:defRPr>
                      </a:pPr>
                      <a:r>
                        <a:t>ナンシー・グレース・ローマン宇宙望遠鏡</a:t>
                      </a:r>
                    </a:p>
                  </a:txBody>
                  <a:tcPr>
                    <a:solidFill>
                      <a:srgbClr val="FFFFFF"/>
                    </a:solidFill>
                  </a:tcPr>
                </a:tc>
              </a:tr>
              <a:tr h="502920">
                <a:tc>
                  <a:txBody>
                    <a:bodyPr/>
                    <a:lstStyle/>
                    <a:p>
                      <a:pPr>
                        <a:defRPr sz="1200">
                          <a:solidFill>
                            <a:srgbClr val="1A1A2E"/>
                          </a:solidFill>
                          <a:latin typeface="Yu Gothic"/>
                        </a:defRPr>
                      </a:pPr>
                      <a:r>
                        <a:t>打ち上げ予定日時</a:t>
                      </a:r>
                    </a:p>
                  </a:txBody>
                  <a:tcPr>
                    <a:solidFill>
                      <a:srgbClr val="F3F6FC"/>
                    </a:solidFill>
                  </a:tcPr>
                </a:tc>
                <a:tc>
                  <a:txBody>
                    <a:bodyPr/>
                    <a:lstStyle/>
                    <a:p>
                      <a:pPr>
                        <a:defRPr sz="1200">
                          <a:solidFill>
                            <a:srgbClr val="1A1A2E"/>
                          </a:solidFill>
                          <a:latin typeface="Yu Gothic"/>
                        </a:defRPr>
                      </a:pPr>
                      <a:r>
                        <a:t>2026年8月30日午前7時26分(米東部夏時間)</a:t>
                      </a:r>
                    </a:p>
                  </a:txBody>
                  <a:tcPr>
                    <a:solidFill>
                      <a:srgbClr val="F3F6FC"/>
                    </a:solidFill>
                  </a:tcPr>
                </a:tc>
              </a:tr>
              <a:tr h="502920">
                <a:tc>
                  <a:txBody>
                    <a:bodyPr/>
                    <a:lstStyle/>
                    <a:p>
                      <a:pPr>
                        <a:defRPr sz="1200">
                          <a:solidFill>
                            <a:srgbClr val="1A1A2E"/>
                          </a:solidFill>
                          <a:latin typeface="Yu Gothic"/>
                        </a:defRPr>
                      </a:pPr>
                      <a:r>
                        <a:t>打ち上げロケット</a:t>
                      </a:r>
                    </a:p>
                  </a:txBody>
                  <a:tcPr>
                    <a:solidFill>
                      <a:srgbClr val="FFFFFF"/>
                    </a:solidFill>
                  </a:tcPr>
                </a:tc>
                <a:tc>
                  <a:txBody>
                    <a:bodyPr/>
                    <a:lstStyle/>
                    <a:p>
                      <a:pPr>
                        <a:defRPr sz="1200">
                          <a:solidFill>
                            <a:srgbClr val="1A1A2E"/>
                          </a:solidFill>
                          <a:latin typeface="Yu Gothic"/>
                        </a:defRPr>
                      </a:pPr>
                      <a:r>
                        <a:t>SpaceX ファルコンヘビー</a:t>
                      </a:r>
                    </a:p>
                  </a:txBody>
                  <a:tcPr>
                    <a:solidFill>
                      <a:srgbClr val="FFFFFF"/>
                    </a:solidFill>
                  </a:tcPr>
                </a:tc>
              </a:tr>
              <a:tr h="502920">
                <a:tc>
                  <a:txBody>
                    <a:bodyPr/>
                    <a:lstStyle/>
                    <a:p>
                      <a:pPr>
                        <a:defRPr sz="1200">
                          <a:solidFill>
                            <a:srgbClr val="1A1A2E"/>
                          </a:solidFill>
                          <a:latin typeface="Yu Gothic"/>
                        </a:defRPr>
                      </a:pPr>
                      <a:r>
                        <a:t>打ち上げ場所</a:t>
                      </a:r>
                    </a:p>
                  </a:txBody>
                  <a:tcPr>
                    <a:solidFill>
                      <a:srgbClr val="F3F6FC"/>
                    </a:solidFill>
                  </a:tcPr>
                </a:tc>
                <a:tc>
                  <a:txBody>
                    <a:bodyPr/>
                    <a:lstStyle/>
                    <a:p>
                      <a:pPr>
                        <a:defRPr sz="1200">
                          <a:solidFill>
                            <a:srgbClr val="1A1A2E"/>
                          </a:solidFill>
                          <a:latin typeface="Yu Gothic"/>
                        </a:defRPr>
                      </a:pPr>
                      <a:r>
                        <a:t>ケネディ宇宙センター発射施設39A</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NASA公式サイト(2026年8月)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「フライト・レディネス・レビュー」とは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前提知識を確認します。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打ち上げ前に、ミッション関係者が機体・運用計画の状態を最終確認する正式な審査である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この審査を通過することで、打ち上げに向けた最終準備活動に進むことが認められる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宇宙ミッションにおける重要な節目の一つである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視野角の広さ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ハッブルの100倍 ローマン宇宙望遠鏡の視野角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広視野の光学設計により、赤外線宇宙を短時間で広範囲観測できる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NASA公式サイト(2026年8月)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打ち上げまでの流れ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8月20日、本番同様のリハーサル実施</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電源投入・燃料充填等を確認</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8月21日、フライト・レディネス・レビュー完了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最終準備活動に進むことを承認</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8月30日、打ち上げ予定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ファルコンヘビーで打ち上げ</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打ち上げまでの流れ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NASA・SatNews(2026年8月)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今回の発表を3ステップで総括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本番同様のリハーサルを実施</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8月20日</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飛行準備審査を完了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8月21日</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打ち上げ日を確定</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8月30日予定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望遠鏡の性能</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望遠鏡の性能を確認します。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主鏡の口径は2.4メートルで、ハッブル宇宙望遠鏡と同サイズである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広視野の光学設計により、視野角はハッブルの100倍に達する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この特性により、赤外線宇宙を短時間で広範囲にわたって観測できる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NASA公式サイト・ScienceDaily(2026年8月)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確定していること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打ち上げ予定日時(8月30日午前7時26分)・打ち上げロケット</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望遠鏡の仕様(主鏡2.4m・視野角100倍)</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フライト・レディネス・レビューの完了(8月21日)</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『約10万個の新天体発見』という予測数値の裏付け</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打ち上げ費用・ミッション総予算の詳細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主鏡の口径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2.4メートル ローマン宇宙望遠鏡の主鏡の口径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ハッブル宇宙望遠鏡と同じサイズ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NASA公式サイト(2026年8月)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ハッブルとの比較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ハッブル</a:t>
                      </a:r>
                    </a:p>
                  </a:txBody>
                  <a:tcPr>
                    <a:solidFill>
                      <a:srgbClr val="1E2761"/>
                    </a:solidFill>
                  </a:tcPr>
                </a:tc>
                <a:tc>
                  <a:txBody>
                    <a:bodyPr/>
                    <a:lstStyle/>
                    <a:p>
                      <a:pPr>
                        <a:defRPr sz="1300" b="1">
                          <a:solidFill>
                            <a:srgbClr val="FFFFFF"/>
                          </a:solidFill>
                          <a:latin typeface="Yu Gothic"/>
                        </a:defRPr>
                      </a:pPr>
                      <a:r>
                        <a:t>ローマン</a:t>
                      </a:r>
                    </a:p>
                  </a:txBody>
                  <a:tcPr>
                    <a:solidFill>
                      <a:srgbClr val="1E2761"/>
                    </a:solidFill>
                  </a:tcPr>
                </a:tc>
              </a:tr>
              <a:tr h="502920">
                <a:tc>
                  <a:txBody>
                    <a:bodyPr/>
                    <a:lstStyle/>
                    <a:p>
                      <a:pPr>
                        <a:defRPr sz="1200">
                          <a:solidFill>
                            <a:srgbClr val="1A1A2E"/>
                          </a:solidFill>
                          <a:latin typeface="Yu Gothic"/>
                        </a:defRPr>
                      </a:pPr>
                      <a:r>
                        <a:t>主鏡口径</a:t>
                      </a:r>
                    </a:p>
                  </a:txBody>
                  <a:tcPr>
                    <a:solidFill>
                      <a:srgbClr val="FFFFFF"/>
                    </a:solidFill>
                  </a:tcPr>
                </a:tc>
                <a:tc>
                  <a:txBody>
                    <a:bodyPr/>
                    <a:lstStyle/>
                    <a:p>
                      <a:pPr>
                        <a:defRPr sz="1200">
                          <a:solidFill>
                            <a:srgbClr val="1A1A2E"/>
                          </a:solidFill>
                          <a:latin typeface="Yu Gothic"/>
                        </a:defRPr>
                      </a:pPr>
                      <a:r>
                        <a:t>2.4メートル</a:t>
                      </a:r>
                    </a:p>
                  </a:txBody>
                  <a:tcPr>
                    <a:solidFill>
                      <a:srgbClr val="FFFFFF"/>
                    </a:solidFill>
                  </a:tcPr>
                </a:tc>
                <a:tc>
                  <a:txBody>
                    <a:bodyPr/>
                    <a:lstStyle/>
                    <a:p>
                      <a:pPr>
                        <a:defRPr sz="1200">
                          <a:solidFill>
                            <a:srgbClr val="1A1A2E"/>
                          </a:solidFill>
                          <a:latin typeface="Yu Gothic"/>
                        </a:defRPr>
                      </a:pPr>
                      <a:r>
                        <a:t>2.4メートル(同サイズ)</a:t>
                      </a:r>
                    </a:p>
                  </a:txBody>
                  <a:tcPr>
                    <a:solidFill>
                      <a:srgbClr val="FFFFFF"/>
                    </a:solidFill>
                  </a:tcPr>
                </a:tc>
              </a:tr>
              <a:tr h="502920">
                <a:tc>
                  <a:txBody>
                    <a:bodyPr/>
                    <a:lstStyle/>
                    <a:p>
                      <a:pPr>
                        <a:defRPr sz="1200">
                          <a:solidFill>
                            <a:srgbClr val="1A1A2E"/>
                          </a:solidFill>
                          <a:latin typeface="Yu Gothic"/>
                        </a:defRPr>
                      </a:pPr>
                      <a:r>
                        <a:t>視野角</a:t>
                      </a:r>
                    </a:p>
                  </a:txBody>
                  <a:tcPr>
                    <a:solidFill>
                      <a:srgbClr val="F3F6FC"/>
                    </a:solidFill>
                  </a:tcPr>
                </a:tc>
                <a:tc>
                  <a:txBody>
                    <a:bodyPr/>
                    <a:lstStyle/>
                    <a:p>
                      <a:pPr>
                        <a:defRPr sz="1200">
                          <a:solidFill>
                            <a:srgbClr val="1A1A2E"/>
                          </a:solidFill>
                          <a:latin typeface="Yu Gothic"/>
                        </a:defRPr>
                      </a:pPr>
                      <a:r>
                        <a:t>基準</a:t>
                      </a:r>
                    </a:p>
                  </a:txBody>
                  <a:tcPr>
                    <a:solidFill>
                      <a:srgbClr val="F3F6FC"/>
                    </a:solidFill>
                  </a:tcPr>
                </a:tc>
                <a:tc>
                  <a:txBody>
                    <a:bodyPr/>
                    <a:lstStyle/>
                    <a:p>
                      <a:pPr>
                        <a:defRPr sz="1200">
                          <a:solidFill>
                            <a:srgbClr val="1A1A2E"/>
                          </a:solidFill>
                          <a:latin typeface="Yu Gothic"/>
                        </a:defRPr>
                      </a:pPr>
                      <a:r>
                        <a:t>約100倍</a:t>
                      </a:r>
                    </a:p>
                  </a:txBody>
                  <a:tcPr>
                    <a:solidFill>
                      <a:srgbClr val="F3F6FC"/>
                    </a:solidFill>
                  </a:tcPr>
                </a:tc>
              </a:tr>
              <a:tr h="502920">
                <a:tc>
                  <a:txBody>
                    <a:bodyPr/>
                    <a:lstStyle/>
                    <a:p>
                      <a:pPr>
                        <a:defRPr sz="1200">
                          <a:solidFill>
                            <a:srgbClr val="1A1A2E"/>
                          </a:solidFill>
                          <a:latin typeface="Yu Gothic"/>
                        </a:defRPr>
                      </a:pPr>
                      <a:r>
                        <a:t>観測対象</a:t>
                      </a:r>
                    </a:p>
                  </a:txBody>
                  <a:tcPr>
                    <a:solidFill>
                      <a:srgbClr val="FFFFFF"/>
                    </a:solidFill>
                  </a:tcPr>
                </a:tc>
                <a:tc>
                  <a:txBody>
                    <a:bodyPr/>
                    <a:lstStyle/>
                    <a:p>
                      <a:pPr>
                        <a:defRPr sz="1200">
                          <a:solidFill>
                            <a:srgbClr val="1A1A2E"/>
                          </a:solidFill>
                          <a:latin typeface="Yu Gothic"/>
                        </a:defRPr>
                      </a:pPr>
                      <a:r>
                        <a:t>可視光中心</a:t>
                      </a:r>
                    </a:p>
                  </a:txBody>
                  <a:tcPr>
                    <a:solidFill>
                      <a:srgbClr val="FFFFFF"/>
                    </a:solidFill>
                  </a:tcPr>
                </a:tc>
                <a:tc>
                  <a:txBody>
                    <a:bodyPr/>
                    <a:lstStyle/>
                    <a:p>
                      <a:pPr>
                        <a:defRPr sz="1200">
                          <a:solidFill>
                            <a:srgbClr val="1A1A2E"/>
                          </a:solidFill>
                          <a:latin typeface="Yu Gothic"/>
                        </a:defRPr>
                      </a:pPr>
                      <a:r>
                        <a:t>赤外線中心</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NASA公式サイト(2026年8月)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視聴者にとっての意味—宇宙科学に関心がある立場として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NASAの新しい主要ミッションの打ち上げ準備状況を、具体的な事実とともに把握できる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望遠鏡の性能を、身近なハッブル宇宙望遠鏡との比較で理解できる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予定と確定事項を区別する視点が役立つ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望遠鏡の名前の由来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名前の由来を確認します。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望遠鏡の名前は、ナンシー・グレース・ローマン氏にちなんで名付けられている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ローマン氏はNASA初の主任天文学者である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宇宙望遠鏡プログラムの立ち上げに貢献した人物として知られている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NASA公式サイト(2026年8月)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リハーサル vs 実際の打ち上げ</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リハーサル(8月20日実施)</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電源投入・燃料充填等の運用を通しで確認</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実際の打ち上げ(8月30日予定)</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ファルコンヘビーによる打ち上げ</a:t>
            </a:r>
          </a:p>
        </p:txBody>
      </p:sp>
      <p:sp>
        <p:nvSpPr>
          <p:cNvPr id="16" name="Oval 15"/>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天候等により変更の可能性がある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『約10万個の新天体を発見できる可能性がある』という予測数値は、単一の情報源のみで確認でき、複数情報源での相互確認ができていないため採用しない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打ち上げ費用・ミッション総予算の詳細は確認できていない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実際の打ち上げが予定どおり8月30日に行われるかどうかは、天候等により変更の可能性がある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主な情報源</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報道内容</a:t>
                      </a:r>
                    </a:p>
                  </a:txBody>
                  <a:tcPr>
                    <a:solidFill>
                      <a:srgbClr val="1E2761"/>
                    </a:solidFill>
                  </a:tcPr>
                </a:tc>
              </a:tr>
              <a:tr h="502920">
                <a:tc>
                  <a:txBody>
                    <a:bodyPr/>
                    <a:lstStyle/>
                    <a:p>
                      <a:pPr>
                        <a:defRPr sz="1200">
                          <a:solidFill>
                            <a:srgbClr val="1A1A2E"/>
                          </a:solidFill>
                          <a:latin typeface="Yu Gothic"/>
                        </a:defRPr>
                      </a:pPr>
                      <a:r>
                        <a:t>NASA公式サイト(2026年8月)</a:t>
                      </a:r>
                    </a:p>
                  </a:txBody>
                  <a:tcPr>
                    <a:solidFill>
                      <a:srgbClr val="FFFFFF"/>
                    </a:solidFill>
                  </a:tcPr>
                </a:tc>
                <a:tc>
                  <a:txBody>
                    <a:bodyPr/>
                    <a:lstStyle/>
                    <a:p>
                      <a:pPr>
                        <a:defRPr sz="1200">
                          <a:solidFill>
                            <a:srgbClr val="1A1A2E"/>
                          </a:solidFill>
                          <a:latin typeface="Yu Gothic"/>
                        </a:defRPr>
                      </a:pPr>
                      <a:r>
                        <a:t>審査完了の公式発表</a:t>
                      </a:r>
                    </a:p>
                  </a:txBody>
                  <a:tcPr>
                    <a:solidFill>
                      <a:srgbClr val="FFFFFF"/>
                    </a:solidFill>
                  </a:tcPr>
                </a:tc>
              </a:tr>
              <a:tr h="502920">
                <a:tc>
                  <a:txBody>
                    <a:bodyPr/>
                    <a:lstStyle/>
                    <a:p>
                      <a:pPr>
                        <a:defRPr sz="1200">
                          <a:solidFill>
                            <a:srgbClr val="1A1A2E"/>
                          </a:solidFill>
                          <a:latin typeface="Yu Gothic"/>
                        </a:defRPr>
                      </a:pPr>
                      <a:r>
                        <a:t>SatNews(2026-08-23)</a:t>
                      </a:r>
                    </a:p>
                  </a:txBody>
                  <a:tcPr>
                    <a:solidFill>
                      <a:srgbClr val="F3F6FC"/>
                    </a:solidFill>
                  </a:tcPr>
                </a:tc>
                <a:tc>
                  <a:txBody>
                    <a:bodyPr/>
                    <a:lstStyle/>
                    <a:p>
                      <a:pPr>
                        <a:defRPr sz="1200">
                          <a:solidFill>
                            <a:srgbClr val="1A1A2E"/>
                          </a:solidFill>
                          <a:latin typeface="Yu Gothic"/>
                        </a:defRPr>
                      </a:pPr>
                      <a:r>
                        <a:t>審査完了の詳細</a:t>
                      </a:r>
                    </a:p>
                  </a:txBody>
                  <a:tcPr>
                    <a:solidFill>
                      <a:srgbClr val="F3F6FC"/>
                    </a:solidFill>
                  </a:tcPr>
                </a:tc>
              </a:tr>
              <a:tr h="502920">
                <a:tc>
                  <a:txBody>
                    <a:bodyPr/>
                    <a:lstStyle/>
                    <a:p>
                      <a:pPr>
                        <a:defRPr sz="1200">
                          <a:solidFill>
                            <a:srgbClr val="1A1A2E"/>
                          </a:solidFill>
                          <a:latin typeface="Yu Gothic"/>
                        </a:defRPr>
                      </a:pPr>
                      <a:r>
                        <a:t>Space.com(2026-08-24)</a:t>
                      </a:r>
                    </a:p>
                  </a:txBody>
                  <a:tcPr>
                    <a:solidFill>
                      <a:srgbClr val="FFFFFF"/>
                    </a:solidFill>
                  </a:tcPr>
                </a:tc>
                <a:tc>
                  <a:txBody>
                    <a:bodyPr/>
                    <a:lstStyle/>
                    <a:p>
                      <a:pPr>
                        <a:defRPr sz="1200">
                          <a:solidFill>
                            <a:srgbClr val="1A1A2E"/>
                          </a:solidFill>
                          <a:latin typeface="Yu Gothic"/>
                        </a:defRPr>
                      </a:pPr>
                      <a:r>
                        <a:t>打ち上げ準備の最新状況</a:t>
                      </a:r>
                    </a:p>
                  </a:txBody>
                  <a:tcPr>
                    <a:solidFill>
                      <a:srgbClr val="FFFFFF"/>
                    </a:solidFill>
                  </a:tcPr>
                </a:tc>
              </a:tr>
              <a:tr h="502920">
                <a:tc>
                  <a:txBody>
                    <a:bodyPr/>
                    <a:lstStyle/>
                    <a:p>
                      <a:pPr>
                        <a:defRPr sz="1200">
                          <a:solidFill>
                            <a:srgbClr val="1A1A2E"/>
                          </a:solidFill>
                          <a:latin typeface="Yu Gothic"/>
                        </a:defRPr>
                      </a:pPr>
                      <a:r>
                        <a:t>ScienceDaily(2026-08-23)</a:t>
                      </a:r>
                    </a:p>
                  </a:txBody>
                  <a:tcPr>
                    <a:solidFill>
                      <a:srgbClr val="F3F6FC"/>
                    </a:solidFill>
                  </a:tcPr>
                </a:tc>
                <a:tc>
                  <a:txBody>
                    <a:bodyPr/>
                    <a:lstStyle/>
                    <a:p>
                      <a:pPr>
                        <a:defRPr sz="1200">
                          <a:solidFill>
                            <a:srgbClr val="1A1A2E"/>
                          </a:solidFill>
                          <a:latin typeface="Yu Gothic"/>
                        </a:defRPr>
                      </a:pPr>
                      <a:r>
                        <a:t>望遠鏡の性能詳細</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宇宙科学に関心がある立場として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新しい主要ミッションの準備状況を具体的な事実とともに把握できる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科学技術動向を追う立場として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望遠鏡の性能を実例を通じて学べる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予定と確定事項を区別する視点が役立つ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リハーサル実施日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8月20日 打ち上げ日を想定した本番同様のリハーサル実施日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電源投入・燃料充填・天候ブリーフィング等を確認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NASA公式サイト(2026年8月)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打ち上げロケット「ファルコンヘビー」について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打ち上げロケットを確認します。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SpaceXが開発した大型打ち上げロケットである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ケネディ宇宙センターの発射施設39Aから打ち上げられる予定である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具体的な打ち上げ準備の詳細な技術面については、本調査の範囲では確認できていない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フライト・レディネス・レビュー完了日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8月21日 飛行準備審査が完了した日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打ち上げまでの最終準備活動へ進むことが承認された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NASA公式サイト(2026年8月)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ローマン宇宙望遠鏡仕様まとめ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主鏡口径</a:t>
                      </a:r>
                    </a:p>
                  </a:txBody>
                  <a:tcPr>
                    <a:solidFill>
                      <a:srgbClr val="FFFFFF"/>
                    </a:solidFill>
                  </a:tcPr>
                </a:tc>
                <a:tc>
                  <a:txBody>
                    <a:bodyPr/>
                    <a:lstStyle/>
                    <a:p>
                      <a:pPr>
                        <a:defRPr sz="1200">
                          <a:solidFill>
                            <a:srgbClr val="1A1A2E"/>
                          </a:solidFill>
                          <a:latin typeface="Yu Gothic"/>
                        </a:defRPr>
                      </a:pPr>
                      <a:r>
                        <a:t>2.4メートル</a:t>
                      </a:r>
                    </a:p>
                  </a:txBody>
                  <a:tcPr>
                    <a:solidFill>
                      <a:srgbClr val="FFFFFF"/>
                    </a:solidFill>
                  </a:tcPr>
                </a:tc>
              </a:tr>
              <a:tr h="502920">
                <a:tc>
                  <a:txBody>
                    <a:bodyPr/>
                    <a:lstStyle/>
                    <a:p>
                      <a:pPr>
                        <a:defRPr sz="1200">
                          <a:solidFill>
                            <a:srgbClr val="1A1A2E"/>
                          </a:solidFill>
                          <a:latin typeface="Yu Gothic"/>
                        </a:defRPr>
                      </a:pPr>
                      <a:r>
                        <a:t>視野角</a:t>
                      </a:r>
                    </a:p>
                  </a:txBody>
                  <a:tcPr>
                    <a:solidFill>
                      <a:srgbClr val="F3F6FC"/>
                    </a:solidFill>
                  </a:tcPr>
                </a:tc>
                <a:tc>
                  <a:txBody>
                    <a:bodyPr/>
                    <a:lstStyle/>
                    <a:p>
                      <a:pPr>
                        <a:defRPr sz="1200">
                          <a:solidFill>
                            <a:srgbClr val="1A1A2E"/>
                          </a:solidFill>
                          <a:latin typeface="Yu Gothic"/>
                        </a:defRPr>
                      </a:pPr>
                      <a:r>
                        <a:t>ハッブルの約100倍</a:t>
                      </a:r>
                    </a:p>
                  </a:txBody>
                  <a:tcPr>
                    <a:solidFill>
                      <a:srgbClr val="F3F6FC"/>
                    </a:solidFill>
                  </a:tcPr>
                </a:tc>
              </a:tr>
              <a:tr h="502920">
                <a:tc>
                  <a:txBody>
                    <a:bodyPr/>
                    <a:lstStyle/>
                    <a:p>
                      <a:pPr>
                        <a:defRPr sz="1200">
                          <a:solidFill>
                            <a:srgbClr val="1A1A2E"/>
                          </a:solidFill>
                          <a:latin typeface="Yu Gothic"/>
                        </a:defRPr>
                      </a:pPr>
                      <a:r>
                        <a:t>観測波長帯</a:t>
                      </a:r>
                    </a:p>
                  </a:txBody>
                  <a:tcPr>
                    <a:solidFill>
                      <a:srgbClr val="FFFFFF"/>
                    </a:solidFill>
                  </a:tcPr>
                </a:tc>
                <a:tc>
                  <a:txBody>
                    <a:bodyPr/>
                    <a:lstStyle/>
                    <a:p>
                      <a:pPr>
                        <a:defRPr sz="1200">
                          <a:solidFill>
                            <a:srgbClr val="1A1A2E"/>
                          </a:solidFill>
                          <a:latin typeface="Yu Gothic"/>
                        </a:defRPr>
                      </a:pPr>
                      <a:r>
                        <a:t>赤外線中心</a:t>
                      </a:r>
                    </a:p>
                  </a:txBody>
                  <a:tcPr>
                    <a:solidFill>
                      <a:srgbClr val="FFFFFF"/>
                    </a:solidFill>
                  </a:tcPr>
                </a:tc>
              </a:tr>
              <a:tr h="502920">
                <a:tc>
                  <a:txBody>
                    <a:bodyPr/>
                    <a:lstStyle/>
                    <a:p>
                      <a:pPr>
                        <a:defRPr sz="1200">
                          <a:solidFill>
                            <a:srgbClr val="1A1A2E"/>
                          </a:solidFill>
                          <a:latin typeface="Yu Gothic"/>
                        </a:defRPr>
                      </a:pPr>
                      <a:r>
                        <a:t>名称の由来</a:t>
                      </a:r>
                    </a:p>
                  </a:txBody>
                  <a:tcPr>
                    <a:solidFill>
                      <a:srgbClr val="F3F6FC"/>
                    </a:solidFill>
                  </a:tcPr>
                </a:tc>
                <a:tc>
                  <a:txBody>
                    <a:bodyPr/>
                    <a:lstStyle/>
                    <a:p>
                      <a:pPr>
                        <a:defRPr sz="1200">
                          <a:solidFill>
                            <a:srgbClr val="1A1A2E"/>
                          </a:solidFill>
                          <a:latin typeface="Yu Gothic"/>
                        </a:defRPr>
                      </a:pPr>
                      <a:r>
                        <a:t>NASA初の主任天文学者</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打ち上げまでの残り日数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6日 フライト・レディネス・レビュー完了から打ち上げまでの日数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8月21日完了、8月30日打ち上げ予定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本調査による整理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1E2761"/>
                    </a:solidFill>
                  </a:tcPr>
                </a:tc>
                <a:tc>
                  <a:txBody>
                    <a:bodyPr/>
                    <a:lstStyle/>
                    <a:p>
                      <a:pPr>
                        <a:defRPr sz="1300" b="1">
                          <a:solidFill>
                            <a:srgbClr val="FFFFFF"/>
                          </a:solidFill>
                          <a:latin typeface="Yu Gothic"/>
                        </a:defRPr>
                      </a:pPr>
                      <a:r>
                        <a:t>メディア</a:t>
                      </a:r>
                    </a:p>
                  </a:txBody>
                  <a:tcPr>
                    <a:solidFill>
                      <a:srgbClr val="1E2761"/>
                    </a:solidFill>
                  </a:tcPr>
                </a:tc>
              </a:tr>
              <a:tr h="502920">
                <a:tc>
                  <a:txBody>
                    <a:bodyPr/>
                    <a:lstStyle/>
                    <a:p>
                      <a:pPr>
                        <a:defRPr sz="1200">
                          <a:solidFill>
                            <a:srgbClr val="1A1A2E"/>
                          </a:solidFill>
                          <a:latin typeface="Yu Gothic"/>
                        </a:defRPr>
                      </a:pPr>
                      <a:r>
                        <a:t>2026年8月20日</a:t>
                      </a:r>
                    </a:p>
                  </a:txBody>
                  <a:tcPr>
                    <a:solidFill>
                      <a:srgbClr val="FFFFFF"/>
                    </a:solidFill>
                  </a:tcPr>
                </a:tc>
                <a:tc>
                  <a:txBody>
                    <a:bodyPr/>
                    <a:lstStyle/>
                    <a:p>
                      <a:pPr>
                        <a:defRPr sz="1200">
                          <a:solidFill>
                            <a:srgbClr val="1A1A2E"/>
                          </a:solidFill>
                          <a:latin typeface="Yu Gothic"/>
                        </a:defRPr>
                      </a:pPr>
                      <a:r>
                        <a:t>リハーサル実施(NASA公式)</a:t>
                      </a:r>
                    </a:p>
                  </a:txBody>
                  <a:tcPr>
                    <a:solidFill>
                      <a:srgbClr val="FFFFFF"/>
                    </a:solidFill>
                  </a:tcPr>
                </a:tc>
              </a:tr>
              <a:tr h="502920">
                <a:tc>
                  <a:txBody>
                    <a:bodyPr/>
                    <a:lstStyle/>
                    <a:p>
                      <a:pPr>
                        <a:defRPr sz="1200">
                          <a:solidFill>
                            <a:srgbClr val="1A1A2E"/>
                          </a:solidFill>
                          <a:latin typeface="Yu Gothic"/>
                        </a:defRPr>
                      </a:pPr>
                      <a:r>
                        <a:t>2026年8月21日</a:t>
                      </a:r>
                    </a:p>
                  </a:txBody>
                  <a:tcPr>
                    <a:solidFill>
                      <a:srgbClr val="F3F6FC"/>
                    </a:solidFill>
                  </a:tcPr>
                </a:tc>
                <a:tc>
                  <a:txBody>
                    <a:bodyPr/>
                    <a:lstStyle/>
                    <a:p>
                      <a:pPr>
                        <a:defRPr sz="1200">
                          <a:solidFill>
                            <a:srgbClr val="1A1A2E"/>
                          </a:solidFill>
                          <a:latin typeface="Yu Gothic"/>
                        </a:defRPr>
                      </a:pPr>
                      <a:r>
                        <a:t>審査完了(NASA公式)</a:t>
                      </a:r>
                    </a:p>
                  </a:txBody>
                  <a:tcPr>
                    <a:solidFill>
                      <a:srgbClr val="F3F6FC"/>
                    </a:solidFill>
                  </a:tcPr>
                </a:tc>
              </a:tr>
              <a:tr h="502920">
                <a:tc>
                  <a:txBody>
                    <a:bodyPr/>
                    <a:lstStyle/>
                    <a:p>
                      <a:pPr>
                        <a:defRPr sz="1200">
                          <a:solidFill>
                            <a:srgbClr val="1A1A2E"/>
                          </a:solidFill>
                          <a:latin typeface="Yu Gothic"/>
                        </a:defRPr>
                      </a:pPr>
                      <a:r>
                        <a:t>2026年8月23〜24日</a:t>
                      </a:r>
                    </a:p>
                  </a:txBody>
                  <a:tcPr>
                    <a:solidFill>
                      <a:srgbClr val="FFFFFF"/>
                    </a:solidFill>
                  </a:tcPr>
                </a:tc>
                <a:tc>
                  <a:txBody>
                    <a:bodyPr/>
                    <a:lstStyle/>
                    <a:p>
                      <a:pPr>
                        <a:defRPr sz="1200">
                          <a:solidFill>
                            <a:srgbClr val="1A1A2E"/>
                          </a:solidFill>
                          <a:latin typeface="Yu Gothic"/>
                        </a:defRPr>
                      </a:pPr>
                      <a:r>
                        <a:t>SatNews・Space.com・ScienceDaily(続報)</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打ち上げ施設</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発射施設39A ケネディ宇宙センターの打ち上げ場所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多くの著名なミッションが打ち上げられてきた施設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NASA公式サイト(2026年8月)</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一般的な宇宙望遠鏡打ち上げ vs 今回のローマン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一般的な宇宙望遠鏡打ち上げ</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特定の観測波長帯に特化することが多い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今回のローマン</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ハッブルと同サイズの主鏡でありながら視野角100倍</a:t>
            </a:r>
          </a:p>
        </p:txBody>
      </p:sp>
      <p:sp>
        <p:nvSpPr>
          <p:cNvPr id="16" name="Oval 15"/>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広範囲の赤外線宇宙を短時間で観測可能</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今後注目される点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実際に8月30日予定どおりに打ち上げが行われるかどうかに注目が集まる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打ち上げ後の初期観測データがいつ頃公開されるかも注目点である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具体的な観測成果の予測は本テーマの範囲では断定せず、確認できた事実にとどめる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本編のまとめです。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NASAの新宇宙望遠鏡『ローマン』が、2026年8月30日の打ち上げに向けて最終準備を完了した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8月21日にフライト・レディネス・レビューを完了し、8月20日には本番同様のリハーサルを実施した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主鏡はハッブルと同じ2.4メートルながら、視野角はハッブルの約100倍という性能を持つ</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『約10万個の新天体発見』等の未確認の予測数値は採用せず、確認できた事実のみをお伝えした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NASA・Space.com等(2026-08-21〜24)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NASAの新宇宙望遠鏡「ローマン」、8月30日打ち上げへ最終準備完了。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NASAの新しい宇宙望遠鏡が、いよいよ打ち上げに向けて最終準備を完了しました。ハッブルの100倍の視野角という性能を、出典付きで整理してお届けしました。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