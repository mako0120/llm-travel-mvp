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AIデータセンターの光接続を変える新型レーザーが登場しました。開発元のQuintessentが40億円規模のシリーズAを調達し、サンプル出荷を開始しています。出典付きで整理してお届けします。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結論から確認します。Quintessentは単一チップ・単一バイアス制御で8波長を生成する新型レーザーのサンプル出荷を開始しました。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本日の流れです。企業概要から新型レーザーの技術、資金調達の推移、そして確認できなかったことまで整理します。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着手日当日に複数メディアが一斉報道した、鮮度の高い話題です。資金調達と製品発表が同時に行われた点も特徴です。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シリーズAの調達額は40百万ドルで、募集額を上回るオーバーサブスクライブとなりました。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Quintessentは、サンタバーバラを拠点にAIデータセンター向けの光接続製品を開発する企業です。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2024年3月のシードラウンドから、今回のシリーズAへの推移です。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新型レーザーは量子ドット方式の単一チップで、複数波長を1つの制御で生成できる点が特徴です。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このコムレーザーは、単一のレーザーと単一のバイアス制御から、精密に間隔を空けた8波長を生成します。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背景には、AIインフラの拡大に伴うインジウムリンレーザーの世界的な供給不足があります。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従来は個々に調整されたレーザーを束ねる方式でしたが、新方式は単一チップ・単一制御で複数波長を生成します。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従来方式と新方式の違いを整理しました。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性能面では、他方式と比較してデータ移動を最大40%削減できるとされていますが、詳細な算出根拠は確認できていません。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他方式と比較してデータ移動を最大40%削減できるとされています。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シード、シリーズA、そして今後の展開という3ステップで整理します。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投資家陣にはCycle Capitalに加え、Goldman Sachs系ファンドや光通信企業Cienaも名を連ねています。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今回のラウンドには、主導したCycle Capitalを含め7社を超える投資家が参加しています。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従来方式とコムレーザーを比較すると、光源の構成がシンプルになる点が大きな違いです。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AIデータセンターの光接続需要拡大と部材不足という背景の中での資金調達・製品発表です。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複数の独立したメディアが同一の調達額・技術内容を報じており、報道内容としての一貫性を確認しています。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シードとシリーズAを比較すると、製品が開発段階からサンプル出荷段階に進んだ点が大きな違いです。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設立からの累計調達額は、シードとシリーズAを合わせて51.5百万ドルとなります。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本テーマは特定製品の利用推奨ではなく、業界動向の紹介として整理しています。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今回のニュースに至るまでのタイムラインです。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調達前後で、累計調達額と製品の開発段階の両方が明確に変化しました。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40百万ドルのシリーズAにより、Quintessentは8波長を生成する新型レーザーのサンプル出荷を開始しました。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本日はQuintessentのシリーズA調達と新型レーザーについてお届けしました。確認できなかったことは正直に開示しています。次回もお楽しみに。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AIデータセンターを</a:t>
            </a:r>
          </a:p>
          <a:p>
            <a:pPr algn="l">
              <a:lnSpc>
                <a:spcPct val="115000"/>
              </a:lnSpc>
            </a:pPr>
            <a:r>
              <a:rPr sz="4200" b="1">
                <a:solidFill>
                  <a:srgbClr val="FFFFFF"/>
                </a:solidFill>
                <a:latin typeface="Yu Gothic"/>
              </a:rPr>
              <a:t>高速・省電力に</a:t>
            </a:r>
          </a:p>
          <a:p>
            <a:pPr algn="l">
              <a:lnSpc>
                <a:spcPct val="115000"/>
              </a:lnSpc>
            </a:pPr>
            <a:r>
              <a:rPr sz="4200" b="1">
                <a:solidFill>
                  <a:srgbClr val="FFFFFF"/>
                </a:solidFill>
                <a:latin typeface="Yu Gothic"/>
              </a:rPr>
              <a:t>新型レーザー登場</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Quintessentが40億円調達、単一チップで8波長を生成——出典付きで整理する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Light Reading(2026年8月)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単一チップで8波長 新型コムレーザーが出荷開始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AIクラスタ向けの光接続をシンプルにする狙い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Light Reading(2026年8月)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Quintessentとは何か、基本情報を確認する</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新型コムレーザーの仕組みを確認する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資金調達の推移・投資家陣</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2026年8月24日、複数の海外メディアが一斉に報道</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AIデータセンターの電力・光接続不足という業界共通の課題への対応策</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資金調達と製品出荷開始が同時発表という話題性</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Light Reading(2026年8月)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シリーズAの調達額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40百万ドル オーバーサブスクライブのシリーズA</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Cycle Capitalが主導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Morningstar/Businesswire(2026-08-24)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Quintessentとは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米カリフォルニア州サンタバーバラ拠点の企業</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AIデータセンター向けの光接続(オプティカル・インターコネクト)製品を開発</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低コスト・省電力を掲げる光源技術に強みを持つ</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Pacific Coast Business Times(2026-08-24)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シード→シリーズAの調達推移</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ラウンド</a:t>
                      </a:r>
                    </a:p>
                  </a:txBody>
                  <a:tcPr>
                    <a:solidFill>
                      <a:srgbClr val="1B3A5C"/>
                    </a:solidFill>
                  </a:tcPr>
                </a:tc>
                <a:tc>
                  <a:txBody>
                    <a:bodyPr/>
                    <a:lstStyle/>
                    <a:p>
                      <a:pPr>
                        <a:defRPr sz="1300" b="1">
                          <a:solidFill>
                            <a:srgbClr val="FFFFFF"/>
                          </a:solidFill>
                          <a:latin typeface="Yu Gothic"/>
                        </a:defRPr>
                      </a:pPr>
                      <a:r>
                        <a:t>時期</a:t>
                      </a:r>
                    </a:p>
                  </a:txBody>
                  <a:tcPr>
                    <a:solidFill>
                      <a:srgbClr val="1B3A5C"/>
                    </a:solidFill>
                  </a:tcPr>
                </a:tc>
                <a:tc>
                  <a:txBody>
                    <a:bodyPr/>
                    <a:lstStyle/>
                    <a:p>
                      <a:pPr>
                        <a:defRPr sz="1300" b="1">
                          <a:solidFill>
                            <a:srgbClr val="FFFFFF"/>
                          </a:solidFill>
                          <a:latin typeface="Yu Gothic"/>
                        </a:defRPr>
                      </a:pPr>
                      <a:r>
                        <a:t>調達額</a:t>
                      </a:r>
                    </a:p>
                  </a:txBody>
                  <a:tcPr>
                    <a:solidFill>
                      <a:srgbClr val="1B3A5C"/>
                    </a:solidFill>
                  </a:tcPr>
                </a:tc>
              </a:tr>
              <a:tr h="502920">
                <a:tc>
                  <a:txBody>
                    <a:bodyPr/>
                    <a:lstStyle/>
                    <a:p>
                      <a:pPr>
                        <a:defRPr sz="1200">
                          <a:solidFill>
                            <a:srgbClr val="16202E"/>
                          </a:solidFill>
                          <a:latin typeface="Yu Gothic"/>
                        </a:defRPr>
                      </a:pPr>
                      <a:r>
                        <a:t>シード</a:t>
                      </a:r>
                    </a:p>
                  </a:txBody>
                  <a:tcPr>
                    <a:solidFill>
                      <a:srgbClr val="FFFFFF"/>
                    </a:solidFill>
                  </a:tcPr>
                </a:tc>
                <a:tc>
                  <a:txBody>
                    <a:bodyPr/>
                    <a:lstStyle/>
                    <a:p>
                      <a:pPr>
                        <a:defRPr sz="1200">
                          <a:solidFill>
                            <a:srgbClr val="16202E"/>
                          </a:solidFill>
                          <a:latin typeface="Yu Gothic"/>
                        </a:defRPr>
                      </a:pPr>
                      <a:r>
                        <a:t>2024年3月</a:t>
                      </a:r>
                    </a:p>
                  </a:txBody>
                  <a:tcPr>
                    <a:solidFill>
                      <a:srgbClr val="FFFFFF"/>
                    </a:solidFill>
                  </a:tcPr>
                </a:tc>
                <a:tc>
                  <a:txBody>
                    <a:bodyPr/>
                    <a:lstStyle/>
                    <a:p>
                      <a:pPr>
                        <a:defRPr sz="1200">
                          <a:solidFill>
                            <a:srgbClr val="16202E"/>
                          </a:solidFill>
                          <a:latin typeface="Yu Gothic"/>
                        </a:defRPr>
                      </a:pPr>
                      <a:r>
                        <a:t>11.5百万ドル</a:t>
                      </a:r>
                    </a:p>
                  </a:txBody>
                  <a:tcPr>
                    <a:solidFill>
                      <a:srgbClr val="FFFFFF"/>
                    </a:solidFill>
                  </a:tcPr>
                </a:tc>
              </a:tr>
              <a:tr h="502920">
                <a:tc>
                  <a:txBody>
                    <a:bodyPr/>
                    <a:lstStyle/>
                    <a:p>
                      <a:pPr>
                        <a:defRPr sz="1200">
                          <a:solidFill>
                            <a:srgbClr val="16202E"/>
                          </a:solidFill>
                          <a:latin typeface="Yu Gothic"/>
                        </a:defRPr>
                      </a:pPr>
                      <a:r>
                        <a:t>シリーズA</a:t>
                      </a:r>
                    </a:p>
                  </a:txBody>
                  <a:tcPr>
                    <a:solidFill>
                      <a:srgbClr val="F2F6FA"/>
                    </a:solidFill>
                  </a:tcPr>
                </a:tc>
                <a:tc>
                  <a:txBody>
                    <a:bodyPr/>
                    <a:lstStyle/>
                    <a:p>
                      <a:pPr>
                        <a:defRPr sz="1200">
                          <a:solidFill>
                            <a:srgbClr val="16202E"/>
                          </a:solidFill>
                          <a:latin typeface="Yu Gothic"/>
                        </a:defRPr>
                      </a:pPr>
                      <a:r>
                        <a:t>2026年8月</a:t>
                      </a:r>
                    </a:p>
                  </a:txBody>
                  <a:tcPr>
                    <a:solidFill>
                      <a:srgbClr val="F2F6FA"/>
                    </a:solidFill>
                  </a:tcPr>
                </a:tc>
                <a:tc>
                  <a:txBody>
                    <a:bodyPr/>
                    <a:lstStyle/>
                    <a:p>
                      <a:pPr>
                        <a:defRPr sz="1200">
                          <a:solidFill>
                            <a:srgbClr val="16202E"/>
                          </a:solidFill>
                          <a:latin typeface="Yu Gothic"/>
                        </a:defRPr>
                      </a:pPr>
                      <a:r>
                        <a:t>40百万ドル(オーバーサブスクライブ)</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Businesswire(2024年3月・2026年8月)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新型コムレーザーとは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量子ドット方式の単一チップDWDM(高密度波長分割多重)コムレーザー</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1つのレーザー・1つのバイアス制御から複数波長を生成</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顧客向けのサンプル出荷を開始したと発表</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Electronics Weekly(2026年8月)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生成する波長数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8波長 単一レーザー・単一バイアス制御から生成</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精密に間隔を空けた波長を生成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Electronics Weekly(2026年8月)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背景にある業界課題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AIインフラの大規模構築が進行中</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光接続の大半が依存するインジウムリン(InP)レーザーが世界的に供給不足</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この供給不足への対応策として新方式が注目されている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VentureBurn(2026年8月)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従来方式と新方式の違い(概念図)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従来: 個別調整レーザーの集合</a:t>
            </a:r>
          </a:p>
        </p:txBody>
      </p:sp>
      <p:sp>
        <p:nvSpPr>
          <p:cNvPr id="9" name="Right Arrow 8"/>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新方式: 単一チップ・単一制御</a:t>
            </a:r>
          </a:p>
        </p:txBody>
      </p:sp>
      <p:sp>
        <p:nvSpPr>
          <p:cNvPr id="13" name="Right Arrow 12"/>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8波長を同時生成</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個別に調整された複数レーザーの代わりに、単一チップで波長を生成する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従来方式 vs 新方式</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従来方式</a:t>
                      </a:r>
                    </a:p>
                  </a:txBody>
                  <a:tcPr>
                    <a:solidFill>
                      <a:srgbClr val="1B3A5C"/>
                    </a:solidFill>
                  </a:tcPr>
                </a:tc>
                <a:tc>
                  <a:txBody>
                    <a:bodyPr/>
                    <a:lstStyle/>
                    <a:p>
                      <a:pPr>
                        <a:defRPr sz="1300" b="1">
                          <a:solidFill>
                            <a:srgbClr val="FFFFFF"/>
                          </a:solidFill>
                          <a:latin typeface="Yu Gothic"/>
                        </a:defRPr>
                      </a:pPr>
                      <a:r>
                        <a:t>新方式(コムレーザー)</a:t>
                      </a:r>
                    </a:p>
                  </a:txBody>
                  <a:tcPr>
                    <a:solidFill>
                      <a:srgbClr val="1B3A5C"/>
                    </a:solidFill>
                  </a:tcPr>
                </a:tc>
              </a:tr>
              <a:tr h="502920">
                <a:tc>
                  <a:txBody>
                    <a:bodyPr/>
                    <a:lstStyle/>
                    <a:p>
                      <a:pPr>
                        <a:defRPr sz="1200">
                          <a:solidFill>
                            <a:srgbClr val="16202E"/>
                          </a:solidFill>
                          <a:latin typeface="Yu Gothic"/>
                        </a:defRPr>
                      </a:pPr>
                      <a:r>
                        <a:t>光源の構成</a:t>
                      </a:r>
                    </a:p>
                  </a:txBody>
                  <a:tcPr>
                    <a:solidFill>
                      <a:srgbClr val="FFFFFF"/>
                    </a:solidFill>
                  </a:tcPr>
                </a:tc>
                <a:tc>
                  <a:txBody>
                    <a:bodyPr/>
                    <a:lstStyle/>
                    <a:p>
                      <a:pPr>
                        <a:defRPr sz="1200">
                          <a:solidFill>
                            <a:srgbClr val="16202E"/>
                          </a:solidFill>
                          <a:latin typeface="Yu Gothic"/>
                        </a:defRPr>
                      </a:pPr>
                      <a:r>
                        <a:t>個別に調整された複数レーザー</a:t>
                      </a:r>
                    </a:p>
                  </a:txBody>
                  <a:tcPr>
                    <a:solidFill>
                      <a:srgbClr val="FFFFFF"/>
                    </a:solidFill>
                  </a:tcPr>
                </a:tc>
                <a:tc>
                  <a:txBody>
                    <a:bodyPr/>
                    <a:lstStyle/>
                    <a:p>
                      <a:pPr>
                        <a:defRPr sz="1200">
                          <a:solidFill>
                            <a:srgbClr val="16202E"/>
                          </a:solidFill>
                          <a:latin typeface="Yu Gothic"/>
                        </a:defRPr>
                      </a:pPr>
                      <a:r>
                        <a:t>単一チップ・単一バイアス制御</a:t>
                      </a:r>
                    </a:p>
                  </a:txBody>
                  <a:tcPr>
                    <a:solidFill>
                      <a:srgbClr val="FFFFFF"/>
                    </a:solidFill>
                  </a:tcPr>
                </a:tc>
              </a:tr>
              <a:tr h="502920">
                <a:tc>
                  <a:txBody>
                    <a:bodyPr/>
                    <a:lstStyle/>
                    <a:p>
                      <a:pPr>
                        <a:defRPr sz="1200">
                          <a:solidFill>
                            <a:srgbClr val="16202E"/>
                          </a:solidFill>
                          <a:latin typeface="Yu Gothic"/>
                        </a:defRPr>
                      </a:pPr>
                      <a:r>
                        <a:t>対応する課題</a:t>
                      </a:r>
                    </a:p>
                  </a:txBody>
                  <a:tcPr>
                    <a:solidFill>
                      <a:srgbClr val="F2F6FA"/>
                    </a:solidFill>
                  </a:tcPr>
                </a:tc>
                <a:tc>
                  <a:txBody>
                    <a:bodyPr/>
                    <a:lstStyle/>
                    <a:p>
                      <a:pPr>
                        <a:defRPr sz="1200">
                          <a:solidFill>
                            <a:srgbClr val="16202E"/>
                          </a:solidFill>
                          <a:latin typeface="Yu Gothic"/>
                        </a:defRPr>
                      </a:pPr>
                      <a:r>
                        <a:t>InPレーザー供給不足の影響を受けやすい</a:t>
                      </a:r>
                    </a:p>
                  </a:txBody>
                  <a:tcPr>
                    <a:solidFill>
                      <a:srgbClr val="F2F6FA"/>
                    </a:solidFill>
                  </a:tcPr>
                </a:tc>
                <a:tc>
                  <a:txBody>
                    <a:bodyPr/>
                    <a:lstStyle/>
                    <a:p>
                      <a:pPr>
                        <a:defRPr sz="1200">
                          <a:solidFill>
                            <a:srgbClr val="16202E"/>
                          </a:solidFill>
                          <a:latin typeface="Yu Gothic"/>
                        </a:defRPr>
                      </a:pPr>
                      <a:r>
                        <a:t>供給不足への対応策として提示</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Electronics Weekly(2026年8月)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性能面で謳われている効果</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DWDM波長のコストを削減できるとしている</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他の「狭帯域・高速」方式のアーキテクチャと比較してデータ移動を最大40%削減できるとしている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算出根拠・比較対象の詳細な条件は確認できていない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VentureBurn(2026年8月)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謳われているデータ移動の削減率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最大40%削減 他の「狭帯域・高速」方式との比較で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算出根拠の詳細は確認できていない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VentureBurn(2026年8月)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設立からの展開ステップ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シード</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2024年3月、11.5百万ドル</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シリーズA</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2026年8月、40百万ドル・サンプル出荷開始</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今後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量産・商用提供開始の時期は未確認</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シリーズAの投資家陣</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Cycle Capitalが主導</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新規投資家: Goldman Sachs XIG-Industry Ventures、Hina Liberty Capital、Susquehanna International Group等</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既存の光通信企業Cienaも参加</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Light Reading(2026年8月)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確定</a:t>
                      </a:r>
                    </a:p>
                  </a:txBody>
                  <a:tcPr>
                    <a:solidFill>
                      <a:srgbClr val="FFFFFF"/>
                    </a:solidFill>
                  </a:tcPr>
                </a:tc>
                <a:tc>
                  <a:txBody>
                    <a:bodyPr/>
                    <a:lstStyle/>
                    <a:p>
                      <a:pPr>
                        <a:defRPr sz="1200">
                          <a:solidFill>
                            <a:srgbClr val="16202E"/>
                          </a:solidFill>
                          <a:latin typeface="Yu Gothic"/>
                        </a:defRPr>
                      </a:pPr>
                      <a:r>
                        <a:t>調達額・投資家陣・サンプル出荷開始という事実</a:t>
                      </a:r>
                    </a:p>
                  </a:txBody>
                  <a:tcPr>
                    <a:solidFill>
                      <a:srgbClr val="FFFFFF"/>
                    </a:solidFill>
                  </a:tcPr>
                </a:tc>
              </a:tr>
              <a:tr h="502920">
                <a:tc>
                  <a:txBody>
                    <a:bodyPr/>
                    <a:lstStyle/>
                    <a:p>
                      <a:pPr>
                        <a:defRPr sz="1200">
                          <a:solidFill>
                            <a:srgbClr val="16202E"/>
                          </a:solidFill>
                          <a:latin typeface="Yu Gothic"/>
                        </a:defRPr>
                      </a:pPr>
                      <a:r>
                        <a:t>確定</a:t>
                      </a:r>
                    </a:p>
                  </a:txBody>
                  <a:tcPr>
                    <a:solidFill>
                      <a:srgbClr val="F2F6FA"/>
                    </a:solidFill>
                  </a:tcPr>
                </a:tc>
                <a:tc>
                  <a:txBody>
                    <a:bodyPr/>
                    <a:lstStyle/>
                    <a:p>
                      <a:pPr>
                        <a:defRPr sz="1200">
                          <a:solidFill>
                            <a:srgbClr val="16202E"/>
                          </a:solidFill>
                          <a:latin typeface="Yu Gothic"/>
                        </a:defRPr>
                      </a:pPr>
                      <a:r>
                        <a:t>コムレーザーの技術的な仕組み(8波長・単一制御)</a:t>
                      </a:r>
                    </a:p>
                  </a:txBody>
                  <a:tcPr>
                    <a:solidFill>
                      <a:srgbClr val="F2F6FA"/>
                    </a:solidFill>
                  </a:tcPr>
                </a:tc>
              </a:tr>
              <a:tr h="502920">
                <a:tc>
                  <a:txBody>
                    <a:bodyPr/>
                    <a:lstStyle/>
                    <a:p>
                      <a:pPr>
                        <a:defRPr sz="1200">
                          <a:solidFill>
                            <a:srgbClr val="16202E"/>
                          </a:solidFill>
                          <a:latin typeface="Yu Gothic"/>
                        </a:defRPr>
                      </a:pPr>
                      <a:r>
                        <a:t>未確認</a:t>
                      </a:r>
                    </a:p>
                  </a:txBody>
                  <a:tcPr>
                    <a:solidFill>
                      <a:srgbClr val="FFFFFF"/>
                    </a:solidFill>
                  </a:tcPr>
                </a:tc>
                <a:tc>
                  <a:txBody>
                    <a:bodyPr/>
                    <a:lstStyle/>
                    <a:p>
                      <a:pPr>
                        <a:defRPr sz="1200">
                          <a:solidFill>
                            <a:srgbClr val="16202E"/>
                          </a:solidFill>
                          <a:latin typeface="Yu Gothic"/>
                        </a:defRPr>
                      </a:pPr>
                      <a:r>
                        <a:t>具体的な企業評価額・量産開始時期・顧客企業名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シリーズAによる具体的な企業評価額</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「最大40%削減」の算出根拠・比較対象アーキテクチャの詳細</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サンプル出荷から量産・商用提供開始までの具体的なタイムライン</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参加した投資家の数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7社超 主導含む投資家陣</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Cycle Capital主導、Goldman Sachs系・Ciena等が参加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Light Reading(2026年8月)</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従来のレーザー方式 vs コムレーザー</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従来方式</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個別に調整された複数レーザー</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InP供給不足の影響を受けやすい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コムレーザー(新方式)</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単一チップ・単一バイアス制御</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供給不足への対応策として提示</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AIデータセンター業界の背景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AIクラスタの急拡大により光接続需要が急増</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InPレーザーの世界的な供給不足が業界共通の課題</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低コスト・省電力な光源技術への投資が世界的に拡大している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主要出典の一覧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報道日</a:t>
                      </a:r>
                    </a:p>
                  </a:txBody>
                  <a:tcPr>
                    <a:solidFill>
                      <a:srgbClr val="1B3A5C"/>
                    </a:solidFill>
                  </a:tcPr>
                </a:tc>
              </a:tr>
              <a:tr h="502920">
                <a:tc>
                  <a:txBody>
                    <a:bodyPr/>
                    <a:lstStyle/>
                    <a:p>
                      <a:pPr>
                        <a:defRPr sz="1200">
                          <a:solidFill>
                            <a:srgbClr val="16202E"/>
                          </a:solidFill>
                          <a:latin typeface="Yu Gothic"/>
                        </a:defRPr>
                      </a:pPr>
                      <a:r>
                        <a:t>Light Reading</a:t>
                      </a:r>
                    </a:p>
                  </a:txBody>
                  <a:tcPr>
                    <a:solidFill>
                      <a:srgbClr val="FFFFFF"/>
                    </a:solidFill>
                  </a:tcPr>
                </a:tc>
                <a:tc>
                  <a:txBody>
                    <a:bodyPr/>
                    <a:lstStyle/>
                    <a:p>
                      <a:pPr>
                        <a:defRPr sz="1200">
                          <a:solidFill>
                            <a:srgbClr val="16202E"/>
                          </a:solidFill>
                          <a:latin typeface="Yu Gothic"/>
                        </a:defRPr>
                      </a:pPr>
                      <a:r>
                        <a:t>2026年8月</a:t>
                      </a:r>
                    </a:p>
                  </a:txBody>
                  <a:tcPr>
                    <a:solidFill>
                      <a:srgbClr val="FFFFFF"/>
                    </a:solidFill>
                  </a:tcPr>
                </a:tc>
              </a:tr>
              <a:tr h="502920">
                <a:tc>
                  <a:txBody>
                    <a:bodyPr/>
                    <a:lstStyle/>
                    <a:p>
                      <a:pPr>
                        <a:defRPr sz="1200">
                          <a:solidFill>
                            <a:srgbClr val="16202E"/>
                          </a:solidFill>
                          <a:latin typeface="Yu Gothic"/>
                        </a:defRPr>
                      </a:pPr>
                      <a:r>
                        <a:t>Morningstar/Businesswire(公式発表)</a:t>
                      </a:r>
                    </a:p>
                  </a:txBody>
                  <a:tcPr>
                    <a:solidFill>
                      <a:srgbClr val="F2F6FA"/>
                    </a:solidFill>
                  </a:tcPr>
                </a:tc>
                <a:tc>
                  <a:txBody>
                    <a:bodyPr/>
                    <a:lstStyle/>
                    <a:p>
                      <a:pPr>
                        <a:defRPr sz="1200">
                          <a:solidFill>
                            <a:srgbClr val="16202E"/>
                          </a:solidFill>
                          <a:latin typeface="Yu Gothic"/>
                        </a:defRPr>
                      </a:pPr>
                      <a:r>
                        <a:t>2026年8月24日</a:t>
                      </a:r>
                    </a:p>
                  </a:txBody>
                  <a:tcPr>
                    <a:solidFill>
                      <a:srgbClr val="F2F6FA"/>
                    </a:solidFill>
                  </a:tcPr>
                </a:tc>
              </a:tr>
              <a:tr h="502920">
                <a:tc>
                  <a:txBody>
                    <a:bodyPr/>
                    <a:lstStyle/>
                    <a:p>
                      <a:pPr>
                        <a:defRPr sz="1200">
                          <a:solidFill>
                            <a:srgbClr val="16202E"/>
                          </a:solidFill>
                          <a:latin typeface="Yu Gothic"/>
                        </a:defRPr>
                      </a:pPr>
                      <a:r>
                        <a:t>Pacific Coast Business Times</a:t>
                      </a:r>
                    </a:p>
                  </a:txBody>
                  <a:tcPr>
                    <a:solidFill>
                      <a:srgbClr val="FFFFFF"/>
                    </a:solidFill>
                  </a:tcPr>
                </a:tc>
                <a:tc>
                  <a:txBody>
                    <a:bodyPr/>
                    <a:lstStyle/>
                    <a:p>
                      <a:pPr>
                        <a:defRPr sz="1200">
                          <a:solidFill>
                            <a:srgbClr val="16202E"/>
                          </a:solidFill>
                          <a:latin typeface="Yu Gothic"/>
                        </a:defRPr>
                      </a:pPr>
                      <a:r>
                        <a:t>2026年8月24日</a:t>
                      </a:r>
                    </a:p>
                  </a:txBody>
                  <a:tcPr>
                    <a:solidFill>
                      <a:srgbClr val="FFFFFF"/>
                    </a:solidFill>
                  </a:tcPr>
                </a:tc>
              </a:tr>
              <a:tr h="502920">
                <a:tc>
                  <a:txBody>
                    <a:bodyPr/>
                    <a:lstStyle/>
                    <a:p>
                      <a:pPr>
                        <a:defRPr sz="1200">
                          <a:solidFill>
                            <a:srgbClr val="16202E"/>
                          </a:solidFill>
                          <a:latin typeface="Yu Gothic"/>
                        </a:defRPr>
                      </a:pPr>
                      <a:r>
                        <a:t>Electronics Weekly</a:t>
                      </a:r>
                    </a:p>
                  </a:txBody>
                  <a:tcPr>
                    <a:solidFill>
                      <a:srgbClr val="F2F6FA"/>
                    </a:solidFill>
                  </a:tcPr>
                </a:tc>
                <a:tc>
                  <a:txBody>
                    <a:bodyPr/>
                    <a:lstStyle/>
                    <a:p>
                      <a:pPr>
                        <a:defRPr sz="1200">
                          <a:solidFill>
                            <a:srgbClr val="16202E"/>
                          </a:solidFill>
                          <a:latin typeface="Yu Gothic"/>
                        </a:defRPr>
                      </a:pPr>
                      <a:r>
                        <a:t>2026年8月</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シード vs シリーズA</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シード(2024年3月)</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調達額11.5百万ドル</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製品はまだ開発段階</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シリーズA(2026年8月)</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調達額40百万ドル</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サンプル出荷を開始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設立からの累計調達額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51.5百万ドル シード+シリーズAの合計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2024年3月〜2026年8月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Businesswire(2024年3月・2026年8月)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今回のニュースの3つの注目ポイント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AIデータセンターの光接続不足への具体的な対応策</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調達と製品サンプル出荷が同時発表</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Goldman Sachs系ファンドやCienaなど幅広い投資家が参加</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視聴者にとっての意味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AIインフラ・半導体領域の資金調達動向を追う人に参考になる</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AIデータセンターの部材不足という業界課題の具体例として押さえておきたい</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特定製品の利用を推奨するものではない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タイムライン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B3A5C"/>
                    </a:solidFill>
                  </a:tcPr>
                </a:tc>
                <a:tc>
                  <a:txBody>
                    <a:bodyPr/>
                    <a:lstStyle/>
                    <a:p>
                      <a:pPr>
                        <a:defRPr sz="1300" b="1">
                          <a:solidFill>
                            <a:srgbClr val="FFFFFF"/>
                          </a:solidFill>
                          <a:latin typeface="Yu Gothic"/>
                        </a:defRPr>
                      </a:pPr>
                      <a:r>
                        <a:t>できごと</a:t>
                      </a:r>
                    </a:p>
                  </a:txBody>
                  <a:tcPr>
                    <a:solidFill>
                      <a:srgbClr val="1B3A5C"/>
                    </a:solidFill>
                  </a:tcPr>
                </a:tc>
              </a:tr>
              <a:tr h="502920">
                <a:tc>
                  <a:txBody>
                    <a:bodyPr/>
                    <a:lstStyle/>
                    <a:p>
                      <a:pPr>
                        <a:defRPr sz="1200">
                          <a:solidFill>
                            <a:srgbClr val="16202E"/>
                          </a:solidFill>
                          <a:latin typeface="Yu Gothic"/>
                        </a:defRPr>
                      </a:pPr>
                      <a:r>
                        <a:t>2024年3月</a:t>
                      </a:r>
                    </a:p>
                  </a:txBody>
                  <a:tcPr>
                    <a:solidFill>
                      <a:srgbClr val="FFFFFF"/>
                    </a:solidFill>
                  </a:tcPr>
                </a:tc>
                <a:tc>
                  <a:txBody>
                    <a:bodyPr/>
                    <a:lstStyle/>
                    <a:p>
                      <a:pPr>
                        <a:defRPr sz="1200">
                          <a:solidFill>
                            <a:srgbClr val="16202E"/>
                          </a:solidFill>
                          <a:latin typeface="Yu Gothic"/>
                        </a:defRPr>
                      </a:pPr>
                      <a:r>
                        <a:t>シード資金調達(11.5百万ドル)</a:t>
                      </a:r>
                    </a:p>
                  </a:txBody>
                  <a:tcPr>
                    <a:solidFill>
                      <a:srgbClr val="FFFFFF"/>
                    </a:solidFill>
                  </a:tcPr>
                </a:tc>
              </a:tr>
              <a:tr h="502920">
                <a:tc>
                  <a:txBody>
                    <a:bodyPr/>
                    <a:lstStyle/>
                    <a:p>
                      <a:pPr>
                        <a:defRPr sz="1200">
                          <a:solidFill>
                            <a:srgbClr val="16202E"/>
                          </a:solidFill>
                          <a:latin typeface="Yu Gothic"/>
                        </a:defRPr>
                      </a:pPr>
                      <a:r>
                        <a:t>2026年8月24日</a:t>
                      </a:r>
                    </a:p>
                  </a:txBody>
                  <a:tcPr>
                    <a:solidFill>
                      <a:srgbClr val="F2F6FA"/>
                    </a:solidFill>
                  </a:tcPr>
                </a:tc>
                <a:tc>
                  <a:txBody>
                    <a:bodyPr/>
                    <a:lstStyle/>
                    <a:p>
                      <a:pPr>
                        <a:defRPr sz="1200">
                          <a:solidFill>
                            <a:srgbClr val="16202E"/>
                          </a:solidFill>
                          <a:latin typeface="Yu Gothic"/>
                        </a:defRPr>
                      </a:pPr>
                      <a:r>
                        <a:t>シリーズA(40百万ドル)発表、サンプル出荷開始も同時発表</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調達前後の変化</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調達前</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累計調達額11.5百万ドル</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製品は開発段階</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調達後</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累計調達額51.5百万ドル</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顧客向けサンプル出荷を開始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Light Reading等(2026-08-24)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40百万ドル→8波長の新型レーザー Quintessentのシリーズ A</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2026年8月24日時点で確認できた事実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Light Reading(2026年8月)</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