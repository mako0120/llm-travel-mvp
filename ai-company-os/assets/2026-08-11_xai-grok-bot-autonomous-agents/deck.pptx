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2026年8月11日、xAIが常時稼働の自律型AIエージェント群『Grok Bot』のベータ版を発表しました。各Botは専用のクラウドコンピュータを持ち、監督なしで複数ステップの業務をこなすとされています。今日はこの発表内容を出典付きで整理してお伝えします。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まず一番の特徴を確認します。従来のAIチャットのように呼び出すたびに動くのではなく、各Grok Botは自分専用のクラウドコンピュータを持ち、常時稼働する設計だと報じられています。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このテーマは着手日から1日以内という、非常に新しい発表に基づいています。しかも『常時稼働』『専用クラウドコンピュータ』という、これまでのAIアシスタントとは異なる仕組みが注目点です。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xAIは、イーロン・マスク氏が率いるAI企業です。GrokはそのxAIが開発するAIモデル・アシスタントのブランド名で、これまでも新モデルや音声機能を発表してきました。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Grok Botは、常時稼働の自律型AIエージェント群の名称です。各Botが専用のクラウドコンピュータを持ち、顧客の既存ツールにサインインして、監督なしで複数ステップの業務を完了するとされています。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全体の構造を図にするとこうです。専用クラウドコンピュータという土台の上で、既存ツールにサインインし、監督なしで複数ステップの業務を完了する、という流れです。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報じられている範囲で流れを3ステップに整理しました。専用クラウドで起動し、既存ツールにサインインし、監督なしで複数ステップの業務を完了する、という流れです。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従来のAIアシスタントと比べます。都度呼び出して使うのではなく、常時稼働の専用環境を持ち、監督なしで複数ステップの業務を進める点が大きな違いです。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Grok Botは新しい単体プランではなく、SuperGrok Heavy・Cursor Ultra・Cursor Teams Premiumという既存の上位契約プランに組み込まれる形で提供されるとされています。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対応プラットフォームは、Linux版を含むデスクトップ版と、iOS版が報じられています。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xAI社内での利用例が3種類報じられています。夜間に営業メールを作るBot、デモ環境の不具合を直すBot、CRMや請求書処理などを担うBotです。それぞれ次のスライドで詳しく見ていきます。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outbound Botは、夜間にアカウントを調査し、個別化した営業メールを作成するBotです。人が出社する前に下準備を済ませておく、という使い方だと報じられています。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demo-readiness Botは、デモ環境の不具合を検知して修正するBotです。商談直前にデモが動かない、といったトラブルを防ぐ役割だと考えられます。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このほかにも、CRM記録の整備、通話メモの更新、請求書処理、バグの再現作業を行うBotが社内で使われていると報じられています。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イーロン・マスク氏は、今週後半に予定されているGrok 4.6のリリースに合わせて、Grok Botのより広範な展開を予告しています。ただし正確な日付までは確認できていません。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時系列で見ると、8月11日にベータ版が発表され、今週後半にGrok 4.6のリリースが予定されており、それに合わせてより広範な展開が予告されています。いずれも予告段階であることに注意が必要です。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ここから事実と推測を分けます。仕組みやプラン、社内利用例は複数メディアが確認していますが、設計意図の解釈や展開範囲の見通しは当社の見方であることを明確にします。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既存の2テーマとの関係を整理しました。対象製品も内容も異なるため、重複ではないことを確認しています。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しばしばギャップがあります。今回のケースでも、既存の上位プランへの組み込みという限定的な提供形態であり、詳細の多くは非公開である点を押さえてお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ここからは、視聴者にとって具体的に何を意味するかです。ビジネス利用者、開発者・情シス担当者、AIニュースを追う立場、それぞれで意識したい点をまとめました。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ここで一度立ち止まります。本テーマは自律型AIエージェントというセンシティブになりやすい話題を扱いますが、誇張や断定を避け、事実関係の整理に徹しています。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本テーマの鮮度を数字で確認します。中心となる発表・報道は2026年8月11日、着手日は8月12日で、2日以内という基準を満たしています。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よくある疑問を3つ整理しました。いずれも『既存プランへの組み込み』『新しい製品カテゴリ』『不明』という正直な整理にとどめています。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出典の性質を整理します。最も一次情報に近いのはx.ai公式ニュースページで、Unite.AI・Yahoo Financeがその内容を同日に確認・報道しています。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今後起こりうる展開を3つ挙げましたが、いずれも現時点では確定していません。続報が出た際にはこのテーマの内容も更新する必要があります。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今回のポイントを確認します。常時稼働・専用クラウドコンピュータという新しい仕組みですが、当面は既存の上位プランに組み込まれた限定的なベータ提供である、という点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本編は以上です。今回はxAIが常時稼働の自律型AIエージェント『Grok Bot』のベータ版を発表した経緯をお伝えしました。称賛や誇張ではなく、事実関係の整理に留めています。次回もまた出典付きでお届けします。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あなたの会社に、24時間眠らないAI社員が来た。</a:t>
            </a:r>
          </a:p>
          <a:p>
            <a:pPr algn="l">
              <a:lnSpc>
                <a:spcPct val="115000"/>
              </a:lnSpc>
            </a:pPr>
            <a:r>
              <a:rPr sz="4200" b="1">
                <a:solidFill>
                  <a:srgbClr val="FFFFFF"/>
                </a:solidFill>
                <a:latin typeface="Yu Gothic"/>
              </a:rPr>
              <a:t>xAIが、専用のクラウドコンピュータを持つ自律型AIエージェント</a:t>
            </a:r>
          </a:p>
          <a:p>
            <a:pPr algn="l">
              <a:lnSpc>
                <a:spcPct val="115000"/>
              </a:lnSpc>
            </a:pPr>
            <a:r>
              <a:rPr sz="4200" b="1">
                <a:solidFill>
                  <a:srgbClr val="FFFFFF"/>
                </a:solidFill>
                <a:latin typeface="Yu Gothic"/>
              </a:rPr>
              <a:t>「Grok Bot」のベータ版を発表した。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既存ツールにサインインし、監督なしで複数ステップの業務を完了する――出典付きで整理する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Unite.AI・Yahoo Finance・x.ai公式ニュースページ・Basenor(いずれも2026-08-11)。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xAIが発表した「Grok Bot」の特徴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常時稼働 × 専用クラウド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各Grok Botは、自分専用のクラウドコンピュータを持ち、24時間眠らず稼働する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Unite.AI(2026-08-11)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何が発表されたのか(初心者向け解説つき)</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Grok Botの仕組み(専用クラウド・サインイン・監督なし実行)</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提供プラン・対応プラットフォーム</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xAI社内での具体的な利用例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確認できなかったこと・今後の展開予告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2026年8月11日、xAIが公式に発表し、複数の独立したメディアが同日に報じた(着手日の1日前)</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「常時稼働」「専用クラウドコンピュータ」という、これまでのAIアシスタントと異なる仕組みが新しい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自律型AIエージェントという、業務のあり方に関わるテーマとして注目度が高い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 / Yahoo Finance(2026-08-11)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「xAI」「Grok」とは何か(初心者向け)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本題に入る前に、前提を確認します。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xAIは、イーロン・マスク氏が率いるAI企業(SpaceXAIとも呼ばれる)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「Grok」は、xAIが開発するAIモデル・アシスタントのブランド名</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これまでもGrok本体の新モデル発表(Grok 4.5等)や音声機能(Grok Voice)を展開してきた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 / Yahoo Finance(2026-08-11)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「Grok Bot」とは何か(初心者向け)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常時稼働(always-on)の自律型AIエージェント群の名称</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各Botが専用のクラウドコンピュータを持つ</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顧客の既存ツールにサインインし、監督なしで複数ステップの業務を完了する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 / Yahoo Finance(2026-08-11)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Grok Botの仕組み(概念図)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専用クラウドコンピュータ</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各Botが常時稼働する自分専用の実行環境</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既存ツールへサインイン</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顧客がすでに使っているツールにログインする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監督なしで複数ステップを完了</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人が都度指示しなくても、一連の業務を実行する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常時稼働の実行環境を土台に、既存ツールへのサインイン経由で複数ステップの業務を進める構造</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Grok Botが業務をこなす流れ(報じられている範囲)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①起動</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専用のクラウドコンピュータ上でBotが常時稼働する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②サインイン</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顧客の既存ツールにサインインする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③実行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監督なしで複数ステップの業務を完了する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従来のAIアシスタント / Grok Botの違い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従来のAIアシスタント</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都度呼び出して使う</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1回のやり取りで応答が完結しやすい</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各ステップで人の指示・監督を前提とする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Grok Bot</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専用クラウドコンピュータで常時稼働する</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既存ツールにサインインして動く</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監督なしで複数ステップの業務を完了する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組み込まれる既存契約プラン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プラン</a:t>
                      </a:r>
                    </a:p>
                  </a:txBody>
                  <a:tcPr>
                    <a:solidFill>
                      <a:srgbClr val="1E2761"/>
                    </a:solidFill>
                  </a:tcPr>
                </a:tc>
                <a:tc>
                  <a:txBody>
                    <a:bodyPr/>
                    <a:lstStyle/>
                    <a:p>
                      <a:pPr>
                        <a:defRPr sz="1300" b="1">
                          <a:solidFill>
                            <a:srgbClr val="FFFFFF"/>
                          </a:solidFill>
                          <a:latin typeface="Yu Gothic"/>
                        </a:defRPr>
                      </a:pPr>
                      <a:r>
                        <a:t>位置づけ</a:t>
                      </a:r>
                    </a:p>
                  </a:txBody>
                  <a:tcPr>
                    <a:solidFill>
                      <a:srgbClr val="1E2761"/>
                    </a:solidFill>
                  </a:tcPr>
                </a:tc>
              </a:tr>
              <a:tr h="502920">
                <a:tc>
                  <a:txBody>
                    <a:bodyPr/>
                    <a:lstStyle/>
                    <a:p>
                      <a:pPr>
                        <a:defRPr sz="1200">
                          <a:solidFill>
                            <a:srgbClr val="1A1A2E"/>
                          </a:solidFill>
                          <a:latin typeface="Yu Gothic"/>
                        </a:defRPr>
                      </a:pPr>
                      <a:r>
                        <a:t>SuperGrok Heavy</a:t>
                      </a:r>
                    </a:p>
                  </a:txBody>
                  <a:tcPr>
                    <a:solidFill>
                      <a:srgbClr val="FFFFFF"/>
                    </a:solidFill>
                  </a:tcPr>
                </a:tc>
                <a:tc>
                  <a:txBody>
                    <a:bodyPr/>
                    <a:lstStyle/>
                    <a:p>
                      <a:pPr>
                        <a:defRPr sz="1200">
                          <a:solidFill>
                            <a:srgbClr val="1A1A2E"/>
                          </a:solidFill>
                          <a:latin typeface="Yu Gothic"/>
                        </a:defRPr>
                      </a:pPr>
                      <a:r>
                        <a:t>Grok本体の上位契約プラン</a:t>
                      </a:r>
                    </a:p>
                  </a:txBody>
                  <a:tcPr>
                    <a:solidFill>
                      <a:srgbClr val="FFFFFF"/>
                    </a:solidFill>
                  </a:tcPr>
                </a:tc>
              </a:tr>
              <a:tr h="502920">
                <a:tc>
                  <a:txBody>
                    <a:bodyPr/>
                    <a:lstStyle/>
                    <a:p>
                      <a:pPr>
                        <a:defRPr sz="1200">
                          <a:solidFill>
                            <a:srgbClr val="1A1A2E"/>
                          </a:solidFill>
                          <a:latin typeface="Yu Gothic"/>
                        </a:defRPr>
                      </a:pPr>
                      <a:r>
                        <a:t>Cursor Ultra</a:t>
                      </a:r>
                    </a:p>
                  </a:txBody>
                  <a:tcPr>
                    <a:solidFill>
                      <a:srgbClr val="F3F6FC"/>
                    </a:solidFill>
                  </a:tcPr>
                </a:tc>
                <a:tc>
                  <a:txBody>
                    <a:bodyPr/>
                    <a:lstStyle/>
                    <a:p>
                      <a:pPr>
                        <a:defRPr sz="1200">
                          <a:solidFill>
                            <a:srgbClr val="1A1A2E"/>
                          </a:solidFill>
                          <a:latin typeface="Yu Gothic"/>
                        </a:defRPr>
                      </a:pPr>
                      <a:r>
                        <a:t>コーディングツールCursorの上位契約プラン</a:t>
                      </a:r>
                    </a:p>
                  </a:txBody>
                  <a:tcPr>
                    <a:solidFill>
                      <a:srgbClr val="F3F6FC"/>
                    </a:solidFill>
                  </a:tcPr>
                </a:tc>
              </a:tr>
              <a:tr h="502920">
                <a:tc>
                  <a:txBody>
                    <a:bodyPr/>
                    <a:lstStyle/>
                    <a:p>
                      <a:pPr>
                        <a:defRPr sz="1200">
                          <a:solidFill>
                            <a:srgbClr val="1A1A2E"/>
                          </a:solidFill>
                          <a:latin typeface="Yu Gothic"/>
                        </a:defRPr>
                      </a:pPr>
                      <a:r>
                        <a:t>Cursor Teams Premium</a:t>
                      </a:r>
                    </a:p>
                  </a:txBody>
                  <a:tcPr>
                    <a:solidFill>
                      <a:srgbClr val="FFFFFF"/>
                    </a:solidFill>
                  </a:tcPr>
                </a:tc>
                <a:tc>
                  <a:txBody>
                    <a:bodyPr/>
                    <a:lstStyle/>
                    <a:p>
                      <a:pPr>
                        <a:defRPr sz="1200">
                          <a:solidFill>
                            <a:srgbClr val="1A1A2E"/>
                          </a:solidFill>
                          <a:latin typeface="Yu Gothic"/>
                        </a:defRPr>
                      </a:pPr>
                      <a:r>
                        <a:t>Cursorのチーム向け上位契約プラン</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 / Basenor(2026-08-11)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対応プラットフォーム</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デスクトップ版</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Linux版を含むデスクトップ環境で利用できるとされる</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iOS版</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iPhone・iPad向けのiOSアプリでも利用できるとされる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 / Basenor(2026-08-11)</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xAI社内での利用例(概観)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例1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outbound Bot</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夜間にアカウントを調査し、個別化した営業メールを作成する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例2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demo-readiness Bot</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デモ環境の不具合を検知・修正する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例3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業務サポートBot</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CRM記録の整備・通話メモの更新・請求書処理・バグ再現を行う</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 / Basenor(2026-08-11)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利用例1: outbound Bot</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夜間に稼働する営業支援Botです。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夜間にアカウント(見込み顧客等)を調査する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調査結果をもとに、個別化した営業メールを作成する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人が出社する前に、下準備が済んだ状態を作る役割とされる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利用例2: demo-readiness Bot</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デモ環境を健全に保つBotです。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デモ環境の不具合を検知する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検知した不具合を修正する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商談・デモの直前にトラブルが起きるリスクを減らす役割とされる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利用例3: 業務サポートBot</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バックオフィス業務を支えるBotです。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CRM(顧客管理)記録の整備を行う</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通話メモの更新・請求書処理を行う</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バグの再現(不具合の再現・確認作業)を行う</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Unite.AI / Basenor(2026-08-11)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マスク氏が予告した展開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今週後半にGrok 4.6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イーロン・マスク氏は、今週後半に予定されているGrok 4.6のリリースに合わせ、Grok Botのより広範な展開を予告した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Unite.AI / Yahoo Finance(2026-08-11)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今後の展開予告タイムライン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8/11 ベータ版発表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Grok Botのベータ版が発表され、既存の上位プランに組み込まれる形で提供開始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今週後半(日付不明)</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Grok 4.6のリリースが予定されているとマスク氏が予告</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より広範な展開(予告のみ)</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Grok 4.6に合わせ、Grok Botの展開範囲が広がるとマスク氏が予告</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ベータ版の具体的な料金</a:t>
                      </a:r>
                    </a:p>
                  </a:txBody>
                  <a:tcPr>
                    <a:solidFill>
                      <a:srgbClr val="FFFFFF"/>
                    </a:solidFill>
                  </a:tcPr>
                </a:tc>
                <a:tc>
                  <a:txBody>
                    <a:bodyPr/>
                    <a:lstStyle/>
                    <a:p>
                      <a:pPr>
                        <a:defRPr sz="1200">
                          <a:solidFill>
                            <a:srgbClr val="1A1A2E"/>
                          </a:solidFill>
                          <a:latin typeface="Yu Gothic"/>
                        </a:defRPr>
                      </a:pPr>
                      <a:r>
                        <a:t>既存プランへの組み込みとされるが、追加課金の有無・金額は不明</a:t>
                      </a:r>
                    </a:p>
                  </a:txBody>
                  <a:tcPr>
                    <a:solidFill>
                      <a:srgbClr val="FFFFFF"/>
                    </a:solidFill>
                  </a:tcPr>
                </a:tc>
              </a:tr>
              <a:tr h="502920">
                <a:tc>
                  <a:txBody>
                    <a:bodyPr/>
                    <a:lstStyle/>
                    <a:p>
                      <a:pPr>
                        <a:defRPr sz="1200">
                          <a:solidFill>
                            <a:srgbClr val="1A1A2E"/>
                          </a:solidFill>
                          <a:latin typeface="Yu Gothic"/>
                        </a:defRPr>
                      </a:pPr>
                      <a:r>
                        <a:t>利用者数・導入企業数</a:t>
                      </a:r>
                    </a:p>
                  </a:txBody>
                  <a:tcPr>
                    <a:solidFill>
                      <a:srgbClr val="F3F6FC"/>
                    </a:solidFill>
                  </a:tcPr>
                </a:tc>
                <a:tc>
                  <a:txBody>
                    <a:bodyPr/>
                    <a:lstStyle/>
                    <a:p>
                      <a:pPr>
                        <a:defRPr sz="1200">
                          <a:solidFill>
                            <a:srgbClr val="1A1A2E"/>
                          </a:solidFill>
                          <a:latin typeface="Yu Gothic"/>
                        </a:defRPr>
                      </a:pPr>
                      <a:r>
                        <a:t>本調査の範囲では確認できていない(不明)</a:t>
                      </a:r>
                    </a:p>
                  </a:txBody>
                  <a:tcPr>
                    <a:solidFill>
                      <a:srgbClr val="F3F6FC"/>
                    </a:solidFill>
                  </a:tcPr>
                </a:tc>
              </a:tr>
              <a:tr h="502920">
                <a:tc>
                  <a:txBody>
                    <a:bodyPr/>
                    <a:lstStyle/>
                    <a:p>
                      <a:pPr>
                        <a:defRPr sz="1200">
                          <a:solidFill>
                            <a:srgbClr val="1A1A2E"/>
                          </a:solidFill>
                          <a:latin typeface="Yu Gothic"/>
                        </a:defRPr>
                      </a:pPr>
                      <a:r>
                        <a:t>Grok 4.6の正確なリリース日</a:t>
                      </a:r>
                    </a:p>
                  </a:txBody>
                  <a:tcPr>
                    <a:solidFill>
                      <a:srgbClr val="FFFFFF"/>
                    </a:solidFill>
                  </a:tcPr>
                </a:tc>
                <a:tc>
                  <a:txBody>
                    <a:bodyPr/>
                    <a:lstStyle/>
                    <a:p>
                      <a:pPr>
                        <a:defRPr sz="1200">
                          <a:solidFill>
                            <a:srgbClr val="1A1A2E"/>
                          </a:solidFill>
                          <a:latin typeface="Yu Gothic"/>
                        </a:defRPr>
                      </a:pPr>
                      <a:r>
                        <a:t>「今週後半」との予告のみで、具体的な日付は不明</a:t>
                      </a:r>
                    </a:p>
                  </a:txBody>
                  <a:tcPr>
                    <a:solidFill>
                      <a:srgbClr val="FFFFFF"/>
                    </a:solidFill>
                  </a:tcPr>
                </a:tc>
              </a:tr>
              <a:tr h="502920">
                <a:tc>
                  <a:txBody>
                    <a:bodyPr/>
                    <a:lstStyle/>
                    <a:p>
                      <a:pPr>
                        <a:defRPr sz="1200">
                          <a:solidFill>
                            <a:srgbClr val="1A1A2E"/>
                          </a:solidFill>
                          <a:latin typeface="Yu Gothic"/>
                        </a:defRPr>
                      </a:pPr>
                      <a:r>
                        <a:t>利用者からの実際の評価・フィードバック</a:t>
                      </a:r>
                    </a:p>
                  </a:txBody>
                  <a:tcPr>
                    <a:solidFill>
                      <a:srgbClr val="F3F6FC"/>
                    </a:solidFill>
                  </a:tcPr>
                </a:tc>
                <a:tc>
                  <a:txBody>
                    <a:bodyPr/>
                    <a:lstStyle/>
                    <a:p>
                      <a:pPr>
                        <a:defRPr sz="1200">
                          <a:solidFill>
                            <a:srgbClr val="1A1A2E"/>
                          </a:solidFill>
                          <a:latin typeface="Yu Gothic"/>
                        </a:defRPr>
                      </a:pPr>
                      <a:r>
                        <a:t>第三者による独立した評価は本調査の範囲では確認できていない(不明)</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xAI公式発表・複数メディアが確認した仕組み・プラン・社内利用例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専用クラウドコンピュータの設計意図(並行稼働のためと考えられる)は当社の解釈</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当面は既存の上位プラン利用者中心の限定的な展開である可能性も当社の解釈</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不明: ベータ版の料金・利用者数・Grok 4.6の正確な日付</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既存テーマとの関係</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1E2761"/>
                    </a:solidFill>
                  </a:tcPr>
                </a:tc>
                <a:tc>
                  <a:txBody>
                    <a:bodyPr/>
                    <a:lstStyle/>
                    <a:p>
                      <a:pPr>
                        <a:defRPr sz="1300" b="1">
                          <a:solidFill>
                            <a:srgbClr val="FFFFFF"/>
                          </a:solidFill>
                          <a:latin typeface="Yu Gothic"/>
                        </a:defRPr>
                      </a:pPr>
                      <a:r>
                        <a:t>既存テーマ(26本目・109本目)</a:t>
                      </a:r>
                    </a:p>
                  </a:txBody>
                  <a:tcPr>
                    <a:solidFill>
                      <a:srgbClr val="1E2761"/>
                    </a:solidFill>
                  </a:tcPr>
                </a:tc>
                <a:tc>
                  <a:txBody>
                    <a:bodyPr/>
                    <a:lstStyle/>
                    <a:p>
                      <a:pPr>
                        <a:defRPr sz="1300" b="1">
                          <a:solidFill>
                            <a:srgbClr val="FFFFFF"/>
                          </a:solidFill>
                          <a:latin typeface="Yu Gothic"/>
                        </a:defRPr>
                      </a:pPr>
                      <a:r>
                        <a:t>本テーマ(182本目)</a:t>
                      </a:r>
                    </a:p>
                  </a:txBody>
                  <a:tcPr>
                    <a:solidFill>
                      <a:srgbClr val="1E2761"/>
                    </a:solidFill>
                  </a:tcPr>
                </a:tc>
              </a:tr>
              <a:tr h="502920">
                <a:tc>
                  <a:txBody>
                    <a:bodyPr/>
                    <a:lstStyle/>
                    <a:p>
                      <a:pPr>
                        <a:defRPr sz="1200">
                          <a:solidFill>
                            <a:srgbClr val="1A1A2E"/>
                          </a:solidFill>
                          <a:latin typeface="Yu Gothic"/>
                        </a:defRPr>
                      </a:pPr>
                      <a:r>
                        <a:t>対象製品</a:t>
                      </a:r>
                    </a:p>
                  </a:txBody>
                  <a:tcPr>
                    <a:solidFill>
                      <a:srgbClr val="FFFFFF"/>
                    </a:solidFill>
                  </a:tcPr>
                </a:tc>
                <a:tc>
                  <a:txBody>
                    <a:bodyPr/>
                    <a:lstStyle/>
                    <a:p>
                      <a:pPr>
                        <a:defRPr sz="1200">
                          <a:solidFill>
                            <a:srgbClr val="1A1A2E"/>
                          </a:solidFill>
                          <a:latin typeface="Yu Gothic"/>
                        </a:defRPr>
                      </a:pPr>
                      <a:r>
                        <a:t>基盤モデル「Grok 4.5」、音声機能「Grok Voice」</a:t>
                      </a:r>
                    </a:p>
                  </a:txBody>
                  <a:tcPr>
                    <a:solidFill>
                      <a:srgbClr val="FFFFFF"/>
                    </a:solidFill>
                  </a:tcPr>
                </a:tc>
                <a:tc>
                  <a:txBody>
                    <a:bodyPr/>
                    <a:lstStyle/>
                    <a:p>
                      <a:pPr>
                        <a:defRPr sz="1200">
                          <a:solidFill>
                            <a:srgbClr val="1A1A2E"/>
                          </a:solidFill>
                          <a:latin typeface="Yu Gothic"/>
                        </a:defRPr>
                      </a:pPr>
                      <a:r>
                        <a:t>新製品「Grok Bot」(自律型エージェント)</a:t>
                      </a:r>
                    </a:p>
                  </a:txBody>
                  <a:tcPr>
                    <a:solidFill>
                      <a:srgbClr val="FFFFFF"/>
                    </a:solidFill>
                  </a:tcPr>
                </a:tc>
              </a:tr>
              <a:tr h="502920">
                <a:tc>
                  <a:txBody>
                    <a:bodyPr/>
                    <a:lstStyle/>
                    <a:p>
                      <a:pPr>
                        <a:defRPr sz="1200">
                          <a:solidFill>
                            <a:srgbClr val="1A1A2E"/>
                          </a:solidFill>
                          <a:latin typeface="Yu Gothic"/>
                        </a:defRPr>
                      </a:pPr>
                      <a:r>
                        <a:t>内容</a:t>
                      </a:r>
                    </a:p>
                  </a:txBody>
                  <a:tcPr>
                    <a:solidFill>
                      <a:srgbClr val="F3F6FC"/>
                    </a:solidFill>
                  </a:tcPr>
                </a:tc>
                <a:tc>
                  <a:txBody>
                    <a:bodyPr/>
                    <a:lstStyle/>
                    <a:p>
                      <a:pPr>
                        <a:defRPr sz="1200">
                          <a:solidFill>
                            <a:srgbClr val="1A1A2E"/>
                          </a:solidFill>
                          <a:latin typeface="Yu Gothic"/>
                        </a:defRPr>
                      </a:pPr>
                      <a:r>
                        <a:t>モデル発表競争・音声モデルのデフォルト切り替え</a:t>
                      </a:r>
                    </a:p>
                  </a:txBody>
                  <a:tcPr>
                    <a:solidFill>
                      <a:srgbClr val="F3F6FC"/>
                    </a:solidFill>
                  </a:tcPr>
                </a:tc>
                <a:tc>
                  <a:txBody>
                    <a:bodyPr/>
                    <a:lstStyle/>
                    <a:p>
                      <a:pPr>
                        <a:defRPr sz="1200">
                          <a:solidFill>
                            <a:srgbClr val="1A1A2E"/>
                          </a:solidFill>
                          <a:latin typeface="Yu Gothic"/>
                        </a:defRPr>
                      </a:pPr>
                      <a:r>
                        <a:t>常時稼働・専用クラウドの新しい製品カテゴリ</a:t>
                      </a:r>
                    </a:p>
                  </a:txBody>
                  <a:tcPr>
                    <a:solidFill>
                      <a:srgbClr val="F3F6FC"/>
                    </a:solidFill>
                  </a:tcPr>
                </a:tc>
              </a:tr>
              <a:tr h="502920">
                <a:tc>
                  <a:txBody>
                    <a:bodyPr/>
                    <a:lstStyle/>
                    <a:p>
                      <a:pPr>
                        <a:defRPr sz="1200">
                          <a:solidFill>
                            <a:srgbClr val="1A1A2E"/>
                          </a:solidFill>
                          <a:latin typeface="Yu Gothic"/>
                        </a:defRPr>
                      </a:pPr>
                      <a:r>
                        <a:t>重複の有無</a:t>
                      </a:r>
                    </a:p>
                  </a:txBody>
                  <a:tcPr>
                    <a:solidFill>
                      <a:srgbClr val="FFFFFF"/>
                    </a:solidFill>
                  </a:tcPr>
                </a:tc>
                <a:tc>
                  <a:txBody>
                    <a:bodyPr/>
                    <a:lstStyle/>
                    <a:p>
                      <a:pPr>
                        <a:defRPr sz="1200">
                          <a:solidFill>
                            <a:srgbClr val="1A1A2E"/>
                          </a:solidFill>
                          <a:latin typeface="Yu Gothic"/>
                        </a:defRPr>
                      </a:pPr>
                      <a:r>
                        <a:t>対象製品・機能領域が異なるため重複しない</a:t>
                      </a:r>
                    </a:p>
                  </a:txBody>
                  <a:tcPr>
                    <a:solidFill>
                      <a:srgbClr val="FFFFFF"/>
                    </a:solidFill>
                  </a:tcPr>
                </a:tc>
                <a:tc>
                  <a:txBody>
                    <a:bodyPr/>
                    <a:lstStyle/>
                    <a:p>
                      <a:pPr>
                        <a:defRPr sz="1200">
                          <a:solidFill>
                            <a:srgbClr val="1A1A2E"/>
                          </a:solidFill>
                          <a:latin typeface="Yu Gothic"/>
                        </a:defRPr>
                      </a:pPr>
                      <a:r>
                        <a:t>重複しない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AIが完全に自律して何でもできる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誰でもすぐ無料で使える</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人の仕事がすぐ代替される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実際にxAIが発表した内容</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既存の上位契約プランへの組み込みという限定的な提供形態</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料金・利用者数などの詳細は非公開(不明)</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社内利用例は特定の業務(営業メール下書き・デモ環境保守等)に限られる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ビジネス利用者として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「常時稼働の自律型エージェント」は既存の上位プラン利用者から順に体験できる可能性が高い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開発者・情シス担当者として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既存ツールへのサインインを伴う仕組みのため、権限管理・セキュリティ面の情報開示を注視する価値がある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AIニュースを追う立場として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料金・利用者数など未公開の情報を、憶測で埋めずに見出しだけで判断しない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「AIが人間の仕事を完全に奪う」という誇張表現は使っていない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確認できなかった料金・利用者数・評価は、推測で埋めず「不明」として扱う</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xAI・イーロン・マスク氏個人への政治的評価は行わない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特定企業・製品の利用を強く推奨する結論にはしない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着手日の1日前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Unite.AI・Yahoo Finance・x.ai公式ニュースページ・Basenorの報道はいずれも2026年8月11日。着手日(2026年8月12日)を含めて2日以内という基準を満たす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docs/06_Content_R&amp;D.md基準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よくある疑問と実際の整理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Q1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誰でもすぐ使えるのか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いいえ。SuperGrok Heavy・Cursor Ultra・Cursor Teams Premiumという既存の上位プランに組み込まれる形での提供</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Q2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既存のGrok 4.5・Grok Voiceと同じ発表なのか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いいえ。対象は基盤モデルや音声機能ではなく、常時稼働の自律型エージェントという新しい製品カテゴリ</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Q3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料金や導入企業数は分かるのか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本調査の範囲では確認できておらず、不明として扱っている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情報源の性質について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出典の性質を明確にしておきます。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一次情報に最も近いのはx.ai公式ニュースページ(2026-08-11)</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Unite.AI・Yahoo Financeが同日に確認・報道</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Basenorの記事は、プラン・プラットフォームの整理を含む解説記事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報道日</a:t>
                      </a:r>
                    </a:p>
                  </a:txBody>
                  <a:tcPr>
                    <a:solidFill>
                      <a:srgbClr val="1E2761"/>
                    </a:solidFill>
                  </a:tcPr>
                </a:tc>
              </a:tr>
              <a:tr h="502920">
                <a:tc>
                  <a:txBody>
                    <a:bodyPr/>
                    <a:lstStyle/>
                    <a:p>
                      <a:pPr>
                        <a:defRPr sz="1200">
                          <a:solidFill>
                            <a:srgbClr val="1A1A2E"/>
                          </a:solidFill>
                          <a:latin typeface="Yu Gothic"/>
                        </a:defRPr>
                      </a:pPr>
                      <a:r>
                        <a:t>x.ai公式ニュースページ</a:t>
                      </a:r>
                    </a:p>
                  </a:txBody>
                  <a:tcPr>
                    <a:solidFill>
                      <a:srgbClr val="FFFFFF"/>
                    </a:solidFill>
                  </a:tcPr>
                </a:tc>
                <a:tc>
                  <a:txBody>
                    <a:bodyPr/>
                    <a:lstStyle/>
                    <a:p>
                      <a:pPr>
                        <a:defRPr sz="1200">
                          <a:solidFill>
                            <a:srgbClr val="1A1A2E"/>
                          </a:solidFill>
                          <a:latin typeface="Yu Gothic"/>
                        </a:defRPr>
                      </a:pPr>
                      <a:r>
                        <a:t>2026-08-11</a:t>
                      </a:r>
                    </a:p>
                  </a:txBody>
                  <a:tcPr>
                    <a:solidFill>
                      <a:srgbClr val="FFFFFF"/>
                    </a:solidFill>
                  </a:tcPr>
                </a:tc>
              </a:tr>
              <a:tr h="502920">
                <a:tc>
                  <a:txBody>
                    <a:bodyPr/>
                    <a:lstStyle/>
                    <a:p>
                      <a:pPr>
                        <a:defRPr sz="1200">
                          <a:solidFill>
                            <a:srgbClr val="1A1A2E"/>
                          </a:solidFill>
                          <a:latin typeface="Yu Gothic"/>
                        </a:defRPr>
                      </a:pPr>
                      <a:r>
                        <a:t>Unite.AI</a:t>
                      </a:r>
                    </a:p>
                  </a:txBody>
                  <a:tcPr>
                    <a:solidFill>
                      <a:srgbClr val="F3F6FC"/>
                    </a:solidFill>
                  </a:tcPr>
                </a:tc>
                <a:tc>
                  <a:txBody>
                    <a:bodyPr/>
                    <a:lstStyle/>
                    <a:p>
                      <a:pPr>
                        <a:defRPr sz="1200">
                          <a:solidFill>
                            <a:srgbClr val="1A1A2E"/>
                          </a:solidFill>
                          <a:latin typeface="Yu Gothic"/>
                        </a:defRPr>
                      </a:pPr>
                      <a:r>
                        <a:t>2026-08-11</a:t>
                      </a:r>
                    </a:p>
                  </a:txBody>
                  <a:tcPr>
                    <a:solidFill>
                      <a:srgbClr val="F3F6FC"/>
                    </a:solidFill>
                  </a:tcPr>
                </a:tc>
              </a:tr>
              <a:tr h="502920">
                <a:tc>
                  <a:txBody>
                    <a:bodyPr/>
                    <a:lstStyle/>
                    <a:p>
                      <a:pPr>
                        <a:defRPr sz="1200">
                          <a:solidFill>
                            <a:srgbClr val="1A1A2E"/>
                          </a:solidFill>
                          <a:latin typeface="Yu Gothic"/>
                        </a:defRPr>
                      </a:pPr>
                      <a:r>
                        <a:t>Yahoo Finance</a:t>
                      </a:r>
                    </a:p>
                  </a:txBody>
                  <a:tcPr>
                    <a:solidFill>
                      <a:srgbClr val="FFFFFF"/>
                    </a:solidFill>
                  </a:tcPr>
                </a:tc>
                <a:tc>
                  <a:txBody>
                    <a:bodyPr/>
                    <a:lstStyle/>
                    <a:p>
                      <a:pPr>
                        <a:defRPr sz="1200">
                          <a:solidFill>
                            <a:srgbClr val="1A1A2E"/>
                          </a:solidFill>
                          <a:latin typeface="Yu Gothic"/>
                        </a:defRPr>
                      </a:pPr>
                      <a:r>
                        <a:t>2026-08-11</a:t>
                      </a:r>
                    </a:p>
                  </a:txBody>
                  <a:tcPr>
                    <a:solidFill>
                      <a:srgbClr val="FFFFFF"/>
                    </a:solidFill>
                  </a:tcPr>
                </a:tc>
              </a:tr>
              <a:tr h="502920">
                <a:tc>
                  <a:txBody>
                    <a:bodyPr/>
                    <a:lstStyle/>
                    <a:p>
                      <a:pPr>
                        <a:defRPr sz="1200">
                          <a:solidFill>
                            <a:srgbClr val="1A1A2E"/>
                          </a:solidFill>
                          <a:latin typeface="Yu Gothic"/>
                        </a:defRPr>
                      </a:pPr>
                      <a:r>
                        <a:t>Basenor</a:t>
                      </a:r>
                    </a:p>
                  </a:txBody>
                  <a:tcPr>
                    <a:solidFill>
                      <a:srgbClr val="F3F6FC"/>
                    </a:solidFill>
                  </a:tcPr>
                </a:tc>
                <a:tc>
                  <a:txBody>
                    <a:bodyPr/>
                    <a:lstStyle/>
                    <a:p>
                      <a:pPr>
                        <a:defRPr sz="1200">
                          <a:solidFill>
                            <a:srgbClr val="1A1A2E"/>
                          </a:solidFill>
                          <a:latin typeface="Yu Gothic"/>
                        </a:defRPr>
                      </a:pPr>
                      <a:r>
                        <a:t>2026-08-11</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今後起こりうる展開(いずれも確定ではない)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Grok 4.6のリリース</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今週後半に予定されているとマスク氏が予告(正確な日付は不明)</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Grok Botの展開拡大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Grok 4.6に合わせ、より広範な展開が行われる可能性がある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料金・利用実績の公表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ベータ版の料金体系・利用者数が今後公表される可能性がある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Unite.AI・Yahoo Finance・x.ai公式ニュースページ・Basenor(2026-08-11発表)｜182本目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常時稼働のAI社員、ただし限定提供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専用クラウドコンピュータを持つ自律型エージェントという新しい仕組みだが、当面は既存の上位契約プランに組み込まれた限定的なベータ提供である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Unite.AI / Basenor(2026-08-11)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24時間眠らないAI社員は、まだ一部の契約者だけのもの。次はGrok 4.6と共に、どこまで広がるか。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特定企業への評価ではなく、事実関係の整理として、今後も出典付きで注目したいポイントです。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