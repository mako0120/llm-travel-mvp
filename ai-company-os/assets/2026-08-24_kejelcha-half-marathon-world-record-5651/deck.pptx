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2026年8月23日、エチオピアのヨミフ・ケジェルチャ選手がハーフマラソン世界新記録を樹立しました。何が起きたのか、出典付きで正確に整理してお届けします。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結論から確認します。ケジェルチャ選手が56分51秒という世界新記録を樹立しました。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今日は6つの流れでお伝えします。レース情報から選手の実績まで、正確に事実を引用しながら整理します。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このテーマを扱う理由です。高い鮮度と、世界新記録というインパクトに注目しました。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レースの基本情報です。アルゼンチンで開催されたレースでの記録樹立でした。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ハーフマラソンとは何かを確認します。フルマラソンの半分の距離を走る種目です。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従来の世界記録から29秒という大幅な更新を記録しました。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レース展開の流れを図にしました。終盤にペースを上げて世界新記録を樹立しました。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記録樹立の流れを3ステップで総括しました。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ペースメーカーとは何かを確認します。好記録達成を支える重要な役割です。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レース当日の気象条件です。推測にとどまる部分は明確に区別してお伝えします。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レース当日の気温は6度でした。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ケジェルチャ選手のこれまでの実績です。トラック種目で世界トップクラスの実績を持ちます。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もう一つの実績です。マラソン初挑戦で世界歴代2位という好記録を残しています。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4月のロンドンマラソンでは、初挑戦にして世界歴代2位という驚異的な記録を残しています。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ケジェルチャ選手の主な実績をまとめました。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陸上競技を追う立場にとっての意味です。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従来記録保持者と今回の記録を対比しました。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10km地点の通過タイムは27分19秒でした。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5km地点の通過タイムは13分45秒でした。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記録の区切りをまとめました。終盤にかけて着実にペースを上げていったことが分かります。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トラック種目とロードレースでの実績を対比しました。両方で世界トップクラスの結果を残しています。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世界記録の位置づけです。推測にとどまる部分は明確に区別してお伝えします。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本編のまとめです。ケジェルチャ選手のハーフマラソン世界新記録について、出典付きで整理してお伝えしました。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ケジェルチャ選手のハーフマラソン世界新記録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ケジェルチャ、</a:t>
            </a:r>
          </a:p>
          <a:p>
            <a:pPr algn="l">
              <a:lnSpc>
                <a:spcPct val="115000"/>
              </a:lnSpc>
            </a:pPr>
            <a:r>
              <a:rPr sz="4200" b="1">
                <a:solidFill>
                  <a:srgbClr val="FFFFFF"/>
                </a:solidFill>
                <a:latin typeface="Yu Gothic"/>
              </a:rPr>
              <a:t>ハーフマラソン</a:t>
            </a:r>
          </a:p>
          <a:p>
            <a:pPr algn="l">
              <a:lnSpc>
                <a:spcPct val="115000"/>
              </a:lnSpc>
            </a:pPr>
            <a:r>
              <a:rPr sz="4200" b="1">
                <a:solidFill>
                  <a:srgbClr val="FFFFFF"/>
                </a:solidFill>
                <a:latin typeface="Yu Gothic"/>
              </a:rPr>
              <a:t>世界新記録56分51秒</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2026年8月24日報道——出典付きで整理する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共同通信・月刊陸上競技(2026年8月24日)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56分51秒 ハーフマラソン世界新記録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従来の記録を29秒更新(2026年8月24日報道)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共同通信・Yahoo!ニュース(2026-08-24)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レースの基本情報を確認する</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従来記録からの更新幅を確認する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レース展開の詳細を確認する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ケジェルチャ選手のこれまでの実績を確認する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着手日当日(2026年8月24日)、日本の主要メディアが一斉に報じた話題である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世界新記録という、インパクトの大きい出来事である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複数の独立したメディアが同じ中心数値を報じており、情報の一貫性を確認できた</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政治的な論点を含まない、世界的なスポーツ記録のニュースである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共同通信・月刊陸上競技(2026-08-24)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レースの基本情報</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大会名</a:t>
                      </a:r>
                    </a:p>
                  </a:txBody>
                  <a:tcPr>
                    <a:solidFill>
                      <a:srgbClr val="FFFFFF"/>
                    </a:solidFill>
                  </a:tcPr>
                </a:tc>
                <a:tc>
                  <a:txBody>
                    <a:bodyPr/>
                    <a:lstStyle/>
                    <a:p>
                      <a:pPr>
                        <a:defRPr sz="1200">
                          <a:solidFill>
                            <a:srgbClr val="1C1B33"/>
                          </a:solidFill>
                          <a:latin typeface="Yu Gothic"/>
                        </a:defRPr>
                      </a:pPr>
                      <a:r>
                        <a:t>ブエノスアイレス・シティ・ハーフマラソン</a:t>
                      </a:r>
                    </a:p>
                  </a:txBody>
                  <a:tcPr>
                    <a:solidFill>
                      <a:srgbClr val="FFFFFF"/>
                    </a:solidFill>
                  </a:tcPr>
                </a:tc>
              </a:tr>
              <a:tr h="502920">
                <a:tc>
                  <a:txBody>
                    <a:bodyPr/>
                    <a:lstStyle/>
                    <a:p>
                      <a:pPr>
                        <a:defRPr sz="1200">
                          <a:solidFill>
                            <a:srgbClr val="1C1B33"/>
                          </a:solidFill>
                          <a:latin typeface="Yu Gothic"/>
                        </a:defRPr>
                      </a:pPr>
                      <a:r>
                        <a:t>開催地</a:t>
                      </a:r>
                    </a:p>
                  </a:txBody>
                  <a:tcPr>
                    <a:solidFill>
                      <a:srgbClr val="F4F3FC"/>
                    </a:solidFill>
                  </a:tcPr>
                </a:tc>
                <a:tc>
                  <a:txBody>
                    <a:bodyPr/>
                    <a:lstStyle/>
                    <a:p>
                      <a:pPr>
                        <a:defRPr sz="1200">
                          <a:solidFill>
                            <a:srgbClr val="1C1B33"/>
                          </a:solidFill>
                          <a:latin typeface="Yu Gothic"/>
                        </a:defRPr>
                      </a:pPr>
                      <a:r>
                        <a:t>アルゼンチン・ブエノスアイレス</a:t>
                      </a:r>
                    </a:p>
                  </a:txBody>
                  <a:tcPr>
                    <a:solidFill>
                      <a:srgbClr val="F4F3FC"/>
                    </a:solidFill>
                  </a:tcPr>
                </a:tc>
              </a:tr>
              <a:tr h="502920">
                <a:tc>
                  <a:txBody>
                    <a:bodyPr/>
                    <a:lstStyle/>
                    <a:p>
                      <a:pPr>
                        <a:defRPr sz="1200">
                          <a:solidFill>
                            <a:srgbClr val="1C1B33"/>
                          </a:solidFill>
                          <a:latin typeface="Yu Gothic"/>
                        </a:defRPr>
                      </a:pPr>
                      <a:r>
                        <a:t>開催日</a:t>
                      </a:r>
                    </a:p>
                  </a:txBody>
                  <a:tcPr>
                    <a:solidFill>
                      <a:srgbClr val="FFFFFF"/>
                    </a:solidFill>
                  </a:tcPr>
                </a:tc>
                <a:tc>
                  <a:txBody>
                    <a:bodyPr/>
                    <a:lstStyle/>
                    <a:p>
                      <a:pPr>
                        <a:defRPr sz="1200">
                          <a:solidFill>
                            <a:srgbClr val="1C1B33"/>
                          </a:solidFill>
                          <a:latin typeface="Yu Gothic"/>
                        </a:defRPr>
                      </a:pPr>
                      <a:r>
                        <a:t>2026年8月23日</a:t>
                      </a:r>
                    </a:p>
                  </a:txBody>
                  <a:tcPr>
                    <a:solidFill>
                      <a:srgbClr val="FFFFFF"/>
                    </a:solidFill>
                  </a:tcPr>
                </a:tc>
              </a:tr>
              <a:tr h="502920">
                <a:tc>
                  <a:txBody>
                    <a:bodyPr/>
                    <a:lstStyle/>
                    <a:p>
                      <a:pPr>
                        <a:defRPr sz="1200">
                          <a:solidFill>
                            <a:srgbClr val="1C1B33"/>
                          </a:solidFill>
                          <a:latin typeface="Yu Gothic"/>
                        </a:defRPr>
                      </a:pPr>
                      <a:r>
                        <a:t>記録</a:t>
                      </a:r>
                    </a:p>
                  </a:txBody>
                  <a:tcPr>
                    <a:solidFill>
                      <a:srgbClr val="F4F3FC"/>
                    </a:solidFill>
                  </a:tcPr>
                </a:tc>
                <a:tc>
                  <a:txBody>
                    <a:bodyPr/>
                    <a:lstStyle/>
                    <a:p>
                      <a:pPr>
                        <a:defRPr sz="1200">
                          <a:solidFill>
                            <a:srgbClr val="1C1B33"/>
                          </a:solidFill>
                          <a:latin typeface="Yu Gothic"/>
                        </a:defRPr>
                      </a:pPr>
                      <a:r>
                        <a:t>56分51秒(世界新記録)</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共同通信・月刊陸上競技(2026-08-24)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「ハーフマラソン」とは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前提知識を確認します。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正式なマラソン(42.195km)の半分の距離である21.0975kmを走る陸上競技種目である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フルマラソンに比べてペースが速くなる傾向がある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世界記録も1時間を大きく下回る水準にある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従来記録からの更新幅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29秒更新 従来の世界記録からの短縮幅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従来記録は2026年3月にジェーコブ・キプリモ選手(ウガンダ)が樹立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共同通信(2026-08-24)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レース展開の流れ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5km地点、13分45秒で通過</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ペースメーカーは1km2分45秒設定</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10km地点、27分19秒で通過</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15km以降は1km2分40秒ペースへ</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ラスト1km、2分32秒で世界新</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56分51秒でフィニッシュ</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レース展開の流れ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月刊陸上競技(2026-08-24)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記録樹立の3ステップ総括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序盤は設定ペースで通過</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5km・10kmを安定したペースで</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終盤にペースアップ</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15km以降、1km2分40秒ペースへ</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ラスト1kmで世界新</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56分51秒でフィニッシュ</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「ペースメーカー」とは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前提知識を確認します。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レースで選手が一定のペースを保って走れるよう、序盤から一緒に走ってペースを作る役割の選手のことである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記録を狙うレースでは、ペースメーカーの存在が好記録達成の重要な要因となることが多い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今回のレースでは1kmあたり2分45秒のペース設定だった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確定していること</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記録(56分51秒)・更新幅(29秒)・レース展開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気温(6度)・ペース設定</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選手の過去の実績(世界選手権・五輪等)</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国際陸上競技連盟による公式認定の有無</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賞金額の有無・金額</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レース当日の気象条件</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気象条件を確認します。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レース当日の気温は6度だった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比較的涼しい気象条件が記録樹立を後押しした可能性がある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ただし気象条件と記録の因果関係を断定する情報は本調査の範囲では確認できていない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月刊陸上競技(2026-08-24)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レース当日の気温</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6度 レース当日の気温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比較的涼しい気象条件下でのレースだった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月刊陸上競技(2026-08-24)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ケジェルチャ選手のこれまでの実績(1)</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選手の実績を確認します。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世界選手権の5000m・10000mで6大会連続入賞している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ドーハ・東京世界選手権の10000mで銀メダルを獲得している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オリンピックでは東京大会10000mで7位、パリ大会10000mで5位に入っている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月刊陸上競技(2026-08-24)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ケジェルチャ選手のこれまでの実績(2)</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もう一つの実績を確認します。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2026年4月のロンドンマラソンでフルマラソンに初挑戦した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1時間59分41秒という世界歴代2位の記録をマークしている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トラック種目からロードレースへの本格参戦で結果を出している点が注目されている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月刊陸上競技(2026-08-24)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ロンドンマラソンでの記録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1時間59分41秒 マラソン初挑戦での世界歴代2位の記録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2026年4月のロンドンマラソンで達成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月刊陸上競技(2026-08-24)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ケジェルチャ選手の主な実績まとめ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大会・種目</a:t>
                      </a:r>
                    </a:p>
                  </a:txBody>
                  <a:tcPr>
                    <a:solidFill>
                      <a:srgbClr val="2E2A72"/>
                    </a:solidFill>
                  </a:tcPr>
                </a:tc>
                <a:tc>
                  <a:txBody>
                    <a:bodyPr/>
                    <a:lstStyle/>
                    <a:p>
                      <a:pPr>
                        <a:defRPr sz="1300" b="1">
                          <a:solidFill>
                            <a:srgbClr val="FFFFFF"/>
                          </a:solidFill>
                          <a:latin typeface="Yu Gothic"/>
                        </a:defRPr>
                      </a:pPr>
                      <a:r>
                        <a:t>成績</a:t>
                      </a:r>
                    </a:p>
                  </a:txBody>
                  <a:tcPr>
                    <a:solidFill>
                      <a:srgbClr val="2E2A72"/>
                    </a:solidFill>
                  </a:tcPr>
                </a:tc>
              </a:tr>
              <a:tr h="502920">
                <a:tc>
                  <a:txBody>
                    <a:bodyPr/>
                    <a:lstStyle/>
                    <a:p>
                      <a:pPr>
                        <a:defRPr sz="1200">
                          <a:solidFill>
                            <a:srgbClr val="1C1B33"/>
                          </a:solidFill>
                          <a:latin typeface="Yu Gothic"/>
                        </a:defRPr>
                      </a:pPr>
                      <a:r>
                        <a:t>世界選手権5000m・10000m</a:t>
                      </a:r>
                    </a:p>
                  </a:txBody>
                  <a:tcPr>
                    <a:solidFill>
                      <a:srgbClr val="FFFFFF"/>
                    </a:solidFill>
                  </a:tcPr>
                </a:tc>
                <a:tc>
                  <a:txBody>
                    <a:bodyPr/>
                    <a:lstStyle/>
                    <a:p>
                      <a:pPr>
                        <a:defRPr sz="1200">
                          <a:solidFill>
                            <a:srgbClr val="1C1B33"/>
                          </a:solidFill>
                          <a:latin typeface="Yu Gothic"/>
                        </a:defRPr>
                      </a:pPr>
                      <a:r>
                        <a:t>6大会連続入賞</a:t>
                      </a:r>
                    </a:p>
                  </a:txBody>
                  <a:tcPr>
                    <a:solidFill>
                      <a:srgbClr val="FFFFFF"/>
                    </a:solidFill>
                  </a:tcPr>
                </a:tc>
              </a:tr>
              <a:tr h="502920">
                <a:tc>
                  <a:txBody>
                    <a:bodyPr/>
                    <a:lstStyle/>
                    <a:p>
                      <a:pPr>
                        <a:defRPr sz="1200">
                          <a:solidFill>
                            <a:srgbClr val="1C1B33"/>
                          </a:solidFill>
                          <a:latin typeface="Yu Gothic"/>
                        </a:defRPr>
                      </a:pPr>
                      <a:r>
                        <a:t>世界選手権10000m(ドーハ・東京)</a:t>
                      </a:r>
                    </a:p>
                  </a:txBody>
                  <a:tcPr>
                    <a:solidFill>
                      <a:srgbClr val="F4F3FC"/>
                    </a:solidFill>
                  </a:tcPr>
                </a:tc>
                <a:tc>
                  <a:txBody>
                    <a:bodyPr/>
                    <a:lstStyle/>
                    <a:p>
                      <a:pPr>
                        <a:defRPr sz="1200">
                          <a:solidFill>
                            <a:srgbClr val="1C1B33"/>
                          </a:solidFill>
                          <a:latin typeface="Yu Gothic"/>
                        </a:defRPr>
                      </a:pPr>
                      <a:r>
                        <a:t>銀メダル</a:t>
                      </a:r>
                    </a:p>
                  </a:txBody>
                  <a:tcPr>
                    <a:solidFill>
                      <a:srgbClr val="F4F3FC"/>
                    </a:solidFill>
                  </a:tcPr>
                </a:tc>
              </a:tr>
              <a:tr h="502920">
                <a:tc>
                  <a:txBody>
                    <a:bodyPr/>
                    <a:lstStyle/>
                    <a:p>
                      <a:pPr>
                        <a:defRPr sz="1200">
                          <a:solidFill>
                            <a:srgbClr val="1C1B33"/>
                          </a:solidFill>
                          <a:latin typeface="Yu Gothic"/>
                        </a:defRPr>
                      </a:pPr>
                      <a:r>
                        <a:t>東京オリンピック10000m</a:t>
                      </a:r>
                    </a:p>
                  </a:txBody>
                  <a:tcPr>
                    <a:solidFill>
                      <a:srgbClr val="FFFFFF"/>
                    </a:solidFill>
                  </a:tcPr>
                </a:tc>
                <a:tc>
                  <a:txBody>
                    <a:bodyPr/>
                    <a:lstStyle/>
                    <a:p>
                      <a:pPr>
                        <a:defRPr sz="1200">
                          <a:solidFill>
                            <a:srgbClr val="1C1B33"/>
                          </a:solidFill>
                          <a:latin typeface="Yu Gothic"/>
                        </a:defRPr>
                      </a:pPr>
                      <a:r>
                        <a:t>7位</a:t>
                      </a:r>
                    </a:p>
                  </a:txBody>
                  <a:tcPr>
                    <a:solidFill>
                      <a:srgbClr val="FFFFFF"/>
                    </a:solidFill>
                  </a:tcPr>
                </a:tc>
              </a:tr>
              <a:tr h="502920">
                <a:tc>
                  <a:txBody>
                    <a:bodyPr/>
                    <a:lstStyle/>
                    <a:p>
                      <a:pPr>
                        <a:defRPr sz="1200">
                          <a:solidFill>
                            <a:srgbClr val="1C1B33"/>
                          </a:solidFill>
                          <a:latin typeface="Yu Gothic"/>
                        </a:defRPr>
                      </a:pPr>
                      <a:r>
                        <a:t>パリオリンピック10000m</a:t>
                      </a:r>
                    </a:p>
                  </a:txBody>
                  <a:tcPr>
                    <a:solidFill>
                      <a:srgbClr val="F4F3FC"/>
                    </a:solidFill>
                  </a:tcPr>
                </a:tc>
                <a:tc>
                  <a:txBody>
                    <a:bodyPr/>
                    <a:lstStyle/>
                    <a:p>
                      <a:pPr>
                        <a:defRPr sz="1200">
                          <a:solidFill>
                            <a:srgbClr val="1C1B33"/>
                          </a:solidFill>
                          <a:latin typeface="Yu Gothic"/>
                        </a:defRPr>
                      </a:pPr>
                      <a:r>
                        <a:t>5位</a:t>
                      </a:r>
                    </a:p>
                  </a:txBody>
                  <a:tcPr>
                    <a:solidFill>
                      <a:srgbClr val="F4F3FC"/>
                    </a:solidFill>
                  </a:tcPr>
                </a:tc>
              </a:tr>
              <a:tr h="502920">
                <a:tc>
                  <a:txBody>
                    <a:bodyPr/>
                    <a:lstStyle/>
                    <a:p>
                      <a:pPr>
                        <a:defRPr sz="1200">
                          <a:solidFill>
                            <a:srgbClr val="1C1B33"/>
                          </a:solidFill>
                          <a:latin typeface="Yu Gothic"/>
                        </a:defRPr>
                      </a:pPr>
                      <a:r>
                        <a:t>ロンドンマラソン(初挑戦)</a:t>
                      </a:r>
                    </a:p>
                  </a:txBody>
                  <a:tcPr>
                    <a:solidFill>
                      <a:srgbClr val="FFFFFF"/>
                    </a:solidFill>
                  </a:tcPr>
                </a:tc>
                <a:tc>
                  <a:txBody>
                    <a:bodyPr/>
                    <a:lstStyle/>
                    <a:p>
                      <a:pPr>
                        <a:defRPr sz="1200">
                          <a:solidFill>
                            <a:srgbClr val="1C1B33"/>
                          </a:solidFill>
                          <a:latin typeface="Yu Gothic"/>
                        </a:defRPr>
                      </a:pPr>
                      <a:r>
                        <a:t>1時間59分41秒(世界歴代2位)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月刊陸上競技(2026-08-24)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視聴者にとっての意味—陸上競技を追う立場として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世界トップクラスのトラック選手がロードレースでも結果を出す事例を、具体的な記録とともに把握できる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『ハーフマラソン』『ペースメーカー』といった陸上競技の用語を実例を通じて学べる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確定した記録と、確認できていないこと(公式認定の有無等)を区別する視点が役立つ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従来記録保持者 vs 今回の記録</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従来記録(2026年3月)</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ジェーコブ・キプリモ選手(ウガンダ)</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今回の記録(2026年8月23日)</a:t>
            </a:r>
          </a:p>
        </p:txBody>
      </p:sp>
      <p:sp>
        <p:nvSpPr>
          <p:cNvPr id="14" name="Oval 13"/>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ヨミフ・ケジェルチャ選手(エチオピア)</a:t>
            </a:r>
          </a:p>
        </p:txBody>
      </p:sp>
      <p:sp>
        <p:nvSpPr>
          <p:cNvPr id="16" name="Oval 15"/>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56分51秒で29秒更新</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今後注目される点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ロンドンマラソンでの世界歴代2位という実績とあわせ、今後のマラソン競技での活躍が期待される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ただし具体的な今後のレース出場予定は本調査の範囲では確認できていない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推測で断定せず、確認できたことと推測を明確に区別してお伝えする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今回の記録が国際陸上競技連盟による公式認定を経ているかどうかは確認できていない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賞金額の有無・金額は確認できていない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本テーマは各情報源への直接アクセスではなく、検索結果の要約に基づいて調査している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主な情報源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報道内容</a:t>
                      </a:r>
                    </a:p>
                  </a:txBody>
                  <a:tcPr>
                    <a:solidFill>
                      <a:srgbClr val="2E2A72"/>
                    </a:solidFill>
                  </a:tcPr>
                </a:tc>
              </a:tr>
              <a:tr h="502920">
                <a:tc>
                  <a:txBody>
                    <a:bodyPr/>
                    <a:lstStyle/>
                    <a:p>
                      <a:pPr>
                        <a:defRPr sz="1200">
                          <a:solidFill>
                            <a:srgbClr val="1C1B33"/>
                          </a:solidFill>
                          <a:latin typeface="Yu Gothic"/>
                        </a:defRPr>
                      </a:pPr>
                      <a:r>
                        <a:t>共同通信(2026-08-24)</a:t>
                      </a:r>
                    </a:p>
                  </a:txBody>
                  <a:tcPr>
                    <a:solidFill>
                      <a:srgbClr val="FFFFFF"/>
                    </a:solidFill>
                  </a:tcPr>
                </a:tc>
                <a:tc>
                  <a:txBody>
                    <a:bodyPr/>
                    <a:lstStyle/>
                    <a:p>
                      <a:pPr>
                        <a:defRPr sz="1200">
                          <a:solidFill>
                            <a:srgbClr val="1C1B33"/>
                          </a:solidFill>
                          <a:latin typeface="Yu Gothic"/>
                        </a:defRPr>
                      </a:pPr>
                      <a:r>
                        <a:t>記録・更新幅の詳細</a:t>
                      </a:r>
                    </a:p>
                  </a:txBody>
                  <a:tcPr>
                    <a:solidFill>
                      <a:srgbClr val="FFFFFF"/>
                    </a:solidFill>
                  </a:tcPr>
                </a:tc>
              </a:tr>
              <a:tr h="502920">
                <a:tc>
                  <a:txBody>
                    <a:bodyPr/>
                    <a:lstStyle/>
                    <a:p>
                      <a:pPr>
                        <a:defRPr sz="1200">
                          <a:solidFill>
                            <a:srgbClr val="1C1B33"/>
                          </a:solidFill>
                          <a:latin typeface="Yu Gothic"/>
                        </a:defRPr>
                      </a:pPr>
                      <a:r>
                        <a:t>月刊陸上競技(2026-08-24)</a:t>
                      </a:r>
                    </a:p>
                  </a:txBody>
                  <a:tcPr>
                    <a:solidFill>
                      <a:srgbClr val="F4F3FC"/>
                    </a:solidFill>
                  </a:tcPr>
                </a:tc>
                <a:tc>
                  <a:txBody>
                    <a:bodyPr/>
                    <a:lstStyle/>
                    <a:p>
                      <a:pPr>
                        <a:defRPr sz="1200">
                          <a:solidFill>
                            <a:srgbClr val="1C1B33"/>
                          </a:solidFill>
                          <a:latin typeface="Yu Gothic"/>
                        </a:defRPr>
                      </a:pPr>
                      <a:r>
                        <a:t>レース展開・選手の実績詳細</a:t>
                      </a:r>
                    </a:p>
                  </a:txBody>
                  <a:tcPr>
                    <a:solidFill>
                      <a:srgbClr val="F4F3FC"/>
                    </a:solidFill>
                  </a:tcPr>
                </a:tc>
              </a:tr>
              <a:tr h="502920">
                <a:tc>
                  <a:txBody>
                    <a:bodyPr/>
                    <a:lstStyle/>
                    <a:p>
                      <a:pPr>
                        <a:defRPr sz="1200">
                          <a:solidFill>
                            <a:srgbClr val="1C1B33"/>
                          </a:solidFill>
                          <a:latin typeface="Yu Gothic"/>
                        </a:defRPr>
                      </a:pPr>
                      <a:r>
                        <a:t>nippon.com・佐賀新聞(2026-08-24)</a:t>
                      </a:r>
                    </a:p>
                  </a:txBody>
                  <a:tcPr>
                    <a:solidFill>
                      <a:srgbClr val="FFFFFF"/>
                    </a:solidFill>
                  </a:tcPr>
                </a:tc>
                <a:tc>
                  <a:txBody>
                    <a:bodyPr/>
                    <a:lstStyle/>
                    <a:p>
                      <a:pPr>
                        <a:defRPr sz="1200">
                          <a:solidFill>
                            <a:srgbClr val="1C1B33"/>
                          </a:solidFill>
                          <a:latin typeface="Yu Gothic"/>
                        </a:defRPr>
                      </a:pPr>
                      <a:r>
                        <a:t>記録樹立の速報</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陸上競技を追う立場として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世界トップクラス選手のロードレースでの活躍を、具体的な記録とともに把握できる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ランニングファンの立場として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ペース配分・レース展開の実例を学べる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確定した記録と、確認できていない公式認定の有無等を明確に区別する視点が役立つ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10km通過タイム</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27分19秒 10km地点の通過タイム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5km地点(13分45秒)からの推移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月刊陸上競技(2026-08-24)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5km地点の通過タイム</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13分45秒 5km地点の通過タイム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終盤にかけてさらにペースを上げた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月刊陸上競技(2026-08-24)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記録の区切りまとめ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区間</a:t>
                      </a:r>
                    </a:p>
                  </a:txBody>
                  <a:tcPr>
                    <a:solidFill>
                      <a:srgbClr val="2E2A72"/>
                    </a:solidFill>
                  </a:tcPr>
                </a:tc>
                <a:tc>
                  <a:txBody>
                    <a:bodyPr/>
                    <a:lstStyle/>
                    <a:p>
                      <a:pPr>
                        <a:defRPr sz="1300" b="1">
                          <a:solidFill>
                            <a:srgbClr val="FFFFFF"/>
                          </a:solidFill>
                          <a:latin typeface="Yu Gothic"/>
                        </a:defRPr>
                      </a:pPr>
                      <a:r>
                        <a:t>タイム</a:t>
                      </a:r>
                    </a:p>
                  </a:txBody>
                  <a:tcPr>
                    <a:solidFill>
                      <a:srgbClr val="2E2A72"/>
                    </a:solidFill>
                  </a:tcPr>
                </a:tc>
              </a:tr>
              <a:tr h="502920">
                <a:tc>
                  <a:txBody>
                    <a:bodyPr/>
                    <a:lstStyle/>
                    <a:p>
                      <a:pPr>
                        <a:defRPr sz="1200">
                          <a:solidFill>
                            <a:srgbClr val="1C1B33"/>
                          </a:solidFill>
                          <a:latin typeface="Yu Gothic"/>
                        </a:defRPr>
                      </a:pPr>
                      <a:r>
                        <a:t>5km地点</a:t>
                      </a:r>
                    </a:p>
                  </a:txBody>
                  <a:tcPr>
                    <a:solidFill>
                      <a:srgbClr val="FFFFFF"/>
                    </a:solidFill>
                  </a:tcPr>
                </a:tc>
                <a:tc>
                  <a:txBody>
                    <a:bodyPr/>
                    <a:lstStyle/>
                    <a:p>
                      <a:pPr>
                        <a:defRPr sz="1200">
                          <a:solidFill>
                            <a:srgbClr val="1C1B33"/>
                          </a:solidFill>
                          <a:latin typeface="Yu Gothic"/>
                        </a:defRPr>
                      </a:pPr>
                      <a:r>
                        <a:t>13分45秒</a:t>
                      </a:r>
                    </a:p>
                  </a:txBody>
                  <a:tcPr>
                    <a:solidFill>
                      <a:srgbClr val="FFFFFF"/>
                    </a:solidFill>
                  </a:tcPr>
                </a:tc>
              </a:tr>
              <a:tr h="502920">
                <a:tc>
                  <a:txBody>
                    <a:bodyPr/>
                    <a:lstStyle/>
                    <a:p>
                      <a:pPr>
                        <a:defRPr sz="1200">
                          <a:solidFill>
                            <a:srgbClr val="1C1B33"/>
                          </a:solidFill>
                          <a:latin typeface="Yu Gothic"/>
                        </a:defRPr>
                      </a:pPr>
                      <a:r>
                        <a:t>10km地点</a:t>
                      </a:r>
                    </a:p>
                  </a:txBody>
                  <a:tcPr>
                    <a:solidFill>
                      <a:srgbClr val="F4F3FC"/>
                    </a:solidFill>
                  </a:tcPr>
                </a:tc>
                <a:tc>
                  <a:txBody>
                    <a:bodyPr/>
                    <a:lstStyle/>
                    <a:p>
                      <a:pPr>
                        <a:defRPr sz="1200">
                          <a:solidFill>
                            <a:srgbClr val="1C1B33"/>
                          </a:solidFill>
                          <a:latin typeface="Yu Gothic"/>
                        </a:defRPr>
                      </a:pPr>
                      <a:r>
                        <a:t>27分19秒</a:t>
                      </a:r>
                    </a:p>
                  </a:txBody>
                  <a:tcPr>
                    <a:solidFill>
                      <a:srgbClr val="F4F3FC"/>
                    </a:solidFill>
                  </a:tcPr>
                </a:tc>
              </a:tr>
              <a:tr h="502920">
                <a:tc>
                  <a:txBody>
                    <a:bodyPr/>
                    <a:lstStyle/>
                    <a:p>
                      <a:pPr>
                        <a:defRPr sz="1200">
                          <a:solidFill>
                            <a:srgbClr val="1C1B33"/>
                          </a:solidFill>
                          <a:latin typeface="Yu Gothic"/>
                        </a:defRPr>
                      </a:pPr>
                      <a:r>
                        <a:t>ラスト1km</a:t>
                      </a:r>
                    </a:p>
                  </a:txBody>
                  <a:tcPr>
                    <a:solidFill>
                      <a:srgbClr val="FFFFFF"/>
                    </a:solidFill>
                  </a:tcPr>
                </a:tc>
                <a:tc>
                  <a:txBody>
                    <a:bodyPr/>
                    <a:lstStyle/>
                    <a:p>
                      <a:pPr>
                        <a:defRPr sz="1200">
                          <a:solidFill>
                            <a:srgbClr val="1C1B33"/>
                          </a:solidFill>
                          <a:latin typeface="Yu Gothic"/>
                        </a:defRPr>
                      </a:pPr>
                      <a:r>
                        <a:t>2分32秒</a:t>
                      </a:r>
                    </a:p>
                  </a:txBody>
                  <a:tcPr>
                    <a:solidFill>
                      <a:srgbClr val="FFFFFF"/>
                    </a:solidFill>
                  </a:tcPr>
                </a:tc>
              </a:tr>
              <a:tr h="502920">
                <a:tc>
                  <a:txBody>
                    <a:bodyPr/>
                    <a:lstStyle/>
                    <a:p>
                      <a:pPr>
                        <a:defRPr sz="1200">
                          <a:solidFill>
                            <a:srgbClr val="1C1B33"/>
                          </a:solidFill>
                          <a:latin typeface="Yu Gothic"/>
                        </a:defRPr>
                      </a:pPr>
                      <a:r>
                        <a:t>ゴール(世界新)</a:t>
                      </a:r>
                    </a:p>
                  </a:txBody>
                  <a:tcPr>
                    <a:solidFill>
                      <a:srgbClr val="F4F3FC"/>
                    </a:solidFill>
                  </a:tcPr>
                </a:tc>
                <a:tc>
                  <a:txBody>
                    <a:bodyPr/>
                    <a:lstStyle/>
                    <a:p>
                      <a:pPr>
                        <a:defRPr sz="1200">
                          <a:solidFill>
                            <a:srgbClr val="1C1B33"/>
                          </a:solidFill>
                          <a:latin typeface="Yu Gothic"/>
                        </a:defRPr>
                      </a:pPr>
                      <a:r>
                        <a:t>56分51秒</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月刊陸上競技(2026-08-24)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トラック種目 vs ロードレースでの実績</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トラック種目(5000m・10000m)</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世界選手権6大会連続入賞</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ドーハ・東京世界選手権で銀メダル</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ロードレース(マラソン・ハーフマラソン)</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ロンドンマラソン初挑戦で世界歴代2位</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ハーフマラソンで世界新記録</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世界記録の位置づけ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陸上競技界における位置づけを確認します。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ハーフマラソンの世界記録は、近年急速に更新が続いている種目の一つである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トラック種目のトップ選手がロードレースに参入することで、記録の更新が加速していると考えられる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ただしこの傾向の詳細な分析は、本調査の範囲では確認できていない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2026年8月23日(現地時間)、ケジェルチャ選手がハーフマラソン世界新記録(56分51秒)を樹立した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従来の世界記録を29秒更新した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序盤は設定ペースで安定して通過し、終盤にペースを上げて記録を樹立した</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トラック種目での豊富な実績に加え、ロードレースでも結果を出している点が注目される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共同通信・月刊陸上競技等(2026-08-24)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ケジェルチャ、ハーフマラソン世界新記録56分51秒。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2026年8月23日、エチオピアのヨミフ・ケジェルチャ選手がハーフマラソン世界新記録を樹立しました。レース展開と選手の実績を、出典付きで整理してお届けしました。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