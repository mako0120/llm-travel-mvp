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移籍金(億円換算・報道ベース)</c:v>
                </c:pt>
              </c:strCache>
            </c:strRef>
          </c:tx>
          <c:spPr>
            <a:solidFill>
              <a:srgbClr val="1E2761"/>
            </a:solidFill>
          </c:spPr>
          <c:cat>
            <c:strRef>
              <c:f>Sheet1!$A$2:$A$3</c:f>
              <c:strCache>
                <c:ptCount val="2"/>
                <c:pt idx="0">
                  <c:v>85本目(8/3・オファー提示)</c:v>
                </c:pt>
                <c:pt idx="1">
                  <c:v>190本目(8/11-12・クラブ間合意)</c:v>
                </c:pt>
              </c:strCache>
            </c:strRef>
          </c:cat>
          <c:val>
            <c:numRef>
              <c:f>Sheet1!$B$2:$B$3</c:f>
              <c:numCache>
                <c:formatCode>General</c:formatCode>
                <c:ptCount val="2"/>
                <c:pt idx="0">
                  <c:v>60</c:v>
                </c:pt>
                <c:pt idx="1">
                  <c:v>64</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パルマとPSGが「クラブ間合意」に到達したと報じられました。移籍金は約64億円とされます。日本代表GK鈴木彩艶選手のPSG移籍について、今日はこの続報を出典付きでお伝えします。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結論から言うと、パルマとPSGの間で移籍条件について「クラブ間合意」に到達したと現地で報じられました。ただし正式な発表にはまだ至っていません。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今日は、クラブ間合意とは何か、移籍金の推移、ユベントスへの期限付き移籍構想、まだ確定していないこと、今後の注目ポイントをお伝えします。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この話題を今回取り上げる理由は3つです。着手日から1〜2日前という鮮度、複数メディアが追随した報道、そして移籍金更新とユベントス構想という新情報があることです。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前作の85本目は、PSGがパルマに正式オファーを提示し交渉が進行中という段階でした。本テーマはその続報で、クラブ間合意に到達したという進展をお伝えします。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移籍の基本情報です。移籍金はボーナス込みで約3,500万ユーロ、日本円で約63〜64億円とされ、現段階はクラブ間合意です。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初めての方向けに「クラブ間合意」を説明します。クラブ同士が移籍条件で合意した段階で、この後に医療検査や選手本人との契約交渉が続くのが一般的です。まだ移籍決定ではありません。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情報源についても説明します。ファブリツィオ・ロマーノ氏は移籍報道で著名な記者で、本テーマはその報道を日本語メディアが伝えたものです。クラブ公式発表とは異なる点に注意が必要です。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一般的な移籍手続きの流れです。クラブ間合意の後、医療検査、契約締結を経て公式発表に至るのが通例とされますが、本件で各段階が実際にどこまで進んでいるかは不明です。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移籍金の推移をグラフにしました。85本目のオファー提示時は約60億円、今回のクラブ間合意では約63〜64億円と報じられ、更新されています。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移籍金はユーロ建てで見ると、ボーナスを含め約3,500万ユーロとされています。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日本円に換算すると約63億円から64億円とされ、媒体によって表現に幅があります。この幅をそのままお伝えします。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移籍の主要事実をまとめました。選手、移籍先、移籍金、そして現在の状況がクラブ間合意の段階であることです。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全体像を図にしました。パルマからPSGへの移籍合意に加え、PSGからユベントスへ期限付き移籍する構想も、クラブ間で合意済みとされています。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注目したいのがこの数字です。合意が正式に決定次第、PSGからユベントスへ、買取オプションなしの期限付き移籍をする構想も合意済みとされています。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期限付き移籍構想の要点です。移籍元はPSG、移籍先はユベントス、買取オプションなしの期限付き移籍とされますが、開始時期は不明です。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85本目との数字比較です。段階・移籍金・競合クラブとの関係、いずれも進展が見られます。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ここが重要な点です。本テーマの内容はクラブ間合意の段階であり、正式な移籍決定・移籍発表ではありません。断定的な表現は使用していません。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確定していることと確定していないことを分けて整理します。報道段階の内容と、まだ確認できていない内容をはっきり分けてお伝えします。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「期限付き移籍」も説明します。選手が一時的に別クラブでプレーし、期限が来ると元のクラブに戻る形態です。買取オプションがない場合、自動的な獲得権はありません。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経緯をタイムラインで整理します。8月3日のオファー提示から、8月11〜12日のクラブ間合意へと進展しました。今後、正式発表に至る見込みですが時期は不明です。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この進展を知ると何が変わるか。オファー提示からクラブ間合意へ進んだことで、実現の可能性がより具体的になったと言えます。今後の答え合わせの基準にもなります。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今後注目したいポイントは3つです。両クラブの公式発表の有無、選手本人のコメント、そしてユベントス移籍の開始時期です。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確認できていない項目を一覧にしました。公式発表・本人コメント・契約詳細・移籍時期・医療検査の状況は、いずれも出典で確認できていません。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ここで大事な点を確認します。特定クラブを過度に推奨する表現はせず、鈴木選手個人への敬意を保ったうえで、政治的要素を含まないニュースとして淡々と紹介しています。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表現の方針についてです。クラブ間合意を移籍決定と言い換えず、すべて報道ベースの表現で統一しています。出典にない数字は一切使用していません。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出典はこの表の通りです。footballchannel.jp、Yahoo!ニュース(theWORLD配信)、Football Tribe Japanが同じ内容を報じています。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確認できたことと確認できなかったことを正直に整理します。クラブ間合意の報道は確認できましたが、公式発表や本人コメントはまだ確認できていません。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両クラブの公式発表、そしてユベントスへの期限付き移籍構想の行方にも注目していきましょう。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今回もありがとうございました。鈴木彩艶選手のPSG移籍、クラブ間合意という進展をお届けしました。正式発表にはまだ至っていない点にご注意ください。次回もお楽しみに。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パルマとPSG、「クラブ間合意」に到達。移籍金は約64億円。</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日本代表GK鈴木彩艶選手のPSG移籍。ユベントスへの期限付き移籍構想も合意済みとされる(正式発表はまだ)</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footballchannel.jp、Yahoo!ニュース(theWORLD配信)、Football Tribe Japan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クラブ間合意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パルマ・PSG間で移籍条件について「クラブ間合意」に到達したと現地報道(正式発表はまだ)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footballchannel.jp/Yahoo!ニュース(theWORLD配信)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「クラブ間合意」とは何か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移籍金の推移(85本目との比較)</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ユベントスへの期限付き移籍構想</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まだ確定していないこと</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今後の注目ポイント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2026年8月11〜12日の報道で、着手日(8月13日)から1〜2日前という高い鮮度</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著名記者ファブリツィオ・ロマーノ氏らの報道に、複数の日本語メディアが追随</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移籍金の具体額更新(約60億円→約63〜64億円)とユベントス期限付き移籍構想という新情報がある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footballchannel.jp/Yahoo!ニュース(theWORLD配信)/Football Tribe Japan</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85本目(前作)との関係</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85本目(前作、2026-08-03)</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PSGがパルマに正式オファーを提示</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移籍金は約60億円、交渉進行中(結果はまだ)</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190本目(本テーマ、2026-08-11〜12)</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パルマ・PSG間でクラブ間合意に到達と報道</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移籍金は約63〜64億円に更新、ユベントス期限付き移籍構想も</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移籍の基本情報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対象選手</a:t>
                      </a:r>
                    </a:p>
                  </a:txBody>
                  <a:tcPr>
                    <a:solidFill>
                      <a:srgbClr val="FFFFFF"/>
                    </a:solidFill>
                  </a:tcPr>
                </a:tc>
                <a:tc>
                  <a:txBody>
                    <a:bodyPr/>
                    <a:lstStyle/>
                    <a:p>
                      <a:pPr>
                        <a:defRPr sz="1200">
                          <a:solidFill>
                            <a:srgbClr val="1A1A2E"/>
                          </a:solidFill>
                          <a:latin typeface="Yu Gothic"/>
                        </a:defRPr>
                      </a:pPr>
                      <a:r>
                        <a:t>鈴木彩艶選手(日本代表GK、パルマ所属)</a:t>
                      </a:r>
                    </a:p>
                  </a:txBody>
                  <a:tcPr>
                    <a:solidFill>
                      <a:srgbClr val="FFFFFF"/>
                    </a:solidFill>
                  </a:tcPr>
                </a:tc>
              </a:tr>
              <a:tr h="502920">
                <a:tc>
                  <a:txBody>
                    <a:bodyPr/>
                    <a:lstStyle/>
                    <a:p>
                      <a:pPr>
                        <a:defRPr sz="1200">
                          <a:solidFill>
                            <a:srgbClr val="1A1A2E"/>
                          </a:solidFill>
                          <a:latin typeface="Yu Gothic"/>
                        </a:defRPr>
                      </a:pPr>
                      <a:r>
                        <a:t>移籍先(合意)</a:t>
                      </a:r>
                    </a:p>
                  </a:txBody>
                  <a:tcPr>
                    <a:solidFill>
                      <a:srgbClr val="F3F6FC"/>
                    </a:solidFill>
                  </a:tcPr>
                </a:tc>
                <a:tc>
                  <a:txBody>
                    <a:bodyPr/>
                    <a:lstStyle/>
                    <a:p>
                      <a:pPr>
                        <a:defRPr sz="1200">
                          <a:solidFill>
                            <a:srgbClr val="1A1A2E"/>
                          </a:solidFill>
                          <a:latin typeface="Yu Gothic"/>
                        </a:defRPr>
                      </a:pPr>
                      <a:r>
                        <a:t>パリ・サンジェルマン(PSG)</a:t>
                      </a:r>
                    </a:p>
                  </a:txBody>
                  <a:tcPr>
                    <a:solidFill>
                      <a:srgbClr val="F3F6FC"/>
                    </a:solidFill>
                  </a:tcPr>
                </a:tc>
              </a:tr>
              <a:tr h="502920">
                <a:tc>
                  <a:txBody>
                    <a:bodyPr/>
                    <a:lstStyle/>
                    <a:p>
                      <a:pPr>
                        <a:defRPr sz="1200">
                          <a:solidFill>
                            <a:srgbClr val="1A1A2E"/>
                          </a:solidFill>
                          <a:latin typeface="Yu Gothic"/>
                        </a:defRPr>
                      </a:pPr>
                      <a:r>
                        <a:t>移籍金(報道)</a:t>
                      </a:r>
                    </a:p>
                  </a:txBody>
                  <a:tcPr>
                    <a:solidFill>
                      <a:srgbClr val="FFFFFF"/>
                    </a:solidFill>
                  </a:tcPr>
                </a:tc>
                <a:tc>
                  <a:txBody>
                    <a:bodyPr/>
                    <a:lstStyle/>
                    <a:p>
                      <a:pPr>
                        <a:defRPr sz="1200">
                          <a:solidFill>
                            <a:srgbClr val="1A1A2E"/>
                          </a:solidFill>
                          <a:latin typeface="Yu Gothic"/>
                        </a:defRPr>
                      </a:pPr>
                      <a:r>
                        <a:t>ボーナス込み約3,500万ユーロ(約63〜64億円)</a:t>
                      </a:r>
                    </a:p>
                  </a:txBody>
                  <a:tcPr>
                    <a:solidFill>
                      <a:srgbClr val="FFFFFF"/>
                    </a:solidFill>
                  </a:tcPr>
                </a:tc>
              </a:tr>
              <a:tr h="502920">
                <a:tc>
                  <a:txBody>
                    <a:bodyPr/>
                    <a:lstStyle/>
                    <a:p>
                      <a:pPr>
                        <a:defRPr sz="1200">
                          <a:solidFill>
                            <a:srgbClr val="1A1A2E"/>
                          </a:solidFill>
                          <a:latin typeface="Yu Gothic"/>
                        </a:defRPr>
                      </a:pPr>
                      <a:r>
                        <a:t>段階</a:t>
                      </a:r>
                    </a:p>
                  </a:txBody>
                  <a:tcPr>
                    <a:solidFill>
                      <a:srgbClr val="F3F6FC"/>
                    </a:solidFill>
                  </a:tcPr>
                </a:tc>
                <a:tc>
                  <a:txBody>
                    <a:bodyPr/>
                    <a:lstStyle/>
                    <a:p>
                      <a:pPr>
                        <a:defRPr sz="1200">
                          <a:solidFill>
                            <a:srgbClr val="1A1A2E"/>
                          </a:solidFill>
                          <a:latin typeface="Yu Gothic"/>
                        </a:defRPr>
                      </a:pPr>
                      <a:r>
                        <a:t>クラブ間合意(正式発表はまだ)</a:t>
                      </a:r>
                    </a:p>
                  </a:txBody>
                  <a:tcPr>
                    <a:solidFill>
                      <a:srgbClr val="F3F6FC"/>
                    </a:solidFill>
                  </a:tcPr>
                </a:tc>
              </a:tr>
              <a:tr h="502920">
                <a:tc>
                  <a:txBody>
                    <a:bodyPr/>
                    <a:lstStyle/>
                    <a:p>
                      <a:pPr>
                        <a:defRPr sz="1200">
                          <a:solidFill>
                            <a:srgbClr val="1A1A2E"/>
                          </a:solidFill>
                          <a:latin typeface="Yu Gothic"/>
                        </a:defRPr>
                      </a:pPr>
                      <a:r>
                        <a:t>関連構想</a:t>
                      </a:r>
                    </a:p>
                  </a:txBody>
                  <a:tcPr>
                    <a:solidFill>
                      <a:srgbClr val="FFFFFF"/>
                    </a:solidFill>
                  </a:tcPr>
                </a:tc>
                <a:tc>
                  <a:txBody>
                    <a:bodyPr/>
                    <a:lstStyle/>
                    <a:p>
                      <a:pPr>
                        <a:defRPr sz="1200">
                          <a:solidFill>
                            <a:srgbClr val="1A1A2E"/>
                          </a:solidFill>
                          <a:latin typeface="Yu Gothic"/>
                        </a:defRPr>
                      </a:pPr>
                      <a:r>
                        <a:t>決定後、ユベントスへ期限付き移籍(買取オプションなしとされる)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footballchannel.jp/Yahoo!ニュース(theWORLD配信)/Football Tribe Japan</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初心者向け基礎知識:「クラブ間合意」とは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選手個人の契約締結より先に、移籍元・移籍先クラブ同士が移籍条件(移籍金等)で合意した段階</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この後に医療検査・選手個人との契約交渉が続くのが一般的とされる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クラブ間合意の時点では、公式な「移籍決定」「移籍発表」ではない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初心者向け基礎知識: 今回の情報源について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ファブリツィオ・ロマーノ氏は移籍情報に強い著名記者として知られる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本テーマの情報は同氏らの現地報道を日本語メディアが引用・記事化したもの</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クラブ公式発表とは異なり、報道段階の情報であることを踏まえて見る必要がある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正式移籍までに想定される手続きの流れ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クラブ間合意</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パルマ・PSG間で移籍条件について合意(報道段階、2026-08-11〜12)</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メディカルチェック</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選手の医療検査(一般的に必要とされる手続き、実施状況は不明)</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契約締結</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選手個人とクラブの契約条件で合意(詳細は不明)</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公式発表</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両クラブによる正式発表(本調査時点では未確認)</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移籍金の推移(85本目→190本目)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footballchannel.jp(85本目時点は約60億円)/Yahoo!ニュース theWORLD配信(190本目は64億円と報道、footballchannel.jpは約63億円と報道)</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移籍金(ユーロ)</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約3,500万ユーロ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ボーナスを含む金額とされる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footballchannel.jp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移籍金(日本円換算)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約63〜64億円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報道媒体により約63億円・64億円と表現に幅がある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footballchannel.jp/Yahoo!ニュース(theWORLD配信)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移籍の主要事実</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選手</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鈴木彩艶選手(日本代表GK、パルマ所属)</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移籍先</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パリ・サンジェルマン(PSG、UEFAチャンピオンズリーグ王者)</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移籍金</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ボーナス込み約3,500万ユーロ(約63〜64億円)</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状況</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クラブ間合意の段階。正式発表はまだ</a:t>
            </a:r>
          </a:p>
        </p:txBody>
      </p:sp>
      <p:sp>
        <p:nvSpPr>
          <p:cNvPr id="22" name="TextBox 2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footballchannel.jp/Yahoo!ニュース(theWORLD配信)</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パルマ→PSG→ユベントスの構想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パルマ</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鈴木選手の現所属クラブ</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PSG</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クラブ間合意に到達(報道)</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ユベントス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期限付き移籍の構想も合意済み(報道)</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パルマ→PSGへの移籍合意に加え、PSGからユベントスへの期限付き移籍構想も合意済みとされる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ユベントスへの構想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期限付き移籍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買取オプションなしの期限付き移籍で合意済みとされる(正式決定後に実行の見込み)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footballchannel.jp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期限付き移籍構想の要点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移籍元</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PSG</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移籍先</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ユベントス(セリエA)</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形態</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期限付き移籍(レンタル)、買取オプションなし</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1E2761"/>
                </a:solidFill>
                <a:latin typeface="Yu Gothic"/>
              </a:rPr>
              <a:t>時期</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クラブ間合意が正式決定次第(開始時期は不明)</a:t>
            </a:r>
          </a:p>
        </p:txBody>
      </p:sp>
      <p:sp>
        <p:nvSpPr>
          <p:cNvPr id="22" name="TextBox 2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85本目との数字比較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85本目(8/3・オファー提示)</a:t>
                      </a:r>
                    </a:p>
                  </a:txBody>
                  <a:tcPr>
                    <a:solidFill>
                      <a:srgbClr val="1E2761"/>
                    </a:solidFill>
                  </a:tcPr>
                </a:tc>
                <a:tc>
                  <a:txBody>
                    <a:bodyPr/>
                    <a:lstStyle/>
                    <a:p>
                      <a:pPr>
                        <a:defRPr sz="1300" b="1">
                          <a:solidFill>
                            <a:srgbClr val="FFFFFF"/>
                          </a:solidFill>
                          <a:latin typeface="Yu Gothic"/>
                        </a:defRPr>
                      </a:pPr>
                      <a:r>
                        <a:t>190本目(8/11-12・クラブ間合意)</a:t>
                      </a:r>
                    </a:p>
                  </a:txBody>
                  <a:tcPr>
                    <a:solidFill>
                      <a:srgbClr val="1E2761"/>
                    </a:solidFill>
                  </a:tcPr>
                </a:tc>
              </a:tr>
              <a:tr h="502920">
                <a:tc>
                  <a:txBody>
                    <a:bodyPr/>
                    <a:lstStyle/>
                    <a:p>
                      <a:pPr>
                        <a:defRPr sz="1200">
                          <a:solidFill>
                            <a:srgbClr val="1A1A2E"/>
                          </a:solidFill>
                          <a:latin typeface="Yu Gothic"/>
                        </a:defRPr>
                      </a:pPr>
                      <a:r>
                        <a:t>段階</a:t>
                      </a:r>
                    </a:p>
                  </a:txBody>
                  <a:tcPr>
                    <a:solidFill>
                      <a:srgbClr val="FFFFFF"/>
                    </a:solidFill>
                  </a:tcPr>
                </a:tc>
                <a:tc>
                  <a:txBody>
                    <a:bodyPr/>
                    <a:lstStyle/>
                    <a:p>
                      <a:pPr>
                        <a:defRPr sz="1200">
                          <a:solidFill>
                            <a:srgbClr val="1A1A2E"/>
                          </a:solidFill>
                          <a:latin typeface="Yu Gothic"/>
                        </a:defRPr>
                      </a:pPr>
                      <a:r>
                        <a:t>PSGがパルマに正式オファーを提示</a:t>
                      </a:r>
                    </a:p>
                  </a:txBody>
                  <a:tcPr>
                    <a:solidFill>
                      <a:srgbClr val="FFFFFF"/>
                    </a:solidFill>
                  </a:tcPr>
                </a:tc>
                <a:tc>
                  <a:txBody>
                    <a:bodyPr/>
                    <a:lstStyle/>
                    <a:p>
                      <a:pPr>
                        <a:defRPr sz="1200">
                          <a:solidFill>
                            <a:srgbClr val="1A1A2E"/>
                          </a:solidFill>
                          <a:latin typeface="Yu Gothic"/>
                        </a:defRPr>
                      </a:pPr>
                      <a:r>
                        <a:t>パルマ・PSG間でクラブ間合意に到達(報道)</a:t>
                      </a:r>
                    </a:p>
                  </a:txBody>
                  <a:tcPr>
                    <a:solidFill>
                      <a:srgbClr val="FFFFFF"/>
                    </a:solidFill>
                  </a:tcPr>
                </a:tc>
              </a:tr>
              <a:tr h="502920">
                <a:tc>
                  <a:txBody>
                    <a:bodyPr/>
                    <a:lstStyle/>
                    <a:p>
                      <a:pPr>
                        <a:defRPr sz="1200">
                          <a:solidFill>
                            <a:srgbClr val="1A1A2E"/>
                          </a:solidFill>
                          <a:latin typeface="Yu Gothic"/>
                        </a:defRPr>
                      </a:pPr>
                      <a:r>
                        <a:t>移籍金(報道)</a:t>
                      </a:r>
                    </a:p>
                  </a:txBody>
                  <a:tcPr>
                    <a:solidFill>
                      <a:srgbClr val="F3F6FC"/>
                    </a:solidFill>
                  </a:tcPr>
                </a:tc>
                <a:tc>
                  <a:txBody>
                    <a:bodyPr/>
                    <a:lstStyle/>
                    <a:p>
                      <a:pPr>
                        <a:defRPr sz="1200">
                          <a:solidFill>
                            <a:srgbClr val="1A1A2E"/>
                          </a:solidFill>
                          <a:latin typeface="Yu Gothic"/>
                        </a:defRPr>
                      </a:pPr>
                      <a:r>
                        <a:t>ボーナス込み約3,300万ユーロ(約60億円)</a:t>
                      </a:r>
                    </a:p>
                  </a:txBody>
                  <a:tcPr>
                    <a:solidFill>
                      <a:srgbClr val="F3F6FC"/>
                    </a:solidFill>
                  </a:tcPr>
                </a:tc>
                <a:tc>
                  <a:txBody>
                    <a:bodyPr/>
                    <a:lstStyle/>
                    <a:p>
                      <a:pPr>
                        <a:defRPr sz="1200">
                          <a:solidFill>
                            <a:srgbClr val="1A1A2E"/>
                          </a:solidFill>
                          <a:latin typeface="Yu Gothic"/>
                        </a:defRPr>
                      </a:pPr>
                      <a:r>
                        <a:t>ボーナス込み約3,500万ユーロ(約63〜64億円)</a:t>
                      </a:r>
                    </a:p>
                  </a:txBody>
                  <a:tcPr>
                    <a:solidFill>
                      <a:srgbClr val="F3F6FC"/>
                    </a:solidFill>
                  </a:tcPr>
                </a:tc>
              </a:tr>
              <a:tr h="502920">
                <a:tc>
                  <a:txBody>
                    <a:bodyPr/>
                    <a:lstStyle/>
                    <a:p>
                      <a:pPr>
                        <a:defRPr sz="1200">
                          <a:solidFill>
                            <a:srgbClr val="1A1A2E"/>
                          </a:solidFill>
                          <a:latin typeface="Yu Gothic"/>
                        </a:defRPr>
                      </a:pPr>
                      <a:r>
                        <a:t>競合クラブとの関係</a:t>
                      </a:r>
                    </a:p>
                  </a:txBody>
                  <a:tcPr>
                    <a:solidFill>
                      <a:srgbClr val="FFFFFF"/>
                    </a:solidFill>
                  </a:tcPr>
                </a:tc>
                <a:tc>
                  <a:txBody>
                    <a:bodyPr/>
                    <a:lstStyle/>
                    <a:p>
                      <a:pPr>
                        <a:defRPr sz="1200">
                          <a:solidFill>
                            <a:srgbClr val="1A1A2E"/>
                          </a:solidFill>
                          <a:latin typeface="Yu Gothic"/>
                        </a:defRPr>
                      </a:pPr>
                      <a:r>
                        <a:t>ユベントスとの争奪戦でPSGがリード</a:t>
                      </a:r>
                    </a:p>
                  </a:txBody>
                  <a:tcPr>
                    <a:solidFill>
                      <a:srgbClr val="FFFFFF"/>
                    </a:solidFill>
                  </a:tcPr>
                </a:tc>
                <a:tc>
                  <a:txBody>
                    <a:bodyPr/>
                    <a:lstStyle/>
                    <a:p>
                      <a:pPr>
                        <a:defRPr sz="1200">
                          <a:solidFill>
                            <a:srgbClr val="1A1A2E"/>
                          </a:solidFill>
                          <a:latin typeface="Yu Gothic"/>
                        </a:defRPr>
                      </a:pPr>
                      <a:r>
                        <a:t>PSGからユベントスへの期限付き移籍構想も合意</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footballchannel.jp/Yahoo!ニュース(theWORLD配信)</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【重要】まだ正式発表ではない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本テーマで扱う内容は「クラブ間合意」段階であり、正式な移籍決定・移籍発表ではない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医療検査等の手続きが完了した公式発表は、本調査時点(2026年8月13日)では確認できていない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「移籍決定」「移籍発表」という断定的な表現は本デッキでは使用しない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 vs 確定していないこと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報道で確認できていること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パルマ・PSG間のクラブ間合意到達(報道)</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移籍金は約63〜64億円(報道)</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ユベントスへの期限付き移籍構想の合意(報道)</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まだ確認できていないこと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両クラブの公式発表・本人コメント</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契約期間・年俸等の詳細</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ユベントス移籍の具体的な開始時期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初心者向け基礎知識:「期限付き移籍(レンタル)」とは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選手が一時的に別クラブでプレーし、期限が来るとレンタル元のクラブに戻る移籍形態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「買取オプションなし」の場合、レンタル先クラブは期限終了後に自動的に選手を獲得する権利を持たない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本件では、PSG加入後にユベントスへ期限付き移籍する構想が合意済みとされる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経緯タイムライン(85本目からの流れ)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2026年8月3日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PSGがパルマに正式オファー提示(約60億円、85本目)</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2026年8月11〜12日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パルマ・PSG間で「クラブ間合意」に到達と報道(移籍金約63〜64億円)</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今後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医療検査・契約締結等を経て正式発表される見込み(時期不明)</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これで何が変わるか(視聴者にとっての意味)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「オファー提示」段階から「クラブ間合意」段階へ進展したことで、実現の可能性がより具体的になったと言える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移籍金の更新額(約63〜64億円)は、今後の正式発表時の答え合わせの基準になる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ユベントスでのプレーが実現すれば、セリエAでの鈴木選手の活躍にも注目材料が増える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今後の注目ポイント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公式発表の有無</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パルマ・PSG両クラブからの正式発表があるか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本人コメント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鈴木選手本人からのコメントが出るか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ユベントス移籍の時期</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期限付き移籍がいつ開始されるか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不明点一覧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両クラブの公式発表</a:t>
                      </a:r>
                    </a:p>
                  </a:txBody>
                  <a:tcPr>
                    <a:solidFill>
                      <a:srgbClr val="FFFFFF"/>
                    </a:solidFill>
                  </a:tcPr>
                </a:tc>
                <a:tc>
                  <a:txBody>
                    <a:bodyPr/>
                    <a:lstStyle/>
                    <a:p>
                      <a:pPr>
                        <a:defRPr sz="1200">
                          <a:solidFill>
                            <a:srgbClr val="1A1A2E"/>
                          </a:solidFill>
                          <a:latin typeface="Yu Gothic"/>
                        </a:defRPr>
                      </a:pPr>
                      <a:r>
                        <a:t>不明(本調査時点で未確認)</a:t>
                      </a:r>
                    </a:p>
                  </a:txBody>
                  <a:tcPr>
                    <a:solidFill>
                      <a:srgbClr val="FFFFFF"/>
                    </a:solidFill>
                  </a:tcPr>
                </a:tc>
              </a:tr>
              <a:tr h="502920">
                <a:tc>
                  <a:txBody>
                    <a:bodyPr/>
                    <a:lstStyle/>
                    <a:p>
                      <a:pPr>
                        <a:defRPr sz="1200">
                          <a:solidFill>
                            <a:srgbClr val="1A1A2E"/>
                          </a:solidFill>
                          <a:latin typeface="Yu Gothic"/>
                        </a:defRPr>
                      </a:pPr>
                      <a:r>
                        <a:t>鈴木選手本人のコメント</a:t>
                      </a:r>
                    </a:p>
                  </a:txBody>
                  <a:tcPr>
                    <a:solidFill>
                      <a:srgbClr val="F3F6FC"/>
                    </a:solidFill>
                  </a:tcPr>
                </a:tc>
                <a:tc>
                  <a:txBody>
                    <a:bodyPr/>
                    <a:lstStyle/>
                    <a:p>
                      <a:pPr>
                        <a:defRPr sz="1200">
                          <a:solidFill>
                            <a:srgbClr val="1A1A2E"/>
                          </a:solidFill>
                          <a:latin typeface="Yu Gothic"/>
                        </a:defRPr>
                      </a:pPr>
                      <a:r>
                        <a:t>不明(本調査時点で未確認)</a:t>
                      </a:r>
                    </a:p>
                  </a:txBody>
                  <a:tcPr>
                    <a:solidFill>
                      <a:srgbClr val="F3F6FC"/>
                    </a:solidFill>
                  </a:tcPr>
                </a:tc>
              </a:tr>
              <a:tr h="502920">
                <a:tc>
                  <a:txBody>
                    <a:bodyPr/>
                    <a:lstStyle/>
                    <a:p>
                      <a:pPr>
                        <a:defRPr sz="1200">
                          <a:solidFill>
                            <a:srgbClr val="1A1A2E"/>
                          </a:solidFill>
                          <a:latin typeface="Yu Gothic"/>
                        </a:defRPr>
                      </a:pPr>
                      <a:r>
                        <a:t>契約期間・年俸等の詳細条件</a:t>
                      </a:r>
                    </a:p>
                  </a:txBody>
                  <a:tcPr>
                    <a:solidFill>
                      <a:srgbClr val="FFFFFF"/>
                    </a:solidFill>
                  </a:tcPr>
                </a:tc>
                <a:tc>
                  <a:txBody>
                    <a:bodyPr/>
                    <a:lstStyle/>
                    <a:p>
                      <a:pPr>
                        <a:defRPr sz="1200">
                          <a:solidFill>
                            <a:srgbClr val="1A1A2E"/>
                          </a:solidFill>
                          <a:latin typeface="Yu Gothic"/>
                        </a:defRPr>
                      </a:pPr>
                      <a:r>
                        <a:t>不明(出典に記載なし)</a:t>
                      </a:r>
                    </a:p>
                  </a:txBody>
                  <a:tcPr>
                    <a:solidFill>
                      <a:srgbClr val="FFFFFF"/>
                    </a:solidFill>
                  </a:tcPr>
                </a:tc>
              </a:tr>
              <a:tr h="502920">
                <a:tc>
                  <a:txBody>
                    <a:bodyPr/>
                    <a:lstStyle/>
                    <a:p>
                      <a:pPr>
                        <a:defRPr sz="1200">
                          <a:solidFill>
                            <a:srgbClr val="1A1A2E"/>
                          </a:solidFill>
                          <a:latin typeface="Yu Gothic"/>
                        </a:defRPr>
                      </a:pPr>
                      <a:r>
                        <a:t>ユベントスへの期限付き移籍の開始時期</a:t>
                      </a:r>
                    </a:p>
                  </a:txBody>
                  <a:tcPr>
                    <a:solidFill>
                      <a:srgbClr val="F3F6FC"/>
                    </a:solidFill>
                  </a:tcPr>
                </a:tc>
                <a:tc>
                  <a:txBody>
                    <a:bodyPr/>
                    <a:lstStyle/>
                    <a:p>
                      <a:pPr>
                        <a:defRPr sz="1200">
                          <a:solidFill>
                            <a:srgbClr val="1A1A2E"/>
                          </a:solidFill>
                          <a:latin typeface="Yu Gothic"/>
                        </a:defRPr>
                      </a:pPr>
                      <a:r>
                        <a:t>不明(出典に記載なし)</a:t>
                      </a:r>
                    </a:p>
                  </a:txBody>
                  <a:tcPr>
                    <a:solidFill>
                      <a:srgbClr val="F3F6FC"/>
                    </a:solidFill>
                  </a:tcPr>
                </a:tc>
              </a:tr>
              <a:tr h="502920">
                <a:tc>
                  <a:txBody>
                    <a:bodyPr/>
                    <a:lstStyle/>
                    <a:p>
                      <a:pPr>
                        <a:defRPr sz="1200">
                          <a:solidFill>
                            <a:srgbClr val="1A1A2E"/>
                          </a:solidFill>
                          <a:latin typeface="Yu Gothic"/>
                        </a:defRPr>
                      </a:pPr>
                      <a:r>
                        <a:t>医療検査の実施状況</a:t>
                      </a:r>
                    </a:p>
                  </a:txBody>
                  <a:tcPr>
                    <a:solidFill>
                      <a:srgbClr val="FFFFFF"/>
                    </a:solidFill>
                  </a:tcPr>
                </a:tc>
                <a:tc>
                  <a:txBody>
                    <a:bodyPr/>
                    <a:lstStyle/>
                    <a:p>
                      <a:pPr>
                        <a:defRPr sz="1200">
                          <a:solidFill>
                            <a:srgbClr val="1A1A2E"/>
                          </a:solidFill>
                          <a:latin typeface="Yu Gothic"/>
                        </a:defRPr>
                      </a:pPr>
                      <a:r>
                        <a:t>不明(出典に記載なし)</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footballchannel.jp/Yahoo!ニュース(theWORLD配信)/Football Tribe Japan</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中立性・配慮についての開示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本テーマは移籍報道を扱うが、特定クラブ(PSG・パルマ・ユベントス)を過度に推奨する表現はしない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鈴木選手個人への敬意を保ち、憶測に基づく評価・批判はしない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政治的な要素を含まない、サッカー移籍市場のニュースとして淡々と紹介する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断定表現を避ける方針についての開示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「クラブ間合意」を「移籍決定」「移籍成立」と言い換える表現は使用していない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移籍金・構想はすべて「〜とされる」「〜と報じられている」という報道ベースの表現で統一</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出典に明記のない数字(独自の推計・断定額)は一切使用していない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footballchannel.jp</a:t>
                      </a:r>
                    </a:p>
                  </a:txBody>
                  <a:tcPr>
                    <a:solidFill>
                      <a:srgbClr val="FFFFFF"/>
                    </a:solidFill>
                  </a:tcPr>
                </a:tc>
                <a:tc>
                  <a:txBody>
                    <a:bodyPr/>
                    <a:lstStyle/>
                    <a:p>
                      <a:pPr>
                        <a:defRPr sz="1200">
                          <a:solidFill>
                            <a:srgbClr val="1A1A2E"/>
                          </a:solidFill>
                          <a:latin typeface="Yu Gothic"/>
                        </a:defRPr>
                      </a:pPr>
                      <a:r>
                        <a:t>「日本代表GK鈴木彩艶、PSG移籍へ“クラブ間合意”と現地報道 移籍金は約63億円、ユベントスへの期限付き移籍も合意」</a:t>
                      </a:r>
                    </a:p>
                  </a:txBody>
                  <a:tcPr>
                    <a:solidFill>
                      <a:srgbClr val="FFFFFF"/>
                    </a:solidFill>
                  </a:tcPr>
                </a:tc>
              </a:tr>
              <a:tr h="502920">
                <a:tc>
                  <a:txBody>
                    <a:bodyPr/>
                    <a:lstStyle/>
                    <a:p>
                      <a:pPr>
                        <a:defRPr sz="1200">
                          <a:solidFill>
                            <a:srgbClr val="1A1A2E"/>
                          </a:solidFill>
                          <a:latin typeface="Yu Gothic"/>
                        </a:defRPr>
                      </a:pPr>
                      <a:r>
                        <a:t>Yahoo!ニュース(theWORLD配信)</a:t>
                      </a:r>
                    </a:p>
                  </a:txBody>
                  <a:tcPr>
                    <a:solidFill>
                      <a:srgbClr val="F3F6FC"/>
                    </a:solidFill>
                  </a:tcPr>
                </a:tc>
                <a:tc>
                  <a:txBody>
                    <a:bodyPr/>
                    <a:lstStyle/>
                    <a:p>
                      <a:pPr>
                        <a:defRPr sz="1200">
                          <a:solidFill>
                            <a:srgbClr val="1A1A2E"/>
                          </a:solidFill>
                          <a:latin typeface="Yu Gothic"/>
                        </a:defRPr>
                      </a:pPr>
                      <a:r>
                        <a:t>「鈴木彩艶が欧州王者PSG移籍へ! 移籍金64億円でパルマとクラブ間合意とロマーノ氏」</a:t>
                      </a:r>
                    </a:p>
                  </a:txBody>
                  <a:tcPr>
                    <a:solidFill>
                      <a:srgbClr val="F3F6FC"/>
                    </a:solidFill>
                  </a:tcPr>
                </a:tc>
              </a:tr>
              <a:tr h="502920">
                <a:tc>
                  <a:txBody>
                    <a:bodyPr/>
                    <a:lstStyle/>
                    <a:p>
                      <a:pPr>
                        <a:defRPr sz="1200">
                          <a:solidFill>
                            <a:srgbClr val="1A1A2E"/>
                          </a:solidFill>
                          <a:latin typeface="Yu Gothic"/>
                        </a:defRPr>
                      </a:pPr>
                      <a:r>
                        <a:t>Football Tribe Japan</a:t>
                      </a:r>
                    </a:p>
                  </a:txBody>
                  <a:tcPr>
                    <a:solidFill>
                      <a:srgbClr val="FFFFFF"/>
                    </a:solidFill>
                  </a:tcPr>
                </a:tc>
                <a:tc>
                  <a:txBody>
                    <a:bodyPr/>
                    <a:lstStyle/>
                    <a:p>
                      <a:pPr>
                        <a:defRPr sz="1200">
                          <a:solidFill>
                            <a:srgbClr val="1A1A2E"/>
                          </a:solidFill>
                          <a:latin typeface="Yu Gothic"/>
                        </a:defRPr>
                      </a:pPr>
                      <a:r>
                        <a:t>2026年8月12日付、同内容の報道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パルマ・PSG間のクラブ間合意到達の報道、移籍金約63〜64億円、ユベントス期限付き移籍構想の報道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85本目(8月3日)からの進展(オファー提示→クラブ間合意)</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 両クラブの公式発表、本人コメント、契約詳細、期限付き移籍の開始時期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両クラブの公式発表、そしてユベントスへの期限付き移籍構想の行方にも注目していきます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鈴木彩艶選手のPSG移籍は、パルマ・PSG間で「クラブ間合意」に到達したと報道された(2026年8月11〜12日)</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移籍金はボーナス込み約3,500万ユーロ(約63〜64億円)とされ、決定後はユベントスへの期限付き移籍構想も合意済み</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正式な移籍発表・本人コメントはまだ確認できておらず、本テーマは「クラブ間合意」段階の続報として扱った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footballchannel.jp/Yahoo!ニュース(theWORLD配信)/Football Tribe Japan｜190本目(85本目の続報)</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