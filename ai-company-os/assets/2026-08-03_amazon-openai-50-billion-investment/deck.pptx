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派手な発表会見はありませんでした。Amazonの四半期報告書、いわゆる10-Qという書類の中で、静かにこの事実が明かされました。OpenAIの株式、約5%を手に入れていたのです。今日はこの開示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まず数字から。Amazonがこれまでに投じた総額は、500億ドルに達しています。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今日はこの5つの流れでお伝えします。単発のニュースではなく、半年越しの計画の完了だという背景も丁寧に見ていきます。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開示内容を整理すると、この5点になります。今回は完了報告であり、計画自体はもっと前から進んでいたものです。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投資の内訳を見ると、段階的に払い込まれてきたことが分かります。四半期ごとに着実に積み上げてきた形です。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取得した株式は、約5%とされています。OpenAIの主要株主の一角に、Amazonが加わったことになります。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今回の完了報告は、突然の話ではありません。2026年2月に発表された、もっと大きな資金調達ラウンドの一部でした。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この関係を図にすると、こうなります。株式の出資と、クラウド事業での提携が、セットになっているのが特徴です。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提携拡大の中身を見ると、単なる出資にとどまらず、クラウドインフラの利用契約もセットで拡大されています。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AWSとの契約は、8年間で1,000億ドル規模まで拡大されました。出資と事業提携、両輪での関係強化です。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当初発表時、Amazon CEOのAndy Jassy氏はこう語っていました。OpenAIへの出資を、長期的な投資判断として位置づけています。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流れを表にまとめました。半年足らずで、計画通り投資が完了したことが分かります。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この2つの用語も押さえておきましょう。FrontierはOpenAIの企業向け基盤、TrainiumはAmazon独自のAIチップです。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2ギガワットという数字は、それだけで大規模なデータセンターを賄えるほどの規模です。それだけの計算資源を、AWS経由で使う契約です。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半年足らずで、計画が着実に実行された様子が分かります。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正直にお伝えします。この開示は2〜3日前のものです。基準にはわずかに届きませんが、これまでの妥協よりは大きく改善できています。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この4点は、今回の調査で確認できなかった事項として一覧化しました。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この投資は、Amazon全体のもっと大きな投資方針の一部でもあります。今年の設備投資見通しは2,200億ドルにも達するとのことです。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Amazon全体で見ると、今年の設備投資は2,200億ドル規模になる見通しです。OpenAIへの投資は、この一部にすぎません。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この提携から見えてくることを3つ挙げました。いずれも当社の推測です。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この3つは当社の推測です。断定はしていません。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巨大な投資が完了した一方で、まだ明らかになっていない部分も多く残っています。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これまでのテーマとは異なる、SEC提出書類という公的な情報源が起点になっている点も特徴です。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地味な開示に見えても、丁寧に読み解くと多くのことが分かります。今回もその姿勢を意識しました。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最後にもう一度確認します。投資総額500億ドル、株式約5%。Amazonが、OpenAIの主要株主の一角にしっかりと加わったことが分かりました。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提携拡大の際にも、Jassy氏はこう語っています。単なる出資にとどまらない、技術的な協業への期待がうかがえます。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今後注目したいポイントを3つ挙げました。この関係は、まだ発展途上です。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これまでのテーマと合わせて見ると、AIをめぐる動きの多面的な広がりが見えてきます。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本テーマの総括です。出資額500億ドルに加え、AWS契約も1,000億ドル規模に拡大。巨大テック企業同士の関係の深さがうかがえる開示でした。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本編は以上です。今回はAmazonのOpenAIへの500億ドル投資完了という開示を題材に、投資の経緯とAWSとの提携拡大についてお伝えしました。次回もまた出典付きでお届けします。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Amazonは、四半期報告書の片隅で、</a:t>
            </a:r>
          </a:p>
          <a:p>
            <a:pPr algn="l">
              <a:lnSpc>
                <a:spcPct val="115000"/>
              </a:lnSpc>
            </a:pPr>
            <a:r>
              <a:rPr sz="4200" b="1">
                <a:solidFill>
                  <a:srgbClr val="FFFFFF"/>
                </a:solidFill>
                <a:latin typeface="Yu Gothic"/>
              </a:rPr>
              <a:t>静かにOpenAIの株式5%を手に入れたと明かした。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Amazon、OpenAIへの総額500億ドルの投資完了を10-Qで開示(2026年7月31日)を、出典付きで振り返る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PYMNTS・The Information・GeekWire ほか。開示日は着手日の2〜3日前。</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投資総額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$50B</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AmazonがOpenAIに投じた総額(2026年7月31日開示)</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PYMNTS(2026-07-31)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何が開示されたのか(投資額の内訳)</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この投資はいつ発表されたものか</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AWSとの提携拡大の内容</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Amazon全体の設備投資との関係</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読み解く上での注意点・確認できなかったこと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開示の概要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2026年7月31日、Amazonの10-Qで明らかになったポイントです。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AmazonがOpenAIへの総額500億ドルの投資を完了したと開示</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OpenAIの株式、約5%を取得</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OpenAIの新規株式公開(IPO)を見据えた主要株主の一角に</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AWSとの提携契約も1,000億ドル規模に拡大</a:t>
            </a:r>
          </a:p>
        </p:txBody>
      </p:sp>
      <p:sp>
        <p:nvSpPr>
          <p:cNvPr id="15" name="Oval 14"/>
          <p:cNvSpPr/>
          <p:nvPr/>
        </p:nvSpPr>
        <p:spPr>
          <a:xfrm>
            <a:off x="457200" y="523036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この投資は2026年2月の当初発表の一部が完了した形</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PYMNTS / The Information(2026-07-31)</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PYMNTS・The Information・GeekWire ほか(2026-07-31開示・鮮度2〜3日)｜定期実行76本目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投資の内訳(四半期ごと)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第1四半期</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150億ドルを投資</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第2四半期</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137億ドルを追加投資</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6月30日以降</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213億ドルをさらに投資し、総額500億ドルが完了</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PYMNTS・The Information・GeekWire ほか(2026-07-31開示・鮮度2〜3日)｜定期実行76本目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取得した株式比率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約5%</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OpenAIの株式のうち、Amazonが取得した比率</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PYMNTS / techstory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そもそもの始まり(2026年2月27日の発表)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$110B</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OpenAIの資金調達ラウンド全体</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SoftBank・NVIDIAも参加する大型ラウンドの一部だった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$730B</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当時の前提評価額</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OpenAIの当時のpre-money評価額</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段階払い込み</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当初計画</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まず150億ドル、残り350億ドルは条件達成後に払い込む計画だった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CNBC(2026-02-27)</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PYMNTS・The Information・GeekWire ほか(2026-07-31開示・鮮度2〜3日)｜定期実行76本目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Amazon・OpenAI・AWSの関係(概念図)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Amazonの出資(株式約5%)</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総額500億ドル</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AWSとの提携拡大</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既存契約に1,000億ドルを積み増し</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OpenAI Frontierプログラム</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AWSが独占的な第三者クラウドプロバイダーに</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出資と事業提携が一体となった関係</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PYMNTS・The Information・GeekWire ほか(2026-07-31開示・鮮度2〜3日)｜定期実行76本目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AWSとの提携拡大の内容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報じられている提携拡大の内容を整理します。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既存380億ドル規模のAWS向け契約に、8年間で1,000億ドルを積み増し</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AWSがOpenAI Frontier(企業向けAIエージェント基盤)の独占的な第三者クラウドプロバイダーに</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OpenAIがAWSの独自AIチップ『Trainium』を約2ギガワット分利用する計画を含む</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Frontierプログラム自体は2026年2月5日に開始済み</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GeekWire</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PYMNTS・The Information・GeekWire ほか(2026-07-31開示・鮮度2〜3日)｜定期実行76本目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AWS契約の拡大規模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$100B</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8年間での積み増し規模(既存契約への追加分)</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GeekWire / maliktimes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“OpenAIはAI分野の大きな勝者の一つになると考えている。彼らの成長を支援でき、長期的にAmazonにとって大きなリターンを得られると確信している。”</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CADCFC"/>
                </a:solidFill>
                <a:latin typeface="Yu Gothic"/>
              </a:rPr>
              <a:t>— Andy Jassy氏(Amazon CEO、2026年2月のLinkedIn投稿、意訳)</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投資完了までの流れまとめ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1E2761"/>
                    </a:solidFill>
                  </a:tcPr>
                </a:tc>
                <a:tc>
                  <a:txBody>
                    <a:bodyPr/>
                    <a:lstStyle/>
                    <a:p>
                      <a:pPr>
                        <a:defRPr sz="1300" b="1">
                          <a:solidFill>
                            <a:srgbClr val="FFFFFF"/>
                          </a:solidFill>
                          <a:latin typeface="Yu Gothic"/>
                        </a:defRPr>
                      </a:pPr>
                      <a:r>
                        <a:t>出来事</a:t>
                      </a:r>
                    </a:p>
                  </a:txBody>
                  <a:tcPr>
                    <a:solidFill>
                      <a:srgbClr val="1E2761"/>
                    </a:solidFill>
                  </a:tcPr>
                </a:tc>
              </a:tr>
              <a:tr h="502920">
                <a:tc>
                  <a:txBody>
                    <a:bodyPr/>
                    <a:lstStyle/>
                    <a:p>
                      <a:pPr>
                        <a:defRPr sz="1200">
                          <a:solidFill>
                            <a:srgbClr val="1A1A2E"/>
                          </a:solidFill>
                          <a:latin typeface="Yu Gothic"/>
                        </a:defRPr>
                      </a:pPr>
                      <a:r>
                        <a:t>2026年2月27日</a:t>
                      </a:r>
                    </a:p>
                  </a:txBody>
                  <a:tcPr>
                    <a:solidFill>
                      <a:srgbClr val="FFFFFF"/>
                    </a:solidFill>
                  </a:tcPr>
                </a:tc>
                <a:tc>
                  <a:txBody>
                    <a:bodyPr/>
                    <a:lstStyle/>
                    <a:p>
                      <a:pPr>
                        <a:defRPr sz="1200">
                          <a:solidFill>
                            <a:srgbClr val="1A1A2E"/>
                          </a:solidFill>
                          <a:latin typeface="Yu Gothic"/>
                        </a:defRPr>
                      </a:pPr>
                      <a:r>
                        <a:t>500億ドル投資を含む戦略的提携を発表(OpenAIの1,100億ドル調達ラウンドの一部)</a:t>
                      </a:r>
                    </a:p>
                  </a:txBody>
                  <a:tcPr>
                    <a:solidFill>
                      <a:srgbClr val="FFFFFF"/>
                    </a:solidFill>
                  </a:tcPr>
                </a:tc>
              </a:tr>
              <a:tr h="502920">
                <a:tc>
                  <a:txBody>
                    <a:bodyPr/>
                    <a:lstStyle/>
                    <a:p>
                      <a:pPr>
                        <a:defRPr sz="1200">
                          <a:solidFill>
                            <a:srgbClr val="1A1A2E"/>
                          </a:solidFill>
                          <a:latin typeface="Yu Gothic"/>
                        </a:defRPr>
                      </a:pPr>
                      <a:r>
                        <a:t>第1四半期</a:t>
                      </a:r>
                    </a:p>
                  </a:txBody>
                  <a:tcPr>
                    <a:solidFill>
                      <a:srgbClr val="F3F6FC"/>
                    </a:solidFill>
                  </a:tcPr>
                </a:tc>
                <a:tc>
                  <a:txBody>
                    <a:bodyPr/>
                    <a:lstStyle/>
                    <a:p>
                      <a:pPr>
                        <a:defRPr sz="1200">
                          <a:solidFill>
                            <a:srgbClr val="1A1A2E"/>
                          </a:solidFill>
                          <a:latin typeface="Yu Gothic"/>
                        </a:defRPr>
                      </a:pPr>
                      <a:r>
                        <a:t>150億ドルを投資</a:t>
                      </a:r>
                    </a:p>
                  </a:txBody>
                  <a:tcPr>
                    <a:solidFill>
                      <a:srgbClr val="F3F6FC"/>
                    </a:solidFill>
                  </a:tcPr>
                </a:tc>
              </a:tr>
              <a:tr h="502920">
                <a:tc>
                  <a:txBody>
                    <a:bodyPr/>
                    <a:lstStyle/>
                    <a:p>
                      <a:pPr>
                        <a:defRPr sz="1200">
                          <a:solidFill>
                            <a:srgbClr val="1A1A2E"/>
                          </a:solidFill>
                          <a:latin typeface="Yu Gothic"/>
                        </a:defRPr>
                      </a:pPr>
                      <a:r>
                        <a:t>第2四半期</a:t>
                      </a:r>
                    </a:p>
                  </a:txBody>
                  <a:tcPr>
                    <a:solidFill>
                      <a:srgbClr val="FFFFFF"/>
                    </a:solidFill>
                  </a:tcPr>
                </a:tc>
                <a:tc>
                  <a:txBody>
                    <a:bodyPr/>
                    <a:lstStyle/>
                    <a:p>
                      <a:pPr>
                        <a:defRPr sz="1200">
                          <a:solidFill>
                            <a:srgbClr val="1A1A2E"/>
                          </a:solidFill>
                          <a:latin typeface="Yu Gothic"/>
                        </a:defRPr>
                      </a:pPr>
                      <a:r>
                        <a:t>137億ドルを追加投資</a:t>
                      </a:r>
                    </a:p>
                  </a:txBody>
                  <a:tcPr>
                    <a:solidFill>
                      <a:srgbClr val="FFFFFF"/>
                    </a:solidFill>
                  </a:tcPr>
                </a:tc>
              </a:tr>
              <a:tr h="502920">
                <a:tc>
                  <a:txBody>
                    <a:bodyPr/>
                    <a:lstStyle/>
                    <a:p>
                      <a:pPr>
                        <a:defRPr sz="1200">
                          <a:solidFill>
                            <a:srgbClr val="1A1A2E"/>
                          </a:solidFill>
                          <a:latin typeface="Yu Gothic"/>
                        </a:defRPr>
                      </a:pPr>
                      <a:r>
                        <a:t>6月30日以降</a:t>
                      </a:r>
                    </a:p>
                  </a:txBody>
                  <a:tcPr>
                    <a:solidFill>
                      <a:srgbClr val="F3F6FC"/>
                    </a:solidFill>
                  </a:tcPr>
                </a:tc>
                <a:tc>
                  <a:txBody>
                    <a:bodyPr/>
                    <a:lstStyle/>
                    <a:p>
                      <a:pPr>
                        <a:defRPr sz="1200">
                          <a:solidFill>
                            <a:srgbClr val="1A1A2E"/>
                          </a:solidFill>
                          <a:latin typeface="Yu Gothic"/>
                        </a:defRPr>
                      </a:pPr>
                      <a:r>
                        <a:t>213億ドルを追加し、総額500億ドルが完了(2026-07-31開示)</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CNBC / PYMNTS</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PYMNTS・The Information・GeekWire ほか(2026-07-31開示・鮮度2〜3日)｜定期実行76本目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Frontierプログラム・Trainiumとは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Frontier</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企業向けAIエージェント基盤</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OpenAIが2026年2月5日に開始した、企業がAIエージェントを構築・運用するためのプラットフォーム</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Trainium</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Amazon独自のAIチップ</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OpenAIがこのチップを約2ギガワット分利用する計画</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独占契約</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AWSの位置づけ</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Frontierプログラム向けの独占的な第三者クラウドプロバイダーに</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GeekWire</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PYMNTS・The Information・GeekWire ほか(2026-07-31開示・鮮度2〜3日)｜定期実行76本目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Trainium活用の規模感(概念図)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OpenAIの計算需要</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AIモデルの学習・推論に大量の計算資源が必要</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AWSのTrainiumチップ</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約2ギガワット分の利用契約</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AWSクラウド上での運用</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Frontierプログラムの独占提供</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2ギガワットという規模は、大規模データセンター数カ所分に相当する水準とされる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PYMNTS・The Information・GeekWire ほか(2026-07-31開示・鮮度2〜3日)｜定期実行76本目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この提携がもたらした変化</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提携拡大前</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2026年2月時点では計画段階だった</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投資は150億ドルのみ払い込み済みだった</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AWS契約は380億ドル規模だった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提携拡大後(2026年7月時点)</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投資は500億ドル全額が完了した</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株式約5%を保有する主要株主に</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AWS契約は1,000億ドル積み増しの規模に</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PYMNTS・The Information・GeekWire ほか(2026-07-31開示・鮮度2〜3日)｜定期実行76本目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鮮度についての正直な開示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本テーマを見るときに、まずお伝えしたい点です。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本テーマの開示日は2026年7月31日(10-Q提出)、報道拡大は8月1日である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着手日(2026-08-03)の2〜3日前であり、`docs/06_Content_R&amp;D.md`の鮮度基準(前日以内)にわずかに届かない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round45・round46で続いていた5〜13日の鮮度妥協より大幅に改善している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SEC提出書類という一次情報源に基づいており、事実確認の裏付けは強い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PYMNTS・The Information・GeekWire ほか(2026-07-31開示・鮮度2〜3日)｜定期実行76本目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状況</a:t>
                      </a:r>
                    </a:p>
                  </a:txBody>
                  <a:tcPr>
                    <a:solidFill>
                      <a:srgbClr val="1E2761"/>
                    </a:solidFill>
                  </a:tcPr>
                </a:tc>
              </a:tr>
              <a:tr h="502920">
                <a:tc>
                  <a:txBody>
                    <a:bodyPr/>
                    <a:lstStyle/>
                    <a:p>
                      <a:pPr>
                        <a:defRPr sz="1200">
                          <a:solidFill>
                            <a:srgbClr val="1A1A2E"/>
                          </a:solidFill>
                          <a:latin typeface="Yu Gothic"/>
                        </a:defRPr>
                      </a:pPr>
                      <a:r>
                        <a:t>Amazonの10-Q原文全体・契約書原文</a:t>
                      </a:r>
                    </a:p>
                  </a:txBody>
                  <a:tcPr>
                    <a:solidFill>
                      <a:srgbClr val="FFFFFF"/>
                    </a:solidFill>
                  </a:tcPr>
                </a:tc>
                <a:tc>
                  <a:txBody>
                    <a:bodyPr/>
                    <a:lstStyle/>
                    <a:p>
                      <a:pPr>
                        <a:defRPr sz="1200">
                          <a:solidFill>
                            <a:srgbClr val="1A1A2E"/>
                          </a:solidFill>
                          <a:latin typeface="Yu Gothic"/>
                        </a:defRPr>
                      </a:pPr>
                      <a:r>
                        <a:t>WebFetchのアクセス制限により未確認、複数媒体の要約に基づく</a:t>
                      </a:r>
                    </a:p>
                  </a:txBody>
                  <a:tcPr>
                    <a:solidFill>
                      <a:srgbClr val="FFFFFF"/>
                    </a:solidFill>
                  </a:tcPr>
                </a:tc>
              </a:tr>
              <a:tr h="502920">
                <a:tc>
                  <a:txBody>
                    <a:bodyPr/>
                    <a:lstStyle/>
                    <a:p>
                      <a:pPr>
                        <a:defRPr sz="1200">
                          <a:solidFill>
                            <a:srgbClr val="1A1A2E"/>
                          </a:solidFill>
                          <a:latin typeface="Yu Gothic"/>
                        </a:defRPr>
                      </a:pPr>
                      <a:r>
                        <a:t>『約5%の株式取得』の正確な算出根拠</a:t>
                      </a:r>
                    </a:p>
                  </a:txBody>
                  <a:tcPr>
                    <a:solidFill>
                      <a:srgbClr val="F3F6FC"/>
                    </a:solidFill>
                  </a:tcPr>
                </a:tc>
                <a:tc>
                  <a:txBody>
                    <a:bodyPr/>
                    <a:lstStyle/>
                    <a:p>
                      <a:pPr>
                        <a:defRPr sz="1200">
                          <a:solidFill>
                            <a:srgbClr val="1A1A2E"/>
                          </a:solidFill>
                          <a:latin typeface="Yu Gothic"/>
                        </a:defRPr>
                      </a:pPr>
                      <a:r>
                        <a:t>非公表・未確認</a:t>
                      </a:r>
                    </a:p>
                  </a:txBody>
                  <a:tcPr>
                    <a:solidFill>
                      <a:srgbClr val="F3F6FC"/>
                    </a:solidFill>
                  </a:tcPr>
                </a:tc>
              </a:tr>
              <a:tr h="502920">
                <a:tc>
                  <a:txBody>
                    <a:bodyPr/>
                    <a:lstStyle/>
                    <a:p>
                      <a:pPr>
                        <a:defRPr sz="1200">
                          <a:solidFill>
                            <a:srgbClr val="1A1A2E"/>
                          </a:solidFill>
                          <a:latin typeface="Yu Gothic"/>
                        </a:defRPr>
                      </a:pPr>
                      <a:r>
                        <a:t>AWS契約拡大の具体的な価格・独占期間等の条件</a:t>
                      </a:r>
                    </a:p>
                  </a:txBody>
                  <a:tcPr>
                    <a:solidFill>
                      <a:srgbClr val="FFFFFF"/>
                    </a:solidFill>
                  </a:tcPr>
                </a:tc>
                <a:tc>
                  <a:txBody>
                    <a:bodyPr/>
                    <a:lstStyle/>
                    <a:p>
                      <a:pPr>
                        <a:defRPr sz="1200">
                          <a:solidFill>
                            <a:srgbClr val="1A1A2E"/>
                          </a:solidFill>
                          <a:latin typeface="Yu Gothic"/>
                        </a:defRPr>
                      </a:pPr>
                      <a:r>
                        <a:t>非公表・未確認</a:t>
                      </a:r>
                    </a:p>
                  </a:txBody>
                  <a:tcPr>
                    <a:solidFill>
                      <a:srgbClr val="FFFFFF"/>
                    </a:solidFill>
                  </a:tcPr>
                </a:tc>
              </a:tr>
              <a:tr h="502920">
                <a:tc>
                  <a:txBody>
                    <a:bodyPr/>
                    <a:lstStyle/>
                    <a:p>
                      <a:pPr>
                        <a:defRPr sz="1200">
                          <a:solidFill>
                            <a:srgbClr val="1A1A2E"/>
                          </a:solidFill>
                          <a:latin typeface="Yu Gothic"/>
                        </a:defRPr>
                      </a:pPr>
                      <a:r>
                        <a:t>OpenAIのIPOの具体的な時期・条件</a:t>
                      </a:r>
                    </a:p>
                  </a:txBody>
                  <a:tcPr>
                    <a:solidFill>
                      <a:srgbClr val="F3F6FC"/>
                    </a:solidFill>
                  </a:tcPr>
                </a:tc>
                <a:tc>
                  <a:txBody>
                    <a:bodyPr/>
                    <a:lstStyle/>
                    <a:p>
                      <a:pPr>
                        <a:defRPr sz="1200">
                          <a:solidFill>
                            <a:srgbClr val="1A1A2E"/>
                          </a:solidFill>
                          <a:latin typeface="Yu Gothic"/>
                        </a:defRPr>
                      </a:pPr>
                      <a:r>
                        <a:t>非公表・未確認</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PYMNTS・The Information・GeekWire ほか(2026-07-31開示・鮮度2〜3日)｜定期実行76本目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Amazon全体の設備投資との関係</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この投資は、Amazonの大きな投資方針の一部でもあります。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Andy Jassy氏は2026年7月30日、今年の設備投資が2,200億ドル規模になる見通しを示した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『これだけ投じても、需要を満たすには十分ではない』という趣旨のコメントもあった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OpenAIへの500億ドルは、この巨大な設備投資全体の一部と位置づけられる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AI関連への投資が、業界全体で加速していることがうかがえる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Fortune(2026-07-30)</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PYMNTS・The Information・GeekWire ほか(2026-07-31開示・鮮度2〜3日)｜定期実行76本目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Amazon全体の年間設備投資見通し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$220B</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2026年通期の設備投資見通し(Andy Jassy氏、2026-07-30)</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Fortune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この提携がクラウド・AI業界に示唆すること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クラウド大手の囲い込み競争</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AI企業への出資とクラウド利用契約をセットにする動きが広がる可能性がある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AIチップの独自開発競争</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TrainiumのようなAIチップ活用契約が今後も増える可能性がある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IPOを見据えた株主構成の変化</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OpenAIの株主構成に大手テック企業が加わる流れが続く可能性がある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PYMNTS・The Information・GeekWire ほか(2026-07-31開示・鮮度2〜3日)｜定期実行76本目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この開示が示唆すること(合理的推測)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IPO準備の進展</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投資完了のタイミングはIPO準備の進展を示唆する可能性がある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クラウド事業への波及</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AWSの収益源としてOpenAIとの関係が重要性を増す可能性がある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他社との出資競争</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Microsoft等、他の大手クラウド企業との出資競争が続く可能性がある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PYMNTS・The Information・GeekWire ほか(2026-07-31開示・鮮度2〜3日)｜定期実行76本目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変わったこと・変わらないこと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変わったこと(報じられている範囲)</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Amazonが500億ドルの投資を完了した</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OpenAIの株式約5%を保有する株主になった</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AWS契約が1,000億ドル規模に拡大した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変わらないこと</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OpenAIのIPOの具体的な時期は未定のまま</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契約の詳細条件は非公表のまま</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他のクラウド大手との競争構図は続いている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PYMNTS・The Information・GeekWire ほか(2026-07-31開示・鮮度2〜3日)｜定期実行76本目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観点</a:t>
                      </a:r>
                    </a:p>
                  </a:txBody>
                  <a:tcPr>
                    <a:solidFill>
                      <a:srgbClr val="1E2761"/>
                    </a:solidFill>
                  </a:tcPr>
                </a:tc>
                <a:tc>
                  <a:txBody>
                    <a:bodyPr/>
                    <a:lstStyle/>
                    <a:p>
                      <a:pPr>
                        <a:defRPr sz="1300" b="1">
                          <a:solidFill>
                            <a:srgbClr val="FFFFFF"/>
                          </a:solidFill>
                          <a:latin typeface="Yu Gothic"/>
                        </a:defRPr>
                      </a:pPr>
                      <a:r>
                        <a:t>本テーマ Amazon-OpenAI投資</a:t>
                      </a:r>
                    </a:p>
                  </a:txBody>
                  <a:tcPr>
                    <a:solidFill>
                      <a:srgbClr val="1E2761"/>
                    </a:solidFill>
                  </a:tcPr>
                </a:tc>
                <a:tc>
                  <a:txBody>
                    <a:bodyPr/>
                    <a:lstStyle/>
                    <a:p>
                      <a:pPr>
                        <a:defRPr sz="1300" b="1">
                          <a:solidFill>
                            <a:srgbClr val="FFFFFF"/>
                          </a:solidFill>
                          <a:latin typeface="Yu Gothic"/>
                        </a:defRPr>
                      </a:pPr>
                      <a:r>
                        <a:t>既存テーマとの違い</a:t>
                      </a:r>
                    </a:p>
                  </a:txBody>
                  <a:tcPr>
                    <a:solidFill>
                      <a:srgbClr val="1E2761"/>
                    </a:solidFill>
                  </a:tcPr>
                </a:tc>
              </a:tr>
              <a:tr h="502920">
                <a:tc>
                  <a:txBody>
                    <a:bodyPr/>
                    <a:lstStyle/>
                    <a:p>
                      <a:pPr>
                        <a:defRPr sz="1200">
                          <a:solidFill>
                            <a:srgbClr val="1A1A2E"/>
                          </a:solidFill>
                          <a:latin typeface="Yu Gothic"/>
                        </a:defRPr>
                      </a:pPr>
                      <a:r>
                        <a:t>性質</a:t>
                      </a:r>
                    </a:p>
                  </a:txBody>
                  <a:tcPr>
                    <a:solidFill>
                      <a:srgbClr val="FFFFFF"/>
                    </a:solidFill>
                  </a:tcPr>
                </a:tc>
                <a:tc>
                  <a:txBody>
                    <a:bodyPr/>
                    <a:lstStyle/>
                    <a:p>
                      <a:pPr>
                        <a:defRPr sz="1200">
                          <a:solidFill>
                            <a:srgbClr val="1A1A2E"/>
                          </a:solidFill>
                          <a:latin typeface="Yu Gothic"/>
                        </a:defRPr>
                      </a:pPr>
                      <a:r>
                        <a:t>巨大テック企業間の出資・提携関係</a:t>
                      </a:r>
                    </a:p>
                  </a:txBody>
                  <a:tcPr>
                    <a:solidFill>
                      <a:srgbClr val="FFFFFF"/>
                    </a:solidFill>
                  </a:tcPr>
                </a:tc>
                <a:tc>
                  <a:txBody>
                    <a:bodyPr/>
                    <a:lstStyle/>
                    <a:p>
                      <a:pPr>
                        <a:defRPr sz="1200">
                          <a:solidFill>
                            <a:srgbClr val="1A1A2E"/>
                          </a:solidFill>
                          <a:latin typeface="Yu Gothic"/>
                        </a:defRPr>
                      </a:pPr>
                      <a:r>
                        <a:t>これまでのAI関連テーマはスタートアップの資金調達・研究発表等が中心</a:t>
                      </a:r>
                    </a:p>
                  </a:txBody>
                  <a:tcPr>
                    <a:solidFill>
                      <a:srgbClr val="FFFFFF"/>
                    </a:solidFill>
                  </a:tcPr>
                </a:tc>
              </a:tr>
              <a:tr h="502920">
                <a:tc>
                  <a:txBody>
                    <a:bodyPr/>
                    <a:lstStyle/>
                    <a:p>
                      <a:pPr>
                        <a:defRPr sz="1200">
                          <a:solidFill>
                            <a:srgbClr val="1A1A2E"/>
                          </a:solidFill>
                          <a:latin typeface="Yu Gothic"/>
                        </a:defRPr>
                      </a:pPr>
                      <a:r>
                        <a:t>情報源</a:t>
                      </a:r>
                    </a:p>
                  </a:txBody>
                  <a:tcPr>
                    <a:solidFill>
                      <a:srgbClr val="F3F6FC"/>
                    </a:solidFill>
                  </a:tcPr>
                </a:tc>
                <a:tc>
                  <a:txBody>
                    <a:bodyPr/>
                    <a:lstStyle/>
                    <a:p>
                      <a:pPr>
                        <a:defRPr sz="1200">
                          <a:solidFill>
                            <a:srgbClr val="1A1A2E"/>
                          </a:solidFill>
                          <a:latin typeface="Yu Gothic"/>
                        </a:defRPr>
                      </a:pPr>
                      <a:r>
                        <a:t>SEC提出書類(10-Q)という公的書類が起点</a:t>
                      </a:r>
                    </a:p>
                  </a:txBody>
                  <a:tcPr>
                    <a:solidFill>
                      <a:srgbClr val="F3F6FC"/>
                    </a:solidFill>
                  </a:tcPr>
                </a:tc>
                <a:tc>
                  <a:txBody>
                    <a:bodyPr/>
                    <a:lstStyle/>
                    <a:p>
                      <a:pPr>
                        <a:defRPr sz="1200">
                          <a:solidFill>
                            <a:srgbClr val="1A1A2E"/>
                          </a:solidFill>
                          <a:latin typeface="Yu Gothic"/>
                        </a:defRPr>
                      </a:pPr>
                      <a:r>
                        <a:t>これまでのテーマはプレスリリース・報道記事が中心</a:t>
                      </a:r>
                    </a:p>
                  </a:txBody>
                  <a:tcPr>
                    <a:solidFill>
                      <a:srgbClr val="F3F6FC"/>
                    </a:solidFill>
                  </a:tcPr>
                </a:tc>
              </a:tr>
              <a:tr h="502920">
                <a:tc>
                  <a:txBody>
                    <a:bodyPr/>
                    <a:lstStyle/>
                    <a:p>
                      <a:pPr>
                        <a:defRPr sz="1200">
                          <a:solidFill>
                            <a:srgbClr val="1A1A2E"/>
                          </a:solidFill>
                          <a:latin typeface="Yu Gothic"/>
                        </a:defRPr>
                      </a:pPr>
                      <a:r>
                        <a:t>重複確認</a:t>
                      </a:r>
                    </a:p>
                  </a:txBody>
                  <a:tcPr>
                    <a:solidFill>
                      <a:srgbClr val="FFFFFF"/>
                    </a:solidFill>
                  </a:tcPr>
                </a:tc>
                <a:tc>
                  <a:txBody>
                    <a:bodyPr/>
                    <a:lstStyle/>
                    <a:p>
                      <a:pPr>
                        <a:defRPr sz="1200">
                          <a:solidFill>
                            <a:srgbClr val="1A1A2E"/>
                          </a:solidFill>
                          <a:latin typeface="Yu Gothic"/>
                        </a:defRPr>
                      </a:pPr>
                      <a:r>
                        <a:t>既存75テーマにAmazon・OpenAI間の投資関係を扱ったものはない</a:t>
                      </a:r>
                    </a:p>
                  </a:txBody>
                  <a:tcPr>
                    <a:solidFill>
                      <a:srgbClr val="FFFFFF"/>
                    </a:solidFill>
                  </a:tcPr>
                </a:tc>
                <a:tc>
                  <a:txBody>
                    <a:bodyPr/>
                    <a:lstStyle/>
                    <a:p>
                      <a:pPr>
                        <a:defRPr sz="1200">
                          <a:solidFill>
                            <a:srgbClr val="1A1A2E"/>
                          </a:solidFill>
                          <a:latin typeface="Yu Gothic"/>
                        </a:defRPr>
                      </a:pPr>
                      <a:r>
                        <a:t>差別化できる</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PYMNTS・The Information・GeekWire ほか(2026-07-31開示・鮮度2〜3日)｜定期実行76本目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この開示から得られる学び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個別の企業評価ではなく、一般的な視点としてまとめます。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大きな出来事ほど、いつ最初に発表され、今回何が『完了』したのかを分けて確認する価値がある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四半期報告書(10-Q)のような公的書類は、プレスリリースにはない具体的な内訳を含むことがある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出資とクラウド利用契約がセットになる関係は、今後も注目に値する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巨大な数字ほど、Amazon全体の投資規模の中でどう位置づけられるかを確認するとよい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PYMNTS・The Information・GeekWire ほか(2026-07-31開示・鮮度2〜3日)｜定期実行76本目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$50B / 約5%</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AmazonがOpenAIへの投資500億ドルを完了、株式約5%を取得(2026-07-31開示)</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本編のまとめ</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“私たちの独自の協業により、ステートフルな実行環境を提供できる。”</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CADCFC"/>
                </a:solidFill>
                <a:latin typeface="Yu Gothic"/>
              </a:rPr>
              <a:t>— Andy Jassy氏(Amazon CEO、提携拡大時のX投稿、意訳)</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今後注目したいポイント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OpenAIのIPOの動向</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具体的な時期・条件が明らかになるか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他社の出資動向</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Microsoft等、他のクラウド大手がどう動くか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Trainium活用の実績</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2ギガワット分の利用が実際にどう進むか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PYMNTS・The Information・GeekWire ほか(2026-07-31開示・鮮度2〜3日)｜定期実行76本目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これまでのAI関連テーマと合わせて振り返る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これまで扱ってきたAI関連テーマとの関係を整理します。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AIエージェントの暴走事件・制御ツール(70本目・72本目)はリスクと対策の話だった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AIコーディングエージェントの生産性実証(73本目)は成果の話だった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本テーマは、巨大テック企業同士の資本・提携関係という、また別の側面を扱っている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AIをめぐる動きは、技術・投資・企業間関係と、複数の切り口から見えてくる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PYMNTS・The Information・GeekWire ほか(2026-07-31開示・鮮度2〜3日)｜定期実行76本目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$100B</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AWS契約拡大の規模(8年間)。出資と事業提携が一体となった巨大テック企業間の関係(2026-07-31開示)</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本編のまとめ</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地味な開示ほど、丁寧に読み解く価値がある。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派手な発表会見がなくても、四半期報告書のような公的書類には重要な情報が含まれています。次にこうした開示を見るときも、この視点を持ってみてください。</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