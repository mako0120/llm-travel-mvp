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本日はSaaS企業Monday.comが発表した、630人のレイオフの話題をお届けします。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今日は、何が発表されたのか、Monday.comとは何か、背景にある出来事、因果関係についての正直な開示、今後の見通しをお伝えします。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2026年7月22日、Monday.comは全世界の従業員の約20%、630人のレイオフを発表しました。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その規模がこちら、全世界の従業員の約20%にあたる630人です。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共同創業者のEran Zinman氏は『コスト削減や人員をAIに置き換えるための決定ではない』と説明しています。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Monday.comはイスラエル発のワークマネジメントソフトウェア企業です。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会社側は、コスト削減ではなくAIワークプラットフォームへの転換が目的だと説明しています。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Zinman氏のメモの要点を整理すると、この3点です。社内的にはAIから大きな価値を得ていると説明しつつ、今回の決定の目的はコスト削減や人員置き換えではないと強調しています。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発表までの経緯を図で見ると、2月のデモから7月の発表まで、このような流れがあったとされています。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背景として話題になったのが、この出来事です。2026年2月、CNBCの記者がコーディング経験ゼロの状態で、代替機能を1時間未満・15ドル未満で作り上げました。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デモの内容を整理すると、この4ステップです。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この間、Monday.comの株価は年初来50%超、直近高値からは約75%下落したと報じられています。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株価動向をまとめると、この表の通りです。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ここで大事な点を確認します。デモと株価下落・レイオフ判断の因果関係は、複数媒体で『一因』とされているにとどまり、公式に断定されたものではありません。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本テーマではAnthropicの製品が話題の背景として登場しますが、これは宣伝や推奨を目的としたものではなく、報道された事実を淡々と紹介するものです。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改めて、会社側の説明を確認します。『コスト削減や人員をAIに置き換えるための決定ではない』としています。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TechCrunchは、AIを理由に挙げてレイオフを発表した企業がMonday.com以外にも複数あると報じています。個別の社名・詳細な比較は本テーマでは扱いません。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本テーマを総括します。Monday.comは630人のレイオフを発表し、その理由をAIワークプラットフォームへの転換と説明しています。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630人という実在の人数が影響を受けることを重く受け止め、個人を特定する情報や過度に感情的な演出は行わずに、事実を淡々と伝えます。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皆さんは、AIによる効率化と雇用への影響のバランスについて、どう考えますか。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ここからは推測です。今後の業績、AI転換の進捗、業界全体への広がりが注目されます。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既存テーマで扱ったMeta関連の話題は製品ローンチや開発の停滞が主題ですが、本テーマはAIを理由にしたレイオフが主題であり、重複ではありません。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確認できたことと確認できなかったことを正直に整理します。因果関係の公式な断定や、対象の具体的な内訳は確認できていません。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出典はこの表の通り、複数の独立したテック専門メディアです。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本テーマでは数字の創作をせず、Anthropicへの宣伝にならないよう配慮し、実在の人数への配慮を優先しています。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最後にもう一度、会社側の説明を振り返ります。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改めて、今回の規模です。全世界の従業員の約20%、630人です。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AIを理由にしたレイオフの動向、そしてMonday.comの業績推移に注目していきましょう。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今回もありがとうございました。Monday.comの630人レイオフの話題をお届けしました。次回もお楽しみに。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1時間、15ドルで作られたデモが、630人の運命を変えたのかもしれない。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Monday.com、AIワークプラットフォームへの再編で630人をレイオフ</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TechCrunch(2026-07-22・07-25) ほか ※着手日の12日前の話題です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何が発表されたのか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Monday.comとは</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背景にあるとされる出来事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因果関係についての正直な開示</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Monday.comが2026年7月22日、630人のレイオフを発表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全世界の従業員の約20%にあたる規模</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AIワークプラットフォームへの再編が理由として挙げられた</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共同創業者は「人員をAIに置き換えるための決定ではない」と説明</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TechCrunch(2026-07-22)</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レイオフの規模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630人(約20%)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Monday.comの全世界の従業員のうち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2026年7月22日</a:t>
                      </a:r>
                    </a:p>
                  </a:txBody>
                  <a:tcPr>
                    <a:solidFill>
                      <a:srgbClr val="FFFFFF"/>
                    </a:solidFill>
                  </a:tcPr>
                </a:tc>
              </a:tr>
              <a:tr h="502920">
                <a:tc>
                  <a:txBody>
                    <a:bodyPr/>
                    <a:lstStyle/>
                    <a:p>
                      <a:pPr>
                        <a:defRPr sz="1200">
                          <a:solidFill>
                            <a:srgbClr val="1C2230"/>
                          </a:solidFill>
                          <a:latin typeface="Yu Gothic"/>
                        </a:defRPr>
                      </a:pPr>
                      <a:r>
                        <a:t>対象人数</a:t>
                      </a:r>
                    </a:p>
                  </a:txBody>
                  <a:tcPr>
                    <a:solidFill>
                      <a:srgbClr val="F1F5FA"/>
                    </a:solidFill>
                  </a:tcPr>
                </a:tc>
                <a:tc>
                  <a:txBody>
                    <a:bodyPr/>
                    <a:lstStyle/>
                    <a:p>
                      <a:pPr>
                        <a:defRPr sz="1200">
                          <a:solidFill>
                            <a:srgbClr val="1C2230"/>
                          </a:solidFill>
                          <a:latin typeface="Yu Gothic"/>
                        </a:defRPr>
                      </a:pPr>
                      <a:r>
                        <a:t>630人(全世界の約20%)</a:t>
                      </a:r>
                    </a:p>
                  </a:txBody>
                  <a:tcPr>
                    <a:solidFill>
                      <a:srgbClr val="F1F5FA"/>
                    </a:solidFill>
                  </a:tcPr>
                </a:tc>
              </a:tr>
              <a:tr h="502920">
                <a:tc>
                  <a:txBody>
                    <a:bodyPr/>
                    <a:lstStyle/>
                    <a:p>
                      <a:pPr>
                        <a:defRPr sz="1200">
                          <a:solidFill>
                            <a:srgbClr val="1C2230"/>
                          </a:solidFill>
                          <a:latin typeface="Yu Gothic"/>
                        </a:defRPr>
                      </a:pPr>
                      <a:r>
                        <a:t>理由(公式説明)</a:t>
                      </a:r>
                    </a:p>
                  </a:txBody>
                  <a:tcPr>
                    <a:solidFill>
                      <a:srgbClr val="FFFFFF"/>
                    </a:solidFill>
                  </a:tcPr>
                </a:tc>
                <a:tc>
                  <a:txBody>
                    <a:bodyPr/>
                    <a:lstStyle/>
                    <a:p>
                      <a:pPr>
                        <a:defRPr sz="1200">
                          <a:solidFill>
                            <a:srgbClr val="1C2230"/>
                          </a:solidFill>
                          <a:latin typeface="Yu Gothic"/>
                        </a:defRPr>
                      </a:pPr>
                      <a:r>
                        <a:t>AIワークプラットフォームへの再編</a:t>
                      </a:r>
                    </a:p>
                  </a:txBody>
                  <a:tcPr>
                    <a:solidFill>
                      <a:srgbClr val="FFFFFF"/>
                    </a:solidFill>
                  </a:tcPr>
                </a:tc>
              </a:tr>
              <a:tr h="502920">
                <a:tc>
                  <a:txBody>
                    <a:bodyPr/>
                    <a:lstStyle/>
                    <a:p>
                      <a:pPr>
                        <a:defRPr sz="1200">
                          <a:solidFill>
                            <a:srgbClr val="1C2230"/>
                          </a:solidFill>
                          <a:latin typeface="Yu Gothic"/>
                        </a:defRPr>
                      </a:pPr>
                      <a:r>
                        <a:t>見込み費用</a:t>
                      </a:r>
                    </a:p>
                  </a:txBody>
                  <a:tcPr>
                    <a:solidFill>
                      <a:srgbClr val="F1F5FA"/>
                    </a:solidFill>
                  </a:tcPr>
                </a:tc>
                <a:tc>
                  <a:txBody>
                    <a:bodyPr/>
                    <a:lstStyle/>
                    <a:p>
                      <a:pPr>
                        <a:defRPr sz="1200">
                          <a:solidFill>
                            <a:srgbClr val="1C2230"/>
                          </a:solidFill>
                          <a:latin typeface="Yu Gothic"/>
                        </a:defRPr>
                      </a:pPr>
                      <a:r>
                        <a:t>4,500万〜5,500万ドル</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“コスト削減や人員をAIに置き換えるための決定ではない”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Eran Zinman氏(Monday.com共同創業者、LinkedIn投稿、TechCrunch 2026-07-22)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Monday.comとは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本社</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イスラエル発のSaaS企業</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事業</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ワークマネジメントソフトウェア</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今回の方針</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AIワークプラットフォームへの転換</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業績見通し</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2026年通年売上成長率19〜20%を維持見込み</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再編の内容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コスト削減ではなく、AIワークプラットフォームへの転換が目的と説明</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2026年通年の売上成長率は19〜20%の維持・改善を見込む</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レイオフに伴い4,500万〜5,500万ドルの純費用が発生する見込み</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TechCrunch(2026-07-22)</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Zinman氏メモの要点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社内的にはAIから大きな価値を得ていると説明</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それでも今回の決定はコスト削減や人員置き換えが目的ではないと強調</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AIワークプラットフォームへの再編という方向性を明示</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TechCrunch(2026-07-22)</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発表までの経緯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2026年2月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Claude Codeによる代替デモが話題に</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その後</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株価が下落基調に</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2026年7月22日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630人のレイオフを発表</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背景にあるとされる出来事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1時間未満・15ドル未満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2026年2月、CNBCの記者がコーディング経験ゼロでMonday.comの代替機能を構築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デモの内容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コーディング経験ゼロの記者がAnthropicのClaude Codeを使用</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Monday.comの代替機能を構築</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所要時間1時間未満、費用15ドル未満で完成</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エンタープライズソフトウェア業界で話題に</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株価への影響(報道内の記述)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年初来50%超・高値から約75%下落</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2026年、Monday.com株価の下落幅として報じられている数字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株価動向のまとめ(報道内の記述)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下落幅</a:t>
                      </a:r>
                    </a:p>
                  </a:txBody>
                  <a:tcPr>
                    <a:solidFill>
                      <a:srgbClr val="2B3A55"/>
                    </a:solidFill>
                  </a:tcPr>
                </a:tc>
              </a:tr>
              <a:tr h="502920">
                <a:tc>
                  <a:txBody>
                    <a:bodyPr/>
                    <a:lstStyle/>
                    <a:p>
                      <a:pPr>
                        <a:defRPr sz="1200">
                          <a:solidFill>
                            <a:srgbClr val="1C2230"/>
                          </a:solidFill>
                          <a:latin typeface="Yu Gothic"/>
                        </a:defRPr>
                      </a:pPr>
                      <a:r>
                        <a:t>年初来</a:t>
                      </a:r>
                    </a:p>
                  </a:txBody>
                  <a:tcPr>
                    <a:solidFill>
                      <a:srgbClr val="FFFFFF"/>
                    </a:solidFill>
                  </a:tcPr>
                </a:tc>
                <a:tc>
                  <a:txBody>
                    <a:bodyPr/>
                    <a:lstStyle/>
                    <a:p>
                      <a:pPr>
                        <a:defRPr sz="1200">
                          <a:solidFill>
                            <a:srgbClr val="1C2230"/>
                          </a:solidFill>
                          <a:latin typeface="Yu Gothic"/>
                        </a:defRPr>
                      </a:pPr>
                      <a:r>
                        <a:t>50%超</a:t>
                      </a:r>
                    </a:p>
                  </a:txBody>
                  <a:tcPr>
                    <a:solidFill>
                      <a:srgbClr val="FFFFFF"/>
                    </a:solidFill>
                  </a:tcPr>
                </a:tc>
              </a:tr>
              <a:tr h="502920">
                <a:tc>
                  <a:txBody>
                    <a:bodyPr/>
                    <a:lstStyle/>
                    <a:p>
                      <a:pPr>
                        <a:defRPr sz="1200">
                          <a:solidFill>
                            <a:srgbClr val="1C2230"/>
                          </a:solidFill>
                          <a:latin typeface="Yu Gothic"/>
                        </a:defRPr>
                      </a:pPr>
                      <a:r>
                        <a:t>直近52週高値から</a:t>
                      </a:r>
                    </a:p>
                  </a:txBody>
                  <a:tcPr>
                    <a:solidFill>
                      <a:srgbClr val="F1F5FA"/>
                    </a:solidFill>
                  </a:tcPr>
                </a:tc>
                <a:tc>
                  <a:txBody>
                    <a:bodyPr/>
                    <a:lstStyle/>
                    <a:p>
                      <a:pPr>
                        <a:defRPr sz="1200">
                          <a:solidFill>
                            <a:srgbClr val="1C2230"/>
                          </a:solidFill>
                          <a:latin typeface="Yu Gothic"/>
                        </a:defRPr>
                      </a:pPr>
                      <a:r>
                        <a:t>約75%</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【重要】因果関係についての正直な開示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デモと株価下落・レイオフ判断の因果関係は「一因」と報じられているのみ</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Monday.com側が因果関係を公式に断定した発表は確認できていない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本テーマでは複数媒体の報道を紹介するにとどめ、断定はしない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【重要】本テーマの公平性についての開示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本テーマはAnthropicの製品(Claude Code)が話題の背景として登場する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これはAnthropic・AI業界への宣伝・推奨を目的としたものではない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複数の独立した報道機関が伝えた事実の時系列を淡々と紹介するにとどめる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特定製品の利用を強く推奨する結論にはしていない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“コスト削減や人員をAIに置き換えるための決定ではない”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Eran Zinman氏(Monday.com共同創業者、TechCrunch 2026-07-22)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業界内の位置づけ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Monday.com</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AIを理由に挙げた再編を発表</a:t>
            </a:r>
          </a:p>
        </p:txBody>
      </p:sp>
      <p:sp>
        <p:nvSpPr>
          <p:cNvPr id="10" name="Right Arrow 9"/>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業界の動き</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AIを理由に挙げる企業が複数報じられている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630人のレイオフと、AIをめぐる説明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Monday.comは再編の理由をAIワークプラットフォームへの転換と説明している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影響を受ける人々への配慮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630人という実在の人数が対象であることを重く受け止める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個人を特定する情報や過度に感情的な演出は行わない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企業側の説明と報道内容を、事実として淡々と伝える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視聴者への問いかけ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AIによる効率化と、雇用への影響をどうバランスさせるべきか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『AIが理由』という説明を、どこまで額面通りに受け取るべきか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自分の職場でも同様の再編が起きたら、どう向き合うか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業績</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2026年通年売上成長率19〜20%を維持できるか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AI転換</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AIワークプラットフォームへの転換の進捗</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業界全体</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他社にも同様の動きが広がるか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似たテーマとの違い(重複でないことの確認)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既存テーマ(Meta AIエージェント関連)</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Meta社の製品ローンチ・停滞が主題</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レイオフの話題ではない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本テーマ(Monday.com)</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AIを理由にした630人のレイオフが主題</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株価・デモとの関係も扱う</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630人のレイオフ発表(2026年7月22日)</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会社側の公式説明と見込み費用</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デモと株価下落・レイオフ判断の因果関係の公式な断定</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レイオフ対象の部門・役職の具体的な内訳</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日付</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TechCrunch</a:t>
                      </a:r>
                    </a:p>
                  </a:txBody>
                  <a:tcPr>
                    <a:solidFill>
                      <a:srgbClr val="FFFFFF"/>
                    </a:solidFill>
                  </a:tcPr>
                </a:tc>
                <a:tc>
                  <a:txBody>
                    <a:bodyPr/>
                    <a:lstStyle/>
                    <a:p>
                      <a:pPr>
                        <a:defRPr sz="1200">
                          <a:solidFill>
                            <a:srgbClr val="1C2230"/>
                          </a:solidFill>
                          <a:latin typeface="Yu Gothic"/>
                        </a:defRPr>
                      </a:pPr>
                      <a:r>
                        <a:t>2026-07-22</a:t>
                      </a:r>
                    </a:p>
                  </a:txBody>
                  <a:tcPr>
                    <a:solidFill>
                      <a:srgbClr val="FFFFFF"/>
                    </a:solidFill>
                  </a:tcPr>
                </a:tc>
                <a:tc>
                  <a:txBody>
                    <a:bodyPr/>
                    <a:lstStyle/>
                    <a:p>
                      <a:pPr>
                        <a:defRPr sz="1200">
                          <a:solidFill>
                            <a:srgbClr val="1C2230"/>
                          </a:solidFill>
                          <a:latin typeface="Yu Gothic"/>
                        </a:defRPr>
                      </a:pPr>
                      <a:r>
                        <a:t>レイオフ発表を報道</a:t>
                      </a:r>
                    </a:p>
                  </a:txBody>
                  <a:tcPr>
                    <a:solidFill>
                      <a:srgbClr val="FFFFFF"/>
                    </a:solidFill>
                  </a:tcPr>
                </a:tc>
              </a:tr>
              <a:tr h="502920">
                <a:tc>
                  <a:txBody>
                    <a:bodyPr/>
                    <a:lstStyle/>
                    <a:p>
                      <a:pPr>
                        <a:defRPr sz="1200">
                          <a:solidFill>
                            <a:srgbClr val="1C2230"/>
                          </a:solidFill>
                          <a:latin typeface="Yu Gothic"/>
                        </a:defRPr>
                      </a:pPr>
                      <a:r>
                        <a:t>TechCrunch</a:t>
                      </a:r>
                    </a:p>
                  </a:txBody>
                  <a:tcPr>
                    <a:solidFill>
                      <a:srgbClr val="F1F5FA"/>
                    </a:solidFill>
                  </a:tcPr>
                </a:tc>
                <a:tc>
                  <a:txBody>
                    <a:bodyPr/>
                    <a:lstStyle/>
                    <a:p>
                      <a:pPr>
                        <a:defRPr sz="1200">
                          <a:solidFill>
                            <a:srgbClr val="1C2230"/>
                          </a:solidFill>
                          <a:latin typeface="Yu Gothic"/>
                        </a:defRPr>
                      </a:pPr>
                      <a:r>
                        <a:t>2026-07-25</a:t>
                      </a:r>
                    </a:p>
                  </a:txBody>
                  <a:tcPr>
                    <a:solidFill>
                      <a:srgbClr val="F1F5FA"/>
                    </a:solidFill>
                  </a:tcPr>
                </a:tc>
                <a:tc>
                  <a:txBody>
                    <a:bodyPr/>
                    <a:lstStyle/>
                    <a:p>
                      <a:pPr>
                        <a:defRPr sz="1200">
                          <a:solidFill>
                            <a:srgbClr val="1C2230"/>
                          </a:solidFill>
                          <a:latin typeface="Yu Gothic"/>
                        </a:defRPr>
                      </a:pPr>
                      <a:r>
                        <a:t>AIを理由にしたレイオフの業界動向を報道</a:t>
                      </a:r>
                    </a:p>
                  </a:txBody>
                  <a:tcPr>
                    <a:solidFill>
                      <a:srgbClr val="F1F5FA"/>
                    </a:solidFill>
                  </a:tcPr>
                </a:tc>
              </a:tr>
              <a:tr h="502920">
                <a:tc>
                  <a:txBody>
                    <a:bodyPr/>
                    <a:lstStyle/>
                    <a:p>
                      <a:pPr>
                        <a:defRPr sz="1200">
                          <a:solidFill>
                            <a:srgbClr val="1C2230"/>
                          </a:solidFill>
                          <a:latin typeface="Yu Gothic"/>
                        </a:defRPr>
                      </a:pPr>
                      <a:r>
                        <a:t>Yahoo Finance / Tech Times / Calcalist / TheNextWeb</a:t>
                      </a:r>
                    </a:p>
                  </a:txBody>
                  <a:tcPr>
                    <a:solidFill>
                      <a:srgbClr val="FFFFFF"/>
                    </a:solidFill>
                  </a:tcPr>
                </a:tc>
                <a:tc>
                  <a:txBody>
                    <a:bodyPr/>
                    <a:lstStyle/>
                    <a:p>
                      <a:pPr>
                        <a:defRPr sz="1200">
                          <a:solidFill>
                            <a:srgbClr val="1C2230"/>
                          </a:solidFill>
                          <a:latin typeface="Yu Gothic"/>
                        </a:defRPr>
                      </a:pPr>
                      <a:r>
                        <a:t>2026-07</a:t>
                      </a:r>
                    </a:p>
                  </a:txBody>
                  <a:tcPr>
                    <a:solidFill>
                      <a:srgbClr val="FFFFFF"/>
                    </a:solidFill>
                  </a:tcPr>
                </a:tc>
                <a:tc>
                  <a:txBody>
                    <a:bodyPr/>
                    <a:lstStyle/>
                    <a:p>
                      <a:pPr>
                        <a:defRPr sz="1200">
                          <a:solidFill>
                            <a:srgbClr val="1C2230"/>
                          </a:solidFill>
                          <a:latin typeface="Yu Gothic"/>
                        </a:defRPr>
                      </a:pPr>
                      <a:r>
                        <a:t>詳細・背景を報道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数字の創作はせず、報道された数字のみを扱う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Anthropic・AI業界への宣伝・推奨にならないよう配慮</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630人という実在の人数への配慮を優先し、煽り一辺倒にしない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“コスト削減や人員をAIに置き換えるための決定ではない”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Eran Zinman氏(Monday.com共同創業者)</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630人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約20%のレイオフ</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Monday.com、AIワークプラットフォームへの再編を理由に</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AIを理由にしたレイオフの動向、Monday.comの業績推移に注目していきます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Monday.comが630人(約20%)のレイオフを発表(2026年7月22日)</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理由はAIワークプラットフォームへの再編と説明</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デモとの因果関係は断定されていないことを正直に開示</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TechCrunch・Yahoo Finance・Tech Times ほか(2026-07-22・07-25報道)｜定期実行92本目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