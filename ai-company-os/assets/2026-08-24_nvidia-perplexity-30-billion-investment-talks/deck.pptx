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NvidiaがAI検索スタートアップPerplexityへの出資を協議していると報じられました。何が報じられたのか、出典付きで正確に整理してお届けします。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結論から確認します。Nvidiaの出資協議が実現すれば、Perplexityの評価額は300億ドルを超える水準になるとされています。ただし、まだ協議段階です。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今日は6つの流れでお伝えします。報道の基本情報から評価額の推移、技術ライセンス協議まで、正確に事実を引用しながら整理します。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このテーマを扱う理由です。評価額の大幅な上昇という数字のインパクトに注目しました。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報道の基本情報です。まだ協議段階の報道であることを確認しておきます。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Perplexityとは何かを確認します。AI検索分野で急成長している企業です。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約1年前の前回調達時の評価額は約200億ドルでした。今回協議中の評価額はそこから50%超上昇しています。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報道までの経緯を図にしました。売上高の急成長を背景に評価額が上昇しています。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売上高の急成長についてです。年初から大きく伸びています。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年初から現在までで、年換算売上高は3倍超に伸びています。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評価額・売上高の推移をまとめました。異なる時点・異なる指標を明確に区別してお伝えします。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技術ライセンス契約についてです。出資協議とは別の種類の協議として区別します。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出資協議と技術ライセンス契約協議、異なる種類の協議を対比しました。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複数の独立した海外主要メディアが同一の報道内容を伝えていることを確認しています。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前回評価額から、50%超という大きな上昇率です。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Perplexity Computerについてです。売上成長を支える製品の一つとされています。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現在の年換算売上高は7億5,000万ドル超と、年初から大きく成長しています。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Nvidiaは複数のAI企業への出資に積極的とされており、Perplexityもその一つとして注目されています。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海外メディアの報道時期をまとめました。同一日に幅広く引用・報道されています。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300億ドル超という評価額は、AI検索スタートアップとしては極めて大型の水準です。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一般的な出資協議報道の傾向と、今回のNvidia・Perplexityを対比しました。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本編のまとめです。Nvidiaの出資協議報道について、出典付きで整理してお伝えしました。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vidiaの出資協議報道について、その中身を正確に整理してお伝えしました。あくまで協議段階の報道であることを明記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Nvidia、</a:t>
            </a:r>
          </a:p>
          <a:p>
            <a:pPr algn="l">
              <a:lnSpc>
                <a:spcPct val="115000"/>
              </a:lnSpc>
            </a:pPr>
            <a:r>
              <a:rPr sz="4200" b="1">
                <a:solidFill>
                  <a:srgbClr val="FFFFFF"/>
                </a:solidFill>
                <a:latin typeface="Yu Gothic"/>
              </a:rPr>
              <a:t>Perplexityへ出資協議</a:t>
            </a:r>
          </a:p>
          <a:p>
            <a:pPr algn="l">
              <a:lnSpc>
                <a:spcPct val="115000"/>
              </a:lnSpc>
            </a:pPr>
            <a:r>
              <a:rPr sz="4200" b="1">
                <a:solidFill>
                  <a:srgbClr val="FFFFFF"/>
                </a:solidFill>
                <a:latin typeface="Yu Gothic"/>
              </a:rPr>
              <a:t>評価額300億ドル超</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2026年8月24日報道——出典付きで整理する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The Information・Reuters(2026年8月24日)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300億ドル超 協議中とされるPerplexityの評価額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取引はまだ合意されていない『協議段階』の報道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The Information・Reuters(2026-08-24)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報道の基本情報を確認する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Perplexityとはどんな企業かを確認する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評価額・売上高の推移を確認する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技術ライセンス協議についても確認する</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着手日前後(2026年8月24日)、海外の主要メディアが一斉に報じた話題である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約200億ドルから300億ドル超へという評価額の大幅な上昇で数字のインパクトが大きい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AI業界最大手のNvidiaと急成長中のAI検索企業という組み合わせで注目度が高い</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複数の独立したメディアが同じ報道内容を伝えており、報道内容としての一貫性を確認できた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The Information・Reuters(2026-08-24)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報道の基本情報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対象企業</a:t>
                      </a:r>
                    </a:p>
                  </a:txBody>
                  <a:tcPr>
                    <a:solidFill>
                      <a:srgbClr val="FFFFFF"/>
                    </a:solidFill>
                  </a:tcPr>
                </a:tc>
                <a:tc>
                  <a:txBody>
                    <a:bodyPr/>
                    <a:lstStyle/>
                    <a:p>
                      <a:pPr>
                        <a:defRPr sz="1200">
                          <a:solidFill>
                            <a:srgbClr val="1E2124"/>
                          </a:solidFill>
                          <a:latin typeface="Yu Gothic"/>
                        </a:defRPr>
                      </a:pPr>
                      <a:r>
                        <a:t>Perplexity(AI検索スタートアップ)</a:t>
                      </a:r>
                    </a:p>
                  </a:txBody>
                  <a:tcPr>
                    <a:solidFill>
                      <a:srgbClr val="FFFFFF"/>
                    </a:solidFill>
                  </a:tcPr>
                </a:tc>
              </a:tr>
              <a:tr h="502920">
                <a:tc>
                  <a:txBody>
                    <a:bodyPr/>
                    <a:lstStyle/>
                    <a:p>
                      <a:pPr>
                        <a:defRPr sz="1200">
                          <a:solidFill>
                            <a:srgbClr val="1E2124"/>
                          </a:solidFill>
                          <a:latin typeface="Yu Gothic"/>
                        </a:defRPr>
                      </a:pPr>
                      <a:r>
                        <a:t>報じられている内容</a:t>
                      </a:r>
                    </a:p>
                  </a:txBody>
                  <a:tcPr>
                    <a:solidFill>
                      <a:srgbClr val="F7F4EF"/>
                    </a:solidFill>
                  </a:tcPr>
                </a:tc>
                <a:tc>
                  <a:txBody>
                    <a:bodyPr/>
                    <a:lstStyle/>
                    <a:p>
                      <a:pPr>
                        <a:defRPr sz="1200">
                          <a:solidFill>
                            <a:srgbClr val="1E2124"/>
                          </a:solidFill>
                          <a:latin typeface="Yu Gothic"/>
                        </a:defRPr>
                      </a:pPr>
                      <a:r>
                        <a:t>Nvidiaが出資を協議中、評価額300億ドル超</a:t>
                      </a:r>
                    </a:p>
                  </a:txBody>
                  <a:tcPr>
                    <a:solidFill>
                      <a:srgbClr val="F7F4EF"/>
                    </a:solidFill>
                  </a:tcPr>
                </a:tc>
              </a:tr>
              <a:tr h="502920">
                <a:tc>
                  <a:txBody>
                    <a:bodyPr/>
                    <a:lstStyle/>
                    <a:p>
                      <a:pPr>
                        <a:defRPr sz="1200">
                          <a:solidFill>
                            <a:srgbClr val="1E2124"/>
                          </a:solidFill>
                          <a:latin typeface="Yu Gothic"/>
                        </a:defRPr>
                      </a:pPr>
                      <a:r>
                        <a:t>報道日</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r h="502920">
                <a:tc>
                  <a:txBody>
                    <a:bodyPr/>
                    <a:lstStyle/>
                    <a:p>
                      <a:pPr>
                        <a:defRPr sz="1200">
                          <a:solidFill>
                            <a:srgbClr val="1E2124"/>
                          </a:solidFill>
                          <a:latin typeface="Yu Gothic"/>
                        </a:defRPr>
                      </a:pPr>
                      <a:r>
                        <a:t>一次情報源</a:t>
                      </a:r>
                    </a:p>
                  </a:txBody>
                  <a:tcPr>
                    <a:solidFill>
                      <a:srgbClr val="F7F4EF"/>
                    </a:solidFill>
                  </a:tcPr>
                </a:tc>
                <a:tc>
                  <a:txBody>
                    <a:bodyPr/>
                    <a:lstStyle/>
                    <a:p>
                      <a:pPr>
                        <a:defRPr sz="1200">
                          <a:solidFill>
                            <a:srgbClr val="1E2124"/>
                          </a:solidFill>
                          <a:latin typeface="Yu Gothic"/>
                        </a:defRPr>
                      </a:pPr>
                      <a:r>
                        <a:t>The Information(各メディアが引用)</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The Information・Reuters(2026-08-24)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「Perplexity」とは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前提知識を確認します。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AIを活用した検索サービスを提供するスタートアップである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専門職向けのクラウドベースAIエージェント『Perplexity Computer』などの製品も展開している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AI検索分野で急成長している企業の一つとして知られる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前回調達時の評価額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約200億ドル 約1年前の前回調達ラウンド時の評価額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今回協議中の評価額(300億ドル超)から見ると50%超の上昇</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報道までの経緯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約1年前、評価額約200億ドルで調達</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当時の評価額水準</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2026年年初、年換算売上高2.5億ドル未満</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その後急成長</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8月24日、Nvidiaとの出資協議が報道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評価額300億ドル超が浮上</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報道までの経緯</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The Information・Reuters(2026-08-24)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今回の報道を3ステップで総括</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1. 売上高が急成長</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年初の2.5億ドル未満から7.5億ドル超へ</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 Nvidiaとの出資協議が浮上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評価額300億ドル超が報じられる</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3. 技術ライセンス協議も並行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詳細は未確認</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売上高の急成長について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売上高の急成長を確認します。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Perplexityの年換算売上高は、2026年年初の2億5,000万ドル未満から、7億5,000万ドル超まで拡大したと報じられている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この成長の一因として、専門職向けのクラウドベースAIエージェント『Perplexity Computer』が挙げられている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具体的な成長要因の内訳の詳細は、本調査の範囲では確認できていない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Reuters・Benzinga(2026-08-24)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確定していること(報道内容として)</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評価額300億ドル超での出資協議が報じられたこと</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前回評価額(約200億ドル)・売上高の推移</a:t>
            </a:r>
          </a:p>
        </p:txBody>
      </p:sp>
      <p:sp>
        <p:nvSpPr>
          <p:cNvPr id="13" name="Oval 12"/>
          <p:cNvSpPr/>
          <p:nvPr/>
        </p:nvSpPr>
        <p:spPr>
          <a:xfrm>
            <a:off x="777240" y="363016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技術ライセンス契約についても協議されていたこと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Nvidiaの具体的な出資金額</a:t>
            </a:r>
          </a:p>
        </p:txBody>
      </p:sp>
      <p:sp>
        <p:nvSpPr>
          <p:cNvPr id="20" name="Oval 19"/>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取引が実際に成立するかどうか、その時期</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売上高の伸び幅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3倍超 年初から現在までの年換算売上高の伸び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2億5,000万ドル未満から7億5,000万ドル超へ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Reuters(2026-08-24)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評価額・売上高の推移</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時点</a:t>
                      </a:r>
                    </a:p>
                  </a:txBody>
                  <a:tcPr>
                    <a:solidFill>
                      <a:srgbClr val="3A4750"/>
                    </a:solidFill>
                  </a:tcPr>
                </a:tc>
                <a:tc>
                  <a:txBody>
                    <a:bodyPr/>
                    <a:lstStyle/>
                    <a:p>
                      <a:pPr>
                        <a:defRPr sz="1300" b="1">
                          <a:solidFill>
                            <a:srgbClr val="FFFFFF"/>
                          </a:solidFill>
                          <a:latin typeface="Yu Gothic"/>
                        </a:defRPr>
                      </a:pPr>
                      <a:r>
                        <a:t>指標</a:t>
                      </a:r>
                    </a:p>
                  </a:txBody>
                  <a:tcPr>
                    <a:solidFill>
                      <a:srgbClr val="3A4750"/>
                    </a:solidFill>
                  </a:tcPr>
                </a:tc>
                <a:tc>
                  <a:txBody>
                    <a:bodyPr/>
                    <a:lstStyle/>
                    <a:p>
                      <a:pPr>
                        <a:defRPr sz="1300" b="1">
                          <a:solidFill>
                            <a:srgbClr val="FFFFFF"/>
                          </a:solidFill>
                          <a:latin typeface="Yu Gothic"/>
                        </a:defRPr>
                      </a:pPr>
                      <a:r>
                        <a:t>数値</a:t>
                      </a:r>
                    </a:p>
                  </a:txBody>
                  <a:tcPr>
                    <a:solidFill>
                      <a:srgbClr val="3A4750"/>
                    </a:solidFill>
                  </a:tcPr>
                </a:tc>
              </a:tr>
              <a:tr h="502920">
                <a:tc>
                  <a:txBody>
                    <a:bodyPr/>
                    <a:lstStyle/>
                    <a:p>
                      <a:pPr>
                        <a:defRPr sz="1200">
                          <a:solidFill>
                            <a:srgbClr val="1E2124"/>
                          </a:solidFill>
                          <a:latin typeface="Yu Gothic"/>
                        </a:defRPr>
                      </a:pPr>
                      <a:r>
                        <a:t>約1年前</a:t>
                      </a:r>
                    </a:p>
                  </a:txBody>
                  <a:tcPr>
                    <a:solidFill>
                      <a:srgbClr val="FFFFFF"/>
                    </a:solidFill>
                  </a:tcPr>
                </a:tc>
                <a:tc>
                  <a:txBody>
                    <a:bodyPr/>
                    <a:lstStyle/>
                    <a:p>
                      <a:pPr>
                        <a:defRPr sz="1200">
                          <a:solidFill>
                            <a:srgbClr val="1E2124"/>
                          </a:solidFill>
                          <a:latin typeface="Yu Gothic"/>
                        </a:defRPr>
                      </a:pPr>
                      <a:r>
                        <a:t>評価額</a:t>
                      </a:r>
                    </a:p>
                  </a:txBody>
                  <a:tcPr>
                    <a:solidFill>
                      <a:srgbClr val="FFFFFF"/>
                    </a:solidFill>
                  </a:tcPr>
                </a:tc>
                <a:tc>
                  <a:txBody>
                    <a:bodyPr/>
                    <a:lstStyle/>
                    <a:p>
                      <a:pPr>
                        <a:defRPr sz="1200">
                          <a:solidFill>
                            <a:srgbClr val="1E2124"/>
                          </a:solidFill>
                          <a:latin typeface="Yu Gothic"/>
                        </a:defRPr>
                      </a:pPr>
                      <a:r>
                        <a:t>約200億ドル</a:t>
                      </a:r>
                    </a:p>
                  </a:txBody>
                  <a:tcPr>
                    <a:solidFill>
                      <a:srgbClr val="FFFFFF"/>
                    </a:solidFill>
                  </a:tcPr>
                </a:tc>
              </a:tr>
              <a:tr h="502920">
                <a:tc>
                  <a:txBody>
                    <a:bodyPr/>
                    <a:lstStyle/>
                    <a:p>
                      <a:pPr>
                        <a:defRPr sz="1200">
                          <a:solidFill>
                            <a:srgbClr val="1E2124"/>
                          </a:solidFill>
                          <a:latin typeface="Yu Gothic"/>
                        </a:defRPr>
                      </a:pPr>
                      <a:r>
                        <a:t>2026年年初</a:t>
                      </a:r>
                    </a:p>
                  </a:txBody>
                  <a:tcPr>
                    <a:solidFill>
                      <a:srgbClr val="F7F4EF"/>
                    </a:solidFill>
                  </a:tcPr>
                </a:tc>
                <a:tc>
                  <a:txBody>
                    <a:bodyPr/>
                    <a:lstStyle/>
                    <a:p>
                      <a:pPr>
                        <a:defRPr sz="1200">
                          <a:solidFill>
                            <a:srgbClr val="1E2124"/>
                          </a:solidFill>
                          <a:latin typeface="Yu Gothic"/>
                        </a:defRPr>
                      </a:pPr>
                      <a:r>
                        <a:t>年換算売上高</a:t>
                      </a:r>
                    </a:p>
                  </a:txBody>
                  <a:tcPr>
                    <a:solidFill>
                      <a:srgbClr val="F7F4EF"/>
                    </a:solidFill>
                  </a:tcPr>
                </a:tc>
                <a:tc>
                  <a:txBody>
                    <a:bodyPr/>
                    <a:lstStyle/>
                    <a:p>
                      <a:pPr>
                        <a:defRPr sz="1200">
                          <a:solidFill>
                            <a:srgbClr val="1E2124"/>
                          </a:solidFill>
                          <a:latin typeface="Yu Gothic"/>
                        </a:defRPr>
                      </a:pPr>
                      <a:r>
                        <a:t>2億5,000万ドル未満</a:t>
                      </a:r>
                    </a:p>
                  </a:txBody>
                  <a:tcPr>
                    <a:solidFill>
                      <a:srgbClr val="F7F4EF"/>
                    </a:solidFill>
                  </a:tcPr>
                </a:tc>
              </a:tr>
              <a:tr h="502920">
                <a:tc>
                  <a:txBody>
                    <a:bodyPr/>
                    <a:lstStyle/>
                    <a:p>
                      <a:pPr>
                        <a:defRPr sz="1200">
                          <a:solidFill>
                            <a:srgbClr val="1E2124"/>
                          </a:solidFill>
                          <a:latin typeface="Yu Gothic"/>
                        </a:defRPr>
                      </a:pPr>
                      <a:r>
                        <a:t>2026年8月24日時点</a:t>
                      </a:r>
                    </a:p>
                  </a:txBody>
                  <a:tcPr>
                    <a:solidFill>
                      <a:srgbClr val="FFFFFF"/>
                    </a:solidFill>
                  </a:tcPr>
                </a:tc>
                <a:tc>
                  <a:txBody>
                    <a:bodyPr/>
                    <a:lstStyle/>
                    <a:p>
                      <a:pPr>
                        <a:defRPr sz="1200">
                          <a:solidFill>
                            <a:srgbClr val="1E2124"/>
                          </a:solidFill>
                          <a:latin typeface="Yu Gothic"/>
                        </a:defRPr>
                      </a:pPr>
                      <a:r>
                        <a:t>年換算売上高</a:t>
                      </a:r>
                    </a:p>
                  </a:txBody>
                  <a:tcPr>
                    <a:solidFill>
                      <a:srgbClr val="FFFFFF"/>
                    </a:solidFill>
                  </a:tcPr>
                </a:tc>
                <a:tc>
                  <a:txBody>
                    <a:bodyPr/>
                    <a:lstStyle/>
                    <a:p>
                      <a:pPr>
                        <a:defRPr sz="1200">
                          <a:solidFill>
                            <a:srgbClr val="1E2124"/>
                          </a:solidFill>
                          <a:latin typeface="Yu Gothic"/>
                        </a:defRPr>
                      </a:pPr>
                      <a:r>
                        <a:t>7億5,000万ドル超</a:t>
                      </a:r>
                    </a:p>
                  </a:txBody>
                  <a:tcPr>
                    <a:solidFill>
                      <a:srgbClr val="FFFFFF"/>
                    </a:solidFill>
                  </a:tcPr>
                </a:tc>
              </a:tr>
              <a:tr h="502920">
                <a:tc>
                  <a:txBody>
                    <a:bodyPr/>
                    <a:lstStyle/>
                    <a:p>
                      <a:pPr>
                        <a:defRPr sz="1200">
                          <a:solidFill>
                            <a:srgbClr val="1E2124"/>
                          </a:solidFill>
                          <a:latin typeface="Yu Gothic"/>
                        </a:defRPr>
                      </a:pPr>
                      <a:r>
                        <a:t>2026年8月24日(協議中)</a:t>
                      </a:r>
                    </a:p>
                  </a:txBody>
                  <a:tcPr>
                    <a:solidFill>
                      <a:srgbClr val="F7F4EF"/>
                    </a:solidFill>
                  </a:tcPr>
                </a:tc>
                <a:tc>
                  <a:txBody>
                    <a:bodyPr/>
                    <a:lstStyle/>
                    <a:p>
                      <a:pPr>
                        <a:defRPr sz="1200">
                          <a:solidFill>
                            <a:srgbClr val="1E2124"/>
                          </a:solidFill>
                          <a:latin typeface="Yu Gothic"/>
                        </a:defRPr>
                      </a:pPr>
                      <a:r>
                        <a:t>評価額</a:t>
                      </a:r>
                    </a:p>
                  </a:txBody>
                  <a:tcPr>
                    <a:solidFill>
                      <a:srgbClr val="F7F4EF"/>
                    </a:solidFill>
                  </a:tcPr>
                </a:tc>
                <a:tc>
                  <a:txBody>
                    <a:bodyPr/>
                    <a:lstStyle/>
                    <a:p>
                      <a:pPr>
                        <a:defRPr sz="1200">
                          <a:solidFill>
                            <a:srgbClr val="1E2124"/>
                          </a:solidFill>
                          <a:latin typeface="Yu Gothic"/>
                        </a:defRPr>
                      </a:pPr>
                      <a:r>
                        <a:t>300億ドル超</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視聴者にとっての意味—AI業界動向を追う立場として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AI業界最大手企業の出資動向を、具体的な数字とともに把握できる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『協議中』と『決定』を区別する視点が役立つ</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AI検索スタートアップの急成長事例として学べる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技術ライセンス契約の協議について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技術ライセンス契約についても確認します。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NvidiaとPerplexityは、出資協議と並行して技術ライセンス契約についても協議していたと報じられている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具体的な契約内容の詳細は、本調査の範囲では確認できていない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出資協議とは別の種類の協議として区別してお伝えする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The Information(2026-08-24)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出資協議 vs 技術ライセンス契約協議</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出資協議</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評価額300億ドル超が浮上</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技術ライセンス契約協議</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具体的な内容は未確認</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出資協議と並行して報じられている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Nvidiaの具体的な出資金額は、評価額のみが報じられており確認できていない</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技術ライセンス契約の具体的な内容は確認できていない</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取引が実際に成立するかどうか、その時期も確認できていない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主な情報源</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報道内容</a:t>
                      </a:r>
                    </a:p>
                  </a:txBody>
                  <a:tcPr>
                    <a:solidFill>
                      <a:srgbClr val="3A4750"/>
                    </a:solidFill>
                  </a:tcPr>
                </a:tc>
              </a:tr>
              <a:tr h="502920">
                <a:tc>
                  <a:txBody>
                    <a:bodyPr/>
                    <a:lstStyle/>
                    <a:p>
                      <a:pPr>
                        <a:defRPr sz="1200">
                          <a:solidFill>
                            <a:srgbClr val="1E2124"/>
                          </a:solidFill>
                          <a:latin typeface="Yu Gothic"/>
                        </a:defRPr>
                      </a:pPr>
                      <a:r>
                        <a:t>The Information(2026-08-24)</a:t>
                      </a:r>
                    </a:p>
                  </a:txBody>
                  <a:tcPr>
                    <a:solidFill>
                      <a:srgbClr val="FFFFFF"/>
                    </a:solidFill>
                  </a:tcPr>
                </a:tc>
                <a:tc>
                  <a:txBody>
                    <a:bodyPr/>
                    <a:lstStyle/>
                    <a:p>
                      <a:pPr>
                        <a:defRPr sz="1200">
                          <a:solidFill>
                            <a:srgbClr val="1E2124"/>
                          </a:solidFill>
                          <a:latin typeface="Yu Gothic"/>
                        </a:defRPr>
                      </a:pPr>
                      <a:r>
                        <a:t>報道の一次情報</a:t>
                      </a:r>
                    </a:p>
                  </a:txBody>
                  <a:tcPr>
                    <a:solidFill>
                      <a:srgbClr val="FFFFFF"/>
                    </a:solidFill>
                  </a:tcPr>
                </a:tc>
              </a:tr>
              <a:tr h="502920">
                <a:tc>
                  <a:txBody>
                    <a:bodyPr/>
                    <a:lstStyle/>
                    <a:p>
                      <a:pPr>
                        <a:defRPr sz="1200">
                          <a:solidFill>
                            <a:srgbClr val="1E2124"/>
                          </a:solidFill>
                          <a:latin typeface="Yu Gothic"/>
                        </a:defRPr>
                      </a:pPr>
                      <a:r>
                        <a:t>Reuters(2026-08-24)</a:t>
                      </a:r>
                    </a:p>
                  </a:txBody>
                  <a:tcPr>
                    <a:solidFill>
                      <a:srgbClr val="F7F4EF"/>
                    </a:solidFill>
                  </a:tcPr>
                </a:tc>
                <a:tc>
                  <a:txBody>
                    <a:bodyPr/>
                    <a:lstStyle/>
                    <a:p>
                      <a:pPr>
                        <a:defRPr sz="1200">
                          <a:solidFill>
                            <a:srgbClr val="1E2124"/>
                          </a:solidFill>
                          <a:latin typeface="Yu Gothic"/>
                        </a:defRPr>
                      </a:pPr>
                      <a:r>
                        <a:t>評価額・売上高の詳細</a:t>
                      </a:r>
                    </a:p>
                  </a:txBody>
                  <a:tcPr>
                    <a:solidFill>
                      <a:srgbClr val="F7F4EF"/>
                    </a:solidFill>
                  </a:tcPr>
                </a:tc>
              </a:tr>
              <a:tr h="502920">
                <a:tc>
                  <a:txBody>
                    <a:bodyPr/>
                    <a:lstStyle/>
                    <a:p>
                      <a:pPr>
                        <a:defRPr sz="1200">
                          <a:solidFill>
                            <a:srgbClr val="1E2124"/>
                          </a:solidFill>
                          <a:latin typeface="Yu Gothic"/>
                        </a:defRPr>
                      </a:pPr>
                      <a:r>
                        <a:t>Benzinga(2026-08-24)</a:t>
                      </a:r>
                    </a:p>
                  </a:txBody>
                  <a:tcPr>
                    <a:solidFill>
                      <a:srgbClr val="FFFFFF"/>
                    </a:solidFill>
                  </a:tcPr>
                </a:tc>
                <a:tc>
                  <a:txBody>
                    <a:bodyPr/>
                    <a:lstStyle/>
                    <a:p>
                      <a:pPr>
                        <a:defRPr sz="1200">
                          <a:solidFill>
                            <a:srgbClr val="1E2124"/>
                          </a:solidFill>
                          <a:latin typeface="Yu Gothic"/>
                        </a:defRPr>
                      </a:pPr>
                      <a:r>
                        <a:t>背景情報</a:t>
                      </a:r>
                    </a:p>
                  </a:txBody>
                  <a:tcPr>
                    <a:solidFill>
                      <a:srgbClr val="FFFFFF"/>
                    </a:solidFill>
                  </a:tcPr>
                </a:tc>
              </a:tr>
              <a:tr h="502920">
                <a:tc>
                  <a:txBody>
                    <a:bodyPr/>
                    <a:lstStyle/>
                    <a:p>
                      <a:pPr>
                        <a:defRPr sz="1200">
                          <a:solidFill>
                            <a:srgbClr val="1E2124"/>
                          </a:solidFill>
                          <a:latin typeface="Yu Gothic"/>
                        </a:defRPr>
                      </a:pPr>
                      <a:r>
                        <a:t>US News(2026-08-24)</a:t>
                      </a:r>
                    </a:p>
                  </a:txBody>
                  <a:tcPr>
                    <a:solidFill>
                      <a:srgbClr val="F7F4EF"/>
                    </a:solidFill>
                  </a:tcPr>
                </a:tc>
                <a:tc>
                  <a:txBody>
                    <a:bodyPr/>
                    <a:lstStyle/>
                    <a:p>
                      <a:pPr>
                        <a:defRPr sz="1200">
                          <a:solidFill>
                            <a:srgbClr val="1E2124"/>
                          </a:solidFill>
                          <a:latin typeface="Yu Gothic"/>
                        </a:defRPr>
                      </a:pPr>
                      <a:r>
                        <a:t>報道内容の整理</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AI業界動向を追う立場として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業界最大手企業の出資動向を具体的な数字とともに把握できる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AI検索サービスに関心がある立場として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急成長企業の実例を通じて業界動向を学べる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『協議』と『決定』を区別する視点が役立つ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評価額の上昇率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50%超 前回評価額から今回協議中の評価額までの上昇率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約200億ドルから300億ドル超へ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『Perplexity Computer』について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成長を支える製品を確認します。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専門職向けのクラウドベースAIエージェントである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コンピューター上の作業を自動化する機能を持つとされている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売上高急成長の一因として報じられているが、具体的な貢献度の内訳は確認できていない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Reuters(2026-08-24)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年換算売上高(現在)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7億5,000万ドル超 2026年8月24日時点の年換算売上高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年初の2億5,000万ドル未満から大きく成長</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Reuters(2026-08-24)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報道内容まとめ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報じられている評価額</a:t>
                      </a:r>
                    </a:p>
                  </a:txBody>
                  <a:tcPr>
                    <a:solidFill>
                      <a:srgbClr val="FFFFFF"/>
                    </a:solidFill>
                  </a:tcPr>
                </a:tc>
                <a:tc>
                  <a:txBody>
                    <a:bodyPr/>
                    <a:lstStyle/>
                    <a:p>
                      <a:pPr>
                        <a:defRPr sz="1200">
                          <a:solidFill>
                            <a:srgbClr val="1E2124"/>
                          </a:solidFill>
                          <a:latin typeface="Yu Gothic"/>
                        </a:defRPr>
                      </a:pPr>
                      <a:r>
                        <a:t>300億ドル超</a:t>
                      </a:r>
                    </a:p>
                  </a:txBody>
                  <a:tcPr>
                    <a:solidFill>
                      <a:srgbClr val="FFFFFF"/>
                    </a:solidFill>
                  </a:tcPr>
                </a:tc>
              </a:tr>
              <a:tr h="502920">
                <a:tc>
                  <a:txBody>
                    <a:bodyPr/>
                    <a:lstStyle/>
                    <a:p>
                      <a:pPr>
                        <a:defRPr sz="1200">
                          <a:solidFill>
                            <a:srgbClr val="1E2124"/>
                          </a:solidFill>
                          <a:latin typeface="Yu Gothic"/>
                        </a:defRPr>
                      </a:pPr>
                      <a:r>
                        <a:t>取引の状況</a:t>
                      </a:r>
                    </a:p>
                  </a:txBody>
                  <a:tcPr>
                    <a:solidFill>
                      <a:srgbClr val="F7F4EF"/>
                    </a:solidFill>
                  </a:tcPr>
                </a:tc>
                <a:tc>
                  <a:txBody>
                    <a:bodyPr/>
                    <a:lstStyle/>
                    <a:p>
                      <a:pPr>
                        <a:defRPr sz="1200">
                          <a:solidFill>
                            <a:srgbClr val="1E2124"/>
                          </a:solidFill>
                          <a:latin typeface="Yu Gothic"/>
                        </a:defRPr>
                      </a:pPr>
                      <a:r>
                        <a:t>未合意(協議段階)</a:t>
                      </a:r>
                    </a:p>
                  </a:txBody>
                  <a:tcPr>
                    <a:solidFill>
                      <a:srgbClr val="F7F4EF"/>
                    </a:solidFill>
                  </a:tcPr>
                </a:tc>
              </a:tr>
              <a:tr h="502920">
                <a:tc>
                  <a:txBody>
                    <a:bodyPr/>
                    <a:lstStyle/>
                    <a:p>
                      <a:pPr>
                        <a:defRPr sz="1200">
                          <a:solidFill>
                            <a:srgbClr val="1E2124"/>
                          </a:solidFill>
                          <a:latin typeface="Yu Gothic"/>
                        </a:defRPr>
                      </a:pPr>
                      <a:r>
                        <a:t>具体的な出資額</a:t>
                      </a:r>
                    </a:p>
                  </a:txBody>
                  <a:tcPr>
                    <a:solidFill>
                      <a:srgbClr val="FFFFFF"/>
                    </a:solidFill>
                  </a:tcPr>
                </a:tc>
                <a:tc>
                  <a:txBody>
                    <a:bodyPr/>
                    <a:lstStyle/>
                    <a:p>
                      <a:pPr>
                        <a:defRPr sz="1200">
                          <a:solidFill>
                            <a:srgbClr val="1E2124"/>
                          </a:solidFill>
                          <a:latin typeface="Yu Gothic"/>
                        </a:defRPr>
                      </a:pPr>
                      <a:r>
                        <a:t>未報道</a:t>
                      </a:r>
                    </a:p>
                  </a:txBody>
                  <a:tcPr>
                    <a:solidFill>
                      <a:srgbClr val="FFFFFF"/>
                    </a:solidFill>
                  </a:tcPr>
                </a:tc>
              </a:tr>
              <a:tr h="502920">
                <a:tc>
                  <a:txBody>
                    <a:bodyPr/>
                    <a:lstStyle/>
                    <a:p>
                      <a:pPr>
                        <a:defRPr sz="1200">
                          <a:solidFill>
                            <a:srgbClr val="1E2124"/>
                          </a:solidFill>
                          <a:latin typeface="Yu Gothic"/>
                        </a:defRPr>
                      </a:pPr>
                      <a:r>
                        <a:t>技術ライセンス契約</a:t>
                      </a:r>
                    </a:p>
                  </a:txBody>
                  <a:tcPr>
                    <a:solidFill>
                      <a:srgbClr val="F7F4EF"/>
                    </a:solidFill>
                  </a:tcPr>
                </a:tc>
                <a:tc>
                  <a:txBody>
                    <a:bodyPr/>
                    <a:lstStyle/>
                    <a:p>
                      <a:pPr>
                        <a:defRPr sz="1200">
                          <a:solidFill>
                            <a:srgbClr val="1E2124"/>
                          </a:solidFill>
                          <a:latin typeface="Yu Gothic"/>
                        </a:defRPr>
                      </a:pPr>
                      <a:r>
                        <a:t>協議されていたと報道</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Nvidiaの投資戦略における位置づけ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有力AI企業の一つ Nvidiaが出資検討先として注目するPerplexity</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Nvidiaは複数のAI企業への出資に積極的とされている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3A4750"/>
                    </a:solidFill>
                  </a:tcPr>
                </a:tc>
                <a:tc>
                  <a:txBody>
                    <a:bodyPr/>
                    <a:lstStyle/>
                    <a:p>
                      <a:pPr>
                        <a:defRPr sz="1300" b="1">
                          <a:solidFill>
                            <a:srgbClr val="FFFFFF"/>
                          </a:solidFill>
                          <a:latin typeface="Yu Gothic"/>
                        </a:defRPr>
                      </a:pPr>
                      <a:r>
                        <a:t>メディア</a:t>
                      </a:r>
                    </a:p>
                  </a:txBody>
                  <a:tcPr>
                    <a:solidFill>
                      <a:srgbClr val="3A4750"/>
                    </a:solidFill>
                  </a:tcPr>
                </a:tc>
              </a:tr>
              <a:tr h="502920">
                <a:tc>
                  <a:txBody>
                    <a:bodyPr/>
                    <a:lstStyle/>
                    <a:p>
                      <a:pPr>
                        <a:defRPr sz="1200">
                          <a:solidFill>
                            <a:srgbClr val="1E2124"/>
                          </a:solidFill>
                          <a:latin typeface="Yu Gothic"/>
                        </a:defRPr>
                      </a:pPr>
                      <a:r>
                        <a:t>2026年8月24日</a:t>
                      </a:r>
                    </a:p>
                  </a:txBody>
                  <a:tcPr>
                    <a:solidFill>
                      <a:srgbClr val="FFFFFF"/>
                    </a:solidFill>
                  </a:tcPr>
                </a:tc>
                <a:tc>
                  <a:txBody>
                    <a:bodyPr/>
                    <a:lstStyle/>
                    <a:p>
                      <a:pPr>
                        <a:defRPr sz="1200">
                          <a:solidFill>
                            <a:srgbClr val="1E2124"/>
                          </a:solidFill>
                          <a:latin typeface="Yu Gothic"/>
                        </a:defRPr>
                      </a:pPr>
                      <a:r>
                        <a:t>The Information(一次報道)</a:t>
                      </a:r>
                    </a:p>
                  </a:txBody>
                  <a:tcPr>
                    <a:solidFill>
                      <a:srgbClr val="FFFFFF"/>
                    </a:solidFill>
                  </a:tcPr>
                </a:tc>
              </a:tr>
              <a:tr h="502920">
                <a:tc>
                  <a:txBody>
                    <a:bodyPr/>
                    <a:lstStyle/>
                    <a:p>
                      <a:pPr>
                        <a:defRPr sz="1200">
                          <a:solidFill>
                            <a:srgbClr val="1E2124"/>
                          </a:solidFill>
                          <a:latin typeface="Yu Gothic"/>
                        </a:defRPr>
                      </a:pPr>
                      <a:r>
                        <a:t>2026年8月24日</a:t>
                      </a:r>
                    </a:p>
                  </a:txBody>
                  <a:tcPr>
                    <a:solidFill>
                      <a:srgbClr val="F7F4EF"/>
                    </a:solidFill>
                  </a:tcPr>
                </a:tc>
                <a:tc>
                  <a:txBody>
                    <a:bodyPr/>
                    <a:lstStyle/>
                    <a:p>
                      <a:pPr>
                        <a:defRPr sz="1200">
                          <a:solidFill>
                            <a:srgbClr val="1E2124"/>
                          </a:solidFill>
                          <a:latin typeface="Yu Gothic"/>
                        </a:defRPr>
                      </a:pPr>
                      <a:r>
                        <a:t>Reuters・Benzinga(引用報道)</a:t>
                      </a:r>
                    </a:p>
                  </a:txBody>
                  <a:tcPr>
                    <a:solidFill>
                      <a:srgbClr val="F7F4EF"/>
                    </a:solidFill>
                  </a:tcPr>
                </a:tc>
              </a:tr>
              <a:tr h="502920">
                <a:tc>
                  <a:txBody>
                    <a:bodyPr/>
                    <a:lstStyle/>
                    <a:p>
                      <a:pPr>
                        <a:defRPr sz="1200">
                          <a:solidFill>
                            <a:srgbClr val="1E2124"/>
                          </a:solidFill>
                          <a:latin typeface="Yu Gothic"/>
                        </a:defRPr>
                      </a:pPr>
                      <a:r>
                        <a:t>2026年8月24日</a:t>
                      </a:r>
                    </a:p>
                  </a:txBody>
                  <a:tcPr>
                    <a:solidFill>
                      <a:srgbClr val="FFFFFF"/>
                    </a:solidFill>
                  </a:tcPr>
                </a:tc>
                <a:tc>
                  <a:txBody>
                    <a:bodyPr/>
                    <a:lstStyle/>
                    <a:p>
                      <a:pPr>
                        <a:defRPr sz="1200">
                          <a:solidFill>
                            <a:srgbClr val="1E2124"/>
                          </a:solidFill>
                          <a:latin typeface="Yu Gothic"/>
                        </a:defRPr>
                      </a:pPr>
                      <a:r>
                        <a:t>US News・citybiz(引用報道)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評価額の絶対的な規模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300億ドル超 協議中とされる評価額そのものの規模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AI検索スタートアップとしては極めて大型の水準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The Information(2026-08-24)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一般的な出資協議報道 vs 今回のNvidia・Perplexity</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一般的な出資協議報道</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単一の出資枠組みのみが報じられることが多い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今回のNvidia・Perplexity</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出資協議と技術ライセンス契約協議が並行して報じられている</a:t>
            </a:r>
          </a:p>
        </p:txBody>
      </p:sp>
      <p:sp>
        <p:nvSpPr>
          <p:cNvPr id="16" name="Oval 15"/>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評価額の大幅な上昇も伴う</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実際に出資が合意に至るかどうか、その規模に注目が集まる</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技術ライセンス契約の具体的な内容が今後明らかになるかどうかも注目点である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具体的な今後の展開予測は本テーマの範囲では断定せず、確認できた事実にとどめる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B7280"/>
                </a:solidFill>
                <a:latin typeface="Yu Gothic"/>
              </a:rPr>
              <a:t>本編のまとめです。</a:t>
            </a:r>
          </a:p>
        </p:txBody>
      </p:sp>
      <p:sp>
        <p:nvSpPr>
          <p:cNvPr id="7" name="Oval 6"/>
          <p:cNvSpPr/>
          <p:nvPr/>
        </p:nvSpPr>
        <p:spPr>
          <a:xfrm>
            <a:off x="457200" y="21214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Nvidiaが、Perplexityへの出資を協議していると2026年8月24日付で報じられた</a:t>
            </a:r>
          </a:p>
        </p:txBody>
      </p:sp>
      <p:sp>
        <p:nvSpPr>
          <p:cNvPr id="9" name="Oval 8"/>
          <p:cNvSpPr/>
          <p:nvPr/>
        </p:nvSpPr>
        <p:spPr>
          <a:xfrm>
            <a:off x="457200" y="28986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協議が実現すれば評価額は300億ドルを超える水準になるとされ、前回評価額から50%超の上昇である</a:t>
            </a:r>
          </a:p>
        </p:txBody>
      </p:sp>
      <p:sp>
        <p:nvSpPr>
          <p:cNvPr id="11" name="Oval 10"/>
          <p:cNvSpPr/>
          <p:nvPr/>
        </p:nvSpPr>
        <p:spPr>
          <a:xfrm>
            <a:off x="457200" y="367588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Perplexityの年換算売上高は年初から3倍超に急成長している</a:t>
            </a:r>
          </a:p>
        </p:txBody>
      </p:sp>
      <p:sp>
        <p:nvSpPr>
          <p:cNvPr id="13" name="Oval 12"/>
          <p:cNvSpPr/>
          <p:nvPr/>
        </p:nvSpPr>
        <p:spPr>
          <a:xfrm>
            <a:off x="457200" y="4453127"/>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あくまで『協議段階』の報道であり、取引はまだ合意されていないことを正直にお伝えした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The Information・Reuters等(2026-08-24)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Nvidia、Perplexityへの出資協議。評価額300億ドル超が浮上。</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AI業界最大手のNvidiaが、急成長中のPerplexityへの出資を協議していると報じられました。協議段階であることを含め、出典付きで整理してお届けしました。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