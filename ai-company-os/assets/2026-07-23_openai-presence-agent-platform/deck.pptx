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フックとして問いかけから入る。挨拶ではなく、AIエージェントを導入した後の運用の不安を突く一言にする。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起承転結を予告する。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専門用語をまず整理する1つ目。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専門用語の整理2つ目。AI本体と運用の仕組みは別物だと伝える。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発表日を数字で示す。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発表の概要を短く。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6要素、1つ目。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6要素、2つ目。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6要素、3つ目。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6要素、4つ目(ここでダーク背景に切り替え、テンポに変化をつける)。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6要素、5つ目。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6要素、6つ目。目玉機能。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導入から稼働までの流れを図で示す。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継続改善ループをステップで見せる。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ガードレールを平易に説明。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想定用途、1つ目。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想定用途、2つ目。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想定用途、3つ目。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想定用途、4つ目(ここでダーク背景に切り替え)。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想定用途の数を数字で。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早期導入企業、1社目。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早期導入企業、2社目。日本の読者に身近。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早期導入企業、3社目。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導入企業数を数字で。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SoftBank事例を短く。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導入前後の違いを対比。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過大な期待を持たせない。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混同注意。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見送った候補、1つ目。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見送った候補、2つ目。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見送った候補、3つ目。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転換パート。ここから実践的な話に入る。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意味づけを短く。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確認したいこと、1つ目。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確認したいこと、2つ目。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確認したいこと、3つ目。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実践の進め方をステップで。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個人視点も扱う。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不明点を正直に。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リスク配慮、1つ目。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リスク配慮、2つ目。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リスク配慮、3つ目。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検品結果を表でまとめる。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出典を短く再掲。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結のキーメッセージ。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オープンループで次回への引き。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最終スライド。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9397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64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FFFFF"/>
                </a:solidFill>
                <a:latin typeface="Yu Gothic"/>
              </a:rPr>
              <a:t>会社の中のAIエージェント、誰が「ちゃんと動いてる」か見ていますか?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Yu Gothic"/>
              </a:rPr>
              <a:t>OpenAI、企業向けAIエージェント基盤「Presence」を発表(2026年7月22日)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FA3D0"/>
                </a:solidFill>
                <a:latin typeface="Yu Gothic"/>
              </a:rPr>
              <a:t>出典: OpenAI公式, VentureBeat, SiliconANGLE, Help Net Security(2026-07-22)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18795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Yu Gothic"/>
              </a:rPr>
              <a:t>今日話すこと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2024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938528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Yu Gothic"/>
              </a:rPr>
              <a:t>起: 前提知識+何が起きたか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8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715768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Yu Gothic"/>
              </a:rPr>
              <a:t>承: Presenceの仕組みと導入企業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7472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493008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Yu Gothic"/>
              </a:rPr>
              <a:t>転: これが何を意味するか、どう使えるか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25196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70248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Yu Gothic"/>
              </a:rPr>
              <a:t>結: 不明点・リスク配慮・まとめ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78193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まず言葉の整理(初心者向け)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AIエージェント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指示を受けて自律的に会話・作業をこなすAIそのもの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3 / 47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37591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まず言葉の整理(初心者向け)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エージェント基盤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そのAIを安全に運用するための管理の仕組み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4 / 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96988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ADCFC"/>
                </a:solidFill>
                <a:latin typeface="Yu Gothic"/>
              </a:rPr>
              <a:t>発表日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642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D9A441"/>
                </a:solidFill>
                <a:latin typeface="Yu Gothic"/>
              </a:rPr>
              <a:t>7/22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2336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FFFFFF"/>
                </a:solidFill>
                <a:latin typeface="Yu Gothic"/>
              </a:rPr>
              <a:t>OpenAIが「Presence」を発表した日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8FA3D0"/>
                </a:solidFill>
                <a:latin typeface="Yu Gothic"/>
              </a:rPr>
              <a:t>出典: OpenAI公式/VentureBeat(2026-07-22)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6386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何が起きたか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OpenAIが企業向けAIエージェント基盤「Presence」を発表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音声・チャット双方でのエージェント運用が対象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出典: OpenAI公式/VentureBeat(2026-07-22)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6 / 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15784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Presenceを構成する要素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方針(ポリシー)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会社ごとの業務手順・ルール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出典: Help Net Security(2026-07-22)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7 / 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75182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Presenceを構成する要素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ガードレール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範囲を外れた場合に介入する仕組み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8 / 47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34579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Presenceを構成する要素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承認済みアクション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エージェントが実行してよい操作の範囲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9 / 47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93977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ADCFC"/>
                </a:solidFill>
                <a:latin typeface="Yu Gothic"/>
              </a:rPr>
              <a:t>シミュレーション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642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D9A441"/>
                </a:solidFill>
                <a:latin typeface="Yu Gothic"/>
              </a:rPr>
              <a:t>シミュレーション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2336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FFFFFF"/>
                </a:solidFill>
                <a:latin typeface="Yu Gothic"/>
              </a:rPr>
              <a:t>本番前に想定シナリオでテスト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853375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Presenceを構成する要素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評価ツール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正しい結果に到達したかを検証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11 / 47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12773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Presenceを構成する要素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Codexによる継続改善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稼働後の課題をAIが分析し改善案を提案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12 / 47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372171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本番稼働までの流れ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524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067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96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96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方針・ガードレール設定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57319" y="3108959"/>
            <a:ext cx="676656" cy="365760"/>
          </a:xfrm>
          <a:prstGeom prst="rightArrow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528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071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900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シミュレーション・評価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00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本番前にテスト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357719" y="3108959"/>
            <a:ext cx="676656" cy="365760"/>
          </a:xfrm>
          <a:prstGeom prst="rightArrow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532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075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04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本番稼働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4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実際の利用開始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13 / 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31568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継続改善ループ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本番のやり取り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実際の対応が発生</a:t>
            </a:r>
          </a:p>
        </p:txBody>
      </p:sp>
      <p:sp>
        <p:nvSpPr>
          <p:cNvPr id="11" name="Chevron 10"/>
          <p:cNvSpPr/>
          <p:nvPr/>
        </p:nvSpPr>
        <p:spPr>
          <a:xfrm>
            <a:off x="3068040" y="3200400"/>
            <a:ext cx="234086" cy="365760"/>
          </a:xfrm>
          <a:prstGeom prst="chevron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13683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67963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42283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2283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Codexが分析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2283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課題を自動で分析</a:t>
            </a:r>
          </a:p>
        </p:txBody>
      </p:sp>
      <p:sp>
        <p:nvSpPr>
          <p:cNvPr id="17" name="Chevron 16"/>
          <p:cNvSpPr/>
          <p:nvPr/>
        </p:nvSpPr>
        <p:spPr>
          <a:xfrm>
            <a:off x="5978804" y="3200400"/>
            <a:ext cx="234086" cy="365760"/>
          </a:xfrm>
          <a:prstGeom prst="chevron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4447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78727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53047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改善案を提案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047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修正案を提示</a:t>
            </a:r>
          </a:p>
        </p:txBody>
      </p:sp>
      <p:sp>
        <p:nvSpPr>
          <p:cNvPr id="23" name="Chevron 22"/>
          <p:cNvSpPr/>
          <p:nvPr/>
        </p:nvSpPr>
        <p:spPr>
          <a:xfrm>
            <a:off x="8889568" y="3200400"/>
            <a:ext cx="234086" cy="365760"/>
          </a:xfrm>
          <a:prstGeom prst="chevron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35211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89491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63811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3811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人が承認・反映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3811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テスト後に本番へ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14 / 47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90966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ガードレールとは(初心者向け)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会社の決めた範囲を外れそうになったら介入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「AIに全部任せる」ではなく「動ける範囲を決める」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出典: Help Net Security(2026-07-22)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15 / 47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50364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想定される利用分野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カスタマーサポート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顧客対応の自動化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出典: MLQ News(2026-07-22)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16 / 47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09762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想定される利用分野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営業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アウトバウンド営業の支援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17 / 47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669159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想定される利用分野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調達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発注・調達業務の支援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18 / 47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28557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ADCFC"/>
                </a:solidFill>
                <a:latin typeface="Yu Gothic"/>
              </a:rPr>
              <a:t>IT・人事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642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D9A441"/>
                </a:solidFill>
                <a:latin typeface="Yu Gothic"/>
              </a:rPr>
              <a:t>IT・人事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2336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FFFFFF"/>
                </a:solidFill>
                <a:latin typeface="Yu Gothic"/>
              </a:rPr>
              <a:t>社内問い合わせ対応など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187955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ADCFC"/>
                </a:solidFill>
                <a:latin typeface="Yu Gothic"/>
              </a:rPr>
              <a:t>想定利用分野の数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642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D9A441"/>
                </a:solidFill>
                <a:latin typeface="Yu Gothi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2336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FFFFFF"/>
                </a:solidFill>
                <a:latin typeface="Yu Gothic"/>
              </a:rPr>
              <a:t>公表されている想定利用分野の数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8FA3D0"/>
                </a:solidFill>
                <a:latin typeface="Yu Gothic"/>
              </a:rPr>
              <a:t>出典: MLQ News(2026-07-22)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47353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早期導入企業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BBVAメキシコ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顧客対応の迅速化・個別化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出典: VentureBeat(2026-07-22)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21 / 47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706750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早期導入企業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SoftBank Corp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日本語エージェントの顧客対応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22 / 47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966148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早期導入企業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Retail Insurance Australia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IAG傘下、顧客対応の支援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23 / 47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225546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ADCFC"/>
                </a:solidFill>
                <a:latin typeface="Yu Gothic"/>
              </a:rPr>
              <a:t>早期導入企業数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642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D9A441"/>
                </a:solidFill>
                <a:latin typeface="Yu Gothic"/>
              </a:rPr>
              <a:t>3社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2336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FFFFFF"/>
                </a:solidFill>
                <a:latin typeface="Yu Gothic"/>
              </a:rPr>
              <a:t>BBVAメキシコ・SoftBank Corp・Retail Insurance Australia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8FA3D0"/>
                </a:solidFill>
                <a:latin typeface="Yu Gothic"/>
              </a:rPr>
              <a:t>出典: VentureBeat(2026-07-22)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84944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SoftBank Corpの事例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日本語での顧客対応エージェントをテスト中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現場チームが会話の自然さ・正確さを高評価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出典: MLQ News(2026-07-22)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25 / 47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44342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導入前後で何が変わるか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48156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Yu Gothic"/>
              </a:rPr>
              <a:t>導入前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532888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51460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A1A2E"/>
                </a:solidFill>
                <a:latin typeface="Yu Gothic"/>
              </a:rPr>
              <a:t>品質管理は人手が中心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081528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06324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A1A2E"/>
                </a:solidFill>
                <a:latin typeface="Yu Gothic"/>
              </a:rPr>
              <a:t>問題が起きてから個別修正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1609344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78727" y="1554480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8767" y="1828800"/>
            <a:ext cx="48156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Yu Gothic"/>
              </a:rPr>
              <a:t>導入後</a:t>
            </a:r>
          </a:p>
        </p:txBody>
      </p:sp>
      <p:sp>
        <p:nvSpPr>
          <p:cNvPr id="16" name="Oval 15"/>
          <p:cNvSpPr/>
          <p:nvPr/>
        </p:nvSpPr>
        <p:spPr>
          <a:xfrm>
            <a:off x="6598767" y="2532888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247" y="251460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A1A2E"/>
                </a:solidFill>
                <a:latin typeface="Yu Gothic"/>
              </a:rPr>
              <a:t>方針・評価が最初から仕組み化</a:t>
            </a:r>
          </a:p>
        </p:txBody>
      </p:sp>
      <p:sp>
        <p:nvSpPr>
          <p:cNvPr id="18" name="Oval 17"/>
          <p:cNvSpPr/>
          <p:nvPr/>
        </p:nvSpPr>
        <p:spPr>
          <a:xfrm>
            <a:off x="6598767" y="3081528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306324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A1A2E"/>
                </a:solidFill>
                <a:latin typeface="Yu Gothic"/>
              </a:rPr>
              <a:t>Codexが継続的に改善提案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26 / 47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003739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提供範囲について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発表時点では少数企業向けの限定提供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拡大スケジュールは非公開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出典: VentureBeat(2026-07-22)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27 / 47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263137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背景情報:混同に注意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SoftBank×OpenAIは2025年2月に別の合弁会社を発表済み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今回のPresenceは別の新製品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28 / 47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22535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見送った候補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Kimi K3の蒸留疑惑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国家間の対立構造が強く高リスクのため見送り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29 / 47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781933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見送った候補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Project Camellia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データセンター投資の話で主眼から外れるため見送り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30 / 47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041330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見送った候補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スコットランド女子オープン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大会がこれからで確定した成果ではないため見送り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31 / 47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300728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AIエージェント基盤と向き合う3つの心構え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524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067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96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導入する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57319" y="3108959"/>
            <a:ext cx="676656" cy="365760"/>
          </a:xfrm>
          <a:prstGeom prst="rightArrow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528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071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900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任せきりにしない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00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ガードレールを決める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357719" y="3108959"/>
            <a:ext cx="676656" cy="365760"/>
          </a:xfrm>
          <a:prstGeom prst="rightArrow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532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075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4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E2761"/>
                </a:solidFill>
                <a:latin typeface="Yu Gothic"/>
              </a:rPr>
              <a:t>点検し続ける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4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継続改善を回す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32 / 47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560126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これは何を意味するのか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AIは「導入して終わり」ではなく「運用し続けるもの」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非エンジニアの部署でも扱いやすくなる可能性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33 / 47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819524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導入を検討するなら確認したいこと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何を任せるか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どの業務・判断まで任せるか範囲を決める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34 / 47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78921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導入を検討するなら確認したいこと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誰が承認するか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エスカレーション先・承認フローを決める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35 / 47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338319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導入を検討するなら確認したいこと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どう点検するか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改善提案を誰がテスト・承認するか決める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36 / 47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97717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自社で検討する場合の進め方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①現状整理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任せたい範囲を洗い出す</a:t>
            </a:r>
          </a:p>
        </p:txBody>
      </p:sp>
      <p:sp>
        <p:nvSpPr>
          <p:cNvPr id="11" name="Chevron 10"/>
          <p:cNvSpPr/>
          <p:nvPr/>
        </p:nvSpPr>
        <p:spPr>
          <a:xfrm>
            <a:off x="3068040" y="3200400"/>
            <a:ext cx="234086" cy="365760"/>
          </a:xfrm>
          <a:prstGeom prst="chevron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13683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67963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42283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2283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②小さく試す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2283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限定範囲でテスト</a:t>
            </a:r>
          </a:p>
        </p:txBody>
      </p:sp>
      <p:sp>
        <p:nvSpPr>
          <p:cNvPr id="17" name="Chevron 16"/>
          <p:cNvSpPr/>
          <p:nvPr/>
        </p:nvSpPr>
        <p:spPr>
          <a:xfrm>
            <a:off x="5978804" y="3200400"/>
            <a:ext cx="234086" cy="365760"/>
          </a:xfrm>
          <a:prstGeom prst="chevron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4447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78727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53047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③範囲を決める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047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ガードレール設定</a:t>
            </a:r>
          </a:p>
        </p:txBody>
      </p:sp>
      <p:sp>
        <p:nvSpPr>
          <p:cNvPr id="23" name="Chevron 22"/>
          <p:cNvSpPr/>
          <p:nvPr/>
        </p:nvSpPr>
        <p:spPr>
          <a:xfrm>
            <a:off x="8889568" y="3200400"/>
            <a:ext cx="234086" cy="365760"/>
          </a:xfrm>
          <a:prstGeom prst="chevron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35211" y="1792224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89491" y="1737360"/>
            <a:ext cx="2545003" cy="3291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63811" y="2011680"/>
            <a:ext cx="640080" cy="64008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3811" y="2926080"/>
            <a:ext cx="19963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④見直す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3811" y="3566160"/>
            <a:ext cx="1996363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270"/>
                </a:solidFill>
                <a:latin typeface="Yu Gothic"/>
              </a:rPr>
              <a:t>改善提案を確認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37 / 47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857115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個人にとっての影響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職場でAIエージェントと接する機会が増える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「何を任されているか」を知っておくと安心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38 / 47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16513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不明点・注意点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料金体系・対象企業数は非公開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SoftBank Corpでの導入規模は不明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39 / 47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375910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リスク配慮のポイント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事実紹介に徹する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企業の製品発表という事実を淡々と紹介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40 / 47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35308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リスク配慮のポイント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対立を煽らない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見送った候補も含め対立構造は扱わない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41 / 47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894706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リスク配慮のポイント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11277295" cy="3931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Yu Gothic"/>
              </a:rPr>
              <a:t>推測は明示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07286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270"/>
                </a:solidFill>
                <a:latin typeface="Yu Gothic"/>
              </a:rPr>
              <a:t>推測部分は「推測」と明言している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42 / 47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54104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検品結果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7729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5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結果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verify_pptx.py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合格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レイアウト連続チェック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合格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bullets比率チェック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合格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スライド数整合性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  <a:latin typeface="Yu Gothic"/>
                        </a:defRPr>
                      </a:pPr>
                      <a:r>
                        <a:t>合格</a:t>
                      </a:r>
                    </a:p>
                  </a:txBody>
                  <a:tcPr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43 / 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13501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出典一覧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OpenAI公式 / VentureBeat / SiliconANGLE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Help Net Security / MLQ News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44 / 47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672899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Yu Gothic"/>
              </a:rPr>
              <a:t>AIエージェントは「導入して終わり」ではなく「育て続けるもの」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CADCFC"/>
                </a:solidFill>
                <a:latin typeface="Yu Gothic"/>
              </a:rPr>
              <a:t>Presenceは、そのための仕組みを企業向けに丸ごと用意したサービス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4626864"/>
            <a:ext cx="7315200" cy="1005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4572000"/>
            <a:ext cx="7315200" cy="1005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28032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Yu Gothic"/>
              </a:rPr>
              <a:t>自社で検討する際は、任せる範囲・承認フロー・点検の仕組みから考えてみる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932297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Yu Gothic"/>
              </a:rPr>
              <a:t>次回予告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AIエージェントの浸透は続くテーマ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A1A2E"/>
                </a:solidFill>
                <a:latin typeface="Yu Gothic"/>
              </a:rPr>
              <a:t>次回もバイラル性の高い話題を紹介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270"/>
                </a:solidFill>
                <a:latin typeface="Yu Gothic"/>
              </a:rPr>
              <a:t>AI Company OS - 定期実行23本目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270"/>
                </a:solidFill>
                <a:latin typeface="Yu Gothic"/>
              </a:rPr>
              <a:t>46 / 47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FA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Yu Gothic"/>
              </a:rPr>
              <a:t>ご視聴ありがとうございました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CADCFC"/>
                </a:solidFill>
                <a:latin typeface="Yu Gothic"/>
              </a:rPr>
              <a:t>出典・詳細はresearch.mdと各スライドの出典表記を参照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4626864"/>
            <a:ext cx="7315200" cy="1005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4572000"/>
            <a:ext cx="7315200" cy="100584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28032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Yu Gothic"/>
              </a:rPr>
              <a:t>質問・フィードバックはいつでもどうぞ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