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フックとして問いかけから入る。挨拶ではなく、AIエージェントを導入した後の『運用の不安』を突く一言にする。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起承転結を予告する。今回は初心者向けの前提知識パートがある旨も伝える。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専門用語を最初に整理する。AIエージェント単体と、それを運用するための基盤(Presence)は別物であることを明確にする。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2026年7月22日、OpenAIが企業向けAIエージェント基盤「Presence」を発表したことを数字で示す。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発表の概要を、文章ではなく項目×内容の表で見せる。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Presenceを構成する6つの要素を表で整理する。文字で並べるより一覧性が高い。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導入から稼働までの流れを図で示す。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稼働後も自動で改善が回る仕組みをステップで見せる。ここがPresenceの目玉機能。出典: Help Net Security(2026-07-22)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ガードレールという専門用語を、文章ではなく判定フローの図で説明する。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想定用途をカードで整理する。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カスタマーサポート・営業・調達・ITサービス・人事の5分野が想定用途として挙げられている。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早期導入企業を表で整理する。SoftBank Corpが含まれる点が日本の読者にとって身近なポイント。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発表時点で名前が挙がっている早期導入企業は3社。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SoftBankの事例を紹介する。評価コメントは要約であり、逐語的な引用ではないことに注意する。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導入前後の違いを対比で見せる。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過大な期待を持たせないよう、提供範囲の限定性を表で明示する。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似た名前・似た企業が絡む話なので、2つを対比の図で明確に区別する。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見送った候補も具体的に共有し、選定プロセスの透明性を示す。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転換パート。ここから『これは何を意味するのか』という実践的な話に入る。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出来事の紹介だけで終わらせず、読み手にとっての意味を『事実→示唆→注意』の流れの図で扱う。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初心者・意思決定者向けのチェックリストとして提示する。「どう使えるか」に直接答えるスライド。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実践につながる進め方をステップで見せる。あくまで一般的な目安であることを話す。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企業目線だけでなく、個人視聴者にとっての意味も扱う。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不明点を正直に「不明」と明言する。憶測で埋めない。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政治・対立を煽らないという制作方針を明確に伝える。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検品結果を表でまとめ、品質担保のプロセスを見せる。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出典を一覧で再掲する。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起承転結の「結」として、テーマ全体のキーメッセージをまとめる。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オープンループとして次回への引きを作る。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最終スライド。締めの挨拶と出典の再確認。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FFFFF"/>
                </a:solidFill>
                <a:latin typeface="Yu Gothic"/>
              </a:rPr>
              <a:t>会社の中のAIエージェント、誰が「ちゃんと動いてる」か見ていますか?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OpenAI、企業向けAIエージェント基盤「Presence」を発表(2026年7月22日)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3D0"/>
                </a:solidFill>
                <a:latin typeface="Yu Gothic"/>
              </a:rPr>
              <a:t>出典: OpenAI公式, VentureBeat, SiliconANGLE, Help Net Security(2026-07-22)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1277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Yu Gothic"/>
              </a:rPr>
              <a:t>今日話すこと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2024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3852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起: 前提知識(AIエージェントと基盤の違い)+ 何が起きたか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71576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承: Presenceの仕組みと導入企業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49300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転: これが何を意味するか、どう使えるか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25196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7024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結: 不明点・リスク配慮・まとめ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まず言葉の整理(初心者向け)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AIエージェント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指示を受けて自律的に会話・作業をこなすAIそのもの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5867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0187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エージェント基盤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そのAIを安全に運用するための管理の仕組み(方針・監視・改善など)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2555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発表日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7/22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OpenAIが「Presence」を発表した日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8FA3D0"/>
                </a:solidFill>
                <a:latin typeface="Yu Gothic"/>
              </a:rPr>
              <a:t>出典: OpenAI公式/VentureBeat(2026-07-22)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何が起きたか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2026年7月22日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音声・チャット双方のエージェント運用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報道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VentureBeat・SiliconANGLE等が一斉報道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OpenAI公式/VentureBeat(2026-07-22)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33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Presenceを構成する6つの要素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要素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方針(ポリシー)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会社ごとの業務手順・ルール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ガードレール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範囲を外れた場合に介入する仕組み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承認済みアクション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エージェントが実行してよい操作の範囲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シミュレーション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本番前に想定シナリオでテスト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評価ツール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正しい結果に到達したかを検証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Codexによる継続改善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稼働後の課題をAIが分析し改善案を提案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Help Net Security(2026-07-22)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84472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本番稼働までの流れ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524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067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96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96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方針・ガードレール設定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573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528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071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00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シミュレーション・評価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00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本番前にテスト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577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532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75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本番稼働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実際の利用開始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5111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継続改善ループ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本番のやり取り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実際の対応・エスカレーション事例が発生</a:t>
            </a:r>
          </a:p>
        </p:txBody>
      </p:sp>
      <p:sp>
        <p:nvSpPr>
          <p:cNvPr id="11" name="Chevron 10"/>
          <p:cNvSpPr/>
          <p:nvPr/>
        </p:nvSpPr>
        <p:spPr>
          <a:xfrm>
            <a:off x="3068040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3683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67963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42283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Codexが分析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283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課題・ギャップを自動で分析</a:t>
            </a:r>
          </a:p>
        </p:txBody>
      </p:sp>
      <p:sp>
        <p:nvSpPr>
          <p:cNvPr id="17" name="Chevron 16"/>
          <p:cNvSpPr/>
          <p:nvPr/>
        </p:nvSpPr>
        <p:spPr>
          <a:xfrm>
            <a:off x="5978804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8727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3047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改善案を提案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具体的な修正案を提示</a:t>
            </a:r>
          </a:p>
        </p:txBody>
      </p:sp>
      <p:sp>
        <p:nvSpPr>
          <p:cNvPr id="23" name="Chevron 22"/>
          <p:cNvSpPr/>
          <p:nvPr/>
        </p:nvSpPr>
        <p:spPr>
          <a:xfrm>
            <a:off x="8889568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211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491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63811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3811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人が承認・反映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3811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テスト後に本番へ反映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50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ガードレールとは何か(初心者向け)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524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067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96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エージェントの行動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96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会話・操作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573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528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071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00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ガードレールが判定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00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範囲内か外か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577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532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75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実行 / 人に引き継ぎ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範囲外なら介入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Help Net Security(2026-07-22)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想定される利用分野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0306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カスタマーサポート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030653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顧客対応の自動化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2253" y="1609344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56533" y="1554480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853" y="1828800"/>
            <a:ext cx="20306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営業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853" y="2514600"/>
            <a:ext cx="2030653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アウトバウンド営業の支援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1609344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55867" y="1554480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0187" y="1828800"/>
            <a:ext cx="20306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調達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187" y="2514600"/>
            <a:ext cx="2030653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発注・調達業務の支援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00921" y="1609344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55201" y="1554480"/>
            <a:ext cx="2579293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29521" y="1828800"/>
            <a:ext cx="20306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ITサービス・人事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9521" y="2514600"/>
            <a:ext cx="2030653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社内問い合わせ対応など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MLQ News(2026-07-22)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7028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想定利用分野の数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公表されている想定利用分野の数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8FA3D0"/>
                </a:solidFill>
                <a:latin typeface="Yu Gothic"/>
              </a:rPr>
              <a:t>出典: MLQ News(2026-07-22)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87667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早期導入企業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BBVAメキシコ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顧客対応の迅速化・個別化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SoftBank Corp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日本語エージェントの顧客対応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Retail Insurance Australia(IAG傘下)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顧客対応の支援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VentureBeat(2026-07-22)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28306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早期導入企業数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3社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BBVAメキシコ・SoftBank Corp・Retail Insurance Australia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8FA3D0"/>
                </a:solidFill>
                <a:latin typeface="Yu Gothic"/>
              </a:rPr>
              <a:t>出典: VentureBeat(2026-07-22)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68945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SoftBank Corpでの日本語エージェント事例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テスト内容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日本語での顧客対応エージェントをPresence上でテスト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5867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0187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現場の評価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会話の自然さ・正確さを高く評価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MLQ News(2026-07-22)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導入前後で何が変わるか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Presence導入前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53288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エージェントの品質管理は人手が中心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08152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問題が起きてから個別に修正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63016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会社ごとに仕組みをゼロから作る必要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447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8727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8767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Presence導入後</a:t>
            </a:r>
          </a:p>
        </p:txBody>
      </p:sp>
      <p:sp>
        <p:nvSpPr>
          <p:cNvPr id="18" name="Oval 17"/>
          <p:cNvSpPr/>
          <p:nvPr/>
        </p:nvSpPr>
        <p:spPr>
          <a:xfrm>
            <a:off x="6598767" y="253288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方針・ガードレール・評価が最初から仕組み化</a:t>
            </a:r>
          </a:p>
        </p:txBody>
      </p:sp>
      <p:sp>
        <p:nvSpPr>
          <p:cNvPr id="20" name="Oval 19"/>
          <p:cNvSpPr/>
          <p:nvPr/>
        </p:nvSpPr>
        <p:spPr>
          <a:xfrm>
            <a:off x="6598767" y="308152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247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Codexが継続的に改善案を提案</a:t>
            </a:r>
          </a:p>
        </p:txBody>
      </p:sp>
      <p:sp>
        <p:nvSpPr>
          <p:cNvPr id="22" name="Oval 21"/>
          <p:cNvSpPr/>
          <p:nvPr/>
        </p:nvSpPr>
        <p:spPr>
          <a:xfrm>
            <a:off x="6598767" y="363016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61188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共通の基盤の上でエージェントを運用できる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50223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提供範囲について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現状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少数の企業向けの限定的な一般提供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拡大スケジュール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非公開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誰でもすぐ使えるか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いいえ(現時点では限定的)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VentureBeat(2026-07-22)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90862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背景情報:混同に注意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SB OpenAI Japan(2025年2月発表)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53288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SoftBank×OpenAIの合弁会社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08152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「Cristal intelligence」を提供予定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78727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8767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Presence(2026年7月22日発表)</a:t>
            </a:r>
          </a:p>
        </p:txBody>
      </p:sp>
      <p:sp>
        <p:nvSpPr>
          <p:cNvPr id="16" name="Oval 15"/>
          <p:cNvSpPr/>
          <p:nvPr/>
        </p:nvSpPr>
        <p:spPr>
          <a:xfrm>
            <a:off x="6598767" y="253288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247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OpenAI単体の新製品</a:t>
            </a:r>
          </a:p>
        </p:txBody>
      </p:sp>
      <p:sp>
        <p:nvSpPr>
          <p:cNvPr id="18" name="Oval 17"/>
          <p:cNvSpPr/>
          <p:nvPr/>
        </p:nvSpPr>
        <p:spPr>
          <a:xfrm>
            <a:off x="6598767" y="308152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企業向けAIエージェント基盤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01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見送った候補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Kimi K3の蒸留疑惑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国家間の対立構造が強く高リスクのため見送り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2978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98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Project Camellia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データセンター投資の話でエージェントの主眼から外れるため見送り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4476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8756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スコットランド女子オープン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大会がこれからで確定した成果ではないため見送り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2140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AIエージェント基盤と向き合う3つの心構え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524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067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96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導入する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573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528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071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900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任せきりにしない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00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ガードレールを決める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577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532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075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4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点検し続ける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4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継続改善を回す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これは何を意味するのか(企業にとって)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524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067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96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事実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96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仕組みごと用意された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573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528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071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00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00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非エンジニアも扱いやすく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577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532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75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注意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今はまだ限定提供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53418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導入を検討するなら確認したいこと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何を任せるか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どの業務・判断まで任せるか範囲を決める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2978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98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誰が承認するか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エスカレーション先・承認フローを決める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4476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8756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どう点検するか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改善提案を誰がテスト・承認するか決める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94057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自社で検討する場合の進め方(目安)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①現状整理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今の業務でAIに任せたい範囲を洗い出す</a:t>
            </a:r>
          </a:p>
        </p:txBody>
      </p:sp>
      <p:sp>
        <p:nvSpPr>
          <p:cNvPr id="11" name="Chevron 10"/>
          <p:cNvSpPr/>
          <p:nvPr/>
        </p:nvSpPr>
        <p:spPr>
          <a:xfrm>
            <a:off x="3068040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3683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67963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42283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②小さく試す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283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限定的な範囲でシミュレーション・評価を行う</a:t>
            </a:r>
          </a:p>
        </p:txBody>
      </p:sp>
      <p:sp>
        <p:nvSpPr>
          <p:cNvPr id="17" name="Chevron 16"/>
          <p:cNvSpPr/>
          <p:nvPr/>
        </p:nvSpPr>
        <p:spPr>
          <a:xfrm>
            <a:off x="5978804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8727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3047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③範囲を決める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ガードレール・承認フローを設定する</a:t>
            </a:r>
          </a:p>
        </p:txBody>
      </p:sp>
      <p:sp>
        <p:nvSpPr>
          <p:cNvPr id="23" name="Chevron 22"/>
          <p:cNvSpPr/>
          <p:nvPr/>
        </p:nvSpPr>
        <p:spPr>
          <a:xfrm>
            <a:off x="8889568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211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491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63811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3811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④継続的に見直す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3811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改善提案を定期的に確認・承認する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34696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個人にとっての影響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職場でAIエージェントとやり取りする機会が増えていく可能性がある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「AIが何を任されているか」「困ったら誰につながるか」を知っておくと安心材料になる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75335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不明点・注意点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具体的な料金体系は公開情報からは確認できなかった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限定提供の対象企業数・今後の拡大スケジュールは不明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リスク配慮のポイント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事実紹介に徹する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企業の製品発表という事実を淡々と紹介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2978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98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対立を煽らない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見送った候補も含め対立構造は扱わない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4476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8756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推測は明示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推測部分は「推測」と明言している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56613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検品結果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verify_pptx.py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同一レイアウト連続チェック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合格(4連続以上なし)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bullets比率チェック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合格(40%以下)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対話原稿スライド数整合性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52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出典一覧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OpenAI公式(Presence発表)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VentureBeat / SiliconANGLE(発表詳細・導入企業)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3580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1752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Help Net Security(機能構成の詳細)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81304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MLQ News(想定用途・SoftBank事例)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37891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AIエージェントは「導入して終わり」ではなく「育て続けるもの」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ADCFC"/>
                </a:solidFill>
                <a:latin typeface="Yu Gothic"/>
              </a:rPr>
              <a:t>Presenceは、そのための仕組みを企業向けに丸ごと用意したサービス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4626864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28032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自社で検討する際は、任せる範囲・承認フロー・点検の仕組みから考えてみる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78530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次回予告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AIエージェントが企業の現場にどこまで組み込まれるかは、今後も続くテーマ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次回も独立系メディアの報道をもとに、バイラル性の高い話題を選んで紹介する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ご視聴ありがとうございました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ADCFC"/>
                </a:solidFill>
                <a:latin typeface="Yu Gothic"/>
              </a:rPr>
              <a:t>出典・詳細はresearch.mdと各スライドの出典表記を参照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4626864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28032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質問・フィードバックはいつでもどうぞ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