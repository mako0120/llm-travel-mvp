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フックとして問いかけから入る。挨拶ではなく、AIエージェントを導入した後の『運用の不安』を突く一言にする。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起承転結を予告する。今回は初心者向けの前提知識パートがある旨も伝える。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専門用語を最初に整理する。AIエージェント単体と、それを運用するための基盤(Presence)は別物であることを明確にする。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2026年7月22日、OpenAIが企業向けAIエージェント基盤「Presence」を発表したことを数字で示す。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発表の概要をまず押さえる。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Presenceを構成する6つの要素を表で整理する。文字で並べるより一覧性が高い。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導入から稼働までの流れを図で示す。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稼働後も自動で改善が回る仕組みをステップで見せる。ここがPresenceの目玉機能。出典: Help Net Security(2026-07-22)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ガードレールという専門用語を平易に説明する。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想定用途をカードで整理する。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カスタマーサポート・営業・調達・ITサービス・人事の5分野が想定用途として挙げられている。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早期導入企業を表で整理する。SoftBank Corpが含まれる点が日本の読者にとって身近なポイント。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発表時点で名前が挙がっている早期導入企業は3社。</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SoftBankの事例を紹介する。評価コメントは要約であり、逐語的な引用ではないことに注意する。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導入前後の違いを対比で見せる。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過大な期待を持たせないよう、提供範囲の限定性を明示する。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似た名前・似た企業が絡む話なので、時系列と対象を混同しないよう明確に区別する。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見送った候補も具体的に共有し、選定プロセスの透明性を示す。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転換パート。ここから『これは何を意味するのか』という実践的な話に入る。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初心者・意思決定者向けのチェックリストとして提示する。「どう使えるか」に直接答えるスライド。</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実践につながる進め方をステップで見せる。あくまで一般的な目安であることを話す。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企業目線だけでなく、個人視聴者にとっての意味も扱う。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不明点を正直に「不明」と明言する。憶測で埋めない。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検品結果を表でまとめ、品質担保のプロセスを見せる。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出典を一覧で再掲する。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起承転結の「結」として、テーマ全体のキーメッセージをまとめる。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オープンループとして次回への引きを作る。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最終スライド。締めの挨拶と出典の再確認。</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TextBox 1"/>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会社の中のAIエージェント、誰が「ちゃんと動いてる」か見ていますか?</a:t>
            </a:r>
          </a:p>
        </p:txBody>
      </p:sp>
      <p:sp>
        <p:nvSpPr>
          <p:cNvPr id="3" name="TextBox 2"/>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OpenAI、企業向けAIエージェント基盤「Presence」を発表(2026年7月22日)</a:t>
            </a:r>
          </a:p>
        </p:txBody>
      </p:sp>
      <p:sp>
        <p:nvSpPr>
          <p:cNvPr id="4" name="TextBox 3"/>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OpenAI公式, VentureBeat, SiliconANGLE, Help Net Security(2026-07-22)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TextBox 1"/>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3" name="Oval 2"/>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4" name="TextBox 3"/>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起: 前提知識(AIエージェントと基盤の違い)+ 何が起きたか</a:t>
            </a:r>
          </a:p>
        </p:txBody>
      </p:sp>
      <p:sp>
        <p:nvSpPr>
          <p:cNvPr id="5" name="Oval 4"/>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6" name="TextBox 5"/>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承: Presenceの仕組みと導入企業</a:t>
            </a:r>
          </a:p>
        </p:txBody>
      </p:sp>
      <p:sp>
        <p:nvSpPr>
          <p:cNvPr id="7" name="Oval 6"/>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8" name="TextBox 7"/>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転: これが何を意味するか、どう使えるか</a:t>
            </a:r>
          </a:p>
        </p:txBody>
      </p:sp>
      <p:sp>
        <p:nvSpPr>
          <p:cNvPr id="9" name="Oval 8"/>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0" name="TextBox 9"/>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まず言葉の整理(初心者向け)</a:t>
            </a:r>
          </a:p>
        </p:txBody>
      </p:sp>
      <p:sp>
        <p:nvSpPr>
          <p:cNvPr id="3" name="Rounded Rectangle 2"/>
          <p:cNvSpPr/>
          <p:nvPr/>
        </p:nvSpPr>
        <p:spPr>
          <a:xfrm>
            <a:off x="457200" y="1554480"/>
            <a:ext cx="5478627"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AIエージェント</a:t>
            </a:r>
          </a:p>
        </p:txBody>
      </p:sp>
      <p:sp>
        <p:nvSpPr>
          <p:cNvPr id="5" name="TextBox 4"/>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指示を受けて自律的に会話・作業をこなすAIそのもの</a:t>
            </a:r>
          </a:p>
        </p:txBody>
      </p:sp>
      <p:sp>
        <p:nvSpPr>
          <p:cNvPr id="6" name="Rounded Rectangle 5"/>
          <p:cNvSpPr/>
          <p:nvPr/>
        </p:nvSpPr>
        <p:spPr>
          <a:xfrm>
            <a:off x="6255867" y="1554480"/>
            <a:ext cx="5478627"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エージェント基盤</a:t>
            </a:r>
          </a:p>
        </p:txBody>
      </p:sp>
      <p:sp>
        <p:nvSpPr>
          <p:cNvPr id="8" name="TextBox 7"/>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そのAIを安全に運用するための管理の仕組み(方針・監視・改善など)</a:t>
            </a:r>
          </a:p>
        </p:txBody>
      </p:sp>
      <p:sp>
        <p:nvSpPr>
          <p:cNvPr id="9" name="TextBox 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0" name="TextBox 9"/>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TextBox 1"/>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発表日</a:t>
            </a:r>
          </a:p>
        </p:txBody>
      </p:sp>
      <p:sp>
        <p:nvSpPr>
          <p:cNvPr id="3" name="TextBox 2"/>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7/22</a:t>
            </a:r>
          </a:p>
        </p:txBody>
      </p:sp>
      <p:sp>
        <p:nvSpPr>
          <p:cNvPr id="4" name="TextBox 3"/>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OpenAIが「Presence」を発表した日</a:t>
            </a:r>
          </a:p>
        </p:txBody>
      </p:sp>
      <p:sp>
        <p:nvSpPr>
          <p:cNvPr id="5" name="TextBox 4"/>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OpenAI公式/VentureBeat(2026-07-22)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何が起きたか</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2026年7月22日、OpenAIが企業向けAIエージェント基盤「Presence」を発表</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音声・チャット双方でのエージェント運用を対象としている</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発表はOpenAI公式に加え、VentureBeat・SiliconANGLE等の独立系メディアが一斉に報道</a:t>
            </a:r>
          </a:p>
        </p:txBody>
      </p:sp>
      <p:sp>
        <p:nvSpPr>
          <p:cNvPr id="9" name="TextBox 8"/>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OpenAI公式/VentureBeat(2026-07-22)</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1" name="TextBox 10"/>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Presenceを構成する6つの要素</a:t>
            </a:r>
          </a:p>
        </p:txBody>
      </p:sp>
      <p:graphicFrame>
        <p:nvGraphicFramePr>
          <p:cNvPr id="3" name="Table 2"/>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要素</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方針(ポリシー)</a:t>
                      </a:r>
                    </a:p>
                  </a:txBody>
                  <a:tcPr>
                    <a:solidFill>
                      <a:srgbClr val="FFFFFF"/>
                    </a:solidFill>
                  </a:tcPr>
                </a:tc>
                <a:tc>
                  <a:txBody>
                    <a:bodyPr/>
                    <a:lstStyle/>
                    <a:p>
                      <a:pPr>
                        <a:defRPr sz="1200">
                          <a:solidFill>
                            <a:srgbClr val="1A1A2E"/>
                          </a:solidFill>
                          <a:latin typeface="Yu Gothic"/>
                        </a:defRPr>
                      </a:pPr>
                      <a:r>
                        <a:t>会社ごとの業務手順・ルール</a:t>
                      </a:r>
                    </a:p>
                  </a:txBody>
                  <a:tcPr>
                    <a:solidFill>
                      <a:srgbClr val="FFFFFF"/>
                    </a:solidFill>
                  </a:tcPr>
                </a:tc>
              </a:tr>
              <a:tr h="502920">
                <a:tc>
                  <a:txBody>
                    <a:bodyPr/>
                    <a:lstStyle/>
                    <a:p>
                      <a:pPr>
                        <a:defRPr sz="1200">
                          <a:solidFill>
                            <a:srgbClr val="1A1A2E"/>
                          </a:solidFill>
                          <a:latin typeface="Yu Gothic"/>
                        </a:defRPr>
                      </a:pPr>
                      <a:r>
                        <a:t>ガードレール</a:t>
                      </a:r>
                    </a:p>
                  </a:txBody>
                  <a:tcPr>
                    <a:solidFill>
                      <a:srgbClr val="F3F6FC"/>
                    </a:solidFill>
                  </a:tcPr>
                </a:tc>
                <a:tc>
                  <a:txBody>
                    <a:bodyPr/>
                    <a:lstStyle/>
                    <a:p>
                      <a:pPr>
                        <a:defRPr sz="1200">
                          <a:solidFill>
                            <a:srgbClr val="1A1A2E"/>
                          </a:solidFill>
                          <a:latin typeface="Yu Gothic"/>
                        </a:defRPr>
                      </a:pPr>
                      <a:r>
                        <a:t>範囲を外れた場合に介入する仕組み</a:t>
                      </a:r>
                    </a:p>
                  </a:txBody>
                  <a:tcPr>
                    <a:solidFill>
                      <a:srgbClr val="F3F6FC"/>
                    </a:solidFill>
                  </a:tcPr>
                </a:tc>
              </a:tr>
              <a:tr h="502920">
                <a:tc>
                  <a:txBody>
                    <a:bodyPr/>
                    <a:lstStyle/>
                    <a:p>
                      <a:pPr>
                        <a:defRPr sz="1200">
                          <a:solidFill>
                            <a:srgbClr val="1A1A2E"/>
                          </a:solidFill>
                          <a:latin typeface="Yu Gothic"/>
                        </a:defRPr>
                      </a:pPr>
                      <a:r>
                        <a:t>承認済みアクション</a:t>
                      </a:r>
                    </a:p>
                  </a:txBody>
                  <a:tcPr>
                    <a:solidFill>
                      <a:srgbClr val="FFFFFF"/>
                    </a:solidFill>
                  </a:tcPr>
                </a:tc>
                <a:tc>
                  <a:txBody>
                    <a:bodyPr/>
                    <a:lstStyle/>
                    <a:p>
                      <a:pPr>
                        <a:defRPr sz="1200">
                          <a:solidFill>
                            <a:srgbClr val="1A1A2E"/>
                          </a:solidFill>
                          <a:latin typeface="Yu Gothic"/>
                        </a:defRPr>
                      </a:pPr>
                      <a:r>
                        <a:t>エージェントが実行してよい操作の範囲</a:t>
                      </a:r>
                    </a:p>
                  </a:txBody>
                  <a:tcPr>
                    <a:solidFill>
                      <a:srgbClr val="FFFFFF"/>
                    </a:solidFill>
                  </a:tcPr>
                </a:tc>
              </a:tr>
              <a:tr h="502920">
                <a:tc>
                  <a:txBody>
                    <a:bodyPr/>
                    <a:lstStyle/>
                    <a:p>
                      <a:pPr>
                        <a:defRPr sz="1200">
                          <a:solidFill>
                            <a:srgbClr val="1A1A2E"/>
                          </a:solidFill>
                          <a:latin typeface="Yu Gothic"/>
                        </a:defRPr>
                      </a:pPr>
                      <a:r>
                        <a:t>シミュレーション</a:t>
                      </a:r>
                    </a:p>
                  </a:txBody>
                  <a:tcPr>
                    <a:solidFill>
                      <a:srgbClr val="F3F6FC"/>
                    </a:solidFill>
                  </a:tcPr>
                </a:tc>
                <a:tc>
                  <a:txBody>
                    <a:bodyPr/>
                    <a:lstStyle/>
                    <a:p>
                      <a:pPr>
                        <a:defRPr sz="1200">
                          <a:solidFill>
                            <a:srgbClr val="1A1A2E"/>
                          </a:solidFill>
                          <a:latin typeface="Yu Gothic"/>
                        </a:defRPr>
                      </a:pPr>
                      <a:r>
                        <a:t>本番前に想定シナリオでテスト</a:t>
                      </a:r>
                    </a:p>
                  </a:txBody>
                  <a:tcPr>
                    <a:solidFill>
                      <a:srgbClr val="F3F6FC"/>
                    </a:solidFill>
                  </a:tcPr>
                </a:tc>
              </a:tr>
              <a:tr h="502920">
                <a:tc>
                  <a:txBody>
                    <a:bodyPr/>
                    <a:lstStyle/>
                    <a:p>
                      <a:pPr>
                        <a:defRPr sz="1200">
                          <a:solidFill>
                            <a:srgbClr val="1A1A2E"/>
                          </a:solidFill>
                          <a:latin typeface="Yu Gothic"/>
                        </a:defRPr>
                      </a:pPr>
                      <a:r>
                        <a:t>評価ツール</a:t>
                      </a:r>
                    </a:p>
                  </a:txBody>
                  <a:tcPr>
                    <a:solidFill>
                      <a:srgbClr val="FFFFFF"/>
                    </a:solidFill>
                  </a:tcPr>
                </a:tc>
                <a:tc>
                  <a:txBody>
                    <a:bodyPr/>
                    <a:lstStyle/>
                    <a:p>
                      <a:pPr>
                        <a:defRPr sz="1200">
                          <a:solidFill>
                            <a:srgbClr val="1A1A2E"/>
                          </a:solidFill>
                          <a:latin typeface="Yu Gothic"/>
                        </a:defRPr>
                      </a:pPr>
                      <a:r>
                        <a:t>正しい結果に到達したかを検証</a:t>
                      </a:r>
                    </a:p>
                  </a:txBody>
                  <a:tcPr>
                    <a:solidFill>
                      <a:srgbClr val="FFFFFF"/>
                    </a:solidFill>
                  </a:tcPr>
                </a:tc>
              </a:tr>
              <a:tr h="502920">
                <a:tc>
                  <a:txBody>
                    <a:bodyPr/>
                    <a:lstStyle/>
                    <a:p>
                      <a:pPr>
                        <a:defRPr sz="1200">
                          <a:solidFill>
                            <a:srgbClr val="1A1A2E"/>
                          </a:solidFill>
                          <a:latin typeface="Yu Gothic"/>
                        </a:defRPr>
                      </a:pPr>
                      <a:r>
                        <a:t>Codexによる継続改善</a:t>
                      </a:r>
                    </a:p>
                  </a:txBody>
                  <a:tcPr>
                    <a:solidFill>
                      <a:srgbClr val="F3F6FC"/>
                    </a:solidFill>
                  </a:tcPr>
                </a:tc>
                <a:tc>
                  <a:txBody>
                    <a:bodyPr/>
                    <a:lstStyle/>
                    <a:p>
                      <a:pPr>
                        <a:defRPr sz="1200">
                          <a:solidFill>
                            <a:srgbClr val="1A1A2E"/>
                          </a:solidFill>
                          <a:latin typeface="Yu Gothic"/>
                        </a:defRPr>
                      </a:pPr>
                      <a:r>
                        <a:t>稼働後の課題をAIが分析し改善案を提案</a:t>
                      </a:r>
                    </a:p>
                  </a:txBody>
                  <a:tcPr>
                    <a:solidFill>
                      <a:srgbClr val="F3F6FC"/>
                    </a:solidFill>
                  </a:tcPr>
                </a:tc>
              </a:tr>
            </a:tbl>
          </a:graphicData>
        </a:graphic>
      </p:graphicFrame>
      <p:sp>
        <p:nvSpPr>
          <p:cNvPr id="4" name="TextBox 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Help Net Security(2026-07-22)</a:t>
            </a:r>
          </a:p>
        </p:txBody>
      </p:sp>
      <p:sp>
        <p:nvSpPr>
          <p:cNvPr id="5" name="TextBox 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6" name="TextBox 5"/>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本番稼働までの流れ</a:t>
            </a:r>
          </a:p>
        </p:txBody>
      </p:sp>
      <p:sp>
        <p:nvSpPr>
          <p:cNvPr id="3" name="Rounded Rectangle 2"/>
          <p:cNvSpPr/>
          <p:nvPr/>
        </p:nvSpPr>
        <p:spPr>
          <a:xfrm>
            <a:off x="1706727" y="2560320"/>
            <a:ext cx="2377440" cy="14630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設計</a:t>
            </a:r>
          </a:p>
        </p:txBody>
      </p:sp>
      <p:sp>
        <p:nvSpPr>
          <p:cNvPr id="5" name="TextBox 4"/>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方針・ガードレール設定</a:t>
            </a:r>
          </a:p>
        </p:txBody>
      </p:sp>
      <p:sp>
        <p:nvSpPr>
          <p:cNvPr id="6" name="Right Arrow 5"/>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07127" y="2560320"/>
            <a:ext cx="2377440" cy="14630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シミュレーション・評価</a:t>
            </a:r>
          </a:p>
        </p:txBody>
      </p:sp>
      <p:sp>
        <p:nvSpPr>
          <p:cNvPr id="9" name="TextBox 8"/>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本番前にテスト</a:t>
            </a:r>
          </a:p>
        </p:txBody>
      </p:sp>
      <p:sp>
        <p:nvSpPr>
          <p:cNvPr id="10" name="Right Arrow 9"/>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07527" y="2560320"/>
            <a:ext cx="2377440" cy="14630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本番稼働</a:t>
            </a:r>
          </a:p>
        </p:txBody>
      </p:sp>
      <p:sp>
        <p:nvSpPr>
          <p:cNvPr id="13" name="TextBox 12"/>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実際の利用開始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5" name="TextBox 14"/>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継続改善ループ</a:t>
            </a:r>
          </a:p>
        </p:txBody>
      </p:sp>
      <p:sp>
        <p:nvSpPr>
          <p:cNvPr id="3" name="Rounded Rectangle 2"/>
          <p:cNvSpPr/>
          <p:nvPr/>
        </p:nvSpPr>
        <p:spPr>
          <a:xfrm>
            <a:off x="457200"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5" name="TextBox 4"/>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本番のやり取り</a:t>
            </a:r>
          </a:p>
        </p:txBody>
      </p:sp>
      <p:sp>
        <p:nvSpPr>
          <p:cNvPr id="6" name="TextBox 5"/>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実際の対応・エスカレーション事例が発生</a:t>
            </a:r>
          </a:p>
        </p:txBody>
      </p:sp>
      <p:sp>
        <p:nvSpPr>
          <p:cNvPr id="7" name="Chevron 6"/>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7963"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0" name="TextBox 9"/>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Codexが分析</a:t>
            </a:r>
          </a:p>
        </p:txBody>
      </p:sp>
      <p:sp>
        <p:nvSpPr>
          <p:cNvPr id="11" name="TextBox 10"/>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課題・ギャップを自動で分析</a:t>
            </a:r>
          </a:p>
        </p:txBody>
      </p:sp>
      <p:sp>
        <p:nvSpPr>
          <p:cNvPr id="12" name="Chevron 11"/>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78727"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15" name="TextBox 14"/>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改善案を提案</a:t>
            </a:r>
          </a:p>
        </p:txBody>
      </p:sp>
      <p:sp>
        <p:nvSpPr>
          <p:cNvPr id="16" name="TextBox 15"/>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具体的な修正案を提示</a:t>
            </a:r>
          </a:p>
        </p:txBody>
      </p:sp>
      <p:sp>
        <p:nvSpPr>
          <p:cNvPr id="17" name="Chevron 16"/>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89491"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0" name="TextBox 19"/>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人が承認・反映</a:t>
            </a:r>
          </a:p>
        </p:txBody>
      </p:sp>
      <p:sp>
        <p:nvSpPr>
          <p:cNvPr id="21" name="TextBox 20"/>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テスト後に本番へ反映</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23" name="TextBox 22"/>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ガードレールとは何か(初心者向け)</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エージェントが会社の決めた範囲を外れそうになったときに介入する仕組み</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承認済みアクションの範囲や、人に引き継ぐ条件を会社側が設定する</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「AIに全部任せる」のではなく「AIが動ける範囲を決める」という考え方</a:t>
            </a:r>
          </a:p>
        </p:txBody>
      </p:sp>
      <p:sp>
        <p:nvSpPr>
          <p:cNvPr id="9" name="TextBox 8"/>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Help Net Security(2026-07-22)</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1" name="TextBox 10"/>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想定される利用分野</a:t>
            </a:r>
          </a:p>
        </p:txBody>
      </p:sp>
      <p:sp>
        <p:nvSpPr>
          <p:cNvPr id="3" name="Rounded Rectangle 2"/>
          <p:cNvSpPr/>
          <p:nvPr/>
        </p:nvSpPr>
        <p:spPr>
          <a:xfrm>
            <a:off x="457200" y="1554480"/>
            <a:ext cx="2579293"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カスタマーサポート</a:t>
            </a:r>
          </a:p>
        </p:txBody>
      </p:sp>
      <p:sp>
        <p:nvSpPr>
          <p:cNvPr id="5" name="TextBox 4"/>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顧客対応の自動化</a:t>
            </a:r>
          </a:p>
        </p:txBody>
      </p:sp>
      <p:sp>
        <p:nvSpPr>
          <p:cNvPr id="6" name="Rounded Rectangle 5"/>
          <p:cNvSpPr/>
          <p:nvPr/>
        </p:nvSpPr>
        <p:spPr>
          <a:xfrm>
            <a:off x="3356533" y="1554480"/>
            <a:ext cx="2579293"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営業</a:t>
            </a:r>
          </a:p>
        </p:txBody>
      </p:sp>
      <p:sp>
        <p:nvSpPr>
          <p:cNvPr id="8" name="TextBox 7"/>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アウトバウンド営業の支援</a:t>
            </a:r>
          </a:p>
        </p:txBody>
      </p:sp>
      <p:sp>
        <p:nvSpPr>
          <p:cNvPr id="9" name="Rounded Rectangle 8"/>
          <p:cNvSpPr/>
          <p:nvPr/>
        </p:nvSpPr>
        <p:spPr>
          <a:xfrm>
            <a:off x="6255867" y="1554480"/>
            <a:ext cx="2579293"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調達</a:t>
            </a:r>
          </a:p>
        </p:txBody>
      </p:sp>
      <p:sp>
        <p:nvSpPr>
          <p:cNvPr id="11" name="TextBox 10"/>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発注・調達業務の支援</a:t>
            </a:r>
          </a:p>
        </p:txBody>
      </p:sp>
      <p:sp>
        <p:nvSpPr>
          <p:cNvPr id="12" name="Rounded Rectangle 11"/>
          <p:cNvSpPr/>
          <p:nvPr/>
        </p:nvSpPr>
        <p:spPr>
          <a:xfrm>
            <a:off x="9155201" y="1554480"/>
            <a:ext cx="2579293"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ITサービス・人事</a:t>
            </a:r>
          </a:p>
        </p:txBody>
      </p:sp>
      <p:sp>
        <p:nvSpPr>
          <p:cNvPr id="14" name="TextBox 13"/>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社内問い合わせ対応など</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MLQ News(2026-07-22)</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7" name="TextBox 16"/>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TextBox 1"/>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想定利用分野の数</a:t>
            </a:r>
          </a:p>
        </p:txBody>
      </p:sp>
      <p:sp>
        <p:nvSpPr>
          <p:cNvPr id="3" name="TextBox 2"/>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5</a:t>
            </a:r>
          </a:p>
        </p:txBody>
      </p:sp>
      <p:sp>
        <p:nvSpPr>
          <p:cNvPr id="4" name="TextBox 3"/>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公表されている想定利用分野の数</a:t>
            </a:r>
          </a:p>
        </p:txBody>
      </p:sp>
      <p:sp>
        <p:nvSpPr>
          <p:cNvPr id="5" name="TextBox 4"/>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MLQ News(2026-07-22)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早期導入企業</a:t>
            </a:r>
          </a:p>
        </p:txBody>
      </p:sp>
      <p:graphicFrame>
        <p:nvGraphicFramePr>
          <p:cNvPr id="3" name="Table 2"/>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a:t>
                      </a:r>
                    </a:p>
                  </a:txBody>
                  <a:tcPr>
                    <a:solidFill>
                      <a:srgbClr val="1E2761"/>
                    </a:solidFill>
                  </a:tcPr>
                </a:tc>
                <a:tc>
                  <a:txBody>
                    <a:bodyPr/>
                    <a:lstStyle/>
                    <a:p>
                      <a:pPr>
                        <a:defRPr sz="1300" b="1">
                          <a:solidFill>
                            <a:srgbClr val="FFFFFF"/>
                          </a:solidFill>
                          <a:latin typeface="Yu Gothic"/>
                        </a:defRPr>
                      </a:pPr>
                      <a:r>
                        <a:t>用途</a:t>
                      </a:r>
                    </a:p>
                  </a:txBody>
                  <a:tcPr>
                    <a:solidFill>
                      <a:srgbClr val="1E2761"/>
                    </a:solidFill>
                  </a:tcPr>
                </a:tc>
              </a:tr>
              <a:tr h="502920">
                <a:tc>
                  <a:txBody>
                    <a:bodyPr/>
                    <a:lstStyle/>
                    <a:p>
                      <a:pPr>
                        <a:defRPr sz="1200">
                          <a:solidFill>
                            <a:srgbClr val="1A1A2E"/>
                          </a:solidFill>
                          <a:latin typeface="Yu Gothic"/>
                        </a:defRPr>
                      </a:pPr>
                      <a:r>
                        <a:t>BBVAメキシコ</a:t>
                      </a:r>
                    </a:p>
                  </a:txBody>
                  <a:tcPr>
                    <a:solidFill>
                      <a:srgbClr val="FFFFFF"/>
                    </a:solidFill>
                  </a:tcPr>
                </a:tc>
                <a:tc>
                  <a:txBody>
                    <a:bodyPr/>
                    <a:lstStyle/>
                    <a:p>
                      <a:pPr>
                        <a:defRPr sz="1200">
                          <a:solidFill>
                            <a:srgbClr val="1A1A2E"/>
                          </a:solidFill>
                          <a:latin typeface="Yu Gothic"/>
                        </a:defRPr>
                      </a:pPr>
                      <a:r>
                        <a:t>顧客対応の迅速化・個別化</a:t>
                      </a:r>
                    </a:p>
                  </a:txBody>
                  <a:tcPr>
                    <a:solidFill>
                      <a:srgbClr val="FFFFFF"/>
                    </a:solidFill>
                  </a:tcPr>
                </a:tc>
              </a:tr>
              <a:tr h="502920">
                <a:tc>
                  <a:txBody>
                    <a:bodyPr/>
                    <a:lstStyle/>
                    <a:p>
                      <a:pPr>
                        <a:defRPr sz="1200">
                          <a:solidFill>
                            <a:srgbClr val="1A1A2E"/>
                          </a:solidFill>
                          <a:latin typeface="Yu Gothic"/>
                        </a:defRPr>
                      </a:pPr>
                      <a:r>
                        <a:t>SoftBank Corp</a:t>
                      </a:r>
                    </a:p>
                  </a:txBody>
                  <a:tcPr>
                    <a:solidFill>
                      <a:srgbClr val="F3F6FC"/>
                    </a:solidFill>
                  </a:tcPr>
                </a:tc>
                <a:tc>
                  <a:txBody>
                    <a:bodyPr/>
                    <a:lstStyle/>
                    <a:p>
                      <a:pPr>
                        <a:defRPr sz="1200">
                          <a:solidFill>
                            <a:srgbClr val="1A1A2E"/>
                          </a:solidFill>
                          <a:latin typeface="Yu Gothic"/>
                        </a:defRPr>
                      </a:pPr>
                      <a:r>
                        <a:t>日本語エージェントの顧客対応</a:t>
                      </a:r>
                    </a:p>
                  </a:txBody>
                  <a:tcPr>
                    <a:solidFill>
                      <a:srgbClr val="F3F6FC"/>
                    </a:solidFill>
                  </a:tcPr>
                </a:tc>
              </a:tr>
              <a:tr h="502920">
                <a:tc>
                  <a:txBody>
                    <a:bodyPr/>
                    <a:lstStyle/>
                    <a:p>
                      <a:pPr>
                        <a:defRPr sz="1200">
                          <a:solidFill>
                            <a:srgbClr val="1A1A2E"/>
                          </a:solidFill>
                          <a:latin typeface="Yu Gothic"/>
                        </a:defRPr>
                      </a:pPr>
                      <a:r>
                        <a:t>Retail Insurance Australia(IAG傘下)</a:t>
                      </a:r>
                    </a:p>
                  </a:txBody>
                  <a:tcPr>
                    <a:solidFill>
                      <a:srgbClr val="FFFFFF"/>
                    </a:solidFill>
                  </a:tcPr>
                </a:tc>
                <a:tc>
                  <a:txBody>
                    <a:bodyPr/>
                    <a:lstStyle/>
                    <a:p>
                      <a:pPr>
                        <a:defRPr sz="1200">
                          <a:solidFill>
                            <a:srgbClr val="1A1A2E"/>
                          </a:solidFill>
                          <a:latin typeface="Yu Gothic"/>
                        </a:defRPr>
                      </a:pPr>
                      <a:r>
                        <a:t>顧客対応の支援</a:t>
                      </a:r>
                    </a:p>
                  </a:txBody>
                  <a:tcPr>
                    <a:solidFill>
                      <a:srgbClr val="FFFFFF"/>
                    </a:solidFill>
                  </a:tcPr>
                </a:tc>
              </a:tr>
            </a:tbl>
          </a:graphicData>
        </a:graphic>
      </p:graphicFrame>
      <p:sp>
        <p:nvSpPr>
          <p:cNvPr id="4" name="TextBox 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VentureBeat(2026-07-22)</a:t>
            </a:r>
          </a:p>
        </p:txBody>
      </p:sp>
      <p:sp>
        <p:nvSpPr>
          <p:cNvPr id="5" name="TextBox 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6" name="TextBox 5"/>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TextBox 1"/>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早期導入企業数</a:t>
            </a:r>
          </a:p>
        </p:txBody>
      </p:sp>
      <p:sp>
        <p:nvSpPr>
          <p:cNvPr id="3" name="TextBox 2"/>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3社</a:t>
            </a:r>
          </a:p>
        </p:txBody>
      </p:sp>
      <p:sp>
        <p:nvSpPr>
          <p:cNvPr id="4" name="TextBox 3"/>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BBVAメキシコ・SoftBank Corp・Retail Insurance Australia</a:t>
            </a:r>
          </a:p>
        </p:txBody>
      </p:sp>
      <p:sp>
        <p:nvSpPr>
          <p:cNvPr id="5" name="TextBox 4"/>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VentureBeat(2026-07-22)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SoftBank Corpでの日本語エージェント事例</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SoftBank Corpが日本語での顧客対応エージェントをPresence上でテスト</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現場チームが会話の自然さ・正確さを高く評価しているとされる</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日本企業でも実際に試され始めている、という点が今回の身近なポイント</a:t>
            </a:r>
          </a:p>
        </p:txBody>
      </p:sp>
      <p:sp>
        <p:nvSpPr>
          <p:cNvPr id="9" name="TextBox 8"/>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MLQ News(2026-07-22)</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1" name="TextBox 10"/>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導入前後で何が変わるか</a:t>
            </a:r>
          </a:p>
        </p:txBody>
      </p:sp>
      <p:sp>
        <p:nvSpPr>
          <p:cNvPr id="3" name="Rounded Rectangle 2"/>
          <p:cNvSpPr/>
          <p:nvPr/>
        </p:nvSpPr>
        <p:spPr>
          <a:xfrm>
            <a:off x="457200" y="1554480"/>
            <a:ext cx="5455767" cy="42062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Presence導入前</a:t>
            </a:r>
          </a:p>
        </p:txBody>
      </p:sp>
      <p:sp>
        <p:nvSpPr>
          <p:cNvPr id="5" name="Oval 4"/>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6" name="TextBox 5"/>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エージェントの品質管理は人手が中心</a:t>
            </a:r>
          </a:p>
        </p:txBody>
      </p:sp>
      <p:sp>
        <p:nvSpPr>
          <p:cNvPr id="7" name="Oval 6"/>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8" name="TextBox 7"/>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問題が起きてから個別に修正</a:t>
            </a:r>
          </a:p>
        </p:txBody>
      </p:sp>
      <p:sp>
        <p:nvSpPr>
          <p:cNvPr id="9" name="Oval 8"/>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会社ごとに仕組みをゼロから作る必要</a:t>
            </a:r>
          </a:p>
        </p:txBody>
      </p:sp>
      <p:sp>
        <p:nvSpPr>
          <p:cNvPr id="11" name="Rounded Rectangle 10"/>
          <p:cNvSpPr/>
          <p:nvPr/>
        </p:nvSpPr>
        <p:spPr>
          <a:xfrm>
            <a:off x="6278727" y="1554480"/>
            <a:ext cx="5455767" cy="42062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Presence導入後</a:t>
            </a:r>
          </a:p>
        </p:txBody>
      </p:sp>
      <p:sp>
        <p:nvSpPr>
          <p:cNvPr id="13" name="Oval 12"/>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方針・ガードレール・評価が最初から仕組み化</a:t>
            </a:r>
          </a:p>
        </p:txBody>
      </p:sp>
      <p:sp>
        <p:nvSpPr>
          <p:cNvPr id="15" name="Oval 14"/>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6" name="TextBox 15"/>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Codexが継続的に改善案を提案</a:t>
            </a:r>
          </a:p>
        </p:txBody>
      </p:sp>
      <p:sp>
        <p:nvSpPr>
          <p:cNvPr id="17" name="Oval 16"/>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8" name="TextBox 17"/>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共通の基盤の上でエージェントを運用できる</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20" name="TextBox 19"/>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提供範囲について</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発表時点では、少数の企業向けの限定的な一般提供(limited general availability)</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今後どこまで対象企業を広げていくかの具体的なスケジュールは非公開</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誰でもすぐ使えるわけではない、という現状を正直に伝える</a:t>
            </a:r>
          </a:p>
        </p:txBody>
      </p:sp>
      <p:sp>
        <p:nvSpPr>
          <p:cNvPr id="9" name="TextBox 8"/>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VentureBeat(2026-07-22)</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1" name="TextBox 10"/>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背景情報:混同に注意</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SoftBank GroupとOpenAIは2025年2月、別の合弁会社「SB OpenAI Japan」の設立を発表済み</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そちらは「Cristal intelligence」という別のサービスを日本企業向けに展開する計画</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今回のPresenceは2026年7月22日発表の別の新製品であり、話を混同しないよう注意する</a:t>
            </a:r>
          </a:p>
        </p:txBody>
      </p:sp>
      <p:sp>
        <p:nvSpPr>
          <p:cNvPr id="9" name="TextBox 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0" name="TextBox 9"/>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見送った候補</a:t>
            </a:r>
          </a:p>
        </p:txBody>
      </p:sp>
      <p:sp>
        <p:nvSpPr>
          <p:cNvPr id="3" name="Rounded Rectangle 2"/>
          <p:cNvSpPr/>
          <p:nvPr/>
        </p:nvSpPr>
        <p:spPr>
          <a:xfrm>
            <a:off x="457200"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Kimi K3の蒸留疑惑</a:t>
            </a:r>
          </a:p>
        </p:txBody>
      </p:sp>
      <p:sp>
        <p:nvSpPr>
          <p:cNvPr id="5" name="TextBox 4"/>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国家間の対立構造が強く高リスクのため見送り</a:t>
            </a:r>
          </a:p>
        </p:txBody>
      </p:sp>
      <p:sp>
        <p:nvSpPr>
          <p:cNvPr id="6" name="Rounded Rectangle 5"/>
          <p:cNvSpPr/>
          <p:nvPr/>
        </p:nvSpPr>
        <p:spPr>
          <a:xfrm>
            <a:off x="4322978"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Project Camellia</a:t>
            </a:r>
          </a:p>
        </p:txBody>
      </p:sp>
      <p:sp>
        <p:nvSpPr>
          <p:cNvPr id="8" name="TextBox 7"/>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データセンター投資の話でエージェントの主眼から外れるため見送り</a:t>
            </a:r>
          </a:p>
        </p:txBody>
      </p:sp>
      <p:sp>
        <p:nvSpPr>
          <p:cNvPr id="9" name="Rounded Rectangle 8"/>
          <p:cNvSpPr/>
          <p:nvPr/>
        </p:nvSpPr>
        <p:spPr>
          <a:xfrm>
            <a:off x="8188756"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スコットランド女子オープン</a:t>
            </a:r>
          </a:p>
        </p:txBody>
      </p:sp>
      <p:sp>
        <p:nvSpPr>
          <p:cNvPr id="11" name="TextBox 10"/>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大会がこれからで確定した成果ではないため見送り</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3" name="TextBox 12"/>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AIエージェント基盤と向き合う3つの心構え</a:t>
            </a:r>
          </a:p>
        </p:txBody>
      </p:sp>
      <p:sp>
        <p:nvSpPr>
          <p:cNvPr id="3" name="Rounded Rectangle 2"/>
          <p:cNvSpPr/>
          <p:nvPr/>
        </p:nvSpPr>
        <p:spPr>
          <a:xfrm>
            <a:off x="1706727" y="2560320"/>
            <a:ext cx="2377440" cy="14630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導入する</a:t>
            </a:r>
          </a:p>
        </p:txBody>
      </p:sp>
      <p:sp>
        <p:nvSpPr>
          <p:cNvPr id="5" name="Right Arrow 4"/>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907127" y="2560320"/>
            <a:ext cx="2377440" cy="14630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任せきりにしない</a:t>
            </a:r>
          </a:p>
        </p:txBody>
      </p:sp>
      <p:sp>
        <p:nvSpPr>
          <p:cNvPr id="8" name="TextBox 7"/>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ガードレールを決める</a:t>
            </a:r>
          </a:p>
        </p:txBody>
      </p:sp>
      <p:sp>
        <p:nvSpPr>
          <p:cNvPr id="9" name="Right Arrow 8"/>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07527" y="2560320"/>
            <a:ext cx="2377440" cy="14630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点検し続ける</a:t>
            </a:r>
          </a:p>
        </p:txBody>
      </p:sp>
      <p:sp>
        <p:nvSpPr>
          <p:cNvPr id="12" name="TextBox 11"/>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継続改善を回す</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4" name="TextBox 13"/>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これは何を意味するのか(企業にとって)</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AIエージェントは「導入して終わり」ではなく「運用し続けるもの」という前提が広がっている</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方針・ガードレール・評価という仕組みごと用意されることで、非エンジニアの部署でも扱いやすくなる可能性がある</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一方で、今のところ限定提供のため、多くの企業がすぐ試せる段階ではない</a:t>
            </a:r>
          </a:p>
        </p:txBody>
      </p:sp>
      <p:sp>
        <p:nvSpPr>
          <p:cNvPr id="9" name="TextBox 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0" name="TextBox 9"/>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導入を検討するなら確認したいこと</a:t>
            </a:r>
          </a:p>
        </p:txBody>
      </p:sp>
      <p:sp>
        <p:nvSpPr>
          <p:cNvPr id="3" name="Rounded Rectangle 2"/>
          <p:cNvSpPr/>
          <p:nvPr/>
        </p:nvSpPr>
        <p:spPr>
          <a:xfrm>
            <a:off x="457200"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何を任せるか</a:t>
            </a:r>
          </a:p>
        </p:txBody>
      </p:sp>
      <p:sp>
        <p:nvSpPr>
          <p:cNvPr id="5" name="TextBox 4"/>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どの業務・判断まで任せるか範囲を決める</a:t>
            </a:r>
          </a:p>
        </p:txBody>
      </p:sp>
      <p:sp>
        <p:nvSpPr>
          <p:cNvPr id="6" name="Rounded Rectangle 5"/>
          <p:cNvSpPr/>
          <p:nvPr/>
        </p:nvSpPr>
        <p:spPr>
          <a:xfrm>
            <a:off x="4322978"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誰が承認するか</a:t>
            </a:r>
          </a:p>
        </p:txBody>
      </p:sp>
      <p:sp>
        <p:nvSpPr>
          <p:cNvPr id="8" name="TextBox 7"/>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エスカレーション先・承認フローを決める</a:t>
            </a:r>
          </a:p>
        </p:txBody>
      </p:sp>
      <p:sp>
        <p:nvSpPr>
          <p:cNvPr id="9" name="Rounded Rectangle 8"/>
          <p:cNvSpPr/>
          <p:nvPr/>
        </p:nvSpPr>
        <p:spPr>
          <a:xfrm>
            <a:off x="8188756"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どう点検するか</a:t>
            </a:r>
          </a:p>
        </p:txBody>
      </p:sp>
      <p:sp>
        <p:nvSpPr>
          <p:cNvPr id="11" name="TextBox 10"/>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改善提案を誰がテスト・承認するか決める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3" name="TextBox 12"/>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自社で検討する場合の進め方(目安)</a:t>
            </a:r>
          </a:p>
        </p:txBody>
      </p:sp>
      <p:sp>
        <p:nvSpPr>
          <p:cNvPr id="3" name="Rounded Rectangle 2"/>
          <p:cNvSpPr/>
          <p:nvPr/>
        </p:nvSpPr>
        <p:spPr>
          <a:xfrm>
            <a:off x="457200"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5" name="TextBox 4"/>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①現状整理</a:t>
            </a:r>
          </a:p>
        </p:txBody>
      </p:sp>
      <p:sp>
        <p:nvSpPr>
          <p:cNvPr id="6" name="TextBox 5"/>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今の業務でAIに任せたい範囲を洗い出す</a:t>
            </a:r>
          </a:p>
        </p:txBody>
      </p:sp>
      <p:sp>
        <p:nvSpPr>
          <p:cNvPr id="7" name="Chevron 6"/>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7963"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0" name="TextBox 9"/>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②小さく試す</a:t>
            </a:r>
          </a:p>
        </p:txBody>
      </p:sp>
      <p:sp>
        <p:nvSpPr>
          <p:cNvPr id="11" name="TextBox 10"/>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限定的な範囲でシミュレーション・評価を行う</a:t>
            </a:r>
          </a:p>
        </p:txBody>
      </p:sp>
      <p:sp>
        <p:nvSpPr>
          <p:cNvPr id="12" name="Chevron 11"/>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78727"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15" name="TextBox 14"/>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③範囲を決める</a:t>
            </a:r>
          </a:p>
        </p:txBody>
      </p:sp>
      <p:sp>
        <p:nvSpPr>
          <p:cNvPr id="16" name="TextBox 15"/>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ガードレール・承認フローを設定する</a:t>
            </a:r>
          </a:p>
        </p:txBody>
      </p:sp>
      <p:sp>
        <p:nvSpPr>
          <p:cNvPr id="17" name="Chevron 16"/>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89491" y="1737360"/>
            <a:ext cx="2545003" cy="3291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0" name="TextBox 19"/>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④継続的に見直す</a:t>
            </a:r>
          </a:p>
        </p:txBody>
      </p:sp>
      <p:sp>
        <p:nvSpPr>
          <p:cNvPr id="21" name="TextBox 20"/>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改善提案を定期的に確認・承認する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23" name="TextBox 22"/>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個人にとっての影響</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職場でAIエージェントとやり取りする機会が増えていく可能性がある</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「AIが何を任されているか」「困ったら誰につながるか」を知っておくと安心材料になる</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特別なスキルがなくても、基本的な仕組みを知っておくことに意味がある</a:t>
            </a:r>
          </a:p>
        </p:txBody>
      </p:sp>
      <p:sp>
        <p:nvSpPr>
          <p:cNvPr id="9" name="TextBox 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0" name="TextBox 9"/>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不明点・注意点</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具体的な料金体系は公開情報からは確認できなかった</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限定提供の対象企業数・今後の拡大スケジュールは不明</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SoftBank Corpでの導入規模の具体的な数字は不明</a:t>
            </a:r>
          </a:p>
        </p:txBody>
      </p:sp>
      <p:sp>
        <p:nvSpPr>
          <p:cNvPr id="9" name="TextBox 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0" name="TextBox 9"/>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リスク配慮のポイント</a:t>
            </a:r>
          </a:p>
        </p:txBody>
      </p:sp>
      <p:sp>
        <p:nvSpPr>
          <p:cNvPr id="3" name="Rounded Rectangle 2"/>
          <p:cNvSpPr/>
          <p:nvPr/>
        </p:nvSpPr>
        <p:spPr>
          <a:xfrm>
            <a:off x="457200"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事実紹介に徹する</a:t>
            </a:r>
          </a:p>
        </p:txBody>
      </p:sp>
      <p:sp>
        <p:nvSpPr>
          <p:cNvPr id="5" name="TextBox 4"/>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企業の製品発表という事実を淡々と紹介</a:t>
            </a:r>
          </a:p>
        </p:txBody>
      </p:sp>
      <p:sp>
        <p:nvSpPr>
          <p:cNvPr id="6" name="Rounded Rectangle 5"/>
          <p:cNvSpPr/>
          <p:nvPr/>
        </p:nvSpPr>
        <p:spPr>
          <a:xfrm>
            <a:off x="4322978"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対立を煽らない</a:t>
            </a:r>
          </a:p>
        </p:txBody>
      </p:sp>
      <p:sp>
        <p:nvSpPr>
          <p:cNvPr id="8" name="TextBox 7"/>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見送った候補も含め対立構造は扱わない</a:t>
            </a:r>
          </a:p>
        </p:txBody>
      </p:sp>
      <p:sp>
        <p:nvSpPr>
          <p:cNvPr id="9" name="Rounded Rectangle 8"/>
          <p:cNvSpPr/>
          <p:nvPr/>
        </p:nvSpPr>
        <p:spPr>
          <a:xfrm>
            <a:off x="8188756" y="1554480"/>
            <a:ext cx="3545738" cy="393192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推測は明示</a:t>
            </a:r>
          </a:p>
        </p:txBody>
      </p:sp>
      <p:sp>
        <p:nvSpPr>
          <p:cNvPr id="11" name="TextBox 10"/>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推測部分は「推測」と明言している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3" name="TextBox 12"/>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検品結果</a:t>
            </a:r>
          </a:p>
        </p:txBody>
      </p:sp>
      <p:graphicFrame>
        <p:nvGraphicFramePr>
          <p:cNvPr id="3" name="Table 2"/>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verify_pptx.py(30枚)</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同一レイアウト連続チェック</a:t>
                      </a:r>
                    </a:p>
                  </a:txBody>
                  <a:tcPr>
                    <a:solidFill>
                      <a:srgbClr val="F3F6FC"/>
                    </a:solidFill>
                  </a:tcPr>
                </a:tc>
                <a:tc>
                  <a:txBody>
                    <a:bodyPr/>
                    <a:lstStyle/>
                    <a:p>
                      <a:pPr>
                        <a:defRPr sz="1200">
                          <a:solidFill>
                            <a:srgbClr val="1A1A2E"/>
                          </a:solidFill>
                          <a:latin typeface="Yu Gothic"/>
                        </a:defRPr>
                      </a:pPr>
                      <a:r>
                        <a:t>合格(4連続以上なし)</a:t>
                      </a:r>
                    </a:p>
                  </a:txBody>
                  <a:tcPr>
                    <a:solidFill>
                      <a:srgbClr val="F3F6FC"/>
                    </a:solidFill>
                  </a:tcPr>
                </a:tc>
              </a:tr>
              <a:tr h="502920">
                <a:tc>
                  <a:txBody>
                    <a:bodyPr/>
                    <a:lstStyle/>
                    <a:p>
                      <a:pPr>
                        <a:defRPr sz="1200">
                          <a:solidFill>
                            <a:srgbClr val="1A1A2E"/>
                          </a:solidFill>
                          <a:latin typeface="Yu Gothic"/>
                        </a:defRPr>
                      </a:pPr>
                      <a:r>
                        <a:t>bullets比率チェック</a:t>
                      </a:r>
                    </a:p>
                  </a:txBody>
                  <a:tcPr>
                    <a:solidFill>
                      <a:srgbClr val="FFFFFF"/>
                    </a:solidFill>
                  </a:tcPr>
                </a:tc>
                <a:tc>
                  <a:txBody>
                    <a:bodyPr/>
                    <a:lstStyle/>
                    <a:p>
                      <a:pPr>
                        <a:defRPr sz="1200">
                          <a:solidFill>
                            <a:srgbClr val="1A1A2E"/>
                          </a:solidFill>
                          <a:latin typeface="Yu Gothic"/>
                        </a:defRPr>
                      </a:pPr>
                      <a:r>
                        <a:t>合格(40%以下)</a:t>
                      </a:r>
                    </a:p>
                  </a:txBody>
                  <a:tcPr>
                    <a:solidFill>
                      <a:srgbClr val="FFFFFF"/>
                    </a:solidFill>
                  </a:tcPr>
                </a:tc>
              </a:tr>
              <a:tr h="502920">
                <a:tc>
                  <a:txBody>
                    <a:bodyPr/>
                    <a:lstStyle/>
                    <a:p>
                      <a:pPr>
                        <a:defRPr sz="1200">
                          <a:solidFill>
                            <a:srgbClr val="1A1A2E"/>
                          </a:solidFill>
                          <a:latin typeface="Yu Gothic"/>
                        </a:defRPr>
                      </a:pPr>
                      <a:r>
                        <a:t>対話原稿スライド数整合性</a:t>
                      </a:r>
                    </a:p>
                  </a:txBody>
                  <a:tcPr>
                    <a:solidFill>
                      <a:srgbClr val="F3F6FC"/>
                    </a:solidFill>
                  </a:tcPr>
                </a:tc>
                <a:tc>
                  <a:txBody>
                    <a:bodyPr/>
                    <a:lstStyle/>
                    <a:p>
                      <a:pPr>
                        <a:defRPr sz="1200">
                          <a:solidFill>
                            <a:srgbClr val="1A1A2E"/>
                          </a:solidFill>
                          <a:latin typeface="Yu Gothic"/>
                        </a:defRPr>
                      </a:pPr>
                      <a:r>
                        <a:t>合格(30枚全カバー)</a:t>
                      </a:r>
                    </a:p>
                  </a:txBody>
                  <a:tcPr>
                    <a:solidFill>
                      <a:srgbClr val="F3F6FC"/>
                    </a:solidFill>
                  </a:tcPr>
                </a:tc>
              </a:tr>
            </a:tbl>
          </a:graphicData>
        </a:graphic>
      </p:graphicFrame>
      <p:sp>
        <p:nvSpPr>
          <p:cNvPr id="4" name="TextBox 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5" name="TextBox 4"/>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OpenAI公式(Presence発表)</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VentureBeat / SiliconANGLE(発表詳細・導入企業)</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Help Net Security(機能構成の詳細)</a:t>
            </a:r>
          </a:p>
        </p:txBody>
      </p:sp>
      <p:sp>
        <p:nvSpPr>
          <p:cNvPr id="9" name="Oval 8"/>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MLQ News(想定用途・SoftBank事例)</a:t>
            </a:r>
          </a:p>
        </p:txBody>
      </p:sp>
      <p:sp>
        <p:nvSpPr>
          <p:cNvPr id="11" name="TextBox 1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2" name="TextBox 11"/>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TextBox 1"/>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AIエージェントは「導入して終わり」ではなく「育て続けるもの」</a:t>
            </a:r>
          </a:p>
        </p:txBody>
      </p:sp>
      <p:sp>
        <p:nvSpPr>
          <p:cNvPr id="3" name="TextBox 2"/>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Presenceは、そのための仕組みを企業向けに丸ごと用意したサービス</a:t>
            </a:r>
          </a:p>
        </p:txBody>
      </p:sp>
      <p:sp>
        <p:nvSpPr>
          <p:cNvPr id="4" name="Rounded Rectangle 3"/>
          <p:cNvSpPr/>
          <p:nvPr/>
        </p:nvSpPr>
        <p:spPr>
          <a:xfrm>
            <a:off x="548640" y="4572000"/>
            <a:ext cx="7315200" cy="1005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自社で検討する際は、任せる範囲・承認フロー・点検の仕組みから考えてみる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次回予告</a:t>
            </a:r>
          </a:p>
        </p:txBody>
      </p:sp>
      <p:sp>
        <p:nvSpPr>
          <p:cNvPr id="3" name="Oval 2"/>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4" name="TextBox 3"/>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AIエージェントが企業の現場にどこまで組み込まれるかは、今後も続くテーマ</a:t>
            </a:r>
          </a:p>
        </p:txBody>
      </p:sp>
      <p:sp>
        <p:nvSpPr>
          <p:cNvPr id="5" name="Oval 4"/>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6" name="TextBox 5"/>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次回も独立系メディアの報道をもとに、バイラル性の高い話題を選んで紹介する</a:t>
            </a:r>
          </a:p>
        </p:txBody>
      </p:sp>
      <p:sp>
        <p:nvSpPr>
          <p:cNvPr id="7" name="Oval 6"/>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ご意見・ご要望があれば教えてください</a:t>
            </a:r>
          </a:p>
        </p:txBody>
      </p:sp>
      <p:sp>
        <p:nvSpPr>
          <p:cNvPr id="9" name="TextBox 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定期実行23本目</a:t>
            </a:r>
          </a:p>
        </p:txBody>
      </p:sp>
      <p:sp>
        <p:nvSpPr>
          <p:cNvPr id="10" name="TextBox 9"/>
          <p:cNvSpPr txBox="1"/>
          <p:nvPr/>
        </p:nvSpPr>
        <p:spPr>
          <a:xfrm>
            <a:off x="11277295" y="6446520"/>
            <a:ext cx="457200" cy="320040"/>
          </a:xfrm>
          <a:prstGeom prst="rect">
            <a:avLst/>
          </a:prstGeom>
          <a:noFill/>
        </p:spPr>
        <p:txBody>
          <a:bodyPr wrap="square" anchor="t" lIns="0" rIns="0" tIns="0" bIns="0">
            <a:spAutoFit/>
          </a:bodyPr>
          <a:lstStyle/>
          <a:p>
            <a:pPr algn="r"/>
            <a:r>
              <a:rPr sz="1000" b="0">
                <a:solidFill>
                  <a:srgbClr val="5B6270"/>
                </a:solidFill>
                <a:latin typeface="Yu Gothic"/>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TextBox 1"/>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3" name="TextBox 2"/>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出典・詳細はresearch.mdと各スライドの出典表記を参照</a:t>
            </a:r>
          </a:p>
        </p:txBody>
      </p:sp>
      <p:sp>
        <p:nvSpPr>
          <p:cNvPr id="4" name="Rounded Rectangle 3"/>
          <p:cNvSpPr/>
          <p:nvPr/>
        </p:nvSpPr>
        <p:spPr>
          <a:xfrm>
            <a:off x="548640" y="4572000"/>
            <a:ext cx="7315200" cy="1005840"/>
          </a:xfrm>
          <a:prstGeom prst="roundRect">
            <a:avLst>
              <a:gd name="adj" fmla="val 6000"/>
            </a:avLst>
          </a:prstGeom>
          <a:solidFill>
            <a:srgbClr val="F3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