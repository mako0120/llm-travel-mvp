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こんにちは。今日取り上げるのは、2026年7月29日に発表されたVendastaの自律型AI「AI Employees」の一般提供開始です。提供開始からわずか24時間で500件超の導入があったといいます。何が起きているのか、出典つきで整理していきます。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まず結論からです。Vendastaは自律型AI「AI Employees」のうちAI Social Media ManagerとAI Bloggerの2製品を一般提供開始し、24時間で500件超の本番導入があったと発表しました。Vendastaは60,000社超のチャネルパートナーを通じて、世界800万社超の中小企業にリーチしています。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この動画を見ると、発表の概要、Vendastaが実際に何をする会社なのか、2つのAI Employeeが具体的に何をするか、500件超導入という数字の中身、そして確認できなかったことまで分かります。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この話がどれくらい確かなのかにも触れておきます。AccessNewswireの一次発表に加えて、Yahoo Finance、Morningstar、bignewsnetworkがこの発表を配信しています。ただし、これらはいずれもプレスリリースの配信経由であり、独立した取材報道による裏取りまでは今回確認できていません。この点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なぜ中小企業にAI社員が必要なのかを整理し、次に発表の中身、チャネルパートナーモデル、規模感、最後に日本への関連と確認できなかったこと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ブログ執筆やSNS投稿を毎週継続するには専門人材か時間が必要ですが、中小企業は大企業のようにマーケティング専任チームを持てないことが多いです。また、それを代行する代理店側も、顧客ごとに担当者を割り当てる従来モデルには人手の限界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改めて数字を見てみましょう。Vendastaが発表した2つのAI Employeeは、一般提供開始からわずか24時間で500件超の本番導入があったといいます。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一般提供が始まった2つの製品を整理すると、AI Social Media Managerはブランドの声やビジュアルスタイルを学習し、複数プラットフォーム向けのSNS投稿戦略を毎週自動生成・スケジュール投稿します。AI Bloggerは、顧客の検索意図を調査し、SEO最適化されたブログ記事を毎週自動で執筆・公開します。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発表の中身をもう一度まとめます。AI Social Media ManagerとAI Bloggerの一般提供が始まりました。これまで扱ってきた多くのAIエージェント関連ニュースが資金調達発表だったのに対し、今回は実際に製品が使えるようになったという発表です。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astaの会社概要を整理すると、2008年にカナダのサスカトゥーンで創業し、中小企業向けデジタルソリューションを提供するプラットフォーム企業です。60,000社超のチャネルパートナーを通じて、世界800万社超の中小企業にリーチ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Social Media Managerが行うことを整理すると、まずブランドの声やビジュアルスタイル、事業情報を学習します。そのうえで複数プラットフォーム向けのSNS投稿戦略を毎週自動生成し、投稿用ビジュアルとともにスケジュール投稿します。投稿結果を分析し、次の戦略に反映する仕組み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Bloggerが行うことを整理すると、まず顧客が実際に検索しているキーワードや意図を調査します。そのうえでSEOに最適化されたブログ記事を執筆し、WordPressブログに毎週1本のペースで自動公開します。地域や拠点ごとに内容をカスタマイズする点も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全体の構造を図で見てみます。Vendastaが直接中小企業に製品を提供するのではなく、代理店やMSPといったチャネルパートナーを介して、世界800万社超の中小企業に届ける構造になっています。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導入までの流れを3ステップで見てみます。まずチャネルパートナーが顧客企業の情報やブランドをAI Employeeに設定します。そのあとはAI Social Media ManagerとAI Bloggerが毎週自動でコンテンツを生成・公開し、投稿結果を分析して次の戦略に反映します。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1つ目の規模を示す数字です。Vendastaのチャネルパートナーは60,000社を超えるといいます。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もう1つの規模を示す数字です。Vendastaはチャネルパートナーを通じて、世界800万社超の中小企業にリーチしているといいます。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模感をまとめると、チャネルパートナーが60,000社超、リーチする中小企業が800万社超、そして一般提供開始から24時間での導入数が500件超です。ただし500件超がこの800万社のうちどれだけの割合かは、報道からは明確に分か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この違いを整理すると、基本的なチャットボットはプロンプトに応答するだけで、都度人が指示を出す必要があります。それに対してVendastaがいう「AI Employee」は、自律的に判断・実行・最適化し、毎週のコンテンツ生成という業務プロセス全体を担う、という位置づけです。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共同創業者でCEOのBrendan King氏はこう述べています。私たちはAI Employeesを、重労働を完全に肩代わりさせるために作った、ビジネスが完全自動運転で毎週必ずオンライン上に存在し続けられるように、というコメントです。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導入支援のオプションも用意されています。「AI Workforce Optimization Plan」という、チャネルパートナーや多拠点ブランド向けの導入支援サービスで、専門家によるチャネル設定やオンボーディング支援を受けられます。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ここは正直にお伝えします。今回の発表はAccessNewswire経由のプレスリリース配信であり、Yahoo FinanceやMorningstarといった媒体もこの同じプレスリリースを配信しています。TechCrunchのような独立した取材報道による裏取りは、今回の調査では確認できませんでした。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気になるのは、日本への関連です。現時点で確認できている拠点はカナダのサスカトゥーンで、日本は含まれていません。日本国内の展開があるかどうかは、今回の調査では確認できませんでした。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企業評価額、500件超導入の内訳、日本国内の展開、各製品の価格、そして一次発表の本文全体。これらはいずれも一次情報か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外の方にも参考になる点があります。毎週の情報発信という地味だが継続が難しい業務にAIが向いているという発想は参考になりますし、代理店経由で中小企業にリーチするビジネスモデルは、他分野のSaaS展開にも応用できます。プレスリリース配信と独立取材の違いを意識して情報を読む姿勢も、参考にし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60,000社のパートナー・800万社のリーチという規模感を把握し、次に24時間で500件超という導入実績の意味とその内訳が不明な点を確認し、最後に企業評価額や日本への関連など、まだ分からない点を押さえ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ここからは推測です。毎週の情報発信が「当たり前」になる中小企業が増える可能性がありますし、労働集約型から高マージンなSaaS型への転換が他の代理店にも広がるかもしれません。同様のAI Employee型製品を他社が投入していく可能性もあります。これらはあくまで推測であり、断定はしません。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500件超導入の内訳が示されていないこと。2つ目は、今回の報道がプレスリリース配信中心で、独立取材による裏取りがまだないこと。3つ目は、企業評価額や具体的な価格体系など、公表されていない情報も多い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小企業のAI活用の広がり方を図にすると、一部の先進的な中小企業が導入する現在のフェーズから、チャネルパートナー経由で拡大し、その先に業界標準になっていく可能性があります。ただし、この先の広がり方はあくまで推測であることを明記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今日の要点を3つにまとめます。一般提供開始から24時間で500件超の導入があり、AI Social Media ManagerとAI Bloggerの2製品が提供開始されました。Vendastaは60,000社超のチャネルパートナーを通じて世界800万社超の中小企業にリーチしています。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今日は、Vendastaの自律型AI「AI Employees」一般提供開始について、発表内容・報道体制・規模感という3つの軸で確認してきました。AIエージェントのニュースを見るときは、今日紹介したような視点でプレスリリース配信と独立取材を区別する習慣をつけてみてください。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週1本ブログを書く</a:t>
            </a:r>
          </a:p>
          <a:p>
            <a:pPr algn="l">
              <a:lnSpc>
                <a:spcPct val="115000"/>
              </a:lnSpc>
            </a:pPr>
            <a:r>
              <a:rPr sz="4200" b="1">
                <a:solidFill>
                  <a:srgbClr val="FFFFFF"/>
                </a:solidFill>
                <a:latin typeface="Yu Gothic"/>
              </a:rPr>
              <a:t>「AI社員」が来た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2026年7月29日発表「Vendasta AI Employees一般提供開始」から読み解く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AI Company OS 定期実行60本目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今回の結論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500件超</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24時間での導入数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一般提供開始から24時間での本番導入件数</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2製品</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提供開始した製品</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 Social Media Manager・AI Blogger</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60,000社超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チャネルパートナー数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代理店経由で世界800万社超の中小企業にリーチ</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AccessNewswire / Yahoo Finance(2026-07-29)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何が発表されたのか、資金調達ではなく製品発表という点が分かる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Vendastaが何をする会社なのか、チャネルパートナーモデルが分かる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 Social Media Manager・AI Bloggerが具体的に何をするか分かる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「500件超導入」という数字の中身が分かる</a:t>
            </a:r>
          </a:p>
        </p:txBody>
      </p:sp>
      <p:sp>
        <p:nvSpPr>
          <p:cNvPr id="14" name="Oval 13"/>
          <p:cNvSpPr/>
          <p:nvPr/>
        </p:nvSpPr>
        <p:spPr>
          <a:xfrm>
            <a:off x="457200" y="459028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一次情報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AccessNewswireの一次発表(プレスリリース)を確認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複数の配信チャネル</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Yahoo Finance・Morningstar・bignewsnetworkが同じ発表を配信</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正直な注記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いずれもプレスリリース配信経由で、独立した取材報道による裏取りは今回確認できていません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前提: なぜ中小企業にAI社員が必要なのか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発表の中身: 2つのAI Employeeと導入実績</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仕組み: チャネルパートナーモデルとは何か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規模感と、真のAI Employeeとは何か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日本への関連と、確認できなかったこと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前提: なぜ中小企業にAI社員が必要か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毎週の情報発信は負担が大きい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ブログ執筆・SNS投稿を継続するには専門人材か時間が必要</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中小企業は専任担当者を置きにくい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大企業のようにマーケティング専任チームを持てないことが多い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代理店側も人手に限界がある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顧客ごとに担当者を割り当てる従来モデルはスケールしにくい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一般提供開始から24時間での導入数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500件超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本番環境への導入件数(production deployments)</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Yahoo Finance / bignewsnetwork(2026-07-29)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一般提供が始まった2製品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製品名</a:t>
                      </a:r>
                    </a:p>
                  </a:txBody>
                  <a:tcPr>
                    <a:solidFill>
                      <a:srgbClr val="24523F"/>
                    </a:solidFill>
                  </a:tcPr>
                </a:tc>
                <a:tc>
                  <a:txBody>
                    <a:bodyPr/>
                    <a:lstStyle/>
                    <a:p>
                      <a:pPr>
                        <a:defRPr sz="1300" b="1">
                          <a:solidFill>
                            <a:srgbClr val="FFFFFF"/>
                          </a:solidFill>
                          <a:latin typeface="Yu Gothic"/>
                        </a:defRPr>
                      </a:pPr>
                      <a:r>
                        <a:t>機能</a:t>
                      </a:r>
                    </a:p>
                  </a:txBody>
                  <a:tcPr>
                    <a:solidFill>
                      <a:srgbClr val="24523F"/>
                    </a:solidFill>
                  </a:tcPr>
                </a:tc>
              </a:tr>
              <a:tr h="502920">
                <a:tc>
                  <a:txBody>
                    <a:bodyPr/>
                    <a:lstStyle/>
                    <a:p>
                      <a:pPr>
                        <a:defRPr sz="1200">
                          <a:solidFill>
                            <a:srgbClr val="20261F"/>
                          </a:solidFill>
                          <a:latin typeface="Yu Gothic"/>
                        </a:defRPr>
                      </a:pPr>
                      <a:r>
                        <a:t>AI Social Media Manager</a:t>
                      </a:r>
                    </a:p>
                  </a:txBody>
                  <a:tcPr>
                    <a:solidFill>
                      <a:srgbClr val="FFFFFF"/>
                    </a:solidFill>
                  </a:tcPr>
                </a:tc>
                <a:tc>
                  <a:txBody>
                    <a:bodyPr/>
                    <a:lstStyle/>
                    <a:p>
                      <a:pPr>
                        <a:defRPr sz="1200">
                          <a:solidFill>
                            <a:srgbClr val="20261F"/>
                          </a:solidFill>
                          <a:latin typeface="Yu Gothic"/>
                        </a:defRPr>
                      </a:pPr>
                      <a:r>
                        <a:t>ブランドの声・ビジュアルスタイルを学習し、複数プラットフォーム向けのSNS投稿戦略を毎週自動生成・スケジュール投稿</a:t>
                      </a:r>
                    </a:p>
                  </a:txBody>
                  <a:tcPr>
                    <a:solidFill>
                      <a:srgbClr val="FFFFFF"/>
                    </a:solidFill>
                  </a:tcPr>
                </a:tc>
              </a:tr>
              <a:tr h="502920">
                <a:tc>
                  <a:txBody>
                    <a:bodyPr/>
                    <a:lstStyle/>
                    <a:p>
                      <a:pPr>
                        <a:defRPr sz="1200">
                          <a:solidFill>
                            <a:srgbClr val="20261F"/>
                          </a:solidFill>
                          <a:latin typeface="Yu Gothic"/>
                        </a:defRPr>
                      </a:pPr>
                      <a:r>
                        <a:t>AI Blogger</a:t>
                      </a:r>
                    </a:p>
                  </a:txBody>
                  <a:tcPr>
                    <a:solidFill>
                      <a:srgbClr val="F4F1E6"/>
                    </a:solidFill>
                  </a:tcPr>
                </a:tc>
                <a:tc>
                  <a:txBody>
                    <a:bodyPr/>
                    <a:lstStyle/>
                    <a:p>
                      <a:pPr>
                        <a:defRPr sz="1200">
                          <a:solidFill>
                            <a:srgbClr val="20261F"/>
                          </a:solidFill>
                          <a:latin typeface="Yu Gothic"/>
                        </a:defRPr>
                      </a:pPr>
                      <a:r>
                        <a:t>顧客の検索意図を調査し、SEO最適化されたブログ記事を毎週自動で執筆・公開</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 Finance / Vendasta製品ページ(2026-07-29)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何が発表されたか(2026年7月29日)</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発表内容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 Social Media Manager・AI Bloggerの一般提供(General Availability)開始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資金調達ではない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これまでの多くのAIエージェント関連ニュースと異なり、製品の一般提供開始という発表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報じた配信チャネル</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AccessNewswire公式に加えYahoo Finance・Morningstarなどが配信</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AccessNewswire / Yahoo Finance(いずれも2026-07-29)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Vendastaの会社概要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創業</a:t>
                      </a:r>
                    </a:p>
                  </a:txBody>
                  <a:tcPr>
                    <a:solidFill>
                      <a:srgbClr val="FFFFFF"/>
                    </a:solidFill>
                  </a:tcPr>
                </a:tc>
                <a:tc>
                  <a:txBody>
                    <a:bodyPr/>
                    <a:lstStyle/>
                    <a:p>
                      <a:pPr>
                        <a:defRPr sz="1200">
                          <a:solidFill>
                            <a:srgbClr val="20261F"/>
                          </a:solidFill>
                          <a:latin typeface="Yu Gothic"/>
                        </a:defRPr>
                      </a:pPr>
                      <a:r>
                        <a:t>2008年、カナダ・サスカトゥーン</a:t>
                      </a:r>
                    </a:p>
                  </a:txBody>
                  <a:tcPr>
                    <a:solidFill>
                      <a:srgbClr val="FFFFFF"/>
                    </a:solidFill>
                  </a:tcPr>
                </a:tc>
              </a:tr>
              <a:tr h="502920">
                <a:tc>
                  <a:txBody>
                    <a:bodyPr/>
                    <a:lstStyle/>
                    <a:p>
                      <a:pPr>
                        <a:defRPr sz="1200">
                          <a:solidFill>
                            <a:srgbClr val="20261F"/>
                          </a:solidFill>
                          <a:latin typeface="Yu Gothic"/>
                        </a:defRPr>
                      </a:pPr>
                      <a:r>
                        <a:t>事業</a:t>
                      </a:r>
                    </a:p>
                  </a:txBody>
                  <a:tcPr>
                    <a:solidFill>
                      <a:srgbClr val="F4F1E6"/>
                    </a:solidFill>
                  </a:tcPr>
                </a:tc>
                <a:tc>
                  <a:txBody>
                    <a:bodyPr/>
                    <a:lstStyle/>
                    <a:p>
                      <a:pPr>
                        <a:defRPr sz="1200">
                          <a:solidFill>
                            <a:srgbClr val="20261F"/>
                          </a:solidFill>
                          <a:latin typeface="Yu Gothic"/>
                        </a:defRPr>
                      </a:pPr>
                      <a:r>
                        <a:t>中小企業向けデジタルソリューションを提供するプラットフォーム</a:t>
                      </a:r>
                    </a:p>
                  </a:txBody>
                  <a:tcPr>
                    <a:solidFill>
                      <a:srgbClr val="F4F1E6"/>
                    </a:solidFill>
                  </a:tcPr>
                </a:tc>
              </a:tr>
              <a:tr h="502920">
                <a:tc>
                  <a:txBody>
                    <a:bodyPr/>
                    <a:lstStyle/>
                    <a:p>
                      <a:pPr>
                        <a:defRPr sz="1200">
                          <a:solidFill>
                            <a:srgbClr val="20261F"/>
                          </a:solidFill>
                          <a:latin typeface="Yu Gothic"/>
                        </a:defRPr>
                      </a:pPr>
                      <a:r>
                        <a:t>チャネルパートナー数</a:t>
                      </a:r>
                    </a:p>
                  </a:txBody>
                  <a:tcPr>
                    <a:solidFill>
                      <a:srgbClr val="FFFFFF"/>
                    </a:solidFill>
                  </a:tcPr>
                </a:tc>
                <a:tc>
                  <a:txBody>
                    <a:bodyPr/>
                    <a:lstStyle/>
                    <a:p>
                      <a:pPr>
                        <a:defRPr sz="1200">
                          <a:solidFill>
                            <a:srgbClr val="20261F"/>
                          </a:solidFill>
                          <a:latin typeface="Yu Gothic"/>
                        </a:defRPr>
                      </a:pPr>
                      <a:r>
                        <a:t>60,000社超(代理店・MSP・通信会社等)</a:t>
                      </a:r>
                    </a:p>
                  </a:txBody>
                  <a:tcPr>
                    <a:solidFill>
                      <a:srgbClr val="FFFFFF"/>
                    </a:solidFill>
                  </a:tcPr>
                </a:tc>
              </a:tr>
              <a:tr h="502920">
                <a:tc>
                  <a:txBody>
                    <a:bodyPr/>
                    <a:lstStyle/>
                    <a:p>
                      <a:pPr>
                        <a:defRPr sz="1200">
                          <a:solidFill>
                            <a:srgbClr val="20261F"/>
                          </a:solidFill>
                          <a:latin typeface="Yu Gothic"/>
                        </a:defRPr>
                      </a:pPr>
                      <a:r>
                        <a:t>リーチする中小企業数</a:t>
                      </a:r>
                    </a:p>
                  </a:txBody>
                  <a:tcPr>
                    <a:solidFill>
                      <a:srgbClr val="F4F1E6"/>
                    </a:solidFill>
                  </a:tcPr>
                </a:tc>
                <a:tc>
                  <a:txBody>
                    <a:bodyPr/>
                    <a:lstStyle/>
                    <a:p>
                      <a:pPr>
                        <a:defRPr sz="1200">
                          <a:solidFill>
                            <a:srgbClr val="20261F"/>
                          </a:solidFill>
                          <a:latin typeface="Yu Gothic"/>
                        </a:defRPr>
                      </a:pPr>
                      <a:r>
                        <a:t>世界800万社超</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複数の企業情報サイト経由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 Social Media Managerが行うこと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ブランドの声・ビジュアルスタイル・事業情報を学習する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複数プラットフォーム向けのSNS投稿戦略を毎週自動生成する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投稿用ビジュアルとともに、投稿をスケジュール実行する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投稿結果を分析し、次の戦略に反映する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 Bloggerが行うこと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顧客が実際に検索しているキーワード・意図を調査する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SEOに最適化されたブログ記事を執筆する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WordPressブログに毎週1本のペースで自動公開する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地域・拠点ごとに内容をカスタマイズする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チャネルパートナーモデルの構造</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Vendasta</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 Employeesを含むプラットフォームを開発・提供</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チャネルパートナー</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代理店・MSP・通信会社等、60,000社超</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中小企業(SMB)</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世界800万社超が最終的な利用者</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VendastaはSMBに直接ではなく、チャネルパートナーを介して提供する構造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複数媒体経由の要約</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導入までの3ステップ(パートナー視点)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設定</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チャネルパートナーが顧客企業の情報・ブランドをAI Employeeに設定する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自動運用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 Social Media Manager・AI Bloggerが毎週自動でコンテンツを生成・公開する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分析・改善</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投稿結果を分析し、次の戦略に反映する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チャネルパートナー数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60,000社超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代理店・MSP・通信会社・ソフトウェアプロバイダー等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複数媒体経由の要約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リーチする中小企業数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800万社超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チャネルパートナーを通じて世界中の中小企業にリーチ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複数媒体経由の要約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規模感のまとめ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4523F"/>
                    </a:solidFill>
                  </a:tcPr>
                </a:tc>
                <a:tc>
                  <a:txBody>
                    <a:bodyPr/>
                    <a:lstStyle/>
                    <a:p>
                      <a:pPr>
                        <a:defRPr sz="1300" b="1">
                          <a:solidFill>
                            <a:srgbClr val="FFFFFF"/>
                          </a:solidFill>
                          <a:latin typeface="Yu Gothic"/>
                        </a:defRPr>
                      </a:pPr>
                      <a:r>
                        <a:t>数値</a:t>
                      </a:r>
                    </a:p>
                  </a:txBody>
                  <a:tcPr>
                    <a:solidFill>
                      <a:srgbClr val="24523F"/>
                    </a:solidFill>
                  </a:tcPr>
                </a:tc>
              </a:tr>
              <a:tr h="502920">
                <a:tc>
                  <a:txBody>
                    <a:bodyPr/>
                    <a:lstStyle/>
                    <a:p>
                      <a:pPr>
                        <a:defRPr sz="1200">
                          <a:solidFill>
                            <a:srgbClr val="20261F"/>
                          </a:solidFill>
                          <a:latin typeface="Yu Gothic"/>
                        </a:defRPr>
                      </a:pPr>
                      <a:r>
                        <a:t>チャネルパートナー数</a:t>
                      </a:r>
                    </a:p>
                  </a:txBody>
                  <a:tcPr>
                    <a:solidFill>
                      <a:srgbClr val="FFFFFF"/>
                    </a:solidFill>
                  </a:tcPr>
                </a:tc>
                <a:tc>
                  <a:txBody>
                    <a:bodyPr/>
                    <a:lstStyle/>
                    <a:p>
                      <a:pPr>
                        <a:defRPr sz="1200">
                          <a:solidFill>
                            <a:srgbClr val="20261F"/>
                          </a:solidFill>
                          <a:latin typeface="Yu Gothic"/>
                        </a:defRPr>
                      </a:pPr>
                      <a:r>
                        <a:t>60,000社超</a:t>
                      </a:r>
                    </a:p>
                  </a:txBody>
                  <a:tcPr>
                    <a:solidFill>
                      <a:srgbClr val="FFFFFF"/>
                    </a:solidFill>
                  </a:tcPr>
                </a:tc>
              </a:tr>
              <a:tr h="502920">
                <a:tc>
                  <a:txBody>
                    <a:bodyPr/>
                    <a:lstStyle/>
                    <a:p>
                      <a:pPr>
                        <a:defRPr sz="1200">
                          <a:solidFill>
                            <a:srgbClr val="20261F"/>
                          </a:solidFill>
                          <a:latin typeface="Yu Gothic"/>
                        </a:defRPr>
                      </a:pPr>
                      <a:r>
                        <a:t>リーチする中小企業数</a:t>
                      </a:r>
                    </a:p>
                  </a:txBody>
                  <a:tcPr>
                    <a:solidFill>
                      <a:srgbClr val="F4F1E6"/>
                    </a:solidFill>
                  </a:tcPr>
                </a:tc>
                <a:tc>
                  <a:txBody>
                    <a:bodyPr/>
                    <a:lstStyle/>
                    <a:p>
                      <a:pPr>
                        <a:defRPr sz="1200">
                          <a:solidFill>
                            <a:srgbClr val="20261F"/>
                          </a:solidFill>
                          <a:latin typeface="Yu Gothic"/>
                        </a:defRPr>
                      </a:pPr>
                      <a:r>
                        <a:t>800万社超</a:t>
                      </a:r>
                    </a:p>
                  </a:txBody>
                  <a:tcPr>
                    <a:solidFill>
                      <a:srgbClr val="F4F1E6"/>
                    </a:solidFill>
                  </a:tcPr>
                </a:tc>
              </a:tr>
              <a:tr h="502920">
                <a:tc>
                  <a:txBody>
                    <a:bodyPr/>
                    <a:lstStyle/>
                    <a:p>
                      <a:pPr>
                        <a:defRPr sz="1200">
                          <a:solidFill>
                            <a:srgbClr val="20261F"/>
                          </a:solidFill>
                          <a:latin typeface="Yu Gothic"/>
                        </a:defRPr>
                      </a:pPr>
                      <a:r>
                        <a:t>一般提供開始から24時間の導入数</a:t>
                      </a:r>
                    </a:p>
                  </a:txBody>
                  <a:tcPr>
                    <a:solidFill>
                      <a:srgbClr val="FFFFFF"/>
                    </a:solidFill>
                  </a:tcPr>
                </a:tc>
                <a:tc>
                  <a:txBody>
                    <a:bodyPr/>
                    <a:lstStyle/>
                    <a:p>
                      <a:pPr>
                        <a:defRPr sz="1200">
                          <a:solidFill>
                            <a:srgbClr val="20261F"/>
                          </a:solidFill>
                          <a:latin typeface="Yu Gothic"/>
                        </a:defRPr>
                      </a:pPr>
                      <a:r>
                        <a:t>500件超</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複数媒体経由の要約</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基本的なチャットボットと、「真のAI Employee」の違い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基本的なチャットボット</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プロンプトに応答するだけ</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都度、人が指示を出す必要がある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業務プロセス全体は担わない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VendastaのいうAI Employee</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自律的に判断・実行・最適化する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毎週のコンテンツ生成を自動運用する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投稿結果を分析し次の戦略に反映する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“私たちはAI Employeesを、重労働を完全に肩代わりさせるために作った。ビジネスが完全自動運転で毎週必ずオンライン上に存在し続けられるように”</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Vendasta共同創業者兼CEO Brendan King氏(複数媒体経由の引用)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追加の導入支援オプション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AI Workforce Optimization Plan</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チャネルパートナー・多拠点ブランド向けの導入支援サービス</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内容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専門家によるチャネル設定・オンボーディング支援</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対象</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ターンキー(即使える状態)での導入を希望するパートナー</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複数媒体経由の要約</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正直な報告: この発表の報道体制について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一次発表</a:t>
                      </a:r>
                    </a:p>
                  </a:txBody>
                  <a:tcPr>
                    <a:solidFill>
                      <a:srgbClr val="FFFFFF"/>
                    </a:solidFill>
                  </a:tcPr>
                </a:tc>
                <a:tc>
                  <a:txBody>
                    <a:bodyPr/>
                    <a:lstStyle/>
                    <a:p>
                      <a:pPr>
                        <a:defRPr sz="1200">
                          <a:solidFill>
                            <a:srgbClr val="20261F"/>
                          </a:solidFill>
                          <a:latin typeface="Yu Gothic"/>
                        </a:defRPr>
                      </a:pPr>
                      <a:r>
                        <a:t>AccessNewswire(プレスリリース配信)</a:t>
                      </a:r>
                    </a:p>
                  </a:txBody>
                  <a:tcPr>
                    <a:solidFill>
                      <a:srgbClr val="FFFFFF"/>
                    </a:solidFill>
                  </a:tcPr>
                </a:tc>
              </a:tr>
              <a:tr h="502920">
                <a:tc>
                  <a:txBody>
                    <a:bodyPr/>
                    <a:lstStyle/>
                    <a:p>
                      <a:pPr>
                        <a:defRPr sz="1200">
                          <a:solidFill>
                            <a:srgbClr val="20261F"/>
                          </a:solidFill>
                          <a:latin typeface="Yu Gothic"/>
                        </a:defRPr>
                      </a:pPr>
                      <a:r>
                        <a:t>配信を報じた媒体</a:t>
                      </a:r>
                    </a:p>
                  </a:txBody>
                  <a:tcPr>
                    <a:solidFill>
                      <a:srgbClr val="F4F1E6"/>
                    </a:solidFill>
                  </a:tcPr>
                </a:tc>
                <a:tc>
                  <a:txBody>
                    <a:bodyPr/>
                    <a:lstStyle/>
                    <a:p>
                      <a:pPr>
                        <a:defRPr sz="1200">
                          <a:solidFill>
                            <a:srgbClr val="20261F"/>
                          </a:solidFill>
                          <a:latin typeface="Yu Gothic"/>
                        </a:defRPr>
                      </a:pPr>
                      <a:r>
                        <a:t>Yahoo Finance・Morningstar・bignewsnetwork(いずれも同じプレスリリースの配信経由)</a:t>
                      </a:r>
                    </a:p>
                  </a:txBody>
                  <a:tcPr>
                    <a:solidFill>
                      <a:srgbClr val="F4F1E6"/>
                    </a:solidFill>
                  </a:tcPr>
                </a:tc>
              </a:tr>
              <a:tr h="502920">
                <a:tc>
                  <a:txBody>
                    <a:bodyPr/>
                    <a:lstStyle/>
                    <a:p>
                      <a:pPr>
                        <a:defRPr sz="1200">
                          <a:solidFill>
                            <a:srgbClr val="20261F"/>
                          </a:solidFill>
                          <a:latin typeface="Yu Gothic"/>
                        </a:defRPr>
                      </a:pPr>
                      <a:r>
                        <a:t>独立取材による裏取り</a:t>
                      </a:r>
                    </a:p>
                  </a:txBody>
                  <a:tcPr>
                    <a:solidFill>
                      <a:srgbClr val="FFFFFF"/>
                    </a:solidFill>
                  </a:tcPr>
                </a:tc>
                <a:tc>
                  <a:txBody>
                    <a:bodyPr/>
                    <a:lstStyle/>
                    <a:p>
                      <a:pPr>
                        <a:defRPr sz="1200">
                          <a:solidFill>
                            <a:srgbClr val="20261F"/>
                          </a:solidFill>
                          <a:latin typeface="Yu Gothic"/>
                        </a:defRPr>
                      </a:pPr>
                      <a:r>
                        <a:t>今回の調査では確認できず</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日本への関連(現時点で分かる範囲)</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拠点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カナダ・サスカトゥーンが拠点(日本は含まれない)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日本国内の展開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一次情報では確認できていない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日本語対応・日本国内のチャネルパートナー展開があるかを継続的に確認する必要がある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Vendastaの企業評価額・売上規模</a:t>
                      </a:r>
                    </a:p>
                  </a:txBody>
                  <a:tcPr>
                    <a:solidFill>
                      <a:srgbClr val="FFFFFF"/>
                    </a:solidFill>
                  </a:tcPr>
                </a:tc>
                <a:tc>
                  <a:txBody>
                    <a:bodyPr/>
                    <a:lstStyle/>
                    <a:p>
                      <a:pPr>
                        <a:defRPr sz="1200">
                          <a:solidFill>
                            <a:srgbClr val="20261F"/>
                          </a:solidFill>
                          <a:latin typeface="Yu Gothic"/>
                        </a:defRPr>
                      </a:pPr>
                      <a:r>
                        <a:t>一次情報では確認できず</a:t>
                      </a:r>
                    </a:p>
                  </a:txBody>
                  <a:tcPr>
                    <a:solidFill>
                      <a:srgbClr val="FFFFFF"/>
                    </a:solidFill>
                  </a:tcPr>
                </a:tc>
              </a:tr>
              <a:tr h="502920">
                <a:tc>
                  <a:txBody>
                    <a:bodyPr/>
                    <a:lstStyle/>
                    <a:p>
                      <a:pPr>
                        <a:defRPr sz="1200">
                          <a:solidFill>
                            <a:srgbClr val="20261F"/>
                          </a:solidFill>
                          <a:latin typeface="Yu Gothic"/>
                        </a:defRPr>
                      </a:pPr>
                      <a:r>
                        <a:t>「500件超導入」の内訳</a:t>
                      </a:r>
                    </a:p>
                  </a:txBody>
                  <a:tcPr>
                    <a:solidFill>
                      <a:srgbClr val="F4F1E6"/>
                    </a:solidFill>
                  </a:tcPr>
                </a:tc>
                <a:tc>
                  <a:txBody>
                    <a:bodyPr/>
                    <a:lstStyle/>
                    <a:p>
                      <a:pPr>
                        <a:defRPr sz="1200">
                          <a:solidFill>
                            <a:srgbClr val="20261F"/>
                          </a:solidFill>
                          <a:latin typeface="Yu Gothic"/>
                        </a:defRPr>
                      </a:pPr>
                      <a:r>
                        <a:t>新規顧客数か既存パートナー経由の追加導入数かは不明</a:t>
                      </a:r>
                    </a:p>
                  </a:txBody>
                  <a:tcPr>
                    <a:solidFill>
                      <a:srgbClr val="F4F1E6"/>
                    </a:solidFill>
                  </a:tcPr>
                </a:tc>
              </a:tr>
              <a:tr h="502920">
                <a:tc>
                  <a:txBody>
                    <a:bodyPr/>
                    <a:lstStyle/>
                    <a:p>
                      <a:pPr>
                        <a:defRPr sz="1200">
                          <a:solidFill>
                            <a:srgbClr val="20261F"/>
                          </a:solidFill>
                          <a:latin typeface="Yu Gothic"/>
                        </a:defRPr>
                      </a:pPr>
                      <a:r>
                        <a:t>日本国内の展開・チャネルパートナーの有無</a:t>
                      </a:r>
                    </a:p>
                  </a:txBody>
                  <a:tcPr>
                    <a:solidFill>
                      <a:srgbClr val="FFFFFF"/>
                    </a:solidFill>
                  </a:tcPr>
                </a:tc>
                <a:tc>
                  <a:txBody>
                    <a:bodyPr/>
                    <a:lstStyle/>
                    <a:p>
                      <a:pPr>
                        <a:defRPr sz="1200">
                          <a:solidFill>
                            <a:srgbClr val="20261F"/>
                          </a:solidFill>
                          <a:latin typeface="Yu Gothic"/>
                        </a:defRPr>
                      </a:pPr>
                      <a:r>
                        <a:t>一次情報では確認できず</a:t>
                      </a:r>
                    </a:p>
                  </a:txBody>
                  <a:tcPr>
                    <a:solidFill>
                      <a:srgbClr val="FFFFFF"/>
                    </a:solidFill>
                  </a:tcPr>
                </a:tc>
              </a:tr>
              <a:tr h="502920">
                <a:tc>
                  <a:txBody>
                    <a:bodyPr/>
                    <a:lstStyle/>
                    <a:p>
                      <a:pPr>
                        <a:defRPr sz="1200">
                          <a:solidFill>
                            <a:srgbClr val="20261F"/>
                          </a:solidFill>
                          <a:latin typeface="Yu Gothic"/>
                        </a:defRPr>
                      </a:pPr>
                      <a:r>
                        <a:t>各製品の具体的な価格・料金体系</a:t>
                      </a:r>
                    </a:p>
                  </a:txBody>
                  <a:tcPr>
                    <a:solidFill>
                      <a:srgbClr val="F4F1E6"/>
                    </a:solidFill>
                  </a:tcPr>
                </a:tc>
                <a:tc>
                  <a:txBody>
                    <a:bodyPr/>
                    <a:lstStyle/>
                    <a:p>
                      <a:pPr>
                        <a:defRPr sz="1200">
                          <a:solidFill>
                            <a:srgbClr val="20261F"/>
                          </a:solidFill>
                          <a:latin typeface="Yu Gothic"/>
                        </a:defRPr>
                      </a:pPr>
                      <a:r>
                        <a:t>一次情報では確認できず</a:t>
                      </a:r>
                    </a:p>
                  </a:txBody>
                  <a:tcPr>
                    <a:solidFill>
                      <a:srgbClr val="F4F1E6"/>
                    </a:solidFill>
                  </a:tcPr>
                </a:tc>
              </a:tr>
              <a:tr h="502920">
                <a:tc>
                  <a:txBody>
                    <a:bodyPr/>
                    <a:lstStyle/>
                    <a:p>
                      <a:pPr>
                        <a:defRPr sz="1200">
                          <a:solidFill>
                            <a:srgbClr val="20261F"/>
                          </a:solidFill>
                          <a:latin typeface="Yu Gothic"/>
                        </a:defRPr>
                      </a:pPr>
                      <a:r>
                        <a:t>一次発表・関連記事の本文全体</a:t>
                      </a:r>
                    </a:p>
                  </a:txBody>
                  <a:tcPr>
                    <a:solidFill>
                      <a:srgbClr val="FFFFFF"/>
                    </a:solidFill>
                  </a:tcPr>
                </a:tc>
                <a:tc>
                  <a:txBody>
                    <a:bodyPr/>
                    <a:lstStyle/>
                    <a:p>
                      <a:pPr>
                        <a:defRPr sz="1200">
                          <a:solidFill>
                            <a:srgbClr val="20261F"/>
                          </a:solidFill>
                          <a:latin typeface="Yu Gothic"/>
                        </a:defRPr>
                      </a:pPr>
                      <a:r>
                        <a:t>WebFetchのアクセス制限により複数媒体要約経由</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業界外の人にも参考になる点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「毎週の情報発信」という地味だが継続が難しい業務にAIが向いているという発想は参考になる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代理店経由で中小企業にリーチするビジネスモデルは、他分野のSaaS展開にも応用できる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チャットボットと「自律的に業務プロセスを担うAI」の違いを整理する視点は他の製品評価にも使える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プレスリリース配信と独立取材の違いを意識して情報を読む姿勢も参考になる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規模を見る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60,000社のパートナー・800万社のリーチという規模感をまず把握する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導入実績を見る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24時間で500件超という数字の意味と、その内訳が不明な点を確認する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未確認点を見る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企業評価額や日本への関連など、まだ分からない点を押さえる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想定される効果(ここからは推測)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情報発信の標準化</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中小企業への影響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毎週の情報発信が「当たり前」になる中小企業が増える可能性がある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代理店の収益構造変化</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パートナーへの影響</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労働集約型から高マージンなSaaS型への転換が他の代理店にも広がる可能性がある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他社の追随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市場への影響</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同様のAI Employee型製品を他社が投入する可能性がある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冷静に見る点、3つ</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「500件超導入」の内訳(新規か既存パートナー経由か)は示されていない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今回の報道はプレスリリース配信が中心で、独立取材による裏取りはまだない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企業評価額・具体的な価格体系など、公表されていない情報も多い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中小企業のAI活用の広がり方(推測)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一部の先進的な中小企業が導入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現在のフェーズ(今回の発表)</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チャネルパートナー経由で拡大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代理店が既存顧客に順次展開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業界標準へ(推測)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毎週の情報発信をAIが担うのが一般的になる可能性</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現在のフェーズから先の広がり方は推測であり、今回の発表から確認できる範囲ではない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今日の要点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500件超</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24時間での導入数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一般提供開始から24時間での本番導入件数</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2製品</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提供開始した製品</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 Social Media Manager・AI Blogger</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60,000社超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チャネルパートナー数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世界800万社超の中小企業にリーチ</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定期実行60本目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「プレスリリース配信」と「独立取材」を区別して見る習慣を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AIエージェントのニュースを見るときは、発表内容・報道体制・確認できていない点を分けて確認しましょう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中小企業・代理店業務に関わる方は、毎週の情報発信をAIエージェントに任せられる範囲を一度確認してみてください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