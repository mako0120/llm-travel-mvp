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サイバーセキュリティ企業Prevalent AIが2026年8月19日、創業9年で初めて外部の機関投資家から$2,200万を調達したことが報じられました。今日はこの決断の中身を出典付きで整理してお届けします。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結論から確認します。Prevalent AIは2017年の創業以来、外部の機関投資家からの資金調達を一度も行わず黒字経営を続けてきましたが、今回初めて$2,200万を調達しました。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資金調達の内容から、9年間の無借金経営の背景、AIエージェントとの関係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このテーマを扱う理由です。高い鮮度に加え、9年間無借金経営の企業がついに動いたという転機のストーリーに注目しました。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Prevalent AIは2017年創業のサイバーセキュリティ・データ基盤企業で、企業内の数百のシステムに接続するデータファブリック製品を提供しています。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今回の資金調達の概要です。ロサンゼルス拠点のIntegrity Growth Partnersから$2,200万を調達し、これが創業9年で初の外部機関投資家からの調達となります。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Prevalent AIは9年間、黒字を維持しながら外部資金調達を行わずに成長してきました。この判断の詳細な理由までは確認できていません。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2017年の創業から今回の調達まで、9年間にわたって外部資金調達を行わずに黒字経営を続けてきました。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創業者に加え、英国GCHQ元長官やDarktrace共同創業者など、サイバーセキュリティ分野で深い経験を持つ人材がチームに関わっています。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これまでの9年間と今回を対比しました。無借金経営から一転、初めての外部資金調達に踏み切りました。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Prevalent AIの製品は、企業内の数百のシステムに接続し、情報をナレッジグラフとして再構築・維持するデータファブリックです。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企業向けAIの次のボトルネックは、組織に関する信頼できる情報をモデルに与えることだとされています。この課題への対応が今回の調達の背景です。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データファブリックは企業内の数百に及ぶ個別システムに接続します。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AIエージェントの普及に伴い、信頼できるデータ基盤の必要性が高まっており、Prevalent AIはサイバーセキュリティ分野を超えた展開を目指すとされます。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今回の調達に至る流れを図にしました。9年間の無借金経営から、AIエージェント普及による課題拡大、そして今回の初調達という流れです。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今回の発表を3ステップで総括しました。創業9年での初調達、これまでの黒字経営、そしてAIエージェント時代への対応という流れです。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投資家のIntegrity Growth Partnersはロサンゼルス拠点の投資会社です。出資比率など詳細な条件までは確認できていません。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Prevalent AIは2017年に創業され、今回の調達まで9年間の歩みがあります。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無借金経営を長期間続けたスタートアップの成功例として注目されますが、他社との具体的な比較は行っていません。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これまでのサイバーセキュリティ活用と、今後目指すAIエージェント活用への拡張を対比しました。具体的な計画は今後の発表を待つ必要があります。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今回の発表の要点をまとめました。調達額、投資家、製品、そして今回の狙いという4点です。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今後の見どころとして、企業評価額やAIエージェント向け展開の具体的計画が挙げられますが、いずれも現時点では確認できていません。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チームには英国GCHQ元長官やDarktrace共同創業者など、サイバーセキュリティ分野で深い経験を持つ人材が関与しています。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サイバーセキュリティ・AIエージェント関連分野では、同様の資金調達の動きが他社でも報じられており、業界全体の投資活発化の一例として今回の調達を位置づけます。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Prevalent AIは9年間、自己資金と顧客収益のみで成長を続けてきました。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確認できなかったことを正直にお伝えします。企業評価額、財務指標の詳細、技術基盤の詳細は確認できていません。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確認できている事実と、今後の不確定要素を対比しました。確定事実と未確定要素を明確に区別してお伝えします。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このニュースが読者にとって意味することをまとめました。サイバーセキュリティを追う立場、経営・投資に関心がある立場、データ基盤整備に携わる立場、それぞれで意識したい視点です。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まとめです。9年間の無借金経営からの初調達という転機と、AIエージェント時代への対応という背景、そして確認できていない点を正直にお伝えしました。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本編は以上です。今回はPrevalent AIの初の外部資金調達について、9年間の無借金経営からの転機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9年間、</a:t>
            </a:r>
          </a:p>
          <a:p>
            <a:pPr algn="l">
              <a:lnSpc>
                <a:spcPct val="115000"/>
              </a:lnSpc>
            </a:pPr>
            <a:r>
              <a:rPr sz="4200" b="1">
                <a:solidFill>
                  <a:srgbClr val="FFFFFF"/>
                </a:solidFill>
                <a:latin typeface="Yu Gothic"/>
              </a:rPr>
              <a:t>外部資金ゼロ。</a:t>
            </a:r>
          </a:p>
          <a:p>
            <a:pPr algn="l">
              <a:lnSpc>
                <a:spcPct val="115000"/>
              </a:lnSpc>
            </a:pPr>
            <a:r>
              <a:rPr sz="4200" b="1">
                <a:solidFill>
                  <a:srgbClr val="FFFFFF"/>
                </a:solidFill>
                <a:latin typeface="Yu Gothic"/>
              </a:rPr>
              <a:t>その会社がついに動いた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2026年8月19日発表——Prevalent AI、初の外部資金調達$22M</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Tech Startups・SiliconANGLE(2026年8月19日)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創業9年で初の外部機関投資家からの資金調達</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Integrity Growth Partnersから$2,200万を調達(2026年8月19日発表)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 Startups・SiliconANGLE(2026-08-19)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Prevalent AIとは・基礎知識</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今回の資金調達の内容を確認する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9年間無借金経営の背景・創業者を確認する</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『企業データ問題』とAIエージェントの関係を確認する</a:t>
            </a:r>
          </a:p>
        </p:txBody>
      </p:sp>
      <p:sp>
        <p:nvSpPr>
          <p:cNvPr id="15" name="Oval 14"/>
          <p:cNvSpPr/>
          <p:nvPr/>
        </p:nvSpPr>
        <p:spPr>
          <a:xfrm>
            <a:off x="548640" y="58064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着手日当日(2026年8月19日)発表という最も高い鮮度の話題である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『9年間外部資金ゼロで黒字経営してきた企業が、ついに調達に動いた』という分かりやすい転機のストーリーである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AIエージェント普及がもたらす『企業データ問題』という具体的な課題を扱う</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複数の独立した情報源(Tech Startups・SiliconANGLE等)で確認できる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 Startups・SiliconANGLE(2026-08-19)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Prevalent AIとは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2017年創業のサイバーセキュリティ・データ基盤企業</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創業者はPaul Stokes氏・Arun Raj氏</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企業内の数百のシステムに接続する『データファブリック』製品を提供</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セキュリティ・インテリジェンス分野に深い経験を持つチームを擁する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 Startups・TechFundingNews(2026-08-19)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今回の資金調達の概要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調達額</a:t>
                      </a:r>
                    </a:p>
                  </a:txBody>
                  <a:tcPr>
                    <a:solidFill>
                      <a:srgbClr val="FFFFFF"/>
                    </a:solidFill>
                  </a:tcPr>
                </a:tc>
                <a:tc>
                  <a:txBody>
                    <a:bodyPr/>
                    <a:lstStyle/>
                    <a:p>
                      <a:pPr>
                        <a:defRPr sz="1200">
                          <a:solidFill>
                            <a:srgbClr val="1C2230"/>
                          </a:solidFill>
                          <a:latin typeface="Yu Gothic"/>
                        </a:defRPr>
                      </a:pPr>
                      <a:r>
                        <a:t>$2,200万(約22億円)</a:t>
                      </a:r>
                    </a:p>
                  </a:txBody>
                  <a:tcPr>
                    <a:solidFill>
                      <a:srgbClr val="FFFFFF"/>
                    </a:solidFill>
                  </a:tcPr>
                </a:tc>
              </a:tr>
              <a:tr h="502920">
                <a:tc>
                  <a:txBody>
                    <a:bodyPr/>
                    <a:lstStyle/>
                    <a:p>
                      <a:pPr>
                        <a:defRPr sz="1200">
                          <a:solidFill>
                            <a:srgbClr val="1C2230"/>
                          </a:solidFill>
                          <a:latin typeface="Yu Gothic"/>
                        </a:defRPr>
                      </a:pPr>
                      <a:r>
                        <a:t>投資家</a:t>
                      </a:r>
                    </a:p>
                  </a:txBody>
                  <a:tcPr>
                    <a:solidFill>
                      <a:srgbClr val="F1F5FA"/>
                    </a:solidFill>
                  </a:tcPr>
                </a:tc>
                <a:tc>
                  <a:txBody>
                    <a:bodyPr/>
                    <a:lstStyle/>
                    <a:p>
                      <a:pPr>
                        <a:defRPr sz="1200">
                          <a:solidFill>
                            <a:srgbClr val="1C2230"/>
                          </a:solidFill>
                          <a:latin typeface="Yu Gothic"/>
                        </a:defRPr>
                      </a:pPr>
                      <a:r>
                        <a:t>Integrity Growth Partners(IGP、ロサンゼルス拠点)</a:t>
                      </a:r>
                    </a:p>
                  </a:txBody>
                  <a:tcPr>
                    <a:solidFill>
                      <a:srgbClr val="F1F5FA"/>
                    </a:solidFill>
                  </a:tcPr>
                </a:tc>
              </a:tr>
              <a:tr h="502920">
                <a:tc>
                  <a:txBody>
                    <a:bodyPr/>
                    <a:lstStyle/>
                    <a:p>
                      <a:pPr>
                        <a:defRPr sz="1200">
                          <a:solidFill>
                            <a:srgbClr val="1C2230"/>
                          </a:solidFill>
                          <a:latin typeface="Yu Gothic"/>
                        </a:defRPr>
                      </a:pPr>
                      <a:r>
                        <a:t>位置づけ</a:t>
                      </a:r>
                    </a:p>
                  </a:txBody>
                  <a:tcPr>
                    <a:solidFill>
                      <a:srgbClr val="FFFFFF"/>
                    </a:solidFill>
                  </a:tcPr>
                </a:tc>
                <a:tc>
                  <a:txBody>
                    <a:bodyPr/>
                    <a:lstStyle/>
                    <a:p>
                      <a:pPr>
                        <a:defRPr sz="1200">
                          <a:solidFill>
                            <a:srgbClr val="1C2230"/>
                          </a:solidFill>
                          <a:latin typeface="Yu Gothic"/>
                        </a:defRPr>
                      </a:pPr>
                      <a:r>
                        <a:t>創業9年間で初の主要な外部機関投資家からの資金調達</a:t>
                      </a:r>
                    </a:p>
                  </a:txBody>
                  <a:tcPr>
                    <a:solidFill>
                      <a:srgbClr val="FFFFFF"/>
                    </a:solidFill>
                  </a:tcPr>
                </a:tc>
              </a:tr>
              <a:tr h="502920">
                <a:tc>
                  <a:txBody>
                    <a:bodyPr/>
                    <a:lstStyle/>
                    <a:p>
                      <a:pPr>
                        <a:defRPr sz="1200">
                          <a:solidFill>
                            <a:srgbClr val="1C2230"/>
                          </a:solidFill>
                          <a:latin typeface="Yu Gothic"/>
                        </a:defRPr>
                      </a:pPr>
                      <a:r>
                        <a:t>発表日</a:t>
                      </a:r>
                    </a:p>
                  </a:txBody>
                  <a:tcPr>
                    <a:solidFill>
                      <a:srgbClr val="F1F5FA"/>
                    </a:solidFill>
                  </a:tcPr>
                </a:tc>
                <a:tc>
                  <a:txBody>
                    <a:bodyPr/>
                    <a:lstStyle/>
                    <a:p>
                      <a:pPr>
                        <a:defRPr sz="1200">
                          <a:solidFill>
                            <a:srgbClr val="1C2230"/>
                          </a:solidFill>
                          <a:latin typeface="Yu Gothic"/>
                        </a:defRPr>
                      </a:pPr>
                      <a:r>
                        <a:t>2026年8月19日</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 Startups・SiliconANGLE(2026-08-19)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9年間の無借金経営</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これまでの経営スタイルです。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最初の顧客獲得以降、一貫して黒字を維持してきた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外部の主要な機関投資家からの資金調達を一度も行わずに成長</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9年間という長期にわたる無借金経営は、スタートアップとしては珍しい部類とされる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無借金経営を続けてきた具体的な経営判断の理由の詳細は本調査の範囲では確認できていない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SiliconANGLE(2026-08-19)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無借金経営を続けた期間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9年間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2017年の創業から2026年の今回調達まで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SiliconANGLE(2026-08-19)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創業者・関係者の経歴</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チームの背景です。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創業者はPaul Stokes氏・Arun Raj氏</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Sir Iain Lobban氏(英国政府通信本部GCHQ元長官)がチームに名を連ねる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Andrew France氏(GCHQ元サイバー防衛部門副長官、Darktrace共同創業者)も関与</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サイバーセキュリティ・インテリジェンス分野で深い経験を持つ人材が集まっている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TechFundingNews(2026-08-19)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これまで vs 今回</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これまで(2017〜2026年)</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外部機関投資家からの調達ゼロ</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一貫して黒字経営</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自己資金・顧客収益で成長</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今回(2026年8月19日)</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$2,200万を初調達</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Integrity Growth Partnersが投資家</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AIエージェント時代への対応を狙う</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製品『データファブリック』の機能</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接続範囲</a:t>
                      </a:r>
                    </a:p>
                  </a:txBody>
                  <a:tcPr>
                    <a:solidFill>
                      <a:srgbClr val="FFFFFF"/>
                    </a:solidFill>
                  </a:tcPr>
                </a:tc>
                <a:tc>
                  <a:txBody>
                    <a:bodyPr/>
                    <a:lstStyle/>
                    <a:p>
                      <a:pPr>
                        <a:defRPr sz="1200">
                          <a:solidFill>
                            <a:srgbClr val="1C2230"/>
                          </a:solidFill>
                          <a:latin typeface="Yu Gothic"/>
                        </a:defRPr>
                      </a:pPr>
                      <a:r>
                        <a:t>企業内の数百に及ぶ個別システム</a:t>
                      </a:r>
                    </a:p>
                  </a:txBody>
                  <a:tcPr>
                    <a:solidFill>
                      <a:srgbClr val="FFFFFF"/>
                    </a:solidFill>
                  </a:tcPr>
                </a:tc>
              </a:tr>
              <a:tr h="502920">
                <a:tc>
                  <a:txBody>
                    <a:bodyPr/>
                    <a:lstStyle/>
                    <a:p>
                      <a:pPr>
                        <a:defRPr sz="1200">
                          <a:solidFill>
                            <a:srgbClr val="1C2230"/>
                          </a:solidFill>
                          <a:latin typeface="Yu Gothic"/>
                        </a:defRPr>
                      </a:pPr>
                      <a:r>
                        <a:t>データ処理</a:t>
                      </a:r>
                    </a:p>
                  </a:txBody>
                  <a:tcPr>
                    <a:solidFill>
                      <a:srgbClr val="F1F5FA"/>
                    </a:solidFill>
                  </a:tcPr>
                </a:tc>
                <a:tc>
                  <a:txBody>
                    <a:bodyPr/>
                    <a:lstStyle/>
                    <a:p>
                      <a:pPr>
                        <a:defRPr sz="1200">
                          <a:solidFill>
                            <a:srgbClr val="1C2230"/>
                          </a:solidFill>
                          <a:latin typeface="Yu Gothic"/>
                        </a:defRPr>
                      </a:pPr>
                      <a:r>
                        <a:t>取得情報をナレッジグラフとして再構築</a:t>
                      </a:r>
                    </a:p>
                  </a:txBody>
                  <a:tcPr>
                    <a:solidFill>
                      <a:srgbClr val="F1F5FA"/>
                    </a:solidFill>
                  </a:tcPr>
                </a:tc>
              </a:tr>
              <a:tr h="502920">
                <a:tc>
                  <a:txBody>
                    <a:bodyPr/>
                    <a:lstStyle/>
                    <a:p>
                      <a:pPr>
                        <a:defRPr sz="1200">
                          <a:solidFill>
                            <a:srgbClr val="1C2230"/>
                          </a:solidFill>
                          <a:latin typeface="Yu Gothic"/>
                        </a:defRPr>
                      </a:pPr>
                      <a:r>
                        <a:t>更新頻度</a:t>
                      </a:r>
                    </a:p>
                  </a:txBody>
                  <a:tcPr>
                    <a:solidFill>
                      <a:srgbClr val="FFFFFF"/>
                    </a:solidFill>
                  </a:tcPr>
                </a:tc>
                <a:tc>
                  <a:txBody>
                    <a:bodyPr/>
                    <a:lstStyle/>
                    <a:p>
                      <a:pPr>
                        <a:defRPr sz="1200">
                          <a:solidFill>
                            <a:srgbClr val="1C2230"/>
                          </a:solidFill>
                          <a:latin typeface="Yu Gothic"/>
                        </a:defRPr>
                      </a:pPr>
                      <a:r>
                        <a:t>常に最新の状態を維持</a:t>
                      </a:r>
                    </a:p>
                  </a:txBody>
                  <a:tcPr>
                    <a:solidFill>
                      <a:srgbClr val="FFFFFF"/>
                    </a:solidFill>
                  </a:tcPr>
                </a:tc>
              </a:tr>
              <a:tr h="502920">
                <a:tc>
                  <a:txBody>
                    <a:bodyPr/>
                    <a:lstStyle/>
                    <a:p>
                      <a:pPr>
                        <a:defRPr sz="1200">
                          <a:solidFill>
                            <a:srgbClr val="1C2230"/>
                          </a:solidFill>
                          <a:latin typeface="Yu Gothic"/>
                        </a:defRPr>
                      </a:pPr>
                      <a:r>
                        <a:t>利用者</a:t>
                      </a:r>
                    </a:p>
                  </a:txBody>
                  <a:tcPr>
                    <a:solidFill>
                      <a:srgbClr val="F1F5FA"/>
                    </a:solidFill>
                  </a:tcPr>
                </a:tc>
                <a:tc>
                  <a:txBody>
                    <a:bodyPr/>
                    <a:lstStyle/>
                    <a:p>
                      <a:pPr>
                        <a:defRPr sz="1200">
                          <a:solidFill>
                            <a:srgbClr val="1C2230"/>
                          </a:solidFill>
                          <a:latin typeface="Yu Gothic"/>
                        </a:defRPr>
                      </a:pPr>
                      <a:r>
                        <a:t>セキュリティチームが資産・統制・IDの状況を照会</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TechFundingNews(2026-08-19)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『企業データ問題』とは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今回の調達の背景にある課題です。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企業向けAIの次のボトルネックは、より賢いモデルの開発よりも、組織に関する信頼できる情報をモデルに与えることだとされる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セキュリティチームは、どの資産・統制・IDが存在し、誰も監視していないものは何かを把握する必要がある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この課題に9年間取り組んできたことが、今回の調達の背景とされる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AIエージェントの普及がこの課題をより大きくしたという読みに基づく調達である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SiliconANGLE(2026-08-19)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接続する企業システム数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数百のシステム</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データファブリックが接続する範囲</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TechFundingNews(2026-08-19)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AIエージェント普及との関係</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今回の調達の狙いです。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AIエージェントが企業内で活用されるほど、信頼できるデータ基盤の必要性が高まるとされる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Prevalent AIはこれまでサイバーセキュリティ分野を中心に事業を展開してきた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今回の調達を機に、サイバーセキュリティ分野を超えた展開を目指すとされる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AIエージェント向け展開の具体的な製品計画・時期は本調査の範囲では確認できていない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TechFundingNews(2026-08-19)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今回の調達に至る流れ</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2017年創業、最初の顧客獲得</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以降9年間黒字経営を継続</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AIエージェント普及で企業データ問題が拡大</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既存事業の課題がより重要に</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初の外部資金調達へ</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$2,200万、2026年8月19日発表</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9年間の無借金経営から今回の調達に至る流れ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 Startups・SiliconANGLE(2026-08-19)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今回の発表の3ステップ総括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1. 創業9年で初の外部調達</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$2,200万、Integrity Growth Partners</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 9年間の黒字経営を経て</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外部資金に頼らず成長</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3. AIエージェント時代への対応へ</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企業データ問題の解決を目指す</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投資家Integrity Growth Partnersについて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投資家プロフィールです。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ロサンゼルス拠点の投資会社</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今回のPrevalent AIへの投資が成長資金として位置づけられている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投資の具体的な条件・出資比率の詳細は本調査の範囲では確認できていない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他の投資先・投資実績の詳細は本調査では扱わない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 Startups・SiliconANGLE(2026-08-19)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創業年</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2017年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今回の調達まで9年間の歩み</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SiliconANGLE(2026-08-19)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サイバーセキュリティ業界での位置づけ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業界内での位置づけです。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無借金経営を長期間続けたスタートアップの成功例の一つとして注目される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AIエージェント普及に伴うデータ基盤需要の高まりを捉えた調達と位置づけられる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他のデータ基盤・ナレッジグラフ企業との具体的な業績比較は本調査では行っていない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9年間の無借金経営という経歴を過度に美化せず、確認できた事実の範囲で正確に伝える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サイバーセキュリティ活用 vs AIエージェント活用への拡張</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これまで(サイバーセキュリティ)</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資産・統制・IDの可視化</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セキュリティチーム向け</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9年間の実績</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今後(AIエージェント)</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AIエージェントへの信頼できるデータ提供</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対象範囲の拡大を志向</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具体的な製品計画は未確認</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今回の発表の要点まとめ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調達額</a:t>
                      </a:r>
                    </a:p>
                  </a:txBody>
                  <a:tcPr>
                    <a:solidFill>
                      <a:srgbClr val="FFFFFF"/>
                    </a:solidFill>
                  </a:tcPr>
                </a:tc>
                <a:tc>
                  <a:txBody>
                    <a:bodyPr/>
                    <a:lstStyle/>
                    <a:p>
                      <a:pPr>
                        <a:defRPr sz="1200">
                          <a:solidFill>
                            <a:srgbClr val="1C2230"/>
                          </a:solidFill>
                          <a:latin typeface="Yu Gothic"/>
                        </a:defRPr>
                      </a:pPr>
                      <a:r>
                        <a:t>$2,200万(創業9年で初の外部機関投資家調達)</a:t>
                      </a:r>
                    </a:p>
                  </a:txBody>
                  <a:tcPr>
                    <a:solidFill>
                      <a:srgbClr val="FFFFFF"/>
                    </a:solidFill>
                  </a:tcPr>
                </a:tc>
              </a:tr>
              <a:tr h="502920">
                <a:tc>
                  <a:txBody>
                    <a:bodyPr/>
                    <a:lstStyle/>
                    <a:p>
                      <a:pPr>
                        <a:defRPr sz="1200">
                          <a:solidFill>
                            <a:srgbClr val="1C2230"/>
                          </a:solidFill>
                          <a:latin typeface="Yu Gothic"/>
                        </a:defRPr>
                      </a:pPr>
                      <a:r>
                        <a:t>投資家</a:t>
                      </a:r>
                    </a:p>
                  </a:txBody>
                  <a:tcPr>
                    <a:solidFill>
                      <a:srgbClr val="F1F5FA"/>
                    </a:solidFill>
                  </a:tcPr>
                </a:tc>
                <a:tc>
                  <a:txBody>
                    <a:bodyPr/>
                    <a:lstStyle/>
                    <a:p>
                      <a:pPr>
                        <a:defRPr sz="1200">
                          <a:solidFill>
                            <a:srgbClr val="1C2230"/>
                          </a:solidFill>
                          <a:latin typeface="Yu Gothic"/>
                        </a:defRPr>
                      </a:pPr>
                      <a:r>
                        <a:t>Integrity Growth Partners</a:t>
                      </a:r>
                    </a:p>
                  </a:txBody>
                  <a:tcPr>
                    <a:solidFill>
                      <a:srgbClr val="F1F5FA"/>
                    </a:solidFill>
                  </a:tcPr>
                </a:tc>
              </a:tr>
              <a:tr h="502920">
                <a:tc>
                  <a:txBody>
                    <a:bodyPr/>
                    <a:lstStyle/>
                    <a:p>
                      <a:pPr>
                        <a:defRPr sz="1200">
                          <a:solidFill>
                            <a:srgbClr val="1C2230"/>
                          </a:solidFill>
                          <a:latin typeface="Yu Gothic"/>
                        </a:defRPr>
                      </a:pPr>
                      <a:r>
                        <a:t>製品</a:t>
                      </a:r>
                    </a:p>
                  </a:txBody>
                  <a:tcPr>
                    <a:solidFill>
                      <a:srgbClr val="FFFFFF"/>
                    </a:solidFill>
                  </a:tcPr>
                </a:tc>
                <a:tc>
                  <a:txBody>
                    <a:bodyPr/>
                    <a:lstStyle/>
                    <a:p>
                      <a:pPr>
                        <a:defRPr sz="1200">
                          <a:solidFill>
                            <a:srgbClr val="1C2230"/>
                          </a:solidFill>
                          <a:latin typeface="Yu Gothic"/>
                        </a:defRPr>
                      </a:pPr>
                      <a:r>
                        <a:t>データファブリック(数百システム接続、ナレッジグラフ化)</a:t>
                      </a:r>
                    </a:p>
                  </a:txBody>
                  <a:tcPr>
                    <a:solidFill>
                      <a:srgbClr val="FFFFFF"/>
                    </a:solidFill>
                  </a:tcPr>
                </a:tc>
              </a:tr>
              <a:tr h="502920">
                <a:tc>
                  <a:txBody>
                    <a:bodyPr/>
                    <a:lstStyle/>
                    <a:p>
                      <a:pPr>
                        <a:defRPr sz="1200">
                          <a:solidFill>
                            <a:srgbClr val="1C2230"/>
                          </a:solidFill>
                          <a:latin typeface="Yu Gothic"/>
                        </a:defRPr>
                      </a:pPr>
                      <a:r>
                        <a:t>狙い</a:t>
                      </a:r>
                    </a:p>
                  </a:txBody>
                  <a:tcPr>
                    <a:solidFill>
                      <a:srgbClr val="F1F5FA"/>
                    </a:solidFill>
                  </a:tcPr>
                </a:tc>
                <a:tc>
                  <a:txBody>
                    <a:bodyPr/>
                    <a:lstStyle/>
                    <a:p>
                      <a:pPr>
                        <a:defRPr sz="1200">
                          <a:solidFill>
                            <a:srgbClr val="1C2230"/>
                          </a:solidFill>
                          <a:latin typeface="Yu Gothic"/>
                        </a:defRPr>
                      </a:pPr>
                      <a:r>
                        <a:t>AIエージェント時代の企業データ問題への対応</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 Startups・SiliconANGLE・TechFundingNews(2026-08-19)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今後注目される点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今後の見どころです。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今回の調達によるPrevalent AI全体の企業評価額</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AIエージェント向け展開の具体的な製品計画・時期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サイバーセキュリティ分野を超えた展開の実現度合い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今後の公式発表・追加ラウンドの動向を継続して確認する必要がある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チームの経歴的特徴</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元GCHQ長官級人材が関与</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英国政府通信本部・Darktrace出身者を含む</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TechFundingNews(2026-08-19)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サイバーセキュリティAI資金調達の動向(参考情報)</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Prevalent AI(今回)</a:t>
                      </a:r>
                    </a:p>
                  </a:txBody>
                  <a:tcPr>
                    <a:solidFill>
                      <a:srgbClr val="FFFFFF"/>
                    </a:solidFill>
                  </a:tcPr>
                </a:tc>
                <a:tc>
                  <a:txBody>
                    <a:bodyPr/>
                    <a:lstStyle/>
                    <a:p>
                      <a:pPr>
                        <a:defRPr sz="1200">
                          <a:solidFill>
                            <a:srgbClr val="1C2230"/>
                          </a:solidFill>
                          <a:latin typeface="Yu Gothic"/>
                        </a:defRPr>
                      </a:pPr>
                      <a:r>
                        <a:t>$2,200万、創業9年で初調達</a:t>
                      </a:r>
                    </a:p>
                  </a:txBody>
                  <a:tcPr>
                    <a:solidFill>
                      <a:srgbClr val="FFFFFF"/>
                    </a:solidFill>
                  </a:tcPr>
                </a:tc>
              </a:tr>
              <a:tr h="502920">
                <a:tc>
                  <a:txBody>
                    <a:bodyPr/>
                    <a:lstStyle/>
                    <a:p>
                      <a:pPr>
                        <a:defRPr sz="1200">
                          <a:solidFill>
                            <a:srgbClr val="1C2230"/>
                          </a:solidFill>
                          <a:latin typeface="Yu Gothic"/>
                        </a:defRPr>
                      </a:pPr>
                      <a:r>
                        <a:t>業界全体の傾向</a:t>
                      </a:r>
                    </a:p>
                  </a:txBody>
                  <a:tcPr>
                    <a:solidFill>
                      <a:srgbClr val="F1F5FA"/>
                    </a:solidFill>
                  </a:tcPr>
                </a:tc>
                <a:tc>
                  <a:txBody>
                    <a:bodyPr/>
                    <a:lstStyle/>
                    <a:p>
                      <a:pPr>
                        <a:defRPr sz="1200">
                          <a:solidFill>
                            <a:srgbClr val="1C2230"/>
                          </a:solidFill>
                          <a:latin typeface="Yu Gothic"/>
                        </a:defRPr>
                      </a:pPr>
                      <a:r>
                        <a:t>AIエージェントのID・データ管理分野への投資が活発化</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本リサーチ(2026-08-19時点)</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調達までの経営スタイル</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自己資金・顧客収益のみで成長</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9年間、外部資本に依存しない経営を継続</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SiliconANGLE(2026-08-19)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今回の調達によるPrevalent AI全体の企業評価額(バリュエーション)</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具体的な年間売上高・利益率等の財務指標の詳細</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ナレッジグラフを構築する技術基盤(AIモデル・機械学習手法)の詳細</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本テーマは特定企業(Prevalent AI)の製品導入を推奨するものではなく、報じられた資金調達の紹介にとどめる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確認できている事実</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$2,200万の調達</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創業9年で初の外部調達</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製品の基本的な機能</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今後の不確定要素</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企業評価額</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AIエージェント向け展開の計画</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財務指標の詳細</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サイバーセキュリティ・AIエージェントの動向に関心がある立場として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企業データ整備という課題がAIエージェント時代にどう重要性を増すかを把握する視点が役立つ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スタートアップ経営・投資に関心がある立場として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9年間の無借金経営という珍しい経歴と、今回の調達判断の背景を区別して見る視点が参考になる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企業のデータ基盤整備に携わる立場として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AIエージェント導入を検討する際、データ基盤の信頼性という課題の存在を意識する視点が役立つ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本編のまとめです。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Prevalent AIは2026年8月19日、創業9年で初めて外部機関投資家から$2,200万を調達したことが報じられた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9年間、外部資金に頼らず黒字経営を続けてきた末の決断とされる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AIエージェント普及がもたらす『企業データ問題』への対応が今回の調達の背景である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企業評価額や具体的な展開計画など、確認できていない点は正直に開示した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 Startups・SiliconANGLE(2026-08-19)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9年間、外部資金ゼロ。その理由がついに変わった。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Prevalent AIは2026年8月19日、創業9年で初めて外部機関投資家から$2,200万を調達したことが報じられました。9年間の無借金経営からの転機の中身を、出典付きで正直に整理してお届けしました。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