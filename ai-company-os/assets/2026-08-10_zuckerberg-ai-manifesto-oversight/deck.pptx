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こんにちは。今日はMeta CEOマーク・ザッカーバーグ氏が2026年8月10日に公開した、AIの将来像を論じる6,500語のエッセイ、いわゆるマニフェストを取り上げます。AI企業のトップが、政府にもっとAIを見てほしいと訴えた。この意外性のある提案の中身を、事実ベースで整理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話します。ザッカーバーグ氏が公開したのは6,500語に及ぶ長文のエッセイです。この中で、AIの管理・監督のあり方について、政府にもっと関与してほしいという趣旨の提案を含んでいます。この後、提案の中身を1つずつ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この動画を見終える頃には、マニフェストが何を提案したのか、数字と出典の裏付けとともに説明できるようになります。あわせて、まだ分かっていないことも隠さずお伝えします。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今このニュースなのか。発表は8月10日で、この動画の準備を始めた2日前の出来事です。複数の独立系メディアがほぼ同時に報じており、話題性の裏付けもあります。AI企業のトップが政府にもっと関与してほしいと述べたという、意外性のある構図が注目点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の流れです。まず発表の概要と報道のされ方を確認し、基礎知識を押さえたうえで、3つの核心提案を深掘りします。そのあと、大統領令との関係、同日発表の別テーマとの違い、そして中立性の方針ま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この発表は一社だけでなく、ABC NewsやU.S. Newsといった通信社系から、Forbes・Quartzのような分析記事、Bloomberg・Varietyのビジネスメディアまで、幅広く報じられました。それだけ注目度が高かったということです。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発表の要点を3つに絞ります。6,500語という分量、AI超知能の管理集中への懸念表明、そして個人のエンパワーメントこそが繁栄の源だという理念です。この理念のもとで、具体的な政策提案が展開されます。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マニフェストの論理構成を図にするとこうです。超知能の管理集中への懸念からスタートし、オープンソースこそが公平な発展につながるという主張を経て、政府への具体的な提案へとつながっています。次から、この主張の背景にある基礎知識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用語を整理します。『マニフェスト』とは、個人や企業が自らの理念・立場をまとめて公表する声明文のことです。今回は6,500語という長さのエッセイ形式で、単なる製品発表ではなく政策提言を含んでいる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もう一つの重要な用語が『超知能』です。人間の知能を大きく上回るとされる、仮説的なAIの段階を指す言葉で、実現時期や定義について業界内での確立した合意があるわけではありません。マニフェストは、この超知能を誰がどう管理するかに焦点を当て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マニフェストの内容を2本の柱で整理します。一方に超知能の管理集中への懸念、もう一方にオープンソースと個人のエンパワーメントを重視する主張があります。この2本の柱の上に、具体的な政策提案が組み立て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提案の1つ目です。ザッカーバーグ氏は、AI研究所が完成したモデルの発表を待つのではなく、訓練の途中段階のチェックポイントを連邦政府と共有すべきだと提案しました。ここが今回もっとも意外性のある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提案の2つ目は、現行の大統領令への異論です。トランプ政権の大統領令は、新しいAIモデルに対して30日間の任意レビュー制度を設けています。ザッカーバーグ氏は、このあり方に異論を唱え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提案の3つ目は、Meta自身の取り組みです。取締役会が承認する安全ガイドラインへの適合性を審査する、新たなモデルリリース監督体制を導入すると表明しました。政府への提案だけでなく、自社の体制も見直す内容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3つの核心提言を表に整理します。政府とのチェックポイント共有、現行の大統領令への異論、そしてMeta社内の新しい監督体制です。次のスライドから、それぞれの背景をもう少し詳しく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行の大統領令とマニフェストの提案を並べると、こう整理できます。大統領令は完成後のモデルに対する30日間の任意レビュー制度、マニフェストの提案は訓練の途中段階からの共有です。この動画では、どちらが望ましいかという評価はせず、内容の違いを事実として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政府監督提案のポイントを3つのカードにまとめました。訓練途中モデルの共有提案、現行の大統領令の30日間レビュー制度、そしてMeta社内の取締役会審査体制です。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時系列で整理します。8月10日にマニフェストが公開され、同日Muse Glimmerなどの発表もありました。その後各メディアが一斉に報じましたが、この動画の着手時点(8月12日)では、連邦政府側からの正式な反応はまだ確認できていません。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提案を見るときの注意点を3つ挙げます。チェックポイント共有の具体的な技術的手法、大統領令への異論が政策議論に与える影響、そしてMeta社内新体制の運用開始時期。いずれも本調査の範囲では確認できておらず、不明なまま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同じ8月10日、同じMetaの発表として、もう1つ既存のテーマがあります。オープンウェイト型モデル『Muse Glimmer』自体を扱ったテーマです。本テーマはモデルの技術詳細には立ち入らず、マニフェストの政策提言部分に絞って扱います。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係を図で整理します。Metaは同じ日に複数の発表を行い、そのうちモデル自体を扱うのが既存テーマ、政策提言を扱うのが本テーマです。同じ日・同じ企業の発表ですが、内容が重複しないよう焦点を書き分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本動画の方針を明確にお伝えします。政府の規制や大統領令に関わる内容を扱いますが、特定の政権・政党の是非を評価する結論にはしません。誰が何を提案したかという事実関係の報告にとどめ、どちらが正しい・望ましいという評価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にとっては、AI企業のガバナンスや政策議論が、将来的に自分が使うAI製品のあり方にも影響しうるテーマとして注視する価値があります。ただし現時点で断定的な予測はできず、今後の続報を確認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企業や開発者にとっては、AIモデルの安全審査や政府とのやり取りのあり方が今後変わる可能性があり、自社のAI活用方針を検討する際の材料になります。ただし具体的な制度化の有無や時期は不明であり、断定はでき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ソースAIをめぐる論点を一般論として整理します。開かれた発展を後押しする面がある一方、誰でも利用できることのリスク管理や、政府による監督のあり方も議論の対象になっています。これは特定の立場への賛否ではなく、一般的な論点の整理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時点で分かっている論調の整理です。連邦政府からの公式な反応は本調査の範囲では確認できていません。専門家・業界内での賛否の具体的な比率も確認できていませんが、Quartzは『悲観論者への反論』という論調で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まだ分かっていないことを正直にまとめます。公開の正確な日時、連邦政府からの正式な反応、Meta取締役会の審査体制の運用開始時期、そして株価や世論の具体的な数値。いずれも本調査の範囲では確認できておらず、数字を推測で埋めることは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今後追いかけていきたい点を3つ挙げます。連邦政府からの正式な反応、Meta取締役会の審査体制の運用状況、そして既存テーマとあわせたMetaのAI戦略全体の展開です。続報が出次第、事実ベースで整理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改めてお伝えします。この動画は特定の政権や企業の是非を判断するものではなく、誰が何を提案したかという事実を整理してお届けしました。今後、連邦政府の反応など新しい事実が出てきたら、引き続き事実ベースで追いかけ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本編で扱った事実の出典一覧です。ABC News・U.S. News・Forbes・Quartz・Bloomberg・Varietyを情報源としています。詳しい調査記録はresearch.mdにまとめています。最後までご覧いただきありがとうございました。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AI企業のトップが、</a:t>
            </a:r>
          </a:p>
          <a:p>
            <a:pPr algn="l">
              <a:lnSpc>
                <a:spcPct val="115000"/>
              </a:lnSpc>
            </a:pPr>
            <a:r>
              <a:rPr sz="4200" b="1">
                <a:solidFill>
                  <a:srgbClr val="FFFFFF"/>
                </a:solidFill>
                <a:latin typeface="Yu Gothic"/>
              </a:rPr>
              <a:t>政府に「もっと見てほしい」と言った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F5D9A8"/>
                </a:solidFill>
                <a:latin typeface="Yu Gothic"/>
              </a:rPr>
              <a:t>Meta CEOザッカーバーグ氏、AI政府監督案を含む6,500語マニフェストを公開(2026年8月10日)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D9A857"/>
                </a:solidFill>
                <a:latin typeface="Yu Gothic"/>
              </a:rPr>
              <a:t>出典: ABC News・U.S. News・Forbes・Quartz・Bloomberg・Variety(詳細は本編・出典一覧スライドで明記)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今回の結論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6,500語</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Meta CEOザッカーバーグ氏が公開したAIマニフェストの分量。AI政府監督の強化案を含む</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ABC News・U.S. News・Forbes・Bloombergほか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この動画で得られること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6,500語マニフェストの主張を出典付きで把握できる</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政府への訓練チェックポイント共有提案の内容が分かる</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トランプ政権の大統領令への異論・Meta社内の新監督体制が分かる</a:t>
            </a:r>
          </a:p>
        </p:txBody>
      </p:sp>
      <p:sp>
        <p:nvSpPr>
          <p:cNvPr id="12" name="Oval 11"/>
          <p:cNvSpPr/>
          <p:nvPr/>
        </p:nvSpPr>
        <p:spPr>
          <a:xfrm>
            <a:off x="457200" y="38130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同日発表のMuse Glimmer(既存テーマ)との違いが分かる</a:t>
            </a:r>
          </a:p>
        </p:txBody>
      </p:sp>
      <p:sp>
        <p:nvSpPr>
          <p:cNvPr id="14" name="Oval 13"/>
          <p:cNvSpPr/>
          <p:nvPr/>
        </p:nvSpPr>
        <p:spPr>
          <a:xfrm>
            <a:off x="457200" y="459028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5" name="TextBox 14"/>
          <p:cNvSpPr txBox="1"/>
          <p:nvPr/>
        </p:nvSpPr>
        <p:spPr>
          <a:xfrm>
            <a:off x="960120" y="457200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現時点で不明な点(政府の正式な反応など)も正直に共有する</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なぜ今、このニュースを扱うのか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発表は2026年8月10日。この動画の制作着手(8月12日)から2日前という新しさ</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ABC News・Forbes・Bloombergなど複数の独立系メディアが同時期に報道</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「AI企業が政府に規制強化を求める」という一般的なイメージとは逆向きの主張で注目度が高い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本日の流れ</a:t>
            </a:r>
          </a:p>
        </p:txBody>
      </p:sp>
      <p:sp>
        <p:nvSpPr>
          <p:cNvPr id="5" name="Oval 4"/>
          <p:cNvSpPr/>
          <p:nvPr/>
        </p:nvSpPr>
        <p:spPr>
          <a:xfrm>
            <a:off x="548640" y="19202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F5D9A8"/>
                </a:solidFill>
                <a:latin typeface="Yu Gothic"/>
              </a:rPr>
              <a:t>発表の概要と報道のされ方</a:t>
            </a:r>
          </a:p>
        </p:txBody>
      </p:sp>
      <p:sp>
        <p:nvSpPr>
          <p:cNvPr id="7" name="Oval 6"/>
          <p:cNvSpPr/>
          <p:nvPr/>
        </p:nvSpPr>
        <p:spPr>
          <a:xfrm>
            <a:off x="548640" y="269748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F5D9A8"/>
                </a:solidFill>
                <a:latin typeface="Yu Gothic"/>
              </a:rPr>
              <a:t>基礎知識(マニフェスト・超知能とは)</a:t>
            </a:r>
          </a:p>
        </p:txBody>
      </p:sp>
      <p:sp>
        <p:nvSpPr>
          <p:cNvPr id="9" name="Oval 8"/>
          <p:cNvSpPr/>
          <p:nvPr/>
        </p:nvSpPr>
        <p:spPr>
          <a:xfrm>
            <a:off x="548640" y="347472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F5D9A8"/>
                </a:solidFill>
                <a:latin typeface="Yu Gothic"/>
              </a:rPr>
              <a:t>3つの核心提案を深掘り</a:t>
            </a:r>
          </a:p>
        </p:txBody>
      </p:sp>
      <p:sp>
        <p:nvSpPr>
          <p:cNvPr id="11" name="Oval 10"/>
          <p:cNvSpPr/>
          <p:nvPr/>
        </p:nvSpPr>
        <p:spPr>
          <a:xfrm>
            <a:off x="548640" y="425196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F5D9A8"/>
                </a:solidFill>
                <a:latin typeface="Yu Gothic"/>
              </a:rPr>
              <a:t>大統領令とMeta社内の新体制</a:t>
            </a:r>
          </a:p>
        </p:txBody>
      </p:sp>
      <p:sp>
        <p:nvSpPr>
          <p:cNvPr id="13" name="Oval 12"/>
          <p:cNvSpPr/>
          <p:nvPr/>
        </p:nvSpPr>
        <p:spPr>
          <a:xfrm>
            <a:off x="548640" y="502920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F5D9A8"/>
                </a:solidFill>
                <a:latin typeface="Yu Gothic"/>
              </a:rPr>
              <a:t>同日発表のMuse Glimmerとの違い</a:t>
            </a:r>
          </a:p>
        </p:txBody>
      </p:sp>
      <p:sp>
        <p:nvSpPr>
          <p:cNvPr id="15" name="Oval 14"/>
          <p:cNvSpPr/>
          <p:nvPr/>
        </p:nvSpPr>
        <p:spPr>
          <a:xfrm>
            <a:off x="548640" y="5806440"/>
            <a:ext cx="548640" cy="5486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F5D9A8"/>
                </a:solidFill>
                <a:latin typeface="Yu Gothic"/>
              </a:rPr>
              <a:t>政治的中立性の方針・不明点・まとめ</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発表を報じた主要メディア</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3A4750"/>
                    </a:solidFill>
                  </a:tcPr>
                </a:tc>
                <a:tc>
                  <a:txBody>
                    <a:bodyPr/>
                    <a:lstStyle/>
                    <a:p>
                      <a:pPr>
                        <a:defRPr sz="1300" b="1">
                          <a:solidFill>
                            <a:srgbClr val="FFFFFF"/>
                          </a:solidFill>
                          <a:latin typeface="Yu Gothic"/>
                        </a:defRPr>
                      </a:pPr>
                      <a:r>
                        <a:t>報道の要旨</a:t>
                      </a:r>
                    </a:p>
                  </a:txBody>
                  <a:tcPr>
                    <a:solidFill>
                      <a:srgbClr val="3A4750"/>
                    </a:solidFill>
                  </a:tcPr>
                </a:tc>
              </a:tr>
              <a:tr h="502920">
                <a:tc>
                  <a:txBody>
                    <a:bodyPr/>
                    <a:lstStyle/>
                    <a:p>
                      <a:pPr>
                        <a:defRPr sz="1200">
                          <a:solidFill>
                            <a:srgbClr val="1E2124"/>
                          </a:solidFill>
                          <a:latin typeface="Yu Gothic"/>
                        </a:defRPr>
                      </a:pPr>
                      <a:r>
                        <a:t>ABC News</a:t>
                      </a:r>
                    </a:p>
                  </a:txBody>
                  <a:tcPr>
                    <a:solidFill>
                      <a:srgbClr val="FFFFFF"/>
                    </a:solidFill>
                  </a:tcPr>
                </a:tc>
                <a:tc>
                  <a:txBody>
                    <a:bodyPr/>
                    <a:lstStyle/>
                    <a:p>
                      <a:pPr>
                        <a:defRPr sz="1200">
                          <a:solidFill>
                            <a:srgbClr val="1E2124"/>
                          </a:solidFill>
                          <a:latin typeface="Yu Gothic"/>
                        </a:defRPr>
                      </a:pPr>
                      <a:r>
                        <a:t>オープンソース路線を推すマニフェストとして紹介</a:t>
                      </a:r>
                    </a:p>
                  </a:txBody>
                  <a:tcPr>
                    <a:solidFill>
                      <a:srgbClr val="FFFFFF"/>
                    </a:solidFill>
                  </a:tcPr>
                </a:tc>
              </a:tr>
              <a:tr h="502920">
                <a:tc>
                  <a:txBody>
                    <a:bodyPr/>
                    <a:lstStyle/>
                    <a:p>
                      <a:pPr>
                        <a:defRPr sz="1200">
                          <a:solidFill>
                            <a:srgbClr val="1E2124"/>
                          </a:solidFill>
                          <a:latin typeface="Yu Gothic"/>
                        </a:defRPr>
                      </a:pPr>
                      <a:r>
                        <a:t>U.S. News</a:t>
                      </a:r>
                    </a:p>
                  </a:txBody>
                  <a:tcPr>
                    <a:solidFill>
                      <a:srgbClr val="F7F4EF"/>
                    </a:solidFill>
                  </a:tcPr>
                </a:tc>
                <a:tc>
                  <a:txBody>
                    <a:bodyPr/>
                    <a:lstStyle/>
                    <a:p>
                      <a:pPr>
                        <a:defRPr sz="1200">
                          <a:solidFill>
                            <a:srgbClr val="1E2124"/>
                          </a:solidFill>
                          <a:latin typeface="Yu Gothic"/>
                        </a:defRPr>
                      </a:pPr>
                      <a:r>
                        <a:t>同内容を通信社配信記事として報道</a:t>
                      </a:r>
                    </a:p>
                  </a:txBody>
                  <a:tcPr>
                    <a:solidFill>
                      <a:srgbClr val="F7F4EF"/>
                    </a:solidFill>
                  </a:tcPr>
                </a:tc>
              </a:tr>
              <a:tr h="502920">
                <a:tc>
                  <a:txBody>
                    <a:bodyPr/>
                    <a:lstStyle/>
                    <a:p>
                      <a:pPr>
                        <a:defRPr sz="1200">
                          <a:solidFill>
                            <a:srgbClr val="1E2124"/>
                          </a:solidFill>
                          <a:latin typeface="Yu Gothic"/>
                        </a:defRPr>
                      </a:pPr>
                      <a:r>
                        <a:t>Forbes</a:t>
                      </a:r>
                    </a:p>
                  </a:txBody>
                  <a:tcPr>
                    <a:solidFill>
                      <a:srgbClr val="FFFFFF"/>
                    </a:solidFill>
                  </a:tcPr>
                </a:tc>
                <a:tc>
                  <a:txBody>
                    <a:bodyPr/>
                    <a:lstStyle/>
                    <a:p>
                      <a:pPr>
                        <a:defRPr sz="1200">
                          <a:solidFill>
                            <a:srgbClr val="1E2124"/>
                          </a:solidFill>
                          <a:latin typeface="Yu Gothic"/>
                        </a:defRPr>
                      </a:pPr>
                      <a:r>
                        <a:t>AI政府監督の強化を訴えた点を分析</a:t>
                      </a:r>
                    </a:p>
                  </a:txBody>
                  <a:tcPr>
                    <a:solidFill>
                      <a:srgbClr val="FFFFFF"/>
                    </a:solidFill>
                  </a:tcPr>
                </a:tc>
              </a:tr>
              <a:tr h="502920">
                <a:tc>
                  <a:txBody>
                    <a:bodyPr/>
                    <a:lstStyle/>
                    <a:p>
                      <a:pPr>
                        <a:defRPr sz="1200">
                          <a:solidFill>
                            <a:srgbClr val="1E2124"/>
                          </a:solidFill>
                          <a:latin typeface="Yu Gothic"/>
                        </a:defRPr>
                      </a:pPr>
                      <a:r>
                        <a:t>Quartz</a:t>
                      </a:r>
                    </a:p>
                  </a:txBody>
                  <a:tcPr>
                    <a:solidFill>
                      <a:srgbClr val="F7F4EF"/>
                    </a:solidFill>
                  </a:tcPr>
                </a:tc>
                <a:tc>
                  <a:txBody>
                    <a:bodyPr/>
                    <a:lstStyle/>
                    <a:p>
                      <a:pPr>
                        <a:defRPr sz="1200">
                          <a:solidFill>
                            <a:srgbClr val="1E2124"/>
                          </a:solidFill>
                          <a:latin typeface="Yu Gothic"/>
                        </a:defRPr>
                      </a:pPr>
                      <a:r>
                        <a:t>AIへの悲観論への反論・オープンソース推進として分析</a:t>
                      </a:r>
                    </a:p>
                  </a:txBody>
                  <a:tcPr>
                    <a:solidFill>
                      <a:srgbClr val="F7F4EF"/>
                    </a:solidFill>
                  </a:tcPr>
                </a:tc>
              </a:tr>
              <a:tr h="502920">
                <a:tc>
                  <a:txBody>
                    <a:bodyPr/>
                    <a:lstStyle/>
                    <a:p>
                      <a:pPr>
                        <a:defRPr sz="1200">
                          <a:solidFill>
                            <a:srgbClr val="1E2124"/>
                          </a:solidFill>
                          <a:latin typeface="Yu Gothic"/>
                        </a:defRPr>
                      </a:pPr>
                      <a:r>
                        <a:t>Bloomberg</a:t>
                      </a:r>
                    </a:p>
                  </a:txBody>
                  <a:tcPr>
                    <a:solidFill>
                      <a:srgbClr val="FFFFFF"/>
                    </a:solidFill>
                  </a:tcPr>
                </a:tc>
                <a:tc>
                  <a:txBody>
                    <a:bodyPr/>
                    <a:lstStyle/>
                    <a:p>
                      <a:pPr>
                        <a:defRPr sz="1200">
                          <a:solidFill>
                            <a:srgbClr val="1E2124"/>
                          </a:solidFill>
                          <a:latin typeface="Yu Gothic"/>
                        </a:defRPr>
                      </a:pPr>
                      <a:r>
                        <a:t>マニフェストの要点5つを整理する記事を掲載</a:t>
                      </a:r>
                    </a:p>
                  </a:txBody>
                  <a:tcPr>
                    <a:solidFill>
                      <a:srgbClr val="FFFFFF"/>
                    </a:solidFill>
                  </a:tcPr>
                </a:tc>
              </a:tr>
              <a:tr h="502920">
                <a:tc>
                  <a:txBody>
                    <a:bodyPr/>
                    <a:lstStyle/>
                    <a:p>
                      <a:pPr>
                        <a:defRPr sz="1200">
                          <a:solidFill>
                            <a:srgbClr val="1E2124"/>
                          </a:solidFill>
                          <a:latin typeface="Yu Gothic"/>
                        </a:defRPr>
                      </a:pPr>
                      <a:r>
                        <a:t>Variety</a:t>
                      </a:r>
                    </a:p>
                  </a:txBody>
                  <a:tcPr>
                    <a:solidFill>
                      <a:srgbClr val="F7F4EF"/>
                    </a:solidFill>
                  </a:tcPr>
                </a:tc>
                <a:tc>
                  <a:txBody>
                    <a:bodyPr/>
                    <a:lstStyle/>
                    <a:p>
                      <a:pPr>
                        <a:defRPr sz="1200">
                          <a:solidFill>
                            <a:srgbClr val="1E2124"/>
                          </a:solidFill>
                          <a:latin typeface="Yu Gothic"/>
                        </a:defRPr>
                      </a:pPr>
                      <a:r>
                        <a:t>マニフェストの概要を紹介</a:t>
                      </a:r>
                    </a:p>
                  </a:txBody>
                  <a:tcPr>
                    <a:solidFill>
                      <a:srgbClr val="F7F4E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各社報道(2026年8月10日前後)</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発表の要点3つ</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6,500語</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分量</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Meta CEOザッカーバーグ氏が公開した長文エッセイ(マニフェスト)</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超知能</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懸念表明</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AI「超知能」の管理・コントロールが一部企業に集中することへの懸念を表明</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個人</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理念</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「個人のエンパワーメントこそが繁栄の源」という理念を掲げる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ABC News・Bloombergほか</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マニフェストの主張の流れ</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懸念</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超知能の管理が一部に集中するリスク</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主張</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オープンソースが公平な発展につながる</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提案</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政府への訓練チェックポイント共有など</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懸念の表明から、具体的な政策提案へとつながる構成になっている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基礎知識:「マニフェスト」とは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個人や企業が、自らの理念・立場を文章でまとめて公表する声明文のこと</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今回は6,500語という長文のエッセイ形式で、AIの将来像を論じている</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製品発表とは異なり、政策提言(政府への提案)を含む点が特徴</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基礎知識:「超知能(superintelligence)」とは</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人間の知能を大きく上回るとされる、仮説的なAIの発展段階を指す言葉</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実現時期や定義について、業界内で確立した合意があるわけではない</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マニフェストは、この超知能の『管理のあり方』に焦点を当てている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マニフェストの2つの柱</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懸念</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超知能の管理・コントロールが一部企業・組織に集中するリスクを指摘</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集中が公平な発展を妨げる可能性を懸念</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主張</a:t>
            </a:r>
          </a:p>
        </p:txBody>
      </p:sp>
      <p:sp>
        <p:nvSpPr>
          <p:cNvPr id="16" name="Oval 15"/>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オープンソース路線こそが公平な発展につながると主張</a:t>
            </a:r>
          </a:p>
        </p:txBody>
      </p:sp>
      <p:sp>
        <p:nvSpPr>
          <p:cNvPr id="18" name="Oval 17"/>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個人のエンパワーメントこそが繁栄の源という理念を掲げる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核心提案の1つ:政府とのチェックポイント共有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訓練途中</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完成モデルの発表を待つのではなく、訓練途中のチェックポイントを連邦政府と共有すべきだと提案</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ABC News・Bloombergほか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核心提案の2つ目:現行の大統領令への異論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30日間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新モデルに対する30日間の任意レビュー制度(現行の大統領令の内容)。ザッカーバーグ氏はこの制度のあり方に異論を唱えた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ABC News・U.S. News・Forbes・Bloombergほか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F5D9A8"/>
                </a:solidFill>
                <a:latin typeface="Yu Gothic"/>
              </a:rPr>
              <a:t>核心提案の3つ目:Meta社内の新監督体制</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E8871E"/>
                </a:solidFill>
                <a:latin typeface="Yu Gothic"/>
              </a:rPr>
              <a:t>取締役会</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Meta自身も、取締役会が承認する安全ガイドラインへの適合性を審査する新たなモデルリリース監督体制を導入すると表明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D9A857"/>
                </a:solidFill>
                <a:latin typeface="Yu Gothic"/>
              </a:rPr>
              <a:t>出典: ABC News・U.S. News・Forbes・Bloombergほか</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3つの核心提言まとめ</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提案</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政府とのチェックポイント共有</a:t>
                      </a:r>
                    </a:p>
                  </a:txBody>
                  <a:tcPr>
                    <a:solidFill>
                      <a:srgbClr val="FFFFFF"/>
                    </a:solidFill>
                  </a:tcPr>
                </a:tc>
                <a:tc>
                  <a:txBody>
                    <a:bodyPr/>
                    <a:lstStyle/>
                    <a:p>
                      <a:pPr>
                        <a:defRPr sz="1200">
                          <a:solidFill>
                            <a:srgbClr val="1E2124"/>
                          </a:solidFill>
                          <a:latin typeface="Yu Gothic"/>
                        </a:defRPr>
                      </a:pPr>
                      <a:r>
                        <a:t>AI研究所は完成モデルを待たず、訓練途中の状態を連邦政府と共有すべきと提案</a:t>
                      </a:r>
                    </a:p>
                  </a:txBody>
                  <a:tcPr>
                    <a:solidFill>
                      <a:srgbClr val="FFFFFF"/>
                    </a:solidFill>
                  </a:tcPr>
                </a:tc>
              </a:tr>
              <a:tr h="502920">
                <a:tc>
                  <a:txBody>
                    <a:bodyPr/>
                    <a:lstStyle/>
                    <a:p>
                      <a:pPr>
                        <a:defRPr sz="1200">
                          <a:solidFill>
                            <a:srgbClr val="1E2124"/>
                          </a:solidFill>
                          <a:latin typeface="Yu Gothic"/>
                        </a:defRPr>
                      </a:pPr>
                      <a:r>
                        <a:t>大統領令への異論</a:t>
                      </a:r>
                    </a:p>
                  </a:txBody>
                  <a:tcPr>
                    <a:solidFill>
                      <a:srgbClr val="F7F4EF"/>
                    </a:solidFill>
                  </a:tcPr>
                </a:tc>
                <a:tc>
                  <a:txBody>
                    <a:bodyPr/>
                    <a:lstStyle/>
                    <a:p>
                      <a:pPr>
                        <a:defRPr sz="1200">
                          <a:solidFill>
                            <a:srgbClr val="1E2124"/>
                          </a:solidFill>
                          <a:latin typeface="Yu Gothic"/>
                        </a:defRPr>
                      </a:pPr>
                      <a:r>
                        <a:t>新モデルに対する30日間の任意レビュー制度に異論を唱えた</a:t>
                      </a:r>
                    </a:p>
                  </a:txBody>
                  <a:tcPr>
                    <a:solidFill>
                      <a:srgbClr val="F7F4EF"/>
                    </a:solidFill>
                  </a:tcPr>
                </a:tc>
              </a:tr>
              <a:tr h="502920">
                <a:tc>
                  <a:txBody>
                    <a:bodyPr/>
                    <a:lstStyle/>
                    <a:p>
                      <a:pPr>
                        <a:defRPr sz="1200">
                          <a:solidFill>
                            <a:srgbClr val="1E2124"/>
                          </a:solidFill>
                          <a:latin typeface="Yu Gothic"/>
                        </a:defRPr>
                      </a:pPr>
                      <a:r>
                        <a:t>Meta社内の新監督体制</a:t>
                      </a:r>
                    </a:p>
                  </a:txBody>
                  <a:tcPr>
                    <a:solidFill>
                      <a:srgbClr val="FFFFFF"/>
                    </a:solidFill>
                  </a:tcPr>
                </a:tc>
                <a:tc>
                  <a:txBody>
                    <a:bodyPr/>
                    <a:lstStyle/>
                    <a:p>
                      <a:pPr>
                        <a:defRPr sz="1200">
                          <a:solidFill>
                            <a:srgbClr val="1E2124"/>
                          </a:solidFill>
                          <a:latin typeface="Yu Gothic"/>
                        </a:defRPr>
                      </a:pPr>
                      <a:r>
                        <a:t>取締役会が承認する安全ガイドラインへの適合性を審査する新体制を導入すると表明</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ABC News・U.S. News・Forbes・Bloombergほか</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大統領令とマニフェストの提案の違い</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3069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現行の大統領令</a:t>
            </a:r>
          </a:p>
        </p:txBody>
      </p:sp>
      <p:sp>
        <p:nvSpPr>
          <p:cNvPr id="9" name="TextBox 8"/>
          <p:cNvSpPr txBox="1"/>
          <p:nvPr/>
        </p:nvSpPr>
        <p:spPr>
          <a:xfrm>
            <a:off x="34898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新モデルに対する30日間の任意レビュー制度</a:t>
            </a:r>
          </a:p>
        </p:txBody>
      </p:sp>
      <p:sp>
        <p:nvSpPr>
          <p:cNvPr id="10" name="Right Arrow 9"/>
          <p:cNvSpPr/>
          <p:nvPr/>
        </p:nvSpPr>
        <p:spPr>
          <a:xfrm>
            <a:off x="57575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073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マニフェストの提案</a:t>
            </a:r>
          </a:p>
        </p:txBody>
      </p:sp>
      <p:sp>
        <p:nvSpPr>
          <p:cNvPr id="14" name="TextBox 13"/>
          <p:cNvSpPr txBox="1"/>
          <p:nvPr/>
        </p:nvSpPr>
        <p:spPr>
          <a:xfrm>
            <a:off x="66902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訓練途中のチェックポイントを政府と共有</a:t>
            </a:r>
          </a:p>
        </p:txBody>
      </p:sp>
      <p:sp>
        <p:nvSpPr>
          <p:cNvPr id="15" name="TextBox 14"/>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どちらが望ましいかの評価は行わず、内容の違いを事実として整理する</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政府監督提案のポイント3つ</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訓練途中</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共有提案</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完成前の訓練途中モデルを連邦政府と共有すべきという提案</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30日間</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現行の大統領令</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新モデルに対する任意レビュー制度(現行制度の内容)</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取締役会</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Meta新体制</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安全ガイドラインへの適合性を審査する新たな監督体制</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ABC News・U.S. News・Forbes・Bloombergほか</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マニフェスト公開までの流れ(時系列)</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2026年8月10日</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マニフェスト公開。同日、Muse Glimmer・Muse Spark 1.2への開発者アクセスも発表</a:t>
            </a:r>
          </a:p>
        </p:txBody>
      </p:sp>
      <p:sp>
        <p:nvSpPr>
          <p:cNvPr id="11" name="Chevron 10"/>
          <p:cNvSpPr/>
          <p:nvPr/>
        </p:nvSpPr>
        <p:spPr>
          <a:xfrm>
            <a:off x="4038295"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同日〜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ABC News・Forbes・Bloombergなど各メディアが一斉に報道</a:t>
            </a:r>
          </a:p>
        </p:txBody>
      </p:sp>
      <p:sp>
        <p:nvSpPr>
          <p:cNvPr id="17" name="Chevron 16"/>
          <p:cNvSpPr/>
          <p:nvPr/>
        </p:nvSpPr>
        <p:spPr>
          <a:xfrm>
            <a:off x="7919313" y="3200400"/>
            <a:ext cx="234086" cy="365760"/>
          </a:xfrm>
          <a:prstGeom prst="chevron">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3A4750"/>
                </a:solidFill>
                <a:latin typeface="Yu Gothic"/>
              </a:rPr>
              <a:t>現在(8月12日時点)</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6B7280"/>
                </a:solidFill>
                <a:latin typeface="Yu Gothic"/>
              </a:rPr>
              <a:t>連邦政府側からの正式な反応は本調査の範囲では確認できていない</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この提案を見るときの注意点</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手法</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共有の実施方法</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チェックポイント共有の具体的な技術的手法は不明</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影響</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政策への影響</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大統領令への異論が今後の政策議論にどう影響するかは不明</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E8871E"/>
                </a:solidFill>
                <a:latin typeface="Yu Gothic"/>
              </a:rPr>
              <a:t>時期</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3A4750"/>
                </a:solidFill>
                <a:latin typeface="Yu Gothic"/>
              </a:rPr>
              <a:t>運用開始時期</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6B7280"/>
                </a:solidFill>
                <a:latin typeface="Yu Gothic"/>
              </a:rPr>
              <a:t>Meta取締役会審査体制の運用開始時期・詳細ルールは不明</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6B7280"/>
                </a:solidFill>
                <a:latin typeface="Yu Gothic"/>
              </a:rPr>
              <a:t>出典: 本調査の範囲で確認できた事実に基づく整理</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同日発表のMuse Glimmerとの違い</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2819323"/>
                <a:gridCol w="2819323"/>
                <a:gridCol w="2819323"/>
                <a:gridCol w="2819326"/>
              </a:tblGrid>
              <a:tr h="502920">
                <a:tc>
                  <a:txBody>
                    <a:bodyPr/>
                    <a:lstStyle/>
                    <a:p>
                      <a:pPr>
                        <a:defRPr sz="1300" b="1">
                          <a:solidFill>
                            <a:srgbClr val="FFFFFF"/>
                          </a:solidFill>
                          <a:latin typeface="Yu Gothic"/>
                        </a:defRPr>
                      </a:pPr>
                      <a:r>
                        <a:t>テーマ</a:t>
                      </a:r>
                    </a:p>
                  </a:txBody>
                  <a:tcPr>
                    <a:solidFill>
                      <a:srgbClr val="3A4750"/>
                    </a:solidFill>
                  </a:tcPr>
                </a:tc>
                <a:tc>
                  <a:txBody>
                    <a:bodyPr/>
                    <a:lstStyle/>
                    <a:p>
                      <a:pPr>
                        <a:defRPr sz="1300" b="1">
                          <a:solidFill>
                            <a:srgbClr val="FFFFFF"/>
                          </a:solidFill>
                          <a:latin typeface="Yu Gothic"/>
                        </a:defRPr>
                      </a:pPr>
                      <a:r>
                        <a:t>発表日</a:t>
                      </a:r>
                    </a:p>
                  </a:txBody>
                  <a:tcPr>
                    <a:solidFill>
                      <a:srgbClr val="3A4750"/>
                    </a:solidFill>
                  </a:tcPr>
                </a:tc>
                <a:tc>
                  <a:txBody>
                    <a:bodyPr/>
                    <a:lstStyle/>
                    <a:p>
                      <a:pPr>
                        <a:defRPr sz="1300" b="1">
                          <a:solidFill>
                            <a:srgbClr val="FFFFFF"/>
                          </a:solidFill>
                          <a:latin typeface="Yu Gothic"/>
                        </a:defRPr>
                      </a:pPr>
                      <a:r>
                        <a:t>中心となる主題</a:t>
                      </a:r>
                    </a:p>
                  </a:txBody>
                  <a:tcPr>
                    <a:solidFill>
                      <a:srgbClr val="3A4750"/>
                    </a:solidFill>
                  </a:tcPr>
                </a:tc>
                <a:tc>
                  <a:txBody>
                    <a:bodyPr/>
                    <a:lstStyle/>
                    <a:p>
                      <a:pPr>
                        <a:defRPr sz="1300" b="1">
                          <a:solidFill>
                            <a:srgbClr val="FFFFFF"/>
                          </a:solidFill>
                          <a:latin typeface="Yu Gothic"/>
                        </a:defRPr>
                      </a:pPr>
                      <a:r>
                        <a:t>フック</a:t>
                      </a:r>
                    </a:p>
                  </a:txBody>
                  <a:tcPr>
                    <a:solidFill>
                      <a:srgbClr val="3A4750"/>
                    </a:solidFill>
                  </a:tcPr>
                </a:tc>
              </a:tr>
              <a:tr h="502920">
                <a:tc>
                  <a:txBody>
                    <a:bodyPr/>
                    <a:lstStyle/>
                    <a:p>
                      <a:pPr>
                        <a:defRPr sz="1200">
                          <a:solidFill>
                            <a:srgbClr val="1E2124"/>
                          </a:solidFill>
                          <a:latin typeface="Yu Gothic"/>
                        </a:defRPr>
                      </a:pPr>
                      <a:r>
                        <a:t>既存テーマ(Muse Glimmer)</a:t>
                      </a:r>
                    </a:p>
                  </a:txBody>
                  <a:tcPr>
                    <a:solidFill>
                      <a:srgbClr val="FFFFFF"/>
                    </a:solidFill>
                  </a:tcPr>
                </a:tc>
                <a:tc>
                  <a:txBody>
                    <a:bodyPr/>
                    <a:lstStyle/>
                    <a:p>
                      <a:pPr>
                        <a:defRPr sz="1200">
                          <a:solidFill>
                            <a:srgbClr val="1E2124"/>
                          </a:solidFill>
                          <a:latin typeface="Yu Gothic"/>
                        </a:defRPr>
                      </a:pPr>
                      <a:r>
                        <a:t>2026年8月10日</a:t>
                      </a:r>
                    </a:p>
                  </a:txBody>
                  <a:tcPr>
                    <a:solidFill>
                      <a:srgbClr val="FFFFFF"/>
                    </a:solidFill>
                  </a:tcPr>
                </a:tc>
                <a:tc>
                  <a:txBody>
                    <a:bodyPr/>
                    <a:lstStyle/>
                    <a:p>
                      <a:pPr>
                        <a:defRPr sz="1200">
                          <a:solidFill>
                            <a:srgbClr val="1E2124"/>
                          </a:solidFill>
                          <a:latin typeface="Yu Gothic"/>
                        </a:defRPr>
                      </a:pPr>
                      <a:r>
                        <a:t>Muse Glimmerモデル自体(オープンウェイト・技術仕様)</a:t>
                      </a:r>
                    </a:p>
                  </a:txBody>
                  <a:tcPr>
                    <a:solidFill>
                      <a:srgbClr val="FFFFFF"/>
                    </a:solidFill>
                  </a:tcPr>
                </a:tc>
                <a:tc>
                  <a:txBody>
                    <a:bodyPr/>
                    <a:lstStyle/>
                    <a:p>
                      <a:pPr>
                        <a:defRPr sz="1200">
                          <a:solidFill>
                            <a:srgbClr val="1E2124"/>
                          </a:solidFill>
                          <a:latin typeface="Yu Gothic"/>
                        </a:defRPr>
                      </a:pPr>
                      <a:r>
                        <a:t>自分のノートPCでAIエージェントが動くという具体性</a:t>
                      </a:r>
                    </a:p>
                  </a:txBody>
                  <a:tcPr>
                    <a:solidFill>
                      <a:srgbClr val="FFFFFF"/>
                    </a:solidFill>
                  </a:tcPr>
                </a:tc>
              </a:tr>
              <a:tr h="502920">
                <a:tc>
                  <a:txBody>
                    <a:bodyPr/>
                    <a:lstStyle/>
                    <a:p>
                      <a:pPr>
                        <a:defRPr sz="1200">
                          <a:solidFill>
                            <a:srgbClr val="1E2124"/>
                          </a:solidFill>
                          <a:latin typeface="Yu Gothic"/>
                        </a:defRPr>
                      </a:pPr>
                      <a:r>
                        <a:t>本テーマ(マニフェスト)</a:t>
                      </a:r>
                    </a:p>
                  </a:txBody>
                  <a:tcPr>
                    <a:solidFill>
                      <a:srgbClr val="F7F4EF"/>
                    </a:solidFill>
                  </a:tcPr>
                </a:tc>
                <a:tc>
                  <a:txBody>
                    <a:bodyPr/>
                    <a:lstStyle/>
                    <a:p>
                      <a:pPr>
                        <a:defRPr sz="1200">
                          <a:solidFill>
                            <a:srgbClr val="1E2124"/>
                          </a:solidFill>
                          <a:latin typeface="Yu Gothic"/>
                        </a:defRPr>
                      </a:pPr>
                      <a:r>
                        <a:t>2026年8月10日</a:t>
                      </a:r>
                    </a:p>
                  </a:txBody>
                  <a:tcPr>
                    <a:solidFill>
                      <a:srgbClr val="F7F4EF"/>
                    </a:solidFill>
                  </a:tcPr>
                </a:tc>
                <a:tc>
                  <a:txBody>
                    <a:bodyPr/>
                    <a:lstStyle/>
                    <a:p>
                      <a:pPr>
                        <a:defRPr sz="1200">
                          <a:solidFill>
                            <a:srgbClr val="1E2124"/>
                          </a:solidFill>
                          <a:latin typeface="Yu Gothic"/>
                        </a:defRPr>
                      </a:pPr>
                      <a:r>
                        <a:t>マニフェストの政策提言(政府監督提案・大統領令への異論・Meta新体制)</a:t>
                      </a:r>
                    </a:p>
                  </a:txBody>
                  <a:tcPr>
                    <a:solidFill>
                      <a:srgbClr val="F7F4EF"/>
                    </a:solidFill>
                  </a:tcPr>
                </a:tc>
                <a:tc>
                  <a:txBody>
                    <a:bodyPr/>
                    <a:lstStyle/>
                    <a:p>
                      <a:pPr>
                        <a:defRPr sz="1200">
                          <a:solidFill>
                            <a:srgbClr val="1E2124"/>
                          </a:solidFill>
                          <a:latin typeface="Yu Gothic"/>
                        </a:defRPr>
                      </a:pPr>
                      <a:r>
                        <a:t>AI企業トップが政府にもっと監視をと訴えた意外性</a:t>
                      </a:r>
                    </a:p>
                  </a:txBody>
                  <a:tcPr>
                    <a:solidFill>
                      <a:srgbClr val="F7F4E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同日発表2つの関係整理</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Meta 2026/8/10発表</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同日に複数の発表があった</a:t>
            </a:r>
          </a:p>
        </p:txBody>
      </p:sp>
      <p:sp>
        <p:nvSpPr>
          <p:cNvPr id="10" name="Right Arrow 9"/>
          <p:cNvSpPr/>
          <p:nvPr/>
        </p:nvSpPr>
        <p:spPr>
          <a:xfrm>
            <a:off x="41573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Muse Glimmer(既存テーマ)</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モデル自体・技術仕様が主題</a:t>
            </a:r>
          </a:p>
        </p:txBody>
      </p:sp>
      <p:sp>
        <p:nvSpPr>
          <p:cNvPr id="15" name="Right Arrow 14"/>
          <p:cNvSpPr/>
          <p:nvPr/>
        </p:nvSpPr>
        <p:spPr>
          <a:xfrm>
            <a:off x="7357719" y="3108959"/>
            <a:ext cx="676656" cy="365760"/>
          </a:xfrm>
          <a:prstGeom prst="rightArrow">
            <a:avLst/>
          </a:prstGeom>
          <a:solidFill>
            <a:srgbClr val="E887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3A4750"/>
                </a:solidFill>
                <a:latin typeface="Yu Gothic"/>
              </a:rPr>
              <a:t>マニフェスト(本テーマ)</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6B7280"/>
                </a:solidFill>
                <a:latin typeface="Yu Gothic"/>
              </a:rPr>
              <a:t>政策提言・政府監督案が主題</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6B7280"/>
                </a:solidFill>
                <a:latin typeface="Yu Gothic"/>
              </a:rPr>
              <a:t>同じ企業・同じ日の発表だが、焦点が異なる別のテーマとして扱っている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政治的中立性についての方針</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本動画は、特定の政権・政党の是非を評価する結論にはしません</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ザッカーバーグ氏が何を提案したか、大統領令の内容が何かという事実関係の報告にとどめます</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どちらが正しい・望ましいという評価的な結論は行いません</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個人にとって何を意味するか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AI企業のガバナンス・政策議論が、製品の使い方にも影響しうるテーマとして注視できる</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オープンソースAIの選択肢が今後どうなるかは、政策動向次第という面がある</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現時点で断定的な予測はできず、続報を確認する必要がある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企業・開発者にとって何を意味するか</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AIモデルの安全審査・政府とのやり取りのあり方が今後変わる可能性がある</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自社のAI活用方針を検討する際、規制動向の一つの材料として参考にできる</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具体的な制度化の有無・時期は不明であり、断定はできない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オープンソースAIをめぐる一般的な論点整理</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開かれた発展を後押しする論点(一般論)</a:t>
            </a:r>
          </a:p>
        </p:txBody>
      </p:sp>
      <p:sp>
        <p:nvSpPr>
          <p:cNvPr id="9" name="Oval 8"/>
          <p:cNvSpPr/>
          <p:nvPr/>
        </p:nvSpPr>
        <p:spPr>
          <a:xfrm>
            <a:off x="777240"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多くの開発者が検証・改良に参加できる</a:t>
            </a:r>
          </a:p>
        </p:txBody>
      </p:sp>
      <p:sp>
        <p:nvSpPr>
          <p:cNvPr id="11" name="Oval 10"/>
          <p:cNvSpPr/>
          <p:nvPr/>
        </p:nvSpPr>
        <p:spPr>
          <a:xfrm>
            <a:off x="777240"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特定企業への依存を減らせる可能性がある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3A4750"/>
                </a:solidFill>
                <a:latin typeface="Yu Gothic"/>
              </a:rPr>
              <a:t>管理・安全面での論点(一般論)</a:t>
            </a:r>
          </a:p>
        </p:txBody>
      </p:sp>
      <p:sp>
        <p:nvSpPr>
          <p:cNvPr id="16" name="Oval 15"/>
          <p:cNvSpPr/>
          <p:nvPr/>
        </p:nvSpPr>
        <p:spPr>
          <a:xfrm>
            <a:off x="6598767" y="253288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誰でも利用できることのリスク管理が課題になりうる</a:t>
            </a:r>
          </a:p>
        </p:txBody>
      </p:sp>
      <p:sp>
        <p:nvSpPr>
          <p:cNvPr id="18" name="Oval 17"/>
          <p:cNvSpPr/>
          <p:nvPr/>
        </p:nvSpPr>
        <p:spPr>
          <a:xfrm>
            <a:off x="6598767" y="3081528"/>
            <a:ext cx="274320" cy="27432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E2124"/>
                </a:solidFill>
                <a:latin typeface="Yu Gothic"/>
              </a:rPr>
              <a:t>政府等による監督のあり方が議論の対象になっている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賛否・論調の整理(創作しない一覧)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本調査の範囲では、連邦政府からの公式な反応は確認できていない</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専門家・業界内での賛否の具体的な比率・数値は確認できていない</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一部メディア(Quartz)は『悲観論者への反論』という論調で報じている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不明点まとめ(創作しない一覧)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マニフェストの正確な公開日時(タイムゾーン等の詳細)は不明</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連邦政府側からの本マニフェストへの正式な反応・コメントは不明</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Meta取締役会の安全ガイドライン審査体制の運用開始時期・詳細ルールは不明</a:t>
            </a:r>
          </a:p>
        </p:txBody>
      </p:sp>
      <p:sp>
        <p:nvSpPr>
          <p:cNvPr id="12" name="Oval 11"/>
          <p:cNvSpPr/>
          <p:nvPr/>
        </p:nvSpPr>
        <p:spPr>
          <a:xfrm>
            <a:off x="457200" y="381304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マニフェスト公開後の株価・世論の具体的な数値は不明</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今後、事実ベースで確認していきたいこと</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連邦政府からの正式な反応(現時点で不明)</a:t>
            </a:r>
          </a:p>
        </p:txBody>
      </p:sp>
      <p:sp>
        <p:nvSpPr>
          <p:cNvPr id="8" name="Oval 7"/>
          <p:cNvSpPr/>
          <p:nvPr/>
        </p:nvSpPr>
        <p:spPr>
          <a:xfrm>
            <a:off x="457200" y="225856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Meta取締役会の安全ガイドライン審査体制の運用状況</a:t>
            </a:r>
          </a:p>
        </p:txBody>
      </p:sp>
      <p:sp>
        <p:nvSpPr>
          <p:cNvPr id="10" name="Oval 9"/>
          <p:cNvSpPr/>
          <p:nvPr/>
        </p:nvSpPr>
        <p:spPr>
          <a:xfrm>
            <a:off x="457200" y="3035808"/>
            <a:ext cx="320040" cy="320040"/>
          </a:xfrm>
          <a:prstGeom prst="ellipse">
            <a:avLst/>
          </a:prstGeom>
          <a:solidFill>
            <a:srgbClr val="3A4750"/>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E2124"/>
                </a:solidFill>
                <a:latin typeface="Yu Gothic"/>
              </a:rPr>
              <a:t>既存テーマ(Muse Glimmer)とあわせたMetaのAI戦略全体の展開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3292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特定の政権・企業の是非を判断するものではありません</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F5D9A8"/>
                </a:solidFill>
                <a:latin typeface="Yu Gothic"/>
              </a:rPr>
              <a:t>誰が何を提案したかという事実整理にとどめ、確認できた事実に基づいて今後も続報を追いかけていきます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3A4750"/>
                </a:solidFill>
                <a:latin typeface="Yu Gothic"/>
              </a:rPr>
              <a:t>気になった方は、ABC News・Forbes・Bloomberg等で紹介された記事を一次情報として確認してみてください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D9A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3A4750"/>
                </a:solidFill>
                <a:latin typeface="Yu Gothic"/>
              </a:rPr>
              <a:t>出典一覧</a:t>
            </a:r>
          </a:p>
        </p:txBody>
      </p:sp>
      <p:sp>
        <p:nvSpPr>
          <p:cNvPr id="5" name="Rectangle 4"/>
          <p:cNvSpPr/>
          <p:nvPr/>
        </p:nvSpPr>
        <p:spPr>
          <a:xfrm>
            <a:off x="457200" y="1188720"/>
            <a:ext cx="502920" cy="54864"/>
          </a:xfrm>
          <a:prstGeom prst="rect">
            <a:avLst/>
          </a:prstGeom>
          <a:solidFill>
            <a:srgbClr val="E887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5204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出典</a:t>
                      </a:r>
                    </a:p>
                  </a:txBody>
                  <a:tcPr>
                    <a:solidFill>
                      <a:srgbClr val="3A4750"/>
                    </a:solidFill>
                  </a:tcPr>
                </a:tc>
                <a:tc>
                  <a:txBody>
                    <a:bodyPr/>
                    <a:lstStyle/>
                    <a:p>
                      <a:pPr>
                        <a:defRPr sz="1300" b="1">
                          <a:solidFill>
                            <a:srgbClr val="FFFFFF"/>
                          </a:solidFill>
                          <a:latin typeface="Yu Gothic"/>
                        </a:defRPr>
                      </a:pPr>
                      <a:r>
                        <a:t>内容</a:t>
                      </a:r>
                    </a:p>
                  </a:txBody>
                  <a:tcPr>
                    <a:solidFill>
                      <a:srgbClr val="3A4750"/>
                    </a:solidFill>
                  </a:tcPr>
                </a:tc>
              </a:tr>
              <a:tr h="502920">
                <a:tc>
                  <a:txBody>
                    <a:bodyPr/>
                    <a:lstStyle/>
                    <a:p>
                      <a:pPr>
                        <a:defRPr sz="1200">
                          <a:solidFill>
                            <a:srgbClr val="1E2124"/>
                          </a:solidFill>
                          <a:latin typeface="Yu Gothic"/>
                        </a:defRPr>
                      </a:pPr>
                      <a:r>
                        <a:t>ABC News</a:t>
                      </a:r>
                    </a:p>
                  </a:txBody>
                  <a:tcPr>
                    <a:solidFill>
                      <a:srgbClr val="FFFFFF"/>
                    </a:solidFill>
                  </a:tcPr>
                </a:tc>
                <a:tc>
                  <a:txBody>
                    <a:bodyPr/>
                    <a:lstStyle/>
                    <a:p>
                      <a:pPr>
                        <a:defRPr sz="1200">
                          <a:solidFill>
                            <a:srgbClr val="1E2124"/>
                          </a:solidFill>
                          <a:latin typeface="Yu Gothic"/>
                        </a:defRPr>
                      </a:pPr>
                      <a:r>
                        <a:t>「Zuckerberg manifesto pushes open-source approach on AI as Meta releases latest model」</a:t>
                      </a:r>
                    </a:p>
                  </a:txBody>
                  <a:tcPr>
                    <a:solidFill>
                      <a:srgbClr val="FFFFFF"/>
                    </a:solidFill>
                  </a:tcPr>
                </a:tc>
              </a:tr>
              <a:tr h="502920">
                <a:tc>
                  <a:txBody>
                    <a:bodyPr/>
                    <a:lstStyle/>
                    <a:p>
                      <a:pPr>
                        <a:defRPr sz="1200">
                          <a:solidFill>
                            <a:srgbClr val="1E2124"/>
                          </a:solidFill>
                          <a:latin typeface="Yu Gothic"/>
                        </a:defRPr>
                      </a:pPr>
                      <a:r>
                        <a:t>U.S. News</a:t>
                      </a:r>
                    </a:p>
                  </a:txBody>
                  <a:tcPr>
                    <a:solidFill>
                      <a:srgbClr val="F7F4EF"/>
                    </a:solidFill>
                  </a:tcPr>
                </a:tc>
                <a:tc>
                  <a:txBody>
                    <a:bodyPr/>
                    <a:lstStyle/>
                    <a:p>
                      <a:pPr>
                        <a:defRPr sz="1200">
                          <a:solidFill>
                            <a:srgbClr val="1E2124"/>
                          </a:solidFill>
                          <a:latin typeface="Yu Gothic"/>
                        </a:defRPr>
                      </a:pPr>
                      <a:r>
                        <a:t>「Zuckerberg Manifesto Pushes an Open-Source Approach on AI as Meta Releases Its Latest Model」</a:t>
                      </a:r>
                    </a:p>
                  </a:txBody>
                  <a:tcPr>
                    <a:solidFill>
                      <a:srgbClr val="F7F4EF"/>
                    </a:solidFill>
                  </a:tcPr>
                </a:tc>
              </a:tr>
              <a:tr h="502920">
                <a:tc>
                  <a:txBody>
                    <a:bodyPr/>
                    <a:lstStyle/>
                    <a:p>
                      <a:pPr>
                        <a:defRPr sz="1200">
                          <a:solidFill>
                            <a:srgbClr val="1E2124"/>
                          </a:solidFill>
                          <a:latin typeface="Yu Gothic"/>
                        </a:defRPr>
                      </a:pPr>
                      <a:r>
                        <a:t>Forbes</a:t>
                      </a:r>
                    </a:p>
                  </a:txBody>
                  <a:tcPr>
                    <a:solidFill>
                      <a:srgbClr val="FFFFFF"/>
                    </a:solidFill>
                  </a:tcPr>
                </a:tc>
                <a:tc>
                  <a:txBody>
                    <a:bodyPr/>
                    <a:lstStyle/>
                    <a:p>
                      <a:pPr>
                        <a:defRPr sz="1200">
                          <a:solidFill>
                            <a:srgbClr val="1E2124"/>
                          </a:solidFill>
                          <a:latin typeface="Yu Gothic"/>
                        </a:defRPr>
                      </a:pPr>
                      <a:r>
                        <a:t>「Zuckerberg Calls For More AI Oversight In New Manifesto」</a:t>
                      </a:r>
                    </a:p>
                  </a:txBody>
                  <a:tcPr>
                    <a:solidFill>
                      <a:srgbClr val="FFFFFF"/>
                    </a:solidFill>
                  </a:tcPr>
                </a:tc>
              </a:tr>
              <a:tr h="502920">
                <a:tc>
                  <a:txBody>
                    <a:bodyPr/>
                    <a:lstStyle/>
                    <a:p>
                      <a:pPr>
                        <a:defRPr sz="1200">
                          <a:solidFill>
                            <a:srgbClr val="1E2124"/>
                          </a:solidFill>
                          <a:latin typeface="Yu Gothic"/>
                        </a:defRPr>
                      </a:pPr>
                      <a:r>
                        <a:t>Quartz</a:t>
                      </a:r>
                    </a:p>
                  </a:txBody>
                  <a:tcPr>
                    <a:solidFill>
                      <a:srgbClr val="F7F4EF"/>
                    </a:solidFill>
                  </a:tcPr>
                </a:tc>
                <a:tc>
                  <a:txBody>
                    <a:bodyPr/>
                    <a:lstStyle/>
                    <a:p>
                      <a:pPr>
                        <a:defRPr sz="1200">
                          <a:solidFill>
                            <a:srgbClr val="1E2124"/>
                          </a:solidFill>
                          <a:latin typeface="Yu Gothic"/>
                        </a:defRPr>
                      </a:pPr>
                      <a:r>
                        <a:t>「Mark Zuckerberg AI essay pushes back on doomers, open source」</a:t>
                      </a:r>
                    </a:p>
                  </a:txBody>
                  <a:tcPr>
                    <a:solidFill>
                      <a:srgbClr val="F7F4EF"/>
                    </a:solidFill>
                  </a:tcPr>
                </a:tc>
              </a:tr>
              <a:tr h="502920">
                <a:tc>
                  <a:txBody>
                    <a:bodyPr/>
                    <a:lstStyle/>
                    <a:p>
                      <a:pPr>
                        <a:defRPr sz="1200">
                          <a:solidFill>
                            <a:srgbClr val="1E2124"/>
                          </a:solidFill>
                          <a:latin typeface="Yu Gothic"/>
                        </a:defRPr>
                      </a:pPr>
                      <a:r>
                        <a:t>Bloomberg</a:t>
                      </a:r>
                    </a:p>
                  </a:txBody>
                  <a:tcPr>
                    <a:solidFill>
                      <a:srgbClr val="FFFFFF"/>
                    </a:solidFill>
                  </a:tcPr>
                </a:tc>
                <a:tc>
                  <a:txBody>
                    <a:bodyPr/>
                    <a:lstStyle/>
                    <a:p>
                      <a:pPr>
                        <a:defRPr sz="1200">
                          <a:solidFill>
                            <a:srgbClr val="1E2124"/>
                          </a:solidFill>
                          <a:latin typeface="Yu Gothic"/>
                        </a:defRPr>
                      </a:pPr>
                      <a:r>
                        <a:t>「Five takeaways from Zuckerberg's 6,500-word manifesto on AI」</a:t>
                      </a:r>
                    </a:p>
                  </a:txBody>
                  <a:tcPr>
                    <a:solidFill>
                      <a:srgbClr val="FFFFFF"/>
                    </a:solidFill>
                  </a:tcPr>
                </a:tc>
              </a:tr>
              <a:tr h="502920">
                <a:tc>
                  <a:txBody>
                    <a:bodyPr/>
                    <a:lstStyle/>
                    <a:p>
                      <a:pPr>
                        <a:defRPr sz="1200">
                          <a:solidFill>
                            <a:srgbClr val="1E2124"/>
                          </a:solidFill>
                          <a:latin typeface="Yu Gothic"/>
                        </a:defRPr>
                      </a:pPr>
                      <a:r>
                        <a:t>Variety</a:t>
                      </a:r>
                    </a:p>
                  </a:txBody>
                  <a:tcPr>
                    <a:solidFill>
                      <a:srgbClr val="F7F4EF"/>
                    </a:solidFill>
                  </a:tcPr>
                </a:tc>
                <a:tc>
                  <a:txBody>
                    <a:bodyPr/>
                    <a:lstStyle/>
                    <a:p>
                      <a:pPr>
                        <a:defRPr sz="1200">
                          <a:solidFill>
                            <a:srgbClr val="1E2124"/>
                          </a:solidFill>
                          <a:latin typeface="Yu Gothic"/>
                        </a:defRPr>
                      </a:pPr>
                      <a:r>
                        <a:t>「Mark Zuckerberg Outlines Meta AI Manifesto」</a:t>
                      </a:r>
                    </a:p>
                  </a:txBody>
                  <a:tcPr>
                    <a:solidFill>
                      <a:srgbClr val="F7F4E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6B7280"/>
                </a:solidFill>
                <a:latin typeface="Yu Gothic"/>
              </a:rPr>
              <a:t>AI Company OS｜出典: ABC News / U.S. News / Forbes / Quartz / Bloomberg / Variety(本編内で明記)</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6B7280"/>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