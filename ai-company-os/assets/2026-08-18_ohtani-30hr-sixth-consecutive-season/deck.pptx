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30号の打球データ</c:v>
                </c:pt>
              </c:strCache>
            </c:strRef>
          </c:tx>
          <c:spPr>
            <a:solidFill>
              <a:srgbClr val="7A1F2B"/>
            </a:solidFill>
          </c:spPr>
          <c:cat>
            <c:strRef>
              <c:f>Sheet1!$A$2:$A$3</c:f>
              <c:strCache>
                <c:ptCount val="2"/>
                <c:pt idx="0">
                  <c:v>打球速度(km/h)</c:v>
                </c:pt>
                <c:pt idx="1">
                  <c:v>角度(度)</c:v>
                </c:pt>
              </c:strCache>
            </c:strRef>
          </c:cat>
          <c:val>
            <c:numRef>
              <c:f>Sheet1!$B$2:$B$3</c:f>
              <c:numCache>
                <c:formatCode>General</c:formatCode>
                <c:ptCount val="2"/>
                <c:pt idx="0">
                  <c:v>169.9</c:v>
                </c:pt>
                <c:pt idx="1">
                  <c:v>33</c:v>
                </c:pt>
              </c:numCache>
            </c:numRef>
          </c:val>
        </c:ser>
        <c:dLbls>
          <c:numFmt formatCode="#,##0.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時間2026年8月18日、敵地クアーズ・フィールドでのロッキーズ戦に、大谷翔平選手が1番・DHで先発出場しました。3回表、ロッキーズ右腕フェルトナー投手から右中間フェンス越えの30号2ランを放ち、シーズン30本塁打に到達しています。今日はこの結果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結論から確認します。大谷選手が30号2ランを放ち、シーズン30本塁打に6年連続6度目で到達しました。ここから数字と背景を1つずつ出典付きで見ていきます。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今日は7つの流れでお伝えします。30号が生まれた場面から打球データ、6年連続6度目という記録の意味、前日との関係、確認できなかったことまで、出典付きで正確に整理します。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このテーマを扱う理由です。試合当日に近い新しさに加え、6年連続6度目のシーズン30本塁打という節目、そして前日からの2戦連発という量産態勢の文脈があります。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本題に入る前に基礎知識を確認します。1番・DHは先頭打者かつ打撃専念の起用、『号』はシーズン通算本塁打の通し番号です。打球速度・角度は本塁打の飛距離を左右する要素です。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30号が生まれるまでの流れを、判明している範囲で整理しました。1番・DHで先発出場し、3回表無死一塁の第2打席でフェルトナー投手から右中間フェンス越えの30号2ランを放っています。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30号の場面を確認します。3回表、無死一塁の第2打席で、フェルトナー投手から右中間フェンス越えの2ラン本塁打でした。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30号の内訳です。相手はロッキーズのフェルトナー投手、3回表無死一塁の第2打席、右中間フェンス越えの2ランでした。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打球データをグラフにしました。打球速度169.9キロ、角度33度という数値です。単位が異なる2つの指標であることに注意してご覧ください。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飛距離を確認します。136.5メートルは今季2番目の大きさです。打球速度169.9キロ、角度33度という力強い数値が背景にあります。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30号の打球データを一覧にしました。飛距離136.5メートルは今季2番目の大きさ、打球速度169.9キロ、角度33度です。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記録の意義を確認します。シーズン30本塁打到達は大谷選手にとって6年連続6度目です。日本人選手で複数回達成しているのは大谷選手のみで、この記録をさらに伸ばしました。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6年連続6度目という記録の意味です。直近6シーズン連続で30本塁打に到達し、日本人選手で複数回達成しているのは大谷選手のみです。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到達ペースを確認します。チーム127試合目での到達となり、2021年以降の6年間では2番目に早いペースです。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最速だった2021年と本テーマの2026年を比べます。2021年はチーム81試合目で最速、2026年は127試合目で2番目に早いペースでした。46試合の差があります。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到達試合数を比較しました。2021年が最速の81試合目、2026年は127試合目で2番目に早く、2022年の131試合目よりは早いペースです。2023〜2025年の到達試合数は本調査の範囲では確認できていません。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前日の試合との関係を整理します。前日は菅野投手・メヒア投手から28号・29号、本テーマの30号はフェルトナー投手から。別の試合・別の投手であることを明確に区別します。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2試合連続本塁打から量産態勢に至る流れを図にしました。前日の28号・29号と本テーマの30号は、それぞれ別の試合・別の投手から生まれた本塁打です。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2試合合計の本塁打数を確認します。前日の28号・29号と本テーマの30号を合わせて3本です。本テーマの試合単独では30号の1本であることに注意してご覧ください。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3本の本塁打、それぞれの違いです。相手投手はいずれも異なり、28号・29号は前日の試合、30号は本テーマの試合で生まれています。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本テーマの記録を一覧にしました。30号2ランの内容、飛距離・打球速度・角度、6年連続6度目という記録、到達ペースまでを確認できています。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確認できていないことを正直にお伝えします。次戦の予定も、シーズン最終盤までの具体的な本塁打目標設定の有無も、本調査時点では確認できていません。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もう一点、正直にお伝えします。2023年から2025年の到達試合数、本テーマの試合の最終スコアなどの詳細情報は、本調査の範囲では確認できていません。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ここで事実と推測を分けます。30号の内容・打球データ・6年連続6度目という記録はすべて出典で確認できた事実です。次戦の予定やシーズン目標は不明として明確に分けています。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視聴者にとっての実践的な示唆をまとめました。野球ファンとして、記録を追う立場として、情報を発信する立場として、それぞれで意識したい点です。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このニュースが読者にとって何を意味するかを整理します。過去の記録の延長として位置づけ、確認できていない要因を推測で埋めない視点が役立ちます。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この先の展開を確認します。30号に到達し6年連続6度目の記録となりましたが、次戦の予定やシーズン目標については、本調査の範囲では確認できていません。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事実確認の状況を一覧にしました。30号の内容・6年連続6度目という記録・前日との関係は複数媒体で確認できていますが、2023〜2025年の到達試合数と次戦の予定は未確認です。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大谷翔平選手がフェルトナー投手から30号2ランを放ち、シーズン30本塁打に6年連続6度目で到達した件をお伝えしました。前日の28号・29号との関係も正確に区別し、確認できなかったことも正直にお伝えしました。数字は出典どおり正確に引用して構成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まさかの2戦連発。大谷翔平、6年連続6度目の30号</a:t>
            </a:r>
          </a:p>
          <a:p>
            <a:pPr algn="l">
              <a:lnSpc>
                <a:spcPct val="115000"/>
              </a:lnSpc>
            </a:pPr>
            <a:r>
              <a:rPr sz="4200" b="1">
                <a:solidFill>
                  <a:srgbClr val="FFFFFF"/>
                </a:solidFill>
                <a:latin typeface="Yu Gothic"/>
              </a:rPr>
              <a:t>ロッキーズ戦、量産態勢に突入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米国時間2026年8月18日、クアーズ・フィールド――フェルトナー投手から放った30号2ランを、出典付きで正確に整理してお届けします</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SPREAD・テレ朝NEWS(dメニューニュース)・中日スポーツ(Yahoo!ニュース)(2026年8月18/19日時点)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30号到達、6年連続6度目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大谷翔平選手が3回表にフェルトナー投手から30号2ランを放ち、シーズン30本塁打に6年連続6度目の到達を果たした(米国時間2026年8月18日)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SPREAD・テレ朝NEWS・中日スポーツ(2026-08-18/19)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30号が生まれた場面を時系列・数字で深掘りする</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『6年連続6度目』の記録の意味を確認する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到達ペースを他年と比較する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前日の28号・29号との関係(量産態勢)を整理する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確認できていないこと・出典一覧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試合は着手日(2026年8月19日)の当日〜前日という、鮮度基準を満たす新しさである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シーズン30本塁打に6年連続6度目で到達するという、日本人選手として唯一の記録をさらに伸ばす節目である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前日の28号・29号に続く一発であり、2試合合計3本塁打という『量産態勢』の文脈がある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基礎知識(初心者向け)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本題に入る前に、基礎知識を確認します。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『1番・DH(指名打者)』は打順1番(先頭打者)かつ、投手に代わって打撃に専念する選手としての出場を指す</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『号』はその選手のシーズン通算本塁打数を示す通し番号である(30号は30本目)</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『打球速度』は打球の速さ、『角度』は打ち出しの角度を示し、速く・適した角度であるほど飛距離が出やすい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『フェンス越え』は外野フェンスを越えて場外・スタンドに達した打球を指し、本塁打の条件を満たす</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30号が生まれるまでの流れ(判明している範囲)</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先発出場</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1番・DHで先発出場</a:t>
            </a:r>
          </a:p>
        </p:txBody>
      </p:sp>
      <p:sp>
        <p:nvSpPr>
          <p:cNvPr id="11" name="Chevron 10"/>
          <p:cNvSpPr/>
          <p:nvPr/>
        </p:nvSpPr>
        <p:spPr>
          <a:xfrm>
            <a:off x="3068040"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3回表</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無死一塁の第2打席を迎える</a:t>
            </a:r>
          </a:p>
        </p:txBody>
      </p:sp>
      <p:sp>
        <p:nvSpPr>
          <p:cNvPr id="17" name="Chevron 16"/>
          <p:cNvSpPr/>
          <p:nvPr/>
        </p:nvSpPr>
        <p:spPr>
          <a:xfrm>
            <a:off x="5978804"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本塁打</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フェルトナー投手から右中間フェンス越え</a:t>
            </a:r>
          </a:p>
        </p:txBody>
      </p:sp>
      <p:sp>
        <p:nvSpPr>
          <p:cNvPr id="23" name="Chevron 22"/>
          <p:cNvSpPr/>
          <p:nvPr/>
        </p:nvSpPr>
        <p:spPr>
          <a:xfrm>
            <a:off x="8889568"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到達</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30号2ラン、シーズン30本塁打に到達</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30号の場面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3回表無死一塁、第2打席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ロッキーズ右腕フェルトナー投手から、右中間フェンス越えの30号2ラン本塁打を放った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SPREAD・テレ朝NEWS・中日スポーツ(2026-08-18/19)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30号の内訳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フェルトナー投手</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相手投手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ロッキーズ右腕</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3回表・無死一塁</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場面</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第2打席での一発</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右中間フェンス越え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打球方向</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2ラン本塁打</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打球データを数字で見る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飛距離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136.5メートル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今季2番目の大きさとなる飛距離。打球速度169.9キロ、角度33度で捉えた一発だった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SPREAD・テレ朝NEWS・中日スポーツ(2026-08-18/19)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30号の打球データ一覧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数値</a:t>
                      </a:r>
                    </a:p>
                  </a:txBody>
                  <a:tcPr>
                    <a:solidFill>
                      <a:srgbClr val="7A1F2B"/>
                    </a:solidFill>
                  </a:tcPr>
                </a:tc>
              </a:tr>
              <a:tr h="502920">
                <a:tc>
                  <a:txBody>
                    <a:bodyPr/>
                    <a:lstStyle/>
                    <a:p>
                      <a:pPr>
                        <a:defRPr sz="1200">
                          <a:solidFill>
                            <a:srgbClr val="2A1712"/>
                          </a:solidFill>
                          <a:latin typeface="Yu Gothic"/>
                        </a:defRPr>
                      </a:pPr>
                      <a:r>
                        <a:t>飛距離</a:t>
                      </a:r>
                    </a:p>
                  </a:txBody>
                  <a:tcPr>
                    <a:solidFill>
                      <a:srgbClr val="FFFFFF"/>
                    </a:solidFill>
                  </a:tcPr>
                </a:tc>
                <a:tc>
                  <a:txBody>
                    <a:bodyPr/>
                    <a:lstStyle/>
                    <a:p>
                      <a:pPr>
                        <a:defRPr sz="1200">
                          <a:solidFill>
                            <a:srgbClr val="2A1712"/>
                          </a:solidFill>
                          <a:latin typeface="Yu Gothic"/>
                        </a:defRPr>
                      </a:pPr>
                      <a:r>
                        <a:t>136.5メートル(今季2番目の大きさ)</a:t>
                      </a:r>
                    </a:p>
                  </a:txBody>
                  <a:tcPr>
                    <a:solidFill>
                      <a:srgbClr val="FFFFFF"/>
                    </a:solidFill>
                  </a:tcPr>
                </a:tc>
              </a:tr>
              <a:tr h="502920">
                <a:tc>
                  <a:txBody>
                    <a:bodyPr/>
                    <a:lstStyle/>
                    <a:p>
                      <a:pPr>
                        <a:defRPr sz="1200">
                          <a:solidFill>
                            <a:srgbClr val="2A1712"/>
                          </a:solidFill>
                          <a:latin typeface="Yu Gothic"/>
                        </a:defRPr>
                      </a:pPr>
                      <a:r>
                        <a:t>打球速度</a:t>
                      </a:r>
                    </a:p>
                  </a:txBody>
                  <a:tcPr>
                    <a:solidFill>
                      <a:srgbClr val="FBF3E6"/>
                    </a:solidFill>
                  </a:tcPr>
                </a:tc>
                <a:tc>
                  <a:txBody>
                    <a:bodyPr/>
                    <a:lstStyle/>
                    <a:p>
                      <a:pPr>
                        <a:defRPr sz="1200">
                          <a:solidFill>
                            <a:srgbClr val="2A1712"/>
                          </a:solidFill>
                          <a:latin typeface="Yu Gothic"/>
                        </a:defRPr>
                      </a:pPr>
                      <a:r>
                        <a:t>169.9キロ</a:t>
                      </a:r>
                    </a:p>
                  </a:txBody>
                  <a:tcPr>
                    <a:solidFill>
                      <a:srgbClr val="FBF3E6"/>
                    </a:solidFill>
                  </a:tcPr>
                </a:tc>
              </a:tr>
              <a:tr h="502920">
                <a:tc>
                  <a:txBody>
                    <a:bodyPr/>
                    <a:lstStyle/>
                    <a:p>
                      <a:pPr>
                        <a:defRPr sz="1200">
                          <a:solidFill>
                            <a:srgbClr val="2A1712"/>
                          </a:solidFill>
                          <a:latin typeface="Yu Gothic"/>
                        </a:defRPr>
                      </a:pPr>
                      <a:r>
                        <a:t>角度</a:t>
                      </a:r>
                    </a:p>
                  </a:txBody>
                  <a:tcPr>
                    <a:solidFill>
                      <a:srgbClr val="FFFFFF"/>
                    </a:solidFill>
                  </a:tcPr>
                </a:tc>
                <a:tc>
                  <a:txBody>
                    <a:bodyPr/>
                    <a:lstStyle/>
                    <a:p>
                      <a:pPr>
                        <a:defRPr sz="1200">
                          <a:solidFill>
                            <a:srgbClr val="2A1712"/>
                          </a:solidFill>
                          <a:latin typeface="Yu Gothic"/>
                        </a:defRPr>
                      </a:pPr>
                      <a:r>
                        <a:t>33度</a:t>
                      </a:r>
                    </a:p>
                  </a:txBody>
                  <a:tcPr>
                    <a:solidFill>
                      <a:srgbClr val="FFFFFF"/>
                    </a:solidFill>
                  </a:tcPr>
                </a:tc>
              </a:tr>
              <a:tr h="502920">
                <a:tc>
                  <a:txBody>
                    <a:bodyPr/>
                    <a:lstStyle/>
                    <a:p>
                      <a:pPr>
                        <a:defRPr sz="1200">
                          <a:solidFill>
                            <a:srgbClr val="2A1712"/>
                          </a:solidFill>
                          <a:latin typeface="Yu Gothic"/>
                        </a:defRPr>
                      </a:pPr>
                      <a:r>
                        <a:t>打球方向</a:t>
                      </a:r>
                    </a:p>
                  </a:txBody>
                  <a:tcPr>
                    <a:solidFill>
                      <a:srgbClr val="FBF3E6"/>
                    </a:solidFill>
                  </a:tcPr>
                </a:tc>
                <a:tc>
                  <a:txBody>
                    <a:bodyPr/>
                    <a:lstStyle/>
                    <a:p>
                      <a:pPr>
                        <a:defRPr sz="1200">
                          <a:solidFill>
                            <a:srgbClr val="2A1712"/>
                          </a:solidFill>
                          <a:latin typeface="Yu Gothic"/>
                        </a:defRPr>
                      </a:pPr>
                      <a:r>
                        <a:t>右中間フェンス越え</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記録の意義</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6年連続6度目の30本塁打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日本人選手でシーズン30本塁打を複数回達成しているのは大谷選手のみで、この記録をさらに伸ばした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SPREAD・テレ朝NEWS・中日スポーツ(2026-08-18/19)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『6年連続6度目』の意味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6年連続</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連続年数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直近6シーズン連続でシーズン30本塁打に到達</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6度目</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到達回数</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通算6度目のシーズン30本塁打</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日本人選手で唯一</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希少性</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複数回達成しているのは大谷選手のみ</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到達ペース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チーム127試合目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投打二刀流で大リーグを席巻した2021年以降の6年間では2番目に早いペースでの到達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SPREAD・テレ朝NEWS・中日スポーツ(2026-08-18/19)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最速だった2021年・2番目に早かった2026年</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2021年(最速)</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到達: チーム81試合目</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位置づけ: 2021年以降の6年間で最速</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本テーマ2026年との差: 46試合早い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2026年(本テーマ、2番目に早い)</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到達: チーム127試合目</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位置づけ: 2021年以降の6年間で2番目に早い</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2022年(131試合目)よりは早い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到達試合数の比較(判明している範囲)</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年</a:t>
                      </a:r>
                    </a:p>
                  </a:txBody>
                  <a:tcPr>
                    <a:solidFill>
                      <a:srgbClr val="7A1F2B"/>
                    </a:solidFill>
                  </a:tcPr>
                </a:tc>
                <a:tc>
                  <a:txBody>
                    <a:bodyPr/>
                    <a:lstStyle/>
                    <a:p>
                      <a:pPr>
                        <a:defRPr sz="1300" b="1">
                          <a:solidFill>
                            <a:srgbClr val="FFFFFF"/>
                          </a:solidFill>
                          <a:latin typeface="Yu Gothic"/>
                        </a:defRPr>
                      </a:pPr>
                      <a:r>
                        <a:t>到達試合数</a:t>
                      </a:r>
                    </a:p>
                  </a:txBody>
                  <a:tcPr>
                    <a:solidFill>
                      <a:srgbClr val="7A1F2B"/>
                    </a:solidFill>
                  </a:tcPr>
                </a:tc>
                <a:tc>
                  <a:txBody>
                    <a:bodyPr/>
                    <a:lstStyle/>
                    <a:p>
                      <a:pPr>
                        <a:defRPr sz="1300" b="1">
                          <a:solidFill>
                            <a:srgbClr val="FFFFFF"/>
                          </a:solidFill>
                          <a:latin typeface="Yu Gothic"/>
                        </a:defRPr>
                      </a:pPr>
                      <a:r>
                        <a:t>位置づけ</a:t>
                      </a:r>
                    </a:p>
                  </a:txBody>
                  <a:tcPr>
                    <a:solidFill>
                      <a:srgbClr val="7A1F2B"/>
                    </a:solidFill>
                  </a:tcPr>
                </a:tc>
              </a:tr>
              <a:tr h="502920">
                <a:tc>
                  <a:txBody>
                    <a:bodyPr/>
                    <a:lstStyle/>
                    <a:p>
                      <a:pPr>
                        <a:defRPr sz="1200">
                          <a:solidFill>
                            <a:srgbClr val="2A1712"/>
                          </a:solidFill>
                          <a:latin typeface="Yu Gothic"/>
                        </a:defRPr>
                      </a:pPr>
                      <a:r>
                        <a:t>2021年</a:t>
                      </a:r>
                    </a:p>
                  </a:txBody>
                  <a:tcPr>
                    <a:solidFill>
                      <a:srgbClr val="FFFFFF"/>
                    </a:solidFill>
                  </a:tcPr>
                </a:tc>
                <a:tc>
                  <a:txBody>
                    <a:bodyPr/>
                    <a:lstStyle/>
                    <a:p>
                      <a:pPr>
                        <a:defRPr sz="1200">
                          <a:solidFill>
                            <a:srgbClr val="2A1712"/>
                          </a:solidFill>
                          <a:latin typeface="Yu Gothic"/>
                        </a:defRPr>
                      </a:pPr>
                      <a:r>
                        <a:t>チーム81試合目</a:t>
                      </a:r>
                    </a:p>
                  </a:txBody>
                  <a:tcPr>
                    <a:solidFill>
                      <a:srgbClr val="FFFFFF"/>
                    </a:solidFill>
                  </a:tcPr>
                </a:tc>
                <a:tc>
                  <a:txBody>
                    <a:bodyPr/>
                    <a:lstStyle/>
                    <a:p>
                      <a:pPr>
                        <a:defRPr sz="1200">
                          <a:solidFill>
                            <a:srgbClr val="2A1712"/>
                          </a:solidFill>
                          <a:latin typeface="Yu Gothic"/>
                        </a:defRPr>
                      </a:pPr>
                      <a:r>
                        <a:t>2021年以降の6年間で最速</a:t>
                      </a:r>
                    </a:p>
                  </a:txBody>
                  <a:tcPr>
                    <a:solidFill>
                      <a:srgbClr val="FFFFFF"/>
                    </a:solidFill>
                  </a:tcPr>
                </a:tc>
              </a:tr>
              <a:tr h="502920">
                <a:tc>
                  <a:txBody>
                    <a:bodyPr/>
                    <a:lstStyle/>
                    <a:p>
                      <a:pPr>
                        <a:defRPr sz="1200">
                          <a:solidFill>
                            <a:srgbClr val="2A1712"/>
                          </a:solidFill>
                          <a:latin typeface="Yu Gothic"/>
                        </a:defRPr>
                      </a:pPr>
                      <a:r>
                        <a:t>2022年</a:t>
                      </a:r>
                    </a:p>
                  </a:txBody>
                  <a:tcPr>
                    <a:solidFill>
                      <a:srgbClr val="FBF3E6"/>
                    </a:solidFill>
                  </a:tcPr>
                </a:tc>
                <a:tc>
                  <a:txBody>
                    <a:bodyPr/>
                    <a:lstStyle/>
                    <a:p>
                      <a:pPr>
                        <a:defRPr sz="1200">
                          <a:solidFill>
                            <a:srgbClr val="2A1712"/>
                          </a:solidFill>
                          <a:latin typeface="Yu Gothic"/>
                        </a:defRPr>
                      </a:pPr>
                      <a:r>
                        <a:t>チーム131試合目</a:t>
                      </a:r>
                    </a:p>
                  </a:txBody>
                  <a:tcPr>
                    <a:solidFill>
                      <a:srgbClr val="FBF3E6"/>
                    </a:solidFill>
                  </a:tcPr>
                </a:tc>
                <a:tc>
                  <a:txBody>
                    <a:bodyPr/>
                    <a:lstStyle/>
                    <a:p>
                      <a:pPr>
                        <a:defRPr sz="1200">
                          <a:solidFill>
                            <a:srgbClr val="2A1712"/>
                          </a:solidFill>
                          <a:latin typeface="Yu Gothic"/>
                        </a:defRPr>
                      </a:pPr>
                      <a:r>
                        <a:t>2021年以降の6年間で2番目に遅い(本テーマ以前の基準)</a:t>
                      </a:r>
                    </a:p>
                  </a:txBody>
                  <a:tcPr>
                    <a:solidFill>
                      <a:srgbClr val="FBF3E6"/>
                    </a:solidFill>
                  </a:tcPr>
                </a:tc>
              </a:tr>
              <a:tr h="502920">
                <a:tc>
                  <a:txBody>
                    <a:bodyPr/>
                    <a:lstStyle/>
                    <a:p>
                      <a:pPr>
                        <a:defRPr sz="1200">
                          <a:solidFill>
                            <a:srgbClr val="2A1712"/>
                          </a:solidFill>
                          <a:latin typeface="Yu Gothic"/>
                        </a:defRPr>
                      </a:pPr>
                      <a:r>
                        <a:t>2026年(本テーマ)</a:t>
                      </a:r>
                    </a:p>
                  </a:txBody>
                  <a:tcPr>
                    <a:solidFill>
                      <a:srgbClr val="FFFFFF"/>
                    </a:solidFill>
                  </a:tcPr>
                </a:tc>
                <a:tc>
                  <a:txBody>
                    <a:bodyPr/>
                    <a:lstStyle/>
                    <a:p>
                      <a:pPr>
                        <a:defRPr sz="1200">
                          <a:solidFill>
                            <a:srgbClr val="2A1712"/>
                          </a:solidFill>
                          <a:latin typeface="Yu Gothic"/>
                        </a:defRPr>
                      </a:pPr>
                      <a:r>
                        <a:t>チーム127試合目</a:t>
                      </a:r>
                    </a:p>
                  </a:txBody>
                  <a:tcPr>
                    <a:solidFill>
                      <a:srgbClr val="FFFFFF"/>
                    </a:solidFill>
                  </a:tcPr>
                </a:tc>
                <a:tc>
                  <a:txBody>
                    <a:bodyPr/>
                    <a:lstStyle/>
                    <a:p>
                      <a:pPr>
                        <a:defRPr sz="1200">
                          <a:solidFill>
                            <a:srgbClr val="2A1712"/>
                          </a:solidFill>
                          <a:latin typeface="Yu Gothic"/>
                        </a:defRPr>
                      </a:pPr>
                      <a:r>
                        <a:t>2021年以降の6年間で2番目に早い(2022年より早く、2021年より46試合遅い)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前日の試合との関係(本テーマ固有・重要)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前日の28号・29号との関係を正確に整理します。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前日(米国時間8/17、日本時間8/18)の同カード初戦で、同郷・菅野智之投手から28号ソロ、救援メヒア投手から29号2ランの2打席連続本塁打を記録している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本テーマの30号は、前日とは別の試合(第2戦)・別の投手(フェルトナー投手)から生まれた本塁打である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28号・29号(前日)と30号(本テーマ)を合わせ、2試合合計3本塁打という『量産態勢』が報じられている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2試合連続本塁打から量産態勢へ</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前日: 28号・29号</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菅野投手・メヒア投手から2打席連続</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本テーマ: 30号</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フェルトナー投手から右中間フェンス越え</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2試合合計3本塁打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『量産態勢』として報じられる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別の試合・別の投手から生まれた3本の本塁打が、2試合合計という文脈で語られている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2試合合計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3本塁打(28号・29号・30号)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前日の28号・29号(初戦)と本テーマの30号(第2戦)を合わせた、2試合合計の本塁打数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SPREAD・テレ朝NEWS・中日スポーツ(2026-08-18/19)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3本の本塁打、それぞれの違い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28号(前日)</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菅野智之投手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カットボールを捉えたソロ本塁打</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29号(前日)</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救援メヒア投手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スイーパーを捉えた2ラン</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30号(本テーマ)</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フェルトナー投手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右中間フェンス越えの2ラン</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本テーマの記録一覧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数値</a:t>
                      </a:r>
                    </a:p>
                  </a:txBody>
                  <a:tcPr>
                    <a:solidFill>
                      <a:srgbClr val="7A1F2B"/>
                    </a:solidFill>
                  </a:tcPr>
                </a:tc>
              </a:tr>
              <a:tr h="502920">
                <a:tc>
                  <a:txBody>
                    <a:bodyPr/>
                    <a:lstStyle/>
                    <a:p>
                      <a:pPr>
                        <a:defRPr sz="1200">
                          <a:solidFill>
                            <a:srgbClr val="2A1712"/>
                          </a:solidFill>
                          <a:latin typeface="Yu Gothic"/>
                        </a:defRPr>
                      </a:pPr>
                      <a:r>
                        <a:t>本塁打</a:t>
                      </a:r>
                    </a:p>
                  </a:txBody>
                  <a:tcPr>
                    <a:solidFill>
                      <a:srgbClr val="FFFFFF"/>
                    </a:solidFill>
                  </a:tcPr>
                </a:tc>
                <a:tc>
                  <a:txBody>
                    <a:bodyPr/>
                    <a:lstStyle/>
                    <a:p>
                      <a:pPr>
                        <a:defRPr sz="1200">
                          <a:solidFill>
                            <a:srgbClr val="2A1712"/>
                          </a:solidFill>
                          <a:latin typeface="Yu Gothic"/>
                        </a:defRPr>
                      </a:pPr>
                      <a:r>
                        <a:t>30号2ラン(3回表無死一塁、第2打席)</a:t>
                      </a:r>
                    </a:p>
                  </a:txBody>
                  <a:tcPr>
                    <a:solidFill>
                      <a:srgbClr val="FFFFFF"/>
                    </a:solidFill>
                  </a:tcPr>
                </a:tc>
              </a:tr>
              <a:tr h="502920">
                <a:tc>
                  <a:txBody>
                    <a:bodyPr/>
                    <a:lstStyle/>
                    <a:p>
                      <a:pPr>
                        <a:defRPr sz="1200">
                          <a:solidFill>
                            <a:srgbClr val="2A1712"/>
                          </a:solidFill>
                          <a:latin typeface="Yu Gothic"/>
                        </a:defRPr>
                      </a:pPr>
                      <a:r>
                        <a:t>相手投手</a:t>
                      </a:r>
                    </a:p>
                  </a:txBody>
                  <a:tcPr>
                    <a:solidFill>
                      <a:srgbClr val="FBF3E6"/>
                    </a:solidFill>
                  </a:tcPr>
                </a:tc>
                <a:tc>
                  <a:txBody>
                    <a:bodyPr/>
                    <a:lstStyle/>
                    <a:p>
                      <a:pPr>
                        <a:defRPr sz="1200">
                          <a:solidFill>
                            <a:srgbClr val="2A1712"/>
                          </a:solidFill>
                          <a:latin typeface="Yu Gothic"/>
                        </a:defRPr>
                      </a:pPr>
                      <a:r>
                        <a:t>フェルトナー投手(ロッキーズ右腕)</a:t>
                      </a:r>
                    </a:p>
                  </a:txBody>
                  <a:tcPr>
                    <a:solidFill>
                      <a:srgbClr val="FBF3E6"/>
                    </a:solidFill>
                  </a:tcPr>
                </a:tc>
              </a:tr>
              <a:tr h="502920">
                <a:tc>
                  <a:txBody>
                    <a:bodyPr/>
                    <a:lstStyle/>
                    <a:p>
                      <a:pPr>
                        <a:defRPr sz="1200">
                          <a:solidFill>
                            <a:srgbClr val="2A1712"/>
                          </a:solidFill>
                          <a:latin typeface="Yu Gothic"/>
                        </a:defRPr>
                      </a:pPr>
                      <a:r>
                        <a:t>飛距離</a:t>
                      </a:r>
                    </a:p>
                  </a:txBody>
                  <a:tcPr>
                    <a:solidFill>
                      <a:srgbClr val="FFFFFF"/>
                    </a:solidFill>
                  </a:tcPr>
                </a:tc>
                <a:tc>
                  <a:txBody>
                    <a:bodyPr/>
                    <a:lstStyle/>
                    <a:p>
                      <a:pPr>
                        <a:defRPr sz="1200">
                          <a:solidFill>
                            <a:srgbClr val="2A1712"/>
                          </a:solidFill>
                          <a:latin typeface="Yu Gothic"/>
                        </a:defRPr>
                      </a:pPr>
                      <a:r>
                        <a:t>136.5メートル(今季2番目の大きさ)</a:t>
                      </a:r>
                    </a:p>
                  </a:txBody>
                  <a:tcPr>
                    <a:solidFill>
                      <a:srgbClr val="FFFFFF"/>
                    </a:solidFill>
                  </a:tcPr>
                </a:tc>
              </a:tr>
              <a:tr h="502920">
                <a:tc>
                  <a:txBody>
                    <a:bodyPr/>
                    <a:lstStyle/>
                    <a:p>
                      <a:pPr>
                        <a:defRPr sz="1200">
                          <a:solidFill>
                            <a:srgbClr val="2A1712"/>
                          </a:solidFill>
                          <a:latin typeface="Yu Gothic"/>
                        </a:defRPr>
                      </a:pPr>
                      <a:r>
                        <a:t>打球速度・角度</a:t>
                      </a:r>
                    </a:p>
                  </a:txBody>
                  <a:tcPr>
                    <a:solidFill>
                      <a:srgbClr val="FBF3E6"/>
                    </a:solidFill>
                  </a:tcPr>
                </a:tc>
                <a:tc>
                  <a:txBody>
                    <a:bodyPr/>
                    <a:lstStyle/>
                    <a:p>
                      <a:pPr>
                        <a:defRPr sz="1200">
                          <a:solidFill>
                            <a:srgbClr val="2A1712"/>
                          </a:solidFill>
                          <a:latin typeface="Yu Gothic"/>
                        </a:defRPr>
                      </a:pPr>
                      <a:r>
                        <a:t>169.9キロ・33度</a:t>
                      </a:r>
                    </a:p>
                  </a:txBody>
                  <a:tcPr>
                    <a:solidFill>
                      <a:srgbClr val="FBF3E6"/>
                    </a:solidFill>
                  </a:tcPr>
                </a:tc>
              </a:tr>
              <a:tr h="502920">
                <a:tc>
                  <a:txBody>
                    <a:bodyPr/>
                    <a:lstStyle/>
                    <a:p>
                      <a:pPr>
                        <a:defRPr sz="1200">
                          <a:solidFill>
                            <a:srgbClr val="2A1712"/>
                          </a:solidFill>
                          <a:latin typeface="Yu Gothic"/>
                        </a:defRPr>
                      </a:pPr>
                      <a:r>
                        <a:t>連続年数・到達回数</a:t>
                      </a:r>
                    </a:p>
                  </a:txBody>
                  <a:tcPr>
                    <a:solidFill>
                      <a:srgbClr val="FFFFFF"/>
                    </a:solidFill>
                  </a:tcPr>
                </a:tc>
                <a:tc>
                  <a:txBody>
                    <a:bodyPr/>
                    <a:lstStyle/>
                    <a:p>
                      <a:pPr>
                        <a:defRPr sz="1200">
                          <a:solidFill>
                            <a:srgbClr val="2A1712"/>
                          </a:solidFill>
                          <a:latin typeface="Yu Gothic"/>
                        </a:defRPr>
                      </a:pPr>
                      <a:r>
                        <a:t>6年連続6度目のシーズン30本塁打</a:t>
                      </a:r>
                    </a:p>
                  </a:txBody>
                  <a:tcPr>
                    <a:solidFill>
                      <a:srgbClr val="FFFFFF"/>
                    </a:solidFill>
                  </a:tcPr>
                </a:tc>
              </a:tr>
              <a:tr h="502920">
                <a:tc>
                  <a:txBody>
                    <a:bodyPr/>
                    <a:lstStyle/>
                    <a:p>
                      <a:pPr>
                        <a:defRPr sz="1200">
                          <a:solidFill>
                            <a:srgbClr val="2A1712"/>
                          </a:solidFill>
                          <a:latin typeface="Yu Gothic"/>
                        </a:defRPr>
                      </a:pPr>
                      <a:r>
                        <a:t>到達ペース</a:t>
                      </a:r>
                    </a:p>
                  </a:txBody>
                  <a:tcPr>
                    <a:solidFill>
                      <a:srgbClr val="FBF3E6"/>
                    </a:solidFill>
                  </a:tcPr>
                </a:tc>
                <a:tc>
                  <a:txBody>
                    <a:bodyPr/>
                    <a:lstStyle/>
                    <a:p>
                      <a:pPr>
                        <a:defRPr sz="1200">
                          <a:solidFill>
                            <a:srgbClr val="2A1712"/>
                          </a:solidFill>
                          <a:latin typeface="Yu Gothic"/>
                        </a:defRPr>
                      </a:pPr>
                      <a:r>
                        <a:t>チーム127試合目(2021年以降で2番目に早い)</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確認できていないこと(次戦の予定・シーズン目標)</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正直にお伝えします。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次戦の登板・出場予定は、本調査時点では確認できていない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シーズン最終盤までの具体的な本塁打目標設定の有無も、本調査時点では確認できていない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推測で予定・目標を補わず、この試合で確認できた事実のみを扱う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確認できていないこと(2023〜2025年の到達試合数・試合結果)</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もう一点、正直にお伝えします。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2023年・2024年・2025年、それぞれ何試合目で30本塁打に到達したかは確認できていない(2021年・2022年・2026年の3年分のみ確認済み)</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本テーマの試合(第2戦)の最終スコア・大谷選手のこの試合の他の打席の内容は確認できていない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推測で数字を補わず、出典で確認できた範囲にとどめる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事実: 30号2ラン(フェルトナー投手・右中間フェンス越え)・打球データ(136.5メートル・169.9キロ・33度)・6年連続6度目・チーム127試合目</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推測: なし(本成果物では推測に基づく評価をほぼ用いず、事実の整理を優先している)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不明: 次戦の登板・出場予定、シーズン最終盤までの本塁打目標設定の有無、2023〜2025年の到達試合数、この試合の最終スコア</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本塁打の打球データ・相手投手を確認できた範囲の事実で正確に追うと理解が深まる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記録を追う立場として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『6年連続6度目』のような節目の記録は、確認できた年数分のみを正確に扱う姿勢が大切</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前日の試合との関係(量産態勢)を、別試合・別投手と正確に区別して伝える姿勢が信頼につながる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6年連続6度目のシーズン30本塁打到達は、確認できた過去5年分の記録の延長として位置づけられる(今後の到達数を断定しない)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『量産態勢』という表現は2試合合計の事実に基づく報道表現であり、それ以上の一般化(継続を確約する等)はしない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確認できていない要因(次戦の予定・シーズン目標)を推測で埋めない視点が、正確な情報発信に役立つ</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この先の展開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30号到達、次戦の予定は未確認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次戦の登板・出場予定、シーズン最終盤までの具体的な本塁打目標設定の有無は本調査の範囲では確認できていない(本調査時点の情報)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SPREAD・テレ朝NEWS・中日スポーツ(2026-08-18/19)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事実確認の一覧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状態</a:t>
                      </a:r>
                    </a:p>
                  </a:txBody>
                  <a:tcPr>
                    <a:solidFill>
                      <a:srgbClr val="7A1F2B"/>
                    </a:solidFill>
                  </a:tcPr>
                </a:tc>
              </a:tr>
              <a:tr h="502920">
                <a:tc>
                  <a:txBody>
                    <a:bodyPr/>
                    <a:lstStyle/>
                    <a:p>
                      <a:pPr>
                        <a:defRPr sz="1200">
                          <a:solidFill>
                            <a:srgbClr val="2A1712"/>
                          </a:solidFill>
                          <a:latin typeface="Yu Gothic"/>
                        </a:defRPr>
                      </a:pPr>
                      <a:r>
                        <a:t>30号の内容(相手投手・打球データ)</a:t>
                      </a:r>
                    </a:p>
                  </a:txBody>
                  <a:tcPr>
                    <a:solidFill>
                      <a:srgbClr val="FFFFFF"/>
                    </a:solidFill>
                  </a:tcPr>
                </a:tc>
                <a:tc>
                  <a:txBody>
                    <a:bodyPr/>
                    <a:lstStyle/>
                    <a:p>
                      <a:pPr>
                        <a:defRPr sz="1200">
                          <a:solidFill>
                            <a:srgbClr val="2A1712"/>
                          </a:solidFill>
                          <a:latin typeface="Yu Gothic"/>
                        </a:defRPr>
                      </a:pPr>
                      <a:r>
                        <a:t>確認済み(複数媒体一致)</a:t>
                      </a:r>
                    </a:p>
                  </a:txBody>
                  <a:tcPr>
                    <a:solidFill>
                      <a:srgbClr val="FFFFFF"/>
                    </a:solidFill>
                  </a:tcPr>
                </a:tc>
              </a:tr>
              <a:tr h="502920">
                <a:tc>
                  <a:txBody>
                    <a:bodyPr/>
                    <a:lstStyle/>
                    <a:p>
                      <a:pPr>
                        <a:defRPr sz="1200">
                          <a:solidFill>
                            <a:srgbClr val="2A1712"/>
                          </a:solidFill>
                          <a:latin typeface="Yu Gothic"/>
                        </a:defRPr>
                      </a:pPr>
                      <a:r>
                        <a:t>6年連続6度目・チーム127試合目</a:t>
                      </a:r>
                    </a:p>
                  </a:txBody>
                  <a:tcPr>
                    <a:solidFill>
                      <a:srgbClr val="FBF3E6"/>
                    </a:solidFill>
                  </a:tcPr>
                </a:tc>
                <a:tc>
                  <a:txBody>
                    <a:bodyPr/>
                    <a:lstStyle/>
                    <a:p>
                      <a:pPr>
                        <a:defRPr sz="1200">
                          <a:solidFill>
                            <a:srgbClr val="2A1712"/>
                          </a:solidFill>
                          <a:latin typeface="Yu Gothic"/>
                        </a:defRPr>
                      </a:pPr>
                      <a:r>
                        <a:t>確認済み(複数媒体一致)</a:t>
                      </a:r>
                    </a:p>
                  </a:txBody>
                  <a:tcPr>
                    <a:solidFill>
                      <a:srgbClr val="FBF3E6"/>
                    </a:solidFill>
                  </a:tcPr>
                </a:tc>
              </a:tr>
              <a:tr h="502920">
                <a:tc>
                  <a:txBody>
                    <a:bodyPr/>
                    <a:lstStyle/>
                    <a:p>
                      <a:pPr>
                        <a:defRPr sz="1200">
                          <a:solidFill>
                            <a:srgbClr val="2A1712"/>
                          </a:solidFill>
                          <a:latin typeface="Yu Gothic"/>
                        </a:defRPr>
                      </a:pPr>
                      <a:r>
                        <a:t>前日28号・29号との関係(量産態勢)</a:t>
                      </a:r>
                    </a:p>
                  </a:txBody>
                  <a:tcPr>
                    <a:solidFill>
                      <a:srgbClr val="FFFFFF"/>
                    </a:solidFill>
                  </a:tcPr>
                </a:tc>
                <a:tc>
                  <a:txBody>
                    <a:bodyPr/>
                    <a:lstStyle/>
                    <a:p>
                      <a:pPr>
                        <a:defRPr sz="1200">
                          <a:solidFill>
                            <a:srgbClr val="2A1712"/>
                          </a:solidFill>
                          <a:latin typeface="Yu Gothic"/>
                        </a:defRPr>
                      </a:pPr>
                      <a:r>
                        <a:t>確認済み(複数媒体一致)</a:t>
                      </a:r>
                    </a:p>
                  </a:txBody>
                  <a:tcPr>
                    <a:solidFill>
                      <a:srgbClr val="FFFFFF"/>
                    </a:solidFill>
                  </a:tcPr>
                </a:tc>
              </a:tr>
              <a:tr h="502920">
                <a:tc>
                  <a:txBody>
                    <a:bodyPr/>
                    <a:lstStyle/>
                    <a:p>
                      <a:pPr>
                        <a:defRPr sz="1200">
                          <a:solidFill>
                            <a:srgbClr val="2A1712"/>
                          </a:solidFill>
                          <a:latin typeface="Yu Gothic"/>
                        </a:defRPr>
                      </a:pPr>
                      <a:r>
                        <a:t>2023〜2025年の到達試合数</a:t>
                      </a:r>
                    </a:p>
                  </a:txBody>
                  <a:tcPr>
                    <a:solidFill>
                      <a:srgbClr val="FBF3E6"/>
                    </a:solidFill>
                  </a:tcPr>
                </a:tc>
                <a:tc>
                  <a:txBody>
                    <a:bodyPr/>
                    <a:lstStyle/>
                    <a:p>
                      <a:pPr>
                        <a:defRPr sz="1200">
                          <a:solidFill>
                            <a:srgbClr val="2A1712"/>
                          </a:solidFill>
                          <a:latin typeface="Yu Gothic"/>
                        </a:defRPr>
                      </a:pPr>
                      <a:r>
                        <a:t>未確認</a:t>
                      </a:r>
                    </a:p>
                  </a:txBody>
                  <a:tcPr>
                    <a:solidFill>
                      <a:srgbClr val="FBF3E6"/>
                    </a:solidFill>
                  </a:tcPr>
                </a:tc>
              </a:tr>
              <a:tr h="502920">
                <a:tc>
                  <a:txBody>
                    <a:bodyPr/>
                    <a:lstStyle/>
                    <a:p>
                      <a:pPr>
                        <a:defRPr sz="1200">
                          <a:solidFill>
                            <a:srgbClr val="2A1712"/>
                          </a:solidFill>
                          <a:latin typeface="Yu Gothic"/>
                        </a:defRPr>
                      </a:pPr>
                      <a:r>
                        <a:t>次戦の登板・出場予定、シーズン目標設定の有無</a:t>
                      </a:r>
                    </a:p>
                  </a:txBody>
                  <a:tcPr>
                    <a:solidFill>
                      <a:srgbClr val="FFFFFF"/>
                    </a:solidFill>
                  </a:tcPr>
                </a:tc>
                <a:tc>
                  <a:txBody>
                    <a:bodyPr/>
                    <a:lstStyle/>
                    <a:p>
                      <a:pPr>
                        <a:defRPr sz="1200">
                          <a:solidFill>
                            <a:srgbClr val="2A1712"/>
                          </a:solidFill>
                          <a:latin typeface="Yu Gothic"/>
                        </a:defRPr>
                      </a:pPr>
                      <a:r>
                        <a:t>未確認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SPREAD・テレ朝NEWS・中日スポーツ(2026-08-18/19)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SPREAD</a:t>
                      </a:r>
                    </a:p>
                  </a:txBody>
                  <a:tcPr>
                    <a:solidFill>
                      <a:srgbClr val="FFFFFF"/>
                    </a:solidFill>
                  </a:tcPr>
                </a:tc>
                <a:tc>
                  <a:txBody>
                    <a:bodyPr/>
                    <a:lstStyle/>
                    <a:p>
                      <a:pPr>
                        <a:defRPr sz="1200">
                          <a:solidFill>
                            <a:srgbClr val="2A1712"/>
                          </a:solidFill>
                          <a:latin typeface="Yu Gothic"/>
                        </a:defRPr>
                      </a:pPr>
                      <a:r>
                        <a:t>試合結果・30号の内容・記録の確認(2026-08-18/19)</a:t>
                      </a:r>
                    </a:p>
                  </a:txBody>
                  <a:tcPr>
                    <a:solidFill>
                      <a:srgbClr val="FFFFFF"/>
                    </a:solidFill>
                  </a:tcPr>
                </a:tc>
              </a:tr>
              <a:tr h="502920">
                <a:tc>
                  <a:txBody>
                    <a:bodyPr/>
                    <a:lstStyle/>
                    <a:p>
                      <a:pPr>
                        <a:defRPr sz="1200">
                          <a:solidFill>
                            <a:srgbClr val="2A1712"/>
                          </a:solidFill>
                          <a:latin typeface="Yu Gothic"/>
                        </a:defRPr>
                      </a:pPr>
                      <a:r>
                        <a:t>テレ朝NEWS(dメニューニュース)</a:t>
                      </a:r>
                    </a:p>
                  </a:txBody>
                  <a:tcPr>
                    <a:solidFill>
                      <a:srgbClr val="FBF3E6"/>
                    </a:solidFill>
                  </a:tcPr>
                </a:tc>
                <a:tc>
                  <a:txBody>
                    <a:bodyPr/>
                    <a:lstStyle/>
                    <a:p>
                      <a:pPr>
                        <a:defRPr sz="1200">
                          <a:solidFill>
                            <a:srgbClr val="2A1712"/>
                          </a:solidFill>
                          <a:latin typeface="Yu Gothic"/>
                        </a:defRPr>
                      </a:pPr>
                      <a:r>
                        <a:t>打球データ・記録の意義の確認(2026-08-18/19)</a:t>
                      </a:r>
                    </a:p>
                  </a:txBody>
                  <a:tcPr>
                    <a:solidFill>
                      <a:srgbClr val="FBF3E6"/>
                    </a:solidFill>
                  </a:tcPr>
                </a:tc>
              </a:tr>
              <a:tr h="502920">
                <a:tc>
                  <a:txBody>
                    <a:bodyPr/>
                    <a:lstStyle/>
                    <a:p>
                      <a:pPr>
                        <a:defRPr sz="1200">
                          <a:solidFill>
                            <a:srgbClr val="2A1712"/>
                          </a:solidFill>
                          <a:latin typeface="Yu Gothic"/>
                        </a:defRPr>
                      </a:pPr>
                      <a:r>
                        <a:t>中日スポーツ(Yahoo!ニュース)</a:t>
                      </a:r>
                    </a:p>
                  </a:txBody>
                  <a:tcPr>
                    <a:solidFill>
                      <a:srgbClr val="FFFFFF"/>
                    </a:solidFill>
                  </a:tcPr>
                </a:tc>
                <a:tc>
                  <a:txBody>
                    <a:bodyPr/>
                    <a:lstStyle/>
                    <a:p>
                      <a:pPr>
                        <a:defRPr sz="1200">
                          <a:solidFill>
                            <a:srgbClr val="2A1712"/>
                          </a:solidFill>
                          <a:latin typeface="Yu Gothic"/>
                        </a:defRPr>
                      </a:pPr>
                      <a:r>
                        <a:t>到達ペース・前日との関係の確認(2026-08-18/19)</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SPREAD・テレ朝NEWS(dメニューニュース)・中日スポーツ(Yahoo!ニュース)(2026年8月18/19日時点)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6年連続6度目の30号。前日からの2戦連発で量産態勢に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30号2ランの内容と、前日の28号・29号との関係を、出典付きで正確に整理してお届けしました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