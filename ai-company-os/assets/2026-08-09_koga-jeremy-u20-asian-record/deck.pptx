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タイム(秒)</c:v>
                </c:pt>
              </c:strCache>
            </c:strRef>
          </c:tx>
          <c:spPr>
            <a:solidFill>
              <a:srgbClr val="1E2761"/>
            </a:solidFill>
          </c:spPr>
          <c:cat>
            <c:strRef>
              <c:f>Sheet1!$A$2:$A$4</c:f>
              <c:strCache>
                <c:ptCount val="3"/>
                <c:pt idx="0">
                  <c:v>予選</c:v>
                </c:pt>
                <c:pt idx="1">
                  <c:v>準決勝</c:v>
                </c:pt>
                <c:pt idx="2">
                  <c:v>決勝</c:v>
                </c:pt>
              </c:strCache>
            </c:strRef>
          </c:cat>
          <c:val>
            <c:numRef>
              <c:f>Sheet1!$B$2:$B$4</c:f>
              <c:numCache>
                <c:formatCode>General</c:formatCode>
                <c:ptCount val="3"/>
                <c:pt idx="0">
                  <c:v>13.54</c:v>
                </c:pt>
                <c:pt idx="1">
                  <c:v>12.95</c:v>
                </c:pt>
                <c:pt idx="2">
                  <c:v>12.97</c:v>
                </c:pt>
              </c:numCache>
            </c:numRef>
          </c:val>
        </c:ser>
        <c:dLbls>
          <c:numFmt formatCode="0.0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歳の大学生が、アジア新記録をたたき出しました。順天堂大学の古賀ジェレミー選手が、U20世界陸上競技選手権の男子110メートルハードルで、U20アジア新記録を樹立し、銀メダルを獲得しました。今日はこの2日間の出来事を、出典付きの事実だけで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を3つの数字でまとめます。準決勝で出したU20アジア新記録の12秒95、2018年の泉谷駿介選手以来という決勝進出、そして決勝で記録した12秒97による銀メダル獲得です。この3つがこの2日間の出来事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今日話す内容を5つに整理しました。何が起きたのかという事実確認から始め、大会そのものの基礎知識、記録更新の中身、タイムの推移、最後に確認できなかったことまで、順番に見ていきます。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扱う理由は鮮度です。決勝が行われたのは8月9日、この動画に着手したのは8月11日で、決勝からわずか2日しか経っていません。準決勝からは3日ですが、決勝を基準にすれば直近の出来事として扱える範囲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舞台となったのは、米国ユージンで開催された第21回U20世界陸上競技選手権です。開催期間は8月5日から9日まで。古賀選手が出場したのは、男子110メートルハードル、ハードルの高さは99.0センチの種目です。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古賀選手は大会中に3つのレースを走りました。予選を13秒54で通過し、準決勝で12秒95を記録してU20アジア新記録を樹立、そして決勝で12秒97を記録して銀メダルを獲得しました。予選から準決勝にかけて、タイムを大きく縮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古賀ジェレミー選手のプロフィールです。19歳、順天堂大学に所属する大学生アスリートで、種目は男子110メートルハードルです。プロ選手ではなく、大学生という立場での快挙という点も、このニュースの親近感を生んでいる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専門用語を整理しておきます。110メートルハードルは、コース上に置かれたハードルを跳び越えながら走る種目で、U20はおおむね20歳未満の選手を対象とする年代別の大会区分です。追い風0.3メートルという表記は、公認記録として扱う上での風の基準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20アジア記録は、これまで中国の陳圓将選手が持つ12秒96でした。古賀選手は準決勝で12秒95を記録し、これを0.01秒更新しました。ここでは記録という事実だけを淡々と扱います。国どうしを対立させるような見方ではなく、単純な記録更新として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進出そのものにも意味があります。2018年大会で泉谷駿介選手が決勝に進んで以来、日本人選手がこの種目で決勝に進んだのは今回が初めてです。今回の準決勝でのアジア新記録が、その決勝進出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改めて数字にフォーカスします。準決勝で記録した12秒95、追い風0.3メートルという条件のもとで、U20アジア新記録を樹立しました。この記録が、決勝進出への切符にもなりました。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レースのタイムをグラフにしました。ハードル種目ではタイムが小さいほど好記録です。予選の13秒54から準決勝で大きく縮め、決勝では準決勝よりわずかに遅い12秒97でしたが、それでも銀メダルを獲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ここまでの内容を表にまとめました。予選13秒54、準決勝12秒95でU20アジア新記録、決勝12秒97で銀メダルという流れです。予選の実施日は出典で確認できておらず、正直に『確認できず』としています。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決勝、8月9日の記録です。12秒97というタイムで、古賀選手は銀メダルを獲得しました。準決勝よりわずかにタイムは落ちていますが、決勝という舞台でメダルを獲得したという結果そのものが大きな成果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記録更新の幅にも注目してみます。旧記録との差はわずか0.01秒でした。ほんのわずかな差ですが、この0.01秒が『アジア新記録』という肩書きを生み出しています。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この動画で使っている数字は、複数の情報源で確認できたものだけを使っています。準決勝の12秒95、U20アジア新記録、泉谷選手以来の決勝進出という3つの核となる事実は、月刊陸上競技オンラインとTBS NEWS DIGの双方で確認できています。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も共有します。今後の大会予定や目標、決勝の12秒97が自己ベストかどうか、本人のコメントや心境、決勝のレース展開の詳細、そして予選の正確な日付は、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が日本の陸上界にとって何を意味するかを考えます。2018年以来の決勝進出者が出たこと、そして19歳という若い年代でその結果を出したことは、この種目の今後の選手層の厚みを考える上での材料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世代の視聴者や大学生にとっての意味も考えてみます。プロ選手ではなく現役の大学生という立場で結果を出したこと、そして大会中に予選から準決勝にかけてタイムを大きく縮めたことは、身近な目標としても捉えやすい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この話題を追う場合の視点を整理しました。公式記録を確認すること、今後の大会予定や自己ベストかどうかといった未確認情報の続報を待つこと、そして本人や大会主催者などの一次情報源を優先することが基本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上で気をつけている点です。旧記録を持つ中国選手との比較は、あくまで記録という事実の紹介であり、国どうしの対立を煽る意図はありません。特定選手を過度に持ち上げたり貶めたりする表現も避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えて使わなかった切り口も紹介します。本人の心境を推測で書くこと、自己ベストかどうかを断定すること、国家間の対立として記録比較を演出することは、いずれも正直さ・中立性のルールに反するため見送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から準決勝でどれだけタイムを縮めたかを計算してみました。13秒54から12秒95まで、0.59秒の短縮です。これは出典に載っている2つのタイムを引き算しただけの計算値で、新しい事実を作っ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このデッキ自体の品質チェック結果です。スライド枚数は構成どおり30枚、全スライドにスピーカーノートがあり、文字中心のbulletsは全体の40%以下に抑え、同じレイアウトが4連続することもありません。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本テーマで使用した出典を一覧にしました。月刊陸上競技オンラインの2本の記事と、TBS NEWS DIG、Yahoo!ニュース経由での配信記事です。数字の一つひとつに、こうした出典があることを改めて確認しておきます。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改めてまとめます。19歳の大学生である古賀ジェレミー選手が、準決勝でU20アジア新記録を樹立し、決勝で銀メダルを獲得しました。この2日間の出来事を、出典付きの事実だけでお伝えしました。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次回予告です。AI Company OSでは引き続き、着手日から2日以内という鮮度基準を満たすニュースを、スポーツやAIエージェントなど複数のジャンルから選んで取り上げていきます。出典のない数字や断定的な推測は、今後も使用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最後までご視聴いただき、ありがとうございました。今回お伝えした内容は、月刊陸上競技オンラインとTBS NEWS DIGの報道に基づいています。続報や公式記録については、大会・連盟などの一次情報源でご確認ください。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として、制作にあたって配慮したポイントをまとめます。数字は出典付きの確定事実のみを使い、確認できなかったことは不明と明記しました。特定選手を過度に持ち上げたり貶めたりせず、写真や肖像も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このテーマを選んだ理由を共有します。決勝の発表日を基準にすれば鮮度基準を満たすこと、アジア新記録から決勝進出、銀メダルまでの明確な物語構造があること、そして19歳の大学生選手という親近感のある存在であることが理由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19歳の大学生が、</a:t>
            </a:r>
          </a:p>
          <a:p>
            <a:pPr algn="l">
              <a:lnSpc>
                <a:spcPct val="115000"/>
              </a:lnSpc>
            </a:pPr>
            <a:r>
              <a:rPr sz="4200" b="1">
                <a:solidFill>
                  <a:srgbClr val="FFFFFF"/>
                </a:solidFill>
                <a:latin typeface="Yu Gothic"/>
              </a:rPr>
              <a:t>アジア新記録をたたき出した。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古賀ジェレミー選手(順天堂大)、U20世界陸上・男子110mHでU20アジア新記録を樹立し銀メダル(2026年8月8日・9日)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月刊陸上競技オンライン、TBS NEWS DIG(Yahoo!ニュース経由)。数値はすべて出典付きの確定事実のみ使用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今回の結論(3つの数字)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12秒95</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U20アジア新記録</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準決勝(8月8日)で記録。中国の陳圓将選手が持つ旧記録12秒96を0.01秒更新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2018年以来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決勝進出</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泉谷駿介選手以来となる決勝進出を果たした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12秒97</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決勝・銀メダル</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決勝(8月9日)で12秒97を記録し、銀メダルを獲得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何が起きたのか(準決勝・決勝の結果)</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U20世界陸上競技選手権とはどんな大会か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『U20アジア新記録』の中身と更新差</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予選・準決勝・決勝のタイムの推移</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これは何を意味するのか、そして不明な点は何か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r>
              <a:tr h="502920">
                <a:tc>
                  <a:txBody>
                    <a:bodyPr/>
                    <a:lstStyle/>
                    <a:p>
                      <a:pPr>
                        <a:defRPr sz="1200">
                          <a:solidFill>
                            <a:srgbClr val="1A1A2E"/>
                          </a:solidFill>
                          <a:latin typeface="Yu Gothic"/>
                        </a:defRPr>
                      </a:pPr>
                      <a:r>
                        <a:t>準決勝(U20アジア新記録)</a:t>
                      </a:r>
                    </a:p>
                  </a:txBody>
                  <a:tcPr>
                    <a:solidFill>
                      <a:srgbClr val="FFFFFF"/>
                    </a:solidFill>
                  </a:tcPr>
                </a:tc>
                <a:tc>
                  <a:txBody>
                    <a:bodyPr/>
                    <a:lstStyle/>
                    <a:p>
                      <a:pPr>
                        <a:defRPr sz="1200">
                          <a:solidFill>
                            <a:srgbClr val="1A1A2E"/>
                          </a:solidFill>
                          <a:latin typeface="Yu Gothic"/>
                        </a:defRPr>
                      </a:pPr>
                      <a:r>
                        <a:t>2026年8月8日</a:t>
                      </a:r>
                    </a:p>
                  </a:txBody>
                  <a:tcPr>
                    <a:solidFill>
                      <a:srgbClr val="FFFFFF"/>
                    </a:solidFill>
                  </a:tcPr>
                </a:tc>
              </a:tr>
              <a:tr h="502920">
                <a:tc>
                  <a:txBody>
                    <a:bodyPr/>
                    <a:lstStyle/>
                    <a:p>
                      <a:pPr>
                        <a:defRPr sz="1200">
                          <a:solidFill>
                            <a:srgbClr val="1A1A2E"/>
                          </a:solidFill>
                          <a:latin typeface="Yu Gothic"/>
                        </a:defRPr>
                      </a:pPr>
                      <a:r>
                        <a:t>決勝(銀メダル)</a:t>
                      </a:r>
                    </a:p>
                  </a:txBody>
                  <a:tcPr>
                    <a:solidFill>
                      <a:srgbClr val="F3F6FC"/>
                    </a:solidFill>
                  </a:tcPr>
                </a:tc>
                <a:tc>
                  <a:txBody>
                    <a:bodyPr/>
                    <a:lstStyle/>
                    <a:p>
                      <a:pPr>
                        <a:defRPr sz="1200">
                          <a:solidFill>
                            <a:srgbClr val="1A1A2E"/>
                          </a:solidFill>
                          <a:latin typeface="Yu Gothic"/>
                        </a:defRPr>
                      </a:pPr>
                      <a:r>
                        <a:t>2026年8月9日</a:t>
                      </a:r>
                    </a:p>
                  </a:txBody>
                  <a:tcPr>
                    <a:solidFill>
                      <a:srgbClr val="F3F6FC"/>
                    </a:solidFill>
                  </a:tcPr>
                </a:tc>
              </a:tr>
              <a:tr h="502920">
                <a:tc>
                  <a:txBody>
                    <a:bodyPr/>
                    <a:lstStyle/>
                    <a:p>
                      <a:pPr>
                        <a:defRPr sz="1200">
                          <a:solidFill>
                            <a:srgbClr val="1A1A2E"/>
                          </a:solidFill>
                          <a:latin typeface="Yu Gothic"/>
                        </a:defRPr>
                      </a:pPr>
                      <a:r>
                        <a:t>この動画の着手日</a:t>
                      </a:r>
                    </a:p>
                  </a:txBody>
                  <a:tcPr>
                    <a:solidFill>
                      <a:srgbClr val="FFFFFF"/>
                    </a:solidFill>
                  </a:tcPr>
                </a:tc>
                <a:tc>
                  <a:txBody>
                    <a:bodyPr/>
                    <a:lstStyle/>
                    <a:p>
                      <a:pPr>
                        <a:defRPr sz="1200">
                          <a:solidFill>
                            <a:srgbClr val="1A1A2E"/>
                          </a:solidFill>
                          <a:latin typeface="Yu Gothic"/>
                        </a:defRPr>
                      </a:pPr>
                      <a:r>
                        <a:t>2026年8月11日</a:t>
                      </a:r>
                    </a:p>
                  </a:txBody>
                  <a:tcPr>
                    <a:solidFill>
                      <a:srgbClr val="FFFFFF"/>
                    </a:solidFill>
                  </a:tcPr>
                </a:tc>
              </a:tr>
              <a:tr h="502920">
                <a:tc>
                  <a:txBody>
                    <a:bodyPr/>
                    <a:lstStyle/>
                    <a:p>
                      <a:pPr>
                        <a:defRPr sz="1200">
                          <a:solidFill>
                            <a:srgbClr val="1A1A2E"/>
                          </a:solidFill>
                          <a:latin typeface="Yu Gothic"/>
                        </a:defRPr>
                      </a:pPr>
                      <a:r>
                        <a:t>決勝からの経過</a:t>
                      </a:r>
                    </a:p>
                  </a:txBody>
                  <a:tcPr>
                    <a:solidFill>
                      <a:srgbClr val="F3F6FC"/>
                    </a:solidFill>
                  </a:tcPr>
                </a:tc>
                <a:tc>
                  <a:txBody>
                    <a:bodyPr/>
                    <a:lstStyle/>
                    <a:p>
                      <a:pPr>
                        <a:defRPr sz="1200">
                          <a:solidFill>
                            <a:srgbClr val="1A1A2E"/>
                          </a:solidFill>
                          <a:latin typeface="Yu Gothic"/>
                        </a:defRPr>
                      </a:pPr>
                      <a:r>
                        <a:t>2日</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大会の基礎情報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大会名</a:t>
                      </a:r>
                    </a:p>
                  </a:txBody>
                  <a:tcPr>
                    <a:solidFill>
                      <a:srgbClr val="FFFFFF"/>
                    </a:solidFill>
                  </a:tcPr>
                </a:tc>
                <a:tc>
                  <a:txBody>
                    <a:bodyPr/>
                    <a:lstStyle/>
                    <a:p>
                      <a:pPr>
                        <a:defRPr sz="1200">
                          <a:solidFill>
                            <a:srgbClr val="1A1A2E"/>
                          </a:solidFill>
                          <a:latin typeface="Yu Gothic"/>
                        </a:defRPr>
                      </a:pPr>
                      <a:r>
                        <a:t>第21回U20世界陸上競技選手権</a:t>
                      </a:r>
                    </a:p>
                  </a:txBody>
                  <a:tcPr>
                    <a:solidFill>
                      <a:srgbClr val="FFFFFF"/>
                    </a:solidFill>
                  </a:tcPr>
                </a:tc>
              </a:tr>
              <a:tr h="502920">
                <a:tc>
                  <a:txBody>
                    <a:bodyPr/>
                    <a:lstStyle/>
                    <a:p>
                      <a:pPr>
                        <a:defRPr sz="1200">
                          <a:solidFill>
                            <a:srgbClr val="1A1A2E"/>
                          </a:solidFill>
                          <a:latin typeface="Yu Gothic"/>
                        </a:defRPr>
                      </a:pPr>
                      <a:r>
                        <a:t>開催地</a:t>
                      </a:r>
                    </a:p>
                  </a:txBody>
                  <a:tcPr>
                    <a:solidFill>
                      <a:srgbClr val="F3F6FC"/>
                    </a:solidFill>
                  </a:tcPr>
                </a:tc>
                <a:tc>
                  <a:txBody>
                    <a:bodyPr/>
                    <a:lstStyle/>
                    <a:p>
                      <a:pPr>
                        <a:defRPr sz="1200">
                          <a:solidFill>
                            <a:srgbClr val="1A1A2E"/>
                          </a:solidFill>
                          <a:latin typeface="Yu Gothic"/>
                        </a:defRPr>
                      </a:pPr>
                      <a:r>
                        <a:t>米国・ユージン</a:t>
                      </a:r>
                    </a:p>
                  </a:txBody>
                  <a:tcPr>
                    <a:solidFill>
                      <a:srgbClr val="F3F6FC"/>
                    </a:solidFill>
                  </a:tcPr>
                </a:tc>
              </a:tr>
              <a:tr h="502920">
                <a:tc>
                  <a:txBody>
                    <a:bodyPr/>
                    <a:lstStyle/>
                    <a:p>
                      <a:pPr>
                        <a:defRPr sz="1200">
                          <a:solidFill>
                            <a:srgbClr val="1A1A2E"/>
                          </a:solidFill>
                          <a:latin typeface="Yu Gothic"/>
                        </a:defRPr>
                      </a:pPr>
                      <a:r>
                        <a:t>開催期間</a:t>
                      </a:r>
                    </a:p>
                  </a:txBody>
                  <a:tcPr>
                    <a:solidFill>
                      <a:srgbClr val="FFFFFF"/>
                    </a:solidFill>
                  </a:tcPr>
                </a:tc>
                <a:tc>
                  <a:txBody>
                    <a:bodyPr/>
                    <a:lstStyle/>
                    <a:p>
                      <a:pPr>
                        <a:defRPr sz="1200">
                          <a:solidFill>
                            <a:srgbClr val="1A1A2E"/>
                          </a:solidFill>
                          <a:latin typeface="Yu Gothic"/>
                        </a:defRPr>
                      </a:pPr>
                      <a:r>
                        <a:t>2026年8月5日〜9日</a:t>
                      </a:r>
                    </a:p>
                  </a:txBody>
                  <a:tcPr>
                    <a:solidFill>
                      <a:srgbClr val="FFFFFF"/>
                    </a:solidFill>
                  </a:tcPr>
                </a:tc>
              </a:tr>
              <a:tr h="502920">
                <a:tc>
                  <a:txBody>
                    <a:bodyPr/>
                    <a:lstStyle/>
                    <a:p>
                      <a:pPr>
                        <a:defRPr sz="1200">
                          <a:solidFill>
                            <a:srgbClr val="1A1A2E"/>
                          </a:solidFill>
                          <a:latin typeface="Yu Gothic"/>
                        </a:defRPr>
                      </a:pPr>
                      <a:r>
                        <a:t>種目</a:t>
                      </a:r>
                    </a:p>
                  </a:txBody>
                  <a:tcPr>
                    <a:solidFill>
                      <a:srgbClr val="F3F6FC"/>
                    </a:solidFill>
                  </a:tcPr>
                </a:tc>
                <a:tc>
                  <a:txBody>
                    <a:bodyPr/>
                    <a:lstStyle/>
                    <a:p>
                      <a:pPr>
                        <a:defRPr sz="1200">
                          <a:solidFill>
                            <a:srgbClr val="1A1A2E"/>
                          </a:solidFill>
                          <a:latin typeface="Yu Gothic"/>
                        </a:defRPr>
                      </a:pPr>
                      <a:r>
                        <a:t>男子110mハードル(99.0cm)</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月刊陸上競技オンライン各記事</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古賀選手の3レース(予選→準決勝→決勝)</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予選</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13秒54で通過(日付は出典で確認できず)</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準決勝(8月8日)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12秒95(追い風0.3m)、U20アジア新記録</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決勝(8月9日)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12秒97、銀メダル獲得</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古賀ジェレミー選手のプロフィール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19歳</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年齢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報道記事の時点での年齢</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順天堂大学</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所属</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大学生アスリートとして本大会に出場</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男子110mH</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種目</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ハードル高99.0cm(U20規格)</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『110mハードル』『U20』とは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専門用語を先に整理します。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110mハードルは、110m間に置かれた複数のハードルを跳び越えながら走る種目</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『99.0cm』はハードルの高さ。年代・カテゴリーによって高さが異なり、U20男子はこの高さで争われる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『U20』は20歳未満の選手を対象とする年代別カテゴリーの大会区分</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『追い風0.3m』は走りを後押しした風の強さで、公認記録の基準の一つになる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U20アジア記録: 更新前 vs 更新後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更新前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12秒96</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保持者: 陳圓将選手(中国)</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更新後(8月8日)</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12秒95</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保持者: 古賀ジェレミー選手(日本)</a:t>
            </a:r>
          </a:p>
        </p:txBody>
      </p:sp>
      <p:sp>
        <p:nvSpPr>
          <p:cNvPr id="20" name="Oval 19"/>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更新差: 0.01秒</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8年ぶりの決勝進出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2018年大会</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泉谷駿介選手が決勝進出</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2026年大会・準決勝</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古賀選手がU20アジア新記録で通過</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2026年大会・決勝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泉谷選手以来の決勝進出、銀メダル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2018年大会の泉谷駿介選手以来となる決勝進出だった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準決勝(8月8日)の記録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12秒95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追い風0.3m。U20アジア新記録を樹立した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月刊陸上競技オンライン、TBS NEWS DIG(Yahoo!ニュース経由)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タイムの推移(秒、数値が小さいほど好記録)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記録まとめ表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レース</a:t>
                      </a:r>
                    </a:p>
                  </a:txBody>
                  <a:tcPr>
                    <a:solidFill>
                      <a:srgbClr val="1E2761"/>
                    </a:solidFill>
                  </a:tcPr>
                </a:tc>
                <a:tc>
                  <a:txBody>
                    <a:bodyPr/>
                    <a:lstStyle/>
                    <a:p>
                      <a:pPr>
                        <a:defRPr sz="1300" b="1">
                          <a:solidFill>
                            <a:srgbClr val="FFFFFF"/>
                          </a:solidFill>
                          <a:latin typeface="Yu Gothic"/>
                        </a:defRPr>
                      </a:pPr>
                      <a:r>
                        <a:t>タイム</a:t>
                      </a:r>
                    </a:p>
                  </a:txBody>
                  <a:tcPr>
                    <a:solidFill>
                      <a:srgbClr val="1E2761"/>
                    </a:solidFill>
                  </a:tcPr>
                </a:tc>
                <a:tc>
                  <a:txBody>
                    <a:bodyPr/>
                    <a:lstStyle/>
                    <a:p>
                      <a:pPr>
                        <a:defRPr sz="1300" b="1">
                          <a:solidFill>
                            <a:srgbClr val="FFFFFF"/>
                          </a:solidFill>
                          <a:latin typeface="Yu Gothic"/>
                        </a:defRPr>
                      </a:pPr>
                      <a:r>
                        <a:t>備考</a:t>
                      </a:r>
                    </a:p>
                  </a:txBody>
                  <a:tcPr>
                    <a:solidFill>
                      <a:srgbClr val="1E2761"/>
                    </a:solidFill>
                  </a:tcPr>
                </a:tc>
              </a:tr>
              <a:tr h="502920">
                <a:tc>
                  <a:txBody>
                    <a:bodyPr/>
                    <a:lstStyle/>
                    <a:p>
                      <a:pPr>
                        <a:defRPr sz="1200">
                          <a:solidFill>
                            <a:srgbClr val="1A1A2E"/>
                          </a:solidFill>
                          <a:latin typeface="Yu Gothic"/>
                        </a:defRPr>
                      </a:pPr>
                      <a:r>
                        <a:t>予選</a:t>
                      </a:r>
                    </a:p>
                  </a:txBody>
                  <a:tcPr>
                    <a:solidFill>
                      <a:srgbClr val="FFFFFF"/>
                    </a:solidFill>
                  </a:tcPr>
                </a:tc>
                <a:tc>
                  <a:txBody>
                    <a:bodyPr/>
                    <a:lstStyle/>
                    <a:p>
                      <a:pPr>
                        <a:defRPr sz="1200">
                          <a:solidFill>
                            <a:srgbClr val="1A1A2E"/>
                          </a:solidFill>
                          <a:latin typeface="Yu Gothic"/>
                        </a:defRPr>
                      </a:pPr>
                      <a:r>
                        <a:t>13秒54</a:t>
                      </a:r>
                    </a:p>
                  </a:txBody>
                  <a:tcPr>
                    <a:solidFill>
                      <a:srgbClr val="FFFFFF"/>
                    </a:solidFill>
                  </a:tcPr>
                </a:tc>
                <a:tc>
                  <a:txBody>
                    <a:bodyPr/>
                    <a:lstStyle/>
                    <a:p>
                      <a:pPr>
                        <a:defRPr sz="1200">
                          <a:solidFill>
                            <a:srgbClr val="1A1A2E"/>
                          </a:solidFill>
                          <a:latin typeface="Yu Gothic"/>
                        </a:defRPr>
                      </a:pPr>
                      <a:r>
                        <a:t>日程の詳細は出典で確認できず</a:t>
                      </a:r>
                    </a:p>
                  </a:txBody>
                  <a:tcPr>
                    <a:solidFill>
                      <a:srgbClr val="FFFFFF"/>
                    </a:solidFill>
                  </a:tcPr>
                </a:tc>
              </a:tr>
              <a:tr h="502920">
                <a:tc>
                  <a:txBody>
                    <a:bodyPr/>
                    <a:lstStyle/>
                    <a:p>
                      <a:pPr>
                        <a:defRPr sz="1200">
                          <a:solidFill>
                            <a:srgbClr val="1A1A2E"/>
                          </a:solidFill>
                          <a:latin typeface="Yu Gothic"/>
                        </a:defRPr>
                      </a:pPr>
                      <a:r>
                        <a:t>準決勝</a:t>
                      </a:r>
                    </a:p>
                  </a:txBody>
                  <a:tcPr>
                    <a:solidFill>
                      <a:srgbClr val="F3F6FC"/>
                    </a:solidFill>
                  </a:tcPr>
                </a:tc>
                <a:tc>
                  <a:txBody>
                    <a:bodyPr/>
                    <a:lstStyle/>
                    <a:p>
                      <a:pPr>
                        <a:defRPr sz="1200">
                          <a:solidFill>
                            <a:srgbClr val="1A1A2E"/>
                          </a:solidFill>
                          <a:latin typeface="Yu Gothic"/>
                        </a:defRPr>
                      </a:pPr>
                      <a:r>
                        <a:t>12秒95(追い風0.3m)</a:t>
                      </a:r>
                    </a:p>
                  </a:txBody>
                  <a:tcPr>
                    <a:solidFill>
                      <a:srgbClr val="F3F6FC"/>
                    </a:solidFill>
                  </a:tcPr>
                </a:tc>
                <a:tc>
                  <a:txBody>
                    <a:bodyPr/>
                    <a:lstStyle/>
                    <a:p>
                      <a:pPr>
                        <a:defRPr sz="1200">
                          <a:solidFill>
                            <a:srgbClr val="1A1A2E"/>
                          </a:solidFill>
                          <a:latin typeface="Yu Gothic"/>
                        </a:defRPr>
                      </a:pPr>
                      <a:r>
                        <a:t>2026年8月8日、U20アジア新記録</a:t>
                      </a:r>
                    </a:p>
                  </a:txBody>
                  <a:tcPr>
                    <a:solidFill>
                      <a:srgbClr val="F3F6FC"/>
                    </a:solidFill>
                  </a:tcPr>
                </a:tc>
              </a:tr>
              <a:tr h="502920">
                <a:tc>
                  <a:txBody>
                    <a:bodyPr/>
                    <a:lstStyle/>
                    <a:p>
                      <a:pPr>
                        <a:defRPr sz="1200">
                          <a:solidFill>
                            <a:srgbClr val="1A1A2E"/>
                          </a:solidFill>
                          <a:latin typeface="Yu Gothic"/>
                        </a:defRPr>
                      </a:pPr>
                      <a:r>
                        <a:t>決勝</a:t>
                      </a:r>
                    </a:p>
                  </a:txBody>
                  <a:tcPr>
                    <a:solidFill>
                      <a:srgbClr val="FFFFFF"/>
                    </a:solidFill>
                  </a:tcPr>
                </a:tc>
                <a:tc>
                  <a:txBody>
                    <a:bodyPr/>
                    <a:lstStyle/>
                    <a:p>
                      <a:pPr>
                        <a:defRPr sz="1200">
                          <a:solidFill>
                            <a:srgbClr val="1A1A2E"/>
                          </a:solidFill>
                          <a:latin typeface="Yu Gothic"/>
                        </a:defRPr>
                      </a:pPr>
                      <a:r>
                        <a:t>12秒97</a:t>
                      </a:r>
                    </a:p>
                  </a:txBody>
                  <a:tcPr>
                    <a:solidFill>
                      <a:srgbClr val="FFFFFF"/>
                    </a:solidFill>
                  </a:tcPr>
                </a:tc>
                <a:tc>
                  <a:txBody>
                    <a:bodyPr/>
                    <a:lstStyle/>
                    <a:p>
                      <a:pPr>
                        <a:defRPr sz="1200">
                          <a:solidFill>
                            <a:srgbClr val="1A1A2E"/>
                          </a:solidFill>
                          <a:latin typeface="Yu Gothic"/>
                        </a:defRPr>
                      </a:pPr>
                      <a:r>
                        <a:t>2026年8月9日、銀メダル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決勝(8月9日)の記録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12秒97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銀メダルを獲得した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月刊陸上競技オンライン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アジア新記録の更新差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0.01秒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陳圓将選手(中国)の旧U20アジア記録12秒96を更新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TBS NEWS DIG(Yahoo!ニュース経由)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検証: 複数メディアの一致確認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月刊陸上競技オンライン</a:t>
                      </a:r>
                    </a:p>
                  </a:txBody>
                  <a:tcPr>
                    <a:solidFill>
                      <a:srgbClr val="1E2761"/>
                    </a:solidFill>
                  </a:tcPr>
                </a:tc>
                <a:tc>
                  <a:txBody>
                    <a:bodyPr/>
                    <a:lstStyle/>
                    <a:p>
                      <a:pPr>
                        <a:defRPr sz="1300" b="1">
                          <a:solidFill>
                            <a:srgbClr val="FFFFFF"/>
                          </a:solidFill>
                          <a:latin typeface="Yu Gothic"/>
                        </a:defRPr>
                      </a:pPr>
                      <a:r>
                        <a:t>TBS NEWS DIG(Yahoo!経由)</a:t>
                      </a:r>
                    </a:p>
                  </a:txBody>
                  <a:tcPr>
                    <a:solidFill>
                      <a:srgbClr val="1E2761"/>
                    </a:solidFill>
                  </a:tcPr>
                </a:tc>
              </a:tr>
              <a:tr h="502920">
                <a:tc>
                  <a:txBody>
                    <a:bodyPr/>
                    <a:lstStyle/>
                    <a:p>
                      <a:pPr>
                        <a:defRPr sz="1200">
                          <a:solidFill>
                            <a:srgbClr val="1A1A2E"/>
                          </a:solidFill>
                          <a:latin typeface="Yu Gothic"/>
                        </a:defRPr>
                      </a:pPr>
                      <a:r>
                        <a:t>準決勝タイム12秒95</a:t>
                      </a:r>
                    </a:p>
                  </a:txBody>
                  <a:tcPr>
                    <a:solidFill>
                      <a:srgbClr val="FFFFFF"/>
                    </a:solidFill>
                  </a:tcPr>
                </a:tc>
                <a:tc>
                  <a:txBody>
                    <a:bodyPr/>
                    <a:lstStyle/>
                    <a:p>
                      <a:pPr>
                        <a:defRPr sz="1200">
                          <a:solidFill>
                            <a:srgbClr val="1A1A2E"/>
                          </a:solidFill>
                          <a:latin typeface="Yu Gothic"/>
                        </a:defRPr>
                      </a:pPr>
                      <a:r>
                        <a:t>確認可</a:t>
                      </a:r>
                    </a:p>
                  </a:txBody>
                  <a:tcPr>
                    <a:solidFill>
                      <a:srgbClr val="FFFFFF"/>
                    </a:solidFill>
                  </a:tcPr>
                </a:tc>
                <a:tc>
                  <a:txBody>
                    <a:bodyPr/>
                    <a:lstStyle/>
                    <a:p>
                      <a:pPr>
                        <a:defRPr sz="1200">
                          <a:solidFill>
                            <a:srgbClr val="1A1A2E"/>
                          </a:solidFill>
                          <a:latin typeface="Yu Gothic"/>
                        </a:defRPr>
                      </a:pPr>
                      <a:r>
                        <a:t>確認可</a:t>
                      </a:r>
                    </a:p>
                  </a:txBody>
                  <a:tcPr>
                    <a:solidFill>
                      <a:srgbClr val="FFFFFF"/>
                    </a:solidFill>
                  </a:tcPr>
                </a:tc>
              </a:tr>
              <a:tr h="502920">
                <a:tc>
                  <a:txBody>
                    <a:bodyPr/>
                    <a:lstStyle/>
                    <a:p>
                      <a:pPr>
                        <a:defRPr sz="1200">
                          <a:solidFill>
                            <a:srgbClr val="1A1A2E"/>
                          </a:solidFill>
                          <a:latin typeface="Yu Gothic"/>
                        </a:defRPr>
                      </a:pPr>
                      <a:r>
                        <a:t>U20アジア新記録</a:t>
                      </a:r>
                    </a:p>
                  </a:txBody>
                  <a:tcPr>
                    <a:solidFill>
                      <a:srgbClr val="F3F6FC"/>
                    </a:solidFill>
                  </a:tcPr>
                </a:tc>
                <a:tc>
                  <a:txBody>
                    <a:bodyPr/>
                    <a:lstStyle/>
                    <a:p>
                      <a:pPr>
                        <a:defRPr sz="1200">
                          <a:solidFill>
                            <a:srgbClr val="1A1A2E"/>
                          </a:solidFill>
                          <a:latin typeface="Yu Gothic"/>
                        </a:defRPr>
                      </a:pPr>
                      <a:r>
                        <a:t>確認可</a:t>
                      </a:r>
                    </a:p>
                  </a:txBody>
                  <a:tcPr>
                    <a:solidFill>
                      <a:srgbClr val="F3F6FC"/>
                    </a:solidFill>
                  </a:tcPr>
                </a:tc>
                <a:tc>
                  <a:txBody>
                    <a:bodyPr/>
                    <a:lstStyle/>
                    <a:p>
                      <a:pPr>
                        <a:defRPr sz="1200">
                          <a:solidFill>
                            <a:srgbClr val="1A1A2E"/>
                          </a:solidFill>
                          <a:latin typeface="Yu Gothic"/>
                        </a:defRPr>
                      </a:pPr>
                      <a:r>
                        <a:t>確認可</a:t>
                      </a:r>
                    </a:p>
                  </a:txBody>
                  <a:tcPr>
                    <a:solidFill>
                      <a:srgbClr val="F3F6FC"/>
                    </a:solidFill>
                  </a:tcPr>
                </a:tc>
              </a:tr>
              <a:tr h="502920">
                <a:tc>
                  <a:txBody>
                    <a:bodyPr/>
                    <a:lstStyle/>
                    <a:p>
                      <a:pPr>
                        <a:defRPr sz="1200">
                          <a:solidFill>
                            <a:srgbClr val="1A1A2E"/>
                          </a:solidFill>
                          <a:latin typeface="Yu Gothic"/>
                        </a:defRPr>
                      </a:pPr>
                      <a:r>
                        <a:t>泉谷選手以来の決勝進出</a:t>
                      </a:r>
                    </a:p>
                  </a:txBody>
                  <a:tcPr>
                    <a:solidFill>
                      <a:srgbClr val="FFFFFF"/>
                    </a:solidFill>
                  </a:tcPr>
                </a:tc>
                <a:tc>
                  <a:txBody>
                    <a:bodyPr/>
                    <a:lstStyle/>
                    <a:p>
                      <a:pPr>
                        <a:defRPr sz="1200">
                          <a:solidFill>
                            <a:srgbClr val="1A1A2E"/>
                          </a:solidFill>
                          <a:latin typeface="Yu Gothic"/>
                        </a:defRPr>
                      </a:pPr>
                      <a:r>
                        <a:t>確認可</a:t>
                      </a:r>
                    </a:p>
                  </a:txBody>
                  <a:tcPr>
                    <a:solidFill>
                      <a:srgbClr val="FFFFFF"/>
                    </a:solidFill>
                  </a:tcPr>
                </a:tc>
                <a:tc>
                  <a:txBody>
                    <a:bodyPr/>
                    <a:lstStyle/>
                    <a:p>
                      <a:pPr>
                        <a:defRPr sz="1200">
                          <a:solidFill>
                            <a:srgbClr val="1A1A2E"/>
                          </a:solidFill>
                          <a:latin typeface="Yu Gothic"/>
                        </a:defRPr>
                      </a:pPr>
                      <a:r>
                        <a:t>確認可</a:t>
                      </a:r>
                    </a:p>
                  </a:txBody>
                  <a:tcPr>
                    <a:solidFill>
                      <a:srgbClr val="FFFFFF"/>
                    </a:solidFill>
                  </a:tcPr>
                </a:tc>
              </a:tr>
              <a:tr h="502920">
                <a:tc>
                  <a:txBody>
                    <a:bodyPr/>
                    <a:lstStyle/>
                    <a:p>
                      <a:pPr>
                        <a:defRPr sz="1200">
                          <a:solidFill>
                            <a:srgbClr val="1A1A2E"/>
                          </a:solidFill>
                          <a:latin typeface="Yu Gothic"/>
                        </a:defRPr>
                      </a:pPr>
                      <a:r>
                        <a:t>予選13秒54</a:t>
                      </a:r>
                    </a:p>
                  </a:txBody>
                  <a:tcPr>
                    <a:solidFill>
                      <a:srgbClr val="F3F6FC"/>
                    </a:solidFill>
                  </a:tcPr>
                </a:tc>
                <a:tc>
                  <a:txBody>
                    <a:bodyPr/>
                    <a:lstStyle/>
                    <a:p>
                      <a:pPr>
                        <a:defRPr sz="1200">
                          <a:solidFill>
                            <a:srgbClr val="1A1A2E"/>
                          </a:solidFill>
                          <a:latin typeface="Yu Gothic"/>
                        </a:defRPr>
                      </a:pPr>
                      <a:r>
                        <a:t>確認可</a:t>
                      </a:r>
                    </a:p>
                  </a:txBody>
                  <a:tcPr>
                    <a:solidFill>
                      <a:srgbClr val="F3F6FC"/>
                    </a:solidFill>
                  </a:tcPr>
                </a:tc>
                <a:tc>
                  <a:txBody>
                    <a:bodyPr/>
                    <a:lstStyle/>
                    <a:p>
                      <a:pPr>
                        <a:defRPr sz="1200">
                          <a:solidFill>
                            <a:srgbClr val="1A1A2E"/>
                          </a:solidFill>
                          <a:latin typeface="Yu Gothic"/>
                        </a:defRPr>
                      </a:pPr>
                      <a:r>
                        <a:t>本テーマでは未参照</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推測で埋めず、正直に『不明』として扱います。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古賀選手の今後の大会予定・目標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決勝でのタイム(12秒97)が自己ベストかどうかの明確な確認</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古賀選手本人のコメント・心境</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決勝でのレース展開の詳細</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予選が実施された正確な日付</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これは何を意味するか(日本の陸上界にとって)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8年ぶり</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決勝進出の継続</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2018年の泉谷選手以来、この種目での決勝進出者が出た</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19歳</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若手の台頭</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大学生年代の選手が世界大会の決勝レベルで結果を出した</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これは何を意味するか(同世代・大学生にとって)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現役大学生</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身近な存在</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プロではなく大学に在籍しながらの世界大会での結果</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0.59秒短縮</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予選からの伸び</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予選13秒54から準決勝12秒95まで、大会中に大きく記録を伸ばした</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月刊陸上競技オンライン(タイムの単純な差分計算)</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今後の展開を事実ベースで追う視点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公式記録を確認する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大会・連盟の公式発表で記録を確認する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続報を待つ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今後の大会予定・自己ベスト該当性など未確認情報の続報を待つ</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一次情報源を優先する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本人・所属大学・大会主催者の発表を優先して確認する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政治的中立性についての扱い方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記録の比較は、対立を煽らず事実として扱います。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中国選手(陳圓将選手)が持つ旧記録との比較は、記録という事実のみを淡々と紹介する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国家間の優劣や対立を煽る表現は一切使用しない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特定選手への過度な持ち上げ・貶めは行わない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実在選手名・大学名は事実として扱うが、写真・肖像は使用しない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見送った切り口・センセーショナルにしなかった点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見送り①</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本人の心境の推測</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報道されていない心境・モチベーションを事実のように示唆する表現は使わない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見送り②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自己ベスト断定</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12秒97が自己ベストかどうか確認できないため、断定的な表現を避けた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見送り③</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国家間対立の煽り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中国選手との記録比較を対立構造として演出しない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予選から準決勝への短縮幅(単純計算)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0.59秒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13秒54(予選)−12秒95(準決勝)の差(単純な引き算による計算値)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月刊陸上競技オンライン(2つの確定タイムからの計算)</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検品項目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スライド枚数</a:t>
                      </a:r>
                    </a:p>
                  </a:txBody>
                  <a:tcPr>
                    <a:solidFill>
                      <a:srgbClr val="FFFFFF"/>
                    </a:solidFill>
                  </a:tcPr>
                </a:tc>
                <a:tc>
                  <a:txBody>
                    <a:bodyPr/>
                    <a:lstStyle/>
                    <a:p>
                      <a:pPr>
                        <a:defRPr sz="1200">
                          <a:solidFill>
                            <a:srgbClr val="1A1A2E"/>
                          </a:solidFill>
                          <a:latin typeface="Yu Gothic"/>
                        </a:defRPr>
                      </a:pPr>
                      <a:r>
                        <a:t>30枚(構成と一致)</a:t>
                      </a:r>
                    </a:p>
                  </a:txBody>
                  <a:tcPr>
                    <a:solidFill>
                      <a:srgbClr val="FFFFFF"/>
                    </a:solidFill>
                  </a:tcPr>
                </a:tc>
              </a:tr>
              <a:tr h="502920">
                <a:tc>
                  <a:txBody>
                    <a:bodyPr/>
                    <a:lstStyle/>
                    <a:p>
                      <a:pPr>
                        <a:defRPr sz="1200">
                          <a:solidFill>
                            <a:srgbClr val="1A1A2E"/>
                          </a:solidFill>
                          <a:latin typeface="Yu Gothic"/>
                        </a:defRPr>
                      </a:pPr>
                      <a:r>
                        <a:t>全スライドのノート</a:t>
                      </a:r>
                    </a:p>
                  </a:txBody>
                  <a:tcPr>
                    <a:solidFill>
                      <a:srgbClr val="F3F6FC"/>
                    </a:solidFill>
                  </a:tcPr>
                </a:tc>
                <a:tc>
                  <a:txBody>
                    <a:bodyPr/>
                    <a:lstStyle/>
                    <a:p>
                      <a:pPr>
                        <a:defRPr sz="1200">
                          <a:solidFill>
                            <a:srgbClr val="1A1A2E"/>
                          </a:solidFill>
                          <a:latin typeface="Yu Gothic"/>
                        </a:defRPr>
                      </a:pPr>
                      <a:r>
                        <a:t>全て記載済み</a:t>
                      </a:r>
                    </a:p>
                  </a:txBody>
                  <a:tcPr>
                    <a:solidFill>
                      <a:srgbClr val="F3F6FC"/>
                    </a:solidFill>
                  </a:tcPr>
                </a:tc>
              </a:tr>
              <a:tr h="502920">
                <a:tc>
                  <a:txBody>
                    <a:bodyPr/>
                    <a:lstStyle/>
                    <a:p>
                      <a:pPr>
                        <a:defRPr sz="1200">
                          <a:solidFill>
                            <a:srgbClr val="1A1A2E"/>
                          </a:solidFill>
                          <a:latin typeface="Yu Gothic"/>
                        </a:defRPr>
                      </a:pPr>
                      <a:r>
                        <a:t>bullets比率</a:t>
                      </a:r>
                    </a:p>
                  </a:txBody>
                  <a:tcPr>
                    <a:solidFill>
                      <a:srgbClr val="FFFFFF"/>
                    </a:solidFill>
                  </a:tcPr>
                </a:tc>
                <a:tc>
                  <a:txBody>
                    <a:bodyPr/>
                    <a:lstStyle/>
                    <a:p>
                      <a:pPr>
                        <a:defRPr sz="1200">
                          <a:solidFill>
                            <a:srgbClr val="1A1A2E"/>
                          </a:solidFill>
                          <a:latin typeface="Yu Gothic"/>
                        </a:defRPr>
                      </a:pPr>
                      <a:r>
                        <a:t>40%以下(7/30枚)</a:t>
                      </a:r>
                    </a:p>
                  </a:txBody>
                  <a:tcPr>
                    <a:solidFill>
                      <a:srgbClr val="FFFFFF"/>
                    </a:solidFill>
                  </a:tcPr>
                </a:tc>
              </a:tr>
              <a:tr h="502920">
                <a:tc>
                  <a:txBody>
                    <a:bodyPr/>
                    <a:lstStyle/>
                    <a:p>
                      <a:pPr>
                        <a:defRPr sz="1200">
                          <a:solidFill>
                            <a:srgbClr val="1A1A2E"/>
                          </a:solidFill>
                          <a:latin typeface="Yu Gothic"/>
                        </a:defRPr>
                      </a:pPr>
                      <a:r>
                        <a:t>同一レイアウト4連続</a:t>
                      </a:r>
                    </a:p>
                  </a:txBody>
                  <a:tcPr>
                    <a:solidFill>
                      <a:srgbClr val="F3F6FC"/>
                    </a:solidFill>
                  </a:tcPr>
                </a:tc>
                <a:tc>
                  <a:txBody>
                    <a:bodyPr/>
                    <a:lstStyle/>
                    <a:p>
                      <a:pPr>
                        <a:defRPr sz="1200">
                          <a:solidFill>
                            <a:srgbClr val="1A1A2E"/>
                          </a:solidFill>
                          <a:latin typeface="Yu Gothic"/>
                        </a:defRPr>
                      </a:pPr>
                      <a:r>
                        <a:t>なし</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verify_pptx.py / build_deck.pyの検品ログ</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本テーマで使用した出典です。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月刊陸上競技オンライン「男子110mH若手のホープ古賀ジェレミーが13秒54で準決勝進出」</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月刊陸上競技オンライン「本田桜二郎が3000m銅メダル!! 110mH古賀ジェレミー準決勝でU20日本新！久保凛も決勝進出」</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TBS NEWS DIG(Yahoo!ニュース経由)「驚異のU20アジア新！古賀ジェレミー、男子110mHで12秒95をマークし泉谷駿介以来の決勝進出【U20世界陸上】」</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アジア新記録から、銀メダルまでの2日間。</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19歳の大学生が、準決勝でアジア新記録を樹立し、決勝で銀メダルを獲得した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今後の公式発表・続報を、一次情報源で確認する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AI Company OSでは、引き続き鮮度基準を満たすニュースを取り上げます。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着手日から2日以内の発表・報道を基準に、次のテーマを調査する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スポーツ・AIエージェント・急成長アカウントなど複数ジャンルから選定する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出典のない数字・断定的な推測は今後も使用しない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 月刊陸上競技オンライン、TBS NEWS DIG(Yahoo!ニュース経由)</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続報・公式記録は一次情報源でご確認ください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補足: リスク配慮のポイント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制作にあたって配慮した点です。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数字の創作をせず、出典付きの確定事実のみを使用した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確認できなかったことは推測で埋めず『不明』と明記した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特定選手への過度な持ち上げ・貶めをしない構成にした</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実在選手名・大学名は事実として扱い、写真・肖像は使用していない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補足: なぜこのテーマを取り上げたか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選定理由を最後に共有します。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決勝の発表日(8月9日)を基準に、着手日から2日以内という鮮度基準を満たす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アジア新記録→決勝進出→銀メダルという明確な物語構造がある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19歳の大学生選手という親近感、具体的なタイムという検証可能な数字がある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出典: 月刊陸上競技オンライン、TBS NEWS DIG(Yahoo!ニュース経由)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