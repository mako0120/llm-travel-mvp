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一般家庭約240万世帯分に相当する電力を、Georgia Powerと25年契約で確保。</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主な計画を整理する。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電力供給に関する事実を表で整理する。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冷却方式について図で示す。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地域経済への影響を表で整理する。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他のデータセンター計画との位置づけを紹介する。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賛否両論があることを対比で公平に示す。政治的立場を取らない。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自社データセンターに乗り出す背景について紹介する。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複数情報源での事実確認結果を表で示す。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実際に動向を追う前のチェックリストとして提示する。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3.2ギガワット、25年契約。OpenAIが自社データセンターを建設する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200億ドル規模の「Project Camellia」を米ジョージア州に建設と発表(2026年7月22日)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OpenAI公式ブログ, Georgia Public Broadcasting, TechTimes(2026-07)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承: Project Camelliaの計画を詳しく見る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転: なぜ今このタイミングか、これは何を意味するか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データセンター</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AIの計算処理を行うサーバーを集約して設置する大規模施設</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ギガワット(GW)</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電力の単位。1ギガワットは一般家庭約75万世帯分の電力使用量に相当するとされる規模</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発表企業</a:t>
                      </a:r>
                    </a:p>
                  </a:txBody>
                  <a:tcPr>
                    <a:solidFill>
                      <a:srgbClr val="FFFFFF"/>
                    </a:solidFill>
                  </a:tcPr>
                </a:tc>
                <a:tc>
                  <a:txBody>
                    <a:bodyPr/>
                    <a:lstStyle/>
                    <a:p>
                      <a:pPr>
                        <a:defRPr sz="1200">
                          <a:solidFill>
                            <a:srgbClr val="1C2230"/>
                          </a:solidFill>
                          <a:latin typeface="Yu Gothic"/>
                        </a:defRPr>
                      </a:pPr>
                      <a:r>
                        <a:t>OpenAI</a:t>
                      </a:r>
                    </a:p>
                  </a:txBody>
                  <a:tcPr>
                    <a:solidFill>
                      <a:srgbClr val="FFFFFF"/>
                    </a:solidFill>
                  </a:tcPr>
                </a:tc>
              </a:tr>
              <a:tr h="502920">
                <a:tc>
                  <a:txBody>
                    <a:bodyPr/>
                    <a:lstStyle/>
                    <a:p>
                      <a:pPr>
                        <a:defRPr sz="1200">
                          <a:solidFill>
                            <a:srgbClr val="1C2230"/>
                          </a:solidFill>
                          <a:latin typeface="Yu Gothic"/>
                        </a:defRPr>
                      </a:pPr>
                      <a:r>
                        <a:t>発表日</a:t>
                      </a:r>
                    </a:p>
                  </a:txBody>
                  <a:tcPr>
                    <a:solidFill>
                      <a:srgbClr val="F1F5FA"/>
                    </a:solidFill>
                  </a:tcPr>
                </a:tc>
                <a:tc>
                  <a:txBody>
                    <a:bodyPr/>
                    <a:lstStyle/>
                    <a:p>
                      <a:pPr>
                        <a:defRPr sz="1200">
                          <a:solidFill>
                            <a:srgbClr val="1C2230"/>
                          </a:solidFill>
                          <a:latin typeface="Yu Gothic"/>
                        </a:defRPr>
                      </a:pPr>
                      <a:r>
                        <a:t>2026年7月22日</a:t>
                      </a:r>
                    </a:p>
                  </a:txBody>
                  <a:tcPr>
                    <a:solidFill>
                      <a:srgbClr val="F1F5FA"/>
                    </a:solidFill>
                  </a:tcPr>
                </a:tc>
              </a:tr>
              <a:tr h="502920">
                <a:tc>
                  <a:txBody>
                    <a:bodyPr/>
                    <a:lstStyle/>
                    <a:p>
                      <a:pPr>
                        <a:defRPr sz="1200">
                          <a:solidFill>
                            <a:srgbClr val="1C2230"/>
                          </a:solidFill>
                          <a:latin typeface="Yu Gothic"/>
                        </a:defRPr>
                      </a:pPr>
                      <a:r>
                        <a:t>計画名</a:t>
                      </a:r>
                    </a:p>
                  </a:txBody>
                  <a:tcPr>
                    <a:solidFill>
                      <a:srgbClr val="FFFFFF"/>
                    </a:solidFill>
                  </a:tcPr>
                </a:tc>
                <a:tc>
                  <a:txBody>
                    <a:bodyPr/>
                    <a:lstStyle/>
                    <a:p>
                      <a:pPr>
                        <a:defRPr sz="1200">
                          <a:solidFill>
                            <a:srgbClr val="1C2230"/>
                          </a:solidFill>
                          <a:latin typeface="Yu Gothic"/>
                        </a:defRPr>
                      </a:pPr>
                      <a:r>
                        <a:t>Project Camellia</a:t>
                      </a:r>
                    </a:p>
                  </a:txBody>
                  <a:tcPr>
                    <a:solidFill>
                      <a:srgbClr val="FFFFFF"/>
                    </a:solidFill>
                  </a:tcPr>
                </a:tc>
              </a:tr>
              <a:tr h="502920">
                <a:tc>
                  <a:txBody>
                    <a:bodyPr/>
                    <a:lstStyle/>
                    <a:p>
                      <a:pPr>
                        <a:defRPr sz="1200">
                          <a:solidFill>
                            <a:srgbClr val="1C2230"/>
                          </a:solidFill>
                          <a:latin typeface="Yu Gothic"/>
                        </a:defRPr>
                      </a:pPr>
                      <a:r>
                        <a:t>場所</a:t>
                      </a:r>
                    </a:p>
                  </a:txBody>
                  <a:tcPr>
                    <a:solidFill>
                      <a:srgbClr val="F1F5FA"/>
                    </a:solidFill>
                  </a:tcPr>
                </a:tc>
                <a:tc>
                  <a:txBody>
                    <a:bodyPr/>
                    <a:lstStyle/>
                    <a:p>
                      <a:pPr>
                        <a:defRPr sz="1200">
                          <a:solidFill>
                            <a:srgbClr val="1C2230"/>
                          </a:solidFill>
                          <a:latin typeface="Yu Gothic"/>
                        </a:defRPr>
                      </a:pPr>
                      <a:r>
                        <a:t>米ジョージア州エフィンガム郡(サバンナ近郊)</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OpenAI公式ブログ(2026-07-22)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契約した電力規模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3.2GW</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OpenAI公式発表による(2026年7月22日)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OpenAI公式ブログ(2026-07-22)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Project Camelliaの主な計画</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規模</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約1,400エーカーの敷地に4棟構成のデータセンター</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投資額</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少なくとも200億ドル、フル規模では300億ドル超の見込み</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自社設計・建設</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OpenAIが自社で設計・建設する初めてのデータセンター</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OpenAI公式ブログ(2026-07-22)</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電力供給の内訳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契約先</a:t>
                      </a:r>
                    </a:p>
                  </a:txBody>
                  <a:tcPr>
                    <a:solidFill>
                      <a:srgbClr val="FFFFFF"/>
                    </a:solidFill>
                  </a:tcPr>
                </a:tc>
                <a:tc>
                  <a:txBody>
                    <a:bodyPr/>
                    <a:lstStyle/>
                    <a:p>
                      <a:pPr>
                        <a:defRPr sz="1200">
                          <a:solidFill>
                            <a:srgbClr val="1C2230"/>
                          </a:solidFill>
                          <a:latin typeface="Yu Gothic"/>
                        </a:defRPr>
                      </a:pPr>
                      <a:r>
                        <a:t>Georgia Power</a:t>
                      </a:r>
                    </a:p>
                  </a:txBody>
                  <a:tcPr>
                    <a:solidFill>
                      <a:srgbClr val="FFFFFF"/>
                    </a:solidFill>
                  </a:tcPr>
                </a:tc>
              </a:tr>
              <a:tr h="502920">
                <a:tc>
                  <a:txBody>
                    <a:bodyPr/>
                    <a:lstStyle/>
                    <a:p>
                      <a:pPr>
                        <a:defRPr sz="1200">
                          <a:solidFill>
                            <a:srgbClr val="1C2230"/>
                          </a:solidFill>
                          <a:latin typeface="Yu Gothic"/>
                        </a:defRPr>
                      </a:pPr>
                      <a:r>
                        <a:t>契約期間</a:t>
                      </a:r>
                    </a:p>
                  </a:txBody>
                  <a:tcPr>
                    <a:solidFill>
                      <a:srgbClr val="F1F5FA"/>
                    </a:solidFill>
                  </a:tcPr>
                </a:tc>
                <a:tc>
                  <a:txBody>
                    <a:bodyPr/>
                    <a:lstStyle/>
                    <a:p>
                      <a:pPr>
                        <a:defRPr sz="1200">
                          <a:solidFill>
                            <a:srgbClr val="1C2230"/>
                          </a:solidFill>
                          <a:latin typeface="Yu Gothic"/>
                        </a:defRPr>
                      </a:pPr>
                      <a:r>
                        <a:t>25年間</a:t>
                      </a:r>
                    </a:p>
                  </a:txBody>
                  <a:tcPr>
                    <a:solidFill>
                      <a:srgbClr val="F1F5FA"/>
                    </a:solidFill>
                  </a:tcPr>
                </a:tc>
              </a:tr>
              <a:tr h="502920">
                <a:tc>
                  <a:txBody>
                    <a:bodyPr/>
                    <a:lstStyle/>
                    <a:p>
                      <a:pPr>
                        <a:defRPr sz="1200">
                          <a:solidFill>
                            <a:srgbClr val="1C2230"/>
                          </a:solidFill>
                          <a:latin typeface="Yu Gothic"/>
                        </a:defRPr>
                      </a:pPr>
                      <a:r>
                        <a:t>電力規模</a:t>
                      </a:r>
                    </a:p>
                  </a:txBody>
                  <a:tcPr>
                    <a:solidFill>
                      <a:srgbClr val="FFFFFF"/>
                    </a:solidFill>
                  </a:tcPr>
                </a:tc>
                <a:tc>
                  <a:txBody>
                    <a:bodyPr/>
                    <a:lstStyle/>
                    <a:p>
                      <a:pPr>
                        <a:defRPr sz="1200">
                          <a:solidFill>
                            <a:srgbClr val="1C2230"/>
                          </a:solidFill>
                          <a:latin typeface="Yu Gothic"/>
                        </a:defRPr>
                      </a:pPr>
                      <a:r>
                        <a:t>3.2ギガワット(一般家庭約240万世帯分に相当)</a:t>
                      </a:r>
                    </a:p>
                  </a:txBody>
                  <a:tcPr>
                    <a:solidFill>
                      <a:srgbClr val="FFFFFF"/>
                    </a:solidFill>
                  </a:tcPr>
                </a:tc>
              </a:tr>
              <a:tr h="502920">
                <a:tc>
                  <a:txBody>
                    <a:bodyPr/>
                    <a:lstStyle/>
                    <a:p>
                      <a:pPr>
                        <a:defRPr sz="1200">
                          <a:solidFill>
                            <a:srgbClr val="1C2230"/>
                          </a:solidFill>
                          <a:latin typeface="Yu Gothic"/>
                        </a:defRPr>
                      </a:pPr>
                      <a:r>
                        <a:t>供給時期</a:t>
                      </a:r>
                    </a:p>
                  </a:txBody>
                  <a:tcPr>
                    <a:solidFill>
                      <a:srgbClr val="F1F5FA"/>
                    </a:solidFill>
                  </a:tcPr>
                </a:tc>
                <a:tc>
                  <a:txBody>
                    <a:bodyPr/>
                    <a:lstStyle/>
                    <a:p>
                      <a:pPr>
                        <a:defRPr sz="1200">
                          <a:solidFill>
                            <a:srgbClr val="1C2230"/>
                          </a:solidFill>
                          <a:latin typeface="Yu Gothic"/>
                        </a:defRPr>
                      </a:pPr>
                      <a:r>
                        <a:t>2028年から2032年にかけて段階的に供給</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TechTimes(2026-07-24)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冷却の仕組み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従来方式(参考)</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蒸発冷却方式は周辺の水資源を多く使う場合がある</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Project Camelliaの方式</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クローズドループ方式の水冷システムを採用</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狙い</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周辺地域からの水の転用・水温上昇を避ける設計とされる</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OpenAI公式ブログ(2026-07-22)</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地域への影響(経済面)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固定資産税減免</a:t>
                      </a:r>
                    </a:p>
                  </a:txBody>
                  <a:tcPr>
                    <a:solidFill>
                      <a:srgbClr val="FFFFFF"/>
                    </a:solidFill>
                  </a:tcPr>
                </a:tc>
                <a:tc>
                  <a:txBody>
                    <a:bodyPr/>
                    <a:lstStyle/>
                    <a:p>
                      <a:pPr>
                        <a:defRPr sz="1200">
                          <a:solidFill>
                            <a:srgbClr val="1C2230"/>
                          </a:solidFill>
                          <a:latin typeface="Yu Gothic"/>
                        </a:defRPr>
                      </a:pPr>
                      <a:r>
                        <a:t>エフィンガム郡が15年間・50%の減免を承認</a:t>
                      </a:r>
                    </a:p>
                  </a:txBody>
                  <a:tcPr>
                    <a:solidFill>
                      <a:srgbClr val="FFFFFF"/>
                    </a:solidFill>
                  </a:tcPr>
                </a:tc>
              </a:tr>
              <a:tr h="502920">
                <a:tc>
                  <a:txBody>
                    <a:bodyPr/>
                    <a:lstStyle/>
                    <a:p>
                      <a:pPr>
                        <a:defRPr sz="1200">
                          <a:solidFill>
                            <a:srgbClr val="1C2230"/>
                          </a:solidFill>
                          <a:latin typeface="Yu Gothic"/>
                        </a:defRPr>
                      </a:pPr>
                      <a:r>
                        <a:t>納税者としての規模</a:t>
                      </a:r>
                    </a:p>
                  </a:txBody>
                  <a:tcPr>
                    <a:solidFill>
                      <a:srgbClr val="F1F5FA"/>
                    </a:solidFill>
                  </a:tcPr>
                </a:tc>
                <a:tc>
                  <a:txBody>
                    <a:bodyPr/>
                    <a:lstStyle/>
                    <a:p>
                      <a:pPr>
                        <a:defRPr sz="1200">
                          <a:solidFill>
                            <a:srgbClr val="1C2230"/>
                          </a:solidFill>
                          <a:latin typeface="Yu Gothic"/>
                        </a:defRPr>
                      </a:pPr>
                      <a:r>
                        <a:t>減免後もOpenAIが同郡最大の納税者になる見込み</a:t>
                      </a:r>
                    </a:p>
                  </a:txBody>
                  <a:tcPr>
                    <a:solidFill>
                      <a:srgbClr val="F1F5FA"/>
                    </a:solidFill>
                  </a:tcPr>
                </a:tc>
              </a:tr>
              <a:tr h="502920">
                <a:tc>
                  <a:txBody>
                    <a:bodyPr/>
                    <a:lstStyle/>
                    <a:p>
                      <a:pPr>
                        <a:defRPr sz="1200">
                          <a:solidFill>
                            <a:srgbClr val="1C2230"/>
                          </a:solidFill>
                          <a:latin typeface="Yu Gothic"/>
                        </a:defRPr>
                      </a:pPr>
                      <a:r>
                        <a:t>地域施策への活用</a:t>
                      </a:r>
                    </a:p>
                  </a:txBody>
                  <a:tcPr>
                    <a:solidFill>
                      <a:srgbClr val="FFFFFF"/>
                    </a:solidFill>
                  </a:tcPr>
                </a:tc>
                <a:tc>
                  <a:txBody>
                    <a:bodyPr/>
                    <a:lstStyle/>
                    <a:p>
                      <a:pPr>
                        <a:defRPr sz="1200">
                          <a:solidFill>
                            <a:srgbClr val="1C2230"/>
                          </a:solidFill>
                          <a:latin typeface="Yu Gothic"/>
                        </a:defRPr>
                      </a:pPr>
                      <a:r>
                        <a:t>郡の施策「Project Zero」(住宅所有者の固定資産税率を早ければ来年40%引き下げ)の原資になり得るとされる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OpenAIの他のデータセンター計画(参考)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複数プロジェクトが進行中</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OpenAIは米国内でOracle・Crusoe・Related Digital等のパートナーとも複数のデータセンター計画を進めているとされる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Project Camelliaの位置づけ</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その中でOpenAIが自社で設計・建設する初めてのプロジェクトとされる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TechTimes(2026-07-24)</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この計画をめぐる二つの見方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経済的なメリットとされる点</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地域最大の納税者になる見込み</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固定資産税率引き下げの原資になり得るとされる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懸念とされる点</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住民への説明・公聴を経ずに契約が交渉されたと報じられている</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地域住民から懸念・反発の声が上がっているとされる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なぜ自社データセンターに乗り出すのか(参考)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計算資源の確保</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生成AIサービスの需要拡大に伴い、計算資源を自社主導でも確保する狙いがあると考えられる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位置づけ</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パートナー企業への依存だけでなく、自社設計・建設という選択肢を持つ動きの一つ</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参考: なぜ今このタイミングか(推測)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AI需要の拡大</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生成AIサービスの利用拡大に伴う計算資源不足への対応と考えられる(推測)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地域との関係構築</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地域経済への貢献策を同時に示すことで理解を得たい狙いがあると考えられる(推測)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出典の確認結果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発表日</a:t>
                      </a:r>
                    </a:p>
                  </a:txBody>
                  <a:tcPr>
                    <a:solidFill>
                      <a:srgbClr val="FFFFFF"/>
                    </a:solidFill>
                  </a:tcPr>
                </a:tc>
                <a:tc>
                  <a:txBody>
                    <a:bodyPr/>
                    <a:lstStyle/>
                    <a:p>
                      <a:pPr>
                        <a:defRPr sz="1200">
                          <a:solidFill>
                            <a:srgbClr val="1C2230"/>
                          </a:solidFill>
                          <a:latin typeface="Yu Gothic"/>
                        </a:defRPr>
                      </a:pPr>
                      <a:r>
                        <a:t>複数情報源で2026年7月22日と一致</a:t>
                      </a:r>
                    </a:p>
                  </a:txBody>
                  <a:tcPr>
                    <a:solidFill>
                      <a:srgbClr val="FFFFFF"/>
                    </a:solidFill>
                  </a:tcPr>
                </a:tc>
              </a:tr>
              <a:tr h="502920">
                <a:tc>
                  <a:txBody>
                    <a:bodyPr/>
                    <a:lstStyle/>
                    <a:p>
                      <a:pPr>
                        <a:defRPr sz="1200">
                          <a:solidFill>
                            <a:srgbClr val="1C2230"/>
                          </a:solidFill>
                          <a:latin typeface="Yu Gothic"/>
                        </a:defRPr>
                      </a:pPr>
                      <a:r>
                        <a:t>投資額・電力規模</a:t>
                      </a:r>
                    </a:p>
                  </a:txBody>
                  <a:tcPr>
                    <a:solidFill>
                      <a:srgbClr val="F1F5FA"/>
                    </a:solidFill>
                  </a:tcPr>
                </a:tc>
                <a:tc>
                  <a:txBody>
                    <a:bodyPr/>
                    <a:lstStyle/>
                    <a:p>
                      <a:pPr>
                        <a:defRPr sz="1200">
                          <a:solidFill>
                            <a:srgbClr val="1C2230"/>
                          </a:solidFill>
                          <a:latin typeface="Yu Gothic"/>
                        </a:defRPr>
                      </a:pPr>
                      <a:r>
                        <a:t>OpenAI公式発表と複数メディアで確認</a:t>
                      </a:r>
                    </a:p>
                  </a:txBody>
                  <a:tcPr>
                    <a:solidFill>
                      <a:srgbClr val="F1F5FA"/>
                    </a:solidFill>
                  </a:tcPr>
                </a:tc>
              </a:tr>
              <a:tr h="502920">
                <a:tc>
                  <a:txBody>
                    <a:bodyPr/>
                    <a:lstStyle/>
                    <a:p>
                      <a:pPr>
                        <a:defRPr sz="1200">
                          <a:solidFill>
                            <a:srgbClr val="1C2230"/>
                          </a:solidFill>
                          <a:latin typeface="Yu Gothic"/>
                        </a:defRPr>
                      </a:pPr>
                      <a:r>
                        <a:t>住民の懸念に関する報道</a:t>
                      </a:r>
                    </a:p>
                  </a:txBody>
                  <a:tcPr>
                    <a:solidFill>
                      <a:srgbClr val="FFFFFF"/>
                    </a:solidFill>
                  </a:tcPr>
                </a:tc>
                <a:tc>
                  <a:txBody>
                    <a:bodyPr/>
                    <a:lstStyle/>
                    <a:p>
                      <a:pPr>
                        <a:defRPr sz="1200">
                          <a:solidFill>
                            <a:srgbClr val="1C2230"/>
                          </a:solidFill>
                          <a:latin typeface="Yu Gothic"/>
                        </a:defRPr>
                      </a:pPr>
                      <a:r>
                        <a:t>TechTimes等で確認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こんな人におすすめ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AIインフラに関心がある人</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生成AIを支える計算資源の動向を知りたい人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地域経済・エネルギー政策に関心がある人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大規模投資が地域に与える影響を知りたい人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よくある疑問(Q&amp;A)</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いつ稼働する?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電力供給は2028年から2032年にかけて段階的に行われる予定</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住民の声は?</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説明・公聴を経ずに交渉されたとの報道があり、懸念の声も上がっているとされる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フル規模で300億ドルを超えるとされる投資の具体的な内訳・確定時期は確認できなかった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住民説明・公聴のプロセスの詳細な経緯までは確認できなかった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見送った候補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Klon AI(AI肖像生成)</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AI生成人物画像に近いリスク領域のため慎重に見送り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Microsoft 2026年設備投資$190B</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決算関連の数字で具体的な製品発表ではないため見送り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これが意味すること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AIインフラ投資の巨大化</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単一プロジェクトで200億ドルを超える規模</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電力需要への影響</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ギガワット単位の電力契約が地域のエネルギー政策にも影響</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地域との合意形成の重要性</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経済的メリットと住民の懸念のバランスが課題になり得る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これは何を意味するのか(社会にとって)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AIサービスの裏側には、巨大なインフラ投資と電力需要があることが見える事例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大規模投資による経済的メリットと、住民合意のプロセスは別々に検証する必要がある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動向を追うなら確認したいこと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進捗の確認</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着工・稼働時期の更新情報を確認する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地域の反応</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住民・自治体の反応に関する続報を確認する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他プロジェクトとの比較</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OpenAIの他のデータセンター計画とも比較する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動向を追う場合の進め方(目安)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①公式発表を確認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OpenAI公式ブログの続報を確認する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②地域メディアを確認</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ジョージア州の地域メディアの報道を確認する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③一次情報で裏取り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気になる数字は一次情報(公式発表・自治体発表)で確認する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個人にとっての影響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AIサービスの利用が広がるほど、裏側の電力・インフラ需要も拡大していく</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大規模投資のニュースは、経済的側面と社会的側面の両方から見ることが大切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不明点・注意点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フル規模での投資額の具体的な内訳・確定時期は公開情報からは確認できなかった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住民説明・公聴のプロセスの詳細な経緯までは確認できなかった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リスク配慮のポイント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企業の設備投資という事実を淡々と紹介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両論を公平に扱う</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経済的メリットと住民の懸念の両方を事実として提示し、一方に肩入れしない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検品結果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verify_pptx.py</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同一レイアウト連続チェック</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r h="502920">
                <a:tc>
                  <a:txBody>
                    <a:bodyPr/>
                    <a:lstStyle/>
                    <a:p>
                      <a:pPr>
                        <a:defRPr sz="1200">
                          <a:solidFill>
                            <a:srgbClr val="1C2230"/>
                          </a:solidFill>
                          <a:latin typeface="Yu Gothic"/>
                        </a:defRPr>
                      </a:pPr>
                      <a:r>
                        <a:t>bullets比率チェック</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対話原稿スライド数整合性</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OpenAI公式ブログ / Georgia Public Broadcasting</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CBS News Atlanta / Data Center Dynamics / TechTimes</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AIサービスの裏側には、巨大なインフラ投資がある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200億ドル規模のデータセンター建設が、経済的メリットと住民の懸念という両面を伴って進む</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興味があれば、公式発表や地域メディアの続報を確認してみる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次回予告</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AIインフラ投資・データセンター建設の動向は今後も続くテーマ</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定期実行35本目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