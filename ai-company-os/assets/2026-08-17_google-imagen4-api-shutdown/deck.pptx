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Googleの画像生成API、Imagen 4が、本日2026年8月17日をもって終了しました。generate_images()というメソッドを使っていたコードは、今日から警告ではなくエラーで止まります。今日はこの終了を、出典付きで正直に整理していきます。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結論から確認します。Imagen 4の3つのGAモデルIDが、本日2026年8月17日にシャットダウンしました。generate_images()というメソッド自体が廃止され、テキスト生成と同じgenerate_content()を使う方式に統一されます。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この動画では、終了する具体的な3つのモデルID、generate_images()からgenerate_content()への技術的な変更点、そして移行先として案内されているモデルの違いを、出典付きで整理してお伝えします。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シャットダウン日が本日という、まさに今日起きている出来事です。既存コードは警告ではなくエラーで止まるため、実際に開発しているエンジニアに直結します。Google公式ドキュメントという一次情報で確認できる点も裏付けの強さ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時系列を確認します。2026年6月15日、Googleが3つのGAモデルIDの非推奨化を発表しました。それから約2ヶ月間、開発者には移行のための猶予期間が与えられ、本日8月17日に実際のシャットダウンが実施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今日は6つの流れでお伝えします。テーマを扱う理由、発表日とシャットダウン日の違い、非推奨化とImagen 4の基礎知識、終了する3モデルと技術的な変更点、移行先モデルの選び方、そしてこれで何が変わるか・確認できていないことまで、出典付きで整理します。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情報源です。Google公式のドキュメントとFirebase公式の移行ガイドという一次情報に加え、開発者向けメディアのkingy.aiとbyteiota.comでも同じ内容が確認できます。一次情報と報道が一致している点が、今回の裏付けの強さ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非推奨化からシャットダウンまでの流れを図にしました。まず発表があり、次に移行期間があり、最後にシャットダウンが実施されます。発表日と終了日は別の日であるという点を、この後さらに詳しく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に入る前に、用語を確認します。非推奨化は、将来使えなくなることを事前に予告する段階で、この時点ではまだAPIは動いています。シャットダウンは、実際にAPIが使えなくなる時点です。この2つの日付は別物であり、混同すると移行のタイミングを見誤り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もう一つ、対象の技術についても確認します。Imagen 4はGoogleが提供していた画像生成モデルのGA版で、generate_images()はそれを呼び出すための専用メソッドでした。今回、この専用メソッドごと廃止され、テキスト生成と同じ呼び出し方に統一されます。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が本テーマ最重要のポイントです。非推奨化の発表は2026年6月15日で、この時点ではまだAPIは動いていました。実際にAPIが使えなくなるシャットダウンの日が、本日2026年8月17日です。本テーマは発表日ではなく、この本日という事実を根拠に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本日終了する3つのモデルIDです。標準モデルのimagen-4.0-generate-001、高品質版のimagen-4.0-ultra-generate-001、高速版のimagen-4.0-fast-generate-001の3つが対象です。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数字で確認します。本日終了するのは3つのモデルIDです。標準・Ultra・Fastのいずれも、例外なく本日シャットダウンされます。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技術的な変更点をカードでまとめました。generate_images()メソッドが廃止され、generate_content()に一本化されます。ImagenGenerationConfigはGenerationConfigへ置き換え、必要に応じてImageConfigを併用します。number_of_imagesを使っていたコードは監査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旧APIと新APIを比較します。旧APIはgenerate_images()とImagenGenerationConfigを使うImagen 4専用の方式でした。新APIはgenerate_content()とGenerationConfigを使う、テキスト生成と共通の方式に統一されます。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移行先モデルの案内です。長期的に安定した推奨移行先はgemini-3.1-flash-imageです。一部のドキュメントでは暫定的な移行先としてgemini-2.5-flash-imageも案内されていますが、こちらは将来的に非推奨となる予定がすでに示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推奨される長期的な移行先は、gemini-3.1-flash-imageです。Google公式ドキュメントで、安定した移行先として案内されています。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移行先が2つ案内されている理由を整理します。一部のドキュメントは暫定的な移行先としてgemini-2.5-flash-imageを案内していますが、このモデル自体も将来的に非推奨予定です。長期的に安定した移行先はgemini-3.1-flash-image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移行の流れを図にしました。generate_images()を呼んでいた旧コードを、generate_content()とGenerationConfigへ書き換え、あわせて呼び出し先モデルもgemini-3.1-flash-imageへ変更します。3つの変更点をまとめて対応する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開発者にとって何を意味するかを整理します。generate_images()を呼び続けているコードは、本日から警告ではなくエラーで停止します。number_of_imagesなど旧APIに固有だったパラメータの使用箇所も監査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企業のAI導入担当者にとっての意味も整理します。自社サービスがImagen 4のAPIに依存していないか、本日時点で確認が必要です。移行が完了していない場合、画像生成機能が本日から停止している可能性があります。特定のモデル・提供元を推奨する意図はありません。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移行チェックリストを整理しました。generate_images()の呼び出し箇所を洗い出し、GenerationConfigへ置き換え、number_of_images等のパラメータを見直し、移行先モデルへ変更して動作を確認する、という4ステップで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移行済みの場合と未対応の場合を比較します。移行が完了していれば、本日以降も画像生成機能は動作します。未対応であれば、本日からエラーが発生し、画像生成機能が止まる可能性があります。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一覧にしました。移行が実際に間に合わなかった具体的な事例、追加の猶予措置の有無、移行先モデルの料金・性能が旧モデルと完全に同等かどうかは、いずれも本調査の範囲では確認できておらず、推測で埋めずに不明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一度立ち止まります。本テーマはAPI仕様変更に関する事実紹介であり、Google・Geminiという企業や製品への評価・優劣の論評は行いません。移行が間に合わなかった具体的な企業名・サービス名も、確認できていないため一切挙げ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出典の優先順位を整理しました。Google公式ドキュメントとFirebase公式の移行ガイドが一次情報で、kingy.aiとbyteiota.comは開発者向けメディアによる解説として位置づけています。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しておきたい注意点です。非推奨化の発表時点でまだAPIが動いていたことと、今日から動かなくなることは別の意味です。gemini-2.5-flash-imageへ移行しても、それ自体がいずれ非推奨になる予定がある点にも注意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の見通しについて触れますが、あくまで推測であり断定ではありません。Googleが今後も同様の非推奨化サイクルを繰り返す可能性、gemini-2.5-flash-imageも将来終了する可能性はありますが、次に何が対象になるかは判断材料がなく不明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本編は以上です。今回はGoogleがImagen 4の3つのGAモデルIDを本日終了し、generate_images()が使えなくなったというニュースについてお伝えしました。確認できた事実と、確認できなかったことの両方を、出典付きで正直に整理しました。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Imagen 4 API、</a:t>
            </a:r>
          </a:p>
          <a:p>
            <a:pPr algn="l">
              <a:lnSpc>
                <a:spcPct val="115000"/>
              </a:lnSpc>
            </a:pPr>
            <a:r>
              <a:rPr sz="4200" b="1">
                <a:solidFill>
                  <a:srgbClr val="FFFFFF"/>
                </a:solidFill>
                <a:latin typeface="Yu Gothic"/>
              </a:rPr>
              <a:t>本日終了。</a:t>
            </a:r>
          </a:p>
          <a:p>
            <a:pPr algn="l">
              <a:lnSpc>
                <a:spcPct val="115000"/>
              </a:lnSpc>
            </a:pPr>
            <a:r>
              <a:rPr sz="4200" b="1">
                <a:solidFill>
                  <a:srgbClr val="FFFFFF"/>
                </a:solidFill>
                <a:latin typeface="Yu Gothic"/>
              </a:rPr>
              <a:t>generate_images()は</a:t>
            </a:r>
          </a:p>
          <a:p>
            <a:pPr algn="l">
              <a:lnSpc>
                <a:spcPct val="115000"/>
              </a:lnSpc>
            </a:pPr>
            <a:r>
              <a:rPr sz="4200" b="1">
                <a:solidFill>
                  <a:srgbClr val="FFFFFF"/>
                </a:solidFill>
                <a:latin typeface="Yu Gothic"/>
              </a:rPr>
              <a:t>もう動かない。</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F5D9A8"/>
                </a:solidFill>
                <a:latin typeface="Yu Gothic"/>
              </a:rPr>
              <a:t>Googleが2026年6月15日に予告した終了が、本日2026年8月17日に実施される――出典付きで正直に整理する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D9A857"/>
                </a:solidFill>
                <a:latin typeface="Yu Gothic"/>
              </a:rPr>
              <a:t>出典: Google公式ドキュメント「Gemini API Deprecations」(ai.google.dev/gemini-api/docs/deprecations)・Firebase AI Logic移行ガイド(firebase.google.com/docs/ai-logic/imagen-models-migration)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本日終了</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Imagen 4の3つのGAモデルID(標準・Ultra・Fast)が2026年8月17日(本日)にシャットダウン。generate_images()メソッドは廃止され、代わりにgenerate_content()を使う</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Google公式ドキュメント(ai.google.dev/gemini-api/docs/deprecations)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この動画で得られること</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今日お伝えする内容です。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終了するのは具体的にどの3つのモデルIDか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generate_images()からgenerate_content()へ、何がどう変わるのか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移行先として案内されているモデル(gemini-3.1-flash-image等)の違い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Google公式ドキュメント(ai.google.dev/gemini-api/docs/deprecations)・Firebase AI Logic移行ガイド｜2026-08-17終了(発表は2026-06-15)</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シャットダウン日が本日2026年8月17日という、まさに今日の出来事である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既存コードは警告ではなくエラーで止まる、実務に直結する変更である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Google公式ドキュメントという一次情報で確認できる内容である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Google公式ドキュメント(ai.google.dev/gemini-api/docs/deprecations)・Firebase AI Logic移行ガイド｜2026-08-17終了(発表は2026-06-15)</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時系列で見る、Imagen 4終了までの流れ</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2026年6月15日</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Googleが、Imagen 4の3つのGAモデルIDの非推奨化を発表</a:t>
            </a:r>
          </a:p>
        </p:txBody>
      </p:sp>
      <p:sp>
        <p:nvSpPr>
          <p:cNvPr id="11" name="Chevron 10"/>
          <p:cNvSpPr/>
          <p:nvPr/>
        </p:nvSpPr>
        <p:spPr>
          <a:xfrm>
            <a:off x="4038295"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発表〜終了までの約2ヶ月間</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開発者に移行が呼びかけられる猶予期間</a:t>
            </a:r>
          </a:p>
        </p:txBody>
      </p:sp>
      <p:sp>
        <p:nvSpPr>
          <p:cNvPr id="17" name="Chevron 16"/>
          <p:cNvSpPr/>
          <p:nvPr/>
        </p:nvSpPr>
        <p:spPr>
          <a:xfrm>
            <a:off x="7919313"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2026年8月17日(本日)</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3モデルが実際にシャットダウン。generate_images()は使えなくなる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Google公式ドキュメント(ai.google.dev/gemini-api/docs/deprecations)・Firebase AI Logic移行ガイド｜2026-08-17終了(発表は2026-06-15)</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F5D9A8"/>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F5D9A8"/>
                </a:solidFill>
                <a:latin typeface="Yu Gothic"/>
              </a:rPr>
              <a:t>非推奨化とシャットダウンの違い(日付の整理)</a:t>
            </a:r>
          </a:p>
        </p:txBody>
      </p:sp>
      <p:sp>
        <p:nvSpPr>
          <p:cNvPr id="9" name="Oval 8"/>
          <p:cNvSpPr/>
          <p:nvPr/>
        </p:nvSpPr>
        <p:spPr>
          <a:xfrm>
            <a:off x="548640" y="347472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F5D9A8"/>
                </a:solidFill>
                <a:latin typeface="Yu Gothic"/>
              </a:rPr>
              <a:t>API非推奨化・Imagen 4の基礎知識</a:t>
            </a:r>
          </a:p>
        </p:txBody>
      </p:sp>
      <p:sp>
        <p:nvSpPr>
          <p:cNvPr id="11" name="Oval 10"/>
          <p:cNvSpPr/>
          <p:nvPr/>
        </p:nvSpPr>
        <p:spPr>
          <a:xfrm>
            <a:off x="548640" y="425196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F5D9A8"/>
                </a:solidFill>
                <a:latin typeface="Yu Gothic"/>
              </a:rPr>
              <a:t>終了する3モデルと技術的な変更点</a:t>
            </a:r>
          </a:p>
        </p:txBody>
      </p:sp>
      <p:sp>
        <p:nvSpPr>
          <p:cNvPr id="13" name="Oval 12"/>
          <p:cNvSpPr/>
          <p:nvPr/>
        </p:nvSpPr>
        <p:spPr>
          <a:xfrm>
            <a:off x="548640" y="502920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F5D9A8"/>
                </a:solidFill>
                <a:latin typeface="Yu Gothic"/>
              </a:rPr>
              <a:t>移行先モデルの選び方</a:t>
            </a:r>
          </a:p>
        </p:txBody>
      </p:sp>
      <p:sp>
        <p:nvSpPr>
          <p:cNvPr id="15" name="Oval 14"/>
          <p:cNvSpPr/>
          <p:nvPr/>
        </p:nvSpPr>
        <p:spPr>
          <a:xfrm>
            <a:off x="548640" y="580644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F5D9A8"/>
                </a:solidFill>
                <a:latin typeface="Yu Gothic"/>
              </a:rPr>
              <a:t>これで何が変わるか・確認できていないこと</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情報源一覧(複数媒体で一致)</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情報源</a:t>
                      </a:r>
                    </a:p>
                  </a:txBody>
                  <a:tcPr>
                    <a:solidFill>
                      <a:srgbClr val="3A4750"/>
                    </a:solidFill>
                  </a:tcPr>
                </a:tc>
                <a:tc>
                  <a:txBody>
                    <a:bodyPr/>
                    <a:lstStyle/>
                    <a:p>
                      <a:pPr>
                        <a:defRPr sz="1300" b="1">
                          <a:solidFill>
                            <a:srgbClr val="FFFFFF"/>
                          </a:solidFill>
                          <a:latin typeface="Yu Gothic"/>
                        </a:defRPr>
                      </a:pPr>
                      <a:r>
                        <a:t>内容</a:t>
                      </a:r>
                    </a:p>
                  </a:txBody>
                  <a:tcPr>
                    <a:solidFill>
                      <a:srgbClr val="3A4750"/>
                    </a:solidFill>
                  </a:tcPr>
                </a:tc>
              </a:tr>
              <a:tr h="502920">
                <a:tc>
                  <a:txBody>
                    <a:bodyPr/>
                    <a:lstStyle/>
                    <a:p>
                      <a:pPr>
                        <a:defRPr sz="1200">
                          <a:solidFill>
                            <a:srgbClr val="1E2124"/>
                          </a:solidFill>
                          <a:latin typeface="Yu Gothic"/>
                        </a:defRPr>
                      </a:pPr>
                      <a:r>
                        <a:t>Google公式ドキュメント(ai.google.dev)</a:t>
                      </a:r>
                    </a:p>
                  </a:txBody>
                  <a:tcPr>
                    <a:solidFill>
                      <a:srgbClr val="FFFFFF"/>
                    </a:solidFill>
                  </a:tcPr>
                </a:tc>
                <a:tc>
                  <a:txBody>
                    <a:bodyPr/>
                    <a:lstStyle/>
                    <a:p>
                      <a:pPr>
                        <a:defRPr sz="1200">
                          <a:solidFill>
                            <a:srgbClr val="1E2124"/>
                          </a:solidFill>
                          <a:latin typeface="Yu Gothic"/>
                        </a:defRPr>
                      </a:pPr>
                      <a:r>
                        <a:t>Gemini API Deprecationsページで非推奨化・終了日を記載</a:t>
                      </a:r>
                    </a:p>
                  </a:txBody>
                  <a:tcPr>
                    <a:solidFill>
                      <a:srgbClr val="FFFFFF"/>
                    </a:solidFill>
                  </a:tcPr>
                </a:tc>
              </a:tr>
              <a:tr h="502920">
                <a:tc>
                  <a:txBody>
                    <a:bodyPr/>
                    <a:lstStyle/>
                    <a:p>
                      <a:pPr>
                        <a:defRPr sz="1200">
                          <a:solidFill>
                            <a:srgbClr val="1E2124"/>
                          </a:solidFill>
                          <a:latin typeface="Yu Gothic"/>
                        </a:defRPr>
                      </a:pPr>
                      <a:r>
                        <a:t>Firebase AI Logic 移行ガイド</a:t>
                      </a:r>
                    </a:p>
                  </a:txBody>
                  <a:tcPr>
                    <a:solidFill>
                      <a:srgbClr val="F7F4EF"/>
                    </a:solidFill>
                  </a:tcPr>
                </a:tc>
                <a:tc>
                  <a:txBody>
                    <a:bodyPr/>
                    <a:lstStyle/>
                    <a:p>
                      <a:pPr>
                        <a:defRPr sz="1200">
                          <a:solidFill>
                            <a:srgbClr val="1E2124"/>
                          </a:solidFill>
                          <a:latin typeface="Yu Gothic"/>
                        </a:defRPr>
                      </a:pPr>
                      <a:r>
                        <a:t>firebase.google.com/docs/ai-logic/imagen-models-migration で移行手順を案内</a:t>
                      </a:r>
                    </a:p>
                  </a:txBody>
                  <a:tcPr>
                    <a:solidFill>
                      <a:srgbClr val="F7F4EF"/>
                    </a:solidFill>
                  </a:tcPr>
                </a:tc>
              </a:tr>
              <a:tr h="502920">
                <a:tc>
                  <a:txBody>
                    <a:bodyPr/>
                    <a:lstStyle/>
                    <a:p>
                      <a:pPr>
                        <a:defRPr sz="1200">
                          <a:solidFill>
                            <a:srgbClr val="1E2124"/>
                          </a:solidFill>
                          <a:latin typeface="Yu Gothic"/>
                        </a:defRPr>
                      </a:pPr>
                      <a:r>
                        <a:t>kingy.ai</a:t>
                      </a:r>
                    </a:p>
                  </a:txBody>
                  <a:tcPr>
                    <a:solidFill>
                      <a:srgbClr val="FFFFFF"/>
                    </a:solidFill>
                  </a:tcPr>
                </a:tc>
                <a:tc>
                  <a:txBody>
                    <a:bodyPr/>
                    <a:lstStyle/>
                    <a:p>
                      <a:pPr>
                        <a:defRPr sz="1200">
                          <a:solidFill>
                            <a:srgbClr val="1E2124"/>
                          </a:solidFill>
                          <a:latin typeface="Yu Gothic"/>
                        </a:defRPr>
                      </a:pPr>
                      <a:r>
                        <a:t>開発者向けにAPI変更点を解説</a:t>
                      </a:r>
                    </a:p>
                  </a:txBody>
                  <a:tcPr>
                    <a:solidFill>
                      <a:srgbClr val="FFFFFF"/>
                    </a:solidFill>
                  </a:tcPr>
                </a:tc>
              </a:tr>
              <a:tr h="502920">
                <a:tc>
                  <a:txBody>
                    <a:bodyPr/>
                    <a:lstStyle/>
                    <a:p>
                      <a:pPr>
                        <a:defRPr sz="1200">
                          <a:solidFill>
                            <a:srgbClr val="1E2124"/>
                          </a:solidFill>
                          <a:latin typeface="Yu Gothic"/>
                        </a:defRPr>
                      </a:pPr>
                      <a:r>
                        <a:t>byteiota.com</a:t>
                      </a:r>
                    </a:p>
                  </a:txBody>
                  <a:tcPr>
                    <a:solidFill>
                      <a:srgbClr val="F7F4EF"/>
                    </a:solidFill>
                  </a:tcPr>
                </a:tc>
                <a:tc>
                  <a:txBody>
                    <a:bodyPr/>
                    <a:lstStyle/>
                    <a:p>
                      <a:pPr>
                        <a:defRPr sz="1200">
                          <a:solidFill>
                            <a:srgbClr val="1E2124"/>
                          </a:solidFill>
                          <a:latin typeface="Yu Gothic"/>
                        </a:defRPr>
                      </a:pPr>
                      <a:r>
                        <a:t>開発者向けにAPI変更点を解説</a:t>
                      </a:r>
                    </a:p>
                  </a:txBody>
                  <a:tcPr>
                    <a:solidFill>
                      <a:srgbClr val="F7F4E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Google公式ドキュメント(ai.google.dev/gemini-api/docs/deprecations)・Firebase AI Logic移行ガイド｜2026-08-17終了(発表は2026-06-15)</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非推奨化からシャットダウンまでの流れ</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非推奨化発表</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2026年6月15日。3モデルIDの終了を予告</a:t>
            </a:r>
          </a:p>
        </p:txBody>
      </p:sp>
      <p:sp>
        <p:nvSpPr>
          <p:cNvPr id="10" name="Right Arrow 9"/>
          <p:cNvSpPr/>
          <p:nvPr/>
        </p:nvSpPr>
        <p:spPr>
          <a:xfrm>
            <a:off x="41573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移行期間</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開発者はgenerate_content()への切り替えを求められる</a:t>
            </a:r>
          </a:p>
        </p:txBody>
      </p:sp>
      <p:sp>
        <p:nvSpPr>
          <p:cNvPr id="15" name="Right Arrow 14"/>
          <p:cNvSpPr/>
          <p:nvPr/>
        </p:nvSpPr>
        <p:spPr>
          <a:xfrm>
            <a:off x="73577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シャットダウン</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2026年8月17日(本日)。generate_images()は使えなくなる</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B7280"/>
                </a:solidFill>
                <a:latin typeface="Yu Gothic"/>
              </a:rPr>
              <a:t>「発表日」と「終了日」は別の日である点に注意</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Google公式ドキュメント</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Google公式ドキュメント(ai.google.dev/gemini-api/docs/deprecations)・Firebase AI Logic移行ガイド｜2026-08-17終了(発表は2026-06-15)</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前提知識: API非推奨化(deprecation)とは</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本題に入る前に、用語を確認します。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非推奨化(deprecation)は、将来使えなくなることの事前予告であり、その時点ではまだ動く</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シャットダウンは、実際にAPIが使えなくなる時点を指す</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この2つの日付は別であり、混同すると移行のタイミングを見誤る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Google公式ドキュメント(ai.google.dev/gemini-api/docs/deprecations)・Firebase AI Logic移行ガイド｜2026-08-17終了(発表は2026-06-15)</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前提知識: Imagen 4・generate_images()とは</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もう一つ、対象の技術についても確認します。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Imagen 4は、Googleが提供していた画像生成モデルのGA(一般提供)版</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generate_images()は、そのImagen 4を呼び出すための専用メソッドだった</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今回、この専用メソッドごと廃止され、テキスト生成と同じ呼び出し方に統一される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Google公式ドキュメント(ai.google.dev/gemini-api/docs/deprecations)・Firebase AI Logic移行ガイド｜2026-08-17終了(発表は2026-06-15)</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「発表日」と「終了日」の違い(最重要)</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非推奨化の発表日</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2026年6月15日</a:t>
            </a:r>
          </a:p>
        </p:txBody>
      </p:sp>
      <p:sp>
        <p:nvSpPr>
          <p:cNvPr id="11" name="Oval 10"/>
          <p:cNvSpPr/>
          <p:nvPr/>
        </p:nvSpPr>
        <p:spPr>
          <a:xfrm>
            <a:off x="777240"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3モデルIDの終了を予告した日</a:t>
            </a:r>
          </a:p>
        </p:txBody>
      </p:sp>
      <p:sp>
        <p:nvSpPr>
          <p:cNvPr id="13" name="Oval 12"/>
          <p:cNvSpPr/>
          <p:nvPr/>
        </p:nvSpPr>
        <p:spPr>
          <a:xfrm>
            <a:off x="777240"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この時点ではまだAPIは動いていた</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シャットダウンの日</a:t>
            </a:r>
          </a:p>
        </p:txBody>
      </p:sp>
      <p:sp>
        <p:nvSpPr>
          <p:cNvPr id="18" name="Oval 17"/>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2026年8月17日(本日)</a:t>
            </a:r>
          </a:p>
        </p:txBody>
      </p:sp>
      <p:sp>
        <p:nvSpPr>
          <p:cNvPr id="20" name="Oval 19"/>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実際にAPIが使えなくなる日</a:t>
            </a:r>
          </a:p>
        </p:txBody>
      </p:sp>
      <p:sp>
        <p:nvSpPr>
          <p:cNvPr id="22" name="Oval 21"/>
          <p:cNvSpPr/>
          <p:nvPr/>
        </p:nvSpPr>
        <p:spPr>
          <a:xfrm>
            <a:off x="6598767"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本テーマの鮮度・フックはこちらが根拠</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Google公式ドキュメント(ai.google.dev/gemini-api/docs/deprecations)・Firebase AI Logic移行ガイド｜2026-08-17終了(発表は2026-06-15)</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終了する3つのモデルID</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モデルID</a:t>
                      </a:r>
                    </a:p>
                  </a:txBody>
                  <a:tcPr>
                    <a:solidFill>
                      <a:srgbClr val="3A4750"/>
                    </a:solidFill>
                  </a:tcPr>
                </a:tc>
                <a:tc>
                  <a:txBody>
                    <a:bodyPr/>
                    <a:lstStyle/>
                    <a:p>
                      <a:pPr>
                        <a:defRPr sz="1300" b="1">
                          <a:solidFill>
                            <a:srgbClr val="FFFFFF"/>
                          </a:solidFill>
                          <a:latin typeface="Yu Gothic"/>
                        </a:defRPr>
                      </a:pPr>
                      <a:r>
                        <a:t>位置づけ</a:t>
                      </a:r>
                    </a:p>
                  </a:txBody>
                  <a:tcPr>
                    <a:solidFill>
                      <a:srgbClr val="3A4750"/>
                    </a:solidFill>
                  </a:tcPr>
                </a:tc>
              </a:tr>
              <a:tr h="502920">
                <a:tc>
                  <a:txBody>
                    <a:bodyPr/>
                    <a:lstStyle/>
                    <a:p>
                      <a:pPr>
                        <a:defRPr sz="1200">
                          <a:solidFill>
                            <a:srgbClr val="1E2124"/>
                          </a:solidFill>
                          <a:latin typeface="Yu Gothic"/>
                        </a:defRPr>
                      </a:pPr>
                      <a:r>
                        <a:t>imagen-4.0-generate-001</a:t>
                      </a:r>
                    </a:p>
                  </a:txBody>
                  <a:tcPr>
                    <a:solidFill>
                      <a:srgbClr val="FFFFFF"/>
                    </a:solidFill>
                  </a:tcPr>
                </a:tc>
                <a:tc>
                  <a:txBody>
                    <a:bodyPr/>
                    <a:lstStyle/>
                    <a:p>
                      <a:pPr>
                        <a:defRPr sz="1200">
                          <a:solidFill>
                            <a:srgbClr val="1E2124"/>
                          </a:solidFill>
                          <a:latin typeface="Yu Gothic"/>
                        </a:defRPr>
                      </a:pPr>
                      <a:r>
                        <a:t>標準モデル</a:t>
                      </a:r>
                    </a:p>
                  </a:txBody>
                  <a:tcPr>
                    <a:solidFill>
                      <a:srgbClr val="FFFFFF"/>
                    </a:solidFill>
                  </a:tcPr>
                </a:tc>
              </a:tr>
              <a:tr h="502920">
                <a:tc>
                  <a:txBody>
                    <a:bodyPr/>
                    <a:lstStyle/>
                    <a:p>
                      <a:pPr>
                        <a:defRPr sz="1200">
                          <a:solidFill>
                            <a:srgbClr val="1E2124"/>
                          </a:solidFill>
                          <a:latin typeface="Yu Gothic"/>
                        </a:defRPr>
                      </a:pPr>
                      <a:r>
                        <a:t>imagen-4.0-ultra-generate-001</a:t>
                      </a:r>
                    </a:p>
                  </a:txBody>
                  <a:tcPr>
                    <a:solidFill>
                      <a:srgbClr val="F7F4EF"/>
                    </a:solidFill>
                  </a:tcPr>
                </a:tc>
                <a:tc>
                  <a:txBody>
                    <a:bodyPr/>
                    <a:lstStyle/>
                    <a:p>
                      <a:pPr>
                        <a:defRPr sz="1200">
                          <a:solidFill>
                            <a:srgbClr val="1E2124"/>
                          </a:solidFill>
                          <a:latin typeface="Yu Gothic"/>
                        </a:defRPr>
                      </a:pPr>
                      <a:r>
                        <a:t>Ultra(高品質)モデル</a:t>
                      </a:r>
                    </a:p>
                  </a:txBody>
                  <a:tcPr>
                    <a:solidFill>
                      <a:srgbClr val="F7F4EF"/>
                    </a:solidFill>
                  </a:tcPr>
                </a:tc>
              </a:tr>
              <a:tr h="502920">
                <a:tc>
                  <a:txBody>
                    <a:bodyPr/>
                    <a:lstStyle/>
                    <a:p>
                      <a:pPr>
                        <a:defRPr sz="1200">
                          <a:solidFill>
                            <a:srgbClr val="1E2124"/>
                          </a:solidFill>
                          <a:latin typeface="Yu Gothic"/>
                        </a:defRPr>
                      </a:pPr>
                      <a:r>
                        <a:t>imagen-4.0-fast-generate-001</a:t>
                      </a:r>
                    </a:p>
                  </a:txBody>
                  <a:tcPr>
                    <a:solidFill>
                      <a:srgbClr val="FFFFFF"/>
                    </a:solidFill>
                  </a:tcPr>
                </a:tc>
                <a:tc>
                  <a:txBody>
                    <a:bodyPr/>
                    <a:lstStyle/>
                    <a:p>
                      <a:pPr>
                        <a:defRPr sz="1200">
                          <a:solidFill>
                            <a:srgbClr val="1E2124"/>
                          </a:solidFill>
                          <a:latin typeface="Yu Gothic"/>
                        </a:defRPr>
                      </a:pPr>
                      <a:r>
                        <a:t>Fast(高速)モデル</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Google公式ドキュメント</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Google公式ドキュメント(ai.google.dev/gemini-api/docs/deprecations)・Firebase AI Logic移行ガイド｜2026-08-17終了(発表は2026-06-15)</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本日終了するモデルID数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3</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標準・Ultra・Fastの3つのImagen 4 GAモデルIDが、本日すべてシャットダウンされる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Google公式ドキュメント</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技術的な変更点まとめ</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2579293"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030653" cy="822960"/>
          </a:xfrm>
          <a:prstGeom prst="rect">
            <a:avLst/>
          </a:prstGeom>
          <a:noFill/>
        </p:spPr>
        <p:txBody>
          <a:bodyPr wrap="square" anchor="t" lIns="0" rIns="0" tIns="0" bIns="0">
            <a:spAutoFit/>
          </a:bodyPr>
          <a:lstStyle/>
          <a:p>
            <a:pPr algn="l"/>
            <a:r>
              <a:rPr sz="3400" b="1">
                <a:solidFill>
                  <a:srgbClr val="E8871E"/>
                </a:solidFill>
                <a:latin typeface="Yu Gothic"/>
              </a:rPr>
              <a:t>廃止</a:t>
            </a:r>
          </a:p>
        </p:txBody>
      </p:sp>
      <p:sp>
        <p:nvSpPr>
          <p:cNvPr id="9" name="TextBox 8"/>
          <p:cNvSpPr txBox="1"/>
          <p:nvPr/>
        </p:nvSpPr>
        <p:spPr>
          <a:xfrm>
            <a:off x="731520" y="2834640"/>
            <a:ext cx="2030653" cy="548640"/>
          </a:xfrm>
          <a:prstGeom prst="rect">
            <a:avLst/>
          </a:prstGeom>
          <a:noFill/>
        </p:spPr>
        <p:txBody>
          <a:bodyPr wrap="square" anchor="t" lIns="0" rIns="0" tIns="0" bIns="0">
            <a:spAutoFit/>
          </a:bodyPr>
          <a:lstStyle/>
          <a:p>
            <a:pPr algn="l"/>
            <a:r>
              <a:rPr sz="1600" b="1">
                <a:solidFill>
                  <a:srgbClr val="3A4750"/>
                </a:solidFill>
                <a:latin typeface="Yu Gothic"/>
              </a:rPr>
              <a:t>generate_images()</a:t>
            </a:r>
          </a:p>
        </p:txBody>
      </p:sp>
      <p:sp>
        <p:nvSpPr>
          <p:cNvPr id="10" name="TextBox 9"/>
          <p:cNvSpPr txBox="1"/>
          <p:nvPr/>
        </p:nvSpPr>
        <p:spPr>
          <a:xfrm>
            <a:off x="731520" y="3520440"/>
            <a:ext cx="2030653"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専用メソッド自体が削除される</a:t>
            </a:r>
          </a:p>
        </p:txBody>
      </p:sp>
      <p:sp>
        <p:nvSpPr>
          <p:cNvPr id="11" name="Rounded Rectangle 10"/>
          <p:cNvSpPr/>
          <p:nvPr/>
        </p:nvSpPr>
        <p:spPr>
          <a:xfrm>
            <a:off x="3402253"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56533" y="1554480"/>
            <a:ext cx="2579293"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0853" y="1828800"/>
            <a:ext cx="2030653" cy="822960"/>
          </a:xfrm>
          <a:prstGeom prst="rect">
            <a:avLst/>
          </a:prstGeom>
          <a:noFill/>
        </p:spPr>
        <p:txBody>
          <a:bodyPr wrap="square" anchor="t" lIns="0" rIns="0" tIns="0" bIns="0">
            <a:spAutoFit/>
          </a:bodyPr>
          <a:lstStyle/>
          <a:p>
            <a:pPr algn="l"/>
            <a:r>
              <a:rPr sz="3400" b="1">
                <a:solidFill>
                  <a:srgbClr val="E8871E"/>
                </a:solidFill>
                <a:latin typeface="Yu Gothic"/>
              </a:rPr>
              <a:t>統一</a:t>
            </a:r>
          </a:p>
        </p:txBody>
      </p:sp>
      <p:sp>
        <p:nvSpPr>
          <p:cNvPr id="14" name="TextBox 13"/>
          <p:cNvSpPr txBox="1"/>
          <p:nvPr/>
        </p:nvSpPr>
        <p:spPr>
          <a:xfrm>
            <a:off x="3630853" y="2834640"/>
            <a:ext cx="2030653" cy="548640"/>
          </a:xfrm>
          <a:prstGeom prst="rect">
            <a:avLst/>
          </a:prstGeom>
          <a:noFill/>
        </p:spPr>
        <p:txBody>
          <a:bodyPr wrap="square" anchor="t" lIns="0" rIns="0" tIns="0" bIns="0">
            <a:spAutoFit/>
          </a:bodyPr>
          <a:lstStyle/>
          <a:p>
            <a:pPr algn="l"/>
            <a:r>
              <a:rPr sz="1600" b="1">
                <a:solidFill>
                  <a:srgbClr val="3A4750"/>
                </a:solidFill>
                <a:latin typeface="Yu Gothic"/>
              </a:rPr>
              <a:t>generate_content()</a:t>
            </a:r>
          </a:p>
        </p:txBody>
      </p:sp>
      <p:sp>
        <p:nvSpPr>
          <p:cNvPr id="15" name="TextBox 14"/>
          <p:cNvSpPr txBox="1"/>
          <p:nvPr/>
        </p:nvSpPr>
        <p:spPr>
          <a:xfrm>
            <a:off x="3630853" y="3520440"/>
            <a:ext cx="2030653"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テキスト生成と同じ呼び出し方式に一本化</a:t>
            </a:r>
          </a:p>
        </p:txBody>
      </p:sp>
      <p:sp>
        <p:nvSpPr>
          <p:cNvPr id="16" name="Rounded Rectangle 15"/>
          <p:cNvSpPr/>
          <p:nvPr/>
        </p:nvSpPr>
        <p:spPr>
          <a:xfrm>
            <a:off x="6301587"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55867" y="1554480"/>
            <a:ext cx="2579293"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0187" y="1828800"/>
            <a:ext cx="2030653" cy="822960"/>
          </a:xfrm>
          <a:prstGeom prst="rect">
            <a:avLst/>
          </a:prstGeom>
          <a:noFill/>
        </p:spPr>
        <p:txBody>
          <a:bodyPr wrap="square" anchor="t" lIns="0" rIns="0" tIns="0" bIns="0">
            <a:spAutoFit/>
          </a:bodyPr>
          <a:lstStyle/>
          <a:p>
            <a:pPr algn="l"/>
            <a:r>
              <a:rPr sz="3400" b="1">
                <a:solidFill>
                  <a:srgbClr val="E8871E"/>
                </a:solidFill>
                <a:latin typeface="Yu Gothic"/>
              </a:rPr>
              <a:t>置き換え</a:t>
            </a:r>
          </a:p>
        </p:txBody>
      </p:sp>
      <p:sp>
        <p:nvSpPr>
          <p:cNvPr id="19" name="TextBox 18"/>
          <p:cNvSpPr txBox="1"/>
          <p:nvPr/>
        </p:nvSpPr>
        <p:spPr>
          <a:xfrm>
            <a:off x="6530187" y="2834640"/>
            <a:ext cx="2030653" cy="548640"/>
          </a:xfrm>
          <a:prstGeom prst="rect">
            <a:avLst/>
          </a:prstGeom>
          <a:noFill/>
        </p:spPr>
        <p:txBody>
          <a:bodyPr wrap="square" anchor="t" lIns="0" rIns="0" tIns="0" bIns="0">
            <a:spAutoFit/>
          </a:bodyPr>
          <a:lstStyle/>
          <a:p>
            <a:pPr algn="l"/>
            <a:r>
              <a:rPr sz="1600" b="1">
                <a:solidFill>
                  <a:srgbClr val="3A4750"/>
                </a:solidFill>
                <a:latin typeface="Yu Gothic"/>
              </a:rPr>
              <a:t>GenerationConfig</a:t>
            </a:r>
          </a:p>
        </p:txBody>
      </p:sp>
      <p:sp>
        <p:nvSpPr>
          <p:cNvPr id="20" name="TextBox 19"/>
          <p:cNvSpPr txBox="1"/>
          <p:nvPr/>
        </p:nvSpPr>
        <p:spPr>
          <a:xfrm>
            <a:off x="6530187" y="3520440"/>
            <a:ext cx="2030653"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ImagenGenerationConfigから移行、必要に応じてImageConfigを併用</a:t>
            </a:r>
          </a:p>
        </p:txBody>
      </p:sp>
      <p:sp>
        <p:nvSpPr>
          <p:cNvPr id="21" name="Rounded Rectangle 20"/>
          <p:cNvSpPr/>
          <p:nvPr/>
        </p:nvSpPr>
        <p:spPr>
          <a:xfrm>
            <a:off x="9200921"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55201" y="1554480"/>
            <a:ext cx="2579293"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29521" y="1828800"/>
            <a:ext cx="2030653" cy="822960"/>
          </a:xfrm>
          <a:prstGeom prst="rect">
            <a:avLst/>
          </a:prstGeom>
          <a:noFill/>
        </p:spPr>
        <p:txBody>
          <a:bodyPr wrap="square" anchor="t" lIns="0" rIns="0" tIns="0" bIns="0">
            <a:spAutoFit/>
          </a:bodyPr>
          <a:lstStyle/>
          <a:p>
            <a:pPr algn="l"/>
            <a:r>
              <a:rPr sz="3400" b="1">
                <a:solidFill>
                  <a:srgbClr val="E8871E"/>
                </a:solidFill>
                <a:latin typeface="Yu Gothic"/>
              </a:rPr>
              <a:t>要監査</a:t>
            </a:r>
          </a:p>
        </p:txBody>
      </p:sp>
      <p:sp>
        <p:nvSpPr>
          <p:cNvPr id="24" name="TextBox 23"/>
          <p:cNvSpPr txBox="1"/>
          <p:nvPr/>
        </p:nvSpPr>
        <p:spPr>
          <a:xfrm>
            <a:off x="9429521" y="2834640"/>
            <a:ext cx="2030653" cy="548640"/>
          </a:xfrm>
          <a:prstGeom prst="rect">
            <a:avLst/>
          </a:prstGeom>
          <a:noFill/>
        </p:spPr>
        <p:txBody>
          <a:bodyPr wrap="square" anchor="t" lIns="0" rIns="0" tIns="0" bIns="0">
            <a:spAutoFit/>
          </a:bodyPr>
          <a:lstStyle/>
          <a:p>
            <a:pPr algn="l"/>
            <a:r>
              <a:rPr sz="1600" b="1">
                <a:solidFill>
                  <a:srgbClr val="3A4750"/>
                </a:solidFill>
                <a:latin typeface="Yu Gothic"/>
              </a:rPr>
              <a:t>number_of_images</a:t>
            </a:r>
          </a:p>
        </p:txBody>
      </p:sp>
      <p:sp>
        <p:nvSpPr>
          <p:cNvPr id="25" name="TextBox 24"/>
          <p:cNvSpPr txBox="1"/>
          <p:nvPr/>
        </p:nvSpPr>
        <p:spPr>
          <a:xfrm>
            <a:off x="9429521" y="3520440"/>
            <a:ext cx="2030653"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このパラメータを使っていたコードは見直しが必要</a:t>
            </a:r>
          </a:p>
        </p:txBody>
      </p:sp>
      <p:sp>
        <p:nvSpPr>
          <p:cNvPr id="26" name="TextBox 2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Google公式ドキュメント・Firebase AI Logic移行ガイド</a:t>
            </a:r>
          </a:p>
        </p:txBody>
      </p:sp>
      <p:sp>
        <p:nvSpPr>
          <p:cNvPr id="27" name="TextBox 2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Google公式ドキュメント(ai.google.dev/gemini-api/docs/deprecations)・Firebase AI Logic移行ガイド｜2026-08-17終了(発表は2026-06-15)</a:t>
            </a:r>
          </a:p>
        </p:txBody>
      </p:sp>
      <p:sp>
        <p:nvSpPr>
          <p:cNvPr id="28" name="TextBox 2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旧APIと新APIを比較する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旧API(本日で終了)</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generate_images()を呼び出す</a:t>
            </a:r>
          </a:p>
        </p:txBody>
      </p:sp>
      <p:sp>
        <p:nvSpPr>
          <p:cNvPr id="11" name="Oval 10"/>
          <p:cNvSpPr/>
          <p:nvPr/>
        </p:nvSpPr>
        <p:spPr>
          <a:xfrm>
            <a:off x="777240"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ImagenGenerationConfigを使う</a:t>
            </a:r>
          </a:p>
        </p:txBody>
      </p:sp>
      <p:sp>
        <p:nvSpPr>
          <p:cNvPr id="13" name="Oval 12"/>
          <p:cNvSpPr/>
          <p:nvPr/>
        </p:nvSpPr>
        <p:spPr>
          <a:xfrm>
            <a:off x="777240"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Imagen 4専用の呼び出し方式</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新API(移行先)</a:t>
            </a:r>
          </a:p>
        </p:txBody>
      </p:sp>
      <p:sp>
        <p:nvSpPr>
          <p:cNvPr id="18" name="Oval 17"/>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generate_content()を呼び出す</a:t>
            </a:r>
          </a:p>
        </p:txBody>
      </p:sp>
      <p:sp>
        <p:nvSpPr>
          <p:cNvPr id="20" name="Oval 19"/>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GenerationConfig(+必要ならImageConfig)を使う</a:t>
            </a:r>
          </a:p>
        </p:txBody>
      </p:sp>
      <p:sp>
        <p:nvSpPr>
          <p:cNvPr id="22" name="Oval 21"/>
          <p:cNvSpPr/>
          <p:nvPr/>
        </p:nvSpPr>
        <p:spPr>
          <a:xfrm>
            <a:off x="6598767"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テキスト生成と共通の呼び出し方式</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Google公式ドキュメント(ai.google.dev/gemini-api/docs/deprecations)・Firebase AI Logic移行ガイド｜2026-08-17終了(発表は2026-06-15)</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移行先モデルの案内</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モデル</a:t>
                      </a:r>
                    </a:p>
                  </a:txBody>
                  <a:tcPr>
                    <a:solidFill>
                      <a:srgbClr val="3A4750"/>
                    </a:solidFill>
                  </a:tcPr>
                </a:tc>
                <a:tc>
                  <a:txBody>
                    <a:bodyPr/>
                    <a:lstStyle/>
                    <a:p>
                      <a:pPr>
                        <a:defRPr sz="1300" b="1">
                          <a:solidFill>
                            <a:srgbClr val="FFFFFF"/>
                          </a:solidFill>
                          <a:latin typeface="Yu Gothic"/>
                        </a:defRPr>
                      </a:pPr>
                      <a:r>
                        <a:t>位置づけ</a:t>
                      </a:r>
                    </a:p>
                  </a:txBody>
                  <a:tcPr>
                    <a:solidFill>
                      <a:srgbClr val="3A4750"/>
                    </a:solidFill>
                  </a:tcPr>
                </a:tc>
              </a:tr>
              <a:tr h="502920">
                <a:tc>
                  <a:txBody>
                    <a:bodyPr/>
                    <a:lstStyle/>
                    <a:p>
                      <a:pPr>
                        <a:defRPr sz="1200">
                          <a:solidFill>
                            <a:srgbClr val="1E2124"/>
                          </a:solidFill>
                          <a:latin typeface="Yu Gothic"/>
                        </a:defRPr>
                      </a:pPr>
                      <a:r>
                        <a:t>gemini-3.1-flash-image</a:t>
                      </a:r>
                    </a:p>
                  </a:txBody>
                  <a:tcPr>
                    <a:solidFill>
                      <a:srgbClr val="FFFFFF"/>
                    </a:solidFill>
                  </a:tcPr>
                </a:tc>
                <a:tc>
                  <a:txBody>
                    <a:bodyPr/>
                    <a:lstStyle/>
                    <a:p>
                      <a:pPr>
                        <a:defRPr sz="1200">
                          <a:solidFill>
                            <a:srgbClr val="1E2124"/>
                          </a:solidFill>
                          <a:latin typeface="Yu Gothic"/>
                        </a:defRPr>
                      </a:pPr>
                      <a:r>
                        <a:t>推奨される長期的な移行先</a:t>
                      </a:r>
                    </a:p>
                  </a:txBody>
                  <a:tcPr>
                    <a:solidFill>
                      <a:srgbClr val="FFFFFF"/>
                    </a:solidFill>
                  </a:tcPr>
                </a:tc>
              </a:tr>
              <a:tr h="502920">
                <a:tc>
                  <a:txBody>
                    <a:bodyPr/>
                    <a:lstStyle/>
                    <a:p>
                      <a:pPr>
                        <a:defRPr sz="1200">
                          <a:solidFill>
                            <a:srgbClr val="1E2124"/>
                          </a:solidFill>
                          <a:latin typeface="Yu Gothic"/>
                        </a:defRPr>
                      </a:pPr>
                      <a:r>
                        <a:t>gemini-2.5-flash-image</a:t>
                      </a:r>
                    </a:p>
                  </a:txBody>
                  <a:tcPr>
                    <a:solidFill>
                      <a:srgbClr val="F7F4EF"/>
                    </a:solidFill>
                  </a:tcPr>
                </a:tc>
                <a:tc>
                  <a:txBody>
                    <a:bodyPr/>
                    <a:lstStyle/>
                    <a:p>
                      <a:pPr>
                        <a:defRPr sz="1200">
                          <a:solidFill>
                            <a:srgbClr val="1E2124"/>
                          </a:solidFill>
                          <a:latin typeface="Yu Gothic"/>
                        </a:defRPr>
                      </a:pPr>
                      <a:r>
                        <a:t>一部ドキュメントが案内する暫定的な移行先(将来的に非推奨予定)</a:t>
                      </a:r>
                    </a:p>
                  </a:txBody>
                  <a:tcPr>
                    <a:solidFill>
                      <a:srgbClr val="F7F4E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Google公式ドキュメント・Firebase AI Logic移行ガイド</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Google公式ドキュメント(ai.google.dev/gemini-api/docs/deprecations)・Firebase AI Logic移行ガイド｜2026-08-17終了(発表は2026-06-15)</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推奨される長期的な移行先</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gemini-3.1-</a:t>
            </a:r>
          </a:p>
          <a:p>
            <a:pPr algn="ctr"/>
            <a:r>
              <a:rPr sz="8800" b="1">
                <a:solidFill>
                  <a:srgbClr val="E8871E"/>
                </a:solidFill>
                <a:latin typeface="Yu Gothic"/>
              </a:rPr>
              <a:t>flash-image</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Google公式ドキュメントが案内する、長期的に安定した推奨移行先</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Google公式ドキュメント</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移行先が2つ案内されている理由</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移行先が1つでない点を整理します。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一部の公式ドキュメントは、暫定的な移行先としてgemini-2.5-flash-imageを案内している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しかしこのモデル自体も、将来的に非推奨となる予定がすでに示されている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長期的に安定した移行先として案内されているのはgemini-3.1-flash-imageである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Google公式ドキュメント(ai.google.dev/gemini-api/docs/deprecations)・Firebase AI Logic移行ガイド｜2026-08-17終了(発表は2026-06-15)</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移行のコード変更フロー</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generate_images()</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ImagenGenerationConfigを渡していた旧コード</a:t>
            </a:r>
          </a:p>
        </p:txBody>
      </p:sp>
      <p:sp>
        <p:nvSpPr>
          <p:cNvPr id="10" name="Right Arrow 9"/>
          <p:cNvSpPr/>
          <p:nvPr/>
        </p:nvSpPr>
        <p:spPr>
          <a:xfrm>
            <a:off x="41573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generate_content()</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GenerationConfig(+ImageConfig)へ書き換え</a:t>
            </a:r>
          </a:p>
        </p:txBody>
      </p:sp>
      <p:sp>
        <p:nvSpPr>
          <p:cNvPr id="15" name="Right Arrow 14"/>
          <p:cNvSpPr/>
          <p:nvPr/>
        </p:nvSpPr>
        <p:spPr>
          <a:xfrm>
            <a:off x="73577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gemini-3.1-flash-image</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呼び出し先モデルを移行先へ変更</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B7280"/>
                </a:solidFill>
                <a:latin typeface="Yu Gothic"/>
              </a:rPr>
              <a:t>3つの変更点をまとめて対応する必要がある</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Google公式ドキュメント</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Google公式ドキュメント(ai.google.dev/gemini-api/docs/deprecations)・Firebase AI Logic移行ガイド｜2026-08-17終了(発表は2026-06-15)</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これで何が変わるか: 開発者にとって</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このニュースが開発者にとって意味することを整理します。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generate_images()を呼び続けているコードは、本日から警告ではなくエラーで停止する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number_of_imagesなど、旧APIに固有だったパラメータの使用箇所は監査が必要</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移行先のモデルIDとconfigクラスの両方を、コード内で確認する必要がある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Google公式ドキュメント(ai.google.dev/gemini-api/docs/deprecations)・Firebase AI Logic移行ガイド｜2026-08-17終了(発表は2026-06-15)</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これで何が変わるか: 企業のAI導入担当者にとって</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企業の立場から見た意味も整理します。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自社サービスがImagen 4のAPIに依存していないか、本日時点で確認が必要</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移行が完了していない場合、画像生成機能が本日から停止している可能性がある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特定のモデル・提供元を過度に推奨する意図はなく、変更点の周知として中立的に扱う</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Google公式ドキュメント(ai.google.dev/gemini-api/docs/deprecations)・Firebase AI Logic移行ガイド｜2026-08-17終了(発表は2026-06-15)</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移行チェックリスト</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3A4750"/>
                </a:solidFill>
                <a:latin typeface="Yu Gothic"/>
              </a:rPr>
              <a:t>1</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コード内でgenerate_images()の呼び出し箇所を洗い出す</a:t>
            </a:r>
          </a:p>
        </p:txBody>
      </p:sp>
      <p:sp>
        <p:nvSpPr>
          <p:cNvPr id="11" name="Chevron 10"/>
          <p:cNvSpPr/>
          <p:nvPr/>
        </p:nvSpPr>
        <p:spPr>
          <a:xfrm>
            <a:off x="3068040"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3A4750"/>
                </a:solidFill>
                <a:latin typeface="Yu Gothic"/>
              </a:rPr>
              <a:t>2</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ImagenGenerationConfigをGenerationConfig(+ImageConfig)に置き換える</a:t>
            </a:r>
          </a:p>
        </p:txBody>
      </p:sp>
      <p:sp>
        <p:nvSpPr>
          <p:cNvPr id="17" name="Chevron 16"/>
          <p:cNvSpPr/>
          <p:nvPr/>
        </p:nvSpPr>
        <p:spPr>
          <a:xfrm>
            <a:off x="5978804"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3A4750"/>
                </a:solidFill>
                <a:latin typeface="Yu Gothic"/>
              </a:rPr>
              <a:t>3</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number_of_images等の旧パラメータの扱いを見直す</a:t>
            </a:r>
          </a:p>
        </p:txBody>
      </p:sp>
      <p:sp>
        <p:nvSpPr>
          <p:cNvPr id="23" name="Chevron 22"/>
          <p:cNvSpPr/>
          <p:nvPr/>
        </p:nvSpPr>
        <p:spPr>
          <a:xfrm>
            <a:off x="8889568"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3A4750"/>
                </a:solidFill>
                <a:latin typeface="Yu Gothic"/>
              </a:rPr>
              <a:t>4</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呼び出し先モデルをgemini-3.1-flash-image等へ変更し、動作を確認する</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Google公式ドキュメント(ai.google.dev/gemini-api/docs/deprecations)・Firebase AI Logic移行ガイド｜2026-08-17終了(発表は2026-06-15)</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移行済みの場合と、未対応の場合</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移行が完了している場合</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本日以降も画像生成機能は動作する</a:t>
            </a:r>
          </a:p>
        </p:txBody>
      </p:sp>
      <p:sp>
        <p:nvSpPr>
          <p:cNvPr id="11" name="Oval 10"/>
          <p:cNvSpPr/>
          <p:nvPr/>
        </p:nvSpPr>
        <p:spPr>
          <a:xfrm>
            <a:off x="777240"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generate_content()ベースのコードに切り替え済み</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移行が未対応の場合</a:t>
            </a:r>
          </a:p>
        </p:txBody>
      </p:sp>
      <p:sp>
        <p:nvSpPr>
          <p:cNvPr id="16" name="Oval 15"/>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本日からエラーが発生し、画像生成機能が止まる可能性がある</a:t>
            </a:r>
          </a:p>
        </p:txBody>
      </p:sp>
      <p:sp>
        <p:nvSpPr>
          <p:cNvPr id="18" name="Oval 17"/>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旧コードのままgenerate_images()を呼び続けている状態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Google公式ドキュメント(ai.google.dev/gemini-api/docs/deprecations)・Firebase AI Logic移行ガイド｜2026-08-17終了(発表は2026-06-15)</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確認できていないこと(一覧)</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本調査の範囲では確認できていないことです。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Imagen 4を利用していたサービス・アプリのうち、移行が実際に間に合わなかった具体的な事例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発表(6月15日)から終了(8月17日)までの間に、追加の猶予措置があったかどうか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移行先モデルの料金・性能が旧Imagen 4と完全に同等かどうか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Google公式ドキュメント(ai.google.dev/gemini-api/docs/deprecations)・Firebase AI Logic移行ガイド｜2026-08-17終了(発表は2026-06-15)</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本テーマの扱い方について(中立性の確認)</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本テーマを見る際にあらかじめお伝えしたい点です。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本テーマはAPI仕様変更に関する事実紹介であり、Google・Geminiという企業・製品への評価や優劣の論評は行わない</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Google・Geminiの利用を過度に推奨する結論にはせず、開発者への実務的な注意喚起として中立的に扱う</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移行が間に合わなかった具体的な企業名・サービス名は、確認できていないため一切挙げない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Google公式ドキュメント(ai.google.dev/gemini-api/docs/deprecations)・Firebase AI Logic移行ガイド｜2026-08-17終了(発表は2026-06-15)</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出典の優先順位</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情報源</a:t>
                      </a:r>
                    </a:p>
                  </a:txBody>
                  <a:tcPr>
                    <a:solidFill>
                      <a:srgbClr val="3A4750"/>
                    </a:solidFill>
                  </a:tcPr>
                </a:tc>
                <a:tc>
                  <a:txBody>
                    <a:bodyPr/>
                    <a:lstStyle/>
                    <a:p>
                      <a:pPr>
                        <a:defRPr sz="1300" b="1">
                          <a:solidFill>
                            <a:srgbClr val="FFFFFF"/>
                          </a:solidFill>
                          <a:latin typeface="Yu Gothic"/>
                        </a:defRPr>
                      </a:pPr>
                      <a:r>
                        <a:t>位置づけ</a:t>
                      </a:r>
                    </a:p>
                  </a:txBody>
                  <a:tcPr>
                    <a:solidFill>
                      <a:srgbClr val="3A4750"/>
                    </a:solidFill>
                  </a:tcPr>
                </a:tc>
              </a:tr>
              <a:tr h="502920">
                <a:tc>
                  <a:txBody>
                    <a:bodyPr/>
                    <a:lstStyle/>
                    <a:p>
                      <a:pPr>
                        <a:defRPr sz="1200">
                          <a:solidFill>
                            <a:srgbClr val="1E2124"/>
                          </a:solidFill>
                          <a:latin typeface="Yu Gothic"/>
                        </a:defRPr>
                      </a:pPr>
                      <a:r>
                        <a:t>Google公式ドキュメント(ai.google.dev/gemini-api/docs/deprecations)</a:t>
                      </a:r>
                    </a:p>
                  </a:txBody>
                  <a:tcPr>
                    <a:solidFill>
                      <a:srgbClr val="FFFFFF"/>
                    </a:solidFill>
                  </a:tcPr>
                </a:tc>
                <a:tc>
                  <a:txBody>
                    <a:bodyPr/>
                    <a:lstStyle/>
                    <a:p>
                      <a:pPr>
                        <a:defRPr sz="1200">
                          <a:solidFill>
                            <a:srgbClr val="1E2124"/>
                          </a:solidFill>
                          <a:latin typeface="Yu Gothic"/>
                        </a:defRPr>
                      </a:pPr>
                      <a:r>
                        <a:t>一次情報</a:t>
                      </a:r>
                    </a:p>
                  </a:txBody>
                  <a:tcPr>
                    <a:solidFill>
                      <a:srgbClr val="FFFFFF"/>
                    </a:solidFill>
                  </a:tcPr>
                </a:tc>
              </a:tr>
              <a:tr h="502920">
                <a:tc>
                  <a:txBody>
                    <a:bodyPr/>
                    <a:lstStyle/>
                    <a:p>
                      <a:pPr>
                        <a:defRPr sz="1200">
                          <a:solidFill>
                            <a:srgbClr val="1E2124"/>
                          </a:solidFill>
                          <a:latin typeface="Yu Gothic"/>
                        </a:defRPr>
                      </a:pPr>
                      <a:r>
                        <a:t>Firebase AI Logic移行ガイド(firebase.google.com)</a:t>
                      </a:r>
                    </a:p>
                  </a:txBody>
                  <a:tcPr>
                    <a:solidFill>
                      <a:srgbClr val="F7F4EF"/>
                    </a:solidFill>
                  </a:tcPr>
                </a:tc>
                <a:tc>
                  <a:txBody>
                    <a:bodyPr/>
                    <a:lstStyle/>
                    <a:p>
                      <a:pPr>
                        <a:defRPr sz="1200">
                          <a:solidFill>
                            <a:srgbClr val="1E2124"/>
                          </a:solidFill>
                          <a:latin typeface="Yu Gothic"/>
                        </a:defRPr>
                      </a:pPr>
                      <a:r>
                        <a:t>Google公式の移行手順</a:t>
                      </a:r>
                    </a:p>
                  </a:txBody>
                  <a:tcPr>
                    <a:solidFill>
                      <a:srgbClr val="F7F4EF"/>
                    </a:solidFill>
                  </a:tcPr>
                </a:tc>
              </a:tr>
              <a:tr h="502920">
                <a:tc>
                  <a:txBody>
                    <a:bodyPr/>
                    <a:lstStyle/>
                    <a:p>
                      <a:pPr>
                        <a:defRPr sz="1200">
                          <a:solidFill>
                            <a:srgbClr val="1E2124"/>
                          </a:solidFill>
                          <a:latin typeface="Yu Gothic"/>
                        </a:defRPr>
                      </a:pPr>
                      <a:r>
                        <a:t>kingy.ai・byteiota.com</a:t>
                      </a:r>
                    </a:p>
                  </a:txBody>
                  <a:tcPr>
                    <a:solidFill>
                      <a:srgbClr val="FFFFFF"/>
                    </a:solidFill>
                  </a:tcPr>
                </a:tc>
                <a:tc>
                  <a:txBody>
                    <a:bodyPr/>
                    <a:lstStyle/>
                    <a:p>
                      <a:pPr>
                        <a:defRPr sz="1200">
                          <a:solidFill>
                            <a:srgbClr val="1E2124"/>
                          </a:solidFill>
                          <a:latin typeface="Yu Gothic"/>
                        </a:defRPr>
                      </a:pPr>
                      <a:r>
                        <a:t>開発者向けメディアによる解説</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Google公式ドキュメント(ai.google.dev/gemini-api/docs/deprecations)・Firebase AI Logic移行ガイド｜2026-08-17終了(発表は2026-06-15)</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確認しておきたい注意点</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誤解しやすいポイントを整理します。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「非推奨化」の発表時点でまだAPIが動いていたことと、今日から動かなくなることは別の意味である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gemini-2.5-flash-imageへ移行しても、それ自体がいずれ非推奨になる予定がある点に注意が必要</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本テーマでは料金・性能の比較調査は行っておらず、あくまで移行手順の技術的な整理にとどまる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Google公式ドキュメント(ai.google.dev/gemini-api/docs/deprecations)・Firebase AI Logic移行ガイド｜2026-08-17終了(発表は2026-06-15)</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今後の見通し(推測であることを明記)</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以下はあくまで合理的推測であり、断定ではありません。</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推測: Googleは今後も他のGAモデルについて、同様の非推奨化サイクルを繰り返す可能性がある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推測: gemini-2.5-flash-imageも、同様の告知・猶予期間を経て将来終了する可能性が高い</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不明: 次にどのモデルが非推奨化の対象になるかは、本調査の範囲では判断材料がない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Google公式ドキュメント(ai.google.dev/gemini-api/docs/deprecations)・Firebase AI Logic移行ガイド｜2026-08-17終了(発表は2026-06-15)</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Imagen 4 API終了の中身を、出典付きで正直にお届けした。</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F5D9A8"/>
                </a:solidFill>
                <a:latin typeface="Yu Gothic"/>
              </a:rPr>
              <a:t>「発表日」と「終了日」の違い、そして具体的な移行手順まで、中立的に整理しました。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3A4750"/>
                </a:solidFill>
                <a:latin typeface="Yu Gothic"/>
              </a:rPr>
              <a:t>research.mdで出典一覧・確認できなかったことの詳細を確認する</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主な出典一覧</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情報源</a:t>
                      </a:r>
                    </a:p>
                  </a:txBody>
                  <a:tcPr>
                    <a:solidFill>
                      <a:srgbClr val="3A4750"/>
                    </a:solidFill>
                  </a:tcPr>
                </a:tc>
                <a:tc>
                  <a:txBody>
                    <a:bodyPr/>
                    <a:lstStyle/>
                    <a:p>
                      <a:pPr>
                        <a:defRPr sz="1300" b="1">
                          <a:solidFill>
                            <a:srgbClr val="FFFFFF"/>
                          </a:solidFill>
                          <a:latin typeface="Yu Gothic"/>
                        </a:defRPr>
                      </a:pPr>
                      <a:r>
                        <a:t>内容</a:t>
                      </a:r>
                    </a:p>
                  </a:txBody>
                  <a:tcPr>
                    <a:solidFill>
                      <a:srgbClr val="3A4750"/>
                    </a:solidFill>
                  </a:tcPr>
                </a:tc>
              </a:tr>
              <a:tr h="502920">
                <a:tc>
                  <a:txBody>
                    <a:bodyPr/>
                    <a:lstStyle/>
                    <a:p>
                      <a:pPr>
                        <a:defRPr sz="1200">
                          <a:solidFill>
                            <a:srgbClr val="1E2124"/>
                          </a:solidFill>
                          <a:latin typeface="Yu Gothic"/>
                        </a:defRPr>
                      </a:pPr>
                      <a:r>
                        <a:t>Google公式ドキュメント</a:t>
                      </a:r>
                    </a:p>
                  </a:txBody>
                  <a:tcPr>
                    <a:solidFill>
                      <a:srgbClr val="FFFFFF"/>
                    </a:solidFill>
                  </a:tcPr>
                </a:tc>
                <a:tc>
                  <a:txBody>
                    <a:bodyPr/>
                    <a:lstStyle/>
                    <a:p>
                      <a:pPr>
                        <a:defRPr sz="1200">
                          <a:solidFill>
                            <a:srgbClr val="1E2124"/>
                          </a:solidFill>
                          <a:latin typeface="Yu Gothic"/>
                        </a:defRPr>
                      </a:pPr>
                      <a:r>
                        <a:t>Gemini API Deprecationsページ(ai.google.dev/gemini-api/docs/deprecations)</a:t>
                      </a:r>
                    </a:p>
                  </a:txBody>
                  <a:tcPr>
                    <a:solidFill>
                      <a:srgbClr val="FFFFFF"/>
                    </a:solidFill>
                  </a:tcPr>
                </a:tc>
              </a:tr>
              <a:tr h="502920">
                <a:tc>
                  <a:txBody>
                    <a:bodyPr/>
                    <a:lstStyle/>
                    <a:p>
                      <a:pPr>
                        <a:defRPr sz="1200">
                          <a:solidFill>
                            <a:srgbClr val="1E2124"/>
                          </a:solidFill>
                          <a:latin typeface="Yu Gothic"/>
                        </a:defRPr>
                      </a:pPr>
                      <a:r>
                        <a:t>Firebase AI Logic移行ガイド</a:t>
                      </a:r>
                    </a:p>
                  </a:txBody>
                  <a:tcPr>
                    <a:solidFill>
                      <a:srgbClr val="F7F4EF"/>
                    </a:solidFill>
                  </a:tcPr>
                </a:tc>
                <a:tc>
                  <a:txBody>
                    <a:bodyPr/>
                    <a:lstStyle/>
                    <a:p>
                      <a:pPr>
                        <a:defRPr sz="1200">
                          <a:solidFill>
                            <a:srgbClr val="1E2124"/>
                          </a:solidFill>
                          <a:latin typeface="Yu Gothic"/>
                        </a:defRPr>
                      </a:pPr>
                      <a:r>
                        <a:t>firebase.google.com/docs/ai-logic/imagen-models-migration</a:t>
                      </a:r>
                    </a:p>
                  </a:txBody>
                  <a:tcPr>
                    <a:solidFill>
                      <a:srgbClr val="F7F4EF"/>
                    </a:solidFill>
                  </a:tcPr>
                </a:tc>
              </a:tr>
              <a:tr h="502920">
                <a:tc>
                  <a:txBody>
                    <a:bodyPr/>
                    <a:lstStyle/>
                    <a:p>
                      <a:pPr>
                        <a:defRPr sz="1200">
                          <a:solidFill>
                            <a:srgbClr val="1E2124"/>
                          </a:solidFill>
                          <a:latin typeface="Yu Gothic"/>
                        </a:defRPr>
                      </a:pPr>
                      <a:r>
                        <a:t>kingy.ai / byteiota.com</a:t>
                      </a:r>
                    </a:p>
                  </a:txBody>
                  <a:tcPr>
                    <a:solidFill>
                      <a:srgbClr val="FFFFFF"/>
                    </a:solidFill>
                  </a:tcPr>
                </a:tc>
                <a:tc>
                  <a:txBody>
                    <a:bodyPr/>
                    <a:lstStyle/>
                    <a:p>
                      <a:pPr>
                        <a:defRPr sz="1200">
                          <a:solidFill>
                            <a:srgbClr val="1E2124"/>
                          </a:solidFill>
                          <a:latin typeface="Yu Gothic"/>
                        </a:defRPr>
                      </a:pPr>
                      <a:r>
                        <a:t>開発者向けメディアによる解説記事</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Google公式ドキュメント(ai.google.dev/gemini-api/docs/deprecations)・Firebase AI Logic移行ガイド｜2026-08-17終了(発表は2026-06-15)</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