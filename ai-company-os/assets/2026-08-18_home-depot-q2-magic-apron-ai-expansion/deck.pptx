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 Depotが2026年8月18日、2026年度第2四半期決算を発表しました。売上高は前年比5.7%増の478.6億ドルと好調でしたが、同時にAIアシスタント『Magic Apron』を全米2,300店舗以上のスタッフにも展開したことが明らかになりました。今日はこの決算とAI展開の中身を、出典付きで整理してお届けします。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結論から確認します。売上高は前年比5.7%増の478.6億ドルで市場予想を上回りました。同時に、AIアシスタント『Magic Apron』が全米2,300店舗以上のスタッフにも展開されたことが決算コールで明らかになっています。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今日は6つの流れでお伝えします。決算の主要指標から、好決算の内実、Magic Apronの全店拡大まで、正確に数字を引用しながら整理します。誇張せず、確認できなかったことは正直にお伝えします。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このテーマを扱う理由です。好決算の見出しの裏にあるAIアシスタントの全店展開という動き、そして客単価上昇・客数減少という内実に注目しました。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 Depotは米国最大手のホームセンターチェーンです。一般消費者向けとプロ向けの両方に商品・サービスを提供し、近年はSRS Distribution・GMSの買収でプロ向け事業を強化しています。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2026年度Q2の主要指標を一覧にしました。売上高は478.6億ドルで市場予想を上回り、既存店売上高も前四半期から加速しています。オンライン売上高は5四半期連続の2桁成長です。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既存店売上高1.7%増の内訳を見ると、客単価は上昇していますが客数は減少しています。好決算という見出しの裏にあるこの内実を、正直にお伝えします。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オンライン売上高は前年比11%増で、5四半期連続の2桁成長を記録しました。実店舗の既存店売上高の伸びを上回るペースです。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プロ向け事業はDIY事業を上回る好調さを見せています。買収したSRS DistributionとGMSがこの成長を牽引していると経営陣が説明しています。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SRS DistributionとGMSを中心としたPro事業の詳細です。SRSは全事業分野でプラス成長を記録し、通期でも一桁台半ばの成長を見込んでいます。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Q2決算には7.3億ドルの関税還付が含まれています。うち6.85億ドルを売上原価の引き下げに充当し、今四半期の利益を押し上げる一因となりました。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関税還付の規模は7.3億ドルです。うち6.85億ドルを売上原価の引き下げに充当しました。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関税還付はQ2決算を押し上げましたが、CFOは年内にこの効果が他のコスト増で相殺される見通しであると説明しています。一時的な要因であることを正直にお伝えします。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Apronは、来店客や店舗スタッフが商品情報を尋ねられるAIアシスタントです。これまで顧客向けに展開していましたが、今回全米2,300店舗以上の店舗スタッフ向けにも展開が始まりました。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Apronは全米2,300店舗以上の店舗スタッフ向けに展開されました。これまでの顧客向け展開に加えての拡大です。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Apronの展開の流れを図にしました。顧客向けから始まり、今回店舗スタッフへ拡大し、今後はPro向けB2Bサイトへの拡張も計画されています。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2026年度Q2決算を3ステップで総括しました。売上478.6億ドル、既存店売上高1.7%増、そしてAIアシスタント『Magic Apron』の全店拡大という流れです。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Apron経由の質問件数は月間数百万件に達していると報告されています。ただしこの集計方法の詳細までは確認できていないため、留保つきで扱います。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Apronへの質問件数は月間で数百万件に達していると報告されています。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今後は店舗ごとの在庫状況を反映したローカライズ版の展開や、Pro向けB2Bサイトへの拡張が計画されています。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既存店売上高1.7%増の内実を対比しました。客単価は上昇していますが、客数自体は減少しています。この構図を正直にお伝えします。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2026年度通期のガイダンスです。調整後EPS成長率は横ばいから4.0%、売上高成長率は2.5%から4.5%を見込んでいます。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通期ガイダンスは維持されましたが、引き上げではありません。CFOは住宅市場が依然として凍結状態にあると発言しており、慎重な見方を示しています。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確認できなかったことを正直にお伝えします。質問件数の集計方法や業務効率化の具体的な数値効果は確認できていません。本テーマは投資や購入を推奨するものではありません。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調整後EPSは4.92ドルで前年比5.1%増でした。純利益は47.7億ドルで、前年同期の45.5億ドルから増加しています。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『好決算』という見出しの裏にある内実を対比しました。客数の減少や一時的な関税還付の影響、経営陣の慎重な見方まで含めて正直に整理することが重要です。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Magic Apron拡大の要点を一覧にしました。顧客向けから店舗スタッフへ、そして今後はPro向けB2Bサイトへと展開範囲が広がっています。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このニュースが読者にとって意味することをまとめました。小売・DX動向を追う立場、決算分析に関心がある立場、投資を検討する立場、それぞれで意識したい視点です。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まとめです。好決算の見出しの裏にある客数減少や一時的な関税還付の影響、そしてAIアシスタントの全店拡大という3つの軸を正直にお伝えしました。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本編は以上です。今回はHome Depotの2026年度Q2決算について、好決算の内実とAIアシスタント『Magic Apron』の全店拡大まで正確に整理してお伝えしました。数字は出典どおりに扱い、確認できなかったことは正直にお伝えしました。次回もまた出典付きでお届けします。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好決算の裏で進む</a:t>
            </a:r>
          </a:p>
          <a:p>
            <a:pPr algn="l">
              <a:lnSpc>
                <a:spcPct val="115000"/>
              </a:lnSpc>
            </a:pPr>
            <a:r>
              <a:rPr sz="4200" b="1">
                <a:solidFill>
                  <a:srgbClr val="FFFFFF"/>
                </a:solidFill>
                <a:latin typeface="Yu Gothic"/>
              </a:rPr>
              <a:t>AIアシスタント全店展開。</a:t>
            </a:r>
          </a:p>
          <a:p>
            <a:pPr algn="l">
              <a:lnSpc>
                <a:spcPct val="115000"/>
              </a:lnSpc>
            </a:pPr>
            <a:r>
              <a:rPr sz="4200" b="1">
                <a:solidFill>
                  <a:srgbClr val="FFFFFF"/>
                </a:solidFill>
                <a:latin typeface="Yu Gothic"/>
              </a:rPr>
              <a:t>Home Depot 2026年Q2決算</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2026年8月18日発表——売上478.6億ドル、『Magic Apron』は店舗スタッフにも</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CNBC・StockTitan・TradingKey・BigGo Finance(2026年8月18日)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売上478.6億ドル(+5.7%)、Magic Apronは全店スタッフへ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既存店売上高は前年比1.7%増、市場予想を上回る。同時にAIアシスタントの展開範囲が拡大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CNBC・StockTitan(2026-08-18)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Home Depotとは・基礎知識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決算の主要指標を確認する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好決算の内実(客単価上昇・客数減少・関税還付)を確認する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AIアシスタント『Magic Apron』の全店拡大を確認する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通期ガイダンス・確認できなかったこと・まとめ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着手日の前日(2026年8月18日)発表という高い鮮度の話題である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好決算の見出しの裏で、AIアシスタントの全店展開という具体的な動きがある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既存店客単価は上昇する一方、客数は減少するという内実を正直に整理できる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複数の独立した情報源(CNBC・StockTitan・TradingKey・BigGo Finance等)で確認できる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CNBC・StockTitan・TradingKey(2026-08-18)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Home Depotとは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米国最大手のホームセンター(住宅リフォーム・DIY用品)チェーン</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ニューヨーク証券取引所上場(銘柄コード HD)</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一般消費者(DIY)向けとプロ向け(Pro)の両方に商品・サービスを提供</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近年はSRS Distribution・GMSの買収でPro向け事業を強化</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CNBC・Modern Distribution Management(2026-08-18)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2026年度Q2 主要指標</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4523F"/>
                    </a:solidFill>
                  </a:tcPr>
                </a:tc>
                <a:tc>
                  <a:txBody>
                    <a:bodyPr/>
                    <a:lstStyle/>
                    <a:p>
                      <a:pPr>
                        <a:defRPr sz="1300" b="1">
                          <a:solidFill>
                            <a:srgbClr val="FFFFFF"/>
                          </a:solidFill>
                          <a:latin typeface="Yu Gothic"/>
                        </a:defRPr>
                      </a:pPr>
                      <a:r>
                        <a:t>2026年Q2(前年同期比)</a:t>
                      </a:r>
                    </a:p>
                  </a:txBody>
                  <a:tcPr>
                    <a:solidFill>
                      <a:srgbClr val="24523F"/>
                    </a:solidFill>
                  </a:tcPr>
                </a:tc>
              </a:tr>
              <a:tr h="502920">
                <a:tc>
                  <a:txBody>
                    <a:bodyPr/>
                    <a:lstStyle/>
                    <a:p>
                      <a:pPr>
                        <a:defRPr sz="1200">
                          <a:solidFill>
                            <a:srgbClr val="20261F"/>
                          </a:solidFill>
                          <a:latin typeface="Yu Gothic"/>
                        </a:defRPr>
                      </a:pPr>
                      <a:r>
                        <a:t>売上高</a:t>
                      </a:r>
                    </a:p>
                  </a:txBody>
                  <a:tcPr>
                    <a:solidFill>
                      <a:srgbClr val="FFFFFF"/>
                    </a:solidFill>
                  </a:tcPr>
                </a:tc>
                <a:tc>
                  <a:txBody>
                    <a:bodyPr/>
                    <a:lstStyle/>
                    <a:p>
                      <a:pPr>
                        <a:defRPr sz="1200">
                          <a:solidFill>
                            <a:srgbClr val="20261F"/>
                          </a:solidFill>
                          <a:latin typeface="Yu Gothic"/>
                        </a:defRPr>
                      </a:pPr>
                      <a:r>
                        <a:t>478.6億ドル(+5.7%、市場予想472.4億ドルを上回る)</a:t>
                      </a:r>
                    </a:p>
                  </a:txBody>
                  <a:tcPr>
                    <a:solidFill>
                      <a:srgbClr val="FFFFFF"/>
                    </a:solidFill>
                  </a:tcPr>
                </a:tc>
              </a:tr>
              <a:tr h="502920">
                <a:tc>
                  <a:txBody>
                    <a:bodyPr/>
                    <a:lstStyle/>
                    <a:p>
                      <a:pPr>
                        <a:defRPr sz="1200">
                          <a:solidFill>
                            <a:srgbClr val="20261F"/>
                          </a:solidFill>
                          <a:latin typeface="Yu Gothic"/>
                        </a:defRPr>
                      </a:pPr>
                      <a:r>
                        <a:t>既存店売上高</a:t>
                      </a:r>
                    </a:p>
                  </a:txBody>
                  <a:tcPr>
                    <a:solidFill>
                      <a:srgbClr val="F4F1E6"/>
                    </a:solidFill>
                  </a:tcPr>
                </a:tc>
                <a:tc>
                  <a:txBody>
                    <a:bodyPr/>
                    <a:lstStyle/>
                    <a:p>
                      <a:pPr>
                        <a:defRPr sz="1200">
                          <a:solidFill>
                            <a:srgbClr val="20261F"/>
                          </a:solidFill>
                          <a:latin typeface="Yu Gothic"/>
                        </a:defRPr>
                      </a:pPr>
                      <a:r>
                        <a:t>+1.7%(前四半期の+1.0%から加速)</a:t>
                      </a:r>
                    </a:p>
                  </a:txBody>
                  <a:tcPr>
                    <a:solidFill>
                      <a:srgbClr val="F4F1E6"/>
                    </a:solidFill>
                  </a:tcPr>
                </a:tc>
              </a:tr>
              <a:tr h="502920">
                <a:tc>
                  <a:txBody>
                    <a:bodyPr/>
                    <a:lstStyle/>
                    <a:p>
                      <a:pPr>
                        <a:defRPr sz="1200">
                          <a:solidFill>
                            <a:srgbClr val="20261F"/>
                          </a:solidFill>
                          <a:latin typeface="Yu Gothic"/>
                        </a:defRPr>
                      </a:pPr>
                      <a:r>
                        <a:t>純利益</a:t>
                      </a:r>
                    </a:p>
                  </a:txBody>
                  <a:tcPr>
                    <a:solidFill>
                      <a:srgbClr val="FFFFFF"/>
                    </a:solidFill>
                  </a:tcPr>
                </a:tc>
                <a:tc>
                  <a:txBody>
                    <a:bodyPr/>
                    <a:lstStyle/>
                    <a:p>
                      <a:pPr>
                        <a:defRPr sz="1200">
                          <a:solidFill>
                            <a:srgbClr val="20261F"/>
                          </a:solidFill>
                          <a:latin typeface="Yu Gothic"/>
                        </a:defRPr>
                      </a:pPr>
                      <a:r>
                        <a:t>47.7億ドル(1株4.79ドル)</a:t>
                      </a:r>
                    </a:p>
                  </a:txBody>
                  <a:tcPr>
                    <a:solidFill>
                      <a:srgbClr val="FFFFFF"/>
                    </a:solidFill>
                  </a:tcPr>
                </a:tc>
              </a:tr>
              <a:tr h="502920">
                <a:tc>
                  <a:txBody>
                    <a:bodyPr/>
                    <a:lstStyle/>
                    <a:p>
                      <a:pPr>
                        <a:defRPr sz="1200">
                          <a:solidFill>
                            <a:srgbClr val="20261F"/>
                          </a:solidFill>
                          <a:latin typeface="Yu Gothic"/>
                        </a:defRPr>
                      </a:pPr>
                      <a:r>
                        <a:t>調整後EPS</a:t>
                      </a:r>
                    </a:p>
                  </a:txBody>
                  <a:tcPr>
                    <a:solidFill>
                      <a:srgbClr val="F4F1E6"/>
                    </a:solidFill>
                  </a:tcPr>
                </a:tc>
                <a:tc>
                  <a:txBody>
                    <a:bodyPr/>
                    <a:lstStyle/>
                    <a:p>
                      <a:pPr>
                        <a:defRPr sz="1200">
                          <a:solidFill>
                            <a:srgbClr val="20261F"/>
                          </a:solidFill>
                          <a:latin typeface="Yu Gothic"/>
                        </a:defRPr>
                      </a:pPr>
                      <a:r>
                        <a:t>4.92ドル(+5.1%)</a:t>
                      </a:r>
                    </a:p>
                  </a:txBody>
                  <a:tcPr>
                    <a:solidFill>
                      <a:srgbClr val="F4F1E6"/>
                    </a:solidFill>
                  </a:tcPr>
                </a:tc>
              </a:tr>
              <a:tr h="502920">
                <a:tc>
                  <a:txBody>
                    <a:bodyPr/>
                    <a:lstStyle/>
                    <a:p>
                      <a:pPr>
                        <a:defRPr sz="1200">
                          <a:solidFill>
                            <a:srgbClr val="20261F"/>
                          </a:solidFill>
                          <a:latin typeface="Yu Gothic"/>
                        </a:defRPr>
                      </a:pPr>
                      <a:r>
                        <a:t>オンライン売上高</a:t>
                      </a:r>
                    </a:p>
                  </a:txBody>
                  <a:tcPr>
                    <a:solidFill>
                      <a:srgbClr val="FFFFFF"/>
                    </a:solidFill>
                  </a:tcPr>
                </a:tc>
                <a:tc>
                  <a:txBody>
                    <a:bodyPr/>
                    <a:lstStyle/>
                    <a:p>
                      <a:pPr>
                        <a:defRPr sz="1200">
                          <a:solidFill>
                            <a:srgbClr val="20261F"/>
                          </a:solidFill>
                          <a:latin typeface="Yu Gothic"/>
                        </a:defRPr>
                      </a:pPr>
                      <a:r>
                        <a:t>+11%(5四半期連続の2桁成長)</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CNBC・StockTitan・TradingKey(2026-08-18)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既存店売上高の内訳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既存店売上高1.7%増の中身です。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既存店客単価(comparable average ticket)は92.50ドルで前年同期比+2.8%</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一方、既存店客数(comparable customer transactions)は前年同期比▲1.0%</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客単価の上昇が客数の減少を相殺する形で、既存店売上高全体はプラスを維持</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『好決算』という見出しの裏で、来店客数自体は減少している点は正直に開示する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CNBC・TradingKey(2026-08-18)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オンライン売上高の伸び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前年比+11%、5四半期連続の2桁成長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実店舗の既存店売上高(+1.7%)を上回るペースで拡大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CNBC(2026-08-18)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Pro(プロ向け)事業の好調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プロ向け事業の状況です。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プロ向け顧客の実績がDIY顧客の実績を上回った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買収したSRS Distribution・GMSがPro事業の成長を牽引していると経営陣が言及</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SRSは全事業分野でプラスの既存店成長を記録し、会社全体平均を上回る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SRSは通期で一桁台半ばの有機的売上成長を見込み、年間40〜50店舗の新規出店を計画</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Modern Distribution Management・Morningstar(2026-08-18)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Pro事業の詳細(SRS・GMS)</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SRSの既存店成長</a:t>
                      </a:r>
                    </a:p>
                  </a:txBody>
                  <a:tcPr>
                    <a:solidFill>
                      <a:srgbClr val="FFFFFF"/>
                    </a:solidFill>
                  </a:tcPr>
                </a:tc>
                <a:tc>
                  <a:txBody>
                    <a:bodyPr/>
                    <a:lstStyle/>
                    <a:p>
                      <a:pPr>
                        <a:defRPr sz="1200">
                          <a:solidFill>
                            <a:srgbClr val="20261F"/>
                          </a:solidFill>
                          <a:latin typeface="Yu Gothic"/>
                        </a:defRPr>
                      </a:pPr>
                      <a:r>
                        <a:t>全事業分野でプラス、会社全体平均を上回る</a:t>
                      </a:r>
                    </a:p>
                  </a:txBody>
                  <a:tcPr>
                    <a:solidFill>
                      <a:srgbClr val="FFFFFF"/>
                    </a:solidFill>
                  </a:tcPr>
                </a:tc>
              </a:tr>
              <a:tr h="502920">
                <a:tc>
                  <a:txBody>
                    <a:bodyPr/>
                    <a:lstStyle/>
                    <a:p>
                      <a:pPr>
                        <a:defRPr sz="1200">
                          <a:solidFill>
                            <a:srgbClr val="20261F"/>
                          </a:solidFill>
                          <a:latin typeface="Yu Gothic"/>
                        </a:defRPr>
                      </a:pPr>
                      <a:r>
                        <a:t>SRSの通期見通し</a:t>
                      </a:r>
                    </a:p>
                  </a:txBody>
                  <a:tcPr>
                    <a:solidFill>
                      <a:srgbClr val="F4F1E6"/>
                    </a:solidFill>
                  </a:tcPr>
                </a:tc>
                <a:tc>
                  <a:txBody>
                    <a:bodyPr/>
                    <a:lstStyle/>
                    <a:p>
                      <a:pPr>
                        <a:defRPr sz="1200">
                          <a:solidFill>
                            <a:srgbClr val="20261F"/>
                          </a:solidFill>
                          <a:latin typeface="Yu Gothic"/>
                        </a:defRPr>
                      </a:pPr>
                      <a:r>
                        <a:t>一桁台半ばの有機的売上成長を見込む</a:t>
                      </a:r>
                    </a:p>
                  </a:txBody>
                  <a:tcPr>
                    <a:solidFill>
                      <a:srgbClr val="F4F1E6"/>
                    </a:solidFill>
                  </a:tcPr>
                </a:tc>
              </a:tr>
              <a:tr h="502920">
                <a:tc>
                  <a:txBody>
                    <a:bodyPr/>
                    <a:lstStyle/>
                    <a:p>
                      <a:pPr>
                        <a:defRPr sz="1200">
                          <a:solidFill>
                            <a:srgbClr val="20261F"/>
                          </a:solidFill>
                          <a:latin typeface="Yu Gothic"/>
                        </a:defRPr>
                      </a:pPr>
                      <a:r>
                        <a:t>SRSの出店計画</a:t>
                      </a:r>
                    </a:p>
                  </a:txBody>
                  <a:tcPr>
                    <a:solidFill>
                      <a:srgbClr val="FFFFFF"/>
                    </a:solidFill>
                  </a:tcPr>
                </a:tc>
                <a:tc>
                  <a:txBody>
                    <a:bodyPr/>
                    <a:lstStyle/>
                    <a:p>
                      <a:pPr>
                        <a:defRPr sz="1200">
                          <a:solidFill>
                            <a:srgbClr val="20261F"/>
                          </a:solidFill>
                          <a:latin typeface="Yu Gothic"/>
                        </a:defRPr>
                      </a:pPr>
                      <a:r>
                        <a:t>年間40〜50店舗の新規出店</a:t>
                      </a:r>
                    </a:p>
                  </a:txBody>
                  <a:tcPr>
                    <a:solidFill>
                      <a:srgbClr val="FFFFFF"/>
                    </a:solidFill>
                  </a:tcPr>
                </a:tc>
              </a:tr>
              <a:tr h="502920">
                <a:tc>
                  <a:txBody>
                    <a:bodyPr/>
                    <a:lstStyle/>
                    <a:p>
                      <a:pPr>
                        <a:defRPr sz="1200">
                          <a:solidFill>
                            <a:srgbClr val="20261F"/>
                          </a:solidFill>
                          <a:latin typeface="Yu Gothic"/>
                        </a:defRPr>
                      </a:pPr>
                      <a:r>
                        <a:t>Pro事業全体の傾向</a:t>
                      </a:r>
                    </a:p>
                  </a:txBody>
                  <a:tcPr>
                    <a:solidFill>
                      <a:srgbClr val="F4F1E6"/>
                    </a:solidFill>
                  </a:tcPr>
                </a:tc>
                <a:tc>
                  <a:txBody>
                    <a:bodyPr/>
                    <a:lstStyle/>
                    <a:p>
                      <a:pPr>
                        <a:defRPr sz="1200">
                          <a:solidFill>
                            <a:srgbClr val="20261F"/>
                          </a:solidFill>
                          <a:latin typeface="Yu Gothic"/>
                        </a:defRPr>
                      </a:pPr>
                      <a:r>
                        <a:t>DIY事業の実績を上回る</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Modern Distribution Management(2026-08-18)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関税還付の内容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Q2決算に含まれる関税還付の内容です。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Q2に7.3億ドルの関税還付を受領</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うち6.85億ドルを売上原価の引き下げに充当</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残り4,500万ドルは在庫に計上</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この還付が今四半期の利益を押し上げる一因となった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TradingKey・BigGo Finance(2026-08-18)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関税還付の規模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7.3億ドル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うち6.85億ドルを売上原価引き下げに充当、残り4,500万ドルは在庫に計上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TradingKey・BigGo Finance(2026-08-18)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関税還付の押し上げ効果 vs 今後の見通し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Q2決算への押し上げ効果</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7.3億ドルの関税還付を受領</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6.85億ドルを売上原価引き下げに充当</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調整後EPSは前年比+5.1%と好調</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CFOによる今後の見通し</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関税還付は年内に燃料・エネルギー等のコスト増で相殺される見通し</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一時的な押し上げ要因である旨をCFOが明言</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通期ガイダンスは還付を織り込んだ上で維持</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AIアシスタント『Magic Apron』とは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決算コールで拡大が明らかになったAIツールです。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来店客・店舗スタッフが商品の場所や商品・プロジェクトに関する情報を尋ねられるAIアシスタント</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これまでhomedepot.comの商品ページやモバイルアプリで顧客向けに展開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初出は2024年のプレスリリースであり、本テーマが扱うのはあくまで今回の拡大の続報である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今四半期から、全米2,300店舗以上の店舗スタッフ向けにも展開を開始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 Finance・HBS Dealer・The Home Depot公式ニュースルーム(2026-08-18)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Magic Apronの展開規模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全米2,300店舗以上のスタッフへ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これまでの顧客向け展開に加え、店舗スタッフ向けにも拡大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HBS Dealer(2026-08-18)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Magic Apron展開の流れ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顧客向け展開(2024年〜)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homedepot.com・モバイルアプリ</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店舗スタッフへ拡大(2026年Q2)</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全米2,300店舗以上</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Pro向けB2Bサイトへ拡張予定</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今後の計画として言及</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顧客向けから店舗スタッフ、Pro向けへと展開範囲が広がる流れ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HBS Dealer・Retail TouchPoints(2026-08-18)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2026年度Q2決算の3ステップ総括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1. 売上478.6億ドル</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前年比5.7%増、市場予想を上回る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 既存店売上高+1.7%</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客単価上昇が客数減少を相殺</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3. Magic Apron全店拡大</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AIアシスタントが店舗スタッフ2,300店舗以上へ</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Magic Apronの利用状況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実際の利用状況です。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顧客からの質問件数は月間で数百万件に達していると報告されている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この数字は決算コール・報道での言及に基づくものであり、正式な決算資料上の集計方法までは確認できていない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商品ページ上での質問対応に加え、プロジェクト・商品情報の案内にも活用されている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店舗スタッフ向け展開により、店舗内でのアイテム検索・案内にも活用範囲が広がった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Inc.com・Yahoo Finance(2026-08-18)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月間の質問件数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数百万件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顧客からMagic Apronへの質問件数(決算コールでの言及に基づく)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Inc.com(2026-08-18)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ローカライズ機能・今後の展開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今後の機能拡張の方向性です。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店舗ごとの在庫状況を反映した、よりローカライズされたバージョンの展開を進行中</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来店中の店舗で実際に在庫がある商品を踏まえて回答をカスタマイズする機能</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今後はPro向けB2Bサイトへの拡張も計画されている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プロ契約者・法人アカウント向けに特化したサポートを提供する方向性が示されている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Inc.com・Retail TouchPoints(2026-08-18)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既存店売上高の内実:客単価 vs 客数</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既存店客単価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92.50ドル</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前年同期比+2.8%</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既存店売上高の伸びを支えた要因</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既存店客数</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前年同期比▲1.0%</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来店客数自体は減少している</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客単価の上昇がこれを相殺している構図</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2026年度 通期ガイダンス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4523F"/>
                    </a:solidFill>
                  </a:tcPr>
                </a:tc>
                <a:tc>
                  <a:txBody>
                    <a:bodyPr/>
                    <a:lstStyle/>
                    <a:p>
                      <a:pPr>
                        <a:defRPr sz="1300" b="1">
                          <a:solidFill>
                            <a:srgbClr val="FFFFFF"/>
                          </a:solidFill>
                          <a:latin typeface="Yu Gothic"/>
                        </a:defRPr>
                      </a:pPr>
                      <a:r>
                        <a:t>通期ガイダンス</a:t>
                      </a:r>
                    </a:p>
                  </a:txBody>
                  <a:tcPr>
                    <a:solidFill>
                      <a:srgbClr val="24523F"/>
                    </a:solidFill>
                  </a:tcPr>
                </a:tc>
              </a:tr>
              <a:tr h="502920">
                <a:tc>
                  <a:txBody>
                    <a:bodyPr/>
                    <a:lstStyle/>
                    <a:p>
                      <a:pPr>
                        <a:defRPr sz="1200">
                          <a:solidFill>
                            <a:srgbClr val="20261F"/>
                          </a:solidFill>
                          <a:latin typeface="Yu Gothic"/>
                        </a:defRPr>
                      </a:pPr>
                      <a:r>
                        <a:t>調整後EPS成長率</a:t>
                      </a:r>
                    </a:p>
                  </a:txBody>
                  <a:tcPr>
                    <a:solidFill>
                      <a:srgbClr val="FFFFFF"/>
                    </a:solidFill>
                  </a:tcPr>
                </a:tc>
                <a:tc>
                  <a:txBody>
                    <a:bodyPr/>
                    <a:lstStyle/>
                    <a:p>
                      <a:pPr>
                        <a:defRPr sz="1200">
                          <a:solidFill>
                            <a:srgbClr val="20261F"/>
                          </a:solidFill>
                          <a:latin typeface="Yu Gothic"/>
                        </a:defRPr>
                      </a:pPr>
                      <a:r>
                        <a:t>前年度(14.69ドル)比 横ばい〜+4.0%(14.69〜15.28ドル)</a:t>
                      </a:r>
                    </a:p>
                  </a:txBody>
                  <a:tcPr>
                    <a:solidFill>
                      <a:srgbClr val="FFFFFF"/>
                    </a:solidFill>
                  </a:tcPr>
                </a:tc>
              </a:tr>
              <a:tr h="502920">
                <a:tc>
                  <a:txBody>
                    <a:bodyPr/>
                    <a:lstStyle/>
                    <a:p>
                      <a:pPr>
                        <a:defRPr sz="1200">
                          <a:solidFill>
                            <a:srgbClr val="20261F"/>
                          </a:solidFill>
                          <a:latin typeface="Yu Gothic"/>
                        </a:defRPr>
                      </a:pPr>
                      <a:r>
                        <a:t>売上高成長率</a:t>
                      </a:r>
                    </a:p>
                  </a:txBody>
                  <a:tcPr>
                    <a:solidFill>
                      <a:srgbClr val="F4F1E6"/>
                    </a:solidFill>
                  </a:tcPr>
                </a:tc>
                <a:tc>
                  <a:txBody>
                    <a:bodyPr/>
                    <a:lstStyle/>
                    <a:p>
                      <a:pPr>
                        <a:defRPr sz="1200">
                          <a:solidFill>
                            <a:srgbClr val="20261F"/>
                          </a:solidFill>
                          <a:latin typeface="Yu Gothic"/>
                        </a:defRPr>
                      </a:pPr>
                      <a:r>
                        <a:t>約+2.5%〜+4.5%</a:t>
                      </a:r>
                    </a:p>
                  </a:txBody>
                  <a:tcPr>
                    <a:solidFill>
                      <a:srgbClr val="F4F1E6"/>
                    </a:solidFill>
                  </a:tcPr>
                </a:tc>
              </a:tr>
              <a:tr h="502920">
                <a:tc>
                  <a:txBody>
                    <a:bodyPr/>
                    <a:lstStyle/>
                    <a:p>
                      <a:pPr>
                        <a:defRPr sz="1200">
                          <a:solidFill>
                            <a:srgbClr val="20261F"/>
                          </a:solidFill>
                          <a:latin typeface="Yu Gothic"/>
                        </a:defRPr>
                      </a:pPr>
                      <a:r>
                        <a:t>既存店売上高</a:t>
                      </a:r>
                    </a:p>
                  </a:txBody>
                  <a:tcPr>
                    <a:solidFill>
                      <a:srgbClr val="FFFFFF"/>
                    </a:solidFill>
                  </a:tcPr>
                </a:tc>
                <a:tc>
                  <a:txBody>
                    <a:bodyPr/>
                    <a:lstStyle/>
                    <a:p>
                      <a:pPr>
                        <a:defRPr sz="1200">
                          <a:solidFill>
                            <a:srgbClr val="20261F"/>
                          </a:solidFill>
                          <a:latin typeface="Yu Gothic"/>
                        </a:defRPr>
                      </a:pPr>
                      <a:r>
                        <a:t>ほぼ横ばい〜+2%</a:t>
                      </a:r>
                    </a:p>
                  </a:txBody>
                  <a:tcPr>
                    <a:solidFill>
                      <a:srgbClr val="FFFFFF"/>
                    </a:solidFill>
                  </a:tcPr>
                </a:tc>
              </a:tr>
              <a:tr h="502920">
                <a:tc>
                  <a:txBody>
                    <a:bodyPr/>
                    <a:lstStyle/>
                    <a:p>
                      <a:pPr>
                        <a:defRPr sz="1200">
                          <a:solidFill>
                            <a:srgbClr val="20261F"/>
                          </a:solidFill>
                          <a:latin typeface="Yu Gothic"/>
                        </a:defRPr>
                      </a:pPr>
                      <a:r>
                        <a:t>関税還付の扱い</a:t>
                      </a:r>
                    </a:p>
                  </a:txBody>
                  <a:tcPr>
                    <a:solidFill>
                      <a:srgbClr val="F4F1E6"/>
                    </a:solidFill>
                  </a:tcPr>
                </a:tc>
                <a:tc>
                  <a:txBody>
                    <a:bodyPr/>
                    <a:lstStyle/>
                    <a:p>
                      <a:pPr>
                        <a:defRPr sz="1200">
                          <a:solidFill>
                            <a:srgbClr val="20261F"/>
                          </a:solidFill>
                          <a:latin typeface="Yu Gothic"/>
                        </a:defRPr>
                      </a:pPr>
                      <a:r>
                        <a:t>年内に燃料・エネルギー等のコスト増で相殺される見通し</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 Finance・TradingView News(2026-08-18)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通期ガイダンスの内容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通期ガイダンスに関する補足です。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Q2決算が市場予想を上回ったことを受け、既存の通期ガイダンスを維持(reaffirm)</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ガイダンスには関税還付が燃料・エネルギー等のコスト増で相殺される前提が織り込まれている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CFOは『住宅市場は依然として凍結状態にある(frozen housing market conditions)』と発言しており、マクロ環境への慎重な見方を示している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通期ガイダンスの引き上げは行っておらず、あくまで現状維持である点は正確に扱う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 Finance・TradingView News(2026-08-18)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Magic Apron経由の質問件数『月間数百万件』の正式な集計方法・定義は確認できていない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Magic Apronの店舗スタッフ向け展開による具体的な業務効率化の数値効果(時間短縮等)は確認できていない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SRS・GMSの買収がPro事業全体の売上高に占める具体的な寄与度は本調査の範囲では確認できていない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本テーマはHome Depot製品・株式の購入や投資を推奨するものではなく、報じられた経営指標の紹介にとどめる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調整後EPSの伸び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4.92ドル、前年比+5.1%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純利益は47.7億ドル(1株4.79ドル)、前年同期の45.5億ドルから増加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CNBC・StockTitan(2026-08-18)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『好決算』の見出し vs 内実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見出しとして伝えられる内容</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売上高478.6億ドル、前年比+5.7%</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市場予想を上回る好決算</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株価も上昇(前日比1%超)</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数字の内実</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既存店客数は前年比▲1.0%で減少</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利益の一部は一時的な関税還付7.3億ドルによる押し上げ</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CFOは住宅市場が『凍結状態』にあると慎重な見方</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Magic Apron拡大の要点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展開範囲</a:t>
                      </a:r>
                    </a:p>
                  </a:txBody>
                  <a:tcPr>
                    <a:solidFill>
                      <a:srgbClr val="FFFFFF"/>
                    </a:solidFill>
                  </a:tcPr>
                </a:tc>
                <a:tc>
                  <a:txBody>
                    <a:bodyPr/>
                    <a:lstStyle/>
                    <a:p>
                      <a:pPr>
                        <a:defRPr sz="1200">
                          <a:solidFill>
                            <a:srgbClr val="20261F"/>
                          </a:solidFill>
                          <a:latin typeface="Yu Gothic"/>
                        </a:defRPr>
                      </a:pPr>
                      <a:r>
                        <a:t>顧客向け(2024年〜)→店舗スタッフ(2026年Q2、2,300店舗以上)</a:t>
                      </a:r>
                    </a:p>
                  </a:txBody>
                  <a:tcPr>
                    <a:solidFill>
                      <a:srgbClr val="FFFFFF"/>
                    </a:solidFill>
                  </a:tcPr>
                </a:tc>
              </a:tr>
              <a:tr h="502920">
                <a:tc>
                  <a:txBody>
                    <a:bodyPr/>
                    <a:lstStyle/>
                    <a:p>
                      <a:pPr>
                        <a:defRPr sz="1200">
                          <a:solidFill>
                            <a:srgbClr val="20261F"/>
                          </a:solidFill>
                          <a:latin typeface="Yu Gothic"/>
                        </a:defRPr>
                      </a:pPr>
                      <a:r>
                        <a:t>利用状況</a:t>
                      </a:r>
                    </a:p>
                  </a:txBody>
                  <a:tcPr>
                    <a:solidFill>
                      <a:srgbClr val="F4F1E6"/>
                    </a:solidFill>
                  </a:tcPr>
                </a:tc>
                <a:tc>
                  <a:txBody>
                    <a:bodyPr/>
                    <a:lstStyle/>
                    <a:p>
                      <a:pPr>
                        <a:defRPr sz="1200">
                          <a:solidFill>
                            <a:srgbClr val="20261F"/>
                          </a:solidFill>
                          <a:latin typeface="Yu Gothic"/>
                        </a:defRPr>
                      </a:pPr>
                      <a:r>
                        <a:t>月間数百万件の質問(報道ベース)</a:t>
                      </a:r>
                    </a:p>
                  </a:txBody>
                  <a:tcPr>
                    <a:solidFill>
                      <a:srgbClr val="F4F1E6"/>
                    </a:solidFill>
                  </a:tcPr>
                </a:tc>
              </a:tr>
              <a:tr h="502920">
                <a:tc>
                  <a:txBody>
                    <a:bodyPr/>
                    <a:lstStyle/>
                    <a:p>
                      <a:pPr>
                        <a:defRPr sz="1200">
                          <a:solidFill>
                            <a:srgbClr val="20261F"/>
                          </a:solidFill>
                          <a:latin typeface="Yu Gothic"/>
                        </a:defRPr>
                      </a:pPr>
                      <a:r>
                        <a:t>今後の機能</a:t>
                      </a:r>
                    </a:p>
                  </a:txBody>
                  <a:tcPr>
                    <a:solidFill>
                      <a:srgbClr val="FFFFFF"/>
                    </a:solidFill>
                  </a:tcPr>
                </a:tc>
                <a:tc>
                  <a:txBody>
                    <a:bodyPr/>
                    <a:lstStyle/>
                    <a:p>
                      <a:pPr>
                        <a:defRPr sz="1200">
                          <a:solidFill>
                            <a:srgbClr val="20261F"/>
                          </a:solidFill>
                          <a:latin typeface="Yu Gothic"/>
                        </a:defRPr>
                      </a:pPr>
                      <a:r>
                        <a:t>店舗ごとの在庫を反映したローカライズ版</a:t>
                      </a:r>
                    </a:p>
                  </a:txBody>
                  <a:tcPr>
                    <a:solidFill>
                      <a:srgbClr val="FFFFFF"/>
                    </a:solidFill>
                  </a:tcPr>
                </a:tc>
              </a:tr>
              <a:tr h="502920">
                <a:tc>
                  <a:txBody>
                    <a:bodyPr/>
                    <a:lstStyle/>
                    <a:p>
                      <a:pPr>
                        <a:defRPr sz="1200">
                          <a:solidFill>
                            <a:srgbClr val="20261F"/>
                          </a:solidFill>
                          <a:latin typeface="Yu Gothic"/>
                        </a:defRPr>
                      </a:pPr>
                      <a:r>
                        <a:t>今後の展開先</a:t>
                      </a:r>
                    </a:p>
                  </a:txBody>
                  <a:tcPr>
                    <a:solidFill>
                      <a:srgbClr val="F4F1E6"/>
                    </a:solidFill>
                  </a:tcPr>
                </a:tc>
                <a:tc>
                  <a:txBody>
                    <a:bodyPr/>
                    <a:lstStyle/>
                    <a:p>
                      <a:pPr>
                        <a:defRPr sz="1200">
                          <a:solidFill>
                            <a:srgbClr val="20261F"/>
                          </a:solidFill>
                          <a:latin typeface="Yu Gothic"/>
                        </a:defRPr>
                      </a:pPr>
                      <a:r>
                        <a:t>Pro向けB2Bサイトへの拡張を計画</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HBS Dealer・Inc.com・Retail TouchPoints(2026-08-18)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小売・DX動向を追う立場として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AIアシスタントが顧客向けから従業員向け業務ツールへと展開範囲を広げる事例として参考になる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決算・企業分析に関心がある立場として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売上高の見出しだけでなく、客単価・客数・一時的要因まで確認する必要がある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関税還付という一時的な押し上げ要因と、通期ガイダンスの位置づけを区別して見る視点が役立つ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本編のまとめです。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Home Depotの2026年度Q2売上高は478.6億ドルで前年比5.7%増、市場予想を上回った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既存店売上高は客単価上昇(+2.8%)が客数減少(▲1.0%)を相殺する形でプラスを維持</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AIアシスタント『Magic Apron』が全米2,300店舗以上の店舗スタッフへ展開拡大</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関税還付7.3億ドルという一時的な押し上げ要因があり、通期ガイダンスは維持(引き上げではない)にとどまる点を正直に開示した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CNBC・StockTitan・TradingKey・BigGo Finance(2026-08-18)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好決算の裏側で、AIアシスタントは静かに全店へ。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Home Depotの2026年度Q2決算は売上478.6億ドル(前年比+5.7%)という好決算でしたが、客数減少や一時的な関税還付という内実もありました。同時に、AIアシスタント『Magic Apron』が全米2,300店舗以上のスタッフへ展開されたことまで、出典付きで整理してお届けしました。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