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冒頭で具体的な事実を即座に提示し、挨拶なしで核心から入る(2026-07-24のエンゲージメント設計ルールに基づく)。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中核4社に加え、メガバンク3行や電機・自動車・製薬・建設・金融など幅広い業種の企業が参加。</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主な計画を整理する。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国の支援規模を表で整理する。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体制の構造を図で示す。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今回の主なニュースであるシャープの動きを表で整理する。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技術的な違いを対比で見せる。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国産開発の背景について紹介する。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複数情報源での事実確認結果を表で示す。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想定利用者像を整理する。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想定される疑問に先回りして答える。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正直に、含まれなかったものも伝える。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見送った候補も具体的に共有する。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転換パート。ここから実践的な話に入る。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出来事の紹介だけで終わらせず、読み手にとっての意味を扱う。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実際に動向を追う前のチェックリストとして提示する。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個人視点も扱う。</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不明点を正直に「不明」と明言する。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政治・対立を煽らないという制作方針を明確に伝える。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検品結果を表でまとめる。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出典を短く再掲する。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オープンループで次回への引き。</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最終スライド。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44社・国費1兆円規模。日本発の「フィジカルAI」が動き出した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国産マルチモーダル基盤モデル開発「Noetra」にシャープが出資、国家プロジェクトが本格始動(2026年7月)</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ソフトバンク公式, シャープ公式(PR TIMES), ロボスタ(2026-07)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承: Noetraの計画を詳しく見る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転: なぜ今このタイミングか、これは何を意味するか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結: 不明点・リスク配慮・まとめ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フィジカルAI</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現実の物理空間で、機械やロボットが状況を認識し自律的に判断・動作するための頭脳となるAI技術</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マルチモーダル基盤モデル</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言語・画像・音声など複数の種類のデータを扱える、様々な用途に応用できる土台となるAIモデル</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何が起きたか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新会社</a:t>
                      </a:r>
                    </a:p>
                  </a:txBody>
                  <a:tcPr>
                    <a:solidFill>
                      <a:srgbClr val="FFFFFF"/>
                    </a:solidFill>
                  </a:tcPr>
                </a:tc>
                <a:tc>
                  <a:txBody>
                    <a:bodyPr/>
                    <a:lstStyle/>
                    <a:p>
                      <a:pPr>
                        <a:defRPr sz="1200">
                          <a:solidFill>
                            <a:srgbClr val="1A1A2E"/>
                          </a:solidFill>
                          <a:latin typeface="Yu Gothic"/>
                        </a:defRPr>
                      </a:pPr>
                      <a:r>
                        <a:t>Noetra(2026年7月1日事業開始)</a:t>
                      </a:r>
                    </a:p>
                  </a:txBody>
                  <a:tcPr>
                    <a:solidFill>
                      <a:srgbClr val="FFFFFF"/>
                    </a:solidFill>
                  </a:tcPr>
                </a:tc>
              </a:tr>
              <a:tr h="502920">
                <a:tc>
                  <a:txBody>
                    <a:bodyPr/>
                    <a:lstStyle/>
                    <a:p>
                      <a:pPr>
                        <a:defRPr sz="1200">
                          <a:solidFill>
                            <a:srgbClr val="1A1A2E"/>
                          </a:solidFill>
                          <a:latin typeface="Yu Gothic"/>
                        </a:defRPr>
                      </a:pPr>
                      <a:r>
                        <a:t>本格着手発表</a:t>
                      </a:r>
                    </a:p>
                  </a:txBody>
                  <a:tcPr>
                    <a:solidFill>
                      <a:srgbClr val="F3F6FC"/>
                    </a:solidFill>
                  </a:tcPr>
                </a:tc>
                <a:tc>
                  <a:txBody>
                    <a:bodyPr/>
                    <a:lstStyle/>
                    <a:p>
                      <a:pPr>
                        <a:defRPr sz="1200">
                          <a:solidFill>
                            <a:srgbClr val="1A1A2E"/>
                          </a:solidFill>
                          <a:latin typeface="Yu Gothic"/>
                        </a:defRPr>
                      </a:pPr>
                      <a:r>
                        <a:t>2026年7月16日</a:t>
                      </a:r>
                    </a:p>
                  </a:txBody>
                  <a:tcPr>
                    <a:solidFill>
                      <a:srgbClr val="F3F6FC"/>
                    </a:solidFill>
                  </a:tcPr>
                </a:tc>
              </a:tr>
              <a:tr h="502920">
                <a:tc>
                  <a:txBody>
                    <a:bodyPr/>
                    <a:lstStyle/>
                    <a:p>
                      <a:pPr>
                        <a:defRPr sz="1200">
                          <a:solidFill>
                            <a:srgbClr val="1A1A2E"/>
                          </a:solidFill>
                          <a:latin typeface="Yu Gothic"/>
                        </a:defRPr>
                      </a:pPr>
                      <a:r>
                        <a:t>出資企業数</a:t>
                      </a:r>
                    </a:p>
                  </a:txBody>
                  <a:tcPr>
                    <a:solidFill>
                      <a:srgbClr val="FFFFFF"/>
                    </a:solidFill>
                  </a:tcPr>
                </a:tc>
                <a:tc>
                  <a:txBody>
                    <a:bodyPr/>
                    <a:lstStyle/>
                    <a:p>
                      <a:pPr>
                        <a:defRPr sz="1200">
                          <a:solidFill>
                            <a:srgbClr val="1A1A2E"/>
                          </a:solidFill>
                          <a:latin typeface="Yu Gothic"/>
                        </a:defRPr>
                      </a:pPr>
                      <a:r>
                        <a:t>44社(中核4社: ソニーグループ・ソフトバンク・NEC・ホンダ)</a:t>
                      </a:r>
                    </a:p>
                  </a:txBody>
                  <a:tcPr>
                    <a:solidFill>
                      <a:srgbClr val="FFFFFF"/>
                    </a:solidFill>
                  </a:tcPr>
                </a:tc>
              </a:tr>
              <a:tr h="502920">
                <a:tc>
                  <a:txBody>
                    <a:bodyPr/>
                    <a:lstStyle/>
                    <a:p>
                      <a:pPr>
                        <a:defRPr sz="1200">
                          <a:solidFill>
                            <a:srgbClr val="1A1A2E"/>
                          </a:solidFill>
                          <a:latin typeface="Yu Gothic"/>
                        </a:defRPr>
                      </a:pPr>
                      <a:r>
                        <a:t>最新の動き</a:t>
                      </a:r>
                    </a:p>
                  </a:txBody>
                  <a:tcPr>
                    <a:solidFill>
                      <a:srgbClr val="F3F6FC"/>
                    </a:solidFill>
                  </a:tcPr>
                </a:tc>
                <a:tc>
                  <a:txBody>
                    <a:bodyPr/>
                    <a:lstStyle/>
                    <a:p>
                      <a:pPr>
                        <a:defRPr sz="1200">
                          <a:solidFill>
                            <a:srgbClr val="1A1A2E"/>
                          </a:solidFill>
                          <a:latin typeface="Yu Gothic"/>
                        </a:defRPr>
                      </a:pPr>
                      <a:r>
                        <a:t>シャープが新たに出資(2026年7月22〜24日報道)</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ソフトバンク公式プレスリリース(2026-07-16)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出資企業数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44社</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ソフトバンク公式発表による(2026年7月16日時点)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ソフトバンク公式プレスリリース(2026-07-16)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Noetraの主な計画</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実世界モデルの開発</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言語・画像・音声・動画・触覚センサーデータを扱う1兆パラメータのマルチモーダルモデル</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専用データセンター</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大阪府堺市にNVIDIA製GPU「Rubin」約2万7,500基を用いた計算拠点を構築</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稼働目標</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2028年度の稼働を目指す</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IT Leaders(2026-07-24時点)</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国の支援規模</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採択事業</a:t>
                      </a:r>
                    </a:p>
                  </a:txBody>
                  <a:tcPr>
                    <a:solidFill>
                      <a:srgbClr val="FFFFFF"/>
                    </a:solidFill>
                  </a:tcPr>
                </a:tc>
                <a:tc>
                  <a:txBody>
                    <a:bodyPr/>
                    <a:lstStyle/>
                    <a:p>
                      <a:pPr>
                        <a:defRPr sz="1200">
                          <a:solidFill>
                            <a:srgbClr val="1A1A2E"/>
                          </a:solidFill>
                          <a:latin typeface="Yu Gothic"/>
                        </a:defRPr>
                      </a:pPr>
                      <a:r>
                        <a:t>NEDO「AIロボット・フィジカルAIを見据えたマルチモーダル基盤モデル開発事業」</a:t>
                      </a:r>
                    </a:p>
                  </a:txBody>
                  <a:tcPr>
                    <a:solidFill>
                      <a:srgbClr val="FFFFFF"/>
                    </a:solidFill>
                  </a:tcPr>
                </a:tc>
              </a:tr>
              <a:tr h="502920">
                <a:tc>
                  <a:txBody>
                    <a:bodyPr/>
                    <a:lstStyle/>
                    <a:p>
                      <a:pPr>
                        <a:defRPr sz="1200">
                          <a:solidFill>
                            <a:srgbClr val="1A1A2E"/>
                          </a:solidFill>
                          <a:latin typeface="Yu Gothic"/>
                        </a:defRPr>
                      </a:pPr>
                      <a:r>
                        <a:t>2026年度予算</a:t>
                      </a:r>
                    </a:p>
                  </a:txBody>
                  <a:tcPr>
                    <a:solidFill>
                      <a:srgbClr val="F3F6FC"/>
                    </a:solidFill>
                  </a:tcPr>
                </a:tc>
                <a:tc>
                  <a:txBody>
                    <a:bodyPr/>
                    <a:lstStyle/>
                    <a:p>
                      <a:pPr>
                        <a:defRPr sz="1200">
                          <a:solidFill>
                            <a:srgbClr val="1A1A2E"/>
                          </a:solidFill>
                          <a:latin typeface="Yu Gothic"/>
                        </a:defRPr>
                      </a:pPr>
                      <a:r>
                        <a:t>3,873億円</a:t>
                      </a:r>
                    </a:p>
                  </a:txBody>
                  <a:tcPr>
                    <a:solidFill>
                      <a:srgbClr val="F3F6FC"/>
                    </a:solidFill>
                  </a:tcPr>
                </a:tc>
              </a:tr>
              <a:tr h="502920">
                <a:tc>
                  <a:txBody>
                    <a:bodyPr/>
                    <a:lstStyle/>
                    <a:p>
                      <a:pPr>
                        <a:defRPr sz="1200">
                          <a:solidFill>
                            <a:srgbClr val="1A1A2E"/>
                          </a:solidFill>
                          <a:latin typeface="Yu Gothic"/>
                        </a:defRPr>
                      </a:pPr>
                      <a:r>
                        <a:t>5年間の総事業規模見通し</a:t>
                      </a:r>
                    </a:p>
                  </a:txBody>
                  <a:tcPr>
                    <a:solidFill>
                      <a:srgbClr val="FFFFFF"/>
                    </a:solidFill>
                  </a:tcPr>
                </a:tc>
                <a:tc>
                  <a:txBody>
                    <a:bodyPr/>
                    <a:lstStyle/>
                    <a:p>
                      <a:pPr>
                        <a:defRPr sz="1200">
                          <a:solidFill>
                            <a:srgbClr val="1A1A2E"/>
                          </a:solidFill>
                          <a:latin typeface="Yu Gothic"/>
                        </a:defRPr>
                      </a:pPr>
                      <a:r>
                        <a:t>総額1兆円規模(2026〜2030年度)</a:t>
                      </a:r>
                    </a:p>
                  </a:txBody>
                  <a:tcPr>
                    <a:solidFill>
                      <a:srgbClr val="FFFFFF"/>
                    </a:solidFill>
                  </a:tcPr>
                </a:tc>
              </a:tr>
              <a:tr h="502920">
                <a:tc>
                  <a:txBody>
                    <a:bodyPr/>
                    <a:lstStyle/>
                    <a:p>
                      <a:pPr>
                        <a:defRPr sz="1200">
                          <a:solidFill>
                            <a:srgbClr val="1A1A2E"/>
                          </a:solidFill>
                          <a:latin typeface="Yu Gothic"/>
                        </a:defRPr>
                      </a:pPr>
                      <a:r>
                        <a:t>契約方式</a:t>
                      </a:r>
                    </a:p>
                  </a:txBody>
                  <a:tcPr>
                    <a:solidFill>
                      <a:srgbClr val="F3F6FC"/>
                    </a:solidFill>
                  </a:tcPr>
                </a:tc>
                <a:tc>
                  <a:txBody>
                    <a:bodyPr/>
                    <a:lstStyle/>
                    <a:p>
                      <a:pPr>
                        <a:defRPr sz="1200">
                          <a:solidFill>
                            <a:srgbClr val="1A1A2E"/>
                          </a:solidFill>
                          <a:latin typeface="Yu Gothic"/>
                        </a:defRPr>
                      </a:pPr>
                      <a:r>
                        <a:t>2026・2027年度分のみ契約、以降は毎年度のステージゲート審査で継続可否を判断</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ロボスタ(2026-07-01/07-16)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Noetraの体制</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中核4社が出資</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ソニーグループ・ソフトバンク・NEC・ホンダ</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44社の企業連合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メガバンク3行、電機・自動車・製薬・建設・金融など幅広い業種</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国が資金支援</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経済産業省・NEDOが最大1兆円規模を支援</a:t>
            </a:r>
          </a:p>
        </p:txBody>
      </p:sp>
      <p:sp>
        <p:nvSpPr>
          <p:cNvPr id="20" name="TextBox 19"/>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ソフトバンク公式プレスリリース(2026-07-16)</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シャープの新規出資(最新の動き)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発表時期</a:t>
                      </a:r>
                    </a:p>
                  </a:txBody>
                  <a:tcPr>
                    <a:solidFill>
                      <a:srgbClr val="FFFFFF"/>
                    </a:solidFill>
                  </a:tcPr>
                </a:tc>
                <a:tc>
                  <a:txBody>
                    <a:bodyPr/>
                    <a:lstStyle/>
                    <a:p>
                      <a:pPr>
                        <a:defRPr sz="1200">
                          <a:solidFill>
                            <a:srgbClr val="1A1A2E"/>
                          </a:solidFill>
                          <a:latin typeface="Yu Gothic"/>
                        </a:defRPr>
                      </a:pPr>
                      <a:r>
                        <a:t>2026年7月22〜24日</a:t>
                      </a:r>
                    </a:p>
                  </a:txBody>
                  <a:tcPr>
                    <a:solidFill>
                      <a:srgbClr val="FFFFFF"/>
                    </a:solidFill>
                  </a:tcPr>
                </a:tc>
              </a:tr>
              <a:tr h="502920">
                <a:tc>
                  <a:txBody>
                    <a:bodyPr/>
                    <a:lstStyle/>
                    <a:p>
                      <a:pPr>
                        <a:defRPr sz="1200">
                          <a:solidFill>
                            <a:srgbClr val="1A1A2E"/>
                          </a:solidFill>
                          <a:latin typeface="Yu Gothic"/>
                        </a:defRPr>
                      </a:pPr>
                      <a:r>
                        <a:t>内容</a:t>
                      </a:r>
                    </a:p>
                  </a:txBody>
                  <a:tcPr>
                    <a:solidFill>
                      <a:srgbClr val="F3F6FC"/>
                    </a:solidFill>
                  </a:tcPr>
                </a:tc>
                <a:tc>
                  <a:txBody>
                    <a:bodyPr/>
                    <a:lstStyle/>
                    <a:p>
                      <a:pPr>
                        <a:defRPr sz="1200">
                          <a:solidFill>
                            <a:srgbClr val="1A1A2E"/>
                          </a:solidFill>
                          <a:latin typeface="Yu Gothic"/>
                        </a:defRPr>
                      </a:pPr>
                      <a:r>
                        <a:t>ソフトバンク・ホンダなどが主導するNoetraへの出資を発表</a:t>
                      </a:r>
                    </a:p>
                  </a:txBody>
                  <a:tcPr>
                    <a:solidFill>
                      <a:srgbClr val="F3F6FC"/>
                    </a:solidFill>
                  </a:tcPr>
                </a:tc>
              </a:tr>
              <a:tr h="502920">
                <a:tc>
                  <a:txBody>
                    <a:bodyPr/>
                    <a:lstStyle/>
                    <a:p>
                      <a:pPr>
                        <a:defRPr sz="1200">
                          <a:solidFill>
                            <a:srgbClr val="1A1A2E"/>
                          </a:solidFill>
                          <a:latin typeface="Yu Gothic"/>
                        </a:defRPr>
                      </a:pPr>
                      <a:r>
                        <a:t>位置づけ</a:t>
                      </a:r>
                    </a:p>
                  </a:txBody>
                  <a:tcPr>
                    <a:solidFill>
                      <a:srgbClr val="FFFFFF"/>
                    </a:solidFill>
                  </a:tcPr>
                </a:tc>
                <a:tc>
                  <a:txBody>
                    <a:bodyPr/>
                    <a:lstStyle/>
                    <a:p>
                      <a:pPr>
                        <a:defRPr sz="1200">
                          <a:solidFill>
                            <a:srgbClr val="1A1A2E"/>
                          </a:solidFill>
                          <a:latin typeface="Yu Gothic"/>
                        </a:defRPr>
                      </a:pPr>
                      <a:r>
                        <a:t>既に44社が参画している枠組みへの参画</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シャープ公式プレスリリース・PR TIMES(2026-07-24時点)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従来のAI基盤モデルとフィジカルAIの違い</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従来のAI基盤モデル</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主に言語・画像・音声を扱う</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デジタル空間内での処理が中心</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フィジカルAI(Noetraが目指すもの)</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触覚センサーデータなど物理世界の情報も扱う</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ロボット等の自律的な動作を支える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なぜ「国産」にこだわるのか(参考)</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現場データの強み</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日本が強みを持つ産業用ロボット・ものづくりの現場データを活用できる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位置づけ</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海外の基盤モデルへの依存を減らす狙いがあると考えられる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参考: なぜ今このプロジェクトなのか(推測)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背景</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生成AI基盤モデルの開発競争が激化する中での国家戦略の一環と考えられる(推測)</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狙い</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製造業の現場データという日本の強みを活かす狙いがあると考えられる(推測)</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出典の確認結果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1E2761"/>
                    </a:solidFill>
                  </a:tcPr>
                </a:tc>
                <a:tc>
                  <a:txBody>
                    <a:bodyPr/>
                    <a:lstStyle/>
                    <a:p>
                      <a:pPr>
                        <a:defRPr sz="1300" b="1">
                          <a:solidFill>
                            <a:srgbClr val="FFFFFF"/>
                          </a:solidFill>
                          <a:latin typeface="Yu Gothic"/>
                        </a:defRPr>
                      </a:pPr>
                      <a:r>
                        <a:t>結果</a:t>
                      </a:r>
                    </a:p>
                  </a:txBody>
                  <a:tcPr>
                    <a:solidFill>
                      <a:srgbClr val="1E2761"/>
                    </a:solidFill>
                  </a:tcPr>
                </a:tc>
              </a:tr>
              <a:tr h="502920">
                <a:tc>
                  <a:txBody>
                    <a:bodyPr/>
                    <a:lstStyle/>
                    <a:p>
                      <a:pPr>
                        <a:defRPr sz="1200">
                          <a:solidFill>
                            <a:srgbClr val="1A1A2E"/>
                          </a:solidFill>
                          <a:latin typeface="Yu Gothic"/>
                        </a:defRPr>
                      </a:pPr>
                      <a:r>
                        <a:t>本格着手発表日</a:t>
                      </a:r>
                    </a:p>
                  </a:txBody>
                  <a:tcPr>
                    <a:solidFill>
                      <a:srgbClr val="FFFFFF"/>
                    </a:solidFill>
                  </a:tcPr>
                </a:tc>
                <a:tc>
                  <a:txBody>
                    <a:bodyPr/>
                    <a:lstStyle/>
                    <a:p>
                      <a:pPr>
                        <a:defRPr sz="1200">
                          <a:solidFill>
                            <a:srgbClr val="1A1A2E"/>
                          </a:solidFill>
                          <a:latin typeface="Yu Gothic"/>
                        </a:defRPr>
                      </a:pPr>
                      <a:r>
                        <a:t>複数情報源で2026年7月16日と一致</a:t>
                      </a:r>
                    </a:p>
                  </a:txBody>
                  <a:tcPr>
                    <a:solidFill>
                      <a:srgbClr val="FFFFFF"/>
                    </a:solidFill>
                  </a:tcPr>
                </a:tc>
              </a:tr>
              <a:tr h="502920">
                <a:tc>
                  <a:txBody>
                    <a:bodyPr/>
                    <a:lstStyle/>
                    <a:p>
                      <a:pPr>
                        <a:defRPr sz="1200">
                          <a:solidFill>
                            <a:srgbClr val="1A1A2E"/>
                          </a:solidFill>
                          <a:latin typeface="Yu Gothic"/>
                        </a:defRPr>
                      </a:pPr>
                      <a:r>
                        <a:t>出資企業数(44社)</a:t>
                      </a:r>
                    </a:p>
                  </a:txBody>
                  <a:tcPr>
                    <a:solidFill>
                      <a:srgbClr val="F3F6FC"/>
                    </a:solidFill>
                  </a:tcPr>
                </a:tc>
                <a:tc>
                  <a:txBody>
                    <a:bodyPr/>
                    <a:lstStyle/>
                    <a:p>
                      <a:pPr>
                        <a:defRPr sz="1200">
                          <a:solidFill>
                            <a:srgbClr val="1A1A2E"/>
                          </a:solidFill>
                          <a:latin typeface="Yu Gothic"/>
                        </a:defRPr>
                      </a:pPr>
                      <a:r>
                        <a:t>ソフトバンク・シャープ公式発表で確認</a:t>
                      </a:r>
                    </a:p>
                  </a:txBody>
                  <a:tcPr>
                    <a:solidFill>
                      <a:srgbClr val="F3F6FC"/>
                    </a:solidFill>
                  </a:tcPr>
                </a:tc>
              </a:tr>
              <a:tr h="502920">
                <a:tc>
                  <a:txBody>
                    <a:bodyPr/>
                    <a:lstStyle/>
                    <a:p>
                      <a:pPr>
                        <a:defRPr sz="1200">
                          <a:solidFill>
                            <a:srgbClr val="1A1A2E"/>
                          </a:solidFill>
                          <a:latin typeface="Yu Gothic"/>
                        </a:defRPr>
                      </a:pPr>
                      <a:r>
                        <a:t>国の支援額</a:t>
                      </a:r>
                    </a:p>
                  </a:txBody>
                  <a:tcPr>
                    <a:solidFill>
                      <a:srgbClr val="FFFFFF"/>
                    </a:solidFill>
                  </a:tcPr>
                </a:tc>
                <a:tc>
                  <a:txBody>
                    <a:bodyPr/>
                    <a:lstStyle/>
                    <a:p>
                      <a:pPr>
                        <a:defRPr sz="1200">
                          <a:solidFill>
                            <a:srgbClr val="1A1A2E"/>
                          </a:solidFill>
                          <a:latin typeface="Yu Gothic"/>
                        </a:defRPr>
                      </a:pPr>
                      <a:r>
                        <a:t>3,873億円(2026年度)と1兆円規模(5年間)の関係を複数情報源で照合</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こんな人におすすめ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国産AI・国家プロジェクトに関心がある人</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日本のAI開発体制の動向を知りたい人</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ロボティクス・製造業に関心がある人</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フィジカルAIの活用事例を知りたい人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よくある疑問(Q&amp;A)</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何に使われるの?</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ロボットの自律的な動作など、物理世界でのAI活用を想定している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いつ実現する?</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実世界モデルは2028年度の稼働、2030年度に「実世界ネイティブAI」の実現を目指す</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今回含まれなかったもの</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3,873億円と総額1兆円規模の最終的な確定額の関係は、公開情報からは完全には確認できなかった</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シャープの具体的な出資額は公開情報からは確認できなかった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なぜ今このタイミングで発表・報道されたのか(推測)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国家プロジェクトとしての節目</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2026年7月16日の本格着手発表という節目のタイミングと考えられる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企業連合の拡大</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シャープの参画により連合の広がりを示す狙いがあると考えられる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見送った候補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Amazon「$1B FDE組織」</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鮮度が低く、他社への言及を含むため見送り</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Meta「Instagram Plus等のサブスク」</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AI機能そのものではなくサブスク機能が中心のため見送り</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これが意味すること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国産AI開発体制の広がり</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44社という幅広い業種の企業連合</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物理世界へのAI応用</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ロボット・製造業の現場でのAI活用の可能性</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国家戦略としてのAI投資</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官民一体での大規模な資金投入</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これは何を意味するのか(産業界にとって)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製造業・ロボティクス分野で、国産のAI基盤技術を活用できる可能性が広がる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国家プロジェクトの進捗は、毎年度の審査(ステージゲート)次第で変わりうる点に留意が必要</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動向を追うなら確認したいこと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参画企業の広がり</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今後どの企業が新たに出資するかを確認する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開発の進捗</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実世界モデルの開発状況・稼働時期の更新を確認する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予算の推移</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毎年度のステージゲート審査結果を確認する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動向を追う場合の進め方(目安)</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①公式発表を確認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Noetra・出資企業の公式プレスリリースを確認する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②関連ニュースを追う</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新規出資・開発進捗の報道を継続的に確認する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③一次情報で裏取り</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気になる数字は一次情報(公式発表)で確認する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個人にとっての影響</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製造業・ロボティクス業界で働く人にとっては、今後のキャリアや技術動向に関わる可能性がある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国家プロジェクトの成果は、実際に稼働するまでの過程を見極めることが大切</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不明点・注意点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3,873億円と総額1兆円規模の最終的な確定額の関係は完全には確認できなかった</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シャープの具体的な出資額は公開情報からは確認できなかった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リスク配慮のポイント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事実紹介に徹する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国家プロジェクトの進捗という事実を淡々と紹介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数字の性質を明記</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政府予算は年度審査で変動しうる点を明記</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推測は明示</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推測部分は「推測」と明言している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検品結果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結果</a:t>
                      </a:r>
                    </a:p>
                  </a:txBody>
                  <a:tcPr>
                    <a:solidFill>
                      <a:srgbClr val="1E2761"/>
                    </a:solidFill>
                  </a:tcPr>
                </a:tc>
              </a:tr>
              <a:tr h="502920">
                <a:tc>
                  <a:txBody>
                    <a:bodyPr/>
                    <a:lstStyle/>
                    <a:p>
                      <a:pPr>
                        <a:defRPr sz="1200">
                          <a:solidFill>
                            <a:srgbClr val="1A1A2E"/>
                          </a:solidFill>
                          <a:latin typeface="Yu Gothic"/>
                        </a:defRPr>
                      </a:pPr>
                      <a:r>
                        <a:t>verify_pptx.py</a:t>
                      </a:r>
                    </a:p>
                  </a:txBody>
                  <a:tcPr>
                    <a:solidFill>
                      <a:srgbClr val="FFFFFF"/>
                    </a:solidFill>
                  </a:tcPr>
                </a:tc>
                <a:tc>
                  <a:txBody>
                    <a:bodyPr/>
                    <a:lstStyle/>
                    <a:p>
                      <a:pPr>
                        <a:defRPr sz="1200">
                          <a:solidFill>
                            <a:srgbClr val="1A1A2E"/>
                          </a:solidFill>
                          <a:latin typeface="Yu Gothic"/>
                        </a:defRPr>
                      </a:pPr>
                      <a:r>
                        <a:t>合格</a:t>
                      </a:r>
                    </a:p>
                  </a:txBody>
                  <a:tcPr>
                    <a:solidFill>
                      <a:srgbClr val="FFFFFF"/>
                    </a:solidFill>
                  </a:tcPr>
                </a:tc>
              </a:tr>
              <a:tr h="502920">
                <a:tc>
                  <a:txBody>
                    <a:bodyPr/>
                    <a:lstStyle/>
                    <a:p>
                      <a:pPr>
                        <a:defRPr sz="1200">
                          <a:solidFill>
                            <a:srgbClr val="1A1A2E"/>
                          </a:solidFill>
                          <a:latin typeface="Yu Gothic"/>
                        </a:defRPr>
                      </a:pPr>
                      <a:r>
                        <a:t>同一レイアウト連続チェック</a:t>
                      </a:r>
                    </a:p>
                  </a:txBody>
                  <a:tcPr>
                    <a:solidFill>
                      <a:srgbClr val="F3F6FC"/>
                    </a:solidFill>
                  </a:tcPr>
                </a:tc>
                <a:tc>
                  <a:txBody>
                    <a:bodyPr/>
                    <a:lstStyle/>
                    <a:p>
                      <a:pPr>
                        <a:defRPr sz="1200">
                          <a:solidFill>
                            <a:srgbClr val="1A1A2E"/>
                          </a:solidFill>
                          <a:latin typeface="Yu Gothic"/>
                        </a:defRPr>
                      </a:pPr>
                      <a:r>
                        <a:t>合格</a:t>
                      </a:r>
                    </a:p>
                  </a:txBody>
                  <a:tcPr>
                    <a:solidFill>
                      <a:srgbClr val="F3F6FC"/>
                    </a:solidFill>
                  </a:tcPr>
                </a:tc>
              </a:tr>
              <a:tr h="502920">
                <a:tc>
                  <a:txBody>
                    <a:bodyPr/>
                    <a:lstStyle/>
                    <a:p>
                      <a:pPr>
                        <a:defRPr sz="1200">
                          <a:solidFill>
                            <a:srgbClr val="1A1A2E"/>
                          </a:solidFill>
                          <a:latin typeface="Yu Gothic"/>
                        </a:defRPr>
                      </a:pPr>
                      <a:r>
                        <a:t>bullets比率チェック</a:t>
                      </a:r>
                    </a:p>
                  </a:txBody>
                  <a:tcPr>
                    <a:solidFill>
                      <a:srgbClr val="FFFFFF"/>
                    </a:solidFill>
                  </a:tcPr>
                </a:tc>
                <a:tc>
                  <a:txBody>
                    <a:bodyPr/>
                    <a:lstStyle/>
                    <a:p>
                      <a:pPr>
                        <a:defRPr sz="1200">
                          <a:solidFill>
                            <a:srgbClr val="1A1A2E"/>
                          </a:solidFill>
                          <a:latin typeface="Yu Gothic"/>
                        </a:defRPr>
                      </a:pPr>
                      <a:r>
                        <a:t>合格</a:t>
                      </a:r>
                    </a:p>
                  </a:txBody>
                  <a:tcPr>
                    <a:solidFill>
                      <a:srgbClr val="FFFFFF"/>
                    </a:solidFill>
                  </a:tcPr>
                </a:tc>
              </a:tr>
              <a:tr h="502920">
                <a:tc>
                  <a:txBody>
                    <a:bodyPr/>
                    <a:lstStyle/>
                    <a:p>
                      <a:pPr>
                        <a:defRPr sz="1200">
                          <a:solidFill>
                            <a:srgbClr val="1A1A2E"/>
                          </a:solidFill>
                          <a:latin typeface="Yu Gothic"/>
                        </a:defRPr>
                      </a:pPr>
                      <a:r>
                        <a:t>対話原稿スライド数整合性</a:t>
                      </a:r>
                    </a:p>
                  </a:txBody>
                  <a:tcPr>
                    <a:solidFill>
                      <a:srgbClr val="F3F6FC"/>
                    </a:solidFill>
                  </a:tcPr>
                </a:tc>
                <a:tc>
                  <a:txBody>
                    <a:bodyPr/>
                    <a:lstStyle/>
                    <a:p>
                      <a:pPr>
                        <a:defRPr sz="1200">
                          <a:solidFill>
                            <a:srgbClr val="1A1A2E"/>
                          </a:solidFill>
                          <a:latin typeface="Yu Gothic"/>
                        </a:defRPr>
                      </a:pPr>
                      <a:r>
                        <a:t>合格</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ソフトバンク公式 / シャープ公式(PR TIMES)</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ロボスタ / IT Leaders / レスポンス / Car Watch / 日本経済新聞</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日本発の「フィジカルAI」が、国家プロジェクトとして動き出した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44社の企業連合と国の大規模支援で、物理世界を理解するAIの開発が本格化</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興味があれば、関連企業の公式発表を確認してみる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次回予告</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国産AI開発・フィジカルAIの動向は今後も続くテーマ</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次回も独立系メディアの報道をもとに紹介する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定期実行34本目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出典・詳細はresearch.mdと各スライドの出典表記を参照</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質問・フィードバックはいつでもどうぞ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