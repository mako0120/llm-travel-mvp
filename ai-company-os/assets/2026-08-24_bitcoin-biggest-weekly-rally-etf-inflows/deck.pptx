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ビットコインが、近年で最大級となる週間上昇率を記録しました。何が起きたのか、出典付きで正確に整理してお届けします。本テーマは投資助言ではありません。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結論から確認します。ビットコインは1週間で約22〜23%という、近年で最大級の上昇率を記録しました。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今日は6つの流れでお伝えします。週間上昇の基本情報から背景要因まで、正確に事実を引用しながら整理します。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このテーマを扱う理由です。近年で最大級の週間上昇率という数字のインパクトに注目しました。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週間上昇の基本情報です。近年で最大級の上昇率を記録しました。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ショートスクイーズとは何かを確認します。今回の上昇の一因とされています。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着手日である8月24日の始値は7万7,727.62ドルで、前日から0.8%高い水準でした。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急騰までの流れを図にしました。空売りの決済とETF資金流入が重なった動きです。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今回の上昇を3ステップで総括しました。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ETF資金流入の詳細です。今回の上昇を支えた重要な要因の一つです。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43億ドル超という大規模な空売りポジションの強制決済が、上昇の一因とされています。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資金流入額の内訳です。対象範囲の異なる数字を明確に区別してお伝えします。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金融市場動向を追う立場にとっての意味です。本テーマは投資助言ではありません。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上昇の背景要因についてです。規制の具体的な内容は確認できておらず、推測で断定しません。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週間上昇率と8月24日の前日比を対比しました。異なる期間の指標として区別してお伝えします。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複数の独立した海外主要メディアが概ね一致した数値を報じていることを確認しています。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着手日午前8時50分(米東部時間)時点で、7万9,106.77ドルまで上昇していました。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情報源間の数値のばらつきについて正直にお伝えします。無理に一つの数字に統一していません。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8月21日には、週内ピークとなる約7万9,463ドルを記録しました。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価格推移をまとめました。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今回のETF資金流入は、約10か月ぶりの高水準と報じられています。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海外メディアの報道時期をまとめました。着手日時点でも継続的に報じられています。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ビットコインは暗号資産市場全体の約56.6%のシェアを占めています。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一般的な週間値動き報道の傾向と、今回の上昇を対比しました。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本編のまとめです。ビットコインの週間上昇について、出典付きで整理してお伝えしました。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ビットコインの週間上昇について、その中身を正確に整理してお伝えしました。数字は出典どおりに扱い、情報源間のばらつき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ビットコイン、</a:t>
            </a:r>
          </a:p>
          <a:p>
            <a:pPr algn="l">
              <a:lnSpc>
                <a:spcPct val="115000"/>
              </a:lnSpc>
            </a:pPr>
            <a:r>
              <a:rPr sz="4200" b="1">
                <a:solidFill>
                  <a:srgbClr val="FFFFFF"/>
                </a:solidFill>
                <a:latin typeface="Yu Gothic"/>
              </a:rPr>
              <a:t>約3年ぶりの</a:t>
            </a:r>
          </a:p>
          <a:p>
            <a:pPr algn="l">
              <a:lnSpc>
                <a:spcPct val="115000"/>
              </a:lnSpc>
            </a:pPr>
            <a:r>
              <a:rPr sz="4200" b="1">
                <a:solidFill>
                  <a:srgbClr val="FFFFFF"/>
                </a:solidFill>
                <a:latin typeface="Yu Gothic"/>
              </a:rPr>
              <a:t>週間上昇率</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2026年8月24日時点——出典付きで整理する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Yahoo Finance・Benzinga(2026年8月24日)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約22〜23% ビットコインの週間上昇率(8月17〜21日)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『2024年3月以来』『3年超ぶり』と評される大幅上昇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 Finance・Benzinga(2026年8月)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週間上昇の基本情報を確認する</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着手日時点の最新値を確認する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ETF資金流入の詳細を確認する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上昇の背景要因を確認する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着手日(2026年8月24日)時点でも継続的に報じられている進行中の話題である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約22〜23%という週間上昇率で、数字のインパクトが大きい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ETF資金流入という具体的な裏付けデータが示されている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複数の独立したメディアが概ね一致した数値を報じており、情報の一貫性を確認できた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 Finance・Benzinga(2026年8月)</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週間上昇の基本情報</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対象期間</a:t>
                      </a:r>
                    </a:p>
                  </a:txBody>
                  <a:tcPr>
                    <a:solidFill>
                      <a:srgbClr val="FFFFFF"/>
                    </a:solidFill>
                  </a:tcPr>
                </a:tc>
                <a:tc>
                  <a:txBody>
                    <a:bodyPr/>
                    <a:lstStyle/>
                    <a:p>
                      <a:pPr>
                        <a:defRPr sz="1200">
                          <a:solidFill>
                            <a:srgbClr val="2A1712"/>
                          </a:solidFill>
                          <a:latin typeface="Yu Gothic"/>
                        </a:defRPr>
                      </a:pPr>
                      <a:r>
                        <a:t>2026年8月17日〜21日</a:t>
                      </a:r>
                    </a:p>
                  </a:txBody>
                  <a:tcPr>
                    <a:solidFill>
                      <a:srgbClr val="FFFFFF"/>
                    </a:solidFill>
                  </a:tcPr>
                </a:tc>
              </a:tr>
              <a:tr h="502920">
                <a:tc>
                  <a:txBody>
                    <a:bodyPr/>
                    <a:lstStyle/>
                    <a:p>
                      <a:pPr>
                        <a:defRPr sz="1200">
                          <a:solidFill>
                            <a:srgbClr val="2A1712"/>
                          </a:solidFill>
                          <a:latin typeface="Yu Gothic"/>
                        </a:defRPr>
                      </a:pPr>
                      <a:r>
                        <a:t>週間上昇率</a:t>
                      </a:r>
                    </a:p>
                  </a:txBody>
                  <a:tcPr>
                    <a:solidFill>
                      <a:srgbClr val="FBF3E6"/>
                    </a:solidFill>
                  </a:tcPr>
                </a:tc>
                <a:tc>
                  <a:txBody>
                    <a:bodyPr/>
                    <a:lstStyle/>
                    <a:p>
                      <a:pPr>
                        <a:defRPr sz="1200">
                          <a:solidFill>
                            <a:srgbClr val="2A1712"/>
                          </a:solidFill>
                          <a:latin typeface="Yu Gothic"/>
                        </a:defRPr>
                      </a:pPr>
                      <a:r>
                        <a:t>約22〜23%</a:t>
                      </a:r>
                    </a:p>
                  </a:txBody>
                  <a:tcPr>
                    <a:solidFill>
                      <a:srgbClr val="FBF3E6"/>
                    </a:solidFill>
                  </a:tcPr>
                </a:tc>
              </a:tr>
              <a:tr h="502920">
                <a:tc>
                  <a:txBody>
                    <a:bodyPr/>
                    <a:lstStyle/>
                    <a:p>
                      <a:pPr>
                        <a:defRPr sz="1200">
                          <a:solidFill>
                            <a:srgbClr val="2A1712"/>
                          </a:solidFill>
                          <a:latin typeface="Yu Gothic"/>
                        </a:defRPr>
                      </a:pPr>
                      <a:r>
                        <a:t>同水準の上昇時期</a:t>
                      </a:r>
                    </a:p>
                  </a:txBody>
                  <a:tcPr>
                    <a:solidFill>
                      <a:srgbClr val="FFFFFF"/>
                    </a:solidFill>
                  </a:tcPr>
                </a:tc>
                <a:tc>
                  <a:txBody>
                    <a:bodyPr/>
                    <a:lstStyle/>
                    <a:p>
                      <a:pPr>
                        <a:defRPr sz="1200">
                          <a:solidFill>
                            <a:srgbClr val="2A1712"/>
                          </a:solidFill>
                          <a:latin typeface="Yu Gothic"/>
                        </a:defRPr>
                      </a:pPr>
                      <a:r>
                        <a:t>2024年3月以来(情報源による)</a:t>
                      </a:r>
                    </a:p>
                  </a:txBody>
                  <a:tcPr>
                    <a:solidFill>
                      <a:srgbClr val="FFFFFF"/>
                    </a:solidFill>
                  </a:tcPr>
                </a:tc>
              </a:tr>
              <a:tr h="502920">
                <a:tc>
                  <a:txBody>
                    <a:bodyPr/>
                    <a:lstStyle/>
                    <a:p>
                      <a:pPr>
                        <a:defRPr sz="1200">
                          <a:solidFill>
                            <a:srgbClr val="2A1712"/>
                          </a:solidFill>
                          <a:latin typeface="Yu Gothic"/>
                        </a:defRPr>
                      </a:pPr>
                      <a:r>
                        <a:t>ピーク値(週内)</a:t>
                      </a:r>
                    </a:p>
                  </a:txBody>
                  <a:tcPr>
                    <a:solidFill>
                      <a:srgbClr val="FBF3E6"/>
                    </a:solidFill>
                  </a:tcPr>
                </a:tc>
                <a:tc>
                  <a:txBody>
                    <a:bodyPr/>
                    <a:lstStyle/>
                    <a:p>
                      <a:pPr>
                        <a:defRPr sz="1200">
                          <a:solidFill>
                            <a:srgbClr val="2A1712"/>
                          </a:solidFill>
                          <a:latin typeface="Yu Gothic"/>
                        </a:defRPr>
                      </a:pPr>
                      <a:r>
                        <a:t>約7万9,463ドル(8月21日金曜)</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 Finance(2026年8月)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「ショートスクイーズ」とは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前提知識を確認します。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価格下落を見込んで『空売り』していた投資家が、価格上昇によって損失を抑えるために買い戻しを迫られる現象である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この買い戻しがさらなる価格上昇を招くことがある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今回の上昇局面でも、この現象が発生したと報じられている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着手日時点の始値</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7万7,727.62ドル 2026年8月24日(月)のビットコイン始値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前日(日曜)の始値から0.8%高い水準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 Finance(2026-08-24)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急騰までの流れ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8月17日、週間上昇が始まる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空売りポジションの強制決済が発生</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8月21日、週内ピークの約7万9,463ドルに到達</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ETF資金流入も加速</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8月24日、上昇基調が継続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始値7万7,727.62ドル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急騰までの流れ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 Finance・Benzinga(2026年8月)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今回の上昇を3ステップで総括</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 空売りポジションの強制決済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43億ドル超</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 ETFへの資金流入が加速</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週間で約26億ドル</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 週間で約22〜23%の上昇</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近年で最大級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ETF資金流入の詳細</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ETF資金流入の詳細を確認します。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2026年8月17日から21日の週に、米国の現物ビットコインETFへの資金流入は合計19億1,800万ドルにのぼった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ビットコイン・イーサリアム両ETFの合計資金流入は、2026年でこれまでで最大となる週間流入額(約26億ドル)を記録した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この規模の資金流入は約10か月ぶりの高水準と報じられている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Benzinga・Yahoo Finance(2026年8月)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確定していること</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週間上昇率(約22〜23%)・ETF資金流入額(約19億〜26億ドル)</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着手日時点の始値(7万7,727.62ドル)</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空売りポジションの強制決済額(43億ドル超)</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今後の価格動向の見通し</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米国の暗号資産関連規制の具体的な内容</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空売りポジションの強制決済額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43億ドル超 上昇局面で強制決済されたとされる空売りポジション額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今回の上昇の初期段階を後押ししたとされる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Benzinga(2026年8月)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資金流入額の内訳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対象</a:t>
                      </a:r>
                    </a:p>
                  </a:txBody>
                  <a:tcPr>
                    <a:solidFill>
                      <a:srgbClr val="7A1F2B"/>
                    </a:solidFill>
                  </a:tcPr>
                </a:tc>
                <a:tc>
                  <a:txBody>
                    <a:bodyPr/>
                    <a:lstStyle/>
                    <a:p>
                      <a:pPr>
                        <a:defRPr sz="1300" b="1">
                          <a:solidFill>
                            <a:srgbClr val="FFFFFF"/>
                          </a:solidFill>
                          <a:latin typeface="Yu Gothic"/>
                        </a:defRPr>
                      </a:pPr>
                      <a:r>
                        <a:t>週間流入額</a:t>
                      </a:r>
                    </a:p>
                  </a:txBody>
                  <a:tcPr>
                    <a:solidFill>
                      <a:srgbClr val="7A1F2B"/>
                    </a:solidFill>
                  </a:tcPr>
                </a:tc>
              </a:tr>
              <a:tr h="502920">
                <a:tc>
                  <a:txBody>
                    <a:bodyPr/>
                    <a:lstStyle/>
                    <a:p>
                      <a:pPr>
                        <a:defRPr sz="1200">
                          <a:solidFill>
                            <a:srgbClr val="2A1712"/>
                          </a:solidFill>
                          <a:latin typeface="Yu Gothic"/>
                        </a:defRPr>
                      </a:pPr>
                      <a:r>
                        <a:t>ビットコインETFのみ</a:t>
                      </a:r>
                    </a:p>
                  </a:txBody>
                  <a:tcPr>
                    <a:solidFill>
                      <a:srgbClr val="FFFFFF"/>
                    </a:solidFill>
                  </a:tcPr>
                </a:tc>
                <a:tc>
                  <a:txBody>
                    <a:bodyPr/>
                    <a:lstStyle/>
                    <a:p>
                      <a:pPr>
                        <a:defRPr sz="1200">
                          <a:solidFill>
                            <a:srgbClr val="2A1712"/>
                          </a:solidFill>
                          <a:latin typeface="Yu Gothic"/>
                        </a:defRPr>
                      </a:pPr>
                      <a:r>
                        <a:t>19億1,800万ドル</a:t>
                      </a:r>
                    </a:p>
                  </a:txBody>
                  <a:tcPr>
                    <a:solidFill>
                      <a:srgbClr val="FFFFFF"/>
                    </a:solidFill>
                  </a:tcPr>
                </a:tc>
              </a:tr>
              <a:tr h="502920">
                <a:tc>
                  <a:txBody>
                    <a:bodyPr/>
                    <a:lstStyle/>
                    <a:p>
                      <a:pPr>
                        <a:defRPr sz="1200">
                          <a:solidFill>
                            <a:srgbClr val="2A1712"/>
                          </a:solidFill>
                          <a:latin typeface="Yu Gothic"/>
                        </a:defRPr>
                      </a:pPr>
                      <a:r>
                        <a:t>ビットコイン+イーサリアムETF合計</a:t>
                      </a:r>
                    </a:p>
                  </a:txBody>
                  <a:tcPr>
                    <a:solidFill>
                      <a:srgbClr val="FBF3E6"/>
                    </a:solidFill>
                  </a:tcPr>
                </a:tc>
                <a:tc>
                  <a:txBody>
                    <a:bodyPr/>
                    <a:lstStyle/>
                    <a:p>
                      <a:pPr>
                        <a:defRPr sz="1200">
                          <a:solidFill>
                            <a:srgbClr val="2A1712"/>
                          </a:solidFill>
                          <a:latin typeface="Yu Gothic"/>
                        </a:defRPr>
                      </a:pPr>
                      <a:r>
                        <a:t>約26億ドル</a:t>
                      </a:r>
                    </a:p>
                  </a:txBody>
                  <a:tcPr>
                    <a:solidFill>
                      <a:srgbClr val="FBF3E6"/>
                    </a:solidFill>
                  </a:tcPr>
                </a:tc>
              </a:tr>
              <a:tr h="502920">
                <a:tc>
                  <a:txBody>
                    <a:bodyPr/>
                    <a:lstStyle/>
                    <a:p>
                      <a:pPr>
                        <a:defRPr sz="1200">
                          <a:solidFill>
                            <a:srgbClr val="2A1712"/>
                          </a:solidFill>
                          <a:latin typeface="Yu Gothic"/>
                        </a:defRPr>
                      </a:pPr>
                      <a:r>
                        <a:t>直近の水準として</a:t>
                      </a:r>
                    </a:p>
                  </a:txBody>
                  <a:tcPr>
                    <a:solidFill>
                      <a:srgbClr val="FFFFFF"/>
                    </a:solidFill>
                  </a:tcPr>
                </a:tc>
                <a:tc>
                  <a:txBody>
                    <a:bodyPr/>
                    <a:lstStyle/>
                    <a:p>
                      <a:pPr>
                        <a:defRPr sz="1200">
                          <a:solidFill>
                            <a:srgbClr val="2A1712"/>
                          </a:solidFill>
                          <a:latin typeface="Yu Gothic"/>
                        </a:defRPr>
                      </a:pPr>
                      <a:r>
                        <a:t>約10か月ぶりの高水準</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Benzinga・Yahoo Finance(2026年8月)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視聴者にとっての意味—金融市場動向を追う立場として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暗号資産市場の大きな値動きを、具体的な数字とともに把握できる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ETF資金フローという裏付けデータの見方を学べる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週間上昇率と日次の値動きを区別する視点が役立つ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上昇の背景要因について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上昇の背景要因を確認します。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空売りポジションの強制決済が上昇の初期段階を後押ししたとされている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その後、ETFへの資金流入が加速し、上昇を支えたとされている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複数の情報源で『規制観測』が材料の一つと言及されているが、規制の具体的な内容は本調査の範囲では確認できていない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週間上昇率 vs 8月24日の前日比</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週間上昇率(8月17〜21日)</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約22〜23%</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8月24日の前日比</a:t>
            </a:r>
          </a:p>
        </p:txBody>
      </p:sp>
      <p:sp>
        <p:nvSpPr>
          <p:cNvPr id="14" name="Oval 13"/>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0.8%高い水準で始値</a:t>
            </a:r>
          </a:p>
        </p:txBody>
      </p:sp>
      <p:sp>
        <p:nvSpPr>
          <p:cNvPr id="16" name="Oval 15"/>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異なる期間の指標として区別</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今回の急騰が今後も持続するかどうかの見通しは、本調査の範囲では予測を行わない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個別の機関投資家・大口投資家の具体的な取引動向の詳細は確認できていない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米国の暗号資産関連規制の具体的な内容は確認できていない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主な情報源</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報道内容</a:t>
                      </a:r>
                    </a:p>
                  </a:txBody>
                  <a:tcPr>
                    <a:solidFill>
                      <a:srgbClr val="7A1F2B"/>
                    </a:solidFill>
                  </a:tcPr>
                </a:tc>
              </a:tr>
              <a:tr h="502920">
                <a:tc>
                  <a:txBody>
                    <a:bodyPr/>
                    <a:lstStyle/>
                    <a:p>
                      <a:pPr>
                        <a:defRPr sz="1200">
                          <a:solidFill>
                            <a:srgbClr val="2A1712"/>
                          </a:solidFill>
                          <a:latin typeface="Yu Gothic"/>
                        </a:defRPr>
                      </a:pPr>
                      <a:r>
                        <a:t>Yahoo Finance(2026-08-24)</a:t>
                      </a:r>
                    </a:p>
                  </a:txBody>
                  <a:tcPr>
                    <a:solidFill>
                      <a:srgbClr val="FFFFFF"/>
                    </a:solidFill>
                  </a:tcPr>
                </a:tc>
                <a:tc>
                  <a:txBody>
                    <a:bodyPr/>
                    <a:lstStyle/>
                    <a:p>
                      <a:pPr>
                        <a:defRPr sz="1200">
                          <a:solidFill>
                            <a:srgbClr val="2A1712"/>
                          </a:solidFill>
                          <a:latin typeface="Yu Gothic"/>
                        </a:defRPr>
                      </a:pPr>
                      <a:r>
                        <a:t>着手日時点の価格詳細</a:t>
                      </a:r>
                    </a:p>
                  </a:txBody>
                  <a:tcPr>
                    <a:solidFill>
                      <a:srgbClr val="FFFFFF"/>
                    </a:solidFill>
                  </a:tcPr>
                </a:tc>
              </a:tr>
              <a:tr h="502920">
                <a:tc>
                  <a:txBody>
                    <a:bodyPr/>
                    <a:lstStyle/>
                    <a:p>
                      <a:pPr>
                        <a:defRPr sz="1200">
                          <a:solidFill>
                            <a:srgbClr val="2A1712"/>
                          </a:solidFill>
                          <a:latin typeface="Yu Gothic"/>
                        </a:defRPr>
                      </a:pPr>
                      <a:r>
                        <a:t>Benzinga(2026年8月)</a:t>
                      </a:r>
                    </a:p>
                  </a:txBody>
                  <a:tcPr>
                    <a:solidFill>
                      <a:srgbClr val="FBF3E6"/>
                    </a:solidFill>
                  </a:tcPr>
                </a:tc>
                <a:tc>
                  <a:txBody>
                    <a:bodyPr/>
                    <a:lstStyle/>
                    <a:p>
                      <a:pPr>
                        <a:defRPr sz="1200">
                          <a:solidFill>
                            <a:srgbClr val="2A1712"/>
                          </a:solidFill>
                          <a:latin typeface="Yu Gothic"/>
                        </a:defRPr>
                      </a:pPr>
                      <a:r>
                        <a:t>ETF資金流入の詳細</a:t>
                      </a:r>
                    </a:p>
                  </a:txBody>
                  <a:tcPr>
                    <a:solidFill>
                      <a:srgbClr val="FBF3E6"/>
                    </a:solidFill>
                  </a:tcPr>
                </a:tc>
              </a:tr>
              <a:tr h="502920">
                <a:tc>
                  <a:txBody>
                    <a:bodyPr/>
                    <a:lstStyle/>
                    <a:p>
                      <a:pPr>
                        <a:defRPr sz="1200">
                          <a:solidFill>
                            <a:srgbClr val="2A1712"/>
                          </a:solidFill>
                          <a:latin typeface="Yu Gothic"/>
                        </a:defRPr>
                      </a:pPr>
                      <a:r>
                        <a:t>CryptoSlate(2026年8月)</a:t>
                      </a:r>
                    </a:p>
                  </a:txBody>
                  <a:tcPr>
                    <a:solidFill>
                      <a:srgbClr val="FFFFFF"/>
                    </a:solidFill>
                  </a:tcPr>
                </a:tc>
                <a:tc>
                  <a:txBody>
                    <a:bodyPr/>
                    <a:lstStyle/>
                    <a:p>
                      <a:pPr>
                        <a:defRPr sz="1200">
                          <a:solidFill>
                            <a:srgbClr val="2A1712"/>
                          </a:solidFill>
                          <a:latin typeface="Yu Gothic"/>
                        </a:defRPr>
                      </a:pPr>
                      <a:r>
                        <a:t>週間動向の分析</a:t>
                      </a:r>
                    </a:p>
                  </a:txBody>
                  <a:tcPr>
                    <a:solidFill>
                      <a:srgbClr val="FFFFFF"/>
                    </a:solidFill>
                  </a:tcPr>
                </a:tc>
              </a:tr>
              <a:tr h="502920">
                <a:tc>
                  <a:txBody>
                    <a:bodyPr/>
                    <a:lstStyle/>
                    <a:p>
                      <a:pPr>
                        <a:defRPr sz="1200">
                          <a:solidFill>
                            <a:srgbClr val="2A1712"/>
                          </a:solidFill>
                          <a:latin typeface="Yu Gothic"/>
                        </a:defRPr>
                      </a:pPr>
                      <a:r>
                        <a:t>GuruFocus(2026年8月)</a:t>
                      </a:r>
                    </a:p>
                  </a:txBody>
                  <a:tcPr>
                    <a:solidFill>
                      <a:srgbClr val="FBF3E6"/>
                    </a:solidFill>
                  </a:tcPr>
                </a:tc>
                <a:tc>
                  <a:txBody>
                    <a:bodyPr/>
                    <a:lstStyle/>
                    <a:p>
                      <a:pPr>
                        <a:defRPr sz="1200">
                          <a:solidFill>
                            <a:srgbClr val="2A1712"/>
                          </a:solidFill>
                          <a:latin typeface="Yu Gothic"/>
                        </a:defRPr>
                      </a:pPr>
                      <a:r>
                        <a:t>背景要因の整理</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金融市場動向を追う立場として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暗号資産市場の大きな値動きを具体的な数字とともに把握できる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資産運用に関心がある立場として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ETF資金フローという裏付けデータの見方を学べる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週間上昇率と日次の値動きを区別する視点が役立つ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着手日時点の直近値</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7万9,106.77ドル 8月24日午前8時50分(米東部時間)時点の価格</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始値からさらに上昇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 Finance(2026-08-24)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情報源間の数値のばらつきについて(正直な開示)</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数値のばらつきを確認します。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週間上昇率について、情報源によって『約22%』『約23%』とわずかに異なる記載が見られた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同水準の上昇時期についても『2024年3月以来』『3年超ぶり』と表現に幅があった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本テーマでは、この幅を『約22〜23%』という形でそのままお伝えし、無理に一つの数字に統一しない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週内ピーク値</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約7万9,463ドル 8月21日(金)に記録した週内ピーク値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その後も高値圏を維持</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 Finance(2026年8月)</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価格推移まとめ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7A1F2B"/>
                    </a:solidFill>
                  </a:tcPr>
                </a:tc>
                <a:tc>
                  <a:txBody>
                    <a:bodyPr/>
                    <a:lstStyle/>
                    <a:p>
                      <a:pPr>
                        <a:defRPr sz="1300" b="1">
                          <a:solidFill>
                            <a:srgbClr val="FFFFFF"/>
                          </a:solidFill>
                          <a:latin typeface="Yu Gothic"/>
                        </a:defRPr>
                      </a:pPr>
                      <a:r>
                        <a:t>価格</a:t>
                      </a:r>
                    </a:p>
                  </a:txBody>
                  <a:tcPr>
                    <a:solidFill>
                      <a:srgbClr val="7A1F2B"/>
                    </a:solidFill>
                  </a:tcPr>
                </a:tc>
              </a:tr>
              <a:tr h="502920">
                <a:tc>
                  <a:txBody>
                    <a:bodyPr/>
                    <a:lstStyle/>
                    <a:p>
                      <a:pPr>
                        <a:defRPr sz="1200">
                          <a:solidFill>
                            <a:srgbClr val="2A1712"/>
                          </a:solidFill>
                          <a:latin typeface="Yu Gothic"/>
                        </a:defRPr>
                      </a:pPr>
                      <a:r>
                        <a:t>8月21日(週内ピーク)</a:t>
                      </a:r>
                    </a:p>
                  </a:txBody>
                  <a:tcPr>
                    <a:solidFill>
                      <a:srgbClr val="FFFFFF"/>
                    </a:solidFill>
                  </a:tcPr>
                </a:tc>
                <a:tc>
                  <a:txBody>
                    <a:bodyPr/>
                    <a:lstStyle/>
                    <a:p>
                      <a:pPr>
                        <a:defRPr sz="1200">
                          <a:solidFill>
                            <a:srgbClr val="2A1712"/>
                          </a:solidFill>
                          <a:latin typeface="Yu Gothic"/>
                        </a:defRPr>
                      </a:pPr>
                      <a:r>
                        <a:t>約7万9,463ドル</a:t>
                      </a:r>
                    </a:p>
                  </a:txBody>
                  <a:tcPr>
                    <a:solidFill>
                      <a:srgbClr val="FFFFFF"/>
                    </a:solidFill>
                  </a:tcPr>
                </a:tc>
              </a:tr>
              <a:tr h="502920">
                <a:tc>
                  <a:txBody>
                    <a:bodyPr/>
                    <a:lstStyle/>
                    <a:p>
                      <a:pPr>
                        <a:defRPr sz="1200">
                          <a:solidFill>
                            <a:srgbClr val="2A1712"/>
                          </a:solidFill>
                          <a:latin typeface="Yu Gothic"/>
                        </a:defRPr>
                      </a:pPr>
                      <a:r>
                        <a:t>8月24日始値</a:t>
                      </a:r>
                    </a:p>
                  </a:txBody>
                  <a:tcPr>
                    <a:solidFill>
                      <a:srgbClr val="FBF3E6"/>
                    </a:solidFill>
                  </a:tcPr>
                </a:tc>
                <a:tc>
                  <a:txBody>
                    <a:bodyPr/>
                    <a:lstStyle/>
                    <a:p>
                      <a:pPr>
                        <a:defRPr sz="1200">
                          <a:solidFill>
                            <a:srgbClr val="2A1712"/>
                          </a:solidFill>
                          <a:latin typeface="Yu Gothic"/>
                        </a:defRPr>
                      </a:pPr>
                      <a:r>
                        <a:t>7万7,727.62ドル</a:t>
                      </a:r>
                    </a:p>
                  </a:txBody>
                  <a:tcPr>
                    <a:solidFill>
                      <a:srgbClr val="FBF3E6"/>
                    </a:solidFill>
                  </a:tcPr>
                </a:tc>
              </a:tr>
              <a:tr h="502920">
                <a:tc>
                  <a:txBody>
                    <a:bodyPr/>
                    <a:lstStyle/>
                    <a:p>
                      <a:pPr>
                        <a:defRPr sz="1200">
                          <a:solidFill>
                            <a:srgbClr val="2A1712"/>
                          </a:solidFill>
                          <a:latin typeface="Yu Gothic"/>
                        </a:defRPr>
                      </a:pPr>
                      <a:r>
                        <a:t>8月24日午前8時50分(米東部時間)</a:t>
                      </a:r>
                    </a:p>
                  </a:txBody>
                  <a:tcPr>
                    <a:solidFill>
                      <a:srgbClr val="FFFFFF"/>
                    </a:solidFill>
                  </a:tcPr>
                </a:tc>
                <a:tc>
                  <a:txBody>
                    <a:bodyPr/>
                    <a:lstStyle/>
                    <a:p>
                      <a:pPr>
                        <a:defRPr sz="1200">
                          <a:solidFill>
                            <a:srgbClr val="2A1712"/>
                          </a:solidFill>
                          <a:latin typeface="Yu Gothic"/>
                        </a:defRPr>
                      </a:pPr>
                      <a:r>
                        <a:t>7万9,106.77ドル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 Finance(2026年8月)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ビットコイン・イーサリアムETFの流入水準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約10か月ぶり 直近の週間資金流入額として近い高水準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2026年に入ってから最大の週間流入額と報じられている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Benzinga(2026年8月)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7A1F2B"/>
                    </a:solidFill>
                  </a:tcPr>
                </a:tc>
                <a:tc>
                  <a:txBody>
                    <a:bodyPr/>
                    <a:lstStyle/>
                    <a:p>
                      <a:pPr>
                        <a:defRPr sz="1300" b="1">
                          <a:solidFill>
                            <a:srgbClr val="FFFFFF"/>
                          </a:solidFill>
                          <a:latin typeface="Yu Gothic"/>
                        </a:defRPr>
                      </a:pPr>
                      <a:r>
                        <a:t>メディア</a:t>
                      </a:r>
                    </a:p>
                  </a:txBody>
                  <a:tcPr>
                    <a:solidFill>
                      <a:srgbClr val="7A1F2B"/>
                    </a:solidFill>
                  </a:tcPr>
                </a:tc>
              </a:tr>
              <a:tr h="502920">
                <a:tc>
                  <a:txBody>
                    <a:bodyPr/>
                    <a:lstStyle/>
                    <a:p>
                      <a:pPr>
                        <a:defRPr sz="1200">
                          <a:solidFill>
                            <a:srgbClr val="2A1712"/>
                          </a:solidFill>
                          <a:latin typeface="Yu Gothic"/>
                        </a:defRPr>
                      </a:pPr>
                      <a:r>
                        <a:t>2026年8月21日前後</a:t>
                      </a:r>
                    </a:p>
                  </a:txBody>
                  <a:tcPr>
                    <a:solidFill>
                      <a:srgbClr val="FFFFFF"/>
                    </a:solidFill>
                  </a:tcPr>
                </a:tc>
                <a:tc>
                  <a:txBody>
                    <a:bodyPr/>
                    <a:lstStyle/>
                    <a:p>
                      <a:pPr>
                        <a:defRPr sz="1200">
                          <a:solidFill>
                            <a:srgbClr val="2A1712"/>
                          </a:solidFill>
                          <a:latin typeface="Yu Gothic"/>
                        </a:defRPr>
                      </a:pPr>
                      <a:r>
                        <a:t>週間動向の初期報道</a:t>
                      </a:r>
                    </a:p>
                  </a:txBody>
                  <a:tcPr>
                    <a:solidFill>
                      <a:srgbClr val="FFFFFF"/>
                    </a:solidFill>
                  </a:tcPr>
                </a:tc>
              </a:tr>
              <a:tr h="502920">
                <a:tc>
                  <a:txBody>
                    <a:bodyPr/>
                    <a:lstStyle/>
                    <a:p>
                      <a:pPr>
                        <a:defRPr sz="1200">
                          <a:solidFill>
                            <a:srgbClr val="2A1712"/>
                          </a:solidFill>
                          <a:latin typeface="Yu Gothic"/>
                        </a:defRPr>
                      </a:pPr>
                      <a:r>
                        <a:t>2026年8月24日</a:t>
                      </a:r>
                    </a:p>
                  </a:txBody>
                  <a:tcPr>
                    <a:solidFill>
                      <a:srgbClr val="FBF3E6"/>
                    </a:solidFill>
                  </a:tcPr>
                </a:tc>
                <a:tc>
                  <a:txBody>
                    <a:bodyPr/>
                    <a:lstStyle/>
                    <a:p>
                      <a:pPr>
                        <a:defRPr sz="1200">
                          <a:solidFill>
                            <a:srgbClr val="2A1712"/>
                          </a:solidFill>
                          <a:latin typeface="Yu Gothic"/>
                        </a:defRPr>
                      </a:pPr>
                      <a:r>
                        <a:t>Yahoo Finance(着手日時点の最新値)</a:t>
                      </a:r>
                    </a:p>
                  </a:txBody>
                  <a:tcPr>
                    <a:solidFill>
                      <a:srgbClr val="FBF3E6"/>
                    </a:solidFill>
                  </a:tcPr>
                </a:tc>
              </a:tr>
              <a:tr h="502920">
                <a:tc>
                  <a:txBody>
                    <a:bodyPr/>
                    <a:lstStyle/>
                    <a:p>
                      <a:pPr>
                        <a:defRPr sz="1200">
                          <a:solidFill>
                            <a:srgbClr val="2A1712"/>
                          </a:solidFill>
                          <a:latin typeface="Yu Gothic"/>
                        </a:defRPr>
                      </a:pPr>
                      <a:r>
                        <a:t>2026年8月24日</a:t>
                      </a:r>
                    </a:p>
                  </a:txBody>
                  <a:tcPr>
                    <a:solidFill>
                      <a:srgbClr val="FFFFFF"/>
                    </a:solidFill>
                  </a:tcPr>
                </a:tc>
                <a:tc>
                  <a:txBody>
                    <a:bodyPr/>
                    <a:lstStyle/>
                    <a:p>
                      <a:pPr>
                        <a:defRPr sz="1200">
                          <a:solidFill>
                            <a:srgbClr val="2A1712"/>
                          </a:solidFill>
                          <a:latin typeface="Yu Gothic"/>
                        </a:defRPr>
                      </a:pPr>
                      <a:r>
                        <a:t>Benzinga・CryptoSlate(背景分析)</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ドミナンス(市場シェア)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約56.6% 暗号資産市場全体に占めるビットコインの時価総額シェア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着手日時点の市場全体の規模感の指標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本調査による整理</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一般的な週間値動き報道 vs 今回の上昇</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一般的な週間値動き報道</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数パーセント程度の変動が多い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今回の上昇</a:t>
            </a:r>
          </a:p>
        </p:txBody>
      </p:sp>
      <p:sp>
        <p:nvSpPr>
          <p:cNvPr id="14" name="Oval 13"/>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約22〜23%という大幅な上昇</a:t>
            </a:r>
          </a:p>
        </p:txBody>
      </p:sp>
      <p:sp>
        <p:nvSpPr>
          <p:cNvPr id="16" name="Oval 15"/>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ETF資金流入という具体的な裏付けデータあり</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今後注目される点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今回の上昇基調が今後も続くかどうかに注目が集まる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ETFへの資金流入が今後どう推移するかも注目点である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具体的な今後の価格予測は本テーマの範囲では断定せず、確認できた事実にとどめる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本編のまとめです。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ビットコインは2026年8月17〜21日の週に約22〜23%という、近年で最大級の週間上昇率を記録した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米国の現物ビットコインETFへの資金流入は週間で19億1,800万ドル、ビットコイン・イーサリアム合計では約26億ドルにのぼった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空売りポジションの強制決済(43億ドル超)が上昇の初期段階を後押ししたとされている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着手日(8月24日)時点でも上昇基調が続いており、始値7万7,727.62ドルから一時7万9,106.77ドルまで上昇した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Finance・Benzinga等(2026-08-24)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ビットコイン、約3年ぶりの週間上昇率。ETF資金流入が加速。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ビットコインが近年で最大級の週間上昇率を記録しました。ETF資金流入という裏付けデータとともに、出典付きで整理してお届けしました。本テーマは投資助言ではありません。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