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を裁断機にかけ、ページをスキャンし、原本を捨てる。そんな取り組みが、改めてSNSで大きな話題になりました。しかも、この行為自体は裁判所が『合法』と判断しています。今日はこの複雑な話題を、公平な視点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まず数字から。15億ドル。ただし、これは今回の『書籍を破壊した』件そのものではなく、別の論点についての和解金です。この違いを、これからじっくり説明します。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今日はこの5つの流れでお伝えします。特に2番目、法的な論点の整理が今回の一番重要なポイントです。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取り組みの概要はこの5点です。この行為自体が最近始まったわけではなく、去年の夏には既に知られていた話です。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流れを図にするとこうです。裁判所は、この一連の流れを『置き換え』として捉え、後ほど説明する通り適法と判断しました。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ここが今回、最も重要な整理です。裁判所は3つの論点を分けて判断しました。書籍を破壊してスキャンする行為自体は、実は適法とされているのです。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裁判所の理屈はこうです。紙の本をデジタルに置き換えただけであり、コピーが増えたわけではない、という判断です。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先ほどの15億ドルの和解金は、対象書籍1点あたり約3,000ドルという計算になります。ただし繰り返しますが、これは破壊的スキャンとは別の論点です。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この表が今回一番大事なポイントです。『本を破壊した』ことと『海賊版を使った』ことは、法的には別の話です。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著名な投資家Michael Burry氏は、この慣行をこう表現しました。かなり強い言葉です。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話題が広がった背景には、この3つの出来事があります。特にオランダの古書店主の証言が、きっかけの一つとされています。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Elon Musk氏も反応しています。希少本の保存方法について、懸念を示すコメントでした。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話題が再燃した流れです。根本の出来事自体は1年近く前ですが、新しい取材記事がきっかけで、改めて注目されました。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一方でAnthropic自身は、こう反論しています。希少本を狙って破棄しているわけではない、という立場です。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この2つの立場を、どちらかに肩入れせず並べました。事実として両方の声があることをお伝えします。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正直にお伝えします。根っこの話は1年近く前ですが、直近の続報を基準に、進行中の話題として扱っています。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この4点は、今回の調査で確認できなかった事項として一覧化しました。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この点も正直にお伝えします。私たち自身に関わる話題だからこそ、事実と意見を分けることに特に気を配りました。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この日、裁判所は3つの論点をそれぞれ判断しました。破壊的スキャンは適法、海賊版データの利用は違法、という結論です。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時系列を見ると、1年以上にわたる経緯があることが分かります。今回の炎上は、その最新の一幕です。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この3つは当社の推測です。断定はしていません。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話題は再燃しましたが、法的な判断や公式見解自体に新しい変化があったわけではありません。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同じAnthropicを扱っていますが、77本目とは全く異なる論点です。混同しないよう明確に区別しています。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衝撃的な話題だからこそ、事実と意見、そして異なる論点を分けてお伝えすることを、今回も意識しました。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最後にもう一度確認します。書籍を破壊してスキャンする行為自体は適法。ただし海賊版データの利用は違法とされ、15億ドルの和解につながりました。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最後にもう一つ、この言葉を紹介します。取材を受けた古書店主の率直な感想です。事実と意見、その両方を心に留めておいてください。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今後注目したいポイントを3つ挙げました。この話題は、まだ議論が続いています。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今回の2つのテーマを通じて、バズる話題ほど丁寧な事実確認が大切だと、改めて感じられる回になりました。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本テーマの総括です。2つの異なる法的論点を混同せず、批判と反論の両方を公平に紹介してきました。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本編は以上です。今回はAnthropicの書籍破壊スキャンをめぐる再燃を題材に、2つの異なる法的論点と、批判・反論の両方を公平にお伝えしました。次回もまた出典付きでお届けします。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背表紙を切り落とし、ページをスキャンし、原本を捨てる。</a:t>
            </a:r>
          </a:p>
          <a:p>
            <a:pPr algn="l">
              <a:lnSpc>
                <a:spcPct val="115000"/>
              </a:lnSpc>
            </a:pPr>
            <a:r>
              <a:rPr sz="4200" b="1">
                <a:solidFill>
                  <a:srgbClr val="FFFFFF"/>
                </a:solidFill>
                <a:latin typeface="Yu Gothic"/>
              </a:rPr>
              <a:t>それを裁判所は「合法」と認めた。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Anthropicの「書籍破壊スキャン」がSNSで再燃(2026年7月28日〜31日)を、出典付きで振り返る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Fortune・NPR・GIGAZINE ほか。本テーマは公平性に配慮し、批判・反論の両方を紹介します。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海賊版データ問題での和解金</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$1.5B</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書籍破壊とは別の論点(海賊版データ利用)についての和解金(最終承認2026年7月20日)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NPR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何が起きたのか(Project Panamaの経緯)</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法的な判断(3つの異なる論点を区別)</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著名人の反応・再燃のきっかけ</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Anthropic自身の反論</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読み解く上での注意点・確認できなかったこと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『Project Panama』とは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2025年夏に明るみに出た取り組みの概要です。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Anthropicが中古書籍を大量購入し、専用の裁断機で背表紙を切り落とす</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高速スキャナーで全ページをデジタル化する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デジタル化後、原本の紙の本は廃棄する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Google Booksの元責任者Tom Turvey氏がこの取り組みを主導したとされる</a:t>
            </a:r>
          </a:p>
        </p:txBody>
      </p:sp>
      <p:sp>
        <p:nvSpPr>
          <p:cNvPr id="15" name="Oval 14"/>
          <p:cNvSpPr/>
          <p:nvPr/>
        </p:nvSpPr>
        <p:spPr>
          <a:xfrm>
            <a:off x="457200" y="523036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訴訟(Bartz v. Anthropic)の裁判資料で2025年夏に明るみに出た</a:t>
            </a:r>
          </a:p>
        </p:txBody>
      </p:sp>
      <p:sp>
        <p:nvSpPr>
          <p:cNvPr id="17" name="TextBox 1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GIGAZINE / Fortune</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Fortune・NPR・GIGAZINE ほか(2026-07-28〜31続報)｜定期実行80本目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破壊的スキャンの流れ(概念図)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中古書籍を商業市場で購入</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Anthropicの説明による</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裁断機で背表紙を切り落としスキャン</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高速スキャナーで全ページをデジタル化</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デジタル版に置き換え、原本は廃棄</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『置き換え』として裁判所が判断</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裁判所は、これを『購入した印刷本をデジタル版に置き換えただけ』と判断した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Fortune・NPR・GIGAZINE ほか(2026-07-28〜31続報)｜定期実行80本目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3つの異なる法的論点(2025年6月23日、Alsup判事)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適法</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論点1: AIモデルの学習利用</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変換性が高くフェアユースと判断</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適法</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論点2: 購入書籍の破壊的スキャン</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印刷本をデジタル版に置き換えただけとして適法と判断</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違法</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論点3: 海賊版データの利用</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Books3・LibGen等の無断利用はフェアユースに該当せず違法と判断</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Akin Gump / Wiggin and Dana</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Fortune・NPR・GIGAZINE ほか(2026-07-28〜31続報)｜定期実行80本目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なぜ『破壊的スキャン』が適法とされたのか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裁判所の判断理由を整理します。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Anthropicが購入した印刷本を、社内の蔵書として保管していた</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デジタル化は、この印刷本を『より扱いやすく検索可能な形』に置き換えるものと判断された</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原本を廃棄したことで、複製が二重に存在する状態にはならないとされた</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この判断は2025年6月23日、Alsup判事(北カリフォルニア地区連邦地裁)による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Akin Gump</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Fortune・NPR・GIGAZINE ほか(2026-07-28〜31続報)｜定期実行80本目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和解金の1点あたりの単価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約$3,000</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対象書籍1点あたりの和解金(手数料・弁護士費用差引前)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NPR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2つの異なる論点を混同しないための整理</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論点</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c>
                  <a:txBody>
                    <a:bodyPr/>
                    <a:lstStyle/>
                    <a:p>
                      <a:pPr>
                        <a:defRPr sz="1300" b="1">
                          <a:solidFill>
                            <a:srgbClr val="FFFFFF"/>
                          </a:solidFill>
                          <a:latin typeface="Yu Gothic"/>
                        </a:defRPr>
                      </a:pPr>
                      <a:r>
                        <a:t>法的な結果</a:t>
                      </a:r>
                    </a:p>
                  </a:txBody>
                  <a:tcPr>
                    <a:solidFill>
                      <a:srgbClr val="24523F"/>
                    </a:solidFill>
                  </a:tcPr>
                </a:tc>
              </a:tr>
              <a:tr h="502920">
                <a:tc>
                  <a:txBody>
                    <a:bodyPr/>
                    <a:lstStyle/>
                    <a:p>
                      <a:pPr>
                        <a:defRPr sz="1200">
                          <a:solidFill>
                            <a:srgbClr val="20261F"/>
                          </a:solidFill>
                          <a:latin typeface="Yu Gothic"/>
                        </a:defRPr>
                      </a:pPr>
                      <a:r>
                        <a:t>書籍の破壊的スキャン</a:t>
                      </a:r>
                    </a:p>
                  </a:txBody>
                  <a:tcPr>
                    <a:solidFill>
                      <a:srgbClr val="FFFFFF"/>
                    </a:solidFill>
                  </a:tcPr>
                </a:tc>
                <a:tc>
                  <a:txBody>
                    <a:bodyPr/>
                    <a:lstStyle/>
                    <a:p>
                      <a:pPr>
                        <a:defRPr sz="1200">
                          <a:solidFill>
                            <a:srgbClr val="20261F"/>
                          </a:solidFill>
                          <a:latin typeface="Yu Gothic"/>
                        </a:defRPr>
                      </a:pPr>
                      <a:r>
                        <a:t>購入した印刷本を裁断・スキャンし原本を廃棄</a:t>
                      </a:r>
                    </a:p>
                  </a:txBody>
                  <a:tcPr>
                    <a:solidFill>
                      <a:srgbClr val="FFFFFF"/>
                    </a:solidFill>
                  </a:tcPr>
                </a:tc>
                <a:tc>
                  <a:txBody>
                    <a:bodyPr/>
                    <a:lstStyle/>
                    <a:p>
                      <a:pPr>
                        <a:defRPr sz="1200">
                          <a:solidFill>
                            <a:srgbClr val="20261F"/>
                          </a:solidFill>
                          <a:latin typeface="Yu Gothic"/>
                        </a:defRPr>
                      </a:pPr>
                      <a:r>
                        <a:t>適法(2025年6月23日判断)</a:t>
                      </a:r>
                    </a:p>
                  </a:txBody>
                  <a:tcPr>
                    <a:solidFill>
                      <a:srgbClr val="FFFFFF"/>
                    </a:solidFill>
                  </a:tcPr>
                </a:tc>
              </a:tr>
              <a:tr h="502920">
                <a:tc>
                  <a:txBody>
                    <a:bodyPr/>
                    <a:lstStyle/>
                    <a:p>
                      <a:pPr>
                        <a:defRPr sz="1200">
                          <a:solidFill>
                            <a:srgbClr val="20261F"/>
                          </a:solidFill>
                          <a:latin typeface="Yu Gothic"/>
                        </a:defRPr>
                      </a:pPr>
                      <a:r>
                        <a:t>海賊版データの利用</a:t>
                      </a:r>
                    </a:p>
                  </a:txBody>
                  <a:tcPr>
                    <a:solidFill>
                      <a:srgbClr val="F4F1E6"/>
                    </a:solidFill>
                  </a:tcPr>
                </a:tc>
                <a:tc>
                  <a:txBody>
                    <a:bodyPr/>
                    <a:lstStyle/>
                    <a:p>
                      <a:pPr>
                        <a:defRPr sz="1200">
                          <a:solidFill>
                            <a:srgbClr val="20261F"/>
                          </a:solidFill>
                          <a:latin typeface="Yu Gothic"/>
                        </a:defRPr>
                      </a:pPr>
                      <a:r>
                        <a:t>Books3・LibGen等の無断入手データを学習に利用</a:t>
                      </a:r>
                    </a:p>
                  </a:txBody>
                  <a:tcPr>
                    <a:solidFill>
                      <a:srgbClr val="F4F1E6"/>
                    </a:solidFill>
                  </a:tcPr>
                </a:tc>
                <a:tc>
                  <a:txBody>
                    <a:bodyPr/>
                    <a:lstStyle/>
                    <a:p>
                      <a:pPr>
                        <a:defRPr sz="1200">
                          <a:solidFill>
                            <a:srgbClr val="20261F"/>
                          </a:solidFill>
                          <a:latin typeface="Yu Gothic"/>
                        </a:defRPr>
                      </a:pPr>
                      <a:r>
                        <a:t>違法、15億ドルで和解(最終承認2026年7月20日)</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Fortune・NPR・GIGAZINE ほか(2026-07-28〜31続報)｜定期実行80本目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“Evil incarnate(悪の化身)”</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E7DCC2"/>
                </a:solidFill>
                <a:latin typeface="Yu Gothic"/>
              </a:rPr>
              <a:t>— Michael Burry氏のコメント(SNS投稿より、意訳)</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反応が広がった3つの出来事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取材</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オランダの古書店主の証言</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3,000冊の注文を『スパムか詐欺』と思ったと語った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反応</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著名投資家のコメント</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強い言葉での批判が相次いだ</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反応</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著名起業家のコメント</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希少本の保存方法への懸念が示された</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Fortune</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Fortune・NPR・GIGAZINE ほか(2026-07-28〜31続報)｜定期実行80本目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“(SpaceXに関連するAIチームには)背表紙を切り落としてスキャンするのではなく、もっと丁寧な方法で希少本を保存するよう伝えた。”</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E7DCC2"/>
                </a:solidFill>
                <a:latin typeface="Yu Gothic"/>
              </a:rPr>
              <a:t>— Elon Musk氏のコメント(SNS投稿より、意訳)</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再燃のきっかけ(概念図)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オランダの古書店主への取材(Fortune)</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2026年7月31日</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SNSでの拡散</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著名投資家・起業家の反応</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改めて大きな話題に</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2026年7月28日〜31日</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根本の事実は2025年夏の話だが、直近の取材記事がきっかけで再燃した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Fortune・NPR・GIGAZINE ほか(2026-07-28〜31続報)｜定期実行80本目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“通常の商業市場を通じて書籍を購入している。希少本や骨董的価値のある書籍を取得・破棄するプログラムは一切ない。”</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E7DCC2"/>
                </a:solidFill>
                <a:latin typeface="Yu Gothic"/>
              </a:rPr>
              <a:t>— Anthropicの公式見解(複数媒体経由、意訳)</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批判する声 と Anthropicの反論</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批判する声</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『悪の化身』等の強い表現での批判</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希少本が失われることへの懸念</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『一種の野蛮さ』という表現も</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Anthropicの反論</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購入は通常の商業市場を通じて行っている</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希少本・骨董的価値のある本を狙ったプログラムはない</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破壊的スキャン自体は裁判所が適法と判断済み</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Fortune・NPR・GIGAZINE ほか(2026-07-28〜31続報)｜定期実行80本目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鮮度についての正直な開示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本テーマを見るときに、まずお伝えしたい点です。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根本の事実(Project Panama)は2025年夏に明るみに出た話題である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直近の炎上・著名人の反応は2026年7月28日〜31日で、着手日の3〜6日前である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進行中の話題として、直近続報の鮮度を基準に採用した</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この判断根拠は70本目・77本目と同様のパターンである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Fortune・NPR・GIGAZINE ほか(2026-07-28〜31続報)｜定期実行80本目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状況</a:t>
                      </a:r>
                    </a:p>
                  </a:txBody>
                  <a:tcPr>
                    <a:solidFill>
                      <a:srgbClr val="24523F"/>
                    </a:solidFill>
                  </a:tcPr>
                </a:tc>
              </a:tr>
              <a:tr h="502920">
                <a:tc>
                  <a:txBody>
                    <a:bodyPr/>
                    <a:lstStyle/>
                    <a:p>
                      <a:pPr>
                        <a:defRPr sz="1200">
                          <a:solidFill>
                            <a:srgbClr val="20261F"/>
                          </a:solidFill>
                          <a:latin typeface="Yu Gothic"/>
                        </a:defRPr>
                      </a:pPr>
                      <a:r>
                        <a:t>Anthropicの裁判資料原文・公式声明の原文全体</a:t>
                      </a:r>
                    </a:p>
                  </a:txBody>
                  <a:tcPr>
                    <a:solidFill>
                      <a:srgbClr val="FFFFFF"/>
                    </a:solidFill>
                  </a:tcPr>
                </a:tc>
                <a:tc>
                  <a:txBody>
                    <a:bodyPr/>
                    <a:lstStyle/>
                    <a:p>
                      <a:pPr>
                        <a:defRPr sz="1200">
                          <a:solidFill>
                            <a:srgbClr val="20261F"/>
                          </a:solidFill>
                          <a:latin typeface="Yu Gothic"/>
                        </a:defRPr>
                      </a:pPr>
                      <a:r>
                        <a:t>WebFetchのアクセス制限により未確認、複数媒体の要約に基づく</a:t>
                      </a:r>
                    </a:p>
                  </a:txBody>
                  <a:tcPr>
                    <a:solidFill>
                      <a:srgbClr val="FFFFFF"/>
                    </a:solidFill>
                  </a:tcPr>
                </a:tc>
              </a:tr>
              <a:tr h="502920">
                <a:tc>
                  <a:txBody>
                    <a:bodyPr/>
                    <a:lstStyle/>
                    <a:p>
                      <a:pPr>
                        <a:defRPr sz="1200">
                          <a:solidFill>
                            <a:srgbClr val="20261F"/>
                          </a:solidFill>
                          <a:latin typeface="Yu Gothic"/>
                        </a:defRPr>
                      </a:pPr>
                      <a:r>
                        <a:t>実際に破棄された書籍の総冊数</a:t>
                      </a:r>
                    </a:p>
                  </a:txBody>
                  <a:tcPr>
                    <a:solidFill>
                      <a:srgbClr val="F4F1E6"/>
                    </a:solidFill>
                  </a:tcPr>
                </a:tc>
                <a:tc>
                  <a:txBody>
                    <a:bodyPr/>
                    <a:lstStyle/>
                    <a:p>
                      <a:pPr>
                        <a:defRPr sz="1200">
                          <a:solidFill>
                            <a:srgbClr val="20261F"/>
                          </a:solidFill>
                          <a:latin typeface="Yu Gothic"/>
                        </a:defRPr>
                      </a:pPr>
                      <a:r>
                        <a:t>非公表・未確認</a:t>
                      </a:r>
                    </a:p>
                  </a:txBody>
                  <a:tcPr>
                    <a:solidFill>
                      <a:srgbClr val="F4F1E6"/>
                    </a:solidFill>
                  </a:tcPr>
                </a:tc>
              </a:tr>
              <a:tr h="502920">
                <a:tc>
                  <a:txBody>
                    <a:bodyPr/>
                    <a:lstStyle/>
                    <a:p>
                      <a:pPr>
                        <a:defRPr sz="1200">
                          <a:solidFill>
                            <a:srgbClr val="20261F"/>
                          </a:solidFill>
                          <a:latin typeface="Yu Gothic"/>
                        </a:defRPr>
                      </a:pPr>
                      <a:r>
                        <a:t>オランダの古書店主の注文の詳細な裏付け</a:t>
                      </a:r>
                    </a:p>
                  </a:txBody>
                  <a:tcPr>
                    <a:solidFill>
                      <a:srgbClr val="FFFFFF"/>
                    </a:solidFill>
                  </a:tcPr>
                </a:tc>
                <a:tc>
                  <a:txBody>
                    <a:bodyPr/>
                    <a:lstStyle/>
                    <a:p>
                      <a:pPr>
                        <a:defRPr sz="1200">
                          <a:solidFill>
                            <a:srgbClr val="20261F"/>
                          </a:solidFill>
                          <a:latin typeface="Yu Gothic"/>
                        </a:defRPr>
                      </a:pPr>
                      <a:r>
                        <a:t>非公表・未確認</a:t>
                      </a:r>
                    </a:p>
                  </a:txBody>
                  <a:tcPr>
                    <a:solidFill>
                      <a:srgbClr val="FFFFFF"/>
                    </a:solidFill>
                  </a:tcPr>
                </a:tc>
              </a:tr>
              <a:tr h="502920">
                <a:tc>
                  <a:txBody>
                    <a:bodyPr/>
                    <a:lstStyle/>
                    <a:p>
                      <a:pPr>
                        <a:defRPr sz="1200">
                          <a:solidFill>
                            <a:srgbClr val="20261F"/>
                          </a:solidFill>
                          <a:latin typeface="Yu Gothic"/>
                        </a:defRPr>
                      </a:pPr>
                      <a:r>
                        <a:t>破棄された書籍に希少本が含まれていたかの独立した検証</a:t>
                      </a:r>
                    </a:p>
                  </a:txBody>
                  <a:tcPr>
                    <a:solidFill>
                      <a:srgbClr val="F4F1E6"/>
                    </a:solidFill>
                  </a:tcPr>
                </a:tc>
                <a:tc>
                  <a:txBody>
                    <a:bodyPr/>
                    <a:lstStyle/>
                    <a:p>
                      <a:pPr>
                        <a:defRPr sz="1200">
                          <a:solidFill>
                            <a:srgbClr val="20261F"/>
                          </a:solidFill>
                          <a:latin typeface="Yu Gothic"/>
                        </a:defRPr>
                      </a:pPr>
                      <a:r>
                        <a:t>非公表・未確認</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Fortune・NPR・GIGAZINE ほか(2026-07-28〜31続報)｜定期実行80本目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本テーマの公平性についての開示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本テーマの制作にあたり、正直にお伝えしたいことがあります。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本パイプラインはAnthropicのClaudeモデルを使って制作されている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そのため本テーマでは、批判・擁護のどちらか一方に偏らないよう特に配慮した</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法的な事実関係(裁判所の判断)と、著名人の意見・Anthropicの反論を明確に区別している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『破壊的スキャンの適法性』と『海賊版データの和解』という異なる2つの論点を混同していない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Fortune・NPR・GIGAZINE ほか(2026-07-28〜31続報)｜定期実行80本目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判断が下された日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2025-06-23</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Alsup判事による3つの論点の判断日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Akin Gump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時系列</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1962851"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1962851"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414211" cy="548640"/>
          </a:xfrm>
          <a:prstGeom prst="rect">
            <a:avLst/>
          </a:prstGeom>
          <a:noFill/>
        </p:spPr>
        <p:txBody>
          <a:bodyPr wrap="square" anchor="t" lIns="0" rIns="0" tIns="0" bIns="0">
            <a:spAutoFit/>
          </a:bodyPr>
          <a:lstStyle/>
          <a:p>
            <a:pPr algn="l"/>
            <a:r>
              <a:rPr sz="1600" b="1">
                <a:solidFill>
                  <a:srgbClr val="24523F"/>
                </a:solidFill>
                <a:latin typeface="Yu Gothic"/>
              </a:rPr>
              <a:t>2025年夏</a:t>
            </a:r>
          </a:p>
        </p:txBody>
      </p:sp>
      <p:sp>
        <p:nvSpPr>
          <p:cNvPr id="10" name="TextBox 9"/>
          <p:cNvSpPr txBox="1"/>
          <p:nvPr/>
        </p:nvSpPr>
        <p:spPr>
          <a:xfrm>
            <a:off x="731520" y="3566160"/>
            <a:ext cx="1414211"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Project Panamaが訴訟資料で明るみに</a:t>
            </a:r>
          </a:p>
        </p:txBody>
      </p:sp>
      <p:sp>
        <p:nvSpPr>
          <p:cNvPr id="11" name="Chevron 10"/>
          <p:cNvSpPr/>
          <p:nvPr/>
        </p:nvSpPr>
        <p:spPr>
          <a:xfrm>
            <a:off x="2485887"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831531" y="1792224"/>
            <a:ext cx="1962851"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85811" y="1737360"/>
            <a:ext cx="1962851"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60131"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060131" y="2926080"/>
            <a:ext cx="1414211" cy="548640"/>
          </a:xfrm>
          <a:prstGeom prst="rect">
            <a:avLst/>
          </a:prstGeom>
          <a:noFill/>
        </p:spPr>
        <p:txBody>
          <a:bodyPr wrap="square" anchor="t" lIns="0" rIns="0" tIns="0" bIns="0">
            <a:spAutoFit/>
          </a:bodyPr>
          <a:lstStyle/>
          <a:p>
            <a:pPr algn="l"/>
            <a:r>
              <a:rPr sz="1600" b="1">
                <a:solidFill>
                  <a:srgbClr val="24523F"/>
                </a:solidFill>
                <a:latin typeface="Yu Gothic"/>
              </a:rPr>
              <a:t>2025年6月23日</a:t>
            </a:r>
          </a:p>
        </p:txBody>
      </p:sp>
      <p:sp>
        <p:nvSpPr>
          <p:cNvPr id="16" name="TextBox 15"/>
          <p:cNvSpPr txBox="1"/>
          <p:nvPr/>
        </p:nvSpPr>
        <p:spPr>
          <a:xfrm>
            <a:off x="3060131" y="3566160"/>
            <a:ext cx="1414211"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破壊的スキャンは適法、海賊版利用は違法との判断</a:t>
            </a:r>
          </a:p>
        </p:txBody>
      </p:sp>
      <p:sp>
        <p:nvSpPr>
          <p:cNvPr id="17" name="Chevron 16"/>
          <p:cNvSpPr/>
          <p:nvPr/>
        </p:nvSpPr>
        <p:spPr>
          <a:xfrm>
            <a:off x="4814498"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160142" y="1792224"/>
            <a:ext cx="1962851"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14422" y="1737360"/>
            <a:ext cx="1962851"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388742"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5388742" y="2926080"/>
            <a:ext cx="1414211" cy="548640"/>
          </a:xfrm>
          <a:prstGeom prst="rect">
            <a:avLst/>
          </a:prstGeom>
          <a:noFill/>
        </p:spPr>
        <p:txBody>
          <a:bodyPr wrap="square" anchor="t" lIns="0" rIns="0" tIns="0" bIns="0">
            <a:spAutoFit/>
          </a:bodyPr>
          <a:lstStyle/>
          <a:p>
            <a:pPr algn="l"/>
            <a:r>
              <a:rPr sz="1600" b="1">
                <a:solidFill>
                  <a:srgbClr val="24523F"/>
                </a:solidFill>
                <a:latin typeface="Yu Gothic"/>
              </a:rPr>
              <a:t>2025年9月5日</a:t>
            </a:r>
          </a:p>
        </p:txBody>
      </p:sp>
      <p:sp>
        <p:nvSpPr>
          <p:cNvPr id="22" name="TextBox 21"/>
          <p:cNvSpPr txBox="1"/>
          <p:nvPr/>
        </p:nvSpPr>
        <p:spPr>
          <a:xfrm>
            <a:off x="5388742" y="3566160"/>
            <a:ext cx="1414211"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海賊版利用について15億ドルの和解に合意</a:t>
            </a:r>
          </a:p>
        </p:txBody>
      </p:sp>
      <p:sp>
        <p:nvSpPr>
          <p:cNvPr id="23" name="Chevron 22"/>
          <p:cNvSpPr/>
          <p:nvPr/>
        </p:nvSpPr>
        <p:spPr>
          <a:xfrm>
            <a:off x="7143109"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88753" y="1792224"/>
            <a:ext cx="1962851"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443033" y="1737360"/>
            <a:ext cx="1962851"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717353"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7717353" y="2926080"/>
            <a:ext cx="1414211" cy="548640"/>
          </a:xfrm>
          <a:prstGeom prst="rect">
            <a:avLst/>
          </a:prstGeom>
          <a:noFill/>
        </p:spPr>
        <p:txBody>
          <a:bodyPr wrap="square" anchor="t" lIns="0" rIns="0" tIns="0" bIns="0">
            <a:spAutoFit/>
          </a:bodyPr>
          <a:lstStyle/>
          <a:p>
            <a:pPr algn="l"/>
            <a:r>
              <a:rPr sz="1600" b="1">
                <a:solidFill>
                  <a:srgbClr val="24523F"/>
                </a:solidFill>
                <a:latin typeface="Yu Gothic"/>
              </a:rPr>
              <a:t>2026年7月20日</a:t>
            </a:r>
          </a:p>
        </p:txBody>
      </p:sp>
      <p:sp>
        <p:nvSpPr>
          <p:cNvPr id="28" name="TextBox 27"/>
          <p:cNvSpPr txBox="1"/>
          <p:nvPr/>
        </p:nvSpPr>
        <p:spPr>
          <a:xfrm>
            <a:off x="7717353" y="3566160"/>
            <a:ext cx="1414211"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和解が最終承認</a:t>
            </a:r>
          </a:p>
        </p:txBody>
      </p:sp>
      <p:sp>
        <p:nvSpPr>
          <p:cNvPr id="29" name="Chevron 28"/>
          <p:cNvSpPr/>
          <p:nvPr/>
        </p:nvSpPr>
        <p:spPr>
          <a:xfrm>
            <a:off x="9471720"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817364" y="1792224"/>
            <a:ext cx="1962851"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771644" y="1737360"/>
            <a:ext cx="1962851"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045964"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5</a:t>
            </a:r>
          </a:p>
        </p:txBody>
      </p:sp>
      <p:sp>
        <p:nvSpPr>
          <p:cNvPr id="33" name="TextBox 32"/>
          <p:cNvSpPr txBox="1"/>
          <p:nvPr/>
        </p:nvSpPr>
        <p:spPr>
          <a:xfrm>
            <a:off x="10045964" y="2926080"/>
            <a:ext cx="1414211" cy="548640"/>
          </a:xfrm>
          <a:prstGeom prst="rect">
            <a:avLst/>
          </a:prstGeom>
          <a:noFill/>
        </p:spPr>
        <p:txBody>
          <a:bodyPr wrap="square" anchor="t" lIns="0" rIns="0" tIns="0" bIns="0">
            <a:spAutoFit/>
          </a:bodyPr>
          <a:lstStyle/>
          <a:p>
            <a:pPr algn="l"/>
            <a:r>
              <a:rPr sz="1600" b="1">
                <a:solidFill>
                  <a:srgbClr val="24523F"/>
                </a:solidFill>
                <a:latin typeface="Yu Gothic"/>
              </a:rPr>
              <a:t>2026年7月28日〜31日</a:t>
            </a:r>
          </a:p>
        </p:txBody>
      </p:sp>
      <p:sp>
        <p:nvSpPr>
          <p:cNvPr id="34" name="TextBox 33"/>
          <p:cNvSpPr txBox="1"/>
          <p:nvPr/>
        </p:nvSpPr>
        <p:spPr>
          <a:xfrm>
            <a:off x="10045964" y="3566160"/>
            <a:ext cx="1414211"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SNSで改めて大きな話題に</a:t>
            </a:r>
          </a:p>
        </p:txBody>
      </p:sp>
      <p:sp>
        <p:nvSpPr>
          <p:cNvPr id="35" name="TextBox 3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Fortune・NPR・GIGAZINE ほか(2026-07-28〜31続報)｜定期実行80本目</a:t>
            </a:r>
          </a:p>
        </p:txBody>
      </p:sp>
      <p:sp>
        <p:nvSpPr>
          <p:cNvPr id="36" name="TextBox 3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この話題が示唆すること(合理的推測)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推測</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AI学習データの調達方法への関心の高まり</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他のAI企業の書籍調達方法にも関心が向く可能性がある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推測</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『希少本』の定義をめぐる議論</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何をもって希少本とするかの基準が今後議論される可能性がある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推測</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出版業界との関係の重要性</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AI企業と出版業界の関係構築が今後も課題になり続ける可能性がある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Fortune・NPR・GIGAZINE ほか(2026-07-28〜31続報)｜定期実行80本目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変わったこと・変わらないこと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変わったこと(報じられている範囲)</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この話題が改めて広く注目されるようになった</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著名人の反応が新たに加わった</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海賊版データの和解が最終承認された</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変わらないこと</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破壊的スキャン自体の適法性判断(2025年6月)は変わっていない</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Anthropicの公式見解(希少本は対象外)も変わっていない</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実際の破棄冊数等、非公表の情報は引き続き不明のまま</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Fortune・NPR・GIGAZINE ほか(2026-07-28〜31続報)｜定期実行80本目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77本目との関係(重複でないことの確認)</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観点</a:t>
                      </a:r>
                    </a:p>
                  </a:txBody>
                  <a:tcPr>
                    <a:solidFill>
                      <a:srgbClr val="24523F"/>
                    </a:solidFill>
                  </a:tcPr>
                </a:tc>
                <a:tc>
                  <a:txBody>
                    <a:bodyPr/>
                    <a:lstStyle/>
                    <a:p>
                      <a:pPr>
                        <a:defRPr sz="1300" b="1">
                          <a:solidFill>
                            <a:srgbClr val="FFFFFF"/>
                          </a:solidFill>
                          <a:latin typeface="Yu Gothic"/>
                        </a:defRPr>
                      </a:pPr>
                      <a:r>
                        <a:t>77本目 Anthropic安全性開示</a:t>
                      </a:r>
                    </a:p>
                  </a:txBody>
                  <a:tcPr>
                    <a:solidFill>
                      <a:srgbClr val="24523F"/>
                    </a:solidFill>
                  </a:tcPr>
                </a:tc>
                <a:tc>
                  <a:txBody>
                    <a:bodyPr/>
                    <a:lstStyle/>
                    <a:p>
                      <a:pPr>
                        <a:defRPr sz="1300" b="1">
                          <a:solidFill>
                            <a:srgbClr val="FFFFFF"/>
                          </a:solidFill>
                          <a:latin typeface="Yu Gothic"/>
                        </a:defRPr>
                      </a:pPr>
                      <a:r>
                        <a:t>80本目(本テーマ) 書籍破棄騒動</a:t>
                      </a:r>
                    </a:p>
                  </a:txBody>
                  <a:tcPr>
                    <a:solidFill>
                      <a:srgbClr val="24523F"/>
                    </a:solidFill>
                  </a:tcPr>
                </a:tc>
              </a:tr>
              <a:tr h="502920">
                <a:tc>
                  <a:txBody>
                    <a:bodyPr/>
                    <a:lstStyle/>
                    <a:p>
                      <a:pPr>
                        <a:defRPr sz="1200">
                          <a:solidFill>
                            <a:srgbClr val="20261F"/>
                          </a:solidFill>
                          <a:latin typeface="Yu Gothic"/>
                        </a:defRPr>
                      </a:pPr>
                      <a:r>
                        <a:t>扱う論点</a:t>
                      </a:r>
                    </a:p>
                  </a:txBody>
                  <a:tcPr>
                    <a:solidFill>
                      <a:srgbClr val="FFFFFF"/>
                    </a:solidFill>
                  </a:tcPr>
                </a:tc>
                <a:tc>
                  <a:txBody>
                    <a:bodyPr/>
                    <a:lstStyle/>
                    <a:p>
                      <a:pPr>
                        <a:defRPr sz="1200">
                          <a:solidFill>
                            <a:srgbClr val="20261F"/>
                          </a:solidFill>
                          <a:latin typeface="Yu Gothic"/>
                        </a:defRPr>
                      </a:pPr>
                      <a:r>
                        <a:t>AIモデルの安全性テストでの実在組織への侵入</a:t>
                      </a:r>
                    </a:p>
                  </a:txBody>
                  <a:tcPr>
                    <a:solidFill>
                      <a:srgbClr val="FFFFFF"/>
                    </a:solidFill>
                  </a:tcPr>
                </a:tc>
                <a:tc>
                  <a:txBody>
                    <a:bodyPr/>
                    <a:lstStyle/>
                    <a:p>
                      <a:pPr>
                        <a:defRPr sz="1200">
                          <a:solidFill>
                            <a:srgbClr val="20261F"/>
                          </a:solidFill>
                          <a:latin typeface="Yu Gothic"/>
                        </a:defRPr>
                      </a:pPr>
                      <a:r>
                        <a:t>書籍の調達・学習データをめぐる著作権上の論点</a:t>
                      </a:r>
                    </a:p>
                  </a:txBody>
                  <a:tcPr>
                    <a:solidFill>
                      <a:srgbClr val="FFFFFF"/>
                    </a:solidFill>
                  </a:tcPr>
                </a:tc>
              </a:tr>
              <a:tr h="502920">
                <a:tc>
                  <a:txBody>
                    <a:bodyPr/>
                    <a:lstStyle/>
                    <a:p>
                      <a:pPr>
                        <a:defRPr sz="1200">
                          <a:solidFill>
                            <a:srgbClr val="20261F"/>
                          </a:solidFill>
                          <a:latin typeface="Yu Gothic"/>
                        </a:defRPr>
                      </a:pPr>
                      <a:r>
                        <a:t>時期</a:t>
                      </a:r>
                    </a:p>
                  </a:txBody>
                  <a:tcPr>
                    <a:solidFill>
                      <a:srgbClr val="F4F1E6"/>
                    </a:solidFill>
                  </a:tcPr>
                </a:tc>
                <a:tc>
                  <a:txBody>
                    <a:bodyPr/>
                    <a:lstStyle/>
                    <a:p>
                      <a:pPr>
                        <a:defRPr sz="1200">
                          <a:solidFill>
                            <a:srgbClr val="20261F"/>
                          </a:solidFill>
                          <a:latin typeface="Yu Gothic"/>
                        </a:defRPr>
                      </a:pPr>
                      <a:r>
                        <a:t>2026年7月30日開示</a:t>
                      </a:r>
                    </a:p>
                  </a:txBody>
                  <a:tcPr>
                    <a:solidFill>
                      <a:srgbClr val="F4F1E6"/>
                    </a:solidFill>
                  </a:tcPr>
                </a:tc>
                <a:tc>
                  <a:txBody>
                    <a:bodyPr/>
                    <a:lstStyle/>
                    <a:p>
                      <a:pPr>
                        <a:defRPr sz="1200">
                          <a:solidFill>
                            <a:srgbClr val="20261F"/>
                          </a:solidFill>
                          <a:latin typeface="Yu Gothic"/>
                        </a:defRPr>
                      </a:pPr>
                      <a:r>
                        <a:t>2025年夏発覚・2026年7月28日〜31日再燃</a:t>
                      </a:r>
                    </a:p>
                  </a:txBody>
                  <a:tcPr>
                    <a:solidFill>
                      <a:srgbClr val="F4F1E6"/>
                    </a:solidFill>
                  </a:tcPr>
                </a:tc>
              </a:tr>
              <a:tr h="502920">
                <a:tc>
                  <a:txBody>
                    <a:bodyPr/>
                    <a:lstStyle/>
                    <a:p>
                      <a:pPr>
                        <a:defRPr sz="1200">
                          <a:solidFill>
                            <a:srgbClr val="20261F"/>
                          </a:solidFill>
                          <a:latin typeface="Yu Gothic"/>
                        </a:defRPr>
                      </a:pPr>
                      <a:r>
                        <a:t>位置づけ</a:t>
                      </a:r>
                    </a:p>
                  </a:txBody>
                  <a:tcPr>
                    <a:solidFill>
                      <a:srgbClr val="FFFFFF"/>
                    </a:solidFill>
                  </a:tcPr>
                </a:tc>
                <a:tc>
                  <a:txBody>
                    <a:bodyPr/>
                    <a:lstStyle/>
                    <a:p>
                      <a:pPr>
                        <a:defRPr sz="1200">
                          <a:solidFill>
                            <a:srgbClr val="20261F"/>
                          </a:solidFill>
                          <a:latin typeface="Yu Gothic"/>
                        </a:defRPr>
                      </a:pPr>
                      <a:r>
                        <a:t>AIの安全性に関する話題</a:t>
                      </a:r>
                    </a:p>
                  </a:txBody>
                  <a:tcPr>
                    <a:solidFill>
                      <a:srgbClr val="FFFFFF"/>
                    </a:solidFill>
                  </a:tcPr>
                </a:tc>
                <a:tc>
                  <a:txBody>
                    <a:bodyPr/>
                    <a:lstStyle/>
                    <a:p>
                      <a:pPr>
                        <a:defRPr sz="1200">
                          <a:solidFill>
                            <a:srgbClr val="20261F"/>
                          </a:solidFill>
                          <a:latin typeface="Yu Gothic"/>
                        </a:defRPr>
                      </a:pPr>
                      <a:r>
                        <a:t>AIの学習データ調達・著作権に関する話題</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Fortune・NPR・GIGAZINE ほか(2026-07-28〜31続報)｜定期実行80本目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この話題から得られる学び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個別の企業評価ではなく、一般的な視点としてまとめます。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『違法』『合法』という言葉ほど、どの論点についての判断かを確認する価値がある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著名人の強い意見表明と、裁判所の法的判断は、別の次元のものとして受け止めるとよい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一方の当事者の反論も、事実として併記する姿勢が大切</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古い出来事が新しい取材記事で再燃することがある点も踏まえて読むとよい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Fortune・NPR・GIGAZINE ほか(2026-07-28〜31続報)｜定期実行80本目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適法 / 違法</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破壊的スキャンは適法、海賊版データの利用は違法(2025-06-23判断)、後者は15億ドルで和解(2026-07-20最終承認)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本編のまとめ</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“一種の野蛮さ。”</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E7DCC2"/>
                </a:solidFill>
                <a:latin typeface="Yu Gothic"/>
              </a:rPr>
              <a:t>— オランダの古書店主のコメント(Fortune経由、意訳)</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今後注目したいポイント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和解金の分配状況</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対象となった著者・出版社への支払いがどう進むか</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他社の同様の慣行の有無</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他のAI企業でも同様の書籍調達が行われているか</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『希少本』をめぐる議論の行方</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何をもって希少本とするかの基準が明確になるか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Fortune・NPR・GIGAZINE ほか(2026-07-28〜31続報)｜定期実行80本目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79本目と合わせて振り返る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今回のサイクルで扱った2つのテーマを整理します。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79本目は、ChatGPTの利用者数をめぐる未確認の報道だった</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本テーマは、Anthropicの書籍調達をめぐる、法的に整理が必要な話題だった</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どちらのテーマも、数字や事実を鵜呑みにせず丁寧に確認する姿勢が求められた</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バズる話題ほど、事実関係を正確に整理する価値があることが見えてきた</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Fortune・NPR・GIGAZINE ほか(2026-07-28〜31続報)｜定期実行80本目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本テーマの総括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2つの論点</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破壊的スキャン(適法)と海賊版データ利用(違法・$1.5B和解)を明確に区別して整理(2026-07-28〜31続報)</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本編のまとめ</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「違法」「合法」という言葉ほど、どの論点かを確認する。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衝撃的な言葉が飛び交う話題ほど、事実と意見、そして異なる論点を分けて確認する視点を、次に似た話題を見るときも持ってみてください。</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