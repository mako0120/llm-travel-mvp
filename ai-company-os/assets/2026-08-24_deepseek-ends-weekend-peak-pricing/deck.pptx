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中国のAI企業DeepSeekが、週末のAPIピーク料金を撤廃しました。何が変わったのか、出典付きで正確に整理してお届けします。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結論から確認します。DeepSeekは週末について、終日オフピーク料金を適用する新ルールを開始しました。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今日は6つの流れでお伝えします。新ルールの基本情報から開発者への影響、導入からの経緯まで、正確に事実を引用しながら整理します。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このテーマを扱う理由です。8月17日のピーク料金導入から間もないフォローアップという点に注目しました。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新ルールの基本情報です。週末については、ピーク・オフピークの区別がなくなりました。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ピーク/オフピーク料金とは何かを確認します。混雑緩和を目的とした料金体系です。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従来、ピーク時間帯の料金はオフピーク料金の2倍でした。週末はこの区別自体が撤廃されました。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料金体系の変遷を図にしました。導入から約1週間でのフォローアップ変更です。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今回の変更を3ステップで総括しました。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開発者への影響です。週末の処理コストを抑えられる可能性があります。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ピーク料金導入から週末撤廃まで、約1週間という短期間でのフォローアップです。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料金体系の比較です。週末のみ、終日オフピーク料金に統一されました。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AI開発者にとっての意味です。実務上参考になる情報です。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ピーク料金導入の背景を振り返ります。今回はその一部を見直すフォローアップです。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8月17日の導入発表と、8月23日の撤廃発表を対比しました。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新ルールは、2026年8月23日午前0時(北京時間)から適用されています。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従来のピーク時間帯についてです。平日は引き続き適用されています。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発効前に発生した料金は、従来の料金体系に基づいて精算されるとされています。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変更内容をまとめました。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終日オフピーク料金が適用されるのは土曜日・日曜日のみです。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海外メディアの報道時期をまとめました。発効直後から継続的に報じられています。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ピーク/オフピーク料金体系は2026年8月17日に導入されており、本テーマはその一部を見直すフォローアップです。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一般的なAPI料金改定の傾向と、今回のDeepSeekの対応を対比しました。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本編のまとめです。DeepSeekの週末ピーク料金撤廃について、出典付きで整理してお伝えしました。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DeepSeekの週末ピーク料金撤廃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DeepSeek、</a:t>
            </a:r>
          </a:p>
          <a:p>
            <a:pPr algn="l">
              <a:lnSpc>
                <a:spcPct val="115000"/>
              </a:lnSpc>
            </a:pPr>
            <a:r>
              <a:rPr sz="4200" b="1">
                <a:solidFill>
                  <a:srgbClr val="FFFFFF"/>
                </a:solidFill>
                <a:latin typeface="Yu Gothic"/>
              </a:rPr>
              <a:t>週末のピーク料金</a:t>
            </a:r>
          </a:p>
          <a:p>
            <a:pPr algn="l">
              <a:lnSpc>
                <a:spcPct val="115000"/>
              </a:lnSpc>
            </a:pPr>
            <a:r>
              <a:rPr sz="4200" b="1">
                <a:solidFill>
                  <a:srgbClr val="FFFFFF"/>
                </a:solidFill>
                <a:latin typeface="Yu Gothic"/>
              </a:rPr>
              <a:t>を撤廃</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2026年8月23日発効——出典付きで整理する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Bloomberg(2026年8月23日)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週末は終日オフピーク料金 DeepSeekのAPI新ルール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2026年8月23日午前0時(北京時間)から適用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Bloomberg(2026-08-23)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新ルールの基本情報を確認する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従来の料金体系を確認する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開発者への影響を確認する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料金体系導入からの経緯を確認する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海外の主要金融メディア(Bloomberg)が報じ、その後も複数メディアが継続的に取り上げている話題である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8月17日のピーク料金導入発表(既存テーマ)から間もない、フォローアップの発表である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開発者のコスト構造に直接影響する具体的な料金変更である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複数の独立したメディアが同じ内容を報じており、情報の一貫性を確認できた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Bloomberg・Briefs.co(2026年8月)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新ルールの基本情報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対象企業</a:t>
                      </a:r>
                    </a:p>
                  </a:txBody>
                  <a:tcPr>
                    <a:solidFill>
                      <a:srgbClr val="FFFFFF"/>
                    </a:solidFill>
                  </a:tcPr>
                </a:tc>
                <a:tc>
                  <a:txBody>
                    <a:bodyPr/>
                    <a:lstStyle/>
                    <a:p>
                      <a:pPr>
                        <a:defRPr sz="1200">
                          <a:solidFill>
                            <a:srgbClr val="1E2124"/>
                          </a:solidFill>
                          <a:latin typeface="Yu Gothic"/>
                        </a:defRPr>
                      </a:pPr>
                      <a:r>
                        <a:t>DeepSeek(中国のAI企業)</a:t>
                      </a:r>
                    </a:p>
                  </a:txBody>
                  <a:tcPr>
                    <a:solidFill>
                      <a:srgbClr val="FFFFFF"/>
                    </a:solidFill>
                  </a:tcPr>
                </a:tc>
              </a:tr>
              <a:tr h="502920">
                <a:tc>
                  <a:txBody>
                    <a:bodyPr/>
                    <a:lstStyle/>
                    <a:p>
                      <a:pPr>
                        <a:defRPr sz="1200">
                          <a:solidFill>
                            <a:srgbClr val="1E2124"/>
                          </a:solidFill>
                          <a:latin typeface="Yu Gothic"/>
                        </a:defRPr>
                      </a:pPr>
                      <a:r>
                        <a:t>変更内容</a:t>
                      </a:r>
                    </a:p>
                  </a:txBody>
                  <a:tcPr>
                    <a:solidFill>
                      <a:srgbClr val="F7F4EF"/>
                    </a:solidFill>
                  </a:tcPr>
                </a:tc>
                <a:tc>
                  <a:txBody>
                    <a:bodyPr/>
                    <a:lstStyle/>
                    <a:p>
                      <a:pPr>
                        <a:defRPr sz="1200">
                          <a:solidFill>
                            <a:srgbClr val="1E2124"/>
                          </a:solidFill>
                          <a:latin typeface="Yu Gothic"/>
                        </a:defRPr>
                      </a:pPr>
                      <a:r>
                        <a:t>週末のピーク料金区分を撤廃</a:t>
                      </a:r>
                    </a:p>
                  </a:txBody>
                  <a:tcPr>
                    <a:solidFill>
                      <a:srgbClr val="F7F4EF"/>
                    </a:solidFill>
                  </a:tcPr>
                </a:tc>
              </a:tr>
              <a:tr h="502920">
                <a:tc>
                  <a:txBody>
                    <a:bodyPr/>
                    <a:lstStyle/>
                    <a:p>
                      <a:pPr>
                        <a:defRPr sz="1200">
                          <a:solidFill>
                            <a:srgbClr val="1E2124"/>
                          </a:solidFill>
                          <a:latin typeface="Yu Gothic"/>
                        </a:defRPr>
                      </a:pPr>
                      <a:r>
                        <a:t>発効日時</a:t>
                      </a:r>
                    </a:p>
                  </a:txBody>
                  <a:tcPr>
                    <a:solidFill>
                      <a:srgbClr val="FFFFFF"/>
                    </a:solidFill>
                  </a:tcPr>
                </a:tc>
                <a:tc>
                  <a:txBody>
                    <a:bodyPr/>
                    <a:lstStyle/>
                    <a:p>
                      <a:pPr>
                        <a:defRPr sz="1200">
                          <a:solidFill>
                            <a:srgbClr val="1E2124"/>
                          </a:solidFill>
                          <a:latin typeface="Yu Gothic"/>
                        </a:defRPr>
                      </a:pPr>
                      <a:r>
                        <a:t>2026年8月23日午前0時(北京時間)</a:t>
                      </a:r>
                    </a:p>
                  </a:txBody>
                  <a:tcPr>
                    <a:solidFill>
                      <a:srgbClr val="FFFFFF"/>
                    </a:solidFill>
                  </a:tcPr>
                </a:tc>
              </a:tr>
              <a:tr h="502920">
                <a:tc>
                  <a:txBody>
                    <a:bodyPr/>
                    <a:lstStyle/>
                    <a:p>
                      <a:pPr>
                        <a:defRPr sz="1200">
                          <a:solidFill>
                            <a:srgbClr val="1E2124"/>
                          </a:solidFill>
                          <a:latin typeface="Yu Gothic"/>
                        </a:defRPr>
                      </a:pPr>
                      <a:r>
                        <a:t>適用対象</a:t>
                      </a:r>
                    </a:p>
                  </a:txBody>
                  <a:tcPr>
                    <a:solidFill>
                      <a:srgbClr val="F7F4EF"/>
                    </a:solidFill>
                  </a:tcPr>
                </a:tc>
                <a:tc>
                  <a:txBody>
                    <a:bodyPr/>
                    <a:lstStyle/>
                    <a:p>
                      <a:pPr>
                        <a:defRPr sz="1200">
                          <a:solidFill>
                            <a:srgbClr val="1E2124"/>
                          </a:solidFill>
                          <a:latin typeface="Yu Gothic"/>
                        </a:defRPr>
                      </a:pPr>
                      <a:r>
                        <a:t>土曜日・日曜日のAPI利用</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Bloomberg(2026-08-23)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「ピーク/オフピーク料金」とは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前提知識を確認します。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利用が集中する時間帯(ピーク)と、そうでない時間帯(オフピーク)で異なる料金を設定する仕組みである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DeepSeekの場合、ピーク時間帯の料金はオフピーク料金の2倍に設定されていた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この仕組みは、利用者に混雑時間帯を避けてもらうことを目的として導入された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従来のピーク料金倍率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2倍 従来のピーク時間帯料金(オフピーク比)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週末はこの区別自体が撤廃された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本調査による整理(既存テーマ2026-08-17参照)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料金体系の変遷</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8月17日、ピーク/オフピーク料金体系を導入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ピーク時はオフピーク比2倍</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週末も含めピーク時間帯が適用される状態が続く</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既存テーマで報告済み</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8月23日、週末のピーク料金を撤廃</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週末は終日オフピーク料金に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料金体系の変遷</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Bloomberg(2026年8月)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今回の変更を3ステップで総括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週末のピーク区分を廃止</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8月23日午前0時(北京時間)から</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終日オフピーク料金を適用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土曜・日曜のすべての時間帯</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平日は従来どおり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ピーク/オフピークの区別を維持</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開発者への影響</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開発者への影響を確認します。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週末に重い処理(バッチ処理等)を行っても、ピーク料金を回避できるようになった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従来ピーク時間帯とされていた09:00〜12:00、14:00〜18:00(北京時間)も含め、週末は終日オフピーク料金となる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これにより、週末に処理を集中させることでコストを抑えられる可能性がある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Briefs.co(2026年8月)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確定していること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新ルールの発効日時(8月23日午前0時、北京時間)</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週末は終日オフピーク料金が適用されること</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平日の料金体系は変更されていないこと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具体的な料金撤廃の理由(需要動向・競合対応等)</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撤廃による具体的な減収・増収の見込み額</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料金体系導入からの日数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約1週間 ピーク料金導入(8月17日)から週末撤廃(8月23日)までの日数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比較的短期間でのフォローアップ変更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本調査による整理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料金体系の比較</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時間帯</a:t>
                      </a:r>
                    </a:p>
                  </a:txBody>
                  <a:tcPr>
                    <a:solidFill>
                      <a:srgbClr val="3A4750"/>
                    </a:solidFill>
                  </a:tcPr>
                </a:tc>
                <a:tc>
                  <a:txBody>
                    <a:bodyPr/>
                    <a:lstStyle/>
                    <a:p>
                      <a:pPr>
                        <a:defRPr sz="1300" b="1">
                          <a:solidFill>
                            <a:srgbClr val="FFFFFF"/>
                          </a:solidFill>
                          <a:latin typeface="Yu Gothic"/>
                        </a:defRPr>
                      </a:pPr>
                      <a:r>
                        <a:t>変更前</a:t>
                      </a:r>
                    </a:p>
                  </a:txBody>
                  <a:tcPr>
                    <a:solidFill>
                      <a:srgbClr val="3A4750"/>
                    </a:solidFill>
                  </a:tcPr>
                </a:tc>
                <a:tc>
                  <a:txBody>
                    <a:bodyPr/>
                    <a:lstStyle/>
                    <a:p>
                      <a:pPr>
                        <a:defRPr sz="1300" b="1">
                          <a:solidFill>
                            <a:srgbClr val="FFFFFF"/>
                          </a:solidFill>
                          <a:latin typeface="Yu Gothic"/>
                        </a:defRPr>
                      </a:pPr>
                      <a:r>
                        <a:t>変更後(週末)</a:t>
                      </a:r>
                    </a:p>
                  </a:txBody>
                  <a:tcPr>
                    <a:solidFill>
                      <a:srgbClr val="3A4750"/>
                    </a:solidFill>
                  </a:tcPr>
                </a:tc>
              </a:tr>
              <a:tr h="502920">
                <a:tc>
                  <a:txBody>
                    <a:bodyPr/>
                    <a:lstStyle/>
                    <a:p>
                      <a:pPr>
                        <a:defRPr sz="1200">
                          <a:solidFill>
                            <a:srgbClr val="1E2124"/>
                          </a:solidFill>
                          <a:latin typeface="Yu Gothic"/>
                        </a:defRPr>
                      </a:pPr>
                      <a:r>
                        <a:t>平日ピーク時間帯</a:t>
                      </a:r>
                    </a:p>
                  </a:txBody>
                  <a:tcPr>
                    <a:solidFill>
                      <a:srgbClr val="FFFFFF"/>
                    </a:solidFill>
                  </a:tcPr>
                </a:tc>
                <a:tc>
                  <a:txBody>
                    <a:bodyPr/>
                    <a:lstStyle/>
                    <a:p>
                      <a:pPr>
                        <a:defRPr sz="1200">
                          <a:solidFill>
                            <a:srgbClr val="1E2124"/>
                          </a:solidFill>
                          <a:latin typeface="Yu Gothic"/>
                        </a:defRPr>
                      </a:pPr>
                      <a:r>
                        <a:t>ピーク料金(2倍)</a:t>
                      </a:r>
                    </a:p>
                  </a:txBody>
                  <a:tcPr>
                    <a:solidFill>
                      <a:srgbClr val="FFFFFF"/>
                    </a:solidFill>
                  </a:tcPr>
                </a:tc>
                <a:tc>
                  <a:txBody>
                    <a:bodyPr/>
                    <a:lstStyle/>
                    <a:p>
                      <a:pPr>
                        <a:defRPr sz="1200">
                          <a:solidFill>
                            <a:srgbClr val="1E2124"/>
                          </a:solidFill>
                          <a:latin typeface="Yu Gothic"/>
                        </a:defRPr>
                      </a:pPr>
                      <a:r>
                        <a:t>変更なし</a:t>
                      </a:r>
                    </a:p>
                  </a:txBody>
                  <a:tcPr>
                    <a:solidFill>
                      <a:srgbClr val="FFFFFF"/>
                    </a:solidFill>
                  </a:tcPr>
                </a:tc>
              </a:tr>
              <a:tr h="502920">
                <a:tc>
                  <a:txBody>
                    <a:bodyPr/>
                    <a:lstStyle/>
                    <a:p>
                      <a:pPr>
                        <a:defRPr sz="1200">
                          <a:solidFill>
                            <a:srgbClr val="1E2124"/>
                          </a:solidFill>
                          <a:latin typeface="Yu Gothic"/>
                        </a:defRPr>
                      </a:pPr>
                      <a:r>
                        <a:t>平日オフピーク時間帯</a:t>
                      </a:r>
                    </a:p>
                  </a:txBody>
                  <a:tcPr>
                    <a:solidFill>
                      <a:srgbClr val="F7F4EF"/>
                    </a:solidFill>
                  </a:tcPr>
                </a:tc>
                <a:tc>
                  <a:txBody>
                    <a:bodyPr/>
                    <a:lstStyle/>
                    <a:p>
                      <a:pPr>
                        <a:defRPr sz="1200">
                          <a:solidFill>
                            <a:srgbClr val="1E2124"/>
                          </a:solidFill>
                          <a:latin typeface="Yu Gothic"/>
                        </a:defRPr>
                      </a:pPr>
                      <a:r>
                        <a:t>オフピーク料金</a:t>
                      </a:r>
                    </a:p>
                  </a:txBody>
                  <a:tcPr>
                    <a:solidFill>
                      <a:srgbClr val="F7F4EF"/>
                    </a:solidFill>
                  </a:tcPr>
                </a:tc>
                <a:tc>
                  <a:txBody>
                    <a:bodyPr/>
                    <a:lstStyle/>
                    <a:p>
                      <a:pPr>
                        <a:defRPr sz="1200">
                          <a:solidFill>
                            <a:srgbClr val="1E2124"/>
                          </a:solidFill>
                          <a:latin typeface="Yu Gothic"/>
                        </a:defRPr>
                      </a:pPr>
                      <a:r>
                        <a:t>変更なし</a:t>
                      </a:r>
                    </a:p>
                  </a:txBody>
                  <a:tcPr>
                    <a:solidFill>
                      <a:srgbClr val="F7F4EF"/>
                    </a:solidFill>
                  </a:tcPr>
                </a:tc>
              </a:tr>
              <a:tr h="502920">
                <a:tc>
                  <a:txBody>
                    <a:bodyPr/>
                    <a:lstStyle/>
                    <a:p>
                      <a:pPr>
                        <a:defRPr sz="1200">
                          <a:solidFill>
                            <a:srgbClr val="1E2124"/>
                          </a:solidFill>
                          <a:latin typeface="Yu Gothic"/>
                        </a:defRPr>
                      </a:pPr>
                      <a:r>
                        <a:t>週末(土日終日)</a:t>
                      </a:r>
                    </a:p>
                  </a:txBody>
                  <a:tcPr>
                    <a:solidFill>
                      <a:srgbClr val="FFFFFF"/>
                    </a:solidFill>
                  </a:tcPr>
                </a:tc>
                <a:tc>
                  <a:txBody>
                    <a:bodyPr/>
                    <a:lstStyle/>
                    <a:p>
                      <a:pPr>
                        <a:defRPr sz="1200">
                          <a:solidFill>
                            <a:srgbClr val="1E2124"/>
                          </a:solidFill>
                          <a:latin typeface="Yu Gothic"/>
                        </a:defRPr>
                      </a:pPr>
                      <a:r>
                        <a:t>ピーク/オフピークが混在</a:t>
                      </a:r>
                    </a:p>
                  </a:txBody>
                  <a:tcPr>
                    <a:solidFill>
                      <a:srgbClr val="FFFFFF"/>
                    </a:solidFill>
                  </a:tcPr>
                </a:tc>
                <a:tc>
                  <a:txBody>
                    <a:bodyPr/>
                    <a:lstStyle/>
                    <a:p>
                      <a:pPr>
                        <a:defRPr sz="1200">
                          <a:solidFill>
                            <a:srgbClr val="1E2124"/>
                          </a:solidFill>
                          <a:latin typeface="Yu Gothic"/>
                        </a:defRPr>
                      </a:pPr>
                      <a:r>
                        <a:t>終日オフピーク料金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Bloomberg・Briefs.co(2026年8月)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視聴者にとっての意味—AI開発者として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 APIサービスの料金体系変更を、具体的な数字とともに把握できる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週末の開発コストを抑えたい開発者にとって、実務上参考になる情報である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料金導入から撤廃までの経緯を時系列で理解する視点が役立つ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ピーク料金導入の背景(既存テーマの振り返り)</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ピーク料金導入の背景を振り返ります。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DeepSeekは2026年8月17日、API料金についてピーク/オフピーク時間帯別の料金体系を初めて導入した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この導入は、利用者に混雑時間帯を避けてもらうことを目的としたと報じられていた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今回の週末撤廃は、この体系の一部を見直すフォローアップの変更である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本調査による整理(既存テーマ2026-08-17参照)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8月17日の導入発表 vs 8月23日の撤廃発表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8月17日(導入発表)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ピーク/オフピーク料金体系を初導入</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8月23日(撤廃発表)</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週末のピーク料金区分を撤廃</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平日は従来どおり維持</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具体的な料金撤廃の理由(需要動向・競合対応等の詳細な背景)は確認できていない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撤廃による具体的な減収・増収の見込み額は確認できていない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平日のピーク料金制度が今後も維持されるかどうかの詳細な方針は確認できていない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主な情報源</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報道内容</a:t>
                      </a:r>
                    </a:p>
                  </a:txBody>
                  <a:tcPr>
                    <a:solidFill>
                      <a:srgbClr val="3A4750"/>
                    </a:solidFill>
                  </a:tcPr>
                </a:tc>
              </a:tr>
              <a:tr h="502920">
                <a:tc>
                  <a:txBody>
                    <a:bodyPr/>
                    <a:lstStyle/>
                    <a:p>
                      <a:pPr>
                        <a:defRPr sz="1200">
                          <a:solidFill>
                            <a:srgbClr val="1E2124"/>
                          </a:solidFill>
                          <a:latin typeface="Yu Gothic"/>
                        </a:defRPr>
                      </a:pPr>
                      <a:r>
                        <a:t>Bloomberg(2026-08-23)</a:t>
                      </a:r>
                    </a:p>
                  </a:txBody>
                  <a:tcPr>
                    <a:solidFill>
                      <a:srgbClr val="FFFFFF"/>
                    </a:solidFill>
                  </a:tcPr>
                </a:tc>
                <a:tc>
                  <a:txBody>
                    <a:bodyPr/>
                    <a:lstStyle/>
                    <a:p>
                      <a:pPr>
                        <a:defRPr sz="1200">
                          <a:solidFill>
                            <a:srgbClr val="1E2124"/>
                          </a:solidFill>
                          <a:latin typeface="Yu Gothic"/>
                        </a:defRPr>
                      </a:pPr>
                      <a:r>
                        <a:t>発表の一次報道</a:t>
                      </a:r>
                    </a:p>
                  </a:txBody>
                  <a:tcPr>
                    <a:solidFill>
                      <a:srgbClr val="FFFFFF"/>
                    </a:solidFill>
                  </a:tcPr>
                </a:tc>
              </a:tr>
              <a:tr h="502920">
                <a:tc>
                  <a:txBody>
                    <a:bodyPr/>
                    <a:lstStyle/>
                    <a:p>
                      <a:pPr>
                        <a:defRPr sz="1200">
                          <a:solidFill>
                            <a:srgbClr val="1E2124"/>
                          </a:solidFill>
                          <a:latin typeface="Yu Gothic"/>
                        </a:defRPr>
                      </a:pPr>
                      <a:r>
                        <a:t>Briefs.co(2026年8月)</a:t>
                      </a:r>
                    </a:p>
                  </a:txBody>
                  <a:tcPr>
                    <a:solidFill>
                      <a:srgbClr val="F7F4EF"/>
                    </a:solidFill>
                  </a:tcPr>
                </a:tc>
                <a:tc>
                  <a:txBody>
                    <a:bodyPr/>
                    <a:lstStyle/>
                    <a:p>
                      <a:pPr>
                        <a:defRPr sz="1200">
                          <a:solidFill>
                            <a:srgbClr val="1E2124"/>
                          </a:solidFill>
                          <a:latin typeface="Yu Gothic"/>
                        </a:defRPr>
                      </a:pPr>
                      <a:r>
                        <a:t>変更内容の詳細</a:t>
                      </a:r>
                    </a:p>
                  </a:txBody>
                  <a:tcPr>
                    <a:solidFill>
                      <a:srgbClr val="F7F4EF"/>
                    </a:solidFill>
                  </a:tcPr>
                </a:tc>
              </a:tr>
              <a:tr h="502920">
                <a:tc>
                  <a:txBody>
                    <a:bodyPr/>
                    <a:lstStyle/>
                    <a:p>
                      <a:pPr>
                        <a:defRPr sz="1200">
                          <a:solidFill>
                            <a:srgbClr val="1E2124"/>
                          </a:solidFill>
                          <a:latin typeface="Yu Gothic"/>
                        </a:defRPr>
                      </a:pPr>
                      <a:r>
                        <a:t>36Kr(2026年8月)</a:t>
                      </a:r>
                    </a:p>
                  </a:txBody>
                  <a:tcPr>
                    <a:solidFill>
                      <a:srgbClr val="FFFFFF"/>
                    </a:solidFill>
                  </a:tcPr>
                </a:tc>
                <a:tc>
                  <a:txBody>
                    <a:bodyPr/>
                    <a:lstStyle/>
                    <a:p>
                      <a:pPr>
                        <a:defRPr sz="1200">
                          <a:solidFill>
                            <a:srgbClr val="1E2124"/>
                          </a:solidFill>
                          <a:latin typeface="Yu Gothic"/>
                        </a:defRPr>
                      </a:pPr>
                      <a:r>
                        <a:t>開発者への影響の分析</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AI開発者として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週末の開発コストを抑えられる可能性がある実務的な情報を得られる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AI業界動向を追う立場として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料金体系の導入から見直しまでの経緯を時系列で理解できる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導入発表と撤廃発表を区別する視点が役立つ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新ルール発効時刻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午前0時(北京時間) 週末ピーク料金撤廃の発効時刻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2026年8月23日から適用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Bloomberg(2026-08-23)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従来のピーク時間帯について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従来のピーク時間帯を確認します。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従来、平日・週末を問わず09:00〜12:00、14:00〜18:00(北京時間)がピーク時間帯とされていた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今回の変更により、週末はこれらの時間帯を含めて終日オフピーク料金となった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平日については、引き続きこれらの時間帯がピーク時間帯として扱われている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精算のルール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従来料金で精算 発効前の利用分の扱い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8月23日午前0時より前に発生した料金は従来体系で精算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Bloomberg(2026-08-23)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変更内容まとめ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発効日時</a:t>
                      </a:r>
                    </a:p>
                  </a:txBody>
                  <a:tcPr>
                    <a:solidFill>
                      <a:srgbClr val="FFFFFF"/>
                    </a:solidFill>
                  </a:tcPr>
                </a:tc>
                <a:tc>
                  <a:txBody>
                    <a:bodyPr/>
                    <a:lstStyle/>
                    <a:p>
                      <a:pPr>
                        <a:defRPr sz="1200">
                          <a:solidFill>
                            <a:srgbClr val="1E2124"/>
                          </a:solidFill>
                          <a:latin typeface="Yu Gothic"/>
                        </a:defRPr>
                      </a:pPr>
                      <a:r>
                        <a:t>2026年8月23日午前0時(北京時間)</a:t>
                      </a:r>
                    </a:p>
                  </a:txBody>
                  <a:tcPr>
                    <a:solidFill>
                      <a:srgbClr val="FFFFFF"/>
                    </a:solidFill>
                  </a:tcPr>
                </a:tc>
              </a:tr>
              <a:tr h="502920">
                <a:tc>
                  <a:txBody>
                    <a:bodyPr/>
                    <a:lstStyle/>
                    <a:p>
                      <a:pPr>
                        <a:defRPr sz="1200">
                          <a:solidFill>
                            <a:srgbClr val="1E2124"/>
                          </a:solidFill>
                          <a:latin typeface="Yu Gothic"/>
                        </a:defRPr>
                      </a:pPr>
                      <a:r>
                        <a:t>対象</a:t>
                      </a:r>
                    </a:p>
                  </a:txBody>
                  <a:tcPr>
                    <a:solidFill>
                      <a:srgbClr val="F7F4EF"/>
                    </a:solidFill>
                  </a:tcPr>
                </a:tc>
                <a:tc>
                  <a:txBody>
                    <a:bodyPr/>
                    <a:lstStyle/>
                    <a:p>
                      <a:pPr>
                        <a:defRPr sz="1200">
                          <a:solidFill>
                            <a:srgbClr val="1E2124"/>
                          </a:solidFill>
                          <a:latin typeface="Yu Gothic"/>
                        </a:defRPr>
                      </a:pPr>
                      <a:r>
                        <a:t>土曜日・日曜日のAPI利用</a:t>
                      </a:r>
                    </a:p>
                  </a:txBody>
                  <a:tcPr>
                    <a:solidFill>
                      <a:srgbClr val="F7F4EF"/>
                    </a:solidFill>
                  </a:tcPr>
                </a:tc>
              </a:tr>
              <a:tr h="502920">
                <a:tc>
                  <a:txBody>
                    <a:bodyPr/>
                    <a:lstStyle/>
                    <a:p>
                      <a:pPr>
                        <a:defRPr sz="1200">
                          <a:solidFill>
                            <a:srgbClr val="1E2124"/>
                          </a:solidFill>
                          <a:latin typeface="Yu Gothic"/>
                        </a:defRPr>
                      </a:pPr>
                      <a:r>
                        <a:t>変更内容</a:t>
                      </a:r>
                    </a:p>
                  </a:txBody>
                  <a:tcPr>
                    <a:solidFill>
                      <a:srgbClr val="FFFFFF"/>
                    </a:solidFill>
                  </a:tcPr>
                </a:tc>
                <a:tc>
                  <a:txBody>
                    <a:bodyPr/>
                    <a:lstStyle/>
                    <a:p>
                      <a:pPr>
                        <a:defRPr sz="1200">
                          <a:solidFill>
                            <a:srgbClr val="1E2124"/>
                          </a:solidFill>
                          <a:latin typeface="Yu Gothic"/>
                        </a:defRPr>
                      </a:pPr>
                      <a:r>
                        <a:t>終日オフピーク料金の適用</a:t>
                      </a:r>
                    </a:p>
                  </a:txBody>
                  <a:tcPr>
                    <a:solidFill>
                      <a:srgbClr val="FFFFFF"/>
                    </a:solidFill>
                  </a:tcPr>
                </a:tc>
              </a:tr>
              <a:tr h="502920">
                <a:tc>
                  <a:txBody>
                    <a:bodyPr/>
                    <a:lstStyle/>
                    <a:p>
                      <a:pPr>
                        <a:defRPr sz="1200">
                          <a:solidFill>
                            <a:srgbClr val="1E2124"/>
                          </a:solidFill>
                          <a:latin typeface="Yu Gothic"/>
                        </a:defRPr>
                      </a:pPr>
                      <a:r>
                        <a:t>平日への影響</a:t>
                      </a:r>
                    </a:p>
                  </a:txBody>
                  <a:tcPr>
                    <a:solidFill>
                      <a:srgbClr val="F7F4EF"/>
                    </a:solidFill>
                  </a:tcPr>
                </a:tc>
                <a:tc>
                  <a:txBody>
                    <a:bodyPr/>
                    <a:lstStyle/>
                    <a:p>
                      <a:pPr>
                        <a:defRPr sz="1200">
                          <a:solidFill>
                            <a:srgbClr val="1E2124"/>
                          </a:solidFill>
                          <a:latin typeface="Yu Gothic"/>
                        </a:defRPr>
                      </a:pPr>
                      <a:r>
                        <a:t>なし(従来どおり)</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適用曜日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土曜・日曜 終日オフピーク料金が適用される曜日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平日には適用されない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Bloomberg(2026-08-23)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3A4750"/>
                    </a:solidFill>
                  </a:tcPr>
                </a:tc>
                <a:tc>
                  <a:txBody>
                    <a:bodyPr/>
                    <a:lstStyle/>
                    <a:p>
                      <a:pPr>
                        <a:defRPr sz="1300" b="1">
                          <a:solidFill>
                            <a:srgbClr val="FFFFFF"/>
                          </a:solidFill>
                          <a:latin typeface="Yu Gothic"/>
                        </a:defRPr>
                      </a:pPr>
                      <a:r>
                        <a:t>メディア</a:t>
                      </a:r>
                    </a:p>
                  </a:txBody>
                  <a:tcPr>
                    <a:solidFill>
                      <a:srgbClr val="3A4750"/>
                    </a:solidFill>
                  </a:tcPr>
                </a:tc>
              </a:tr>
              <a:tr h="502920">
                <a:tc>
                  <a:txBody>
                    <a:bodyPr/>
                    <a:lstStyle/>
                    <a:p>
                      <a:pPr>
                        <a:defRPr sz="1200">
                          <a:solidFill>
                            <a:srgbClr val="1E2124"/>
                          </a:solidFill>
                          <a:latin typeface="Yu Gothic"/>
                        </a:defRPr>
                      </a:pPr>
                      <a:r>
                        <a:t>2026年8月23日</a:t>
                      </a:r>
                    </a:p>
                  </a:txBody>
                  <a:tcPr>
                    <a:solidFill>
                      <a:srgbClr val="FFFFFF"/>
                    </a:solidFill>
                  </a:tcPr>
                </a:tc>
                <a:tc>
                  <a:txBody>
                    <a:bodyPr/>
                    <a:lstStyle/>
                    <a:p>
                      <a:pPr>
                        <a:defRPr sz="1200">
                          <a:solidFill>
                            <a:srgbClr val="1E2124"/>
                          </a:solidFill>
                          <a:latin typeface="Yu Gothic"/>
                        </a:defRPr>
                      </a:pPr>
                      <a:r>
                        <a:t>Bloomberg(一次報道)</a:t>
                      </a:r>
                    </a:p>
                  </a:txBody>
                  <a:tcPr>
                    <a:solidFill>
                      <a:srgbClr val="FFFFFF"/>
                    </a:solidFill>
                  </a:tcPr>
                </a:tc>
              </a:tr>
              <a:tr h="502920">
                <a:tc>
                  <a:txBody>
                    <a:bodyPr/>
                    <a:lstStyle/>
                    <a:p>
                      <a:pPr>
                        <a:defRPr sz="1200">
                          <a:solidFill>
                            <a:srgbClr val="1E2124"/>
                          </a:solidFill>
                          <a:latin typeface="Yu Gothic"/>
                        </a:defRPr>
                      </a:pPr>
                      <a:r>
                        <a:t>2026年8月23日以降</a:t>
                      </a:r>
                    </a:p>
                  </a:txBody>
                  <a:tcPr>
                    <a:solidFill>
                      <a:srgbClr val="F7F4EF"/>
                    </a:solidFill>
                  </a:tcPr>
                </a:tc>
                <a:tc>
                  <a:txBody>
                    <a:bodyPr/>
                    <a:lstStyle/>
                    <a:p>
                      <a:pPr>
                        <a:defRPr sz="1200">
                          <a:solidFill>
                            <a:srgbClr val="1E2124"/>
                          </a:solidFill>
                          <a:latin typeface="Yu Gothic"/>
                        </a:defRPr>
                      </a:pPr>
                      <a:r>
                        <a:t>Briefs.co(詳細解説)</a:t>
                      </a:r>
                    </a:p>
                  </a:txBody>
                  <a:tcPr>
                    <a:solidFill>
                      <a:srgbClr val="F7F4EF"/>
                    </a:solidFill>
                  </a:tcPr>
                </a:tc>
              </a:tr>
              <a:tr h="502920">
                <a:tc>
                  <a:txBody>
                    <a:bodyPr/>
                    <a:lstStyle/>
                    <a:p>
                      <a:pPr>
                        <a:defRPr sz="1200">
                          <a:solidFill>
                            <a:srgbClr val="1E2124"/>
                          </a:solidFill>
                          <a:latin typeface="Yu Gothic"/>
                        </a:defRPr>
                      </a:pPr>
                      <a:r>
                        <a:t>2026年8月以降</a:t>
                      </a:r>
                    </a:p>
                  </a:txBody>
                  <a:tcPr>
                    <a:solidFill>
                      <a:srgbClr val="FFFFFF"/>
                    </a:solidFill>
                  </a:tcPr>
                </a:tc>
                <a:tc>
                  <a:txBody>
                    <a:bodyPr/>
                    <a:lstStyle/>
                    <a:p>
                      <a:pPr>
                        <a:defRPr sz="1200">
                          <a:solidFill>
                            <a:srgbClr val="1E2124"/>
                          </a:solidFill>
                          <a:latin typeface="Yu Gothic"/>
                        </a:defRPr>
                      </a:pPr>
                      <a:r>
                        <a:t>36Kr(開発者への影響分析)</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既存のピーク料金制度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2026年8月17日 ピーク/オフピーク料金体系の導入日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本テーマはこの制度の一部を見直すフォローアップ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本調査による整理(既存テーマ参照)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一般的なAPI料金改定 vs 今回のDeepSeekの対応</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一般的なAPI料金改定</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値上げ・値下げが一方向的に発表されることが多い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今回のDeepSeekの対応</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導入からわずか約1週間で一部を見直し</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利用者の負担軽減につながる変更</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今後注目される点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平日のピーク料金制度が今後も維持されるかどうかに注目が集まる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他のAI企業が同様の料金体系見直しを行うかどうかも注目点である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具体的な今後の料金改定予測は本テーマの範囲では断定せず、確認できた事実にとどめる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DeepSeekが2026年8月23日午前0時(北京時間)から、週末のピーク料金区分を撤廃した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週末は終日オフピーク料金が適用され、開発者は週末の処理コストを抑えられる可能性がある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8月17日のピーク料金導入から約1週間というフォローアップの変更である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平日の料金体系は変更されておらず、従来どおりピーク/オフピークの区別が維持されている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Bloomberg等(2026-08-23)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DeepSeek、週末のピーク料金を撤廃。API利用者への影響は。</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DeepSeekが週末のピーク料金を撤廃しました。8月17日の導入発表からの経緯を、出典付きで整理してお届けしました。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