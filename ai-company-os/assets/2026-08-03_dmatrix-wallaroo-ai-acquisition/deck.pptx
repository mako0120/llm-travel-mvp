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半導体だけじゃ足りない。AIチップ企業が仕掛けたのは、4ヶ月で2件目の買収でした。d-Matrixが、AIオーケストレーション企業Wallaroo.aiを買収すると発表しました。今日はこの話題をお届けします。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今日わかることは6つです。何が起きたのか、d-Matrixとはどんな会社か、Wallaroo.aiとはどんな会社か、買収の狙いと戦略、確認できたこと・できなかったこと、そして今後の見通しです。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何が起きたのか整理します。d-Matrixが2026年8月3日、Wallaroo.aiの買収を発表しました。過去4ヶ月で2件目の買収です。</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過去4ヶ月の買収件数はこちら、2件目です。積極的なM&amp;A戦略がうかがえます。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買収概要を表にまとめました。買収企業はd-Matrix、被買収企業はWallaroo.aiです。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d-Matrixとはどんな会社か紹介します。AI推論向け半導体を開発する企業で、シリコンからソフトウェアまでの一気通貫プラットフォーム構築を目指しています。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d-Matrixの買収戦略を概要で紹介します。半導体開発から、データセンター事業、オーケストレーション企業の買収へと展開しています。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Wallaroo.aiとはどんな会社か見ていきます。Kubernetes運用やモデルサービングなど、AIオーケストレーションの専門知識を持つ企業です。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買収により統合される機能を概要で示します。高性能シリコンとデプロイ自動化技術が統合され、一気通貫プラットフォームが目指されます。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Wallaroo.aiが持つ専門知識です。Kubernetes運用からモデルサービング、デプロイ自動化、可観測性まで幅広くカバーしています。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対応規模を確認します。単一サーバーノードから、マルチラックのデータセンター規模まで対応するとされています。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買収の狙いを報道から整理します。技術獲得、一気通貫化、低レイテンシー推論の実現が挙げられています。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ここで確認できたこと・できなかったことを正直に整理します。買収の事実は複数媒体で一致していますが、買収額は公表されておらず確認できていません。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d-Matrixの買収の流れです。2026年4月のGigaIO買収から、8月のWallaroo.ai買収へとつながっています。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AI推論プラットフォーム市場の背景です。半導体企業がソフトウェア企業を買収する動きが目立っているとされています。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買収額を確認します。今回は両社から買収額が公表されていません。この点は正直に開示します。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AI推論の一気通貫プラットフォームを概要で紹介します。シリコンからデプロイソフトウェアまでを一体で提供する構想です。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初心者向けにAIオーケストレーションを説明します。複数のシステム・処理を自動的に連携・管理する仕組みのことです。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出典一覧です。HPCwire・PR Newswire・Engineering.com・Converge Digestという、独立した複数の技術・半導体専門媒体です。</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買収概要を再確認します。d-Matrixが、Wallaroo.aiを買収しました。過去4ヶ月で2件目の買収です。</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既存テーマとの関係を確認しました。d-MatrixまたはWallaroo.aiを主題として扱った既存テーマはなく、重複ではありません。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ここからは推測です。半導体企業によるソフトウェア企業買収がさらに加速する可能性があります。</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直近の買収を確認します。2026年4月には、GigaIOのデータセンター事業を買収していました。</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買収前後のd-Matrixを概要で比較します。オーケストレーション技術の統合により、一気通貫でのプラットフォーム提供が見込まれています。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対応規模の広がりを概要で示します。単一サーバーノードから、マルチラックのデータセンター規模まで対応する構想です。</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リスクと課題を正直に開示します。買収額が非公表であり、取引規模の全体像は確認できていません。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本テーマで大切にしたことを紹介します。出典の明記、正直な開示、中立性の3点です。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技術獲得領域数を確認します。Kubernetes運用・モデルサービング・デプロイ自動化・可観測性の4領域です。</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皆さんはこの買収戦略、どう見ますか。半導体企業によるソフトウェア企業買収、今後も注目していきましょう。</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まとめです。d-Matrixが2026年8月3日、Wallaroo.aiの買収を発表しました。今回もご視聴ありがとうございました。</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半導体だけじゃ足りない。AIチップ企業が仕掛けた4ヶ月で2件目の買収</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CADCFC"/>
                </a:solidFill>
                <a:latin typeface="Yu Gothic"/>
              </a:rPr>
              <a:t>d-Matrix、AIオーケストレーション企業Wallaroo.aiを買収</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8FA3D0"/>
                </a:solidFill>
                <a:latin typeface="Yu Gothic"/>
              </a:rPr>
              <a:t>出典: HPCwire(AIwire)・PR Newswire・Engineering.com ほか(2026-08-03)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今日わかること</a:t>
            </a:r>
          </a:p>
        </p:txBody>
      </p:sp>
      <p:sp>
        <p:nvSpPr>
          <p:cNvPr id="5" name="Oval 4"/>
          <p:cNvSpPr/>
          <p:nvPr/>
        </p:nvSpPr>
        <p:spPr>
          <a:xfrm>
            <a:off x="548640" y="192024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CADCFC"/>
                </a:solidFill>
                <a:latin typeface="Yu Gothic"/>
              </a:rPr>
              <a:t>何が起きたのか</a:t>
            </a:r>
          </a:p>
        </p:txBody>
      </p:sp>
      <p:sp>
        <p:nvSpPr>
          <p:cNvPr id="7" name="Oval 6"/>
          <p:cNvSpPr/>
          <p:nvPr/>
        </p:nvSpPr>
        <p:spPr>
          <a:xfrm>
            <a:off x="548640" y="269748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CADCFC"/>
                </a:solidFill>
                <a:latin typeface="Yu Gothic"/>
              </a:rPr>
              <a:t>d-Matrixとはどんな会社か</a:t>
            </a:r>
          </a:p>
        </p:txBody>
      </p:sp>
      <p:sp>
        <p:nvSpPr>
          <p:cNvPr id="9" name="Oval 8"/>
          <p:cNvSpPr/>
          <p:nvPr/>
        </p:nvSpPr>
        <p:spPr>
          <a:xfrm>
            <a:off x="548640" y="347472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CADCFC"/>
                </a:solidFill>
                <a:latin typeface="Yu Gothic"/>
              </a:rPr>
              <a:t>Wallaroo.aiとはどんな会社か</a:t>
            </a:r>
          </a:p>
        </p:txBody>
      </p:sp>
      <p:sp>
        <p:nvSpPr>
          <p:cNvPr id="11" name="Oval 10"/>
          <p:cNvSpPr/>
          <p:nvPr/>
        </p:nvSpPr>
        <p:spPr>
          <a:xfrm>
            <a:off x="548640" y="425196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CADCFC"/>
                </a:solidFill>
                <a:latin typeface="Yu Gothic"/>
              </a:rPr>
              <a:t>買収の狙いと戦略</a:t>
            </a:r>
          </a:p>
        </p:txBody>
      </p:sp>
      <p:sp>
        <p:nvSpPr>
          <p:cNvPr id="13" name="Oval 12"/>
          <p:cNvSpPr/>
          <p:nvPr/>
        </p:nvSpPr>
        <p:spPr>
          <a:xfrm>
            <a:off x="548640" y="502920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CADCFC"/>
                </a:solidFill>
                <a:latin typeface="Yu Gothic"/>
              </a:rPr>
              <a:t>確認できたこと・できなかったこと</a:t>
            </a:r>
          </a:p>
        </p:txBody>
      </p:sp>
      <p:sp>
        <p:nvSpPr>
          <p:cNvPr id="15" name="Oval 14"/>
          <p:cNvSpPr/>
          <p:nvPr/>
        </p:nvSpPr>
        <p:spPr>
          <a:xfrm>
            <a:off x="548640" y="5806440"/>
            <a:ext cx="548640" cy="5486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6</a:t>
            </a:r>
          </a:p>
        </p:txBody>
      </p:sp>
      <p:sp>
        <p:nvSpPr>
          <p:cNvPr id="16" name="TextBox 15"/>
          <p:cNvSpPr txBox="1"/>
          <p:nvPr/>
        </p:nvSpPr>
        <p:spPr>
          <a:xfrm>
            <a:off x="1325880" y="5824727"/>
            <a:ext cx="9601200" cy="548640"/>
          </a:xfrm>
          <a:prstGeom prst="rect">
            <a:avLst/>
          </a:prstGeom>
          <a:noFill/>
        </p:spPr>
        <p:txBody>
          <a:bodyPr wrap="square" anchor="ctr" lIns="0" rIns="0" tIns="0" bIns="0">
            <a:spAutoFit/>
          </a:bodyPr>
          <a:lstStyle/>
          <a:p>
            <a:pPr algn="l"/>
            <a:r>
              <a:rPr sz="2000" b="0">
                <a:solidFill>
                  <a:srgbClr val="CADCFC"/>
                </a:solidFill>
                <a:latin typeface="Yu Gothic"/>
              </a:rPr>
              <a:t>今後の見通し</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何が起きたのか</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d-Matrixが2026年8月3日、Wallaroo.aiの買収を発表</a:t>
            </a:r>
          </a:p>
        </p:txBody>
      </p:sp>
      <p:sp>
        <p:nvSpPr>
          <p:cNvPr id="8" name="Oval 7"/>
          <p:cNvSpPr/>
          <p:nvPr/>
        </p:nvSpPr>
        <p:spPr>
          <a:xfrm>
            <a:off x="457200" y="225856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d-Matrixにとって過去4ヶ月で2件目の買収</a:t>
            </a:r>
          </a:p>
        </p:txBody>
      </p:sp>
      <p:sp>
        <p:nvSpPr>
          <p:cNvPr id="10" name="Oval 9"/>
          <p:cNvSpPr/>
          <p:nvPr/>
        </p:nvSpPr>
        <p:spPr>
          <a:xfrm>
            <a:off x="457200" y="30358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2026年4月のGigaIOデータセンター事業買収に続く動き</a:t>
            </a:r>
          </a:p>
        </p:txBody>
      </p:sp>
      <p:sp>
        <p:nvSpPr>
          <p:cNvPr id="12" name="Oval 11"/>
          <p:cNvSpPr/>
          <p:nvPr/>
        </p:nvSpPr>
        <p:spPr>
          <a:xfrm>
            <a:off x="457200" y="38130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買収額は両社から公表されていない</a:t>
            </a:r>
          </a:p>
        </p:txBody>
      </p:sp>
      <p:sp>
        <p:nvSpPr>
          <p:cNvPr id="14" name="TextBox 13"/>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HPCwire/AIwire(2026-08-03)</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HPCwire(AIwire)・PR Newswire・Engineering.com ほか(2026-08-03)｜定期実行119本目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3 / 30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過去4ヶ月の買収件数</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2件目</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2026年4月のGigaIO買収に続く今回の買収</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PR Newswire(2026-08-03)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買収概要</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301752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1E2761"/>
                    </a:solidFill>
                  </a:tcPr>
                </a:tc>
                <a:tc>
                  <a:txBody>
                    <a:bodyPr/>
                    <a:lstStyle/>
                    <a:p>
                      <a:pPr>
                        <a:defRPr sz="1300" b="1">
                          <a:solidFill>
                            <a:srgbClr val="FFFFFF"/>
                          </a:solidFill>
                          <a:latin typeface="Yu Gothic"/>
                        </a:defRPr>
                      </a:pPr>
                      <a:r>
                        <a:t>内容</a:t>
                      </a:r>
                    </a:p>
                  </a:txBody>
                  <a:tcPr>
                    <a:solidFill>
                      <a:srgbClr val="1E2761"/>
                    </a:solidFill>
                  </a:tcPr>
                </a:tc>
              </a:tr>
              <a:tr h="502920">
                <a:tc>
                  <a:txBody>
                    <a:bodyPr/>
                    <a:lstStyle/>
                    <a:p>
                      <a:pPr>
                        <a:defRPr sz="1200">
                          <a:solidFill>
                            <a:srgbClr val="1A1A2E"/>
                          </a:solidFill>
                          <a:latin typeface="Yu Gothic"/>
                        </a:defRPr>
                      </a:pPr>
                      <a:r>
                        <a:t>買収企業</a:t>
                      </a:r>
                    </a:p>
                  </a:txBody>
                  <a:tcPr>
                    <a:solidFill>
                      <a:srgbClr val="FFFFFF"/>
                    </a:solidFill>
                  </a:tcPr>
                </a:tc>
                <a:tc>
                  <a:txBody>
                    <a:bodyPr/>
                    <a:lstStyle/>
                    <a:p>
                      <a:pPr>
                        <a:defRPr sz="1200">
                          <a:solidFill>
                            <a:srgbClr val="1A1A2E"/>
                          </a:solidFill>
                          <a:latin typeface="Yu Gothic"/>
                        </a:defRPr>
                      </a:pPr>
                      <a:r>
                        <a:t>d-Matrix(AI推論向け半導体企業)</a:t>
                      </a:r>
                    </a:p>
                  </a:txBody>
                  <a:tcPr>
                    <a:solidFill>
                      <a:srgbClr val="FFFFFF"/>
                    </a:solidFill>
                  </a:tcPr>
                </a:tc>
              </a:tr>
              <a:tr h="502920">
                <a:tc>
                  <a:txBody>
                    <a:bodyPr/>
                    <a:lstStyle/>
                    <a:p>
                      <a:pPr>
                        <a:defRPr sz="1200">
                          <a:solidFill>
                            <a:srgbClr val="1A1A2E"/>
                          </a:solidFill>
                          <a:latin typeface="Yu Gothic"/>
                        </a:defRPr>
                      </a:pPr>
                      <a:r>
                        <a:t>被買収企業</a:t>
                      </a:r>
                    </a:p>
                  </a:txBody>
                  <a:tcPr>
                    <a:solidFill>
                      <a:srgbClr val="F3F6FC"/>
                    </a:solidFill>
                  </a:tcPr>
                </a:tc>
                <a:tc>
                  <a:txBody>
                    <a:bodyPr/>
                    <a:lstStyle/>
                    <a:p>
                      <a:pPr>
                        <a:defRPr sz="1200">
                          <a:solidFill>
                            <a:srgbClr val="1A1A2E"/>
                          </a:solidFill>
                          <a:latin typeface="Yu Gothic"/>
                        </a:defRPr>
                      </a:pPr>
                      <a:r>
                        <a:t>Wallaroo.ai(AIオーケストレーション企業)</a:t>
                      </a:r>
                    </a:p>
                  </a:txBody>
                  <a:tcPr>
                    <a:solidFill>
                      <a:srgbClr val="F3F6FC"/>
                    </a:solidFill>
                  </a:tcPr>
                </a:tc>
              </a:tr>
              <a:tr h="502920">
                <a:tc>
                  <a:txBody>
                    <a:bodyPr/>
                    <a:lstStyle/>
                    <a:p>
                      <a:pPr>
                        <a:defRPr sz="1200">
                          <a:solidFill>
                            <a:srgbClr val="1A1A2E"/>
                          </a:solidFill>
                          <a:latin typeface="Yu Gothic"/>
                        </a:defRPr>
                      </a:pPr>
                      <a:r>
                        <a:t>発表日</a:t>
                      </a:r>
                    </a:p>
                  </a:txBody>
                  <a:tcPr>
                    <a:solidFill>
                      <a:srgbClr val="FFFFFF"/>
                    </a:solidFill>
                  </a:tcPr>
                </a:tc>
                <a:tc>
                  <a:txBody>
                    <a:bodyPr/>
                    <a:lstStyle/>
                    <a:p>
                      <a:pPr>
                        <a:defRPr sz="1200">
                          <a:solidFill>
                            <a:srgbClr val="1A1A2E"/>
                          </a:solidFill>
                          <a:latin typeface="Yu Gothic"/>
                        </a:defRPr>
                      </a:pPr>
                      <a:r>
                        <a:t>2026年8月3日</a:t>
                      </a:r>
                    </a:p>
                  </a:txBody>
                  <a:tcPr>
                    <a:solidFill>
                      <a:srgbClr val="FFFFFF"/>
                    </a:solidFill>
                  </a:tcPr>
                </a:tc>
              </a:tr>
              <a:tr h="502920">
                <a:tc>
                  <a:txBody>
                    <a:bodyPr/>
                    <a:lstStyle/>
                    <a:p>
                      <a:pPr>
                        <a:defRPr sz="1200">
                          <a:solidFill>
                            <a:srgbClr val="1A1A2E"/>
                          </a:solidFill>
                          <a:latin typeface="Yu Gothic"/>
                        </a:defRPr>
                      </a:pPr>
                      <a:r>
                        <a:t>買収額</a:t>
                      </a:r>
                    </a:p>
                  </a:txBody>
                  <a:tcPr>
                    <a:solidFill>
                      <a:srgbClr val="F3F6FC"/>
                    </a:solidFill>
                  </a:tcPr>
                </a:tc>
                <a:tc>
                  <a:txBody>
                    <a:bodyPr/>
                    <a:lstStyle/>
                    <a:p>
                      <a:pPr>
                        <a:defRPr sz="1200">
                          <a:solidFill>
                            <a:srgbClr val="1A1A2E"/>
                          </a:solidFill>
                          <a:latin typeface="Yu Gothic"/>
                        </a:defRPr>
                      </a:pPr>
                      <a:r>
                        <a:t>非公表</a:t>
                      </a:r>
                    </a:p>
                  </a:txBody>
                  <a:tcPr>
                    <a:solidFill>
                      <a:srgbClr val="F3F6FC"/>
                    </a:solidFill>
                  </a:tcPr>
                </a:tc>
              </a:tr>
              <a:tr h="502920">
                <a:tc>
                  <a:txBody>
                    <a:bodyPr/>
                    <a:lstStyle/>
                    <a:p>
                      <a:pPr>
                        <a:defRPr sz="1200">
                          <a:solidFill>
                            <a:srgbClr val="1A1A2E"/>
                          </a:solidFill>
                          <a:latin typeface="Yu Gothic"/>
                        </a:defRPr>
                      </a:pPr>
                      <a:r>
                        <a:t>直近の関連買収</a:t>
                      </a:r>
                    </a:p>
                  </a:txBody>
                  <a:tcPr>
                    <a:solidFill>
                      <a:srgbClr val="FFFFFF"/>
                    </a:solidFill>
                  </a:tcPr>
                </a:tc>
                <a:tc>
                  <a:txBody>
                    <a:bodyPr/>
                    <a:lstStyle/>
                    <a:p>
                      <a:pPr>
                        <a:defRPr sz="1200">
                          <a:solidFill>
                            <a:srgbClr val="1A1A2E"/>
                          </a:solidFill>
                          <a:latin typeface="Yu Gothic"/>
                        </a:defRPr>
                      </a:pPr>
                      <a:r>
                        <a:t>2026年4月、GigaIOデータセンター事業を買収</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HPCwire(AIwire)・PR Newswire・Engineering.com ほか(2026-08-03)｜定期実行119本目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d-Matrixとは</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事業内容</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AI推論向け半導体(チップ)の開発企業</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戦略の方向性</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シリコンからソフトウェアまでの一気通貫プラットフォームを構築</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直近の動き</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2026年4月にGigaIOのデータセンター事業を買収</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HPCwire(AIwire)・PR Newswire・Engineering.com ほか(2026-08-03)｜定期実行119本目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d-Matrixの買収戦略(概要)</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2545003"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1996363" cy="548640"/>
          </a:xfrm>
          <a:prstGeom prst="rect">
            <a:avLst/>
          </a:prstGeom>
          <a:noFill/>
        </p:spPr>
        <p:txBody>
          <a:bodyPr wrap="square" anchor="t" lIns="0" rIns="0" tIns="0" bIns="0">
            <a:spAutoFit/>
          </a:bodyPr>
          <a:lstStyle/>
          <a:p>
            <a:pPr algn="l"/>
            <a:r>
              <a:rPr sz="1600" b="1">
                <a:solidFill>
                  <a:srgbClr val="1E2761"/>
                </a:solidFill>
                <a:latin typeface="Yu Gothic"/>
              </a:rPr>
              <a:t>1. 半導体開発</a:t>
            </a:r>
          </a:p>
        </p:txBody>
      </p:sp>
      <p:sp>
        <p:nvSpPr>
          <p:cNvPr id="10" name="TextBox 9"/>
          <p:cNvSpPr txBox="1"/>
          <p:nvPr/>
        </p:nvSpPr>
        <p:spPr>
          <a:xfrm>
            <a:off x="731520" y="3566160"/>
            <a:ext cx="1996363"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AI推論向け高性能シリコンの開発</a:t>
            </a:r>
          </a:p>
        </p:txBody>
      </p:sp>
      <p:sp>
        <p:nvSpPr>
          <p:cNvPr id="11" name="Chevron 10"/>
          <p:cNvSpPr/>
          <p:nvPr/>
        </p:nvSpPr>
        <p:spPr>
          <a:xfrm>
            <a:off x="3068040"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413683"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367963" y="1737360"/>
            <a:ext cx="2545003"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642283"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3642283" y="2926080"/>
            <a:ext cx="1996363" cy="548640"/>
          </a:xfrm>
          <a:prstGeom prst="rect">
            <a:avLst/>
          </a:prstGeom>
          <a:noFill/>
        </p:spPr>
        <p:txBody>
          <a:bodyPr wrap="square" anchor="t" lIns="0" rIns="0" tIns="0" bIns="0">
            <a:spAutoFit/>
          </a:bodyPr>
          <a:lstStyle/>
          <a:p>
            <a:pPr algn="l"/>
            <a:r>
              <a:rPr sz="1600" b="1">
                <a:solidFill>
                  <a:srgbClr val="1E2761"/>
                </a:solidFill>
                <a:latin typeface="Yu Gothic"/>
              </a:rPr>
              <a:t>2. データセンター事業買収</a:t>
            </a:r>
          </a:p>
        </p:txBody>
      </p:sp>
      <p:sp>
        <p:nvSpPr>
          <p:cNvPr id="16" name="TextBox 15"/>
          <p:cNvSpPr txBox="1"/>
          <p:nvPr/>
        </p:nvSpPr>
        <p:spPr>
          <a:xfrm>
            <a:off x="3642283" y="3566160"/>
            <a:ext cx="1996363"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2026年4月、GigaIOのデータセンター事業を買収</a:t>
            </a:r>
          </a:p>
        </p:txBody>
      </p:sp>
      <p:sp>
        <p:nvSpPr>
          <p:cNvPr id="17" name="Chevron 16"/>
          <p:cNvSpPr/>
          <p:nvPr/>
        </p:nvSpPr>
        <p:spPr>
          <a:xfrm>
            <a:off x="5978804"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324447"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278727" y="1737360"/>
            <a:ext cx="2545003"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553047"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6553047" y="2926080"/>
            <a:ext cx="1996363" cy="548640"/>
          </a:xfrm>
          <a:prstGeom prst="rect">
            <a:avLst/>
          </a:prstGeom>
          <a:noFill/>
        </p:spPr>
        <p:txBody>
          <a:bodyPr wrap="square" anchor="t" lIns="0" rIns="0" tIns="0" bIns="0">
            <a:spAutoFit/>
          </a:bodyPr>
          <a:lstStyle/>
          <a:p>
            <a:pPr algn="l"/>
            <a:r>
              <a:rPr sz="1600" b="1">
                <a:solidFill>
                  <a:srgbClr val="1E2761"/>
                </a:solidFill>
                <a:latin typeface="Yu Gothic"/>
              </a:rPr>
              <a:t>3. オーケストレーション買収</a:t>
            </a:r>
          </a:p>
        </p:txBody>
      </p:sp>
      <p:sp>
        <p:nvSpPr>
          <p:cNvPr id="22" name="TextBox 21"/>
          <p:cNvSpPr txBox="1"/>
          <p:nvPr/>
        </p:nvSpPr>
        <p:spPr>
          <a:xfrm>
            <a:off x="6553047" y="3566160"/>
            <a:ext cx="1996363"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2026年8月、Wallaroo.aiを買収</a:t>
            </a:r>
          </a:p>
        </p:txBody>
      </p:sp>
      <p:sp>
        <p:nvSpPr>
          <p:cNvPr id="23" name="Chevron 22"/>
          <p:cNvSpPr/>
          <p:nvPr/>
        </p:nvSpPr>
        <p:spPr>
          <a:xfrm>
            <a:off x="8889568"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235211"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189491" y="1737360"/>
            <a:ext cx="2545003"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463811"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4</a:t>
            </a:r>
          </a:p>
        </p:txBody>
      </p:sp>
      <p:sp>
        <p:nvSpPr>
          <p:cNvPr id="27" name="TextBox 26"/>
          <p:cNvSpPr txBox="1"/>
          <p:nvPr/>
        </p:nvSpPr>
        <p:spPr>
          <a:xfrm>
            <a:off x="9463811" y="2926080"/>
            <a:ext cx="1996363" cy="548640"/>
          </a:xfrm>
          <a:prstGeom prst="rect">
            <a:avLst/>
          </a:prstGeom>
          <a:noFill/>
        </p:spPr>
        <p:txBody>
          <a:bodyPr wrap="square" anchor="t" lIns="0" rIns="0" tIns="0" bIns="0">
            <a:spAutoFit/>
          </a:bodyPr>
          <a:lstStyle/>
          <a:p>
            <a:pPr algn="l"/>
            <a:r>
              <a:rPr sz="1600" b="1">
                <a:solidFill>
                  <a:srgbClr val="1E2761"/>
                </a:solidFill>
                <a:latin typeface="Yu Gothic"/>
              </a:rPr>
              <a:t>4. 一気通貫プラットフォーム</a:t>
            </a:r>
          </a:p>
        </p:txBody>
      </p:sp>
      <p:sp>
        <p:nvSpPr>
          <p:cNvPr id="28" name="TextBox 27"/>
          <p:cNvSpPr txBox="1"/>
          <p:nvPr/>
        </p:nvSpPr>
        <p:spPr>
          <a:xfrm>
            <a:off x="9463811" y="3566160"/>
            <a:ext cx="1996363"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シリコンからソフトウェアまでを統合</a:t>
            </a:r>
          </a:p>
        </p:txBody>
      </p:sp>
      <p:sp>
        <p:nvSpPr>
          <p:cNvPr id="29" name="TextBox 28"/>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HPCwire(AIwire)・PR Newswire・Engineering.com ほか(2026-08-03)｜定期実行119本目</a:t>
            </a:r>
          </a:p>
        </p:txBody>
      </p:sp>
      <p:sp>
        <p:nvSpPr>
          <p:cNvPr id="30" name="TextBox 29"/>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Wallaroo.aiとは</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AIオーケストレーション企業</a:t>
            </a:r>
          </a:p>
        </p:txBody>
      </p:sp>
      <p:sp>
        <p:nvSpPr>
          <p:cNvPr id="8" name="Oval 7"/>
          <p:cNvSpPr/>
          <p:nvPr/>
        </p:nvSpPr>
        <p:spPr>
          <a:xfrm>
            <a:off x="457200" y="225856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Kubernetes運用の専門知識を持つ</a:t>
            </a:r>
          </a:p>
        </p:txBody>
      </p:sp>
      <p:sp>
        <p:nvSpPr>
          <p:cNvPr id="10" name="Oval 9"/>
          <p:cNvSpPr/>
          <p:nvPr/>
        </p:nvSpPr>
        <p:spPr>
          <a:xfrm>
            <a:off x="457200" y="30358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モデルサービング・デプロイ自動化・可観測性を提供</a:t>
            </a:r>
          </a:p>
        </p:txBody>
      </p:sp>
      <p:sp>
        <p:nvSpPr>
          <p:cNvPr id="12" name="Oval 11"/>
          <p:cNvSpPr/>
          <p:nvPr/>
        </p:nvSpPr>
        <p:spPr>
          <a:xfrm>
            <a:off x="457200" y="38130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エンタープライズAIライフサイクル管理の技術を持つ</a:t>
            </a:r>
          </a:p>
        </p:txBody>
      </p:sp>
      <p:sp>
        <p:nvSpPr>
          <p:cNvPr id="14" name="TextBox 13"/>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B6270"/>
                </a:solidFill>
                <a:latin typeface="Yu Gothic"/>
              </a:rPr>
              <a:t>出典: Engineering.com</a:t>
            </a:r>
          </a:p>
        </p:txBody>
      </p:sp>
      <p:sp>
        <p:nvSpPr>
          <p:cNvPr id="15" name="TextBox 14"/>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HPCwire(AIwire)・PR Newswire・Engineering.com ほか(2026-08-03)｜定期実行119本目</a:t>
            </a:r>
          </a:p>
        </p:txBody>
      </p:sp>
      <p:sp>
        <p:nvSpPr>
          <p:cNvPr id="16" name="TextBox 15"/>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買収により統合される機能(概要)</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高性能シリコン</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d-Matrixの半導体技術</a:t>
            </a:r>
          </a:p>
        </p:txBody>
      </p:sp>
      <p:sp>
        <p:nvSpPr>
          <p:cNvPr id="10" name="Right Arrow 9"/>
          <p:cNvSpPr/>
          <p:nvPr/>
        </p:nvSpPr>
        <p:spPr>
          <a:xfrm>
            <a:off x="4157319" y="3108959"/>
            <a:ext cx="676656" cy="365760"/>
          </a:xfrm>
          <a:prstGeom prst="rightArrow">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デプロイ自動化</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Wallaroo.aiのオーケストレーション技術</a:t>
            </a:r>
          </a:p>
        </p:txBody>
      </p:sp>
      <p:sp>
        <p:nvSpPr>
          <p:cNvPr id="15" name="Right Arrow 14"/>
          <p:cNvSpPr/>
          <p:nvPr/>
        </p:nvSpPr>
        <p:spPr>
          <a:xfrm>
            <a:off x="7357719" y="3108959"/>
            <a:ext cx="676656" cy="365760"/>
          </a:xfrm>
          <a:prstGeom prst="rightArrow">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一気通貫プラットフォーム</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シリコンからソフトウェアまで統合</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HPCwire(AIwire)・PR Newswire・Engineering.com ほか(2026-08-03)｜定期実行119本目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Wallaroo.aiが持つ専門知識</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領域</a:t>
                      </a:r>
                    </a:p>
                  </a:txBody>
                  <a:tcPr>
                    <a:solidFill>
                      <a:srgbClr val="1E2761"/>
                    </a:solidFill>
                  </a:tcPr>
                </a:tc>
                <a:tc>
                  <a:txBody>
                    <a:bodyPr/>
                    <a:lstStyle/>
                    <a:p>
                      <a:pPr>
                        <a:defRPr sz="1300" b="1">
                          <a:solidFill>
                            <a:srgbClr val="FFFFFF"/>
                          </a:solidFill>
                          <a:latin typeface="Yu Gothic"/>
                        </a:defRPr>
                      </a:pPr>
                      <a:r>
                        <a:t>内容</a:t>
                      </a:r>
                    </a:p>
                  </a:txBody>
                  <a:tcPr>
                    <a:solidFill>
                      <a:srgbClr val="1E2761"/>
                    </a:solidFill>
                  </a:tcPr>
                </a:tc>
              </a:tr>
              <a:tr h="502920">
                <a:tc>
                  <a:txBody>
                    <a:bodyPr/>
                    <a:lstStyle/>
                    <a:p>
                      <a:pPr>
                        <a:defRPr sz="1200">
                          <a:solidFill>
                            <a:srgbClr val="1A1A2E"/>
                          </a:solidFill>
                          <a:latin typeface="Yu Gothic"/>
                        </a:defRPr>
                      </a:pPr>
                      <a:r>
                        <a:t>Kubernetes運用</a:t>
                      </a:r>
                    </a:p>
                  </a:txBody>
                  <a:tcPr>
                    <a:solidFill>
                      <a:srgbClr val="FFFFFF"/>
                    </a:solidFill>
                  </a:tcPr>
                </a:tc>
                <a:tc>
                  <a:txBody>
                    <a:bodyPr/>
                    <a:lstStyle/>
                    <a:p>
                      <a:pPr>
                        <a:defRPr sz="1200">
                          <a:solidFill>
                            <a:srgbClr val="1A1A2E"/>
                          </a:solidFill>
                          <a:latin typeface="Yu Gothic"/>
                        </a:defRPr>
                      </a:pPr>
                      <a:r>
                        <a:t>コンテナオーケストレーションの専門知識</a:t>
                      </a:r>
                    </a:p>
                  </a:txBody>
                  <a:tcPr>
                    <a:solidFill>
                      <a:srgbClr val="FFFFFF"/>
                    </a:solidFill>
                  </a:tcPr>
                </a:tc>
              </a:tr>
              <a:tr h="502920">
                <a:tc>
                  <a:txBody>
                    <a:bodyPr/>
                    <a:lstStyle/>
                    <a:p>
                      <a:pPr>
                        <a:defRPr sz="1200">
                          <a:solidFill>
                            <a:srgbClr val="1A1A2E"/>
                          </a:solidFill>
                          <a:latin typeface="Yu Gothic"/>
                        </a:defRPr>
                      </a:pPr>
                      <a:r>
                        <a:t>モデルサービング</a:t>
                      </a:r>
                    </a:p>
                  </a:txBody>
                  <a:tcPr>
                    <a:solidFill>
                      <a:srgbClr val="F3F6FC"/>
                    </a:solidFill>
                  </a:tcPr>
                </a:tc>
                <a:tc>
                  <a:txBody>
                    <a:bodyPr/>
                    <a:lstStyle/>
                    <a:p>
                      <a:pPr>
                        <a:defRPr sz="1200">
                          <a:solidFill>
                            <a:srgbClr val="1A1A2E"/>
                          </a:solidFill>
                          <a:latin typeface="Yu Gothic"/>
                        </a:defRPr>
                      </a:pPr>
                      <a:r>
                        <a:t>AIモデルの本番提供技術</a:t>
                      </a:r>
                    </a:p>
                  </a:txBody>
                  <a:tcPr>
                    <a:solidFill>
                      <a:srgbClr val="F3F6FC"/>
                    </a:solidFill>
                  </a:tcPr>
                </a:tc>
              </a:tr>
              <a:tr h="502920">
                <a:tc>
                  <a:txBody>
                    <a:bodyPr/>
                    <a:lstStyle/>
                    <a:p>
                      <a:pPr>
                        <a:defRPr sz="1200">
                          <a:solidFill>
                            <a:srgbClr val="1A1A2E"/>
                          </a:solidFill>
                          <a:latin typeface="Yu Gothic"/>
                        </a:defRPr>
                      </a:pPr>
                      <a:r>
                        <a:t>デプロイ自動化</a:t>
                      </a:r>
                    </a:p>
                  </a:txBody>
                  <a:tcPr>
                    <a:solidFill>
                      <a:srgbClr val="FFFFFF"/>
                    </a:solidFill>
                  </a:tcPr>
                </a:tc>
                <a:tc>
                  <a:txBody>
                    <a:bodyPr/>
                    <a:lstStyle/>
                    <a:p>
                      <a:pPr>
                        <a:defRPr sz="1200">
                          <a:solidFill>
                            <a:srgbClr val="1A1A2E"/>
                          </a:solidFill>
                          <a:latin typeface="Yu Gothic"/>
                        </a:defRPr>
                      </a:pPr>
                      <a:r>
                        <a:t>展開プロセスの自動化技術</a:t>
                      </a:r>
                    </a:p>
                  </a:txBody>
                  <a:tcPr>
                    <a:solidFill>
                      <a:srgbClr val="FFFFFF"/>
                    </a:solidFill>
                  </a:tcPr>
                </a:tc>
              </a:tr>
              <a:tr h="502920">
                <a:tc>
                  <a:txBody>
                    <a:bodyPr/>
                    <a:lstStyle/>
                    <a:p>
                      <a:pPr>
                        <a:defRPr sz="1200">
                          <a:solidFill>
                            <a:srgbClr val="1A1A2E"/>
                          </a:solidFill>
                          <a:latin typeface="Yu Gothic"/>
                        </a:defRPr>
                      </a:pPr>
                      <a:r>
                        <a:t>可観測性</a:t>
                      </a:r>
                    </a:p>
                  </a:txBody>
                  <a:tcPr>
                    <a:solidFill>
                      <a:srgbClr val="F3F6FC"/>
                    </a:solidFill>
                  </a:tcPr>
                </a:tc>
                <a:tc>
                  <a:txBody>
                    <a:bodyPr/>
                    <a:lstStyle/>
                    <a:p>
                      <a:pPr>
                        <a:defRPr sz="1200">
                          <a:solidFill>
                            <a:srgbClr val="1A1A2E"/>
                          </a:solidFill>
                          <a:latin typeface="Yu Gothic"/>
                        </a:defRPr>
                      </a:pPr>
                      <a:r>
                        <a:t>システム監視・分析技術</a:t>
                      </a:r>
                    </a:p>
                  </a:txBody>
                  <a:tcPr>
                    <a:solidFill>
                      <a:srgbClr val="F3F6FC"/>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HPCwire(AIwire)・PR Newswire・Engineering.com ほか(2026-08-03)｜定期実行119本目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規模の対象</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単一ノード〜マルチラック</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単一サーバーノードからマルチラックのデータセンター規模まで対応</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Converge Digest(2026-08-03)</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買収の狙い(報道からの整理)</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技術獲得</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技術プラットフォーム・知的財産・エンジニアリング人材を獲得</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一気通貫化</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シリコンからデプロイメントソフトウェアまでを一気通貫でカバー</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低レイテンシー推論</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低レイテンシーな推論の展開・スケールを容易にする狙い</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HPCwire(AIwire)・PR Newswire・Engineering.com ほか(2026-08-03)｜定期実行119本目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確認できたこと・できなかったこと(正直な開示)</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買収の事実・発表日・過去4ヶ月で2件目という点は複数媒体で一致</a:t>
            </a:r>
          </a:p>
        </p:txBody>
      </p:sp>
      <p:sp>
        <p:nvSpPr>
          <p:cNvPr id="8" name="Oval 7"/>
          <p:cNvSpPr/>
          <p:nvPr/>
        </p:nvSpPr>
        <p:spPr>
          <a:xfrm>
            <a:off x="457200" y="225856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買収額は両社から公表されておらず確認できていない</a:t>
            </a:r>
          </a:p>
        </p:txBody>
      </p:sp>
      <p:sp>
        <p:nvSpPr>
          <p:cNvPr id="10" name="Oval 9"/>
          <p:cNvSpPr/>
          <p:nvPr/>
        </p:nvSpPr>
        <p:spPr>
          <a:xfrm>
            <a:off x="457200" y="30358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Wallaroo.aiの従業員数・既存顧客数等の詳細は確認できていない</a:t>
            </a:r>
          </a:p>
        </p:txBody>
      </p:sp>
      <p:sp>
        <p:nvSpPr>
          <p:cNvPr id="12" name="Oval 11"/>
          <p:cNvSpPr/>
          <p:nvPr/>
        </p:nvSpPr>
        <p:spPr>
          <a:xfrm>
            <a:off x="457200" y="38130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両社公式プレスリリース原文全体までは確認できていない</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HPCwire(AIwire)・PR Newswire・Engineering.com ほか(2026-08-03)｜定期実行119本目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d-Matrixの買収の流れ</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2026年4月</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GigaIOデータセンター事業を買収</a:t>
            </a:r>
          </a:p>
        </p:txBody>
      </p:sp>
      <p:sp>
        <p:nvSpPr>
          <p:cNvPr id="10" name="Right Arrow 9"/>
          <p:cNvSpPr/>
          <p:nvPr/>
        </p:nvSpPr>
        <p:spPr>
          <a:xfrm>
            <a:off x="4157319" y="3108959"/>
            <a:ext cx="676656" cy="365760"/>
          </a:xfrm>
          <a:prstGeom prst="rightArrow">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2026年8月3日</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Wallaroo.aiを買収</a:t>
            </a:r>
          </a:p>
        </p:txBody>
      </p:sp>
      <p:sp>
        <p:nvSpPr>
          <p:cNvPr id="15" name="Right Arrow 14"/>
          <p:cNvSpPr/>
          <p:nvPr/>
        </p:nvSpPr>
        <p:spPr>
          <a:xfrm>
            <a:off x="7357719" y="3108959"/>
            <a:ext cx="676656" cy="365760"/>
          </a:xfrm>
          <a:prstGeom prst="rightArrow">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今後</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一気通貫プラットフォームのさらなる強化へ</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HPCwire(AIwire)・PR Newswire・Engineering.com ほか(2026-08-03)｜定期実行119本目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AI推論プラットフォーム市場の背景</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AI推論の需要拡大に伴い、シリコンとソフトウェアの統合が進んでいる</a:t>
            </a:r>
          </a:p>
        </p:txBody>
      </p:sp>
      <p:sp>
        <p:nvSpPr>
          <p:cNvPr id="8" name="Oval 7"/>
          <p:cNvSpPr/>
          <p:nvPr/>
        </p:nvSpPr>
        <p:spPr>
          <a:xfrm>
            <a:off x="457200" y="225856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半導体企業がソフトウェア企業を買収する動きが目立つとされる</a:t>
            </a:r>
          </a:p>
        </p:txBody>
      </p:sp>
      <p:sp>
        <p:nvSpPr>
          <p:cNvPr id="10" name="Oval 9"/>
          <p:cNvSpPr/>
          <p:nvPr/>
        </p:nvSpPr>
        <p:spPr>
          <a:xfrm>
            <a:off x="457200" y="30358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データセンター規模でのAI展開が今後さらに拡大すると見られる</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HPCwire(AIwire)・PR Newswire・Engineering.com ほか(2026-08-03)｜定期実行119本目</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買収額</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非公表</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両社から買収額は公表されていない</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本調査の範囲での確認</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AI推論の一気通貫プラットフォームとは(概要)</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1E2761"/>
                </a:solidFill>
                <a:latin typeface="Yu Gothic"/>
              </a:rPr>
              <a:t>1. シリコン</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高性能な推論向け半導体</a:t>
            </a:r>
          </a:p>
        </p:txBody>
      </p:sp>
      <p:sp>
        <p:nvSpPr>
          <p:cNvPr id="11" name="Chevron 10"/>
          <p:cNvSpPr/>
          <p:nvPr/>
        </p:nvSpPr>
        <p:spPr>
          <a:xfrm>
            <a:off x="4038295"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1E2761"/>
                </a:solidFill>
                <a:latin typeface="Yu Gothic"/>
              </a:rPr>
              <a:t>2. デプロイソフトウェア</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モデルの展開・運用を支えるソフトウェア</a:t>
            </a:r>
          </a:p>
        </p:txBody>
      </p:sp>
      <p:sp>
        <p:nvSpPr>
          <p:cNvPr id="17" name="Chevron 16"/>
          <p:cNvSpPr/>
          <p:nvPr/>
        </p:nvSpPr>
        <p:spPr>
          <a:xfrm>
            <a:off x="7919313" y="3200400"/>
            <a:ext cx="234086" cy="365760"/>
          </a:xfrm>
          <a:prstGeom prst="chevron">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1E2761"/>
                </a:solidFill>
                <a:latin typeface="Yu Gothic"/>
              </a:rPr>
              <a:t>3. 統合プラットフォーム</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B6270"/>
                </a:solidFill>
                <a:latin typeface="Yu Gothic"/>
              </a:rPr>
              <a:t>シリコンからソフトウェアまでを一体で提供</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HPCwire(AIwire)・PR Newswire・Engineering.com ほか(2026-08-03)｜定期実行119本目</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初心者向け: AIオーケストレーションとは</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AIモデルの本番運用</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開発したAIモデルを実際のサービスで動かす工程</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オーケストレーション</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複数のシステム・処理を自動的に連携・管理する仕組み</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Wallaroo.aiの役割</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AIモデルの展開・監視・管理を自動化する技術を提供</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HPCwire(AIwire)・PR Newswire・Engineering.com ほか(2026-08-03)｜定期実行119本目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出典一覧</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媒体</a:t>
                      </a:r>
                    </a:p>
                  </a:txBody>
                  <a:tcPr>
                    <a:solidFill>
                      <a:srgbClr val="1E2761"/>
                    </a:solidFill>
                  </a:tcPr>
                </a:tc>
                <a:tc>
                  <a:txBody>
                    <a:bodyPr/>
                    <a:lstStyle/>
                    <a:p>
                      <a:pPr>
                        <a:defRPr sz="1300" b="1">
                          <a:solidFill>
                            <a:srgbClr val="FFFFFF"/>
                          </a:solidFill>
                          <a:latin typeface="Yu Gothic"/>
                        </a:defRPr>
                      </a:pPr>
                      <a:r>
                        <a:t>日付</a:t>
                      </a:r>
                    </a:p>
                  </a:txBody>
                  <a:tcPr>
                    <a:solidFill>
                      <a:srgbClr val="1E2761"/>
                    </a:solidFill>
                  </a:tcPr>
                </a:tc>
              </a:tr>
              <a:tr h="502920">
                <a:tc>
                  <a:txBody>
                    <a:bodyPr/>
                    <a:lstStyle/>
                    <a:p>
                      <a:pPr>
                        <a:defRPr sz="1200">
                          <a:solidFill>
                            <a:srgbClr val="1A1A2E"/>
                          </a:solidFill>
                          <a:latin typeface="Yu Gothic"/>
                        </a:defRPr>
                      </a:pPr>
                      <a:r>
                        <a:t>HPCwire(AIwire)</a:t>
                      </a:r>
                    </a:p>
                  </a:txBody>
                  <a:tcPr>
                    <a:solidFill>
                      <a:srgbClr val="FFFFFF"/>
                    </a:solidFill>
                  </a:tcPr>
                </a:tc>
                <a:tc>
                  <a:txBody>
                    <a:bodyPr/>
                    <a:lstStyle/>
                    <a:p>
                      <a:pPr>
                        <a:defRPr sz="1200">
                          <a:solidFill>
                            <a:srgbClr val="1A1A2E"/>
                          </a:solidFill>
                          <a:latin typeface="Yu Gothic"/>
                        </a:defRPr>
                      </a:pPr>
                      <a:r>
                        <a:t>2026-08-03</a:t>
                      </a:r>
                    </a:p>
                  </a:txBody>
                  <a:tcPr>
                    <a:solidFill>
                      <a:srgbClr val="FFFFFF"/>
                    </a:solidFill>
                  </a:tcPr>
                </a:tc>
              </a:tr>
              <a:tr h="502920">
                <a:tc>
                  <a:txBody>
                    <a:bodyPr/>
                    <a:lstStyle/>
                    <a:p>
                      <a:pPr>
                        <a:defRPr sz="1200">
                          <a:solidFill>
                            <a:srgbClr val="1A1A2E"/>
                          </a:solidFill>
                          <a:latin typeface="Yu Gothic"/>
                        </a:defRPr>
                      </a:pPr>
                      <a:r>
                        <a:t>PR Newswire</a:t>
                      </a:r>
                    </a:p>
                  </a:txBody>
                  <a:tcPr>
                    <a:solidFill>
                      <a:srgbClr val="F3F6FC"/>
                    </a:solidFill>
                  </a:tcPr>
                </a:tc>
                <a:tc>
                  <a:txBody>
                    <a:bodyPr/>
                    <a:lstStyle/>
                    <a:p>
                      <a:pPr>
                        <a:defRPr sz="1200">
                          <a:solidFill>
                            <a:srgbClr val="1A1A2E"/>
                          </a:solidFill>
                          <a:latin typeface="Yu Gothic"/>
                        </a:defRPr>
                      </a:pPr>
                      <a:r>
                        <a:t>2026-08-03</a:t>
                      </a:r>
                    </a:p>
                  </a:txBody>
                  <a:tcPr>
                    <a:solidFill>
                      <a:srgbClr val="F3F6FC"/>
                    </a:solidFill>
                  </a:tcPr>
                </a:tc>
              </a:tr>
              <a:tr h="502920">
                <a:tc>
                  <a:txBody>
                    <a:bodyPr/>
                    <a:lstStyle/>
                    <a:p>
                      <a:pPr>
                        <a:defRPr sz="1200">
                          <a:solidFill>
                            <a:srgbClr val="1A1A2E"/>
                          </a:solidFill>
                          <a:latin typeface="Yu Gothic"/>
                        </a:defRPr>
                      </a:pPr>
                      <a:r>
                        <a:t>Engineering.com</a:t>
                      </a:r>
                    </a:p>
                  </a:txBody>
                  <a:tcPr>
                    <a:solidFill>
                      <a:srgbClr val="FFFFFF"/>
                    </a:solidFill>
                  </a:tcPr>
                </a:tc>
                <a:tc>
                  <a:txBody>
                    <a:bodyPr/>
                    <a:lstStyle/>
                    <a:p>
                      <a:pPr>
                        <a:defRPr sz="1200">
                          <a:solidFill>
                            <a:srgbClr val="1A1A2E"/>
                          </a:solidFill>
                          <a:latin typeface="Yu Gothic"/>
                        </a:defRPr>
                      </a:pPr>
                      <a:r>
                        <a:t>2026-08-03</a:t>
                      </a:r>
                    </a:p>
                  </a:txBody>
                  <a:tcPr>
                    <a:solidFill>
                      <a:srgbClr val="FFFFFF"/>
                    </a:solidFill>
                  </a:tcPr>
                </a:tc>
              </a:tr>
              <a:tr h="502920">
                <a:tc>
                  <a:txBody>
                    <a:bodyPr/>
                    <a:lstStyle/>
                    <a:p>
                      <a:pPr>
                        <a:defRPr sz="1200">
                          <a:solidFill>
                            <a:srgbClr val="1A1A2E"/>
                          </a:solidFill>
                          <a:latin typeface="Yu Gothic"/>
                        </a:defRPr>
                      </a:pPr>
                      <a:r>
                        <a:t>Converge Digest</a:t>
                      </a:r>
                    </a:p>
                  </a:txBody>
                  <a:tcPr>
                    <a:solidFill>
                      <a:srgbClr val="F3F6FC"/>
                    </a:solidFill>
                  </a:tcPr>
                </a:tc>
                <a:tc>
                  <a:txBody>
                    <a:bodyPr/>
                    <a:lstStyle/>
                    <a:p>
                      <a:pPr>
                        <a:defRPr sz="1200">
                          <a:solidFill>
                            <a:srgbClr val="1A1A2E"/>
                          </a:solidFill>
                          <a:latin typeface="Yu Gothic"/>
                        </a:defRPr>
                      </a:pPr>
                      <a:r>
                        <a:t>2026-08-03</a:t>
                      </a:r>
                    </a:p>
                  </a:txBody>
                  <a:tcPr>
                    <a:solidFill>
                      <a:srgbClr val="F3F6FC"/>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HPCwire(AIwire)・PR Newswire・Engineering.com ほか(2026-08-03)｜定期実行119本目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買収概要の再確認</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買収企業: d-Matrix(AI推論向け半導体企業)</a:t>
            </a:r>
          </a:p>
        </p:txBody>
      </p:sp>
      <p:sp>
        <p:nvSpPr>
          <p:cNvPr id="8" name="Oval 7"/>
          <p:cNvSpPr/>
          <p:nvPr/>
        </p:nvSpPr>
        <p:spPr>
          <a:xfrm>
            <a:off x="457200" y="225856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被買収企業: Wallaroo.ai(AIオーケストレーション企業)</a:t>
            </a:r>
          </a:p>
        </p:txBody>
      </p:sp>
      <p:sp>
        <p:nvSpPr>
          <p:cNvPr id="10" name="Oval 9"/>
          <p:cNvSpPr/>
          <p:nvPr/>
        </p:nvSpPr>
        <p:spPr>
          <a:xfrm>
            <a:off x="457200" y="30358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発表日: 2026年8月3日(着手日の前日)</a:t>
            </a:r>
          </a:p>
        </p:txBody>
      </p:sp>
      <p:sp>
        <p:nvSpPr>
          <p:cNvPr id="12" name="Oval 11"/>
          <p:cNvSpPr/>
          <p:nvPr/>
        </p:nvSpPr>
        <p:spPr>
          <a:xfrm>
            <a:off x="457200" y="38130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過去4ヶ月で2件目の買収</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HPCwire(AIwire)・PR Newswire・Engineering.com ほか(2026-08-03)｜定期実行119本目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既存テーマとの関係(重複でないことの確認)</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確認項目</a:t>
                      </a:r>
                    </a:p>
                  </a:txBody>
                  <a:tcPr>
                    <a:solidFill>
                      <a:srgbClr val="1E2761"/>
                    </a:solidFill>
                  </a:tcPr>
                </a:tc>
                <a:tc>
                  <a:txBody>
                    <a:bodyPr/>
                    <a:lstStyle/>
                    <a:p>
                      <a:pPr>
                        <a:defRPr sz="1300" b="1">
                          <a:solidFill>
                            <a:srgbClr val="FFFFFF"/>
                          </a:solidFill>
                          <a:latin typeface="Yu Gothic"/>
                        </a:defRPr>
                      </a:pPr>
                      <a:r>
                        <a:t>結果</a:t>
                      </a:r>
                    </a:p>
                  </a:txBody>
                  <a:tcPr>
                    <a:solidFill>
                      <a:srgbClr val="1E2761"/>
                    </a:solidFill>
                  </a:tcPr>
                </a:tc>
              </a:tr>
              <a:tr h="502920">
                <a:tc>
                  <a:txBody>
                    <a:bodyPr/>
                    <a:lstStyle/>
                    <a:p>
                      <a:pPr>
                        <a:defRPr sz="1200">
                          <a:solidFill>
                            <a:srgbClr val="1A1A2E"/>
                          </a:solidFill>
                          <a:latin typeface="Yu Gothic"/>
                        </a:defRPr>
                      </a:pPr>
                      <a:r>
                        <a:t>d-Matrixを主題としたテーマ</a:t>
                      </a:r>
                    </a:p>
                  </a:txBody>
                  <a:tcPr>
                    <a:solidFill>
                      <a:srgbClr val="FFFFFF"/>
                    </a:solidFill>
                  </a:tcPr>
                </a:tc>
                <a:tc>
                  <a:txBody>
                    <a:bodyPr/>
                    <a:lstStyle/>
                    <a:p>
                      <a:pPr>
                        <a:defRPr sz="1200">
                          <a:solidFill>
                            <a:srgbClr val="1A1A2E"/>
                          </a:solidFill>
                          <a:latin typeface="Yu Gothic"/>
                        </a:defRPr>
                      </a:pPr>
                      <a:r>
                        <a:t>既存118テーマになし</a:t>
                      </a:r>
                    </a:p>
                  </a:txBody>
                  <a:tcPr>
                    <a:solidFill>
                      <a:srgbClr val="FFFFFF"/>
                    </a:solidFill>
                  </a:tcPr>
                </a:tc>
              </a:tr>
              <a:tr h="502920">
                <a:tc>
                  <a:txBody>
                    <a:bodyPr/>
                    <a:lstStyle/>
                    <a:p>
                      <a:pPr>
                        <a:defRPr sz="1200">
                          <a:solidFill>
                            <a:srgbClr val="1A1A2E"/>
                          </a:solidFill>
                          <a:latin typeface="Yu Gothic"/>
                        </a:defRPr>
                      </a:pPr>
                      <a:r>
                        <a:t>Wallaroo.aiを主題としたテーマ</a:t>
                      </a:r>
                    </a:p>
                  </a:txBody>
                  <a:tcPr>
                    <a:solidFill>
                      <a:srgbClr val="F3F6FC"/>
                    </a:solidFill>
                  </a:tcPr>
                </a:tc>
                <a:tc>
                  <a:txBody>
                    <a:bodyPr/>
                    <a:lstStyle/>
                    <a:p>
                      <a:pPr>
                        <a:defRPr sz="1200">
                          <a:solidFill>
                            <a:srgbClr val="1A1A2E"/>
                          </a:solidFill>
                          <a:latin typeface="Yu Gothic"/>
                        </a:defRPr>
                      </a:pPr>
                      <a:r>
                        <a:t>既存118テーマになし</a:t>
                      </a:r>
                    </a:p>
                  </a:txBody>
                  <a:tcPr>
                    <a:solidFill>
                      <a:srgbClr val="F3F6FC"/>
                    </a:solidFill>
                  </a:tcPr>
                </a:tc>
              </a:tr>
              <a:tr h="502920">
                <a:tc>
                  <a:txBody>
                    <a:bodyPr/>
                    <a:lstStyle/>
                    <a:p>
                      <a:pPr>
                        <a:defRPr sz="1200">
                          <a:solidFill>
                            <a:srgbClr val="1A1A2E"/>
                          </a:solidFill>
                          <a:latin typeface="Yu Gothic"/>
                        </a:defRPr>
                      </a:pPr>
                      <a:r>
                        <a:t>判定</a:t>
                      </a:r>
                    </a:p>
                  </a:txBody>
                  <a:tcPr>
                    <a:solidFill>
                      <a:srgbClr val="FFFFFF"/>
                    </a:solidFill>
                  </a:tcPr>
                </a:tc>
                <a:tc>
                  <a:txBody>
                    <a:bodyPr/>
                    <a:lstStyle/>
                    <a:p>
                      <a:pPr>
                        <a:defRPr sz="1200">
                          <a:solidFill>
                            <a:srgbClr val="1A1A2E"/>
                          </a:solidFill>
                          <a:latin typeface="Yu Gothic"/>
                        </a:defRPr>
                      </a:pPr>
                      <a:r>
                        <a:t>重複ではない</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HPCwire(AIwire)・PR Newswire・Engineering.com ほか(2026-08-03)｜定期実行119本目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業界への影響(ここからは推測)</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ここからは推測ですが、半導体企業によるソフトウェア企業買収がさらに加速する可能性がある</a:t>
            </a:r>
          </a:p>
        </p:txBody>
      </p:sp>
      <p:sp>
        <p:nvSpPr>
          <p:cNvPr id="8" name="Oval 7"/>
          <p:cNvSpPr/>
          <p:nvPr/>
        </p:nvSpPr>
        <p:spPr>
          <a:xfrm>
            <a:off x="457200" y="225856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AI推論の一気通貫プラットフォーム競争が激化すると見られる</a:t>
            </a:r>
          </a:p>
        </p:txBody>
      </p:sp>
      <p:sp>
        <p:nvSpPr>
          <p:cNvPr id="10" name="Oval 9"/>
          <p:cNvSpPr/>
          <p:nvPr/>
        </p:nvSpPr>
        <p:spPr>
          <a:xfrm>
            <a:off x="457200" y="30358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データセンター規模でのAI展開が今後さらに拡大する可能性がある</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HPCwire(AIwire)・PR Newswire・Engineering.com ほか(2026-08-03)｜定期実行119本目</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直近の買収(2026年4月)</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GigaIO</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d-Matrixが2026年4月に買収したデータセンター事業</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PR Newswire(2026-08-03)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買収前後のd-Matrix(概要)</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1E2761"/>
                </a:solidFill>
                <a:latin typeface="Yu Gothic"/>
              </a:rPr>
              <a:t>買収前</a:t>
            </a:r>
          </a:p>
        </p:txBody>
      </p:sp>
      <p:sp>
        <p:nvSpPr>
          <p:cNvPr id="9" name="Oval 8"/>
          <p:cNvSpPr/>
          <p:nvPr/>
        </p:nvSpPr>
        <p:spPr>
          <a:xfrm>
            <a:off x="777240" y="253288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高性能シリコンの開発が中心</a:t>
            </a:r>
          </a:p>
        </p:txBody>
      </p:sp>
      <p:sp>
        <p:nvSpPr>
          <p:cNvPr id="11" name="Oval 10"/>
          <p:cNvSpPr/>
          <p:nvPr/>
        </p:nvSpPr>
        <p:spPr>
          <a:xfrm>
            <a:off x="777240" y="308152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デプロイ・運用ソフトウェアは限定的</a:t>
            </a:r>
          </a:p>
        </p:txBody>
      </p:sp>
      <p:sp>
        <p:nvSpPr>
          <p:cNvPr id="13" name="Rounded Rectangle 12"/>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78727" y="1554480"/>
            <a:ext cx="5455767" cy="42062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1E2761"/>
                </a:solidFill>
                <a:latin typeface="Yu Gothic"/>
              </a:rPr>
              <a:t>買収後(見込み)</a:t>
            </a:r>
          </a:p>
        </p:txBody>
      </p:sp>
      <p:sp>
        <p:nvSpPr>
          <p:cNvPr id="16" name="Oval 15"/>
          <p:cNvSpPr/>
          <p:nvPr/>
        </p:nvSpPr>
        <p:spPr>
          <a:xfrm>
            <a:off x="6598767" y="253288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Wallaroo.aiのオーケストレーション技術を統合</a:t>
            </a:r>
          </a:p>
        </p:txBody>
      </p:sp>
      <p:sp>
        <p:nvSpPr>
          <p:cNvPr id="18" name="Oval 17"/>
          <p:cNvSpPr/>
          <p:nvPr/>
        </p:nvSpPr>
        <p:spPr>
          <a:xfrm>
            <a:off x="6598767" y="3081528"/>
            <a:ext cx="274320" cy="27432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A1A2E"/>
                </a:solidFill>
                <a:latin typeface="Yu Gothic"/>
              </a:rPr>
              <a:t>シリコンからソフトウェアまでの一気通貫提供</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HPCwire(AIwire)・PR Newswire・Engineering.com ほか(2026-08-03)｜定期実行119本目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対応規模の広がり(概要)</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単一サーバーノード</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小規模な推論展開</a:t>
            </a:r>
          </a:p>
        </p:txBody>
      </p:sp>
      <p:sp>
        <p:nvSpPr>
          <p:cNvPr id="10" name="Right Arrow 9"/>
          <p:cNvSpPr/>
          <p:nvPr/>
        </p:nvSpPr>
        <p:spPr>
          <a:xfrm>
            <a:off x="4157319" y="3108959"/>
            <a:ext cx="676656" cy="365760"/>
          </a:xfrm>
          <a:prstGeom prst="rightArrow">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複数ノード</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中規模な推論展開</a:t>
            </a:r>
          </a:p>
        </p:txBody>
      </p:sp>
      <p:sp>
        <p:nvSpPr>
          <p:cNvPr id="15" name="Right Arrow 14"/>
          <p:cNvSpPr/>
          <p:nvPr/>
        </p:nvSpPr>
        <p:spPr>
          <a:xfrm>
            <a:off x="7357719" y="3108959"/>
            <a:ext cx="676656" cy="365760"/>
          </a:xfrm>
          <a:prstGeom prst="rightArrow">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1E2761"/>
                </a:solidFill>
                <a:latin typeface="Yu Gothic"/>
              </a:rPr>
              <a:t>マルチラック・データセンター規模</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B6270"/>
                </a:solidFill>
                <a:latin typeface="Yu Gothic"/>
              </a:rPr>
              <a:t>大規模な推論展開</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HPCwire(AIwire)・PR Newswire・Engineering.com ほか(2026-08-03)｜定期実行119本目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リスクと課題(正直な開示)</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買収額が非公表であり、取引規模の全体像は確認できていない</a:t>
            </a:r>
          </a:p>
        </p:txBody>
      </p:sp>
      <p:sp>
        <p:nvSpPr>
          <p:cNvPr id="8" name="Oval 7"/>
          <p:cNvSpPr/>
          <p:nvPr/>
        </p:nvSpPr>
        <p:spPr>
          <a:xfrm>
            <a:off x="457200" y="225856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統合後の技術的な実装の詳細は未確認</a:t>
            </a:r>
          </a:p>
        </p:txBody>
      </p:sp>
      <p:sp>
        <p:nvSpPr>
          <p:cNvPr id="10" name="Oval 9"/>
          <p:cNvSpPr/>
          <p:nvPr/>
        </p:nvSpPr>
        <p:spPr>
          <a:xfrm>
            <a:off x="457200" y="30358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Wallaroo.aiの既存顧客への影響については情報がない</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HPCwire(AIwire)・PR Newswire・Engineering.com ほか(2026-08-03)｜定期実行119本目</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本テーマで大切にしたこと</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出典の明記</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複数の独立した技術・半導体専門媒体の情報のみを使用</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正直な開示</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買収額非公表という点を含め、確認できなかったことを明記</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1E2761"/>
                </a:solidFill>
                <a:latin typeface="Yu Gothic"/>
              </a:rPr>
              <a:t>中立性</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B6270"/>
                </a:solidFill>
                <a:latin typeface="Yu Gothic"/>
              </a:rPr>
              <a:t>特定企業・特定製品の利用を強く推奨する結論にはしていない</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HPCwire(AIwire)・PR Newswire・Engineering.com ほか(2026-08-03)｜定期実行119本目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CADCFC"/>
                </a:solidFill>
                <a:latin typeface="Yu Gothic"/>
              </a:rPr>
              <a:t>技術獲得領域数</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D9A441"/>
                </a:solidFill>
                <a:latin typeface="Yu Gothic"/>
              </a:rPr>
              <a:t>4領域</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Kubernetes運用・モデルサービング・デプロイ自動化・可観測性</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8FA3D0"/>
                </a:solidFill>
                <a:latin typeface="Yu Gothic"/>
              </a:rPr>
              <a:t>出典: Engineering.com(2026-08-03)</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41B4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あなたはこの買収戦略、どう見ますか</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CADCFC"/>
                </a:solidFill>
                <a:latin typeface="Yu Gothic"/>
              </a:rPr>
              <a:t>半導体企業によるソフトウェア企業買収、今後も注目していきましょう</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3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1E2761"/>
                </a:solidFill>
                <a:latin typeface="Yu Gothic"/>
              </a:rPr>
              <a:t>続報が入り次第、改めてお届けします</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8FA3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1E2761"/>
                </a:solidFill>
                <a:latin typeface="Yu Gothic"/>
              </a:rPr>
              <a:t>まとめ</a:t>
            </a:r>
          </a:p>
        </p:txBody>
      </p:sp>
      <p:sp>
        <p:nvSpPr>
          <p:cNvPr id="5" name="Rectangle 4"/>
          <p:cNvSpPr/>
          <p:nvPr/>
        </p:nvSpPr>
        <p:spPr>
          <a:xfrm>
            <a:off x="457200" y="1188720"/>
            <a:ext cx="502920" cy="54864"/>
          </a:xfrm>
          <a:prstGeom prst="rect">
            <a:avLst/>
          </a:prstGeom>
          <a:solidFill>
            <a:srgbClr val="D9A4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d-Matrixが2026年8月3日、Wallaroo.aiの買収を発表</a:t>
            </a:r>
          </a:p>
        </p:txBody>
      </p:sp>
      <p:sp>
        <p:nvSpPr>
          <p:cNvPr id="8" name="Oval 7"/>
          <p:cNvSpPr/>
          <p:nvPr/>
        </p:nvSpPr>
        <p:spPr>
          <a:xfrm>
            <a:off x="457200" y="225856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過去4ヶ月で2件目の買収(4月のGigaIO買収に続く)</a:t>
            </a:r>
          </a:p>
        </p:txBody>
      </p:sp>
      <p:sp>
        <p:nvSpPr>
          <p:cNvPr id="10" name="Oval 9"/>
          <p:cNvSpPr/>
          <p:nvPr/>
        </p:nvSpPr>
        <p:spPr>
          <a:xfrm>
            <a:off x="457200" y="303580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シリコンからソフトウェアまでの一気通貫プラットフォームを目指す</a:t>
            </a:r>
          </a:p>
        </p:txBody>
      </p:sp>
      <p:sp>
        <p:nvSpPr>
          <p:cNvPr id="12" name="Oval 11"/>
          <p:cNvSpPr/>
          <p:nvPr/>
        </p:nvSpPr>
        <p:spPr>
          <a:xfrm>
            <a:off x="457200" y="3813048"/>
            <a:ext cx="320040" cy="320040"/>
          </a:xfrm>
          <a:prstGeom prst="ellipse">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1A1A2E"/>
                </a:solidFill>
                <a:latin typeface="Yu Gothic"/>
              </a:rPr>
              <a:t>買収額は非公表であることを正直に開示</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B6270"/>
                </a:solidFill>
                <a:latin typeface="Yu Gothic"/>
              </a:rPr>
              <a:t>AI Company OS｜出典: HPCwire(AIwire)・PR Newswire・Engineering.com ほか(2026-08-03)｜定期実行119本目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B6270"/>
                </a:solidFill>
                <a:latin typeface="Yu Gothic"/>
              </a:rPr>
              <a:t>30 / 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