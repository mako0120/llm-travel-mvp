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6日、AI音楽生成大手Sunoが、AI生成楽曲への電子透かし・ダウンロード制限の導入を発表しました。背景には、レコードレーベルやアーティスト団体からの複数の訴訟があります。自社の急成長が生んだ著作権問題に、自ら対応しようとしている構図です。今日はこの発表を出典付きで整理します。これはSuno1社の発表内容についての事実報道であり、訴訟当事者のどちらかを支持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Sunoは2026年8月6日、AI生成楽曲のプラットフォーム上での不正利用を抑制するための複数の変更を発表しました。柱は電子透かし・フィンガープリント技術、ダウンロード制限、コミュニティガイドラインの更新の3つ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発表から4日が経過しており、通常の鮮度基準は満たしていません。探索を尽くしても2日以内の候補が見つからなかったための例外採用であり、しかも3ラウンド連続の例外運用であることを、ま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何が起きたのか整理します。複数の訴訟が進行する中、Sunoが不正利用を抑制するための3つの変更を発表し、CEOのMikey Shulman氏が会社ブログで説明しました。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複数の独立したメディアが同じ内容を報じています。TechCrunchを主出典に、Gizmodo・Digital Music News・TechRadarが要点を裏付けています。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発表された変更点は3つです。電子透かし・フィンガープリント技術、ダウンロード制限、コミュニティガイドラインの更新、それぞれ役割が異なります。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変更点の1つ目、電子透かし・フィンガープリント技術です。音楽プラットフォームがSuno製の楽曲を特定・追跡しやすくすることが狙いですが、具体的な技術の仕組みは公表され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変更点の2つ目、ダウンロード制限です。生成楽曲の大量配布を抑制する狙いですが、具体的な上限本数などの数値は公表されておらず、これも不明として扱います。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ここで用語を整理します。電子透かしとフィンガープリント技術、それぞれの意味を押さえておくと、この先の内容が理解しやすくなります。具体的な技術方式の詳細は不明です。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流れを時系列で見ます。Sunoの急成長のあと著作権訴訟が増え、それを受けて今回の自主対策の発表に至りました。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訴訟の争点の一つを見ます。AI生成楽曲をストリーミングへアップロードし、収益を不正に得ようとする行為が問題視されているとされていますが、具体的な訴訟・原告名は確認でき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CEOのMikey Shulman氏が会社ブログでこれらの変更を説明したことは報道で確認できています。ただしブログ原文には本調査ではアクセスできておらず、具体的な引用文は掲載せず不明として扱います。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3つの変更点の役割を改めて整理します。追跡可能にする技術、配布そのものを抑える制限、投稿ルールを明確にするガイドライン、それぞれ異なる角度からの対策です。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既存のSunoテーマとの違いを明確にします。前回は成長ストーリー、今回は成長が生んだ問題への自主的な対応策という、別の新しい出来事です。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ここで本テーマの扱い方をお伝えします。これはSunoという1企業の発表内容についての事実報道であり、訴訟当事者のどちらかを支持・批判する立場は取りません。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確認できなかったことを一覧にしました。技術の仕組み、具体的な数値、対応する訴訟・原告名、導入時期、いずれも本調査の範囲では確認できておらず、不明として扱います。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なぜAI生成音楽で著作権問題が起きやすいのか、背景を補足します。学習データや投稿後の類似性が論点になりやすいという一般的な構図がありますが、Suno固有の学習データの詳細には立ち入りません。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ここからは実践的な視点です。レーベル・アーティスト側にとっては、追跡可能性の向上や交渉材料の変化が考えられますが、実際の効果はまだ未検証です。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Suno利用者にとっては、ダウンロード方法の変化や生成楽曲への透かし付与が考えられます。ただし詳細はまだ公表されておらず、公式発表の確認が必要です。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実践的な視点として、規約の定期確認、プラットフォーム側の規約確認、公式発表の確認、生成結果の事前確認、この4点をおすすめします。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ここで一度、本テーマの扱い方についてお伝えします。見出しは注目を集める表現ですが、本文は発表内容に基づく事実として扱い、鮮度の例外採用も一貫して明示しています。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改めて正直にお伝えします。本テーマは3ラウンド連続の鮮度基準の例外運用です。この頻度自体が懸念であると、採用時の評価表自身が指摘しており、その指摘をそのままお伝えします。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この動きに関わるプレイヤーを整理します。Suno、提訴している側、活用が想定される音楽プラットフォーム、それぞれの立場を整理しましたが、具体的な社名・団体名は特定せず不明として扱います。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Sunoの発表を一言でまとめます。自社の急成長が生んだ課題への対応という位置づけですが、技術方式・数値・導入時期など多くの詳細はまだ不明です。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最後にもう一度確認します。2026年8月6日、Sunoは電子透かし・ダウンロード制限・ガイドライン更新を発表しました。多くの詳細は今後の公表待ちであり、その旨を正直にお伝えします。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unoが著作権訴訟の続く中、電子透かし・ダウンロード制限・ガイドライン更新を発表したことをお伝えしました。非公開の情報は不明として扱い、推測部分は推測と明記し、訴訟当事者のどちらかを支持する結論にはしていません。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急成長が生んだ問題を、</a:t>
            </a:r>
          </a:p>
          <a:p>
            <a:pPr algn="l">
              <a:lnSpc>
                <a:spcPct val="115000"/>
              </a:lnSpc>
            </a:pPr>
            <a:r>
              <a:rPr sz="4200" b="1">
                <a:solidFill>
                  <a:srgbClr val="FFFFFF"/>
                </a:solidFill>
                <a:latin typeface="Yu Gothic"/>
              </a:rPr>
              <a:t>自分で解決しようとしている。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AI作曲サービスSunoが、著作権訴訟が続く中、AI生成楽曲への電子透かし・ダウンロード制限の導入を発表(2026年8月6日 TechCrunch報道)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TechCrunch(2026-08-06)ほか。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電子透かし+ダウンロード制限を導入へ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著作権訴訟が続く中、Sunoは楽曲を追跡しやすくする技術と、大量配布を防ぐダウンロード制限、コミュニティガイドラインの更新を発表した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発表の3つの柱(電子透かし・ダウンロード制限・ガイドライン更新)</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なぜ今このタイミングで発表したのか(訴訟という背景)</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既存のSunoテーマ(成長ストーリー)との違い</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これは音楽業界・利用者にとって何を意味するか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確認できなかったこと、今後注目すべき点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発表は2026年8月6日。着手日(2026年8月10日)から見て4日前で、通常の鮮度基準(2日以内)を満たさない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10件以上の切り口で探索を尽くしても2日以内の候補が見つからず、鮮度基準の例外的最終手段として採用したことを正直に開示する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本ラウンドで3ラウンド連続の例外運用となる点も、隠さず明記する(round90・round91・round92と3回連続)</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AI音楽生成最大手のSunoが、自社の急成長が生んだ著作権問題に自ら対応する、という展開がフック</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research/2026-08-10_theme-evaluation-round92.md</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AI音楽生成大手Sunoに対し、レコードレーベルやアーティスト団体から複数の訴訟が進行中</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2026年8月6日、Sunoはプラットフォーム上の不正利用を抑制する複数の変更を発表した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柱は3つ:電子透かし・フィンガープリント技術、ダウンロード制限、コミュニティガイドラインの更新</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共同創業者兼CEOのMikey Shulman氏が、これらの変更について会社ブログで説明した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確認できる内容</a:t>
                      </a:r>
                    </a:p>
                  </a:txBody>
                  <a:tcPr>
                    <a:solidFill>
                      <a:srgbClr val="2E2A72"/>
                    </a:solidFill>
                  </a:tcPr>
                </a:tc>
              </a:tr>
              <a:tr h="502920">
                <a:tc>
                  <a:txBody>
                    <a:bodyPr/>
                    <a:lstStyle/>
                    <a:p>
                      <a:pPr>
                        <a:defRPr sz="1200">
                          <a:solidFill>
                            <a:srgbClr val="1C1B33"/>
                          </a:solidFill>
                          <a:latin typeface="Yu Gothic"/>
                        </a:defRPr>
                      </a:pPr>
                      <a:r>
                        <a:t>TechCrunch(2026-08-06)</a:t>
                      </a:r>
                    </a:p>
                  </a:txBody>
                  <a:tcPr>
                    <a:solidFill>
                      <a:srgbClr val="FFFFFF"/>
                    </a:solidFill>
                  </a:tcPr>
                </a:tc>
                <a:tc>
                  <a:txBody>
                    <a:bodyPr/>
                    <a:lstStyle/>
                    <a:p>
                      <a:pPr>
                        <a:defRPr sz="1200">
                          <a:solidFill>
                            <a:srgbClr val="1C1B33"/>
                          </a:solidFill>
                          <a:latin typeface="Yu Gothic"/>
                        </a:defRPr>
                      </a:pPr>
                      <a:r>
                        <a:t>発表内容・訴訟の背景を報じる記事(本テーマの主出典)</a:t>
                      </a:r>
                    </a:p>
                  </a:txBody>
                  <a:tcPr>
                    <a:solidFill>
                      <a:srgbClr val="FFFFFF"/>
                    </a:solidFill>
                  </a:tcPr>
                </a:tc>
              </a:tr>
              <a:tr h="502920">
                <a:tc>
                  <a:txBody>
                    <a:bodyPr/>
                    <a:lstStyle/>
                    <a:p>
                      <a:pPr>
                        <a:defRPr sz="1200">
                          <a:solidFill>
                            <a:srgbClr val="1C1B33"/>
                          </a:solidFill>
                          <a:latin typeface="Yu Gothic"/>
                        </a:defRPr>
                      </a:pPr>
                      <a:r>
                        <a:t>Gizmodo(2026-08-06)</a:t>
                      </a:r>
                    </a:p>
                  </a:txBody>
                  <a:tcPr>
                    <a:solidFill>
                      <a:srgbClr val="F4F3FC"/>
                    </a:solidFill>
                  </a:tcPr>
                </a:tc>
                <a:tc>
                  <a:txBody>
                    <a:bodyPr/>
                    <a:lstStyle/>
                    <a:p>
                      <a:pPr>
                        <a:defRPr sz="1200">
                          <a:solidFill>
                            <a:srgbClr val="1C1B33"/>
                          </a:solidFill>
                          <a:latin typeface="Yu Gothic"/>
                        </a:defRPr>
                      </a:pPr>
                      <a:r>
                        <a:t>著作権訴訟の激化という文脈を強調する記事</a:t>
                      </a:r>
                    </a:p>
                  </a:txBody>
                  <a:tcPr>
                    <a:solidFill>
                      <a:srgbClr val="F4F3FC"/>
                    </a:solidFill>
                  </a:tcPr>
                </a:tc>
              </a:tr>
              <a:tr h="502920">
                <a:tc>
                  <a:txBody>
                    <a:bodyPr/>
                    <a:lstStyle/>
                    <a:p>
                      <a:pPr>
                        <a:defRPr sz="1200">
                          <a:solidFill>
                            <a:srgbClr val="1C1B33"/>
                          </a:solidFill>
                          <a:latin typeface="Yu Gothic"/>
                        </a:defRPr>
                      </a:pPr>
                      <a:r>
                        <a:t>Digital Music News(2026-08-06)</a:t>
                      </a:r>
                    </a:p>
                  </a:txBody>
                  <a:tcPr>
                    <a:solidFill>
                      <a:srgbClr val="FFFFFF"/>
                    </a:solidFill>
                  </a:tcPr>
                </a:tc>
                <a:tc>
                  <a:txBody>
                    <a:bodyPr/>
                    <a:lstStyle/>
                    <a:p>
                      <a:pPr>
                        <a:defRPr sz="1200">
                          <a:solidFill>
                            <a:srgbClr val="1C1B33"/>
                          </a:solidFill>
                          <a:latin typeface="Yu Gothic"/>
                        </a:defRPr>
                      </a:pPr>
                      <a:r>
                        <a:t>音楽業界向けに変更点を整理する記事</a:t>
                      </a:r>
                    </a:p>
                  </a:txBody>
                  <a:tcPr>
                    <a:solidFill>
                      <a:srgbClr val="FFFFFF"/>
                    </a:solidFill>
                  </a:tcPr>
                </a:tc>
              </a:tr>
              <a:tr h="502920">
                <a:tc>
                  <a:txBody>
                    <a:bodyPr/>
                    <a:lstStyle/>
                    <a:p>
                      <a:pPr>
                        <a:defRPr sz="1200">
                          <a:solidFill>
                            <a:srgbClr val="1C1B33"/>
                          </a:solidFill>
                          <a:latin typeface="Yu Gothic"/>
                        </a:defRPr>
                      </a:pPr>
                      <a:r>
                        <a:t>TechRadar</a:t>
                      </a:r>
                    </a:p>
                  </a:txBody>
                  <a:tcPr>
                    <a:solidFill>
                      <a:srgbClr val="F4F3FC"/>
                    </a:solidFill>
                  </a:tcPr>
                </a:tc>
                <a:tc>
                  <a:txBody>
                    <a:bodyPr/>
                    <a:lstStyle/>
                    <a:p>
                      <a:pPr>
                        <a:defRPr sz="1200">
                          <a:solidFill>
                            <a:srgbClr val="1C1B33"/>
                          </a:solidFill>
                          <a:latin typeface="Yu Gothic"/>
                        </a:defRPr>
                      </a:pPr>
                      <a:r>
                        <a:t>『自社の成功が生んだ問題を自ら解決しようとしている』という論調の記事</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発表された3つの変更点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電子透かし・フィンガープリント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音楽プラットフォームがSuno生成楽曲を特定・追跡しやすくする技術</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ダウンロード制限</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生成楽曲をストリーミングへ大量配布する行為を抑制する新しいポリシー</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コミュニティガイドライン更新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『模倣(copycat)』楽曲の投稿を防ぐための利用規約の見直し</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変更点(1) 電子透かし・フィンガープリント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AI生成楽曲を追跡可能に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音楽プラットフォーム(ストリーミングサービス等)が、Sunoで作られた楽曲かどうかをより特定・追跡しやすくすることを狙う。具体的な技術方式は現時点で公表されておらず不明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変更点(2) ダウンロード制限</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大量配布を防ぐ新ポリシー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ユーザーがSuno生成楽曲をストリーミングプラットフォームへ大量配布することを抑制する狙い。具体的な上限本数などの数値は公表されておらず不明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 電子透かし・フィンガープリントとは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本題の理解に必要な用語を整理します。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『電子透かし(ウォーターマーク)』とは、音声データに人の耳では気づきにくい形で識別情報を埋め込む技術のこと</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『フィンガープリント技術』とは、音声データの特徴パターンから、その楽曲の出所を照合する技術のこと</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両方とも、公開・拡散された楽曲が『Suno製かどうか』を後から判定しやすくすることが目的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Sunoが実際にどの技術方式を採用するかの詳細は、本調査では確認できていない(不明)</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TechCrunch(2026-08-06)の記述に基づく一般的な用語整理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発表に至るまでの背景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急成長</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SunoのAI生成楽曲サービスが急速に普及(既存テーマ2026-07-21参照)</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著作権訴訟の増加</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レコードレーベル・アーティスト団体から複数の訴訟が進行</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自主対策の発表(2026年8月6日)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電子透かし・ダウンロード制限・ガイドライン更新を発表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急成長の後に訴訟が増え、自主的な対策の発表に至った、という流れ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訴訟の争点の一つ</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訴訟の争点を整理します。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争点の一つは、ユーザーがAI生成のSuno楽曲をストリーミングプラットフォームへアップロードする行為</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『システムを悪用して』ストリーミング再生による収益を不正に得ようとするケースが問題視されている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具体的にどの訴訟・原告がこの争点を主張しているかは、本調査で確認できる一次資料がなく不明</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本テーマでは特定の訴訟・原告名を推測で挙げない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CEOのコメントについて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発表者</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Mikey Shulman氏(共同創業者・CEO)</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会社ブログでこれらの変更について説明した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確認できたこと</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ブログ投稿の存在</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TechCrunch記事がブログ投稿の存在・概要を報じている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不明</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ブログ本文の原文</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本調査ではブログ原文への直接アクセスができておらず、具体的な引用文は確認できていない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3つの変更点がどう機能するか(概念図)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電子透かし・フィンガープリント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楽曲の出所を追跡可能にする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ダウンロード制限</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大量配布そのものを抑制する</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コミュニティガイドライン更新</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模倣楽曲の投稿ルールを明確にする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それぞれ役割の異なる3つの対策を組み合わせている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既存テーマとの違い(重複ではありません)</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既存テーマ(2026-07-21)「Suno、急成長と著作権問題」</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評価額が7か月で24.5億ドル→54億ドルに急増</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著作権訴訟は成長ストーリーの中の対立軸として言及</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発表の中心は2026年7月21日以前の情報</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本テーマ(156本目)「Suno、電子透かし・ダウンロード制限を発表」</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訴訟の激化を受けた具体的な政策対応そのものを扱う</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電子透かし・ダウンロード制限・ガイドライン更新という新しい発表</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発表日は2026年8月6日で、より新しい局面</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本テーマの扱い方について</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本テーマはSunoという1企業の発表内容についての事実報道である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訴訟の当事者(レーベル・アーティスト団体側)を批判・擁護する立場は取らない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Sunoの対応が十分か不十分かについて、本動画では評価・断定を行わない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冒頭の見出しは注目を集める表現だが、本文は発表内容の事実に基づく</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確認できなかったこと(不明点一覧)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電子透かし・フィンガープリント技術の具体的な仕組み</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r h="502920">
                <a:tc>
                  <a:txBody>
                    <a:bodyPr/>
                    <a:lstStyle/>
                    <a:p>
                      <a:pPr>
                        <a:defRPr sz="1200">
                          <a:solidFill>
                            <a:srgbClr val="1C1B33"/>
                          </a:solidFill>
                          <a:latin typeface="Yu Gothic"/>
                        </a:defRPr>
                      </a:pPr>
                      <a:r>
                        <a:t>ダウンロード制限の具体的な数値(上限本数等)</a:t>
                      </a:r>
                    </a:p>
                  </a:txBody>
                  <a:tcPr>
                    <a:solidFill>
                      <a:srgbClr val="F4F3FC"/>
                    </a:solidFill>
                  </a:tcPr>
                </a:tc>
                <a:tc>
                  <a:txBody>
                    <a:bodyPr/>
                    <a:lstStyle/>
                    <a:p>
                      <a:pPr>
                        <a:defRPr sz="1200">
                          <a:solidFill>
                            <a:srgbClr val="1C1B33"/>
                          </a:solidFill>
                          <a:latin typeface="Yu Gothic"/>
                        </a:defRPr>
                      </a:pPr>
                      <a:r>
                        <a:t>公表されておらず不明</a:t>
                      </a:r>
                    </a:p>
                  </a:txBody>
                  <a:tcPr>
                    <a:solidFill>
                      <a:srgbClr val="F4F3FC"/>
                    </a:solidFill>
                  </a:tcPr>
                </a:tc>
              </a:tr>
              <a:tr h="502920">
                <a:tc>
                  <a:txBody>
                    <a:bodyPr/>
                    <a:lstStyle/>
                    <a:p>
                      <a:pPr>
                        <a:defRPr sz="1200">
                          <a:solidFill>
                            <a:srgbClr val="1C1B33"/>
                          </a:solidFill>
                          <a:latin typeface="Yu Gothic"/>
                        </a:defRPr>
                      </a:pPr>
                      <a:r>
                        <a:t>対応する具体的な訴訟・原告名</a:t>
                      </a:r>
                    </a:p>
                  </a:txBody>
                  <a:tcPr>
                    <a:solidFill>
                      <a:srgbClr val="FFFFFF"/>
                    </a:solidFill>
                  </a:tcPr>
                </a:tc>
                <a:tc>
                  <a:txBody>
                    <a:bodyPr/>
                    <a:lstStyle/>
                    <a:p>
                      <a:pPr>
                        <a:defRPr sz="1200">
                          <a:solidFill>
                            <a:srgbClr val="1C1B33"/>
                          </a:solidFill>
                          <a:latin typeface="Yu Gothic"/>
                        </a:defRPr>
                      </a:pPr>
                      <a:r>
                        <a:t>一次資料で確認できておらず、本テーマでは特定しない</a:t>
                      </a:r>
                    </a:p>
                  </a:txBody>
                  <a:tcPr>
                    <a:solidFill>
                      <a:srgbClr val="FFFFFF"/>
                    </a:solidFill>
                  </a:tcPr>
                </a:tc>
              </a:tr>
              <a:tr h="502920">
                <a:tc>
                  <a:txBody>
                    <a:bodyPr/>
                    <a:lstStyle/>
                    <a:p>
                      <a:pPr>
                        <a:defRPr sz="1200">
                          <a:solidFill>
                            <a:srgbClr val="1C1B33"/>
                          </a:solidFill>
                          <a:latin typeface="Yu Gothic"/>
                        </a:defRPr>
                      </a:pPr>
                      <a:r>
                        <a:t>各変更の導入(ロールアウト)時期</a:t>
                      </a:r>
                    </a:p>
                  </a:txBody>
                  <a:tcPr>
                    <a:solidFill>
                      <a:srgbClr val="F4F3FC"/>
                    </a:solidFill>
                  </a:tcPr>
                </a:tc>
                <a:tc>
                  <a:txBody>
                    <a:bodyPr/>
                    <a:lstStyle/>
                    <a:p>
                      <a:pPr>
                        <a:defRPr sz="1200">
                          <a:solidFill>
                            <a:srgbClr val="1C1B33"/>
                          </a:solidFill>
                          <a:latin typeface="Yu Gothic"/>
                        </a:defRPr>
                      </a:pPr>
                      <a:r>
                        <a:t>公表されておらず不明</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初心者向け: なぜAI生成音楽で著作権問題が起きやすいのか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背景をもう少し補足します。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AI音楽生成サービスは、既存の楽曲データを学習に利用している場合があり、権利者との関係が論点になりやすい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生成された楽曲がストリーミングサービスに投稿され、既存楽曲との類似性や再生数の不正取得が問題視されるケースがある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こうした背景から、レコードレーベルやアーティスト団体がAI音楽生成企業を訴える動きが見られる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Sunoの学習データの詳細は非公表のため、本テーマではその点には立ち入らない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TechCrunch(2026-08-06)の記述に基づく一般的な背景整理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これは音楽レーベル・アーティストにとって何を意味するか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追跡可能性の向上</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電子透かしにより、自社楽曲と類似したAI生成楽曲を後から特定しやすくなる可能性がある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交渉材料の変化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Suno側の自主的な対策が、今後の訴訟・交渉で言及される可能性がある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効果は未検証</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これらの対策が実際にどの程度効果を持つかは、本調査時点では検証データがなく不明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これはSuno利用者にとって何を意味するか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ダウンロード方法が変わる可能性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新しいダウンロード制限により、これまでの使い方が制限される場合がある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生成楽曲に透かしが入る可能性</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電子透かし技術の導入により、生成した楽曲に識別情報が付与される可能性がある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詳細は今後の発表待ち</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具体的な制限内容・導入時期は本調査時点では公表されておらず、公式発表の確認が必要</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実践: AI生成音楽サービスを使う際に確認したいこと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実践的な視点として整理します。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利用しているサービスの利用規約・コミュニティガイドラインの更新有無を定期的に確認する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生成した楽曲を配信・投稿する際、プラットフォーム側の著作権関連の規約も併せて確認する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ダウンロード制限など仕様変更がある場合、公式発表・ヘルプページを確認してから利用計画を立てる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他者の既存楽曲と酷似した生成物を配信しないよう、生成結果を事前に確認する習慣を持つ</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訴訟への影響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今回の対策が係属中の訴訟でどう評価されるかは今後の焦点になりうる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他社への波及</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他のAI音楽生成企業も同様の対策を導入する可能性が考えられる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技術の実効性</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電子透かし・フィンガープリントが実際にどこまで有効に機能するかが今後問われる可能性がある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各対策の具体的な導入時期</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電子透かし・ダウンロード制限・ガイドライン更新がいつ実際に反映されるか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係属中の訴訟の行方</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レコードレーベル・アーティスト団体側の反応・訴訟の進展</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技術方式の詳細公開の有無</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電子透かし・フィンガープリントの具体的な仕組みが公開されるかどうか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誇張回避・中立性に関する注記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冒頭の見出しは注目を集める表現だが、本文の内容自体は誇張していない(発表内容に基づく事実)</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本テーマは鮮度基準の例外(発表から4日前)であり、3ラウンド連続の例外運用であることも正直に開示している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ダウンロード制限の具体的数値・技術方式など確認できていない情報は創作せず、不明として明記している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Suno・訴訟当事者いずれの主張・立場も強く推奨・支持する結論にはしていない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正直な開示(再掲)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3ラウンド連続の鮮度例外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テーマ(発表から4日前)は、round90(152本目)・round91(154本目)に続く3ラウンド連続の鮮度基準の例外運用である。この頻度自体が『常態化させない』という方針に照らして懸念があると、採用時の評価表(round92)自身が指摘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research/2026-08-10_theme-evaluation-round92.md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この動きに関わる主なプレイヤー</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プレイヤー</a:t>
                      </a:r>
                    </a:p>
                  </a:txBody>
                  <a:tcPr>
                    <a:solidFill>
                      <a:srgbClr val="2E2A72"/>
                    </a:solidFill>
                  </a:tcPr>
                </a:tc>
                <a:tc>
                  <a:txBody>
                    <a:bodyPr/>
                    <a:lstStyle/>
                    <a:p>
                      <a:pPr>
                        <a:defRPr sz="1300" b="1">
                          <a:solidFill>
                            <a:srgbClr val="FFFFFF"/>
                          </a:solidFill>
                          <a:latin typeface="Yu Gothic"/>
                        </a:defRPr>
                      </a:pPr>
                      <a:r>
                        <a:t>本テーマでの扱い</a:t>
                      </a:r>
                    </a:p>
                  </a:txBody>
                  <a:tcPr>
                    <a:solidFill>
                      <a:srgbClr val="2E2A72"/>
                    </a:solidFill>
                  </a:tcPr>
                </a:tc>
              </a:tr>
              <a:tr h="502920">
                <a:tc>
                  <a:txBody>
                    <a:bodyPr/>
                    <a:lstStyle/>
                    <a:p>
                      <a:pPr>
                        <a:defRPr sz="1200">
                          <a:solidFill>
                            <a:srgbClr val="1C1B33"/>
                          </a:solidFill>
                          <a:latin typeface="Yu Gothic"/>
                        </a:defRPr>
                      </a:pPr>
                      <a:r>
                        <a:t>Suno(発表元)</a:t>
                      </a:r>
                    </a:p>
                  </a:txBody>
                  <a:tcPr>
                    <a:solidFill>
                      <a:srgbClr val="FFFFFF"/>
                    </a:solidFill>
                  </a:tcPr>
                </a:tc>
                <a:tc>
                  <a:txBody>
                    <a:bodyPr/>
                    <a:lstStyle/>
                    <a:p>
                      <a:pPr>
                        <a:defRPr sz="1200">
                          <a:solidFill>
                            <a:srgbClr val="1C1B33"/>
                          </a:solidFill>
                          <a:latin typeface="Yu Gothic"/>
                        </a:defRPr>
                      </a:pPr>
                      <a:r>
                        <a:t>電子透かし・ダウンロード制限・ガイドライン更新を発表した当事者として扱う</a:t>
                      </a:r>
                    </a:p>
                  </a:txBody>
                  <a:tcPr>
                    <a:solidFill>
                      <a:srgbClr val="FFFFFF"/>
                    </a:solidFill>
                  </a:tcPr>
                </a:tc>
              </a:tr>
              <a:tr h="502920">
                <a:tc>
                  <a:txBody>
                    <a:bodyPr/>
                    <a:lstStyle/>
                    <a:p>
                      <a:pPr>
                        <a:defRPr sz="1200">
                          <a:solidFill>
                            <a:srgbClr val="1C1B33"/>
                          </a:solidFill>
                          <a:latin typeface="Yu Gothic"/>
                        </a:defRPr>
                      </a:pPr>
                      <a:r>
                        <a:t>レコードレーベル・アーティスト団体</a:t>
                      </a:r>
                    </a:p>
                  </a:txBody>
                  <a:tcPr>
                    <a:solidFill>
                      <a:srgbClr val="F4F3FC"/>
                    </a:solidFill>
                  </a:tcPr>
                </a:tc>
                <a:tc>
                  <a:txBody>
                    <a:bodyPr/>
                    <a:lstStyle/>
                    <a:p>
                      <a:pPr>
                        <a:defRPr sz="1200">
                          <a:solidFill>
                            <a:srgbClr val="1C1B33"/>
                          </a:solidFill>
                          <a:latin typeface="Yu Gothic"/>
                        </a:defRPr>
                      </a:pPr>
                      <a:r>
                        <a:t>Sunoを提訴している側として言及するが、具体的な社名・団体名は本調査で確認できておらず特定しない</a:t>
                      </a:r>
                    </a:p>
                  </a:txBody>
                  <a:tcPr>
                    <a:solidFill>
                      <a:srgbClr val="F4F3FC"/>
                    </a:solidFill>
                  </a:tcPr>
                </a:tc>
              </a:tr>
              <a:tr h="502920">
                <a:tc>
                  <a:txBody>
                    <a:bodyPr/>
                    <a:lstStyle/>
                    <a:p>
                      <a:pPr>
                        <a:defRPr sz="1200">
                          <a:solidFill>
                            <a:srgbClr val="1C1B33"/>
                          </a:solidFill>
                          <a:latin typeface="Yu Gothic"/>
                        </a:defRPr>
                      </a:pPr>
                      <a:r>
                        <a:t>音楽プラットフォーム(ストリーミングサービス等)</a:t>
                      </a:r>
                    </a:p>
                  </a:txBody>
                  <a:tcPr>
                    <a:solidFill>
                      <a:srgbClr val="FFFFFF"/>
                    </a:solidFill>
                  </a:tcPr>
                </a:tc>
                <a:tc>
                  <a:txBody>
                    <a:bodyPr/>
                    <a:lstStyle/>
                    <a:p>
                      <a:pPr>
                        <a:defRPr sz="1200">
                          <a:solidFill>
                            <a:srgbClr val="1C1B33"/>
                          </a:solidFill>
                          <a:latin typeface="Yu Gothic"/>
                        </a:defRPr>
                      </a:pPr>
                      <a:r>
                        <a:t>電子透かし・フィンガープリントの活用が想定される側として言及するが、具体的なサービス名は公表されておらず特定しない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Sunoの発表を一言でまとめると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発表内容</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電子透かし+ダウンロード制限+ガイドライン更新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著作権訴訟が続く中での自主的な対策</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位置づけ</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自社の急成長が生んだ課題への対応</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報道は『自社の成功が生んだ問題を自ら解決しようとしている』と位置づける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留意点</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効果・詳細は今後の公表待ち</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技術方式・数値・導入時期など多くの詳細が現時点で不明</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TechRadar経由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2026/8/6 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Sunoは、著作権訴訟が続く中、AI生成楽曲への電子透かし・ダウンロード制限・コミュニティガイドラインの更新を発表した。技術方式や具体的な数値など、多くの詳細は今後の公表待ちである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TechCrunch(2026-08-06)ほか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TechCrunch(2026-08-06)</a:t>
                      </a:r>
                    </a:p>
                  </a:txBody>
                  <a:tcPr>
                    <a:solidFill>
                      <a:srgbClr val="FFFFFF"/>
                    </a:solidFill>
                  </a:tcPr>
                </a:tc>
                <a:tc>
                  <a:txBody>
                    <a:bodyPr/>
                    <a:lstStyle/>
                    <a:p>
                      <a:pPr>
                        <a:defRPr sz="1200">
                          <a:solidFill>
                            <a:srgbClr val="1C1B33"/>
                          </a:solidFill>
                          <a:latin typeface="Yu Gothic"/>
                        </a:defRPr>
                      </a:pPr>
                      <a:r>
                        <a:t>発表内容・訴訟の背景を報じる記事(本テーマの主出典)</a:t>
                      </a:r>
                    </a:p>
                  </a:txBody>
                  <a:tcPr>
                    <a:solidFill>
                      <a:srgbClr val="FFFFFF"/>
                    </a:solidFill>
                  </a:tcPr>
                </a:tc>
              </a:tr>
              <a:tr h="502920">
                <a:tc>
                  <a:txBody>
                    <a:bodyPr/>
                    <a:lstStyle/>
                    <a:p>
                      <a:pPr>
                        <a:defRPr sz="1200">
                          <a:solidFill>
                            <a:srgbClr val="1C1B33"/>
                          </a:solidFill>
                          <a:latin typeface="Yu Gothic"/>
                        </a:defRPr>
                      </a:pPr>
                      <a:r>
                        <a:t>Gizmodo(2026-08-06)</a:t>
                      </a:r>
                    </a:p>
                  </a:txBody>
                  <a:tcPr>
                    <a:solidFill>
                      <a:srgbClr val="F4F3FC"/>
                    </a:solidFill>
                  </a:tcPr>
                </a:tc>
                <a:tc>
                  <a:txBody>
                    <a:bodyPr/>
                    <a:lstStyle/>
                    <a:p>
                      <a:pPr>
                        <a:defRPr sz="1200">
                          <a:solidFill>
                            <a:srgbClr val="1C1B33"/>
                          </a:solidFill>
                          <a:latin typeface="Yu Gothic"/>
                        </a:defRPr>
                      </a:pPr>
                      <a:r>
                        <a:t>著作権訴訟の激化という文脈を強調する記事</a:t>
                      </a:r>
                    </a:p>
                  </a:txBody>
                  <a:tcPr>
                    <a:solidFill>
                      <a:srgbClr val="F4F3FC"/>
                    </a:solidFill>
                  </a:tcPr>
                </a:tc>
              </a:tr>
              <a:tr h="502920">
                <a:tc>
                  <a:txBody>
                    <a:bodyPr/>
                    <a:lstStyle/>
                    <a:p>
                      <a:pPr>
                        <a:defRPr sz="1200">
                          <a:solidFill>
                            <a:srgbClr val="1C1B33"/>
                          </a:solidFill>
                          <a:latin typeface="Yu Gothic"/>
                        </a:defRPr>
                      </a:pPr>
                      <a:r>
                        <a:t>Digital Music News(2026-08-06)</a:t>
                      </a:r>
                    </a:p>
                  </a:txBody>
                  <a:tcPr>
                    <a:solidFill>
                      <a:srgbClr val="FFFFFF"/>
                    </a:solidFill>
                  </a:tcPr>
                </a:tc>
                <a:tc>
                  <a:txBody>
                    <a:bodyPr/>
                    <a:lstStyle/>
                    <a:p>
                      <a:pPr>
                        <a:defRPr sz="1200">
                          <a:solidFill>
                            <a:srgbClr val="1C1B33"/>
                          </a:solidFill>
                          <a:latin typeface="Yu Gothic"/>
                        </a:defRPr>
                      </a:pPr>
                      <a:r>
                        <a:t>音楽業界向けに変更点を整理する記事</a:t>
                      </a:r>
                    </a:p>
                  </a:txBody>
                  <a:tcPr>
                    <a:solidFill>
                      <a:srgbClr val="FFFFFF"/>
                    </a:solidFill>
                  </a:tcPr>
                </a:tc>
              </a:tr>
              <a:tr h="502920">
                <a:tc>
                  <a:txBody>
                    <a:bodyPr/>
                    <a:lstStyle/>
                    <a:p>
                      <a:pPr>
                        <a:defRPr sz="1200">
                          <a:solidFill>
                            <a:srgbClr val="1C1B33"/>
                          </a:solidFill>
                          <a:latin typeface="Yu Gothic"/>
                        </a:defRPr>
                      </a:pPr>
                      <a:r>
                        <a:t>TechRadar</a:t>
                      </a:r>
                    </a:p>
                  </a:txBody>
                  <a:tcPr>
                    <a:solidFill>
                      <a:srgbClr val="F4F3FC"/>
                    </a:solidFill>
                  </a:tcPr>
                </a:tc>
                <a:tc>
                  <a:txBody>
                    <a:bodyPr/>
                    <a:lstStyle/>
                    <a:p>
                      <a:pPr>
                        <a:defRPr sz="1200">
                          <a:solidFill>
                            <a:srgbClr val="1C1B33"/>
                          </a:solidFill>
                          <a:latin typeface="Yu Gothic"/>
                        </a:defRPr>
                      </a:pPr>
                      <a:r>
                        <a:t>自社の成功が生んだ問題を自ら解決しようとしているという論調の記事</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TechCrunch(2026-08-06)ほか｜156本目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自社の成功が生んだ問題を、自ら解決できるか。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技術方式・具体的な数値・導入時期など、詳細は今後の公表待ちです。続報が出れば、また出典付きでお届けします。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