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本日は横田大祐選手が名門レンジャーズFCへの移籍で口頭合意に達したという話題をお届けします。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今日は、何が起きたのか、横田選手について、レンジャーズFCとは、移籍条件の詳細、今後の見通しをお伝えします。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ドイツ2部ハノーファーの横田大祐選手が、レンジャーズFCへの移籍で口頭合意に達したと報じられました。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その報道日がこちら、着手日から数時間以内です。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概要をまとめると、この表の通りです。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横田大祐選手は26歳のフォワードで、ドイツ2部ハノーファー96に所属しています。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レンジャーズFCは、スコットランド・プレミアシップでリーグ優勝55回を誇る名門クラブです。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レンジャーズFCのリーグ優勝回数は55回です。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実現すれば、横田選手はレンジャーズFC史上初の日本人選手となります。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移籍の流れを図で見ると、口頭合意からメディカルチェックを経て、正式契約に至る見込みです。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移籍条件の詳細は、移籍金330万ユーロにアドオン70万ユーロを加えた金額とされています。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報じられている移籍金は330万ユーロ、日本円で約6億円相当です。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報じたメディアは、FOOTBALL ZONE、サッカーキング、GOAL、SOCCER DIGEST Webです。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現所属のハノーファー96と、移籍先のレンジャーズFCを比べると、リーグ・実績ともに大きな違いがあります。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ここで大事な点を確認します。現時点は口頭合意の段階であり、正式契約には至っていません。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報道の広がり方を図で見ると、著名記者の一報を複数メディアが引用する形で、数時間以内に話題化しました。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ここまでを総括します。実現すれば、名門レンジャーズFC史上初の日本人選手が誕生します。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ここからは推測です。メディカルチェック、正式契約の発表、新天地での活躍が焦点になりそうです。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想定される影響としては、選手個人の挑戦、日本サッカー界への貢献、ファンの関心の高まりが挙げられます。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本テーマでは数字の創作をせず、口頭合意段階であることを断定表現にもしていません。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出典はこの表の通り、独立した複数のサッカー専門メディアです。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確認できたことと確認できなかったことを正直に整理します。クラブ公式からの正式発表はまだ確認できていません。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改めて確認します。横田大祐選手が、名門レンジャーズFCへの移籍で口頭合意に達しました。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発表から報道、そして本日の話題化までの流れを図にすると、このようになります。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皆さんは、レンジャーズFCでの横田選手の活躍にどんなプレーを期待しますか。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数字で見ると、移籍金330万ユーロ、アドオン70万ユーロ、レンジャーズFCのリーグ優勝回数は55回です。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既存の海外移籍テーマとは、選手・移籍先クラブがそれぞれ異なり、重複ではありません。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改めて総括します。名門レンジャーズFCへの挑戦が、口頭合意という形で報じられました。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正式契約の発表、そして新天地での活躍状況に注目していきましょう。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今回もありがとうございました。横田大祐選手のレンジャーズFC移籍口頭合意の話題をお届けしました。次回もお楽しみに。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レンジャーズ史上初の日本人選手が誕生する</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横田大祐選手、名門レンジャーズFC移籍で口頭合意</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FOOTBALL ZONE・サッカーキング・GOAL ほか(2026-08-04) ※現時点は口頭合意段階です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何が起きたのか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横田大祐選手について</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レンジャーズFCとは</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移籍条件の詳細</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今後の見通し</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何が起きたのか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ハノーファー96所属のFW横田大祐選手が、レンジャーズFC移籍で口頭合意</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著名記者ファブリツィオ・ロマーノ氏の報道を複数メディアが引用</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報道日は2026年8月4日、着手日から数時間以内の速報</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FOOTBALL ZONE(2026-08-04)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報道日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2026年8月4日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着手日から数時間以内という極めて高い鮮度</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FOOTBALL ZONE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選手</a:t>
                      </a:r>
                    </a:p>
                  </a:txBody>
                  <a:tcPr>
                    <a:solidFill>
                      <a:srgbClr val="FFFFFF"/>
                    </a:solidFill>
                  </a:tcPr>
                </a:tc>
                <a:tc>
                  <a:txBody>
                    <a:bodyPr/>
                    <a:lstStyle/>
                    <a:p>
                      <a:pPr>
                        <a:defRPr sz="1200">
                          <a:solidFill>
                            <a:srgbClr val="1C2230"/>
                          </a:solidFill>
                          <a:latin typeface="Yu Gothic"/>
                        </a:defRPr>
                      </a:pPr>
                      <a:r>
                        <a:t>横田大祐(26)</a:t>
                      </a:r>
                    </a:p>
                  </a:txBody>
                  <a:tcPr>
                    <a:solidFill>
                      <a:srgbClr val="FFFFFF"/>
                    </a:solidFill>
                  </a:tcPr>
                </a:tc>
              </a:tr>
              <a:tr h="502920">
                <a:tc>
                  <a:txBody>
                    <a:bodyPr/>
                    <a:lstStyle/>
                    <a:p>
                      <a:pPr>
                        <a:defRPr sz="1200">
                          <a:solidFill>
                            <a:srgbClr val="1C2230"/>
                          </a:solidFill>
                          <a:latin typeface="Yu Gothic"/>
                        </a:defRPr>
                      </a:pPr>
                      <a:r>
                        <a:t>現所属</a:t>
                      </a:r>
                    </a:p>
                  </a:txBody>
                  <a:tcPr>
                    <a:solidFill>
                      <a:srgbClr val="F1F5FA"/>
                    </a:solidFill>
                  </a:tcPr>
                </a:tc>
                <a:tc>
                  <a:txBody>
                    <a:bodyPr/>
                    <a:lstStyle/>
                    <a:p>
                      <a:pPr>
                        <a:defRPr sz="1200">
                          <a:solidFill>
                            <a:srgbClr val="1C2230"/>
                          </a:solidFill>
                          <a:latin typeface="Yu Gothic"/>
                        </a:defRPr>
                      </a:pPr>
                      <a:r>
                        <a:t>ハノーファー96(ドイツ2部)</a:t>
                      </a:r>
                    </a:p>
                  </a:txBody>
                  <a:tcPr>
                    <a:solidFill>
                      <a:srgbClr val="F1F5FA"/>
                    </a:solidFill>
                  </a:tcPr>
                </a:tc>
              </a:tr>
              <a:tr h="502920">
                <a:tc>
                  <a:txBody>
                    <a:bodyPr/>
                    <a:lstStyle/>
                    <a:p>
                      <a:pPr>
                        <a:defRPr sz="1200">
                          <a:solidFill>
                            <a:srgbClr val="1C2230"/>
                          </a:solidFill>
                          <a:latin typeface="Yu Gothic"/>
                        </a:defRPr>
                      </a:pPr>
                      <a:r>
                        <a:t>移籍先</a:t>
                      </a:r>
                    </a:p>
                  </a:txBody>
                  <a:tcPr>
                    <a:solidFill>
                      <a:srgbClr val="FFFFFF"/>
                    </a:solidFill>
                  </a:tcPr>
                </a:tc>
                <a:tc>
                  <a:txBody>
                    <a:bodyPr/>
                    <a:lstStyle/>
                    <a:p>
                      <a:pPr>
                        <a:defRPr sz="1200">
                          <a:solidFill>
                            <a:srgbClr val="1C2230"/>
                          </a:solidFill>
                          <a:latin typeface="Yu Gothic"/>
                        </a:defRPr>
                      </a:pPr>
                      <a:r>
                        <a:t>レンジャーズFC(スコットランド)</a:t>
                      </a:r>
                    </a:p>
                  </a:txBody>
                  <a:tcPr>
                    <a:solidFill>
                      <a:srgbClr val="FFFFFF"/>
                    </a:solidFill>
                  </a:tcPr>
                </a:tc>
              </a:tr>
              <a:tr h="502920">
                <a:tc>
                  <a:txBody>
                    <a:bodyPr/>
                    <a:lstStyle/>
                    <a:p>
                      <a:pPr>
                        <a:defRPr sz="1200">
                          <a:solidFill>
                            <a:srgbClr val="1C2230"/>
                          </a:solidFill>
                          <a:latin typeface="Yu Gothic"/>
                        </a:defRPr>
                      </a:pPr>
                      <a:r>
                        <a:t>状況</a:t>
                      </a:r>
                    </a:p>
                  </a:txBody>
                  <a:tcPr>
                    <a:solidFill>
                      <a:srgbClr val="F1F5FA"/>
                    </a:solidFill>
                  </a:tcPr>
                </a:tc>
                <a:tc>
                  <a:txBody>
                    <a:bodyPr/>
                    <a:lstStyle/>
                    <a:p>
                      <a:pPr>
                        <a:defRPr sz="1200">
                          <a:solidFill>
                            <a:srgbClr val="1C2230"/>
                          </a:solidFill>
                          <a:latin typeface="Yu Gothic"/>
                        </a:defRPr>
                      </a:pPr>
                      <a:r>
                        <a:t>口頭合意(正式契約は未締結)</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横田大祐選手について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ポジション</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フォワード</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年齢</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26歳</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現所属</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ハノーファー96(ドイツ2部)</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レンジャーズFCとは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所在地</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スコットランド・グラスゴー</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リーグ</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スコティッシュ・プレミアシップ</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リーグ優勝</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55回という圧倒的な実績</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位置づけ</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スコットランドを代表する名門クラブ</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リーグ優勝回数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55回</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レンジャーズFCの歴代リーグ優勝回数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SOCCER DIGEST Web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実現すれば歴史的な移籍に</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実現すればレンジャーズFC史上初の日本人選手に</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名門クラブへの日本人選手加入という歴史的意味合い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スコットランドサッカー界における日本人選手の広がり</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GOAL(2026-08-04)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移籍の流れ(概念)</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口頭合意</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現時点(2026年8月4日報道)</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メディカルチェック</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今後実施される見込み</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正式契約</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合意すれば締結</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移籍条件の詳細</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移籍金</a:t>
                      </a:r>
                    </a:p>
                  </a:txBody>
                  <a:tcPr>
                    <a:solidFill>
                      <a:srgbClr val="FFFFFF"/>
                    </a:solidFill>
                  </a:tcPr>
                </a:tc>
                <a:tc>
                  <a:txBody>
                    <a:bodyPr/>
                    <a:lstStyle/>
                    <a:p>
                      <a:pPr>
                        <a:defRPr sz="1200">
                          <a:solidFill>
                            <a:srgbClr val="1C2230"/>
                          </a:solidFill>
                          <a:latin typeface="Yu Gothic"/>
                        </a:defRPr>
                      </a:pPr>
                      <a:r>
                        <a:t>330万ユーロ(約6億円)</a:t>
                      </a:r>
                    </a:p>
                  </a:txBody>
                  <a:tcPr>
                    <a:solidFill>
                      <a:srgbClr val="FFFFFF"/>
                    </a:solidFill>
                  </a:tcPr>
                </a:tc>
              </a:tr>
              <a:tr h="502920">
                <a:tc>
                  <a:txBody>
                    <a:bodyPr/>
                    <a:lstStyle/>
                    <a:p>
                      <a:pPr>
                        <a:defRPr sz="1200">
                          <a:solidFill>
                            <a:srgbClr val="1C2230"/>
                          </a:solidFill>
                          <a:latin typeface="Yu Gothic"/>
                        </a:defRPr>
                      </a:pPr>
                      <a:r>
                        <a:t>アドオン</a:t>
                      </a:r>
                    </a:p>
                  </a:txBody>
                  <a:tcPr>
                    <a:solidFill>
                      <a:srgbClr val="F1F5FA"/>
                    </a:solidFill>
                  </a:tcPr>
                </a:tc>
                <a:tc>
                  <a:txBody>
                    <a:bodyPr/>
                    <a:lstStyle/>
                    <a:p>
                      <a:pPr>
                        <a:defRPr sz="1200">
                          <a:solidFill>
                            <a:srgbClr val="1C2230"/>
                          </a:solidFill>
                          <a:latin typeface="Yu Gothic"/>
                        </a:defRPr>
                      </a:pPr>
                      <a:r>
                        <a:t>70万ユーロ(約1億2,600万円)</a:t>
                      </a:r>
                    </a:p>
                  </a:txBody>
                  <a:tcPr>
                    <a:solidFill>
                      <a:srgbClr val="F1F5FA"/>
                    </a:solidFill>
                  </a:tcPr>
                </a:tc>
              </a:tr>
              <a:tr h="502920">
                <a:tc>
                  <a:txBody>
                    <a:bodyPr/>
                    <a:lstStyle/>
                    <a:p>
                      <a:pPr>
                        <a:defRPr sz="1200">
                          <a:solidFill>
                            <a:srgbClr val="1C2230"/>
                          </a:solidFill>
                          <a:latin typeface="Yu Gothic"/>
                        </a:defRPr>
                      </a:pPr>
                      <a:r>
                        <a:t>合計</a:t>
                      </a:r>
                    </a:p>
                  </a:txBody>
                  <a:tcPr>
                    <a:solidFill>
                      <a:srgbClr val="FFFFFF"/>
                    </a:solidFill>
                  </a:tcPr>
                </a:tc>
                <a:tc>
                  <a:txBody>
                    <a:bodyPr/>
                    <a:lstStyle/>
                    <a:p>
                      <a:pPr>
                        <a:defRPr sz="1200">
                          <a:solidFill>
                            <a:srgbClr val="1C2230"/>
                          </a:solidFill>
                          <a:latin typeface="Yu Gothic"/>
                        </a:defRPr>
                      </a:pPr>
                      <a:r>
                        <a:t>約400万ユーロ相当</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移籍金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330万ユーロ</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約6億円相当、アドオン70万ユーロは別途</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サッカーキング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報じたメディア</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FOOTBALL ZONE</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口頭合意を速報</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サッカーキング</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移籍金の詳細を報道</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GOAL / SOCCER DIGEST Web</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ロマーノ氏の報道を引用</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現所属クラブと移籍先クラブ</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ハノーファー96(現所属)</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ドイツ2部リーグ所属</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横田選手が現在プレーする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レンジャーズFC(移籍先)</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スコットランド・プレミアシップ</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リーグ優勝55回の名門</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口頭合意の意味(正直な開示)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現時点は『口頭合意』の段階であり、正式契約ではない</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今後メディカルチェックを経て正式契約となる見込みと報じられている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クラブ公式・選手本人からの正式発表は本調査の時点で未確認</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報道の広がり方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ロマーノ氏の報道</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著名移籍情報記者による一報</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複数メディアが引用</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FOOTBALL ZONE等が追随</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着手日に速報化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数時間以内に話題化</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ここまでの総括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名門クラブへ、日本人選手が挑む</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実現すればクラブ史上初の日本人選手に</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今後の見通し(ここからは推測)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メディカルチェック</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移籍実現に向けた次のステップ</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正式契約の発表</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クラブ公式からの発表が待たれる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スコットランドでの活躍</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新天地での起用法が注目される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想定される影響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選手個人</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より高いレベルのリーグへの挑戦</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日本サッカー界</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海外の名門クラブへの選手輩出</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ファン・視聴者</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スコティッシュ・プレミアシップへの関心の高まり</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リスク・配慮事項</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数字の創作はせず、報道された内容のみを扱う</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『口頭合意』段階であることを断定表現にしない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特定選手・クラブを過度に持ち上げる表現は避ける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FOOTBALL ZONE</a:t>
                      </a:r>
                    </a:p>
                  </a:txBody>
                  <a:tcPr>
                    <a:solidFill>
                      <a:srgbClr val="FFFFFF"/>
                    </a:solidFill>
                  </a:tcPr>
                </a:tc>
                <a:tc>
                  <a:txBody>
                    <a:bodyPr/>
                    <a:lstStyle/>
                    <a:p>
                      <a:pPr>
                        <a:defRPr sz="1200">
                          <a:solidFill>
                            <a:srgbClr val="1C2230"/>
                          </a:solidFill>
                          <a:latin typeface="Yu Gothic"/>
                        </a:defRPr>
                      </a:pPr>
                      <a:r>
                        <a:t>口頭合意の速報を報道</a:t>
                      </a:r>
                    </a:p>
                  </a:txBody>
                  <a:tcPr>
                    <a:solidFill>
                      <a:srgbClr val="FFFFFF"/>
                    </a:solidFill>
                  </a:tcPr>
                </a:tc>
              </a:tr>
              <a:tr h="502920">
                <a:tc>
                  <a:txBody>
                    <a:bodyPr/>
                    <a:lstStyle/>
                    <a:p>
                      <a:pPr>
                        <a:defRPr sz="1200">
                          <a:solidFill>
                            <a:srgbClr val="1C2230"/>
                          </a:solidFill>
                          <a:latin typeface="Yu Gothic"/>
                        </a:defRPr>
                      </a:pPr>
                      <a:r>
                        <a:t>サッカーキング</a:t>
                      </a:r>
                    </a:p>
                  </a:txBody>
                  <a:tcPr>
                    <a:solidFill>
                      <a:srgbClr val="F1F5FA"/>
                    </a:solidFill>
                  </a:tcPr>
                </a:tc>
                <a:tc>
                  <a:txBody>
                    <a:bodyPr/>
                    <a:lstStyle/>
                    <a:p>
                      <a:pPr>
                        <a:defRPr sz="1200">
                          <a:solidFill>
                            <a:srgbClr val="1C2230"/>
                          </a:solidFill>
                          <a:latin typeface="Yu Gothic"/>
                        </a:defRPr>
                      </a:pPr>
                      <a:r>
                        <a:t>移籍金の詳細を報道</a:t>
                      </a:r>
                    </a:p>
                  </a:txBody>
                  <a:tcPr>
                    <a:solidFill>
                      <a:srgbClr val="F1F5FA"/>
                    </a:solidFill>
                  </a:tcPr>
                </a:tc>
              </a:tr>
              <a:tr h="502920">
                <a:tc>
                  <a:txBody>
                    <a:bodyPr/>
                    <a:lstStyle/>
                    <a:p>
                      <a:pPr>
                        <a:defRPr sz="1200">
                          <a:solidFill>
                            <a:srgbClr val="1C2230"/>
                          </a:solidFill>
                          <a:latin typeface="Yu Gothic"/>
                        </a:defRPr>
                      </a:pPr>
                      <a:r>
                        <a:t>GOAL / SOCCER DIGEST Web</a:t>
                      </a:r>
                    </a:p>
                  </a:txBody>
                  <a:tcPr>
                    <a:solidFill>
                      <a:srgbClr val="FFFFFF"/>
                    </a:solidFill>
                  </a:tcPr>
                </a:tc>
                <a:tc>
                  <a:txBody>
                    <a:bodyPr/>
                    <a:lstStyle/>
                    <a:p>
                      <a:pPr>
                        <a:defRPr sz="1200">
                          <a:solidFill>
                            <a:srgbClr val="1C2230"/>
                          </a:solidFill>
                          <a:latin typeface="Yu Gothic"/>
                        </a:defRPr>
                      </a:pPr>
                      <a:r>
                        <a:t>ロマーノ氏の報道を引用・解説</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確認できたこと・できなかったこと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確認済み: 口頭合意の報道日・移籍金・アドオンの金額</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確認済み: レンジャーズFCのリーグ優勝回数</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未確認: クラブ公式・選手本人からの正式発表</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未確認: メディカルチェックの具体的な日程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横田大祐選手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名門レンジャーズFCへ、口頭合意</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実現すればクラブ史上初の日本人選手に</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この話題の広がり方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口頭合意の一報</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2026年8月4日</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複数媒体が報道</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サッカー専門メディアが追随</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着手日に話題化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本日、注目を集める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視聴者への問いかけ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レンジャーズFCでの横田選手の活躍、どんなプレーを期待しますか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名門クラブに挑む日本人選手、次に続くのは誰だと思いますか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数字で見る今回の移籍</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移籍金</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330万ユーロ(約6億円)</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アドオン</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70万ユーロ(約1億2,600万円)</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リーグ優勝回数</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レンジャーズFC55回</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似たテーマとの違い(重複でないことの確認)</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既存テーマ</a:t>
                      </a:r>
                    </a:p>
                  </a:txBody>
                  <a:tcPr>
                    <a:solidFill>
                      <a:srgbClr val="2B3A55"/>
                    </a:solidFill>
                  </a:tcPr>
                </a:tc>
                <a:tc>
                  <a:txBody>
                    <a:bodyPr/>
                    <a:lstStyle/>
                    <a:p>
                      <a:pPr>
                        <a:defRPr sz="1300" b="1">
                          <a:solidFill>
                            <a:srgbClr val="FFFFFF"/>
                          </a:solidFill>
                          <a:latin typeface="Yu Gothic"/>
                        </a:defRPr>
                      </a:pPr>
                      <a:r>
                        <a:t>違い</a:t>
                      </a:r>
                    </a:p>
                  </a:txBody>
                  <a:tcPr>
                    <a:solidFill>
                      <a:srgbClr val="2B3A55"/>
                    </a:solidFill>
                  </a:tcPr>
                </a:tc>
              </a:tr>
              <a:tr h="502920">
                <a:tc>
                  <a:txBody>
                    <a:bodyPr/>
                    <a:lstStyle/>
                    <a:p>
                      <a:pPr>
                        <a:defRPr sz="1200">
                          <a:solidFill>
                            <a:srgbClr val="1C2230"/>
                          </a:solidFill>
                          <a:latin typeface="Yu Gothic"/>
                        </a:defRPr>
                      </a:pPr>
                      <a:r>
                        <a:t>橋岡大樹選手・ボルシアMG移籍</a:t>
                      </a:r>
                    </a:p>
                  </a:txBody>
                  <a:tcPr>
                    <a:solidFill>
                      <a:srgbClr val="FFFFFF"/>
                    </a:solidFill>
                  </a:tcPr>
                </a:tc>
                <a:tc>
                  <a:txBody>
                    <a:bodyPr/>
                    <a:lstStyle/>
                    <a:p>
                      <a:pPr>
                        <a:defRPr sz="1200">
                          <a:solidFill>
                            <a:srgbClr val="1C2230"/>
                          </a:solidFill>
                          <a:latin typeface="Yu Gothic"/>
                        </a:defRPr>
                      </a:pPr>
                      <a:r>
                        <a:t>選手・移籍先クラブが異なる</a:t>
                      </a:r>
                    </a:p>
                  </a:txBody>
                  <a:tcPr>
                    <a:solidFill>
                      <a:srgbClr val="FFFFFF"/>
                    </a:solidFill>
                  </a:tcPr>
                </a:tc>
              </a:tr>
              <a:tr h="502920">
                <a:tc>
                  <a:txBody>
                    <a:bodyPr/>
                    <a:lstStyle/>
                    <a:p>
                      <a:pPr>
                        <a:defRPr sz="1200">
                          <a:solidFill>
                            <a:srgbClr val="1C2230"/>
                          </a:solidFill>
                          <a:latin typeface="Yu Gothic"/>
                        </a:defRPr>
                      </a:pPr>
                      <a:r>
                        <a:t>鈴木彩艶選手・PSGオファー</a:t>
                      </a:r>
                    </a:p>
                  </a:txBody>
                  <a:tcPr>
                    <a:solidFill>
                      <a:srgbClr val="F1F5FA"/>
                    </a:solidFill>
                  </a:tcPr>
                </a:tc>
                <a:tc>
                  <a:txBody>
                    <a:bodyPr/>
                    <a:lstStyle/>
                    <a:p>
                      <a:pPr>
                        <a:defRPr sz="1200">
                          <a:solidFill>
                            <a:srgbClr val="1C2230"/>
                          </a:solidFill>
                          <a:latin typeface="Yu Gothic"/>
                        </a:defRPr>
                      </a:pPr>
                      <a:r>
                        <a:t>選手・移籍先クラブが異なる</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名門クラブへの挑戦、口頭合意</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実現すればレンジャーズFC史上初の日本人選手に</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続報にも注目です</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正式契約の発表、新天地での活躍状況に注目していきます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続報をお楽しみに</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横田大祐選手、名門レンジャーズFC移籍で口頭合意(2026年8月4日報道)</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実現すればクラブ史上初の日本人選手に</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現時点は口頭合意段階、正式契約は今後の見通し</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FOOTBALL ZONE・サッカーキング・GOAL ほか(2026-08-04)｜定期実行102本目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