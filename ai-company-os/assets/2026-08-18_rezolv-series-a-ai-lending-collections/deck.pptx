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インドのAIネイティブ与信管理プラットフォームRezolvが、2026年8月18日、シリーズAで1250万ドルを調達したと発表しました。回収・解決率が35%改善したという、まさかの数字です。今日はこの調達の中身について、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結論から確認します。Rezolvは、Norwest主導のシリーズAラウンドで1250万ドルを調達しました。ここから事業内容と数字を1つずつ出典付きで見ていきます。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今日は6つの流れでお伝えします。資金調達の数字から事業規模、回収率改善の成果まで、正確に数字を引用しながら整理します。誇張せず、確認できなかったことは正直にお伝えします。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発表翌日という新しさに加えて、回収・解決率35%改善という分かりやすい成果指標、銀行・ノンバンク22社超と契約済みという実際の導入規模があります。複数の媒体が内容を一致させて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Rezolvという企業の前提を確認します。2024年創業のインドのAIネイティブ与信管理プラットフォームで、ムンバイ拠点、創業者2名はフィンテック企業Kisshtの元創業者です。本編は資金調達・事業紹介であり、利用を勧める内容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本題のキーワードを確認します。与信管理は融資の審査・回収業務を効率化する技術分野、債権回収は返済が滞っている借り手への対応業務、ノンバンクは銀行免許を持たずに融資業務を行う金融会社です。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今回の調達額です。Norwest主導のシリーズAラウンドで1250万ドルを調達しました。次に、ラウンドの詳細を表で確認します。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今回のラウンドの概要を一覧にしました。2026年8月18日発表、調達額1250万ドル、主導投資家はNorwest。既存投資家のVertex Ventures Southeast Asia and India、3one4 Capitalも参加しました。次に、投資家の顔ぶれを確認します。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参加した投資家を整理しました。Norwestが主導し、既存投資家のVertex Ventures Southeast Asia and India、3one4 Capitalも参加しています。次に、調達後の評価額を確認します。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調達後の評価額を確認します。今回のシリーズAを経て、Rezolvの評価額は5,120万ドルとなりました。次に、Rezolvの事業内容を確認します。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Rezolvの事業内容を確認します。銀行・ノンバンクを対象に、債権回収プラットフォームと専用AIを組み合わせたサービスを提供しており、独自ツール『Strategy Builder』により回収戦略の最適化を支援しています。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処理する会話の規模です。月間650万分の借り手との会話を処理できる規模とされています。次に、扱うローン口座の規模を確認します。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扱うローン口座数です。1,200万件超のローン口座を処理できる規模とされています。次に、契約金融機関の数を確認します。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契約金融機関の数です。AU Small Finance Bank・ICICI Bank等、22社超の銀行・金融会社と契約済みとされています。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3つの規模指標をまとめました。月間650万分の会話処理、1,200万件超のローン口座、22社超の契約金融機関という規模です。次に、回収率改善の成果を確認します。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回収・解決率の改善です。独自ツール『Strategy Builder』により、回収・解決率が35%改善したとされています。次に、実際の契約企業を確認します。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契約金融機関の例を確認します。AU Small Finance Bank・ICICI Bank・Poonawalla Fincorp・Bajaj Auto Credit等、22社超の銀行・金融会社と契約しているとされています。次に、創業から今回調達までの流れを整理します。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創業から今回調達までの流れを3ステップで整理しました。2024年の創業から、22社超の銀行・ノンバンクとの契約を経て、2026年8月18日にシリーズAで1250万ドルを調達しました。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AIモデルの技術詳細について正直にお伝えします。専用AI・Strategy Builderという機能名は報じられていますが、技術的な仕組みの詳細は、本調査の範囲では確認できていません。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インド国外への展開計画について正直にお伝えします。現時点で確認できているのはインド国内の金融機関との契約実績のみで、国外展開計画は本調査の範囲では確認できていません。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今回の調達額と調達後の評価額を整理しました。調達額は今回実際に集めた資金の額、評価額は投資家との合意による推定企業価値であり、両者は別の数字として混同しないようにご注意ください。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成果指標の第三者検証状況について正直にお伝えします。回収・解決率35%改善という数字はRezolv側の発表に基づくもので、独立した第三者機関による検証結果であるか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に確認できている内容にはギャップが生まれがちです。確認できているのは今回の調達額・評価額・契約実績の情報のみであり、回収率改善の第三者検証や国外展開計画など未確認の項目も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競合他社との比較についても正直にお伝えします。他社との性能比較や業界内での位置づけについての客観的な評価は、本調査の範囲では確認できていません。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このニュースが読者にとって意味することをまとめました。AI業界の動向を追う立場、金融・レンディング事業を検討する立場、インド市場に関心がある立場、それぞれで意識したい視点です。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情報を確認・活用する際のチェックポイントです。調達額・評価額は製品の性能そのものを直接示すものではなく、回収率改善の数字は第三者検証の有無を確認したうえで判断することが望ましいです。本成果物は特定企業・製品への乗り換えを推奨する内容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確認できたことと確認できていないことを一覧にしました。数字を推測で埋めず、正直に整理しています。詳細はresearch.mdをご確認ください。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本テーマの鮮度を数字で確認します。発表は着手日の前日にあたる2026年8月18日でした。当社の鮮度基準(着手日を含めて2日以内)を満たしています。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本編で使った主な出典を一覧にしました。StartupTalky・Inc42・YourStory等、複数の独立した媒体が調達額・事業規模の数値を一致させて報じていることを確認しています。詳細はresearch.mdをご確認ください。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本編は以上です。今回はRezolvがシリーズAで1250万ドルを調達し、独自ツール『Strategy Builder』による回収・解決率35%改善という成果まで正確に整理してお伝えしました。数字は出典どおりに扱い、確認できなかったことは正直にお伝えしました。次回もまた出典付きでお届けします。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まさかの回収率35%改善。</a:t>
            </a:r>
          </a:p>
          <a:p>
            <a:pPr algn="l">
              <a:lnSpc>
                <a:spcPct val="115000"/>
              </a:lnSpc>
            </a:pPr>
            <a:r>
              <a:rPr sz="4200" b="1">
                <a:solidFill>
                  <a:srgbClr val="FFFFFF"/>
                </a:solidFill>
                <a:latin typeface="Yu Gothic"/>
              </a:rPr>
              <a:t>インドのAI与信管理</a:t>
            </a:r>
          </a:p>
          <a:p>
            <a:pPr algn="l">
              <a:lnSpc>
                <a:spcPct val="115000"/>
              </a:lnSpc>
            </a:pPr>
            <a:r>
              <a:rPr sz="4200" b="1">
                <a:solidFill>
                  <a:srgbClr val="FFFFFF"/>
                </a:solidFill>
                <a:latin typeface="Yu Gothic"/>
              </a:rPr>
              <a:t>RezolvがシリーズAで急伸</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FE8DE"/>
                </a:solidFill>
                <a:latin typeface="Yu Gothic"/>
              </a:rPr>
              <a:t>2026年8月18日発表――1250万ドル調達の中身を出典付きで暴く</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C2AE"/>
                </a:solidFill>
                <a:latin typeface="Yu Gothic"/>
              </a:rPr>
              <a:t>出典: StartupTalky・DealStreetAsia・TNGlobal・Inc42・YourStory(2026年8月18日)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1250万ドルを調達</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Norwest主導のシリーズAラウンドでの調達額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StartupTalky・DealStreetAsia(2026-08-18)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FE8DE"/>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FE8DE"/>
                </a:solidFill>
                <a:latin typeface="Yu Gothic"/>
              </a:rPr>
              <a:t>Rezolvとは・基礎知識</a:t>
            </a:r>
          </a:p>
        </p:txBody>
      </p:sp>
      <p:sp>
        <p:nvSpPr>
          <p:cNvPr id="9" name="Oval 8"/>
          <p:cNvSpPr/>
          <p:nvPr/>
        </p:nvSpPr>
        <p:spPr>
          <a:xfrm>
            <a:off x="548640" y="347472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FE8DE"/>
                </a:solidFill>
                <a:latin typeface="Yu Gothic"/>
              </a:rPr>
              <a:t>今回の資金調達の数字を確認する</a:t>
            </a:r>
          </a:p>
        </p:txBody>
      </p:sp>
      <p:sp>
        <p:nvSpPr>
          <p:cNvPr id="11" name="Oval 10"/>
          <p:cNvSpPr/>
          <p:nvPr/>
        </p:nvSpPr>
        <p:spPr>
          <a:xfrm>
            <a:off x="548640" y="425196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FE8DE"/>
                </a:solidFill>
                <a:latin typeface="Yu Gothic"/>
              </a:rPr>
              <a:t>Rezolvの規模・実績を深掘りする</a:t>
            </a:r>
          </a:p>
        </p:txBody>
      </p:sp>
      <p:sp>
        <p:nvSpPr>
          <p:cNvPr id="13" name="Oval 12"/>
          <p:cNvSpPr/>
          <p:nvPr/>
        </p:nvSpPr>
        <p:spPr>
          <a:xfrm>
            <a:off x="548640" y="502920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FE8DE"/>
                </a:solidFill>
                <a:latin typeface="Yu Gothic"/>
              </a:rPr>
              <a:t>回収率改善の成果を確認する</a:t>
            </a:r>
          </a:p>
        </p:txBody>
      </p:sp>
      <p:sp>
        <p:nvSpPr>
          <p:cNvPr id="15" name="Oval 14"/>
          <p:cNvSpPr/>
          <p:nvPr/>
        </p:nvSpPr>
        <p:spPr>
          <a:xfrm>
            <a:off x="548640" y="58064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FE8DE"/>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発表翌日(2026年8月19日着手)という鮮度の高い話題である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『回収・解決率35%改善』という具体的で分かりやすい成果指標がある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銀行・ノンバンク22社超と契約済みという実際の導入規模が示されている</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複数の独立した媒体(StartupTalky・Inc42等)が内容を一致させて報じている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StartupTalky・Inc42・YourStory(2026-08-18)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StartupTalky・DealStreetAsia・TNGlobal・Inc42・YourStory(2026-08-18)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Rezolvとは(初心者向け)</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本題に入る前に、企業の前提を確認します。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Rezolvは、2024年創業のインドのAIネイティブ与信管理(レンディングテック)プラットフォームである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ムンバイ拠点。創業者2名はフィンテック企業Kisshtの元創業者である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本編ではRezolvという特定企業の資金調達・事業の事実を中立的に紹介する(利用を推奨する内容ではない)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StartupTalky・DealStreetAsia・TNGlobal・Inc42・YourStory(2026-08-18)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用語解説:与信管理・債権回収・ノンバンクとは(初心者向け)</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本題のキーワードを確認します。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『与信管理(レンディングテック)』とは、金融機関が融資を行う際の審査・回収業務を効率化する技術分野である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『債権回収』とは、貸し付けた資金の返済が滞っている借り手から、返済を促す業務である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『ノンバンク(NBFC)』とは、銀行免許を持たずに融資業務を行う金融会社である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StartupTalky・DealStreetAsia・TNGlobal・Inc42・YourStory(2026-08-18)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今回の調達額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1250万ドル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Norwest主導のシリーズAラウンドでの調達額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StartupTalky・DealStreetAsia(2026-08-18)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今回のラウンドの概要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発表日</a:t>
                      </a:r>
                    </a:p>
                  </a:txBody>
                  <a:tcPr>
                    <a:solidFill>
                      <a:srgbClr val="FFFFFF"/>
                    </a:solidFill>
                  </a:tcPr>
                </a:tc>
                <a:tc>
                  <a:txBody>
                    <a:bodyPr/>
                    <a:lstStyle/>
                    <a:p>
                      <a:pPr>
                        <a:defRPr sz="1200">
                          <a:solidFill>
                            <a:srgbClr val="121C1F"/>
                          </a:solidFill>
                          <a:latin typeface="Yu Gothic"/>
                        </a:defRPr>
                      </a:pPr>
                      <a:r>
                        <a:t>2026年8月18日</a:t>
                      </a:r>
                    </a:p>
                  </a:txBody>
                  <a:tcPr>
                    <a:solidFill>
                      <a:srgbClr val="FFFFFF"/>
                    </a:solidFill>
                  </a:tcPr>
                </a:tc>
              </a:tr>
              <a:tr h="502920">
                <a:tc>
                  <a:txBody>
                    <a:bodyPr/>
                    <a:lstStyle/>
                    <a:p>
                      <a:pPr>
                        <a:defRPr sz="1200">
                          <a:solidFill>
                            <a:srgbClr val="121C1F"/>
                          </a:solidFill>
                          <a:latin typeface="Yu Gothic"/>
                        </a:defRPr>
                      </a:pPr>
                      <a:r>
                        <a:t>調達額</a:t>
                      </a:r>
                    </a:p>
                  </a:txBody>
                  <a:tcPr>
                    <a:solidFill>
                      <a:srgbClr val="F0F7F4"/>
                    </a:solidFill>
                  </a:tcPr>
                </a:tc>
                <a:tc>
                  <a:txBody>
                    <a:bodyPr/>
                    <a:lstStyle/>
                    <a:p>
                      <a:pPr>
                        <a:defRPr sz="1200">
                          <a:solidFill>
                            <a:srgbClr val="121C1F"/>
                          </a:solidFill>
                          <a:latin typeface="Yu Gothic"/>
                        </a:defRPr>
                      </a:pPr>
                      <a:r>
                        <a:t>1250万ドル(シリーズA)</a:t>
                      </a:r>
                    </a:p>
                  </a:txBody>
                  <a:tcPr>
                    <a:solidFill>
                      <a:srgbClr val="F0F7F4"/>
                    </a:solidFill>
                  </a:tcPr>
                </a:tc>
              </a:tr>
              <a:tr h="502920">
                <a:tc>
                  <a:txBody>
                    <a:bodyPr/>
                    <a:lstStyle/>
                    <a:p>
                      <a:pPr>
                        <a:defRPr sz="1200">
                          <a:solidFill>
                            <a:srgbClr val="121C1F"/>
                          </a:solidFill>
                          <a:latin typeface="Yu Gothic"/>
                        </a:defRPr>
                      </a:pPr>
                      <a:r>
                        <a:t>主導投資家</a:t>
                      </a:r>
                    </a:p>
                  </a:txBody>
                  <a:tcPr>
                    <a:solidFill>
                      <a:srgbClr val="FFFFFF"/>
                    </a:solidFill>
                  </a:tcPr>
                </a:tc>
                <a:tc>
                  <a:txBody>
                    <a:bodyPr/>
                    <a:lstStyle/>
                    <a:p>
                      <a:pPr>
                        <a:defRPr sz="1200">
                          <a:solidFill>
                            <a:srgbClr val="121C1F"/>
                          </a:solidFill>
                          <a:latin typeface="Yu Gothic"/>
                        </a:defRPr>
                      </a:pPr>
                      <a:r>
                        <a:t>Norwest</a:t>
                      </a:r>
                    </a:p>
                  </a:txBody>
                  <a:tcPr>
                    <a:solidFill>
                      <a:srgbClr val="FFFFFF"/>
                    </a:solidFill>
                  </a:tcPr>
                </a:tc>
              </a:tr>
              <a:tr h="502920">
                <a:tc>
                  <a:txBody>
                    <a:bodyPr/>
                    <a:lstStyle/>
                    <a:p>
                      <a:pPr>
                        <a:defRPr sz="1200">
                          <a:solidFill>
                            <a:srgbClr val="121C1F"/>
                          </a:solidFill>
                          <a:latin typeface="Yu Gothic"/>
                        </a:defRPr>
                      </a:pPr>
                      <a:r>
                        <a:t>参加投資家</a:t>
                      </a:r>
                    </a:p>
                  </a:txBody>
                  <a:tcPr>
                    <a:solidFill>
                      <a:srgbClr val="F0F7F4"/>
                    </a:solidFill>
                  </a:tcPr>
                </a:tc>
                <a:tc>
                  <a:txBody>
                    <a:bodyPr/>
                    <a:lstStyle/>
                    <a:p>
                      <a:pPr>
                        <a:defRPr sz="1200">
                          <a:solidFill>
                            <a:srgbClr val="121C1F"/>
                          </a:solidFill>
                          <a:latin typeface="Yu Gothic"/>
                        </a:defRPr>
                      </a:pPr>
                      <a:r>
                        <a:t>Vertex Ventures Southeast Asia and India・3one4 Capital(既存投資家)</a:t>
                      </a:r>
                    </a:p>
                  </a:txBody>
                  <a:tcPr>
                    <a:solidFill>
                      <a:srgbClr val="F0F7F4"/>
                    </a:solidFill>
                  </a:tcPr>
                </a:tc>
              </a:tr>
              <a:tr h="502920">
                <a:tc>
                  <a:txBody>
                    <a:bodyPr/>
                    <a:lstStyle/>
                    <a:p>
                      <a:pPr>
                        <a:defRPr sz="1200">
                          <a:solidFill>
                            <a:srgbClr val="121C1F"/>
                          </a:solidFill>
                          <a:latin typeface="Yu Gothic"/>
                        </a:defRPr>
                      </a:pPr>
                      <a:r>
                        <a:t>調達後評価額</a:t>
                      </a:r>
                    </a:p>
                  </a:txBody>
                  <a:tcPr>
                    <a:solidFill>
                      <a:srgbClr val="FFFFFF"/>
                    </a:solidFill>
                  </a:tcPr>
                </a:tc>
                <a:tc>
                  <a:txBody>
                    <a:bodyPr/>
                    <a:lstStyle/>
                    <a:p>
                      <a:pPr>
                        <a:defRPr sz="1200">
                          <a:solidFill>
                            <a:srgbClr val="121C1F"/>
                          </a:solidFill>
                          <a:latin typeface="Yu Gothic"/>
                        </a:defRPr>
                      </a:pPr>
                      <a:r>
                        <a:t>5,120万ドル</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StartupTalky・DealStreetAsia・Dealroom(2026-08-18)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StartupTalky・DealStreetAsia・TNGlobal・Inc42・YourStory(2026-08-18)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参加した投資家</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主導</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Norwest</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今回のシリーズAラウンドを主導した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既存</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Vertex Ventures SEA and India</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既存投資家として今回も参加した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既存</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3one4 Capital</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既存投資家として今回も参加した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StartupTalky・DealStreetAsia・TNGlobal・Inc42・YourStory(2026-08-18)</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調達後の評価額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5,120万ドル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今回のシリーズAを経て到達した評価額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Dealroom(2026-08-18)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Rezolvの事業内容</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実際にどんなサービスを提供しているかを確認します。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銀行・ノンバンクを対象に、債権回収プラットフォームと専用AIを組み合わせたサービスを提供している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独自ツール『Strategy Builder』により、回収戦略の最適化を支援している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融資ワークフローの営業・審査・引受・回収にまたがるAI活用を掲げている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YourStory・Inc42(2026-08-18)</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StartupTalky・DealStreetAsia・TNGlobal・Inc42・YourStory(2026-08-18)</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処理する会話規模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月間650万分</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借り手との会話を処理できる規模とされる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Inc42・Dealroom(2026-08-18)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扱うローン口座数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1,200万件超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処理できるローン口座の規模とされる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Inc42・Dealroom(2026-08-18)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契約金融機関数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22社超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銀行・ノンバンクと契約済みとされる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Inc42・YourStory(2026-08-18)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3つの規模指標まとめ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650万分/月</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処理する借り手との会話</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月間の会話処理規模</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1,200万件超</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扱うローン口座数</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プラットフォームが処理できる規模</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22社超</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契約金融機関数</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AU Small Finance Bank・ICICI Bank等</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StartupTalky・DealStreetAsia・TNGlobal・Inc42・YourStory(2026-08-18)</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回収・解決率の改善</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35%改善</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独自ツール「Strategy Builder」による回収・解決率の改善幅(Rezolv側発表による)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Inc42(2026-08-18)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契約金融機関の例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実際にどの金融機関と契約しているかを確認します。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AU Small Finance Bankと契約しているとされる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ICICI Bankと契約しているとされる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Poonawalla Fincorp・Bajaj Auto Creditと契約しているとされる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Inc42・YourStory(2026-08-18)</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StartupTalky・DealStreetAsia・TNGlobal・Inc42・YourStory(2026-08-18)</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創業から今回調達までの流れ(3ステップ)</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1. 2024年創業</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Kisshtの元創業者2名がムンバイで創業</a:t>
            </a:r>
          </a:p>
        </p:txBody>
      </p:sp>
      <p:sp>
        <p:nvSpPr>
          <p:cNvPr id="11" name="Chevron 10"/>
          <p:cNvSpPr/>
          <p:nvPr/>
        </p:nvSpPr>
        <p:spPr>
          <a:xfrm>
            <a:off x="4038295"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2. 22社超と契約</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AU Small Finance Bank等、複数の銀行・ノンバンクと契約</a:t>
            </a:r>
          </a:p>
        </p:txBody>
      </p:sp>
      <p:sp>
        <p:nvSpPr>
          <p:cNvPr id="17" name="Chevron 16"/>
          <p:cNvSpPr/>
          <p:nvPr/>
        </p:nvSpPr>
        <p:spPr>
          <a:xfrm>
            <a:off x="7919313"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3. シリーズAで1250万ドル調達</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2026年8月18日、Norwest主導で調達</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StartupTalky・DealStreetAsia・TNGlobal・Inc42・YourStory(2026-08-18)</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AIモデルの技術詳細は不明(正直な開示)</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この点は正直にお伝えします。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AIモデルの技術詳細(アーキテクチャ・学習データ)は、本調査の範囲では確認できていない</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『専用AI』『Strategy Builder』という機能名は報じられているが、技術的な仕組みの詳細は不明である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本成果物では、確認できた事業内容のみを紹介し、技術的な詳細を推測で補わない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StartupTalky・DealStreetAsia・TNGlobal・Inc42・YourStory(2026-08-18)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インド国外への展開計画は不明(正直な開示)</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この点も正直にお伝えします。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インド国外への展開計画は、本調査の範囲では確認できていない</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現時点で確認できているのはインド国内の金融機関との契約実績のみである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本成果物では、確認できた事業内容のみを紹介し、将来の展開を推測で補わない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StartupTalky・DealStreetAsia・TNGlobal・Inc42・YourStory(2026-08-18)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今回の調達額 / 調達後の評価額</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今回の調達額</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1250万ドル</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Norwest主導のシリーズAラウンド</a:t>
            </a:r>
          </a:p>
        </p:txBody>
      </p:sp>
      <p:sp>
        <p:nvSpPr>
          <p:cNvPr id="13" name="Oval 12"/>
          <p:cNvSpPr/>
          <p:nvPr/>
        </p:nvSpPr>
        <p:spPr>
          <a:xfrm>
            <a:off x="777240"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調達の実行額を示す数字</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調達後の評価額</a:t>
            </a:r>
          </a:p>
        </p:txBody>
      </p:sp>
      <p:sp>
        <p:nvSpPr>
          <p:cNvPr id="18" name="Oval 17"/>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5,120万ドル</a:t>
            </a:r>
          </a:p>
        </p:txBody>
      </p:sp>
      <p:sp>
        <p:nvSpPr>
          <p:cNvPr id="20" name="Oval 19"/>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今回のラウンドを経て到達した評価額</a:t>
            </a:r>
          </a:p>
        </p:txBody>
      </p:sp>
      <p:sp>
        <p:nvSpPr>
          <p:cNvPr id="22" name="Oval 21"/>
          <p:cNvSpPr/>
          <p:nvPr/>
        </p:nvSpPr>
        <p:spPr>
          <a:xfrm>
            <a:off x="6598767"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投資家との合意による推定企業価値</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StartupTalky・DealStreetAsia・TNGlobal・Inc42・YourStory(2026-08-18)</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成果指標の第三者検証状況は不明(正直な開示)</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この点も正直にお伝えします。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『回収・解決率35%改善』という数字は、Rezolv側の発表に基づく数字である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独立した第三者機関による検証結果であるかは、本調査の範囲では確認できていない</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本成果物では、確認できた発表内容のみを紹介し、第三者検証済みであるかのように書かない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StartupTalky・DealStreetAsia・TNGlobal・Inc42・YourStory(2026-08-18)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見出しの印象 / 実際に確認できている内容</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与信管理の課題はすべて解決したはず</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回収率改善は独立機関が検証済みのはず</a:t>
            </a:r>
          </a:p>
        </p:txBody>
      </p:sp>
      <p:sp>
        <p:nvSpPr>
          <p:cNvPr id="13" name="Oval 12"/>
          <p:cNvSpPr/>
          <p:nvPr/>
        </p:nvSpPr>
        <p:spPr>
          <a:xfrm>
            <a:off x="777240"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既にインド国外でも展開しているはず</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実際に確認できている内容</a:t>
            </a:r>
          </a:p>
        </p:txBody>
      </p:sp>
      <p:sp>
        <p:nvSpPr>
          <p:cNvPr id="18" name="Oval 17"/>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確認できているのは今回の調達額・評価額・契約実績のみ</a:t>
            </a:r>
          </a:p>
        </p:txBody>
      </p:sp>
      <p:sp>
        <p:nvSpPr>
          <p:cNvPr id="20" name="Oval 19"/>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回収率改善の第三者検証は本調査の範囲では未確認</a:t>
            </a:r>
          </a:p>
        </p:txBody>
      </p:sp>
      <p:sp>
        <p:nvSpPr>
          <p:cNvPr id="22" name="Oval 21"/>
          <p:cNvSpPr/>
          <p:nvPr/>
        </p:nvSpPr>
        <p:spPr>
          <a:xfrm>
            <a:off x="6598767"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インド国外への展開計画は未確認</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StartupTalky・DealStreetAsia・TNGlobal・Inc42・YourStory(2026-08-18)</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競合他社との比較は不明(正直な開示)</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この点も正直にお伝えします。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債権回収AIプラットフォームを持つ他社(競合企業)との性能比較は、本調査の範囲では確認できていない</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Rezolvが業界内でどの程度先行しているかについての客観的な評価は、本調査の範囲では確認できていない</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本成果物では、確認できたRezolv側の発表内容のみを紹介し、優劣を断定しない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StartupTalky・DealStreetAsia・TNGlobal・Inc42・YourStory(2026-08-18)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AI業界の動向を追う立場として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金融の与信管理という実務領域にAIが組み込まれる動きとして継続的に確認する視点が役立つ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金融・レンディング事業を検討する立場として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回収率改善という訴求点は事実として押さえつつ、自社への適用可否は独自に検証する必要がある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インド市場に関心がある立場として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インドのフィンテックAI領域における資金調達動向として参考になる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StartupTalky・DealStreetAsia・TNGlobal・Inc42・YourStory(2026-08-18)</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確認・検討する際のチェックポイント</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実際に情報を確認・活用する場合のポイントです。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調達額・評価額はあくまで資金調達時点の数字であり、製品の性能そのものを直接示すものではない</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回収・解決率35%改善という数字は、独立機関による検証の有無を確認したうえで判断することが望ましい</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本成果物は特定企業(Rezolv)・製品への乗り換えを推奨する内容ではない</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製品の詳細を確認する場合は、本成果物の紹介にとどまらず、自身で最新の公式情報を確認することが望ましい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StartupTalky・DealStreetAsia・TNGlobal・Inc42・YourStory(2026-08-18)</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確認できたこと / 確認できていないこと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状況</a:t>
                      </a:r>
                    </a:p>
                  </a:txBody>
                  <a:tcPr>
                    <a:solidFill>
                      <a:srgbClr val="1B2A2E"/>
                    </a:solidFill>
                  </a:tcPr>
                </a:tc>
              </a:tr>
              <a:tr h="502920">
                <a:tc>
                  <a:txBody>
                    <a:bodyPr/>
                    <a:lstStyle/>
                    <a:p>
                      <a:pPr>
                        <a:defRPr sz="1200">
                          <a:solidFill>
                            <a:srgbClr val="121C1F"/>
                          </a:solidFill>
                          <a:latin typeface="Yu Gothic"/>
                        </a:defRPr>
                      </a:pPr>
                      <a:r>
                        <a:t>今回の調達額・調達後評価額</a:t>
                      </a:r>
                    </a:p>
                  </a:txBody>
                  <a:tcPr>
                    <a:solidFill>
                      <a:srgbClr val="FFFFFF"/>
                    </a:solidFill>
                  </a:tcPr>
                </a:tc>
                <a:tc>
                  <a:txBody>
                    <a:bodyPr/>
                    <a:lstStyle/>
                    <a:p>
                      <a:pPr>
                        <a:defRPr sz="1200">
                          <a:solidFill>
                            <a:srgbClr val="121C1F"/>
                          </a:solidFill>
                          <a:latin typeface="Yu Gothic"/>
                        </a:defRPr>
                      </a:pPr>
                      <a:r>
                        <a:t>1250万ドル・5,120万ドルとして複数媒体で確認済み</a:t>
                      </a:r>
                    </a:p>
                  </a:txBody>
                  <a:tcPr>
                    <a:solidFill>
                      <a:srgbClr val="FFFFFF"/>
                    </a:solidFill>
                  </a:tcPr>
                </a:tc>
              </a:tr>
              <a:tr h="502920">
                <a:tc>
                  <a:txBody>
                    <a:bodyPr/>
                    <a:lstStyle/>
                    <a:p>
                      <a:pPr>
                        <a:defRPr sz="1200">
                          <a:solidFill>
                            <a:srgbClr val="121C1F"/>
                          </a:solidFill>
                          <a:latin typeface="Yu Gothic"/>
                        </a:defRPr>
                      </a:pPr>
                      <a:r>
                        <a:t>主導投資家・参加投資家</a:t>
                      </a:r>
                    </a:p>
                  </a:txBody>
                  <a:tcPr>
                    <a:solidFill>
                      <a:srgbClr val="F0F7F4"/>
                    </a:solidFill>
                  </a:tcPr>
                </a:tc>
                <a:tc>
                  <a:txBody>
                    <a:bodyPr/>
                    <a:lstStyle/>
                    <a:p>
                      <a:pPr>
                        <a:defRPr sz="1200">
                          <a:solidFill>
                            <a:srgbClr val="121C1F"/>
                          </a:solidFill>
                          <a:latin typeface="Yu Gothic"/>
                        </a:defRPr>
                      </a:pPr>
                      <a:r>
                        <a:t>Norwest主導、Vertex Ventures・3one4 Capitalが参加と確認済み</a:t>
                      </a:r>
                    </a:p>
                  </a:txBody>
                  <a:tcPr>
                    <a:solidFill>
                      <a:srgbClr val="F0F7F4"/>
                    </a:solidFill>
                  </a:tcPr>
                </a:tc>
              </a:tr>
              <a:tr h="502920">
                <a:tc>
                  <a:txBody>
                    <a:bodyPr/>
                    <a:lstStyle/>
                    <a:p>
                      <a:pPr>
                        <a:defRPr sz="1200">
                          <a:solidFill>
                            <a:srgbClr val="121C1F"/>
                          </a:solidFill>
                          <a:latin typeface="Yu Gothic"/>
                        </a:defRPr>
                      </a:pPr>
                      <a:r>
                        <a:t>事業規模(会話処理・ローン口座・契約金融機関数)</a:t>
                      </a:r>
                    </a:p>
                  </a:txBody>
                  <a:tcPr>
                    <a:solidFill>
                      <a:srgbClr val="FFFFFF"/>
                    </a:solidFill>
                  </a:tcPr>
                </a:tc>
                <a:tc>
                  <a:txBody>
                    <a:bodyPr/>
                    <a:lstStyle/>
                    <a:p>
                      <a:pPr>
                        <a:defRPr sz="1200">
                          <a:solidFill>
                            <a:srgbClr val="121C1F"/>
                          </a:solidFill>
                          <a:latin typeface="Yu Gothic"/>
                        </a:defRPr>
                      </a:pPr>
                      <a:r>
                        <a:t>複数媒体で確認済み</a:t>
                      </a:r>
                    </a:p>
                  </a:txBody>
                  <a:tcPr>
                    <a:solidFill>
                      <a:srgbClr val="FFFFFF"/>
                    </a:solidFill>
                  </a:tcPr>
                </a:tc>
              </a:tr>
              <a:tr h="502920">
                <a:tc>
                  <a:txBody>
                    <a:bodyPr/>
                    <a:lstStyle/>
                    <a:p>
                      <a:pPr>
                        <a:defRPr sz="1200">
                          <a:solidFill>
                            <a:srgbClr val="121C1F"/>
                          </a:solidFill>
                          <a:latin typeface="Yu Gothic"/>
                        </a:defRPr>
                      </a:pPr>
                      <a:r>
                        <a:t>AIモデルの技術詳細・インド国外への展開計画</a:t>
                      </a:r>
                    </a:p>
                  </a:txBody>
                  <a:tcPr>
                    <a:solidFill>
                      <a:srgbClr val="F0F7F4"/>
                    </a:solidFill>
                  </a:tcPr>
                </a:tc>
                <a:tc>
                  <a:txBody>
                    <a:bodyPr/>
                    <a:lstStyle/>
                    <a:p>
                      <a:pPr>
                        <a:defRPr sz="1200">
                          <a:solidFill>
                            <a:srgbClr val="121C1F"/>
                          </a:solidFill>
                          <a:latin typeface="Yu Gothic"/>
                        </a:defRPr>
                      </a:pPr>
                      <a:r>
                        <a:t>本調査の範囲では確認できていない</a:t>
                      </a:r>
                    </a:p>
                  </a:txBody>
                  <a:tcPr>
                    <a:solidFill>
                      <a:srgbClr val="F0F7F4"/>
                    </a:solidFill>
                  </a:tcPr>
                </a:tc>
              </a:tr>
              <a:tr h="502920">
                <a:tc>
                  <a:txBody>
                    <a:bodyPr/>
                    <a:lstStyle/>
                    <a:p>
                      <a:pPr>
                        <a:defRPr sz="1200">
                          <a:solidFill>
                            <a:srgbClr val="121C1F"/>
                          </a:solidFill>
                          <a:latin typeface="Yu Gothic"/>
                        </a:defRPr>
                      </a:pPr>
                      <a:r>
                        <a:t>回収率改善の第三者検証・競合他社との比較</a:t>
                      </a:r>
                    </a:p>
                  </a:txBody>
                  <a:tcPr>
                    <a:solidFill>
                      <a:srgbClr val="FFFFFF"/>
                    </a:solidFill>
                  </a:tcPr>
                </a:tc>
                <a:tc>
                  <a:txBody>
                    <a:bodyPr/>
                    <a:lstStyle/>
                    <a:p>
                      <a:pPr>
                        <a:defRPr sz="1200">
                          <a:solidFill>
                            <a:srgbClr val="121C1F"/>
                          </a:solidFill>
                          <a:latin typeface="Yu Gothic"/>
                        </a:defRPr>
                      </a:pPr>
                      <a:r>
                        <a:t>本調査の範囲では確認できていない</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StartupTalky・DealStreetAsia・TNGlobal・Inc42・YourStory(2026-08-18)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発表翌日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発表(2026年8月18日)は着手日(2026年8月19日)の前日。着手日を含めて2日以内という基準を満たす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docs/06_Content_R&amp;D.md基準</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主な出典一覧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StartupTalky・DealStreetAsia</a:t>
                      </a:r>
                    </a:p>
                  </a:txBody>
                  <a:tcPr>
                    <a:solidFill>
                      <a:srgbClr val="FFFFFF"/>
                    </a:solidFill>
                  </a:tcPr>
                </a:tc>
                <a:tc>
                  <a:txBody>
                    <a:bodyPr/>
                    <a:lstStyle/>
                    <a:p>
                      <a:pPr>
                        <a:defRPr sz="1200">
                          <a:solidFill>
                            <a:srgbClr val="121C1F"/>
                          </a:solidFill>
                          <a:latin typeface="Yu Gothic"/>
                        </a:defRPr>
                      </a:pPr>
                      <a:r>
                        <a:t>資金調達の一次報道(2026-08-18)</a:t>
                      </a:r>
                    </a:p>
                  </a:txBody>
                  <a:tcPr>
                    <a:solidFill>
                      <a:srgbClr val="FFFFFF"/>
                    </a:solidFill>
                  </a:tcPr>
                </a:tc>
              </a:tr>
              <a:tr h="502920">
                <a:tc>
                  <a:txBody>
                    <a:bodyPr/>
                    <a:lstStyle/>
                    <a:p>
                      <a:pPr>
                        <a:defRPr sz="1200">
                          <a:solidFill>
                            <a:srgbClr val="121C1F"/>
                          </a:solidFill>
                          <a:latin typeface="Yu Gothic"/>
                        </a:defRPr>
                      </a:pPr>
                      <a:r>
                        <a:t>TNGlobal・Dealroom</a:t>
                      </a:r>
                    </a:p>
                  </a:txBody>
                  <a:tcPr>
                    <a:solidFill>
                      <a:srgbClr val="F0F7F4"/>
                    </a:solidFill>
                  </a:tcPr>
                </a:tc>
                <a:tc>
                  <a:txBody>
                    <a:bodyPr/>
                    <a:lstStyle/>
                    <a:p>
                      <a:pPr>
                        <a:defRPr sz="1200">
                          <a:solidFill>
                            <a:srgbClr val="121C1F"/>
                          </a:solidFill>
                          <a:latin typeface="Yu Gothic"/>
                        </a:defRPr>
                      </a:pPr>
                      <a:r>
                        <a:t>調達額・評価額の報道(2026-08-18)</a:t>
                      </a:r>
                    </a:p>
                  </a:txBody>
                  <a:tcPr>
                    <a:solidFill>
                      <a:srgbClr val="F0F7F4"/>
                    </a:solidFill>
                  </a:tcPr>
                </a:tc>
              </a:tr>
              <a:tr h="502920">
                <a:tc>
                  <a:txBody>
                    <a:bodyPr/>
                    <a:lstStyle/>
                    <a:p>
                      <a:pPr>
                        <a:defRPr sz="1200">
                          <a:solidFill>
                            <a:srgbClr val="121C1F"/>
                          </a:solidFill>
                          <a:latin typeface="Yu Gothic"/>
                        </a:defRPr>
                      </a:pPr>
                      <a:r>
                        <a:t>Inc42・YourStory</a:t>
                      </a:r>
                    </a:p>
                  </a:txBody>
                  <a:tcPr>
                    <a:solidFill>
                      <a:srgbClr val="FFFFFF"/>
                    </a:solidFill>
                  </a:tcPr>
                </a:tc>
                <a:tc>
                  <a:txBody>
                    <a:bodyPr/>
                    <a:lstStyle/>
                    <a:p>
                      <a:pPr>
                        <a:defRPr sz="1200">
                          <a:solidFill>
                            <a:srgbClr val="121C1F"/>
                          </a:solidFill>
                          <a:latin typeface="Yu Gothic"/>
                        </a:defRPr>
                      </a:pPr>
                      <a:r>
                        <a:t>事業規模・成果指標の詳細報道(2026-08-18)</a:t>
                      </a:r>
                    </a:p>
                  </a:txBody>
                  <a:tcPr>
                    <a:solidFill>
                      <a:srgbClr val="FFFFFF"/>
                    </a:solidFill>
                  </a:tcPr>
                </a:tc>
              </a:tr>
              <a:tr h="502920">
                <a:tc>
                  <a:txBody>
                    <a:bodyPr/>
                    <a:lstStyle/>
                    <a:p>
                      <a:pPr>
                        <a:defRPr sz="1200">
                          <a:solidFill>
                            <a:srgbClr val="121C1F"/>
                          </a:solidFill>
                          <a:latin typeface="Yu Gothic"/>
                        </a:defRPr>
                      </a:pPr>
                      <a:r>
                        <a:t>ViEStories</a:t>
                      </a:r>
                    </a:p>
                  </a:txBody>
                  <a:tcPr>
                    <a:solidFill>
                      <a:srgbClr val="F0F7F4"/>
                    </a:solidFill>
                  </a:tcPr>
                </a:tc>
                <a:tc>
                  <a:txBody>
                    <a:bodyPr/>
                    <a:lstStyle/>
                    <a:p>
                      <a:pPr>
                        <a:defRPr sz="1200">
                          <a:solidFill>
                            <a:srgbClr val="121C1F"/>
                          </a:solidFill>
                          <a:latin typeface="Yu Gothic"/>
                        </a:defRPr>
                      </a:pPr>
                      <a:r>
                        <a:t>資金調達の報道(2026-08-18)</a:t>
                      </a:r>
                    </a:p>
                  </a:txBody>
                  <a:tcPr>
                    <a:solidFill>
                      <a:srgbClr val="F0F7F4"/>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StartupTalky・DealStreetAsia・TNGlobal・Inc42・YourStory(2026-08-18)</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回収率35%改善。事実だけを、出典付きで。</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FE8DE"/>
                </a:solidFill>
                <a:latin typeface="Yu Gothic"/>
              </a:rPr>
              <a:t>Rezolvがシリーズ Aで1250万ドルを調達し、独自ツール『Strategy Builder』による回収・解決率35%改善という成果が報じられました。数字と確認できなかったことまで出典付きで整理してお届けしました。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2A2E"/>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