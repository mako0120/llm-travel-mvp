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2026年8月18日、GoogleとイギリスのDepartment for Transport、運輸省が、飛行機雲、いわゆるコントレイルによる温暖化影響を抑えるための世界初の国家主導・広域海洋空域規模の試験『Operation Blue Skies』を開始したと発表しました。今日は出典付きで、この試験の中身を正確に整理してお届けします。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結論から確認します。GoogleとUK運輸省が、北大西洋のシャンウィック海洋管制区域を舞台に、コントレイルをAIで予測して回避する、世界初の国家主導・広域試験『Operation Blue Skies』を、2026年8月18日に開始しました。ここから1つずつ、出典付きで見ていきます。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まずこのテーマを扱う理由と、コントレイル・AI予測の基礎知識を初心者にもわかるように整理し、試験を支える体制、期間・予算・空域・便数といった規模、そして具体的な進め方まで確認します。最後に、これで何が変わるかと、確認できていないことまで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航空業界の気候影響の約3分の1をコントレイルが占めるとGoogleが試算しており、その対策として国家主導の広域実証試験が世界で初めて行われる、鮮度の高い発表であること。対象空域単独で世界のコントレイル由来温暖化影響の約5%を占めるとされること。そしてGoogle・英国政府・航空管制会社・大学・気象庁という5者が連携する体制であることが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初心者向けに整理します。Operation Blue Skiesは、GoogleとUK運輸省が2026年8月18日に開始を発表した、コントレイルによる温暖化影響を抑えるための試験です。世界初の国家主導・広域海洋空域規模の実証試験と位置づけられており、期間は30か月間、総額500万ポンドのプログラムで、うち265万ポンドは英運輸省が負担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1つの基礎知識、コントレイルについてです。飛行機のエンジン排気に含まれる水蒸気が、上空の低温・多湿な条件で凝結して氷の結晶となり、尾を引くように見える航跡雲のことです。一部は巻雲状に広がって持続し、地球からの熱放射を閉じ込めることで温暖化に寄与するとされ、Googleの試算ではその影響は航空業界全体の気候影響の約3分の1を占め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背景となる数字です。Googleの試算では、コントレイルによる温暖化影響が航空業界全体の気候影響の約3分の1を占めるとされています。この規模の大きさが、今回の大規模試験の背景にあります。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の基本的な流れを図で整理します。まずGoogleのAI予測モデルがコントレイルの発生しやすい空域を予測し、それを受けてNATSの管制官が判断し、飛行機を最大2000フィート迂回させます。この一連の流れが試験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を支える5者の役割分担を表で正確に整理します。Googleが英国拠点でAI予測モデルの構築・検証を担い、NATSが空域運用・管制官訓練、Contrails.orgが試験設計、インペリアル・カレッジ・ロンドンとケンブリッジ大学が第三者検証、英気象庁が気象予測データの提供を担当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試験の規模、1つ目の数字です。Operation Blue Skiesは30か月間にわたって実施されます。2回の冬をまたぐ、長期にわたる実証試験です。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の予算を表で正確に整理します。総額は500万ポンドで、うち265万ポンドは英運輸省が負担します。残りの負担元の具体的な内訳は、確認できた情報の範囲では明示されていないため、本資料で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試験の規模、2つ目の数字です。対象となるシャンウィック海洋管制区域単独で、全世界のコントレイル由来温暖化影響の約5%を占めるとされています。影響の大きな空域が選ばれていることがわかります。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空域についてもう少し詳しく確認します。シャンウィック海洋管制区域は、北大西洋航路の東側半分を占める海洋管制区域で、北米とヨーロッパを結ぶ主要な航空路の一部です。この空域単独で、全世界のコントレイル由来の温暖化影響の約5%を占め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の具体的な進め方です。今年の冬と来年の冬、それぞれ航空交通量の少ない20から40日間に実施されます。AIがコントレイル発生を予測し、管制官が飛行機を最大2000フィート迂回させ、インペリアル・カレッジ・ロンドンとケンブリッジ大学による第三者検証を経て効果を確認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試験の規模、3つ目の数字です。管制官がコントレイルの発生しやすい空域を飛行機に最大2000フィート、約610メートル迂回させます。この高度差が、コントレイル発生を避けるための具体的な操作です。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試験の規模、4つ目の数字です。試験期間中、シャンウィック空域を通過する便数は約1万便と見込まれています。これだけ多くの便が対象になる、大規模な実証試験です。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試験スケジュールを表で正確に整理します。今年の冬と来年の冬、それぞれ航空交通量が少ない20から40日間に迂回による回避を実施し、試験全体としては30か月間にわたって実施されます。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ここまでの主要な数字をまとめます。試験期間30か月、総予算500万ポンド、世界のコントレイル影響に占める対象空域の割合約5%、対象便数約1万便。この4つの数字が、試験の規模を表す中心的なデータです。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通常の運用とOperation Blue Skies下の運用を比較します。試験下では、AIがコントレイル発生を予測し、管制官が最大2000フィートの高度変更を行う場合があります。これが世界初の国家主導・広域規模での実証試験となる点が、通常運用との大き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航空会社の立場から整理します。試験期間中にシャンウィック空域を通過する便は、AI予測に基づく迂回指示を受ける可能性があります。迂回による燃料消費・運航コストへの具体的な影響数値は確認できておらず、将来的な他空域への拡大の可否・基準も現時点で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乗客・一般の視点から整理します。対象便に乗る乗客にとって、飛行ルートや所要時間がわずかに変わる可能性があります。試験はコントレイルという航空業界の気候影響の一部に焦点を当てたものであり、業界全体の気候影響すべてを解決するものではありませんが、今後の方向性を左右しうる注目の取り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期待される点と留意すべき点を整理します。コントレイルによる温暖化影響を抑える可能性や、世界初のAI実運用データが得られる点は期待されますが、試験の成功指標・評価方法や本格導入判断の基準は、確認できた情報の範囲では明示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誤解しやすい点を整理します。試験はコントレイル由来の温暖化影響を抑えることを目指す実証試験であり、航空業界の気候影響全体をゼロにするものではありません。対象も特定の空域に限られ、迂回操作の効果自体、今回の第三者検証の結果を待つ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試験の具体的な成功指標・評価方法、試験終了後の本格導入判断の基準は、いずれも本調査の範囲では確認できていません。予算の残りの負担元・内訳、迂回による燃料消費増加の具体的な数値も同様です。推測で埋め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立的な視点から見ておきたい論点です。迂回操作には燃料消費・運航コスト増加の可能性があり、温暖化影響の削減効果とのバランスが今後の焦点になります。シャンウィック空域での結果が他空域にそのまま当てはまるかも検証が必要で、他の航空管制機関・航空会社の評価は確認できた情報の範囲では明らかにな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確認したいことです。今年の冬の試験結果がどのタイミングで公表されるか、第三者検証の結果内容、そして30か月の試験終了後に他空域への拡大や恒常運用への判断がどう示されるかを、引き続き出典付きで確認していきたい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事実と推測を明確に分けて整理します。試験の開始発表日、30か月・500万ポンドという規模、対象空域の世界影響割合、迂回幅、5者の役割分担は確認された事実です。一方でシャンウィック空域が選ばれた理由の詳細や迂回幅の設計根拠は推測にとどまります。本テーマはGoogle・英国政府の取り組みを強く推奨する内容ではなく、事実の整理を目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通しです。今回の発表はあくまで30か月間の実証試験の開始であり、本格導入の判断基準は確認できた情報の範囲では明示されていません。今後の試験結果と、大学等による第三者検証の内容を注視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本テーマで扱った事実の出典一覧です。Google公式ブログとケンブリッジ大学公式発表を一次情報源とし、Skift・Quartz・The Next Web・ClickOrlando経由のAP通信という独立した複数のメディアでも内容が一致することを確認しています。詳細はresearch.mdにも記録しています。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今日はGoogleと英国政府のOperation Blue Skiesについて、出典付きで整理しました。世界初の国家主導・広域試験としてコントレイルによる温暖化影響を抑える取り組みが始まった一方、成功指標や本格導入の基準はまだ示されていません。今後公表される試験結果に、ぜひ注目してみ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まさかの世界初。</a:t>
            </a:r>
          </a:p>
          <a:p>
            <a:pPr algn="l">
              <a:lnSpc>
                <a:spcPct val="115000"/>
              </a:lnSpc>
            </a:pPr>
            <a:r>
              <a:rPr sz="4200" b="1">
                <a:solidFill>
                  <a:srgbClr val="FFFFFF"/>
                </a:solidFill>
                <a:latin typeface="Yu Gothic"/>
              </a:rPr>
              <a:t>Googleと英国政府、'飛行機雲'をAIで予測して避ける大規模試験に着手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北大西洋の主要空域で、コントレイルによる温暖化影響を抑える国家主導の試験「Operation Blue Skies」が2026年8月18日に始動――出典付きで正確に整理する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Google公式ブログ(blog.google)、ケンブリッジ大学公式発表、Skift/Quartz/The Next Web/ClickOrlando(AP通信配信)(2026-08-18時点)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世界初の国家主導・広域試験「Operation Blue Skies」始動</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GoogleとUK運輸省が、北大西洋シャンウィック海洋管制区域でコントレイルをAIで予測・回避する30か月間の試験を2026年8月18日に開始した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Google公式ブログ(blog.google)、ケンブリッジ大学公式発表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飛行機雲(コントレイル)とAI予測とは(初心者向け)</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試験を支える5者の体制を確認する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試験の規模を数字で確認する(期間・予算・空域・便数)</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試験の具体的な進め方を確認する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これで何が変わるか、そして確認できていないこと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航空業界の気候影響のうち約3分の1をコントレイルが占めるとGoogleが試算しており、その対策として国家主導の広域実証試験が世界で初めて行われる、鮮度の高い発表である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対象空域単独で全世界のコントレイル由来温暖化影響の約5%を占めるとされ、影響の大きい空域を対象にした実証としての意味が大きい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Google・英国政府・航空管制会社・大学・気象庁という異なる立場の5者が連携する体制であり、AIの実運用検証として注目度が高い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Operation Blue Skiesとは(初心者向け)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本題に入る前に、今回の試験そのものを簡単に説明します。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GoogleとUK運輸省が2026年8月18日に開始を発表した、コントレイルによる温暖化影響を抑えるための試験である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世界初の「国家主導・広域海洋空域規模」のコントレイル予測・回避の実証試験と位置づけられている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期間は30か月間、総額500万ポンド(うち265万ポンドは英運輸省負担)のプログラムである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飛行機雲(コントレイル)とは(用語解説)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もう1つの基礎知識として、コントレイルという言葉を確認します。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飛行機のエンジン排気に含まれる水蒸気が、上空の低温・多湿な条件で凝結して氷の結晶となり、尾を引くように見える航跡雲のこと</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一部のコントレイルは巻雲状に広がって持続し、地球からの熱放射を閉じ込めることで温暖化に寄与するとされる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Googleの試算では、このコントレイルによる温暖化影響は航空業界全体の気候影響の約3分の1を占めるとされる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背景となる数字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航空業界の気候影響の約3分の1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Googleの試算では、コントレイルによる温暖化影響が航空業界全体の気候影響の約3分の1を占めるとされる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Google公式ブログ(blog.google)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試験の基本的な流れ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AI予測(Google)</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コントレイルが発生しやすい空域を予測</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管制官の判断(NATS)</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予測に基づき飛行ルートを判断</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最大2000フィート迂回</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コントレイルの発生を避ける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GoogleのAI予測モデルが起点となり、NATSの管制官が飛行機を最大2000フィート迂回させる流れである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試験を支える5者の役割分担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担当</a:t>
                      </a:r>
                    </a:p>
                  </a:txBody>
                  <a:tcPr>
                    <a:solidFill>
                      <a:srgbClr val="24523F"/>
                    </a:solidFill>
                  </a:tcPr>
                </a:tc>
                <a:tc>
                  <a:txBody>
                    <a:bodyPr/>
                    <a:lstStyle/>
                    <a:p>
                      <a:pPr>
                        <a:defRPr sz="1300" b="1">
                          <a:solidFill>
                            <a:srgbClr val="FFFFFF"/>
                          </a:solidFill>
                          <a:latin typeface="Yu Gothic"/>
                        </a:defRPr>
                      </a:pPr>
                      <a:r>
                        <a:t>役割</a:t>
                      </a:r>
                    </a:p>
                  </a:txBody>
                  <a:tcPr>
                    <a:solidFill>
                      <a:srgbClr val="24523F"/>
                    </a:solidFill>
                  </a:tcPr>
                </a:tc>
              </a:tr>
              <a:tr h="502920">
                <a:tc>
                  <a:txBody>
                    <a:bodyPr/>
                    <a:lstStyle/>
                    <a:p>
                      <a:pPr>
                        <a:defRPr sz="1200">
                          <a:solidFill>
                            <a:srgbClr val="20261F"/>
                          </a:solidFill>
                          <a:latin typeface="Yu Gothic"/>
                        </a:defRPr>
                      </a:pPr>
                      <a:r>
                        <a:t>Google(英国拠点)</a:t>
                      </a:r>
                    </a:p>
                  </a:txBody>
                  <a:tcPr>
                    <a:solidFill>
                      <a:srgbClr val="FFFFFF"/>
                    </a:solidFill>
                  </a:tcPr>
                </a:tc>
                <a:tc>
                  <a:txBody>
                    <a:bodyPr/>
                    <a:lstStyle/>
                    <a:p>
                      <a:pPr>
                        <a:defRPr sz="1200">
                          <a:solidFill>
                            <a:srgbClr val="20261F"/>
                          </a:solidFill>
                          <a:latin typeface="Yu Gothic"/>
                        </a:defRPr>
                      </a:pPr>
                      <a:r>
                        <a:t>AI予測モデルの構築・検証</a:t>
                      </a:r>
                    </a:p>
                  </a:txBody>
                  <a:tcPr>
                    <a:solidFill>
                      <a:srgbClr val="FFFFFF"/>
                    </a:solidFill>
                  </a:tcPr>
                </a:tc>
              </a:tr>
              <a:tr h="502920">
                <a:tc>
                  <a:txBody>
                    <a:bodyPr/>
                    <a:lstStyle/>
                    <a:p>
                      <a:pPr>
                        <a:defRPr sz="1200">
                          <a:solidFill>
                            <a:srgbClr val="20261F"/>
                          </a:solidFill>
                          <a:latin typeface="Yu Gothic"/>
                        </a:defRPr>
                      </a:pPr>
                      <a:r>
                        <a:t>NATS(英航空管制会社)</a:t>
                      </a:r>
                    </a:p>
                  </a:txBody>
                  <a:tcPr>
                    <a:solidFill>
                      <a:srgbClr val="F4F1E6"/>
                    </a:solidFill>
                  </a:tcPr>
                </a:tc>
                <a:tc>
                  <a:txBody>
                    <a:bodyPr/>
                    <a:lstStyle/>
                    <a:p>
                      <a:pPr>
                        <a:defRPr sz="1200">
                          <a:solidFill>
                            <a:srgbClr val="20261F"/>
                          </a:solidFill>
                          <a:latin typeface="Yu Gothic"/>
                        </a:defRPr>
                      </a:pPr>
                      <a:r>
                        <a:t>空域運用・管制官訓練</a:t>
                      </a:r>
                    </a:p>
                  </a:txBody>
                  <a:tcPr>
                    <a:solidFill>
                      <a:srgbClr val="F4F1E6"/>
                    </a:solidFill>
                  </a:tcPr>
                </a:tc>
              </a:tr>
              <a:tr h="502920">
                <a:tc>
                  <a:txBody>
                    <a:bodyPr/>
                    <a:lstStyle/>
                    <a:p>
                      <a:pPr>
                        <a:defRPr sz="1200">
                          <a:solidFill>
                            <a:srgbClr val="20261F"/>
                          </a:solidFill>
                          <a:latin typeface="Yu Gothic"/>
                        </a:defRPr>
                      </a:pPr>
                      <a:r>
                        <a:t>Contrails.org</a:t>
                      </a:r>
                    </a:p>
                  </a:txBody>
                  <a:tcPr>
                    <a:solidFill>
                      <a:srgbClr val="FFFFFF"/>
                    </a:solidFill>
                  </a:tcPr>
                </a:tc>
                <a:tc>
                  <a:txBody>
                    <a:bodyPr/>
                    <a:lstStyle/>
                    <a:p>
                      <a:pPr>
                        <a:defRPr sz="1200">
                          <a:solidFill>
                            <a:srgbClr val="20261F"/>
                          </a:solidFill>
                          <a:latin typeface="Yu Gothic"/>
                        </a:defRPr>
                      </a:pPr>
                      <a:r>
                        <a:t>試験設計</a:t>
                      </a:r>
                    </a:p>
                  </a:txBody>
                  <a:tcPr>
                    <a:solidFill>
                      <a:srgbClr val="FFFFFF"/>
                    </a:solidFill>
                  </a:tcPr>
                </a:tc>
              </a:tr>
              <a:tr h="502920">
                <a:tc>
                  <a:txBody>
                    <a:bodyPr/>
                    <a:lstStyle/>
                    <a:p>
                      <a:pPr>
                        <a:defRPr sz="1200">
                          <a:solidFill>
                            <a:srgbClr val="20261F"/>
                          </a:solidFill>
                          <a:latin typeface="Yu Gothic"/>
                        </a:defRPr>
                      </a:pPr>
                      <a:r>
                        <a:t>インペリアル・カレッジ・ロンドン、ケンブリッジ大学</a:t>
                      </a:r>
                    </a:p>
                  </a:txBody>
                  <a:tcPr>
                    <a:solidFill>
                      <a:srgbClr val="F4F1E6"/>
                    </a:solidFill>
                  </a:tcPr>
                </a:tc>
                <a:tc>
                  <a:txBody>
                    <a:bodyPr/>
                    <a:lstStyle/>
                    <a:p>
                      <a:pPr>
                        <a:defRPr sz="1200">
                          <a:solidFill>
                            <a:srgbClr val="20261F"/>
                          </a:solidFill>
                          <a:latin typeface="Yu Gothic"/>
                        </a:defRPr>
                      </a:pPr>
                      <a:r>
                        <a:t>第三者検証</a:t>
                      </a:r>
                    </a:p>
                  </a:txBody>
                  <a:tcPr>
                    <a:solidFill>
                      <a:srgbClr val="F4F1E6"/>
                    </a:solidFill>
                  </a:tcPr>
                </a:tc>
              </a:tr>
              <a:tr h="502920">
                <a:tc>
                  <a:txBody>
                    <a:bodyPr/>
                    <a:lstStyle/>
                    <a:p>
                      <a:pPr>
                        <a:defRPr sz="1200">
                          <a:solidFill>
                            <a:srgbClr val="20261F"/>
                          </a:solidFill>
                          <a:latin typeface="Yu Gothic"/>
                        </a:defRPr>
                      </a:pPr>
                      <a:r>
                        <a:t>英気象庁(Met Office)</a:t>
                      </a:r>
                    </a:p>
                  </a:txBody>
                  <a:tcPr>
                    <a:solidFill>
                      <a:srgbClr val="FFFFFF"/>
                    </a:solidFill>
                  </a:tcPr>
                </a:tc>
                <a:tc>
                  <a:txBody>
                    <a:bodyPr/>
                    <a:lstStyle/>
                    <a:p>
                      <a:pPr>
                        <a:defRPr sz="1200">
                          <a:solidFill>
                            <a:srgbClr val="20261F"/>
                          </a:solidFill>
                          <a:latin typeface="Yu Gothic"/>
                        </a:defRPr>
                      </a:pPr>
                      <a:r>
                        <a:t>気象予測データの提供</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試験の規模 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試験期間は30か月間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Operation Blue Skiesは30か月間にわたり実施される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Google公式ブログ(blog.google)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試験の予算を正確に整理する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金額</a:t>
                      </a:r>
                    </a:p>
                  </a:txBody>
                  <a:tcPr>
                    <a:solidFill>
                      <a:srgbClr val="24523F"/>
                    </a:solidFill>
                  </a:tcPr>
                </a:tc>
              </a:tr>
              <a:tr h="502920">
                <a:tc>
                  <a:txBody>
                    <a:bodyPr/>
                    <a:lstStyle/>
                    <a:p>
                      <a:pPr>
                        <a:defRPr sz="1200">
                          <a:solidFill>
                            <a:srgbClr val="20261F"/>
                          </a:solidFill>
                          <a:latin typeface="Yu Gothic"/>
                        </a:defRPr>
                      </a:pPr>
                      <a:r>
                        <a:t>試験の総額</a:t>
                      </a:r>
                    </a:p>
                  </a:txBody>
                  <a:tcPr>
                    <a:solidFill>
                      <a:srgbClr val="FFFFFF"/>
                    </a:solidFill>
                  </a:tcPr>
                </a:tc>
                <a:tc>
                  <a:txBody>
                    <a:bodyPr/>
                    <a:lstStyle/>
                    <a:p>
                      <a:pPr>
                        <a:defRPr sz="1200">
                          <a:solidFill>
                            <a:srgbClr val="20261F"/>
                          </a:solidFill>
                          <a:latin typeface="Yu Gothic"/>
                        </a:defRPr>
                      </a:pPr>
                      <a:r>
                        <a:t>500万ポンド</a:t>
                      </a:r>
                    </a:p>
                  </a:txBody>
                  <a:tcPr>
                    <a:solidFill>
                      <a:srgbClr val="FFFFFF"/>
                    </a:solidFill>
                  </a:tcPr>
                </a:tc>
              </a:tr>
              <a:tr h="502920">
                <a:tc>
                  <a:txBody>
                    <a:bodyPr/>
                    <a:lstStyle/>
                    <a:p>
                      <a:pPr>
                        <a:defRPr sz="1200">
                          <a:solidFill>
                            <a:srgbClr val="20261F"/>
                          </a:solidFill>
                          <a:latin typeface="Yu Gothic"/>
                        </a:defRPr>
                      </a:pPr>
                      <a:r>
                        <a:t>うち英運輸省の負担分</a:t>
                      </a:r>
                    </a:p>
                  </a:txBody>
                  <a:tcPr>
                    <a:solidFill>
                      <a:srgbClr val="F4F1E6"/>
                    </a:solidFill>
                  </a:tcPr>
                </a:tc>
                <a:tc>
                  <a:txBody>
                    <a:bodyPr/>
                    <a:lstStyle/>
                    <a:p>
                      <a:pPr>
                        <a:defRPr sz="1200">
                          <a:solidFill>
                            <a:srgbClr val="20261F"/>
                          </a:solidFill>
                          <a:latin typeface="Yu Gothic"/>
                        </a:defRPr>
                      </a:pPr>
                      <a:r>
                        <a:t>265万ポンド</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試験の規模 2</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対象空域が世界のコントレイル影響の約5%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対象のシャンウィック海洋管制区域単独で、全世界のコントレイル由来温暖化影響の約5%を占めるとされる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Google公式ブログ(blog.google)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シャンウィック海洋管制区域とは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対象空域について、もう少し詳しく確認します。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北大西洋航路の東側半分を占める海洋管制区域である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北米とヨーロッパを結ぶ主要な航空路の一部であり、航空交通量の多い空域として知られている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この空域単独で、全世界のコントレイル由来の温暖化影響の約5%を占めるとされる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試験の具体的な進め方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今年の冬・来年の冬、それぞれ交通量の少ない20〜40日間に実施する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AIがコントレイル発生予測、管制官が飛行機を最大2000フィート迂回させる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大学等による第三者検証を経て、効果を確認する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試験の規模 3</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迂回距離は最大2000フィート(約610メートル)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管制官がコントレイルの発生しやすい空域を飛行機に最大2000フィート迂回させる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Google公式ブログ(blog.google)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試験の規模 4</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対象便数は約1万便</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試験期間中、シャンウィック空域を通過する便数は約1万便と見込まれる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Google公式ブログ(blog.google)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試験スケジュールを正確に整理する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今年の冬</a:t>
                      </a:r>
                    </a:p>
                  </a:txBody>
                  <a:tcPr>
                    <a:solidFill>
                      <a:srgbClr val="FFFFFF"/>
                    </a:solidFill>
                  </a:tcPr>
                </a:tc>
                <a:tc>
                  <a:txBody>
                    <a:bodyPr/>
                    <a:lstStyle/>
                    <a:p>
                      <a:pPr>
                        <a:defRPr sz="1200">
                          <a:solidFill>
                            <a:srgbClr val="20261F"/>
                          </a:solidFill>
                          <a:latin typeface="Yu Gothic"/>
                        </a:defRPr>
                      </a:pPr>
                      <a:r>
                        <a:t>航空交通量が少ない20〜40日間、迂回による回避を実施</a:t>
                      </a:r>
                    </a:p>
                  </a:txBody>
                  <a:tcPr>
                    <a:solidFill>
                      <a:srgbClr val="FFFFFF"/>
                    </a:solidFill>
                  </a:tcPr>
                </a:tc>
              </a:tr>
              <a:tr h="502920">
                <a:tc>
                  <a:txBody>
                    <a:bodyPr/>
                    <a:lstStyle/>
                    <a:p>
                      <a:pPr>
                        <a:defRPr sz="1200">
                          <a:solidFill>
                            <a:srgbClr val="20261F"/>
                          </a:solidFill>
                          <a:latin typeface="Yu Gothic"/>
                        </a:defRPr>
                      </a:pPr>
                      <a:r>
                        <a:t>来年の冬</a:t>
                      </a:r>
                    </a:p>
                  </a:txBody>
                  <a:tcPr>
                    <a:solidFill>
                      <a:srgbClr val="F4F1E6"/>
                    </a:solidFill>
                  </a:tcPr>
                </a:tc>
                <a:tc>
                  <a:txBody>
                    <a:bodyPr/>
                    <a:lstStyle/>
                    <a:p>
                      <a:pPr>
                        <a:defRPr sz="1200">
                          <a:solidFill>
                            <a:srgbClr val="20261F"/>
                          </a:solidFill>
                          <a:latin typeface="Yu Gothic"/>
                        </a:defRPr>
                      </a:pPr>
                      <a:r>
                        <a:t>同様に航空交通量が少ない20〜40日間、迂回による回避を実施</a:t>
                      </a:r>
                    </a:p>
                  </a:txBody>
                  <a:tcPr>
                    <a:solidFill>
                      <a:srgbClr val="F4F1E6"/>
                    </a:solidFill>
                  </a:tcPr>
                </a:tc>
              </a:tr>
              <a:tr h="502920">
                <a:tc>
                  <a:txBody>
                    <a:bodyPr/>
                    <a:lstStyle/>
                    <a:p>
                      <a:pPr>
                        <a:defRPr sz="1200">
                          <a:solidFill>
                            <a:srgbClr val="20261F"/>
                          </a:solidFill>
                          <a:latin typeface="Yu Gothic"/>
                        </a:defRPr>
                      </a:pPr>
                      <a:r>
                        <a:t>試験全体</a:t>
                      </a:r>
                    </a:p>
                  </a:txBody>
                  <a:tcPr>
                    <a:solidFill>
                      <a:srgbClr val="FFFFFF"/>
                    </a:solidFill>
                  </a:tcPr>
                </a:tc>
                <a:tc>
                  <a:txBody>
                    <a:bodyPr/>
                    <a:lstStyle/>
                    <a:p>
                      <a:pPr>
                        <a:defRPr sz="1200">
                          <a:solidFill>
                            <a:srgbClr val="20261F"/>
                          </a:solidFill>
                          <a:latin typeface="Yu Gothic"/>
                        </a:defRPr>
                      </a:pPr>
                      <a:r>
                        <a:t>30か月間にわたり実施され、大学等が第三者検証を行う</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試験の主要な数字まとめ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30</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試験期間(か月)</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今年と来年、2回の冬をまたいで実施される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500</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総予算(万ポンド)</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うち265万ポンドは英運輸省が負担する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5</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世界影響に占める割合(%)</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対象空域単独で世界のコントレイル影響の約5%を占める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C1622D"/>
                </a:solidFill>
                <a:latin typeface="Yu Gothic"/>
              </a:rPr>
              <a:t>1万</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4523F"/>
                </a:solidFill>
                <a:latin typeface="Yu Gothic"/>
              </a:rPr>
              <a:t>対象便数(便)</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試験期間中にシャンウィック空域を通過する見込み便数</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通常の運用とOperation Blue Skies下の運用を比較する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通常の運用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コントレイル発生の予測に基づく回避操作は行われない</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飛行ルートは通常の運航効率を優先して決定される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国家主導・広域規模でのコントレイル対策の実証は行われていない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Operation Blue Skies下の運用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AIがコントレイル発生を予測し、管制官が回避操作を行う</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予測に基づき、最大2000フィートの高度変更が行われる場合がある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世界初の国家主導・広域海洋空域規模での実証試験が行われる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これで何が変わるか:航空会社にとって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航空会社の立場から整理します。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試験期間中にシャンウィック空域を通過する便は、AI予測に基づく迂回指示を受ける可能性がある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迂回による燃料消費・運航コストへの具体的な影響数値は、確認できた情報の範囲では示されていない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試験の結果次第で、将来的に他の空域や恒常的な運用への拡大が検討される可能性がある(現時点で拡大の可否・基準は未確認)</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これで何が変わるか:乗客・一般にとって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乗客・一般の視点から整理します。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対象便に乗る乗客にとって、飛行ルート・所要時間がわずかに変わる可能性がある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試験そのものは航空業界全体の気候影響の一部(コントレイル)に焦点を当てたものであり、航空業界の気候影響すべてを解決するものではない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試験結果が今後の航空業界の気候対策の方向性を左右する可能性があるため、注目に値する取り組みである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期待される点と、留意すべき点を整理する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期待される点</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コントレイルによる温暖化影響(航空業界の気候影響の約3分の1)を抑える可能性がある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AI予測の実運用データが世界で初めて広域規模で得られる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大学等による第三者検証が組み込まれており、客観的な効果測定が図られている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留意すべき点</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試験の具体的な成功指標・評価方法は確認できた情報の範囲では明示されていない</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迂回による燃料消費増加など、トレードオフの具体的な数値は確認できていない</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試験終了後の本格導入判断の基準も、確認できた情報の範囲では明示されていない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誤解しないための整理:迂回=温暖化影響ゼロではない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ここまでの内容を正確に伝えるため、誤解しやすい点を整理します。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試験はコントレイル由来の温暖化影響を「抑える」ことを目指す実証試験であり、航空業界の気候影響全体をゼロにするものではない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対象はシャンウィック海洋管制区域という特定の空域であり、世界中のすべての空域で同時に実施されるものではない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迂回操作自体が温暖化影響を必ず低減させると断定できるかどうかは、今回の試験による第三者検証の結果を待つ必要がある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確認できていないこと(正直に)</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本調査の範囲で確認できなかった点を明記します。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試験の具体的な成功指標・評価方法</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試験終了後の本格導入判断の基準</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予算500万ポンドのうち英運輸省負担分を除いた残りの具体的な負担元・内訳、迂回による燃料消費増加の具体的な数値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中立的な視点から見ておきたい論点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本テーマを中立的に評価する上で押さえておきたい論点です。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迂回操作には燃料消費や運航コストの増加を伴う可能性があり、温暖化影響の削減効果とのバランスをどう評価するかが今後の焦点になる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シャンウィック空域という一部区域での試験結果が、他の空域にそのまま当てはまるかどうかは、今後の検証が必要である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Google・英国政府という特定の企業・政府主体の取り組みであり、他の航空管制機関・航空会社が同様の対策をどう評価しているかは、確認できた情報の範囲では明らかになっていない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今後、注目・確認したいこと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今年の冬の試験結果(20〜40日間)が、どのタイミングで公表されるか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第三者検証(インペリアル・カレッジ・ロンドン、ケンブリッジ大学)の結果内容</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30か月の試験終了後、他空域への拡大や恒常運用への判断がどう示されるか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最後に、事実と推測を明確に分けて整理します。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確定している事実: 試験の開始発表日、30か月・500万ポンドという規模、シャンウィック空域が世界影響の約5%を占めること、最大2000フィートの迂回、5者の役割分担はGoogle公式・ケンブリッジ大学公式・複数の独立報道機関で確認さ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推測の域を出ないこと: シャンウィック空域が選ばれた実務上の理由の詳細、最大2000フィートという迂回幅の設計根拠、残りの予算負担元の内訳</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本テーマは特定企業・特定国家機関(Google・英国政府)の取り組みを強く推奨する内容ではなく、事実の整理を目的としている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Google公式ブログ(blog.google)、ケンブリッジ大学公式発表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今後の見通し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本格導入は今後30か月の試験結果次第</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試験終了後の本格導入判断の基準は確認できた情報の範囲では明示されておらず、今後の試験結果と第三者検証を注視する必要がある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Google公式ブログ(blog.google)、ケンブリッジ大学公式発表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確認済み事実</a:t>
                      </a:r>
                    </a:p>
                  </a:txBody>
                  <a:tcPr>
                    <a:solidFill>
                      <a:srgbClr val="24523F"/>
                    </a:solidFill>
                  </a:tcPr>
                </a:tc>
                <a:tc>
                  <a:txBody>
                    <a:bodyPr/>
                    <a:lstStyle/>
                    <a:p>
                      <a:pPr>
                        <a:defRPr sz="1300" b="1">
                          <a:solidFill>
                            <a:srgbClr val="FFFFFF"/>
                          </a:solidFill>
                          <a:latin typeface="Yu Gothic"/>
                        </a:defRPr>
                      </a:pPr>
                      <a:r>
                        <a:t>出典</a:t>
                      </a:r>
                    </a:p>
                  </a:txBody>
                  <a:tcPr>
                    <a:solidFill>
                      <a:srgbClr val="24523F"/>
                    </a:solidFill>
                  </a:tcPr>
                </a:tc>
              </a:tr>
              <a:tr h="502920">
                <a:tc>
                  <a:txBody>
                    <a:bodyPr/>
                    <a:lstStyle/>
                    <a:p>
                      <a:pPr>
                        <a:defRPr sz="1200">
                          <a:solidFill>
                            <a:srgbClr val="20261F"/>
                          </a:solidFill>
                          <a:latin typeface="Yu Gothic"/>
                        </a:defRPr>
                      </a:pPr>
                      <a:r>
                        <a:t>Operation Blue Skiesの開始発表(2026年8月18日)</a:t>
                      </a:r>
                    </a:p>
                  </a:txBody>
                  <a:tcPr>
                    <a:solidFill>
                      <a:srgbClr val="FFFFFF"/>
                    </a:solidFill>
                  </a:tcPr>
                </a:tc>
                <a:tc>
                  <a:txBody>
                    <a:bodyPr/>
                    <a:lstStyle/>
                    <a:p>
                      <a:pPr>
                        <a:defRPr sz="1200">
                          <a:solidFill>
                            <a:srgbClr val="20261F"/>
                          </a:solidFill>
                          <a:latin typeface="Yu Gothic"/>
                        </a:defRPr>
                      </a:pPr>
                      <a:r>
                        <a:t>Google公式ブログ(blog.google)、ケンブリッジ大学公式発表</a:t>
                      </a:r>
                    </a:p>
                  </a:txBody>
                  <a:tcPr>
                    <a:solidFill>
                      <a:srgbClr val="FFFFFF"/>
                    </a:solidFill>
                  </a:tcPr>
                </a:tc>
              </a:tr>
              <a:tr h="502920">
                <a:tc>
                  <a:txBody>
                    <a:bodyPr/>
                    <a:lstStyle/>
                    <a:p>
                      <a:pPr>
                        <a:defRPr sz="1200">
                          <a:solidFill>
                            <a:srgbClr val="20261F"/>
                          </a:solidFill>
                          <a:latin typeface="Yu Gothic"/>
                        </a:defRPr>
                      </a:pPr>
                      <a:r>
                        <a:t>試験期間30か月・総額500万ポンド(英運輸省負担265万ポンド)</a:t>
                      </a:r>
                    </a:p>
                  </a:txBody>
                  <a:tcPr>
                    <a:solidFill>
                      <a:srgbClr val="F4F1E6"/>
                    </a:solidFill>
                  </a:tcPr>
                </a:tc>
                <a:tc>
                  <a:txBody>
                    <a:bodyPr/>
                    <a:lstStyle/>
                    <a:p>
                      <a:pPr>
                        <a:defRPr sz="1200">
                          <a:solidFill>
                            <a:srgbClr val="20261F"/>
                          </a:solidFill>
                          <a:latin typeface="Yu Gothic"/>
                        </a:defRPr>
                      </a:pPr>
                      <a:r>
                        <a:t>Google公式ブログ(blog.google)、ケンブリッジ大学公式発表</a:t>
                      </a:r>
                    </a:p>
                  </a:txBody>
                  <a:tcPr>
                    <a:solidFill>
                      <a:srgbClr val="F4F1E6"/>
                    </a:solidFill>
                  </a:tcPr>
                </a:tc>
              </a:tr>
              <a:tr h="502920">
                <a:tc>
                  <a:txBody>
                    <a:bodyPr/>
                    <a:lstStyle/>
                    <a:p>
                      <a:pPr>
                        <a:defRPr sz="1200">
                          <a:solidFill>
                            <a:srgbClr val="20261F"/>
                          </a:solidFill>
                          <a:latin typeface="Yu Gothic"/>
                        </a:defRPr>
                      </a:pPr>
                      <a:r>
                        <a:t>対象空域(シャンウィック海洋管制区域)と世界影響の約5%</a:t>
                      </a:r>
                    </a:p>
                  </a:txBody>
                  <a:tcPr>
                    <a:solidFill>
                      <a:srgbClr val="FFFFFF"/>
                    </a:solidFill>
                  </a:tcPr>
                </a:tc>
                <a:tc>
                  <a:txBody>
                    <a:bodyPr/>
                    <a:lstStyle/>
                    <a:p>
                      <a:pPr>
                        <a:defRPr sz="1200">
                          <a:solidFill>
                            <a:srgbClr val="20261F"/>
                          </a:solidFill>
                          <a:latin typeface="Yu Gothic"/>
                        </a:defRPr>
                      </a:pPr>
                      <a:r>
                        <a:t>Google公式ブログ(blog.google)</a:t>
                      </a:r>
                    </a:p>
                  </a:txBody>
                  <a:tcPr>
                    <a:solidFill>
                      <a:srgbClr val="FFFFFF"/>
                    </a:solidFill>
                  </a:tcPr>
                </a:tc>
              </a:tr>
              <a:tr h="502920">
                <a:tc>
                  <a:txBody>
                    <a:bodyPr/>
                    <a:lstStyle/>
                    <a:p>
                      <a:pPr>
                        <a:defRPr sz="1200">
                          <a:solidFill>
                            <a:srgbClr val="20261F"/>
                          </a:solidFill>
                          <a:latin typeface="Yu Gothic"/>
                        </a:defRPr>
                      </a:pPr>
                      <a:r>
                        <a:t>最大2000フィートの迂回、対象便数約1万便、5者の役割分担</a:t>
                      </a:r>
                    </a:p>
                  </a:txBody>
                  <a:tcPr>
                    <a:solidFill>
                      <a:srgbClr val="F4F1E6"/>
                    </a:solidFill>
                  </a:tcPr>
                </a:tc>
                <a:tc>
                  <a:txBody>
                    <a:bodyPr/>
                    <a:lstStyle/>
                    <a:p>
                      <a:pPr>
                        <a:defRPr sz="1200">
                          <a:solidFill>
                            <a:srgbClr val="20261F"/>
                          </a:solidFill>
                          <a:latin typeface="Yu Gothic"/>
                        </a:defRPr>
                      </a:pPr>
                      <a:r>
                        <a:t>Google公式ブログ(blog.google)、ケンブリッジ大学公式発表</a:t>
                      </a:r>
                    </a:p>
                  </a:txBody>
                  <a:tcPr>
                    <a:solidFill>
                      <a:srgbClr val="F4F1E6"/>
                    </a:solidFill>
                  </a:tcPr>
                </a:tc>
              </a:tr>
              <a:tr h="502920">
                <a:tc>
                  <a:txBody>
                    <a:bodyPr/>
                    <a:lstStyle/>
                    <a:p>
                      <a:pPr>
                        <a:defRPr sz="1200">
                          <a:solidFill>
                            <a:srgbClr val="20261F"/>
                          </a:solidFill>
                          <a:latin typeface="Yu Gothic"/>
                        </a:defRPr>
                      </a:pPr>
                      <a:r>
                        <a:t>上記内容の独立した報道による確認</a:t>
                      </a:r>
                    </a:p>
                  </a:txBody>
                  <a:tcPr>
                    <a:solidFill>
                      <a:srgbClr val="FFFFFF"/>
                    </a:solidFill>
                  </a:tcPr>
                </a:tc>
                <a:tc>
                  <a:txBody>
                    <a:bodyPr/>
                    <a:lstStyle/>
                    <a:p>
                      <a:pPr>
                        <a:defRPr sz="1200">
                          <a:solidFill>
                            <a:srgbClr val="20261F"/>
                          </a:solidFill>
                          <a:latin typeface="Yu Gothic"/>
                        </a:defRPr>
                      </a:pPr>
                      <a:r>
                        <a:t>Skift / Quartz / The Next Web / ClickOrlando(AP通信配信)</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Google公式ブログ(blog.google)、ケンブリッジ大学公式発表、Skift/Quartz/The Next Web/ClickOrlando(AP通信配信)(2026-08-18時点)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Operation Blue Skies、世界初の広域試験が始動。今後の試験結果に注目しよう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コントレイルによる温暖化影響を抑える取り組みですが、成功指標や本格導入の基準はまだ示されていません。詳細は出典のGoogle公式情報でご確認ください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今後公表される試験結果・第三者検証の内容をチェックする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