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失点</c:v>
                </c:pt>
              </c:strCache>
            </c:strRef>
          </c:tx>
          <c:spPr>
            <a:solidFill>
              <a:srgbClr val="1E2761"/>
            </a:solidFill>
          </c:spPr>
          <c:cat>
            <c:strRef>
              <c:f>Sheet1!$A$2:$A$3</c:f>
              <c:strCache>
                <c:ptCount val="2"/>
                <c:pt idx="0">
                  <c:v>8/11(対エンゼルス)</c:v>
                </c:pt>
                <c:pt idx="1">
                  <c:v>8/15(対ブルワーズ)</c:v>
                </c:pt>
              </c:strCache>
            </c:strRef>
          </c:cat>
          <c:val>
            <c:numRef>
              <c:f>Sheet1!$B$2:$B$3</c:f>
              <c:numCache>
                <c:formatCode>General</c:formatCode>
                <c:ptCount val="2"/>
                <c:pt idx="0">
                  <c:v>6</c:v>
                </c:pt>
                <c:pt idx="1">
                  <c:v>1</c:v>
                </c:pt>
              </c:numCache>
            </c:numRef>
          </c:val>
        </c:ser>
        <c:dLbls>
          <c:numFmt formatCode="#,##0" sourceLinked="0"/>
          <c:txPr>
            <a:bodyPr/>
            <a:lstStyle/>
            <a:p>
              <a:pPr>
                <a:defRPr sz="1200" b="1">
                  <a:solidFill>
                    <a:srgbClr val="1E2761"/>
                  </a:solidFill>
                  <a:latin typeface="Yu Gothic"/>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被安打</c:v>
                </c:pt>
              </c:strCache>
            </c:strRef>
          </c:tx>
          <c:spPr>
            <a:solidFill>
              <a:srgbClr val="1E2761"/>
            </a:solidFill>
          </c:spPr>
          <c:cat>
            <c:strRef>
              <c:f>Sheet1!$A$2:$A$3</c:f>
              <c:strCache>
                <c:ptCount val="2"/>
                <c:pt idx="0">
                  <c:v>8/11(対エンゼルス)</c:v>
                </c:pt>
                <c:pt idx="1">
                  <c:v>8/15(対ブルワーズ)</c:v>
                </c:pt>
              </c:strCache>
            </c:strRef>
          </c:cat>
          <c:val>
            <c:numRef>
              <c:f>Sheet1!$B$2:$B$3</c:f>
              <c:numCache>
                <c:formatCode>General</c:formatCode>
                <c:ptCount val="2"/>
                <c:pt idx="0">
                  <c:v>6</c:v>
                </c:pt>
                <c:pt idx="1">
                  <c:v>4</c:v>
                </c:pt>
              </c:numCache>
            </c:numRef>
          </c:val>
        </c:ser>
        <c:dLbls>
          <c:numFmt formatCode="#,##0" sourceLinked="0"/>
          <c:txPr>
            <a:bodyPr/>
            <a:lstStyle/>
            <a:p>
              <a:pPr>
                <a:defRPr sz="1200" b="1">
                  <a:solidFill>
                    <a:srgbClr val="1E2761"/>
                  </a:solidFill>
                  <a:latin typeface="Yu Gothic"/>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年8月15日、日本時間でドジャースの山本由伸投手がブルワーズ戦に先発し、6回1失点9奪三振で今季12勝目を挙げました。実はその4日前、8月11日のエンゼルス戦では自己最悪級の6失点を喫したばかりです。今日はこの対比を出典付きで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山本投手は今季12勝目を挙げ、これは渡米後のシーズン最多勝に並ぶ成績です。しかもこの登板の4日前は、自己最悪級の不振に見舞われていました。その対比を、これから出典付きで見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6つの流れでお伝えします。8/11の不振と8/15の好投、両方の数字を正確に引用し、そのうえで4日間で何が起きたのかを事実ベースで整理します。誇張や創作はせず、確認できなかったことは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です。登板から1日以内という新しさに加えて、直近の自己最悪級の不振からわずか4日で持ち直したという対比が、このテーマ最大の見どころです。複数のスポーツメディアが数値を一致させて報じ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題に入る前に、山本由伸投手の前提を確認します。2024年にドジャースへ移籍した日本人先発投手で、移籍前はオリックス・バファローズのエースでした。渡米後の成績という文脈で、今回の登板は重要な意味を持ち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題のキーワードを確認します。勝敗はシーズンを通じた成績の指標、失点は与えた得点、奪三振はバッターを打ち取った数で、いずれも投手の調子を測る基本的な数字です。次のスライードから、この投手が実際にどう推移したかを見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日間の流れを図にしました。8月11日のエンゼルス戦で渡米後ワーストの6失点を喫した後、通常のローテーション間隔での調整を経て、8月15日のブルワーズ戦で6回1失点9奪三振という内容を見せました。8/11の数値は既存資料どおり正確に引用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タイムラインで見ると、8月11日の8敗目から、通常間隔での調整を経て、8月15日に12勝目を挙げたことが分かります。試合はドジャースが3対1でブルワーズを下しました。調整期間の具体的な内容は確認できておらず、不明と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改めて8月11日の内容を確認します。4回2/3を投げて99球、6安打を許し、渡米後ワーストとなる6失点でした。この数字は既存資料から正確に引用したもので、上書きや誇張は一切していません。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そして8月15日の内容です。6回を投げて97球、4安打を許しただけで、失点はわずか1、奪三振は9個。今季12勝目を挙げ、渡米後のシーズン最多勝に並びました。4日前とは対照的な内容です。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2つの登板を並べて比較します。投球数はほぼ同じ99球と97球ですが、投球回・被安打・失点はいずれも大きく改善しています。チームの勝敗も敗戦から勝利へと変わりました。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数値を一覧にしました。与四死球や奪三振など、片方の出典でしか確認できていない項目は、正直に不明として空欄にしています。数字を推測で埋めることはしていません。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グラフにすると失点の変化がよく分かります。渡米後ワーストの6失点から、わずか4日後には1失点まで改善しました。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被安打数も6安打から4安打へと減少しています。投球回が4回2/3から6回に伸びたことも踏まえると、内容の安定感がうかがえます。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興味深いのは投球数です。8/11が99球、8/15が97球とほぼ同じ球数でした。それでも投球回や失点、被安打の内容は大きく違います。同じような球数でも、内容が大きく変わり得ることを示す一例です。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8月15日は9奪三振という内容でした。なお、8月11日の奪三振数は既存資料に記載がなく、本テーマでは確認できていません。奪三振数の単純比較はできないため、正直にお伝えします。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8月15日の登板が評価される3つのポイントです。投球回の長さ、失点の少なさ、奪三振の多さ、いずれも4日前の登板とは対照的な内容でした。</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今季の通算成績を確認します。この登板により山本投手は12勝7敗となりました。8/11の時点では10勝8敗だったので、その後の登板を経てここまで積み上げてきたことになります。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渡米後最多タイ」という表現を確認します。2024年の移籍以降のシーズンの中で、今回の12勝が過去の最多記録と並んだという意味です。ただし従来の最多勝が具体的に何勝だったシーズンかは、本調査では確認できておらず、正直に不明と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誤解を避けるために補足します。好不調の波は野球全般で見られる一般的な性質であり、8/11の内容を断定的なネガティブ表現で扱うことも、8/15の好投から過度な期待をあおることも避けます。あくまで事実ベースで淡々と紹介する立場で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が読者にとって何を意味するかを整理します。直近1試合だけを見て評価するのではなく、複数登板の推移を追うことの重要性が分かる一例です。次回登板やタイトル争いの見通しは確認できておらず、推測では述べません。</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視聴者にとっての実践的な示唆をまとめました。野球ファンとして、スポーツニュースを追う立場として、情報を発信する立場として、それぞれで意識したい点です。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一度立ち止まります。本テーマは8/11の不振な内容も正確に扱っていますが、上書きや美化、揶揄的な表現は一切行っていません。数字の創作もせず、確認できなかったことは不明と明記しています。実在選手の写真・肖像も使用し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見出しの印象と実際の内容にはギャップが生まれがちです。今回はあくまで1試合の好投という事実であり、8/11の不振をなかったことにするものでも、今後の勝利を保証するものでもありません。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確認できていないことを正直にお伝えします。選手本人のコメントの詳細、次回登板の正確な日程、今季の防御率やタイトル争いの状況は、本調査の範囲では確認できていません。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確認できていないことを一覧にしました。数字や詳細を推測で埋めず、正直に不明として扱っています。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事実と推測を分けます。8/15の投球内容と8/11の投球内容は、それぞれ複数の情報源で確認できた事実です。調整が好投につながった可能性はあくまで推測であり、断定はしていません。不明な点も明確に分け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本テーマの鮮度を数字で確認します。登板は2026年8月15日、着手日は8月16日で、1日前です。2日以内という当社の基準を満たしています。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本編で使った主な出典を一覧にしました。詳細はresearch.mdをご確認ください。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山本由伸投手が、8/11の自己最悪級の不振からわずか4日で渡米後最多タイの12勝目を挙げた件をお伝えしました。数字は正確に引用し、確認できなかったことは正直にお伝え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自己最悪級の炎上登板から、わずか4日。</a:t>
            </a:r>
          </a:p>
          <a:p>
            <a:pPr algn="l">
              <a:lnSpc>
                <a:spcPct val="115000"/>
              </a:lnSpc>
            </a:pPr>
            <a:r>
              <a:rPr sz="4200" b="1">
                <a:solidFill>
                  <a:srgbClr val="FFFFFF"/>
                </a:solidFill>
                <a:latin typeface="Yu Gothic"/>
              </a:rPr>
              <a:t>山本由伸が6回1失点9奪三振で、</a:t>
            </a:r>
          </a:p>
          <a:p>
            <a:pPr algn="l">
              <a:lnSpc>
                <a:spcPct val="115000"/>
              </a:lnSpc>
            </a:pPr>
            <a:r>
              <a:rPr sz="4200" b="1">
                <a:solidFill>
                  <a:srgbClr val="FFFFFF"/>
                </a:solidFill>
                <a:latin typeface="Yu Gothic"/>
              </a:rPr>
              <a:t>渡米後最多タイの12勝目を挙げた。</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CADCFC"/>
                </a:solidFill>
                <a:latin typeface="Yu Gothic"/>
              </a:rPr>
              <a:t>2026年8月11日・対エンゼルス戦の6失点から一転、8月15日・対ブルワーズ戦で見せた立て直し――出典付きで整理する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8FA3D0"/>
                </a:solidFill>
                <a:latin typeface="Yu Gothic"/>
              </a:rPr>
              <a:t>出典: Yahoo!ニュース(J SPORTS配信)・Full-Count・デイリースポーツ・ベースボールチャンネル(いずれも2026年8月15日)。8/11の数値は既存資料に基づき正確に引用する。</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12勝(7敗)渡米後最多タイ</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2026年8月15日、対ブルワーズ戦で6回1失点9奪三振。渡米後(2024年〜)のシーズン最多勝タイの成績となった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Full-Count・デイリースポーツ(2026-08-15)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CADCFC"/>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CADCFC"/>
                </a:solidFill>
                <a:latin typeface="Yu Gothic"/>
              </a:rPr>
              <a:t>山本由伸投手とは(初心者向け解説つき)</a:t>
            </a:r>
          </a:p>
        </p:txBody>
      </p:sp>
      <p:sp>
        <p:nvSpPr>
          <p:cNvPr id="9" name="Oval 8"/>
          <p:cNvSpPr/>
          <p:nvPr/>
        </p:nvSpPr>
        <p:spPr>
          <a:xfrm>
            <a:off x="548640" y="347472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CADCFC"/>
                </a:solidFill>
                <a:latin typeface="Yu Gothic"/>
              </a:rPr>
              <a:t>8/11の自己最悪級6失点から、8/15の好投までの4日間</a:t>
            </a:r>
          </a:p>
        </p:txBody>
      </p:sp>
      <p:sp>
        <p:nvSpPr>
          <p:cNvPr id="11" name="Oval 10"/>
          <p:cNvSpPr/>
          <p:nvPr/>
        </p:nvSpPr>
        <p:spPr>
          <a:xfrm>
            <a:off x="548640" y="425196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CADCFC"/>
                </a:solidFill>
                <a:latin typeface="Yu Gothic"/>
              </a:rPr>
              <a:t>投球内容を数字で比較する</a:t>
            </a:r>
          </a:p>
        </p:txBody>
      </p:sp>
      <p:sp>
        <p:nvSpPr>
          <p:cNvPr id="13" name="Oval 12"/>
          <p:cNvSpPr/>
          <p:nvPr/>
        </p:nvSpPr>
        <p:spPr>
          <a:xfrm>
            <a:off x="548640" y="502920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CADCFC"/>
                </a:solidFill>
                <a:latin typeface="Yu Gothic"/>
              </a:rPr>
              <a:t>この登板が意味すること・読者への示唆</a:t>
            </a:r>
          </a:p>
        </p:txBody>
      </p:sp>
      <p:sp>
        <p:nvSpPr>
          <p:cNvPr id="15" name="Oval 14"/>
          <p:cNvSpPr/>
          <p:nvPr/>
        </p:nvSpPr>
        <p:spPr>
          <a:xfrm>
            <a:off x="548640" y="580644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CADCFC"/>
                </a:solidFill>
                <a:latin typeface="Yu Gothic"/>
              </a:rPr>
              <a:t>確認できなかったこと・出典一覧</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登板(2026年8月15日、日本時間)から着手日まで1日以内という新しい話題である</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「自己最悪級の炎上登板からわずか4日で自己最多タイ」というストーリー性の高い対比がある</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複数のスポーツ専門メディアが数値を一致させて報じている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Yahoo!ニュース・Full-Count・デイリースポーツ(2026-08-15)</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Yahoo!ニュース(J SPORTS配信)・Full-Count・デイリースポーツ・ベースボールチャンネル(2026-08-15)｜本日2本目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山本由伸投手とは(初心者向け)</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本題に入る前に、選手の前提を確認します。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2024年にロサンゼルス・ドジャースへ移籍した日本人先発投手</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移籍前は日本のオリックス・バファローズでエースとして活躍していた</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今回の登板は、渡米後のシーズン成績を語るうえで重要な一戦となった</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Yahoo!ニュース(J SPORTS配信)・Full-Count・デイリースポーツ・ベースボールチャンネル(2026-08-15)｜本日2本目</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前提知識:「勝敗」「失点」「奪三振」とは</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本題のキーワードを確認します。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勝利数・敗戦数: 先発投手の登板結果を積み重ねた、シーズンを通じた成績の指標</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失点: そのイニングまでに相手チームに与えた得点(自責点は投手本人の責任とされる失点)</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奪三振: バッターを三振に打ち取った数。投手の球威・制球力の目安の一つ</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Yahoo!ニュース(J SPORTS配信)・Full-Count・デイリースポーツ・ベースボールチャンネル(2026-08-15)｜本日2本目</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4日間で何が起きたのか(概念図)</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8/11 対エンゼルス戦</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4回2/3・99球・6失点(渡米後ワースト)</a:t>
            </a:r>
          </a:p>
        </p:txBody>
      </p:sp>
      <p:sp>
        <p:nvSpPr>
          <p:cNvPr id="10" name="Right Arrow 9"/>
          <p:cNvSpPr/>
          <p:nvPr/>
        </p:nvSpPr>
        <p:spPr>
          <a:xfrm>
            <a:off x="41573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中数日の調整</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次回登板に向けた通常のローテーション間隔</a:t>
            </a:r>
          </a:p>
        </p:txBody>
      </p:sp>
      <p:sp>
        <p:nvSpPr>
          <p:cNvPr id="15" name="Right Arrow 14"/>
          <p:cNvSpPr/>
          <p:nvPr/>
        </p:nvSpPr>
        <p:spPr>
          <a:xfrm>
            <a:off x="73577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8/15 対ブルワーズ戦</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6回・97球・1失点9奪三振で12勝目</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B6270"/>
                </a:solidFill>
                <a:latin typeface="Yu Gothic"/>
              </a:rPr>
              <a:t>8/11の内容は既存資料の確定事実をそのまま引用。数値の上書き・美化は行わない</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既存テーマ2026-08-11研究資料・Full-Count・デイリースポーツ(2026-08-15)</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Yahoo!ニュース(J SPORTS配信)・Full-Count・デイリースポーツ・ベースボールチャンネル(2026-08-15)｜本日2本目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タイムラインで見る4日間</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2545003"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1996363" cy="548640"/>
          </a:xfrm>
          <a:prstGeom prst="rect">
            <a:avLst/>
          </a:prstGeom>
          <a:noFill/>
        </p:spPr>
        <p:txBody>
          <a:bodyPr wrap="square" anchor="t" lIns="0" rIns="0" tIns="0" bIns="0">
            <a:spAutoFit/>
          </a:bodyPr>
          <a:lstStyle/>
          <a:p>
            <a:pPr algn="l"/>
            <a:r>
              <a:rPr sz="1600" b="1">
                <a:solidFill>
                  <a:srgbClr val="1E2761"/>
                </a:solidFill>
                <a:latin typeface="Yu Gothic"/>
              </a:rPr>
              <a:t>8/11</a:t>
            </a:r>
          </a:p>
        </p:txBody>
      </p:sp>
      <p:sp>
        <p:nvSpPr>
          <p:cNvPr id="10" name="TextBox 9"/>
          <p:cNvSpPr txBox="1"/>
          <p:nvPr/>
        </p:nvSpPr>
        <p:spPr>
          <a:xfrm>
            <a:off x="731520" y="3566160"/>
            <a:ext cx="1996363"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対エンゼルス戦。4回2/3・99球・6安打・6失点で8敗目(通算10勝8敗)</a:t>
            </a:r>
          </a:p>
        </p:txBody>
      </p:sp>
      <p:sp>
        <p:nvSpPr>
          <p:cNvPr id="11" name="Chevron 10"/>
          <p:cNvSpPr/>
          <p:nvPr/>
        </p:nvSpPr>
        <p:spPr>
          <a:xfrm>
            <a:off x="3068040"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13683"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67963" y="1737360"/>
            <a:ext cx="2545003"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42283"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3642283" y="2926080"/>
            <a:ext cx="1996363" cy="548640"/>
          </a:xfrm>
          <a:prstGeom prst="rect">
            <a:avLst/>
          </a:prstGeom>
          <a:noFill/>
        </p:spPr>
        <p:txBody>
          <a:bodyPr wrap="square" anchor="t" lIns="0" rIns="0" tIns="0" bIns="0">
            <a:spAutoFit/>
          </a:bodyPr>
          <a:lstStyle/>
          <a:p>
            <a:pPr algn="l"/>
            <a:r>
              <a:rPr sz="1600" b="1">
                <a:solidFill>
                  <a:srgbClr val="1E2761"/>
                </a:solidFill>
                <a:latin typeface="Yu Gothic"/>
              </a:rPr>
              <a:t>8/12〜8/14</a:t>
            </a:r>
          </a:p>
        </p:txBody>
      </p:sp>
      <p:sp>
        <p:nvSpPr>
          <p:cNvPr id="16" name="TextBox 15"/>
          <p:cNvSpPr txBox="1"/>
          <p:nvPr/>
        </p:nvSpPr>
        <p:spPr>
          <a:xfrm>
            <a:off x="3642283" y="3566160"/>
            <a:ext cx="1996363"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次回登板に向けた通常間隔での調整期間(調整内容の詳細は不明)</a:t>
            </a:r>
          </a:p>
        </p:txBody>
      </p:sp>
      <p:sp>
        <p:nvSpPr>
          <p:cNvPr id="17" name="Chevron 16"/>
          <p:cNvSpPr/>
          <p:nvPr/>
        </p:nvSpPr>
        <p:spPr>
          <a:xfrm>
            <a:off x="5978804"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24447"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78727" y="1737360"/>
            <a:ext cx="2545003"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53047"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6553047" y="2926080"/>
            <a:ext cx="1996363" cy="548640"/>
          </a:xfrm>
          <a:prstGeom prst="rect">
            <a:avLst/>
          </a:prstGeom>
          <a:noFill/>
        </p:spPr>
        <p:txBody>
          <a:bodyPr wrap="square" anchor="t" lIns="0" rIns="0" tIns="0" bIns="0">
            <a:spAutoFit/>
          </a:bodyPr>
          <a:lstStyle/>
          <a:p>
            <a:pPr algn="l"/>
            <a:r>
              <a:rPr sz="1600" b="1">
                <a:solidFill>
                  <a:srgbClr val="1E2761"/>
                </a:solidFill>
                <a:latin typeface="Yu Gothic"/>
              </a:rPr>
              <a:t>8/15</a:t>
            </a:r>
          </a:p>
        </p:txBody>
      </p:sp>
      <p:sp>
        <p:nvSpPr>
          <p:cNvPr id="22" name="TextBox 21"/>
          <p:cNvSpPr txBox="1"/>
          <p:nvPr/>
        </p:nvSpPr>
        <p:spPr>
          <a:xfrm>
            <a:off x="6553047" y="3566160"/>
            <a:ext cx="1996363"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対ブルワーズ戦。6回・97球・4安打・1失点・9奪三振で12勝目(通算12勝7敗)</a:t>
            </a:r>
          </a:p>
        </p:txBody>
      </p:sp>
      <p:sp>
        <p:nvSpPr>
          <p:cNvPr id="23" name="Chevron 22"/>
          <p:cNvSpPr/>
          <p:nvPr/>
        </p:nvSpPr>
        <p:spPr>
          <a:xfrm>
            <a:off x="8889568"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35211"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89491" y="1737360"/>
            <a:ext cx="2545003"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463811"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4</a:t>
            </a:r>
          </a:p>
        </p:txBody>
      </p:sp>
      <p:sp>
        <p:nvSpPr>
          <p:cNvPr id="27" name="TextBox 26"/>
          <p:cNvSpPr txBox="1"/>
          <p:nvPr/>
        </p:nvSpPr>
        <p:spPr>
          <a:xfrm>
            <a:off x="9463811" y="2926080"/>
            <a:ext cx="1996363" cy="548640"/>
          </a:xfrm>
          <a:prstGeom prst="rect">
            <a:avLst/>
          </a:prstGeom>
          <a:noFill/>
        </p:spPr>
        <p:txBody>
          <a:bodyPr wrap="square" anchor="t" lIns="0" rIns="0" tIns="0" bIns="0">
            <a:spAutoFit/>
          </a:bodyPr>
          <a:lstStyle/>
          <a:p>
            <a:pPr algn="l"/>
            <a:r>
              <a:rPr sz="1600" b="1">
                <a:solidFill>
                  <a:srgbClr val="1E2761"/>
                </a:solidFill>
                <a:latin typeface="Yu Gothic"/>
              </a:rPr>
              <a:t>試合結果</a:t>
            </a:r>
          </a:p>
        </p:txBody>
      </p:sp>
      <p:sp>
        <p:nvSpPr>
          <p:cNvPr id="28" name="TextBox 27"/>
          <p:cNvSpPr txBox="1"/>
          <p:nvPr/>
        </p:nvSpPr>
        <p:spPr>
          <a:xfrm>
            <a:off x="9463811" y="3566160"/>
            <a:ext cx="1996363"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ドジャースが3-1でブルワーズを下し勝利</a:t>
            </a:r>
          </a:p>
        </p:txBody>
      </p:sp>
      <p:sp>
        <p:nvSpPr>
          <p:cNvPr id="29" name="TextBox 2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Yahoo!ニュース(J SPORTS配信)・Full-Count・デイリースポーツ・ベースボールチャンネル(2026-08-15)｜本日2本目</a:t>
            </a:r>
          </a:p>
        </p:txBody>
      </p:sp>
      <p:sp>
        <p:nvSpPr>
          <p:cNvPr id="30" name="TextBox 2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8/11の内容(Before・既存資料より引用)</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6失点(渡米後ワースト)</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4回2/3・99球・6安打・6四死球。この登板で今季8敗目(通算10勝8敗)を喫した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既存テーマ`2026-08-11_yamamoto-career-worst-outing-angels`研究資料(MLB.com)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8/15の内容(After)</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1失点(6回9奪三振)</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6回・97球・4安打・1失点・9奪三振。今季12勝目(通算12勝7敗)、渡米後最多タイの成績</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Yahoo!ニュース(J SPORTS配信)・Full-Count・デイリースポーツ(2026-08-15)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8/11 と 8/15 を比較する</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8/11(対エンゼルス、Before)</a:t>
            </a:r>
          </a:p>
        </p:txBody>
      </p:sp>
      <p:sp>
        <p:nvSpPr>
          <p:cNvPr id="9" name="Oval 8"/>
          <p:cNvSpPr/>
          <p:nvPr/>
        </p:nvSpPr>
        <p:spPr>
          <a:xfrm>
            <a:off x="777240"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4回2/3・99球</a:t>
            </a:r>
          </a:p>
        </p:txBody>
      </p:sp>
      <p:sp>
        <p:nvSpPr>
          <p:cNvPr id="11" name="Oval 10"/>
          <p:cNvSpPr/>
          <p:nvPr/>
        </p:nvSpPr>
        <p:spPr>
          <a:xfrm>
            <a:off x="777240"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6安打・6四死球</a:t>
            </a:r>
          </a:p>
        </p:txBody>
      </p:sp>
      <p:sp>
        <p:nvSpPr>
          <p:cNvPr id="13" name="Oval 12"/>
          <p:cNvSpPr/>
          <p:nvPr/>
        </p:nvSpPr>
        <p:spPr>
          <a:xfrm>
            <a:off x="777240" y="363016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6失点(渡米後ワースト)</a:t>
            </a:r>
          </a:p>
        </p:txBody>
      </p:sp>
      <p:sp>
        <p:nvSpPr>
          <p:cNvPr id="15" name="Oval 14"/>
          <p:cNvSpPr/>
          <p:nvPr/>
        </p:nvSpPr>
        <p:spPr>
          <a:xfrm>
            <a:off x="777240" y="4178807"/>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6" name="TextBox 15"/>
          <p:cNvSpPr txBox="1"/>
          <p:nvPr/>
        </p:nvSpPr>
        <p:spPr>
          <a:xfrm>
            <a:off x="1188720" y="416052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チーム: 敗戦(4-7)</a:t>
            </a:r>
          </a:p>
        </p:txBody>
      </p:sp>
      <p:sp>
        <p:nvSpPr>
          <p:cNvPr id="17" name="Rounded Rectangle 16"/>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278727"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8/15(対ブルワーズ、After)</a:t>
            </a:r>
          </a:p>
        </p:txBody>
      </p:sp>
      <p:sp>
        <p:nvSpPr>
          <p:cNvPr id="20" name="Oval 19"/>
          <p:cNvSpPr/>
          <p:nvPr/>
        </p:nvSpPr>
        <p:spPr>
          <a:xfrm>
            <a:off x="6598767"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6回・97球</a:t>
            </a:r>
          </a:p>
        </p:txBody>
      </p:sp>
      <p:sp>
        <p:nvSpPr>
          <p:cNvPr id="22" name="Oval 21"/>
          <p:cNvSpPr/>
          <p:nvPr/>
        </p:nvSpPr>
        <p:spPr>
          <a:xfrm>
            <a:off x="6598767"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4安打・9奪三振</a:t>
            </a:r>
          </a:p>
        </p:txBody>
      </p:sp>
      <p:sp>
        <p:nvSpPr>
          <p:cNvPr id="24" name="Oval 23"/>
          <p:cNvSpPr/>
          <p:nvPr/>
        </p:nvSpPr>
        <p:spPr>
          <a:xfrm>
            <a:off x="6598767" y="363016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5" name="TextBox 24"/>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1失点</a:t>
            </a:r>
          </a:p>
        </p:txBody>
      </p:sp>
      <p:sp>
        <p:nvSpPr>
          <p:cNvPr id="26" name="Oval 25"/>
          <p:cNvSpPr/>
          <p:nvPr/>
        </p:nvSpPr>
        <p:spPr>
          <a:xfrm>
            <a:off x="6598767" y="4178807"/>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7" name="TextBox 26"/>
          <p:cNvSpPr txBox="1"/>
          <p:nvPr/>
        </p:nvSpPr>
        <p:spPr>
          <a:xfrm>
            <a:off x="7010247" y="416052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チーム: 勝利(3-1)</a:t>
            </a:r>
          </a:p>
        </p:txBody>
      </p:sp>
      <p:sp>
        <p:nvSpPr>
          <p:cNvPr id="28" name="TextBox 2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Yahoo!ニュース(J SPORTS配信)・Full-Count・デイリースポーツ・ベースボールチャンネル(2026-08-15)｜本日2本目</a:t>
            </a:r>
          </a:p>
        </p:txBody>
      </p:sp>
      <p:sp>
        <p:nvSpPr>
          <p:cNvPr id="29" name="TextBox 2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数値詳細一覧(8/11 vs 8/15)</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4114800"/>
        </p:xfrm>
        <a:graphic>
          <a:graphicData uri="http://schemas.openxmlformats.org/drawingml/2006/table">
            <a:tbl>
              <a:tblPr firstRow="1" bandRow="1">
                <a:tableStyleId>{5C22544A-7EE6-4342-B048-85BDC9FD1C3A}</a:tableStyleId>
              </a:tblPr>
              <a:tblGrid>
                <a:gridCol w="3759098"/>
                <a:gridCol w="3759098"/>
                <a:gridCol w="3759099"/>
              </a:tblGrid>
              <a:tr h="457200">
                <a:tc>
                  <a:txBody>
                    <a:bodyPr/>
                    <a:lstStyle/>
                    <a:p>
                      <a:pPr>
                        <a:defRPr sz="1300" b="1">
                          <a:solidFill>
                            <a:srgbClr val="FFFFFF"/>
                          </a:solidFill>
                          <a:latin typeface="Yu Gothic"/>
                        </a:defRPr>
                      </a:pPr>
                      <a:r>
                        <a:t>項目</a:t>
                      </a:r>
                    </a:p>
                  </a:txBody>
                  <a:tcPr>
                    <a:solidFill>
                      <a:srgbClr val="1E2761"/>
                    </a:solidFill>
                  </a:tcPr>
                </a:tc>
                <a:tc>
                  <a:txBody>
                    <a:bodyPr/>
                    <a:lstStyle/>
                    <a:p>
                      <a:pPr>
                        <a:defRPr sz="1300" b="1">
                          <a:solidFill>
                            <a:srgbClr val="FFFFFF"/>
                          </a:solidFill>
                          <a:latin typeface="Yu Gothic"/>
                        </a:defRPr>
                      </a:pPr>
                      <a:r>
                        <a:t>8/11(対エンゼルス)</a:t>
                      </a:r>
                    </a:p>
                  </a:txBody>
                  <a:tcPr>
                    <a:solidFill>
                      <a:srgbClr val="1E2761"/>
                    </a:solidFill>
                  </a:tcPr>
                </a:tc>
                <a:tc>
                  <a:txBody>
                    <a:bodyPr/>
                    <a:lstStyle/>
                    <a:p>
                      <a:pPr>
                        <a:defRPr sz="1300" b="1">
                          <a:solidFill>
                            <a:srgbClr val="FFFFFF"/>
                          </a:solidFill>
                          <a:latin typeface="Yu Gothic"/>
                        </a:defRPr>
                      </a:pPr>
                      <a:r>
                        <a:t>8/15(対ブルワーズ)</a:t>
                      </a:r>
                    </a:p>
                  </a:txBody>
                  <a:tcPr>
                    <a:solidFill>
                      <a:srgbClr val="1E2761"/>
                    </a:solidFill>
                  </a:tcPr>
                </a:tc>
              </a:tr>
              <a:tr h="457200">
                <a:tc>
                  <a:txBody>
                    <a:bodyPr/>
                    <a:lstStyle/>
                    <a:p>
                      <a:pPr>
                        <a:defRPr sz="1200">
                          <a:solidFill>
                            <a:srgbClr val="1A1A2E"/>
                          </a:solidFill>
                          <a:latin typeface="Yu Gothic"/>
                        </a:defRPr>
                      </a:pPr>
                      <a:r>
                        <a:t>投球回</a:t>
                      </a:r>
                    </a:p>
                  </a:txBody>
                  <a:tcPr>
                    <a:solidFill>
                      <a:srgbClr val="FFFFFF"/>
                    </a:solidFill>
                  </a:tcPr>
                </a:tc>
                <a:tc>
                  <a:txBody>
                    <a:bodyPr/>
                    <a:lstStyle/>
                    <a:p>
                      <a:pPr>
                        <a:defRPr sz="1200">
                          <a:solidFill>
                            <a:srgbClr val="1A1A2E"/>
                          </a:solidFill>
                          <a:latin typeface="Yu Gothic"/>
                        </a:defRPr>
                      </a:pPr>
                      <a:r>
                        <a:t>4回2/3</a:t>
                      </a:r>
                    </a:p>
                  </a:txBody>
                  <a:tcPr>
                    <a:solidFill>
                      <a:srgbClr val="FFFFFF"/>
                    </a:solidFill>
                  </a:tcPr>
                </a:tc>
                <a:tc>
                  <a:txBody>
                    <a:bodyPr/>
                    <a:lstStyle/>
                    <a:p>
                      <a:pPr>
                        <a:defRPr sz="1200">
                          <a:solidFill>
                            <a:srgbClr val="1A1A2E"/>
                          </a:solidFill>
                          <a:latin typeface="Yu Gothic"/>
                        </a:defRPr>
                      </a:pPr>
                      <a:r>
                        <a:t>6回</a:t>
                      </a:r>
                    </a:p>
                  </a:txBody>
                  <a:tcPr>
                    <a:solidFill>
                      <a:srgbClr val="FFFFFF"/>
                    </a:solidFill>
                  </a:tcPr>
                </a:tc>
              </a:tr>
              <a:tr h="457200">
                <a:tc>
                  <a:txBody>
                    <a:bodyPr/>
                    <a:lstStyle/>
                    <a:p>
                      <a:pPr>
                        <a:defRPr sz="1200">
                          <a:solidFill>
                            <a:srgbClr val="1A1A2E"/>
                          </a:solidFill>
                          <a:latin typeface="Yu Gothic"/>
                        </a:defRPr>
                      </a:pPr>
                      <a:r>
                        <a:t>投球数</a:t>
                      </a:r>
                    </a:p>
                  </a:txBody>
                  <a:tcPr>
                    <a:solidFill>
                      <a:srgbClr val="F3F6FC"/>
                    </a:solidFill>
                  </a:tcPr>
                </a:tc>
                <a:tc>
                  <a:txBody>
                    <a:bodyPr/>
                    <a:lstStyle/>
                    <a:p>
                      <a:pPr>
                        <a:defRPr sz="1200">
                          <a:solidFill>
                            <a:srgbClr val="1A1A2E"/>
                          </a:solidFill>
                          <a:latin typeface="Yu Gothic"/>
                        </a:defRPr>
                      </a:pPr>
                      <a:r>
                        <a:t>99球</a:t>
                      </a:r>
                    </a:p>
                  </a:txBody>
                  <a:tcPr>
                    <a:solidFill>
                      <a:srgbClr val="F3F6FC"/>
                    </a:solidFill>
                  </a:tcPr>
                </a:tc>
                <a:tc>
                  <a:txBody>
                    <a:bodyPr/>
                    <a:lstStyle/>
                    <a:p>
                      <a:pPr>
                        <a:defRPr sz="1200">
                          <a:solidFill>
                            <a:srgbClr val="1A1A2E"/>
                          </a:solidFill>
                          <a:latin typeface="Yu Gothic"/>
                        </a:defRPr>
                      </a:pPr>
                      <a:r>
                        <a:t>97球</a:t>
                      </a:r>
                    </a:p>
                  </a:txBody>
                  <a:tcPr>
                    <a:solidFill>
                      <a:srgbClr val="F3F6FC"/>
                    </a:solidFill>
                  </a:tcPr>
                </a:tc>
              </a:tr>
              <a:tr h="457200">
                <a:tc>
                  <a:txBody>
                    <a:bodyPr/>
                    <a:lstStyle/>
                    <a:p>
                      <a:pPr>
                        <a:defRPr sz="1200">
                          <a:solidFill>
                            <a:srgbClr val="1A1A2E"/>
                          </a:solidFill>
                          <a:latin typeface="Yu Gothic"/>
                        </a:defRPr>
                      </a:pPr>
                      <a:r>
                        <a:t>被安打</a:t>
                      </a:r>
                    </a:p>
                  </a:txBody>
                  <a:tcPr>
                    <a:solidFill>
                      <a:srgbClr val="FFFFFF"/>
                    </a:solidFill>
                  </a:tcPr>
                </a:tc>
                <a:tc>
                  <a:txBody>
                    <a:bodyPr/>
                    <a:lstStyle/>
                    <a:p>
                      <a:pPr>
                        <a:defRPr sz="1200">
                          <a:solidFill>
                            <a:srgbClr val="1A1A2E"/>
                          </a:solidFill>
                          <a:latin typeface="Yu Gothic"/>
                        </a:defRPr>
                      </a:pPr>
                      <a:r>
                        <a:t>6安打</a:t>
                      </a:r>
                    </a:p>
                  </a:txBody>
                  <a:tcPr>
                    <a:solidFill>
                      <a:srgbClr val="FFFFFF"/>
                    </a:solidFill>
                  </a:tcPr>
                </a:tc>
                <a:tc>
                  <a:txBody>
                    <a:bodyPr/>
                    <a:lstStyle/>
                    <a:p>
                      <a:pPr>
                        <a:defRPr sz="1200">
                          <a:solidFill>
                            <a:srgbClr val="1A1A2E"/>
                          </a:solidFill>
                          <a:latin typeface="Yu Gothic"/>
                        </a:defRPr>
                      </a:pPr>
                      <a:r>
                        <a:t>4安打</a:t>
                      </a:r>
                    </a:p>
                  </a:txBody>
                  <a:tcPr>
                    <a:solidFill>
                      <a:srgbClr val="FFFFFF"/>
                    </a:solidFill>
                  </a:tcPr>
                </a:tc>
              </a:tr>
              <a:tr h="457200">
                <a:tc>
                  <a:txBody>
                    <a:bodyPr/>
                    <a:lstStyle/>
                    <a:p>
                      <a:pPr>
                        <a:defRPr sz="1200">
                          <a:solidFill>
                            <a:srgbClr val="1A1A2E"/>
                          </a:solidFill>
                          <a:latin typeface="Yu Gothic"/>
                        </a:defRPr>
                      </a:pPr>
                      <a:r>
                        <a:t>与四死球</a:t>
                      </a:r>
                    </a:p>
                  </a:txBody>
                  <a:tcPr>
                    <a:solidFill>
                      <a:srgbClr val="F3F6FC"/>
                    </a:solidFill>
                  </a:tcPr>
                </a:tc>
                <a:tc>
                  <a:txBody>
                    <a:bodyPr/>
                    <a:lstStyle/>
                    <a:p>
                      <a:pPr>
                        <a:defRPr sz="1200">
                          <a:solidFill>
                            <a:srgbClr val="1A1A2E"/>
                          </a:solidFill>
                          <a:latin typeface="Yu Gothic"/>
                        </a:defRPr>
                      </a:pPr>
                      <a:r>
                        <a:t>6</a:t>
                      </a:r>
                    </a:p>
                  </a:txBody>
                  <a:tcPr>
                    <a:solidFill>
                      <a:srgbClr val="F3F6FC"/>
                    </a:solidFill>
                  </a:tcPr>
                </a:tc>
                <a:tc>
                  <a:txBody>
                    <a:bodyPr/>
                    <a:lstStyle/>
                    <a:p>
                      <a:pPr>
                        <a:defRPr sz="1200">
                          <a:solidFill>
                            <a:srgbClr val="1A1A2E"/>
                          </a:solidFill>
                          <a:latin typeface="Yu Gothic"/>
                        </a:defRPr>
                      </a:pPr>
                      <a:r>
                        <a:t>不明(出典に記載なし)</a:t>
                      </a:r>
                    </a:p>
                  </a:txBody>
                  <a:tcPr>
                    <a:solidFill>
                      <a:srgbClr val="F3F6FC"/>
                    </a:solidFill>
                  </a:tcPr>
                </a:tc>
              </a:tr>
              <a:tr h="457200">
                <a:tc>
                  <a:txBody>
                    <a:bodyPr/>
                    <a:lstStyle/>
                    <a:p>
                      <a:pPr>
                        <a:defRPr sz="1200">
                          <a:solidFill>
                            <a:srgbClr val="1A1A2E"/>
                          </a:solidFill>
                          <a:latin typeface="Yu Gothic"/>
                        </a:defRPr>
                      </a:pPr>
                      <a:r>
                        <a:t>失点</a:t>
                      </a:r>
                    </a:p>
                  </a:txBody>
                  <a:tcPr>
                    <a:solidFill>
                      <a:srgbClr val="FFFFFF"/>
                    </a:solidFill>
                  </a:tcPr>
                </a:tc>
                <a:tc>
                  <a:txBody>
                    <a:bodyPr/>
                    <a:lstStyle/>
                    <a:p>
                      <a:pPr>
                        <a:defRPr sz="1200">
                          <a:solidFill>
                            <a:srgbClr val="1A1A2E"/>
                          </a:solidFill>
                          <a:latin typeface="Yu Gothic"/>
                        </a:defRPr>
                      </a:pPr>
                      <a:r>
                        <a:t>6失点</a:t>
                      </a:r>
                    </a:p>
                  </a:txBody>
                  <a:tcPr>
                    <a:solidFill>
                      <a:srgbClr val="FFFFFF"/>
                    </a:solidFill>
                  </a:tcPr>
                </a:tc>
                <a:tc>
                  <a:txBody>
                    <a:bodyPr/>
                    <a:lstStyle/>
                    <a:p>
                      <a:pPr>
                        <a:defRPr sz="1200">
                          <a:solidFill>
                            <a:srgbClr val="1A1A2E"/>
                          </a:solidFill>
                          <a:latin typeface="Yu Gothic"/>
                        </a:defRPr>
                      </a:pPr>
                      <a:r>
                        <a:t>1失点</a:t>
                      </a:r>
                    </a:p>
                  </a:txBody>
                  <a:tcPr>
                    <a:solidFill>
                      <a:srgbClr val="FFFFFF"/>
                    </a:solidFill>
                  </a:tcPr>
                </a:tc>
              </a:tr>
              <a:tr h="457200">
                <a:tc>
                  <a:txBody>
                    <a:bodyPr/>
                    <a:lstStyle/>
                    <a:p>
                      <a:pPr>
                        <a:defRPr sz="1200">
                          <a:solidFill>
                            <a:srgbClr val="1A1A2E"/>
                          </a:solidFill>
                          <a:latin typeface="Yu Gothic"/>
                        </a:defRPr>
                      </a:pPr>
                      <a:r>
                        <a:t>奪三振</a:t>
                      </a:r>
                    </a:p>
                  </a:txBody>
                  <a:tcPr>
                    <a:solidFill>
                      <a:srgbClr val="F3F6FC"/>
                    </a:solidFill>
                  </a:tcPr>
                </a:tc>
                <a:tc>
                  <a:txBody>
                    <a:bodyPr/>
                    <a:lstStyle/>
                    <a:p>
                      <a:pPr>
                        <a:defRPr sz="1200">
                          <a:solidFill>
                            <a:srgbClr val="1A1A2E"/>
                          </a:solidFill>
                          <a:latin typeface="Yu Gothic"/>
                        </a:defRPr>
                      </a:pPr>
                      <a:r>
                        <a:t>不明(出典に記載なし)</a:t>
                      </a:r>
                    </a:p>
                  </a:txBody>
                  <a:tcPr>
                    <a:solidFill>
                      <a:srgbClr val="F3F6FC"/>
                    </a:solidFill>
                  </a:tcPr>
                </a:tc>
                <a:tc>
                  <a:txBody>
                    <a:bodyPr/>
                    <a:lstStyle/>
                    <a:p>
                      <a:pPr>
                        <a:defRPr sz="1200">
                          <a:solidFill>
                            <a:srgbClr val="1A1A2E"/>
                          </a:solidFill>
                          <a:latin typeface="Yu Gothic"/>
                        </a:defRPr>
                      </a:pPr>
                      <a:r>
                        <a:t>9奪三振</a:t>
                      </a:r>
                    </a:p>
                  </a:txBody>
                  <a:tcPr>
                    <a:solidFill>
                      <a:srgbClr val="F3F6FC"/>
                    </a:solidFill>
                  </a:tcPr>
                </a:tc>
              </a:tr>
              <a:tr h="457200">
                <a:tc>
                  <a:txBody>
                    <a:bodyPr/>
                    <a:lstStyle/>
                    <a:p>
                      <a:pPr>
                        <a:defRPr sz="1200">
                          <a:solidFill>
                            <a:srgbClr val="1A1A2E"/>
                          </a:solidFill>
                          <a:latin typeface="Yu Gothic"/>
                        </a:defRPr>
                      </a:pPr>
                      <a:r>
                        <a:t>登板後の通算成績</a:t>
                      </a:r>
                    </a:p>
                  </a:txBody>
                  <a:tcPr>
                    <a:solidFill>
                      <a:srgbClr val="FFFFFF"/>
                    </a:solidFill>
                  </a:tcPr>
                </a:tc>
                <a:tc>
                  <a:txBody>
                    <a:bodyPr/>
                    <a:lstStyle/>
                    <a:p>
                      <a:pPr>
                        <a:defRPr sz="1200">
                          <a:solidFill>
                            <a:srgbClr val="1A1A2E"/>
                          </a:solidFill>
                          <a:latin typeface="Yu Gothic"/>
                        </a:defRPr>
                      </a:pPr>
                      <a:r>
                        <a:t>10勝8敗</a:t>
                      </a:r>
                    </a:p>
                  </a:txBody>
                  <a:tcPr>
                    <a:solidFill>
                      <a:srgbClr val="FFFFFF"/>
                    </a:solidFill>
                  </a:tcPr>
                </a:tc>
                <a:tc>
                  <a:txBody>
                    <a:bodyPr/>
                    <a:lstStyle/>
                    <a:p>
                      <a:pPr>
                        <a:defRPr sz="1200">
                          <a:solidFill>
                            <a:srgbClr val="1A1A2E"/>
                          </a:solidFill>
                          <a:latin typeface="Yu Gothic"/>
                        </a:defRPr>
                      </a:pPr>
                      <a:r>
                        <a:t>12勝7敗</a:t>
                      </a:r>
                    </a:p>
                  </a:txBody>
                  <a:tcPr>
                    <a:solidFill>
                      <a:srgbClr val="FFFFFF"/>
                    </a:solidFill>
                  </a:tcPr>
                </a:tc>
              </a:tr>
              <a:tr h="457200">
                <a:tc>
                  <a:txBody>
                    <a:bodyPr/>
                    <a:lstStyle/>
                    <a:p>
                      <a:pPr>
                        <a:defRPr sz="1200">
                          <a:solidFill>
                            <a:srgbClr val="1A1A2E"/>
                          </a:solidFill>
                          <a:latin typeface="Yu Gothic"/>
                        </a:defRPr>
                      </a:pPr>
                      <a:r>
                        <a:t>チーム結果</a:t>
                      </a:r>
                    </a:p>
                  </a:txBody>
                  <a:tcPr>
                    <a:solidFill>
                      <a:srgbClr val="F3F6FC"/>
                    </a:solidFill>
                  </a:tcPr>
                </a:tc>
                <a:tc>
                  <a:txBody>
                    <a:bodyPr/>
                    <a:lstStyle/>
                    <a:p>
                      <a:pPr>
                        <a:defRPr sz="1200">
                          <a:solidFill>
                            <a:srgbClr val="1A1A2E"/>
                          </a:solidFill>
                          <a:latin typeface="Yu Gothic"/>
                        </a:defRPr>
                      </a:pPr>
                      <a:r>
                        <a:t>エンゼルス7-4で敗戦</a:t>
                      </a:r>
                    </a:p>
                  </a:txBody>
                  <a:tcPr>
                    <a:solidFill>
                      <a:srgbClr val="F3F6FC"/>
                    </a:solidFill>
                  </a:tcPr>
                </a:tc>
                <a:tc>
                  <a:txBody>
                    <a:bodyPr/>
                    <a:lstStyle/>
                    <a:p>
                      <a:pPr>
                        <a:defRPr sz="1200">
                          <a:solidFill>
                            <a:srgbClr val="1A1A2E"/>
                          </a:solidFill>
                          <a:latin typeface="Yu Gothic"/>
                        </a:defRPr>
                      </a:pPr>
                      <a:r>
                        <a:t>ドジャース3-1で勝利</a:t>
                      </a:r>
                    </a:p>
                  </a:txBody>
                  <a:tcPr>
                    <a:solidFill>
                      <a:srgbClr val="F3F6FC"/>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既存テーマ2026-08-11研究資料(MLB.com)・Yahoo!ニュース・Full-Count・デイリースポーツ(2026-08-15)</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Yahoo!ニュース(J SPORTS配信)・Full-Count・デイリースポーツ・ベースボールチャンネル(2026-08-15)｜本日2本目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失点数の比較(8/11 → 8/15)</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Chart 5"/>
          <p:cNvGraphicFramePr>
            <a:graphicFrameLocks noGrp="1"/>
          </p:cNvGraphicFramePr>
          <p:nvPr/>
        </p:nvGraphicFramePr>
        <p:xfrm>
          <a:off x="640080" y="1463040"/>
          <a:ext cx="10881360" cy="4297680"/>
        </p:xfrm>
        <a:graphic>
          <a:graphicData uri="http://schemas.openxmlformats.org/drawingml/2006/chart">
            <c:chart xmlns:c="http://schemas.openxmlformats.org/drawingml/2006/chart" r:id="rId2"/>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既存テーマ2026-08-11研究資料・Full-Count(2026-08-15)</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Yahoo!ニュース(J SPORTS配信)・Full-Count・デイリースポーツ・ベースボールチャンネル(2026-08-15)｜本日2本目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被安打数の比較(8/11 → 8/15)</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Chart 5"/>
          <p:cNvGraphicFramePr>
            <a:graphicFrameLocks noGrp="1"/>
          </p:cNvGraphicFramePr>
          <p:nvPr/>
        </p:nvGraphicFramePr>
        <p:xfrm>
          <a:off x="640080" y="1463040"/>
          <a:ext cx="10881360" cy="4297680"/>
        </p:xfrm>
        <a:graphic>
          <a:graphicData uri="http://schemas.openxmlformats.org/drawingml/2006/chart">
            <c:chart xmlns:c="http://schemas.openxmlformats.org/drawingml/2006/chart" r:id="rId2"/>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既存テーマ2026-08-11研究資料・デイリースポーツ(2026-08-15)</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Yahoo!ニュース(J SPORTS配信)・Full-Count・デイリースポーツ・ベースボールチャンネル(2026-08-15)｜本日2本目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投球数はほぼ変わらない</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99球 → 97球</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投球数はほぼ同じだったにもかかわらず、投げられたイニング数・内容は大きく異なった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既存テーマ2026-08-11研究資料・Full-Count(2026-08-15)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9奪三振</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9奪三振</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8/15の登板における奪三振数。8/11の奪三振数は出典の範囲では確認できておらず、単純比較はできない</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Yahoo!ニュース(J SPORTS配信)・デイリースポーツ(2026-08-15)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8/15登板が評価される3つのポイント</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投球回の長さ</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6回を投げ切り、4回2/3で降板した前回より長いイニングを消化した</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少ない失点</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1失点に抑え、渡米後ワーストだった前回の6失点から大きく改善した</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多い奪三振</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9奪三振を記録し、球威・制球ともに安定していたことがうかがえる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Yahoo!ニュース(J SPORTS配信)・Full-Count・デイリースポーツ・ベースボールチャンネル(2026-08-15)｜本日2本目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今季の通算成績</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12勝7敗</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この登板により今季の通算成績は12勝7敗となった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Full-Count・デイリースポーツ(2026-08-15)</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「渡米後最多タイ」とは何を意味するか</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この表現の意味を確認します。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山本投手は2024年にドジャースへ移籍し、MLBでの投球を開始した</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「渡米後最多タイ」とは、2024年以降のシーズン単位の勝利数で、今回の12勝が過去の最多記録と並んだという意味である</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従来の最多勝が具体的に何勝だったシーズンかは、本調査の範囲では確認できておらず不明とする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Full-Count・デイリースポーツ(2026-08-15)</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Yahoo!ニュース(J SPORTS配信)・Full-Count・デイリースポーツ・ベースボールチャンネル(2026-08-15)｜本日2本目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好不調の波は野球競技の一般的な性質</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誤解を避けるために補足します。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エースクラスの投手でも、シーズン中に好不調の波が生じることは野球全般で見られる一般的な性質である</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8/11の内容を「終わった」「限界」等の断定的なネガティブ表現で扱わない</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8/15の好投も、単発の結果として淡々と紹介し、過度な期待や断定的な予測は行わない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Yahoo!ニュース(J SPORTS配信)・Full-Count・デイリースポーツ・ベースボールチャンネル(2026-08-15)｜本日2本目</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これで何が変わるか・読者への示唆</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このニュースが意味することを整理します。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山本投手の今季成績は12勝7敗まで積み上がり、渡米後のシーズン最多勝に並んだ</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直近の登板だけを見て評価するのではなく、複数登板の推移を追うことの重要性が分かる一例である</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次回登板や今後のタイトル争いの見通しは、本調査の範囲では確認できていない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Yahoo!ニュース(J SPORTS配信)・Full-Count・デイリースポーツ・ベースボールチャンネル(2026-08-15)｜本日2本目</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視聴者にとっての実践的な示唆</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野球ファンとして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1試合の結果だけでなく、直近の登板推移を合わせて見ることで選手の状態がより正確に分かる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スポーツニュースを追う立場として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見出しの数字(12勝)だけでなく、その直前の文脈(8/11の不振)まで確認する習慣が役立つ</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情報を発信する立場として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好調・不調のどちらの結果も、断定・誇張せず出典付きで淡々と伝える姿勢が信頼につながる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Yahoo!ニュース(J SPORTS配信)・Full-Count・デイリースポーツ・ベースボールチャンネル(2026-08-15)｜本日2本目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本テーマの扱い方について(誇張回避・敬意・中立性)</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本テーマを見る際にあらかじめお伝えしたい点です。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8/11の不振な内容は上書き・美化せず、既存資料どおり正確に引用している</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8/11の内容を揶揄・嘲笑する表現は一切使わず、選手への敬意を保っている</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数字・固有名詞の創作は行わず、確認できなかったことは不明と明記している</a:t>
            </a:r>
          </a:p>
        </p:txBody>
      </p:sp>
      <p:sp>
        <p:nvSpPr>
          <p:cNvPr id="13" name="Oval 12"/>
          <p:cNvSpPr/>
          <p:nvPr/>
        </p:nvSpPr>
        <p:spPr>
          <a:xfrm>
            <a:off x="457200" y="445312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実在選手の写真・肖像は使用せず、抽象的な図解・アイコンのみで構成している</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Yahoo!ニュース(J SPORTS配信)・Full-Count・デイリースポーツ・ベースボールチャンネル(2026-08-15)｜本日2本目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見出しの印象 / 実際の内容のギャップ</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見出しから受けがちな印象</a:t>
            </a:r>
          </a:p>
        </p:txBody>
      </p:sp>
      <p:sp>
        <p:nvSpPr>
          <p:cNvPr id="9" name="Oval 8"/>
          <p:cNvSpPr/>
          <p:nvPr/>
        </p:nvSpPr>
        <p:spPr>
          <a:xfrm>
            <a:off x="777240"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山本投手はもう完全に絶好調に戻った</a:t>
            </a:r>
          </a:p>
        </p:txBody>
      </p:sp>
      <p:sp>
        <p:nvSpPr>
          <p:cNvPr id="11" name="Oval 10"/>
          <p:cNvSpPr/>
          <p:nvPr/>
        </p:nvSpPr>
        <p:spPr>
          <a:xfrm>
            <a:off x="777240"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8/11の不振は取るに足らない一時的なもの</a:t>
            </a:r>
          </a:p>
        </p:txBody>
      </p:sp>
      <p:sp>
        <p:nvSpPr>
          <p:cNvPr id="13" name="Oval 12"/>
          <p:cNvSpPr/>
          <p:nvPr/>
        </p:nvSpPr>
        <p:spPr>
          <a:xfrm>
            <a:off x="777240" y="363016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今後も勝ち続けることが確定している</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実際に報じられている内容</a:t>
            </a:r>
          </a:p>
        </p:txBody>
      </p:sp>
      <p:sp>
        <p:nvSpPr>
          <p:cNvPr id="18" name="Oval 17"/>
          <p:cNvSpPr/>
          <p:nvPr/>
        </p:nvSpPr>
        <p:spPr>
          <a:xfrm>
            <a:off x="6598767"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1試合の好投であり、今後の推移は確認できていない</a:t>
            </a:r>
          </a:p>
        </p:txBody>
      </p:sp>
      <p:sp>
        <p:nvSpPr>
          <p:cNvPr id="20" name="Oval 19"/>
          <p:cNvSpPr/>
          <p:nvPr/>
        </p:nvSpPr>
        <p:spPr>
          <a:xfrm>
            <a:off x="6598767"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8/11の6失点は渡米後ワーストという事実であり、なかったことにはしない</a:t>
            </a:r>
          </a:p>
        </p:txBody>
      </p:sp>
      <p:sp>
        <p:nvSpPr>
          <p:cNvPr id="22" name="Oval 21"/>
          <p:cNvSpPr/>
          <p:nvPr/>
        </p:nvSpPr>
        <p:spPr>
          <a:xfrm>
            <a:off x="6598767" y="363016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次回登板・今後の見通しは本調査の範囲では不明</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Yahoo!ニュース(J SPORTS配信)・Full-Count・デイリースポーツ・ベースボールチャンネル(2026-08-15)｜本日2本目</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確認できていないこと(1)</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正直にお伝えします。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山本投手本人の試合後のコメント内容の詳細</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次回登板の正確な日程</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今季の防御率・タイトル争いの状況、ポストシーズン展望</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Yahoo!ニュース(J SPORTS配信)・Full-Count・デイリースポーツ・ベースボールチャンネル(2026-08-15)｜本日2本目</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確認できていないこと(2・一覧)</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E2761"/>
                    </a:solidFill>
                  </a:tcPr>
                </a:tc>
                <a:tc>
                  <a:txBody>
                    <a:bodyPr/>
                    <a:lstStyle/>
                    <a:p>
                      <a:pPr>
                        <a:defRPr sz="1300" b="1">
                          <a:solidFill>
                            <a:srgbClr val="FFFFFF"/>
                          </a:solidFill>
                          <a:latin typeface="Yu Gothic"/>
                        </a:defRPr>
                      </a:pPr>
                      <a:r>
                        <a:t>状況</a:t>
                      </a:r>
                    </a:p>
                  </a:txBody>
                  <a:tcPr>
                    <a:solidFill>
                      <a:srgbClr val="1E2761"/>
                    </a:solidFill>
                  </a:tcPr>
                </a:tc>
              </a:tr>
              <a:tr h="502920">
                <a:tc>
                  <a:txBody>
                    <a:bodyPr/>
                    <a:lstStyle/>
                    <a:p>
                      <a:pPr>
                        <a:defRPr sz="1200">
                          <a:solidFill>
                            <a:srgbClr val="1A1A2E"/>
                          </a:solidFill>
                          <a:latin typeface="Yu Gothic"/>
                        </a:defRPr>
                      </a:pPr>
                      <a:r>
                        <a:t>次回登板の正確な日程</a:t>
                      </a:r>
                    </a:p>
                  </a:txBody>
                  <a:tcPr>
                    <a:solidFill>
                      <a:srgbClr val="FFFFFF"/>
                    </a:solidFill>
                  </a:tcPr>
                </a:tc>
                <a:tc>
                  <a:txBody>
                    <a:bodyPr/>
                    <a:lstStyle/>
                    <a:p>
                      <a:pPr>
                        <a:defRPr sz="1200">
                          <a:solidFill>
                            <a:srgbClr val="1A1A2E"/>
                          </a:solidFill>
                          <a:latin typeface="Yu Gothic"/>
                        </a:defRPr>
                      </a:pPr>
                      <a:r>
                        <a:t>本調査の範囲では確認できていない</a:t>
                      </a:r>
                    </a:p>
                  </a:txBody>
                  <a:tcPr>
                    <a:solidFill>
                      <a:srgbClr val="FFFFFF"/>
                    </a:solidFill>
                  </a:tcPr>
                </a:tc>
              </a:tr>
              <a:tr h="502920">
                <a:tc>
                  <a:txBody>
                    <a:bodyPr/>
                    <a:lstStyle/>
                    <a:p>
                      <a:pPr>
                        <a:defRPr sz="1200">
                          <a:solidFill>
                            <a:srgbClr val="1A1A2E"/>
                          </a:solidFill>
                          <a:latin typeface="Yu Gothic"/>
                        </a:defRPr>
                      </a:pPr>
                      <a:r>
                        <a:t>1失点の具体的な内容(何回にどう失点したか)</a:t>
                      </a:r>
                    </a:p>
                  </a:txBody>
                  <a:tcPr>
                    <a:solidFill>
                      <a:srgbClr val="F3F6FC"/>
                    </a:solidFill>
                  </a:tcPr>
                </a:tc>
                <a:tc>
                  <a:txBody>
                    <a:bodyPr/>
                    <a:lstStyle/>
                    <a:p>
                      <a:pPr>
                        <a:defRPr sz="1200">
                          <a:solidFill>
                            <a:srgbClr val="1A1A2E"/>
                          </a:solidFill>
                          <a:latin typeface="Yu Gothic"/>
                        </a:defRPr>
                      </a:pPr>
                      <a:r>
                        <a:t>本調査の範囲では確認できていない</a:t>
                      </a:r>
                    </a:p>
                  </a:txBody>
                  <a:tcPr>
                    <a:solidFill>
                      <a:srgbClr val="F3F6FC"/>
                    </a:solidFill>
                  </a:tcPr>
                </a:tc>
              </a:tr>
              <a:tr h="502920">
                <a:tc>
                  <a:txBody>
                    <a:bodyPr/>
                    <a:lstStyle/>
                    <a:p>
                      <a:pPr>
                        <a:defRPr sz="1200">
                          <a:solidFill>
                            <a:srgbClr val="1A1A2E"/>
                          </a:solidFill>
                          <a:latin typeface="Yu Gothic"/>
                        </a:defRPr>
                      </a:pPr>
                      <a:r>
                        <a:t>8/15登板の与四死球数</a:t>
                      </a:r>
                    </a:p>
                  </a:txBody>
                  <a:tcPr>
                    <a:solidFill>
                      <a:srgbClr val="FFFFFF"/>
                    </a:solidFill>
                  </a:tcPr>
                </a:tc>
                <a:tc>
                  <a:txBody>
                    <a:bodyPr/>
                    <a:lstStyle/>
                    <a:p>
                      <a:pPr>
                        <a:defRPr sz="1200">
                          <a:solidFill>
                            <a:srgbClr val="1A1A2E"/>
                          </a:solidFill>
                          <a:latin typeface="Yu Gothic"/>
                        </a:defRPr>
                      </a:pPr>
                      <a:r>
                        <a:t>出典の範囲では確認できていない</a:t>
                      </a:r>
                    </a:p>
                  </a:txBody>
                  <a:tcPr>
                    <a:solidFill>
                      <a:srgbClr val="FFFFFF"/>
                    </a:solidFill>
                  </a:tcPr>
                </a:tc>
              </a:tr>
              <a:tr h="502920">
                <a:tc>
                  <a:txBody>
                    <a:bodyPr/>
                    <a:lstStyle/>
                    <a:p>
                      <a:pPr>
                        <a:defRPr sz="1200">
                          <a:solidFill>
                            <a:srgbClr val="1A1A2E"/>
                          </a:solidFill>
                          <a:latin typeface="Yu Gothic"/>
                        </a:defRPr>
                      </a:pPr>
                      <a:r>
                        <a:t>渡米後の従来の最多勝記録の具体的な勝利数</a:t>
                      </a:r>
                    </a:p>
                  </a:txBody>
                  <a:tcPr>
                    <a:solidFill>
                      <a:srgbClr val="F3F6FC"/>
                    </a:solidFill>
                  </a:tcPr>
                </a:tc>
                <a:tc>
                  <a:txBody>
                    <a:bodyPr/>
                    <a:lstStyle/>
                    <a:p>
                      <a:pPr>
                        <a:defRPr sz="1200">
                          <a:solidFill>
                            <a:srgbClr val="1A1A2E"/>
                          </a:solidFill>
                          <a:latin typeface="Yu Gothic"/>
                        </a:defRPr>
                      </a:pPr>
                      <a:r>
                        <a:t>報道は『タイ』と表現するのみで、比較対象シーズンの数値までは確認できていない</a:t>
                      </a:r>
                    </a:p>
                  </a:txBody>
                  <a:tcPr>
                    <a:solidFill>
                      <a:srgbClr val="F3F6FC"/>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Yahoo!ニュース(J SPORTS配信)・Full-Count・デイリースポーツ・ベースボールチャンネル(2026-08-15)｜本日2本目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事実と推測を分けて整理する</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報道内容を、事実と推測に分けます。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事実: 8/15の投球内容(6回97球4安打1失点9奪三振)・12勝7敗・渡米後最多タイ・試合結果3-1は複数メディアが一致</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事実: 8/11の投球内容(4回2/3・99球・6安打・6失点)は既存資料の確定事実</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推測: 中日の調整が好投につながった可能性(具体的な調整内容は不明のため断定しない)</a:t>
            </a:r>
          </a:p>
        </p:txBody>
      </p:sp>
      <p:sp>
        <p:nvSpPr>
          <p:cNvPr id="13" name="Oval 12"/>
          <p:cNvSpPr/>
          <p:nvPr/>
        </p:nvSpPr>
        <p:spPr>
          <a:xfrm>
            <a:off x="457200" y="445312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不明: 次回登板日程、1失点の詳細、8/15の与四死球数、防御率・タイトル争いの状況</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Yahoo!ニュース(J SPORTS配信)・Full-Count・デイリースポーツ・ベースボールチャンネル(2026-08-15)｜本日2本目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本テーマの鮮度</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着手日の1日前</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登板日(2026年8月15日)は着手日(2026年8月16日)から1日前。着手日を含めて2日以内という基準を満たす</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docs/06_Content_R&amp;D.md基準</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主な出典一覧</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メディア</a:t>
                      </a:r>
                    </a:p>
                  </a:txBody>
                  <a:tcPr>
                    <a:solidFill>
                      <a:srgbClr val="1E2761"/>
                    </a:solidFill>
                  </a:tcPr>
                </a:tc>
                <a:tc>
                  <a:txBody>
                    <a:bodyPr/>
                    <a:lstStyle/>
                    <a:p>
                      <a:pPr>
                        <a:defRPr sz="1300" b="1">
                          <a:solidFill>
                            <a:srgbClr val="FFFFFF"/>
                          </a:solidFill>
                          <a:latin typeface="Yu Gothic"/>
                        </a:defRPr>
                      </a:pPr>
                      <a:r>
                        <a:t>内容</a:t>
                      </a:r>
                    </a:p>
                  </a:txBody>
                  <a:tcPr>
                    <a:solidFill>
                      <a:srgbClr val="1E2761"/>
                    </a:solidFill>
                  </a:tcPr>
                </a:tc>
              </a:tr>
              <a:tr h="502920">
                <a:tc>
                  <a:txBody>
                    <a:bodyPr/>
                    <a:lstStyle/>
                    <a:p>
                      <a:pPr>
                        <a:defRPr sz="1200">
                          <a:solidFill>
                            <a:srgbClr val="1A1A2E"/>
                          </a:solidFill>
                          <a:latin typeface="Yu Gothic"/>
                        </a:defRPr>
                      </a:pPr>
                      <a:r>
                        <a:t>Yahoo!ニュース(J SPORTS配信)</a:t>
                      </a:r>
                    </a:p>
                  </a:txBody>
                  <a:tcPr>
                    <a:solidFill>
                      <a:srgbClr val="FFFFFF"/>
                    </a:solidFill>
                  </a:tcPr>
                </a:tc>
                <a:tc>
                  <a:txBody>
                    <a:bodyPr/>
                    <a:lstStyle/>
                    <a:p>
                      <a:pPr>
                        <a:defRPr sz="1200">
                          <a:solidFill>
                            <a:srgbClr val="1A1A2E"/>
                          </a:solidFill>
                          <a:latin typeface="Yu Gothic"/>
                        </a:defRPr>
                      </a:pPr>
                      <a:r>
                        <a:t>「山本由伸、6回1失点9奪三振で12勝目」(2026-08-15)</a:t>
                      </a:r>
                    </a:p>
                  </a:txBody>
                  <a:tcPr>
                    <a:solidFill>
                      <a:srgbClr val="FFFFFF"/>
                    </a:solidFill>
                  </a:tcPr>
                </a:tc>
              </a:tr>
              <a:tr h="502920">
                <a:tc>
                  <a:txBody>
                    <a:bodyPr/>
                    <a:lstStyle/>
                    <a:p>
                      <a:pPr>
                        <a:defRPr sz="1200">
                          <a:solidFill>
                            <a:srgbClr val="1A1A2E"/>
                          </a:solidFill>
                          <a:latin typeface="Yu Gothic"/>
                        </a:defRPr>
                      </a:pPr>
                      <a:r>
                        <a:t>Full-Count</a:t>
                      </a:r>
                    </a:p>
                  </a:txBody>
                  <a:tcPr>
                    <a:solidFill>
                      <a:srgbClr val="F3F6FC"/>
                    </a:solidFill>
                  </a:tcPr>
                </a:tc>
                <a:tc>
                  <a:txBody>
                    <a:bodyPr/>
                    <a:lstStyle/>
                    <a:p>
                      <a:pPr>
                        <a:defRPr sz="1200">
                          <a:solidFill>
                            <a:srgbClr val="1A1A2E"/>
                          </a:solidFill>
                          <a:latin typeface="Yu Gothic"/>
                        </a:defRPr>
                      </a:pPr>
                      <a:r>
                        <a:t>「渡米後最多タイ12勝目」(2026-08-15)</a:t>
                      </a:r>
                    </a:p>
                  </a:txBody>
                  <a:tcPr>
                    <a:solidFill>
                      <a:srgbClr val="F3F6FC"/>
                    </a:solidFill>
                  </a:tcPr>
                </a:tc>
              </a:tr>
              <a:tr h="502920">
                <a:tc>
                  <a:txBody>
                    <a:bodyPr/>
                    <a:lstStyle/>
                    <a:p>
                      <a:pPr>
                        <a:defRPr sz="1200">
                          <a:solidFill>
                            <a:srgbClr val="1A1A2E"/>
                          </a:solidFill>
                          <a:latin typeface="Yu Gothic"/>
                        </a:defRPr>
                      </a:pPr>
                      <a:r>
                        <a:t>デイリースポーツ</a:t>
                      </a:r>
                    </a:p>
                  </a:txBody>
                  <a:tcPr>
                    <a:solidFill>
                      <a:srgbClr val="FFFFFF"/>
                    </a:solidFill>
                  </a:tcPr>
                </a:tc>
                <a:tc>
                  <a:txBody>
                    <a:bodyPr/>
                    <a:lstStyle/>
                    <a:p>
                      <a:pPr>
                        <a:defRPr sz="1200">
                          <a:solidFill>
                            <a:srgbClr val="1A1A2E"/>
                          </a:solidFill>
                          <a:latin typeface="Yu Gothic"/>
                        </a:defRPr>
                      </a:pPr>
                      <a:r>
                        <a:t>「自身最多タイ12勝目」(2026-08-15)</a:t>
                      </a:r>
                    </a:p>
                  </a:txBody>
                  <a:tcPr>
                    <a:solidFill>
                      <a:srgbClr val="FFFFFF"/>
                    </a:solidFill>
                  </a:tcPr>
                </a:tc>
              </a:tr>
              <a:tr h="502920">
                <a:tc>
                  <a:txBody>
                    <a:bodyPr/>
                    <a:lstStyle/>
                    <a:p>
                      <a:pPr>
                        <a:defRPr sz="1200">
                          <a:solidFill>
                            <a:srgbClr val="1A1A2E"/>
                          </a:solidFill>
                          <a:latin typeface="Yu Gothic"/>
                        </a:defRPr>
                      </a:pPr>
                      <a:r>
                        <a:t>ベースボールチャンネル</a:t>
                      </a:r>
                    </a:p>
                  </a:txBody>
                  <a:tcPr>
                    <a:solidFill>
                      <a:srgbClr val="F3F6FC"/>
                    </a:solidFill>
                  </a:tcPr>
                </a:tc>
                <a:tc>
                  <a:txBody>
                    <a:bodyPr/>
                    <a:lstStyle/>
                    <a:p>
                      <a:pPr>
                        <a:defRPr sz="1200">
                          <a:solidFill>
                            <a:srgbClr val="1A1A2E"/>
                          </a:solidFill>
                          <a:latin typeface="Yu Gothic"/>
                        </a:defRPr>
                      </a:pPr>
                      <a:r>
                        <a:t>試合速報(ドジャース3-1でブルワーズに勝利)</a:t>
                      </a:r>
                    </a:p>
                  </a:txBody>
                  <a:tcPr>
                    <a:solidFill>
                      <a:srgbClr val="F3F6FC"/>
                    </a:solidFill>
                  </a:tcPr>
                </a:tc>
              </a:tr>
              <a:tr h="502920">
                <a:tc>
                  <a:txBody>
                    <a:bodyPr/>
                    <a:lstStyle/>
                    <a:p>
                      <a:pPr>
                        <a:defRPr sz="1200">
                          <a:solidFill>
                            <a:srgbClr val="1A1A2E"/>
                          </a:solidFill>
                          <a:latin typeface="Yu Gothic"/>
                        </a:defRPr>
                      </a:pPr>
                      <a:r>
                        <a:t>既存資料(2026-08-11テーマ)</a:t>
                      </a:r>
                    </a:p>
                  </a:txBody>
                  <a:tcPr>
                    <a:solidFill>
                      <a:srgbClr val="FFFFFF"/>
                    </a:solidFill>
                  </a:tcPr>
                </a:tc>
                <a:tc>
                  <a:txBody>
                    <a:bodyPr/>
                    <a:lstStyle/>
                    <a:p>
                      <a:pPr>
                        <a:defRPr sz="1200">
                          <a:solidFill>
                            <a:srgbClr val="1A1A2E"/>
                          </a:solidFill>
                          <a:latin typeface="Yu Gothic"/>
                        </a:defRPr>
                      </a:pPr>
                      <a:r>
                        <a:t>8/11対エンゼルス戦の確定事実(MLB.com経由)</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Yahoo!ニュース(J SPORTS配信)・Full-Count・デイリースポーツ・ベースボールチャンネル(2026-08-15)｜本日2本目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自己最悪級の炎上登板から、わずか4日で自己最多タイへ。</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CADCFC"/>
                </a:solidFill>
                <a:latin typeface="Yu Gothic"/>
              </a:rPr>
              <a:t>特定の1試合だけでなく、複数登板の推移を追うことで見えてくる記録です。今回も出典付きで事実を整理してお届けしました。</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1E2761"/>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