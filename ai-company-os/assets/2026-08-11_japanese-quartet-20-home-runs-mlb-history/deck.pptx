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本塁打数</c:v>
                </c:pt>
              </c:strCache>
            </c:strRef>
          </c:tx>
          <c:spPr>
            <a:solidFill>
              <a:srgbClr val="7A1F2B"/>
            </a:solidFill>
          </c:spPr>
          <c:cat>
            <c:strRef>
              <c:f>Sheet1!$A$2:$A$5</c:f>
              <c:strCache>
                <c:ptCount val="4"/>
                <c:pt idx="0">
                  <c:v>大谷選手</c:v>
                </c:pt>
                <c:pt idx="1">
                  <c:v>村上選手</c:v>
                </c:pt>
                <c:pt idx="2">
                  <c:v>岡本選手</c:v>
                </c:pt>
                <c:pt idx="3">
                  <c:v>鈴木選手</c:v>
                </c:pt>
              </c:strCache>
            </c:strRef>
          </c:cat>
          <c:val>
            <c:numRef>
              <c:f>Sheet1!$B$2:$B$5</c:f>
              <c:numCache>
                <c:formatCode>General</c:formatCode>
                <c:ptCount val="4"/>
                <c:pt idx="0">
                  <c:v>26</c:v>
                </c:pt>
                <c:pt idx="1">
                  <c:v>26</c:v>
                </c:pt>
                <c:pt idx="2">
                  <c:v>24</c:v>
                </c:pt>
                <c:pt idx="3">
                  <c:v>20</c:v>
                </c:pt>
              </c:numCache>
            </c:numRef>
          </c:val>
        </c:ser>
        <c:dLbls>
          <c:numFmt formatCode="#,##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11日、シカゴ・カブスの鈴木誠也選手が20号ソロ本塁打を放ちました。これで村上選手・岡本選手・大谷選手に続き、日本人選手4人が同一シーズンで20本塁打に到達。メジャーリーグ史上初の記録です。今日はこの出来事を出典付き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結論から言うと、日本人選手4人が同一シーズンで20本塁打を達成したのは、メジャーリーグ史上初です。鈴木誠也選手の20号到達によって、この記録が生まれました。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今日は、何が起きたのか、史上初の中身、鈴木選手の20号の詳細、4選手の現在地、そして不明点と今後の見方をお伝えします。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この話題を今回取り上げる理由は3つです。着手日から2日前という鮮度、複数メディアの一致した報道、そして史上初という強いフックです。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鈴木誠也選手は2026年8月11日、8回にソロ本塁打を放ち20号に到達しました。これが史上初の記録につながる一打でした。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20号本塁打の詳細です。相手はマイコラス投手、8回に放たれたソロ本塁打でした。マイコラス投手はかつて読売ジャイアンツに所属していた投手です。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初めての方向けに「本塁打」を説明します。打球を外野フェンスの外まで運び本塁まで生還する打撃で、1本で確実に得点が入る、野球で特に注目されるプレーです。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「シーズン20本塁打」は、1シーズンを通じて安定した長打力を示す目安とされる本数です。この節目に日本人選手4人が同時に到達したことが、今回の焦点です。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20本塁打に到達した4選手と、それぞれの所属球団です。村上選手はホワイトソックス、岡本選手はブルージェイズ、大谷選手はドジャース、鈴木選手はカブスに所属しています。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出典の見出しでは、村上選手・岡本選手・大谷選手に続き鈴木選手が20号に到達したと紹介されています。それぞれの正確な到達日までは確認できていません。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改めてこの数字です。日本人選手4人が同一シーズンで20本塁打を達成したのは、メジャーリーグ史上初のことです。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改めて4選手のプロフィールです。それぞれ異なる球団に所属しながら、同じシーズンで20本塁打という節目に到達しました。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鈴木選手にはもう一つの記録があります。4年連続でシーズン20本塁打を達成したことです。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4年連続20本塁打がすごいのは、複数年にわたり安定して長打力を発揮し続けている証だからです。大谷選手に続き史上2人目という希少性もあります。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この数字にも注目です。4年連続20本塁打は、大谷翔平選手に続き鈴木誠也選手が史上2人目の達成となりました。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4年連続20本塁打を達成したのは、大谷翔平選手に続き鈴木誠也選手が史上2人目です。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20号本塁打の相手投手にも注目です。マイコラス投手はかつて読売ジャイアンツに所属していた投手で、日本の野球ファンにもなじみがあります。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マイコラス投手について確認できているのはこの3点です。今シーズンの詳しい成績や、鈴木選手との対戦成績の詳細までは確認できていません。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記事時点での本塁打数をまとめました。大谷選手と村上選手が26号、岡本選手が24号、鈴木選手が20号です。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グラフにするとこうです。大谷選手・村上選手が26本、岡本選手が24本、鈴木選手が20本と、4人ともに高い水準の本塁打数です。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全体の流れを図で見ると、村上選手・岡本選手・大谷選手が先に20本塁打に到達し、そこに鈴木選手が加わったことで史上初の記録が生まれました。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この記録を知ると何が変わるか。4人の本塁打数を並行して追いかける楽しみ方ができ、日本人選手全体の層の厚さを示す材料にもなります。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この記録を見るポイントは3つです。現時点の数字を確認すること、最終的な本塁打数は断定しないこと、そして不明点は不明のまま受け止めることです。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事実と不明点を分けて整理します。20号到達の詳細や記事時点の本塁打数は事実として確認できていますが、最終的な本塁打数や過去の記録の詳細は確認できていません。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確認できていない項目を一覧にしました。最終本塁打数、詳細な打撃成績、過去の記録の詳細、到達日はいずれも確認できていません。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ここで大事な点を確認します。本テーマは4選手全員を公平に扱い、特定の選手を過度に持ち上げる表現、マイコラス投手を貶める表現もしていません。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注意点です。最終本塁打数は断定せず、過去の記録の詳細も推測で補わず、出典に明記のない数字は一切使用していません。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出典はこの表の通りです。スポーツ報知とTHE ANSWERが同じ記録を報じています。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4選手それぞれが最終的に何本まで伸ばすか、今後の推移にも注目していきましょう。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今回もありがとうございました。日本人選手4人による史上初の同一シーズン20本塁打をお届けしました。次回もお楽しみに。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メジャーの歴史が、日本人4人によって塗り替えられた。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鈴木誠也選手が20号到達。日本人選手4人が同一シーズン20本塁打、メジャーリーグ史上初</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スポーツ報知(dメニューニュース経由)/THE ANSWER(Yahoo!ニュース経由)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史上初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日本人選手4人が同一シーズンで20本塁打を達成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史上初の中身</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鈴木選手の20号の詳細</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4選手の現在地</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不明点・今後の見方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発生日は2026年8月11日、着手日(8月13日)から2日前という高い鮮度</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スポーツ報知・THE ANSWERの複数媒体が一致して報道</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「メジャーリーグ史上初」という分かりやすく強いフックがある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スポーツ報知(dメニューニュース経由)/THE ANSWER(Yahoo!ニュース経由)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鈴木誠也選手の20号</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20号</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2026年8月11日、8回にソロ本塁打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20号本塁打の詳細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球団</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シカゴ・カブス</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対戦投手</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マイコラス投手(元読売ジャイアンツ)</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イニング</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8回</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本塁打の種類</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ソロ本塁打</a:t>
            </a:r>
          </a:p>
        </p:txBody>
      </p:sp>
      <p:sp>
        <p:nvSpPr>
          <p:cNvPr id="22" name="TextBox 2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初心者向け基礎知識:「本塁打(ホームラン)」とは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打者が打球を敵陣の外野フェンスの外まで運び、一気に本塁まで生還する打撃</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1本で確実に1点(以上)が入るため、野球の中でも特に注目されるプレー</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シーズンを通じた本塁打数は、打者の長打力を示す代表的な指標として扱われる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初心者向け基礎知識:「シーズン20本塁打」の節目</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1シーズンを通じて安定して長打力を発揮できている打者の目安とされる本数</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海外選手が多いメジャーリーグで、日本人選手が到達すること自体が話題になりやすい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今回は、この節目に日本人選手4人が同時に到達したことが焦点</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4選手の所属球団</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選手</a:t>
                      </a:r>
                    </a:p>
                  </a:txBody>
                  <a:tcPr>
                    <a:solidFill>
                      <a:srgbClr val="7A1F2B"/>
                    </a:solidFill>
                  </a:tcPr>
                </a:tc>
                <a:tc>
                  <a:txBody>
                    <a:bodyPr/>
                    <a:lstStyle/>
                    <a:p>
                      <a:pPr>
                        <a:defRPr sz="1300" b="1">
                          <a:solidFill>
                            <a:srgbClr val="FFFFFF"/>
                          </a:solidFill>
                          <a:latin typeface="Yu Gothic"/>
                        </a:defRPr>
                      </a:pPr>
                      <a:r>
                        <a:t>球団</a:t>
                      </a:r>
                    </a:p>
                  </a:txBody>
                  <a:tcPr>
                    <a:solidFill>
                      <a:srgbClr val="7A1F2B"/>
                    </a:solidFill>
                  </a:tcPr>
                </a:tc>
              </a:tr>
              <a:tr h="502920">
                <a:tc>
                  <a:txBody>
                    <a:bodyPr/>
                    <a:lstStyle/>
                    <a:p>
                      <a:pPr>
                        <a:defRPr sz="1200">
                          <a:solidFill>
                            <a:srgbClr val="2A1712"/>
                          </a:solidFill>
                          <a:latin typeface="Yu Gothic"/>
                        </a:defRPr>
                      </a:pPr>
                      <a:r>
                        <a:t>村上宗隆選手</a:t>
                      </a:r>
                    </a:p>
                  </a:txBody>
                  <a:tcPr>
                    <a:solidFill>
                      <a:srgbClr val="FFFFFF"/>
                    </a:solidFill>
                  </a:tcPr>
                </a:tc>
                <a:tc>
                  <a:txBody>
                    <a:bodyPr/>
                    <a:lstStyle/>
                    <a:p>
                      <a:pPr>
                        <a:defRPr sz="1200">
                          <a:solidFill>
                            <a:srgbClr val="2A1712"/>
                          </a:solidFill>
                          <a:latin typeface="Yu Gothic"/>
                        </a:defRPr>
                      </a:pPr>
                      <a:r>
                        <a:t>ホワイトソックス</a:t>
                      </a:r>
                    </a:p>
                  </a:txBody>
                  <a:tcPr>
                    <a:solidFill>
                      <a:srgbClr val="FFFFFF"/>
                    </a:solidFill>
                  </a:tcPr>
                </a:tc>
              </a:tr>
              <a:tr h="502920">
                <a:tc>
                  <a:txBody>
                    <a:bodyPr/>
                    <a:lstStyle/>
                    <a:p>
                      <a:pPr>
                        <a:defRPr sz="1200">
                          <a:solidFill>
                            <a:srgbClr val="2A1712"/>
                          </a:solidFill>
                          <a:latin typeface="Yu Gothic"/>
                        </a:defRPr>
                      </a:pPr>
                      <a:r>
                        <a:t>岡本和真選手</a:t>
                      </a:r>
                    </a:p>
                  </a:txBody>
                  <a:tcPr>
                    <a:solidFill>
                      <a:srgbClr val="FBF3E6"/>
                    </a:solidFill>
                  </a:tcPr>
                </a:tc>
                <a:tc>
                  <a:txBody>
                    <a:bodyPr/>
                    <a:lstStyle/>
                    <a:p>
                      <a:pPr>
                        <a:defRPr sz="1200">
                          <a:solidFill>
                            <a:srgbClr val="2A1712"/>
                          </a:solidFill>
                          <a:latin typeface="Yu Gothic"/>
                        </a:defRPr>
                      </a:pPr>
                      <a:r>
                        <a:t>ブルージェイズ</a:t>
                      </a:r>
                    </a:p>
                  </a:txBody>
                  <a:tcPr>
                    <a:solidFill>
                      <a:srgbClr val="FBF3E6"/>
                    </a:solidFill>
                  </a:tcPr>
                </a:tc>
              </a:tr>
              <a:tr h="502920">
                <a:tc>
                  <a:txBody>
                    <a:bodyPr/>
                    <a:lstStyle/>
                    <a:p>
                      <a:pPr>
                        <a:defRPr sz="1200">
                          <a:solidFill>
                            <a:srgbClr val="2A1712"/>
                          </a:solidFill>
                          <a:latin typeface="Yu Gothic"/>
                        </a:defRPr>
                      </a:pPr>
                      <a:r>
                        <a:t>大谷翔平選手</a:t>
                      </a:r>
                    </a:p>
                  </a:txBody>
                  <a:tcPr>
                    <a:solidFill>
                      <a:srgbClr val="FFFFFF"/>
                    </a:solidFill>
                  </a:tcPr>
                </a:tc>
                <a:tc>
                  <a:txBody>
                    <a:bodyPr/>
                    <a:lstStyle/>
                    <a:p>
                      <a:pPr>
                        <a:defRPr sz="1200">
                          <a:solidFill>
                            <a:srgbClr val="2A1712"/>
                          </a:solidFill>
                          <a:latin typeface="Yu Gothic"/>
                        </a:defRPr>
                      </a:pPr>
                      <a:r>
                        <a:t>ドジャース</a:t>
                      </a:r>
                    </a:p>
                  </a:txBody>
                  <a:tcPr>
                    <a:solidFill>
                      <a:srgbClr val="FFFFFF"/>
                    </a:solidFill>
                  </a:tcPr>
                </a:tc>
              </a:tr>
              <a:tr h="502920">
                <a:tc>
                  <a:txBody>
                    <a:bodyPr/>
                    <a:lstStyle/>
                    <a:p>
                      <a:pPr>
                        <a:defRPr sz="1200">
                          <a:solidFill>
                            <a:srgbClr val="2A1712"/>
                          </a:solidFill>
                          <a:latin typeface="Yu Gothic"/>
                        </a:defRPr>
                      </a:pPr>
                      <a:r>
                        <a:t>鈴木誠也選手</a:t>
                      </a:r>
                    </a:p>
                  </a:txBody>
                  <a:tcPr>
                    <a:solidFill>
                      <a:srgbClr val="FBF3E6"/>
                    </a:solidFill>
                  </a:tcPr>
                </a:tc>
                <a:tc>
                  <a:txBody>
                    <a:bodyPr/>
                    <a:lstStyle/>
                    <a:p>
                      <a:pPr>
                        <a:defRPr sz="1200">
                          <a:solidFill>
                            <a:srgbClr val="2A1712"/>
                          </a:solidFill>
                          <a:latin typeface="Yu Gothic"/>
                        </a:defRPr>
                      </a:pPr>
                      <a:r>
                        <a:t>カブス</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20号到達の順番(出典の記載順)</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村上選手</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ホワイトソックス</a:t>
            </a:r>
          </a:p>
        </p:txBody>
      </p:sp>
      <p:sp>
        <p:nvSpPr>
          <p:cNvPr id="10" name="Right Arrow 9"/>
          <p:cNvSpPr/>
          <p:nvPr/>
        </p:nvSpPr>
        <p:spPr>
          <a:xfrm>
            <a:off x="25571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岡本選手</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ブルージェイズ</a:t>
            </a:r>
          </a:p>
        </p:txBody>
      </p:sp>
      <p:sp>
        <p:nvSpPr>
          <p:cNvPr id="15" name="Right Arrow 14"/>
          <p:cNvSpPr/>
          <p:nvPr/>
        </p:nvSpPr>
        <p:spPr>
          <a:xfrm>
            <a:off x="57575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大谷選手</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ドジャース</a:t>
            </a:r>
          </a:p>
        </p:txBody>
      </p:sp>
      <p:sp>
        <p:nvSpPr>
          <p:cNvPr id="20" name="Right Arrow 19"/>
          <p:cNvSpPr/>
          <p:nvPr/>
        </p:nvSpPr>
        <p:spPr>
          <a:xfrm>
            <a:off x="89579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鈴木選手</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カブス(2026年8月11日)</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出典ではこの順番で20本塁打到達が紹介されている(各選手の到達日は本調査では未確認)</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史上初の記録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日本人4人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同一シーズンで20本塁打を達成したのはメジャーリーグ史上初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スポーツ報知(dメニューニュース経由)/THE ANSWER(Yahoo!ニュース経由)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4選手プロフィール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村上宗隆選手</a:t>
            </a:r>
          </a:p>
        </p:txBody>
      </p:sp>
      <p:sp>
        <p:nvSpPr>
          <p:cNvPr id="9" name="TextBox 8"/>
          <p:cNvSpPr txBox="1"/>
          <p:nvPr/>
        </p:nvSpPr>
        <p:spPr>
          <a:xfrm>
            <a:off x="731520"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ホワイトソックス所属</a:t>
            </a:r>
          </a:p>
        </p:txBody>
      </p:sp>
      <p:sp>
        <p:nvSpPr>
          <p:cNvPr id="10" name="Rounded Rectangle 9"/>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6533"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0853"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岡本和真選手</a:t>
            </a:r>
          </a:p>
        </p:txBody>
      </p:sp>
      <p:sp>
        <p:nvSpPr>
          <p:cNvPr id="13" name="TextBox 12"/>
          <p:cNvSpPr txBox="1"/>
          <p:nvPr/>
        </p:nvSpPr>
        <p:spPr>
          <a:xfrm>
            <a:off x="3630853"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ブルージェイズ所属</a:t>
            </a:r>
          </a:p>
        </p:txBody>
      </p:sp>
      <p:sp>
        <p:nvSpPr>
          <p:cNvPr id="14" name="Rounded Rectangle 13"/>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55867"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0187"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大谷翔平選手</a:t>
            </a:r>
          </a:p>
        </p:txBody>
      </p:sp>
      <p:sp>
        <p:nvSpPr>
          <p:cNvPr id="17" name="TextBox 16"/>
          <p:cNvSpPr txBox="1"/>
          <p:nvPr/>
        </p:nvSpPr>
        <p:spPr>
          <a:xfrm>
            <a:off x="6530187"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ドジャース所属</a:t>
            </a:r>
          </a:p>
        </p:txBody>
      </p:sp>
      <p:sp>
        <p:nvSpPr>
          <p:cNvPr id="18" name="Rounded Rectangle 17"/>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5201" y="1554480"/>
            <a:ext cx="2579293"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521" y="1828800"/>
            <a:ext cx="2030653" cy="548640"/>
          </a:xfrm>
          <a:prstGeom prst="rect">
            <a:avLst/>
          </a:prstGeom>
          <a:noFill/>
        </p:spPr>
        <p:txBody>
          <a:bodyPr wrap="square" anchor="t" lIns="0" rIns="0" tIns="0" bIns="0">
            <a:spAutoFit/>
          </a:bodyPr>
          <a:lstStyle/>
          <a:p>
            <a:pPr algn="l"/>
            <a:r>
              <a:rPr sz="1600" b="1">
                <a:solidFill>
                  <a:srgbClr val="7A1F2B"/>
                </a:solidFill>
                <a:latin typeface="Yu Gothic"/>
              </a:rPr>
              <a:t>鈴木誠也選手</a:t>
            </a:r>
          </a:p>
        </p:txBody>
      </p:sp>
      <p:sp>
        <p:nvSpPr>
          <p:cNvPr id="21" name="TextBox 20"/>
          <p:cNvSpPr txBox="1"/>
          <p:nvPr/>
        </p:nvSpPr>
        <p:spPr>
          <a:xfrm>
            <a:off x="9429521" y="2514600"/>
            <a:ext cx="2030653"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カブス所属、4年連続20本塁打</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鈴木選手のもう一つの記録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4年連続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鈴木誠也選手が4年連続で20本塁打を達成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「4年連続20本塁打」は何がすごいのか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1シーズンだけでなく、複数年にわたり安定して長打力を発揮し続けている証</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怪我や不振で本数を落とすシーズンが生まれやすい中での継続達成</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大谷翔平選手に続き、史上2人目の到達という希少性がある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史上2人目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史上2人目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4年連続20本塁打は、大谷翔平選手に続き鈴木誠也選手が史上2人目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4年連続20本塁打の達成者</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大谷翔平選手</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史上1人目の達成者</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ドジャース所属</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鈴木誠也選手</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史上2人目の達成者(2026年)</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カブス所属</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対戦投手との接点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元読売ジャイアンツ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20号本塁打の相手、マイコラス投手はかつて読売ジャイアンツに所属していた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スポーツ報知(dメニューニュース経由)</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マイコラス投手について確認できていること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名前</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マイコラス投手(Miles Mikolas)</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経歴</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元読売ジャイアンツ所属</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今回の役割</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鈴木選手に20号を許した投手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現時点の本塁打数まとめ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選手</a:t>
                      </a:r>
                    </a:p>
                  </a:txBody>
                  <a:tcPr>
                    <a:solidFill>
                      <a:srgbClr val="7A1F2B"/>
                    </a:solidFill>
                  </a:tcPr>
                </a:tc>
                <a:tc>
                  <a:txBody>
                    <a:bodyPr/>
                    <a:lstStyle/>
                    <a:p>
                      <a:pPr>
                        <a:defRPr sz="1300" b="1">
                          <a:solidFill>
                            <a:srgbClr val="FFFFFF"/>
                          </a:solidFill>
                          <a:latin typeface="Yu Gothic"/>
                        </a:defRPr>
                      </a:pPr>
                      <a:r>
                        <a:t>本塁打数(記事時点)</a:t>
                      </a:r>
                    </a:p>
                  </a:txBody>
                  <a:tcPr>
                    <a:solidFill>
                      <a:srgbClr val="7A1F2B"/>
                    </a:solidFill>
                  </a:tcPr>
                </a:tc>
              </a:tr>
              <a:tr h="502920">
                <a:tc>
                  <a:txBody>
                    <a:bodyPr/>
                    <a:lstStyle/>
                    <a:p>
                      <a:pPr>
                        <a:defRPr sz="1200">
                          <a:solidFill>
                            <a:srgbClr val="2A1712"/>
                          </a:solidFill>
                          <a:latin typeface="Yu Gothic"/>
                        </a:defRPr>
                      </a:pPr>
                      <a:r>
                        <a:t>大谷翔平選手</a:t>
                      </a:r>
                    </a:p>
                  </a:txBody>
                  <a:tcPr>
                    <a:solidFill>
                      <a:srgbClr val="FFFFFF"/>
                    </a:solidFill>
                  </a:tcPr>
                </a:tc>
                <a:tc>
                  <a:txBody>
                    <a:bodyPr/>
                    <a:lstStyle/>
                    <a:p>
                      <a:pPr>
                        <a:defRPr sz="1200">
                          <a:solidFill>
                            <a:srgbClr val="2A1712"/>
                          </a:solidFill>
                          <a:latin typeface="Yu Gothic"/>
                        </a:defRPr>
                      </a:pPr>
                      <a:r>
                        <a:t>26号</a:t>
                      </a:r>
                    </a:p>
                  </a:txBody>
                  <a:tcPr>
                    <a:solidFill>
                      <a:srgbClr val="FFFFFF"/>
                    </a:solidFill>
                  </a:tcPr>
                </a:tc>
              </a:tr>
              <a:tr h="502920">
                <a:tc>
                  <a:txBody>
                    <a:bodyPr/>
                    <a:lstStyle/>
                    <a:p>
                      <a:pPr>
                        <a:defRPr sz="1200">
                          <a:solidFill>
                            <a:srgbClr val="2A1712"/>
                          </a:solidFill>
                          <a:latin typeface="Yu Gothic"/>
                        </a:defRPr>
                      </a:pPr>
                      <a:r>
                        <a:t>村上宗隆選手</a:t>
                      </a:r>
                    </a:p>
                  </a:txBody>
                  <a:tcPr>
                    <a:solidFill>
                      <a:srgbClr val="FBF3E6"/>
                    </a:solidFill>
                  </a:tcPr>
                </a:tc>
                <a:tc>
                  <a:txBody>
                    <a:bodyPr/>
                    <a:lstStyle/>
                    <a:p>
                      <a:pPr>
                        <a:defRPr sz="1200">
                          <a:solidFill>
                            <a:srgbClr val="2A1712"/>
                          </a:solidFill>
                          <a:latin typeface="Yu Gothic"/>
                        </a:defRPr>
                      </a:pPr>
                      <a:r>
                        <a:t>26号</a:t>
                      </a:r>
                    </a:p>
                  </a:txBody>
                  <a:tcPr>
                    <a:solidFill>
                      <a:srgbClr val="FBF3E6"/>
                    </a:solidFill>
                  </a:tcPr>
                </a:tc>
              </a:tr>
              <a:tr h="502920">
                <a:tc>
                  <a:txBody>
                    <a:bodyPr/>
                    <a:lstStyle/>
                    <a:p>
                      <a:pPr>
                        <a:defRPr sz="1200">
                          <a:solidFill>
                            <a:srgbClr val="2A1712"/>
                          </a:solidFill>
                          <a:latin typeface="Yu Gothic"/>
                        </a:defRPr>
                      </a:pPr>
                      <a:r>
                        <a:t>岡本和真選手</a:t>
                      </a:r>
                    </a:p>
                  </a:txBody>
                  <a:tcPr>
                    <a:solidFill>
                      <a:srgbClr val="FFFFFF"/>
                    </a:solidFill>
                  </a:tcPr>
                </a:tc>
                <a:tc>
                  <a:txBody>
                    <a:bodyPr/>
                    <a:lstStyle/>
                    <a:p>
                      <a:pPr>
                        <a:defRPr sz="1200">
                          <a:solidFill>
                            <a:srgbClr val="2A1712"/>
                          </a:solidFill>
                          <a:latin typeface="Yu Gothic"/>
                        </a:defRPr>
                      </a:pPr>
                      <a:r>
                        <a:t>24号</a:t>
                      </a:r>
                    </a:p>
                  </a:txBody>
                  <a:tcPr>
                    <a:solidFill>
                      <a:srgbClr val="FFFFFF"/>
                    </a:solidFill>
                  </a:tcPr>
                </a:tc>
              </a:tr>
              <a:tr h="502920">
                <a:tc>
                  <a:txBody>
                    <a:bodyPr/>
                    <a:lstStyle/>
                    <a:p>
                      <a:pPr>
                        <a:defRPr sz="1200">
                          <a:solidFill>
                            <a:srgbClr val="2A1712"/>
                          </a:solidFill>
                          <a:latin typeface="Yu Gothic"/>
                        </a:defRPr>
                      </a:pPr>
                      <a:r>
                        <a:t>鈴木誠也選手</a:t>
                      </a:r>
                    </a:p>
                  </a:txBody>
                  <a:tcPr>
                    <a:solidFill>
                      <a:srgbClr val="FBF3E6"/>
                    </a:solidFill>
                  </a:tcPr>
                </a:tc>
                <a:tc>
                  <a:txBody>
                    <a:bodyPr/>
                    <a:lstStyle/>
                    <a:p>
                      <a:pPr>
                        <a:defRPr sz="1200">
                          <a:solidFill>
                            <a:srgbClr val="2A1712"/>
                          </a:solidFill>
                          <a:latin typeface="Yu Gothic"/>
                        </a:defRPr>
                      </a:pPr>
                      <a:r>
                        <a:t>20号</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4選手の本塁打数比較(記事時点)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全体の流れ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村上・岡本・大谷の3選手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それぞれ20本塁打に到達済み</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2026年8月11日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鈴木選手が8回にソロ本塁打で20号到達</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史上初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日本人選手4人が同一シーズン20本塁打を達成</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全体の流れを図にすると、このようになります</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これで何が変わるか(視聴者にとっての意味)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同じシーズンに日本人選手4人の本塁打数を並行して追いかける楽しみ方ができる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個々の選手の活躍だけでなく、日本人選手全体の層の厚さを示す材料として紹介できる</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シーズン終了時点で最終的に何本になるか、今後の推移にも注目できる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この記録をどう見るか(活用ポイント)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確認1</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史上初という事実と、4選手それぞれの現時点の本塁打数を確認する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確認2</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最終的な本塁打数はシーズン終了までわからないため、断定しない</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確認3</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選手本人のコメント等、確認できていない点は不明のまま受け止める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事実 vs 不明点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確認できている事実</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鈴木選手の20号到達日・相手投手・イニング</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4選手の記事時点の本塁打数</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確認できていないこと</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シーズン終了時点の最終本塁打数</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過去の日本人選手3人達成時の詳細</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不明点一覧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状況</a:t>
                      </a:r>
                    </a:p>
                  </a:txBody>
                  <a:tcPr>
                    <a:solidFill>
                      <a:srgbClr val="7A1F2B"/>
                    </a:solidFill>
                  </a:tcPr>
                </a:tc>
              </a:tr>
              <a:tr h="502920">
                <a:tc>
                  <a:txBody>
                    <a:bodyPr/>
                    <a:lstStyle/>
                    <a:p>
                      <a:pPr>
                        <a:defRPr sz="1200">
                          <a:solidFill>
                            <a:srgbClr val="2A1712"/>
                          </a:solidFill>
                          <a:latin typeface="Yu Gothic"/>
                        </a:defRPr>
                      </a:pPr>
                      <a:r>
                        <a:t>シーズン終了時点での4選手の最終本塁打数</a:t>
                      </a:r>
                    </a:p>
                  </a:txBody>
                  <a:tcPr>
                    <a:solidFill>
                      <a:srgbClr val="FFFFFF"/>
                    </a:solidFill>
                  </a:tcPr>
                </a:tc>
                <a:tc>
                  <a:txBody>
                    <a:bodyPr/>
                    <a:lstStyle/>
                    <a:p>
                      <a:pPr>
                        <a:defRPr sz="1200">
                          <a:solidFill>
                            <a:srgbClr val="2A1712"/>
                          </a:solidFill>
                          <a:latin typeface="Yu Gothic"/>
                        </a:defRPr>
                      </a:pPr>
                      <a:r>
                        <a:t>不明(シーズン途中のため未確定)</a:t>
                      </a:r>
                    </a:p>
                  </a:txBody>
                  <a:tcPr>
                    <a:solidFill>
                      <a:srgbClr val="FFFFFF"/>
                    </a:solidFill>
                  </a:tcPr>
                </a:tc>
              </a:tr>
              <a:tr h="502920">
                <a:tc>
                  <a:txBody>
                    <a:bodyPr/>
                    <a:lstStyle/>
                    <a:p>
                      <a:pPr>
                        <a:defRPr sz="1200">
                          <a:solidFill>
                            <a:srgbClr val="2A1712"/>
                          </a:solidFill>
                          <a:latin typeface="Yu Gothic"/>
                        </a:defRPr>
                      </a:pPr>
                      <a:r>
                        <a:t>4選手の本塁打数以外の詳細な打撃成績</a:t>
                      </a:r>
                    </a:p>
                  </a:txBody>
                  <a:tcPr>
                    <a:solidFill>
                      <a:srgbClr val="FBF3E6"/>
                    </a:solidFill>
                  </a:tcPr>
                </a:tc>
                <a:tc>
                  <a:txBody>
                    <a:bodyPr/>
                    <a:lstStyle/>
                    <a:p>
                      <a:pPr>
                        <a:defRPr sz="1200">
                          <a:solidFill>
                            <a:srgbClr val="2A1712"/>
                          </a:solidFill>
                          <a:latin typeface="Yu Gothic"/>
                        </a:defRPr>
                      </a:pPr>
                      <a:r>
                        <a:t>不明(本調査の範囲では確認できず)</a:t>
                      </a:r>
                    </a:p>
                  </a:txBody>
                  <a:tcPr>
                    <a:solidFill>
                      <a:srgbClr val="FBF3E6"/>
                    </a:solidFill>
                  </a:tcPr>
                </a:tc>
              </a:tr>
              <a:tr h="502920">
                <a:tc>
                  <a:txBody>
                    <a:bodyPr/>
                    <a:lstStyle/>
                    <a:p>
                      <a:pPr>
                        <a:defRPr sz="1200">
                          <a:solidFill>
                            <a:srgbClr val="2A1712"/>
                          </a:solidFill>
                          <a:latin typeface="Yu Gothic"/>
                        </a:defRPr>
                      </a:pPr>
                      <a:r>
                        <a:t>過去に日本人選手3人が20本塁打を達成した年・詳細</a:t>
                      </a:r>
                    </a:p>
                  </a:txBody>
                  <a:tcPr>
                    <a:solidFill>
                      <a:srgbClr val="FFFFFF"/>
                    </a:solidFill>
                  </a:tcPr>
                </a:tc>
                <a:tc>
                  <a:txBody>
                    <a:bodyPr/>
                    <a:lstStyle/>
                    <a:p>
                      <a:pPr>
                        <a:defRPr sz="1200">
                          <a:solidFill>
                            <a:srgbClr val="2A1712"/>
                          </a:solidFill>
                          <a:latin typeface="Yu Gothic"/>
                        </a:defRPr>
                      </a:pPr>
                      <a:r>
                        <a:t>不明(出典に記載なし)</a:t>
                      </a:r>
                    </a:p>
                  </a:txBody>
                  <a:tcPr>
                    <a:solidFill>
                      <a:srgbClr val="FFFFFF"/>
                    </a:solidFill>
                  </a:tcPr>
                </a:tc>
              </a:tr>
              <a:tr h="502920">
                <a:tc>
                  <a:txBody>
                    <a:bodyPr/>
                    <a:lstStyle/>
                    <a:p>
                      <a:pPr>
                        <a:defRPr sz="1200">
                          <a:solidFill>
                            <a:srgbClr val="2A1712"/>
                          </a:solidFill>
                          <a:latin typeface="Yu Gothic"/>
                        </a:defRPr>
                      </a:pPr>
                      <a:r>
                        <a:t>4選手それぞれが20本塁打に到達した具体的な日付</a:t>
                      </a:r>
                    </a:p>
                  </a:txBody>
                  <a:tcPr>
                    <a:solidFill>
                      <a:srgbClr val="FBF3E6"/>
                    </a:solidFill>
                  </a:tcPr>
                </a:tc>
                <a:tc>
                  <a:txBody>
                    <a:bodyPr/>
                    <a:lstStyle/>
                    <a:p>
                      <a:pPr>
                        <a:defRPr sz="1200">
                          <a:solidFill>
                            <a:srgbClr val="2A1712"/>
                          </a:solidFill>
                          <a:latin typeface="Yu Gothic"/>
                        </a:defRPr>
                      </a:pPr>
                      <a:r>
                        <a:t>不明(記載順のみ確認、日付は未確認)</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スポーツ報知(dメニューニュース経由)/THE ANSWER(Yahoo!ニュース経由)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【重要】中立性・配慮についての開示</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本テーマは4選手(村上選手・岡本選手・大谷選手・鈴木選手)全員を公平に扱う</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特定の選手のみを過度に持ち上げる、あるいは他選手と比較して優劣を強調する表現はしない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マイコラス投手についても、対戦相手として事実を淡々と紹介するにとどめる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注意点・断定しないことの一覧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シーズン終了時点の最終本塁打数は、現時点では断定できない</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過去の日本人選手3人達成時の詳細は、確認できた範囲を超えて推測しない</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出典に明記のない数字(推計・独自算出値)は一切使用していない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スポーツ報知(dメニューニュース経由)</a:t>
                      </a:r>
                    </a:p>
                  </a:txBody>
                  <a:tcPr>
                    <a:solidFill>
                      <a:srgbClr val="FFFFFF"/>
                    </a:solidFill>
                  </a:tcPr>
                </a:tc>
                <a:tc>
                  <a:txBody>
                    <a:bodyPr/>
                    <a:lstStyle/>
                    <a:p>
                      <a:pPr>
                        <a:defRPr sz="1200">
                          <a:solidFill>
                            <a:srgbClr val="2A1712"/>
                          </a:solidFill>
                          <a:latin typeface="Yu Gothic"/>
                        </a:defRPr>
                      </a:pPr>
                      <a:r>
                        <a:t>「史上初の日本人２０本塁打カルテット誕生!鈴木誠也が元巨人マイコラス撃ち豪快弾で笑顔 村上、岡本、大谷に続く２０号…４年連続２０発は史上２人目」</a:t>
                      </a:r>
                    </a:p>
                  </a:txBody>
                  <a:tcPr>
                    <a:solidFill>
                      <a:srgbClr val="FFFFFF"/>
                    </a:solidFill>
                  </a:tcPr>
                </a:tc>
              </a:tr>
              <a:tr h="502920">
                <a:tc>
                  <a:txBody>
                    <a:bodyPr/>
                    <a:lstStyle/>
                    <a:p>
                      <a:pPr>
                        <a:defRPr sz="1200">
                          <a:solidFill>
                            <a:srgbClr val="2A1712"/>
                          </a:solidFill>
                          <a:latin typeface="Yu Gothic"/>
                        </a:defRPr>
                      </a:pPr>
                      <a:r>
                        <a:t>THE ANSWER(Yahoo!ニュース経由)</a:t>
                      </a:r>
                    </a:p>
                  </a:txBody>
                  <a:tcPr>
                    <a:solidFill>
                      <a:srgbClr val="FBF3E6"/>
                    </a:solidFill>
                  </a:tcPr>
                </a:tc>
                <a:tc>
                  <a:txBody>
                    <a:bodyPr/>
                    <a:lstStyle/>
                    <a:p>
                      <a:pPr>
                        <a:defRPr sz="1200">
                          <a:solidFill>
                            <a:srgbClr val="2A1712"/>
                          </a:solidFill>
                          <a:latin typeface="Yu Gothic"/>
                        </a:defRPr>
                      </a:pPr>
                      <a:r>
                        <a:t>「『凄い時代になった』メジャー日本人、一昔前ではあり得ない衝撃記録」</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シーズン終了時点の最終本塁打数にも注目です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4選手それぞれが最終的に何本まで伸ばすか、今後の推移を追いかけていきましょう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まとめ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2026年8月11日、鈴木誠也選手が20号ソロ本塁打で史上初の日本人4人同時20本塁打が実現</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鈴木選手は大谷選手に続き史上2人目となる4年連続20本塁打も達成</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最終本塁打数・過去の記録の詳細は不明であり、続報で確認していく</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スポーツ報知(dメニューニュース経由)/THE ANSWER(Yahoo!ニュース経由)｜186本目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