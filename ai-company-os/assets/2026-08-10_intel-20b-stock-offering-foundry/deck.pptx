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2026年8月10日、Intelが、当初150億ドルとしていた普通株式の公募増資を200億ドルへ増額し、1株95ドルで価格決定したと発表しました。今日はこの発表の中身を、出典付きで整理してお伝えします。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まず結論です。Intelが、普通株式の公募増資を150億ドルから200億ドルへ増額し、1株95ドルで価格決定したと発表しました。決済は2026年8月12日予定です。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この動画を見ると、200億ドルという規模と増額の経緯、公募増資や決済といった用語の意味、そして『まだ契約していない顧客』向けという報道の指摘の3点が分かるようになります。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このテーマを扱う理由は3つです。着手日から1〜2日前という新しさ、200億ドルという規模と1,000億ドル規模の投資家需要、そして『まだ契約していない顧客』向けという報道の指摘の意外性です。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今日はこの5つの流れでお伝えします。専門用語をかみ砕きながら、確定している事実と、まだ確定していない部分をはっきり分けて整理します。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まず全体像です。Intelが普通株式の公募増資を200億ドル規模へ増額し、調達した資金を、工場建設を含む資本的支出・運転資金などの一般事業目的に充てると発表したという構図です。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報道され方を見ると、Intel Newsroomが公式に増額と価格決定を発表し、CNBCがAI需要加速の文脈で報じたほか、TechTimesとCryptopolitanは、まだ契約していない顧客向けという論調で報じています。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時系列にするとこうです。当初150億ドル規模と報じられていた計画が、2026年8月10日に200億ドルへ増額・価格決定され、8月12日に決済される予定です。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『公募増資』とは、企業が新たに株式を発行し、広く投資家から資金を調達する方法のことです。既存株主には株式数が増える希薄化という影響もあります。価格決定と決済は別の段階を指します。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Intel Foundryは、他社の半導体チップを受託して製造する事業です。工場建設には数年単位の期間と巨額の先行投資が必要で、自社製品向けに加え外部顧客向けの受託製造も担います。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半導体工場の建設には数年単位の期間と巨額の先行投資が必要です。AI関連の需要拡大を背景に、公募増資のような外部資金の調達で自己資金を補う動きとして報じられています。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あらためて規模を確認します。当初150億ドルと計画されていた公募増資は、200億ドルへ増額され、1株95ドルで価格決定されました。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増資の内訳です。2億1,050万株超を1株95ドルで売り出し、手数料等控除後の純調達額は約197億ドル。決済は2026年8月12日予定です。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投資家の需要にも触れておきます。報道によれば、投資家の需要は総額1,000億ドル規模に達したとされています。200億ドルの売出額に対してかなり大きい数字です。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調達資金の使途を整理すると、資本的支出と運転資金を含む一般事業目的とされています。資本的支出にはFoundryの工場建設が含まれるとされます。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ここまでの数字をカードで振り返ります。200億ドルの売出総額、95ドルの売出価格、約197億ドルの純調達額、1,000億ドル規模の投資家需要。この4つが今回の発表の骨格です。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200億ドルという数字を読むときの重要な注意点です。一部報道は、まだ契約していない顧客向けにも資金が使われうると指摘していますが、その具体的な裏付けは本調査の範囲では確認できていません。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公式発表と一部報道の記述を並べました。公式発表は一般的な使途の表現にとどまり、一部報道はより踏み込んだリスクの指摘をしている、という違いがあります。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ここで事実・推測・不明を整理します。売出条件や公式な使途区分は検証済みの事実ですが、報道の指摘の具体的な裏付けは現時点では確認できておらず、不明として扱っています。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確認できなかったことを4点、一覧にしました。数字を作らず、正直に不明として扱っています。特に報道指摘の具体的な裏付けは、本調査の範囲では確認できていません。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この発表から確認すべきことです。資金使途の続報、決済が予定どおり完了するか、Foundryの受注動向、この3点を意識して見ていくことを勧めます。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立場別に整理すると、投資家・業界観察者は続報を継続確認すること、企業は資金調達手法の一例として捉えること、一般の読者は確定した投資額と混同しないこと、それぞれ実践的な示唆があります。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200億ドルという数字の性質です。これは金融取引としての調達総額であり、工場建設費の確定額そのものではありません。使途も一般的な表現にとどまっています。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確定していることと、確定していないことを並べるとこうです。金額や日付といった取引条件は確定していますが、資金の具体的な配分先は不明な点が多く残っています。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資金調達の背景を中立的に整理します。AI需要の加速を背景に大型資金調達が相次いでいますが、本テーマでは特定企業を称賛・批判せず、Intelの発表という個別の事実関係のみを扱います。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本テーマを扱う方針です。特定企業・製品の利用を推奨する結論にはせず、政治的な争点には踏み込まず、200億ドルが金融取引としての調達額であることを繰り返し明示しています。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最後にもう一度数字で確認します。公式発表を含む4つの情報源が、同じ時期にこの発表を報じました。単発の噂ではなく、複数の裏付けがある話題であることが分かります。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最後にもう一度確認します。Intelは公募増資を200億ドル規模へ増額し、工場建設を含む一般事業目的に充てるとしています。ただし、まだ契約していない顧客向けという報道の裏付けは確認できていません。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本編は以上です。今回はIntelが公募増資を200億ドルへ増額したという発表をお伝えしました。数字を鵜呑みにせず、事実関係の整理に留めています。次回もまた出典付きでお届けします。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まだ契約していない顧客のために、Intelは200億ドルを賭けた。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3E3C9"/>
                </a:solidFill>
                <a:latin typeface="Yu Gothic"/>
              </a:rPr>
              <a:t>Intelが、半導体工場建設資金として普通株式の公募増資を150億ドルから200億ドルへ増額——2026年8月10日発表の要点を出典付きで整理する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B98C"/>
                </a:solidFill>
                <a:latin typeface="Yu Gothic"/>
              </a:rPr>
              <a:t>出典: Intel Newsroom / CNBC / TechTimes / Cryptopolitanほか(2026-08-10〜11)。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結論を先に</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200億ドル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Intelが、当初150億ドルとしていた普通株式の公募増資を200億ドルへ増額し、1株95ドルで価格決定。決済は2026年8月12日予定</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Intel Newsroom(2026-08-10)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この動画で得られること</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今日お伝えする内容です。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200億ドルという規模と、当初150億ドルからの増額の経緯が分かる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「公募増資」「決済(closing)」とは何かが分かる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「まだ契約していない顧客」向けという報道の指摘と、その裏付けの有無が分かる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Intel Newsroom / TechTimes(2026-08-10)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Intel Newsroom / CNBC / TechTimes / Cryptopolitanほか(2026-08-10〜11報道)｜178本目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2026年8月10日発表・8月12日決済予定で、着手日から1〜2日前という新しい話題である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200億ドルという規模と、1,000億ドル規模と報じられた投資家需要が具体的なフックになる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「まだ契約していない顧客」向けという報道の指摘に意外性がある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Intel Newsroom / TechTimes(2026-08-10)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Intel Newsroom / CNBC / TechTimes / Cryptopolitanほか(2026-08-10〜11報道)｜178本目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3E3C9"/>
                </a:solidFill>
                <a:latin typeface="Yu Gothic"/>
              </a:rPr>
              <a:t>この発表とは何か・なぜ今話題なのか</a:t>
            </a:r>
          </a:p>
        </p:txBody>
      </p:sp>
      <p:sp>
        <p:nvSpPr>
          <p:cNvPr id="7" name="Oval 6"/>
          <p:cNvSpPr/>
          <p:nvPr/>
        </p:nvSpPr>
        <p:spPr>
          <a:xfrm>
            <a:off x="548640" y="269748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3E3C9"/>
                </a:solidFill>
                <a:latin typeface="Yu Gothic"/>
              </a:rPr>
              <a:t>基礎知識(公募増資とは・Intel Foundryとは)</a:t>
            </a:r>
          </a:p>
        </p:txBody>
      </p:sp>
      <p:sp>
        <p:nvSpPr>
          <p:cNvPr id="9" name="Oval 8"/>
          <p:cNvSpPr/>
          <p:nvPr/>
        </p:nvSpPr>
        <p:spPr>
          <a:xfrm>
            <a:off x="548640" y="347472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3E3C9"/>
                </a:solidFill>
                <a:latin typeface="Yu Gothic"/>
              </a:rPr>
              <a:t>増資の内訳と投資家需要を深掘り</a:t>
            </a:r>
          </a:p>
        </p:txBody>
      </p:sp>
      <p:sp>
        <p:nvSpPr>
          <p:cNvPr id="11" name="Oval 10"/>
          <p:cNvSpPr/>
          <p:nvPr/>
        </p:nvSpPr>
        <p:spPr>
          <a:xfrm>
            <a:off x="548640" y="425196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3E3C9"/>
                </a:solidFill>
                <a:latin typeface="Yu Gothic"/>
              </a:rPr>
              <a:t>「まだ契約していない顧客」向けという報道の指摘を検証</a:t>
            </a:r>
          </a:p>
        </p:txBody>
      </p:sp>
      <p:sp>
        <p:nvSpPr>
          <p:cNvPr id="13" name="Oval 12"/>
          <p:cNvSpPr/>
          <p:nvPr/>
        </p:nvSpPr>
        <p:spPr>
          <a:xfrm>
            <a:off x="548640" y="502920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3E3C9"/>
                </a:solidFill>
                <a:latin typeface="Yu Gothic"/>
              </a:rPr>
              <a:t>確認できなかったことと、本テーマの取り扱い方針</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何が起きたのか(概念図)</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Intel</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半導体メーカー。Foundry(受託製造)事業も展開</a:t>
            </a:r>
          </a:p>
        </p:txBody>
      </p:sp>
      <p:sp>
        <p:nvSpPr>
          <p:cNvPr id="10" name="Right Arrow 9"/>
          <p:cNvSpPr/>
          <p:nvPr/>
        </p:nvSpPr>
        <p:spPr>
          <a:xfrm>
            <a:off x="41573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普通株式の公募増資</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2億1,050万株超を1株95ドルで売り出し、200億ドル規模に増額</a:t>
            </a:r>
          </a:p>
        </p:txBody>
      </p:sp>
      <p:sp>
        <p:nvSpPr>
          <p:cNvPr id="15" name="Right Arrow 14"/>
          <p:cNvSpPr/>
          <p:nvPr/>
        </p:nvSpPr>
        <p:spPr>
          <a:xfrm>
            <a:off x="73577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資本的支出・運転資金へ</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Foundryの工場建設を含む一般事業目的に充当と発表</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8A6F5C"/>
                </a:solidFill>
                <a:latin typeface="Yu Gothic"/>
              </a:rPr>
              <a:t>Intelが公募増資で調達した資金を、資本的支出・運転資金を含む一般事業目的に充てると発表している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Intel Newsroom / CNBC / TechTimes / Cryptopolitanほか(2026-08-10〜11報道)｜178本目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報道した主なメディア</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7A1F2B"/>
                    </a:solidFill>
                  </a:tcPr>
                </a:tc>
                <a:tc>
                  <a:txBody>
                    <a:bodyPr/>
                    <a:lstStyle/>
                    <a:p>
                      <a:pPr>
                        <a:defRPr sz="1300" b="1">
                          <a:solidFill>
                            <a:srgbClr val="FFFFFF"/>
                          </a:solidFill>
                          <a:latin typeface="Yu Gothic"/>
                        </a:defRPr>
                      </a:pPr>
                      <a:r>
                        <a:t>見出しの要旨</a:t>
                      </a:r>
                    </a:p>
                  </a:txBody>
                  <a:tcPr>
                    <a:solidFill>
                      <a:srgbClr val="7A1F2B"/>
                    </a:solidFill>
                  </a:tcPr>
                </a:tc>
              </a:tr>
              <a:tr h="502920">
                <a:tc>
                  <a:txBody>
                    <a:bodyPr/>
                    <a:lstStyle/>
                    <a:p>
                      <a:pPr>
                        <a:defRPr sz="1200">
                          <a:solidFill>
                            <a:srgbClr val="2A1712"/>
                          </a:solidFill>
                          <a:latin typeface="Yu Gothic"/>
                        </a:defRPr>
                      </a:pPr>
                      <a:r>
                        <a:t>Intel Newsroom</a:t>
                      </a:r>
                    </a:p>
                  </a:txBody>
                  <a:tcPr>
                    <a:solidFill>
                      <a:srgbClr val="FFFFFF"/>
                    </a:solidFill>
                  </a:tcPr>
                </a:tc>
                <a:tc>
                  <a:txBody>
                    <a:bodyPr/>
                    <a:lstStyle/>
                    <a:p>
                      <a:pPr>
                        <a:defRPr sz="1200">
                          <a:solidFill>
                            <a:srgbClr val="2A1712"/>
                          </a:solidFill>
                          <a:latin typeface="Yu Gothic"/>
                        </a:defRPr>
                      </a:pPr>
                      <a:r>
                        <a:t>公式発表(増額・価格決定を発表)</a:t>
                      </a:r>
                    </a:p>
                  </a:txBody>
                  <a:tcPr>
                    <a:solidFill>
                      <a:srgbClr val="FFFFFF"/>
                    </a:solidFill>
                  </a:tcPr>
                </a:tc>
              </a:tr>
              <a:tr h="502920">
                <a:tc>
                  <a:txBody>
                    <a:bodyPr/>
                    <a:lstStyle/>
                    <a:p>
                      <a:pPr>
                        <a:defRPr sz="1200">
                          <a:solidFill>
                            <a:srgbClr val="2A1712"/>
                          </a:solidFill>
                          <a:latin typeface="Yu Gothic"/>
                        </a:defRPr>
                      </a:pPr>
                      <a:r>
                        <a:t>CNBC</a:t>
                      </a:r>
                    </a:p>
                  </a:txBody>
                  <a:tcPr>
                    <a:solidFill>
                      <a:srgbClr val="FBF3E6"/>
                    </a:solidFill>
                  </a:tcPr>
                </a:tc>
                <a:tc>
                  <a:txBody>
                    <a:bodyPr/>
                    <a:lstStyle/>
                    <a:p>
                      <a:pPr>
                        <a:defRPr sz="1200">
                          <a:solidFill>
                            <a:srgbClr val="2A1712"/>
                          </a:solidFill>
                          <a:latin typeface="Yu Gothic"/>
                        </a:defRPr>
                      </a:pPr>
                      <a:r>
                        <a:t>AI需要の加速を背景とした増資として報道</a:t>
                      </a:r>
                    </a:p>
                  </a:txBody>
                  <a:tcPr>
                    <a:solidFill>
                      <a:srgbClr val="FBF3E6"/>
                    </a:solidFill>
                  </a:tcPr>
                </a:tc>
              </a:tr>
              <a:tr h="502920">
                <a:tc>
                  <a:txBody>
                    <a:bodyPr/>
                    <a:lstStyle/>
                    <a:p>
                      <a:pPr>
                        <a:defRPr sz="1200">
                          <a:solidFill>
                            <a:srgbClr val="2A1712"/>
                          </a:solidFill>
                          <a:latin typeface="Yu Gothic"/>
                        </a:defRPr>
                      </a:pPr>
                      <a:r>
                        <a:t>TechTimes</a:t>
                      </a:r>
                    </a:p>
                  </a:txBody>
                  <a:tcPr>
                    <a:solidFill>
                      <a:srgbClr val="FFFFFF"/>
                    </a:solidFill>
                  </a:tcPr>
                </a:tc>
                <a:tc>
                  <a:txBody>
                    <a:bodyPr/>
                    <a:lstStyle/>
                    <a:p>
                      <a:pPr>
                        <a:defRPr sz="1200">
                          <a:solidFill>
                            <a:srgbClr val="2A1712"/>
                          </a:solidFill>
                          <a:latin typeface="Yu Gothic"/>
                        </a:defRPr>
                      </a:pPr>
                      <a:r>
                        <a:t>「まだ契約していない顧客」向けという論調で報道</a:t>
                      </a:r>
                    </a:p>
                  </a:txBody>
                  <a:tcPr>
                    <a:solidFill>
                      <a:srgbClr val="FFFFFF"/>
                    </a:solidFill>
                  </a:tcPr>
                </a:tc>
              </a:tr>
              <a:tr h="502920">
                <a:tc>
                  <a:txBody>
                    <a:bodyPr/>
                    <a:lstStyle/>
                    <a:p>
                      <a:pPr>
                        <a:defRPr sz="1200">
                          <a:solidFill>
                            <a:srgbClr val="2A1712"/>
                          </a:solidFill>
                          <a:latin typeface="Yu Gothic"/>
                        </a:defRPr>
                      </a:pPr>
                      <a:r>
                        <a:t>Cryptopolitan</a:t>
                      </a:r>
                    </a:p>
                  </a:txBody>
                  <a:tcPr>
                    <a:solidFill>
                      <a:srgbClr val="FBF3E6"/>
                    </a:solidFill>
                  </a:tcPr>
                </a:tc>
                <a:tc>
                  <a:txBody>
                    <a:bodyPr/>
                    <a:lstStyle/>
                    <a:p>
                      <a:pPr>
                        <a:defRPr sz="1200">
                          <a:solidFill>
                            <a:srgbClr val="2A1712"/>
                          </a:solidFill>
                          <a:latin typeface="Yu Gothic"/>
                        </a:defRPr>
                      </a:pPr>
                      <a:r>
                        <a:t>AIブームの『隠れたコスト』という論調で報道</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各社(2026-08-10〜11)</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Intel Newsroom / CNBC / TechTimes / Cryptopolitanほか(2026-08-10〜11報道)｜178本目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時系列</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増額前</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当初150億ドル規模の公募増資を計画していると報じられる(具体的な発表日時は本調査の範囲では確認できず)</a:t>
            </a:r>
          </a:p>
        </p:txBody>
      </p:sp>
      <p:sp>
        <p:nvSpPr>
          <p:cNvPr id="11" name="Chevron 10"/>
          <p:cNvSpPr/>
          <p:nvPr/>
        </p:nvSpPr>
        <p:spPr>
          <a:xfrm>
            <a:off x="4038295"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2026年8月10日</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200億ドルへ増額し、1株95ドルで価格決定したと発表</a:t>
            </a:r>
          </a:p>
        </p:txBody>
      </p:sp>
      <p:sp>
        <p:nvSpPr>
          <p:cNvPr id="17" name="Chevron 16"/>
          <p:cNvSpPr/>
          <p:nvPr/>
        </p:nvSpPr>
        <p:spPr>
          <a:xfrm>
            <a:off x="7919313"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2026年8月12日(決済予定)</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決済(closing)が行われる予定</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Intel Newsroom / CNBC / TechTimes / Cryptopolitanほか(2026-08-10〜11報道)｜178本目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基礎知識:「公募増資」とは(初心者向け)</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専門用語を1つずつ解説します。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公募増資とは、企業が新たに株式を発行し、広く投資家から資金を調達する方法の1つ</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既存株主にとっては、発行済み株式数が増える(希薄化)という影響もある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「価格決定(プライシング)」は売出価格が正式に決まる段階、「決済(closing)」は実際に資金が受け渡される段階を指す</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Intel Newsroom(2026-08-10)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Intel Newsroom / CNBC / TechTimes / Cryptopolitanほか(2026-08-10〜11報道)｜178本目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基礎知識:「Intel Foundry」とは</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もう1つの重要な前提です。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Intel Foundryは、他社の半導体チップを受託して製造する事業</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半導体工場(ファブ)の建設には、数年単位の期間と巨額の先行投資が必要とされる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自社製品向けの製造に加え、外部顧客向けの受託製造も担う点が特徴</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本調査の一般的な業界知識の整理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Intel Newsroom / CNBC / TechTimes / Cryptopolitanほか(2026-08-10〜11報道)｜178本目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なぜ巨額の資金が必要なのか(概念図)</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半導体工場(ファブ)の建設</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数年単位の期間と巨額の先行投資が必要</a:t>
            </a:r>
          </a:p>
        </p:txBody>
      </p:sp>
      <p:sp>
        <p:nvSpPr>
          <p:cNvPr id="10" name="Right Arrow 9"/>
          <p:cNvSpPr/>
          <p:nvPr/>
        </p:nvSpPr>
        <p:spPr>
          <a:xfrm>
            <a:off x="41573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AI関連の半導体需要</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需要拡大を背景に投資を積み増す動きがあるとされる</a:t>
            </a:r>
          </a:p>
        </p:txBody>
      </p:sp>
      <p:sp>
        <p:nvSpPr>
          <p:cNvPr id="15" name="Right Arrow 14"/>
          <p:cNvSpPr/>
          <p:nvPr/>
        </p:nvSpPr>
        <p:spPr>
          <a:xfrm>
            <a:off x="73577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外部資金の調達</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公募増資等で自己資金を補う</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8A6F5C"/>
                </a:solidFill>
                <a:latin typeface="Yu Gothic"/>
              </a:rPr>
              <a:t>半導体工場の建設には巨額の先行投資が必要で、その資金を公募増資等の外部調達で補う構図として報じられている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Intel Newsroom / CNBC / TechTimes / Cryptopolitanほか(2026-08-10〜11報道)｜178本目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150億ドル→200億ドルへ</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200億ドル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当初150億ドルとして計画していた公募増資を200億ドルへ増額し、1株95ドルで価格決定した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Intel Newsroom(2026-08-10)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増資の内訳</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売出株数</a:t>
                      </a:r>
                    </a:p>
                  </a:txBody>
                  <a:tcPr>
                    <a:solidFill>
                      <a:srgbClr val="FFFFFF"/>
                    </a:solidFill>
                  </a:tcPr>
                </a:tc>
                <a:tc>
                  <a:txBody>
                    <a:bodyPr/>
                    <a:lstStyle/>
                    <a:p>
                      <a:pPr>
                        <a:defRPr sz="1200">
                          <a:solidFill>
                            <a:srgbClr val="2A1712"/>
                          </a:solidFill>
                          <a:latin typeface="Yu Gothic"/>
                        </a:defRPr>
                      </a:pPr>
                      <a:r>
                        <a:t>2億1,050万株超(210,526,315株)</a:t>
                      </a:r>
                    </a:p>
                  </a:txBody>
                  <a:tcPr>
                    <a:solidFill>
                      <a:srgbClr val="FFFFFF"/>
                    </a:solidFill>
                  </a:tcPr>
                </a:tc>
              </a:tr>
              <a:tr h="502920">
                <a:tc>
                  <a:txBody>
                    <a:bodyPr/>
                    <a:lstStyle/>
                    <a:p>
                      <a:pPr>
                        <a:defRPr sz="1200">
                          <a:solidFill>
                            <a:srgbClr val="2A1712"/>
                          </a:solidFill>
                          <a:latin typeface="Yu Gothic"/>
                        </a:defRPr>
                      </a:pPr>
                      <a:r>
                        <a:t>売出価格</a:t>
                      </a:r>
                    </a:p>
                  </a:txBody>
                  <a:tcPr>
                    <a:solidFill>
                      <a:srgbClr val="FBF3E6"/>
                    </a:solidFill>
                  </a:tcPr>
                </a:tc>
                <a:tc>
                  <a:txBody>
                    <a:bodyPr/>
                    <a:lstStyle/>
                    <a:p>
                      <a:pPr>
                        <a:defRPr sz="1200">
                          <a:solidFill>
                            <a:srgbClr val="2A1712"/>
                          </a:solidFill>
                          <a:latin typeface="Yu Gothic"/>
                        </a:defRPr>
                      </a:pPr>
                      <a:r>
                        <a:t>1株95ドル</a:t>
                      </a:r>
                    </a:p>
                  </a:txBody>
                  <a:tcPr>
                    <a:solidFill>
                      <a:srgbClr val="FBF3E6"/>
                    </a:solidFill>
                  </a:tcPr>
                </a:tc>
              </a:tr>
              <a:tr h="502920">
                <a:tc>
                  <a:txBody>
                    <a:bodyPr/>
                    <a:lstStyle/>
                    <a:p>
                      <a:pPr>
                        <a:defRPr sz="1200">
                          <a:solidFill>
                            <a:srgbClr val="2A1712"/>
                          </a:solidFill>
                          <a:latin typeface="Yu Gothic"/>
                        </a:defRPr>
                      </a:pPr>
                      <a:r>
                        <a:t>純調達額</a:t>
                      </a:r>
                    </a:p>
                  </a:txBody>
                  <a:tcPr>
                    <a:solidFill>
                      <a:srgbClr val="FFFFFF"/>
                    </a:solidFill>
                  </a:tcPr>
                </a:tc>
                <a:tc>
                  <a:txBody>
                    <a:bodyPr/>
                    <a:lstStyle/>
                    <a:p>
                      <a:pPr>
                        <a:defRPr sz="1200">
                          <a:solidFill>
                            <a:srgbClr val="2A1712"/>
                          </a:solidFill>
                          <a:latin typeface="Yu Gothic"/>
                        </a:defRPr>
                      </a:pPr>
                      <a:r>
                        <a:t>約197億ドル(手数料等控除後)</a:t>
                      </a:r>
                    </a:p>
                  </a:txBody>
                  <a:tcPr>
                    <a:solidFill>
                      <a:srgbClr val="FFFFFF"/>
                    </a:solidFill>
                  </a:tcPr>
                </a:tc>
              </a:tr>
              <a:tr h="502920">
                <a:tc>
                  <a:txBody>
                    <a:bodyPr/>
                    <a:lstStyle/>
                    <a:p>
                      <a:pPr>
                        <a:defRPr sz="1200">
                          <a:solidFill>
                            <a:srgbClr val="2A1712"/>
                          </a:solidFill>
                          <a:latin typeface="Yu Gothic"/>
                        </a:defRPr>
                      </a:pPr>
                      <a:r>
                        <a:t>決済予定日</a:t>
                      </a:r>
                    </a:p>
                  </a:txBody>
                  <a:tcPr>
                    <a:solidFill>
                      <a:srgbClr val="FBF3E6"/>
                    </a:solidFill>
                  </a:tcPr>
                </a:tc>
                <a:tc>
                  <a:txBody>
                    <a:bodyPr/>
                    <a:lstStyle/>
                    <a:p>
                      <a:pPr>
                        <a:defRPr sz="1200">
                          <a:solidFill>
                            <a:srgbClr val="2A1712"/>
                          </a:solidFill>
                          <a:latin typeface="Yu Gothic"/>
                        </a:defRPr>
                      </a:pPr>
                      <a:r>
                        <a:t>2026年8月12日</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Intel Newsroom(2026-08-10)</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Intel Newsroom / CNBC / TechTimes / Cryptopolitanほか(2026-08-10〜11報道)｜178本目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投資家の需要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1,000億ドル規模</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報道によれば、投資家の需要は総額1,000億ドル規模に達したとされる(200億ドルの売出額に対して)</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TechTimes(2026-08-10)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調達資金の使途</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調達資金(純額約197億ドル)</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公募増資による調達額</a:t>
            </a:r>
          </a:p>
        </p:txBody>
      </p:sp>
      <p:sp>
        <p:nvSpPr>
          <p:cNvPr id="10" name="Right Arrow 9"/>
          <p:cNvSpPr/>
          <p:nvPr/>
        </p:nvSpPr>
        <p:spPr>
          <a:xfrm>
            <a:off x="41573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資本的支出(capital expenditures)</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Foundryの工場建設を含むとされる</a:t>
            </a:r>
          </a:p>
        </p:txBody>
      </p:sp>
      <p:sp>
        <p:nvSpPr>
          <p:cNvPr id="15" name="Right Arrow 14"/>
          <p:cNvSpPr/>
          <p:nvPr/>
        </p:nvSpPr>
        <p:spPr>
          <a:xfrm>
            <a:off x="73577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運転資金(working capital)</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一般事業目的の一部として位置づけ</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8A6F5C"/>
                </a:solidFill>
                <a:latin typeface="Yu Gothic"/>
              </a:rPr>
              <a:t>調達資金は、Foundryの工場建設を含む資本的支出・運転資金等の一般事業目的に充てられるとされる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Intel Newsroom / CNBC / TechTimes / Cryptopolitanほか(2026-08-10〜11報道)｜178本目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数字で振り返る今回の発表</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822960"/>
          </a:xfrm>
          <a:prstGeom prst="rect">
            <a:avLst/>
          </a:prstGeom>
          <a:noFill/>
        </p:spPr>
        <p:txBody>
          <a:bodyPr wrap="square" anchor="t" lIns="0" rIns="0" tIns="0" bIns="0">
            <a:spAutoFit/>
          </a:bodyPr>
          <a:lstStyle/>
          <a:p>
            <a:pPr algn="l"/>
            <a:r>
              <a:rPr sz="3400" b="1">
                <a:solidFill>
                  <a:srgbClr val="D4A017"/>
                </a:solidFill>
                <a:latin typeface="Yu Gothic"/>
              </a:rPr>
              <a:t>200億ドル</a:t>
            </a:r>
          </a:p>
        </p:txBody>
      </p:sp>
      <p:sp>
        <p:nvSpPr>
          <p:cNvPr id="9" name="TextBox 8"/>
          <p:cNvSpPr txBox="1"/>
          <p:nvPr/>
        </p:nvSpPr>
        <p:spPr>
          <a:xfrm>
            <a:off x="731520" y="2834640"/>
            <a:ext cx="2030653" cy="548640"/>
          </a:xfrm>
          <a:prstGeom prst="rect">
            <a:avLst/>
          </a:prstGeom>
          <a:noFill/>
        </p:spPr>
        <p:txBody>
          <a:bodyPr wrap="square" anchor="t" lIns="0" rIns="0" tIns="0" bIns="0">
            <a:spAutoFit/>
          </a:bodyPr>
          <a:lstStyle/>
          <a:p>
            <a:pPr algn="l"/>
            <a:r>
              <a:rPr sz="1600" b="1">
                <a:solidFill>
                  <a:srgbClr val="7A1F2B"/>
                </a:solidFill>
                <a:latin typeface="Yu Gothic"/>
              </a:rPr>
              <a:t>増額後の売出総額</a:t>
            </a:r>
          </a:p>
        </p:txBody>
      </p:sp>
      <p:sp>
        <p:nvSpPr>
          <p:cNvPr id="10" name="TextBox 9"/>
          <p:cNvSpPr txBox="1"/>
          <p:nvPr/>
        </p:nvSpPr>
        <p:spPr>
          <a:xfrm>
            <a:off x="731520" y="3520440"/>
            <a:ext cx="2030653"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当初計画の150億ドルから増額</a:t>
            </a:r>
          </a:p>
        </p:txBody>
      </p:sp>
      <p:sp>
        <p:nvSpPr>
          <p:cNvPr id="11" name="Rounded Rectangle 10"/>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56533" y="1554480"/>
            <a:ext cx="2579293"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853" y="1828800"/>
            <a:ext cx="2030653" cy="822960"/>
          </a:xfrm>
          <a:prstGeom prst="rect">
            <a:avLst/>
          </a:prstGeom>
          <a:noFill/>
        </p:spPr>
        <p:txBody>
          <a:bodyPr wrap="square" anchor="t" lIns="0" rIns="0" tIns="0" bIns="0">
            <a:spAutoFit/>
          </a:bodyPr>
          <a:lstStyle/>
          <a:p>
            <a:pPr algn="l"/>
            <a:r>
              <a:rPr sz="3400" b="1">
                <a:solidFill>
                  <a:srgbClr val="D4A017"/>
                </a:solidFill>
                <a:latin typeface="Yu Gothic"/>
              </a:rPr>
              <a:t>95ドル</a:t>
            </a:r>
          </a:p>
        </p:txBody>
      </p:sp>
      <p:sp>
        <p:nvSpPr>
          <p:cNvPr id="14" name="TextBox 13"/>
          <p:cNvSpPr txBox="1"/>
          <p:nvPr/>
        </p:nvSpPr>
        <p:spPr>
          <a:xfrm>
            <a:off x="3630853" y="2834640"/>
            <a:ext cx="2030653" cy="548640"/>
          </a:xfrm>
          <a:prstGeom prst="rect">
            <a:avLst/>
          </a:prstGeom>
          <a:noFill/>
        </p:spPr>
        <p:txBody>
          <a:bodyPr wrap="square" anchor="t" lIns="0" rIns="0" tIns="0" bIns="0">
            <a:spAutoFit/>
          </a:bodyPr>
          <a:lstStyle/>
          <a:p>
            <a:pPr algn="l"/>
            <a:r>
              <a:rPr sz="1600" b="1">
                <a:solidFill>
                  <a:srgbClr val="7A1F2B"/>
                </a:solidFill>
                <a:latin typeface="Yu Gothic"/>
              </a:rPr>
              <a:t>1株あたりの売出価格</a:t>
            </a:r>
          </a:p>
        </p:txBody>
      </p:sp>
      <p:sp>
        <p:nvSpPr>
          <p:cNvPr id="15" name="TextBox 14"/>
          <p:cNvSpPr txBox="1"/>
          <p:nvPr/>
        </p:nvSpPr>
        <p:spPr>
          <a:xfrm>
            <a:off x="3630853" y="3520440"/>
            <a:ext cx="2030653"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従来終値からの割引価格とされる</a:t>
            </a:r>
          </a:p>
        </p:txBody>
      </p:sp>
      <p:sp>
        <p:nvSpPr>
          <p:cNvPr id="16" name="Rounded Rectangle 15"/>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55867" y="1554480"/>
            <a:ext cx="2579293"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0187" y="1828800"/>
            <a:ext cx="2030653" cy="822960"/>
          </a:xfrm>
          <a:prstGeom prst="rect">
            <a:avLst/>
          </a:prstGeom>
          <a:noFill/>
        </p:spPr>
        <p:txBody>
          <a:bodyPr wrap="square" anchor="t" lIns="0" rIns="0" tIns="0" bIns="0">
            <a:spAutoFit/>
          </a:bodyPr>
          <a:lstStyle/>
          <a:p>
            <a:pPr algn="l"/>
            <a:r>
              <a:rPr sz="3400" b="1">
                <a:solidFill>
                  <a:srgbClr val="D4A017"/>
                </a:solidFill>
                <a:latin typeface="Yu Gothic"/>
              </a:rPr>
              <a:t>約197億ドル</a:t>
            </a:r>
          </a:p>
        </p:txBody>
      </p:sp>
      <p:sp>
        <p:nvSpPr>
          <p:cNvPr id="19" name="TextBox 18"/>
          <p:cNvSpPr txBox="1"/>
          <p:nvPr/>
        </p:nvSpPr>
        <p:spPr>
          <a:xfrm>
            <a:off x="6530187" y="2834640"/>
            <a:ext cx="2030653" cy="548640"/>
          </a:xfrm>
          <a:prstGeom prst="rect">
            <a:avLst/>
          </a:prstGeom>
          <a:noFill/>
        </p:spPr>
        <p:txBody>
          <a:bodyPr wrap="square" anchor="t" lIns="0" rIns="0" tIns="0" bIns="0">
            <a:spAutoFit/>
          </a:bodyPr>
          <a:lstStyle/>
          <a:p>
            <a:pPr algn="l"/>
            <a:r>
              <a:rPr sz="1600" b="1">
                <a:solidFill>
                  <a:srgbClr val="7A1F2B"/>
                </a:solidFill>
                <a:latin typeface="Yu Gothic"/>
              </a:rPr>
              <a:t>純調達額</a:t>
            </a:r>
          </a:p>
        </p:txBody>
      </p:sp>
      <p:sp>
        <p:nvSpPr>
          <p:cNvPr id="20" name="TextBox 19"/>
          <p:cNvSpPr txBox="1"/>
          <p:nvPr/>
        </p:nvSpPr>
        <p:spPr>
          <a:xfrm>
            <a:off x="6530187" y="3520440"/>
            <a:ext cx="2030653"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手数料等控除後</a:t>
            </a:r>
          </a:p>
        </p:txBody>
      </p:sp>
      <p:sp>
        <p:nvSpPr>
          <p:cNvPr id="21" name="Rounded Rectangle 20"/>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5201" y="1554480"/>
            <a:ext cx="2579293"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9521" y="1828800"/>
            <a:ext cx="2030653" cy="822960"/>
          </a:xfrm>
          <a:prstGeom prst="rect">
            <a:avLst/>
          </a:prstGeom>
          <a:noFill/>
        </p:spPr>
        <p:txBody>
          <a:bodyPr wrap="square" anchor="t" lIns="0" rIns="0" tIns="0" bIns="0">
            <a:spAutoFit/>
          </a:bodyPr>
          <a:lstStyle/>
          <a:p>
            <a:pPr algn="l"/>
            <a:r>
              <a:rPr sz="3400" b="1">
                <a:solidFill>
                  <a:srgbClr val="D4A017"/>
                </a:solidFill>
                <a:latin typeface="Yu Gothic"/>
              </a:rPr>
              <a:t>1,000億ドル規模</a:t>
            </a:r>
          </a:p>
        </p:txBody>
      </p:sp>
      <p:sp>
        <p:nvSpPr>
          <p:cNvPr id="24" name="TextBox 23"/>
          <p:cNvSpPr txBox="1"/>
          <p:nvPr/>
        </p:nvSpPr>
        <p:spPr>
          <a:xfrm>
            <a:off x="9429521" y="2834640"/>
            <a:ext cx="2030653" cy="548640"/>
          </a:xfrm>
          <a:prstGeom prst="rect">
            <a:avLst/>
          </a:prstGeom>
          <a:noFill/>
        </p:spPr>
        <p:txBody>
          <a:bodyPr wrap="square" anchor="t" lIns="0" rIns="0" tIns="0" bIns="0">
            <a:spAutoFit/>
          </a:bodyPr>
          <a:lstStyle/>
          <a:p>
            <a:pPr algn="l"/>
            <a:r>
              <a:rPr sz="1600" b="1">
                <a:solidFill>
                  <a:srgbClr val="7A1F2B"/>
                </a:solidFill>
                <a:latin typeface="Yu Gothic"/>
              </a:rPr>
              <a:t>報じられた投資家需要</a:t>
            </a:r>
          </a:p>
        </p:txBody>
      </p:sp>
      <p:sp>
        <p:nvSpPr>
          <p:cNvPr id="25" name="TextBox 24"/>
          <p:cNvSpPr txBox="1"/>
          <p:nvPr/>
        </p:nvSpPr>
        <p:spPr>
          <a:xfrm>
            <a:off x="9429521" y="3520440"/>
            <a:ext cx="2030653"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200億ドルの売出額に対する需要規模</a:t>
            </a:r>
          </a:p>
        </p:txBody>
      </p:sp>
      <p:sp>
        <p:nvSpPr>
          <p:cNvPr id="26" name="TextBox 2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Intel Newsroom / CNBC / TechTimes / Cryptopolitanほか(2026-08-10〜11報道)｜178本目</a:t>
            </a:r>
          </a:p>
        </p:txBody>
      </p:sp>
      <p:sp>
        <p:nvSpPr>
          <p:cNvPr id="27" name="TextBox 2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重要な注意点:「まだ契約していない顧客」向けという報道の指摘</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200億ドルという数字を誤解しないための整理です。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TechTimes・Cryptopolitan等の一部報道は、調達資金がFoundryの工場建設のうち『まだ正式契約していない顧客』向けにも使われうるとの見方を示している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Intel自身の公式発表は、資金使途を『資本的支出・運転資金を含む一般事業目的』という一般的な表現にとどめている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どの顧客・どの契約規模が『未契約』に該当するのかの具体的な裏付けは、本調査の範囲では確認できていない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TechTimes / Cryptopolitan(2026-08-10〜11)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Intel Newsroom / CNBC / TechTimes / Cryptopolitanほか(2026-08-10〜11報道)｜178本目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公式発表 / 一部報道の指摘</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7A1F2B"/>
                    </a:solidFill>
                  </a:tcPr>
                </a:tc>
                <a:tc>
                  <a:txBody>
                    <a:bodyPr/>
                    <a:lstStyle/>
                    <a:p>
                      <a:pPr>
                        <a:defRPr sz="1300" b="1">
                          <a:solidFill>
                            <a:srgbClr val="FFFFFF"/>
                          </a:solidFill>
                          <a:latin typeface="Yu Gothic"/>
                        </a:defRPr>
                      </a:pPr>
                      <a:r>
                        <a:t>記述の内容</a:t>
                      </a:r>
                    </a:p>
                  </a:txBody>
                  <a:tcPr>
                    <a:solidFill>
                      <a:srgbClr val="7A1F2B"/>
                    </a:solidFill>
                  </a:tcPr>
                </a:tc>
              </a:tr>
              <a:tr h="502920">
                <a:tc>
                  <a:txBody>
                    <a:bodyPr/>
                    <a:lstStyle/>
                    <a:p>
                      <a:pPr>
                        <a:defRPr sz="1200">
                          <a:solidFill>
                            <a:srgbClr val="2A1712"/>
                          </a:solidFill>
                          <a:latin typeface="Yu Gothic"/>
                        </a:defRPr>
                      </a:pPr>
                      <a:r>
                        <a:t>Intel公式発表</a:t>
                      </a:r>
                    </a:p>
                  </a:txBody>
                  <a:tcPr>
                    <a:solidFill>
                      <a:srgbClr val="FFFFFF"/>
                    </a:solidFill>
                  </a:tcPr>
                </a:tc>
                <a:tc>
                  <a:txBody>
                    <a:bodyPr/>
                    <a:lstStyle/>
                    <a:p>
                      <a:pPr>
                        <a:defRPr sz="1200">
                          <a:solidFill>
                            <a:srgbClr val="2A1712"/>
                          </a:solidFill>
                          <a:latin typeface="Yu Gothic"/>
                        </a:defRPr>
                      </a:pPr>
                      <a:r>
                        <a:t>「資本的支出・運転資金を含む一般事業目的」という一般的な表現(具体的な顧客名・契約状況への言及なし)</a:t>
                      </a:r>
                    </a:p>
                  </a:txBody>
                  <a:tcPr>
                    <a:solidFill>
                      <a:srgbClr val="FFFFFF"/>
                    </a:solidFill>
                  </a:tcPr>
                </a:tc>
              </a:tr>
              <a:tr h="502920">
                <a:tc>
                  <a:txBody>
                    <a:bodyPr/>
                    <a:lstStyle/>
                    <a:p>
                      <a:pPr>
                        <a:defRPr sz="1200">
                          <a:solidFill>
                            <a:srgbClr val="2A1712"/>
                          </a:solidFill>
                          <a:latin typeface="Yu Gothic"/>
                        </a:defRPr>
                      </a:pPr>
                      <a:r>
                        <a:t>一部報道(TechTimes・Cryptopolitan)</a:t>
                      </a:r>
                    </a:p>
                  </a:txBody>
                  <a:tcPr>
                    <a:solidFill>
                      <a:srgbClr val="FBF3E6"/>
                    </a:solidFill>
                  </a:tcPr>
                </a:tc>
                <a:tc>
                  <a:txBody>
                    <a:bodyPr/>
                    <a:lstStyle/>
                    <a:p>
                      <a:pPr>
                        <a:defRPr sz="1200">
                          <a:solidFill>
                            <a:srgbClr val="2A1712"/>
                          </a:solidFill>
                          <a:latin typeface="Yu Gothic"/>
                        </a:defRPr>
                      </a:pPr>
                      <a:r>
                        <a:t>『まだ正式契約していない顧客』向けの工場建設に使われる可能性をリスクとして指摘</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Intel Newsroom / TechTimes / Cryptopolitan(2026-08-10〜11)</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Intel Newsroom / CNBC / TechTimes / Cryptopolitanほか(2026-08-10〜11報道)｜178本目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事実・推測・不明の区別</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分類</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検証済み事実</a:t>
                      </a:r>
                    </a:p>
                  </a:txBody>
                  <a:tcPr>
                    <a:solidFill>
                      <a:srgbClr val="FFFFFF"/>
                    </a:solidFill>
                  </a:tcPr>
                </a:tc>
                <a:tc>
                  <a:txBody>
                    <a:bodyPr/>
                    <a:lstStyle/>
                    <a:p>
                      <a:pPr>
                        <a:defRPr sz="1200">
                          <a:solidFill>
                            <a:srgbClr val="2A1712"/>
                          </a:solidFill>
                          <a:latin typeface="Yu Gothic"/>
                        </a:defRPr>
                      </a:pPr>
                      <a:r>
                        <a:t>売出株数・価格・純調達額・決済予定日・使途(一般事業目的という文言)・報じられた投資家需要</a:t>
                      </a:r>
                    </a:p>
                  </a:txBody>
                  <a:tcPr>
                    <a:solidFill>
                      <a:srgbClr val="FFFFFF"/>
                    </a:solidFill>
                  </a:tcPr>
                </a:tc>
              </a:tr>
              <a:tr h="502920">
                <a:tc>
                  <a:txBody>
                    <a:bodyPr/>
                    <a:lstStyle/>
                    <a:p>
                      <a:pPr>
                        <a:defRPr sz="1200">
                          <a:solidFill>
                            <a:srgbClr val="2A1712"/>
                          </a:solidFill>
                          <a:latin typeface="Yu Gothic"/>
                        </a:defRPr>
                      </a:pPr>
                      <a:r>
                        <a:t>合理的推測</a:t>
                      </a:r>
                    </a:p>
                  </a:txBody>
                  <a:tcPr>
                    <a:solidFill>
                      <a:srgbClr val="FBF3E6"/>
                    </a:solidFill>
                  </a:tcPr>
                </a:tc>
                <a:tc>
                  <a:txBody>
                    <a:bodyPr/>
                    <a:lstStyle/>
                    <a:p>
                      <a:pPr>
                        <a:defRPr sz="1200">
                          <a:solidFill>
                            <a:srgbClr val="2A1712"/>
                          </a:solidFill>
                          <a:latin typeface="Yu Gothic"/>
                        </a:defRPr>
                      </a:pPr>
                      <a:r>
                        <a:t>投資家需要の高さが増額の一因である可能性、業界特性として先行投資が必要になりうること</a:t>
                      </a:r>
                    </a:p>
                  </a:txBody>
                  <a:tcPr>
                    <a:solidFill>
                      <a:srgbClr val="FBF3E6"/>
                    </a:solidFill>
                  </a:tcPr>
                </a:tc>
              </a:tr>
              <a:tr h="502920">
                <a:tc>
                  <a:txBody>
                    <a:bodyPr/>
                    <a:lstStyle/>
                    <a:p>
                      <a:pPr>
                        <a:defRPr sz="1200">
                          <a:solidFill>
                            <a:srgbClr val="2A1712"/>
                          </a:solidFill>
                          <a:latin typeface="Yu Gothic"/>
                        </a:defRPr>
                      </a:pPr>
                      <a:r>
                        <a:t>不明</a:t>
                      </a:r>
                    </a:p>
                  </a:txBody>
                  <a:tcPr>
                    <a:solidFill>
                      <a:srgbClr val="FFFFFF"/>
                    </a:solidFill>
                  </a:tcPr>
                </a:tc>
                <a:tc>
                  <a:txBody>
                    <a:bodyPr/>
                    <a:lstStyle/>
                    <a:p>
                      <a:pPr>
                        <a:defRPr sz="1200">
                          <a:solidFill>
                            <a:srgbClr val="2A1712"/>
                          </a:solidFill>
                          <a:latin typeface="Yu Gothic"/>
                        </a:defRPr>
                      </a:pPr>
                      <a:r>
                        <a:t>『まだ契約していない顧客』向けという報道指摘の具体的根拠、Foundryの稼働率・黒字化見通し、200億ドルの工場別内訳</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Intel Newsroom / CNBC / TechTimes / Cryptopolitanほか(2026-08-10〜11報道)｜178本目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状況</a:t>
                      </a:r>
                    </a:p>
                  </a:txBody>
                  <a:tcPr>
                    <a:solidFill>
                      <a:srgbClr val="7A1F2B"/>
                    </a:solidFill>
                  </a:tcPr>
                </a:tc>
              </a:tr>
              <a:tr h="502920">
                <a:tc>
                  <a:txBody>
                    <a:bodyPr/>
                    <a:lstStyle/>
                    <a:p>
                      <a:pPr>
                        <a:defRPr sz="1200">
                          <a:solidFill>
                            <a:srgbClr val="2A1712"/>
                          </a:solidFill>
                          <a:latin typeface="Yu Gothic"/>
                        </a:defRPr>
                      </a:pPr>
                      <a:r>
                        <a:t>『まだ契約していない顧客』向けという報道の具体的な裏付け(顧客名・契約規模等)</a:t>
                      </a:r>
                    </a:p>
                  </a:txBody>
                  <a:tcPr>
                    <a:solidFill>
                      <a:srgbClr val="FFFFFF"/>
                    </a:solidFill>
                  </a:tcPr>
                </a:tc>
                <a:tc>
                  <a:txBody>
                    <a:bodyPr/>
                    <a:lstStyle/>
                    <a:p>
                      <a:pPr>
                        <a:defRPr sz="1200">
                          <a:solidFill>
                            <a:srgbClr val="2A1712"/>
                          </a:solidFill>
                          <a:latin typeface="Yu Gothic"/>
                        </a:defRPr>
                      </a:pPr>
                      <a:r>
                        <a:t>本調査の範囲では確認できていない</a:t>
                      </a:r>
                    </a:p>
                  </a:txBody>
                  <a:tcPr>
                    <a:solidFill>
                      <a:srgbClr val="FFFFFF"/>
                    </a:solidFill>
                  </a:tcPr>
                </a:tc>
              </a:tr>
              <a:tr h="502920">
                <a:tc>
                  <a:txBody>
                    <a:bodyPr/>
                    <a:lstStyle/>
                    <a:p>
                      <a:pPr>
                        <a:defRPr sz="1200">
                          <a:solidFill>
                            <a:srgbClr val="2A1712"/>
                          </a:solidFill>
                          <a:latin typeface="Yu Gothic"/>
                        </a:defRPr>
                      </a:pPr>
                      <a:r>
                        <a:t>Intel Foundryの実際の稼働率・黒字化見通しの具体的な数値</a:t>
                      </a:r>
                    </a:p>
                  </a:txBody>
                  <a:tcPr>
                    <a:solidFill>
                      <a:srgbClr val="FBF3E6"/>
                    </a:solidFill>
                  </a:tcPr>
                </a:tc>
                <a:tc>
                  <a:txBody>
                    <a:bodyPr/>
                    <a:lstStyle/>
                    <a:p>
                      <a:pPr>
                        <a:defRPr sz="1200">
                          <a:solidFill>
                            <a:srgbClr val="2A1712"/>
                          </a:solidFill>
                          <a:latin typeface="Yu Gothic"/>
                        </a:defRPr>
                      </a:pPr>
                      <a:r>
                        <a:t>本調査の範囲では確認できていない</a:t>
                      </a:r>
                    </a:p>
                  </a:txBody>
                  <a:tcPr>
                    <a:solidFill>
                      <a:srgbClr val="FBF3E6"/>
                    </a:solidFill>
                  </a:tcPr>
                </a:tc>
              </a:tr>
              <a:tr h="502920">
                <a:tc>
                  <a:txBody>
                    <a:bodyPr/>
                    <a:lstStyle/>
                    <a:p>
                      <a:pPr>
                        <a:defRPr sz="1200">
                          <a:solidFill>
                            <a:srgbClr val="2A1712"/>
                          </a:solidFill>
                          <a:latin typeface="Yu Gothic"/>
                        </a:defRPr>
                      </a:pPr>
                      <a:r>
                        <a:t>200億ドルの具体的な内訳(工場別の配分等)</a:t>
                      </a:r>
                    </a:p>
                  </a:txBody>
                  <a:tcPr>
                    <a:solidFill>
                      <a:srgbClr val="FFFFFF"/>
                    </a:solidFill>
                  </a:tcPr>
                </a:tc>
                <a:tc>
                  <a:txBody>
                    <a:bodyPr/>
                    <a:lstStyle/>
                    <a:p>
                      <a:pPr>
                        <a:defRPr sz="1200">
                          <a:solidFill>
                            <a:srgbClr val="2A1712"/>
                          </a:solidFill>
                          <a:latin typeface="Yu Gothic"/>
                        </a:defRPr>
                      </a:pPr>
                      <a:r>
                        <a:t>本調査の範囲では確認できていない</a:t>
                      </a:r>
                    </a:p>
                  </a:txBody>
                  <a:tcPr>
                    <a:solidFill>
                      <a:srgbClr val="FFFFFF"/>
                    </a:solidFill>
                  </a:tcPr>
                </a:tc>
              </a:tr>
              <a:tr h="502920">
                <a:tc>
                  <a:txBody>
                    <a:bodyPr/>
                    <a:lstStyle/>
                    <a:p>
                      <a:pPr>
                        <a:defRPr sz="1200">
                          <a:solidFill>
                            <a:srgbClr val="2A1712"/>
                          </a:solidFill>
                          <a:latin typeface="Yu Gothic"/>
                        </a:defRPr>
                      </a:pPr>
                      <a:r>
                        <a:t>引受会社の追加オプション(最大31,578,947株)が行使されたかどうか</a:t>
                      </a:r>
                    </a:p>
                  </a:txBody>
                  <a:tcPr>
                    <a:solidFill>
                      <a:srgbClr val="FBF3E6"/>
                    </a:solidFill>
                  </a:tcPr>
                </a:tc>
                <a:tc>
                  <a:txBody>
                    <a:bodyPr/>
                    <a:lstStyle/>
                    <a:p>
                      <a:pPr>
                        <a:defRPr sz="1200">
                          <a:solidFill>
                            <a:srgbClr val="2A1712"/>
                          </a:solidFill>
                          <a:latin typeface="Yu Gothic"/>
                        </a:defRPr>
                      </a:pPr>
                      <a:r>
                        <a:t>本調査時点(着手日)では確認できていない</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Intel Newsroom / CNBC / TechTimes / Cryptopolitanほか(2026-08-10〜11報道)｜178本目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この発表から何を確認すべきか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資金使途の続報</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具体的な工場別配分・顧客契約の続報が出るか確認する</a:t>
            </a:r>
          </a:p>
        </p:txBody>
      </p:sp>
      <p:sp>
        <p:nvSpPr>
          <p:cNvPr id="11" name="Chevron 10"/>
          <p:cNvSpPr/>
          <p:nvPr/>
        </p:nvSpPr>
        <p:spPr>
          <a:xfrm>
            <a:off x="4038295"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決済(closing)の完了</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2026年8月12日予定の決済が実際に完了するか確認する</a:t>
            </a:r>
          </a:p>
        </p:txBody>
      </p:sp>
      <p:sp>
        <p:nvSpPr>
          <p:cNvPr id="17" name="Chevron 16"/>
          <p:cNvSpPr/>
          <p:nvPr/>
        </p:nvSpPr>
        <p:spPr>
          <a:xfrm>
            <a:off x="7919313"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Foundryの受注動向</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正式契約が今後どの程度積み上がるかを継続して見る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Intel Newsroom / CNBC / TechTimes / Cryptopolitanほか(2026-08-10〜11報道)｜178本目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立場別の実践的示唆</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投資家・業界観察者として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資金使途の続報・Foundryの受注動向を継続して確認する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半導体業界に関心がある企業として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先行投資型の工場建設という資金調達手法の一例として捉える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一般の読者として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200億ドルという規模を、確定した工場別投資額と混同しないよう注意する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Intel Newsroom / CNBC / TechTimes / Cryptopolitanほか(2026-08-10〜11報道)｜178本目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この「200億ドル」という数字の性質</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数字を読むときの前提を、もう一度整理します。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公募増資で調達される資金は、株数・株価から決まる金融取引の総額であり、工場建設費の確定額そのものではない</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使途は『資本的支出・運転資金を含む一般事業目的』という一般的な表現であり、200億ドル全額が即座に・確実に工場建設に充てられると確定しているわけではない</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引受会社の追加オプション(最大31,578,947株)が行使されれば、最終的な調達額はさらに変わりうる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Intel Newsroom(2026-08-10)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Intel Newsroom / CNBC / TechTimes / Cryptopolitanほか(2026-08-10〜11報道)｜178本目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公募増資で確定していること / 確定していないこと</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確定していること</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売出株数・売出価格・純調達額(約197億ドル)</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決済予定日(2026年8月12日)</a:t>
            </a:r>
          </a:p>
        </p:txBody>
      </p:sp>
      <p:sp>
        <p:nvSpPr>
          <p:cNvPr id="13" name="Oval 12"/>
          <p:cNvSpPr/>
          <p:nvPr/>
        </p:nvSpPr>
        <p:spPr>
          <a:xfrm>
            <a:off x="777240"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使途の一般的な区分(資本的支出・運転資金)</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確定していない・不明な点</a:t>
            </a:r>
          </a:p>
        </p:txBody>
      </p:sp>
      <p:sp>
        <p:nvSpPr>
          <p:cNvPr id="18" name="Oval 17"/>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工場別・プロジェクト別の具体的な配分</a:t>
            </a:r>
          </a:p>
        </p:txBody>
      </p:sp>
      <p:sp>
        <p:nvSpPr>
          <p:cNvPr id="20" name="Oval 19"/>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『まだ契約していない顧客』向けという報道指摘の具体的根拠</a:t>
            </a:r>
          </a:p>
        </p:txBody>
      </p:sp>
      <p:sp>
        <p:nvSpPr>
          <p:cNvPr id="22" name="Oval 21"/>
          <p:cNvSpPr/>
          <p:nvPr/>
        </p:nvSpPr>
        <p:spPr>
          <a:xfrm>
            <a:off x="6598767"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Foundryの稼働率・黒字化見通し</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Intel Newsroom / CNBC / TechTimes / Cryptopolitanほか(2026-08-10〜11報道)｜178本目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AI業界全体の投資ブームという文脈</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資金調達の背景を中立的に整理します。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AI需要の加速を背景に、半導体・データセンター関連企業による大型資金調達が相次いで報じられている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NVIDIA・OpenAI等、AIインフラに関わる企業の名前が同様の文脈で報じられることがあるが、本テーマでは特定企業を称賛・批判する意図はない</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本テーマはIntelの公募増資という個別の発表を扱い、業界全体の是非には踏み込まない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本シリーズの制作方針</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Intel Newsroom / CNBC / TechTimes / Cryptopolitanほか(2026-08-10〜11報道)｜178本目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本テーマの取り扱い方針</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この発表を扱う上での方針です。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特定企業・製品の利用を強く推奨する結論にはしない</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半導体政策・産業補助金等の政治的な争点には踏み込まず、企業の資金調達という事実関係のみを扱う</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200億ドルという規模を強調しつつも、公募増資という金融取引の性質と、使途の不確定な部分を繰り返し明示する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本シリーズの制作方針</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Intel Newsroom / CNBC / TechTimes / Cryptopolitanほか(2026-08-10〜11報道)｜178本目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4媒体が同時期に報道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Intel Newsroom・CNBC・TechTimes・Cryptopolitanが、同時期にこの発表を報じた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各社(2026-08-10〜11)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主な出典一覧</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7A1F2B"/>
                    </a:solidFill>
                  </a:tcPr>
                </a:tc>
                <a:tc>
                  <a:txBody>
                    <a:bodyPr/>
                    <a:lstStyle/>
                    <a:p>
                      <a:pPr>
                        <a:defRPr sz="1300" b="1">
                          <a:solidFill>
                            <a:srgbClr val="FFFFFF"/>
                          </a:solidFill>
                          <a:latin typeface="Yu Gothic"/>
                        </a:defRPr>
                      </a:pPr>
                      <a:r>
                        <a:t>報道日</a:t>
                      </a:r>
                    </a:p>
                  </a:txBody>
                  <a:tcPr>
                    <a:solidFill>
                      <a:srgbClr val="7A1F2B"/>
                    </a:solidFill>
                  </a:tcPr>
                </a:tc>
              </a:tr>
              <a:tr h="502920">
                <a:tc>
                  <a:txBody>
                    <a:bodyPr/>
                    <a:lstStyle/>
                    <a:p>
                      <a:pPr>
                        <a:defRPr sz="1200">
                          <a:solidFill>
                            <a:srgbClr val="2A1712"/>
                          </a:solidFill>
                          <a:latin typeface="Yu Gothic"/>
                        </a:defRPr>
                      </a:pPr>
                      <a:r>
                        <a:t>Intel Newsroom</a:t>
                      </a:r>
                    </a:p>
                  </a:txBody>
                  <a:tcPr>
                    <a:solidFill>
                      <a:srgbClr val="FFFFFF"/>
                    </a:solidFill>
                  </a:tcPr>
                </a:tc>
                <a:tc>
                  <a:txBody>
                    <a:bodyPr/>
                    <a:lstStyle/>
                    <a:p>
                      <a:pPr>
                        <a:defRPr sz="1200">
                          <a:solidFill>
                            <a:srgbClr val="2A1712"/>
                          </a:solidFill>
                          <a:latin typeface="Yu Gothic"/>
                        </a:defRPr>
                      </a:pPr>
                      <a:r>
                        <a:t>2026-08-10</a:t>
                      </a:r>
                    </a:p>
                  </a:txBody>
                  <a:tcPr>
                    <a:solidFill>
                      <a:srgbClr val="FFFFFF"/>
                    </a:solidFill>
                  </a:tcPr>
                </a:tc>
              </a:tr>
              <a:tr h="502920">
                <a:tc>
                  <a:txBody>
                    <a:bodyPr/>
                    <a:lstStyle/>
                    <a:p>
                      <a:pPr>
                        <a:defRPr sz="1200">
                          <a:solidFill>
                            <a:srgbClr val="2A1712"/>
                          </a:solidFill>
                          <a:latin typeface="Yu Gothic"/>
                        </a:defRPr>
                      </a:pPr>
                      <a:r>
                        <a:t>CNBC</a:t>
                      </a:r>
                    </a:p>
                  </a:txBody>
                  <a:tcPr>
                    <a:solidFill>
                      <a:srgbClr val="FBF3E6"/>
                    </a:solidFill>
                  </a:tcPr>
                </a:tc>
                <a:tc>
                  <a:txBody>
                    <a:bodyPr/>
                    <a:lstStyle/>
                    <a:p>
                      <a:pPr>
                        <a:defRPr sz="1200">
                          <a:solidFill>
                            <a:srgbClr val="2A1712"/>
                          </a:solidFill>
                          <a:latin typeface="Yu Gothic"/>
                        </a:defRPr>
                      </a:pPr>
                      <a:r>
                        <a:t>2026-08-10</a:t>
                      </a:r>
                    </a:p>
                  </a:txBody>
                  <a:tcPr>
                    <a:solidFill>
                      <a:srgbClr val="FBF3E6"/>
                    </a:solidFill>
                  </a:tcPr>
                </a:tc>
              </a:tr>
              <a:tr h="502920">
                <a:tc>
                  <a:txBody>
                    <a:bodyPr/>
                    <a:lstStyle/>
                    <a:p>
                      <a:pPr>
                        <a:defRPr sz="1200">
                          <a:solidFill>
                            <a:srgbClr val="2A1712"/>
                          </a:solidFill>
                          <a:latin typeface="Yu Gothic"/>
                        </a:defRPr>
                      </a:pPr>
                      <a:r>
                        <a:t>TechTimes</a:t>
                      </a:r>
                    </a:p>
                  </a:txBody>
                  <a:tcPr>
                    <a:solidFill>
                      <a:srgbClr val="FFFFFF"/>
                    </a:solidFill>
                  </a:tcPr>
                </a:tc>
                <a:tc>
                  <a:txBody>
                    <a:bodyPr/>
                    <a:lstStyle/>
                    <a:p>
                      <a:pPr>
                        <a:defRPr sz="1200">
                          <a:solidFill>
                            <a:srgbClr val="2A1712"/>
                          </a:solidFill>
                          <a:latin typeface="Yu Gothic"/>
                        </a:defRPr>
                      </a:pPr>
                      <a:r>
                        <a:t>2026-08-10</a:t>
                      </a:r>
                    </a:p>
                  </a:txBody>
                  <a:tcPr>
                    <a:solidFill>
                      <a:srgbClr val="FFFFFF"/>
                    </a:solidFill>
                  </a:tcPr>
                </a:tc>
              </a:tr>
              <a:tr h="502920">
                <a:tc>
                  <a:txBody>
                    <a:bodyPr/>
                    <a:lstStyle/>
                    <a:p>
                      <a:pPr>
                        <a:defRPr sz="1200">
                          <a:solidFill>
                            <a:srgbClr val="2A1712"/>
                          </a:solidFill>
                          <a:latin typeface="Yu Gothic"/>
                        </a:defRPr>
                      </a:pPr>
                      <a:r>
                        <a:t>Cryptopolitan</a:t>
                      </a:r>
                    </a:p>
                  </a:txBody>
                  <a:tcPr>
                    <a:solidFill>
                      <a:srgbClr val="FBF3E6"/>
                    </a:solidFill>
                  </a:tcPr>
                </a:tc>
                <a:tc>
                  <a:txBody>
                    <a:bodyPr/>
                    <a:lstStyle/>
                    <a:p>
                      <a:pPr>
                        <a:defRPr sz="1200">
                          <a:solidFill>
                            <a:srgbClr val="2A1712"/>
                          </a:solidFill>
                          <a:latin typeface="Yu Gothic"/>
                        </a:defRPr>
                      </a:pPr>
                      <a:r>
                        <a:t>2026-08-11</a:t>
                      </a:r>
                    </a:p>
                  </a:txBody>
                  <a:tcPr>
                    <a:solidFill>
                      <a:srgbClr val="FBF3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Intel Newsroom / CNBC / TechTimes / Cryptopolitanほか(2026-08-10〜11報道)｜178本目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最後に、もう一度確認したいこと</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今日お伝えした内容の締めくくりです。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Intelは公募増資を150億ドルから200億ドルへ増額し、1株95ドルで200億ドル規模の資金を調達すると発表した</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調達資金は資本的支出・運転資金を含む一般事業目的とされ、Foundryの工場建設も含まれるとされる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『まだ契約していない顧客』向けという報道の指摘の具体的な裏付けは、本調査の範囲では確認できていない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research.md参照</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Intel Newsroom / CNBC / TechTimes / Cryptopolitanほか(2026-08-10〜11報道)｜178本目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200億ドルは、まだ契約していない顧客への賭けでもある。数字の中身を、正直に見よう。</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3E3C9"/>
                </a:solidFill>
                <a:latin typeface="Yu Gothic"/>
              </a:rPr>
              <a:t>特定企業・製品の利用を強く推奨する結論や、確認できていないことへの断定的な記述は一切行っていません。</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7A1F2B"/>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