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Metaが、ついにコーディングエージェント戦争に参入しました。専用コーディングエージェント『Muse Code』と、新モデル『Muse Spark 1.2』を同時に発表しています。2026年8月5日から7日にかけて、複数の海外メディアが報じました。この動画では、出典付きで内容を整理してお伝えします。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結論から先にお伝えします。今回の発表のポイントは2つです。1つ目は、Metaにとって初となる専用のコーディングエージェント『Muse Code』を投入したこと。2つ目は、それと共同学習させた新モデル『Muse Spark 1.2』もあわせて発表したことです。料金体系にも、学習データの提供と引き換えに割引されるという珍しい仕組みが用意されています。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この動画では、まずMuse CodeとMuse Spark 1.2が何なのかを整理します。次に、なぜ発表から数日経ったニュースを今回扱うのか、正直に開示します。そのうえで、技術的な仕組みや料金体系、そして利用を検討する場合に確認したいことまで、順番に見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今回のニュースは、発表から3日から5日が経過しています。本シリーズは通常、発表から2日以内のニュースを条件にしていますが、今回はどうしても2日以内の代わりの候補が見つからなかったため、例外的な最終手段として採用しました。この例外運用が続いていることも、あわせ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複数のメディアで報じられていますが、報道日は少しずつずれています。最も早かったのはMarkTechPostの8月5日で、Forbes・VentureBeatが8月6日、Technology.orgが8月7日と続きました。この報道日のばらつき自体が、発表からやや時間が経ってからの取り上げになった一因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Codeは、Metaにとって初めての専用コーディングエージェントです。これまでMetaはMuse Sparkのような汎用のAIモデルは発表していましたが、コーディング作業のために設計された専用エージェント製品は今回が初めてになります。現時点では早期ベータの位置づけです。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この3つの関係を整理します。Muse Spark 1.2は、Muse Codeと共同で学習させたモデルです。そして、このモデルはMeta Model APIという経路を通じて提供されます。モデルとエージェント製品を同時に作り込むことで、両者の相性を高めているとみられます。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専門用語を整理します。コーディングエージェントとは、人間の指示をもとに計画からコーディング、検証までを一括して行うAIのことです。マルチエージェントは、その作業を複数のAI担当者に分担させる仕組みを指します。Git worktreeという言葉も後で出てくるので、ここで押さえておきましょう。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Codeの特徴を見ていきます。まず、ターミナルから単一コマンドで導入できる手軽さがあります。そのうえで、大規模なリポジトリ全体にまたがる計画・コーディング・検証といったエンジニアリング作業を一括で担う設計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規模なプロジェクトは、複数のサブタスクに自動で分割されます。それぞれのサブタスクは、書き込み可能なサブエージェントが担当し、独立して変更を加えられます。ポイントは、開発者本人のメイン作業コピーには影響を与えない設計になってい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仕様の一覧表として整理しました。導入方法、対象範囲、並行処理の仕組み、監査性、セッション継続のしやすさという5つの観点でまとめています。この後、それぞれをもう少し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AIモデル単体を使う場合と、専用エージェントであるMuse Codeを使う場合を比べてみます。左側は一般的な利用イメージ、右側がMuse Codeの公式発表に基づく特徴です。専用エージェントにすることで、分割・並行実行・記録といった作業がより自動化される設計だと分かります。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並行処理の仕組みを図で整理します。それぞれのサブエージェントは、独立したGit worktreeという作業領域で動きます。そのため、開発者本人のメイン作業コピーに影響を与えることなく、複数のエージェントが同時に変更を加えられるという仕組みです。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特徴が、監査性です。全てのサブエージェントの動き、ツール呼び出し、人間による介入やキャンセルまで、再生可能なイベントログとして記録されます。何が起きたのかを後から確認でき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長時間稼働を支える仕組みも用意されています。ノートPCを閉じたり、プロセスがクラッシュしたりしても、セッション自体は継続します。そして、muse resumeというコマンドを使えば、記録されたログから前回のセッションを復元できます。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既存テーマとの関係を整理します。以前扱った24本目は、Muse Spark 1.1という1つのモデルの発表と、Zuckerberg氏のX投稿によるバイラル性を中心に扱いました。今回はそれとは別に、新モデルのMuse Spark 1.2と、初の専用エージェントであるMuse Codeを同時に投入したという、新しい出来事を扱っています。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新モデルであるMuse Spark 1.2は、前バージョンの1.1と比べて、コード生成、複雑なデバッグ、コードベース理解の3点が改善されたとMeta社は説明しています。学習に使う計算資源を増やし、学習環境の多様性も広げたとのことです。ただし、具体的なベンチマークの数値や、第三者による検証があったかどうかは、今回の調査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Spark 1.2はMeta Model API経由で提供され、標準ティアの料金は、入力が100万トークンあたり1.25ドル、出力が100万トークンあたり4.25ドルです。キャッシュされた入力は、100万トークンあたり0.15ドルとさらに安くなります。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体系には、もう1つ意外な仕組みがあります。自分のプロンプトや応答をMeta社のAI学習に使うことに同意すると、大幅に割引される『contributor』ティアです。ある情報源では標準ティアの12分の1程度という言及がありますが、これは1つの情報源だけの記述で、他のメディアでは確認できていません。ここは慎重に扱うべき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orティアを検討する際に、確認しておきたい点をまとめました。正確な値引き率は1つの情報源のみの記述で確度が低く、同意の範囲や撤回の可否、機密情報の扱いといった詳細も、公開情報からは確認できていません。契約前には、必ずMeta公式の一次情報を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正直にまとめてお伝えします。一般提供の時期、ベンチマークの第三者検証の有無、contributorティアの正確な割引率、そして日本語での利用可否です。いずれも推測で埋めず、不明なものは不明と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開発者にとって、これは何を意味するでしょうか。大規模なリポジトリを扱う開発者にとっては、試せる専用エージェントの選択肢が1つ増えます。ただし早期ベータであることを踏まえ、まずは小規模なタスクで試すのが安全です。contributorティアを選ぶかどうかは、自分のコードの性質をよく考えて判断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やチームにとってはどうでしょうか。イベントログによる監査性は、エンタープライズ環境での導入検討材料になりえます。サブエージェントによる並行実行は、大規模なリファクタリングや移行作業に向いている可能性があります。一方で、contributorティアを選ぶ場合は、社内コードの機密性に応じた事前確認が欠かせ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検討する場合の進め方です。まず公式ブログで最新の提供状況を確認し、次に料金体系を比較します。そのうえで、自社のコードの機密性を踏まえてcontributorティアの可否を判断し、最初は小規模なタスクで試すのがおすすめ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活用シーンを挙げますが、これらはあくまで公式発表の機能説明からの推測であり、Meta社が具体的な事例として公表したものではありません。大規模なリファクタリングや、長時間のマイグレーション作業、チーム開発、監査ログが必要な環境などが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対意見や懸念点も、客観的に整理しておきます。contributorティアについては、割引と引き換えに利用データがAI学習に使われる点への懸念が想定されます。第三者検証のないベンチマーク主張には慎重な見方もありえますし、早期ベータであることによる不確実性も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のスタンスを明記します。あくまでMeta社の公式発表という事実紹介であり、特定企業や製品の利用を強く推奨する結論にはしていません。他社比較の誇張や対立を煽る表現も避け、推測部分はすべて『推測』と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後の論点になりうる点を挙げます。あくまで推測ですが、大手各社によるコーディングエージェント投入は今後も続く可能性があります。データ提供と引き換えの割引という料金モデルが他社にも広がるかどうかも注目です。そして、Muse Codeの一般提供時期は、現時点では不明なので、続報を待つ必要があります。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今回使用した主な出典の一覧です。一次情報であるMeta AI Research公式ブログを軸に、MarkTechPost、Forbes、VentureBeat、Technology.orgといった複数の独立したメディアの報道を突き合わせて整理しました。contributorティアの割引率については、Pulse2のみの言及である点をあらためて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のコーディングエージェント参入は、まだ始まったばかりです。今回は、発表から3日から5日が経過したニュースを扱ったという鮮度基準の例外運用であることを、あらためて開示しておきます。一般提供の時期や第三者検証など、不明な点については続報が出次第、あらためて整理します。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Metaが、ついに</a:t>
            </a:r>
          </a:p>
          <a:p>
            <a:pPr algn="l">
              <a:lnSpc>
                <a:spcPct val="115000"/>
              </a:lnSpc>
            </a:pPr>
            <a:r>
              <a:rPr sz="4200" b="1">
                <a:solidFill>
                  <a:srgbClr val="FFFFFF"/>
                </a:solidFill>
                <a:latin typeface="Yu Gothic"/>
              </a:rPr>
              <a:t>コーディングエージェント戦争に参入。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「Muse Code」×「Muse Spark 1.2」を同時発表 — 学習データ提供と引き換えの大幅値引きも(2026年8月5〜7日、複数メディア報道)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Meta AI Research公式ブログ、VentureBeat、Forbes、MarkTechPost、Technology.org ほか。本テーマは着手日から3〜5日前の発表であり、鮮度基準の例外運用である旨を後述します。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2製品、同時投入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Metaにとって初の専用コーディングエージェント「Muse Code」と、これと共同学習させた新モデル「Muse Spark 1.2」を同時に発表。料金体系には、学習データ提供に同意すると大幅に割引される「contributor」ティアという意外性もある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Meta AI Research公式ブログ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Muse CodeとMuse Spark 1.2が何なのか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なぜ『発表から数日後』のニュースを扱うのか(正直な開示)</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Muse Codeの技術的な仕組み(サブエージェント・監査ログ)</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Muse Spark 1.2の強化点と料金体系</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利用を検討する場合に確認したいこと・不明点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なぜ今、このニュースを扱うのか(正直な開示)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本テーマは、通常の鮮度基準(着手日から2日以内)を満たしていません。</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発表日は2026年8月5〜7日で、着手日(8月10日)から3〜5日が経過している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本シリーズの通常運用は『着手日を含めて2日以内』の発表・報道を条件としている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着手日時点で26件前後のWebSearchを行ったが、2日以内の代替候補が見つからなかった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オーナー指示による『例外的最終手段』の規定に基づき、今回のみ採用している</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この例外運用は4ラウンド連続であり、常態化させない方針であることも開示する</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research/2026-08-10_theme-evaluation-round93.md</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報道日(2026年)</a:t>
                      </a:r>
                    </a:p>
                  </a:txBody>
                  <a:tcPr>
                    <a:solidFill>
                      <a:srgbClr val="24523F"/>
                    </a:solidFill>
                  </a:tcPr>
                </a:tc>
              </a:tr>
              <a:tr h="502920">
                <a:tc>
                  <a:txBody>
                    <a:bodyPr/>
                    <a:lstStyle/>
                    <a:p>
                      <a:pPr>
                        <a:defRPr sz="1200">
                          <a:solidFill>
                            <a:srgbClr val="20261F"/>
                          </a:solidFill>
                          <a:latin typeface="Yu Gothic"/>
                        </a:defRPr>
                      </a:pPr>
                      <a:r>
                        <a:t>MarkTechPost</a:t>
                      </a:r>
                    </a:p>
                  </a:txBody>
                  <a:tcPr>
                    <a:solidFill>
                      <a:srgbClr val="FFFFFF"/>
                    </a:solidFill>
                  </a:tcPr>
                </a:tc>
                <a:tc>
                  <a:txBody>
                    <a:bodyPr/>
                    <a:lstStyle/>
                    <a:p>
                      <a:pPr>
                        <a:defRPr sz="1200">
                          <a:solidFill>
                            <a:srgbClr val="20261F"/>
                          </a:solidFill>
                          <a:latin typeface="Yu Gothic"/>
                        </a:defRPr>
                      </a:pPr>
                      <a:r>
                        <a:t>8月5日</a:t>
                      </a:r>
                    </a:p>
                  </a:txBody>
                  <a:tcPr>
                    <a:solidFill>
                      <a:srgbClr val="FFFFFF"/>
                    </a:solidFill>
                  </a:tcPr>
                </a:tc>
              </a:tr>
              <a:tr h="502920">
                <a:tc>
                  <a:txBody>
                    <a:bodyPr/>
                    <a:lstStyle/>
                    <a:p>
                      <a:pPr>
                        <a:defRPr sz="1200">
                          <a:solidFill>
                            <a:srgbClr val="20261F"/>
                          </a:solidFill>
                          <a:latin typeface="Yu Gothic"/>
                        </a:defRPr>
                      </a:pPr>
                      <a:r>
                        <a:t>Forbes</a:t>
                      </a:r>
                    </a:p>
                  </a:txBody>
                  <a:tcPr>
                    <a:solidFill>
                      <a:srgbClr val="F4F1E6"/>
                    </a:solidFill>
                  </a:tcPr>
                </a:tc>
                <a:tc>
                  <a:txBody>
                    <a:bodyPr/>
                    <a:lstStyle/>
                    <a:p>
                      <a:pPr>
                        <a:defRPr sz="1200">
                          <a:solidFill>
                            <a:srgbClr val="20261F"/>
                          </a:solidFill>
                          <a:latin typeface="Yu Gothic"/>
                        </a:defRPr>
                      </a:pPr>
                      <a:r>
                        <a:t>8月6日</a:t>
                      </a:r>
                    </a:p>
                  </a:txBody>
                  <a:tcPr>
                    <a:solidFill>
                      <a:srgbClr val="F4F1E6"/>
                    </a:solidFill>
                  </a:tcPr>
                </a:tc>
              </a:tr>
              <a:tr h="502920">
                <a:tc>
                  <a:txBody>
                    <a:bodyPr/>
                    <a:lstStyle/>
                    <a:p>
                      <a:pPr>
                        <a:defRPr sz="1200">
                          <a:solidFill>
                            <a:srgbClr val="20261F"/>
                          </a:solidFill>
                          <a:latin typeface="Yu Gothic"/>
                        </a:defRPr>
                      </a:pPr>
                      <a:r>
                        <a:t>VentureBeat</a:t>
                      </a:r>
                    </a:p>
                  </a:txBody>
                  <a:tcPr>
                    <a:solidFill>
                      <a:srgbClr val="FFFFFF"/>
                    </a:solidFill>
                  </a:tcPr>
                </a:tc>
                <a:tc>
                  <a:txBody>
                    <a:bodyPr/>
                    <a:lstStyle/>
                    <a:p>
                      <a:pPr>
                        <a:defRPr sz="1200">
                          <a:solidFill>
                            <a:srgbClr val="20261F"/>
                          </a:solidFill>
                          <a:latin typeface="Yu Gothic"/>
                        </a:defRPr>
                      </a:pPr>
                      <a:r>
                        <a:t>8月6日</a:t>
                      </a:r>
                    </a:p>
                  </a:txBody>
                  <a:tcPr>
                    <a:solidFill>
                      <a:srgbClr val="FFFFFF"/>
                    </a:solidFill>
                  </a:tcPr>
                </a:tc>
              </a:tr>
              <a:tr h="502920">
                <a:tc>
                  <a:txBody>
                    <a:bodyPr/>
                    <a:lstStyle/>
                    <a:p>
                      <a:pPr>
                        <a:defRPr sz="1200">
                          <a:solidFill>
                            <a:srgbClr val="20261F"/>
                          </a:solidFill>
                          <a:latin typeface="Yu Gothic"/>
                        </a:defRPr>
                      </a:pPr>
                      <a:r>
                        <a:t>Technology.org</a:t>
                      </a:r>
                    </a:p>
                  </a:txBody>
                  <a:tcPr>
                    <a:solidFill>
                      <a:srgbClr val="F4F1E6"/>
                    </a:solidFill>
                  </a:tcPr>
                </a:tc>
                <a:tc>
                  <a:txBody>
                    <a:bodyPr/>
                    <a:lstStyle/>
                    <a:p>
                      <a:pPr>
                        <a:defRPr sz="1200">
                          <a:solidFill>
                            <a:srgbClr val="20261F"/>
                          </a:solidFill>
                          <a:latin typeface="Yu Gothic"/>
                        </a:defRPr>
                      </a:pPr>
                      <a:r>
                        <a:t>8月7日</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各メディアの報道日をもとに作成</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『初』が意味すること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Metaにとって初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Muse Codeは、長時間稼働・マルチエージェント型のソフトウェア開発ワークフロー向けに設計された、Metaにとって初の専用コーディングエージェント(早期ベータ)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Meta AI Research公式ブログ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Muse Code × Muse Spark 1.2 × Meta Model API</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Muse Spark 1.2</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共同学習された新モデル</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Muse Code</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専用コーディングエージェント(早期ベータ)</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Meta Model API</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提供される経路</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Muse Spark 1.2はMuse Codeと共同学習され、Meta Model API経由で提供される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用語解説: そもそも『コーディングエージェント』とは(初心者向け)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専門用語を先に整理しておきます。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コーディングエージェント: 人間の指示をもとに、計画・コーディング・検証までを一括して行うAI</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マルチエージェント: 1つの作業を複数のAI担当者(サブエージェント)に分担させる仕組み</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Git worktree: 同じリポジトリの複製を作らずに、並行作業用の別の作業領域を用意する仕組み</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早期ベータ: 正式版になる前の、限定的に試せる段階のこと</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Muse Codeの主な特徴(導入のしやすさ)</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単一コマンド導入</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ターミナルから単一コマンドでインストールできる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対象範囲</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大規模リポジトリ全体の計画・コーディング・検証を一括で担う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Metaにとって初の専用コーディングエージェント(早期ベータ)</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Meta AI Research公式ブログ、Forbes</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サブタスク自動分割の仕組み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自動分割</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大規模プロジェクトを複数のサブタスクに自動で分割する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書き込み可能サブエージェント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各サブエージェントが独立して変更を加えられる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メイン作業コピーを保護</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開発者本人の作業コピーには影響を与えない</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Meta AI Research公式ブログ、VentureBeat</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Muse Codeの主な仕様まとめ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導入方法</a:t>
                      </a:r>
                    </a:p>
                  </a:txBody>
                  <a:tcPr>
                    <a:solidFill>
                      <a:srgbClr val="FFFFFF"/>
                    </a:solidFill>
                  </a:tcPr>
                </a:tc>
                <a:tc>
                  <a:txBody>
                    <a:bodyPr/>
                    <a:lstStyle/>
                    <a:p>
                      <a:pPr>
                        <a:defRPr sz="1200">
                          <a:solidFill>
                            <a:srgbClr val="20261F"/>
                          </a:solidFill>
                          <a:latin typeface="Yu Gothic"/>
                        </a:defRPr>
                      </a:pPr>
                      <a:r>
                        <a:t>ターミナルから単一コマンド</a:t>
                      </a:r>
                    </a:p>
                  </a:txBody>
                  <a:tcPr>
                    <a:solidFill>
                      <a:srgbClr val="FFFFFF"/>
                    </a:solidFill>
                  </a:tcPr>
                </a:tc>
              </a:tr>
              <a:tr h="502920">
                <a:tc>
                  <a:txBody>
                    <a:bodyPr/>
                    <a:lstStyle/>
                    <a:p>
                      <a:pPr>
                        <a:defRPr sz="1200">
                          <a:solidFill>
                            <a:srgbClr val="20261F"/>
                          </a:solidFill>
                          <a:latin typeface="Yu Gothic"/>
                        </a:defRPr>
                      </a:pPr>
                      <a:r>
                        <a:t>対象範囲</a:t>
                      </a:r>
                    </a:p>
                  </a:txBody>
                  <a:tcPr>
                    <a:solidFill>
                      <a:srgbClr val="F4F1E6"/>
                    </a:solidFill>
                  </a:tcPr>
                </a:tc>
                <a:tc>
                  <a:txBody>
                    <a:bodyPr/>
                    <a:lstStyle/>
                    <a:p>
                      <a:pPr>
                        <a:defRPr sz="1200">
                          <a:solidFill>
                            <a:srgbClr val="20261F"/>
                          </a:solidFill>
                          <a:latin typeface="Yu Gothic"/>
                        </a:defRPr>
                      </a:pPr>
                      <a:r>
                        <a:t>大規模リポジトリ全体の計画・コーディング・検証</a:t>
                      </a:r>
                    </a:p>
                  </a:txBody>
                  <a:tcPr>
                    <a:solidFill>
                      <a:srgbClr val="F4F1E6"/>
                    </a:solidFill>
                  </a:tcPr>
                </a:tc>
              </a:tr>
              <a:tr h="502920">
                <a:tc>
                  <a:txBody>
                    <a:bodyPr/>
                    <a:lstStyle/>
                    <a:p>
                      <a:pPr>
                        <a:defRPr sz="1200">
                          <a:solidFill>
                            <a:srgbClr val="20261F"/>
                          </a:solidFill>
                          <a:latin typeface="Yu Gothic"/>
                        </a:defRPr>
                      </a:pPr>
                      <a:r>
                        <a:t>並行処理</a:t>
                      </a:r>
                    </a:p>
                  </a:txBody>
                  <a:tcPr>
                    <a:solidFill>
                      <a:srgbClr val="FFFFFF"/>
                    </a:solidFill>
                  </a:tcPr>
                </a:tc>
                <a:tc>
                  <a:txBody>
                    <a:bodyPr/>
                    <a:lstStyle/>
                    <a:p>
                      <a:pPr>
                        <a:defRPr sz="1200">
                          <a:solidFill>
                            <a:srgbClr val="20261F"/>
                          </a:solidFill>
                          <a:latin typeface="Yu Gothic"/>
                        </a:defRPr>
                      </a:pPr>
                      <a:r>
                        <a:t>サブタスク自動分割+独立Git worktreeで複数サブエージェントが同時に変更</a:t>
                      </a:r>
                    </a:p>
                  </a:txBody>
                  <a:tcPr>
                    <a:solidFill>
                      <a:srgbClr val="FFFFFF"/>
                    </a:solidFill>
                  </a:tcPr>
                </a:tc>
              </a:tr>
              <a:tr h="502920">
                <a:tc>
                  <a:txBody>
                    <a:bodyPr/>
                    <a:lstStyle/>
                    <a:p>
                      <a:pPr>
                        <a:defRPr sz="1200">
                          <a:solidFill>
                            <a:srgbClr val="20261F"/>
                          </a:solidFill>
                          <a:latin typeface="Yu Gothic"/>
                        </a:defRPr>
                      </a:pPr>
                      <a:r>
                        <a:t>監査性</a:t>
                      </a:r>
                    </a:p>
                  </a:txBody>
                  <a:tcPr>
                    <a:solidFill>
                      <a:srgbClr val="F4F1E6"/>
                    </a:solidFill>
                  </a:tcPr>
                </a:tc>
                <a:tc>
                  <a:txBody>
                    <a:bodyPr/>
                    <a:lstStyle/>
                    <a:p>
                      <a:pPr>
                        <a:defRPr sz="1200">
                          <a:solidFill>
                            <a:srgbClr val="20261F"/>
                          </a:solidFill>
                          <a:latin typeface="Yu Gothic"/>
                        </a:defRPr>
                      </a:pPr>
                      <a:r>
                        <a:t>サブエージェント・ツール呼び出し・介入・キャンセルを再生可能なイベントログに記録</a:t>
                      </a:r>
                    </a:p>
                  </a:txBody>
                  <a:tcPr>
                    <a:solidFill>
                      <a:srgbClr val="F4F1E6"/>
                    </a:solidFill>
                  </a:tcPr>
                </a:tc>
              </a:tr>
              <a:tr h="502920">
                <a:tc>
                  <a:txBody>
                    <a:bodyPr/>
                    <a:lstStyle/>
                    <a:p>
                      <a:pPr>
                        <a:defRPr sz="1200">
                          <a:solidFill>
                            <a:srgbClr val="20261F"/>
                          </a:solidFill>
                          <a:latin typeface="Yu Gothic"/>
                        </a:defRPr>
                      </a:pPr>
                      <a:r>
                        <a:t>セッション継続</a:t>
                      </a:r>
                    </a:p>
                  </a:txBody>
                  <a:tcPr>
                    <a:solidFill>
                      <a:srgbClr val="FFFFFF"/>
                    </a:solidFill>
                  </a:tcPr>
                </a:tc>
                <a:tc>
                  <a:txBody>
                    <a:bodyPr/>
                    <a:lstStyle/>
                    <a:p>
                      <a:pPr>
                        <a:defRPr sz="1200">
                          <a:solidFill>
                            <a:srgbClr val="20261F"/>
                          </a:solidFill>
                          <a:latin typeface="Yu Gothic"/>
                        </a:defRPr>
                      </a:pPr>
                      <a:r>
                        <a:t>ノートPCを閉じてもクラッシュしても継続、muse resumeで復元</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Meta AI Research公式ブログ</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AIモデル単体で使う場合 と Muse Codeを使う場合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AIモデル単体を使う場合</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エンジニアがタスクを都度指示する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並行作業の管理は人手が必要</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作業ログを別途記録する必要がある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Muse Codeを使う場合</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大規模タスクを自動でサブタスク分割</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複数サブエージェントが並行実行</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操作が自動的に監査ログとして残る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サブエージェントの並行処理(Git worktree)</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メイン作業コピー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開発者本人のリポジトリ</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Git worktree A</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書き込み可能サブエージェント</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Git worktree B</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書き込み可能サブエージェント</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各サブエージェントが独立したworktree内で動くため、メイン作業コピーに影響を与えずに複数エージェントが同時に変更できる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イベントログで確保する監査性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全記録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全サブエージェント・ツール呼び出し・介入・キャンセルを再生可能なイベントログとして記録し、監査性を確保する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Meta AI Research公式ブログ、Technology.org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muse resumeでできること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ノートPCを閉じても</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セッションが継続する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プロセスがクラッシュしても</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セッションが継続する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muse resume</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ログから前回セッションを復元できるコマンド</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Meta AI Research公式ブログ、Technology.org</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既存テーマとの関係</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a:t>
                      </a:r>
                    </a:p>
                  </a:txBody>
                  <a:tcPr>
                    <a:solidFill>
                      <a:srgbClr val="24523F"/>
                    </a:solidFill>
                  </a:tcPr>
                </a:tc>
                <a:tc>
                  <a:txBody>
                    <a:bodyPr/>
                    <a:lstStyle/>
                    <a:p>
                      <a:pPr>
                        <a:defRPr sz="1300" b="1">
                          <a:solidFill>
                            <a:srgbClr val="FFFFFF"/>
                          </a:solidFill>
                          <a:latin typeface="Yu Gothic"/>
                        </a:defRPr>
                      </a:pPr>
                      <a:r>
                        <a:t>テーマ</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24本目(2026-07-23)</a:t>
                      </a:r>
                    </a:p>
                  </a:txBody>
                  <a:tcPr>
                    <a:solidFill>
                      <a:srgbClr val="FFFFFF"/>
                    </a:solidFill>
                  </a:tcPr>
                </a:tc>
                <a:tc>
                  <a:txBody>
                    <a:bodyPr/>
                    <a:lstStyle/>
                    <a:p>
                      <a:pPr>
                        <a:defRPr sz="1200">
                          <a:solidFill>
                            <a:srgbClr val="20261F"/>
                          </a:solidFill>
                          <a:latin typeface="Yu Gothic"/>
                        </a:defRPr>
                      </a:pPr>
                      <a:r>
                        <a:t>2026-07-23_meta-muse-spark-launch</a:t>
                      </a:r>
                    </a:p>
                  </a:txBody>
                  <a:tcPr>
                    <a:solidFill>
                      <a:srgbClr val="FFFFFF"/>
                    </a:solidFill>
                  </a:tcPr>
                </a:tc>
                <a:tc>
                  <a:txBody>
                    <a:bodyPr/>
                    <a:lstStyle/>
                    <a:p>
                      <a:pPr>
                        <a:defRPr sz="1200">
                          <a:solidFill>
                            <a:srgbClr val="20261F"/>
                          </a:solidFill>
                          <a:latin typeface="Yu Gothic"/>
                        </a:defRPr>
                      </a:pPr>
                      <a:r>
                        <a:t>Muse Spark 1.1単体の発表(Zuckerberg氏のX投稿が中心)</a:t>
                      </a:r>
                    </a:p>
                  </a:txBody>
                  <a:tcPr>
                    <a:solidFill>
                      <a:srgbClr val="FFFFFF"/>
                    </a:solidFill>
                  </a:tcPr>
                </a:tc>
              </a:tr>
              <a:tr h="502920">
                <a:tc>
                  <a:txBody>
                    <a:bodyPr/>
                    <a:lstStyle/>
                    <a:p>
                      <a:pPr>
                        <a:defRPr sz="1200">
                          <a:solidFill>
                            <a:srgbClr val="20261F"/>
                          </a:solidFill>
                          <a:latin typeface="Yu Gothic"/>
                        </a:defRPr>
                      </a:pPr>
                      <a:r>
                        <a:t>158本目(本テーマ)</a:t>
                      </a:r>
                    </a:p>
                  </a:txBody>
                  <a:tcPr>
                    <a:solidFill>
                      <a:srgbClr val="F4F1E6"/>
                    </a:solidFill>
                  </a:tcPr>
                </a:tc>
                <a:tc>
                  <a:txBody>
                    <a:bodyPr/>
                    <a:lstStyle/>
                    <a:p>
                      <a:pPr>
                        <a:defRPr sz="1200">
                          <a:solidFill>
                            <a:srgbClr val="20261F"/>
                          </a:solidFill>
                          <a:latin typeface="Yu Gothic"/>
                        </a:defRPr>
                      </a:pPr>
                      <a:r>
                        <a:t>2026-08-05_meta-muse-code-spark-1-2-launch</a:t>
                      </a:r>
                    </a:p>
                  </a:txBody>
                  <a:tcPr>
                    <a:solidFill>
                      <a:srgbClr val="F4F1E6"/>
                    </a:solidFill>
                  </a:tcPr>
                </a:tc>
                <a:tc>
                  <a:txBody>
                    <a:bodyPr/>
                    <a:lstStyle/>
                    <a:p>
                      <a:pPr>
                        <a:defRPr sz="1200">
                          <a:solidFill>
                            <a:srgbClr val="20261F"/>
                          </a:solidFill>
                          <a:latin typeface="Yu Gothic"/>
                        </a:defRPr>
                      </a:pPr>
                      <a:r>
                        <a:t>Muse Spark 1.2 + 専用エージェント『Muse Code』の同時投入という別の出来事</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各テーマREADME参照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Muse Spark 1.2の強化ポイント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1.1 → 1.2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コード生成・複雑なデバッグ・コードベース理解を1.1から改善(学習用計算資源を増強、学習環境の多様性を拡大)。具体的なベンチマーク数値と第三者検証状況は、本調査の範囲では確認できていない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Meta AI Research公式ブログ、MarkTechPost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料金体系(標準ティア)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価格</a:t>
                      </a:r>
                    </a:p>
                  </a:txBody>
                  <a:tcPr>
                    <a:solidFill>
                      <a:srgbClr val="24523F"/>
                    </a:solidFill>
                  </a:tcPr>
                </a:tc>
              </a:tr>
              <a:tr h="502920">
                <a:tc>
                  <a:txBody>
                    <a:bodyPr/>
                    <a:lstStyle/>
                    <a:p>
                      <a:pPr>
                        <a:defRPr sz="1200">
                          <a:solidFill>
                            <a:srgbClr val="20261F"/>
                          </a:solidFill>
                          <a:latin typeface="Yu Gothic"/>
                        </a:defRPr>
                      </a:pPr>
                      <a:r>
                        <a:t>入力(標準ティア)</a:t>
                      </a:r>
                    </a:p>
                  </a:txBody>
                  <a:tcPr>
                    <a:solidFill>
                      <a:srgbClr val="FFFFFF"/>
                    </a:solidFill>
                  </a:tcPr>
                </a:tc>
                <a:tc>
                  <a:txBody>
                    <a:bodyPr/>
                    <a:lstStyle/>
                    <a:p>
                      <a:pPr>
                        <a:defRPr sz="1200">
                          <a:solidFill>
                            <a:srgbClr val="20261F"/>
                          </a:solidFill>
                          <a:latin typeface="Yu Gothic"/>
                        </a:defRPr>
                      </a:pPr>
                      <a:r>
                        <a:t>100万トークンあたり1.25ドル</a:t>
                      </a:r>
                    </a:p>
                  </a:txBody>
                  <a:tcPr>
                    <a:solidFill>
                      <a:srgbClr val="FFFFFF"/>
                    </a:solidFill>
                  </a:tcPr>
                </a:tc>
              </a:tr>
              <a:tr h="502920">
                <a:tc>
                  <a:txBody>
                    <a:bodyPr/>
                    <a:lstStyle/>
                    <a:p>
                      <a:pPr>
                        <a:defRPr sz="1200">
                          <a:solidFill>
                            <a:srgbClr val="20261F"/>
                          </a:solidFill>
                          <a:latin typeface="Yu Gothic"/>
                        </a:defRPr>
                      </a:pPr>
                      <a:r>
                        <a:t>出力(標準ティア)</a:t>
                      </a:r>
                    </a:p>
                  </a:txBody>
                  <a:tcPr>
                    <a:solidFill>
                      <a:srgbClr val="F4F1E6"/>
                    </a:solidFill>
                  </a:tcPr>
                </a:tc>
                <a:tc>
                  <a:txBody>
                    <a:bodyPr/>
                    <a:lstStyle/>
                    <a:p>
                      <a:pPr>
                        <a:defRPr sz="1200">
                          <a:solidFill>
                            <a:srgbClr val="20261F"/>
                          </a:solidFill>
                          <a:latin typeface="Yu Gothic"/>
                        </a:defRPr>
                      </a:pPr>
                      <a:r>
                        <a:t>100万トークンあたり4.25ドル</a:t>
                      </a:r>
                    </a:p>
                  </a:txBody>
                  <a:tcPr>
                    <a:solidFill>
                      <a:srgbClr val="F4F1E6"/>
                    </a:solidFill>
                  </a:tcPr>
                </a:tc>
              </a:tr>
              <a:tr h="502920">
                <a:tc>
                  <a:txBody>
                    <a:bodyPr/>
                    <a:lstStyle/>
                    <a:p>
                      <a:pPr>
                        <a:defRPr sz="1200">
                          <a:solidFill>
                            <a:srgbClr val="20261F"/>
                          </a:solidFill>
                          <a:latin typeface="Yu Gothic"/>
                        </a:defRPr>
                      </a:pPr>
                      <a:r>
                        <a:t>キャッシュ入力</a:t>
                      </a:r>
                    </a:p>
                  </a:txBody>
                  <a:tcPr>
                    <a:solidFill>
                      <a:srgbClr val="FFFFFF"/>
                    </a:solidFill>
                  </a:tcPr>
                </a:tc>
                <a:tc>
                  <a:txBody>
                    <a:bodyPr/>
                    <a:lstStyle/>
                    <a:p>
                      <a:pPr>
                        <a:defRPr sz="1200">
                          <a:solidFill>
                            <a:srgbClr val="20261F"/>
                          </a:solidFill>
                          <a:latin typeface="Yu Gothic"/>
                        </a:defRPr>
                      </a:pPr>
                      <a:r>
                        <a:t>100万トークンあたり0.15ドル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Meta AI Research公式ブログ、Forbes</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contributorティア(1情報源のみの言及、慎重に扱う)</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約12分の1(1情報源のみ)</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ユーザーのプロンプト・応答をMeta社のAI学習利用に同意すると割引される『contributor』ティア。標準ティアの12分の1程度という言及がPulse2にあるが、これは1情報源のみの記述であり確度は低い。断定的な事実としては扱わ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Pulse2(1情報源のみ。他メディアでは正確な倍率への言及を確認できず)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contributorティアで確認したいこと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割引の魅力だけで判断しないために。</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正確な値引き率は複数の情報源で確認できていない(1情報源のみの記述)</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同意する学習利用の範囲や、同意を撤回できるかどうかの詳細は不明</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自社コード内の機密情報がどう扱われるかも公開情報からは確認できない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契約前に必ずMeta公式の一次情報を確認することをおすすめする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本調査のまとめ</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確認できなかったこと一覧(不明点)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正直に『不明』とお伝えします。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Muse Codeの一般提供(GA)時期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Muse Spark 1.2のベンチマークスコアの第三者検証状況</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contributorティアの正確な値引き率(1情報源のみで確度が低い)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日本語での利用可否・日本国内でのAPI提供状況の詳細</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本調査のまとめ</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これは個人開発者にとって何を意味するか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新しい選択肢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大規模リポジトリを扱う個人開発者にとって、試せる専用エージェントの選択肢が増える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早期ベータの注意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機能・料金が今後変更される可能性があるため、まずは小規模タスクで試すのが安全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データ提供の判断</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contributorティアを選ぶかどうかは、自分のコードの性質を踏まえて判断する必要がある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これは企業・チームにとって何を意味するか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監査ログの価値</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イベントログによる監査性は、エンタープライズ環境での導入検討材料になりうる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並行開発の効率化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サブエージェントの並行実行は、大規模なリファクタリングや移行作業に向く可能性がある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データポリシーの精査が必須</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contributorティアを選ぶ場合、社内コードの機密性に応じた事前確認が欠かせない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検討する場合に確認したいステップ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公式ブログを確認</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Meta AI Research公式ブログで最新の提供状況を確認する</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料金体系を比較</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標準ティアとcontributorティアの条件を比較する</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データポリシーを確認</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扱うコードの機密性に応じてcontributorティアの可否を判断する</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小規模タスクで試す</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早期ベータのため、まず小さなタスクで挙動を確認する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想定される活用シーン(推測)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公式発表の機能説明からの推測であり、Meta社が公表した事例ではありません。</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大規模リポジトリの一括リファクタリング(推測)</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長時間かかるマイグレーション作業(推測)</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複数機能を同時並行で実装したいチーム開発(推測)</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監査ログが必要なエンタープライズ環境での導入検討(推測)</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反対意見・懸念される弱点(客観的に整理)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データ提供への懸念</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contributorティアは、割引と引き換えに利用データがAI学習に使われる点への懸念が想定される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検証不足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第三者検証のないベンチマーク主張には慎重な見方もありうる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早期ベータの不確実性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機能・料金が今後変更される可能性がある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誇張回避・特定企業推奨に関する注記</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本動画のスタンスを明記します。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本動画はMeta社の公式発表という事実紹介であり、特定企業・製品の利用を強く推奨する結論にはしない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他社比較の誇張・対立を煽る表現は避けている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推測部分は本文中ですべて『推測』と明示している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政治的な主張・特定の政治的立場への肩入れは行わない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競争の加速(推測)</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大手各社によるコーディングエージェント投入が今後も続く可能性がある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料金モデルの多様化(推測)</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データ提供と引き換えの割引という設計が他社にも広がるかは今後の動向次第</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GA時期(不明)</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Muse Codeがいつ一般提供されるかは、続報を待つ必要がある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4523F"/>
                    </a:solidFill>
                  </a:tcPr>
                </a:tc>
                <a:tc>
                  <a:txBody>
                    <a:bodyPr/>
                    <a:lstStyle/>
                    <a:p>
                      <a:pPr>
                        <a:defRPr sz="1300" b="1">
                          <a:solidFill>
                            <a:srgbClr val="FFFFFF"/>
                          </a:solidFill>
                          <a:latin typeface="Yu Gothic"/>
                        </a:defRPr>
                      </a:pPr>
                      <a:r>
                        <a:t>役割</a:t>
                      </a:r>
                    </a:p>
                  </a:txBody>
                  <a:tcPr>
                    <a:solidFill>
                      <a:srgbClr val="24523F"/>
                    </a:solidFill>
                  </a:tcPr>
                </a:tc>
              </a:tr>
              <a:tr h="502920">
                <a:tc>
                  <a:txBody>
                    <a:bodyPr/>
                    <a:lstStyle/>
                    <a:p>
                      <a:pPr>
                        <a:defRPr sz="1200">
                          <a:solidFill>
                            <a:srgbClr val="20261F"/>
                          </a:solidFill>
                          <a:latin typeface="Yu Gothic"/>
                        </a:defRPr>
                      </a:pPr>
                      <a:r>
                        <a:t>Meta AI Research公式ブログ</a:t>
                      </a:r>
                    </a:p>
                  </a:txBody>
                  <a:tcPr>
                    <a:solidFill>
                      <a:srgbClr val="FFFFFF"/>
                    </a:solidFill>
                  </a:tcPr>
                </a:tc>
                <a:tc>
                  <a:txBody>
                    <a:bodyPr/>
                    <a:lstStyle/>
                    <a:p>
                      <a:pPr>
                        <a:defRPr sz="1200">
                          <a:solidFill>
                            <a:srgbClr val="20261F"/>
                          </a:solidFill>
                          <a:latin typeface="Yu Gothic"/>
                        </a:defRPr>
                      </a:pPr>
                      <a:r>
                        <a:t>一次情報(Introducing Muse Code and Muse Spark 1.2)</a:t>
                      </a:r>
                    </a:p>
                  </a:txBody>
                  <a:tcPr>
                    <a:solidFill>
                      <a:srgbClr val="FFFFFF"/>
                    </a:solidFill>
                  </a:tcPr>
                </a:tc>
              </a:tr>
              <a:tr h="502920">
                <a:tc>
                  <a:txBody>
                    <a:bodyPr/>
                    <a:lstStyle/>
                    <a:p>
                      <a:pPr>
                        <a:defRPr sz="1200">
                          <a:solidFill>
                            <a:srgbClr val="20261F"/>
                          </a:solidFill>
                          <a:latin typeface="Yu Gothic"/>
                        </a:defRPr>
                      </a:pPr>
                      <a:r>
                        <a:t>MarkTechPost(2026-08-05)</a:t>
                      </a:r>
                    </a:p>
                  </a:txBody>
                  <a:tcPr>
                    <a:solidFill>
                      <a:srgbClr val="F4F1E6"/>
                    </a:solidFill>
                  </a:tcPr>
                </a:tc>
                <a:tc>
                  <a:txBody>
                    <a:bodyPr/>
                    <a:lstStyle/>
                    <a:p>
                      <a:pPr>
                        <a:defRPr sz="1200">
                          <a:solidFill>
                            <a:srgbClr val="20261F"/>
                          </a:solidFill>
                          <a:latin typeface="Yu Gothic"/>
                        </a:defRPr>
                      </a:pPr>
                      <a:r>
                        <a:t>最速の報道</a:t>
                      </a:r>
                    </a:p>
                  </a:txBody>
                  <a:tcPr>
                    <a:solidFill>
                      <a:srgbClr val="F4F1E6"/>
                    </a:solidFill>
                  </a:tcPr>
                </a:tc>
              </a:tr>
              <a:tr h="502920">
                <a:tc>
                  <a:txBody>
                    <a:bodyPr/>
                    <a:lstStyle/>
                    <a:p>
                      <a:pPr>
                        <a:defRPr sz="1200">
                          <a:solidFill>
                            <a:srgbClr val="20261F"/>
                          </a:solidFill>
                          <a:latin typeface="Yu Gothic"/>
                        </a:defRPr>
                      </a:pPr>
                      <a:r>
                        <a:t>Forbes(2026-08-06)</a:t>
                      </a:r>
                    </a:p>
                  </a:txBody>
                  <a:tcPr>
                    <a:solidFill>
                      <a:srgbClr val="FFFFFF"/>
                    </a:solidFill>
                  </a:tcPr>
                </a:tc>
                <a:tc>
                  <a:txBody>
                    <a:bodyPr/>
                    <a:lstStyle/>
                    <a:p>
                      <a:pPr>
                        <a:defRPr sz="1200">
                          <a:solidFill>
                            <a:srgbClr val="20261F"/>
                          </a:solidFill>
                          <a:latin typeface="Yu Gothic"/>
                        </a:defRPr>
                      </a:pPr>
                      <a:r>
                        <a:t>料金・機能の報道</a:t>
                      </a:r>
                    </a:p>
                  </a:txBody>
                  <a:tcPr>
                    <a:solidFill>
                      <a:srgbClr val="FFFFFF"/>
                    </a:solidFill>
                  </a:tcPr>
                </a:tc>
              </a:tr>
              <a:tr h="502920">
                <a:tc>
                  <a:txBody>
                    <a:bodyPr/>
                    <a:lstStyle/>
                    <a:p>
                      <a:pPr>
                        <a:defRPr sz="1200">
                          <a:solidFill>
                            <a:srgbClr val="20261F"/>
                          </a:solidFill>
                          <a:latin typeface="Yu Gothic"/>
                        </a:defRPr>
                      </a:pPr>
                      <a:r>
                        <a:t>VentureBeat(2026-08-06)</a:t>
                      </a:r>
                    </a:p>
                  </a:txBody>
                  <a:tcPr>
                    <a:solidFill>
                      <a:srgbClr val="F4F1E6"/>
                    </a:solidFill>
                  </a:tcPr>
                </a:tc>
                <a:tc>
                  <a:txBody>
                    <a:bodyPr/>
                    <a:lstStyle/>
                    <a:p>
                      <a:pPr>
                        <a:defRPr sz="1200">
                          <a:solidFill>
                            <a:srgbClr val="20261F"/>
                          </a:solidFill>
                          <a:latin typeface="Yu Gothic"/>
                        </a:defRPr>
                      </a:pPr>
                      <a:r>
                        <a:t>業界文脈での報道</a:t>
                      </a:r>
                    </a:p>
                  </a:txBody>
                  <a:tcPr>
                    <a:solidFill>
                      <a:srgbClr val="F4F1E6"/>
                    </a:solidFill>
                  </a:tcPr>
                </a:tc>
              </a:tr>
              <a:tr h="502920">
                <a:tc>
                  <a:txBody>
                    <a:bodyPr/>
                    <a:lstStyle/>
                    <a:p>
                      <a:pPr>
                        <a:defRPr sz="1200">
                          <a:solidFill>
                            <a:srgbClr val="20261F"/>
                          </a:solidFill>
                          <a:latin typeface="Yu Gothic"/>
                        </a:defRPr>
                      </a:pPr>
                      <a:r>
                        <a:t>Technology.org(2026-08-07)</a:t>
                      </a:r>
                    </a:p>
                  </a:txBody>
                  <a:tcPr>
                    <a:solidFill>
                      <a:srgbClr val="FFFFFF"/>
                    </a:solidFill>
                  </a:tcPr>
                </a:tc>
                <a:tc>
                  <a:txBody>
                    <a:bodyPr/>
                    <a:lstStyle/>
                    <a:p>
                      <a:pPr>
                        <a:defRPr sz="1200">
                          <a:solidFill>
                            <a:srgbClr val="20261F"/>
                          </a:solidFill>
                          <a:latin typeface="Yu Gothic"/>
                        </a:defRPr>
                      </a:pPr>
                      <a:r>
                        <a:t>機能面の報道</a:t>
                      </a:r>
                    </a:p>
                  </a:txBody>
                  <a:tcPr>
                    <a:solidFill>
                      <a:srgbClr val="FFFFFF"/>
                    </a:solidFill>
                  </a:tcPr>
                </a:tc>
              </a:tr>
              <a:tr h="502920">
                <a:tc>
                  <a:txBody>
                    <a:bodyPr/>
                    <a:lstStyle/>
                    <a:p>
                      <a:pPr>
                        <a:defRPr sz="1200">
                          <a:solidFill>
                            <a:srgbClr val="20261F"/>
                          </a:solidFill>
                          <a:latin typeface="Yu Gothic"/>
                        </a:defRPr>
                      </a:pPr>
                      <a:r>
                        <a:t>Pulse2</a:t>
                      </a:r>
                    </a:p>
                  </a:txBody>
                  <a:tcPr>
                    <a:solidFill>
                      <a:srgbClr val="F4F1E6"/>
                    </a:solidFill>
                  </a:tcPr>
                </a:tc>
                <a:tc>
                  <a:txBody>
                    <a:bodyPr/>
                    <a:lstStyle/>
                    <a:p>
                      <a:pPr>
                        <a:defRPr sz="1200">
                          <a:solidFill>
                            <a:srgbClr val="20261F"/>
                          </a:solidFill>
                          <a:latin typeface="Yu Gothic"/>
                        </a:defRPr>
                      </a:pPr>
                      <a:r>
                        <a:t>contributorティアの割引言及(1情報源のみ)</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Meta AI Research公式ブログ・VentureBeat・Forbes・MarkTechPost・Technology.org</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Metaのコーディングエージェント参入は、これからが本番。</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本テーマは鮮度基準の例外運用(発表から3〜5日後の取り上げ)であることを開示した上でお届けしました。GA時期や第三者検証など、不明点の続報が出次第あらためて整理します。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公式ブログ・信頼できる複数の報道で最新情報を確認する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