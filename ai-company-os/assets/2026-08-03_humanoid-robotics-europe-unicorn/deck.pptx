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由度29、つまり29の方向に体を動かせるロボットを作る会社が、欧州で初めて、ヒューマノイドロボット専業として10億ドルを超える評価額に到達しました。今日はこの発表を、出典付きで整理して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まず数字から。評価額は13億5,000万ドルに到達しました。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今日はこの5つの流れでお伝えします。ロボットの仕様や、著名企業の参加の意味も丁寧に見ていきます。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発表内容を整理すると、この5点になります。著名な自動車部品メーカーの参加が特徴的です。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ロボットの仕様はこの3つです。産業用途を想定した、実用的なスペックとなっています。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Humanoidの独自プラットフォーム『KinetIQ』は、この3つの機能を統合しています。周囲を認識し、判断し、動く、という一連の流れです。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技術的な特徴を整理しました。二足歩行ではなく車輪型を採用している点が、他社との違いの一つです。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今回のシリーズAでは、1億5,200万ドルが調達されました。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投資家の顔ぶれです。ドイツの自動車部品大手2社が名を連ねている点が目を引きます。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一次発表では、こう位置づけられています。ヒューマノイドロボットに特化した企業として、欧州で初めての評価額水準に到達した、ということです。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累計の調達額は2億7,000万ドルに達しています。創業からわずかな期間での規模です。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創業から現在までの流れです。2024年の創業から、わずか2年ほどでこの規模に到達しています。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この2社の参加は、産業用ロボットとしての実用化への期待の表れと考えられますが、具体的な提携内容までは確認できていません。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産業用途での活用イメージを図にしました。工場内の作業を想定した設計であることがうかがえます。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この比較は一般的な設計思想の違いを整理したものであり、どちらが優れているかを断定するものではありません。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正直にお伝えします。この発表は11日から13日前のものです。今回のサイクルの2本とも、鮮度の妥協が大きい点をあわせてお伝えします。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この4点は、今回の調査で確認できなかった事項として一覧化しました。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『ユニコーン』という言葉は目を引きますが、あくまで評価額の話です。技術的にトップかどうかとは別の話である点に注意してください。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創業からの期間を見ると、約2年でこの規模に到達していることが分かります。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実務的な視点として、産業用ロボットの導入を検討する企業が確認したい4つのポイントをまとめました。これは一般的な整理です。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この3つは当社の推測です。断定はしていません。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資金調達は大きなニュースですが、実用化まではまだ道のりがあります。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これまでのテーマとは異なる、ヒューマノイドロボットという物理的なAI応用の切り口です。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『初の』という言葉が目を引くからこそ、何を基準にしているのかを丁寧にお伝えすることを意識しました。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最後にもう一度確認します。評価額13.5億ドル、欧州初のヒューマノイドロボティクス専業ユニコーン。ただしこの発表は11日から13日前のものであることも、あわせて覚えておいてください。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資金調達はあくまでスタートラインです。実際に工場でどれだけ活用されるかが、これからの本当の勝負です。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今後注目したいポイントを3つ挙げました。資金調達の次に来る実用化の段階に注目です。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今回のサイクルの2つのテーマを合わせて見ると、業界を問わずAI関連分野への投資熱の高さがうかがえます。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本テーマの総括です。創業からの累計調達額は2億7,000万ドル。欧州発のヒューマノイドロボティクス企業として、大きな一歩を踏み出しました。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本編は以上です。今回はHumanoidの欧州初のヒューマノイドロボティクス専業ユニコーン到達を題材に、資金調達の中身と実用化に向けた注目点についてお伝えしました。次回もまた出典付きでお届けします。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腕を29の方向に動かせるロボットが、</a:t>
            </a:r>
          </a:p>
          <a:p>
            <a:pPr algn="l">
              <a:lnSpc>
                <a:spcPct val="115000"/>
              </a:lnSpc>
            </a:pPr>
            <a:r>
              <a:rPr sz="4200" b="1">
                <a:solidFill>
                  <a:srgbClr val="FFFFFF"/>
                </a:solidFill>
                <a:latin typeface="Yu Gothic"/>
              </a:rPr>
              <a:t>欧州で初めての「10億ドル企業」になった。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Humanoid、シリーズA1.52億ドル調達・評価額13.5億ドル(2026年7月発表)を、出典付きで振り返る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9CB8D6"/>
                </a:solidFill>
                <a:latin typeface="Yu Gothic"/>
              </a:rPr>
              <a:t>出典: BusinessWire・Forbes・The Robot Report ほか。報道日は着手日の11〜13日前(鮮度の大きな妥協を本編で開示)。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今回の評価額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$1.35B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シリーズA後のpost-money評価額(2026年7月発表)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BusinessWire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Yu Gothic"/>
              </a:rPr>
              <a:t>本日のアジェンダ</a:t>
            </a:r>
          </a:p>
        </p:txBody>
      </p:sp>
      <p:sp>
        <p:nvSpPr>
          <p:cNvPr id="5" name="Oval 4"/>
          <p:cNvSpPr/>
          <p:nvPr/>
        </p:nvSpPr>
        <p:spPr>
          <a:xfrm>
            <a:off x="548640" y="192024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3852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何が発表されたのか(調達額・投資家)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8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71576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Humanoidは何をする会社か・ロボットの仕様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47472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49300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Bosch・Schaefflerの参加の意味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25196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427024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『欧州初のユニコーン』の位置づけ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029200"/>
            <a:ext cx="548640" cy="5486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Yu Gothic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5047488"/>
            <a:ext cx="9601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000" b="0">
                <a:solidFill>
                  <a:srgbClr val="D3E4F5"/>
                </a:solidFill>
                <a:latin typeface="Yu Gothic"/>
              </a:rPr>
              <a:t>読み解く上での注意点・確認できなかったこと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2555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発表の概要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2026年7月、Humanoidの発表のポイントです。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ロンドン拠点のHumanoidが、シリーズAで1億5,200万ドルを調達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評価額は13億5,000万ドルに到達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『欧州初のヒューマノイドロボティクス専業ユニコーン』に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主導投資家はPrime Movers Lab</a:t>
            </a:r>
          </a:p>
        </p:txBody>
      </p:sp>
      <p:sp>
        <p:nvSpPr>
          <p:cNvPr id="15" name="Oval 14"/>
          <p:cNvSpPr/>
          <p:nvPr/>
        </p:nvSpPr>
        <p:spPr>
          <a:xfrm>
            <a:off x="457200" y="523036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5212079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ドイツの自動車部品大手Bosch・Schaefflerも投資家として参加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BusinessWire / Forbes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4 / 30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3194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ロボット「HMND 01 Alpha」の仕様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15kg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可搬重量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産業用途向けの積載能力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4時間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最大稼働時間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連続稼働可能な時間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29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自由度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関節等の可動方向の数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The Robot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5 / 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438339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KinetIQプラットフォームの仕組み(概念図)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知覚(センサー情報の取得)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周囲の環境を認識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推論(状況判断)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次に取るべき行動を判断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動作制御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実際の動きに変換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A6474"/>
                </a:solidFill>
                <a:latin typeface="Yu Gothic"/>
              </a:rPr>
              <a:t>知覚・推論・動作制御を統合する独自AIプラットフォーム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6 / 30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84472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技術的な特徴(具体的に)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報じられている内容を整理すると、次のとおりです。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移動方式は車輪型(ホイールベース)で、二足歩行型とは異なる設計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知覚・推論・動作制御を統合する独自AIプラットフォーム『KinetIQ』を採用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産業用途(工場内作業等)を主なターゲットとしている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2024年創業、CEOはArtem Sokolov氏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AI Business / Prism News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7 / 30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5111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シリーズAの調達額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$152M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Prime Movers Lab主導のシリーズA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Forbes / BusinessWire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65750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参加投資家一覧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区分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投資家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主導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Prime Movers Lab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参加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Bosch、Schaeffler、Fubon Financial Holding Venture Capital、Aglaé Ventures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The Robot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9 / 30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6389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“欧州初のヒューマノイドロボティクス専業ユニコーンとなった。”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3E4F5"/>
                </a:solidFill>
                <a:latin typeface="Yu Gothic"/>
              </a:rPr>
              <a:t>— BusinessWire(2026-07-23)の発表見出しより(意訳)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47028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累計調達額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$270M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創業からこれまでの累計調達額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The Robot Report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876678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創業からの軌跡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2024年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Artem Sokolov氏がロンドンでHumanoidを創業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これまで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独自AIプラットフォーム『KinetIQ』とHMND 01 Alphaを開発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2026年7月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シリーズA1.52億ドルを調達、評価額13.5億ドルに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12 / 30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28306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Bosch・Schaeffler参加の意味(推測含む)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Bosch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自動車部品大手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産業用ロボット導入への関心の表れと考えられる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Schaeffler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自動車部品大手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同様に産業応用への関心が背景にあると考えられる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推測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実用化への期待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具体的な提携内容までは確認できていない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13 / 30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68945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産業用途での活用イメージ(概念図)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7524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067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896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工場内での物流・搬送作業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96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可搬重量15kgを活用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41573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9528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9071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00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KinetIQによる状況判断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00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周囲の環境に応じて動作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357719" y="3108959"/>
            <a:ext cx="676656" cy="365760"/>
          </a:xfrm>
          <a:prstGeom prst="rightArrow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53247" y="2615184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07527" y="2560320"/>
            <a:ext cx="2377440" cy="14630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0407" y="2743200"/>
            <a:ext cx="20116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B3A55"/>
                </a:solidFill>
                <a:latin typeface="Yu Gothic"/>
              </a:rPr>
              <a:t>長時間の連続稼働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0407" y="3383279"/>
            <a:ext cx="2011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最大4時間の稼働時間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48056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0">
                <a:solidFill>
                  <a:srgbClr val="5A6474"/>
                </a:solidFill>
                <a:latin typeface="Yu Gothic"/>
              </a:rPr>
              <a:t>産業用途を想定した設計であることがうかがえる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14 / 30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09584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車輪型 vs 二足歩行型のヒューマノイドロボット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車輪型(Humanoidの設計)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平坦な工場内等での移動効率が高いと考えられる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二足歩行に比べ機構がシンプルになりうる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段差等の不整地には弱い可能性がある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二足歩行型(他社に多い設計)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人間の生活環境によりなじみやすい可能性がある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段差・階段等への対応がしやすい可能性がある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機構が複雑になりやすい可能性がある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15 / 30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50223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鮮度についての正直な開示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本テーマを見るときに、まずお伝えしたい点です。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本テーマの報道日は2026年7月21日(一次発表は7月23日)で、着手日(2026-08-03)の11〜13日前である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`docs/06_Content_R&amp;D.md`の鮮度基準(前日以内)を大きく外れる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同一サイクルの74本目(Corgi、12日前)と近い水準の鮮度の妥協である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内容自体は複数の独立したメディアが同じ内容を報じており、事実確認は行っている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16 / 30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90862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確認できなかったこと(一覧)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8647"/>
                <a:gridCol w="5638648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項目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状況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公式プレスリリースの原文全体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WebFetchのアクセス制限により未確認、複数媒体の要約に基づく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各投資家の出資比率・出資額の内訳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非公表・未確認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HMND 01 Alphaの量産時期・価格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非公表・未確認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Bosch・Schaefflerとの提携の具体的な内容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共同開発か単なる出資かは非公表・未確認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035040"/>
            <a:ext cx="1127729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出典: research.md参照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17 / 30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017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『欧州初のユニコーン』という表現の読み解き方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見出しをそのまま受け取る前に、確認しておきたい点です。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『ユニコーン』はあくまで評価額が10億ドルを超えたことを指す言葉である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評価額の高さは、必ずしも技術的な優位性を意味するわけではない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『欧州初』は同分野(ヒューマノイドロボティクス専業)に限った表現である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この表現自体はBusinessWireの一次発表によるものである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18 / 30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72140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創業からの期間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約2年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2024年創業から今回のシリーズAまで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Prism News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12779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産業用ロボット導入を検討する企業が確認したいこと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作業環境の適合性確認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車輪型ロボットが自社の工場環境に合うか確認する</a:t>
            </a:r>
          </a:p>
        </p:txBody>
      </p:sp>
      <p:sp>
        <p:nvSpPr>
          <p:cNvPr id="11" name="Chevron 10"/>
          <p:cNvSpPr/>
          <p:nvPr/>
        </p:nvSpPr>
        <p:spPr>
          <a:xfrm>
            <a:off x="3068040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413683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367963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42283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2283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量産時期・価格の確認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2283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実際の導入可能時期・コストを確認する</a:t>
            </a:r>
          </a:p>
        </p:txBody>
      </p:sp>
      <p:sp>
        <p:nvSpPr>
          <p:cNvPr id="17" name="Chevron 16"/>
          <p:cNvSpPr/>
          <p:nvPr/>
        </p:nvSpPr>
        <p:spPr>
          <a:xfrm>
            <a:off x="5978804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4447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278727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553047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3047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既存設備との連携確認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3047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既存の生産ラインとの統合方法を確認する</a:t>
            </a:r>
          </a:p>
        </p:txBody>
      </p:sp>
      <p:sp>
        <p:nvSpPr>
          <p:cNvPr id="23" name="Chevron 22"/>
          <p:cNvSpPr/>
          <p:nvPr/>
        </p:nvSpPr>
        <p:spPr>
          <a:xfrm>
            <a:off x="8889568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35211" y="1792224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89491" y="1737360"/>
            <a:ext cx="2545003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463811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3811" y="2926080"/>
            <a:ext cx="199636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投資対効果の試算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63811" y="3566160"/>
            <a:ext cx="1996363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導入によるコスト削減効果を見積もる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20 / 30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53418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この発表が示唆すること(合理的推測)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推測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産業用ロボット市場の拡大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自動車部品大手の参加は市場拡大への期待の表れと考えられる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8698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22978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推測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欧州発ロボティクス企業への注目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米中に集中しがちな注目が欧州にも向く可能性がある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34476" y="1609344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88756" y="1554480"/>
            <a:ext cx="3545738" cy="393192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63076" y="1828800"/>
            <a:ext cx="299709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1F8FD6"/>
                </a:solidFill>
                <a:latin typeface="Yu Gothic"/>
              </a:rPr>
              <a:t>推測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63076" y="2834640"/>
            <a:ext cx="29970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設計思想の多様化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63076" y="3520440"/>
            <a:ext cx="2997098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5A6474"/>
                </a:solidFill>
                <a:latin typeface="Yu Gothic"/>
              </a:rPr>
              <a:t>車輪型・二足歩行型等、複数の設計アプローチが並行して発展する可能性がある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21 / 30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94057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変わったこと・変わらないこと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変わったこと(報じられている範囲)</a:t>
            </a:r>
          </a:p>
        </p:txBody>
      </p:sp>
      <p:sp>
        <p:nvSpPr>
          <p:cNvPr id="9" name="Oval 8"/>
          <p:cNvSpPr/>
          <p:nvPr/>
        </p:nvSpPr>
        <p:spPr>
          <a:xfrm>
            <a:off x="777240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欧州発のヒューマノイドロボティクス企業がユニコーンに到達した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自動車部品大手2社が投資家として参加した</a:t>
            </a:r>
          </a:p>
        </p:txBody>
      </p:sp>
      <p:sp>
        <p:nvSpPr>
          <p:cNvPr id="13" name="Oval 12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累計調達額が2.7億ドルに達した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24447" y="1609344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78727" y="1554480"/>
            <a:ext cx="5455767" cy="42062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98767" y="1828800"/>
            <a:ext cx="481568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変わらないこと</a:t>
            </a:r>
          </a:p>
        </p:txBody>
      </p:sp>
      <p:sp>
        <p:nvSpPr>
          <p:cNvPr id="18" name="Oval 17"/>
          <p:cNvSpPr/>
          <p:nvPr/>
        </p:nvSpPr>
        <p:spPr>
          <a:xfrm>
            <a:off x="6598767" y="253288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10247" y="251460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量産・実用化はまだこれからの段階</a:t>
            </a:r>
          </a:p>
        </p:txBody>
      </p:sp>
      <p:sp>
        <p:nvSpPr>
          <p:cNvPr id="20" name="Oval 19"/>
          <p:cNvSpPr/>
          <p:nvPr/>
        </p:nvSpPr>
        <p:spPr>
          <a:xfrm>
            <a:off x="6598767" y="308152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10247" y="306324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米中のロボティクス企業も引き続き先行している</a:t>
            </a:r>
          </a:p>
        </p:txBody>
      </p:sp>
      <p:sp>
        <p:nvSpPr>
          <p:cNvPr id="22" name="Oval 21"/>
          <p:cNvSpPr/>
          <p:nvPr/>
        </p:nvSpPr>
        <p:spPr>
          <a:xfrm>
            <a:off x="6598767" y="3630168"/>
            <a:ext cx="274320" cy="27432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0247" y="3611880"/>
            <a:ext cx="440420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0">
                <a:solidFill>
                  <a:srgbClr val="1C2230"/>
                </a:solidFill>
                <a:latin typeface="Yu Gothic"/>
              </a:rPr>
              <a:t>評価額の高さが技術的優位性を保証するわけではない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22 / 30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34696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既存テーマとの関係(重複でないことの確認)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7729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098"/>
                <a:gridCol w="3759098"/>
                <a:gridCol w="3759099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観点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本テーマ Humanoid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Yu Gothic"/>
                        </a:defRPr>
                      </a:pPr>
                      <a:r>
                        <a:t>既存テーマとの違い</a:t>
                      </a:r>
                    </a:p>
                  </a:txBody>
                  <a:tcPr>
                    <a:solidFill>
                      <a:srgbClr val="2B3A5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業界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ヒューマノイドロボティクス(産業用)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これまでのAI関連テーマは観測性・データ基盤・数学研究・保険テック等が中心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切り口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資金調達・欧州初のユニコーン到達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純粋な技術発表とは異なる切り口</a:t>
                      </a:r>
                    </a:p>
                  </a:txBody>
                  <a:tcPr>
                    <a:solidFill>
                      <a:srgbClr val="F1F5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重複確認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既存74テーマにヒューマノイドロボット企業を扱ったものはない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C2230"/>
                          </a:solidFill>
                          <a:latin typeface="Yu Gothic"/>
                        </a:defRPr>
                      </a:pPr>
                      <a:r>
                        <a:t>差別化できる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23 / 30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75335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この発表から得られる学び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個別の企業評価ではなく、一般的な視点としてまとめます。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『ユニコーン』『初の』という表現ほど、何を基準にした『初』なのかを確認する価値がある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著名企業の投資参加は期待の表れだが、提携内容の詳細まで確認する姿勢が大切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評価額の高さと、実際の量産・実用化の進捗は分けて考えるとよい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設計思想(車輪型・二足歩行型等)の違いも、優劣ではなく用途の違いとして捉えるとよい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24 / 30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159746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まとめ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$1.35B / 欧州初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シリーズA1.52億ドル調達、欧州初のヒューマノイドロボティクス専業ユニコーンに(2026年7月発表、鮮度11〜13日の妥協あり)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本編のまとめ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56613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966960" cy="2560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FFFFF"/>
                </a:solidFill>
                <a:latin typeface="Yu Gothic"/>
              </a:rPr>
              <a:t>“実用化への道のりは、資金調達の後にこそ本当の勝負が始まる。”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572000"/>
            <a:ext cx="9966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D3E4F5"/>
                </a:solidFill>
                <a:latin typeface="Yu Gothic"/>
              </a:rPr>
              <a:t>— 業界関係者の一般的な見方の趣旨(複数媒体経由、意訳)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52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今後注目したいポイント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02920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量産開始の時期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HMND 01 Alphaが実際にいつ量産されるか</a:t>
            </a:r>
          </a:p>
        </p:txBody>
      </p:sp>
      <p:sp>
        <p:nvSpPr>
          <p:cNvPr id="11" name="Chevron 10"/>
          <p:cNvSpPr/>
          <p:nvPr/>
        </p:nvSpPr>
        <p:spPr>
          <a:xfrm>
            <a:off x="4038295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83938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38218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12538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2538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Bosch・Schaefflerとの提携内容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2538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具体的な共同開発・導入計画が明らかになるか</a:t>
            </a:r>
          </a:p>
        </p:txBody>
      </p:sp>
      <p:sp>
        <p:nvSpPr>
          <p:cNvPr id="17" name="Chevron 16"/>
          <p:cNvSpPr/>
          <p:nvPr/>
        </p:nvSpPr>
        <p:spPr>
          <a:xfrm>
            <a:off x="7919313" y="3200400"/>
            <a:ext cx="234086" cy="365760"/>
          </a:xfrm>
          <a:prstGeom prst="chevron">
            <a:avLst/>
          </a:prstGeom>
          <a:solidFill>
            <a:srgbClr val="1F8F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64956" y="1792224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19236" y="1737360"/>
            <a:ext cx="3515258" cy="3291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493556" y="2011680"/>
            <a:ext cx="640080" cy="64008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Yu Gothic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93556" y="2926080"/>
            <a:ext cx="296661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2B3A55"/>
                </a:solidFill>
                <a:latin typeface="Yu Gothic"/>
              </a:rPr>
              <a:t>車輪型設計の実用性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93556" y="3566160"/>
            <a:ext cx="2966618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A6474"/>
                </a:solidFill>
                <a:latin typeface="Yu Gothic"/>
              </a:rPr>
              <a:t>実際の工場環境でどこまで通用するか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27 / 30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37891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772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2B3A55"/>
                </a:solidFill>
                <a:latin typeface="Yu Gothic"/>
              </a:rPr>
              <a:t>74本目と合わせて振り返る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502920" cy="54864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772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5A6474"/>
                </a:solidFill>
                <a:latin typeface="Yu Gothic"/>
              </a:rPr>
              <a:t>今回のサイクルで扱った2つのテーマを整理します。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2140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0312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74本目は、AI活用の保険スタートアップの急成長だった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2898648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88036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本テーマ(75本目)は、ヒューマノイドロボティクス企業の欧州初のユニコーン到達だった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67588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65760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業界は異なるが、どちらも資金調達の急拡大という共通点がある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453127"/>
            <a:ext cx="320040" cy="320040"/>
          </a:xfrm>
          <a:prstGeom prst="ellipse">
            <a:avLst/>
          </a:prstGeom>
          <a:solidFill>
            <a:srgbClr val="2B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107286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800" b="0">
                <a:solidFill>
                  <a:srgbClr val="1C2230"/>
                </a:solidFill>
                <a:latin typeface="Yu Gothic"/>
              </a:rPr>
              <a:t>AI関連分野全体で、投資熱の高さがうかがえるサイクルだった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5A6474"/>
                </a:solidFill>
                <a:latin typeface="Yu Gothic"/>
              </a:rPr>
              <a:t>AI Company OS｜出典: BusinessWire・Forbes・The Robot Report ほか(2026-07発表・鮮度11〜13日の妥協を開示)｜定期実行75本目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20095" y="6446520"/>
            <a:ext cx="914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5A6474"/>
                </a:solidFill>
                <a:latin typeface="Yu Gothic"/>
              </a:rPr>
              <a:t>28 / 30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78530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D3E4F5"/>
                </a:solidFill>
                <a:latin typeface="Yu Gothic"/>
              </a:rPr>
              <a:t>本テーマの総括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64240" cy="2011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8800" b="1">
                <a:solidFill>
                  <a:srgbClr val="1F8FD6"/>
                </a:solidFill>
                <a:latin typeface="Yu Gothic"/>
              </a:rPr>
              <a:t>$270M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02336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0">
                <a:solidFill>
                  <a:srgbClr val="FFFFFF"/>
                </a:solidFill>
                <a:latin typeface="Yu Gothic"/>
              </a:rPr>
              <a:t>創業からの累計調達額。欧州初のヒューマノイドロボティクス専業ユニコーン(2026年7月発表、鮮度11〜13日の妥協あり)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9CB8D6"/>
                </a:solidFill>
                <a:latin typeface="Yu Gothic"/>
              </a:rPr>
              <a:t>出典: 本編のまとめ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5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9CB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F8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>
                <a:solidFill>
                  <a:srgbClr val="FFFFFF"/>
                </a:solidFill>
                <a:latin typeface="Yu Gothic"/>
              </a:rPr>
              <a:t>『初の』という見出しほど、何を基準にした『初』かを確認する。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D3E4F5"/>
                </a:solidFill>
                <a:latin typeface="Yu Gothic"/>
              </a:rPr>
              <a:t>評価額の高さと実用化の進捗は別物です。次に似た見出しを見るときも、この視点を持ってみてください。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4626864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DD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4572000"/>
            <a:ext cx="7315200" cy="1005840"/>
          </a:xfrm>
          <a:prstGeom prst="roundRect">
            <a:avLst>
              <a:gd name="adj" fmla="val 6000"/>
            </a:avLst>
          </a:prstGeom>
          <a:solidFill>
            <a:srgbClr val="F1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4828032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2B3A55"/>
                </a:solidFill>
                <a:latin typeface="Yu Gothic"/>
              </a:rPr>
              <a:t>research.mdで出典一覧・確認できなかったことの詳細を確認する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