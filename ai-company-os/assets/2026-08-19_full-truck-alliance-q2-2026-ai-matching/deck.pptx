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中国のトラック輸送マッチングプラットフォーム、満幇集団(Full Truck Alliance)が2026年8月19日、2026年第2四半期決算を発表しました。AIツールの活用により成約率が過去最高を記録したと報じられています。今日はこの決算の中身を、出典付きで整理してお届けします。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結論から確認します。総売上高は前年比4.4%増、完了注文数は12.7%増の6,850万件です。AIツールの活用により成約率が過去最高を記録したと報じられています。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今日は6つの流れでお伝えします。決算の主要指標から、AI活用の内容、事業展開の状況まで、正確に数字を引用しながら整理します。誇張せず、確認できなかったことは正直にお伝えします。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このテーマを扱う理由です。着手日当日という最も高い鮮度に加え、AIツールを活用した成約率過去最高という具体的な成果、分かりやすいビジネスモデルに注目しました。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満幇集団は中国発のトラック輸送マッチングプラットフォームで、いわば『中国版Uber for Trucks』です。AIツールを活用した配送依頼投稿・マッチングの改善を推進しています。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2026年Q2の主要指標です。総売上高は4.4%増、純利益は6.3%増、貨物マッチングサービス収入は9.6%増と、いずれもプラス成長です。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完了注文数は12.7%増、荷主MAUは12.8%増と、利用状況は着実に拡大しています。注文密度の上昇とトラック輸送能力の拡大が成約率の向上につながったとされています。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完了注文数は前年比12.7%増の6,850万件でした。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AIツールは配送依頼の投稿・マッチングの改善に活用されていると報じられています。ただしAI単体の寄与度を切り分けた開示は確認できていないため、留保つきで扱います。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成約率(fulfillment rate)は過去最高を記録したと報じられています。AIツールの導入もその背景の一つとして語られています。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成約率向上に寄与したとされる複数の要因を整理しました。AI単体の寄与度は切り分けられていないため、複数要因が組み合わさった結果として扱います。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Sinopecとの提携による燃料ネットワークの構築や、アセットライト型のビジネスモデルへの移行を進めています。ただし具体的な規模・条件は確認できていません。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AIマッチングの流れを図にしました。荷主の投稿からAIによるマッチング、そして成約率過去最高という結果までの流れです。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今回の決算を3ステップで総括しました。売上高の伸び、利用状況の拡大、そして成約率過去最高という流れです。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2026年Q2の配当総額は約8,750万ドルで、通期では約4億ドルの株主還元を目標としていると報じられています。ただし正式な確定額としては扱わず、報道段階の情報として留保つきで紹介します。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2026年度通期の株主還元目標は約4億ドルと報じられています。Q2の配当総額は約8,750万ドルでした。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貨物マッチングサービス収入は前年比9.6%増と、総売上高全体の伸び率を上回るペースで拡大しています。主力事業が成長を牽引しています。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貨物マッチングサービス収入は前年比9.6%増で、総売上高全体の伸び率を上回っています。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貨物マッチングサービス収入と総売上高全体を対比しました。主力事業の伸び率が全体を上回っている構図です。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利用指標のまとめです。完了注文数・荷主MAUともに2桁成長していますが、成約率・マッチング時間の具体的な数値は開示されていません。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アセットライト型の二本立てブローカーモデルへの移行を進めていると報じられていますが、具体的な進捗率・時期は確認できていません。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AI活用への期待と、定量的な裏付けの有無を対比しました。成果とAIを安易に結び付けず、確認できる範囲で正直に扱います。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満幇集団は中国国内で荷主とトラック運転手をマッチングするプラットフォームです。海外にも同様の業態がありますが、具体的な競合比較は本調査の範囲では行っていません。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荷主の月間アクティブユーザー数は357万人で、前年比12.8%増加しました。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経営陣は注文密度の上昇と輸送能力の拡大が成約率向上に寄与したと説明し、Sinopecとの提携やアセットライト型モデルへの移行にも言及したとされています。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確認できなかったことを正直にお伝えします。AI活用の定量的な因果関係、燃料ネットワーク提携の規模、株主還元目標の正式な確定状況は確認できていません。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今回の決算の要点をまとめました。売上高・利用状況ともにプラス成長で、AI活用による成約率向上、そして株主還元という4点です。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このニュースが読者にとって意味することをまとめました。AI・物流テックの動向を追う立場、中国テック企業の動向を追う立場、投資を検討する立場、それぞれで意識したい視点です。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まとめです。着実な成長とAI活用による成約率向上を、定量的な裏付けの有無まで含めて正直にお伝えしました。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満幇集団の2026年Q2決算について、AI活用の内容まで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AIが荷物とトラックを</a:t>
            </a:r>
          </a:p>
          <a:p>
            <a:pPr algn="l">
              <a:lnSpc>
                <a:spcPct val="115000"/>
              </a:lnSpc>
            </a:pPr>
            <a:r>
              <a:rPr sz="4200" b="1">
                <a:solidFill>
                  <a:srgbClr val="FFFFFF"/>
                </a:solidFill>
                <a:latin typeface="Yu Gothic"/>
              </a:rPr>
              <a:t>マッチングする。</a:t>
            </a:r>
          </a:p>
          <a:p>
            <a:pPr algn="l">
              <a:lnSpc>
                <a:spcPct val="115000"/>
              </a:lnSpc>
            </a:pPr>
            <a:r>
              <a:rPr sz="4200" b="1">
                <a:solidFill>
                  <a:srgbClr val="FFFFFF"/>
                </a:solidFill>
                <a:latin typeface="Yu Gothic"/>
              </a:rPr>
              <a:t>『中国版Uber』決算の中身</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FE8DE"/>
                </a:solidFill>
                <a:latin typeface="Yu Gothic"/>
              </a:rPr>
              <a:t>2026年8月19日発表——満幇集団(Full Truck Alliance)、成約率が過去最高に</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C2AE"/>
                </a:solidFill>
                <a:latin typeface="Yu Gothic"/>
              </a:rPr>
              <a:t>出典: PR Newswire・StockTitan・TipRanks(2026年8月19日)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総売上高+4.4%、成約率は過去最高</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完了注文数は前年比12.7%増の6,850万件、荷主MAUは12.8%増の357万人</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PR Newswire・StockTitan(2026-08-19)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FE8DE"/>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FE8DE"/>
                </a:solidFill>
                <a:latin typeface="Yu Gothic"/>
              </a:rPr>
              <a:t>満幇集団(Full Truck Alliance)とは・基礎知識</a:t>
            </a:r>
          </a:p>
        </p:txBody>
      </p:sp>
      <p:sp>
        <p:nvSpPr>
          <p:cNvPr id="9" name="Oval 8"/>
          <p:cNvSpPr/>
          <p:nvPr/>
        </p:nvSpPr>
        <p:spPr>
          <a:xfrm>
            <a:off x="548640" y="347472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FE8DE"/>
                </a:solidFill>
                <a:latin typeface="Yu Gothic"/>
              </a:rPr>
              <a:t>決算の主要指標を確認する</a:t>
            </a:r>
          </a:p>
        </p:txBody>
      </p:sp>
      <p:sp>
        <p:nvSpPr>
          <p:cNvPr id="11" name="Oval 10"/>
          <p:cNvSpPr/>
          <p:nvPr/>
        </p:nvSpPr>
        <p:spPr>
          <a:xfrm>
            <a:off x="548640" y="425196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FE8DE"/>
                </a:solidFill>
                <a:latin typeface="Yu Gothic"/>
              </a:rPr>
              <a:t>AI活用の内容を確認する</a:t>
            </a:r>
          </a:p>
        </p:txBody>
      </p:sp>
      <p:sp>
        <p:nvSpPr>
          <p:cNvPr id="13" name="Oval 12"/>
          <p:cNvSpPr/>
          <p:nvPr/>
        </p:nvSpPr>
        <p:spPr>
          <a:xfrm>
            <a:off x="548640" y="502920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FE8DE"/>
                </a:solidFill>
                <a:latin typeface="Yu Gothic"/>
              </a:rPr>
              <a:t>事業展開・株主還元の状況を確認する</a:t>
            </a:r>
          </a:p>
        </p:txBody>
      </p:sp>
      <p:sp>
        <p:nvSpPr>
          <p:cNvPr id="15" name="Oval 14"/>
          <p:cNvSpPr/>
          <p:nvPr/>
        </p:nvSpPr>
        <p:spPr>
          <a:xfrm>
            <a:off x="548640" y="58064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FE8DE"/>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着手日当日(2026年8月19日)発表という最も高い鮮度の話題である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AIツールを活用した成約率過去最高という、AI活用の具体的な成果が報じられている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『中国版Uber for Trucks』という分かりやすいビジネスモデルである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複数の独立した情報源(PR Newswire・StockTitan・TipRanks等)で確認できる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PR Newswire・StockTitan(2026-08-19)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Newswire・StockTitan・TipRanks(2026-08-19)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満幇集団(Full Truck Alliance)とは</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基礎知識を簡単に整理します。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中国発のトラック輸送マッチングプラットフォーム(NYSE: YMM)</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荷主とトラック運転手をマッチングする、いわば『中国版Uber for Trucks』</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収益の柱は貨物マッチングサービス収入</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AIツールを活用した配送依頼投稿・マッチングの改善を推進している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PR Newswire・StockTitan(2026-08-19)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Newswire・StockTitan・TipRanks(2026-08-19)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2026年Q2 主要指標</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指標</a:t>
                      </a:r>
                    </a:p>
                  </a:txBody>
                  <a:tcPr>
                    <a:solidFill>
                      <a:srgbClr val="1B2A2E"/>
                    </a:solidFill>
                  </a:tcPr>
                </a:tc>
                <a:tc>
                  <a:txBody>
                    <a:bodyPr/>
                    <a:lstStyle/>
                    <a:p>
                      <a:pPr>
                        <a:defRPr sz="1300" b="1">
                          <a:solidFill>
                            <a:srgbClr val="FFFFFF"/>
                          </a:solidFill>
                          <a:latin typeface="Yu Gothic"/>
                        </a:defRPr>
                      </a:pPr>
                      <a:r>
                        <a:t>2026年Q2(前年同期比)</a:t>
                      </a:r>
                    </a:p>
                  </a:txBody>
                  <a:tcPr>
                    <a:solidFill>
                      <a:srgbClr val="1B2A2E"/>
                    </a:solidFill>
                  </a:tcPr>
                </a:tc>
              </a:tr>
              <a:tr h="502920">
                <a:tc>
                  <a:txBody>
                    <a:bodyPr/>
                    <a:lstStyle/>
                    <a:p>
                      <a:pPr>
                        <a:defRPr sz="1200">
                          <a:solidFill>
                            <a:srgbClr val="121C1F"/>
                          </a:solidFill>
                          <a:latin typeface="Yu Gothic"/>
                        </a:defRPr>
                      </a:pPr>
                      <a:r>
                        <a:t>総売上高</a:t>
                      </a:r>
                    </a:p>
                  </a:txBody>
                  <a:tcPr>
                    <a:solidFill>
                      <a:srgbClr val="FFFFFF"/>
                    </a:solidFill>
                  </a:tcPr>
                </a:tc>
                <a:tc>
                  <a:txBody>
                    <a:bodyPr/>
                    <a:lstStyle/>
                    <a:p>
                      <a:pPr>
                        <a:defRPr sz="1200">
                          <a:solidFill>
                            <a:srgbClr val="121C1F"/>
                          </a:solidFill>
                          <a:latin typeface="Yu Gothic"/>
                        </a:defRPr>
                      </a:pPr>
                      <a:r>
                        <a:t>RMB33億8,160万元(4億9,840万ドル)、+4.4%</a:t>
                      </a:r>
                    </a:p>
                  </a:txBody>
                  <a:tcPr>
                    <a:solidFill>
                      <a:srgbClr val="FFFFFF"/>
                    </a:solidFill>
                  </a:tcPr>
                </a:tc>
              </a:tr>
              <a:tr h="502920">
                <a:tc>
                  <a:txBody>
                    <a:bodyPr/>
                    <a:lstStyle/>
                    <a:p>
                      <a:pPr>
                        <a:defRPr sz="1200">
                          <a:solidFill>
                            <a:srgbClr val="121C1F"/>
                          </a:solidFill>
                          <a:latin typeface="Yu Gothic"/>
                        </a:defRPr>
                      </a:pPr>
                      <a:r>
                        <a:t>純利益</a:t>
                      </a:r>
                    </a:p>
                  </a:txBody>
                  <a:tcPr>
                    <a:solidFill>
                      <a:srgbClr val="F0F7F4"/>
                    </a:solidFill>
                  </a:tcPr>
                </a:tc>
                <a:tc>
                  <a:txBody>
                    <a:bodyPr/>
                    <a:lstStyle/>
                    <a:p>
                      <a:pPr>
                        <a:defRPr sz="1200">
                          <a:solidFill>
                            <a:srgbClr val="121C1F"/>
                          </a:solidFill>
                          <a:latin typeface="Yu Gothic"/>
                        </a:defRPr>
                      </a:pPr>
                      <a:r>
                        <a:t>RMB13億4,510万元(1億9,820万ドル)、+6.3%</a:t>
                      </a:r>
                    </a:p>
                  </a:txBody>
                  <a:tcPr>
                    <a:solidFill>
                      <a:srgbClr val="F0F7F4"/>
                    </a:solidFill>
                  </a:tcPr>
                </a:tc>
              </a:tr>
              <a:tr h="502920">
                <a:tc>
                  <a:txBody>
                    <a:bodyPr/>
                    <a:lstStyle/>
                    <a:p>
                      <a:pPr>
                        <a:defRPr sz="1200">
                          <a:solidFill>
                            <a:srgbClr val="121C1F"/>
                          </a:solidFill>
                          <a:latin typeface="Yu Gothic"/>
                        </a:defRPr>
                      </a:pPr>
                      <a:r>
                        <a:t>非GAAP調整後純利益</a:t>
                      </a:r>
                    </a:p>
                  </a:txBody>
                  <a:tcPr>
                    <a:solidFill>
                      <a:srgbClr val="FFFFFF"/>
                    </a:solidFill>
                  </a:tcPr>
                </a:tc>
                <a:tc>
                  <a:txBody>
                    <a:bodyPr/>
                    <a:lstStyle/>
                    <a:p>
                      <a:pPr>
                        <a:defRPr sz="1200">
                          <a:solidFill>
                            <a:srgbClr val="121C1F"/>
                          </a:solidFill>
                          <a:latin typeface="Yu Gothic"/>
                        </a:defRPr>
                      </a:pPr>
                      <a:r>
                        <a:t>RMB14億3,380万元(2億1,130万ドル)、+6.0%</a:t>
                      </a:r>
                    </a:p>
                  </a:txBody>
                  <a:tcPr>
                    <a:solidFill>
                      <a:srgbClr val="FFFFFF"/>
                    </a:solidFill>
                  </a:tcPr>
                </a:tc>
              </a:tr>
              <a:tr h="502920">
                <a:tc>
                  <a:txBody>
                    <a:bodyPr/>
                    <a:lstStyle/>
                    <a:p>
                      <a:pPr>
                        <a:defRPr sz="1200">
                          <a:solidFill>
                            <a:srgbClr val="121C1F"/>
                          </a:solidFill>
                          <a:latin typeface="Yu Gothic"/>
                        </a:defRPr>
                      </a:pPr>
                      <a:r>
                        <a:t>貨物マッチングサービス収入</a:t>
                      </a:r>
                    </a:p>
                  </a:txBody>
                  <a:tcPr>
                    <a:solidFill>
                      <a:srgbClr val="F0F7F4"/>
                    </a:solidFill>
                  </a:tcPr>
                </a:tc>
                <a:tc>
                  <a:txBody>
                    <a:bodyPr/>
                    <a:lstStyle/>
                    <a:p>
                      <a:pPr>
                        <a:defRPr sz="1200">
                          <a:solidFill>
                            <a:srgbClr val="121C1F"/>
                          </a:solidFill>
                          <a:latin typeface="Yu Gothic"/>
                        </a:defRPr>
                      </a:pPr>
                      <a:r>
                        <a:t>RMB30億1,260万元(4億4,400万ドル)、+9.6%</a:t>
                      </a:r>
                    </a:p>
                  </a:txBody>
                  <a:tcPr>
                    <a:solidFill>
                      <a:srgbClr val="F0F7F4"/>
                    </a:solidFill>
                  </a:tcPr>
                </a:tc>
              </a:tr>
              <a:tr h="502920">
                <a:tc>
                  <a:txBody>
                    <a:bodyPr/>
                    <a:lstStyle/>
                    <a:p>
                      <a:pPr>
                        <a:defRPr sz="1200">
                          <a:solidFill>
                            <a:srgbClr val="121C1F"/>
                          </a:solidFill>
                          <a:latin typeface="Yu Gothic"/>
                        </a:defRPr>
                      </a:pPr>
                      <a:r>
                        <a:t>完了注文数</a:t>
                      </a:r>
                    </a:p>
                  </a:txBody>
                  <a:tcPr>
                    <a:solidFill>
                      <a:srgbClr val="FFFFFF"/>
                    </a:solidFill>
                  </a:tcPr>
                </a:tc>
                <a:tc>
                  <a:txBody>
                    <a:bodyPr/>
                    <a:lstStyle/>
                    <a:p>
                      <a:pPr>
                        <a:defRPr sz="1200">
                          <a:solidFill>
                            <a:srgbClr val="121C1F"/>
                          </a:solidFill>
                          <a:latin typeface="Yu Gothic"/>
                        </a:defRPr>
                      </a:pPr>
                      <a:r>
                        <a:t>6,850万件、+12.7%</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PR Newswire・StockTitan(2026-08-19)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Newswire・StockTitan・TipRanks(2026-08-19)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利用状況の伸び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プラットフォームの利用状況です。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完了注文数は前年同期の6,080万件から6,850万件へ、12.7%増加</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荷主の月間アクティブユーザー数は357万人で、前年比12.8%増加</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注文密度の上昇とトラック輸送能力の拡大が、成約率の向上につながったとされる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マッチングにかかる時間もさらに短縮されたと報じられている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StockTitan・複数報道(2026-08-19)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Newswire・StockTitan・TipRanks(2026-08-19)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完了注文数の伸び</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前年比+12.7%</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6,080万件から6,850万件へ増加</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PR Newswire(2026-08-19)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AI活用の内容</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報じられているAI活用の中身です。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配送依頼(shipment)の投稿・マッチングを改善するAIツールの導入を推進していると報じられている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注文密度の上昇とトラック輸送能力の拡大により、成約率(fulfillment rate)が過去最高を記録</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マッチングにかかる時間もさらに短縮されたとされる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『AIツール導入』と『成約率過去最高』の因果関係は、決算発表・報道の文脈上関連付けて語られているが、AI単体の定量的な寄与度を切り分けた開示は確認できていない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StockTitan・複数報道(2026-08-19時点)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Newswire・StockTitan・TipRanks(2026-08-19)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成約率の状況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過去最高を記録</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AIツールの導入・注文密度の上昇・トラック輸送能力の拡大が背景として報じられている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StockTitan(2026-08-19)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AI活用と成約率向上の関係(整理)</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要因</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AIツールの導入</a:t>
                      </a:r>
                    </a:p>
                  </a:txBody>
                  <a:tcPr>
                    <a:solidFill>
                      <a:srgbClr val="FFFFFF"/>
                    </a:solidFill>
                  </a:tcPr>
                </a:tc>
                <a:tc>
                  <a:txBody>
                    <a:bodyPr/>
                    <a:lstStyle/>
                    <a:p>
                      <a:pPr>
                        <a:defRPr sz="1200">
                          <a:solidFill>
                            <a:srgbClr val="121C1F"/>
                          </a:solidFill>
                          <a:latin typeface="Yu Gothic"/>
                        </a:defRPr>
                      </a:pPr>
                      <a:r>
                        <a:t>配送依頼投稿・マッチングの改善に活用(報道ベース)</a:t>
                      </a:r>
                    </a:p>
                  </a:txBody>
                  <a:tcPr>
                    <a:solidFill>
                      <a:srgbClr val="FFFFFF"/>
                    </a:solidFill>
                  </a:tcPr>
                </a:tc>
              </a:tr>
              <a:tr h="502920">
                <a:tc>
                  <a:txBody>
                    <a:bodyPr/>
                    <a:lstStyle/>
                    <a:p>
                      <a:pPr>
                        <a:defRPr sz="1200">
                          <a:solidFill>
                            <a:srgbClr val="121C1F"/>
                          </a:solidFill>
                          <a:latin typeface="Yu Gothic"/>
                        </a:defRPr>
                      </a:pPr>
                      <a:r>
                        <a:t>注文密度の上昇</a:t>
                      </a:r>
                    </a:p>
                  </a:txBody>
                  <a:tcPr>
                    <a:solidFill>
                      <a:srgbClr val="F0F7F4"/>
                    </a:solidFill>
                  </a:tcPr>
                </a:tc>
                <a:tc>
                  <a:txBody>
                    <a:bodyPr/>
                    <a:lstStyle/>
                    <a:p>
                      <a:pPr>
                        <a:defRPr sz="1200">
                          <a:solidFill>
                            <a:srgbClr val="121C1F"/>
                          </a:solidFill>
                          <a:latin typeface="Yu Gothic"/>
                        </a:defRPr>
                      </a:pPr>
                      <a:r>
                        <a:t>荷主MAU+12.8%等、利用拡大による自然な密度上昇</a:t>
                      </a:r>
                    </a:p>
                  </a:txBody>
                  <a:tcPr>
                    <a:solidFill>
                      <a:srgbClr val="F0F7F4"/>
                    </a:solidFill>
                  </a:tcPr>
                </a:tc>
              </a:tr>
              <a:tr h="502920">
                <a:tc>
                  <a:txBody>
                    <a:bodyPr/>
                    <a:lstStyle/>
                    <a:p>
                      <a:pPr>
                        <a:defRPr sz="1200">
                          <a:solidFill>
                            <a:srgbClr val="121C1F"/>
                          </a:solidFill>
                          <a:latin typeface="Yu Gothic"/>
                        </a:defRPr>
                      </a:pPr>
                      <a:r>
                        <a:t>トラック輸送能力の拡大</a:t>
                      </a:r>
                    </a:p>
                  </a:txBody>
                  <a:tcPr>
                    <a:solidFill>
                      <a:srgbClr val="FFFFFF"/>
                    </a:solidFill>
                  </a:tcPr>
                </a:tc>
                <a:tc>
                  <a:txBody>
                    <a:bodyPr/>
                    <a:lstStyle/>
                    <a:p>
                      <a:pPr>
                        <a:defRPr sz="1200">
                          <a:solidFill>
                            <a:srgbClr val="121C1F"/>
                          </a:solidFill>
                          <a:latin typeface="Yu Gothic"/>
                        </a:defRPr>
                      </a:pPr>
                      <a:r>
                        <a:t>具体的な拡大幅は本調査の範囲では未確認</a:t>
                      </a:r>
                    </a:p>
                  </a:txBody>
                  <a:tcPr>
                    <a:solidFill>
                      <a:srgbClr val="FFFFFF"/>
                    </a:solidFill>
                  </a:tcPr>
                </a:tc>
              </a:tr>
              <a:tr h="502920">
                <a:tc>
                  <a:txBody>
                    <a:bodyPr/>
                    <a:lstStyle/>
                    <a:p>
                      <a:pPr>
                        <a:defRPr sz="1200">
                          <a:solidFill>
                            <a:srgbClr val="121C1F"/>
                          </a:solidFill>
                          <a:latin typeface="Yu Gothic"/>
                        </a:defRPr>
                      </a:pPr>
                      <a:r>
                        <a:t>結果として</a:t>
                      </a:r>
                    </a:p>
                  </a:txBody>
                  <a:tcPr>
                    <a:solidFill>
                      <a:srgbClr val="F0F7F4"/>
                    </a:solidFill>
                  </a:tcPr>
                </a:tc>
                <a:tc>
                  <a:txBody>
                    <a:bodyPr/>
                    <a:lstStyle/>
                    <a:p>
                      <a:pPr>
                        <a:defRPr sz="1200">
                          <a:solidFill>
                            <a:srgbClr val="121C1F"/>
                          </a:solidFill>
                          <a:latin typeface="Yu Gothic"/>
                        </a:defRPr>
                      </a:pPr>
                      <a:r>
                        <a:t>成約率が過去最高、マッチング時間も短縮</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StockTitan・複数報道(2026-08-19)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Newswire・StockTitan・TipRanks(2026-08-19)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事業展開の状況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その他の事業展開です。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Sinopec(中国石油化工)との提携により、燃料ネットワークの構築を進めている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資産をより軽くする『アセットライト』型の、二本立て(dual-track)ブローカーモデルへの移行を進めていると報じられている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具体的な燃料ネットワークの規模・提携条件の詳細は、本調査の範囲では確認できていない</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この事業展開が今後の収益にどう寄与するかは、続報を待つ必要がある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複数報道(2026-08-19時点)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Newswire・StockTitan・TipRanks(2026-08-19)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AIマッチングの流れ(報道内容に基づく整理)</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荷主が配送依頼を投稿</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AIツールが投稿を支援</a:t>
            </a:r>
          </a:p>
        </p:txBody>
      </p:sp>
      <p:sp>
        <p:nvSpPr>
          <p:cNvPr id="10" name="Right Arrow 9"/>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AIがトラック運転手とマッチング</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注文密度・輸送能力を踏まえて最適化</a:t>
            </a:r>
          </a:p>
        </p:txBody>
      </p:sp>
      <p:sp>
        <p:nvSpPr>
          <p:cNvPr id="15" name="Right Arrow 14"/>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成約率過去最高・マッチング時間短縮</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結果として報告されている数字</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7168"/>
                </a:solidFill>
                <a:latin typeface="Yu Gothic"/>
              </a:rPr>
              <a:t>報道内容に基づき整理したAIマッチングの流れ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StockTitan・複数報道(2026-08-19)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Newswire・StockTitan・TipRanks(2026-08-19)</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今回の決算の3ステップ総括</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1. 総売上高+4.4%</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貨物マッチングサービス収入は+9.6%</a:t>
            </a:r>
          </a:p>
        </p:txBody>
      </p:sp>
      <p:sp>
        <p:nvSpPr>
          <p:cNvPr id="11" name="Chevron 10"/>
          <p:cNvSpPr/>
          <p:nvPr/>
        </p:nvSpPr>
        <p:spPr>
          <a:xfrm>
            <a:off x="4038295"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2. 完了注文数+12.7%</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荷主MAUも+12.8%と拡大</a:t>
            </a:r>
          </a:p>
        </p:txBody>
      </p:sp>
      <p:sp>
        <p:nvSpPr>
          <p:cNvPr id="17" name="Chevron 16"/>
          <p:cNvSpPr/>
          <p:nvPr/>
        </p:nvSpPr>
        <p:spPr>
          <a:xfrm>
            <a:off x="7919313"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3. 成約率過去最高</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AIツール活用が背景の一つとして報じられる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Newswire・StockTitan・TipRanks(2026-08-19)</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株主還元</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株主への還元状況です。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取締役会は2026年Q2の1株(ADS)あたり現金配当0.0840ドル(総額約8,750万ドル)を承認</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2026年度通期で総額約4億ドルの株主還元を目標としていると報じられている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『約4億ドルの目標』は報道段階の情報であり、正式な確定額としては扱わない</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配当と自社株買いの内訳など、具体的な還元手段の構成は本調査の範囲では確認できていない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StockTitan(2026-08-19)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Newswire・StockTitan・TipRanks(2026-08-19)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通期株主還元目標</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約4億ドル(報道ベース)</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Q2配当総額は約8,750万ドル(1株あたり0.0840ドル)</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StockTitan(2026-08-19)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貨物マッチングサービス収入の伸び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主力事業の収入状況です。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貨物マッチングサービス収入はRMB30億1,260万元(4億4,400万ドル)で、前年比9.6%増</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総売上高の伸び率(4.4%)を上回るペースで拡大している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主力事業が全体の成長を牽引している構図がうかがえる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他の収入源(会員費・広告等)の内訳は、本調査の範囲では確認できていない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PR Newswire(2026-08-19)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Newswire・StockTitan・TipRanks(2026-08-19)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貨物マッチングサービス収入の伸び率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前年比+9.6%</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総売上高全体の伸び率(4.4%)を上回る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PR Newswire(2026-08-19)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貨物マッチングサービス収入 vs 総売上高全体</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貨物マッチングサービス収入</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RMB30億1,260万元(4億4,400万ドル)</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前年比+9.6%</a:t>
            </a:r>
          </a:p>
        </p:txBody>
      </p:sp>
      <p:sp>
        <p:nvSpPr>
          <p:cNvPr id="13" name="Oval 12"/>
          <p:cNvSpPr/>
          <p:nvPr/>
        </p:nvSpPr>
        <p:spPr>
          <a:xfrm>
            <a:off x="777240"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主力事業として全体を牽引</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総売上高全体</a:t>
            </a:r>
          </a:p>
        </p:txBody>
      </p:sp>
      <p:sp>
        <p:nvSpPr>
          <p:cNvPr id="18" name="Oval 17"/>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RMB33億8,160万元(4億9,840万ドル)</a:t>
            </a:r>
          </a:p>
        </p:txBody>
      </p:sp>
      <p:sp>
        <p:nvSpPr>
          <p:cNvPr id="20" name="Oval 19"/>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前年比+4.4%</a:t>
            </a:r>
          </a:p>
        </p:txBody>
      </p:sp>
      <p:sp>
        <p:nvSpPr>
          <p:cNvPr id="22" name="Oval 21"/>
          <p:cNvSpPr/>
          <p:nvPr/>
        </p:nvSpPr>
        <p:spPr>
          <a:xfrm>
            <a:off x="6598767"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貨物マッチング以外の収入も含む</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Newswire・StockTitan・TipRanks(2026-08-19)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利用指標まとめ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指標</a:t>
                      </a:r>
                    </a:p>
                  </a:txBody>
                  <a:tcPr>
                    <a:solidFill>
                      <a:srgbClr val="1B2A2E"/>
                    </a:solidFill>
                  </a:tcPr>
                </a:tc>
                <a:tc>
                  <a:txBody>
                    <a:bodyPr/>
                    <a:lstStyle/>
                    <a:p>
                      <a:pPr>
                        <a:defRPr sz="1300" b="1">
                          <a:solidFill>
                            <a:srgbClr val="FFFFFF"/>
                          </a:solidFill>
                          <a:latin typeface="Yu Gothic"/>
                        </a:defRPr>
                      </a:pPr>
                      <a:r>
                        <a:t>数値</a:t>
                      </a:r>
                    </a:p>
                  </a:txBody>
                  <a:tcPr>
                    <a:solidFill>
                      <a:srgbClr val="1B2A2E"/>
                    </a:solidFill>
                  </a:tcPr>
                </a:tc>
              </a:tr>
              <a:tr h="502920">
                <a:tc>
                  <a:txBody>
                    <a:bodyPr/>
                    <a:lstStyle/>
                    <a:p>
                      <a:pPr>
                        <a:defRPr sz="1200">
                          <a:solidFill>
                            <a:srgbClr val="121C1F"/>
                          </a:solidFill>
                          <a:latin typeface="Yu Gothic"/>
                        </a:defRPr>
                      </a:pPr>
                      <a:r>
                        <a:t>完了注文数</a:t>
                      </a:r>
                    </a:p>
                  </a:txBody>
                  <a:tcPr>
                    <a:solidFill>
                      <a:srgbClr val="FFFFFF"/>
                    </a:solidFill>
                  </a:tcPr>
                </a:tc>
                <a:tc>
                  <a:txBody>
                    <a:bodyPr/>
                    <a:lstStyle/>
                    <a:p>
                      <a:pPr>
                        <a:defRPr sz="1200">
                          <a:solidFill>
                            <a:srgbClr val="121C1F"/>
                          </a:solidFill>
                          <a:latin typeface="Yu Gothic"/>
                        </a:defRPr>
                      </a:pPr>
                      <a:r>
                        <a:t>6,850万件(+12.7%)</a:t>
                      </a:r>
                    </a:p>
                  </a:txBody>
                  <a:tcPr>
                    <a:solidFill>
                      <a:srgbClr val="FFFFFF"/>
                    </a:solidFill>
                  </a:tcPr>
                </a:tc>
              </a:tr>
              <a:tr h="502920">
                <a:tc>
                  <a:txBody>
                    <a:bodyPr/>
                    <a:lstStyle/>
                    <a:p>
                      <a:pPr>
                        <a:defRPr sz="1200">
                          <a:solidFill>
                            <a:srgbClr val="121C1F"/>
                          </a:solidFill>
                          <a:latin typeface="Yu Gothic"/>
                        </a:defRPr>
                      </a:pPr>
                      <a:r>
                        <a:t>荷主MAU</a:t>
                      </a:r>
                    </a:p>
                  </a:txBody>
                  <a:tcPr>
                    <a:solidFill>
                      <a:srgbClr val="F0F7F4"/>
                    </a:solidFill>
                  </a:tcPr>
                </a:tc>
                <a:tc>
                  <a:txBody>
                    <a:bodyPr/>
                    <a:lstStyle/>
                    <a:p>
                      <a:pPr>
                        <a:defRPr sz="1200">
                          <a:solidFill>
                            <a:srgbClr val="121C1F"/>
                          </a:solidFill>
                          <a:latin typeface="Yu Gothic"/>
                        </a:defRPr>
                      </a:pPr>
                      <a:r>
                        <a:t>357万人(+12.8%)</a:t>
                      </a:r>
                    </a:p>
                  </a:txBody>
                  <a:tcPr>
                    <a:solidFill>
                      <a:srgbClr val="F0F7F4"/>
                    </a:solidFill>
                  </a:tcPr>
                </a:tc>
              </a:tr>
              <a:tr h="502920">
                <a:tc>
                  <a:txBody>
                    <a:bodyPr/>
                    <a:lstStyle/>
                    <a:p>
                      <a:pPr>
                        <a:defRPr sz="1200">
                          <a:solidFill>
                            <a:srgbClr val="121C1F"/>
                          </a:solidFill>
                          <a:latin typeface="Yu Gothic"/>
                        </a:defRPr>
                      </a:pPr>
                      <a:r>
                        <a:t>成約率</a:t>
                      </a:r>
                    </a:p>
                  </a:txBody>
                  <a:tcPr>
                    <a:solidFill>
                      <a:srgbClr val="FFFFFF"/>
                    </a:solidFill>
                  </a:tcPr>
                </a:tc>
                <a:tc>
                  <a:txBody>
                    <a:bodyPr/>
                    <a:lstStyle/>
                    <a:p>
                      <a:pPr>
                        <a:defRPr sz="1200">
                          <a:solidFill>
                            <a:srgbClr val="121C1F"/>
                          </a:solidFill>
                          <a:latin typeface="Yu Gothic"/>
                        </a:defRPr>
                      </a:pPr>
                      <a:r>
                        <a:t>過去最高(具体的数値は非開示)</a:t>
                      </a:r>
                    </a:p>
                  </a:txBody>
                  <a:tcPr>
                    <a:solidFill>
                      <a:srgbClr val="FFFFFF"/>
                    </a:solidFill>
                  </a:tcPr>
                </a:tc>
              </a:tr>
              <a:tr h="502920">
                <a:tc>
                  <a:txBody>
                    <a:bodyPr/>
                    <a:lstStyle/>
                    <a:p>
                      <a:pPr>
                        <a:defRPr sz="1200">
                          <a:solidFill>
                            <a:srgbClr val="121C1F"/>
                          </a:solidFill>
                          <a:latin typeface="Yu Gothic"/>
                        </a:defRPr>
                      </a:pPr>
                      <a:r>
                        <a:t>マッチング時間</a:t>
                      </a:r>
                    </a:p>
                  </a:txBody>
                  <a:tcPr>
                    <a:solidFill>
                      <a:srgbClr val="F0F7F4"/>
                    </a:solidFill>
                  </a:tcPr>
                </a:tc>
                <a:tc>
                  <a:txBody>
                    <a:bodyPr/>
                    <a:lstStyle/>
                    <a:p>
                      <a:pPr>
                        <a:defRPr sz="1200">
                          <a:solidFill>
                            <a:srgbClr val="121C1F"/>
                          </a:solidFill>
                          <a:latin typeface="Yu Gothic"/>
                        </a:defRPr>
                      </a:pPr>
                      <a:r>
                        <a:t>さらに短縮(具体的数値は非開示)</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PR Newswire・StockTitan(2026-08-19)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Newswire・StockTitan・TipRanks(2026-08-19)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アセットライト型ビジネスモデルへの移行</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報じられているビジネスモデルの変化です。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資産をより軽くする『アセットライト』型の、二本立て(dual-track)ブローカーモデルへの移行を進めていると報じられている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自社でトラックを保有せず、マッチングサービスに特化する方向性とみられる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この移行の具体的な進捗率・完了時期は、本調査の範囲では確認できていない</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収益構造への影響も、続報を待って確認する必要がある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複数報道(2026-08-19時点)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Newswire・StockTitan・TipRanks(2026-08-19)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AI活用への期待 vs 定量的な裏付けの有無</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AI活用への期待(報道の文脈)</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配送依頼投稿・マッチングの改善に活用</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成約率過去最高という結果と関連付けて語られる</a:t>
            </a:r>
          </a:p>
        </p:txBody>
      </p:sp>
      <p:sp>
        <p:nvSpPr>
          <p:cNvPr id="13" name="Oval 12"/>
          <p:cNvSpPr/>
          <p:nvPr/>
        </p:nvSpPr>
        <p:spPr>
          <a:xfrm>
            <a:off x="777240"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マッチング時間短縮の一因ともされる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定量的な裏付け(未確認)</a:t>
            </a:r>
          </a:p>
        </p:txBody>
      </p:sp>
      <p:sp>
        <p:nvSpPr>
          <p:cNvPr id="18" name="Oval 17"/>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AI単体の寄与度は開示されていない</a:t>
            </a:r>
          </a:p>
        </p:txBody>
      </p:sp>
      <p:sp>
        <p:nvSpPr>
          <p:cNvPr id="20" name="Oval 19"/>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注文密度上昇・輸送能力拡大等、他の要因もある</a:t>
            </a:r>
          </a:p>
        </p:txBody>
      </p:sp>
      <p:sp>
        <p:nvSpPr>
          <p:cNvPr id="22" name="Oval 21"/>
          <p:cNvSpPr/>
          <p:nvPr/>
        </p:nvSpPr>
        <p:spPr>
          <a:xfrm>
            <a:off x="6598767"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断定的な『AIのおかげ』という表現は避ける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Newswire・StockTitan・TipRanks(2026-08-19)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AIマッチング企業としての位置づけ vs 米国Uber Freightとの違い</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満幇集団(中国)</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荷主とトラック運転手をマッチング</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AIツールで配送依頼投稿・マッチングを改善</a:t>
            </a:r>
          </a:p>
        </p:txBody>
      </p:sp>
      <p:sp>
        <p:nvSpPr>
          <p:cNvPr id="13" name="Oval 12"/>
          <p:cNvSpPr/>
          <p:nvPr/>
        </p:nvSpPr>
        <p:spPr>
          <a:xfrm>
            <a:off x="777240"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アセットライト型モデルへ移行中</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海外の同業態(一般論として)</a:t>
            </a:r>
          </a:p>
        </p:txBody>
      </p:sp>
      <p:sp>
        <p:nvSpPr>
          <p:cNvPr id="18" name="Oval 17"/>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米国等でも同様のマッチングプラットフォームが存在</a:t>
            </a:r>
          </a:p>
        </p:txBody>
      </p:sp>
      <p:sp>
        <p:nvSpPr>
          <p:cNvPr id="20" name="Oval 19"/>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各社ともAI・アルゴリズムによる最適化に注力</a:t>
            </a:r>
          </a:p>
        </p:txBody>
      </p:sp>
      <p:sp>
        <p:nvSpPr>
          <p:cNvPr id="22" name="Oval 21"/>
          <p:cNvSpPr/>
          <p:nvPr/>
        </p:nvSpPr>
        <p:spPr>
          <a:xfrm>
            <a:off x="6598767"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具体的な競合比較は本調査の範囲では行っていない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Newswire・StockTitan・TipRanks(2026-08-19)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荷主の月間アクティブユーザー数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357万人、前年比+12.8%</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利用の裾野が着実に広がっている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PR Newswire(2026-08-19)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決算コールでの他の言及</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報道されているその他の経営陣の発言です。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経営陣は注文密度の上昇とトラック輸送能力の拡大が成約率向上に寄与したと説明したとされる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Sinopecとの燃料ネットワーク提携について、今後の展開に言及があったと報じられている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アセットライト型モデルへの移行を中長期的な戦略として位置づけているとされる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決算コールの詳細な質疑応答の全文までは、本調査の範囲では確認できていない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複数報道(2026-08-19時点)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Newswire・StockTitan・TipRanks(2026-08-19)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正直にお伝えする留保事項です。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『AIツールの導入』と『成約率過去最高』の定量的な因果関係</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Sinopecとの燃料ネットワーク提携の具体的な規模・条件</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『約4億ドルの株主還元目標』の正式な確定状況</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本テーマはFull Truck Alliance株式の購入・投資を推奨するものではなく、報じられた経営指標の紹介にとどめる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Newswire・StockTitan・TipRanks(2026-08-19)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今回の決算の要点まとめ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総売上高</a:t>
                      </a:r>
                    </a:p>
                  </a:txBody>
                  <a:tcPr>
                    <a:solidFill>
                      <a:srgbClr val="FFFFFF"/>
                    </a:solidFill>
                  </a:tcPr>
                </a:tc>
                <a:tc>
                  <a:txBody>
                    <a:bodyPr/>
                    <a:lstStyle/>
                    <a:p>
                      <a:pPr>
                        <a:defRPr sz="1200">
                          <a:solidFill>
                            <a:srgbClr val="121C1F"/>
                          </a:solidFill>
                          <a:latin typeface="Yu Gothic"/>
                        </a:defRPr>
                      </a:pPr>
                      <a:r>
                        <a:t>+4.4%(RMB33億8,160万元)</a:t>
                      </a:r>
                    </a:p>
                  </a:txBody>
                  <a:tcPr>
                    <a:solidFill>
                      <a:srgbClr val="FFFFFF"/>
                    </a:solidFill>
                  </a:tcPr>
                </a:tc>
              </a:tr>
              <a:tr h="502920">
                <a:tc>
                  <a:txBody>
                    <a:bodyPr/>
                    <a:lstStyle/>
                    <a:p>
                      <a:pPr>
                        <a:defRPr sz="1200">
                          <a:solidFill>
                            <a:srgbClr val="121C1F"/>
                          </a:solidFill>
                          <a:latin typeface="Yu Gothic"/>
                        </a:defRPr>
                      </a:pPr>
                      <a:r>
                        <a:t>完了注文数</a:t>
                      </a:r>
                    </a:p>
                  </a:txBody>
                  <a:tcPr>
                    <a:solidFill>
                      <a:srgbClr val="F0F7F4"/>
                    </a:solidFill>
                  </a:tcPr>
                </a:tc>
                <a:tc>
                  <a:txBody>
                    <a:bodyPr/>
                    <a:lstStyle/>
                    <a:p>
                      <a:pPr>
                        <a:defRPr sz="1200">
                          <a:solidFill>
                            <a:srgbClr val="121C1F"/>
                          </a:solidFill>
                          <a:latin typeface="Yu Gothic"/>
                        </a:defRPr>
                      </a:pPr>
                      <a:r>
                        <a:t>+12.7%(6,850万件)</a:t>
                      </a:r>
                    </a:p>
                  </a:txBody>
                  <a:tcPr>
                    <a:solidFill>
                      <a:srgbClr val="F0F7F4"/>
                    </a:solidFill>
                  </a:tcPr>
                </a:tc>
              </a:tr>
              <a:tr h="502920">
                <a:tc>
                  <a:txBody>
                    <a:bodyPr/>
                    <a:lstStyle/>
                    <a:p>
                      <a:pPr>
                        <a:defRPr sz="1200">
                          <a:solidFill>
                            <a:srgbClr val="121C1F"/>
                          </a:solidFill>
                          <a:latin typeface="Yu Gothic"/>
                        </a:defRPr>
                      </a:pPr>
                      <a:r>
                        <a:t>成約率</a:t>
                      </a:r>
                    </a:p>
                  </a:txBody>
                  <a:tcPr>
                    <a:solidFill>
                      <a:srgbClr val="FFFFFF"/>
                    </a:solidFill>
                  </a:tcPr>
                </a:tc>
                <a:tc>
                  <a:txBody>
                    <a:bodyPr/>
                    <a:lstStyle/>
                    <a:p>
                      <a:pPr>
                        <a:defRPr sz="1200">
                          <a:solidFill>
                            <a:srgbClr val="121C1F"/>
                          </a:solidFill>
                          <a:latin typeface="Yu Gothic"/>
                        </a:defRPr>
                      </a:pPr>
                      <a:r>
                        <a:t>過去最高(AIツール活用が背景の一つ)</a:t>
                      </a:r>
                    </a:p>
                  </a:txBody>
                  <a:tcPr>
                    <a:solidFill>
                      <a:srgbClr val="FFFFFF"/>
                    </a:solidFill>
                  </a:tcPr>
                </a:tc>
              </a:tr>
              <a:tr h="502920">
                <a:tc>
                  <a:txBody>
                    <a:bodyPr/>
                    <a:lstStyle/>
                    <a:p>
                      <a:pPr>
                        <a:defRPr sz="1200">
                          <a:solidFill>
                            <a:srgbClr val="121C1F"/>
                          </a:solidFill>
                          <a:latin typeface="Yu Gothic"/>
                        </a:defRPr>
                      </a:pPr>
                      <a:r>
                        <a:t>株主還元</a:t>
                      </a:r>
                    </a:p>
                  </a:txBody>
                  <a:tcPr>
                    <a:solidFill>
                      <a:srgbClr val="F0F7F4"/>
                    </a:solidFill>
                  </a:tcPr>
                </a:tc>
                <a:tc>
                  <a:txBody>
                    <a:bodyPr/>
                    <a:lstStyle/>
                    <a:p>
                      <a:pPr>
                        <a:defRPr sz="1200">
                          <a:solidFill>
                            <a:srgbClr val="121C1F"/>
                          </a:solidFill>
                          <a:latin typeface="Yu Gothic"/>
                        </a:defRPr>
                      </a:pPr>
                      <a:r>
                        <a:t>Q2配当約8,750万ドル、通期目標約4億ドル(報道ベース)</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PR Newswire・StockTitan(2026-08-19)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Newswire・StockTitan・TipRanks(2026-08-19)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AI・物流テックの動向を追う立場として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AIマッチングによる成約率向上という具体的な成果事例として参考になる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中国テック企業の動向を追う立場として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アセットライト型モデルへの移行という戦略転換の事例として参考になる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投資を検討する立場として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AI活用の定量的な裏付けが未開示である点を踏まえ、断定的な評価を避ける必要がある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Newswire・StockTitan・TipRanks(2026-08-19)</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まとめ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本編のまとめです。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満幇集団の2026年Q2決算は、総売上高+4.4%、完了注文数+12.7%と着実な成長を示した</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AIツールを活用した配送依頼投稿・マッチングの改善により、成約率が過去最高を記録したと報じられている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ただしAI単体の定量的な寄与度は開示されておらず、断定的な表現は避けた</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Sinopecとの燃料ネットワーク提携、アセットライト型モデルへの移行など、今後の事業展開も注目される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Newswire・StockTitan・TipRanks(2026-08-19)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AIが荷物とトラックをつなぐ。成約率、過去最高へ。</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FE8DE"/>
                </a:solidFill>
                <a:latin typeface="Yu Gothic"/>
              </a:rPr>
              <a:t>満幇集団(Full Truck Alliance)の2026年Q2決算は、総売上高+4.4%、完了注文数+12.7%という着実な成長を示しました。AIツールを活用した成約率過去最高という成果まで、出典付きで整理してお届けしました。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2A2E"/>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