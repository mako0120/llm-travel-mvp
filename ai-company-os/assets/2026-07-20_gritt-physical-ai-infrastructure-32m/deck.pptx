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力仕事をするAIロボットが、3,240万ドルを引き連れて建設現場にやってきました。物理AI企業Grittが、プレシードとシリーズAで合わせて3,240万ドルの資金調達を発表しました。今日はこの話題をお届けします。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Grittとはどんな会社か、資金調達の内訳と参加投資家、物理AIとソフトウェアAIエージェントの違い、物理AIのしくみと現在の稼働状況、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何が起きたのか整理します。Grittが2026年7月20〜21日、プレシードとシリーズA計3,240万ドルの資金調達を発表しました。シリーズA単体は2,600万ドルで、Obvious Venturesが主導しています。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総調達額はこちら、3,240万ドルです。プレシードとシリーズA2,600万ドルを合わせた金額です。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調達概要を表にまとめました。企業名はGritt、事業領域は物理AI、調達額は計3,240万ドルでシリーズA単体は2,600万ドル、主導はObvious Venturesです。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Grittとはどんな会社か紹介します。ロボットアームとAIを既存の建設機械に接続する物理AI企業で、創業チームはカーネギーメロン・スタンフォード・MITのロボティクス・AI専門家、Puneet Puri氏とVishal Dugar氏が率いています。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物理AIのしくみを概要で示します。既存の建設機械にロボットアームとAIを接続し、変化し続ける屋外環境でミリ単位の精度の作業を可能にします。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創業者について見ていきます。Puneet Puri氏とVishal Dugar氏が率い、創業チームはカーネギーメロン・スタンフォード・MITのロボティクス・AI専門家で構成されています。ただし詳細な経歴の内訳までは確認できていません。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資金調達の歩みを紹介します。プレシードをFirst Round Capital等が支援し、今回のシリーズAをObvious Venturesが主導、Union Square Ventures等が参加して2,600万ドルを調達、計3,240万ドルに到達しました。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シリーズA単体の調達額はこちら、2,600万ドルです。Obvious Venturesが主導し、Union Square VenturesとActive Impact Investmentsが参加しました。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投資家陣容を紹介します。シリーズAはObvious Venturesが主導し、Union Square VenturesとActive Impact Investmentsが参加、既存投資家としてFirst Round Capital等が引き続き支援しています。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投資家一覧です。シリーズAはObvious Ventures主導、Union Square VenturesとActive Impact Investmentsが参加、既存投資家としてFirst Round Capital・Climactic・Congruent Ventures・VSC Venturesが名を連ねています。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シリーズAの投資家と既存投資家を比較します。今回はObvious Ventures主導で3社が参加し、既存投資家として4社が引き続き支援しています。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初心者向けに物理AIを説明します。これまでのAIエージェントはソフトウェア上で動く自律的なプログラムが中心でしたが、物理AIはロボットアーム等の物理的な機械を制御し、現実世界で作業を行うAIです。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ソフトウェアAIエージェントと物理AIを比較します。ソフトウェアAIエージェントは画面の中で情報処理を行うのに対し、物理AIはロボットアームで現実の物体を操作し、屋外の変化する環境で作業します。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物理AIの作業プロセスを概要で示します。資材のピック・プレイス、組立、運搬という一連の作業を、ミリ単位の精度で行います。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稼働状況を紹介します。Grittのシステムは、大規模太陽光発電施設の建設という厳しい屋外環境で、すでにインフラ構築の稼働を開始しているとされています。ただし具体的な導入現場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の速さについての報道を紹介します。あらゆる導入現場から素早く学習し、最初は数ヶ月かかっていたタスクの学習が現在は数日で完了すると説明されています。ただしこれは同社の説明であり、第三者検証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学習プロセスを報道から整理します。初回導入時は学習に数ヶ月を要しましたが、複数の導入現場からのデータ蓄積により、現在は数日でタスクを学習できるようになったと報じられています。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未確認事項を一覧にしました。導入現場の具体的な数、売上、企業評価額、太陽光発電施設以外の顧客名、従業員数、いずれも本調査の範囲では確認できていません。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確認できたこと・できなかったことを正直に整理します。調達額や投資家名、創業チームの背景は複数媒体で一致していますが、導入現場数や売上、バリュエーション、従業員数は確認できていません。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鮮度について正直に開示します。本発表は着手日の14〜15日前であり、鮮度基準を厳密には満たしていません。ただし直近の同種テーマと比べると、鮮度・スコアともに改善しています。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round78の評価表からの開示です。評価スコアは74/100で、通常の採用基準70点は上回りますが、鮮度基準は厳密には満たしていません。この点を正直にお伝えします。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ここからは推測です。建設・インフラ業界の人手不足に対し、物理AIが既存機材に後付けで導入され、作業の一部自動化につながる可能性があります。あくまで推測であることを明記します。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従来の重機操作とGritt導入後を概念的に比較します。従来はオペレーターが都度手動で操作していましたが、Gritt導入後はロボットアームとAIが一部作業を担う可能性があると報じられています。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公平性・中立性について開示します。実在企業名・人物名はテキストとしてのみ使用し、特定企業・製品の利用を強く推奨する結論にはしていません。政治的・地政学的な論評も行っていません。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出典一覧です。BusinessWire、RoboticsTomorrow、RoboticsAndAutomationNews、Yahoo Finance・AOLへの転載、DevX、Gritt公式サイトという、独立した複数の情報源です。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既存テーマとの関係を確認しました。Grittを主題とした既存テーマはなく、物理AI系の既存テーマとも対象企業・調達内容が異なるため重複ではありません。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力仕事をするAIが、あなたの現場にも来る日は近いのでしょうか。Grittの今後の展開を、確認できたこと・できなかったことを区別しながら注目していきましょう。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まとめです。Grittが2026年7月20〜21日、プレシードとシリーズA計3,240万ドルの資金調達を発表しました。大規模太陽光発電施設の建設で既に稼働しています。今回もご視聴ありがとうございました。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力仕事をするAIロボットが、3,240万ドルを引き連れて現場にやってきた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Gritt、物理AI(ロボティクス×AI)でプレシード+シリーズA計3,240万ドル調達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BusinessWire ほか(2026-07-20)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何が起きたのか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Grittとはどんな会社か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資金調達の内訳と参加投資家</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「物理AI」とソフトウェアAIエージェントの違い</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物理AIのしくみと現在の稼働状況</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何が起きたのか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Grittが2026年7月20〜21日、プレシード+シリーズA計3,240万ドルの資金調達を発表</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シリーズA単体は2,600万ドルでObvious Venturesが主導</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Union Square Ventures・Active Impact Investmentsが参加</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既存投資家First Round Capital等も引き続き支援</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BusinessWire(2026-07-20)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総調達額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3,240万ドル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プレシード+シリーズA(2,600万ドル)の合計、2026年7月20〜21日発表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BusinessWire(2026-07-20)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調達概要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企業名</a:t>
                      </a:r>
                    </a:p>
                  </a:txBody>
                  <a:tcPr>
                    <a:solidFill>
                      <a:srgbClr val="FFFFFF"/>
                    </a:solidFill>
                  </a:tcPr>
                </a:tc>
                <a:tc>
                  <a:txBody>
                    <a:bodyPr/>
                    <a:lstStyle/>
                    <a:p>
                      <a:pPr>
                        <a:defRPr sz="1200">
                          <a:solidFill>
                            <a:srgbClr val="1E2124"/>
                          </a:solidFill>
                          <a:latin typeface="Yu Gothic"/>
                        </a:defRPr>
                      </a:pPr>
                      <a:r>
                        <a:t>Gritt</a:t>
                      </a:r>
                    </a:p>
                  </a:txBody>
                  <a:tcPr>
                    <a:solidFill>
                      <a:srgbClr val="FFFFFF"/>
                    </a:solidFill>
                  </a:tcPr>
                </a:tc>
              </a:tr>
              <a:tr h="502920">
                <a:tc>
                  <a:txBody>
                    <a:bodyPr/>
                    <a:lstStyle/>
                    <a:p>
                      <a:pPr>
                        <a:defRPr sz="1200">
                          <a:solidFill>
                            <a:srgbClr val="1E2124"/>
                          </a:solidFill>
                          <a:latin typeface="Yu Gothic"/>
                        </a:defRPr>
                      </a:pPr>
                      <a:r>
                        <a:t>事業領域</a:t>
                      </a:r>
                    </a:p>
                  </a:txBody>
                  <a:tcPr>
                    <a:solidFill>
                      <a:srgbClr val="F7F4EF"/>
                    </a:solidFill>
                  </a:tcPr>
                </a:tc>
                <a:tc>
                  <a:txBody>
                    <a:bodyPr/>
                    <a:lstStyle/>
                    <a:p>
                      <a:pPr>
                        <a:defRPr sz="1200">
                          <a:solidFill>
                            <a:srgbClr val="1E2124"/>
                          </a:solidFill>
                          <a:latin typeface="Yu Gothic"/>
                        </a:defRPr>
                      </a:pPr>
                      <a:r>
                        <a:t>物理AI(ロボティクス×AI)</a:t>
                      </a:r>
                    </a:p>
                  </a:txBody>
                  <a:tcPr>
                    <a:solidFill>
                      <a:srgbClr val="F7F4EF"/>
                    </a:solidFill>
                  </a:tcPr>
                </a:tc>
              </a:tr>
              <a:tr h="502920">
                <a:tc>
                  <a:txBody>
                    <a:bodyPr/>
                    <a:lstStyle/>
                    <a:p>
                      <a:pPr>
                        <a:defRPr sz="1200">
                          <a:solidFill>
                            <a:srgbClr val="1E2124"/>
                          </a:solidFill>
                          <a:latin typeface="Yu Gothic"/>
                        </a:defRPr>
                      </a:pPr>
                      <a:r>
                        <a:t>調達ラウンド</a:t>
                      </a:r>
                    </a:p>
                  </a:txBody>
                  <a:tcPr>
                    <a:solidFill>
                      <a:srgbClr val="FFFFFF"/>
                    </a:solidFill>
                  </a:tcPr>
                </a:tc>
                <a:tc>
                  <a:txBody>
                    <a:bodyPr/>
                    <a:lstStyle/>
                    <a:p>
                      <a:pPr>
                        <a:defRPr sz="1200">
                          <a:solidFill>
                            <a:srgbClr val="1E2124"/>
                          </a:solidFill>
                          <a:latin typeface="Yu Gothic"/>
                        </a:defRPr>
                      </a:pPr>
                      <a:r>
                        <a:t>プレシード+シリーズA</a:t>
                      </a:r>
                    </a:p>
                  </a:txBody>
                  <a:tcPr>
                    <a:solidFill>
                      <a:srgbClr val="FFFFFF"/>
                    </a:solidFill>
                  </a:tcPr>
                </a:tc>
              </a:tr>
              <a:tr h="502920">
                <a:tc>
                  <a:txBody>
                    <a:bodyPr/>
                    <a:lstStyle/>
                    <a:p>
                      <a:pPr>
                        <a:defRPr sz="1200">
                          <a:solidFill>
                            <a:srgbClr val="1E2124"/>
                          </a:solidFill>
                          <a:latin typeface="Yu Gothic"/>
                        </a:defRPr>
                      </a:pPr>
                      <a:r>
                        <a:t>調達額</a:t>
                      </a:r>
                    </a:p>
                  </a:txBody>
                  <a:tcPr>
                    <a:solidFill>
                      <a:srgbClr val="F7F4EF"/>
                    </a:solidFill>
                  </a:tcPr>
                </a:tc>
                <a:tc>
                  <a:txBody>
                    <a:bodyPr/>
                    <a:lstStyle/>
                    <a:p>
                      <a:pPr>
                        <a:defRPr sz="1200">
                          <a:solidFill>
                            <a:srgbClr val="1E2124"/>
                          </a:solidFill>
                          <a:latin typeface="Yu Gothic"/>
                        </a:defRPr>
                      </a:pPr>
                      <a:r>
                        <a:t>計3,240万ドル(シリーズA2,600万ドル)</a:t>
                      </a:r>
                    </a:p>
                  </a:txBody>
                  <a:tcPr>
                    <a:solidFill>
                      <a:srgbClr val="F7F4EF"/>
                    </a:solidFill>
                  </a:tcPr>
                </a:tc>
              </a:tr>
              <a:tr h="502920">
                <a:tc>
                  <a:txBody>
                    <a:bodyPr/>
                    <a:lstStyle/>
                    <a:p>
                      <a:pPr>
                        <a:defRPr sz="1200">
                          <a:solidFill>
                            <a:srgbClr val="1E2124"/>
                          </a:solidFill>
                          <a:latin typeface="Yu Gothic"/>
                        </a:defRPr>
                      </a:pPr>
                      <a:r>
                        <a:t>シリーズA主導</a:t>
                      </a:r>
                    </a:p>
                  </a:txBody>
                  <a:tcPr>
                    <a:solidFill>
                      <a:srgbClr val="FFFFFF"/>
                    </a:solidFill>
                  </a:tcPr>
                </a:tc>
                <a:tc>
                  <a:txBody>
                    <a:bodyPr/>
                    <a:lstStyle/>
                    <a:p>
                      <a:pPr>
                        <a:defRPr sz="1200">
                          <a:solidFill>
                            <a:srgbClr val="1E2124"/>
                          </a:solidFill>
                          <a:latin typeface="Yu Gothic"/>
                        </a:defRPr>
                      </a:pPr>
                      <a:r>
                        <a:t>Obvious Ventures</a:t>
                      </a:r>
                    </a:p>
                  </a:txBody>
                  <a:tcPr>
                    <a:solidFill>
                      <a:srgbClr val="FFFFFF"/>
                    </a:solidFill>
                  </a:tcPr>
                </a:tc>
              </a:tr>
              <a:tr h="502920">
                <a:tc>
                  <a:txBody>
                    <a:bodyPr/>
                    <a:lstStyle/>
                    <a:p>
                      <a:pPr>
                        <a:defRPr sz="1200">
                          <a:solidFill>
                            <a:srgbClr val="1E2124"/>
                          </a:solidFill>
                          <a:latin typeface="Yu Gothic"/>
                        </a:defRPr>
                      </a:pPr>
                      <a:r>
                        <a:t>発表日</a:t>
                      </a:r>
                    </a:p>
                  </a:txBody>
                  <a:tcPr>
                    <a:solidFill>
                      <a:srgbClr val="F7F4EF"/>
                    </a:solidFill>
                  </a:tcPr>
                </a:tc>
                <a:tc>
                  <a:txBody>
                    <a:bodyPr/>
                    <a:lstStyle/>
                    <a:p>
                      <a:pPr>
                        <a:defRPr sz="1200">
                          <a:solidFill>
                            <a:srgbClr val="1E2124"/>
                          </a:solidFill>
                          <a:latin typeface="Yu Gothic"/>
                        </a:defRPr>
                      </a:pPr>
                      <a:r>
                        <a:t>2026年7月20〜21日</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Grittとは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事業内容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ロボットアーム+AIを既存の建設機械(スキッドステア・フォークリフト等)に接続する物理AI企業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創業チーム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カーネギーメロン・スタンフォード・MITのロボティクス・AI専門家で構成</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経営陣</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Puneet Puri氏・Vishal Dugar氏が率いる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物理AIのしくみ(概要)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既存の建設機械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スキッドステア・フォークリフト等</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ロボットアーム+AI</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Grittのシステムを接続</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ミリ単位の精度作業</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変化する屋外環境でピック・プレイス等</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創業者について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経営陣: Puneet Puri氏・Vishal Dugar氏</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創業チームはカーネギーメロン・スタンフォード・MITのロボティクス・AI専門家</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詳細な経歴の内訳(前職等)は本調査の範囲では確認できていない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BusinessWire(2026-07-20)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資金調達の歩み</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プレシード</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First Round Capital・Climactic・Congruent Ventures・VSC Venturesらが支援</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シリーズA(今回)</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Obvious Ventures主導、Union Square Ventures・Active Impact Investments参加、2,600万ドル</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計3,240万ドルに到達</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2026年7月20〜21日に発表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シリーズA単体の調達額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2,600万ドル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Obvious Ventures主導のシリーズA(Union Square Ventures・Active Impact Investments参加)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BusinessWire(2026-07-20)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投資家陣容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シリーズA主導</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Obvious Ventures</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シリーズA参加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Union Square Ventures・Active Impact Investments</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既存投資家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First Round Capital・Climactic・Congruent Ventures・VSC Ventures</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投資家一覧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3A4750"/>
                    </a:solidFill>
                  </a:tcPr>
                </a:tc>
                <a:tc>
                  <a:txBody>
                    <a:bodyPr/>
                    <a:lstStyle/>
                    <a:p>
                      <a:pPr>
                        <a:defRPr sz="1300" b="1">
                          <a:solidFill>
                            <a:srgbClr val="FFFFFF"/>
                          </a:solidFill>
                          <a:latin typeface="Yu Gothic"/>
                        </a:defRPr>
                      </a:pPr>
                      <a:r>
                        <a:t>役割</a:t>
                      </a:r>
                    </a:p>
                  </a:txBody>
                  <a:tcPr>
                    <a:solidFill>
                      <a:srgbClr val="3A4750"/>
                    </a:solidFill>
                  </a:tcPr>
                </a:tc>
              </a:tr>
              <a:tr h="502920">
                <a:tc>
                  <a:txBody>
                    <a:bodyPr/>
                    <a:lstStyle/>
                    <a:p>
                      <a:pPr>
                        <a:defRPr sz="1200">
                          <a:solidFill>
                            <a:srgbClr val="1E2124"/>
                          </a:solidFill>
                          <a:latin typeface="Yu Gothic"/>
                        </a:defRPr>
                      </a:pPr>
                      <a:r>
                        <a:t>Obvious Ventures</a:t>
                      </a:r>
                    </a:p>
                  </a:txBody>
                  <a:tcPr>
                    <a:solidFill>
                      <a:srgbClr val="FFFFFF"/>
                    </a:solidFill>
                  </a:tcPr>
                </a:tc>
                <a:tc>
                  <a:txBody>
                    <a:bodyPr/>
                    <a:lstStyle/>
                    <a:p>
                      <a:pPr>
                        <a:defRPr sz="1200">
                          <a:solidFill>
                            <a:srgbClr val="1E2124"/>
                          </a:solidFill>
                          <a:latin typeface="Yu Gothic"/>
                        </a:defRPr>
                      </a:pPr>
                      <a:r>
                        <a:t>シリーズA主導</a:t>
                      </a:r>
                    </a:p>
                  </a:txBody>
                  <a:tcPr>
                    <a:solidFill>
                      <a:srgbClr val="FFFFFF"/>
                    </a:solidFill>
                  </a:tcPr>
                </a:tc>
              </a:tr>
              <a:tr h="502920">
                <a:tc>
                  <a:txBody>
                    <a:bodyPr/>
                    <a:lstStyle/>
                    <a:p>
                      <a:pPr>
                        <a:defRPr sz="1200">
                          <a:solidFill>
                            <a:srgbClr val="1E2124"/>
                          </a:solidFill>
                          <a:latin typeface="Yu Gothic"/>
                        </a:defRPr>
                      </a:pPr>
                      <a:r>
                        <a:t>Union Square Ventures</a:t>
                      </a:r>
                    </a:p>
                  </a:txBody>
                  <a:tcPr>
                    <a:solidFill>
                      <a:srgbClr val="F7F4EF"/>
                    </a:solidFill>
                  </a:tcPr>
                </a:tc>
                <a:tc>
                  <a:txBody>
                    <a:bodyPr/>
                    <a:lstStyle/>
                    <a:p>
                      <a:pPr>
                        <a:defRPr sz="1200">
                          <a:solidFill>
                            <a:srgbClr val="1E2124"/>
                          </a:solidFill>
                          <a:latin typeface="Yu Gothic"/>
                        </a:defRPr>
                      </a:pPr>
                      <a:r>
                        <a:t>シリーズA参加</a:t>
                      </a:r>
                    </a:p>
                  </a:txBody>
                  <a:tcPr>
                    <a:solidFill>
                      <a:srgbClr val="F7F4EF"/>
                    </a:solidFill>
                  </a:tcPr>
                </a:tc>
              </a:tr>
              <a:tr h="502920">
                <a:tc>
                  <a:txBody>
                    <a:bodyPr/>
                    <a:lstStyle/>
                    <a:p>
                      <a:pPr>
                        <a:defRPr sz="1200">
                          <a:solidFill>
                            <a:srgbClr val="1E2124"/>
                          </a:solidFill>
                          <a:latin typeface="Yu Gothic"/>
                        </a:defRPr>
                      </a:pPr>
                      <a:r>
                        <a:t>Active Impact Investments</a:t>
                      </a:r>
                    </a:p>
                  </a:txBody>
                  <a:tcPr>
                    <a:solidFill>
                      <a:srgbClr val="FFFFFF"/>
                    </a:solidFill>
                  </a:tcPr>
                </a:tc>
                <a:tc>
                  <a:txBody>
                    <a:bodyPr/>
                    <a:lstStyle/>
                    <a:p>
                      <a:pPr>
                        <a:defRPr sz="1200">
                          <a:solidFill>
                            <a:srgbClr val="1E2124"/>
                          </a:solidFill>
                          <a:latin typeface="Yu Gothic"/>
                        </a:defRPr>
                      </a:pPr>
                      <a:r>
                        <a:t>シリーズA参加</a:t>
                      </a:r>
                    </a:p>
                  </a:txBody>
                  <a:tcPr>
                    <a:solidFill>
                      <a:srgbClr val="FFFFFF"/>
                    </a:solidFill>
                  </a:tcPr>
                </a:tc>
              </a:tr>
              <a:tr h="502920">
                <a:tc>
                  <a:txBody>
                    <a:bodyPr/>
                    <a:lstStyle/>
                    <a:p>
                      <a:pPr>
                        <a:defRPr sz="1200">
                          <a:solidFill>
                            <a:srgbClr val="1E2124"/>
                          </a:solidFill>
                          <a:latin typeface="Yu Gothic"/>
                        </a:defRPr>
                      </a:pPr>
                      <a:r>
                        <a:t>First Round Capital</a:t>
                      </a:r>
                    </a:p>
                  </a:txBody>
                  <a:tcPr>
                    <a:solidFill>
                      <a:srgbClr val="F7F4EF"/>
                    </a:solidFill>
                  </a:tcPr>
                </a:tc>
                <a:tc>
                  <a:txBody>
                    <a:bodyPr/>
                    <a:lstStyle/>
                    <a:p>
                      <a:pPr>
                        <a:defRPr sz="1200">
                          <a:solidFill>
                            <a:srgbClr val="1E2124"/>
                          </a:solidFill>
                          <a:latin typeface="Yu Gothic"/>
                        </a:defRPr>
                      </a:pPr>
                      <a:r>
                        <a:t>既存投資家</a:t>
                      </a:r>
                    </a:p>
                  </a:txBody>
                  <a:tcPr>
                    <a:solidFill>
                      <a:srgbClr val="F7F4EF"/>
                    </a:solidFill>
                  </a:tcPr>
                </a:tc>
              </a:tr>
              <a:tr h="502920">
                <a:tc>
                  <a:txBody>
                    <a:bodyPr/>
                    <a:lstStyle/>
                    <a:p>
                      <a:pPr>
                        <a:defRPr sz="1200">
                          <a:solidFill>
                            <a:srgbClr val="1E2124"/>
                          </a:solidFill>
                          <a:latin typeface="Yu Gothic"/>
                        </a:defRPr>
                      </a:pPr>
                      <a:r>
                        <a:t>Climactic</a:t>
                      </a:r>
                    </a:p>
                  </a:txBody>
                  <a:tcPr>
                    <a:solidFill>
                      <a:srgbClr val="FFFFFF"/>
                    </a:solidFill>
                  </a:tcPr>
                </a:tc>
                <a:tc>
                  <a:txBody>
                    <a:bodyPr/>
                    <a:lstStyle/>
                    <a:p>
                      <a:pPr>
                        <a:defRPr sz="1200">
                          <a:solidFill>
                            <a:srgbClr val="1E2124"/>
                          </a:solidFill>
                          <a:latin typeface="Yu Gothic"/>
                        </a:defRPr>
                      </a:pPr>
                      <a:r>
                        <a:t>既存投資家</a:t>
                      </a:r>
                    </a:p>
                  </a:txBody>
                  <a:tcPr>
                    <a:solidFill>
                      <a:srgbClr val="FFFFFF"/>
                    </a:solidFill>
                  </a:tcPr>
                </a:tc>
              </a:tr>
              <a:tr h="502920">
                <a:tc>
                  <a:txBody>
                    <a:bodyPr/>
                    <a:lstStyle/>
                    <a:p>
                      <a:pPr>
                        <a:defRPr sz="1200">
                          <a:solidFill>
                            <a:srgbClr val="1E2124"/>
                          </a:solidFill>
                          <a:latin typeface="Yu Gothic"/>
                        </a:defRPr>
                      </a:pPr>
                      <a:r>
                        <a:t>Congruent Ventures</a:t>
                      </a:r>
                    </a:p>
                  </a:txBody>
                  <a:tcPr>
                    <a:solidFill>
                      <a:srgbClr val="F7F4EF"/>
                    </a:solidFill>
                  </a:tcPr>
                </a:tc>
                <a:tc>
                  <a:txBody>
                    <a:bodyPr/>
                    <a:lstStyle/>
                    <a:p>
                      <a:pPr>
                        <a:defRPr sz="1200">
                          <a:solidFill>
                            <a:srgbClr val="1E2124"/>
                          </a:solidFill>
                          <a:latin typeface="Yu Gothic"/>
                        </a:defRPr>
                      </a:pPr>
                      <a:r>
                        <a:t>既存投資家</a:t>
                      </a:r>
                    </a:p>
                  </a:txBody>
                  <a:tcPr>
                    <a:solidFill>
                      <a:srgbClr val="F7F4EF"/>
                    </a:solidFill>
                  </a:tcPr>
                </a:tc>
              </a:tr>
              <a:tr h="502920">
                <a:tc>
                  <a:txBody>
                    <a:bodyPr/>
                    <a:lstStyle/>
                    <a:p>
                      <a:pPr>
                        <a:defRPr sz="1200">
                          <a:solidFill>
                            <a:srgbClr val="1E2124"/>
                          </a:solidFill>
                          <a:latin typeface="Yu Gothic"/>
                        </a:defRPr>
                      </a:pPr>
                      <a:r>
                        <a:t>VSC Ventures</a:t>
                      </a:r>
                    </a:p>
                  </a:txBody>
                  <a:tcPr>
                    <a:solidFill>
                      <a:srgbClr val="FFFFFF"/>
                    </a:solidFill>
                  </a:tcPr>
                </a:tc>
                <a:tc>
                  <a:txBody>
                    <a:bodyPr/>
                    <a:lstStyle/>
                    <a:p>
                      <a:pPr>
                        <a:defRPr sz="1200">
                          <a:solidFill>
                            <a:srgbClr val="1E2124"/>
                          </a:solidFill>
                          <a:latin typeface="Yu Gothic"/>
                        </a:defRPr>
                      </a:pPr>
                      <a:r>
                        <a:t>既存投資家</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シリーズA投資家 vs 既存投資家</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シリーズA(今回、3社)</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Obvious Ventures(主導)</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Union Square Ventures</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Active Impact Investments</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既存投資家(4社)</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First Round Capital</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Climactic</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Congruent Ventures</a:t>
            </a:r>
          </a:p>
        </p:txBody>
      </p:sp>
      <p:sp>
        <p:nvSpPr>
          <p:cNvPr id="24" name="Oval 23"/>
          <p:cNvSpPr/>
          <p:nvPr/>
        </p:nvSpPr>
        <p:spPr>
          <a:xfrm>
            <a:off x="6598767" y="4178807"/>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416052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VSC Ventures</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初心者向け: 「物理AI」とは何か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これまで扱ってきたAIエージェントは、主にソフトウェア上で動く自律的なプログラム</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物理AI(physical AI)は、ロボットアーム等の物理的な機械を制御し、現実世界で作業を行うAI</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Grittはロボットアーム+AIを既存の建設機械に接続し、屋外の現場で作業する点が特徴</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ソフトウェアAIエージェント vs 物理AI</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ソフトウェアAIエージェント</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画面の中で情報処理・意思決定を行う</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デジタルタスク(調査・取引執行等)が中心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物理AI(Grittの例)</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ロボットアーム+AIが現実の物体を操作する</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建設現場等、屋外の変化する環境で作業する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物理AIの作業プロセス(概要)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ピック・プレイス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資材を拾い上げ、設置する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組立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部材を組み立てる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運搬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資材を現場内で移動させる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現在の稼働状況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稼働開始領域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大規模太陽光発電施設の建設という厳しい屋外環境で稼働を開始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環境の特徴</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変化し続ける屋外環境でミリ単位の精度が求められる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具体的な現場数</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具体的な導入現場数・顧客名は本調査の範囲では確認できていない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学習の速さについての報道</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報道によれば「あらゆる導入現場から素早く学習する」とされている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最初は数ヶ月かかっていたタスクの学習が、現在は数日で完了すると説明されている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これは報道内の同社説明であり、第三者による検証・具体的な計測条件は確認できていない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BusinessWire(2026-07-20)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学習プロセス(報道からの整理)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初回導入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新しい現場・タスクへの導入時は学習に数ヶ月を要したとされる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データ蓄積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複数の導入現場からの学習データが蓄積される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学習の高速化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現在は数日でタスクを学習できるようになったと報じられている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未確認事項一覧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導入現場の具体的な数</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r h="502920">
                <a:tc>
                  <a:txBody>
                    <a:bodyPr/>
                    <a:lstStyle/>
                    <a:p>
                      <a:pPr>
                        <a:defRPr sz="1200">
                          <a:solidFill>
                            <a:srgbClr val="1E2124"/>
                          </a:solidFill>
                          <a:latin typeface="Yu Gothic"/>
                        </a:defRPr>
                      </a:pPr>
                      <a:r>
                        <a:t>売上・収益</a:t>
                      </a:r>
                    </a:p>
                  </a:txBody>
                  <a:tcPr>
                    <a:solidFill>
                      <a:srgbClr val="F7F4EF"/>
                    </a:solidFill>
                  </a:tcPr>
                </a:tc>
                <a:tc>
                  <a:txBody>
                    <a:bodyPr/>
                    <a:lstStyle/>
                    <a:p>
                      <a:pPr>
                        <a:defRPr sz="1200">
                          <a:solidFill>
                            <a:srgbClr val="1E2124"/>
                          </a:solidFill>
                          <a:latin typeface="Yu Gothic"/>
                        </a:defRPr>
                      </a:pPr>
                      <a:r>
                        <a:t>未確認</a:t>
                      </a:r>
                    </a:p>
                  </a:txBody>
                  <a:tcPr>
                    <a:solidFill>
                      <a:srgbClr val="F7F4EF"/>
                    </a:solidFill>
                  </a:tcPr>
                </a:tc>
              </a:tr>
              <a:tr h="502920">
                <a:tc>
                  <a:txBody>
                    <a:bodyPr/>
                    <a:lstStyle/>
                    <a:p>
                      <a:pPr>
                        <a:defRPr sz="1200">
                          <a:solidFill>
                            <a:srgbClr val="1E2124"/>
                          </a:solidFill>
                          <a:latin typeface="Yu Gothic"/>
                        </a:defRPr>
                      </a:pPr>
                      <a:r>
                        <a:t>企業評価額(バリュエーション)</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r h="502920">
                <a:tc>
                  <a:txBody>
                    <a:bodyPr/>
                    <a:lstStyle/>
                    <a:p>
                      <a:pPr>
                        <a:defRPr sz="1200">
                          <a:solidFill>
                            <a:srgbClr val="1E2124"/>
                          </a:solidFill>
                          <a:latin typeface="Yu Gothic"/>
                        </a:defRPr>
                      </a:pPr>
                      <a:r>
                        <a:t>大規模太陽光発電施設以外の顧客名</a:t>
                      </a:r>
                    </a:p>
                  </a:txBody>
                  <a:tcPr>
                    <a:solidFill>
                      <a:srgbClr val="F7F4EF"/>
                    </a:solidFill>
                  </a:tcPr>
                </a:tc>
                <a:tc>
                  <a:txBody>
                    <a:bodyPr/>
                    <a:lstStyle/>
                    <a:p>
                      <a:pPr>
                        <a:defRPr sz="1200">
                          <a:solidFill>
                            <a:srgbClr val="1E2124"/>
                          </a:solidFill>
                          <a:latin typeface="Yu Gothic"/>
                        </a:defRPr>
                      </a:pPr>
                      <a:r>
                        <a:t>未確認</a:t>
                      </a:r>
                    </a:p>
                  </a:txBody>
                  <a:tcPr>
                    <a:solidFill>
                      <a:srgbClr val="F7F4EF"/>
                    </a:solidFill>
                  </a:tcPr>
                </a:tc>
              </a:tr>
              <a:tr h="502920">
                <a:tc>
                  <a:txBody>
                    <a:bodyPr/>
                    <a:lstStyle/>
                    <a:p>
                      <a:pPr>
                        <a:defRPr sz="1200">
                          <a:solidFill>
                            <a:srgbClr val="1E2124"/>
                          </a:solidFill>
                          <a:latin typeface="Yu Gothic"/>
                        </a:defRPr>
                      </a:pPr>
                      <a:r>
                        <a:t>従業員数</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調達額・投資家名・創業チームの背景は複数媒体で一致</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導入現場数・売上・バリュエーション・従業員数は確認できていない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「学習が数ヶ月から数日に短縮」は同社説明であり第三者検証は確認できていない</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Puneet Puri氏・Vishal Dugar氏の詳細な経歴の内訳も確認できていない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BusinessWire・RoboticsTomorrow・RoboticsAndAutomationNews(2026年7月)</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本発表は2026年7月20〜21日、着手日(2026年8月4日)の14〜15日前である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`docs/06_Content_R&amp;D.md`の鮮度基準(着手日の前日以内)を満たしていない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直近の同種テーマ(26日前・スコア68)と比べると、鮮度・スコアともに改善している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round78評価表からの開示(スコア74/100)</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評価スコア</a:t>
                      </a:r>
                    </a:p>
                  </a:txBody>
                  <a:tcPr>
                    <a:solidFill>
                      <a:srgbClr val="FFFFFF"/>
                    </a:solidFill>
                  </a:tcPr>
                </a:tc>
                <a:tc>
                  <a:txBody>
                    <a:bodyPr/>
                    <a:lstStyle/>
                    <a:p>
                      <a:pPr>
                        <a:defRPr sz="1200">
                          <a:solidFill>
                            <a:srgbClr val="1E2124"/>
                          </a:solidFill>
                          <a:latin typeface="Yu Gothic"/>
                        </a:defRPr>
                      </a:pPr>
                      <a:r>
                        <a:t>74/100(通常の採用基準70点は上回るが鮮度基準は未達)</a:t>
                      </a:r>
                    </a:p>
                  </a:txBody>
                  <a:tcPr>
                    <a:solidFill>
                      <a:srgbClr val="FFFFFF"/>
                    </a:solidFill>
                  </a:tcPr>
                </a:tc>
              </a:tr>
              <a:tr h="502920">
                <a:tc>
                  <a:txBody>
                    <a:bodyPr/>
                    <a:lstStyle/>
                    <a:p>
                      <a:pPr>
                        <a:defRPr sz="1200">
                          <a:solidFill>
                            <a:srgbClr val="1E2124"/>
                          </a:solidFill>
                          <a:latin typeface="Yu Gothic"/>
                        </a:defRPr>
                      </a:pPr>
                      <a:r>
                        <a:t>採用理由</a:t>
                      </a:r>
                    </a:p>
                  </a:txBody>
                  <a:tcPr>
                    <a:solidFill>
                      <a:srgbClr val="F7F4EF"/>
                    </a:solidFill>
                  </a:tcPr>
                </a:tc>
                <a:tc>
                  <a:txBody>
                    <a:bodyPr/>
                    <a:lstStyle/>
                    <a:p>
                      <a:pPr>
                        <a:defRPr sz="1200">
                          <a:solidFill>
                            <a:srgbClr val="1E2124"/>
                          </a:solidFill>
                          <a:latin typeface="Yu Gothic"/>
                        </a:defRPr>
                      </a:pPr>
                      <a:r>
                        <a:t>物理AIという分かりやすいフック・著名VCの参加・実際の稼働実績を踏まえて採用</a:t>
                      </a:r>
                    </a:p>
                  </a:txBody>
                  <a:tcPr>
                    <a:solidFill>
                      <a:srgbClr val="F7F4EF"/>
                    </a:solidFill>
                  </a:tcPr>
                </a:tc>
              </a:tr>
              <a:tr h="502920">
                <a:tc>
                  <a:txBody>
                    <a:bodyPr/>
                    <a:lstStyle/>
                    <a:p>
                      <a:pPr>
                        <a:defRPr sz="1200">
                          <a:solidFill>
                            <a:srgbClr val="1E2124"/>
                          </a:solidFill>
                          <a:latin typeface="Yu Gothic"/>
                        </a:defRPr>
                      </a:pPr>
                      <a:r>
                        <a:t>鮮度</a:t>
                      </a:r>
                    </a:p>
                  </a:txBody>
                  <a:tcPr>
                    <a:solidFill>
                      <a:srgbClr val="FFFFFF"/>
                    </a:solidFill>
                  </a:tcPr>
                </a:tc>
                <a:tc>
                  <a:txBody>
                    <a:bodyPr/>
                    <a:lstStyle/>
                    <a:p>
                      <a:pPr>
                        <a:defRPr sz="1200">
                          <a:solidFill>
                            <a:srgbClr val="1E2124"/>
                          </a:solidFill>
                          <a:latin typeface="Yu Gothic"/>
                        </a:defRPr>
                      </a:pPr>
                      <a:r>
                        <a:t>発表から14〜15日経過、基準未達</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インフラ業界への影響(ここからは推測)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人手不足の現場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建設・インフラ業界の慢性的な人手不足</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物理AIの導入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既存機材に後付けで導入できる可能性</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作業の一部自動化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ここからは推測、確定情報ではない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従来の重機操作 vs Gritt導入後(概念比較)</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従来の重機操作</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オペレーターが都度手動で操作</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現場・タスクごとに一から習熟が必要</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Gritt導入後(報道による、推測含む)</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ロボットアーム+AIが一部作業を担う</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複数現場のデータを学習に活用できる可能性</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実在企業名・投資家名・人物名はテキストとしてのみ使用し、ロゴ・写真は使用しない</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特定企業・特定製品の利用を強く推奨する結論にはしていない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政治的・地政学的な論評は行っていない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3A4750"/>
                    </a:solidFill>
                  </a:tcPr>
                </a:tc>
                <a:tc>
                  <a:txBody>
                    <a:bodyPr/>
                    <a:lstStyle/>
                    <a:p>
                      <a:pPr>
                        <a:defRPr sz="1300" b="1">
                          <a:solidFill>
                            <a:srgbClr val="FFFFFF"/>
                          </a:solidFill>
                          <a:latin typeface="Yu Gothic"/>
                        </a:defRPr>
                      </a:pPr>
                      <a:r>
                        <a:t>日付</a:t>
                      </a:r>
                    </a:p>
                  </a:txBody>
                  <a:tcPr>
                    <a:solidFill>
                      <a:srgbClr val="3A4750"/>
                    </a:solidFill>
                  </a:tcPr>
                </a:tc>
              </a:tr>
              <a:tr h="502920">
                <a:tc>
                  <a:txBody>
                    <a:bodyPr/>
                    <a:lstStyle/>
                    <a:p>
                      <a:pPr>
                        <a:defRPr sz="1200">
                          <a:solidFill>
                            <a:srgbClr val="1E2124"/>
                          </a:solidFill>
                          <a:latin typeface="Yu Gothic"/>
                        </a:defRPr>
                      </a:pPr>
                      <a:r>
                        <a:t>BusinessWire</a:t>
                      </a:r>
                    </a:p>
                  </a:txBody>
                  <a:tcPr>
                    <a:solidFill>
                      <a:srgbClr val="FFFFFF"/>
                    </a:solidFill>
                  </a:tcPr>
                </a:tc>
                <a:tc>
                  <a:txBody>
                    <a:bodyPr/>
                    <a:lstStyle/>
                    <a:p>
                      <a:pPr>
                        <a:defRPr sz="1200">
                          <a:solidFill>
                            <a:srgbClr val="1E2124"/>
                          </a:solidFill>
                          <a:latin typeface="Yu Gothic"/>
                        </a:defRPr>
                      </a:pPr>
                      <a:r>
                        <a:t>2026-07-20</a:t>
                      </a:r>
                    </a:p>
                  </a:txBody>
                  <a:tcPr>
                    <a:solidFill>
                      <a:srgbClr val="FFFFFF"/>
                    </a:solidFill>
                  </a:tcPr>
                </a:tc>
              </a:tr>
              <a:tr h="502920">
                <a:tc>
                  <a:txBody>
                    <a:bodyPr/>
                    <a:lstStyle/>
                    <a:p>
                      <a:pPr>
                        <a:defRPr sz="1200">
                          <a:solidFill>
                            <a:srgbClr val="1E2124"/>
                          </a:solidFill>
                          <a:latin typeface="Yu Gothic"/>
                        </a:defRPr>
                      </a:pPr>
                      <a:r>
                        <a:t>RoboticsTomorrow</a:t>
                      </a:r>
                    </a:p>
                  </a:txBody>
                  <a:tcPr>
                    <a:solidFill>
                      <a:srgbClr val="F7F4EF"/>
                    </a:solidFill>
                  </a:tcPr>
                </a:tc>
                <a:tc>
                  <a:txBody>
                    <a:bodyPr/>
                    <a:lstStyle/>
                    <a:p>
                      <a:pPr>
                        <a:defRPr sz="1200">
                          <a:solidFill>
                            <a:srgbClr val="1E2124"/>
                          </a:solidFill>
                          <a:latin typeface="Yu Gothic"/>
                        </a:defRPr>
                      </a:pPr>
                      <a:r>
                        <a:t>2026-07-21</a:t>
                      </a:r>
                    </a:p>
                  </a:txBody>
                  <a:tcPr>
                    <a:solidFill>
                      <a:srgbClr val="F7F4EF"/>
                    </a:solidFill>
                  </a:tcPr>
                </a:tc>
              </a:tr>
              <a:tr h="502920">
                <a:tc>
                  <a:txBody>
                    <a:bodyPr/>
                    <a:lstStyle/>
                    <a:p>
                      <a:pPr>
                        <a:defRPr sz="1200">
                          <a:solidFill>
                            <a:srgbClr val="1E2124"/>
                          </a:solidFill>
                          <a:latin typeface="Yu Gothic"/>
                        </a:defRPr>
                      </a:pPr>
                      <a:r>
                        <a:t>RoboticsAndAutomationNews</a:t>
                      </a:r>
                    </a:p>
                  </a:txBody>
                  <a:tcPr>
                    <a:solidFill>
                      <a:srgbClr val="FFFFFF"/>
                    </a:solidFill>
                  </a:tcPr>
                </a:tc>
                <a:tc>
                  <a:txBody>
                    <a:bodyPr/>
                    <a:lstStyle/>
                    <a:p>
                      <a:pPr>
                        <a:defRPr sz="1200">
                          <a:solidFill>
                            <a:srgbClr val="1E2124"/>
                          </a:solidFill>
                          <a:latin typeface="Yu Gothic"/>
                        </a:defRPr>
                      </a:pPr>
                      <a:r>
                        <a:t>2026-07-22</a:t>
                      </a:r>
                    </a:p>
                  </a:txBody>
                  <a:tcPr>
                    <a:solidFill>
                      <a:srgbClr val="FFFFFF"/>
                    </a:solidFill>
                  </a:tcPr>
                </a:tc>
              </a:tr>
              <a:tr h="502920">
                <a:tc>
                  <a:txBody>
                    <a:bodyPr/>
                    <a:lstStyle/>
                    <a:p>
                      <a:pPr>
                        <a:defRPr sz="1200">
                          <a:solidFill>
                            <a:srgbClr val="1E2124"/>
                          </a:solidFill>
                          <a:latin typeface="Yu Gothic"/>
                        </a:defRPr>
                      </a:pPr>
                      <a:r>
                        <a:t>Yahoo Finance / AOL(BusinessWire配信の転載)</a:t>
                      </a:r>
                    </a:p>
                  </a:txBody>
                  <a:tcPr>
                    <a:solidFill>
                      <a:srgbClr val="F7F4EF"/>
                    </a:solidFill>
                  </a:tcPr>
                </a:tc>
                <a:tc>
                  <a:txBody>
                    <a:bodyPr/>
                    <a:lstStyle/>
                    <a:p>
                      <a:pPr>
                        <a:defRPr sz="1200">
                          <a:solidFill>
                            <a:srgbClr val="1E2124"/>
                          </a:solidFill>
                          <a:latin typeface="Yu Gothic"/>
                        </a:defRPr>
                      </a:pPr>
                      <a:r>
                        <a:t>2026年7月</a:t>
                      </a:r>
                    </a:p>
                  </a:txBody>
                  <a:tcPr>
                    <a:solidFill>
                      <a:srgbClr val="F7F4EF"/>
                    </a:solidFill>
                  </a:tcPr>
                </a:tc>
              </a:tr>
              <a:tr h="502920">
                <a:tc>
                  <a:txBody>
                    <a:bodyPr/>
                    <a:lstStyle/>
                    <a:p>
                      <a:pPr>
                        <a:defRPr sz="1200">
                          <a:solidFill>
                            <a:srgbClr val="1E2124"/>
                          </a:solidFill>
                          <a:latin typeface="Yu Gothic"/>
                        </a:defRPr>
                      </a:pPr>
                      <a:r>
                        <a:t>DevX</a:t>
                      </a:r>
                    </a:p>
                  </a:txBody>
                  <a:tcPr>
                    <a:solidFill>
                      <a:srgbClr val="FFFFFF"/>
                    </a:solidFill>
                  </a:tcPr>
                </a:tc>
                <a:tc>
                  <a:txBody>
                    <a:bodyPr/>
                    <a:lstStyle/>
                    <a:p>
                      <a:pPr>
                        <a:defRPr sz="1200">
                          <a:solidFill>
                            <a:srgbClr val="1E2124"/>
                          </a:solidFill>
                          <a:latin typeface="Yu Gothic"/>
                        </a:defRPr>
                      </a:pPr>
                      <a:r>
                        <a:t>2026年7月</a:t>
                      </a:r>
                    </a:p>
                  </a:txBody>
                  <a:tcPr>
                    <a:solidFill>
                      <a:srgbClr val="FFFFFF"/>
                    </a:solidFill>
                  </a:tcPr>
                </a:tc>
              </a:tr>
              <a:tr h="502920">
                <a:tc>
                  <a:txBody>
                    <a:bodyPr/>
                    <a:lstStyle/>
                    <a:p>
                      <a:pPr>
                        <a:defRPr sz="1200">
                          <a:solidFill>
                            <a:srgbClr val="1E2124"/>
                          </a:solidFill>
                          <a:latin typeface="Yu Gothic"/>
                        </a:defRPr>
                      </a:pPr>
                      <a:r>
                        <a:t>Gritt公式サイト(gritt.ai/news)</a:t>
                      </a:r>
                    </a:p>
                  </a:txBody>
                  <a:tcPr>
                    <a:solidFill>
                      <a:srgbClr val="F7F4EF"/>
                    </a:solidFill>
                  </a:tcPr>
                </a:tc>
                <a:tc>
                  <a:txBody>
                    <a:bodyPr/>
                    <a:lstStyle/>
                    <a:p>
                      <a:pPr>
                        <a:defRPr sz="1200">
                          <a:solidFill>
                            <a:srgbClr val="1E2124"/>
                          </a:solidFill>
                          <a:latin typeface="Yu Gothic"/>
                        </a:defRPr>
                      </a:pPr>
                      <a:r>
                        <a:t>2026年7月</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3A4750"/>
                    </a:solidFill>
                  </a:tcPr>
                </a:tc>
                <a:tc>
                  <a:txBody>
                    <a:bodyPr/>
                    <a:lstStyle/>
                    <a:p>
                      <a:pPr>
                        <a:defRPr sz="1300" b="1">
                          <a:solidFill>
                            <a:srgbClr val="FFFFFF"/>
                          </a:solidFill>
                          <a:latin typeface="Yu Gothic"/>
                        </a:defRPr>
                      </a:pPr>
                      <a:r>
                        <a:t>結果</a:t>
                      </a:r>
                    </a:p>
                  </a:txBody>
                  <a:tcPr>
                    <a:solidFill>
                      <a:srgbClr val="3A4750"/>
                    </a:solidFill>
                  </a:tcPr>
                </a:tc>
              </a:tr>
              <a:tr h="502920">
                <a:tc>
                  <a:txBody>
                    <a:bodyPr/>
                    <a:lstStyle/>
                    <a:p>
                      <a:pPr>
                        <a:defRPr sz="1200">
                          <a:solidFill>
                            <a:srgbClr val="1E2124"/>
                          </a:solidFill>
                          <a:latin typeface="Yu Gothic"/>
                        </a:defRPr>
                      </a:pPr>
                      <a:r>
                        <a:t>Grittを主題としたテーマ</a:t>
                      </a:r>
                    </a:p>
                  </a:txBody>
                  <a:tcPr>
                    <a:solidFill>
                      <a:srgbClr val="FFFFFF"/>
                    </a:solidFill>
                  </a:tcPr>
                </a:tc>
                <a:tc>
                  <a:txBody>
                    <a:bodyPr/>
                    <a:lstStyle/>
                    <a:p>
                      <a:pPr>
                        <a:defRPr sz="1200">
                          <a:solidFill>
                            <a:srgbClr val="1E2124"/>
                          </a:solidFill>
                          <a:latin typeface="Yu Gothic"/>
                        </a:defRPr>
                      </a:pPr>
                      <a:r>
                        <a:t>既存テーマになし</a:t>
                      </a:r>
                    </a:p>
                  </a:txBody>
                  <a:tcPr>
                    <a:solidFill>
                      <a:srgbClr val="FFFFFF"/>
                    </a:solidFill>
                  </a:tcPr>
                </a:tc>
              </a:tr>
              <a:tr h="502920">
                <a:tc>
                  <a:txBody>
                    <a:bodyPr/>
                    <a:lstStyle/>
                    <a:p>
                      <a:pPr>
                        <a:defRPr sz="1200">
                          <a:solidFill>
                            <a:srgbClr val="1E2124"/>
                          </a:solidFill>
                          <a:latin typeface="Yu Gothic"/>
                        </a:defRPr>
                      </a:pPr>
                      <a:r>
                        <a:t>物理AI系の既存テーマ(Atoms等)との重複</a:t>
                      </a:r>
                    </a:p>
                  </a:txBody>
                  <a:tcPr>
                    <a:solidFill>
                      <a:srgbClr val="F7F4EF"/>
                    </a:solidFill>
                  </a:tcPr>
                </a:tc>
                <a:tc>
                  <a:txBody>
                    <a:bodyPr/>
                    <a:lstStyle/>
                    <a:p>
                      <a:pPr>
                        <a:defRPr sz="1200">
                          <a:solidFill>
                            <a:srgbClr val="1E2124"/>
                          </a:solidFill>
                          <a:latin typeface="Yu Gothic"/>
                        </a:defRPr>
                      </a:pPr>
                      <a:r>
                        <a:t>対象企業・調達内容が異なり重複ではない</a:t>
                      </a:r>
                    </a:p>
                  </a:txBody>
                  <a:tcPr>
                    <a:solidFill>
                      <a:srgbClr val="F7F4EF"/>
                    </a:solidFill>
                  </a:tcPr>
                </a:tc>
              </a:tr>
              <a:tr h="502920">
                <a:tc>
                  <a:txBody>
                    <a:bodyPr/>
                    <a:lstStyle/>
                    <a:p>
                      <a:pPr>
                        <a:defRPr sz="1200">
                          <a:solidFill>
                            <a:srgbClr val="1E2124"/>
                          </a:solidFill>
                          <a:latin typeface="Yu Gothic"/>
                        </a:defRPr>
                      </a:pPr>
                      <a:r>
                        <a:t>判定</a:t>
                      </a:r>
                    </a:p>
                  </a:txBody>
                  <a:tcPr>
                    <a:solidFill>
                      <a:srgbClr val="FFFFFF"/>
                    </a:solidFill>
                  </a:tcPr>
                </a:tc>
                <a:tc>
                  <a:txBody>
                    <a:bodyPr/>
                    <a:lstStyle/>
                    <a:p>
                      <a:pPr>
                        <a:defRPr sz="1200">
                          <a:solidFill>
                            <a:srgbClr val="1E2124"/>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力仕事をするAI、あなたの現場にも来る日は近い?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Grittの今後の展開を、確認できたこと・できなかったことを区別しながら注目していきましょう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Grittが2026年7月20〜21日、プレシード+シリーズA計3,240万ドルの資金調達を発表</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シリーズAはObvious Ventures主導、Union Square Ventures等が参加</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大規模太陽光発電施設の建設で既に稼働、学習の高速化も報じられている</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導入現場数・売上・バリュエーション等は確認できていない点を正直に開示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BusinessWire ほか(2026-07-20)｜定期実行131本目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