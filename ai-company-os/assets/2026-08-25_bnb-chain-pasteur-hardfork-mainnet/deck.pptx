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BNBチェーンが本日、大型のハードフォークを実施します。何が変わるのか、出典付きで正確に整理してお届けします。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結論から確認します。テストネットのベンチマークでは、秒間処理件数が1,237件から2,324件へと約1.9倍に向上しました。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本日の流れです。ハードフォークの概要から改善内容、そして確認できなかったことまで整理します。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着手日当日に実施される、極めて鮮度の高い話題です。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Pasteurハードフォークは、2026年8月25日午前2時30分(UTC)にメインネットで実施されます。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Pasteurは、複数の改善提案を組み合わせた大型のメインネットアップグレードです。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今回のアップグレードは、ブリッジ・鍵管理・処理能力という3つの領域の改善提案で構成されています。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BEP-682は、クロスチェーン検証における署名の重複を防ぎ、ブリッジのセキュリティを強化します。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テストネットのベンチマークでは、秒間処理件数が2,324件まで向上しました。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BEP-695は、バリデータの鍵管理を厳格化し、失効した鍵が権限を持たないようにします。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ノード運営者は事前にクライアントバージョン1.7.7へ更新し、その後ハードフォークが実施されて新機能が有効になります。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今回のアップグレードは、セキュリティとパフォーマンスの両面を改善します。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BEP-675により、同じブロック生成時間でより多くの取引を処理できるようになります。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ノード運営者は、ハードフォーク実施前にクライアントバージョン1.7.7への更新が必要です。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事前告知、クライアント更新、そして実施という3ステップで準備が進められました。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今回のアップグレードは、2026年中に処理能力を倍増させるという大きな目標の一環です。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今回のアップグレードは、3つの改善提案(BEP)で構成されています。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アップグレード前後で、処理能力とセキュリティの両面が改善されます。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処理能力向上とセキュリティ強化は、ブロックチェーン業界全体で共通の課題です。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複数の独立した暗号資産専門メディアが同一の実施時刻・改善内容を報じており、報道内容としての一貫性を確認しています。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確認できているのはテストネットでの結果であり、メインネットでの実測値はまだ確認できていません。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ノード運営者、バリデータ、取引所、DAppsには事前に更新の必要性が告知されています。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今回のアップグレードの注目ポイントを3つにまとめました。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本テーマは、ブロックチェーン技術の進化の一事例として整理しています。投資助言ではありません。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今回のアップグレードのタイムラインです。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BEP-682とBEP-695は、いずれもセキュリティ強化ですが、対象範囲が異なります。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Pasteurハードフォークにより、テストネットでは約1.9倍のTPS向上が確認されています。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本日はBNBチェーンのPasteurハードフォークについてお届けしました。確認できなかったことは正直に開示しています。次回もお楽しみに。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BNBチェーン</a:t>
            </a:r>
          </a:p>
          <a:p>
            <a:pPr algn="l">
              <a:lnSpc>
                <a:spcPct val="115000"/>
              </a:lnSpc>
            </a:pPr>
            <a:r>
              <a:rPr sz="4200" b="1">
                <a:solidFill>
                  <a:srgbClr val="FFFFFF"/>
                </a:solidFill>
                <a:latin typeface="Yu Gothic"/>
              </a:rPr>
              <a:t>処理速度が</a:t>
            </a:r>
          </a:p>
          <a:p>
            <a:pPr algn="l">
              <a:lnSpc>
                <a:spcPct val="115000"/>
              </a:lnSpc>
            </a:pPr>
            <a:r>
              <a:rPr sz="4200" b="1">
                <a:solidFill>
                  <a:srgbClr val="FFFFFF"/>
                </a:solidFill>
                <a:latin typeface="Yu Gothic"/>
              </a:rPr>
              <a:t>最大約2倍に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「Pasteur」ハードフォークが本日始動——出典付きで整理する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crypto.news(2026年8月)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1,237→2,324件/秒 テストネットでのTPS向上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同一のブロック生成時間で約1.9倍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crypto.news(2026年8月)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Pasteurハードフォークとは何か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3つの改善提案(BEP)の内容</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処理能力向上の実測値</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着手日当日(2026年8月25日)にメインネットで実施される話題</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複数の暗号資産専門メディアが一斉報道</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セキュリティ強化と処理能力向上を同時に実現する技術的な話題性</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crypto.news(2026年8月)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実施時刻</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UTC 2:30 メインネットでの実施時刻</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日本時間では同日11:30</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CryptoBriefing(2026年8月)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Pasteurハードフォークとは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BNBチェーン(BNB Smart Chain)のメインネットアップグレード</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3つの改善提案(BEP)で構成される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セキュリティ強化と処理能力向上を同時に実現</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crypto.news(2026年8月)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3つの改善提案(BEP)</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提案番号</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BEP-682</a:t>
                      </a:r>
                    </a:p>
                  </a:txBody>
                  <a:tcPr>
                    <a:solidFill>
                      <a:srgbClr val="FFFFFF"/>
                    </a:solidFill>
                  </a:tcPr>
                </a:tc>
                <a:tc>
                  <a:txBody>
                    <a:bodyPr/>
                    <a:lstStyle/>
                    <a:p>
                      <a:pPr>
                        <a:defRPr sz="1200">
                          <a:solidFill>
                            <a:srgbClr val="16202E"/>
                          </a:solidFill>
                          <a:latin typeface="Yu Gothic"/>
                        </a:defRPr>
                      </a:pPr>
                      <a:r>
                        <a:t>クロスチェーン検証のブリッジセキュリティ強化</a:t>
                      </a:r>
                    </a:p>
                  </a:txBody>
                  <a:tcPr>
                    <a:solidFill>
                      <a:srgbClr val="FFFFFF"/>
                    </a:solidFill>
                  </a:tcPr>
                </a:tc>
              </a:tr>
              <a:tr h="502920">
                <a:tc>
                  <a:txBody>
                    <a:bodyPr/>
                    <a:lstStyle/>
                    <a:p>
                      <a:pPr>
                        <a:defRPr sz="1200">
                          <a:solidFill>
                            <a:srgbClr val="16202E"/>
                          </a:solidFill>
                          <a:latin typeface="Yu Gothic"/>
                        </a:defRPr>
                      </a:pPr>
                      <a:r>
                        <a:t>BEP-695</a:t>
                      </a:r>
                    </a:p>
                  </a:txBody>
                  <a:tcPr>
                    <a:solidFill>
                      <a:srgbClr val="F2F6FA"/>
                    </a:solidFill>
                  </a:tcPr>
                </a:tc>
                <a:tc>
                  <a:txBody>
                    <a:bodyPr/>
                    <a:lstStyle/>
                    <a:p>
                      <a:pPr>
                        <a:defRPr sz="1200">
                          <a:solidFill>
                            <a:srgbClr val="16202E"/>
                          </a:solidFill>
                          <a:latin typeface="Yu Gothic"/>
                        </a:defRPr>
                      </a:pPr>
                      <a:r>
                        <a:t>バリデータの鍵ローテーションルールの厳格化</a:t>
                      </a:r>
                    </a:p>
                  </a:txBody>
                  <a:tcPr>
                    <a:solidFill>
                      <a:srgbClr val="F2F6FA"/>
                    </a:solidFill>
                  </a:tcPr>
                </a:tc>
              </a:tr>
              <a:tr h="502920">
                <a:tc>
                  <a:txBody>
                    <a:bodyPr/>
                    <a:lstStyle/>
                    <a:p>
                      <a:pPr>
                        <a:defRPr sz="1200">
                          <a:solidFill>
                            <a:srgbClr val="16202E"/>
                          </a:solidFill>
                          <a:latin typeface="Yu Gothic"/>
                        </a:defRPr>
                      </a:pPr>
                      <a:r>
                        <a:t>BEP-675</a:t>
                      </a:r>
                    </a:p>
                  </a:txBody>
                  <a:tcPr>
                    <a:solidFill>
                      <a:srgbClr val="FFFFFF"/>
                    </a:solidFill>
                  </a:tcPr>
                </a:tc>
                <a:tc>
                  <a:txBody>
                    <a:bodyPr/>
                    <a:lstStyle/>
                    <a:p>
                      <a:pPr>
                        <a:defRPr sz="1200">
                          <a:solidFill>
                            <a:srgbClr val="16202E"/>
                          </a:solidFill>
                          <a:latin typeface="Yu Gothic"/>
                        </a:defRPr>
                      </a:pPr>
                      <a:r>
                        <a:t>ブロックあたりの取引処理能力の向上</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CryptoBriefing(2026年8月)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BEP-682: ブリッジセキュリティ強化</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クロスチェーン検証における重複バリデータ署名を防止</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重複エントリーを拒否する仕組みを導入</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バリデータの「真の過半数」を反映する閾値に</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CryptoBriefing(2026年8月)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テストネットでのTPS</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2,324件/秒 アップグレード後の処理能力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従来の1,237件/秒から向上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crypto.news(2026年8月)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BEP-695: バリデータ鍵管理の厳格化</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バリデータの鍵ローテーションに関するルールを厳格化</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失効した鍵の権限を確実に無効化</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ガバナンス投票がブラックリスト対象アドレスを尊重するよう修正</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CryptoBriefing(2026年8月)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アップグレードの流れ(概念図)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クライアント更新(v1.7.7)</a:t>
            </a:r>
          </a:p>
        </p:txBody>
      </p:sp>
      <p:sp>
        <p:nvSpPr>
          <p:cNvPr id="9" name="Right Arrow 8"/>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ハードフォーク実施(UTC 2:30)</a:t>
            </a:r>
          </a:p>
        </p:txBody>
      </p:sp>
      <p:sp>
        <p:nvSpPr>
          <p:cNvPr id="13" name="Right Arrow 12"/>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新機能が有効化</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ノード運営者は事前にクライアントを更新する必要がある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改善点まとめ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領域</a:t>
                      </a:r>
                    </a:p>
                  </a:txBody>
                  <a:tcPr>
                    <a:solidFill>
                      <a:srgbClr val="1B3A5C"/>
                    </a:solidFill>
                  </a:tcPr>
                </a:tc>
                <a:tc>
                  <a:txBody>
                    <a:bodyPr/>
                    <a:lstStyle/>
                    <a:p>
                      <a:pPr>
                        <a:defRPr sz="1300" b="1">
                          <a:solidFill>
                            <a:srgbClr val="FFFFFF"/>
                          </a:solidFill>
                          <a:latin typeface="Yu Gothic"/>
                        </a:defRPr>
                      </a:pPr>
                      <a:r>
                        <a:t>改善内容</a:t>
                      </a:r>
                    </a:p>
                  </a:txBody>
                  <a:tcPr>
                    <a:solidFill>
                      <a:srgbClr val="1B3A5C"/>
                    </a:solidFill>
                  </a:tcPr>
                </a:tc>
              </a:tr>
              <a:tr h="502920">
                <a:tc>
                  <a:txBody>
                    <a:bodyPr/>
                    <a:lstStyle/>
                    <a:p>
                      <a:pPr>
                        <a:defRPr sz="1200">
                          <a:solidFill>
                            <a:srgbClr val="16202E"/>
                          </a:solidFill>
                          <a:latin typeface="Yu Gothic"/>
                        </a:defRPr>
                      </a:pPr>
                      <a:r>
                        <a:t>セキュリティ</a:t>
                      </a:r>
                    </a:p>
                  </a:txBody>
                  <a:tcPr>
                    <a:solidFill>
                      <a:srgbClr val="FFFFFF"/>
                    </a:solidFill>
                  </a:tcPr>
                </a:tc>
                <a:tc>
                  <a:txBody>
                    <a:bodyPr/>
                    <a:lstStyle/>
                    <a:p>
                      <a:pPr>
                        <a:defRPr sz="1200">
                          <a:solidFill>
                            <a:srgbClr val="16202E"/>
                          </a:solidFill>
                          <a:latin typeface="Yu Gothic"/>
                        </a:defRPr>
                      </a:pPr>
                      <a:r>
                        <a:t>ブリッジ・鍵管理の強化(BEP-682・695)</a:t>
                      </a:r>
                    </a:p>
                  </a:txBody>
                  <a:tcPr>
                    <a:solidFill>
                      <a:srgbClr val="FFFFFF"/>
                    </a:solidFill>
                  </a:tcPr>
                </a:tc>
              </a:tr>
              <a:tr h="502920">
                <a:tc>
                  <a:txBody>
                    <a:bodyPr/>
                    <a:lstStyle/>
                    <a:p>
                      <a:pPr>
                        <a:defRPr sz="1200">
                          <a:solidFill>
                            <a:srgbClr val="16202E"/>
                          </a:solidFill>
                          <a:latin typeface="Yu Gothic"/>
                        </a:defRPr>
                      </a:pPr>
                      <a:r>
                        <a:t>パフォーマンス</a:t>
                      </a:r>
                    </a:p>
                  </a:txBody>
                  <a:tcPr>
                    <a:solidFill>
                      <a:srgbClr val="F2F6FA"/>
                    </a:solidFill>
                  </a:tcPr>
                </a:tc>
                <a:tc>
                  <a:txBody>
                    <a:bodyPr/>
                    <a:lstStyle/>
                    <a:p>
                      <a:pPr>
                        <a:defRPr sz="1200">
                          <a:solidFill>
                            <a:srgbClr val="16202E"/>
                          </a:solidFill>
                          <a:latin typeface="Yu Gothic"/>
                        </a:defRPr>
                      </a:pPr>
                      <a:r>
                        <a:t>処理能力の向上(BEP-675)</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BEP-675: 処理能力向上</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ブロックあたりの取引処理能力(スループット)を引き上げ</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同一のブロック生成時間でより多くの取引を処理可能に</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テストネットで約1.9倍のTPS向上を確認</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crypto.news(2026年8月)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必須クライアントバージョン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v1.7.7 ノード運営者に必要な更新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アップグレード実施前に更新が必要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CryptoBriefing(2026年8月)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ハードフォークまでの準備</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事前告知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バリデータ・取引所・DAppsへの通知</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クライアント更新</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v1.7.7への更新</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実施</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UTC 2:30にメインネットで実施</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2026年の処理能力倍増計画</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今回のアップグレードは、より大きな取り組みの一環</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2026年中にメインネットの処理能力を倍増させる目標</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継続的な複数のアップグレードで達成を目指す</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crypto.news(2026年8月)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確定</a:t>
                      </a:r>
                    </a:p>
                  </a:txBody>
                  <a:tcPr>
                    <a:solidFill>
                      <a:srgbClr val="FFFFFF"/>
                    </a:solidFill>
                  </a:tcPr>
                </a:tc>
                <a:tc>
                  <a:txBody>
                    <a:bodyPr/>
                    <a:lstStyle/>
                    <a:p>
                      <a:pPr>
                        <a:defRPr sz="1200">
                          <a:solidFill>
                            <a:srgbClr val="16202E"/>
                          </a:solidFill>
                          <a:latin typeface="Yu Gothic"/>
                        </a:defRPr>
                      </a:pPr>
                      <a:r>
                        <a:t>実施時刻・改善提案の内容・テストネットでのTPS向上</a:t>
                      </a:r>
                    </a:p>
                  </a:txBody>
                  <a:tcPr>
                    <a:solidFill>
                      <a:srgbClr val="FFFFFF"/>
                    </a:solidFill>
                  </a:tcPr>
                </a:tc>
              </a:tr>
              <a:tr h="502920">
                <a:tc>
                  <a:txBody>
                    <a:bodyPr/>
                    <a:lstStyle/>
                    <a:p>
                      <a:pPr>
                        <a:defRPr sz="1200">
                          <a:solidFill>
                            <a:srgbClr val="16202E"/>
                          </a:solidFill>
                          <a:latin typeface="Yu Gothic"/>
                        </a:defRPr>
                      </a:pPr>
                      <a:r>
                        <a:t>確定</a:t>
                      </a:r>
                    </a:p>
                  </a:txBody>
                  <a:tcPr>
                    <a:solidFill>
                      <a:srgbClr val="F2F6FA"/>
                    </a:solidFill>
                  </a:tcPr>
                </a:tc>
                <a:tc>
                  <a:txBody>
                    <a:bodyPr/>
                    <a:lstStyle/>
                    <a:p>
                      <a:pPr>
                        <a:defRPr sz="1200">
                          <a:solidFill>
                            <a:srgbClr val="16202E"/>
                          </a:solidFill>
                          <a:latin typeface="Yu Gothic"/>
                        </a:defRPr>
                      </a:pPr>
                      <a:r>
                        <a:t>ノード運営者の更新要件</a:t>
                      </a:r>
                    </a:p>
                  </a:txBody>
                  <a:tcPr>
                    <a:solidFill>
                      <a:srgbClr val="F2F6FA"/>
                    </a:solidFill>
                  </a:tcPr>
                </a:tc>
              </a:tr>
              <a:tr h="502920">
                <a:tc>
                  <a:txBody>
                    <a:bodyPr/>
                    <a:lstStyle/>
                    <a:p>
                      <a:pPr>
                        <a:defRPr sz="1200">
                          <a:solidFill>
                            <a:srgbClr val="16202E"/>
                          </a:solidFill>
                          <a:latin typeface="Yu Gothic"/>
                        </a:defRPr>
                      </a:pPr>
                      <a:r>
                        <a:t>未確認</a:t>
                      </a:r>
                    </a:p>
                  </a:txBody>
                  <a:tcPr>
                    <a:solidFill>
                      <a:srgbClr val="FFFFFF"/>
                    </a:solidFill>
                  </a:tcPr>
                </a:tc>
                <a:tc>
                  <a:txBody>
                    <a:bodyPr/>
                    <a:lstStyle/>
                    <a:p>
                      <a:pPr>
                        <a:defRPr sz="1200">
                          <a:solidFill>
                            <a:srgbClr val="16202E"/>
                          </a:solidFill>
                          <a:latin typeface="Yu Gothic"/>
                        </a:defRPr>
                      </a:pPr>
                      <a:r>
                        <a:t>本番環境での実測TPS・実施完了の確認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実際のメインネット稼働後の本番環境でのTPS実測値</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ハードフォークの実施が予定通り完了したかどうか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今回のアップグレードによるガス代・手数料への具体的な影響</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改善提案の数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3つのBEP 今回のアップグレードの構成要素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BEP-682・BEP-695・BEP-675</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CryptoBriefing(2026年8月)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アップグレード前後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アップグレード前</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TPS 1,237件/秒(テストネット)</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重複署名のリスクあり</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アップグレード後</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TPS 2,324件/秒(テストネット)</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重複署名を防止する仕組み導入</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ブロックチェーン業界の背景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取引量増加に対応した処理能力向上が各チェーン共通の課題</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セキュリティ強化は業界全体で重視される優先事項</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定期的なハードフォークによる継続的改善が一般的な手法</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主要出典の一覧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報道時期</a:t>
                      </a:r>
                    </a:p>
                  </a:txBody>
                  <a:tcPr>
                    <a:solidFill>
                      <a:srgbClr val="1B3A5C"/>
                    </a:solidFill>
                  </a:tcPr>
                </a:tc>
              </a:tr>
              <a:tr h="502920">
                <a:tc>
                  <a:txBody>
                    <a:bodyPr/>
                    <a:lstStyle/>
                    <a:p>
                      <a:pPr>
                        <a:defRPr sz="1200">
                          <a:solidFill>
                            <a:srgbClr val="16202E"/>
                          </a:solidFill>
                          <a:latin typeface="Yu Gothic"/>
                        </a:defRPr>
                      </a:pPr>
                      <a:r>
                        <a:t>crypto.news</a:t>
                      </a:r>
                    </a:p>
                  </a:txBody>
                  <a:tcPr>
                    <a:solidFill>
                      <a:srgbClr val="FFFFFF"/>
                    </a:solidFill>
                  </a:tcPr>
                </a:tc>
                <a:tc>
                  <a:txBody>
                    <a:bodyPr/>
                    <a:lstStyle/>
                    <a:p>
                      <a:pPr>
                        <a:defRPr sz="1200">
                          <a:solidFill>
                            <a:srgbClr val="16202E"/>
                          </a:solidFill>
                          <a:latin typeface="Yu Gothic"/>
                        </a:defRPr>
                      </a:pPr>
                      <a:r>
                        <a:t>2026年8月</a:t>
                      </a:r>
                    </a:p>
                  </a:txBody>
                  <a:tcPr>
                    <a:solidFill>
                      <a:srgbClr val="FFFFFF"/>
                    </a:solidFill>
                  </a:tcPr>
                </a:tc>
              </a:tr>
              <a:tr h="502920">
                <a:tc>
                  <a:txBody>
                    <a:bodyPr/>
                    <a:lstStyle/>
                    <a:p>
                      <a:pPr>
                        <a:defRPr sz="1200">
                          <a:solidFill>
                            <a:srgbClr val="16202E"/>
                          </a:solidFill>
                          <a:latin typeface="Yu Gothic"/>
                        </a:defRPr>
                      </a:pPr>
                      <a:r>
                        <a:t>CryptoBriefing</a:t>
                      </a:r>
                    </a:p>
                  </a:txBody>
                  <a:tcPr>
                    <a:solidFill>
                      <a:srgbClr val="F2F6FA"/>
                    </a:solidFill>
                  </a:tcPr>
                </a:tc>
                <a:tc>
                  <a:txBody>
                    <a:bodyPr/>
                    <a:lstStyle/>
                    <a:p>
                      <a:pPr>
                        <a:defRPr sz="1200">
                          <a:solidFill>
                            <a:srgbClr val="16202E"/>
                          </a:solidFill>
                          <a:latin typeface="Yu Gothic"/>
                        </a:defRPr>
                      </a:pPr>
                      <a:r>
                        <a:t>2026年8月</a:t>
                      </a:r>
                    </a:p>
                  </a:txBody>
                  <a:tcPr>
                    <a:solidFill>
                      <a:srgbClr val="F2F6FA"/>
                    </a:solidFill>
                  </a:tcPr>
                </a:tc>
              </a:tr>
              <a:tr h="502920">
                <a:tc>
                  <a:txBody>
                    <a:bodyPr/>
                    <a:lstStyle/>
                    <a:p>
                      <a:pPr>
                        <a:defRPr sz="1200">
                          <a:solidFill>
                            <a:srgbClr val="16202E"/>
                          </a:solidFill>
                          <a:latin typeface="Yu Gothic"/>
                        </a:defRPr>
                      </a:pPr>
                      <a:r>
                        <a:t>TradingView(Coindar配信)</a:t>
                      </a:r>
                    </a:p>
                  </a:txBody>
                  <a:tcPr>
                    <a:solidFill>
                      <a:srgbClr val="FFFFFF"/>
                    </a:solidFill>
                  </a:tcPr>
                </a:tc>
                <a:tc>
                  <a:txBody>
                    <a:bodyPr/>
                    <a:lstStyle/>
                    <a:p>
                      <a:pPr>
                        <a:defRPr sz="1200">
                          <a:solidFill>
                            <a:srgbClr val="16202E"/>
                          </a:solidFill>
                          <a:latin typeface="Yu Gothic"/>
                        </a:defRPr>
                      </a:pPr>
                      <a:r>
                        <a:t>2026年8月</a:t>
                      </a:r>
                    </a:p>
                  </a:txBody>
                  <a:tcPr>
                    <a:solidFill>
                      <a:srgbClr val="FFFFFF"/>
                    </a:solidFill>
                  </a:tcPr>
                </a:tc>
              </a:tr>
              <a:tr h="502920">
                <a:tc>
                  <a:txBody>
                    <a:bodyPr/>
                    <a:lstStyle/>
                    <a:p>
                      <a:pPr>
                        <a:defRPr sz="1200">
                          <a:solidFill>
                            <a:srgbClr val="16202E"/>
                          </a:solidFill>
                          <a:latin typeface="Yu Gothic"/>
                        </a:defRPr>
                      </a:pPr>
                      <a:r>
                        <a:t>COINOTAG</a:t>
                      </a:r>
                    </a:p>
                  </a:txBody>
                  <a:tcPr>
                    <a:solidFill>
                      <a:srgbClr val="F2F6FA"/>
                    </a:solidFill>
                  </a:tcPr>
                </a:tc>
                <a:tc>
                  <a:txBody>
                    <a:bodyPr/>
                    <a:lstStyle/>
                    <a:p>
                      <a:pPr>
                        <a:defRPr sz="1200">
                          <a:solidFill>
                            <a:srgbClr val="16202E"/>
                          </a:solidFill>
                          <a:latin typeface="Yu Gothic"/>
                        </a:defRPr>
                      </a:pPr>
                      <a:r>
                        <a:t>2026年8月</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テストネット vs メインネット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テストネット</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TPS 2,324件/秒を確認済み</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ベンチマーク環境での結果</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メインネット</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本日実施予定</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本番環境での実測値は未確認</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ノード運営者への要求</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事前更新が必須 クライアントv1.7.7へ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バリデータ・取引所・DAppsに事前告知済み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CryptoBriefing(2026年8月)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今回のアップグレードの3つの注目ポイント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処理能力が約1.9倍に向上(テストネット)</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ブリッジ・鍵管理のセキュリティ強化</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2026年中の処理能力倍増計画の一環</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視聴者にとっての意味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ブロックチェーンインフラの技術動向を追う人に参考になる</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処理能力向上とセキュリティ強化の両立という技術的事例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特定の暗号資産の購入・投資を推奨するものではない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タイムライン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B3A5C"/>
                    </a:solidFill>
                  </a:tcPr>
                </a:tc>
                <a:tc>
                  <a:txBody>
                    <a:bodyPr/>
                    <a:lstStyle/>
                    <a:p>
                      <a:pPr>
                        <a:defRPr sz="1300" b="1">
                          <a:solidFill>
                            <a:srgbClr val="FFFFFF"/>
                          </a:solidFill>
                          <a:latin typeface="Yu Gothic"/>
                        </a:defRPr>
                      </a:pPr>
                      <a:r>
                        <a:t>できごと</a:t>
                      </a:r>
                    </a:p>
                  </a:txBody>
                  <a:tcPr>
                    <a:solidFill>
                      <a:srgbClr val="1B3A5C"/>
                    </a:solidFill>
                  </a:tcPr>
                </a:tc>
              </a:tr>
              <a:tr h="502920">
                <a:tc>
                  <a:txBody>
                    <a:bodyPr/>
                    <a:lstStyle/>
                    <a:p>
                      <a:pPr>
                        <a:defRPr sz="1200">
                          <a:solidFill>
                            <a:srgbClr val="16202E"/>
                          </a:solidFill>
                          <a:latin typeface="Yu Gothic"/>
                        </a:defRPr>
                      </a:pPr>
                      <a:r>
                        <a:t>事前</a:t>
                      </a:r>
                    </a:p>
                  </a:txBody>
                  <a:tcPr>
                    <a:solidFill>
                      <a:srgbClr val="FFFFFF"/>
                    </a:solidFill>
                  </a:tcPr>
                </a:tc>
                <a:tc>
                  <a:txBody>
                    <a:bodyPr/>
                    <a:lstStyle/>
                    <a:p>
                      <a:pPr>
                        <a:defRPr sz="1200">
                          <a:solidFill>
                            <a:srgbClr val="16202E"/>
                          </a:solidFill>
                          <a:latin typeface="Yu Gothic"/>
                        </a:defRPr>
                      </a:pPr>
                      <a:r>
                        <a:t>バリデータ・取引所へのアップグレード告知</a:t>
                      </a:r>
                    </a:p>
                  </a:txBody>
                  <a:tcPr>
                    <a:solidFill>
                      <a:srgbClr val="FFFFFF"/>
                    </a:solidFill>
                  </a:tcPr>
                </a:tc>
              </a:tr>
              <a:tr h="502920">
                <a:tc>
                  <a:txBody>
                    <a:bodyPr/>
                    <a:lstStyle/>
                    <a:p>
                      <a:pPr>
                        <a:defRPr sz="1200">
                          <a:solidFill>
                            <a:srgbClr val="16202E"/>
                          </a:solidFill>
                          <a:latin typeface="Yu Gothic"/>
                        </a:defRPr>
                      </a:pPr>
                      <a:r>
                        <a:t>2026年8月25日 UTC 2:30</a:t>
                      </a:r>
                    </a:p>
                  </a:txBody>
                  <a:tcPr>
                    <a:solidFill>
                      <a:srgbClr val="F2F6FA"/>
                    </a:solidFill>
                  </a:tcPr>
                </a:tc>
                <a:tc>
                  <a:txBody>
                    <a:bodyPr/>
                    <a:lstStyle/>
                    <a:p>
                      <a:pPr>
                        <a:defRPr sz="1200">
                          <a:solidFill>
                            <a:srgbClr val="16202E"/>
                          </a:solidFill>
                          <a:latin typeface="Yu Gothic"/>
                        </a:defRPr>
                      </a:pPr>
                      <a:r>
                        <a:t>Pasteurハードフォークをメインネットで実施</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BEP-682 vs BEP-695</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BEP-682</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クロスチェーン検証のブリッジ強化</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重複署名を防止</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BEP-695</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バリデータ鍵ローテーションの厳格化</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失効鍵の権限無効化</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crypto.news等(2026-08)</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約1.9倍のTPS向上 Pasteurハードフォーク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2026年8月25日、メインネットで実施</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crypto.news(2026年8月)</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