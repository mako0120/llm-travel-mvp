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大手信販会社Synchronyが、OpenAIとのエンタープライズ提携を2026年8月17日に発表しました。ChatGPT内でAmazon・Walmartなどのストアカード決済ができるようになるかもしれません。今日はこの提携の中身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SynchronyはOpenAIとのエンタープライズ提携により、ChatGPT内での買い物に自社の与信・リワード・ロイヤルティプログラムを組み込む計画です。小売店サイトへ移動せず、チャット画面内で購入を完結できるようにすること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今日は6つの流れでお伝えします。提携の概要から仕組み、実現時期、社内活用まで、正確に出典を引用しながら整理します。誇張せず、確認できなかったことは正直にお伝えします。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Amazon・Walmart・Lowe'sという有名小売ブランドが対象という具体性、そしてチャット内決済という消費者体験の変化を伴う点があります。複数の媒体が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Synchronyという企業の前提を確認します。Amazon・Walmart・Lowe'sなどのストアカード発行を手がける米大手信販会社で、小売企業に代わりカード発行・与信審査・リワード運営を担っています。本編は提携内容の事実紹介であり、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本題のキーワードを確認します。ストアカードは特定の小売店専用のカード、信販会社はカード発行・与信審査を担う金融会社、エンタープライズ提携は企業同士の業務提携を指します。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対象となる主なストアカードブランドです。SynchronyはAmazon・Walmart・Lowe'sなど複数の大手小売企業のストアカード発行を手がけています。次に、今回の提携の概要を確認します。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携の概要を一覧にしました。2026年8月17日発表、提携相手はOpenAI、想定される消費者体験はChatGPT内でのストアカード決済です。Synchronyは社内業務にもOpenAIのモデルを展開する計画です。次に、コンセプトの核心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目指す消費者体験です。消費者がChatGPTのチャット画面内で、小売店サイトへ遷移することなく購入を完結できるようにすることを目指しています。次に、この仕組みを図で確認します。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組みのイメージを図にしました。ChatGPT上での対話から、Synchronyの与信・リワードを組み込んだ提示を経て、チャット内で購入を完結させる構想です。小売店サイトへの遷移を挟まない体験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ChatGPT内のショッピング体験に組み込む3つの要素です。与信・リワード・ロイヤルティプログラムをまとめて統合する計画とされています。次に、実現時期の見通しを確認します。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汎用カードの統合見通しです。6〜12か月を要する見通しとされています。ただしこれは幅のある見通しであり、確定した提供開始日ではありません。次に、プライベートブランドカード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ライベートブランドカードについて正直にお伝えします。Amazon・Walmart等の店舗専用カードの統合には、汎用カードに加えてさらに小売各社との調整が必要とされていますが、具体的な追加期間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Synchrony社内でのOpenAI活用です。SynchronyはOpenAIのモデルを社内業務にも展開する計画としています。次に、消費者向けの新しいプラグインについて確認します。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消費者向けの新しい機能です。割引・与信オファーを閲覧できるChatGPTプラグインを提供する予定としていますが、具体的な機能範囲・提供開始日はまだ確認できていません。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汎用カードとプライベートブランドカードの違いを整理しました。汎用カードは6〜12か月の見通しがある一方、プライベートブランドカードはさらに小売各社との調整が必要で、確定した提供開始日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見出しの印象と実際に確認できている内容にはギャップが生まれがちです。統合には6〜12か月の見通しがあり、手数料や決済情報保護の仕組みはまだ交渉中・未確認です。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手数料・取引経済性について正直にお伝えします。小売各社・Synchrony・OpenAI間の手数料配分等はまだ交渉中と報じられていますが、具体的な数字は確認できていません。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消費者の決済情報への懸念について正直にお伝えします。AIエージェントに決済情報を渡すことへの懸念が報じられていますが、具体的な対策の詳細はまだ確認できていません。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提供開始時期について正直にお伝えします。確認できているのは『6〜12か月』という見通しのみで、具体的な提供開始日・四半期は確認できていません。将来の確定日時を推測では書きません。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このニュースが読者にとって意味することをまとめました。消費者としての視点、業界を追う立場、決済情報を意識する立場、それぞれで意識したい視点です。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実際に情報を確認・活用する際のチェックポイントです。『6〜12か月』は見通しであり確定日ではありません。手数料や決済情報保護の仕組みも未確認の項目が多い点に留意してください。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する業界動向のキーワードも確認します。エージェント型コマースとは、AIチャットとの対話の中で購買を完結させる体験全般を指す言葉で、本件はその一例にあたります。市場規模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本テーマの鮮度を数字で確認します。発表は着手日の前日にあたる2026年8月17日でした。当社の鮮度基準(着手日を含めて2日以内)を満たしています。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未確定事項をまとめました。提供開始時期・手数料の詳細・決済情報保護の仕組みは、いずれもまだ確認できていません。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本成果物の立場を明確にします。特定企業の提携紹介ではありますが利用を推奨する結論にはせず、政治的な評価も含めず、数字は出典どおり正確に扱っています。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今後注目すべきポイントです。6〜12か月という見通しが実際にどう進むか、そして手数料条件がどう決着するかが今後の焦点になります。次に、今回使った出典を一覧で確認します。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本編で使った主な出典を一覧にしました。CNBC・RTTNews・Quartz・PRNewswire・The Next Webという複数の独立した媒体が提携内容を一致させて報じていることを確認しています。詳細はresearch.mdをご確認ください。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ynchronyがOpenAIと提携し、ChatGPT内でのストアカード決済を目指す件を、仕組み・時期の見通し・未確定事項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まさかのAI決済時代へ。</a:t>
            </a:r>
          </a:p>
          <a:p>
            <a:pPr algn="l">
              <a:lnSpc>
                <a:spcPct val="115000"/>
              </a:lnSpc>
            </a:pPr>
            <a:r>
              <a:rPr sz="4200" b="1">
                <a:solidFill>
                  <a:srgbClr val="FFFFFF"/>
                </a:solidFill>
                <a:latin typeface="Yu Gothic"/>
              </a:rPr>
              <a:t>SynchronyがOpenAIと提携、</a:t>
            </a:r>
          </a:p>
          <a:p>
            <a:pPr algn="l">
              <a:lnSpc>
                <a:spcPct val="115000"/>
              </a:lnSpc>
            </a:pPr>
            <a:r>
              <a:rPr sz="4200" b="1">
                <a:solidFill>
                  <a:srgbClr val="FFFFFF"/>
                </a:solidFill>
                <a:latin typeface="Yu Gothic"/>
              </a:rPr>
              <a:t>ChatGPT内でAmazon・Walmartの</a:t>
            </a:r>
          </a:p>
          <a:p>
            <a:pPr algn="l">
              <a:lnSpc>
                <a:spcPct val="115000"/>
              </a:lnSpc>
            </a:pPr>
            <a:r>
              <a:rPr sz="4200" b="1">
                <a:solidFill>
                  <a:srgbClr val="FFFFFF"/>
                </a:solidFill>
                <a:latin typeface="Yu Gothic"/>
              </a:rPr>
              <a:t>カード決済が可能に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2026年8月17日発表――出典付きで正確に整理する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CNBC・RTTNews・Quartz・PRNewswire・The Next Web(2026年8月17日)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ChatGPT内で購入完結へ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Synchronyの与信・リワード・ロイヤルティプログラムをChatGPTのショッピング体験に組み込む計画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CNBC・PRNewswire(2026-08-17)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Synchronyとは・基礎知識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提携の概要を確認する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チャット内決済の仕組み</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実現時期・社内活用を深掘りする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未確定事項・確認できなかったこと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発表翌日(2026年8月18日着手)という鮮度の高い話題である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Amazon・Walmart・Lowe'sという有名小売ブランドのカードが対象という具体性がある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ChatGPT内での決済完結という消費者体験の変化を伴う内容である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複数の独立した媒体(CNBC・RTTNews・Quartz等)が内容を一致させて報じている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CNBC・RTTNews・Quartz(2026-08-17)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Synchronyとは(初心者向け)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Synchronyは、Amazon・Walmart・Lowe'sなどのストアカード発行を手がける米大手信販会社である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小売企業に代わり、クレジットカードの発行・与信審査・決済処理・リワードプログラム運営を担っている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本編ではSynchronyという特定企業の提携内容を中立的に紹介する(利用を推奨する内容ではない)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用語解説:ストアカード・信販会社・エンタープライズ提携(初心者向け)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『ストアカード』とは、特定の小売店専用に使えるクレジットカードで、その店舗での購入時に特典が受けられることが多い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『信販会社』とは、カードの発行・与信審査・決済処理を小売企業に代わって担う金融会社である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『エンタープライズ提携』とは、企業同士がサービス・技術を組み合わせて新しい価値を提供するための業務提携である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対象となる主なストアカードブランド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Amazon・Walmart・Lowe'sなど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Synchronyがストアカード発行を手がける主な小売ブランド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CNBC・RTTNews・Quartz・PRNewswire・The Next Web(2026-08-17)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提携の概要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2026年8月17日</a:t>
                      </a:r>
                    </a:p>
                  </a:txBody>
                  <a:tcPr>
                    <a:solidFill>
                      <a:srgbClr val="FFFFFF"/>
                    </a:solidFill>
                  </a:tcPr>
                </a:tc>
              </a:tr>
              <a:tr h="502920">
                <a:tc>
                  <a:txBody>
                    <a:bodyPr/>
                    <a:lstStyle/>
                    <a:p>
                      <a:pPr>
                        <a:defRPr sz="1200">
                          <a:solidFill>
                            <a:srgbClr val="1C1B33"/>
                          </a:solidFill>
                          <a:latin typeface="Yu Gothic"/>
                        </a:defRPr>
                      </a:pPr>
                      <a:r>
                        <a:t>提携相手</a:t>
                      </a:r>
                    </a:p>
                  </a:txBody>
                  <a:tcPr>
                    <a:solidFill>
                      <a:srgbClr val="F4F3FC"/>
                    </a:solidFill>
                  </a:tcPr>
                </a:tc>
                <a:tc>
                  <a:txBody>
                    <a:bodyPr/>
                    <a:lstStyle/>
                    <a:p>
                      <a:pPr>
                        <a:defRPr sz="1200">
                          <a:solidFill>
                            <a:srgbClr val="1C1B33"/>
                          </a:solidFill>
                          <a:latin typeface="Yu Gothic"/>
                        </a:defRPr>
                      </a:pPr>
                      <a:r>
                        <a:t>OpenAI</a:t>
                      </a:r>
                    </a:p>
                  </a:txBody>
                  <a:tcPr>
                    <a:solidFill>
                      <a:srgbClr val="F4F3FC"/>
                    </a:solidFill>
                  </a:tcPr>
                </a:tc>
              </a:tr>
              <a:tr h="502920">
                <a:tc>
                  <a:txBody>
                    <a:bodyPr/>
                    <a:lstStyle/>
                    <a:p>
                      <a:pPr>
                        <a:defRPr sz="1200">
                          <a:solidFill>
                            <a:srgbClr val="1C1B33"/>
                          </a:solidFill>
                          <a:latin typeface="Yu Gothic"/>
                        </a:defRPr>
                      </a:pPr>
                      <a:r>
                        <a:t>提携形態</a:t>
                      </a:r>
                    </a:p>
                  </a:txBody>
                  <a:tcPr>
                    <a:solidFill>
                      <a:srgbClr val="FFFFFF"/>
                    </a:solidFill>
                  </a:tcPr>
                </a:tc>
                <a:tc>
                  <a:txBody>
                    <a:bodyPr/>
                    <a:lstStyle/>
                    <a:p>
                      <a:pPr>
                        <a:defRPr sz="1200">
                          <a:solidFill>
                            <a:srgbClr val="1C1B33"/>
                          </a:solidFill>
                          <a:latin typeface="Yu Gothic"/>
                        </a:defRPr>
                      </a:pPr>
                      <a:r>
                        <a:t>エンタープライズ提携</a:t>
                      </a:r>
                    </a:p>
                  </a:txBody>
                  <a:tcPr>
                    <a:solidFill>
                      <a:srgbClr val="FFFFFF"/>
                    </a:solidFill>
                  </a:tcPr>
                </a:tc>
              </a:tr>
              <a:tr h="502920">
                <a:tc>
                  <a:txBody>
                    <a:bodyPr/>
                    <a:lstStyle/>
                    <a:p>
                      <a:pPr>
                        <a:defRPr sz="1200">
                          <a:solidFill>
                            <a:srgbClr val="1C1B33"/>
                          </a:solidFill>
                          <a:latin typeface="Yu Gothic"/>
                        </a:defRPr>
                      </a:pPr>
                      <a:r>
                        <a:t>想定される消費者体験</a:t>
                      </a:r>
                    </a:p>
                  </a:txBody>
                  <a:tcPr>
                    <a:solidFill>
                      <a:srgbClr val="F4F3FC"/>
                    </a:solidFill>
                  </a:tcPr>
                </a:tc>
                <a:tc>
                  <a:txBody>
                    <a:bodyPr/>
                    <a:lstStyle/>
                    <a:p>
                      <a:pPr>
                        <a:defRPr sz="1200">
                          <a:solidFill>
                            <a:srgbClr val="1C1B33"/>
                          </a:solidFill>
                          <a:latin typeface="Yu Gothic"/>
                        </a:defRPr>
                      </a:pPr>
                      <a:r>
                        <a:t>ChatGPT内でストアカード決済が可能に</a:t>
                      </a:r>
                    </a:p>
                  </a:txBody>
                  <a:tcPr>
                    <a:solidFill>
                      <a:srgbClr val="F4F3FC"/>
                    </a:solidFill>
                  </a:tcPr>
                </a:tc>
              </a:tr>
              <a:tr h="502920">
                <a:tc>
                  <a:txBody>
                    <a:bodyPr/>
                    <a:lstStyle/>
                    <a:p>
                      <a:pPr>
                        <a:defRPr sz="1200">
                          <a:solidFill>
                            <a:srgbClr val="1C1B33"/>
                          </a:solidFill>
                          <a:latin typeface="Yu Gothic"/>
                        </a:defRPr>
                      </a:pPr>
                      <a:r>
                        <a:t>Synchrony社内活用</a:t>
                      </a:r>
                    </a:p>
                  </a:txBody>
                  <a:tcPr>
                    <a:solidFill>
                      <a:srgbClr val="FFFFFF"/>
                    </a:solidFill>
                  </a:tcPr>
                </a:tc>
                <a:tc>
                  <a:txBody>
                    <a:bodyPr/>
                    <a:lstStyle/>
                    <a:p>
                      <a:pPr>
                        <a:defRPr sz="1200">
                          <a:solidFill>
                            <a:srgbClr val="1C1B33"/>
                          </a:solidFill>
                          <a:latin typeface="Yu Gothic"/>
                        </a:defRPr>
                      </a:pPr>
                      <a:r>
                        <a:t>OpenAIのモデルを業務にも展開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CNBC・RTTNews・Quartz・PRNewswire(2026-08-17)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目指す消費者体験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小売店サイトへ遷移せず購入完結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消費者がChatGPTのチャット画面内で、小売店サイトへ遷移することなく購入を完結できるようにすることを目指す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CNBC・Quartz(2026-08-17)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仕組みのイメージ</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ChatGPTでの対話</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消費者が商品について会話する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与信・リワード提示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Synchronyの与信枠・ポイント特典を組み込んで提示</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チャット内で購入完結</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小売店サイトへ遷移せず決済まで完了することを目指す</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小売店サイトへの遷移を挟まない購入体験を目指す構想</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CNBC・Quartz・The Next Web(2026-08-17)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組み込まれる3つの要素</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与信</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クレジットライン</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ストアカードの与信機能をChatGPT内の購入体験に組み込む</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リワード</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特典・ポイント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購入時のリワードプログラムをチャット内で反映する計画</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ロイヤルティ</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会員プログラム</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既存のロイヤルティプログラムをAI体験に統合する計画</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汎用カードの統合見通し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6〜12か月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汎用カードの統合には6〜12か月を要する見通しとされている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CNBC・RTTNews・Quartz・PRNewswire・The Next Web(2026-08-17)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プライベートブランドカードはさらに時間が必要(正直な開示)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プライベートブランドカード(Amazon・Walmart等の店舗専用カード)の統合には、汎用カードに加えてさらに小売各社との調整が必要とされている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具体的な追加所要期間の数字は、本調査の範囲では確認できていない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本成果物では、確認できた『6〜12か月』という見通し以外の時期を創作しない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Synchrony社内でのOpenAI活用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社内業務にもOpenAIのモデルを展開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SynchronyはOpenAIのモデルを社内業務にも展開する計画である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CNBC・RTTNews・Quartz(2026-08-17)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割引・与信オファーが見られるChatGPTプラグイン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消費者向けの新しい機能です。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Synchronyは、割引・与信オファーを閲覧できるChatGPTプラグインを提供する予定である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プラグインの具体的な機能範囲・提供開始日は、本調査の範囲では確認できていない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本成果物では、確認できた『提供予定』という事実のみを扱う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汎用カード / プライベートブランドカードの違い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汎用カード</a:t>
                      </a:r>
                    </a:p>
                  </a:txBody>
                  <a:tcPr>
                    <a:solidFill>
                      <a:srgbClr val="FFFFFF"/>
                    </a:solidFill>
                  </a:tcPr>
                </a:tc>
                <a:tc>
                  <a:txBody>
                    <a:bodyPr/>
                    <a:lstStyle/>
                    <a:p>
                      <a:pPr>
                        <a:defRPr sz="1200">
                          <a:solidFill>
                            <a:srgbClr val="1C1B33"/>
                          </a:solidFill>
                          <a:latin typeface="Yu Gothic"/>
                        </a:defRPr>
                      </a:pPr>
                      <a:r>
                        <a:t>統合に6〜12か月を要する見通し</a:t>
                      </a:r>
                    </a:p>
                  </a:txBody>
                  <a:tcPr>
                    <a:solidFill>
                      <a:srgbClr val="FFFFFF"/>
                    </a:solidFill>
                  </a:tcPr>
                </a:tc>
              </a:tr>
              <a:tr h="502920">
                <a:tc>
                  <a:txBody>
                    <a:bodyPr/>
                    <a:lstStyle/>
                    <a:p>
                      <a:pPr>
                        <a:defRPr sz="1200">
                          <a:solidFill>
                            <a:srgbClr val="1C1B33"/>
                          </a:solidFill>
                          <a:latin typeface="Yu Gothic"/>
                        </a:defRPr>
                      </a:pPr>
                      <a:r>
                        <a:t>プライベートブランドカード</a:t>
                      </a:r>
                    </a:p>
                  </a:txBody>
                  <a:tcPr>
                    <a:solidFill>
                      <a:srgbClr val="F4F3FC"/>
                    </a:solidFill>
                  </a:tcPr>
                </a:tc>
                <a:tc>
                  <a:txBody>
                    <a:bodyPr/>
                    <a:lstStyle/>
                    <a:p>
                      <a:pPr>
                        <a:defRPr sz="1200">
                          <a:solidFill>
                            <a:srgbClr val="1C1B33"/>
                          </a:solidFill>
                          <a:latin typeface="Yu Gothic"/>
                        </a:defRPr>
                      </a:pPr>
                      <a:r>
                        <a:t>汎用カードに加え小売各社との追加調整が必要</a:t>
                      </a:r>
                    </a:p>
                  </a:txBody>
                  <a:tcPr>
                    <a:solidFill>
                      <a:srgbClr val="F4F3FC"/>
                    </a:solidFill>
                  </a:tcPr>
                </a:tc>
              </a:tr>
              <a:tr h="502920">
                <a:tc>
                  <a:txBody>
                    <a:bodyPr/>
                    <a:lstStyle/>
                    <a:p>
                      <a:pPr>
                        <a:defRPr sz="1200">
                          <a:solidFill>
                            <a:srgbClr val="1C1B33"/>
                          </a:solidFill>
                          <a:latin typeface="Yu Gothic"/>
                        </a:defRPr>
                      </a:pPr>
                      <a:r>
                        <a:t>対象ブランド例</a:t>
                      </a:r>
                    </a:p>
                  </a:txBody>
                  <a:tcPr>
                    <a:solidFill>
                      <a:srgbClr val="FFFFFF"/>
                    </a:solidFill>
                  </a:tcPr>
                </a:tc>
                <a:tc>
                  <a:txBody>
                    <a:bodyPr/>
                    <a:lstStyle/>
                    <a:p>
                      <a:pPr>
                        <a:defRPr sz="1200">
                          <a:solidFill>
                            <a:srgbClr val="1C1B33"/>
                          </a:solidFill>
                          <a:latin typeface="Yu Gothic"/>
                        </a:defRPr>
                      </a:pPr>
                      <a:r>
                        <a:t>Amazon・Walmart・Lowe'sなど</a:t>
                      </a:r>
                    </a:p>
                  </a:txBody>
                  <a:tcPr>
                    <a:solidFill>
                      <a:srgbClr val="FFFFFF"/>
                    </a:solidFill>
                  </a:tcPr>
                </a:tc>
              </a:tr>
              <a:tr h="502920">
                <a:tc>
                  <a:txBody>
                    <a:bodyPr/>
                    <a:lstStyle/>
                    <a:p>
                      <a:pPr>
                        <a:defRPr sz="1200">
                          <a:solidFill>
                            <a:srgbClr val="1C1B33"/>
                          </a:solidFill>
                          <a:latin typeface="Yu Gothic"/>
                        </a:defRPr>
                      </a:pPr>
                      <a:r>
                        <a:t>確定した提供開始日</a:t>
                      </a:r>
                    </a:p>
                  </a:txBody>
                  <a:tcPr>
                    <a:solidFill>
                      <a:srgbClr val="F4F3FC"/>
                    </a:solidFill>
                  </a:tcPr>
                </a:tc>
                <a:tc>
                  <a:txBody>
                    <a:bodyPr/>
                    <a:lstStyle/>
                    <a:p>
                      <a:pPr>
                        <a:defRPr sz="1200">
                          <a:solidFill>
                            <a:srgbClr val="1C1B33"/>
                          </a:solidFill>
                          <a:latin typeface="Yu Gothic"/>
                        </a:defRPr>
                      </a:pPr>
                      <a:r>
                        <a:t>本調査の範囲では確認できていない</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CNBC・RTTNews・Quartz・PRNewswire・The Next Web(2026-08-17)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すぐにでもChatGPTでカード決済が使えるようになるはず</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手数料や取引条件もすでに固まっているはず</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決済情報の安全性もすでに確立されているはず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汎用カードの統合だけでも6〜12か月の見通し</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手数料・取引経済性は交渉中と報じられている</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決済情報保護の具体的な仕組みは本調査の範囲では確認できていない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手数料・取引経済性は交渉中(正直な開示)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小売各社・Synchrony・OpenAI間の取引経済性(手数料配分等)は、まだ交渉中であると報じられている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具体的な手数料率・配分比率の数字は、本調査の範囲では確認できていない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本成果物では、確認できた『交渉中』という事実のみを扱い、数字を創作しない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消費者の決済情報への懸念(正直な開示)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消費者がAIエージェントに決済情報を渡すことへの懸念が報じられている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懸念に対する具体的な対策・セキュリティ設計の詳細は、本調査の範囲では確認できていない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本成果物では、確認できた『懸念が報じられている』という事実のみを扱う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具体的な提供開始時期は不明(正直な開示)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確認できている数字は『汎用カードの統合に6〜12か月』という見通しのみである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具体的な提供開始日・四半期は、本調査の範囲では確認できていない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本成果物では将来の確定日時について推測・断定を行わない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消費者としての視点</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ChatGPT内での決済がすぐ使えるわけではなく、実現時期は見通し段階であることを踏まえて情報を追う</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小売・金融業界を追う立場として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チャット内決済という新しい購買導線の広がりを、他社動向とあわせて継続的に確認する視点が役立つ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決済情報を意識する立場として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AIエージェントに決済情報を渡す際のセキュリティ・データ扱いの詳細は今後の続報を確認する必要がある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『6〜12か月』はあくまで見通しであり、確定した提供開始日ではない点に注意する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手数料・取引経済性、決済情報保護の仕組みはまだ交渉中・未確認の項目が多い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実際に利用を検討する場合は、本成果物の紹介にとどまらず自身で最新の公式情報を確認することが望ましい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『エージェント型コマース』とは(初心者向け)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関連する業界動向のキーワードも確認します。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『エージェント型コマース』とは、AIチャットとの対話の中で商品選定から決済までを完結させる購買体験全般を指す言葉である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本件はその一例として、信販会社が自社の与信・リワード機能をAIチャット上に組み込む動きにあたる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この分野全体の市場規模・普及状況について、本調査の範囲では確認できていない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提携の発表・概要</a:t>
                      </a:r>
                    </a:p>
                  </a:txBody>
                  <a:tcPr>
                    <a:solidFill>
                      <a:srgbClr val="FFFFFF"/>
                    </a:solidFill>
                  </a:tcPr>
                </a:tc>
                <a:tc>
                  <a:txBody>
                    <a:bodyPr/>
                    <a:lstStyle/>
                    <a:p>
                      <a:pPr>
                        <a:defRPr sz="1200">
                          <a:solidFill>
                            <a:srgbClr val="1C1B33"/>
                          </a:solidFill>
                          <a:latin typeface="Yu Gothic"/>
                        </a:defRPr>
                      </a:pPr>
                      <a:r>
                        <a:t>2026年8月17日発表として複数媒体で確認済み</a:t>
                      </a:r>
                    </a:p>
                  </a:txBody>
                  <a:tcPr>
                    <a:solidFill>
                      <a:srgbClr val="FFFFFF"/>
                    </a:solidFill>
                  </a:tcPr>
                </a:tc>
              </a:tr>
              <a:tr h="502920">
                <a:tc>
                  <a:txBody>
                    <a:bodyPr/>
                    <a:lstStyle/>
                    <a:p>
                      <a:pPr>
                        <a:defRPr sz="1200">
                          <a:solidFill>
                            <a:srgbClr val="1C1B33"/>
                          </a:solidFill>
                          <a:latin typeface="Yu Gothic"/>
                        </a:defRPr>
                      </a:pPr>
                      <a:r>
                        <a:t>汎用カード統合の見通し</a:t>
                      </a:r>
                    </a:p>
                  </a:txBody>
                  <a:tcPr>
                    <a:solidFill>
                      <a:srgbClr val="F4F3FC"/>
                    </a:solidFill>
                  </a:tcPr>
                </a:tc>
                <a:tc>
                  <a:txBody>
                    <a:bodyPr/>
                    <a:lstStyle/>
                    <a:p>
                      <a:pPr>
                        <a:defRPr sz="1200">
                          <a:solidFill>
                            <a:srgbClr val="1C1B33"/>
                          </a:solidFill>
                          <a:latin typeface="Yu Gothic"/>
                        </a:defRPr>
                      </a:pPr>
                      <a:r>
                        <a:t>6〜12か月として確認済み</a:t>
                      </a:r>
                    </a:p>
                  </a:txBody>
                  <a:tcPr>
                    <a:solidFill>
                      <a:srgbClr val="F4F3FC"/>
                    </a:solidFill>
                  </a:tcPr>
                </a:tc>
              </a:tr>
              <a:tr h="502920">
                <a:tc>
                  <a:txBody>
                    <a:bodyPr/>
                    <a:lstStyle/>
                    <a:p>
                      <a:pPr>
                        <a:defRPr sz="1200">
                          <a:solidFill>
                            <a:srgbClr val="1C1B33"/>
                          </a:solidFill>
                          <a:latin typeface="Yu Gothic"/>
                        </a:defRPr>
                      </a:pPr>
                      <a:r>
                        <a:t>プライベートブランドカードの追加調整</a:t>
                      </a:r>
                    </a:p>
                  </a:txBody>
                  <a:tcPr>
                    <a:solidFill>
                      <a:srgbClr val="FFFFFF"/>
                    </a:solidFill>
                  </a:tcPr>
                </a:tc>
                <a:tc>
                  <a:txBody>
                    <a:bodyPr/>
                    <a:lstStyle/>
                    <a:p>
                      <a:pPr>
                        <a:defRPr sz="1200">
                          <a:solidFill>
                            <a:srgbClr val="1C1B33"/>
                          </a:solidFill>
                          <a:latin typeface="Yu Gothic"/>
                        </a:defRPr>
                      </a:pPr>
                      <a:r>
                        <a:t>必要とされていることのみ確認済み</a:t>
                      </a:r>
                    </a:p>
                  </a:txBody>
                  <a:tcPr>
                    <a:solidFill>
                      <a:srgbClr val="FFFFFF"/>
                    </a:solidFill>
                  </a:tcPr>
                </a:tc>
              </a:tr>
              <a:tr h="502920">
                <a:tc>
                  <a:txBody>
                    <a:bodyPr/>
                    <a:lstStyle/>
                    <a:p>
                      <a:pPr>
                        <a:defRPr sz="1200">
                          <a:solidFill>
                            <a:srgbClr val="1C1B33"/>
                          </a:solidFill>
                          <a:latin typeface="Yu Gothic"/>
                        </a:defRPr>
                      </a:pPr>
                      <a:r>
                        <a:t>手数料・取引経済性の詳細</a:t>
                      </a:r>
                    </a:p>
                  </a:txBody>
                  <a:tcPr>
                    <a:solidFill>
                      <a:srgbClr val="F4F3FC"/>
                    </a:solidFill>
                  </a:tcPr>
                </a:tc>
                <a:tc>
                  <a:txBody>
                    <a:bodyPr/>
                    <a:lstStyle/>
                    <a:p>
                      <a:pPr>
                        <a:defRPr sz="1200">
                          <a:solidFill>
                            <a:srgbClr val="1C1B33"/>
                          </a:solidFill>
                          <a:latin typeface="Yu Gothic"/>
                        </a:defRPr>
                      </a:pPr>
                      <a:r>
                        <a:t>交渉中と報じられているのみで詳細は不明</a:t>
                      </a:r>
                    </a:p>
                  </a:txBody>
                  <a:tcPr>
                    <a:solidFill>
                      <a:srgbClr val="F4F3FC"/>
                    </a:solidFill>
                  </a:tcPr>
                </a:tc>
              </a:tr>
              <a:tr h="502920">
                <a:tc>
                  <a:txBody>
                    <a:bodyPr/>
                    <a:lstStyle/>
                    <a:p>
                      <a:pPr>
                        <a:defRPr sz="1200">
                          <a:solidFill>
                            <a:srgbClr val="1C1B33"/>
                          </a:solidFill>
                          <a:latin typeface="Yu Gothic"/>
                        </a:defRPr>
                      </a:pPr>
                      <a:r>
                        <a:t>決済情報保護の具体的な仕組み</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発表(2026年8月17日)は着手日(2026年8月18日)の前日。着手日を含めて2日以内という基準を満たす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docs/06_Content_R&amp;D.md基準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未確定事項まとめ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時期</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具体的な提供開始日</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『6〜12か月』という見通し以外の確定日付は未確認</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経済性</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手数料・取引条件</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小売各社・Synchrony・OpenAI間の配分は交渉中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安全性</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決済情報保護の仕組み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具体的なセキュリティ設計の詳細は未確認</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中立性についての明記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本成果物の立場を明確にします。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本編はSynchrony・OpenAIという特定企業の提携を紹介する内容だが、利用を推奨する結論にはしない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政治的な話題ではないが、念のため政治的な評価・主張を一切含めない構成にしている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数字・事実は出典どおりに扱い、丸め・誇張・創作を行っていない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今後注目すべきポイント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実際の統合完了時期と手数料条件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6〜12か月という見通しが実際にどう進むか、手数料条件がどう決着するかが今後の焦点になる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CNBC・RTTNews・Quartz(2026-08-17)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CNBC</a:t>
                      </a:r>
                    </a:p>
                  </a:txBody>
                  <a:tcPr>
                    <a:solidFill>
                      <a:srgbClr val="FFFFFF"/>
                    </a:solidFill>
                  </a:tcPr>
                </a:tc>
                <a:tc>
                  <a:txBody>
                    <a:bodyPr/>
                    <a:lstStyle/>
                    <a:p>
                      <a:pPr>
                        <a:defRPr sz="1200">
                          <a:solidFill>
                            <a:srgbClr val="1C1B33"/>
                          </a:solidFill>
                          <a:latin typeface="Yu Gothic"/>
                        </a:defRPr>
                      </a:pPr>
                      <a:r>
                        <a:t>提携発表の報道</a:t>
                      </a:r>
                    </a:p>
                  </a:txBody>
                  <a:tcPr>
                    <a:solidFill>
                      <a:srgbClr val="FFFFFF"/>
                    </a:solidFill>
                  </a:tcPr>
                </a:tc>
              </a:tr>
              <a:tr h="502920">
                <a:tc>
                  <a:txBody>
                    <a:bodyPr/>
                    <a:lstStyle/>
                    <a:p>
                      <a:pPr>
                        <a:defRPr sz="1200">
                          <a:solidFill>
                            <a:srgbClr val="1C1B33"/>
                          </a:solidFill>
                          <a:latin typeface="Yu Gothic"/>
                        </a:defRPr>
                      </a:pPr>
                      <a:r>
                        <a:t>RTTNews</a:t>
                      </a:r>
                    </a:p>
                  </a:txBody>
                  <a:tcPr>
                    <a:solidFill>
                      <a:srgbClr val="F4F3FC"/>
                    </a:solidFill>
                  </a:tcPr>
                </a:tc>
                <a:tc>
                  <a:txBody>
                    <a:bodyPr/>
                    <a:lstStyle/>
                    <a:p>
                      <a:pPr>
                        <a:defRPr sz="1200">
                          <a:solidFill>
                            <a:srgbClr val="1C1B33"/>
                          </a:solidFill>
                          <a:latin typeface="Yu Gothic"/>
                        </a:defRPr>
                      </a:pPr>
                      <a:r>
                        <a:t>提携発表の報道</a:t>
                      </a:r>
                    </a:p>
                  </a:txBody>
                  <a:tcPr>
                    <a:solidFill>
                      <a:srgbClr val="F4F3FC"/>
                    </a:solidFill>
                  </a:tcPr>
                </a:tc>
              </a:tr>
              <a:tr h="502920">
                <a:tc>
                  <a:txBody>
                    <a:bodyPr/>
                    <a:lstStyle/>
                    <a:p>
                      <a:pPr>
                        <a:defRPr sz="1200">
                          <a:solidFill>
                            <a:srgbClr val="1C1B33"/>
                          </a:solidFill>
                          <a:latin typeface="Yu Gothic"/>
                        </a:defRPr>
                      </a:pPr>
                      <a:r>
                        <a:t>Quartz</a:t>
                      </a:r>
                    </a:p>
                  </a:txBody>
                  <a:tcPr>
                    <a:solidFill>
                      <a:srgbClr val="FFFFFF"/>
                    </a:solidFill>
                  </a:tcPr>
                </a:tc>
                <a:tc>
                  <a:txBody>
                    <a:bodyPr/>
                    <a:lstStyle/>
                    <a:p>
                      <a:pPr>
                        <a:defRPr sz="1200">
                          <a:solidFill>
                            <a:srgbClr val="1C1B33"/>
                          </a:solidFill>
                          <a:latin typeface="Yu Gothic"/>
                        </a:defRPr>
                      </a:pPr>
                      <a:r>
                        <a:t>提携発表の報道</a:t>
                      </a:r>
                    </a:p>
                  </a:txBody>
                  <a:tcPr>
                    <a:solidFill>
                      <a:srgbClr val="FFFFFF"/>
                    </a:solidFill>
                  </a:tcPr>
                </a:tc>
              </a:tr>
              <a:tr h="502920">
                <a:tc>
                  <a:txBody>
                    <a:bodyPr/>
                    <a:lstStyle/>
                    <a:p>
                      <a:pPr>
                        <a:defRPr sz="1200">
                          <a:solidFill>
                            <a:srgbClr val="1C1B33"/>
                          </a:solidFill>
                          <a:latin typeface="Yu Gothic"/>
                        </a:defRPr>
                      </a:pPr>
                      <a:r>
                        <a:t>PRNewswire</a:t>
                      </a:r>
                    </a:p>
                  </a:txBody>
                  <a:tcPr>
                    <a:solidFill>
                      <a:srgbClr val="F4F3FC"/>
                    </a:solidFill>
                  </a:tcPr>
                </a:tc>
                <a:tc>
                  <a:txBody>
                    <a:bodyPr/>
                    <a:lstStyle/>
                    <a:p>
                      <a:pPr>
                        <a:defRPr sz="1200">
                          <a:solidFill>
                            <a:srgbClr val="1C1B33"/>
                          </a:solidFill>
                          <a:latin typeface="Yu Gothic"/>
                        </a:defRPr>
                      </a:pPr>
                      <a:r>
                        <a:t>Synchrony公式発表</a:t>
                      </a:r>
                    </a:p>
                  </a:txBody>
                  <a:tcPr>
                    <a:solidFill>
                      <a:srgbClr val="F4F3FC"/>
                    </a:solidFill>
                  </a:tcPr>
                </a:tc>
              </a:tr>
              <a:tr h="502920">
                <a:tc>
                  <a:txBody>
                    <a:bodyPr/>
                    <a:lstStyle/>
                    <a:p>
                      <a:pPr>
                        <a:defRPr sz="1200">
                          <a:solidFill>
                            <a:srgbClr val="1C1B33"/>
                          </a:solidFill>
                          <a:latin typeface="Yu Gothic"/>
                        </a:defRPr>
                      </a:pPr>
                      <a:r>
                        <a:t>The Next Web</a:t>
                      </a:r>
                    </a:p>
                  </a:txBody>
                  <a:tcPr>
                    <a:solidFill>
                      <a:srgbClr val="FFFFFF"/>
                    </a:solidFill>
                  </a:tcPr>
                </a:tc>
                <a:tc>
                  <a:txBody>
                    <a:bodyPr/>
                    <a:lstStyle/>
                    <a:p>
                      <a:pPr>
                        <a:defRPr sz="1200">
                          <a:solidFill>
                            <a:srgbClr val="1C1B33"/>
                          </a:solidFill>
                          <a:latin typeface="Yu Gothic"/>
                        </a:defRPr>
                      </a:pPr>
                      <a:r>
                        <a:t>提携発表の報道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CNBC・RTTNews・Quartz・PRNewswire・The Next Web(2026-08-17)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ChatGPT内でカード決済へ。事実だけを、出典付きで。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SynchronyがOpenAIと提携し、ChatGPT内でAmazon・Walmartのストアカード決済を目指す件を、仕組み・時期の見通し・未確定事項まで出典付きで整理してお届けしました。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