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全米オープンで、伊藤あおい選手が悲願の本戦初出場を決めました。何が起きたのか、出典付きで正確に整理してお届けします。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結論から確認します。伊藤あおい選手が、スペシャルランキング87位を活用して全米オープン本戦への初出場を決めました。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本日の流れです。本戦出場決定の内容からスペシャルランキングの仕組み、前年からの歩み、そして確認できなかったことまで整理します。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全米オープン本戦が開幕したばかりのタイミングで、22歳選手の悲願達成という話題です。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伊藤選手は、スペシャルランキング87位を利用して本戦出場を決めました。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伊藤選手は、スペシャルランキング87位を利用してエントリーし、本戦初出場を決めました。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本戦出場決定の概要です。発表は日本時間8月22日に行われました。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スペシャルランキングは、妊娠・出産やけが等でツアーを離れた選手のための救済措置制度です。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伊藤選手は22歳で、今回が全米オープン本戦への初出場となります。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前年の予選敗退から一年、スペシャルランキングの活用を経て本戦初出場を実現しました。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前年の2025年大会では予選3回戦で敗退していましたが、2026年は本戦初出場を決めました。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前年の悔しい結果から一年を経て、今回の本戦初出場という結果につながりました。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本戦出場選手リストは、日本時間2026年8月22日に発表されました。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2025年の悔しさから2026年の本戦初出場発表、そして大会開幕までの流れです。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全米オープンは四大大会の一つで、本戦出場自体が選手にとって大きな目標です。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全米オープン2026年大会は、8月24日に開幕しました。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前年の予選敗退から一転、今年はスペシャルランキングを活用して本戦初出場を実現しました。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スペシャルランキング制度は、選手がキャリアを継続する上で重要な役割を果たしています。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複数のメディアが本戦出場決定を報じており、内容としての一貫性を確認しています。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スペシャルランキングは、離脱前の実績を保持できる特別な制度です。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今回の本戦出場は、伊藤選手にとってキャリア初の四大大会本戦出場という大きな節目です。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今回の出場決定の注目ポイントを3つにまとめました。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本テーマは、日本人テニス選手の最新動向として整理しています。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前年の結果から今回の本戦初出場決定までのタイムラインです。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今後、伊藤選手の本戦での戦いぶりが注目されます。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伊藤あおい選手は、スペシャルランキング87位を活用して全米オープン本戦初出場を決めました。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四大大会の本戦出場は、賞金機会・ランキングポイント・経験の面で選手にとって大きな意義を持ちます。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本日は伊藤あおい選手の全米オープン本戦初出場についてお届けしました。確認できなかったことは正直に開示しています。次回もお楽しみに。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伊藤あおい</a:t>
            </a:r>
          </a:p>
          <a:p>
            <a:pPr algn="l">
              <a:lnSpc>
                <a:spcPct val="115000"/>
              </a:lnSpc>
            </a:pPr>
            <a:r>
              <a:rPr sz="4200" b="1">
                <a:solidFill>
                  <a:srgbClr val="FFFFFF"/>
                </a:solidFill>
                <a:latin typeface="Yu Gothic"/>
              </a:rPr>
              <a:t>悲願の本戦初出場</a:t>
            </a:r>
          </a:p>
          <a:p>
            <a:pPr algn="l">
              <a:lnSpc>
                <a:spcPct val="115000"/>
              </a:lnSpc>
            </a:pPr>
            <a:r>
              <a:rPr sz="4200" b="1">
                <a:solidFill>
                  <a:srgbClr val="FFFFFF"/>
                </a:solidFill>
                <a:latin typeface="Yu Gothic"/>
              </a:rPr>
              <a:t>全米オープン2026</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22歳が掴んだ大舞台——出典付きで整理する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テニスクラシック(2026年8月)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全米オープン本戦初出場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伊藤あおい選手、スペシャルランキング87位を活用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本戦出場決定の内容を確認する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スペシャルランキングとは何か</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前年からの歩みを確認する</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全米オープン本戦が2026年8月24日に開幕したばかり</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スペシャルランキング活用という制度面でも注目の話題</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22歳選手の悲願達成という物語性</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利用したランキング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スペシャルランキング87位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本戦出場選手リストは日本時間8月22日発表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本戦出場決定の内容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伊藤あおい選手(22歳)がスペシャルランキング87位でエントリー</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全米オープン本戦初出場が決定</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本戦出場選手リストは日本時間8月22日に発表</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本戦出場決定の概要</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選手</a:t>
                      </a:r>
                    </a:p>
                  </a:txBody>
                  <a:tcPr>
                    <a:solidFill>
                      <a:srgbClr val="FFFFFF"/>
                    </a:solidFill>
                  </a:tcPr>
                </a:tc>
                <a:tc>
                  <a:txBody>
                    <a:bodyPr/>
                    <a:lstStyle/>
                    <a:p>
                      <a:pPr>
                        <a:defRPr sz="1200">
                          <a:solidFill>
                            <a:srgbClr val="2A1712"/>
                          </a:solidFill>
                          <a:latin typeface="Yu Gothic"/>
                        </a:defRPr>
                      </a:pPr>
                      <a:r>
                        <a:t>伊藤あおい(22歳)</a:t>
                      </a:r>
                    </a:p>
                  </a:txBody>
                  <a:tcPr>
                    <a:solidFill>
                      <a:srgbClr val="FFFFFF"/>
                    </a:solidFill>
                  </a:tcPr>
                </a:tc>
              </a:tr>
              <a:tr h="502920">
                <a:tc>
                  <a:txBody>
                    <a:bodyPr/>
                    <a:lstStyle/>
                    <a:p>
                      <a:pPr>
                        <a:defRPr sz="1200">
                          <a:solidFill>
                            <a:srgbClr val="2A1712"/>
                          </a:solidFill>
                          <a:latin typeface="Yu Gothic"/>
                        </a:defRPr>
                      </a:pPr>
                      <a:r>
                        <a:t>利用したランキング</a:t>
                      </a:r>
                    </a:p>
                  </a:txBody>
                  <a:tcPr>
                    <a:solidFill>
                      <a:srgbClr val="FBF3E6"/>
                    </a:solidFill>
                  </a:tcPr>
                </a:tc>
                <a:tc>
                  <a:txBody>
                    <a:bodyPr/>
                    <a:lstStyle/>
                    <a:p>
                      <a:pPr>
                        <a:defRPr sz="1200">
                          <a:solidFill>
                            <a:srgbClr val="2A1712"/>
                          </a:solidFill>
                          <a:latin typeface="Yu Gothic"/>
                        </a:defRPr>
                      </a:pPr>
                      <a:r>
                        <a:t>スペシャルランキング87位</a:t>
                      </a:r>
                    </a:p>
                  </a:txBody>
                  <a:tcPr>
                    <a:solidFill>
                      <a:srgbClr val="FBF3E6"/>
                    </a:solidFill>
                  </a:tcPr>
                </a:tc>
              </a:tr>
              <a:tr h="502920">
                <a:tc>
                  <a:txBody>
                    <a:bodyPr/>
                    <a:lstStyle/>
                    <a:p>
                      <a:pPr>
                        <a:defRPr sz="1200">
                          <a:solidFill>
                            <a:srgbClr val="2A1712"/>
                          </a:solidFill>
                          <a:latin typeface="Yu Gothic"/>
                        </a:defRPr>
                      </a:pPr>
                      <a:r>
                        <a:t>発表日</a:t>
                      </a:r>
                    </a:p>
                  </a:txBody>
                  <a:tcPr>
                    <a:solidFill>
                      <a:srgbClr val="FFFFFF"/>
                    </a:solidFill>
                  </a:tcPr>
                </a:tc>
                <a:tc>
                  <a:txBody>
                    <a:bodyPr/>
                    <a:lstStyle/>
                    <a:p>
                      <a:pPr>
                        <a:defRPr sz="1200">
                          <a:solidFill>
                            <a:srgbClr val="2A1712"/>
                          </a:solidFill>
                          <a:latin typeface="Yu Gothic"/>
                        </a:defRPr>
                      </a:pPr>
                      <a:r>
                        <a:t>2026年8月22日(日本時間)</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スペシャルランキングとは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妊娠・出産やけが等でツアーを一定期間離れた選手への救済措置</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離脱前の実績に基づきランキングを保持できる制度</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本戦・予選へのエントリーに活用できる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伊藤選手の年齢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22歳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全米オープン本戦初出場</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本戦出場までの流れ(概念図)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2025年大会は予選3回戦で敗退</a:t>
            </a:r>
          </a:p>
        </p:txBody>
      </p:sp>
      <p:sp>
        <p:nvSpPr>
          <p:cNvPr id="9" name="Right Arrow 8"/>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スペシャルランキングを活用</a:t>
            </a:r>
          </a:p>
        </p:txBody>
      </p:sp>
      <p:sp>
        <p:nvSpPr>
          <p:cNvPr id="13" name="Right Arrow 12"/>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2026年大会で本戦初出場</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前年の悔しさを乗り越えての大舞台</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前年(2025年)との比較</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年</a:t>
                      </a:r>
                    </a:p>
                  </a:txBody>
                  <a:tcPr>
                    <a:solidFill>
                      <a:srgbClr val="7A1F2B"/>
                    </a:solidFill>
                  </a:tcPr>
                </a:tc>
                <a:tc>
                  <a:txBody>
                    <a:bodyPr/>
                    <a:lstStyle/>
                    <a:p>
                      <a:pPr>
                        <a:defRPr sz="1300" b="1">
                          <a:solidFill>
                            <a:srgbClr val="FFFFFF"/>
                          </a:solidFill>
                          <a:latin typeface="Yu Gothic"/>
                        </a:defRPr>
                      </a:pPr>
                      <a:r>
                        <a:t>結果</a:t>
                      </a:r>
                    </a:p>
                  </a:txBody>
                  <a:tcPr>
                    <a:solidFill>
                      <a:srgbClr val="7A1F2B"/>
                    </a:solidFill>
                  </a:tcPr>
                </a:tc>
              </a:tr>
              <a:tr h="502920">
                <a:tc>
                  <a:txBody>
                    <a:bodyPr/>
                    <a:lstStyle/>
                    <a:p>
                      <a:pPr>
                        <a:defRPr sz="1200">
                          <a:solidFill>
                            <a:srgbClr val="2A1712"/>
                          </a:solidFill>
                          <a:latin typeface="Yu Gothic"/>
                        </a:defRPr>
                      </a:pPr>
                      <a:r>
                        <a:t>2025年</a:t>
                      </a:r>
                    </a:p>
                  </a:txBody>
                  <a:tcPr>
                    <a:solidFill>
                      <a:srgbClr val="FFFFFF"/>
                    </a:solidFill>
                  </a:tcPr>
                </a:tc>
                <a:tc>
                  <a:txBody>
                    <a:bodyPr/>
                    <a:lstStyle/>
                    <a:p>
                      <a:pPr>
                        <a:defRPr sz="1200">
                          <a:solidFill>
                            <a:srgbClr val="2A1712"/>
                          </a:solidFill>
                          <a:latin typeface="Yu Gothic"/>
                        </a:defRPr>
                      </a:pPr>
                      <a:r>
                        <a:t>予選3回戦で敗退、本戦出場ならず</a:t>
                      </a:r>
                    </a:p>
                  </a:txBody>
                  <a:tcPr>
                    <a:solidFill>
                      <a:srgbClr val="FFFFFF"/>
                    </a:solidFill>
                  </a:tcPr>
                </a:tc>
              </a:tr>
              <a:tr h="502920">
                <a:tc>
                  <a:txBody>
                    <a:bodyPr/>
                    <a:lstStyle/>
                    <a:p>
                      <a:pPr>
                        <a:defRPr sz="1200">
                          <a:solidFill>
                            <a:srgbClr val="2A1712"/>
                          </a:solidFill>
                          <a:latin typeface="Yu Gothic"/>
                        </a:defRPr>
                      </a:pPr>
                      <a:r>
                        <a:t>2026年</a:t>
                      </a:r>
                    </a:p>
                  </a:txBody>
                  <a:tcPr>
                    <a:solidFill>
                      <a:srgbClr val="FBF3E6"/>
                    </a:solidFill>
                  </a:tcPr>
                </a:tc>
                <a:tc>
                  <a:txBody>
                    <a:bodyPr/>
                    <a:lstStyle/>
                    <a:p>
                      <a:pPr>
                        <a:defRPr sz="1200">
                          <a:solidFill>
                            <a:srgbClr val="2A1712"/>
                          </a:solidFill>
                          <a:latin typeface="Yu Gothic"/>
                        </a:defRPr>
                      </a:pPr>
                      <a:r>
                        <a:t>スペシャルランキングで本戦初出場</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前年からの歩み</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2025年大会は予選3回戦で敗退し本戦出場を逃す</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その後の一年間で状況が好転</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2026年、スペシャルランキングの活用で本戦切符を掴む</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テニスクラシック(2026年8月)</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2026年8月22日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本戦出場選手リストの発表(日本時間)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全米オープンまでの流れ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2025年大会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予選3回戦で敗退</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2026年8月22日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本戦出場選手リスト発表</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2026年8月24日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全米オープン本戦開幕</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全米オープンについて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2026年大会は8月24日に開幕</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四大大会(グランドスラム)の一つ</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本戦出場は選手にとって大きな目標の一つ</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確定</a:t>
                      </a:r>
                    </a:p>
                  </a:txBody>
                  <a:tcPr>
                    <a:solidFill>
                      <a:srgbClr val="FFFFFF"/>
                    </a:solidFill>
                  </a:tcPr>
                </a:tc>
                <a:tc>
                  <a:txBody>
                    <a:bodyPr/>
                    <a:lstStyle/>
                    <a:p>
                      <a:pPr>
                        <a:defRPr sz="1200">
                          <a:solidFill>
                            <a:srgbClr val="2A1712"/>
                          </a:solidFill>
                          <a:latin typeface="Yu Gothic"/>
                        </a:defRPr>
                      </a:pPr>
                      <a:r>
                        <a:t>本戦初出場・利用ランキング・発表日</a:t>
                      </a:r>
                    </a:p>
                  </a:txBody>
                  <a:tcPr>
                    <a:solidFill>
                      <a:srgbClr val="FFFFFF"/>
                    </a:solidFill>
                  </a:tcPr>
                </a:tc>
              </a:tr>
              <a:tr h="502920">
                <a:tc>
                  <a:txBody>
                    <a:bodyPr/>
                    <a:lstStyle/>
                    <a:p>
                      <a:pPr>
                        <a:defRPr sz="1200">
                          <a:solidFill>
                            <a:srgbClr val="2A1712"/>
                          </a:solidFill>
                          <a:latin typeface="Yu Gothic"/>
                        </a:defRPr>
                      </a:pPr>
                      <a:r>
                        <a:t>確定</a:t>
                      </a:r>
                    </a:p>
                  </a:txBody>
                  <a:tcPr>
                    <a:solidFill>
                      <a:srgbClr val="FBF3E6"/>
                    </a:solidFill>
                  </a:tcPr>
                </a:tc>
                <a:tc>
                  <a:txBody>
                    <a:bodyPr/>
                    <a:lstStyle/>
                    <a:p>
                      <a:pPr>
                        <a:defRPr sz="1200">
                          <a:solidFill>
                            <a:srgbClr val="2A1712"/>
                          </a:solidFill>
                          <a:latin typeface="Yu Gothic"/>
                        </a:defRPr>
                      </a:pPr>
                      <a:r>
                        <a:t>前年の予選3回戦敗退</a:t>
                      </a:r>
                    </a:p>
                  </a:txBody>
                  <a:tcPr>
                    <a:solidFill>
                      <a:srgbClr val="FBF3E6"/>
                    </a:solidFill>
                  </a:tcPr>
                </a:tc>
              </a:tr>
              <a:tr h="502920">
                <a:tc>
                  <a:txBody>
                    <a:bodyPr/>
                    <a:lstStyle/>
                    <a:p>
                      <a:pPr>
                        <a:defRPr sz="1200">
                          <a:solidFill>
                            <a:srgbClr val="2A1712"/>
                          </a:solidFill>
                          <a:latin typeface="Yu Gothic"/>
                        </a:defRPr>
                      </a:pPr>
                      <a:r>
                        <a:t>未確認</a:t>
                      </a:r>
                    </a:p>
                  </a:txBody>
                  <a:tcPr>
                    <a:solidFill>
                      <a:srgbClr val="FFFFFF"/>
                    </a:solidFill>
                  </a:tcPr>
                </a:tc>
                <a:tc>
                  <a:txBody>
                    <a:bodyPr/>
                    <a:lstStyle/>
                    <a:p>
                      <a:pPr>
                        <a:defRPr sz="1200">
                          <a:solidFill>
                            <a:srgbClr val="2A1712"/>
                          </a:solidFill>
                          <a:latin typeface="Yu Gothic"/>
                        </a:defRPr>
                      </a:pPr>
                      <a:r>
                        <a:t>スペシャルランキング取得の具体的な離脱理由</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伊藤選手がスペシャルランキングを取得した具体的な離脱理由・期間の詳細</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伊藤選手の現在の通常ランキングの具体的な順位</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本戦1回戦の対戦相手・組み合わせの詳細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全米オープン開幕日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2026年8月24日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四大大会の一つ</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予選敗退 vs 本戦初出場</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2025年</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予選3回戦で敗退</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本戦出場ならず</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2026年</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スペシャルランキング活用</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本戦初出場を実現</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テニス界の背景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スペシャルランキング制度は選手のキャリア継続を支える</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日本人選手の国際大会での活躍が続く</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特定選手への過度な評価的表現は行わない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主要出典の一覧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7A1F2B"/>
                    </a:solidFill>
                  </a:tcPr>
                </a:tc>
                <a:tc>
                  <a:txBody>
                    <a:bodyPr/>
                    <a:lstStyle/>
                    <a:p>
                      <a:pPr>
                        <a:defRPr sz="1300" b="1">
                          <a:solidFill>
                            <a:srgbClr val="FFFFFF"/>
                          </a:solidFill>
                          <a:latin typeface="Yu Gothic"/>
                        </a:defRPr>
                      </a:pPr>
                      <a:r>
                        <a:t>報道時期</a:t>
                      </a:r>
                    </a:p>
                  </a:txBody>
                  <a:tcPr>
                    <a:solidFill>
                      <a:srgbClr val="7A1F2B"/>
                    </a:solidFill>
                  </a:tcPr>
                </a:tc>
              </a:tr>
              <a:tr h="502920">
                <a:tc>
                  <a:txBody>
                    <a:bodyPr/>
                    <a:lstStyle/>
                    <a:p>
                      <a:pPr>
                        <a:defRPr sz="1200">
                          <a:solidFill>
                            <a:srgbClr val="2A1712"/>
                          </a:solidFill>
                          <a:latin typeface="Yu Gothic"/>
                        </a:defRPr>
                      </a:pPr>
                      <a:r>
                        <a:t>テニスクラシック</a:t>
                      </a:r>
                    </a:p>
                  </a:txBody>
                  <a:tcPr>
                    <a:solidFill>
                      <a:srgbClr val="FFFFFF"/>
                    </a:solidFill>
                  </a:tcPr>
                </a:tc>
                <a:tc>
                  <a:txBody>
                    <a:bodyPr/>
                    <a:lstStyle/>
                    <a:p>
                      <a:pPr>
                        <a:defRPr sz="1200">
                          <a:solidFill>
                            <a:srgbClr val="2A1712"/>
                          </a:solidFill>
                          <a:latin typeface="Yu Gothic"/>
                        </a:defRPr>
                      </a:pPr>
                      <a:r>
                        <a:t>2026年8月</a:t>
                      </a:r>
                    </a:p>
                  </a:txBody>
                  <a:tcPr>
                    <a:solidFill>
                      <a:srgbClr val="FFFFFF"/>
                    </a:solidFill>
                  </a:tcPr>
                </a:tc>
              </a:tr>
              <a:tr h="502920">
                <a:tc>
                  <a:txBody>
                    <a:bodyPr/>
                    <a:lstStyle/>
                    <a:p>
                      <a:pPr>
                        <a:defRPr sz="1200">
                          <a:solidFill>
                            <a:srgbClr val="2A1712"/>
                          </a:solidFill>
                          <a:latin typeface="Yu Gothic"/>
                        </a:defRPr>
                      </a:pPr>
                      <a:r>
                        <a:t>スポーツナビ</a:t>
                      </a:r>
                    </a:p>
                  </a:txBody>
                  <a:tcPr>
                    <a:solidFill>
                      <a:srgbClr val="FBF3E6"/>
                    </a:solidFill>
                  </a:tcPr>
                </a:tc>
                <a:tc>
                  <a:txBody>
                    <a:bodyPr/>
                    <a:lstStyle/>
                    <a:p>
                      <a:pPr>
                        <a:defRPr sz="1200">
                          <a:solidFill>
                            <a:srgbClr val="2A1712"/>
                          </a:solidFill>
                          <a:latin typeface="Yu Gothic"/>
                        </a:defRPr>
                      </a:pPr>
                      <a:r>
                        <a:t>2026年8月</a:t>
                      </a:r>
                    </a:p>
                  </a:txBody>
                  <a:tcPr>
                    <a:solidFill>
                      <a:srgbClr val="FBF3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通常エントリー vs スペシャルランキング</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通常エントリー</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現在の実績ランキングに基づく</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スペシャルランキング</a:t>
            </a:r>
          </a:p>
        </p:txBody>
      </p:sp>
      <p:sp>
        <p:nvSpPr>
          <p:cNvPr id="14" name="Oval 13"/>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離脱前の実績を保持できる救済措置</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本戦初出場という節目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キャリア初の四大大会本戦</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伊藤あおい選手にとっての大きな一歩</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今回の出場決定の3つの注目ポイント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キャリア初の四大大会本戦出場</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スペシャルランキング制度の活用</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7A1F2B"/>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前年の予選敗退を乗り越えての実現</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視聴者にとっての意味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日本人テニス選手を応援するファンに直接関係する情報</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スペシャルランキング制度を知る手がかりとしての価値</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特定選手への過度な評価的表現は行わない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タイムライン</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7A1F2B"/>
                    </a:solidFill>
                  </a:tcPr>
                </a:tc>
                <a:tc>
                  <a:txBody>
                    <a:bodyPr/>
                    <a:lstStyle/>
                    <a:p>
                      <a:pPr>
                        <a:defRPr sz="1300" b="1">
                          <a:solidFill>
                            <a:srgbClr val="FFFFFF"/>
                          </a:solidFill>
                          <a:latin typeface="Yu Gothic"/>
                        </a:defRPr>
                      </a:pPr>
                      <a:r>
                        <a:t>できごと</a:t>
                      </a:r>
                    </a:p>
                  </a:txBody>
                  <a:tcPr>
                    <a:solidFill>
                      <a:srgbClr val="7A1F2B"/>
                    </a:solidFill>
                  </a:tcPr>
                </a:tc>
              </a:tr>
              <a:tr h="502920">
                <a:tc>
                  <a:txBody>
                    <a:bodyPr/>
                    <a:lstStyle/>
                    <a:p>
                      <a:pPr>
                        <a:defRPr sz="1200">
                          <a:solidFill>
                            <a:srgbClr val="2A1712"/>
                          </a:solidFill>
                          <a:latin typeface="Yu Gothic"/>
                        </a:defRPr>
                      </a:pPr>
                      <a:r>
                        <a:t>2025年</a:t>
                      </a:r>
                    </a:p>
                  </a:txBody>
                  <a:tcPr>
                    <a:solidFill>
                      <a:srgbClr val="FFFFFF"/>
                    </a:solidFill>
                  </a:tcPr>
                </a:tc>
                <a:tc>
                  <a:txBody>
                    <a:bodyPr/>
                    <a:lstStyle/>
                    <a:p>
                      <a:pPr>
                        <a:defRPr sz="1200">
                          <a:solidFill>
                            <a:srgbClr val="2A1712"/>
                          </a:solidFill>
                          <a:latin typeface="Yu Gothic"/>
                        </a:defRPr>
                      </a:pPr>
                      <a:r>
                        <a:t>全米オープン予選3回戦で敗退</a:t>
                      </a:r>
                    </a:p>
                  </a:txBody>
                  <a:tcPr>
                    <a:solidFill>
                      <a:srgbClr val="FFFFFF"/>
                    </a:solidFill>
                  </a:tcPr>
                </a:tc>
              </a:tr>
              <a:tr h="502920">
                <a:tc>
                  <a:txBody>
                    <a:bodyPr/>
                    <a:lstStyle/>
                    <a:p>
                      <a:pPr>
                        <a:defRPr sz="1200">
                          <a:solidFill>
                            <a:srgbClr val="2A1712"/>
                          </a:solidFill>
                          <a:latin typeface="Yu Gothic"/>
                        </a:defRPr>
                      </a:pPr>
                      <a:r>
                        <a:t>2026年8月22日</a:t>
                      </a:r>
                    </a:p>
                  </a:txBody>
                  <a:tcPr>
                    <a:solidFill>
                      <a:srgbClr val="FBF3E6"/>
                    </a:solidFill>
                  </a:tcPr>
                </a:tc>
                <a:tc>
                  <a:txBody>
                    <a:bodyPr/>
                    <a:lstStyle/>
                    <a:p>
                      <a:pPr>
                        <a:defRPr sz="1200">
                          <a:solidFill>
                            <a:srgbClr val="2A1712"/>
                          </a:solidFill>
                          <a:latin typeface="Yu Gothic"/>
                        </a:defRPr>
                      </a:pPr>
                      <a:r>
                        <a:t>本戦出場選手リスト発表</a:t>
                      </a:r>
                    </a:p>
                  </a:txBody>
                  <a:tcPr>
                    <a:solidFill>
                      <a:srgbClr val="FBF3E6"/>
                    </a:solidFill>
                  </a:tcPr>
                </a:tc>
              </a:tr>
              <a:tr h="502920">
                <a:tc>
                  <a:txBody>
                    <a:bodyPr/>
                    <a:lstStyle/>
                    <a:p>
                      <a:pPr>
                        <a:defRPr sz="1200">
                          <a:solidFill>
                            <a:srgbClr val="2A1712"/>
                          </a:solidFill>
                          <a:latin typeface="Yu Gothic"/>
                        </a:defRPr>
                      </a:pPr>
                      <a:r>
                        <a:t>2026年8月24日</a:t>
                      </a:r>
                    </a:p>
                  </a:txBody>
                  <a:tcPr>
                    <a:solidFill>
                      <a:srgbClr val="FFFFFF"/>
                    </a:solidFill>
                  </a:tcPr>
                </a:tc>
                <a:tc>
                  <a:txBody>
                    <a:bodyPr/>
                    <a:lstStyle/>
                    <a:p>
                      <a:pPr>
                        <a:defRPr sz="1200">
                          <a:solidFill>
                            <a:srgbClr val="2A1712"/>
                          </a:solidFill>
                          <a:latin typeface="Yu Gothic"/>
                        </a:defRPr>
                      </a:pPr>
                      <a:r>
                        <a:t>全米オープン本戦開幕</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今後注目される点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本戦1回戦での戦いぶり</a:t>
            </a:r>
          </a:p>
        </p:txBody>
      </p:sp>
      <p:sp>
        <p:nvSpPr>
          <p:cNvPr id="8" name="Oval 7"/>
          <p:cNvSpPr/>
          <p:nvPr/>
        </p:nvSpPr>
        <p:spPr>
          <a:xfrm>
            <a:off x="457200" y="225856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スペシャルランキングを活用した選手のその後の活躍</a:t>
            </a:r>
          </a:p>
        </p:txBody>
      </p:sp>
      <p:sp>
        <p:nvSpPr>
          <p:cNvPr id="10" name="Oval 9"/>
          <p:cNvSpPr/>
          <p:nvPr/>
        </p:nvSpPr>
        <p:spPr>
          <a:xfrm>
            <a:off x="457200" y="30358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全米オープン本戦初出場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伊藤あおい選手、スペシャルランキング87位(2026年8月)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テニスクラシック(2026年8月)</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四大大会本戦出場の意義</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賞金機会</a:t>
                      </a:r>
                    </a:p>
                  </a:txBody>
                  <a:tcPr>
                    <a:solidFill>
                      <a:srgbClr val="FFFFFF"/>
                    </a:solidFill>
                  </a:tcPr>
                </a:tc>
                <a:tc>
                  <a:txBody>
                    <a:bodyPr/>
                    <a:lstStyle/>
                    <a:p>
                      <a:pPr>
                        <a:defRPr sz="1200">
                          <a:solidFill>
                            <a:srgbClr val="2A1712"/>
                          </a:solidFill>
                          <a:latin typeface="Yu Gothic"/>
                        </a:defRPr>
                      </a:pPr>
                      <a:r>
                        <a:t>本戦は予選より高額の賞金機会がある</a:t>
                      </a:r>
                    </a:p>
                  </a:txBody>
                  <a:tcPr>
                    <a:solidFill>
                      <a:srgbClr val="FFFFFF"/>
                    </a:solidFill>
                  </a:tcPr>
                </a:tc>
              </a:tr>
              <a:tr h="502920">
                <a:tc>
                  <a:txBody>
                    <a:bodyPr/>
                    <a:lstStyle/>
                    <a:p>
                      <a:pPr>
                        <a:defRPr sz="1200">
                          <a:solidFill>
                            <a:srgbClr val="2A1712"/>
                          </a:solidFill>
                          <a:latin typeface="Yu Gothic"/>
                        </a:defRPr>
                      </a:pPr>
                      <a:r>
                        <a:t>ランキングポイント</a:t>
                      </a:r>
                    </a:p>
                  </a:txBody>
                  <a:tcPr>
                    <a:solidFill>
                      <a:srgbClr val="FBF3E6"/>
                    </a:solidFill>
                  </a:tcPr>
                </a:tc>
                <a:tc>
                  <a:txBody>
                    <a:bodyPr/>
                    <a:lstStyle/>
                    <a:p>
                      <a:pPr>
                        <a:defRPr sz="1200">
                          <a:solidFill>
                            <a:srgbClr val="2A1712"/>
                          </a:solidFill>
                          <a:latin typeface="Yu Gothic"/>
                        </a:defRPr>
                      </a:pPr>
                      <a:r>
                        <a:t>本戦出場は獲得ポイントの機会にもつながる</a:t>
                      </a:r>
                    </a:p>
                  </a:txBody>
                  <a:tcPr>
                    <a:solidFill>
                      <a:srgbClr val="FBF3E6"/>
                    </a:solidFill>
                  </a:tcPr>
                </a:tc>
              </a:tr>
              <a:tr h="502920">
                <a:tc>
                  <a:txBody>
                    <a:bodyPr/>
                    <a:lstStyle/>
                    <a:p>
                      <a:pPr>
                        <a:defRPr sz="1200">
                          <a:solidFill>
                            <a:srgbClr val="2A1712"/>
                          </a:solidFill>
                          <a:latin typeface="Yu Gothic"/>
                        </a:defRPr>
                      </a:pPr>
                      <a:r>
                        <a:t>経験</a:t>
                      </a:r>
                    </a:p>
                  </a:txBody>
                  <a:tcPr>
                    <a:solidFill>
                      <a:srgbClr val="FFFFFF"/>
                    </a:solidFill>
                  </a:tcPr>
                </a:tc>
                <a:tc>
                  <a:txBody>
                    <a:bodyPr/>
                    <a:lstStyle/>
                    <a:p>
                      <a:pPr>
                        <a:defRPr sz="1200">
                          <a:solidFill>
                            <a:srgbClr val="2A1712"/>
                          </a:solidFill>
                          <a:latin typeface="Yu Gothic"/>
                        </a:defRPr>
                      </a:pPr>
                      <a:r>
                        <a:t>世界最高峰の舞台での経験を積める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AI Company OS｜出典: テニスクラシック等(2026年8月)</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