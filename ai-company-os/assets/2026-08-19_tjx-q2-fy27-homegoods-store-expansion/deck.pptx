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TJX Companiesが2026年8月19日、2026年度第2四半期決算を発表しました。HomeGoodsが米国最速の成長を記録した一方、主力のMarmaxxは鈍化しています。今日はこの決算の中身と、長期的な出店構想まで、出典付きで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結論から確認します。純売上高は前年比5%増、希薄化後EPSは24%増でした。ただし関税還付を除いた調整後EPSは11%増です。両方の数字を正直にお伝えします。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今日は6つの流れでお伝えします。決算の主要指標から、事業部門別の明暗、長期出店構想まで、正確に数字を引用しながら整理します。誇張せず、確認できなかったことは正直にお伝えします。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このテーマを扱う理由です。着手日当日という高い鮮度に加え、HomeGoods好調・Marmaxx鈍化という明暗、そして7,500店舗という長期構想に注目しました。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TJXは米国のオフプライス小売大手で、T.J.Maxx・Marshalls・HomeGoods等のバナーを展開しています。ブランド品・高品質商品を割安価格で販売するビジネスモデルです。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2026年度Q2の主要指標です。純売上高5%増、既存店売上高は計画を上回る4%増、希薄化後EPSは24%増でした。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希薄化後EPS24%増には関税還付の影響が含まれています。調整後EPS11%増は商品粗利益率の改善による、実態としての伸びです。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関税還付を除いた調整後EPSは前年比11%増で、商品粗利益率の改善が主な要因です。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関税還付は税引前利益に2億1,900万ドル寄与しています。第3四半期にも追加の還付が見込まれています。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見出しのEPSと、還付を除いた実態のEPSを対比しました。どちらも増益ですが、伸び率には大きな差があります。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事業部門別の状況です。HomeGoodsが最速の伸びを示す一方、主力のMarmaxxは1%増と相対的に鈍化しています。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HomeGoodsは米国事業の中で最も速い既存店売上高の伸びを記録しました。具体的な伸び率は確認できていませんが、全体の成長を下支えしています。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HomeGoodsは米国事業の中で最も速い成長を記録した部門として位置づけられています。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主力のMarmaxxは既存店売上高+1%と連結全体を下回りました。ただしCEOは第3四半期初めに改善が見られるとコメントしたとされています。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Marmaxxの既存店売上高は1%増で、連結全体の4%増を下回っています。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CanadaとInternationalの為替ベース比較です。両部門で定額為替ベースと実績ベースの大小関係が逆になっている点が興味深い特徴です。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Canadaと Internationalとで為替ベースの大小関係が逆になっています。通貨構成の違いによるものと考えられますが、詳細な内訳までは確認できていません。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決算数字の構造を図にしました。売上高の伸びから、見出しのEPS、そして関税還付を除いた実態のEPSまでの流れです。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今回の決算を3ステップで総括しました。好調な全体数字、部門別の明暗、そして長期的な出店構想という流れです。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CEOは第3四半期が好調なスタートを切っていると説明し、ブランド品の入荷状況も良好だとしています。決算コールの全文までは確認できていません。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来年から出店ペースを年4%へ加速する計画が示されました。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既存バナー・既存国で長期的に総店舗数7,500店を見込んでいるとされます。ただし具体的な増加幅・達成時期は確認できていません。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Q1時点のガイダンスとQ2決算後の更新を比較しました。EPSは上方修正されていますが、プレタックス利益率と自社株買いの具体的な新レンジは本調査の範囲では確認できていません。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通期ガイダンスの変遷です。EPSは明確に上方修正されていますが、他の指標の具体的な新レンジは確認できていません。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AI活用に関する具体的な言及は、本調査で参照した情報源の範囲では見当たりませんでした。誇張せず、正直にお伝えします。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Q2の株主還元額は13億ドルでした。</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同じ2026年8月19日に発表されたTJXとTargetを比較しました。両社とも関税還付が利益を押し上げていますが、規模や還付を除いた実態の伸び率は異なります。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確認できなかったことを正直にお伝えします。部門別の具体的な伸び率、為替ベース逆転の要因、通期ガイダンスの一部指標は確認できていません。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このニュースが読者にとって意味することをまとめました。決算分析に関心がある立場、小売業界の動向を追う立場、投資を検討する立場、それぞれで意識したい視点です。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TJXの2026年度Q2決算について、事業部門別の明暗と長期出店構想まで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HomeGoods絶好調、</a:t>
            </a:r>
          </a:p>
          <a:p>
            <a:pPr algn="l">
              <a:lnSpc>
                <a:spcPct val="115000"/>
              </a:lnSpc>
            </a:pPr>
            <a:r>
              <a:rPr sz="4200" b="1">
                <a:solidFill>
                  <a:srgbClr val="FFFFFF"/>
                </a:solidFill>
                <a:latin typeface="Yu Gothic"/>
              </a:rPr>
              <a:t>Marmaxxは足踏み。</a:t>
            </a:r>
          </a:p>
          <a:p>
            <a:pPr algn="l">
              <a:lnSpc>
                <a:spcPct val="115000"/>
              </a:lnSpc>
            </a:pPr>
            <a:r>
              <a:rPr sz="4200" b="1">
                <a:solidFill>
                  <a:srgbClr val="FFFFFF"/>
                </a:solidFill>
                <a:latin typeface="Yu Gothic"/>
              </a:rPr>
              <a:t>TJX決算の明暗を暴く</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3E3C9"/>
                </a:solidFill>
                <a:latin typeface="Yu Gothic"/>
              </a:rPr>
              <a:t>2026年8月19日発表——長期7,500店舗構想も明らかに</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B98C"/>
                </a:solidFill>
                <a:latin typeface="Yu Gothic"/>
              </a:rPr>
              <a:t>出典: BusinessWire・StockTitan・TradingKey(2026年8月19日)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純売上高+5%、希薄化後EPS+24%</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既存店売上高は計画超過の+4%、関税還付を除いた調整後EPSは+11%</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BusinessWire・StockTitan(2026-08-19)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3E3C9"/>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3E3C9"/>
                </a:solidFill>
                <a:latin typeface="Yu Gothic"/>
              </a:rPr>
              <a:t>TJXとは・基礎知識</a:t>
            </a:r>
          </a:p>
        </p:txBody>
      </p:sp>
      <p:sp>
        <p:nvSpPr>
          <p:cNvPr id="9" name="Oval 8"/>
          <p:cNvSpPr/>
          <p:nvPr/>
        </p:nvSpPr>
        <p:spPr>
          <a:xfrm>
            <a:off x="548640" y="347472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3E3C9"/>
                </a:solidFill>
                <a:latin typeface="Yu Gothic"/>
              </a:rPr>
              <a:t>決算の主要指標を確認する</a:t>
            </a:r>
          </a:p>
        </p:txBody>
      </p:sp>
      <p:sp>
        <p:nvSpPr>
          <p:cNvPr id="11" name="Oval 10"/>
          <p:cNvSpPr/>
          <p:nvPr/>
        </p:nvSpPr>
        <p:spPr>
          <a:xfrm>
            <a:off x="548640" y="425196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3E3C9"/>
                </a:solidFill>
                <a:latin typeface="Yu Gothic"/>
              </a:rPr>
              <a:t>事業部門別の明暗(HomeGoods好調・Marmaxx鈍化)を確認する</a:t>
            </a:r>
          </a:p>
        </p:txBody>
      </p:sp>
      <p:sp>
        <p:nvSpPr>
          <p:cNvPr id="13" name="Oval 12"/>
          <p:cNvSpPr/>
          <p:nvPr/>
        </p:nvSpPr>
        <p:spPr>
          <a:xfrm>
            <a:off x="548640" y="502920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3E3C9"/>
                </a:solidFill>
                <a:latin typeface="Yu Gothic"/>
              </a:rPr>
              <a:t>経営陣のコメント・長期出店構想を確認する</a:t>
            </a:r>
          </a:p>
        </p:txBody>
      </p:sp>
      <p:sp>
        <p:nvSpPr>
          <p:cNvPr id="15" name="Oval 14"/>
          <p:cNvSpPr/>
          <p:nvPr/>
        </p:nvSpPr>
        <p:spPr>
          <a:xfrm>
            <a:off x="548640" y="580644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F3E3C9"/>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着手日当日(2026年8月19日)発表という最も高い鮮度の話題である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HomeGoods好調・Marmaxx鈍化という、同一決算内での明暗がはっきりしている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既存バナー・既存国での総店舗数7,500店という、長期的な成長構想が示されている</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複数の独立した情報源(BusinessWire・StockTitan・TradingKey等)で確認できる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BusinessWire・StockTitan(2026-08-19)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BusinessWire・StockTitan・TradingKey(2026-08-19)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TJXとは</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基礎知識を簡単に整理します。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米国のオフプライス小売大手(ニューヨーク証券取引所上場、銘柄コードTJX)</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T.J.Maxx・Marshalls(合わせてMarmaxx)、HomeGoods等の複数バナーを展開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カナダ・欧州等の国際事業(TJX International)も展開</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ブランド品・高品質商品を割安価格で販売するビジネスモデル</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BusinessWire・TradingKey(2026-08-19)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BusinessWire・StockTitan・TradingKey(2026-08-19)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2026年度Q2 主要指標</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指標</a:t>
                      </a:r>
                    </a:p>
                  </a:txBody>
                  <a:tcPr>
                    <a:solidFill>
                      <a:srgbClr val="7A1F2B"/>
                    </a:solidFill>
                  </a:tcPr>
                </a:tc>
                <a:tc>
                  <a:txBody>
                    <a:bodyPr/>
                    <a:lstStyle/>
                    <a:p>
                      <a:pPr>
                        <a:defRPr sz="1300" b="1">
                          <a:solidFill>
                            <a:srgbClr val="FFFFFF"/>
                          </a:solidFill>
                          <a:latin typeface="Yu Gothic"/>
                        </a:defRPr>
                      </a:pPr>
                      <a:r>
                        <a:t>2026年Q2(前年同期比)</a:t>
                      </a:r>
                    </a:p>
                  </a:txBody>
                  <a:tcPr>
                    <a:solidFill>
                      <a:srgbClr val="7A1F2B"/>
                    </a:solidFill>
                  </a:tcPr>
                </a:tc>
              </a:tr>
              <a:tr h="502920">
                <a:tc>
                  <a:txBody>
                    <a:bodyPr/>
                    <a:lstStyle/>
                    <a:p>
                      <a:pPr>
                        <a:defRPr sz="1200">
                          <a:solidFill>
                            <a:srgbClr val="2A1712"/>
                          </a:solidFill>
                          <a:latin typeface="Yu Gothic"/>
                        </a:defRPr>
                      </a:pPr>
                      <a:r>
                        <a:t>純売上高</a:t>
                      </a:r>
                    </a:p>
                  </a:txBody>
                  <a:tcPr>
                    <a:solidFill>
                      <a:srgbClr val="FFFFFF"/>
                    </a:solidFill>
                  </a:tcPr>
                </a:tc>
                <a:tc>
                  <a:txBody>
                    <a:bodyPr/>
                    <a:lstStyle/>
                    <a:p>
                      <a:pPr>
                        <a:defRPr sz="1200">
                          <a:solidFill>
                            <a:srgbClr val="2A1712"/>
                          </a:solidFill>
                          <a:latin typeface="Yu Gothic"/>
                        </a:defRPr>
                      </a:pPr>
                      <a:r>
                        <a:t>151億8,000万ドル、+5%</a:t>
                      </a:r>
                    </a:p>
                  </a:txBody>
                  <a:tcPr>
                    <a:solidFill>
                      <a:srgbClr val="FFFFFF"/>
                    </a:solidFill>
                  </a:tcPr>
                </a:tc>
              </a:tr>
              <a:tr h="502920">
                <a:tc>
                  <a:txBody>
                    <a:bodyPr/>
                    <a:lstStyle/>
                    <a:p>
                      <a:pPr>
                        <a:defRPr sz="1200">
                          <a:solidFill>
                            <a:srgbClr val="2A1712"/>
                          </a:solidFill>
                          <a:latin typeface="Yu Gothic"/>
                        </a:defRPr>
                      </a:pPr>
                      <a:r>
                        <a:t>既存店売上高</a:t>
                      </a:r>
                    </a:p>
                  </a:txBody>
                  <a:tcPr>
                    <a:solidFill>
                      <a:srgbClr val="FBF3E6"/>
                    </a:solidFill>
                  </a:tcPr>
                </a:tc>
                <a:tc>
                  <a:txBody>
                    <a:bodyPr/>
                    <a:lstStyle/>
                    <a:p>
                      <a:pPr>
                        <a:defRPr sz="1200">
                          <a:solidFill>
                            <a:srgbClr val="2A1712"/>
                          </a:solidFill>
                          <a:latin typeface="Yu Gothic"/>
                        </a:defRPr>
                      </a:pPr>
                      <a:r>
                        <a:t>+4%(計画超過)</a:t>
                      </a:r>
                    </a:p>
                  </a:txBody>
                  <a:tcPr>
                    <a:solidFill>
                      <a:srgbClr val="FBF3E6"/>
                    </a:solidFill>
                  </a:tcPr>
                </a:tc>
              </a:tr>
              <a:tr h="502920">
                <a:tc>
                  <a:txBody>
                    <a:bodyPr/>
                    <a:lstStyle/>
                    <a:p>
                      <a:pPr>
                        <a:defRPr sz="1200">
                          <a:solidFill>
                            <a:srgbClr val="2A1712"/>
                          </a:solidFill>
                          <a:latin typeface="Yu Gothic"/>
                        </a:defRPr>
                      </a:pPr>
                      <a:r>
                        <a:t>希薄化後EPS</a:t>
                      </a:r>
                    </a:p>
                  </a:txBody>
                  <a:tcPr>
                    <a:solidFill>
                      <a:srgbClr val="FFFFFF"/>
                    </a:solidFill>
                  </a:tcPr>
                </a:tc>
                <a:tc>
                  <a:txBody>
                    <a:bodyPr/>
                    <a:lstStyle/>
                    <a:p>
                      <a:pPr>
                        <a:defRPr sz="1200">
                          <a:solidFill>
                            <a:srgbClr val="2A1712"/>
                          </a:solidFill>
                          <a:latin typeface="Yu Gothic"/>
                        </a:defRPr>
                      </a:pPr>
                      <a:r>
                        <a:t>1.36ドル、+24%</a:t>
                      </a:r>
                    </a:p>
                  </a:txBody>
                  <a:tcPr>
                    <a:solidFill>
                      <a:srgbClr val="FFFFFF"/>
                    </a:solidFill>
                  </a:tcPr>
                </a:tc>
              </a:tr>
              <a:tr h="502920">
                <a:tc>
                  <a:txBody>
                    <a:bodyPr/>
                    <a:lstStyle/>
                    <a:p>
                      <a:pPr>
                        <a:defRPr sz="1200">
                          <a:solidFill>
                            <a:srgbClr val="2A1712"/>
                          </a:solidFill>
                          <a:latin typeface="Yu Gothic"/>
                        </a:defRPr>
                      </a:pPr>
                      <a:r>
                        <a:t>調整後EPS(関税還付除く)</a:t>
                      </a:r>
                    </a:p>
                  </a:txBody>
                  <a:tcPr>
                    <a:solidFill>
                      <a:srgbClr val="FBF3E6"/>
                    </a:solidFill>
                  </a:tcPr>
                </a:tc>
                <a:tc>
                  <a:txBody>
                    <a:bodyPr/>
                    <a:lstStyle/>
                    <a:p>
                      <a:pPr>
                        <a:defRPr sz="1200">
                          <a:solidFill>
                            <a:srgbClr val="2A1712"/>
                          </a:solidFill>
                          <a:latin typeface="Yu Gothic"/>
                        </a:defRPr>
                      </a:pPr>
                      <a:r>
                        <a:t>1.22ドル、+11%</a:t>
                      </a:r>
                    </a:p>
                  </a:txBody>
                  <a:tcPr>
                    <a:solidFill>
                      <a:srgbClr val="FBF3E6"/>
                    </a:solidFill>
                  </a:tcPr>
                </a:tc>
              </a:tr>
              <a:tr h="502920">
                <a:tc>
                  <a:txBody>
                    <a:bodyPr/>
                    <a:lstStyle/>
                    <a:p>
                      <a:pPr>
                        <a:defRPr sz="1200">
                          <a:solidFill>
                            <a:srgbClr val="2A1712"/>
                          </a:solidFill>
                          <a:latin typeface="Yu Gothic"/>
                        </a:defRPr>
                      </a:pPr>
                      <a:r>
                        <a:t>株主還元(Q2)</a:t>
                      </a:r>
                    </a:p>
                  </a:txBody>
                  <a:tcPr>
                    <a:solidFill>
                      <a:srgbClr val="FFFFFF"/>
                    </a:solidFill>
                  </a:tcPr>
                </a:tc>
                <a:tc>
                  <a:txBody>
                    <a:bodyPr/>
                    <a:lstStyle/>
                    <a:p>
                      <a:pPr>
                        <a:defRPr sz="1200">
                          <a:solidFill>
                            <a:srgbClr val="2A1712"/>
                          </a:solidFill>
                          <a:latin typeface="Yu Gothic"/>
                        </a:defRPr>
                      </a:pPr>
                      <a:r>
                        <a:t>13億ドル</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BusinessWire・StockTitan(2026-08-19)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BusinessWire・StockTitan・TradingKey(2026-08-19)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希薄化後EPSと調整後EPSの違い</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2つのEPSの違いを整理します。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希薄化後EPSは1.36ドルで前年比24%増</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この数字には関税還付の影響が含まれている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関税還付を除いた調整後EPSは1.22ドルで前年比11%増</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調整後EPSの伸びは主に商品粗利益率の改善によるもので、実態としての好調さを示す</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TradingKey・StockTitan(2026-08-19)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BusinessWire・StockTitan・TradingKey(2026-08-19)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調整後EPSの伸び</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前年比+11%</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関税還付を除いた実態の伸び。商品粗利益率の改善が主因</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TradingKey(2026-08-19)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関税還付の内容</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関税還付に関する事実です。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Q2の税引前利益には関税還付が純額2億1,900万ドル寄与している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追加の還付が第3四半期にも見込まれると報じられている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同日発表のTarget決算でも関税還付が純利益を押し上げる同様の構造が見られた</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本テーマではTJX固有の数字として、見出しの数字と還付を除いた実態の数字の両方を必ず併記する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TradingKey(2026-08-19)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BusinessWire・StockTitan・TradingKey(2026-08-19)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見出しのEPS vs 還付を除いた実態のEPS</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希薄化後EPS(見出し)</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1.36ドル</a:t>
            </a:r>
          </a:p>
        </p:txBody>
      </p:sp>
      <p:sp>
        <p:nvSpPr>
          <p:cNvPr id="11" name="Oval 10"/>
          <p:cNvSpPr/>
          <p:nvPr/>
        </p:nvSpPr>
        <p:spPr>
          <a:xfrm>
            <a:off x="777240"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前年比+24%</a:t>
            </a:r>
          </a:p>
        </p:txBody>
      </p:sp>
      <p:sp>
        <p:nvSpPr>
          <p:cNvPr id="13" name="Oval 12"/>
          <p:cNvSpPr/>
          <p:nvPr/>
        </p:nvSpPr>
        <p:spPr>
          <a:xfrm>
            <a:off x="777240"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関税還付の影響を含む</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調整後EPS(実態)</a:t>
            </a:r>
          </a:p>
        </p:txBody>
      </p:sp>
      <p:sp>
        <p:nvSpPr>
          <p:cNvPr id="18" name="Oval 17"/>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1.22ドル</a:t>
            </a:r>
          </a:p>
        </p:txBody>
      </p:sp>
      <p:sp>
        <p:nvSpPr>
          <p:cNvPr id="20" name="Oval 19"/>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前年比+11%</a:t>
            </a:r>
          </a:p>
        </p:txBody>
      </p:sp>
      <p:sp>
        <p:nvSpPr>
          <p:cNvPr id="22" name="Oval 21"/>
          <p:cNvSpPr/>
          <p:nvPr/>
        </p:nvSpPr>
        <p:spPr>
          <a:xfrm>
            <a:off x="6598767"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商品粗利益率の改善による実態の伸び</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BusinessWire・StockTitan・TradingKey(2026-08-19)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事業部門別の状況</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部門</a:t>
                      </a:r>
                    </a:p>
                  </a:txBody>
                  <a:tcPr>
                    <a:solidFill>
                      <a:srgbClr val="7A1F2B"/>
                    </a:solidFill>
                  </a:tcPr>
                </a:tc>
                <a:tc>
                  <a:txBody>
                    <a:bodyPr/>
                    <a:lstStyle/>
                    <a:p>
                      <a:pPr>
                        <a:defRPr sz="1300" b="1">
                          <a:solidFill>
                            <a:srgbClr val="FFFFFF"/>
                          </a:solidFill>
                          <a:latin typeface="Yu Gothic"/>
                        </a:defRPr>
                      </a:pPr>
                      <a:r>
                        <a:t>既存店売上高の伸び</a:t>
                      </a:r>
                    </a:p>
                  </a:txBody>
                  <a:tcPr>
                    <a:solidFill>
                      <a:srgbClr val="7A1F2B"/>
                    </a:solidFill>
                  </a:tcPr>
                </a:tc>
              </a:tr>
              <a:tr h="502920">
                <a:tc>
                  <a:txBody>
                    <a:bodyPr/>
                    <a:lstStyle/>
                    <a:p>
                      <a:pPr>
                        <a:defRPr sz="1200">
                          <a:solidFill>
                            <a:srgbClr val="2A1712"/>
                          </a:solidFill>
                          <a:latin typeface="Yu Gothic"/>
                        </a:defRPr>
                      </a:pPr>
                      <a:r>
                        <a:t>HomeGoods</a:t>
                      </a:r>
                    </a:p>
                  </a:txBody>
                  <a:tcPr>
                    <a:solidFill>
                      <a:srgbClr val="FFFFFF"/>
                    </a:solidFill>
                  </a:tcPr>
                </a:tc>
                <a:tc>
                  <a:txBody>
                    <a:bodyPr/>
                    <a:lstStyle/>
                    <a:p>
                      <a:pPr>
                        <a:defRPr sz="1200">
                          <a:solidFill>
                            <a:srgbClr val="2A1712"/>
                          </a:solidFill>
                          <a:latin typeface="Yu Gothic"/>
                        </a:defRPr>
                      </a:pPr>
                      <a:r>
                        <a:t>米国事業の中で最速の伸び</a:t>
                      </a:r>
                    </a:p>
                  </a:txBody>
                  <a:tcPr>
                    <a:solidFill>
                      <a:srgbClr val="FFFFFF"/>
                    </a:solidFill>
                  </a:tcPr>
                </a:tc>
              </a:tr>
              <a:tr h="502920">
                <a:tc>
                  <a:txBody>
                    <a:bodyPr/>
                    <a:lstStyle/>
                    <a:p>
                      <a:pPr>
                        <a:defRPr sz="1200">
                          <a:solidFill>
                            <a:srgbClr val="2A1712"/>
                          </a:solidFill>
                          <a:latin typeface="Yu Gothic"/>
                        </a:defRPr>
                      </a:pPr>
                      <a:r>
                        <a:t>Marmaxx(T.J.Maxx・Marshalls)</a:t>
                      </a:r>
                    </a:p>
                  </a:txBody>
                  <a:tcPr>
                    <a:solidFill>
                      <a:srgbClr val="FBF3E6"/>
                    </a:solidFill>
                  </a:tcPr>
                </a:tc>
                <a:tc>
                  <a:txBody>
                    <a:bodyPr/>
                    <a:lstStyle/>
                    <a:p>
                      <a:pPr>
                        <a:defRPr sz="1200">
                          <a:solidFill>
                            <a:srgbClr val="2A1712"/>
                          </a:solidFill>
                          <a:latin typeface="Yu Gothic"/>
                        </a:defRPr>
                      </a:pPr>
                      <a:r>
                        <a:t>+1%(相対的に鈍化)</a:t>
                      </a:r>
                    </a:p>
                  </a:txBody>
                  <a:tcPr>
                    <a:solidFill>
                      <a:srgbClr val="FBF3E6"/>
                    </a:solidFill>
                  </a:tcPr>
                </a:tc>
              </a:tr>
              <a:tr h="502920">
                <a:tc>
                  <a:txBody>
                    <a:bodyPr/>
                    <a:lstStyle/>
                    <a:p>
                      <a:pPr>
                        <a:defRPr sz="1200">
                          <a:solidFill>
                            <a:srgbClr val="2A1712"/>
                          </a:solidFill>
                          <a:latin typeface="Yu Gothic"/>
                        </a:defRPr>
                      </a:pPr>
                      <a:r>
                        <a:t>Canada</a:t>
                      </a:r>
                    </a:p>
                  </a:txBody>
                  <a:tcPr>
                    <a:solidFill>
                      <a:srgbClr val="FFFFFF"/>
                    </a:solidFill>
                  </a:tcPr>
                </a:tc>
                <a:tc>
                  <a:txBody>
                    <a:bodyPr/>
                    <a:lstStyle/>
                    <a:p>
                      <a:pPr>
                        <a:defRPr sz="1200">
                          <a:solidFill>
                            <a:srgbClr val="2A1712"/>
                          </a:solidFill>
                          <a:latin typeface="Yu Gothic"/>
                        </a:defRPr>
                      </a:pPr>
                      <a:r>
                        <a:t>定額為替ベース+8%(実績ベース+6%)</a:t>
                      </a:r>
                    </a:p>
                  </a:txBody>
                  <a:tcPr>
                    <a:solidFill>
                      <a:srgbClr val="FFFFFF"/>
                    </a:solidFill>
                  </a:tcPr>
                </a:tc>
              </a:tr>
              <a:tr h="502920">
                <a:tc>
                  <a:txBody>
                    <a:bodyPr/>
                    <a:lstStyle/>
                    <a:p>
                      <a:pPr>
                        <a:defRPr sz="1200">
                          <a:solidFill>
                            <a:srgbClr val="2A1712"/>
                          </a:solidFill>
                          <a:latin typeface="Yu Gothic"/>
                        </a:defRPr>
                      </a:pPr>
                      <a:r>
                        <a:t>TJX International</a:t>
                      </a:r>
                    </a:p>
                  </a:txBody>
                  <a:tcPr>
                    <a:solidFill>
                      <a:srgbClr val="FBF3E6"/>
                    </a:solidFill>
                  </a:tcPr>
                </a:tc>
                <a:tc>
                  <a:txBody>
                    <a:bodyPr/>
                    <a:lstStyle/>
                    <a:p>
                      <a:pPr>
                        <a:defRPr sz="1200">
                          <a:solidFill>
                            <a:srgbClr val="2A1712"/>
                          </a:solidFill>
                          <a:latin typeface="Yu Gothic"/>
                        </a:defRPr>
                      </a:pPr>
                      <a:r>
                        <a:t>定額為替ベース+10%(実績ベース+11%)</a:t>
                      </a:r>
                    </a:p>
                  </a:txBody>
                  <a:tcPr>
                    <a:solidFill>
                      <a:srgbClr val="FBF3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TradingKey(2026-08-19)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BusinessWire・StockTitan・TradingKey(2026-08-19)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HomeGoodsの好調</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HomeGoods部門の状況です。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米国事業の中で最も速い既存店売上高の伸びを記録</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具体的な伸び率の数値は本調査の範囲では確認できていない</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住宅関連商品への需要の強さがうかがえる</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TJX全体の成長を下支えする役割を果たしている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TradingKey(2026-08-19)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BusinessWire・StockTitan・TradingKey(2026-08-19)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HomeGoodsの位置づけ</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米国事業で最速の成長</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具体的な伸び率は非開示、全体の成長を下支え</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TradingKey(2026-08-19)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Marmaxxの鈍化</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主力部門の状況です。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Marmaxx(T.J.Maxx・Marshalls)の既存店売上高は+1%と、連結全体(+4%)を下回る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CEOのErnie Herrman氏は、第3四半期の初めにMarmaxx部門で改善が見られるとコメントしたとされる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鈍化の具体的な要因(競合状況・消費者動向等)は本調査の範囲では確認できていない</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主力部門の動向は今後の決算でも注視する必要がある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TradingKey・BusinessWire(2026-08-19)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BusinessWire・StockTitan・TradingKey(2026-08-19)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Marmaxxの既存店売上高</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+1%</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連結全体(+4%)を下回る、相対的に鈍化</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TradingKey(2026-08-19)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Canada・Internationalの為替ベース比較</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部門</a:t>
                      </a:r>
                    </a:p>
                  </a:txBody>
                  <a:tcPr>
                    <a:solidFill>
                      <a:srgbClr val="7A1F2B"/>
                    </a:solidFill>
                  </a:tcPr>
                </a:tc>
                <a:tc>
                  <a:txBody>
                    <a:bodyPr/>
                    <a:lstStyle/>
                    <a:p>
                      <a:pPr>
                        <a:defRPr sz="1300" b="1">
                          <a:solidFill>
                            <a:srgbClr val="FFFFFF"/>
                          </a:solidFill>
                          <a:latin typeface="Yu Gothic"/>
                        </a:defRPr>
                      </a:pPr>
                      <a:r>
                        <a:t>定額為替ベース</a:t>
                      </a:r>
                    </a:p>
                  </a:txBody>
                  <a:tcPr>
                    <a:solidFill>
                      <a:srgbClr val="7A1F2B"/>
                    </a:solidFill>
                  </a:tcPr>
                </a:tc>
                <a:tc>
                  <a:txBody>
                    <a:bodyPr/>
                    <a:lstStyle/>
                    <a:p>
                      <a:pPr>
                        <a:defRPr sz="1300" b="1">
                          <a:solidFill>
                            <a:srgbClr val="FFFFFF"/>
                          </a:solidFill>
                          <a:latin typeface="Yu Gothic"/>
                        </a:defRPr>
                      </a:pPr>
                      <a:r>
                        <a:t>実績ベース</a:t>
                      </a:r>
                    </a:p>
                  </a:txBody>
                  <a:tcPr>
                    <a:solidFill>
                      <a:srgbClr val="7A1F2B"/>
                    </a:solidFill>
                  </a:tcPr>
                </a:tc>
              </a:tr>
              <a:tr h="502920">
                <a:tc>
                  <a:txBody>
                    <a:bodyPr/>
                    <a:lstStyle/>
                    <a:p>
                      <a:pPr>
                        <a:defRPr sz="1200">
                          <a:solidFill>
                            <a:srgbClr val="2A1712"/>
                          </a:solidFill>
                          <a:latin typeface="Yu Gothic"/>
                        </a:defRPr>
                      </a:pPr>
                      <a:r>
                        <a:t>Canada</a:t>
                      </a:r>
                    </a:p>
                  </a:txBody>
                  <a:tcPr>
                    <a:solidFill>
                      <a:srgbClr val="FFFFFF"/>
                    </a:solidFill>
                  </a:tcPr>
                </a:tc>
                <a:tc>
                  <a:txBody>
                    <a:bodyPr/>
                    <a:lstStyle/>
                    <a:p>
                      <a:pPr>
                        <a:defRPr sz="1200">
                          <a:solidFill>
                            <a:srgbClr val="2A1712"/>
                          </a:solidFill>
                          <a:latin typeface="Yu Gothic"/>
                        </a:defRPr>
                      </a:pPr>
                      <a:r>
                        <a:t>+8%</a:t>
                      </a:r>
                    </a:p>
                  </a:txBody>
                  <a:tcPr>
                    <a:solidFill>
                      <a:srgbClr val="FFFFFF"/>
                    </a:solidFill>
                  </a:tcPr>
                </a:tc>
                <a:tc>
                  <a:txBody>
                    <a:bodyPr/>
                    <a:lstStyle/>
                    <a:p>
                      <a:pPr>
                        <a:defRPr sz="1200">
                          <a:solidFill>
                            <a:srgbClr val="2A1712"/>
                          </a:solidFill>
                          <a:latin typeface="Yu Gothic"/>
                        </a:defRPr>
                      </a:pPr>
                      <a:r>
                        <a:t>+6%</a:t>
                      </a:r>
                    </a:p>
                  </a:txBody>
                  <a:tcPr>
                    <a:solidFill>
                      <a:srgbClr val="FFFFFF"/>
                    </a:solidFill>
                  </a:tcPr>
                </a:tc>
              </a:tr>
              <a:tr h="502920">
                <a:tc>
                  <a:txBody>
                    <a:bodyPr/>
                    <a:lstStyle/>
                    <a:p>
                      <a:pPr>
                        <a:defRPr sz="1200">
                          <a:solidFill>
                            <a:srgbClr val="2A1712"/>
                          </a:solidFill>
                          <a:latin typeface="Yu Gothic"/>
                        </a:defRPr>
                      </a:pPr>
                      <a:r>
                        <a:t>TJX International</a:t>
                      </a:r>
                    </a:p>
                  </a:txBody>
                  <a:tcPr>
                    <a:solidFill>
                      <a:srgbClr val="FBF3E6"/>
                    </a:solidFill>
                  </a:tcPr>
                </a:tc>
                <a:tc>
                  <a:txBody>
                    <a:bodyPr/>
                    <a:lstStyle/>
                    <a:p>
                      <a:pPr>
                        <a:defRPr sz="1200">
                          <a:solidFill>
                            <a:srgbClr val="2A1712"/>
                          </a:solidFill>
                          <a:latin typeface="Yu Gothic"/>
                        </a:defRPr>
                      </a:pPr>
                      <a:r>
                        <a:t>+10%</a:t>
                      </a:r>
                    </a:p>
                  </a:txBody>
                  <a:tcPr>
                    <a:solidFill>
                      <a:srgbClr val="FBF3E6"/>
                    </a:solidFill>
                  </a:tcPr>
                </a:tc>
                <a:tc>
                  <a:txBody>
                    <a:bodyPr/>
                    <a:lstStyle/>
                    <a:p>
                      <a:pPr>
                        <a:defRPr sz="1200">
                          <a:solidFill>
                            <a:srgbClr val="2A1712"/>
                          </a:solidFill>
                          <a:latin typeface="Yu Gothic"/>
                        </a:defRPr>
                      </a:pPr>
                      <a:r>
                        <a:t>+11%</a:t>
                      </a:r>
                    </a:p>
                  </a:txBody>
                  <a:tcPr>
                    <a:solidFill>
                      <a:srgbClr val="FBF3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TradingKey(2026-08-19)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BusinessWire・StockTitan・TradingKey(2026-08-19)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為替ベースの逆転現象について</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正直に整理する留保事項です。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Canadaは定額為替ベース(+8%)の方が実績ベース(+6%)より高い</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Internationalは実績ベース(+11%)の方が定額為替ベース(+10%)より高い</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この逆転は両部門の通貨エクスポージャー(通貨構成)が異なることによるものと考えられる</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詳細な通貨別内訳は本調査の範囲では確認できておらず、断定的な説明は避ける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TradingKey(2026-08-19)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BusinessWire・StockTitan・TradingKey(2026-08-19)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決算数字の構造(見出しから実態まで)</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純売上高+5%、既存店+4%</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計画を上回る好調な数字</a:t>
            </a:r>
          </a:p>
        </p:txBody>
      </p:sp>
      <p:sp>
        <p:nvSpPr>
          <p:cNvPr id="10" name="Right Arrow 9"/>
          <p:cNvSpPr/>
          <p:nvPr/>
        </p:nvSpPr>
        <p:spPr>
          <a:xfrm>
            <a:off x="41573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希薄化後EPS+24%(見出し)</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関税還付を含む</a:t>
            </a:r>
          </a:p>
        </p:txBody>
      </p:sp>
      <p:sp>
        <p:nvSpPr>
          <p:cNvPr id="15" name="Right Arrow 14"/>
          <p:cNvSpPr/>
          <p:nvPr/>
        </p:nvSpPr>
        <p:spPr>
          <a:xfrm>
            <a:off x="73577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調整後EPS+11%(実態)</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商品粗利益率の改善による</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8A6F5C"/>
                </a:solidFill>
                <a:latin typeface="Yu Gothic"/>
              </a:rPr>
              <a:t>見出しの数字から実態の数字までの構造</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BusinessWire・TradingKey(2026-08-19)</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BusinessWire・StockTitan・TradingKey(2026-08-19)</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今回の決算の3ステップ総括</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1. 純売上高+5%、既存店+4%</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計画を上回る好調な数字</a:t>
            </a:r>
          </a:p>
        </p:txBody>
      </p:sp>
      <p:sp>
        <p:nvSpPr>
          <p:cNvPr id="11" name="Chevron 10"/>
          <p:cNvSpPr/>
          <p:nvPr/>
        </p:nvSpPr>
        <p:spPr>
          <a:xfrm>
            <a:off x="4038295"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2. HomeGoods好調・Marmaxx鈍化</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事業部門別の明暗がはっきり</a:t>
            </a:r>
          </a:p>
        </p:txBody>
      </p:sp>
      <p:sp>
        <p:nvSpPr>
          <p:cNvPr id="17" name="Chevron 16"/>
          <p:cNvSpPr/>
          <p:nvPr/>
        </p:nvSpPr>
        <p:spPr>
          <a:xfrm>
            <a:off x="7919313"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3. 長期7,500店舗構想</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出店ペースを来年から年4%へ加速</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BusinessWire・StockTitan・TradingKey(2026-08-19)</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経営陣のコメント</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決算コールでの経営陣の発言です。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CEOのErnie Herrman氏は、第3四半期は好調なスタートを切っていると説明</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ブランド品・高品質商品の入荷状況は引き続き良好としている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秋・年末商戦に向けた複数の施策を準備しているとされる</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決算コールの詳細な質疑応答の全文までは、本調査の範囲では確認できていない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BusinessWire(2026-08-19)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BusinessWire・StockTitan・TradingKey(2026-08-19)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出店ペースの加速</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来年から年4%へ</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既存バナー・既存国での長期出店計画</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BusinessWire(2026-08-19)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長期7,500店舗構想</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長期的な出店構想の内容です。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既存バナー・既存国において、長期的に総店舗数7,500店への拡大を見込んでいるとされる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現在の店舗数からの具体的な増加幅、達成時期の目標は本調査の範囲では確認できていない</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新規国・新規バナーへの展開は、この構想には含まれていないとみられる</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長期構想であり、短期的な業績への直接的な影響を示すものではない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BusinessWire(2026-08-19)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BusinessWire・StockTitan・TradingKey(2026-08-19)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Q1時点のガイダンス vs Q2決算後の更新</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Q1時点のガイダンス</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希薄化後EPS: 5.08〜5.15ドル</a:t>
            </a:r>
          </a:p>
        </p:txBody>
      </p:sp>
      <p:sp>
        <p:nvSpPr>
          <p:cNvPr id="11" name="Oval 10"/>
          <p:cNvSpPr/>
          <p:nvPr/>
        </p:nvSpPr>
        <p:spPr>
          <a:xfrm>
            <a:off x="777240"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プレタックス利益率: 11.9〜12.0%</a:t>
            </a:r>
          </a:p>
        </p:txBody>
      </p:sp>
      <p:sp>
        <p:nvSpPr>
          <p:cNvPr id="13" name="Oval 12"/>
          <p:cNvSpPr/>
          <p:nvPr/>
        </p:nvSpPr>
        <p:spPr>
          <a:xfrm>
            <a:off x="777240"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自社株買い: 27.5億〜30億ドル</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Q2決算後の更新</a:t>
            </a:r>
          </a:p>
        </p:txBody>
      </p:sp>
      <p:sp>
        <p:nvSpPr>
          <p:cNvPr id="18" name="Oval 17"/>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希薄化後EPS: 5.150〜5.200ドルへ上方修正</a:t>
            </a:r>
          </a:p>
        </p:txBody>
      </p:sp>
      <p:sp>
        <p:nvSpPr>
          <p:cNvPr id="20" name="Oval 19"/>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プレタックス利益率: さらに上方修正(新レンジ未確認)</a:t>
            </a:r>
          </a:p>
        </p:txBody>
      </p:sp>
      <p:sp>
        <p:nvSpPr>
          <p:cNvPr id="22" name="Oval 21"/>
          <p:cNvSpPr/>
          <p:nvPr/>
        </p:nvSpPr>
        <p:spPr>
          <a:xfrm>
            <a:off x="6598767"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自社株買い: 更新レンジ未確認</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BusinessWire・StockTitan・TradingKey(2026-08-19)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通期ガイダンスの変遷</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指標</a:t>
                      </a:r>
                    </a:p>
                  </a:txBody>
                  <a:tcPr>
                    <a:solidFill>
                      <a:srgbClr val="7A1F2B"/>
                    </a:solidFill>
                  </a:tcPr>
                </a:tc>
                <a:tc>
                  <a:txBody>
                    <a:bodyPr/>
                    <a:lstStyle/>
                    <a:p>
                      <a:pPr>
                        <a:defRPr sz="1300" b="1">
                          <a:solidFill>
                            <a:srgbClr val="FFFFFF"/>
                          </a:solidFill>
                          <a:latin typeface="Yu Gothic"/>
                        </a:defRPr>
                      </a:pPr>
                      <a:r>
                        <a:t>Q1時点</a:t>
                      </a:r>
                    </a:p>
                  </a:txBody>
                  <a:tcPr>
                    <a:solidFill>
                      <a:srgbClr val="7A1F2B"/>
                    </a:solidFill>
                  </a:tcPr>
                </a:tc>
                <a:tc>
                  <a:txBody>
                    <a:bodyPr/>
                    <a:lstStyle/>
                    <a:p>
                      <a:pPr>
                        <a:defRPr sz="1300" b="1">
                          <a:solidFill>
                            <a:srgbClr val="FFFFFF"/>
                          </a:solidFill>
                          <a:latin typeface="Yu Gothic"/>
                        </a:defRPr>
                      </a:pPr>
                      <a:r>
                        <a:t>Q2決算後</a:t>
                      </a:r>
                    </a:p>
                  </a:txBody>
                  <a:tcPr>
                    <a:solidFill>
                      <a:srgbClr val="7A1F2B"/>
                    </a:solidFill>
                  </a:tcPr>
                </a:tc>
              </a:tr>
              <a:tr h="502920">
                <a:tc>
                  <a:txBody>
                    <a:bodyPr/>
                    <a:lstStyle/>
                    <a:p>
                      <a:pPr>
                        <a:defRPr sz="1200">
                          <a:solidFill>
                            <a:srgbClr val="2A1712"/>
                          </a:solidFill>
                          <a:latin typeface="Yu Gothic"/>
                        </a:defRPr>
                      </a:pPr>
                      <a:r>
                        <a:t>希薄化後EPS</a:t>
                      </a:r>
                    </a:p>
                  </a:txBody>
                  <a:tcPr>
                    <a:solidFill>
                      <a:srgbClr val="FFFFFF"/>
                    </a:solidFill>
                  </a:tcPr>
                </a:tc>
                <a:tc>
                  <a:txBody>
                    <a:bodyPr/>
                    <a:lstStyle/>
                    <a:p>
                      <a:pPr>
                        <a:defRPr sz="1200">
                          <a:solidFill>
                            <a:srgbClr val="2A1712"/>
                          </a:solidFill>
                          <a:latin typeface="Yu Gothic"/>
                        </a:defRPr>
                      </a:pPr>
                      <a:r>
                        <a:t>5.08〜5.15ドル</a:t>
                      </a:r>
                    </a:p>
                  </a:txBody>
                  <a:tcPr>
                    <a:solidFill>
                      <a:srgbClr val="FFFFFF"/>
                    </a:solidFill>
                  </a:tcPr>
                </a:tc>
                <a:tc>
                  <a:txBody>
                    <a:bodyPr/>
                    <a:lstStyle/>
                    <a:p>
                      <a:pPr>
                        <a:defRPr sz="1200">
                          <a:solidFill>
                            <a:srgbClr val="2A1712"/>
                          </a:solidFill>
                          <a:latin typeface="Yu Gothic"/>
                        </a:defRPr>
                      </a:pPr>
                      <a:r>
                        <a:t>5.150〜5.200ドル</a:t>
                      </a:r>
                    </a:p>
                  </a:txBody>
                  <a:tcPr>
                    <a:solidFill>
                      <a:srgbClr val="FFFFFF"/>
                    </a:solidFill>
                  </a:tcPr>
                </a:tc>
              </a:tr>
              <a:tr h="502920">
                <a:tc>
                  <a:txBody>
                    <a:bodyPr/>
                    <a:lstStyle/>
                    <a:p>
                      <a:pPr>
                        <a:defRPr sz="1200">
                          <a:solidFill>
                            <a:srgbClr val="2A1712"/>
                          </a:solidFill>
                          <a:latin typeface="Yu Gothic"/>
                        </a:defRPr>
                      </a:pPr>
                      <a:r>
                        <a:t>プレタックス利益率</a:t>
                      </a:r>
                    </a:p>
                  </a:txBody>
                  <a:tcPr>
                    <a:solidFill>
                      <a:srgbClr val="FBF3E6"/>
                    </a:solidFill>
                  </a:tcPr>
                </a:tc>
                <a:tc>
                  <a:txBody>
                    <a:bodyPr/>
                    <a:lstStyle/>
                    <a:p>
                      <a:pPr>
                        <a:defRPr sz="1200">
                          <a:solidFill>
                            <a:srgbClr val="2A1712"/>
                          </a:solidFill>
                          <a:latin typeface="Yu Gothic"/>
                        </a:defRPr>
                      </a:pPr>
                      <a:r>
                        <a:t>11.9〜12.0%</a:t>
                      </a:r>
                    </a:p>
                  </a:txBody>
                  <a:tcPr>
                    <a:solidFill>
                      <a:srgbClr val="FBF3E6"/>
                    </a:solidFill>
                  </a:tcPr>
                </a:tc>
                <a:tc>
                  <a:txBody>
                    <a:bodyPr/>
                    <a:lstStyle/>
                    <a:p>
                      <a:pPr>
                        <a:defRPr sz="1200">
                          <a:solidFill>
                            <a:srgbClr val="2A1712"/>
                          </a:solidFill>
                          <a:latin typeface="Yu Gothic"/>
                        </a:defRPr>
                      </a:pPr>
                      <a:r>
                        <a:t>さらに上方修正(新レンジ未確認)</a:t>
                      </a:r>
                    </a:p>
                  </a:txBody>
                  <a:tcPr>
                    <a:solidFill>
                      <a:srgbClr val="FBF3E6"/>
                    </a:solidFill>
                  </a:tcPr>
                </a:tc>
              </a:tr>
              <a:tr h="502920">
                <a:tc>
                  <a:txBody>
                    <a:bodyPr/>
                    <a:lstStyle/>
                    <a:p>
                      <a:pPr>
                        <a:defRPr sz="1200">
                          <a:solidFill>
                            <a:srgbClr val="2A1712"/>
                          </a:solidFill>
                          <a:latin typeface="Yu Gothic"/>
                        </a:defRPr>
                      </a:pPr>
                      <a:r>
                        <a:t>自社株買い</a:t>
                      </a:r>
                    </a:p>
                  </a:txBody>
                  <a:tcPr>
                    <a:solidFill>
                      <a:srgbClr val="FFFFFF"/>
                    </a:solidFill>
                  </a:tcPr>
                </a:tc>
                <a:tc>
                  <a:txBody>
                    <a:bodyPr/>
                    <a:lstStyle/>
                    <a:p>
                      <a:pPr>
                        <a:defRPr sz="1200">
                          <a:solidFill>
                            <a:srgbClr val="2A1712"/>
                          </a:solidFill>
                          <a:latin typeface="Yu Gothic"/>
                        </a:defRPr>
                      </a:pPr>
                      <a:r>
                        <a:t>27.5億〜30億ドル</a:t>
                      </a:r>
                    </a:p>
                  </a:txBody>
                  <a:tcPr>
                    <a:solidFill>
                      <a:srgbClr val="FFFFFF"/>
                    </a:solidFill>
                  </a:tcPr>
                </a:tc>
                <a:tc>
                  <a:txBody>
                    <a:bodyPr/>
                    <a:lstStyle/>
                    <a:p>
                      <a:pPr>
                        <a:defRPr sz="1200">
                          <a:solidFill>
                            <a:srgbClr val="2A1712"/>
                          </a:solidFill>
                          <a:latin typeface="Yu Gothic"/>
                        </a:defRPr>
                      </a:pPr>
                      <a:r>
                        <a:t>更新レンジ未確認</a:t>
                      </a:r>
                    </a:p>
                  </a:txBody>
                  <a:tcPr>
                    <a:solidFill>
                      <a:srgbClr val="FFFFFF"/>
                    </a:solidFill>
                  </a:tcPr>
                </a:tc>
              </a:tr>
              <a:tr h="502920">
                <a:tc>
                  <a:txBody>
                    <a:bodyPr/>
                    <a:lstStyle/>
                    <a:p>
                      <a:pPr>
                        <a:defRPr sz="1200">
                          <a:solidFill>
                            <a:srgbClr val="2A1712"/>
                          </a:solidFill>
                          <a:latin typeface="Yu Gothic"/>
                        </a:defRPr>
                      </a:pPr>
                      <a:r>
                        <a:t>通期売上高成長率</a:t>
                      </a:r>
                    </a:p>
                  </a:txBody>
                  <a:tcPr>
                    <a:solidFill>
                      <a:srgbClr val="FBF3E6"/>
                    </a:solidFill>
                  </a:tcPr>
                </a:tc>
                <a:tc>
                  <a:txBody>
                    <a:bodyPr/>
                    <a:lstStyle/>
                    <a:p>
                      <a:pPr>
                        <a:defRPr sz="1200">
                          <a:solidFill>
                            <a:srgbClr val="2A1712"/>
                          </a:solidFill>
                          <a:latin typeface="Yu Gothic"/>
                        </a:defRPr>
                      </a:pPr>
                      <a:r>
                        <a:t>3〜4%</a:t>
                      </a:r>
                    </a:p>
                  </a:txBody>
                  <a:tcPr>
                    <a:solidFill>
                      <a:srgbClr val="FBF3E6"/>
                    </a:solidFill>
                  </a:tcPr>
                </a:tc>
                <a:tc>
                  <a:txBody>
                    <a:bodyPr/>
                    <a:lstStyle/>
                    <a:p>
                      <a:pPr>
                        <a:defRPr sz="1200">
                          <a:solidFill>
                            <a:srgbClr val="2A1712"/>
                          </a:solidFill>
                          <a:latin typeface="Yu Gothic"/>
                        </a:defRPr>
                      </a:pPr>
                      <a:r>
                        <a:t>更新レンジ未確認</a:t>
                      </a:r>
                    </a:p>
                  </a:txBody>
                  <a:tcPr>
                    <a:solidFill>
                      <a:srgbClr val="FBF3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TJX投資家向け公式発表・MarketBeat(2026-08-19)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BusinessWire・StockTitan・TradingKey(2026-08-19)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AI活用について</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AI関連の情報です。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本調査で参照した複数の情報源には、AI活用・AIマーチャンダイジング等に関する具体的な言及は見当たらなかった</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決算コールの全文トランスクリプトまでは確認しておらず、AI関連の経営陣発言の有無は『不明』として扱う</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オフプライス小売という業態上、AIの活用範囲は他の小売企業と異なる可能性がある</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誇張せず、確認できた範囲の情報のみを紹介する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BusinessWire・StockTitan・TradingKey(2026-08-19)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株主還元</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Q2で13億ドル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配当・自社株買いを合わせた還元額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TradingKey(2026-08-19)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TJX vs Target(同日発表、関税還付構造の比較)</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TJX</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希薄化後EPS+24%(還付含む)</a:t>
            </a:r>
          </a:p>
        </p:txBody>
      </p:sp>
      <p:sp>
        <p:nvSpPr>
          <p:cNvPr id="11" name="Oval 10"/>
          <p:cNvSpPr/>
          <p:nvPr/>
        </p:nvSpPr>
        <p:spPr>
          <a:xfrm>
            <a:off x="777240"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調整後EPS+11%(還付除く)</a:t>
            </a:r>
          </a:p>
        </p:txBody>
      </p:sp>
      <p:sp>
        <p:nvSpPr>
          <p:cNvPr id="13" name="Oval 12"/>
          <p:cNvSpPr/>
          <p:nvPr/>
        </p:nvSpPr>
        <p:spPr>
          <a:xfrm>
            <a:off x="777240"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関税還付2億1,900万ドル</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Target</a:t>
            </a:r>
          </a:p>
        </p:txBody>
      </p:sp>
      <p:sp>
        <p:nvSpPr>
          <p:cNvPr id="18" name="Oval 17"/>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純利益ほぼ倍増(還付含む)</a:t>
            </a:r>
          </a:p>
        </p:txBody>
      </p:sp>
      <p:sp>
        <p:nvSpPr>
          <p:cNvPr id="20" name="Oval 19"/>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EPS+20%(還付除く)</a:t>
            </a:r>
          </a:p>
        </p:txBody>
      </p:sp>
      <p:sp>
        <p:nvSpPr>
          <p:cNvPr id="22" name="Oval 21"/>
          <p:cNvSpPr/>
          <p:nvPr/>
        </p:nvSpPr>
        <p:spPr>
          <a:xfrm>
            <a:off x="6598767"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関税還付9億9,400万ドル</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BusinessWire・StockTitan・TradingKey(2026-08-19)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正直にお伝えする留保事項です。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HomeGoods・Marmaxxそれぞれの既存店売上高の具体的な伸び率(HomeGoodsは『最速』とのみ言及)</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Canada・Internationalの為替ベース逆転現象の詳細な要因</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Q2決算後の通期プレタックス利益率・自社株買い・売上高成長率の具体的な新レンジ</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AI活用に関する経営陣の発言の有無・詳細</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BusinessWire・StockTitan・TradingKey(2026-08-19)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決算・企業分析に関心がある立場として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見出しのEPSだけでなく、関税還付を除いた実態のEPSまで確認する視点が役立つ</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小売業界の動向を追う立場として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HomeGoods好調・Marmaxx鈍化という部門別の明暗を把握する視点が参考になる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投資を検討する立場として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長期7,500店舗構想は短期業績とは別軸の情報として区別して見る必要がある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BusinessWire・StockTitan・TradingKey(2026-08-19)</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HomeGoods絶好調、Marmaxxは足踏み。決算の明暗を正直に。</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3E3C9"/>
                </a:solidFill>
                <a:latin typeface="Yu Gothic"/>
              </a:rPr>
              <a:t>TJXの2026年度Q2決算は純売上高+5%、既存店売上高+4%と好調でしたが、部門別にはHomeGoods好調・Marmaxx鈍化という明暗が分かれました。関税還付を除いた実態のEPS、そして長期7,500店舗構想まで、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7A1F2B"/>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