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タイム(秒)</c:v>
                </c:pt>
              </c:strCache>
            </c:strRef>
          </c:tx>
          <c:spPr>
            <a:solidFill>
              <a:srgbClr val="2B3A55"/>
            </a:solidFill>
          </c:spPr>
          <c:cat>
            <c:strRef>
              <c:f>Sheet1!$A$2:$A$3</c:f>
              <c:strCache>
                <c:ptCount val="2"/>
                <c:pt idx="0">
                  <c:v>200m個人メドレー</c:v>
                </c:pt>
                <c:pt idx="1">
                  <c:v>400m個人メドレー</c:v>
                </c:pt>
              </c:strCache>
            </c:strRef>
          </c:cat>
          <c:val>
            <c:numRef>
              <c:f>Sheet1!$B$2:$B$3</c:f>
              <c:numCache>
                <c:formatCode>General</c:formatCode>
                <c:ptCount val="2"/>
                <c:pt idx="0">
                  <c:v>116.02</c:v>
                </c:pt>
                <c:pt idx="1">
                  <c:v>246.75</c:v>
                </c:pt>
              </c:numCache>
            </c:numRef>
          </c:val>
        </c:ser>
        <c:dLbls>
          <c:numFmt formatCode="#,##0.00" sourceLinked="0"/>
          <c:txPr>
            <a:bodyPr/>
            <a:lstStyle/>
            <a:p>
              <a:pPr>
                <a:defRPr sz="1200" b="1">
                  <a:solidFill>
                    <a:srgbClr val="2B3A55"/>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パンパシフィック水泳選手権2026、米カリフォルニア州アーバインでの競泳4日目、松下知之選手が男子200m個人メドレーを1分56秒02で制しました。大会2日目の400m個人メドレー優勝と合わせ、個人メドレー2種目での優勝、いわゆる2冠を達成しています。今日はこの2つの数字を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松下知之選手は200m個人メドレーを1分56秒02で優勝し、大会2日目に制した400m個人メドレー(大会新記録・4分06秒75)と合わせて、個人メドレー2種目での優勝、いわゆる2冠を達成しました。ここから数字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今日は6つの流れでお伝えします。2つの優勝の時系列から、200m・400mそれぞれの数字の深掘り、そして本テーマで発見した数字の誤帰属トラップの訂正経緯まで、正確に整理します。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決勝翌日という新しさに加えて、21歳・地元宇都宮市出身の選手が国際大会で個人メドレー2種目を制するという分かりやすい達成が見どころです。複数のメディアが数値を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本題に入る前に、松下知之選手の前提を確認します。21歳、東洋大学に所属し、栃木県宇都宮市出身です。今回はパンパシフィック水泳選手権における今大会の結果に焦点を当てます。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個人メドレーは、バタフライ・背泳ぎ・平泳ぎ・自由形の順に泳いで合計タイムを競う種目です。パンパシフィック水泳選手権は環太平洋地域の国際大会で、2026年大会は米アーバインで開催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の優勝の時系列です。大会2日目の8月14日、400m個人メドレーで優勝し大会新記録・4分06秒75を記録、今大会の日本勢メダル第1号となりました。競泳4日目の8月16日、200m個人メドレーでも1分56秒02で優勝し、2冠が確定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400m個人メドレーの数字です。松下選手は4分06秒75の大会新記録で優勝しました。これは今大会における日本勢メダル第1号でもありました。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200m個人メドレーの数字です。松下選手は1分56秒02のタイムで優勝しました。2位は今福和志選手でした(選手名は表記ゆれの可能性があるため原文のまま扱っています)。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2種目の結果をまとめました。400m個人メドレーは大会新記録の4分06秒75、200m個人メドレーは1分56秒02。いずれも複数のメディアが一致させて報じている数字です。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2冠を支えた3つのポイントです。大会2日目の400m個人メドレーで大会新記録を出し、競泳4日目の200m個人メドレーでも優勝。距離の異なる2種目を制した点が今回の達成の核心です。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2つの優勝と2冠の関係を図にしました。8月14日の400m個人メドレー優勝と、8月16日の200m個人メドレー優勝、この2つが揃って初めて個人メドレー2冠が成立しています。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200m個人メドレーと400m個人メドレーを並べて確認します。距離も日付もタイムも異なる2つの種目を、松下選手はどちらも制しました。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種目のタイムを秒に換算してグラフにしました。200m個人メドレーは116.02秒(1分56秒02)、400m個人メドレーは246.75秒(4分06秒75)。この換算は確定タイムを単純に秒単位へ計算し直しただけの独自算出であり、新しい情報源によるもの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200m個人メドレーの結果を改めて確認します。松下選手のタイムは1分56秒02で、2位は今福和志選手でした。3位以下の詳細は本リサーチの範囲では確認できていません。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制作過程で発見した数字の訂正についてお伝えします。400m個人メドレーの大会新記録タイムが200mの結果として誤って紐付けられていた検索結果があり、複数の一次報道を突き合わせて訂正しました。全成果物で訂正後の正しい数値のみを使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誤解しやすい数字を表で整理しました。4分06秒75はあくまで400m個人メドレーのタイムであり、200mのタイムは1分56秒02です。この対応関係を全成果物で徹底しています。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パンパシフィック水泳選手権そのものについても補足します。環太平洋地域が参加する国際大会で、2026年大会は米カリフォルニア州アーバインで開催されています。大会全体の詳細な日程等は今回のリサーチ範囲を超えるため扱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松下選手の注目ポイントです。21歳、東洋大学に所属し、栃木県宇都宮市出身。この背景を持つ選手が国際大会で個人メドレー2種目を制しました。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扱わなかった内容を正直にお伝えします。男子4×100mメドレーリレーの銅メダルや17歳選手の話題が一部で言及されていましたが、選手名を一意に確定できなかったため、本テーマでは一切扱わず、松下選手の2冠のみに焦点を当て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何を意味するかを整理します。異なる距離の2種目を制したことは、スタミナと瞬発力の両方を高水準で備えている一例として位置づけられます。次戦の日程は確認できておらず、推測では述べ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視聴者にとっての実践的な示唆をまとめました。水泳ファンとして、地元・栃木を追う立場として、情報を発信する立場として、それぞれで意識したい点です。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2種目のタイムと順位、大会新記録の内容は複数の情報源で確認できた事実です。スタミナと瞬発力の評価はあくまで一般的な推測であり、断定はしていません。不明な点も明確に分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内容にはギャップが生まれがちです。200mと400mはタイムの単位も大きく異なりますし、リレーの銅メダル報道は選手名が確定できないため本テーマでは扱っていません。確認できているのは個人メドレー2種目の優勝のみ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確認できていないことを正直にお伝えします。リレーの銅メダルに関する選手名、400mの区間タイム、松下選手の今大会通算成績や次戦の日程は、本リサーチの範囲では確認できていません。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確認できていないことを一覧にしました。数字や選手名を推測で埋めず、正直に不明として扱っています。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本テーマの鮮度を数字で確認します。200m個人メドレー決勝は着手日の前日にあたる2026年8月16日に行われました。2日以内という当社の基準を満たしています。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改めて2つの数字を確認します。200m個人メドレーは1分56秒02、400m個人メドレーは大会新記録の4分06秒75。この2つが揃って個人メドレー2冠となりました。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松下知之選手が200m・400m個人メドレーの2種目を制し、パンパシフィック水泳選手権で2冠を達成した件をお伝えしました。数字は正確に引用し、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200mも、400mも。</a:t>
            </a:r>
          </a:p>
          <a:p>
            <a:pPr algn="l">
              <a:lnSpc>
                <a:spcPct val="115000"/>
              </a:lnSpc>
            </a:pPr>
            <a:r>
              <a:rPr sz="4200" b="1">
                <a:solidFill>
                  <a:srgbClr val="FFFFFF"/>
                </a:solidFill>
                <a:latin typeface="Yu Gothic"/>
              </a:rPr>
              <a:t>松下知之、個人メドレー2種目制覇でパンパシフィック2冠</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2026年8月16日、米アーバインでの200m個人メドレー優勝(1分56秒02)を中心に、出典付きで数字を正確に整理する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西日本新聞・下野新聞・東京新聞・共同通信(Yahoo!ニュース配信)・ライブドアニュース・docomoニュース(TBS NEWS DIG配信)(いずれも2026年8月16日)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個人メドレー2冠</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200m個人メドレー(1分56秒02)と400m個人メドレー(大会新記録・4分06秒75)の両方を松下知之選手が制した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西日本新聞・下野新聞・東京新聞(2026-08-16)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松下知之選手・大会の基礎知識</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2つの優勝を時系列で確認する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200m・400mそれぞれの数字を深掘りする</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数字の誤帰属トラップと訂正の経緯</a:t>
            </a:r>
          </a:p>
        </p:txBody>
      </p:sp>
      <p:sp>
        <p:nvSpPr>
          <p:cNvPr id="15" name="Oval 14"/>
          <p:cNvSpPr/>
          <p:nvPr/>
        </p:nvSpPr>
        <p:spPr>
          <a:xfrm>
            <a:off x="548640" y="58064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3E4F5"/>
                </a:solidFill>
                <a:latin typeface="Yu Gothic"/>
              </a:rPr>
              <a:t>確認できなかったこと・出典一覧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決勝翌日(2026年8月17日)という鮮度の高い話題である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21歳・地元宇都宮市出身の選手が国際大会で個人メドレー2種目を制するという明確な達成である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複数の独立した地方紙・通信社が数値を一致させて報じている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西日本新聞・下野新聞・東京新聞・共同通信(2026-08-16)</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西日本新聞・下野新聞・東京新聞・共同通信(Yahoo!ニュース配信)・ライブドアニュース・docomoニュース(TBS NEWS DIG配信)(2026-08-16)</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松下知之選手とは(初心者向け)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本題に入る前に、選手の前提を確認します。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松下知之選手(21)は、東洋大学に所属し、栃木県宇都宮市出身である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2026年パンパシフィック水泳選手権(米カリフォルニア州アーバイン)に出場している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選手の詳細な経歴(競技開始のきっかけ等)は本リサーチの範囲では扱わず、今大会の結果に焦点を当てる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西日本新聞・下野新聞・東京新聞・共同通信(Yahoo!ニュース配信)・ライブドアニュース・docomoニュース(TBS NEWS DIG配信)(2026-08-16)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個人メドレー・大会の用語解説(初心者向け)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『個人メドレー』とは、1人の選手がバタフライ→背泳ぎ→平泳ぎ→自由形の順に泳ぎ、合計タイムを競う種目である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『パンパシフィック水泳選手権』は環太平洋地域が参加する国際大会で、2026年大会は米アーバインで開催されている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『大会新記録』は、その大会の歴代最速記録の更新を指し、世界記録・日本記録とは異なる区分である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西日本新聞・下野新聞・東京新聞・共同通信(Yahoo!ニュース配信)・ライブドアニュース・docomoニュース(TBS NEWS DIG配信)(2026-08-16)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2つの優勝の時系列</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大会2日目(8/14)</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男子400m個人メドレーで優勝。大会新記録・4分06秒75、今大会日本勢メダル第1号</a:t>
            </a:r>
          </a:p>
        </p:txBody>
      </p:sp>
      <p:sp>
        <p:nvSpPr>
          <p:cNvPr id="11" name="Chevron 10"/>
          <p:cNvSpPr/>
          <p:nvPr/>
        </p:nvSpPr>
        <p:spPr>
          <a:xfrm>
            <a:off x="306804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競泳4日目(8/16)</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男子200m個人メドレー決勝で1分56秒02を記録し優勝</a:t>
            </a:r>
          </a:p>
        </p:txBody>
      </p:sp>
      <p:sp>
        <p:nvSpPr>
          <p:cNvPr id="17" name="Chevron 16"/>
          <p:cNvSpPr/>
          <p:nvPr/>
        </p:nvSpPr>
        <p:spPr>
          <a:xfrm>
            <a:off x="5978804"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2冠達成</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200m・400mの個人メドレー2種目での優勝が確定した</a:t>
            </a:r>
          </a:p>
        </p:txBody>
      </p:sp>
      <p:sp>
        <p:nvSpPr>
          <p:cNvPr id="23" name="Chevron 22"/>
          <p:cNvSpPr/>
          <p:nvPr/>
        </p:nvSpPr>
        <p:spPr>
          <a:xfrm>
            <a:off x="888956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2位確認</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200m個人メドレーでは今福和志選手(表記ゆれの可能性あり)が2位に入った</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西日本新聞・下野新聞・東京新聞・共同通信(Yahoo!ニュース配信)・ライブドアニュース・docomoニュース(TBS NEWS DIG配信)(2026-08-16)</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400m個人メドレー(8月14日)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4分06秒75</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大会新記録。今大会の日本勢メダル第1号でもあった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西日本新聞・下野新聞・東京新聞(2026-08-14)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200m個人メドレー(8月16日)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1分56秒02</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競泳4日目の決勝で優勝。今福和志選手(表記ゆれの可能性あり)が2位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西日本新聞・下野新聞・東京新聞(2026-08-16)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2種目の結果まとめ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数字</a:t>
                      </a:r>
                    </a:p>
                  </a:txBody>
                  <a:tcPr>
                    <a:solidFill>
                      <a:srgbClr val="2B3A55"/>
                    </a:solidFill>
                  </a:tcPr>
                </a:tc>
              </a:tr>
              <a:tr h="502920">
                <a:tc>
                  <a:txBody>
                    <a:bodyPr/>
                    <a:lstStyle/>
                    <a:p>
                      <a:pPr>
                        <a:defRPr sz="1200">
                          <a:solidFill>
                            <a:srgbClr val="1C2230"/>
                          </a:solidFill>
                          <a:latin typeface="Yu Gothic"/>
                        </a:defRPr>
                      </a:pPr>
                      <a:r>
                        <a:t>400m個人メドレー(8/14)</a:t>
                      </a:r>
                    </a:p>
                  </a:txBody>
                  <a:tcPr>
                    <a:solidFill>
                      <a:srgbClr val="FFFFFF"/>
                    </a:solidFill>
                  </a:tcPr>
                </a:tc>
                <a:tc>
                  <a:txBody>
                    <a:bodyPr/>
                    <a:lstStyle/>
                    <a:p>
                      <a:pPr>
                        <a:defRPr sz="1200">
                          <a:solidFill>
                            <a:srgbClr val="1C2230"/>
                          </a:solidFill>
                          <a:latin typeface="Yu Gothic"/>
                        </a:defRPr>
                      </a:pPr>
                      <a:r>
                        <a:t>4分06秒75(大会新記録)</a:t>
                      </a:r>
                    </a:p>
                  </a:txBody>
                  <a:tcPr>
                    <a:solidFill>
                      <a:srgbClr val="FFFFFF"/>
                    </a:solidFill>
                  </a:tcPr>
                </a:tc>
              </a:tr>
              <a:tr h="502920">
                <a:tc>
                  <a:txBody>
                    <a:bodyPr/>
                    <a:lstStyle/>
                    <a:p>
                      <a:pPr>
                        <a:defRPr sz="1200">
                          <a:solidFill>
                            <a:srgbClr val="1C2230"/>
                          </a:solidFill>
                          <a:latin typeface="Yu Gothic"/>
                        </a:defRPr>
                      </a:pPr>
                      <a:r>
                        <a:t>200m個人メドレー(8/16)</a:t>
                      </a:r>
                    </a:p>
                  </a:txBody>
                  <a:tcPr>
                    <a:solidFill>
                      <a:srgbClr val="F1F5FA"/>
                    </a:solidFill>
                  </a:tcPr>
                </a:tc>
                <a:tc>
                  <a:txBody>
                    <a:bodyPr/>
                    <a:lstStyle/>
                    <a:p>
                      <a:pPr>
                        <a:defRPr sz="1200">
                          <a:solidFill>
                            <a:srgbClr val="1C2230"/>
                          </a:solidFill>
                          <a:latin typeface="Yu Gothic"/>
                        </a:defRPr>
                      </a:pPr>
                      <a:r>
                        <a:t>1分56秒02(優勝)</a:t>
                      </a:r>
                    </a:p>
                  </a:txBody>
                  <a:tcPr>
                    <a:solidFill>
                      <a:srgbClr val="F1F5FA"/>
                    </a:solidFill>
                  </a:tcPr>
                </a:tc>
              </a:tr>
              <a:tr h="502920">
                <a:tc>
                  <a:txBody>
                    <a:bodyPr/>
                    <a:lstStyle/>
                    <a:p>
                      <a:pPr>
                        <a:defRPr sz="1200">
                          <a:solidFill>
                            <a:srgbClr val="1C2230"/>
                          </a:solidFill>
                          <a:latin typeface="Yu Gothic"/>
                        </a:defRPr>
                      </a:pPr>
                      <a:r>
                        <a:t>200mの2位</a:t>
                      </a:r>
                    </a:p>
                  </a:txBody>
                  <a:tcPr>
                    <a:solidFill>
                      <a:srgbClr val="FFFFFF"/>
                    </a:solidFill>
                  </a:tcPr>
                </a:tc>
                <a:tc>
                  <a:txBody>
                    <a:bodyPr/>
                    <a:lstStyle/>
                    <a:p>
                      <a:pPr>
                        <a:defRPr sz="1200">
                          <a:solidFill>
                            <a:srgbClr val="1C2230"/>
                          </a:solidFill>
                          <a:latin typeface="Yu Gothic"/>
                        </a:defRPr>
                      </a:pPr>
                      <a:r>
                        <a:t>今福和志選手(表記ゆれの可能性あり)</a:t>
                      </a:r>
                    </a:p>
                  </a:txBody>
                  <a:tcPr>
                    <a:solidFill>
                      <a:srgbClr val="FFFFFF"/>
                    </a:solidFill>
                  </a:tcPr>
                </a:tc>
              </a:tr>
              <a:tr h="502920">
                <a:tc>
                  <a:txBody>
                    <a:bodyPr/>
                    <a:lstStyle/>
                    <a:p>
                      <a:pPr>
                        <a:defRPr sz="1200">
                          <a:solidFill>
                            <a:srgbClr val="1C2230"/>
                          </a:solidFill>
                          <a:latin typeface="Yu Gothic"/>
                        </a:defRPr>
                      </a:pPr>
                      <a:r>
                        <a:t>達成内容</a:t>
                      </a:r>
                    </a:p>
                  </a:txBody>
                  <a:tcPr>
                    <a:solidFill>
                      <a:srgbClr val="F1F5FA"/>
                    </a:solidFill>
                  </a:tcPr>
                </a:tc>
                <a:tc>
                  <a:txBody>
                    <a:bodyPr/>
                    <a:lstStyle/>
                    <a:p>
                      <a:pPr>
                        <a:defRPr sz="1200">
                          <a:solidFill>
                            <a:srgbClr val="1C2230"/>
                          </a:solidFill>
                          <a:latin typeface="Yu Gothic"/>
                        </a:defRPr>
                      </a:pPr>
                      <a:r>
                        <a:t>個人メドレー2種目での優勝(2冠)</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西日本新聞・下野新聞・東京新聞(2026-08-14/16)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西日本新聞・下野新聞・東京新聞・共同通信(Yahoo!ニュース配信)・ライブドアニュース・docomoニュース(TBS NEWS DIG配信)(2026-08-16)</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2冠を支えた3つのポイント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大会2日目</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400m個人メドレー</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大会新記録・4分06秒75で優勝し、今大会日本勢メダル第1号となった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競泳4日目</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200m個人メドレー</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1分56秒02で優勝。連日ではなく大会中2度の決勝を制した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2種目</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個人メドレー制覇</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距離の異なる200m・400mの両方を制する2冠を達成した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西日本新聞・下野新聞・東京新聞・共同通信(Yahoo!ニュース配信)・ライブドアニュース・docomoニュース(TBS NEWS DIG配信)(2026-08-16)</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2つの優勝と『2冠』の関係(概念図)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400m個人メドレー</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8/14優勝。大会新記録4分06秒75</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200m個人メドレー</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8/16優勝。1分56秒02</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個人メドレー2冠</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距離の異なる2種目を制した</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大会2日目と競泳4日目、2つの決勝を制したことで『2冠』が成立した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西日本新聞・下野新聞・東京新聞(2026-08-14/16)</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西日本新聞・下野新聞・東京新聞・共同通信(Yahoo!ニュース配信)・ライブドアニュース・docomoニュース(TBS NEWS DIG配信)(2026-08-16)</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200m個人メドレー / 400m個人メドレー</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200m個人メドレー</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競泳4日目(8/16)の決勝で優勝</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タイムは1分56秒02</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今福和志選手(表記ゆれの可能性あり)が2位</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400m個人メドレー</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大会2日目(8/14)に優勝</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タイムは4分06秒75(大会新記録)</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今大会の日本勢メダル第1号だった</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西日本新聞・下野新聞・東京新聞・共同通信(Yahoo!ニュース配信)・ライブドアニュース・docomoニュース(TBS NEWS DIG配信)(2026-08-16)</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2種目のタイムを秒換算で比較</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西日本新聞・下野新聞・東京新聞の確定タイムを秒換算(独自算出、2026-08-14/16)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西日本新聞・下野新聞・東京新聞・共同通信(Yahoo!ニュース配信)・ライブドアニュース・docomoニュース(TBS NEWS DIG配信)(2026-08-16)</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200mの結果を正確に扱う</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200m個人メドレーの結果を改めて確認します。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松下選手のタイムは1分56秒02で、競泳4日目(8月16日)の決勝で優勝した</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2位は今福和志選手だった(選手名の表記は複数の一次報道に基づくが、表記ゆれの可能性があるため原文のまま扱う)</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3位以下の詳細な結果は本リサーチの範囲では確認できていない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西日本新聞・下野新聞・東京新聞・共同通信(Yahoo!ニュース配信)・ライブドアニュース・docomoニュース(TBS NEWS DIG配信)(2026-08-16)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重要な訂正:数字の誤帰属について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本テーマの制作過程で発見・訂正した点をお伝えします。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検証プロセスで、400m個人メドレーの大会新記録タイム『4分06秒75』が200mの結果として誤って紐付けられていた検索結果を発見した</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複数の一次報道記事を個別に突き合わせた結果、200mは1分56秒02、4分06秒75は400m(8/14)のタイムだと判明した</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本テーマの全成果物では、訂正後の正しい数値のみを使用している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 3章参照</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西日本新聞・下野新聞・東京新聞・共同通信(Yahoo!ニュース配信)・ライブドアニュース・docomoニュース(TBS NEWS DIG配信)(2026-08-16)</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誤解しやすい数字を整理する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正しい数字</a:t>
                      </a:r>
                    </a:p>
                  </a:txBody>
                  <a:tcPr>
                    <a:solidFill>
                      <a:srgbClr val="2B3A55"/>
                    </a:solidFill>
                  </a:tcPr>
                </a:tc>
              </a:tr>
              <a:tr h="502920">
                <a:tc>
                  <a:txBody>
                    <a:bodyPr/>
                    <a:lstStyle/>
                    <a:p>
                      <a:pPr>
                        <a:defRPr sz="1200">
                          <a:solidFill>
                            <a:srgbClr val="1C2230"/>
                          </a:solidFill>
                          <a:latin typeface="Yu Gothic"/>
                        </a:defRPr>
                      </a:pPr>
                      <a:r>
                        <a:t>200m個人メドレーのタイム</a:t>
                      </a:r>
                    </a:p>
                  </a:txBody>
                  <a:tcPr>
                    <a:solidFill>
                      <a:srgbClr val="FFFFFF"/>
                    </a:solidFill>
                  </a:tcPr>
                </a:tc>
                <a:tc>
                  <a:txBody>
                    <a:bodyPr/>
                    <a:lstStyle/>
                    <a:p>
                      <a:pPr>
                        <a:defRPr sz="1200">
                          <a:solidFill>
                            <a:srgbClr val="1C2230"/>
                          </a:solidFill>
                          <a:latin typeface="Yu Gothic"/>
                        </a:defRPr>
                      </a:pPr>
                      <a:r>
                        <a:t>1分56秒02(8/16)</a:t>
                      </a:r>
                    </a:p>
                  </a:txBody>
                  <a:tcPr>
                    <a:solidFill>
                      <a:srgbClr val="FFFFFF"/>
                    </a:solidFill>
                  </a:tcPr>
                </a:tc>
              </a:tr>
              <a:tr h="502920">
                <a:tc>
                  <a:txBody>
                    <a:bodyPr/>
                    <a:lstStyle/>
                    <a:p>
                      <a:pPr>
                        <a:defRPr sz="1200">
                          <a:solidFill>
                            <a:srgbClr val="1C2230"/>
                          </a:solidFill>
                          <a:latin typeface="Yu Gothic"/>
                        </a:defRPr>
                      </a:pPr>
                      <a:r>
                        <a:t>400m個人メドレーのタイム</a:t>
                      </a:r>
                    </a:p>
                  </a:txBody>
                  <a:tcPr>
                    <a:solidFill>
                      <a:srgbClr val="F1F5FA"/>
                    </a:solidFill>
                  </a:tcPr>
                </a:tc>
                <a:tc>
                  <a:txBody>
                    <a:bodyPr/>
                    <a:lstStyle/>
                    <a:p>
                      <a:pPr>
                        <a:defRPr sz="1200">
                          <a:solidFill>
                            <a:srgbClr val="1C2230"/>
                          </a:solidFill>
                          <a:latin typeface="Yu Gothic"/>
                        </a:defRPr>
                      </a:pPr>
                      <a:r>
                        <a:t>4分06秒75・大会新記録(8/14)</a:t>
                      </a:r>
                    </a:p>
                  </a:txBody>
                  <a:tcPr>
                    <a:solidFill>
                      <a:srgbClr val="F1F5FA"/>
                    </a:solidFill>
                  </a:tcPr>
                </a:tc>
              </a:tr>
              <a:tr h="502920">
                <a:tc>
                  <a:txBody>
                    <a:bodyPr/>
                    <a:lstStyle/>
                    <a:p>
                      <a:pPr>
                        <a:defRPr sz="1200">
                          <a:solidFill>
                            <a:srgbClr val="1C2230"/>
                          </a:solidFill>
                          <a:latin typeface="Yu Gothic"/>
                        </a:defRPr>
                      </a:pPr>
                      <a:r>
                        <a:t>よくある誤り</a:t>
                      </a:r>
                    </a:p>
                  </a:txBody>
                  <a:tcPr>
                    <a:solidFill>
                      <a:srgbClr val="FFFFFF"/>
                    </a:solidFill>
                  </a:tcPr>
                </a:tc>
                <a:tc>
                  <a:txBody>
                    <a:bodyPr/>
                    <a:lstStyle/>
                    <a:p>
                      <a:pPr>
                        <a:defRPr sz="1200">
                          <a:solidFill>
                            <a:srgbClr val="1C2230"/>
                          </a:solidFill>
                          <a:latin typeface="Yu Gothic"/>
                        </a:defRPr>
                      </a:pPr>
                      <a:r>
                        <a:t>4分06秒75を200mの結果と誤って紐付けること</a:t>
                      </a:r>
                    </a:p>
                  </a:txBody>
                  <a:tcPr>
                    <a:solidFill>
                      <a:srgbClr val="FFFFFF"/>
                    </a:solidFill>
                  </a:tcPr>
                </a:tc>
              </a:tr>
              <a:tr h="502920">
                <a:tc>
                  <a:txBody>
                    <a:bodyPr/>
                    <a:lstStyle/>
                    <a:p>
                      <a:pPr>
                        <a:defRPr sz="1200">
                          <a:solidFill>
                            <a:srgbClr val="1C2230"/>
                          </a:solidFill>
                          <a:latin typeface="Yu Gothic"/>
                        </a:defRPr>
                      </a:pPr>
                      <a:r>
                        <a:t>本テーマでの扱い</a:t>
                      </a:r>
                    </a:p>
                  </a:txBody>
                  <a:tcPr>
                    <a:solidFill>
                      <a:srgbClr val="F1F5FA"/>
                    </a:solidFill>
                  </a:tcPr>
                </a:tc>
                <a:tc>
                  <a:txBody>
                    <a:bodyPr/>
                    <a:lstStyle/>
                    <a:p>
                      <a:pPr>
                        <a:defRPr sz="1200">
                          <a:solidFill>
                            <a:srgbClr val="1C2230"/>
                          </a:solidFill>
                          <a:latin typeface="Yu Gothic"/>
                        </a:defRPr>
                      </a:pPr>
                      <a:r>
                        <a:t>上記の正しい対応関係のみを使用する</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 3章(数値の誤帰属についての訂正)</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西日本新聞・下野新聞・東京新聞・共同通信(Yahoo!ニュース配信)・ライブドアニュース・docomoニュース(TBS NEWS DIG配信)(2026-08-16)</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パンパシフィック水泳選手権とは(初心者向け補足)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大会そのものについても補足します。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環太平洋地域の国・地域が参加する国際競泳大会である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2026年大会は米カリフォルニア州アーバインで開催されている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大会全体の日程・種目数・他国の成績等、本リサーチの範囲を超える詳細は扱わない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西日本新聞・下野新聞・東京新聞・共同通信(Yahoo!ニュース配信)・ライブドアニュース・docomoニュース(TBS NEWS DIG配信)(2026-08-16)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松下選手の注目ポイント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21歳</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年齢</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国際大会で個人メドレー2種目を制した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東洋大学</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所属</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大学生選手としての国際大会での活躍である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宇都宮市</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出身</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栃木県宇都宮市の出身である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西日本新聞・下野新聞・東京新聞・共同通信(Yahoo!ニュース配信)・ライブドアニュース・docomoニュース(TBS NEWS DIG配信)(2026-08-16)</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確認できなかったこと(リレー関連)</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本テーマで扱わなかった内容を正直にお伝えします。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男子4×100mメドレーリレーでの日本の銅メダル獲得、および『17歳選手の3つ目のメダル』という報道が一部で言及されていた</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選手名の表記に複数のバリエーションがあり、本調査の範囲では正確な選手名を一意に確定できなかった</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本テーマではこの内容を一切扱わず、松下選手の個人メドレー2冠のみに焦点を当てている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西日本新聞・下野新聞・東京新聞・共同通信(Yahoo!ニュース配信)・ライブドアニュース・docomoニュース(TBS NEWS DIG配信)(2026-08-16)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これで何が変わるか・読者への示唆</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このニュースが意味することを整理します。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21歳・大学生選手が国際大会で異なる距離の2種目を制したことは、スタミナと瞬発力の両方を高水準で備えていることを示す一例として位置づけられる(断定的な評価は避ける)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地元・宇都宮市出身の選手の国際大会での活躍として、今後の大会結果にも注目が集まりうる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松下選手の次戦・次大会の日程は本リサーチの範囲では確認できていない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西日本新聞・下野新聞・東京新聞・共同通信(Yahoo!ニュース配信)・ライブドアニュース・docomoニュース(TBS NEWS DIG配信)(2026-08-16)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視聴者にとっての実践的な示唆</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水泳ファンとして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200m・400mそれぞれのタイム・順位を正確に区別して追うと理解が深まる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地元・栃木を追う立場として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宇都宮市出身選手の国際大会での活躍を継続して確認する視点が役立つ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情報を発信する立場として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似た数字(200m/400mのタイム)を混同しない正確な引用が信頼につながる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西日本新聞・下野新聞・東京新聞・共同通信(Yahoo!ニュース配信)・ライブドアニュース・docomoニュース(TBS NEWS DIG配信)(2026-08-16)</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事実: 200m個人メドレー1分56秒02で優勝(8/16)・400m個人メドレー4分06秒75の大会新記録で優勝(8/14、今大会日本勢メダル第1号)・今福和志選手が200mで2位</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推測: 異なる距離2種目の制覇をスタミナと瞬発力の両立の一例として位置づける評価(具体的なトレーニング内容は断定しない)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不明: 400mの区間タイム、松下選手の今大会全体の通算成績、次戦の日程、リレー・17歳選手の詳細</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西日本新聞・下野新聞・東京新聞・共同通信(Yahoo!ニュース配信)・ライブドアニュース・docomoニュース(TBS NEWS DIG配信)(2026-08-16)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見出しの印象 / 実際の内容のギャップ</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200mも400mも同じような速いタイムだった</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リレーでもメダルを獲得し3冠級の活躍だった</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今大会通算で何個もメダルを獲得している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実際に報じられている内容</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200mは1分56秒02、400mは4分06秒75と、距離が違う分タイムも大きく異なる</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リレーの銅メダル報道は選手名が確定できず本テーマでは扱っていない</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確認できているのは個人メドレー2種目の優勝のみである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西日本新聞・下野新聞・東京新聞・共同通信(Yahoo!ニュース配信)・ライブドアニュース・docomoニュース(TBS NEWS DIG配信)(2026-08-16)</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確認できていないこと(1)</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正直にお伝えします。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男子4×100mメドレーリレーでの日本の銅メダル獲得、および該当選手の氏名</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400m個人メドレーの区間別ラップタイム</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松下選手の今大会全体(この2種目を除く)の通算成績、次戦の日程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西日本新聞・下野新聞・東京新聞・共同通信(Yahoo!ニュース配信)・ライブドアニュース・docomoニュース(TBS NEWS DIG配信)(2026-08-16)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確認できていないこと(2・一覧)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状況</a:t>
                      </a:r>
                    </a:p>
                  </a:txBody>
                  <a:tcPr>
                    <a:solidFill>
                      <a:srgbClr val="2B3A55"/>
                    </a:solidFill>
                  </a:tcPr>
                </a:tc>
              </a:tr>
              <a:tr h="502920">
                <a:tc>
                  <a:txBody>
                    <a:bodyPr/>
                    <a:lstStyle/>
                    <a:p>
                      <a:pPr>
                        <a:defRPr sz="1200">
                          <a:solidFill>
                            <a:srgbClr val="1C2230"/>
                          </a:solidFill>
                          <a:latin typeface="Yu Gothic"/>
                        </a:defRPr>
                      </a:pPr>
                      <a:r>
                        <a:t>4×100mメドレーリレーの銅メダル・選手名</a:t>
                      </a:r>
                    </a:p>
                  </a:txBody>
                  <a:tcPr>
                    <a:solidFill>
                      <a:srgbClr val="FFFFFF"/>
                    </a:solidFill>
                  </a:tcPr>
                </a:tc>
                <a:tc>
                  <a:txBody>
                    <a:bodyPr/>
                    <a:lstStyle/>
                    <a:p>
                      <a:pPr>
                        <a:defRPr sz="1200">
                          <a:solidFill>
                            <a:srgbClr val="1C2230"/>
                          </a:solidFill>
                          <a:latin typeface="Yu Gothic"/>
                        </a:defRPr>
                      </a:pPr>
                      <a:r>
                        <a:t>表記ゆれのため一意に確定できず、本テーマでは扱わない</a:t>
                      </a:r>
                    </a:p>
                  </a:txBody>
                  <a:tcPr>
                    <a:solidFill>
                      <a:srgbClr val="FFFFFF"/>
                    </a:solidFill>
                  </a:tcPr>
                </a:tc>
              </a:tr>
              <a:tr h="502920">
                <a:tc>
                  <a:txBody>
                    <a:bodyPr/>
                    <a:lstStyle/>
                    <a:p>
                      <a:pPr>
                        <a:defRPr sz="1200">
                          <a:solidFill>
                            <a:srgbClr val="1C2230"/>
                          </a:solidFill>
                          <a:latin typeface="Yu Gothic"/>
                        </a:defRPr>
                      </a:pPr>
                      <a:r>
                        <a:t>400m個人メドレーの区間タイム</a:t>
                      </a:r>
                    </a:p>
                  </a:txBody>
                  <a:tcPr>
                    <a:solidFill>
                      <a:srgbClr val="F1F5FA"/>
                    </a:solidFill>
                  </a:tcPr>
                </a:tc>
                <a:tc>
                  <a:txBody>
                    <a:bodyPr/>
                    <a:lstStyle/>
                    <a:p>
                      <a:pPr>
                        <a:defRPr sz="1200">
                          <a:solidFill>
                            <a:srgbClr val="1C2230"/>
                          </a:solidFill>
                          <a:latin typeface="Yu Gothic"/>
                        </a:defRPr>
                      </a:pPr>
                      <a:r>
                        <a:t>本リサーチの範囲では確認できていない</a:t>
                      </a:r>
                    </a:p>
                  </a:txBody>
                  <a:tcPr>
                    <a:solidFill>
                      <a:srgbClr val="F1F5FA"/>
                    </a:solidFill>
                  </a:tcPr>
                </a:tc>
              </a:tr>
              <a:tr h="502920">
                <a:tc>
                  <a:txBody>
                    <a:bodyPr/>
                    <a:lstStyle/>
                    <a:p>
                      <a:pPr>
                        <a:defRPr sz="1200">
                          <a:solidFill>
                            <a:srgbClr val="1C2230"/>
                          </a:solidFill>
                          <a:latin typeface="Yu Gothic"/>
                        </a:defRPr>
                      </a:pPr>
                      <a:r>
                        <a:t>松下選手の今大会通算成績・次戦の日程</a:t>
                      </a:r>
                    </a:p>
                  </a:txBody>
                  <a:tcPr>
                    <a:solidFill>
                      <a:srgbClr val="FFFFFF"/>
                    </a:solidFill>
                  </a:tcPr>
                </a:tc>
                <a:tc>
                  <a:txBody>
                    <a:bodyPr/>
                    <a:lstStyle/>
                    <a:p>
                      <a:pPr>
                        <a:defRPr sz="1200">
                          <a:solidFill>
                            <a:srgbClr val="1C2230"/>
                          </a:solidFill>
                          <a:latin typeface="Yu Gothic"/>
                        </a:defRPr>
                      </a:pPr>
                      <a:r>
                        <a:t>本リサーチの範囲では確認できていない</a:t>
                      </a:r>
                    </a:p>
                  </a:txBody>
                  <a:tcPr>
                    <a:solidFill>
                      <a:srgbClr val="FFFFFF"/>
                    </a:solidFill>
                  </a:tcPr>
                </a:tc>
              </a:tr>
              <a:tr h="502920">
                <a:tc>
                  <a:txBody>
                    <a:bodyPr/>
                    <a:lstStyle/>
                    <a:p>
                      <a:pPr>
                        <a:defRPr sz="1200">
                          <a:solidFill>
                            <a:srgbClr val="1C2230"/>
                          </a:solidFill>
                          <a:latin typeface="Yu Gothic"/>
                        </a:defRPr>
                      </a:pPr>
                      <a:r>
                        <a:t>観客動員数・テレビ視聴率</a:t>
                      </a:r>
                    </a:p>
                  </a:txBody>
                  <a:tcPr>
                    <a:solidFill>
                      <a:srgbClr val="F1F5FA"/>
                    </a:solidFill>
                  </a:tcPr>
                </a:tc>
                <a:tc>
                  <a:txBody>
                    <a:bodyPr/>
                    <a:lstStyle/>
                    <a:p>
                      <a:pPr>
                        <a:defRPr sz="1200">
                          <a:solidFill>
                            <a:srgbClr val="1C2230"/>
                          </a:solidFill>
                          <a:latin typeface="Yu Gothic"/>
                        </a:defRPr>
                      </a:pPr>
                      <a:r>
                        <a:t>本リサーチの範囲では確認できていない</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西日本新聞・下野新聞・東京新聞・共同通信(Yahoo!ニュース配信)・ライブドアニュース・docomoニュース(TBS NEWS DIG配信)(2026-08-16)</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決勝翌日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200m個人メドレー決勝(2026年8月16日)は着手日(2026年8月17日)の前日。着手日を含めて2日以内という基準を満たす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docs/06_Content_R&amp;D.md基準</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主な出典一覧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西日本新聞</a:t>
                      </a:r>
                    </a:p>
                  </a:txBody>
                  <a:tcPr>
                    <a:solidFill>
                      <a:srgbClr val="FFFFFF"/>
                    </a:solidFill>
                  </a:tcPr>
                </a:tc>
                <a:tc>
                  <a:txBody>
                    <a:bodyPr/>
                    <a:lstStyle/>
                    <a:p>
                      <a:pPr>
                        <a:defRPr sz="1200">
                          <a:solidFill>
                            <a:srgbClr val="1C2230"/>
                          </a:solidFill>
                          <a:latin typeface="Yu Gothic"/>
                        </a:defRPr>
                      </a:pPr>
                      <a:r>
                        <a:t>200m・400m両種目の結果確認(2026-08-16)</a:t>
                      </a:r>
                    </a:p>
                  </a:txBody>
                  <a:tcPr>
                    <a:solidFill>
                      <a:srgbClr val="FFFFFF"/>
                    </a:solidFill>
                  </a:tcPr>
                </a:tc>
              </a:tr>
              <a:tr h="502920">
                <a:tc>
                  <a:txBody>
                    <a:bodyPr/>
                    <a:lstStyle/>
                    <a:p>
                      <a:pPr>
                        <a:defRPr sz="1200">
                          <a:solidFill>
                            <a:srgbClr val="1C2230"/>
                          </a:solidFill>
                          <a:latin typeface="Yu Gothic"/>
                        </a:defRPr>
                      </a:pPr>
                      <a:r>
                        <a:t>下野新聞</a:t>
                      </a:r>
                    </a:p>
                  </a:txBody>
                  <a:tcPr>
                    <a:solidFill>
                      <a:srgbClr val="F1F5FA"/>
                    </a:solidFill>
                  </a:tcPr>
                </a:tc>
                <a:tc>
                  <a:txBody>
                    <a:bodyPr/>
                    <a:lstStyle/>
                    <a:p>
                      <a:pPr>
                        <a:defRPr sz="1200">
                          <a:solidFill>
                            <a:srgbClr val="1C2230"/>
                          </a:solidFill>
                          <a:latin typeface="Yu Gothic"/>
                        </a:defRPr>
                      </a:pPr>
                      <a:r>
                        <a:t>地元・栃木関連の詳細確認(2026-08-16)</a:t>
                      </a:r>
                    </a:p>
                  </a:txBody>
                  <a:tcPr>
                    <a:solidFill>
                      <a:srgbClr val="F1F5FA"/>
                    </a:solidFill>
                  </a:tcPr>
                </a:tc>
              </a:tr>
              <a:tr h="502920">
                <a:tc>
                  <a:txBody>
                    <a:bodyPr/>
                    <a:lstStyle/>
                    <a:p>
                      <a:pPr>
                        <a:defRPr sz="1200">
                          <a:solidFill>
                            <a:srgbClr val="1C2230"/>
                          </a:solidFill>
                          <a:latin typeface="Yu Gothic"/>
                        </a:defRPr>
                      </a:pPr>
                      <a:r>
                        <a:t>東京新聞</a:t>
                      </a:r>
                    </a:p>
                  </a:txBody>
                  <a:tcPr>
                    <a:solidFill>
                      <a:srgbClr val="FFFFFF"/>
                    </a:solidFill>
                  </a:tcPr>
                </a:tc>
                <a:tc>
                  <a:txBody>
                    <a:bodyPr/>
                    <a:lstStyle/>
                    <a:p>
                      <a:pPr>
                        <a:defRPr sz="1200">
                          <a:solidFill>
                            <a:srgbClr val="1C2230"/>
                          </a:solidFill>
                          <a:latin typeface="Yu Gothic"/>
                        </a:defRPr>
                      </a:pPr>
                      <a:r>
                        <a:t>大会結果の確認(2026-08-16)</a:t>
                      </a:r>
                    </a:p>
                  </a:txBody>
                  <a:tcPr>
                    <a:solidFill>
                      <a:srgbClr val="FFFFFF"/>
                    </a:solidFill>
                  </a:tcPr>
                </a:tc>
              </a:tr>
              <a:tr h="502920">
                <a:tc>
                  <a:txBody>
                    <a:bodyPr/>
                    <a:lstStyle/>
                    <a:p>
                      <a:pPr>
                        <a:defRPr sz="1200">
                          <a:solidFill>
                            <a:srgbClr val="1C2230"/>
                          </a:solidFill>
                          <a:latin typeface="Yu Gothic"/>
                        </a:defRPr>
                      </a:pPr>
                      <a:r>
                        <a:t>共同通信(Yahoo!ニュース配信)・ライブドアニュース・docomoニュース(TBS NEWS DIG配信)</a:t>
                      </a:r>
                    </a:p>
                  </a:txBody>
                  <a:tcPr>
                    <a:solidFill>
                      <a:srgbClr val="F1F5FA"/>
                    </a:solidFill>
                  </a:tcPr>
                </a:tc>
                <a:tc>
                  <a:txBody>
                    <a:bodyPr/>
                    <a:lstStyle/>
                    <a:p>
                      <a:pPr>
                        <a:defRPr sz="1200">
                          <a:solidFill>
                            <a:srgbClr val="1C2230"/>
                          </a:solidFill>
                          <a:latin typeface="Yu Gothic"/>
                        </a:defRPr>
                      </a:pPr>
                      <a:r>
                        <a:t>数値の相互確認(2026-08-16)</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西日本新聞・下野新聞・東京新聞・共同通信(Yahoo!ニュース配信)・ライブドアニュース・docomoニュース(TBS NEWS DIG配信)(2026-08-16)</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改めて、2つの数字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1:56.02 / 4:06.75</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200m個人メドレー(8/16)と400m個人メドレー・大会新記録(8/14)、それぞれの確定タイム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西日本新聞・下野新聞・東京新聞(2026-08-14/16)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200mも、400mも。松下知之、個人メドレー2冠。</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200m個人メドレー(1分56秒02)と400m個人メドレー(大会新記録・4分06秒75)、2つの優勝を数字を正確に、出典付きで整理してお届けしました。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