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代表GK鈴木彩艶が2026年8月19日、プレミアリーグ・アストン・ヴィラへの完全移籍を発表しました。今夏有力視されていたPSG移籍は土壇場で破談となっており、そこからわずか数日での電撃移籍です。今日はこの急展開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結論から確認します。鈴木彩艶のアストン・ヴィラ移籍の移籍金は、日本人サッカー選手史上最高額とされる中島翔哉選手の記録と並ぶタイ記録です。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今日は6つの流れでお伝えします。今回の移籍の内容から、PSG破談の経緯、移籍金の記録比較まで、正確に数字を引用しながら整理します。誇張せず、確認できなかったことは正直にお伝えします。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このテーマを扱う理由です。高い鮮度に加え、PSG破談からの電撃移籍という予想外の展開、日本人史上最高額タイという記録に注目しました。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鈴木彩艶は23歳のゴールキーパーで、浦和レッズ・シント・トロイデンを経てパルマ・カルチョで活躍し、日本代表の正GKも務めています。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今回の移籍の概要です。パルマ・カルチョからプレミアリーグのアストン・ヴィラへの完全移籍が発表されました。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移籍先のアストン・ヴィラは、2025-26シーズンのヨーロッパリーグ王者です。具体的な起用方針までは確認できていません。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パルマでは2シーズンで公式戦通算59試合に出場し、セリエA残留に貢献しました。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今夏当初はPSGへの移籍が最有力視されていましたが、代理人手数料をめぐる交渉が土壇場で決裂し、破談となりました。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有力視されていたPSG移籍と、実現したアストン・ヴィラ移籍を対比しました。破談からわずか数日での電撃移籍という展開です。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移籍金の内訳です。固定費と達成条項による追加分を合わせて最大3,500万ユーロとされていますが、一部報道では表記に差異があります。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報道間で円換算額に若干の差異がありますが、原因は特定できていません。数字はいずれも報道どおりに扱い、推測は行っていません。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移籍金はユーロ建てで最大3,500万ユーロとされています。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日本人サッカー選手史上最高額は中島翔哉選手の3,500万ユーロで、今回の鈴木選手の移籍金はこの記録と並ぶタイとされています。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今回の移籍に至る流れを図にしました。PSGとの合意から破談、そしてわずか数日でのアストン・ヴィラへの電撃移籍という流れです。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今回の移籍劇を3ステップで総括しました。PSGとの破談から、数日での電撃合意、そして日本人最高額タイという記録という流れです。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ユヴェントスからも関心が寄せられていたと報じられていますが、具体的な交渉状況までは確認できていません。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PSGとの破談からわずか数日で、アストン・ヴィラへの移籍が決定しました。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GKというポジションでの高額移籍は日本人選手としては珍しく、海外での評価の高さを示す事例として注目されます。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移籍金ランキング上位を対比しました。今回の鈴木選手の移籍金は、2019年の中島選手の記録と並ぶタイとなっています。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今回の移籍劇の要点をまとめました。移籍先、移籍金、破談からの経緯、発表日という4点です。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今後の見どころとして、具体的な起用方針や日本代表への影響が挙げられますが、いずれも断定はできません。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2026年FIFAワールドカップでは日本代表の正GKとして全4試合に出場しており、今回の高評価の背景の一つとみられます。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今回の移籍に関連する3クラブの概要です。移籍元のパルマ、移籍先のアストン・ヴィラ、そして破談となったPSGです。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パルマには2024年夏から2026年夏まで2シーズン在籍し、セリエA残留に貢献しました。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確認できなかったことを正直にお伝えします。移籍金の円換算差異、破談の詳細条件、起用方針は確認できていません。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確認できている事実と、今後の不確定要素を対比しました。確定事実と未確定要素を明確に区別してお伝えします。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このニュースが読者にとって意味することをまとめました。サッカー・日本代表を追う立場、移籍市場に関心がある立場、日本人選手の活躍を追う立場、それぞれで意識したい視点です。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まとめです。PSG破談からの電撃移籍と、日本人最高額タイという記録、そして確認できていない点を正直にお伝えしました。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鈴木彩艶選手のアストン・ヴィラ移籍について、PSG破談からの電撃移籍の経緯と移籍金記録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PSG破談から</a:t>
            </a:r>
          </a:p>
          <a:p>
            <a:pPr algn="l">
              <a:lnSpc>
                <a:spcPct val="115000"/>
              </a:lnSpc>
            </a:pPr>
            <a:r>
              <a:rPr sz="4200" b="1">
                <a:solidFill>
                  <a:srgbClr val="FFFFFF"/>
                </a:solidFill>
                <a:latin typeface="Yu Gothic"/>
              </a:rPr>
              <a:t>わずか数日。</a:t>
            </a:r>
          </a:p>
          <a:p>
            <a:pPr algn="l">
              <a:lnSpc>
                <a:spcPct val="115000"/>
              </a:lnSpc>
            </a:pPr>
            <a:r>
              <a:rPr sz="4200" b="1">
                <a:solidFill>
                  <a:srgbClr val="FFFFFF"/>
                </a:solidFill>
                <a:latin typeface="Yu Gothic"/>
              </a:rPr>
              <a:t>鈴木彩艶、電撃移籍の真相</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2026年8月19日発表——アストン・ヴィラ加入、移籍金は日本人最高額タイ</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サッカーキング・マイナビニュース(2026年8月19日)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移籍金、日本人サッカー選手史上最高額タイ</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中島翔哉(2019年)の3,500万ユーロと並ぶ規模(2026年8月19日発表)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サッカーキング・マイナビニュース(2026-08-19)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鈴木彩艶とは・基礎知識</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今回の移籍の内容を確認する</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PSG破談から電撃移籍までの経緯を確認する</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移籍金の規模・記録との比較を確認する</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着手日当日(2026年8月19日)発表という最も高い鮮度の話題である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有力視されていたPSG移籍が破談し、数日で別クラブへ移籍という予想外の展開である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移籍金が日本人史上最高額タイという、具体的で分かりやすい記録である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複数の独立した情報源(サッカーキング・マイナビニュース等)で確認できる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サッカーキング・マイナビニュース(2026-08-19)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鈴木彩艶とは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23歳、ポジションはゴールキーパー(GK)</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浦和レッズ・シント・トロイデンを経て、2024年夏からパルマ・カルチョ1913に加入</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パルマで2シーズン、公式戦通算59試合に出場しセリエA残留に貢献</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2026年FIFAワールドカップで日本代表の正GKとして全4試合に出場</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サッカーキング・マイナビニュース(2026-08-19)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今回の移籍の概要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移籍元</a:t>
                      </a:r>
                    </a:p>
                  </a:txBody>
                  <a:tcPr>
                    <a:solidFill>
                      <a:srgbClr val="FFFFFF"/>
                    </a:solidFill>
                  </a:tcPr>
                </a:tc>
                <a:tc>
                  <a:txBody>
                    <a:bodyPr/>
                    <a:lstStyle/>
                    <a:p>
                      <a:pPr>
                        <a:defRPr sz="1200">
                          <a:solidFill>
                            <a:srgbClr val="121C1F"/>
                          </a:solidFill>
                          <a:latin typeface="Yu Gothic"/>
                        </a:defRPr>
                      </a:pPr>
                      <a:r>
                        <a:t>パルマ・カルチョ1913(セリエA)</a:t>
                      </a:r>
                    </a:p>
                  </a:txBody>
                  <a:tcPr>
                    <a:solidFill>
                      <a:srgbClr val="FFFFFF"/>
                    </a:solidFill>
                  </a:tcPr>
                </a:tc>
              </a:tr>
              <a:tr h="502920">
                <a:tc>
                  <a:txBody>
                    <a:bodyPr/>
                    <a:lstStyle/>
                    <a:p>
                      <a:pPr>
                        <a:defRPr sz="1200">
                          <a:solidFill>
                            <a:srgbClr val="121C1F"/>
                          </a:solidFill>
                          <a:latin typeface="Yu Gothic"/>
                        </a:defRPr>
                      </a:pPr>
                      <a:r>
                        <a:t>移籍先</a:t>
                      </a:r>
                    </a:p>
                  </a:txBody>
                  <a:tcPr>
                    <a:solidFill>
                      <a:srgbClr val="F0F7F4"/>
                    </a:solidFill>
                  </a:tcPr>
                </a:tc>
                <a:tc>
                  <a:txBody>
                    <a:bodyPr/>
                    <a:lstStyle/>
                    <a:p>
                      <a:pPr>
                        <a:defRPr sz="1200">
                          <a:solidFill>
                            <a:srgbClr val="121C1F"/>
                          </a:solidFill>
                          <a:latin typeface="Yu Gothic"/>
                        </a:defRPr>
                      </a:pPr>
                      <a:r>
                        <a:t>アストン・ヴィラ(プレミアリーグ)</a:t>
                      </a:r>
                    </a:p>
                  </a:txBody>
                  <a:tcPr>
                    <a:solidFill>
                      <a:srgbClr val="F0F7F4"/>
                    </a:solidFill>
                  </a:tcPr>
                </a:tc>
              </a:tr>
              <a:tr h="502920">
                <a:tc>
                  <a:txBody>
                    <a:bodyPr/>
                    <a:lstStyle/>
                    <a:p>
                      <a:pPr>
                        <a:defRPr sz="1200">
                          <a:solidFill>
                            <a:srgbClr val="121C1F"/>
                          </a:solidFill>
                          <a:latin typeface="Yu Gothic"/>
                        </a:defRPr>
                      </a:pPr>
                      <a:r>
                        <a:t>移籍形態</a:t>
                      </a:r>
                    </a:p>
                  </a:txBody>
                  <a:tcPr>
                    <a:solidFill>
                      <a:srgbClr val="FFFFFF"/>
                    </a:solidFill>
                  </a:tcPr>
                </a:tc>
                <a:tc>
                  <a:txBody>
                    <a:bodyPr/>
                    <a:lstStyle/>
                    <a:p>
                      <a:pPr>
                        <a:defRPr sz="1200">
                          <a:solidFill>
                            <a:srgbClr val="121C1F"/>
                          </a:solidFill>
                          <a:latin typeface="Yu Gothic"/>
                        </a:defRPr>
                      </a:pPr>
                      <a:r>
                        <a:t>完全移籍</a:t>
                      </a:r>
                    </a:p>
                  </a:txBody>
                  <a:tcPr>
                    <a:solidFill>
                      <a:srgbClr val="FFFFFF"/>
                    </a:solidFill>
                  </a:tcPr>
                </a:tc>
              </a:tr>
              <a:tr h="502920">
                <a:tc>
                  <a:txBody>
                    <a:bodyPr/>
                    <a:lstStyle/>
                    <a:p>
                      <a:pPr>
                        <a:defRPr sz="1200">
                          <a:solidFill>
                            <a:srgbClr val="121C1F"/>
                          </a:solidFill>
                          <a:latin typeface="Yu Gothic"/>
                        </a:defRPr>
                      </a:pPr>
                      <a:r>
                        <a:t>発表日</a:t>
                      </a:r>
                    </a:p>
                  </a:txBody>
                  <a:tcPr>
                    <a:solidFill>
                      <a:srgbClr val="F0F7F4"/>
                    </a:solidFill>
                  </a:tcPr>
                </a:tc>
                <a:tc>
                  <a:txBody>
                    <a:bodyPr/>
                    <a:lstStyle/>
                    <a:p>
                      <a:pPr>
                        <a:defRPr sz="1200">
                          <a:solidFill>
                            <a:srgbClr val="121C1F"/>
                          </a:solidFill>
                          <a:latin typeface="Yu Gothic"/>
                        </a:defRPr>
                      </a:pPr>
                      <a:r>
                        <a:t>2026年8月19日</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サッカーキング・マイナビニュース(2026-08-19)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移籍先アストン・ヴィラについて</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移籍先クラブの状況です。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プレミアリーグ所属クラブ</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2025-26シーズンのヨーロッパリーグ(EL)王者</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プレミアリーグ・欧州チャンピオンズリーグでの出場機会が見込まれている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具体的な起用方針(正GKとしての起用かどうか)は本調査の範囲では確認できていない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サッカーキング・マイナビニュース(2026-08-19)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パルマでの実績</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2シーズンで公式戦通算59試合出場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セリエA残留に貢献</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サッカーキング・マイナビニュース(2026-08-19)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PSG移籍が有力視されていた経緯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今夏当初の状況です。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今夏の移籍市場では当初、パリ・サンジェルマン(PSG)が最有力候補とされていた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移籍金3,500万ユーロ(約64億円)、2031年6月末までの5年契約という条件で合意に達していた</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しかし代理人の手数料をめぐる交渉が土壇場で決裂し、破談となった</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破談に至った代理人手数料の具体的な金額・条件の詳細は本調査の範囲では確認できていない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サッカーキング・マイナビニュース(2026-08-19)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有力視されていたPSG移籍 vs 実現したアストン・ヴィラ移籍</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PSG(破談)</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移籍金3,500万ユーロで合意</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2031年6月末までの5年契約案</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代理人手数料をめぐり土壇場で破談</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アストン・ヴィラ(実現)</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移籍金は最大3,500万ユーロ相当</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プレミアリーグ・EL王者クラブ</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破談からわずか数日で合意・発表</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移籍金の内訳(報道ベース)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報じられている内容</a:t>
                      </a:r>
                    </a:p>
                  </a:txBody>
                  <a:tcPr>
                    <a:solidFill>
                      <a:srgbClr val="1B2A2E"/>
                    </a:solidFill>
                  </a:tcPr>
                </a:tc>
              </a:tr>
              <a:tr h="502920">
                <a:tc>
                  <a:txBody>
                    <a:bodyPr/>
                    <a:lstStyle/>
                    <a:p>
                      <a:pPr>
                        <a:defRPr sz="1200">
                          <a:solidFill>
                            <a:srgbClr val="121C1F"/>
                          </a:solidFill>
                          <a:latin typeface="Yu Gothic"/>
                        </a:defRPr>
                      </a:pPr>
                      <a:r>
                        <a:t>固定移籍金</a:t>
                      </a:r>
                    </a:p>
                  </a:txBody>
                  <a:tcPr>
                    <a:solidFill>
                      <a:srgbClr val="FFFFFF"/>
                    </a:solidFill>
                  </a:tcPr>
                </a:tc>
                <a:tc>
                  <a:txBody>
                    <a:bodyPr/>
                    <a:lstStyle/>
                    <a:p>
                      <a:pPr>
                        <a:defRPr sz="1200">
                          <a:solidFill>
                            <a:srgbClr val="121C1F"/>
                          </a:solidFill>
                          <a:latin typeface="Yu Gothic"/>
                        </a:defRPr>
                      </a:pPr>
                      <a:r>
                        <a:t>3,000万ユーロ(約55億円)</a:t>
                      </a:r>
                    </a:p>
                  </a:txBody>
                  <a:tcPr>
                    <a:solidFill>
                      <a:srgbClr val="FFFFFF"/>
                    </a:solidFill>
                  </a:tcPr>
                </a:tc>
              </a:tr>
              <a:tr h="502920">
                <a:tc>
                  <a:txBody>
                    <a:bodyPr/>
                    <a:lstStyle/>
                    <a:p>
                      <a:pPr>
                        <a:defRPr sz="1200">
                          <a:solidFill>
                            <a:srgbClr val="121C1F"/>
                          </a:solidFill>
                          <a:latin typeface="Yu Gothic"/>
                        </a:defRPr>
                      </a:pPr>
                      <a:r>
                        <a:t>達成条項による追加分(最大)</a:t>
                      </a:r>
                    </a:p>
                  </a:txBody>
                  <a:tcPr>
                    <a:solidFill>
                      <a:srgbClr val="F0F7F4"/>
                    </a:solidFill>
                  </a:tcPr>
                </a:tc>
                <a:tc>
                  <a:txBody>
                    <a:bodyPr/>
                    <a:lstStyle/>
                    <a:p>
                      <a:pPr>
                        <a:defRPr sz="1200">
                          <a:solidFill>
                            <a:srgbClr val="121C1F"/>
                          </a:solidFill>
                          <a:latin typeface="Yu Gothic"/>
                        </a:defRPr>
                      </a:pPr>
                      <a:r>
                        <a:t>500万ユーロ(約9億円)</a:t>
                      </a:r>
                    </a:p>
                  </a:txBody>
                  <a:tcPr>
                    <a:solidFill>
                      <a:srgbClr val="F0F7F4"/>
                    </a:solidFill>
                  </a:tcPr>
                </a:tc>
              </a:tr>
              <a:tr h="502920">
                <a:tc>
                  <a:txBody>
                    <a:bodyPr/>
                    <a:lstStyle/>
                    <a:p>
                      <a:pPr>
                        <a:defRPr sz="1200">
                          <a:solidFill>
                            <a:srgbClr val="121C1F"/>
                          </a:solidFill>
                          <a:latin typeface="Yu Gothic"/>
                        </a:defRPr>
                      </a:pPr>
                      <a:r>
                        <a:t>合計(最大)</a:t>
                      </a:r>
                    </a:p>
                  </a:txBody>
                  <a:tcPr>
                    <a:solidFill>
                      <a:srgbClr val="FFFFFF"/>
                    </a:solidFill>
                  </a:tcPr>
                </a:tc>
                <a:tc>
                  <a:txBody>
                    <a:bodyPr/>
                    <a:lstStyle/>
                    <a:p>
                      <a:pPr>
                        <a:defRPr sz="1200">
                          <a:solidFill>
                            <a:srgbClr val="121C1F"/>
                          </a:solidFill>
                          <a:latin typeface="Yu Gothic"/>
                        </a:defRPr>
                      </a:pPr>
                      <a:r>
                        <a:t>3,500万ユーロ(約64億円)</a:t>
                      </a:r>
                    </a:p>
                  </a:txBody>
                  <a:tcPr>
                    <a:solidFill>
                      <a:srgbClr val="FFFFFF"/>
                    </a:solidFill>
                  </a:tcPr>
                </a:tc>
              </a:tr>
              <a:tr h="502920">
                <a:tc>
                  <a:txBody>
                    <a:bodyPr/>
                    <a:lstStyle/>
                    <a:p>
                      <a:pPr>
                        <a:defRPr sz="1200">
                          <a:solidFill>
                            <a:srgbClr val="121C1F"/>
                          </a:solidFill>
                          <a:latin typeface="Yu Gothic"/>
                        </a:defRPr>
                      </a:pPr>
                      <a:r>
                        <a:t>一部報道での表記</a:t>
                      </a:r>
                    </a:p>
                  </a:txBody>
                  <a:tcPr>
                    <a:solidFill>
                      <a:srgbClr val="F0F7F4"/>
                    </a:solidFill>
                  </a:tcPr>
                </a:tc>
                <a:tc>
                  <a:txBody>
                    <a:bodyPr/>
                    <a:lstStyle/>
                    <a:p>
                      <a:pPr>
                        <a:defRPr sz="1200">
                          <a:solidFill>
                            <a:srgbClr val="121C1F"/>
                          </a:solidFill>
                          <a:latin typeface="Yu Gothic"/>
                        </a:defRPr>
                      </a:pPr>
                      <a:r>
                        <a:t>約65億円とする報道もあり</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サッカーキング・マイナビニュース(2026-08-19)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報道間の数字の差異について(正直な開示)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確認できた数字のばらつきです。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複数の報道は移籍金を『固定3,000万ユーロ+追加最大500万ユーロ=最大3,500万ユーロ(約64億円)』と一致して伝えている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一部報道では『約65億円』という表記もあり、円換算の時点・レートの違いによる可能性がある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本調査の範囲ではこの差異の正確な原因までは特定できていない</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いずれの数字も推測で作成したものではなく、報道どおりに扱っている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サッカーキング・マイナビニュース(2026-08-19)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移籍金(ユーロ建て)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最大3,500万ユーロ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固定3,000万ユーロ+達成条項による追加最大500万ユーロ</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サッカーキング・マイナビニュース(2026-08-19)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日本人サッカー選手の移籍金記録との比較</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歴代記録との比較です。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現在の日本人サッカー選手史上最高額は、元日本代表MF中島翔哉選手の3,500万ユーロ(約56億円)</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2019年2月、中島選手がポルティモネンセ(ポルトガル)からアル・ドゥハイル(カタール)へ移籍した際の移籍金</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鈴木選手の今回の移籍金(最大3,500万ユーロ)は、この記録と並ぶタイとされている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両者の移籍金の算出方法・条件(達成条項の有無等)が完全に同一かどうかは本調査の範囲では確認できていない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フットボールチャンネル・サッカーキング(2026-08-19)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今回の移籍に至る流れ</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PSGと移籍金3,500万ユーロで合意</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5年契約案も提示</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代理人手数料をめぐり土壇場で破談</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PSG移籍が白紙に</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数日でアストン・ヴィラへ電撃移籍</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移籍金は日本人最高額タイ</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PSGとの合意から破談、電撃移籍までの流れ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サッカーキング・マイナビニュース(2026-08-19)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今回の移籍劇の3ステップ総括</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1. PSGと移籍金合意も破談</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代理人手数料をめぐる交渉決裂</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2. わずか数日でアストン・ヴィラ合意</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EL王者クラブへのステップアップ</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3. 移籍金は日本人最高額タイ</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中島翔哉選手の記録と並ぶ</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ユヴェントスの関心について</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他クラブの動向です。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今夏の移籍市場ではユヴェントスからも関心が寄せられていたと報じられている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ユヴェントスとの具体的な交渉状況・条件の詳細は本調査の範囲では確認できていない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最終的にはアストン・ヴィラへの移籍で決着した</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他クラブとの交渉の詳細な経緯は確認できていないため、断定的な記述は避ける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サッカーキング(2026-08-19)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破談から発表までの期間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わずか数日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PSG破談後、急転直下でアストン・ヴィラ移籍が決定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サッカーキング・マイナビニュース(2026-08-19)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サッカー界における本移籍の位置づけ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業界内での本移籍の意味です。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日本人選手の海外での評価の高さを示す事例として注目される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GKというポジションでの高額移籍は、日本人選手としては珍しい部類とされる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他の日本人選手の移籍金との詳細な比較検証は本調査では行っていない</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移籍金の規模と、実際のプレー面での評価は別軸として扱う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移籍金ランキング上位との比較</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1位タイ: 鈴木彩艶(今回)</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パルマ→アストン・ヴィラ</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最大3,500万ユーロ</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2026年8月</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1位タイ: 中島翔哉(2019年)</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ポルティモネンセ→アル・ドゥハイル</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3,500万ユーロ</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2019年2月</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今回の移籍劇の要点まとめ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移籍</a:t>
                      </a:r>
                    </a:p>
                  </a:txBody>
                  <a:tcPr>
                    <a:solidFill>
                      <a:srgbClr val="FFFFFF"/>
                    </a:solidFill>
                  </a:tcPr>
                </a:tc>
                <a:tc>
                  <a:txBody>
                    <a:bodyPr/>
                    <a:lstStyle/>
                    <a:p>
                      <a:pPr>
                        <a:defRPr sz="1200">
                          <a:solidFill>
                            <a:srgbClr val="121C1F"/>
                          </a:solidFill>
                          <a:latin typeface="Yu Gothic"/>
                        </a:defRPr>
                      </a:pPr>
                      <a:r>
                        <a:t>パルマ・カルチョ→アストン・ヴィラ(完全移籍)</a:t>
                      </a:r>
                    </a:p>
                  </a:txBody>
                  <a:tcPr>
                    <a:solidFill>
                      <a:srgbClr val="FFFFFF"/>
                    </a:solidFill>
                  </a:tcPr>
                </a:tc>
              </a:tr>
              <a:tr h="502920">
                <a:tc>
                  <a:txBody>
                    <a:bodyPr/>
                    <a:lstStyle/>
                    <a:p>
                      <a:pPr>
                        <a:defRPr sz="1200">
                          <a:solidFill>
                            <a:srgbClr val="121C1F"/>
                          </a:solidFill>
                          <a:latin typeface="Yu Gothic"/>
                        </a:defRPr>
                      </a:pPr>
                      <a:r>
                        <a:t>移籍金</a:t>
                      </a:r>
                    </a:p>
                  </a:txBody>
                  <a:tcPr>
                    <a:solidFill>
                      <a:srgbClr val="F0F7F4"/>
                    </a:solidFill>
                  </a:tcPr>
                </a:tc>
                <a:tc>
                  <a:txBody>
                    <a:bodyPr/>
                    <a:lstStyle/>
                    <a:p>
                      <a:pPr>
                        <a:defRPr sz="1200">
                          <a:solidFill>
                            <a:srgbClr val="121C1F"/>
                          </a:solidFill>
                          <a:latin typeface="Yu Gothic"/>
                        </a:defRPr>
                      </a:pPr>
                      <a:r>
                        <a:t>最大3,500万ユーロ(約64億円、日本人最高額タイ)</a:t>
                      </a:r>
                    </a:p>
                  </a:txBody>
                  <a:tcPr>
                    <a:solidFill>
                      <a:srgbClr val="F0F7F4"/>
                    </a:solidFill>
                  </a:tcPr>
                </a:tc>
              </a:tr>
              <a:tr h="502920">
                <a:tc>
                  <a:txBody>
                    <a:bodyPr/>
                    <a:lstStyle/>
                    <a:p>
                      <a:pPr>
                        <a:defRPr sz="1200">
                          <a:solidFill>
                            <a:srgbClr val="121C1F"/>
                          </a:solidFill>
                          <a:latin typeface="Yu Gothic"/>
                        </a:defRPr>
                      </a:pPr>
                      <a:r>
                        <a:t>経緯</a:t>
                      </a:r>
                    </a:p>
                  </a:txBody>
                  <a:tcPr>
                    <a:solidFill>
                      <a:srgbClr val="FFFFFF"/>
                    </a:solidFill>
                  </a:tcPr>
                </a:tc>
                <a:tc>
                  <a:txBody>
                    <a:bodyPr/>
                    <a:lstStyle/>
                    <a:p>
                      <a:pPr>
                        <a:defRPr sz="1200">
                          <a:solidFill>
                            <a:srgbClr val="121C1F"/>
                          </a:solidFill>
                          <a:latin typeface="Yu Gothic"/>
                        </a:defRPr>
                      </a:pPr>
                      <a:r>
                        <a:t>PSGと合意も代理人手数料で破談、数日で電撃合意</a:t>
                      </a:r>
                    </a:p>
                  </a:txBody>
                  <a:tcPr>
                    <a:solidFill>
                      <a:srgbClr val="FFFFFF"/>
                    </a:solidFill>
                  </a:tcPr>
                </a:tc>
              </a:tr>
              <a:tr h="502920">
                <a:tc>
                  <a:txBody>
                    <a:bodyPr/>
                    <a:lstStyle/>
                    <a:p>
                      <a:pPr>
                        <a:defRPr sz="1200">
                          <a:solidFill>
                            <a:srgbClr val="121C1F"/>
                          </a:solidFill>
                          <a:latin typeface="Yu Gothic"/>
                        </a:defRPr>
                      </a:pPr>
                      <a:r>
                        <a:t>発表日</a:t>
                      </a:r>
                    </a:p>
                  </a:txBody>
                  <a:tcPr>
                    <a:solidFill>
                      <a:srgbClr val="F0F7F4"/>
                    </a:solidFill>
                  </a:tcPr>
                </a:tc>
                <a:tc>
                  <a:txBody>
                    <a:bodyPr/>
                    <a:lstStyle/>
                    <a:p>
                      <a:pPr>
                        <a:defRPr sz="1200">
                          <a:solidFill>
                            <a:srgbClr val="121C1F"/>
                          </a:solidFill>
                          <a:latin typeface="Yu Gothic"/>
                        </a:defRPr>
                      </a:pPr>
                      <a:r>
                        <a:t>2026年8月19日</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サッカーキング・マイナビニュース(2026-08-19)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今後注目される点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今後の見どころです。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アストン・ヴィラでの背番号・具体的な起用方針は本調査の範囲では確認できていない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プレミアリーグ・欧州チャンピオンズリーグでの出場機会が見込まれている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日本代表GKとしての今後の起用にも影響する可能性があるが、断定はしない</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今後の公式発表・報道を継続して確認する必要がある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ワールドカップでの実績</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2026年大会、日本代表の正GKとして全4試合出場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今夏の評価上昇の背景の一つ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サッカーキング・マイナビニュース(2026-08-19)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移籍関連クラブの概要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クラブ</a:t>
                      </a:r>
                    </a:p>
                  </a:txBody>
                  <a:tcPr>
                    <a:solidFill>
                      <a:srgbClr val="1B2A2E"/>
                    </a:solidFill>
                  </a:tcPr>
                </a:tc>
                <a:tc>
                  <a:txBody>
                    <a:bodyPr/>
                    <a:lstStyle/>
                    <a:p>
                      <a:pPr>
                        <a:defRPr sz="1300" b="1">
                          <a:solidFill>
                            <a:srgbClr val="FFFFFF"/>
                          </a:solidFill>
                          <a:latin typeface="Yu Gothic"/>
                        </a:defRPr>
                      </a:pPr>
                      <a:r>
                        <a:t>概要</a:t>
                      </a:r>
                    </a:p>
                  </a:txBody>
                  <a:tcPr>
                    <a:solidFill>
                      <a:srgbClr val="1B2A2E"/>
                    </a:solidFill>
                  </a:tcPr>
                </a:tc>
              </a:tr>
              <a:tr h="502920">
                <a:tc>
                  <a:txBody>
                    <a:bodyPr/>
                    <a:lstStyle/>
                    <a:p>
                      <a:pPr>
                        <a:defRPr sz="1200">
                          <a:solidFill>
                            <a:srgbClr val="121C1F"/>
                          </a:solidFill>
                          <a:latin typeface="Yu Gothic"/>
                        </a:defRPr>
                      </a:pPr>
                      <a:r>
                        <a:t>パルマ・カルチョ1913(移籍元)</a:t>
                      </a:r>
                    </a:p>
                  </a:txBody>
                  <a:tcPr>
                    <a:solidFill>
                      <a:srgbClr val="FFFFFF"/>
                    </a:solidFill>
                  </a:tcPr>
                </a:tc>
                <a:tc>
                  <a:txBody>
                    <a:bodyPr/>
                    <a:lstStyle/>
                    <a:p>
                      <a:pPr>
                        <a:defRPr sz="1200">
                          <a:solidFill>
                            <a:srgbClr val="121C1F"/>
                          </a:solidFill>
                          <a:latin typeface="Yu Gothic"/>
                        </a:defRPr>
                      </a:pPr>
                      <a:r>
                        <a:t>セリエA所属、鈴木は2024年夏から2シーズン在籍</a:t>
                      </a:r>
                    </a:p>
                  </a:txBody>
                  <a:tcPr>
                    <a:solidFill>
                      <a:srgbClr val="FFFFFF"/>
                    </a:solidFill>
                  </a:tcPr>
                </a:tc>
              </a:tr>
              <a:tr h="502920">
                <a:tc>
                  <a:txBody>
                    <a:bodyPr/>
                    <a:lstStyle/>
                    <a:p>
                      <a:pPr>
                        <a:defRPr sz="1200">
                          <a:solidFill>
                            <a:srgbClr val="121C1F"/>
                          </a:solidFill>
                          <a:latin typeface="Yu Gothic"/>
                        </a:defRPr>
                      </a:pPr>
                      <a:r>
                        <a:t>アストン・ヴィラ(移籍先)</a:t>
                      </a:r>
                    </a:p>
                  </a:txBody>
                  <a:tcPr>
                    <a:solidFill>
                      <a:srgbClr val="F0F7F4"/>
                    </a:solidFill>
                  </a:tcPr>
                </a:tc>
                <a:tc>
                  <a:txBody>
                    <a:bodyPr/>
                    <a:lstStyle/>
                    <a:p>
                      <a:pPr>
                        <a:defRPr sz="1200">
                          <a:solidFill>
                            <a:srgbClr val="121C1F"/>
                          </a:solidFill>
                          <a:latin typeface="Yu Gothic"/>
                        </a:defRPr>
                      </a:pPr>
                      <a:r>
                        <a:t>プレミアリーグ所属、2025-26シーズンEL王者</a:t>
                      </a:r>
                    </a:p>
                  </a:txBody>
                  <a:tcPr>
                    <a:solidFill>
                      <a:srgbClr val="F0F7F4"/>
                    </a:solidFill>
                  </a:tcPr>
                </a:tc>
              </a:tr>
              <a:tr h="502920">
                <a:tc>
                  <a:txBody>
                    <a:bodyPr/>
                    <a:lstStyle/>
                    <a:p>
                      <a:pPr>
                        <a:defRPr sz="1200">
                          <a:solidFill>
                            <a:srgbClr val="121C1F"/>
                          </a:solidFill>
                          <a:latin typeface="Yu Gothic"/>
                        </a:defRPr>
                      </a:pPr>
                      <a:r>
                        <a:t>PSG(破談)</a:t>
                      </a:r>
                    </a:p>
                  </a:txBody>
                  <a:tcPr>
                    <a:solidFill>
                      <a:srgbClr val="FFFFFF"/>
                    </a:solidFill>
                  </a:tcPr>
                </a:tc>
                <a:tc>
                  <a:txBody>
                    <a:bodyPr/>
                    <a:lstStyle/>
                    <a:p>
                      <a:pPr>
                        <a:defRPr sz="1200">
                          <a:solidFill>
                            <a:srgbClr val="121C1F"/>
                          </a:solidFill>
                          <a:latin typeface="Yu Gothic"/>
                        </a:defRPr>
                      </a:pPr>
                      <a:r>
                        <a:t>リーグ・アン所属、今夏当初の最有力候補だったが破談</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サッカーキング・マイナビニュース(2026-08-19)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パルマ在籍期間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2024年夏〜2026年夏の2シーズン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セリエA残留に貢献した期間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サッカーキング・マイナビニュース(2026-08-19)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移籍金の正確な内訳・円換算額の差異(64億円 vs 65億円)の原因</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PSGとの交渉が破談した代理人手数料の具体的な金額・条件</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アストン・ヴィラでの背番号・具体的な起用方針</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本テーマは選手・クラブへの評価や批判的な断定を行うものではなく、報じられた移籍事実の紹介にとどめる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今回(移籍発表時点)の事実 vs 今後の不確定要素</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確認できている事実</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アストン・ヴィラへの完全移籍</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移籍金は日本人最高額タイ</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PSGとの破談を経ての電撃移籍</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今後の不確定要素</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具体的な起用方針</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移籍金円換算額の正確な差異</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日本代表起用への影響</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サッカー・日本代表を追う立場として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PSG破談から電撃移籍という展開の経緯と、移籍金記録の中身を正確に把握する視点が役立つ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移籍市場・スポーツビジネスに関心がある立場として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報道間の数字の差異を鵜呑みにせず、確認できた範囲を正直に区別する視点が参考になる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日本人選手の海外での活躍を追う立場として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GKというポジションでの高額移籍という珍しい事例として、今後の起用状況にも注目したい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本編のまとめです。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鈴木彩艶選手は2026年8月19日、パルマ・カルチョからアストン・ヴィラへの完全移籍が発表された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今夏有力視されていたPSG移籍は代理人手数料をめぐり土壇場で破談し、数日での電撃移籍となった</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移籍金は最大3,500万ユーロで、中島翔哉選手の記録と並ぶ日本人史上最高額タイとされる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報道間の数字の差異や、今後の起用方針など、確認できていない点は正直に開示した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サッカーキング・マイナビニュース(2026-08-19)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破談から数日。記録タイの電撃移籍。</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鈴木彩艶選手は2026年8月19日、アストン・ヴィラへの完全移籍を発表しました。PSG破談から電撃移籍までの経緯と、日本人史上最高額タイという移籍金の中身を、出典付きで正直に整理してお届けしました。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