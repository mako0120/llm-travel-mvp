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コールドオープン: 冒頭で具体的な事実を即座に提示し、挨拶なしで核心から入る(2026-07-24のエンゲージメント設計ルールに基づく)。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起承転結を予告する。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専門用語を最初に整理する。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発表の概要を表で整理する。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村上選手にとって渡米後の1試合における自己最多打点だった。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この試合の内容を表で整理する。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負傷から復帰までの流れを図で示す。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球団記録との比較を表で示す。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節目の数字を紹介する。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前回テーマとの違いを対比で見せる。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初心者向けに人物を整理する。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情報の確からしさを正直に伝える。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扱わないことを明確にする。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ペース試算は必ず参考値であることを明記する。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ここは推測であることを明言する。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快挙の性質を整理する。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転換パート。ここから実践的な話に入る。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出来事の紹介だけで終わらせず、読み手にとっての意味を扱う。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ファン目線での意味を整理する。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応援の入り口となる情報を整理する。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実践につながる進め方をステップで見せる。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幅広い視聴者への訴求ポイントを伝える。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不明点を正直に「不明」と明言する。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政治・対立を煽らないという制作方針を明確に伝える。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見送った候補も具体的に共有する。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検品結果を表でまとめる。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出典を短く再掲する。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結のキーメッセージ。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オープンループで次回への引き。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最終スライド。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642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1試合で2本塁打、6打点。復帰後、初めての一発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E7DCC2"/>
                </a:solidFill>
                <a:latin typeface="Yu Gothic"/>
              </a:rPr>
              <a:t>ホワイトソックス・村上宗隆選手、負傷離脱からの復帰後初本塁打を含む活躍(2026年7月26日/現地)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BFAE84"/>
                </a:solidFill>
                <a:latin typeface="Yu Gothic"/>
              </a:rPr>
              <a:t>出典: THE DIGEST, ベースボールキング, NHKニュース(2026-07)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Yu Gothic"/>
              </a:rPr>
              <a:t>今日話すこと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920240"/>
            <a:ext cx="548640" cy="5486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93852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E7DCC2"/>
                </a:solidFill>
                <a:latin typeface="Yu Gothic"/>
              </a:rPr>
              <a:t>起: 前提知識 + 何が起きたか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697480"/>
            <a:ext cx="548640" cy="5486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71576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E7DCC2"/>
                </a:solidFill>
                <a:latin typeface="Yu Gothic"/>
              </a:rPr>
              <a:t>承: この試合の内容・節目の数字を詳しく見る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474720"/>
            <a:ext cx="548640" cy="5486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49300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E7DCC2"/>
                </a:solidFill>
                <a:latin typeface="Yu Gothic"/>
              </a:rPr>
              <a:t>転: これは何を意味するか、どう楽しむか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251960"/>
            <a:ext cx="548640" cy="5486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27024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E7DCC2"/>
                </a:solidFill>
                <a:latin typeface="Yu Gothic"/>
              </a:rPr>
              <a:t>結: 不明点・リスク配慮・まとめ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まず言葉の整理(初心者向け)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49299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IL(負傷者リスト)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492998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怪我をした選手が一時的に登録から外れる制度。復帰までは試合に出場できない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1587" y="1609344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55867" y="1554480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0187" y="1828800"/>
            <a:ext cx="49299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打点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0187" y="2514600"/>
            <a:ext cx="492998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自分の打撃で味方を本塁に生還させた数。1試合6打点は非常に多い部類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 - 定期実行45本目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3 /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5559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何が起きたか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選手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村上宗隆選手(ホワイトソックス)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対戦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アストロズ戦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日付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2026年7月26日(現地)/27日(日本時間)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結果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2本塁打・6打点の活躍。うち1本は負傷離脱からの復帰後初本塁打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出典: THE DIGEST、Yahoo!ニュース配信(2026-07-27)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 - 定期実行45本目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31949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7DCC2"/>
                </a:solidFill>
                <a:latin typeface="Yu Gothic"/>
              </a:rPr>
              <a:t>この試合の打点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C1622D"/>
                </a:solidFill>
                <a:latin typeface="Yu Gothic"/>
              </a:rPr>
              <a:t>6打点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ベースボールキングの報道による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BFAE84"/>
                </a:solidFill>
                <a:latin typeface="Yu Gothic"/>
              </a:rPr>
              <a:t>出典: ベースボールキング、Yahoo!ニュース配信(2026-07-27)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8339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この試合の内容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打席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内容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初回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レフトスタンドへ2ランホームラン(21号、復帰後初本塁打)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8回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右中間スタンドへソロホームラン(22号)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通算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5打数3安打6打点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出典: NHKニュース(2026-07-27)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 - 定期実行45本目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44728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負傷離脱から復帰までの流れ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52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6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9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2026年5月29日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9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試合中に右太もも裏(ハムストリング)を負傷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557119" y="3108959"/>
            <a:ext cx="676656" cy="365760"/>
          </a:xfrm>
          <a:prstGeom prst="rightArrow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3526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069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898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2026年5月30日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898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負傷者リスト(IL)入り。4〜6週間の離脱が見込まれた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757519" y="3108959"/>
            <a:ext cx="676656" cy="365760"/>
          </a:xfrm>
          <a:prstGeom prst="rightArrow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530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5073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902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2026年7月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02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約6週間の離脱を経て実戦復帰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957919" y="3108959"/>
            <a:ext cx="676656" cy="365760"/>
          </a:xfrm>
          <a:prstGeom prst="rightArrow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753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707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90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2026年7月26日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90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復帰後初本塁打を含む2本塁打・6打点の活躍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 - 定期実行45本目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51118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球団記録との比較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順位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本塁打数(選手の最初の70試合)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1位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26本塁打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2位(村上選手)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22本塁打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あと4本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出典: THE DIGEST、Yahoo!ニュース配信(2026-07-27)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 - 定期実行45本目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8 / 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508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節目の意味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49299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球団歴代2位に浮上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492998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ホワイトソックスの選手が最初の70試合で記録した本塁打数で歴代2位に浮上した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1587" y="1609344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55867" y="1554480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0187" y="1828800"/>
            <a:ext cx="49299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1位まであと4本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0187" y="2514600"/>
            <a:ext cx="492998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1位の26本塁打まで、あと4本に迫っている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出典: THE DIGEST、Yahoo!ニュース配信(2026-07-27)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 - 定期実行45本目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前回テーマ(移籍発表)と今回(この試合の活躍)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4523F"/>
                </a:solidFill>
                <a:latin typeface="Yu Gothic"/>
              </a:rPr>
              <a:t>前回(定期実行12本目、2026-07-21)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0261F"/>
                </a:solidFill>
                <a:latin typeface="Yu Gothic"/>
              </a:rPr>
              <a:t>ホワイトソックスへの移籍発表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081528"/>
            <a:ext cx="274320" cy="27432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0261F"/>
                </a:solidFill>
                <a:latin typeface="Yu Gothic"/>
              </a:rPr>
              <a:t>開幕好成績(26試合11本塁打20打点)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4523F"/>
                </a:solidFill>
                <a:latin typeface="Yu Gothic"/>
              </a:rPr>
              <a:t>今回(2026-07-27)</a:t>
            </a:r>
          </a:p>
        </p:txBody>
      </p:sp>
      <p:sp>
        <p:nvSpPr>
          <p:cNvPr id="16" name="Oval 15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0261F"/>
                </a:solidFill>
                <a:latin typeface="Yu Gothic"/>
              </a:rPr>
              <a:t>負傷離脱からの復帰後初本塁打</a:t>
            </a:r>
          </a:p>
        </p:txBody>
      </p:sp>
      <p:sp>
        <p:nvSpPr>
          <p:cNvPr id="18" name="Oval 17"/>
          <p:cNvSpPr/>
          <p:nvPr/>
        </p:nvSpPr>
        <p:spPr>
          <a:xfrm>
            <a:off x="6598767" y="3081528"/>
            <a:ext cx="274320" cy="27432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20261F"/>
                </a:solidFill>
                <a:latin typeface="Yu Gothic"/>
              </a:rPr>
              <a:t>1試合2本塁打6打点、球団記録まであと4本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 - 定期実行45本目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10 / 30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470288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村上選手を初心者向けに整理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49299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所属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492998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ホワイトソックス所属の内野手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1587" y="1609344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55867" y="1554480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0187" y="1828800"/>
            <a:ext cx="49299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経歴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0187" y="2514600"/>
            <a:ext cx="492998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2026年にホワイトソックスへ移籍。移籍後の開幕好成績が話題になっていた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 - 定期実行45本目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11 / 30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876678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この情報、どこまで確か?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49299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複数メディアで一致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492998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本塁打数・打点・球団記録との比較は複数の独立系メディアで報道が一致している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1587" y="1609344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55867" y="1554480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0187" y="1828800"/>
            <a:ext cx="49299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確認できた範囲のみ扱う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0187" y="2514600"/>
            <a:ext cx="492998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復帰の具体的な日付など、確認できなかった点は「不明」として扱う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 - 定期実行45本目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283067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今回あえて扱わないこと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村上選手が実戦復帰した具体的な日付は、本調査の範囲では特定できなかった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シーズン終了時点の最終成績は当然ながら未確定であり断定しない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 - 定期実行45本目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689457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ペースの試算について(慎重な扱い)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49299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現時点のペースを単純計算した参考値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492998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一部報道では現在のペースを引き延ばした年間本塁打数の試算が紹介されているが、あくまで参考値である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1587" y="1609344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55867" y="1554480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0187" y="1828800"/>
            <a:ext cx="49299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予測・確約ではない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0187" y="2514600"/>
            <a:ext cx="492998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本動画ではこの試算を予測や確約としては扱わない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 - 定期実行45本目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なぜ本塁打が増えているのか(推測)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49299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復帰後の調子の上昇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492998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復帰後しばらく本塁打がなかったが、この試合で調子を上げてきた可能性がある(推測)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1587" y="1609344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55867" y="1554480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0187" y="1828800"/>
            <a:ext cx="49299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対戦相手の投手との相性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0187" y="2514600"/>
            <a:ext cx="492998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この日の対戦投手との相性が良かった可能性も考えられる(推測)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 - 定期実行45本目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02237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短期の快挙か、復調の証明か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49299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今回は復調の兆し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492998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1試合の活躍であり、今後も継続するかは今後の試合次第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1587" y="1609344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55867" y="1554480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0187" y="1828800"/>
            <a:ext cx="49299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今後の焦点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0187" y="2514600"/>
            <a:ext cx="492998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球団記録更新に向けてあと何本かかるかが一つの見どころになる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 - 定期実行45本目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908627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これが意味すること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復帰後の調子の証明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負傷離脱からの復帰後、結果を出せることを示した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球団記録更新への期待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残り試合数次第では球団記録更新の可能性がある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4523F"/>
                </a:solidFill>
                <a:latin typeface="Yu Gothic"/>
              </a:rPr>
              <a:t>日本人選手の活躍の継続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移籍1年目から結果を残し続けている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 - 定期実行45本目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017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これは何を意味するのか(ファンにとって)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負傷離脱を乗り越えての活躍という文脈で見ると、今回の6打点はより大きな意味を持つ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球団記録更新への注目が今後の試合を追う一つの楽しみになる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 - 定期実行45本目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2140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ファンにとっての意味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49299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復調のサインとして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492998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復帰後の状態を確認する一つの材料になる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1587" y="1609344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55867" y="1554480"/>
            <a:ext cx="5478627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0187" y="1828800"/>
            <a:ext cx="49299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記録更新への注目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0187" y="2514600"/>
            <a:ext cx="4929987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球団記録まであと4本という具体的な目標ができた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 - 定期実行45本目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19 / 30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試しに応援するなら知っておきたいこと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所属チーム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ホワイトソックス(MLB)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ポジション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内野手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今季の本塁打数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22本(選手の最初の70試合で球団歴代2位)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 - 定期実行45本目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53418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試合を追ってみる進め方(目安)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①出場状況を確認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スタメン出場・調子を確認する</a:t>
            </a:r>
          </a:p>
        </p:txBody>
      </p:sp>
      <p:sp>
        <p:nvSpPr>
          <p:cNvPr id="11" name="Chevron 10"/>
          <p:cNvSpPr/>
          <p:nvPr/>
        </p:nvSpPr>
        <p:spPr>
          <a:xfrm>
            <a:off x="4038295" y="3200400"/>
            <a:ext cx="234086" cy="365760"/>
          </a:xfrm>
          <a:prstGeom prst="chevron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3938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12538" y="2011680"/>
            <a:ext cx="640080" cy="64008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2538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②成績の推移を見る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2538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本塁打数・打点の推移を見る</a:t>
            </a:r>
          </a:p>
        </p:txBody>
      </p:sp>
      <p:sp>
        <p:nvSpPr>
          <p:cNvPr id="17" name="Chevron 16"/>
          <p:cNvSpPr/>
          <p:nvPr/>
        </p:nvSpPr>
        <p:spPr>
          <a:xfrm>
            <a:off x="7919313" y="3200400"/>
            <a:ext cx="234086" cy="365760"/>
          </a:xfrm>
          <a:prstGeom prst="chevron">
            <a:avLst/>
          </a:prstGeom>
          <a:solidFill>
            <a:srgbClr val="C162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64956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19236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93556" y="2011680"/>
            <a:ext cx="640080" cy="64008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3556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③節目のニュースを追う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3556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E6B5C"/>
                </a:solidFill>
                <a:latin typeface="Yu Gothic"/>
              </a:rPr>
              <a:t>球団記録更新等の節目のニュースを追う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 - 定期実行45本目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94057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野球に詳しくなくても話題にできる理由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『1試合2本塁打6打点』という具体的な数字は、野球に詳しくなくても伝わりやすい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『球団記録まであと4本』という分かりやすい目標があり、続報を追いやすい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 - 定期実行45本目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34696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不明点・注意点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村上選手が実戦復帰した具体的な日付は特定できなかった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シーズン終了時点の最終成績、球団記録を更新できるかは未確定であり断定しない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 - 定期実行45本目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75335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動画制作上のリスク配慮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事実紹介に徹する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選手個人の試合結果という事実を淡々と紹介する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7298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推測は明示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推測部分・ペース試算は「推測」「参考値」と明示している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3076" y="182880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写真・肖像は使用しない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3076" y="251460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実在選手の写真・肖像は使用しない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 - 定期実行45本目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159746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見送った候補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11277295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11277295" cy="393192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107286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4523F"/>
                </a:solidFill>
                <a:latin typeface="Yu Gothic"/>
              </a:rPr>
              <a:t>AI・エージェント系の新規候補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10728655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E6B5C"/>
                </a:solidFill>
                <a:latin typeface="Yu Gothic"/>
              </a:rPr>
              <a:t>round22で検討済みの候補以外に、着手日・前日の新規発表を確認できなかった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 - 定期実行45本目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25 / 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66135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検品結果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結果</a:t>
                      </a:r>
                    </a:p>
                  </a:txBody>
                  <a:tcPr>
                    <a:solidFill>
                      <a:srgbClr val="2452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verify_pptx.py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合格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同一レイアウト連続チェック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合格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bullets比率チェック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合格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対話原稿スライド数整合性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20261F"/>
                          </a:solidFill>
                          <a:latin typeface="Yu Gothic"/>
                        </a:defRPr>
                      </a:pPr>
                      <a:r>
                        <a:t>合格</a:t>
                      </a:r>
                    </a:p>
                  </a:txBody>
                  <a:tcPr>
                    <a:solidFill>
                      <a:srgbClr val="F4F1E6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 - 定期実行45本目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26 / 30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525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出典一覧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THE DIGEST / ベースボールキング(いずれもYahoo!ニュース配信)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NHKニュース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 - 定期実行45本目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78915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Yu Gothic"/>
              </a:rPr>
              <a:t>復帰後、初めての一発。球団記録まであと4本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E7DCC2"/>
                </a:solidFill>
                <a:latin typeface="Yu Gothic"/>
              </a:rPr>
              <a:t>1試合2本塁打6打点。今後の試合でどこまで記録に迫るかにも注目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4626864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4572000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828032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4523F"/>
                </a:solidFill>
                <a:latin typeface="Yu Gothic"/>
              </a:rPr>
              <a:t>興味があれば、今後の試合結果も追ってみる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785305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4523F"/>
                </a:solidFill>
                <a:latin typeface="Yu Gothic"/>
              </a:rPr>
              <a:t>次回予告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148132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MLBで活躍する日本人選手のニュースは今後も続くテーマ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258568"/>
            <a:ext cx="320040" cy="320040"/>
          </a:xfrm>
          <a:prstGeom prst="ellipse">
            <a:avLst/>
          </a:prstGeom>
          <a:solidFill>
            <a:srgbClr val="2452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20261F"/>
                </a:solidFill>
                <a:latin typeface="Yu Gothic"/>
              </a:rPr>
              <a:t>次回も公式発表や主要報道をもとに数字で整理して紹介する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E6B5C"/>
                </a:solidFill>
                <a:latin typeface="Yu Gothic"/>
              </a:rPr>
              <a:t>AI Company OS - 定期実行45本目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E6B5C"/>
                </a:solidFill>
                <a:latin typeface="Yu Gothic"/>
              </a:rPr>
              <a:t>29 / 30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6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BFAE8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C16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Yu Gothic"/>
              </a:rPr>
              <a:t>ご視聴ありがとうございました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E7DCC2"/>
                </a:solidFill>
                <a:latin typeface="Yu Gothic"/>
              </a:rPr>
              <a:t>出典・詳細はresearch.mdと各スライドの出典表記を参照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4626864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4572000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F4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828032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4523F"/>
                </a:solidFill>
                <a:latin typeface="Yu Gothic"/>
              </a:rPr>
              <a:t>質問・フィードバックはいつでもどうぞ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