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こんにちは。今日取り上げるのは、2026年7月29日にOpenAIが発表した「ChatGPT for Academic Researchers」というプログラムです。最終的に10万人の研究者に無料でAIを提供するという、かなり大きな規模の話です。この動画では、何が発表されたのか、なぜOpenAIがこれをやるのか、そして確認できなかったことまで、出典つき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OpenAIは研究者10万人への無償アクセス拡大を目指していて、承認された研究者は12か月間、専用のChatGPTワークスペースを無料で使えます。そしてこれは、2027年までに2.5億ドル超を投じる、より大きな科学支援イニシアチブの一部だと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発表の概要、上位イニシアチブとの関係、応募条件や提供モデルといった具体的な数字、そしてモデルの重みが非公開のままという業界共通の論点まで分かります。加えて、今回の調査で確認できなかったことも隠さず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この話がどれくらい確かなのかについても触れておきます。OpenAI公式ブログとヘルプセンターの申込条件ページに加えて、TechTimes、SiliconANGLE、Axios、AI Weeklyという独立した複数のメディアが同じ発表を報じています。一方で、日本の大学が対象に含まれるかどうかなど、確認できなかった点もあり、本編で正直にお伝えします。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なぜこの手の発表が話題になるのかを整理し、次に発表の中身、提供モデルと上位イニシアチブ、モデルの重みをめぐる論点、最後に確認できなかったことと受け止め方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最先端のAIモデルは利用料がかかり、研究予算の限られる研究室にとっては負担になりがちです。一方でAIは生物科学や化学材料、計算機科学など幅広い分野で研究に応用され始めています。開発企業側にとっても、研究コミュニティでの実利用実績や評判づくりにつながるという狙いがある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今回のプログラムは、最終的に研究者10万人への提供を目指しています。まず最初のコホートとして1万人の研究者からアクセスが始まり、2027年までに段階的に拡大していく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ドマップを整理するとこうなります。7月29日に申込受付が始まり、この夏に最初のコホート1万人がアクセスを得ます。プリンストン高等研究所やフランスのエコール・ノルマル・シュペリウールといった機関ではすでに先行アクセスが始まっているとのことです。そして2027年までに段階的に最大10万人へ拡大す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発表の中身をもう一度まとめます。プログラム名は「ChatGPT for Academic Researchers」。承認された研究者やポスドク研究者に、専用のChatGPTワークスペースを12か月間無償で提供する、というものです。OpenAI公式ブログに加えて、TechTimes、SiliconANGLE、Axiosといった媒体が7月29日にこの発表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構造を図で見てみます。OpenAIが2.5億ドル超の科学支援イニシアチブとして予算を確保し、それが研究活動水準の高い学位授与機関に対象を絞ったうえで提供されます。各機関の研究教員・ポスドク研究者が個別に応募し、承認された研究者はさらに最大4名まで協力者を招待できる、という構造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が応募するには、大きく3つの条件があります。1つ目は対象機関に所属する研究教員またはポスドク研究者であること。2つ目は、直近3年以内にarXivやbioRxiv、ChemRxivに投稿した論文の著者であること。3つ目は、その研究が対象分野に含まれ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分野はこの7分野です。生物科学、化学・材料科学、計算機科学、地球惑星科学、工学、数学、物理学が挙げられています。一次情報にはこの7分野のみが列挙されており、人文社会科学系が対象に含まれるかどうかは明言されていません。この点は後ほど、確認できなかったこととして改めて触れ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提供されるモデルはGPT-5.6 Sol Proです。報道では、OpenAIが一般提供している中で最も高性能なモデルとして紹介されています。ただし、これはあくまでChatGPTのインターフェース経由での利用で、モデルの重み自体は非公開のままです。また、具体的な利用回数の上限やレート制限については、一次情報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プログラムは単独の施策ではなく、OpenAIが2027年までに2.5億ドル超を外部の科学研究・発見支援に投じるという、より大きなコミットメントの一部だと位置づけられています。このプログラムに具体的にいくら割り当てられているかという内訳までは、一次情報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に企業向けの有償プランは、契約ベースで利用者数や用途に応じた料金が発生します。それに対して今回のプログラムは、研究教員やポスドクに対象を限定し、所属機関や論文実績の審査を経たうえで、12か月間無償で提供される点が特徴です。この整理はあくまで報道情報をもとにしたものであり、料金体系の詳細な比較は一次情報からは確認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で名前が挙がっている参加機関の例が、プリンストン高等研究所とフランスのエコール・ノルマル・シュペリウールです。いずれもすでに先行アクセスが始まっているとされていますが、これ以外にどの機関が対象になっているかは、一次情報では網羅的に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に共通していたのは、研究者が最先端のAIツールにアクセスできるかどうかが、科学的発見のスピードを左右する時代になっている、という論調です。これは特定の記事からの直接引用ではなく、複数の報道の趣旨を要約したものである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応募から利用開始までの流れを整理すると、所属や論文実績を提出して応募し、機関や分野の適合が審査され、承認されると専用ワークスペースが発行されて12か月間の無償利用が始まる、という流れです。ただし審査にどれくらいの期間がかかるかは、一次情報では確認で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で指摘されていたのが、モデルの重みは非公開のままだという論点です。今回のアクセスはあくまでChatGPTのインターフェース経由での利用に限られ、モデルの内部パラメータ自体は引き続き非公開とされています。誤用防止を理由に非公開を維持するというのが開発企業側の一般的な説明である一方、独立した検証や再現性、安全性評価のために重みの公開を求める声も研究者コミュニティにはあります。これはOpenAIに限らず、複数のAI開発企業に共通する一般的な論点として報じられ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論点を整理すると、非公開を維持する側は誤用・悪用のリスク抑制や競争優位の維持、品質管理のしやすさを理由に挙げています。一方、公開を求める側は、独立した検証のしやすさや研究の再現性、コミュニティ全体での安全性評価を理由に挙げています。どちらの立場が正しいかを本編で断定することはせず、論点として紹介するにとどめ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になるのは、日本の研究者への影響です。現時点で報道から確認できている参加機関は、プリンストン高等研究所とフランスのエコール・ノルマル・シュペリウールのみです。日本の大学がこのプログラムの対象に含まれるかどうかは、今回の調査では確認できませんでした。今後、日本国内の大学・研究機関からの参加発表があるかどうかを、継続的に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ここで、今回の調査で確認できなかったことを一覧にまとめます。日本の大学が対象かどうか、GPT-5.6 Sol Proの利用回数上限、2.5億ドルのうち本プログラムへの割当額、審査から利用開始までの所要日数、そして人文社会科学系分野が対象に含まれるかどうか。これらはいずれも一次情報か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者でない方にも参考になる点があります。大手AI企業が誰に無料でアクセスを開放するかという優先順位づけの一例として見ることができますし、所属や実績で審査するアクセス管理の設計は、社内でAIツールを導入する際にも応用できる考え方です。対象分野を絞り込むことで質の高い利用実績を集めやすくする、という設計の工夫も学べるところだ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の動きと比較してみます。2025年3月には、OpenAIが5,000万ドル規模の学術研究支援助成プログラムを開始したと報じられていました。今回は助成金ではなく、AIツールそのものへの直接アクセスを無償提供する形に踏み込んでいます。資金援助から、ツールへのアクセス提供へと支援の形が広がっている傾向が見え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10万人・2.5億ドルという数字の大きさを把握し、次に誰が対象で誰が対象外なのかという条件を確認し、最後にモデルの重みが非公開のままといった賛否の分かれる論点を押さえ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AIツールを使った文献調査やデータ解析の効率化によって研究が加速することが期待されますし、研究コミュニティでの実利用実績はAI企業の評判形成にもつながりうると考えられます。一方で、対象分野に含まれない研究者との間で、利用機会の差が生じる可能性もあります。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無料という言葉の裏側にある2.5億ドルの内訳や意図までは公表されていないこと。2つ目は、対象があくまで研究教員やポスドクに限られ、学生は直接の対象ではないこと。3つ目は、モデルの重みは非公開のままであり、いわゆる「オープン」なアクセスとは意味が異な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企業による研究者への支援の広がり方を図にすると、資金援助からツールそのものの開放へ、そしてその先に研究コミュニティでの実利用実績の蓄積があるという流れが見えてきます。最後のコミュニティ形成の部分は推測であることを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最終目標は2027年までに研究者10万人への無償アクセス拡大。対象分野は生物科学や化学材料、計算機科学など7分野に限定されています。そして、無償でアクセスできるとはいえ、モデルの重み自体は非公開のまま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今日は、OpenAIの「ChatGPT for Academic Researchers」について、規模・対象・非公開の範囲を分けて確認してきました。AIサービスの「無料」というニュースを見るときは、今日紹介したような視点で数字の中身を確認する習慣をつけてみてください。研究者の方は、OpenAI Help Centerの応募条件ページで対象分野と所属要件をご確認いただくのが確実です。ここまでご覧いただき、ありがとうございました。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OpenAIが研究者10万人に</a:t>
            </a:r>
          </a:p>
          <a:p>
            <a:pPr algn="l">
              <a:lnSpc>
                <a:spcPct val="115000"/>
              </a:lnSpc>
            </a:pPr>
            <a:r>
              <a:rPr sz="4200" b="1">
                <a:solidFill>
                  <a:srgbClr val="FFFFFF"/>
                </a:solidFill>
                <a:latin typeface="Yu Gothic"/>
              </a:rPr>
              <a:t>無料でAIを開放する理由</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2026年7月29日発表「ChatGPT for Academic Researchers」を読み解く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AI Company OS 定期実行55本目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今回の結論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10万人</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最終的な提供規模</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2027年までに研究者10万人へ無償アクセスを拡大する計画</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12か月</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無償アクセス期間</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承認された研究者・ポスドクに専用ワークスペースを1年間提供</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2.5億ドル超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上位イニシアチブの規模</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外部の科学研究・発見を支援する取り組み全体の予算</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OpenAI公式(2026-07-29)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何が発表されたのか、いつ・誰が対象なのかが分かる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「2.5億ドル規模の科学支援イニシアチブ」の位置づけが分かる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応募条件・提供モデル・利用期間など具体的な数字が分かる</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モデルの重みは非公開のまま、という論点の背景が分かる</a:t>
            </a:r>
          </a:p>
        </p:txBody>
      </p:sp>
      <p:sp>
        <p:nvSpPr>
          <p:cNvPr id="14" name="Oval 13"/>
          <p:cNvSpPr/>
          <p:nvPr/>
        </p:nvSpPr>
        <p:spPr>
          <a:xfrm>
            <a:off x="457200" y="459028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取材・調査で確認できなかったことも正直に共有します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一次情報</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OpenAI公式ブログとOpenAI Help Centerの申込条件ページを確認</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独立した複数メディア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TechTimes・SiliconANGLE・Axios・AI Weeklyが同じ発表を報道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不明点は明記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日本の大学が対象かどうかなど、確認できなかった点は本編で明示します</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前提: なぜ「研究者への無償AIアクセス」が話題になるのか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発表の中身: 規模・ロードマップ・応募条件</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提供モデルと上位イニシアチブ</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モデルの重みが非公開のまま、という論点</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確認できなかったことと、この動画の読み方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前提: なぜ「無償AIアクセス」が話題になるのか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AI利用のコスト格差</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最先端モデルの利用料は研究予算の限られる研究室には負担になりやすい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科学研究への応用期待</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生物科学・化学材料・計算機科学など幅広い分野でAI活用が広がっている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開発企業側の思惑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研究コミュニティでの実利用実績や評判づくりにもつながる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最終的な提供規模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10万人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2027年までに研究者10万人へアクセスを拡大する計画(最初のコホートは1万人)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OpenAI公式 / SiliconANGLE(2026-07-29)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ロードマップ(報道時点で判明している範囲)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対象規模</a:t>
                      </a:r>
                    </a:p>
                  </a:txBody>
                  <a:tcPr>
                    <a:solidFill>
                      <a:srgbClr val="1E2761"/>
                    </a:solidFill>
                  </a:tcPr>
                </a:tc>
                <a:tc>
                  <a:txBody>
                    <a:bodyPr/>
                    <a:lstStyle/>
                    <a:p>
                      <a:pPr>
                        <a:defRPr sz="1300" b="1">
                          <a:solidFill>
                            <a:srgbClr val="FFFFFF"/>
                          </a:solidFill>
                          <a:latin typeface="Yu Gothic"/>
                        </a:defRPr>
                      </a:pPr>
                      <a:r>
                        <a:t>備考</a:t>
                      </a:r>
                    </a:p>
                  </a:txBody>
                  <a:tcPr>
                    <a:solidFill>
                      <a:srgbClr val="1E2761"/>
                    </a:solidFill>
                  </a:tcPr>
                </a:tc>
              </a:tr>
              <a:tr h="502920">
                <a:tc>
                  <a:txBody>
                    <a:bodyPr/>
                    <a:lstStyle/>
                    <a:p>
                      <a:pPr>
                        <a:defRPr sz="1200">
                          <a:solidFill>
                            <a:srgbClr val="1A1A2E"/>
                          </a:solidFill>
                          <a:latin typeface="Yu Gothic"/>
                        </a:defRPr>
                      </a:pPr>
                      <a:r>
                        <a:t>2026年7月29日</a:t>
                      </a:r>
                    </a:p>
                  </a:txBody>
                  <a:tcPr>
                    <a:solidFill>
                      <a:srgbClr val="FFFFFF"/>
                    </a:solidFill>
                  </a:tcPr>
                </a:tc>
                <a:tc>
                  <a:txBody>
                    <a:bodyPr/>
                    <a:lstStyle/>
                    <a:p>
                      <a:pPr>
                        <a:defRPr sz="1200">
                          <a:solidFill>
                            <a:srgbClr val="1A1A2E"/>
                          </a:solidFill>
                          <a:latin typeface="Yu Gothic"/>
                        </a:defRPr>
                      </a:pPr>
                      <a:r>
                        <a:t>申込受付開始</a:t>
                      </a:r>
                    </a:p>
                  </a:txBody>
                  <a:tcPr>
                    <a:solidFill>
                      <a:srgbClr val="FFFFFF"/>
                    </a:solidFill>
                  </a:tcPr>
                </a:tc>
                <a:tc>
                  <a:txBody>
                    <a:bodyPr/>
                    <a:lstStyle/>
                    <a:p>
                      <a:pPr>
                        <a:defRPr sz="1200">
                          <a:solidFill>
                            <a:srgbClr val="1A1A2E"/>
                          </a:solidFill>
                          <a:latin typeface="Yu Gothic"/>
                        </a:defRPr>
                      </a:pPr>
                      <a:r>
                        <a:t>OpenAI Help Centerで応募条件を公開</a:t>
                      </a:r>
                    </a:p>
                  </a:txBody>
                  <a:tcPr>
                    <a:solidFill>
                      <a:srgbClr val="FFFFFF"/>
                    </a:solidFill>
                  </a:tcPr>
                </a:tc>
              </a:tr>
              <a:tr h="502920">
                <a:tc>
                  <a:txBody>
                    <a:bodyPr/>
                    <a:lstStyle/>
                    <a:p>
                      <a:pPr>
                        <a:defRPr sz="1200">
                          <a:solidFill>
                            <a:srgbClr val="1A1A2E"/>
                          </a:solidFill>
                          <a:latin typeface="Yu Gothic"/>
                        </a:defRPr>
                      </a:pPr>
                      <a:r>
                        <a:t>2026年夏(この夏)</a:t>
                      </a:r>
                    </a:p>
                  </a:txBody>
                  <a:tcPr>
                    <a:solidFill>
                      <a:srgbClr val="F3F6FC"/>
                    </a:solidFill>
                  </a:tcPr>
                </a:tc>
                <a:tc>
                  <a:txBody>
                    <a:bodyPr/>
                    <a:lstStyle/>
                    <a:p>
                      <a:pPr>
                        <a:defRPr sz="1200">
                          <a:solidFill>
                            <a:srgbClr val="1A1A2E"/>
                          </a:solidFill>
                          <a:latin typeface="Yu Gothic"/>
                        </a:defRPr>
                      </a:pPr>
                      <a:r>
                        <a:t>最初のコホート1万人</a:t>
                      </a:r>
                    </a:p>
                  </a:txBody>
                  <a:tcPr>
                    <a:solidFill>
                      <a:srgbClr val="F3F6FC"/>
                    </a:solidFill>
                  </a:tcPr>
                </a:tc>
                <a:tc>
                  <a:txBody>
                    <a:bodyPr/>
                    <a:lstStyle/>
                    <a:p>
                      <a:pPr>
                        <a:defRPr sz="1200">
                          <a:solidFill>
                            <a:srgbClr val="1A1A2E"/>
                          </a:solidFill>
                          <a:latin typeface="Yu Gothic"/>
                        </a:defRPr>
                      </a:pPr>
                      <a:r>
                        <a:t>プリンストン高等研究所・仏ENSなどで先行アクセス</a:t>
                      </a:r>
                    </a:p>
                  </a:txBody>
                  <a:tcPr>
                    <a:solidFill>
                      <a:srgbClr val="F3F6FC"/>
                    </a:solidFill>
                  </a:tcPr>
                </a:tc>
              </a:tr>
              <a:tr h="502920">
                <a:tc>
                  <a:txBody>
                    <a:bodyPr/>
                    <a:lstStyle/>
                    <a:p>
                      <a:pPr>
                        <a:defRPr sz="1200">
                          <a:solidFill>
                            <a:srgbClr val="1A1A2E"/>
                          </a:solidFill>
                          <a:latin typeface="Yu Gothic"/>
                        </a:defRPr>
                      </a:pPr>
                      <a:r>
                        <a:t>2027年まで</a:t>
                      </a:r>
                    </a:p>
                  </a:txBody>
                  <a:tcPr>
                    <a:solidFill>
                      <a:srgbClr val="FFFFFF"/>
                    </a:solidFill>
                  </a:tcPr>
                </a:tc>
                <a:tc>
                  <a:txBody>
                    <a:bodyPr/>
                    <a:lstStyle/>
                    <a:p>
                      <a:pPr>
                        <a:defRPr sz="1200">
                          <a:solidFill>
                            <a:srgbClr val="1A1A2E"/>
                          </a:solidFill>
                          <a:latin typeface="Yu Gothic"/>
                        </a:defRPr>
                      </a:pPr>
                      <a:r>
                        <a:t>最大10万人へ拡大</a:t>
                      </a:r>
                    </a:p>
                  </a:txBody>
                  <a:tcPr>
                    <a:solidFill>
                      <a:srgbClr val="FFFFFF"/>
                    </a:solidFill>
                  </a:tcPr>
                </a:tc>
                <a:tc>
                  <a:txBody>
                    <a:bodyPr/>
                    <a:lstStyle/>
                    <a:p>
                      <a:pPr>
                        <a:defRPr sz="1200">
                          <a:solidFill>
                            <a:srgbClr val="1A1A2E"/>
                          </a:solidFill>
                          <a:latin typeface="Yu Gothic"/>
                        </a:defRPr>
                      </a:pPr>
                      <a:r>
                        <a:t>段階的なロールアウトが継続する計画</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OpenAI公式 / SiliconANGLE / AI Weekly</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何が発表されたか(2026年7月29日)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プログラム名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ChatGPT for Academic Researchers</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提供内容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承認された研究者・ポスドクに専用ChatGPTワークスペースを12か月間無償提供</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報じたメディア</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OpenAI公式に加えTechTimes・SiliconANGLE・Axiosなどが報道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OpenAI公式 / TechTimes / SiliconANGLE / Axios(いずれも2026-07-29)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プログラムの全体像</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OpenAI</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2.5億ドル超の科学支援イニシアチブ</a:t>
            </a:r>
          </a:p>
        </p:txBody>
      </p:sp>
      <p:sp>
        <p:nvSpPr>
          <p:cNvPr id="10" name="Right Arrow 9"/>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対象大学・機関</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研究活動水準の高い、学位授与機関</a:t>
            </a:r>
          </a:p>
        </p:txBody>
      </p:sp>
      <p:sp>
        <p:nvSpPr>
          <p:cNvPr id="15" name="Right Arrow 14"/>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研究教員・ポスドク</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所属確認と対象分野の論文実績が必要</a:t>
            </a:r>
          </a:p>
        </p:txBody>
      </p:sp>
      <p:sp>
        <p:nvSpPr>
          <p:cNvPr id="20" name="Right Arrow 19"/>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協力者(最大4名)</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承認された研究者が招待可能</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OpenAIの予算から、対象機関、応募する研究者、その協力者へとアクセスが広がる構造</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OpenAI Help Center</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個人応募に必要な3つの条件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所属確認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対象機関の研究教員またはポスドク研究者であること</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論文実績</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直近3年以内にarXiv・bioRxiv・ChemRxivへ投稿した論文の著者であること</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対象分野</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生物科学・化学材料・計算機科学など指定分野の研究であること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対象分野一覧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11277295"/>
              </a:tblGrid>
              <a:tr h="502920">
                <a:tc>
                  <a:txBody>
                    <a:bodyPr/>
                    <a:lstStyle/>
                    <a:p>
                      <a:pPr>
                        <a:defRPr sz="1300" b="1">
                          <a:solidFill>
                            <a:srgbClr val="FFFFFF"/>
                          </a:solidFill>
                          <a:latin typeface="Yu Gothic"/>
                        </a:defRPr>
                      </a:pPr>
                      <a:r>
                        <a:t>分野</a:t>
                      </a:r>
                    </a:p>
                  </a:txBody>
                  <a:tcPr>
                    <a:solidFill>
                      <a:srgbClr val="1E2761"/>
                    </a:solidFill>
                  </a:tcPr>
                </a:tc>
              </a:tr>
              <a:tr h="502920">
                <a:tc>
                  <a:txBody>
                    <a:bodyPr/>
                    <a:lstStyle/>
                    <a:p>
                      <a:pPr>
                        <a:defRPr sz="1200">
                          <a:solidFill>
                            <a:srgbClr val="1A1A2E"/>
                          </a:solidFill>
                          <a:latin typeface="Yu Gothic"/>
                        </a:defRPr>
                      </a:pPr>
                      <a:r>
                        <a:t>生物科学</a:t>
                      </a:r>
                    </a:p>
                  </a:txBody>
                  <a:tcPr>
                    <a:solidFill>
                      <a:srgbClr val="FFFFFF"/>
                    </a:solidFill>
                  </a:tcPr>
                </a:tc>
              </a:tr>
              <a:tr h="502920">
                <a:tc>
                  <a:txBody>
                    <a:bodyPr/>
                    <a:lstStyle/>
                    <a:p>
                      <a:pPr>
                        <a:defRPr sz="1200">
                          <a:solidFill>
                            <a:srgbClr val="1A1A2E"/>
                          </a:solidFill>
                          <a:latin typeface="Yu Gothic"/>
                        </a:defRPr>
                      </a:pPr>
                      <a:r>
                        <a:t>化学・材料科学</a:t>
                      </a:r>
                    </a:p>
                  </a:txBody>
                  <a:tcPr>
                    <a:solidFill>
                      <a:srgbClr val="F3F6FC"/>
                    </a:solidFill>
                  </a:tcPr>
                </a:tc>
              </a:tr>
              <a:tr h="502920">
                <a:tc>
                  <a:txBody>
                    <a:bodyPr/>
                    <a:lstStyle/>
                    <a:p>
                      <a:pPr>
                        <a:defRPr sz="1200">
                          <a:solidFill>
                            <a:srgbClr val="1A1A2E"/>
                          </a:solidFill>
                          <a:latin typeface="Yu Gothic"/>
                        </a:defRPr>
                      </a:pPr>
                      <a:r>
                        <a:t>計算機科学</a:t>
                      </a:r>
                    </a:p>
                  </a:txBody>
                  <a:tcPr>
                    <a:solidFill>
                      <a:srgbClr val="FFFFFF"/>
                    </a:solidFill>
                  </a:tcPr>
                </a:tc>
              </a:tr>
              <a:tr h="502920">
                <a:tc>
                  <a:txBody>
                    <a:bodyPr/>
                    <a:lstStyle/>
                    <a:p>
                      <a:pPr>
                        <a:defRPr sz="1200">
                          <a:solidFill>
                            <a:srgbClr val="1A1A2E"/>
                          </a:solidFill>
                          <a:latin typeface="Yu Gothic"/>
                        </a:defRPr>
                      </a:pPr>
                      <a:r>
                        <a:t>地球惑星科学</a:t>
                      </a:r>
                    </a:p>
                  </a:txBody>
                  <a:tcPr>
                    <a:solidFill>
                      <a:srgbClr val="F3F6FC"/>
                    </a:solidFill>
                  </a:tcPr>
                </a:tc>
              </a:tr>
              <a:tr h="502920">
                <a:tc>
                  <a:txBody>
                    <a:bodyPr/>
                    <a:lstStyle/>
                    <a:p>
                      <a:pPr>
                        <a:defRPr sz="1200">
                          <a:solidFill>
                            <a:srgbClr val="1A1A2E"/>
                          </a:solidFill>
                          <a:latin typeface="Yu Gothic"/>
                        </a:defRPr>
                      </a:pPr>
                      <a:r>
                        <a:t>工学</a:t>
                      </a:r>
                    </a:p>
                  </a:txBody>
                  <a:tcPr>
                    <a:solidFill>
                      <a:srgbClr val="FFFFFF"/>
                    </a:solidFill>
                  </a:tcPr>
                </a:tc>
              </a:tr>
              <a:tr h="502920">
                <a:tc>
                  <a:txBody>
                    <a:bodyPr/>
                    <a:lstStyle/>
                    <a:p>
                      <a:pPr>
                        <a:defRPr sz="1200">
                          <a:solidFill>
                            <a:srgbClr val="1A1A2E"/>
                          </a:solidFill>
                          <a:latin typeface="Yu Gothic"/>
                        </a:defRPr>
                      </a:pPr>
                      <a:r>
                        <a:t>数学</a:t>
                      </a:r>
                    </a:p>
                  </a:txBody>
                  <a:tcPr>
                    <a:solidFill>
                      <a:srgbClr val="F3F6FC"/>
                    </a:solidFill>
                  </a:tcPr>
                </a:tc>
              </a:tr>
              <a:tr h="502920">
                <a:tc>
                  <a:txBody>
                    <a:bodyPr/>
                    <a:lstStyle/>
                    <a:p>
                      <a:pPr>
                        <a:defRPr sz="1200">
                          <a:solidFill>
                            <a:srgbClr val="1A1A2E"/>
                          </a:solidFill>
                          <a:latin typeface="Yu Gothic"/>
                        </a:defRPr>
                      </a:pPr>
                      <a:r>
                        <a:t>物理学</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OpenAI Help Center</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提供モデル: GPT-5.6 Sol Pro</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モデル位置づけ</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OpenAIが一般提供する中で最も高性能なモデルとして紹介されている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利用形態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ChatGPTインターフェース経由での利用(モデル重み自体は非公開)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不明な点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具体的な利用回数上限・レート制限は一次情報で確認できなかった</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Axios / TheNextWeb(2026-07-29)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上位イニシアチブの規模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2.5億ドル超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2027年までに外部の科学研究・発見支援に投じるコミットメントの一部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SiliconANGLE / TheNextWeb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ChatGPT Enterpriseとの違い(報道情報から整理)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ChatGPT for Academic Researchers</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対象は研究教員・ポスドクに限定</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所属機関・論文実績の審査あり</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12か月間、無償で提供</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一般の有償プラン(参考)</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企業・組織単位での契約が一般的</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利用者数・用途に応じた料金体系</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審査ではなく契約ベースでの提供</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参加が確認されている機関の例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プリンストン高等研究所(IAS)</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米国の著名な学際研究機関。すでに先行アクセスが始まっているとされる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エコール・ノルマル・シュペリウール(仏ENS)</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フランスの高等教育機関。同じく先行アクセスの対象として報じられている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SiliconANGLE(2026-07-29)</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“研究者が最先端のAIツールにアクセスできるかどうかが、科学的発見のスピードを左右する時代になっている”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報道各社の論調を要約(直接引用ではなく、複数記事の趣旨をまとめたもの)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応募から利用開始までの流れ(報道情報から整理)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応募</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所属・論文実績を提出</a:t>
            </a:r>
          </a:p>
        </p:txBody>
      </p:sp>
      <p:sp>
        <p:nvSpPr>
          <p:cNvPr id="10" name="Right Arrow 9"/>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審査</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機関・分野の適合を確認</a:t>
            </a:r>
          </a:p>
        </p:txBody>
      </p:sp>
      <p:sp>
        <p:nvSpPr>
          <p:cNvPr id="15" name="Right Arrow 14"/>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承認</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専用ワークスペースが発行</a:t>
            </a:r>
          </a:p>
        </p:txBody>
      </p:sp>
      <p:sp>
        <p:nvSpPr>
          <p:cNvPr id="20" name="Right Arrow 19"/>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利用開始</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12か月間、無償でアクセス</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審査にかかる具体的な期間は一次情報では確認できていない</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OpenAI Help Center</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「モデルの重みは非公開のまま」という論点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今回のアクセスは、あくまでChatGPTインターフェース経由での利用に限られる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モデルの重み(内部パラメータ)自体は引き続き非公開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誤用防止を理由に非公開を維持する、というのが開発企業側の一般的な説明</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一方で独立検証・再現性・安全性評価のために重み公開を求める声も研究者コミュニティにある</a:t>
            </a:r>
          </a:p>
        </p:txBody>
      </p:sp>
      <p:sp>
        <p:nvSpPr>
          <p:cNvPr id="14" name="Oval 13"/>
          <p:cNvSpPr/>
          <p:nvPr/>
        </p:nvSpPr>
        <p:spPr>
          <a:xfrm>
            <a:off x="457200" y="459028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この対立軸は複数のAI開発企業に共通する一般的な論点として報じられている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TechTimes(2026-07-29)</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重み公開をめぐる論点整理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非公開を維持する側の論拠</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誤用・悪用のリスクを抑えられる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商用モデルとしての競争優位を守れる</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サービスとして品質・挙動を管理しやすい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公開を求める側の論拠</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独立した第三者による検証がしやすくなる</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研究の再現性が高まる</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安全性の評価をコミュニティ全体で行える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日本の研究者への影響(現時点で分かる範囲)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確認できている参加機関</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プリンストン高等研究所・仏ENSのみが報道で確認できた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日本の大学の扱い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対象に含まれるかどうかは、一次情報では確認できていない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日本国内の大学・研究機関からの参加発表があるかを継続的に確認する必要がある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日本の大学・研究機関が対象に含まれるか</a:t>
                      </a:r>
                    </a:p>
                  </a:txBody>
                  <a:tcPr>
                    <a:solidFill>
                      <a:srgbClr val="FFFFFF"/>
                    </a:solidFill>
                  </a:tcPr>
                </a:tc>
                <a:tc>
                  <a:txBody>
                    <a:bodyPr/>
                    <a:lstStyle/>
                    <a:p>
                      <a:pPr>
                        <a:defRPr sz="1200">
                          <a:solidFill>
                            <a:srgbClr val="1A1A2E"/>
                          </a:solidFill>
                          <a:latin typeface="Yu Gothic"/>
                        </a:defRPr>
                      </a:pPr>
                      <a:r>
                        <a:t>一次情報では確認できず</a:t>
                      </a:r>
                    </a:p>
                  </a:txBody>
                  <a:tcPr>
                    <a:solidFill>
                      <a:srgbClr val="FFFFFF"/>
                    </a:solidFill>
                  </a:tcPr>
                </a:tc>
              </a:tr>
              <a:tr h="502920">
                <a:tc>
                  <a:txBody>
                    <a:bodyPr/>
                    <a:lstStyle/>
                    <a:p>
                      <a:pPr>
                        <a:defRPr sz="1200">
                          <a:solidFill>
                            <a:srgbClr val="1A1A2E"/>
                          </a:solidFill>
                          <a:latin typeface="Yu Gothic"/>
                        </a:defRPr>
                      </a:pPr>
                      <a:r>
                        <a:t>GPT-5.6 Sol Proの利用回数上限・レート制限</a:t>
                      </a:r>
                    </a:p>
                  </a:txBody>
                  <a:tcPr>
                    <a:solidFill>
                      <a:srgbClr val="F3F6FC"/>
                    </a:solidFill>
                  </a:tcPr>
                </a:tc>
                <a:tc>
                  <a:txBody>
                    <a:bodyPr/>
                    <a:lstStyle/>
                    <a:p>
                      <a:pPr>
                        <a:defRPr sz="1200">
                          <a:solidFill>
                            <a:srgbClr val="1A1A2E"/>
                          </a:solidFill>
                          <a:latin typeface="Yu Gothic"/>
                        </a:defRPr>
                      </a:pPr>
                      <a:r>
                        <a:t>一次情報では確認できず</a:t>
                      </a:r>
                    </a:p>
                  </a:txBody>
                  <a:tcPr>
                    <a:solidFill>
                      <a:srgbClr val="F3F6FC"/>
                    </a:solidFill>
                  </a:tcPr>
                </a:tc>
              </a:tr>
              <a:tr h="502920">
                <a:tc>
                  <a:txBody>
                    <a:bodyPr/>
                    <a:lstStyle/>
                    <a:p>
                      <a:pPr>
                        <a:defRPr sz="1200">
                          <a:solidFill>
                            <a:srgbClr val="1A1A2E"/>
                          </a:solidFill>
                          <a:latin typeface="Yu Gothic"/>
                        </a:defRPr>
                      </a:pPr>
                      <a:r>
                        <a:t>2.5億ドルのうち本プログラムへの割当額</a:t>
                      </a:r>
                    </a:p>
                  </a:txBody>
                  <a:tcPr>
                    <a:solidFill>
                      <a:srgbClr val="FFFFFF"/>
                    </a:solidFill>
                  </a:tcPr>
                </a:tc>
                <a:tc>
                  <a:txBody>
                    <a:bodyPr/>
                    <a:lstStyle/>
                    <a:p>
                      <a:pPr>
                        <a:defRPr sz="1200">
                          <a:solidFill>
                            <a:srgbClr val="1A1A2E"/>
                          </a:solidFill>
                          <a:latin typeface="Yu Gothic"/>
                        </a:defRPr>
                      </a:pPr>
                      <a:r>
                        <a:t>内訳は非公開</a:t>
                      </a:r>
                    </a:p>
                  </a:txBody>
                  <a:tcPr>
                    <a:solidFill>
                      <a:srgbClr val="FFFFFF"/>
                    </a:solidFill>
                  </a:tcPr>
                </a:tc>
              </a:tr>
              <a:tr h="502920">
                <a:tc>
                  <a:txBody>
                    <a:bodyPr/>
                    <a:lstStyle/>
                    <a:p>
                      <a:pPr>
                        <a:defRPr sz="1200">
                          <a:solidFill>
                            <a:srgbClr val="1A1A2E"/>
                          </a:solidFill>
                          <a:latin typeface="Yu Gothic"/>
                        </a:defRPr>
                      </a:pPr>
                      <a:r>
                        <a:t>審査から利用開始までの具体的な所要日数</a:t>
                      </a:r>
                    </a:p>
                  </a:txBody>
                  <a:tcPr>
                    <a:solidFill>
                      <a:srgbClr val="F3F6FC"/>
                    </a:solidFill>
                  </a:tcPr>
                </a:tc>
                <a:tc>
                  <a:txBody>
                    <a:bodyPr/>
                    <a:lstStyle/>
                    <a:p>
                      <a:pPr>
                        <a:defRPr sz="1200">
                          <a:solidFill>
                            <a:srgbClr val="1A1A2E"/>
                          </a:solidFill>
                          <a:latin typeface="Yu Gothic"/>
                        </a:defRPr>
                      </a:pPr>
                      <a:r>
                        <a:t>一次情報では確認できず</a:t>
                      </a:r>
                    </a:p>
                  </a:txBody>
                  <a:tcPr>
                    <a:solidFill>
                      <a:srgbClr val="F3F6FC"/>
                    </a:solidFill>
                  </a:tcPr>
                </a:tc>
              </a:tr>
              <a:tr h="502920">
                <a:tc>
                  <a:txBody>
                    <a:bodyPr/>
                    <a:lstStyle/>
                    <a:p>
                      <a:pPr>
                        <a:defRPr sz="1200">
                          <a:solidFill>
                            <a:srgbClr val="1A1A2E"/>
                          </a:solidFill>
                          <a:latin typeface="Yu Gothic"/>
                        </a:defRPr>
                      </a:pPr>
                      <a:r>
                        <a:t>人文社会科学系分野が対象に含まれるか</a:t>
                      </a:r>
                    </a:p>
                  </a:txBody>
                  <a:tcPr>
                    <a:solidFill>
                      <a:srgbClr val="FFFFFF"/>
                    </a:solidFill>
                  </a:tcPr>
                </a:tc>
                <a:tc>
                  <a:txBody>
                    <a:bodyPr/>
                    <a:lstStyle/>
                    <a:p>
                      <a:pPr>
                        <a:defRPr sz="1200">
                          <a:solidFill>
                            <a:srgbClr val="1A1A2E"/>
                          </a:solidFill>
                          <a:latin typeface="Yu Gothic"/>
                        </a:defRPr>
                      </a:pPr>
                      <a:r>
                        <a:t>対象分野の一覧に明記なし</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研究者以外にも参考になる点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大手AI企業が「誰に無料でアクセスを開放するか」という優先順位づけの一例になる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所属・実績で審査するアクセス管理の設計は、社内でのAIツール導入にも応用できる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「フロンティアモデルを無償提供する」という打ち出し方自体が広報戦略として参考になる</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対象分野を絞り込むことで、質の高い利用実績を集めやすくする設計も学べる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過去の類似の動きとの比較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2025年3月</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OpenAIが5,000万ドル規模の学術研究支援助成プログラムを開始したと報じられていた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今回(2026年7月)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助成金ではなく、AIツールへの直接アクセスを無償提供する形に踏み込んだ</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見えてくる傾向</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資金援助から、ツールそのものへのアクセス提供へと支援の形が広がっている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TechCrunch(2025-03-04、参考情報)</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規模を見る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10万人・2.5億ドルという数字の大きさをまず把握する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条件を見る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誰が対象で、誰が対象外なのかを確認する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論点を見る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重み非公開など、賛否が分かれる点を押さえる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想定される効果(ここからは推測)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研究の加速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AIツールを使った文献調査・データ解析の効率化が期待される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AI企業への評判形成</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研究コミュニティでの実利用実績が、企業の評判やブランドにつながりうる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分野間の格差</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対象分野に含まれない研究者との間で、利用機会の差が生じる可能性がある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冷静に見る点、3つ</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「無料」の裏側にある2.5億ドルの内訳や意図までは公表されていない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対象は研究教員・ポスドクに限られ、学生は直接の対象ではない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モデルの重みは非公開のままであり、「オープン」なアクセスとは意味が異なる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AI企業による「研究アクセス開放」の広がり方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資金援助</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2025年: 助成金プログラム</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ツール開放</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2026年: 無償アクセス提供</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コミュニティ形成</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実利用実績の蓄積(推測)</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資金援助からツールの直接開放へ、という流れは今回の報道から読み取れる範囲の整理</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今日の要点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10万人</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最終目標</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2027年までに研究者10万人への無償アクセス拡大を計画</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7分野</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対象分野</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生物科学・化学材料・計算機科学など7分野に限定</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非公開</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モデルの重み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無償アクセスでもモデルの重み自体は公開されない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「無料」の中身を、数字で確認する習慣を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AIサービスのニュースを見るときは、規模・対象・非公開の範囲を分けて確認しましょう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研究者の方は、OpenAI Help Centerの応募条件ページで対象分野と所属要件を確認してみてください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