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冒頭で「33件試して残るのは4件」という具体的な数字を即座に提示し、挨拶・前置きを省く。パーセントより件数の方が実感しやすいため、件数を先に置く。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結論を先に提示する。技術の話ではなく現場の話であることを最初に示す。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視聴者が得られるものを先に提示し、離脱を防ぐ。数字の確度も見る、と予告する。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最初に情報の確度を開示する。数字が主役のテーマなので、ここを飛ばさない。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起承転結を予告する。ここまでが入口、ここから中身、という区切りを作る。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専門知識のない視聴者のための前提スライド。この区別が分からないと88%の意味が伝わらない。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4段階を図で示す。次のスライド以降で「②から③へ進むところで大量に落ちる」ことを説明する。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本テーマの中心となる数字。ナレーションでは必ず「IDCの調査より、報道経由の確認」と添える。原典は読めていない。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数字の中身と、確認できていない部分を同じ表に並べる。都合の良いところだけ切り出さない。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発表そのものは大きなニュースではない。むしろ「なぜこの組織が必要とされるのか」という背景の方が視聴者に関係する。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発表側の言葉であることを帰属で明確にする。宣伝文句として流さず、現場の実感を代弁する部分だけを引く。</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この3層は、そのまま「どこで止まるか」の裏返しになっている。次のスライドで対応関係を示す。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3層モデルを「対処する詰まり」に翻訳して見せる。会社の宣伝ではなく問題の整理として扱う。</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技術的な詰まりと、組織的な詰まりを対比する。後者の方が見落とされやすいことをナレーションで補う。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ここが本テーマの核心。「AIがまだ賢くないから」ではないという指摘であり、視聴者が自分の現場を見直す入り口になる。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4つの関門として図解する。文字での列挙にせず、視覚的に「通り抜ける必要がある」ことを示す。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似た数字を合成して「約9割」と丸めない。どの調査の数字かを分けて扱う姿勢を見せる。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指標のずれが「実証実験は成功したのに本番に行かない」の正体である、という整理。ただしこれは一般的な整理であり、IDCがそう述べたわけではない。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数字の使いどころと使えないところを分ける。ここまでが中身、という区切りを置く。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転の入り口。発表を成功物語として語らず、「業界がそう見ている」段階だと示す。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一方的に持ち上げない。確かなことと不確かなことを同じ大きさで並べる。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88%側に入らないための実践手順。製品を買えという結論にはしない。③は特に語られにくいため入れている。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個人と企業の2つの視点を用意し、視聴者が自分の立場で受け取れるようにする。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推測であることをスライド上でもナレーションでも明示する。断定しない方針の実践箇所。</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個別ニュースを大きな流れの中に置く。この順番は解説者側の整理であり、公式な段階分けではない点をナレーションで補う。</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3つとも「数字や発表はあるが、性質が違う」という共通点でまとめる。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不明点を隠さず表にする。ここを飛ばさずナレーションでも読み上げる。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制作過程そのものを開示する。使わなかった数字・混ぜなかった数字まで言うのは、信頼の担保として意味がある。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3枚のカードで全体を回収する。次のスライドで学びに変換する。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結のキーメッセージ。製品を勧めるのではなく、視聴者自身の行動を1つに絞る。誇張せず事実に基づいて締める。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33件試して、本番に残るのは4件</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AIエージェントの実証実験の88%が本番運用に届かないとするIDCの数字が、2026年7月28日の発表で改めて引用された</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Cognizant 公式ニュースルーム / PR Newswire(2026-07-28)、IDC調査(報道経由)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何が分かったか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AIエージェントは「作れるか」ではなく「本番に載せられるか」で止まっている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なぜ重要か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止まる原因はモデルの性能ではなく、組織側の準備だとIDCは指摘している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AI導入が「試したけど終わり」になる理由が分かる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88%という数字がどこまで確かなのかを、出典付きで判断できる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自分の現場でどこが詰まりそうかを確認する視点が持てる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根拠がある部分</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発表には公式ニュースルームとプレスリリースがあり、88%は発表元以外の媒体でも同じ値が引用されている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限界がある部分</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IDC調査の原典(調査年・標本数・定義)は確認できておらず、記事本文も取得できていない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88%の中身と、どこで止まるのか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これは何を意味するか・どう使えるか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慎重に見る点・不明点・まとめ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前提知識: 「実証実験」と「本番運用」は別物</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実証実験(PoC)</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うまくいくかを小さく試す段階。限られたデータ、限られた人数、失敗しても実害が小さい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本番運用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毎日の業務に組み込む段階。他システムとつながり、止まると仕事が止まる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違いの本質</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実証実験は「できるか」を見る。本番運用は「続けられるか」を問われる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AI導入が進む4つの段階</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①構想</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何に使うかを決める</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②実証実験</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小さく試してみる</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③統合</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既存の仕組みにつなぐ</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④本番運用</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毎日の業務に載せる</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本番運用に届かない実証実験の割合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88%</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IDC調査より。33件のパイロットのうち、実際の運用に入るのは4件とされる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IDC調査(TechTimes・CIO等が引用、2026-07-28)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この数字の中身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割合</a:t>
                      </a:r>
                    </a:p>
                  </a:txBody>
                  <a:tcPr>
                    <a:solidFill>
                      <a:srgbClr val="FFFFFF"/>
                    </a:solidFill>
                  </a:tcPr>
                </a:tc>
                <a:tc>
                  <a:txBody>
                    <a:bodyPr/>
                    <a:lstStyle/>
                    <a:p>
                      <a:pPr>
                        <a:defRPr sz="1200">
                          <a:solidFill>
                            <a:srgbClr val="1C2230"/>
                          </a:solidFill>
                          <a:latin typeface="Yu Gothic"/>
                        </a:defRPr>
                      </a:pPr>
                      <a:r>
                        <a:t>AIエージェントの実証実験の88%が、広範な本番運用に到達しない</a:t>
                      </a:r>
                    </a:p>
                  </a:txBody>
                  <a:tcPr>
                    <a:solidFill>
                      <a:srgbClr val="FFFFFF"/>
                    </a:solidFill>
                  </a:tcPr>
                </a:tc>
              </a:tr>
              <a:tr h="502920">
                <a:tc>
                  <a:txBody>
                    <a:bodyPr/>
                    <a:lstStyle/>
                    <a:p>
                      <a:pPr>
                        <a:defRPr sz="1200">
                          <a:solidFill>
                            <a:srgbClr val="1C2230"/>
                          </a:solidFill>
                          <a:latin typeface="Yu Gothic"/>
                        </a:defRPr>
                      </a:pPr>
                      <a:r>
                        <a:t>件数での表現</a:t>
                      </a:r>
                    </a:p>
                  </a:txBody>
                  <a:tcPr>
                    <a:solidFill>
                      <a:srgbClr val="F1F5FA"/>
                    </a:solidFill>
                  </a:tcPr>
                </a:tc>
                <a:tc>
                  <a:txBody>
                    <a:bodyPr/>
                    <a:lstStyle/>
                    <a:p>
                      <a:pPr>
                        <a:defRPr sz="1200">
                          <a:solidFill>
                            <a:srgbClr val="1C2230"/>
                          </a:solidFill>
                          <a:latin typeface="Yu Gothic"/>
                        </a:defRPr>
                      </a:pPr>
                      <a:r>
                        <a:t>33件立ち上げて、運用に入るのは4件</a:t>
                      </a:r>
                    </a:p>
                  </a:txBody>
                  <a:tcPr>
                    <a:solidFill>
                      <a:srgbClr val="F1F5FA"/>
                    </a:solidFill>
                  </a:tcPr>
                </a:tc>
              </a:tr>
              <a:tr h="502920">
                <a:tc>
                  <a:txBody>
                    <a:bodyPr/>
                    <a:lstStyle/>
                    <a:p>
                      <a:pPr>
                        <a:defRPr sz="1200">
                          <a:solidFill>
                            <a:srgbClr val="1C2230"/>
                          </a:solidFill>
                          <a:latin typeface="Yu Gothic"/>
                        </a:defRPr>
                      </a:pPr>
                      <a:r>
                        <a:t>調査主体</a:t>
                      </a:r>
                    </a:p>
                  </a:txBody>
                  <a:tcPr>
                    <a:solidFill>
                      <a:srgbClr val="FFFFFF"/>
                    </a:solidFill>
                  </a:tcPr>
                </a:tc>
                <a:tc>
                  <a:txBody>
                    <a:bodyPr/>
                    <a:lstStyle/>
                    <a:p>
                      <a:pPr>
                        <a:defRPr sz="1200">
                          <a:solidFill>
                            <a:srgbClr val="1C2230"/>
                          </a:solidFill>
                          <a:latin typeface="Yu Gothic"/>
                        </a:defRPr>
                      </a:pPr>
                      <a:r>
                        <a:t>IDC(報道では2025年にLenovoと実施とされる)</a:t>
                      </a:r>
                    </a:p>
                  </a:txBody>
                  <a:tcPr>
                    <a:solidFill>
                      <a:srgbClr val="FFFFFF"/>
                    </a:solidFill>
                  </a:tcPr>
                </a:tc>
              </a:tr>
              <a:tr h="502920">
                <a:tc>
                  <a:txBody>
                    <a:bodyPr/>
                    <a:lstStyle/>
                    <a:p>
                      <a:pPr>
                        <a:defRPr sz="1200">
                          <a:solidFill>
                            <a:srgbClr val="1C2230"/>
                          </a:solidFill>
                          <a:latin typeface="Yu Gothic"/>
                        </a:defRPr>
                      </a:pPr>
                      <a:r>
                        <a:t>確認できていないこと</a:t>
                      </a:r>
                    </a:p>
                  </a:txBody>
                  <a:tcPr>
                    <a:solidFill>
                      <a:srgbClr val="F1F5FA"/>
                    </a:solidFill>
                  </a:tcPr>
                </a:tc>
                <a:tc>
                  <a:txBody>
                    <a:bodyPr/>
                    <a:lstStyle/>
                    <a:p>
                      <a:pPr>
                        <a:defRPr sz="1200">
                          <a:solidFill>
                            <a:srgbClr val="1C2230"/>
                          </a:solidFill>
                          <a:latin typeface="Yu Gothic"/>
                        </a:defRPr>
                      </a:pPr>
                      <a:r>
                        <a:t>調査の原典。標本数・対象国・「広範な本番運用」の定義は未確認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IDC調査(TechTimes・CIO等が引用)</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何が発表されたか(2026年7月28日)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誰が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Cognizant(米国に本社を置く大手ITサービス企業)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何を</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欧州・中東・アフリカ向けに、AIエージェントの本番展開を支援する専門組織を新設した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立ち位置</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特定のクラウド・モデル・エコシステムに依存しない中立を掲げている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Cognizant 公式ニュースルーム / PR Newswire(2026-07-28)</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“多くの組織がAIに前向きである一方、その勢いを実際の事業価値へどう変えるかを、まだ模索している段階にある。”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Manoj Mehta氏(Cognizant EMEA プレジデント)。公式リリースより要約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発表された3層の支援モデル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①土台</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戦略・ガバナンス・技術選定と、事実の裏付けを与える層を整える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②統合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既存システムとのつなぎ込みを、毎回ゼロからではなく再利用できる形にする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③作り直し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複数エージェントで業務そのものを設計し直す</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3層と「詰まる場所」の対応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層</a:t>
                      </a:r>
                    </a:p>
                  </a:txBody>
                  <a:tcPr>
                    <a:solidFill>
                      <a:srgbClr val="2B3A55"/>
                    </a:solidFill>
                  </a:tcPr>
                </a:tc>
                <a:tc>
                  <a:txBody>
                    <a:bodyPr/>
                    <a:lstStyle/>
                    <a:p>
                      <a:pPr>
                        <a:defRPr sz="1300" b="1">
                          <a:solidFill>
                            <a:srgbClr val="FFFFFF"/>
                          </a:solidFill>
                          <a:latin typeface="Yu Gothic"/>
                        </a:defRPr>
                      </a:pPr>
                      <a:r>
                        <a:t>対処しようとしている詰まり</a:t>
                      </a:r>
                    </a:p>
                  </a:txBody>
                  <a:tcPr>
                    <a:solidFill>
                      <a:srgbClr val="2B3A55"/>
                    </a:solidFill>
                  </a:tcPr>
                </a:tc>
              </a:tr>
              <a:tr h="502920">
                <a:tc>
                  <a:txBody>
                    <a:bodyPr/>
                    <a:lstStyle/>
                    <a:p>
                      <a:pPr>
                        <a:defRPr sz="1200">
                          <a:solidFill>
                            <a:srgbClr val="1C2230"/>
                          </a:solidFill>
                          <a:latin typeface="Yu Gothic"/>
                        </a:defRPr>
                      </a:pPr>
                      <a:r>
                        <a:t>土台(Foundation)</a:t>
                      </a:r>
                    </a:p>
                  </a:txBody>
                  <a:tcPr>
                    <a:solidFill>
                      <a:srgbClr val="FFFFFF"/>
                    </a:solidFill>
                  </a:tcPr>
                </a:tc>
                <a:tc>
                  <a:txBody>
                    <a:bodyPr/>
                    <a:lstStyle/>
                    <a:p>
                      <a:pPr>
                        <a:defRPr sz="1200">
                          <a:solidFill>
                            <a:srgbClr val="1C2230"/>
                          </a:solidFill>
                          <a:latin typeface="Yu Gothic"/>
                        </a:defRPr>
                      </a:pPr>
                      <a:r>
                        <a:t>何に使うかが決まらない。エージェントが事実を取り違える</a:t>
                      </a:r>
                    </a:p>
                  </a:txBody>
                  <a:tcPr>
                    <a:solidFill>
                      <a:srgbClr val="FFFFFF"/>
                    </a:solidFill>
                  </a:tcPr>
                </a:tc>
              </a:tr>
              <a:tr h="502920">
                <a:tc>
                  <a:txBody>
                    <a:bodyPr/>
                    <a:lstStyle/>
                    <a:p>
                      <a:pPr>
                        <a:defRPr sz="1200">
                          <a:solidFill>
                            <a:srgbClr val="1C2230"/>
                          </a:solidFill>
                          <a:latin typeface="Yu Gothic"/>
                        </a:defRPr>
                      </a:pPr>
                      <a:r>
                        <a:t>統合(Accelerate)</a:t>
                      </a:r>
                    </a:p>
                  </a:txBody>
                  <a:tcPr>
                    <a:solidFill>
                      <a:srgbClr val="F1F5FA"/>
                    </a:solidFill>
                  </a:tcPr>
                </a:tc>
                <a:tc>
                  <a:txBody>
                    <a:bodyPr/>
                    <a:lstStyle/>
                    <a:p>
                      <a:pPr>
                        <a:defRPr sz="1200">
                          <a:solidFill>
                            <a:srgbClr val="1C2230"/>
                          </a:solidFill>
                          <a:latin typeface="Yu Gothic"/>
                        </a:defRPr>
                      </a:pPr>
                      <a:r>
                        <a:t>既存システムにつながらず、そこで止まる</a:t>
                      </a:r>
                    </a:p>
                  </a:txBody>
                  <a:tcPr>
                    <a:solidFill>
                      <a:srgbClr val="F1F5FA"/>
                    </a:solidFill>
                  </a:tcPr>
                </a:tc>
              </a:tr>
              <a:tr h="502920">
                <a:tc>
                  <a:txBody>
                    <a:bodyPr/>
                    <a:lstStyle/>
                    <a:p>
                      <a:pPr>
                        <a:defRPr sz="1200">
                          <a:solidFill>
                            <a:srgbClr val="1C2230"/>
                          </a:solidFill>
                          <a:latin typeface="Yu Gothic"/>
                        </a:defRPr>
                      </a:pPr>
                      <a:r>
                        <a:t>作り直し(Transform)</a:t>
                      </a:r>
                    </a:p>
                  </a:txBody>
                  <a:tcPr>
                    <a:solidFill>
                      <a:srgbClr val="FFFFFF"/>
                    </a:solidFill>
                  </a:tcPr>
                </a:tc>
                <a:tc>
                  <a:txBody>
                    <a:bodyPr/>
                    <a:lstStyle/>
                    <a:p>
                      <a:pPr>
                        <a:defRPr sz="1200">
                          <a:solidFill>
                            <a:srgbClr val="1C2230"/>
                          </a:solidFill>
                          <a:latin typeface="Yu Gothic"/>
                        </a:defRPr>
                      </a:pPr>
                      <a:r>
                        <a:t>業務のやり方が変わらないまま、AIだけ足しても効果が出ない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Cognizant 公式リリース(2026-07-28)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詰まりは大きく2種類ある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つなぐところで詰まる</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既存システムとの接続が想定より複雑</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データがそろっていない・形式がばらばら</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権限や監査の要件を満たせない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決めるところで詰まる</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誰が責任を持つのかが決まらない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業務のやり方を変える合意が取れない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成功の基準が曖昧なまま進む</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IDCが挙げる原因は「モデルの品質ではない」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データが本番で使える状態になっていない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業務プロセスがAIを前提に組まれていない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IT基盤が本番運用に耐える形になっていない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IDC調査(報道経由)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実証実験から本番までの4つの関門</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データ</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本番で使える形で用意できるか</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接続</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既存システムにつながるか</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責任</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誰が結果を引き受けるか</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運用</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壊れたとき誰が直すか</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似た数字が複数あることへの注意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今回使った数字</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IDCの88%。33件中4件という件数表現も同じ調査に基づく</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別に見かける数字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別の調査に「89%」という近い数字があるとする記事もある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この動画での扱い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同一の調査か確認できないため、混ぜずにIDCの数字だけを使っている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実証実験と本番で、見る指標が変わる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実証実験で見がちな指標</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うまく答えられたか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デモがうまくいったか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関係者の反応が良かったか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本番で問われる指標</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毎日止まらずに動くか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間違えたとき誰が気づくか</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運用コストに見合うか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この数字をどう読むか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強い点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発表元の企業だけでなく、他の媒体でも同じ値が引用されている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弱い点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「広範な本番運用」の定義が分からないため、厳しめにも緩めにも取れる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結論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傾向を示す数字としては使えるが、自社の見込みを計算する根拠には使えない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つまり、何が起きているのか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関心の移動</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「AIで何ができるか」から「AIを毎日動かし続けられるか」へ、問題が移っている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お金の向き先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モデルを作る側だけでなく、本番に載せる工程にも人と組織が投じられ始めた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ただし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支援組織ができたことと、実際に成功率が上がることは別である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この話をどう受け取るか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確かだと言えること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発表には公式リリースがある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88%は複数媒体で同じ値が引用されている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原因は組織側にあるとIDCは指摘している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慎重に見るべきこと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調査の原典・定義を確認できていない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支援組織の効果は検証されていない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「数か月を数日に」は発表側の説明である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自分の現場で、今日からできること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①出口を先に書く</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試す前に「本番で満たすべき条件」を1枚に書き出す</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②接続を先に見る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デモではなく、既存システムとつなぐ部分を最初に触ってみる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③やめる基準を決める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どうなったら中止するかを、始める前に決めておく</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これで何が変わるか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個人にとって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AIツールを試すとき、「動いた」で満足せず「毎日使えるか」を先に考えるようになる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企業にとって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AI導入の議論に、データ整備と業務の作り直しという重い項目が最初から入る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仕事への影響(ここからは推測)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データ整備や業務設計といった地味な仕事の重要度が上がる可能性がある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「AIを作る人」より「AIを現場に載せる人」が足りなくなるかもしれない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ただしこれは推測であり、実際にどうなるかはまだ分からない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AI導入で問われることの変化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作れるか</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モデルを使って何かできるか</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つながるか</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既存の仕組みに載るか</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続くか</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毎日止まらず動くか</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任せられるか</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結果の責任を持てるか</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冷静に見る点、3つ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88%は傾向を示す数字であって、自社の成功率の予測ではない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支援組織ができたことは、問題が解決したことを意味しない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「数か月を数日に」は発表した企業側の説明であり、第三者検証ではない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IDC調査の原典</a:t>
                      </a:r>
                    </a:p>
                  </a:txBody>
                  <a:tcPr>
                    <a:solidFill>
                      <a:srgbClr val="FFFFFF"/>
                    </a:solidFill>
                  </a:tcPr>
                </a:tc>
                <a:tc>
                  <a:txBody>
                    <a:bodyPr/>
                    <a:lstStyle/>
                    <a:p>
                      <a:pPr>
                        <a:defRPr sz="1200">
                          <a:solidFill>
                            <a:srgbClr val="1C2230"/>
                          </a:solidFill>
                          <a:latin typeface="Yu Gothic"/>
                        </a:defRPr>
                      </a:pPr>
                      <a:r>
                        <a:t>調査年・標本数・対象国・「広範な本番運用」の定義を確認できなかった</a:t>
                      </a:r>
                    </a:p>
                  </a:txBody>
                  <a:tcPr>
                    <a:solidFill>
                      <a:srgbClr val="FFFFFF"/>
                    </a:solidFill>
                  </a:tcPr>
                </a:tc>
              </a:tr>
              <a:tr h="502920">
                <a:tc>
                  <a:txBody>
                    <a:bodyPr/>
                    <a:lstStyle/>
                    <a:p>
                      <a:pPr>
                        <a:defRPr sz="1200">
                          <a:solidFill>
                            <a:srgbClr val="1C2230"/>
                          </a:solidFill>
                          <a:latin typeface="Yu Gothic"/>
                        </a:defRPr>
                      </a:pPr>
                      <a:r>
                        <a:t>記事・リリースの本文</a:t>
                      </a:r>
                    </a:p>
                  </a:txBody>
                  <a:tcPr>
                    <a:solidFill>
                      <a:srgbClr val="F1F5FA"/>
                    </a:solidFill>
                  </a:tcPr>
                </a:tc>
                <a:tc>
                  <a:txBody>
                    <a:bodyPr/>
                    <a:lstStyle/>
                    <a:p>
                      <a:pPr>
                        <a:defRPr sz="1200">
                          <a:solidFill>
                            <a:srgbClr val="1C2230"/>
                          </a:solidFill>
                          <a:latin typeface="Yu Gothic"/>
                        </a:defRPr>
                      </a:pPr>
                      <a:r>
                        <a:t>7つの情報源すべてがHTTP 403で、本調査環境から取得できなかった</a:t>
                      </a:r>
                    </a:p>
                  </a:txBody>
                  <a:tcPr>
                    <a:solidFill>
                      <a:srgbClr val="F1F5FA"/>
                    </a:solidFill>
                  </a:tcPr>
                </a:tc>
              </a:tr>
              <a:tr h="502920">
                <a:tc>
                  <a:txBody>
                    <a:bodyPr/>
                    <a:lstStyle/>
                    <a:p>
                      <a:pPr>
                        <a:defRPr sz="1200">
                          <a:solidFill>
                            <a:srgbClr val="1C2230"/>
                          </a:solidFill>
                          <a:latin typeface="Yu Gothic"/>
                        </a:defRPr>
                      </a:pPr>
                      <a:r>
                        <a:t>新設組織の規模</a:t>
                      </a:r>
                    </a:p>
                  </a:txBody>
                  <a:tcPr>
                    <a:solidFill>
                      <a:srgbClr val="FFFFFF"/>
                    </a:solidFill>
                  </a:tcPr>
                </a:tc>
                <a:tc>
                  <a:txBody>
                    <a:bodyPr/>
                    <a:lstStyle/>
                    <a:p>
                      <a:pPr>
                        <a:defRPr sz="1200">
                          <a:solidFill>
                            <a:srgbClr val="1C2230"/>
                          </a:solidFill>
                          <a:latin typeface="Yu Gothic"/>
                        </a:defRPr>
                      </a:pPr>
                      <a:r>
                        <a:t>人員数・投資額は公表されていない</a:t>
                      </a:r>
                    </a:p>
                  </a:txBody>
                  <a:tcPr>
                    <a:solidFill>
                      <a:srgbClr val="FFFFFF"/>
                    </a:solidFill>
                  </a:tcPr>
                </a:tc>
              </a:tr>
              <a:tr h="502920">
                <a:tc>
                  <a:txBody>
                    <a:bodyPr/>
                    <a:lstStyle/>
                    <a:p>
                      <a:pPr>
                        <a:defRPr sz="1200">
                          <a:solidFill>
                            <a:srgbClr val="1C2230"/>
                          </a:solidFill>
                          <a:latin typeface="Yu Gothic"/>
                        </a:defRPr>
                      </a:pPr>
                      <a:r>
                        <a:t>日本国内の同種の統計</a:t>
                      </a:r>
                    </a:p>
                  </a:txBody>
                  <a:tcPr>
                    <a:solidFill>
                      <a:srgbClr val="F1F5FA"/>
                    </a:solidFill>
                  </a:tcPr>
                </a:tc>
                <a:tc>
                  <a:txBody>
                    <a:bodyPr/>
                    <a:lstStyle/>
                    <a:p>
                      <a:pPr>
                        <a:defRPr sz="1200">
                          <a:solidFill>
                            <a:srgbClr val="1C2230"/>
                          </a:solidFill>
                          <a:latin typeface="Yu Gothic"/>
                        </a:defRPr>
                      </a:pPr>
                      <a:r>
                        <a:t>確認できなかった</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この動画の作り方について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鮮度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発表は2026年7月28日。この動画の制作日は7月29日で、1日後にあたる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使わなかった数字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株価の動きに関する見出しがあったが、一次情報で確認できず因果も不明なため使っていない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混ぜなかった数字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別の調査の「89%」とIDCの「88%」は、同一調査か確認できないため合成していない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今日の要点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起きたこと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AIエージェントの実証実験の88%が本番に届かないという数字が、改めて引用された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原因</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モデルの性能ではなく、データ・業務プロセス・IT基盤という組織側の準備だとされる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持ち帰ること</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試す前に、本番で満たすべき条件とやめる基準を決めておく</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定期実行51本目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「動いた」で終わらせず、「続くか」を先に決める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止まる理由の多くは、モデルの外側にある</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いま試しているAIについて、本番で満たすべき条件を1枚に書き出してみる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