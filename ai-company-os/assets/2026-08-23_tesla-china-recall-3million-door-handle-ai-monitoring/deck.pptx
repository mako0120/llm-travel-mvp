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22日、テスラは中国国内で約300万台のリコールを発表しました。ドアハンドルの安全性問題に加え、AI運転監視システムの不備も対象です。何が起きている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結論から確認します。テスラは中国で約300万台を対象にリコールを発表しました。ドアハンドルの安全性問題と、AI運転監視システムの不備という2つの問題が対象です。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今日は6つの流れでお伝えします。リコールの基本情報から、2つの問題の詳細、業界的な意味まで、正確に事実を引用しながら整理します。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このテーマを扱う理由です。高い鮮度と、ハードウェア・ソフトウェア双方の問題を含む珍しい事例という点に注目しました。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リコールの基本情報です。テスラの主力4車種すべてが対象に含まれています。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1つ目の問題はドアハンドルの安全性です。衝突時の脱出・救助に関わる重要な問題です。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機械的な改修は9月25日から始まる見通しです。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2つ目の問題はAI運転監視システムの不備です。カメラとセンサーを組み合わせた仕組みで対応します。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AI運転監視システムの仕組みを図にしました。カメラとセンサーの組み合わせが特徴です。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今回の報道を3ステップで総括しました。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2つの問題で対応方法が異なる点も特徴です。ハードウェアの改修と、ソフトウェアの更新という違いがあります。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2つの問題の性質の違いを対比しました。対象車種・対応方法ともに異なります。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業界内での位置づけです。ドライバーモニタリング技術の重要性を示す事例として注目されています。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テスラの主力4車種すべてが今回のリコール対象に含まれています。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対象期間は約7年間と長期にわたります。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情報源間で日付表記に若干の食い違いがある点も正直にお伝えします。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一般論として、ハードウェアとソフトウェアのリコールの性質の違いを整理しました。テスラの今回のケースは、この両方を同時に含む点が特徴的です。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AI・自動運転技術動向を追う立場にとっての意味です。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対象となる車両の生産期間は約7年間にわたります。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確認できなかったことを正直にお伝えします。特に実際の事故事例の有無は、本調査の範囲では確認できませんでした。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確認できている事実と、今後の不確定要素を整理しました。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複数の独立した主要メディアが同一の事実を報じていることを確認しています。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運転支援技術全体の文脈における位置づけです。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OTAアップデートという対応方法の特徴です。ソフトウェアで解決できる問題と、できない問題がある点も重要です。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AI運転監視システムのアップデートは無償で提供されます。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対象車両は2019年3月4日以降に生産されたものを含みます。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テスラの中国事業における今回のリコールの位置づけを整理しました。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本編のまとめです。ハードウェアとAIソフトウェア双方に及ぶ今回のリコールについて、出典付きで整理してお伝えしました。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テスラの中国リコールについて、ドアハンドルとAI運転監視という2つの問題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テスラ、中国で</a:t>
            </a:r>
          </a:p>
          <a:p>
            <a:pPr algn="l">
              <a:lnSpc>
                <a:spcPct val="115000"/>
              </a:lnSpc>
            </a:pPr>
            <a:r>
              <a:rPr sz="4200" b="1">
                <a:solidFill>
                  <a:srgbClr val="FFFFFF"/>
                </a:solidFill>
                <a:latin typeface="Yu Gothic"/>
              </a:rPr>
              <a:t>300万台リコール</a:t>
            </a:r>
          </a:p>
          <a:p>
            <a:pPr algn="l">
              <a:lnSpc>
                <a:spcPct val="115000"/>
              </a:lnSpc>
            </a:pPr>
            <a:r>
              <a:rPr sz="4200" b="1">
                <a:solidFill>
                  <a:srgbClr val="FFFFFF"/>
                </a:solidFill>
                <a:latin typeface="Yu Gothic"/>
              </a:rPr>
              <a:t>AI運転監視の欠陥も</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6D9F5"/>
                </a:solidFill>
                <a:latin typeface="Yu Gothic"/>
              </a:rPr>
              <a:t>2026年8月22日発表——ドアハンドルとAI運転監視、2つの問題を出典付きで整理する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AEE0"/>
                </a:solidFill>
                <a:latin typeface="Yu Gothic"/>
              </a:rPr>
              <a:t>出典: CNBC・Global Times(2026年8月21〜22日)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約300万台 中国で対象となるリコール台数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ドアハンドルの安全性問題とAI運転監視システムの不備、2つが対象(2026年8月22日発表)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CNBC(2026-08-21/22)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6D9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6D9F5"/>
                </a:solidFill>
                <a:latin typeface="Yu Gothic"/>
              </a:rPr>
              <a:t>リコールの基本情報を確認する</a:t>
            </a:r>
          </a:p>
        </p:txBody>
      </p:sp>
      <p:sp>
        <p:nvSpPr>
          <p:cNvPr id="9" name="Oval 8"/>
          <p:cNvSpPr/>
          <p:nvPr/>
        </p:nvSpPr>
        <p:spPr>
          <a:xfrm>
            <a:off x="548640" y="347472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6D9F5"/>
                </a:solidFill>
                <a:latin typeface="Yu Gothic"/>
              </a:rPr>
              <a:t>ドアハンドルの問題を確認する</a:t>
            </a:r>
          </a:p>
        </p:txBody>
      </p:sp>
      <p:sp>
        <p:nvSpPr>
          <p:cNvPr id="11" name="Oval 10"/>
          <p:cNvSpPr/>
          <p:nvPr/>
        </p:nvSpPr>
        <p:spPr>
          <a:xfrm>
            <a:off x="548640" y="425196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6D9F5"/>
                </a:solidFill>
                <a:latin typeface="Yu Gothic"/>
              </a:rPr>
              <a:t>AI運転監視システムの不備を確認する</a:t>
            </a:r>
          </a:p>
        </p:txBody>
      </p:sp>
      <p:sp>
        <p:nvSpPr>
          <p:cNvPr id="13" name="Oval 12"/>
          <p:cNvSpPr/>
          <p:nvPr/>
        </p:nvSpPr>
        <p:spPr>
          <a:xfrm>
            <a:off x="548640" y="502920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6D9F5"/>
                </a:solidFill>
                <a:latin typeface="Yu Gothic"/>
              </a:rPr>
              <a:t>業界における位置づけを確認する</a:t>
            </a:r>
          </a:p>
        </p:txBody>
      </p:sp>
      <p:sp>
        <p:nvSpPr>
          <p:cNvPr id="15" name="Oval 14"/>
          <p:cNvSpPr/>
          <p:nvPr/>
        </p:nvSpPr>
        <p:spPr>
          <a:xfrm>
            <a:off x="548640" y="58064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6D9F5"/>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着手日前日(2026年8月22日)発表という高い鮮度の話題である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『300万台』という大規模な対象台数を伴う、インパクトのある事実である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ハードウェア(ドアハンドル)とAIソフトウェア(運転監視)という、2つの異なる性質の問題を同時に含む珍しい事例である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複数の独立した主要メディアで確認できる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CNBC・Global Times(2026-08-21/22)</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CNBC・Global Times(2026-08-21/22)</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リコールの基本情報</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発表日</a:t>
                      </a:r>
                    </a:p>
                  </a:txBody>
                  <a:tcPr>
                    <a:solidFill>
                      <a:srgbClr val="FFFFFF"/>
                    </a:solidFill>
                  </a:tcPr>
                </a:tc>
                <a:tc>
                  <a:txBody>
                    <a:bodyPr/>
                    <a:lstStyle/>
                    <a:p>
                      <a:pPr>
                        <a:defRPr sz="1200">
                          <a:solidFill>
                            <a:srgbClr val="1C1B33"/>
                          </a:solidFill>
                          <a:latin typeface="Yu Gothic"/>
                        </a:defRPr>
                      </a:pPr>
                      <a:r>
                        <a:t>2026年8月22日(金、米国時間)</a:t>
                      </a:r>
                    </a:p>
                  </a:txBody>
                  <a:tcPr>
                    <a:solidFill>
                      <a:srgbClr val="FFFFFF"/>
                    </a:solidFill>
                  </a:tcPr>
                </a:tc>
              </a:tr>
              <a:tr h="502920">
                <a:tc>
                  <a:txBody>
                    <a:bodyPr/>
                    <a:lstStyle/>
                    <a:p>
                      <a:pPr>
                        <a:defRPr sz="1200">
                          <a:solidFill>
                            <a:srgbClr val="1C1B33"/>
                          </a:solidFill>
                          <a:latin typeface="Yu Gothic"/>
                        </a:defRPr>
                      </a:pPr>
                      <a:r>
                        <a:t>対象台数</a:t>
                      </a:r>
                    </a:p>
                  </a:txBody>
                  <a:tcPr>
                    <a:solidFill>
                      <a:srgbClr val="F4F3FC"/>
                    </a:solidFill>
                  </a:tcPr>
                </a:tc>
                <a:tc>
                  <a:txBody>
                    <a:bodyPr/>
                    <a:lstStyle/>
                    <a:p>
                      <a:pPr>
                        <a:defRPr sz="1200">
                          <a:solidFill>
                            <a:srgbClr val="1C1B33"/>
                          </a:solidFill>
                          <a:latin typeface="Yu Gothic"/>
                        </a:defRPr>
                      </a:pPr>
                      <a:r>
                        <a:t>約300万台(中国国内)</a:t>
                      </a:r>
                    </a:p>
                  </a:txBody>
                  <a:tcPr>
                    <a:solidFill>
                      <a:srgbClr val="F4F3FC"/>
                    </a:solidFill>
                  </a:tcPr>
                </a:tc>
              </a:tr>
              <a:tr h="502920">
                <a:tc>
                  <a:txBody>
                    <a:bodyPr/>
                    <a:lstStyle/>
                    <a:p>
                      <a:pPr>
                        <a:defRPr sz="1200">
                          <a:solidFill>
                            <a:srgbClr val="1C1B33"/>
                          </a:solidFill>
                          <a:latin typeface="Yu Gothic"/>
                        </a:defRPr>
                      </a:pPr>
                      <a:r>
                        <a:t>対象車種</a:t>
                      </a:r>
                    </a:p>
                  </a:txBody>
                  <a:tcPr>
                    <a:solidFill>
                      <a:srgbClr val="FFFFFF"/>
                    </a:solidFill>
                  </a:tcPr>
                </a:tc>
                <a:tc>
                  <a:txBody>
                    <a:bodyPr/>
                    <a:lstStyle/>
                    <a:p>
                      <a:pPr>
                        <a:defRPr sz="1200">
                          <a:solidFill>
                            <a:srgbClr val="1C1B33"/>
                          </a:solidFill>
                          <a:latin typeface="Yu Gothic"/>
                        </a:defRPr>
                      </a:pPr>
                      <a:r>
                        <a:t>Model 3・Model Y・Model S・Model X</a:t>
                      </a:r>
                    </a:p>
                  </a:txBody>
                  <a:tcPr>
                    <a:solidFill>
                      <a:srgbClr val="FFFFFF"/>
                    </a:solidFill>
                  </a:tcPr>
                </a:tc>
              </a:tr>
              <a:tr h="502920">
                <a:tc>
                  <a:txBody>
                    <a:bodyPr/>
                    <a:lstStyle/>
                    <a:p>
                      <a:pPr>
                        <a:defRPr sz="1200">
                          <a:solidFill>
                            <a:srgbClr val="1C1B33"/>
                          </a:solidFill>
                          <a:latin typeface="Yu Gothic"/>
                        </a:defRPr>
                      </a:pPr>
                      <a:r>
                        <a:t>対象期間</a:t>
                      </a:r>
                    </a:p>
                  </a:txBody>
                  <a:tcPr>
                    <a:solidFill>
                      <a:srgbClr val="F4F3FC"/>
                    </a:solidFill>
                  </a:tcPr>
                </a:tc>
                <a:tc>
                  <a:txBody>
                    <a:bodyPr/>
                    <a:lstStyle/>
                    <a:p>
                      <a:pPr>
                        <a:defRPr sz="1200">
                          <a:solidFill>
                            <a:srgbClr val="1C1B33"/>
                          </a:solidFill>
                          <a:latin typeface="Yu Gothic"/>
                        </a:defRPr>
                      </a:pPr>
                      <a:r>
                        <a:t>2019年3月4日〜2026年4月29日に中国生産された車両を含む</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CNBC(2026-08-21/22)・Insurance Journal</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CNBC・Global Times(2026-08-21/22)</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問題点(1)ドアハンドルの安全性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1つ目の問題を確認します。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衝突事故が発生した際、車両の低電圧システムが故障するとドアハンドルが正常に作動しなくなる可能性がある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これにより車内の乗員が迅速に脱出することが妨げられたり、車外からの救助活動が困難になったりする恐れがある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対応として、機械的なドアハンドルの改修が2026年9月25日から開始される見通しである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CNBC(2026-08-21/22)・Insurance Journal</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CNBC・Global Times(2026-08-21/22)</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改修開始日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2026年9月25日 機械的なドアハンドル改修の開始予定日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対象は中国国内の約300万台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CNBC(2026-08-21/22)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問題点(2)AI運転監視システムの不備</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2つ目の問題を確認します。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中国生産のModel 3・Model Yが対象</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無償のOTA(無線)ソフトウェアアップデートで対応する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運転支援機能『Autosteer』使用中に、キャビン内カメラの追跡機能とステアリングホイールのトルクセンサーを組み合わせ、運転者が道路を注視しているかを確認する仕組みを有効化する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CNBC(2026-08-21/22)・Global Times(2026-08-22)</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CNBC・Global Times(2026-08-21/22)</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AI運転監視システムの仕組み</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Autosteer使用中</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運転支援機能が作動している状態</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キャビン内カメラで追跡</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運転者の視線・状態を確認</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ステアリングトルクセンサーと組み合わせ</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道路への注視を総合的に確認</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OTAアップデートで有効化されるAI運転監視の仕組み</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CNBC(2026-08-21/22)</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CNBC・Global Times(2026-08-21/22)</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今回の報道の3ステップ総括</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1. リコール発表</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中国で約300万台、2つの問題が対象</a:t>
            </a:r>
          </a:p>
        </p:txBody>
      </p:sp>
      <p:sp>
        <p:nvSpPr>
          <p:cNvPr id="11" name="Chevron 10"/>
          <p:cNvSpPr/>
          <p:nvPr/>
        </p:nvSpPr>
        <p:spPr>
          <a:xfrm>
            <a:off x="4038295"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2. ドアハンドル改修</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9月25日から機械的な改修を開始</a:t>
            </a:r>
          </a:p>
        </p:txBody>
      </p:sp>
      <p:sp>
        <p:nvSpPr>
          <p:cNvPr id="17" name="Chevron 16"/>
          <p:cNvSpPr/>
          <p:nvPr/>
        </p:nvSpPr>
        <p:spPr>
          <a:xfrm>
            <a:off x="7919313"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3. AI監視の強化</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OTAでカメラ+センサーの仕組みを有効化</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CNBC・Global Times(2026-08-21/22)</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2つの問題の対応方法まとめ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問題</a:t>
                      </a:r>
                    </a:p>
                  </a:txBody>
                  <a:tcPr>
                    <a:solidFill>
                      <a:srgbClr val="2E2A72"/>
                    </a:solidFill>
                  </a:tcPr>
                </a:tc>
                <a:tc>
                  <a:txBody>
                    <a:bodyPr/>
                    <a:lstStyle/>
                    <a:p>
                      <a:pPr>
                        <a:defRPr sz="1300" b="1">
                          <a:solidFill>
                            <a:srgbClr val="FFFFFF"/>
                          </a:solidFill>
                          <a:latin typeface="Yu Gothic"/>
                        </a:defRPr>
                      </a:pPr>
                      <a:r>
                        <a:t>対応方法</a:t>
                      </a:r>
                    </a:p>
                  </a:txBody>
                  <a:tcPr>
                    <a:solidFill>
                      <a:srgbClr val="2E2A72"/>
                    </a:solidFill>
                  </a:tcPr>
                </a:tc>
              </a:tr>
              <a:tr h="502920">
                <a:tc>
                  <a:txBody>
                    <a:bodyPr/>
                    <a:lstStyle/>
                    <a:p>
                      <a:pPr>
                        <a:defRPr sz="1200">
                          <a:solidFill>
                            <a:srgbClr val="1C1B33"/>
                          </a:solidFill>
                          <a:latin typeface="Yu Gothic"/>
                        </a:defRPr>
                      </a:pPr>
                      <a:r>
                        <a:t>ドアハンドルの安全性</a:t>
                      </a:r>
                    </a:p>
                  </a:txBody>
                  <a:tcPr>
                    <a:solidFill>
                      <a:srgbClr val="FFFFFF"/>
                    </a:solidFill>
                  </a:tcPr>
                </a:tc>
                <a:tc>
                  <a:txBody>
                    <a:bodyPr/>
                    <a:lstStyle/>
                    <a:p>
                      <a:pPr>
                        <a:defRPr sz="1200">
                          <a:solidFill>
                            <a:srgbClr val="1C1B33"/>
                          </a:solidFill>
                          <a:latin typeface="Yu Gothic"/>
                        </a:defRPr>
                      </a:pPr>
                      <a:r>
                        <a:t>機械的な改修(2026年9月25日開始)</a:t>
                      </a:r>
                    </a:p>
                  </a:txBody>
                  <a:tcPr>
                    <a:solidFill>
                      <a:srgbClr val="FFFFFF"/>
                    </a:solidFill>
                  </a:tcPr>
                </a:tc>
              </a:tr>
              <a:tr h="502920">
                <a:tc>
                  <a:txBody>
                    <a:bodyPr/>
                    <a:lstStyle/>
                    <a:p>
                      <a:pPr>
                        <a:defRPr sz="1200">
                          <a:solidFill>
                            <a:srgbClr val="1C1B33"/>
                          </a:solidFill>
                          <a:latin typeface="Yu Gothic"/>
                        </a:defRPr>
                      </a:pPr>
                      <a:r>
                        <a:t>AI運転監視システムの不備</a:t>
                      </a:r>
                    </a:p>
                  </a:txBody>
                  <a:tcPr>
                    <a:solidFill>
                      <a:srgbClr val="F4F3FC"/>
                    </a:solidFill>
                  </a:tcPr>
                </a:tc>
                <a:tc>
                  <a:txBody>
                    <a:bodyPr/>
                    <a:lstStyle/>
                    <a:p>
                      <a:pPr>
                        <a:defRPr sz="1200">
                          <a:solidFill>
                            <a:srgbClr val="1C1B33"/>
                          </a:solidFill>
                          <a:latin typeface="Yu Gothic"/>
                        </a:defRPr>
                      </a:pPr>
                      <a:r>
                        <a:t>無償のOTAソフトウェアアップデート</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CNBC(2026-08-21/22)</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CNBC・Global Times(2026-08-21/22)</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ドアハンドルの問題 vs AI運転監視の問題</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ドアハンドルの安全性</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衝突時の低電圧システム故障が原因</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全4車種が対象</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機械的な改修が必要</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AI運転監視システムの不備</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運転者監視機能の不備が原因</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中国生産のModel 3・Model Yが対象</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ソフトウェア更新で対応可能</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CNBC・Global Times(2026-08-21/22)</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AI・自動運転支援業界における位置づけ</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業界内での注目点です。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『AI運転監視システムの不備』は、自動運転支援技術における安全性確保(ドライバーモニタリング)の重要性を改めて示す事例として注目される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キャビン内カメラとセンサーを組み合わせた監視システムは、多くの先進運転支援システム(ADAS)で採用が進んでいる技術である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本件は、この種のシステムの実装上の課題を示す一例として位置づけられる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CNBC・Global Times(2026-08-21/22)</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対象車種の数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4車種 リコール対象となる主力モデル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Model 3・Model Y・Model S・Model X</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CNBC(2026-08-21/22)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対象となる車両の生産期間</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対象期間の詳細を確認します。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2019年3月4日〜2026年4月29日に中国生産された車両を含む</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一部輸入車も対象に含まれる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約7年間という長期にわたる生産車両が対象となっている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CNBC(2026-08-21/22)・Insurance Journal</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CNBC・Global Times(2026-08-21/22)</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報道間の日付表記の違い(正直な開示)</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情報源間の食い違いを確認します。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CNBC記事のURL日付は2026年8月21日となっている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Fox Business・Global Times等の他メディアは『金曜日(2026年8月22日)に発表』と明記している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本テーマでは、複数メディアが明記する発表日(2026年8月22日、金曜日)を採用した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CNBC・Global Times(2026-08-21/22)</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ハードウェアのリコール vs ソフトウェアのリコール(一般論)</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ハードウェアのリコール(一般論)</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物理的な部品の改修・交換が必要</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実施には時間・工場対応が伴う</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ソフトウェアのリコール(一般論)</a:t>
            </a:r>
          </a:p>
        </p:txBody>
      </p:sp>
      <p:sp>
        <p:nvSpPr>
          <p:cNvPr id="16" name="Oval 15"/>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OTAアップデートで対応可能</a:t>
            </a:r>
          </a:p>
        </p:txBody>
      </p:sp>
      <p:sp>
        <p:nvSpPr>
          <p:cNvPr id="18" name="Oval 17"/>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比較的短期間で広範囲に展開できる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CNBC・Global Times(2026-08-21/22)</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視聴者にとっての意味—AI・自動運転技術動向を追う立場として</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AI運転監視システムの実装における課題を、具体的な事例で把握できる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ハードウェアとソフトウェアが組み合わさった現代の自動車の安全性確保の複雑さを理解する視点が役立つ</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OTAアップデートによる迅速な対応という、ソフトウェア主導の車両の特徴も確認できる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CNBC・Global Times(2026-08-21/22)</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対象期間の長さ</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約7年間 対象車両の生産期間の幅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2019年3月〜2026年4月に生産された車両を含む</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CNBC(2026-08-21/22)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リコールの対象台数(約300万台)は報道時点での見通しであり、最終的な対象台数は中国当局の正式発表で確定する可能性がある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本リコールに起因する実際の事故・負傷者数は確認できていない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AI運転監視システムの不備がこれまでにどの程度の実際の安全上の問題を引き起こしていたか(具体的な事故事例等)は確認できていない</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米国など中国以外の地域で同様のリコールが行われるかどうかは確認できていない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CNBC・Global Times(2026-08-21/22)</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確認できている事実 vs 今後の不確定要素</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確認できている事実</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リコールの対象台数・車種・期間</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2つの問題の内容と対応方法</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改修・アップデートの開始時期</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今後の不確定要素</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最終的な対象台数の確定</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実際の事故・負傷者数</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他地域への波及の有無</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CNBC・Global Times(2026-08-21/22)</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主な情報源</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E2A72"/>
                    </a:solidFill>
                  </a:tcPr>
                </a:tc>
                <a:tc>
                  <a:txBody>
                    <a:bodyPr/>
                    <a:lstStyle/>
                    <a:p>
                      <a:pPr>
                        <a:defRPr sz="1300" b="1">
                          <a:solidFill>
                            <a:srgbClr val="FFFFFF"/>
                          </a:solidFill>
                          <a:latin typeface="Yu Gothic"/>
                        </a:defRPr>
                      </a:pPr>
                      <a:r>
                        <a:t>報道内容</a:t>
                      </a:r>
                    </a:p>
                  </a:txBody>
                  <a:tcPr>
                    <a:solidFill>
                      <a:srgbClr val="2E2A72"/>
                    </a:solidFill>
                  </a:tcPr>
                </a:tc>
              </a:tr>
              <a:tr h="502920">
                <a:tc>
                  <a:txBody>
                    <a:bodyPr/>
                    <a:lstStyle/>
                    <a:p>
                      <a:pPr>
                        <a:defRPr sz="1200">
                          <a:solidFill>
                            <a:srgbClr val="1C1B33"/>
                          </a:solidFill>
                          <a:latin typeface="Yu Gothic"/>
                        </a:defRPr>
                      </a:pPr>
                      <a:r>
                        <a:t>CNBC</a:t>
                      </a:r>
                    </a:p>
                  </a:txBody>
                  <a:tcPr>
                    <a:solidFill>
                      <a:srgbClr val="FFFFFF"/>
                    </a:solidFill>
                  </a:tcPr>
                </a:tc>
                <a:tc>
                  <a:txBody>
                    <a:bodyPr/>
                    <a:lstStyle/>
                    <a:p>
                      <a:pPr>
                        <a:defRPr sz="1200">
                          <a:solidFill>
                            <a:srgbClr val="1C1B33"/>
                          </a:solidFill>
                          <a:latin typeface="Yu Gothic"/>
                        </a:defRPr>
                      </a:pPr>
                      <a:r>
                        <a:t>リコールの詳細・2つの問題の内容</a:t>
                      </a:r>
                    </a:p>
                  </a:txBody>
                  <a:tcPr>
                    <a:solidFill>
                      <a:srgbClr val="FFFFFF"/>
                    </a:solidFill>
                  </a:tcPr>
                </a:tc>
              </a:tr>
              <a:tr h="502920">
                <a:tc>
                  <a:txBody>
                    <a:bodyPr/>
                    <a:lstStyle/>
                    <a:p>
                      <a:pPr>
                        <a:defRPr sz="1200">
                          <a:solidFill>
                            <a:srgbClr val="1C1B33"/>
                          </a:solidFill>
                          <a:latin typeface="Yu Gothic"/>
                        </a:defRPr>
                      </a:pPr>
                      <a:r>
                        <a:t>Global Times</a:t>
                      </a:r>
                    </a:p>
                  </a:txBody>
                  <a:tcPr>
                    <a:solidFill>
                      <a:srgbClr val="F4F3FC"/>
                    </a:solidFill>
                  </a:tcPr>
                </a:tc>
                <a:tc>
                  <a:txBody>
                    <a:bodyPr/>
                    <a:lstStyle/>
                    <a:p>
                      <a:pPr>
                        <a:defRPr sz="1200">
                          <a:solidFill>
                            <a:srgbClr val="1C1B33"/>
                          </a:solidFill>
                          <a:latin typeface="Yu Gothic"/>
                        </a:defRPr>
                      </a:pPr>
                      <a:r>
                        <a:t>AI運転監視システムの技術的詳細</a:t>
                      </a:r>
                    </a:p>
                  </a:txBody>
                  <a:tcPr>
                    <a:solidFill>
                      <a:srgbClr val="F4F3FC"/>
                    </a:solidFill>
                  </a:tcPr>
                </a:tc>
              </a:tr>
              <a:tr h="502920">
                <a:tc>
                  <a:txBody>
                    <a:bodyPr/>
                    <a:lstStyle/>
                    <a:p>
                      <a:pPr>
                        <a:defRPr sz="1200">
                          <a:solidFill>
                            <a:srgbClr val="1C1B33"/>
                          </a:solidFill>
                          <a:latin typeface="Yu Gothic"/>
                        </a:defRPr>
                      </a:pPr>
                      <a:r>
                        <a:t>Fox Business・Insurance Journal</a:t>
                      </a:r>
                    </a:p>
                  </a:txBody>
                  <a:tcPr>
                    <a:solidFill>
                      <a:srgbClr val="FFFFFF"/>
                    </a:solidFill>
                  </a:tcPr>
                </a:tc>
                <a:tc>
                  <a:txBody>
                    <a:bodyPr/>
                    <a:lstStyle/>
                    <a:p>
                      <a:pPr>
                        <a:defRPr sz="1200">
                          <a:solidFill>
                            <a:srgbClr val="1C1B33"/>
                          </a:solidFill>
                          <a:latin typeface="Yu Gothic"/>
                        </a:defRPr>
                      </a:pPr>
                      <a:r>
                        <a:t>発表日・対象台数の確認</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CNBC・Global Times(2026-08-21/22)</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運転支援技術と安全性の関係</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より広い視点から確認します。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運転支援システムの高度化に伴い、運転者が注意を怠るリスク(過信・注意散漫)への対策が業界全体の課題となっている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ドライバーモニタリングは、この課題に対応する主要な技術の一つとして位置づけられる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今回の事例は、そうした技術の実装がまだ発展途上であることを示す一例と言える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CNBC・Global Times(2026-08-21/22)</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AI・自動運転技術動向を追う立場として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AI運転監視システムの実装課題を、具体的な事例で把握できる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自動車業界・製品安全に関心がある立場として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ハードウェアとソフトウェア双方に及ぶリコールという珍しい事例が参考になる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報道間の日付表記の違いなど、複数の情報源を確認する視点が役立つ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CNBC・Global Times(2026-08-21/22)</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OTAアップデートという対応方法の特徴</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ソフトウェア主導の車両ならではの対応です。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工場への持ち込みが不要で、無線経由で車両のソフトウェアを更新できる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対象車両に迅速かつ広範囲に展開できる利点がある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一方で、ハードウェア(ドアハンドル)の問題はソフトウェアだけでは解決できず、物理的な改修が別途必要である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CNBC・Global Times(2026-08-21/22)</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無償対応</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無償 AI運転監視システムのOTAアップデート費用</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所有者の追加費用負担なし</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CNBC(2026-08-21/22)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生産開始起点</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2019年3月4日 対象車両の生産開始起点</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この日以降に中国生産された車両が対象に含まれる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CNBC(2026-08-21/22)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テスラの中国事業における位置づけ</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中国生産拠点</a:t>
                      </a:r>
                    </a:p>
                  </a:txBody>
                  <a:tcPr>
                    <a:solidFill>
                      <a:srgbClr val="FFFFFF"/>
                    </a:solidFill>
                  </a:tcPr>
                </a:tc>
                <a:tc>
                  <a:txBody>
                    <a:bodyPr/>
                    <a:lstStyle/>
                    <a:p>
                      <a:pPr>
                        <a:defRPr sz="1200">
                          <a:solidFill>
                            <a:srgbClr val="1C1B33"/>
                          </a:solidFill>
                          <a:latin typeface="Yu Gothic"/>
                        </a:defRPr>
                      </a:pPr>
                      <a:r>
                        <a:t>上海ギガファクトリー等で主力車種を生産</a:t>
                      </a:r>
                    </a:p>
                  </a:txBody>
                  <a:tcPr>
                    <a:solidFill>
                      <a:srgbClr val="FFFFFF"/>
                    </a:solidFill>
                  </a:tcPr>
                </a:tc>
              </a:tr>
              <a:tr h="502920">
                <a:tc>
                  <a:txBody>
                    <a:bodyPr/>
                    <a:lstStyle/>
                    <a:p>
                      <a:pPr>
                        <a:defRPr sz="1200">
                          <a:solidFill>
                            <a:srgbClr val="1C1B33"/>
                          </a:solidFill>
                          <a:latin typeface="Yu Gothic"/>
                        </a:defRPr>
                      </a:pPr>
                      <a:r>
                        <a:t>今回のリコール規模</a:t>
                      </a:r>
                    </a:p>
                  </a:txBody>
                  <a:tcPr>
                    <a:solidFill>
                      <a:srgbClr val="F4F3FC"/>
                    </a:solidFill>
                  </a:tcPr>
                </a:tc>
                <a:tc>
                  <a:txBody>
                    <a:bodyPr/>
                    <a:lstStyle/>
                    <a:p>
                      <a:pPr>
                        <a:defRPr sz="1200">
                          <a:solidFill>
                            <a:srgbClr val="1C1B33"/>
                          </a:solidFill>
                          <a:latin typeface="Yu Gothic"/>
                        </a:defRPr>
                      </a:pPr>
                      <a:r>
                        <a:t>中国国内で約300万台</a:t>
                      </a:r>
                    </a:p>
                  </a:txBody>
                  <a:tcPr>
                    <a:solidFill>
                      <a:srgbClr val="F4F3FC"/>
                    </a:solidFill>
                  </a:tcPr>
                </a:tc>
              </a:tr>
              <a:tr h="502920">
                <a:tc>
                  <a:txBody>
                    <a:bodyPr/>
                    <a:lstStyle/>
                    <a:p>
                      <a:pPr>
                        <a:defRPr sz="1200">
                          <a:solidFill>
                            <a:srgbClr val="1C1B33"/>
                          </a:solidFill>
                          <a:latin typeface="Yu Gothic"/>
                        </a:defRPr>
                      </a:pPr>
                      <a:r>
                        <a:t>対応の性質</a:t>
                      </a:r>
                    </a:p>
                  </a:txBody>
                  <a:tcPr>
                    <a:solidFill>
                      <a:srgbClr val="FFFFFF"/>
                    </a:solidFill>
                  </a:tcPr>
                </a:tc>
                <a:tc>
                  <a:txBody>
                    <a:bodyPr/>
                    <a:lstStyle/>
                    <a:p>
                      <a:pPr>
                        <a:defRPr sz="1200">
                          <a:solidFill>
                            <a:srgbClr val="1C1B33"/>
                          </a:solidFill>
                          <a:latin typeface="Yu Gothic"/>
                        </a:defRPr>
                      </a:pPr>
                      <a:r>
                        <a:t>ハードウェア改修とソフトウェア更新の両方を含む</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CNBC・Global Times(2026-08-21/22)</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まとめ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本編のまとめです。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2026年8月22日、テスラは中国で約300万台を対象とするリコールを発表した</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ドアハンドルの安全性問題と、AI運転監視システムの不備という2つの問題が対象である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ドアハンドルは機械的な改修(9月25日開始)、AI監視システムはOTAアップデートで対応する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対象台数の最終確定や実際の事故事例など、確認できなかった点も正直に開示した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CNBC・Global Times(2026-08-21/22)</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テスラ、中国で300万台リコール。AI運転監視の欠陥も。</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6D9F5"/>
                </a:solidFill>
                <a:latin typeface="Yu Gothic"/>
              </a:rPr>
              <a:t>2026年8月22日、テスラは中国で約300万台のリコールを発表しました。ドアハンドルとAI運転監視、2つの問題を出典付きで正確に整理してお届けしました。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E2A72"/>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