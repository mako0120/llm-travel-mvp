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aomi(小米集団)が2026年8月18日、2026年第2四半期決算を発表しました。売上高はRMB108.9億で1000億元の大台を5四半期連続で超えましたが、実は前年同期比では6.1%の減収です。今日はこの「見せ方の違い」も含めて、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Xiaomiの2026年Q2売上高はRMB108.9億で、前年同期比6.1%の減収でした。調整後純利益もRMB62億で42.6%の減益です。一方でスマートEV・AI・新規事業セグメントは前年同期のRMB213億からRMB249億へと拡大しており、明暗が分か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決算の主要指標から、情報源による見せ方の違い、セグメント別の明暗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このテーマを扱う理由です。同じ売上高の数字が情報源によって『増収』とも『減収』とも伝えられている点、スマホ事業とEV/AI事業の明暗が同時に起きている点に注目しました。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Xiaomiは中国発のテクノロジー企業で、香港証券取引所に上場しています。スマートフォン・IoT家電・インターネットサービスに加え、近年はスマートEV『SU7』シリーズにも本格参入しています。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2026年Q2の主要指標を一覧にしました。売上高はRMB1,089億で前年同期比6.1%減、調整後純利益はRMB62億で42.6%減です。一方でR&amp;D支出は四半期でRMB92億(+18.9%)、上半期累計でRMB182億(+25.6%)と拡大しています。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減収の主な内容は、スマートフォン出荷台数の26.5%減です。背景にはメモリ価格の上昇による原価圧迫があると報じられています。ただしASPは過去最高のRMB1,351を記録し、単価上昇で一部を相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調整後純利益はRMB62億で、前年同期比42.6%の減益です。売上高の6.1%減よりも、利益の落ち込み幅の方がはるかに大きいという事実を確認しておきます。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同じRMB108.9億という数字でも、報道と企業公式発表とで見せ方が大きく異なります。金額自体に食い違いはなく、あくまでフレーミングの違いです。この非対称性自体を正直に開示することを重視しました。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市場報道とXiaomi公式発表の見せ方を比較しました。金額自体は同じRMB108.9億ですが、報道は減収を、公式発表は絶対額の大きさを強調しています。両方を併記することが正確な理解につながります。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セグメント別の売上高です。スマートフォンがRMB421億で最大ですが、スマートEV・AI・新規事業もRMB213億からRMB249億へと拡大しています。各セグメントの単純合計は決算資料上の統合セグメント数値とは完全には一致しませんが、これはセグメント間消去等による通常の差異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スマートフォン事業は、出荷台数こそ前年同期比26.5%減ですが、世界ランキングでは24四半期連続でTOP3を維持しています。中国国内ではプレミアム帯が32.1%を占め、ASPは過去最高のRMB1,351を記録しました。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スマートフォンの平均販売価格(ASP)はRMB1,351と過去最高を記録しました。出荷台数が減少する一方、プレミアム化によって単価は上昇しています。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荷台数減少の背景として、メモリ価格の上昇や中国国内での競争激化が報じられていますが、これは報道ベースの分析であり、確定事実としてではなく留保つきで扱います。出荷台数減少とASP上昇の同時進行自体は決算数値として確認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IoT・生活家電はRMB313億、インターネットサービスはRMB90億で売上総利益率76.8%と高収益です。広告収入はRMB72億で前年同期比4.8%増でした。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スマートEV事業は、Q2納車台数104,199台で前年同期比28.2%増と好調です。SU7シリーズの累計納車台数は50万台を突破し、新型SUV『SkyNomad』シリーズも投入されました。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スマートEVのQ2納車台数は104,199台で、前年同期比28.2%増です。SU7シリーズの累計納車台数は50万台を突破しました。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スマートEV事業の拡大の流れを図にしました。SU7シリーズが累計50万台を突破し、Q2は104,199台を納車、さらに新型SUV『SkyNomad』を投入するという流れです。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2026年Q2決算を3ステップで総括しました。売上高は前年同期比6.1%減、純利益は42.6%減という減収減益の一方、スマートEV・AI事業は拡大しており、スマホ事業の減速を下支えしています。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p;D支出は四半期でRMB92億、上半期累計でRMB182億と大きく伸びています。決算コール内の言及として上半期R&amp;D支出の約3割がAI関連とされていますが、これは正式開示数値ではなく報道ベースの言及として留保つきで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R&amp;D支出は四半期でRMB92億、前年同期比18.9%増でした。上半期累計ではRMB182億、前年同期比25.6%増と、投資を大きく拡大させています。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技術面では独自シリコン『Xiaomi Kunlun』やOS『HyperOS 4』への言及があります。AIoTプラットフォームの接続デバイス数は11.6億台に達しますが、技術面の詳細については確認できる一次情報が限定的です。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成長事業の売上拡大は事実ですが、報道では自動車・AI事業が依然として資金投下(先行投資)フェーズにあるとの言及もあります。売上拡大と黒字化は別軸の指標であり、混同しないことが重要です。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ユーザー関連指標です。グローバルMAUは過去最高の7億6,700万、AIoTプラットフォームの接続デバイス数は11.6億台に達しています。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確認できなかったことを正直にお伝えします。AI関連投資の内訳やEV・AI新規事業セグメント単体の損益は確認できていません。本テーマは特定企業の購入・投資を推奨するものではありません。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グローバルMAUは過去最高の7億6,700万に達しました。AIoTプラットフォームの接続デバイス数も11.6億台に達しています。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スマートフォン事業は出荷台数が減少する一方、EV事業は納車台数が拡大しています。同じ決算内で明暗が分かれている点を対比しました。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このニュースが読者にとって意味することをまとめました。決算・企業分析に関心がある立場、業界動向を追う立場、投資を検討する立場、それぞれで意識したい視点です。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まとめです。売上高は1000億元超が続く一方で前年同期比6.1%減、利益は42.6%減という減収減益でした。スマホ事業の減速とEV・AI事業の拡大という明暗を、両論併記で正直にお伝えしました。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Xiaomiの2026年Q2決算について、売上高RMB108.9億(前年同期比6.1%減)という事実と、情報源による見せ方の違いま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売上1000億元超なのに</a:t>
            </a:r>
          </a:p>
          <a:p>
            <a:pPr algn="l">
              <a:lnSpc>
                <a:spcPct val="115000"/>
              </a:lnSpc>
            </a:pPr>
            <a:r>
              <a:rPr sz="4200" b="1">
                <a:solidFill>
                  <a:srgbClr val="FFFFFF"/>
                </a:solidFill>
                <a:latin typeface="Yu Gothic"/>
              </a:rPr>
              <a:t>「減収」?</a:t>
            </a:r>
          </a:p>
          <a:p>
            <a:pPr algn="l">
              <a:lnSpc>
                <a:spcPct val="115000"/>
              </a:lnSpc>
            </a:pPr>
            <a:r>
              <a:rPr sz="4200" b="1">
                <a:solidFill>
                  <a:srgbClr val="FFFFFF"/>
                </a:solidFill>
                <a:latin typeface="Yu Gothic"/>
              </a:rPr>
              <a:t>Xiaomi 2026年Q2決算の中身</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2026年8月18日発表——RMB108.9億の売上高、実は前年同期比6.1%減</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KuCoin・Xiaomi公式X・Tiger Brokers・Investing.com(2026年8月18日)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売上高RMB108.9億、前年比6.1%減</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調整後純利益はRMB62億で前年同期比42.6%減。一方でスマートEV・AI新規事業は前年同期のRMB213億からRMB249億へ拡大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KuCoin・Tiger Brokers(2026-08-18)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Xiaomiとは・基礎知識</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決算の主要指標を確認する</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情報源による『見せ方の違い』を確認する</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セグメント別の明暗(スマホ減速・EV/AI拡大)を確認する</a:t>
            </a:r>
          </a:p>
        </p:txBody>
      </p:sp>
      <p:sp>
        <p:nvSpPr>
          <p:cNvPr id="15" name="Oval 14"/>
          <p:cNvSpPr/>
          <p:nvPr/>
        </p:nvSpPr>
        <p:spPr>
          <a:xfrm>
            <a:off x="548640" y="58064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3E3C9"/>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着手日の前日(2026年8月18日)発表という高い鮮度の話題である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『売上108.9億元』という同じ数字が、報道によって『増収』とも『6.1%減収』とも伝えられている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スマートフォン事業の減速と、スマートEV・AI事業の拡大という明暗が同時に起きている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複数の独立した情報源(KuCoin・Tiger Brokers・Xiaomi公式・Investing.com)を突き合わせて確認できる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KuCoin・Tiger Brokers・Xiaomi公式X(2026-08-18)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KuCoin・Xiaomi公式X・Tiger Brokers・Investing.com(2026-08-18)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Xiaomi(小米集団)とは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中国発のグローバルテクノロジー企業。香港証券取引所上場(銘柄コード1810.HK)</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スマートフォン・IoT家電・インターネットサービスを中核事業とする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近年はスマートEV(電気自動車)『SU7』シリーズに本格参入</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AIoTプラットフォーム(接続デバイス管理基盤)や独自OS『HyperOS』も展開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Xiaomi公式X・Investing.com(2026-08-18)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KuCoin・Xiaomi公式X・Tiger Brokers・Investing.com(2026-08-18)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2026年Q2 主要指標</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7A1F2B"/>
                    </a:solidFill>
                  </a:tcPr>
                </a:tc>
                <a:tc>
                  <a:txBody>
                    <a:bodyPr/>
                    <a:lstStyle/>
                    <a:p>
                      <a:pPr>
                        <a:defRPr sz="1300" b="1">
                          <a:solidFill>
                            <a:srgbClr val="FFFFFF"/>
                          </a:solidFill>
                          <a:latin typeface="Yu Gothic"/>
                        </a:defRPr>
                      </a:pPr>
                      <a:r>
                        <a:t>2026年Q2(前年同期比)</a:t>
                      </a:r>
                    </a:p>
                  </a:txBody>
                  <a:tcPr>
                    <a:solidFill>
                      <a:srgbClr val="7A1F2B"/>
                    </a:solidFill>
                  </a:tcPr>
                </a:tc>
              </a:tr>
              <a:tr h="502920">
                <a:tc>
                  <a:txBody>
                    <a:bodyPr/>
                    <a:lstStyle/>
                    <a:p>
                      <a:pPr>
                        <a:defRPr sz="1200">
                          <a:solidFill>
                            <a:srgbClr val="2A1712"/>
                          </a:solidFill>
                          <a:latin typeface="Yu Gothic"/>
                        </a:defRPr>
                      </a:pPr>
                      <a:r>
                        <a:t>売上高</a:t>
                      </a:r>
                    </a:p>
                  </a:txBody>
                  <a:tcPr>
                    <a:solidFill>
                      <a:srgbClr val="FFFFFF"/>
                    </a:solidFill>
                  </a:tcPr>
                </a:tc>
                <a:tc>
                  <a:txBody>
                    <a:bodyPr/>
                    <a:lstStyle/>
                    <a:p>
                      <a:pPr>
                        <a:defRPr sz="1200">
                          <a:solidFill>
                            <a:srgbClr val="2A1712"/>
                          </a:solidFill>
                          <a:latin typeface="Yu Gothic"/>
                        </a:defRPr>
                      </a:pPr>
                      <a:r>
                        <a:t>RMB 1,089億(▲6.1%)</a:t>
                      </a:r>
                    </a:p>
                  </a:txBody>
                  <a:tcPr>
                    <a:solidFill>
                      <a:srgbClr val="FFFFFF"/>
                    </a:solidFill>
                  </a:tcPr>
                </a:tc>
              </a:tr>
              <a:tr h="502920">
                <a:tc>
                  <a:txBody>
                    <a:bodyPr/>
                    <a:lstStyle/>
                    <a:p>
                      <a:pPr>
                        <a:defRPr sz="1200">
                          <a:solidFill>
                            <a:srgbClr val="2A1712"/>
                          </a:solidFill>
                          <a:latin typeface="Yu Gothic"/>
                        </a:defRPr>
                      </a:pPr>
                      <a:r>
                        <a:t>調整後純利益</a:t>
                      </a:r>
                    </a:p>
                  </a:txBody>
                  <a:tcPr>
                    <a:solidFill>
                      <a:srgbClr val="FBF3E6"/>
                    </a:solidFill>
                  </a:tcPr>
                </a:tc>
                <a:tc>
                  <a:txBody>
                    <a:bodyPr/>
                    <a:lstStyle/>
                    <a:p>
                      <a:pPr>
                        <a:defRPr sz="1200">
                          <a:solidFill>
                            <a:srgbClr val="2A1712"/>
                          </a:solidFill>
                          <a:latin typeface="Yu Gothic"/>
                        </a:defRPr>
                      </a:pPr>
                      <a:r>
                        <a:t>RMB 62億(▲42.6%)</a:t>
                      </a:r>
                    </a:p>
                  </a:txBody>
                  <a:tcPr>
                    <a:solidFill>
                      <a:srgbClr val="FBF3E6"/>
                    </a:solidFill>
                  </a:tcPr>
                </a:tc>
              </a:tr>
              <a:tr h="502920">
                <a:tc>
                  <a:txBody>
                    <a:bodyPr/>
                    <a:lstStyle/>
                    <a:p>
                      <a:pPr>
                        <a:defRPr sz="1200">
                          <a:solidFill>
                            <a:srgbClr val="2A1712"/>
                          </a:solidFill>
                          <a:latin typeface="Yu Gothic"/>
                        </a:defRPr>
                      </a:pPr>
                      <a:r>
                        <a:t>売上総利益率</a:t>
                      </a:r>
                    </a:p>
                  </a:txBody>
                  <a:tcPr>
                    <a:solidFill>
                      <a:srgbClr val="FFFFFF"/>
                    </a:solidFill>
                  </a:tcPr>
                </a:tc>
                <a:tc>
                  <a:txBody>
                    <a:bodyPr/>
                    <a:lstStyle/>
                    <a:p>
                      <a:pPr>
                        <a:defRPr sz="1200">
                          <a:solidFill>
                            <a:srgbClr val="2A1712"/>
                          </a:solidFill>
                          <a:latin typeface="Yu Gothic"/>
                        </a:defRPr>
                      </a:pPr>
                      <a:r>
                        <a:t>19.8%</a:t>
                      </a:r>
                    </a:p>
                  </a:txBody>
                  <a:tcPr>
                    <a:solidFill>
                      <a:srgbClr val="FFFFFF"/>
                    </a:solidFill>
                  </a:tcPr>
                </a:tc>
              </a:tr>
              <a:tr h="502920">
                <a:tc>
                  <a:txBody>
                    <a:bodyPr/>
                    <a:lstStyle/>
                    <a:p>
                      <a:pPr>
                        <a:defRPr sz="1200">
                          <a:solidFill>
                            <a:srgbClr val="2A1712"/>
                          </a:solidFill>
                          <a:latin typeface="Yu Gothic"/>
                        </a:defRPr>
                      </a:pPr>
                      <a:r>
                        <a:t>R&amp;D支出(四半期)</a:t>
                      </a:r>
                    </a:p>
                  </a:txBody>
                  <a:tcPr>
                    <a:solidFill>
                      <a:srgbClr val="FBF3E6"/>
                    </a:solidFill>
                  </a:tcPr>
                </a:tc>
                <a:tc>
                  <a:txBody>
                    <a:bodyPr/>
                    <a:lstStyle/>
                    <a:p>
                      <a:pPr>
                        <a:defRPr sz="1200">
                          <a:solidFill>
                            <a:srgbClr val="2A1712"/>
                          </a:solidFill>
                          <a:latin typeface="Yu Gothic"/>
                        </a:defRPr>
                      </a:pPr>
                      <a:r>
                        <a:t>RMB 92億(+18.9%)</a:t>
                      </a:r>
                    </a:p>
                  </a:txBody>
                  <a:tcPr>
                    <a:solidFill>
                      <a:srgbClr val="FBF3E6"/>
                    </a:solidFill>
                  </a:tcPr>
                </a:tc>
              </a:tr>
              <a:tr h="502920">
                <a:tc>
                  <a:txBody>
                    <a:bodyPr/>
                    <a:lstStyle/>
                    <a:p>
                      <a:pPr>
                        <a:defRPr sz="1200">
                          <a:solidFill>
                            <a:srgbClr val="2A1712"/>
                          </a:solidFill>
                          <a:latin typeface="Yu Gothic"/>
                        </a:defRPr>
                      </a:pPr>
                      <a:r>
                        <a:t>R&amp;D支出(上半期累計)</a:t>
                      </a:r>
                    </a:p>
                  </a:txBody>
                  <a:tcPr>
                    <a:solidFill>
                      <a:srgbClr val="FFFFFF"/>
                    </a:solidFill>
                  </a:tcPr>
                </a:tc>
                <a:tc>
                  <a:txBody>
                    <a:bodyPr/>
                    <a:lstStyle/>
                    <a:p>
                      <a:pPr>
                        <a:defRPr sz="1200">
                          <a:solidFill>
                            <a:srgbClr val="2A1712"/>
                          </a:solidFill>
                          <a:latin typeface="Yu Gothic"/>
                        </a:defRPr>
                      </a:pPr>
                      <a:r>
                        <a:t>RMB 182億(+25.6%)</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KuCoin・Tiger Brokers・Investing.com(2026-08-18)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KuCoin・Xiaomi公式X・Tiger Brokers・Investing.com(2026-08-18)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6.1%減収の内容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売上高が前年同期比で減少した内訳です。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主力のスマートフォン事業で世界出荷台数が前年同期比26.5%減少</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背景としてメモリ(半導体)価格の上昇による原価圧迫が報じられている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スマートフォンの平均販売価格(ASP)はRMB1,351と過去最高を記録し、単価上昇で一部を相殺</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調整後純利益はRMB62億で前年同期比42.6%減と、売上以上に利益への影響が大きい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KuCoin・Investing.com(2026-08-18)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KuCoin・Xiaomi公式X・Tiger Brokers・Investing.com(2026-08-18)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利益面への影響はより大きい</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調整後純利益 RMB62億、前年比42.6%減</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売上高の6.1%減よりも、利益の落ち込み幅の方が大きい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KuCoin・Tiger Brokers(2026-08-18)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情報源による『見せ方の違い』</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同じRMB108.9億という数字でも、伝え方が大きく異なります。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KuCoin・Tiger Brokers等の市場ニュースは『売上高は前年同期比6.1%減』を主見出しに据えている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一方、Xiaomi公式Xアカウントは『Revenue reached RMB108.9 billion, surpassing RMB100 billion once again』と発表し、前年同期比の減収には一切触れていない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金額自体に食い違いはなく、あくまで『どの側面を見出しにするか』というフレーミングの違いである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本リサーチはこの非対称性自体を正直に開示し、両方の表現を必ず併記する方針とした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KuCoin・Xiaomi公式X(2026-08-18)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KuCoin・Xiaomi公式X・Tiger Brokers・Investing.com(2026-08-18)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市場報道 vs Xiaomi公式発表の見せ方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市場報道(KuCoin等)</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『Revenue Falls 6.1%』を見出しに</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前年同期比の減収を強調</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調整後純利益42.6%減にも言及</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Xiaomi公式X投稿</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『surpassing RMB100 billion once again』と表現</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1000億元超という絶対額の大きさを強調</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前年同期比の減収には言及なし</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KuCoin・Xiaomi公式X・Tiger Brokers・Investing.com(2026-08-18)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セグメント別売上高(2026年Q2)</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セグメント</a:t>
                      </a:r>
                    </a:p>
                  </a:txBody>
                  <a:tcPr>
                    <a:solidFill>
                      <a:srgbClr val="7A1F2B"/>
                    </a:solidFill>
                  </a:tcPr>
                </a:tc>
                <a:tc>
                  <a:txBody>
                    <a:bodyPr/>
                    <a:lstStyle/>
                    <a:p>
                      <a:pPr>
                        <a:defRPr sz="1300" b="1">
                          <a:solidFill>
                            <a:srgbClr val="FFFFFF"/>
                          </a:solidFill>
                          <a:latin typeface="Yu Gothic"/>
                        </a:defRPr>
                      </a:pPr>
                      <a:r>
                        <a:t>売上高・補足</a:t>
                      </a:r>
                    </a:p>
                  </a:txBody>
                  <a:tcPr>
                    <a:solidFill>
                      <a:srgbClr val="7A1F2B"/>
                    </a:solidFill>
                  </a:tcPr>
                </a:tc>
              </a:tr>
              <a:tr h="502920">
                <a:tc>
                  <a:txBody>
                    <a:bodyPr/>
                    <a:lstStyle/>
                    <a:p>
                      <a:pPr>
                        <a:defRPr sz="1200">
                          <a:solidFill>
                            <a:srgbClr val="2A1712"/>
                          </a:solidFill>
                          <a:latin typeface="Yu Gothic"/>
                        </a:defRPr>
                      </a:pPr>
                      <a:r>
                        <a:t>スマートフォン</a:t>
                      </a:r>
                    </a:p>
                  </a:txBody>
                  <a:tcPr>
                    <a:solidFill>
                      <a:srgbClr val="FFFFFF"/>
                    </a:solidFill>
                  </a:tcPr>
                </a:tc>
                <a:tc>
                  <a:txBody>
                    <a:bodyPr/>
                    <a:lstStyle/>
                    <a:p>
                      <a:pPr>
                        <a:defRPr sz="1200">
                          <a:solidFill>
                            <a:srgbClr val="2A1712"/>
                          </a:solidFill>
                          <a:latin typeface="Yu Gothic"/>
                        </a:defRPr>
                      </a:pPr>
                      <a:r>
                        <a:t>RMB421億、出荷3,120万台、ASP過去最高RMB1,351</a:t>
                      </a:r>
                    </a:p>
                  </a:txBody>
                  <a:tcPr>
                    <a:solidFill>
                      <a:srgbClr val="FFFFFF"/>
                    </a:solidFill>
                  </a:tcPr>
                </a:tc>
              </a:tr>
              <a:tr h="502920">
                <a:tc>
                  <a:txBody>
                    <a:bodyPr/>
                    <a:lstStyle/>
                    <a:p>
                      <a:pPr>
                        <a:defRPr sz="1200">
                          <a:solidFill>
                            <a:srgbClr val="2A1712"/>
                          </a:solidFill>
                          <a:latin typeface="Yu Gothic"/>
                        </a:defRPr>
                      </a:pPr>
                      <a:r>
                        <a:t>IoT・生活家電</a:t>
                      </a:r>
                    </a:p>
                  </a:txBody>
                  <a:tcPr>
                    <a:solidFill>
                      <a:srgbClr val="FBF3E6"/>
                    </a:solidFill>
                  </a:tcPr>
                </a:tc>
                <a:tc>
                  <a:txBody>
                    <a:bodyPr/>
                    <a:lstStyle/>
                    <a:p>
                      <a:pPr>
                        <a:defRPr sz="1200">
                          <a:solidFill>
                            <a:srgbClr val="2A1712"/>
                          </a:solidFill>
                          <a:latin typeface="Yu Gothic"/>
                        </a:defRPr>
                      </a:pPr>
                      <a:r>
                        <a:t>RMB313億、海外成長が寄与</a:t>
                      </a:r>
                    </a:p>
                  </a:txBody>
                  <a:tcPr>
                    <a:solidFill>
                      <a:srgbClr val="FBF3E6"/>
                    </a:solidFill>
                  </a:tcPr>
                </a:tc>
              </a:tr>
              <a:tr h="502920">
                <a:tc>
                  <a:txBody>
                    <a:bodyPr/>
                    <a:lstStyle/>
                    <a:p>
                      <a:pPr>
                        <a:defRPr sz="1200">
                          <a:solidFill>
                            <a:srgbClr val="2A1712"/>
                          </a:solidFill>
                          <a:latin typeface="Yu Gothic"/>
                        </a:defRPr>
                      </a:pPr>
                      <a:r>
                        <a:t>インターネットサービス</a:t>
                      </a:r>
                    </a:p>
                  </a:txBody>
                  <a:tcPr>
                    <a:solidFill>
                      <a:srgbClr val="FFFFFF"/>
                    </a:solidFill>
                  </a:tcPr>
                </a:tc>
                <a:tc>
                  <a:txBody>
                    <a:bodyPr/>
                    <a:lstStyle/>
                    <a:p>
                      <a:pPr>
                        <a:defRPr sz="1200">
                          <a:solidFill>
                            <a:srgbClr val="2A1712"/>
                          </a:solidFill>
                          <a:latin typeface="Yu Gothic"/>
                        </a:defRPr>
                      </a:pPr>
                      <a:r>
                        <a:t>RMB90億、売上総利益率76.8%</a:t>
                      </a:r>
                    </a:p>
                  </a:txBody>
                  <a:tcPr>
                    <a:solidFill>
                      <a:srgbClr val="FFFFFF"/>
                    </a:solidFill>
                  </a:tcPr>
                </a:tc>
              </a:tr>
              <a:tr h="502920">
                <a:tc>
                  <a:txBody>
                    <a:bodyPr/>
                    <a:lstStyle/>
                    <a:p>
                      <a:pPr>
                        <a:defRPr sz="1200">
                          <a:solidFill>
                            <a:srgbClr val="2A1712"/>
                          </a:solidFill>
                          <a:latin typeface="Yu Gothic"/>
                        </a:defRPr>
                      </a:pPr>
                      <a:r>
                        <a:t>スマートEV・AI・新規事業</a:t>
                      </a:r>
                    </a:p>
                  </a:txBody>
                  <a:tcPr>
                    <a:solidFill>
                      <a:srgbClr val="FBF3E6"/>
                    </a:solidFill>
                  </a:tcPr>
                </a:tc>
                <a:tc>
                  <a:txBody>
                    <a:bodyPr/>
                    <a:lstStyle/>
                    <a:p>
                      <a:pPr>
                        <a:defRPr sz="1200">
                          <a:solidFill>
                            <a:srgbClr val="2A1712"/>
                          </a:solidFill>
                          <a:latin typeface="Yu Gothic"/>
                        </a:defRPr>
                      </a:pPr>
                      <a:r>
                        <a:t>RMB249億(前年同期RMB213億から拡大)</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Investing.com・Xiaomi決算資料報道(2026-08-18)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KuCoin・Xiaomi公式X・Tiger Brokers・Investing.com(2026-08-18)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スマートフォン事業の詳細</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主力事業の現状です。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Q2出荷台数は3,120万台で、世界出荷台数ランキングは24四半期連続でTOP3を維持</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一方、出荷台数自体は前年同期比26.5%減少</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中国国内ではプレミアム帯スマートフォンが販売数の32.1%を占める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平均販売価格(ASP)はRMB1,351と過去最高を記録</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KuCoin・Investing.com(2026-08-18)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KuCoin・Xiaomi公式X・Tiger Brokers・Investing.com(2026-08-18)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スマートフォンの平均販売価格</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ASP過去最高 RMB1,351</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出荷台数は減少する一方、プレミアム化により単価は過去最高を更新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KuCoin・Investing.com(2026-08-18)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スマホ出荷減の背景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出荷台数が減少した背景として報じられている点です。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メモリ(半導体)価格の上昇による原価圧迫が業界全体で報じられている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中国国内市場での競争激化も一因として言及されている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この背景説明は決算資料そのものの正式な開示というより、報道ベースの分析であるため、確定事実としてではなく留保つきで扱う</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出荷台数減少とASP上昇が同時に起きている点は、決算数値として確認できる事実である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KuCoin・Investing.com(2026-08-18)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KuCoin・Xiaomi公式X・Tiger Brokers・Investing.com(2026-08-18)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IoT・インターネットサービス事業</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IoT・生活家電 売上高</a:t>
                      </a:r>
                    </a:p>
                  </a:txBody>
                  <a:tcPr>
                    <a:solidFill>
                      <a:srgbClr val="FFFFFF"/>
                    </a:solidFill>
                  </a:tcPr>
                </a:tc>
                <a:tc>
                  <a:txBody>
                    <a:bodyPr/>
                    <a:lstStyle/>
                    <a:p>
                      <a:pPr>
                        <a:defRPr sz="1200">
                          <a:solidFill>
                            <a:srgbClr val="2A1712"/>
                          </a:solidFill>
                          <a:latin typeface="Yu Gothic"/>
                        </a:defRPr>
                      </a:pPr>
                      <a:r>
                        <a:t>RMB313億</a:t>
                      </a:r>
                    </a:p>
                  </a:txBody>
                  <a:tcPr>
                    <a:solidFill>
                      <a:srgbClr val="FFFFFF"/>
                    </a:solidFill>
                  </a:tcPr>
                </a:tc>
              </a:tr>
              <a:tr h="502920">
                <a:tc>
                  <a:txBody>
                    <a:bodyPr/>
                    <a:lstStyle/>
                    <a:p>
                      <a:pPr>
                        <a:defRPr sz="1200">
                          <a:solidFill>
                            <a:srgbClr val="2A1712"/>
                          </a:solidFill>
                          <a:latin typeface="Yu Gothic"/>
                        </a:defRPr>
                      </a:pPr>
                      <a:r>
                        <a:t>インターネットサービス 売上高</a:t>
                      </a:r>
                    </a:p>
                  </a:txBody>
                  <a:tcPr>
                    <a:solidFill>
                      <a:srgbClr val="FBF3E6"/>
                    </a:solidFill>
                  </a:tcPr>
                </a:tc>
                <a:tc>
                  <a:txBody>
                    <a:bodyPr/>
                    <a:lstStyle/>
                    <a:p>
                      <a:pPr>
                        <a:defRPr sz="1200">
                          <a:solidFill>
                            <a:srgbClr val="2A1712"/>
                          </a:solidFill>
                          <a:latin typeface="Yu Gothic"/>
                        </a:defRPr>
                      </a:pPr>
                      <a:r>
                        <a:t>RMB90億</a:t>
                      </a:r>
                    </a:p>
                  </a:txBody>
                  <a:tcPr>
                    <a:solidFill>
                      <a:srgbClr val="FBF3E6"/>
                    </a:solidFill>
                  </a:tcPr>
                </a:tc>
              </a:tr>
              <a:tr h="502920">
                <a:tc>
                  <a:txBody>
                    <a:bodyPr/>
                    <a:lstStyle/>
                    <a:p>
                      <a:pPr>
                        <a:defRPr sz="1200">
                          <a:solidFill>
                            <a:srgbClr val="2A1712"/>
                          </a:solidFill>
                          <a:latin typeface="Yu Gothic"/>
                        </a:defRPr>
                      </a:pPr>
                      <a:r>
                        <a:t>インターネットサービス 売上総利益率</a:t>
                      </a:r>
                    </a:p>
                  </a:txBody>
                  <a:tcPr>
                    <a:solidFill>
                      <a:srgbClr val="FFFFFF"/>
                    </a:solidFill>
                  </a:tcPr>
                </a:tc>
                <a:tc>
                  <a:txBody>
                    <a:bodyPr/>
                    <a:lstStyle/>
                    <a:p>
                      <a:pPr>
                        <a:defRPr sz="1200">
                          <a:solidFill>
                            <a:srgbClr val="2A1712"/>
                          </a:solidFill>
                          <a:latin typeface="Yu Gothic"/>
                        </a:defRPr>
                      </a:pPr>
                      <a:r>
                        <a:t>76.8%</a:t>
                      </a:r>
                    </a:p>
                  </a:txBody>
                  <a:tcPr>
                    <a:solidFill>
                      <a:srgbClr val="FFFFFF"/>
                    </a:solidFill>
                  </a:tcPr>
                </a:tc>
              </a:tr>
              <a:tr h="502920">
                <a:tc>
                  <a:txBody>
                    <a:bodyPr/>
                    <a:lstStyle/>
                    <a:p>
                      <a:pPr>
                        <a:defRPr sz="1200">
                          <a:solidFill>
                            <a:srgbClr val="2A1712"/>
                          </a:solidFill>
                          <a:latin typeface="Yu Gothic"/>
                        </a:defRPr>
                      </a:pPr>
                      <a:r>
                        <a:t>広告収入</a:t>
                      </a:r>
                    </a:p>
                  </a:txBody>
                  <a:tcPr>
                    <a:solidFill>
                      <a:srgbClr val="FBF3E6"/>
                    </a:solidFill>
                  </a:tcPr>
                </a:tc>
                <a:tc>
                  <a:txBody>
                    <a:bodyPr/>
                    <a:lstStyle/>
                    <a:p>
                      <a:pPr>
                        <a:defRPr sz="1200">
                          <a:solidFill>
                            <a:srgbClr val="2A1712"/>
                          </a:solidFill>
                          <a:latin typeface="Yu Gothic"/>
                        </a:defRPr>
                      </a:pPr>
                      <a:r>
                        <a:t>RMB72億(前年同期比+4.8%)</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Investing.com(2026-08-18)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KuCoin・Xiaomi公式X・Tiger Brokers・Investing.com(2026-08-18)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スマートEV事業の概要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拡大を続けるスマートEV事業の現状です。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Q2納車台数は104,199台で、前年同期比28.2%増</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主力モデル『SU7』シリーズの累計納車台数が50万台を突破</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新型SUV『SkyNomad』シリーズを新たに投入</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セグメント売上総利益率は19.2%</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Investing.com・Xiaomi決算資料報道(2026-08-18)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KuCoin・Xiaomi公式X・Tiger Brokers・Investing.com(2026-08-18)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スマートEV納車台数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104,199台、前年比28.2%増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SU7シリーズ累計納車台数は50万台突破</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Investing.com(2026-08-18)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スマートEV事業の拡大の流れ</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SU7シリーズ投入</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累計納車台数50万台突破</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Q2納車104,199台</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前年同期比28.2%増</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新型SUV『SkyNomad』投入</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ラインナップ拡大</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SU7シリーズの実績から新型SUV投入までの流れ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Investing.com(2026-08-18)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KuCoin・Xiaomi公式X・Tiger Brokers・Investing.com(2026-08-18)</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2026年Q2決算の3ステップ総括</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1. 売上高RMB108.9億</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1000億元超は5四半期連続だが、前年同期比では6.1%減</a:t>
            </a:r>
          </a:p>
        </p:txBody>
      </p:sp>
      <p:sp>
        <p:nvSpPr>
          <p:cNvPr id="11" name="Chevron 10"/>
          <p:cNvSpPr/>
          <p:nvPr/>
        </p:nvSpPr>
        <p:spPr>
          <a:xfrm>
            <a:off x="4038295"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2. 調整後純利益RMB62億</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前年同期比42.6%減と、売上以上に落ち込み幅が大きい</a:t>
            </a:r>
          </a:p>
        </p:txBody>
      </p:sp>
      <p:sp>
        <p:nvSpPr>
          <p:cNvPr id="17" name="Chevron 16"/>
          <p:cNvSpPr/>
          <p:nvPr/>
        </p:nvSpPr>
        <p:spPr>
          <a:xfrm>
            <a:off x="7919313"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3. スマートEV・AI事業は拡大</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前年同期のRMB213億からRMB249億へ、スマホ減速を下支え</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KuCoin・Xiaomi公式X・Tiger Brokers・Investing.com(2026-08-18)</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AI関連の投資・R&amp;D動向</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研究開発投資の状況です。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R&amp;D支出は四半期でRMB92億(前年同期比+18.9%)、上半期累計でRMB182億(+25.6%)</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決算コール内の言及として、上半期R&amp;D支出のうち約3割がAI関連投資とされる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この『約3割』という比率は決算資料の正式開示数値ではなく報道ベースの言及であり、断定的な事実としてではなく留保つきで扱う</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R&amp;D人員は全従業員の47.2%を占める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Investing.com(2026-08-18)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KuCoin・Xiaomi公式X・Tiger Brokers・Investing.com(2026-08-18)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R&amp;D支出の伸び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四半期RMB92億、前年比18.9%増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上半期累計ではRMB182億、前年同期比25.6%増</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Investing.com(2026-08-18)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『Xiaomi Kunlun』とHyperOS 4</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技術面での取り組みです。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独自シリコンアーキテクチャ『Xiaomi Kunlun』への言及がある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自社OS『HyperOS 4』を展開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AIoTプラットフォームの接続デバイス数は11.6億台に達する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これらの技術的取り組みの詳細な性能・採用範囲については、本調査時点で確認できる一次情報が限定的である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Xiaomi公式X・Investing.com(2026-08-18)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KuCoin・Xiaomi公式X・Tiger Brokers・Investing.com(2026-08-18)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成長事業の売上拡大 vs 収益性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売上高の拡大(事実)</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スマートEV・AI・新規事業はRMB213億→RMB249億</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EV納車台数は前年同期比28.2%増</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R&amp;D投資も大きく拡大</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収益性についての留保</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報道では『Auto &amp; AI Sectors Remain in Cash-Burning Phase』との言及がある</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売上拡大が当該セグメント単体の黒字化を意味するとは限らない</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成長と収益性は別軸の指標として区別して扱う</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KuCoin・Xiaomi公式X・Tiger Brokers・Investing.com(2026-08-18)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AIoT・ユーザー関連指標</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7A1F2B"/>
                    </a:solidFill>
                  </a:tcPr>
                </a:tc>
                <a:tc>
                  <a:txBody>
                    <a:bodyPr/>
                    <a:lstStyle/>
                    <a:p>
                      <a:pPr>
                        <a:defRPr sz="1300" b="1">
                          <a:solidFill>
                            <a:srgbClr val="FFFFFF"/>
                          </a:solidFill>
                          <a:latin typeface="Yu Gothic"/>
                        </a:defRPr>
                      </a:pPr>
                      <a:r>
                        <a:t>数値</a:t>
                      </a:r>
                    </a:p>
                  </a:txBody>
                  <a:tcPr>
                    <a:solidFill>
                      <a:srgbClr val="7A1F2B"/>
                    </a:solidFill>
                  </a:tcPr>
                </a:tc>
              </a:tr>
              <a:tr h="502920">
                <a:tc>
                  <a:txBody>
                    <a:bodyPr/>
                    <a:lstStyle/>
                    <a:p>
                      <a:pPr>
                        <a:defRPr sz="1200">
                          <a:solidFill>
                            <a:srgbClr val="2A1712"/>
                          </a:solidFill>
                          <a:latin typeface="Yu Gothic"/>
                        </a:defRPr>
                      </a:pPr>
                      <a:r>
                        <a:t>グローバルMAU</a:t>
                      </a:r>
                    </a:p>
                  </a:txBody>
                  <a:tcPr>
                    <a:solidFill>
                      <a:srgbClr val="FFFFFF"/>
                    </a:solidFill>
                  </a:tcPr>
                </a:tc>
                <a:tc>
                  <a:txBody>
                    <a:bodyPr/>
                    <a:lstStyle/>
                    <a:p>
                      <a:pPr>
                        <a:defRPr sz="1200">
                          <a:solidFill>
                            <a:srgbClr val="2A1712"/>
                          </a:solidFill>
                          <a:latin typeface="Yu Gothic"/>
                        </a:defRPr>
                      </a:pPr>
                      <a:r>
                        <a:t>7億6,700万(過去最高)</a:t>
                      </a:r>
                    </a:p>
                  </a:txBody>
                  <a:tcPr>
                    <a:solidFill>
                      <a:srgbClr val="FFFFFF"/>
                    </a:solidFill>
                  </a:tcPr>
                </a:tc>
              </a:tr>
              <a:tr h="502920">
                <a:tc>
                  <a:txBody>
                    <a:bodyPr/>
                    <a:lstStyle/>
                    <a:p>
                      <a:pPr>
                        <a:defRPr sz="1200">
                          <a:solidFill>
                            <a:srgbClr val="2A1712"/>
                          </a:solidFill>
                          <a:latin typeface="Yu Gothic"/>
                        </a:defRPr>
                      </a:pPr>
                      <a:r>
                        <a:t>AIoTプラットフォーム接続デバイス数</a:t>
                      </a:r>
                    </a:p>
                  </a:txBody>
                  <a:tcPr>
                    <a:solidFill>
                      <a:srgbClr val="FBF3E6"/>
                    </a:solidFill>
                  </a:tcPr>
                </a:tc>
                <a:tc>
                  <a:txBody>
                    <a:bodyPr/>
                    <a:lstStyle/>
                    <a:p>
                      <a:pPr>
                        <a:defRPr sz="1200">
                          <a:solidFill>
                            <a:srgbClr val="2A1712"/>
                          </a:solidFill>
                          <a:latin typeface="Yu Gothic"/>
                        </a:defRPr>
                      </a:pPr>
                      <a:r>
                        <a:t>11.6億台</a:t>
                      </a:r>
                    </a:p>
                  </a:txBody>
                  <a:tcPr>
                    <a:solidFill>
                      <a:srgbClr val="FBF3E6"/>
                    </a:solidFill>
                  </a:tcPr>
                </a:tc>
              </a:tr>
              <a:tr h="502920">
                <a:tc>
                  <a:txBody>
                    <a:bodyPr/>
                    <a:lstStyle/>
                    <a:p>
                      <a:pPr>
                        <a:defRPr sz="1200">
                          <a:solidFill>
                            <a:srgbClr val="2A1712"/>
                          </a:solidFill>
                          <a:latin typeface="Yu Gothic"/>
                        </a:defRPr>
                      </a:pPr>
                      <a:r>
                        <a:t>IoTプラットフォームMAU</a:t>
                      </a:r>
                    </a:p>
                  </a:txBody>
                  <a:tcPr>
                    <a:solidFill>
                      <a:srgbClr val="FFFFFF"/>
                    </a:solidFill>
                  </a:tcPr>
                </a:tc>
                <a:tc>
                  <a:txBody>
                    <a:bodyPr/>
                    <a:lstStyle/>
                    <a:p>
                      <a:pPr>
                        <a:defRPr sz="1200">
                          <a:solidFill>
                            <a:srgbClr val="2A1712"/>
                          </a:solidFill>
                          <a:latin typeface="Yu Gothic"/>
                        </a:defRPr>
                      </a:pPr>
                      <a:r>
                        <a:t>7億6,650万</a:t>
                      </a:r>
                    </a:p>
                  </a:txBody>
                  <a:tcPr>
                    <a:solidFill>
                      <a:srgbClr val="FFFFFF"/>
                    </a:solidFill>
                  </a:tcPr>
                </a:tc>
              </a:tr>
              <a:tr h="502920">
                <a:tc>
                  <a:txBody>
                    <a:bodyPr/>
                    <a:lstStyle/>
                    <a:p>
                      <a:pPr>
                        <a:defRPr sz="1200">
                          <a:solidFill>
                            <a:srgbClr val="2A1712"/>
                          </a:solidFill>
                          <a:latin typeface="Yu Gothic"/>
                        </a:defRPr>
                      </a:pPr>
                      <a:r>
                        <a:t>インターネットサービス売上総利益率</a:t>
                      </a:r>
                    </a:p>
                  </a:txBody>
                  <a:tcPr>
                    <a:solidFill>
                      <a:srgbClr val="FBF3E6"/>
                    </a:solidFill>
                  </a:tcPr>
                </a:tc>
                <a:tc>
                  <a:txBody>
                    <a:bodyPr/>
                    <a:lstStyle/>
                    <a:p>
                      <a:pPr>
                        <a:defRPr sz="1200">
                          <a:solidFill>
                            <a:srgbClr val="2A1712"/>
                          </a:solidFill>
                          <a:latin typeface="Yu Gothic"/>
                        </a:defRPr>
                      </a:pPr>
                      <a:r>
                        <a:t>76.8%</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Xiaomi公式X・Investing.com(2026-08-18)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KuCoin・Xiaomi公式X・Tiger Brokers・Investing.com(2026-08-18)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AI関連投資『約3割』という比率の正式な内訳開示は確認できていない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スマートEV・AI・新規事業セグメント単体の損益(黒字化の有無)は本調査時点で確認できていない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出荷台数減少の背景(メモリ価格上昇等)は報道ベースの分析であり、決算資料の正式な開示ではない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本テーマはXiaomi製品の購入・投資を推奨するものではなく、報じられた経営指標の紹介にとどめる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本リサーチ(2026-08-18時点)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KuCoin・Xiaomi公式X・Tiger Brokers・Investing.com(2026-08-18)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もう一つの過去最高指標</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グローバルMAU 7億6,700万</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AIoTプラットフォーム接続デバイス数は11.6億台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Xiaomi公式X(2026-08-18)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スマホ事業とEV事業、明暗の対比</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スマートフォン事業</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出荷台数は前年同期比26.5%減</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ASPは過去最高RMB1,351</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世界ランキングは24四半期連続TOP3を維持</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スマートEV事業</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納車台数は前年同期比28.2%増</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SU7累計納車台数50万台突破</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新型SUV『SkyNomad』を投入</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KuCoin・Xiaomi公式X・Tiger Brokers・Investing.com(2026-08-18)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決算・企業分析に関心がある立場として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同じ数字でも報道と企業公式発表で見せ方が異なりうることを示す事例として参考になる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スマホ・EV業界の動向を追う立場として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主力事業の減速と新規事業の拡大が同時に進む構図として継続的に確認する視点が役立つ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投資を検討する立場として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売上高の絶対額だけでなく、前年同期比・利益率・セグメント別損益まで確認する必要がある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KuCoin・Xiaomi公式X・Tiger Brokers・Investing.com(2026-08-18)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まとめ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本編のまとめです。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Xiaomiの2026年Q2売上高はRMB108.9億で、1000億元超は5四半期連続だが前年同期比6.1%減</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調整後純利益はRMB62億で前年同期比42.6%減と、利益への影響がより大きい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スマートフォン事業が減速する一方、スマートEV・AI・新規事業は拡大しており明暗が分かれる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同じ数字でも情報源によって『増収』的にも『減収』的にも伝えられうる点を、両論併記で正直に開示した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本リサーチ(2026-08-18時点)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KuCoin・Xiaomi公式X・Tiger Brokers・Investing.com(2026-08-18)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『増収』か『減収』か。数字は同じでも、見せ方は違う。</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Xiaomiの2026年Q2決算は、売上高RMB108.9億(1000億元超は5四半期連続)ながら前年同期比6.1%減という結果でした。市場報道と企業公式発表の見せ方の違いまで、出典付きで整理してお届けしました。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