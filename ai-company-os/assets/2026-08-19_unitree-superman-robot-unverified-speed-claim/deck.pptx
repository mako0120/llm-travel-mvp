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ロボット企業Unitreeが2026年8月18日、新型ヒューマノイドロボット『Superman』を公開しました。最高速度はウサイン・ボルトを上回るとされていますが、第三者検証はありません。今日はこの発表の中身を出典付きで正直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結論から確認します。Unitreeは新型ロボット『Superman』が最高速度12.66m/sを記録したと発表していますが、これは自社デモ動画に基づく数値で、第三者検証は確認できていません。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今日は6つの流れでお伝えします。発表された数値から、第三者検証なしという留保、設計思想まで、正確に事実を引用しながら整理します。誇張せず、確認できなかったことは正直にお伝えします。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このテーマを扱う理由です。高い鮮度とインパクトのある主張に加え、第三者検証なしという留保を正直に伝える意義に注目しました。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Unitreeは中国のロボット企業で、ヒューマノイド・四足歩行ロボットを開発しています。今回の発表の翌日に上海市場へ上場しました。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今回発表された数値です。最高速度12.66m/s、立ち幅跳び2mという数値が示されています。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『人類最速を上回る』とされていますが、測定条件が人間の公式記録と同一かどうかは確認できていません。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立ち幅跳びは2mと発表されています。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発表された数値は自社デモ動画に基づくものであり、第三者検証は行われていません。これは本テーマの核心的な留保事項です。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自社発表の数値と、第三者検証済みの人類記録を対比しました。両者の性質は大きく異なる点に注意が必要です。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Supermanは手を持たず、下半身の動的移動性能に開発資源を集中させた研究段階のプロジェクトです。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Supermanは手を持たない設計で、純粋な移動性能の実証に特化しています。実用的な作業ロボットとしての完成度を示すものではありません。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開発期間はわずか3か月強とされています。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今回の発表は上場の前日に行われましたが、意図については断定していません。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今回の発表に至る流れを図にしました。短期開発から自社デモでの発表、そして人類記録との比較という流れです。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今回の発表を3ステップで総括しました。最高速度の主張、特化型設計、そして第三者検証なしという留保という流れです。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ヒューマノイドロボット業界では各社が性能を競い合っていますが、自社発表の数値を鵜呑みにせず検証する文化が課題とされます。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Supermanと一般的なヒューマノイドロボットを対比しました。設計思想が大きく異なる点に注意が必要です。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今回の発表の要点をまとめました。発表内容、検証状況、設計上の特徴、発表日という4点です。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今後の見どころとして、第三者検証の実施有無や測定条件の詳細開示が挙げられますが、いずれも現時点では確認できていません。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Unitreeは、Supermanについて『さらなる最適化の余地がある』とし、完成品ではなく研究段階のプロジェクトと位置づけています。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本テーマは、TechNode・Interesting Engineering・TechTimesなど、複数の独立したメディアが一致して報じている内容として整理しています。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最高速度12.66m/sは、時速に換算すると約45.6kmです。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今回の発表はUnitree自身の公式Xアカウントが一次情報源となっています。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話題性のある見出しを用いつつ、数値が未検証の自社発表であることを明確に開示するという方針で本テーマを構成しています。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確認できなかったことを正直にお伝えします。第三者検証の有無、測定条件の詳細、比較の妥当性は確認できていません。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このニュースが読者にとって意味することをまとめました。ロボティクス技術を追う立場、企業発表を読み解く立場、中国産業を追う立場、それぞれで意識したい視点です。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まとめです。インパクトのある数値発表と、第三者検証なしという重要な留保、そして確認できていない点を正直にお伝えしました。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Unitreeの新型ロボット『Superman』の発表について、インパクトのある数値と第三者検証なしという留保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ウサイン・ボルトより</a:t>
            </a:r>
          </a:p>
          <a:p>
            <a:pPr algn="l">
              <a:lnSpc>
                <a:spcPct val="115000"/>
              </a:lnSpc>
            </a:pPr>
            <a:r>
              <a:rPr sz="4200" b="1">
                <a:solidFill>
                  <a:srgbClr val="FFFFFF"/>
                </a:solidFill>
                <a:latin typeface="Yu Gothic"/>
              </a:rPr>
              <a:t>速い?</a:t>
            </a:r>
          </a:p>
          <a:p>
            <a:pPr algn="l">
              <a:lnSpc>
                <a:spcPct val="115000"/>
              </a:lnSpc>
            </a:pPr>
            <a:r>
              <a:rPr sz="4200" b="1">
                <a:solidFill>
                  <a:srgbClr val="FFFFFF"/>
                </a:solidFill>
                <a:latin typeface="Yu Gothic"/>
              </a:rPr>
              <a:t>ロボットの衝撃発表の真相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2026年8月18日発表——Unitree「Superman」、最高速度12.66m/sを主張</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TechNode・Interesting Engineering(2026年8月18日)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最高速度12.66m/s(時速約45.6km)を主張</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ただし第三者による独立検証は確認できていない(2026年8月18日発表)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TechNode・Interesting Engineering(2026-08-18)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Unitreeとは・基礎知識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今回発表された数値を確認する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『第三者検証なし』の意味を確認する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Supermanの設計思想・開発の背景を確認する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着手日前日(2026年8月18日)発表という高い鮮度の話題である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『人類最速を上回る』という強いインパクトのある主張である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同時に『第三者検証なし』という重要な留保があり、正直に伝える意義が大きい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複数の独立した情報源(TechNode・Interesting Engineering等)で確認できる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TechNode・Interesting Engineering(2026-08-18)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Unitreeとは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中国のロボット企業(杭州拠点)</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ヒューマノイドロボット・四足歩行ロボットを開発</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2026年8月19日に上海証券取引所科創板(STARマーケット)に上場</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世界最大級のヒューマノイドロボットメーカーとされる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TechNode(2026-08-18)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今回発表された数値</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発表された数値</a:t>
                      </a:r>
                    </a:p>
                  </a:txBody>
                  <a:tcPr>
                    <a:solidFill>
                      <a:srgbClr val="1B3A5C"/>
                    </a:solidFill>
                  </a:tcPr>
                </a:tc>
              </a:tr>
              <a:tr h="502920">
                <a:tc>
                  <a:txBody>
                    <a:bodyPr/>
                    <a:lstStyle/>
                    <a:p>
                      <a:pPr>
                        <a:defRPr sz="1200">
                          <a:solidFill>
                            <a:srgbClr val="16202E"/>
                          </a:solidFill>
                          <a:latin typeface="Yu Gothic"/>
                        </a:defRPr>
                      </a:pPr>
                      <a:r>
                        <a:t>最高速度</a:t>
                      </a:r>
                    </a:p>
                  </a:txBody>
                  <a:tcPr>
                    <a:solidFill>
                      <a:srgbClr val="FFFFFF"/>
                    </a:solidFill>
                  </a:tcPr>
                </a:tc>
                <a:tc>
                  <a:txBody>
                    <a:bodyPr/>
                    <a:lstStyle/>
                    <a:p>
                      <a:pPr>
                        <a:defRPr sz="1200">
                          <a:solidFill>
                            <a:srgbClr val="16202E"/>
                          </a:solidFill>
                          <a:latin typeface="Yu Gothic"/>
                        </a:defRPr>
                      </a:pPr>
                      <a:r>
                        <a:t>12.66m/s(時速約45.6km)</a:t>
                      </a:r>
                    </a:p>
                  </a:txBody>
                  <a:tcPr>
                    <a:solidFill>
                      <a:srgbClr val="FFFFFF"/>
                    </a:solidFill>
                  </a:tcPr>
                </a:tc>
              </a:tr>
              <a:tr h="502920">
                <a:tc>
                  <a:txBody>
                    <a:bodyPr/>
                    <a:lstStyle/>
                    <a:p>
                      <a:pPr>
                        <a:defRPr sz="1200">
                          <a:solidFill>
                            <a:srgbClr val="16202E"/>
                          </a:solidFill>
                          <a:latin typeface="Yu Gothic"/>
                        </a:defRPr>
                      </a:pPr>
                      <a:r>
                        <a:t>立ち幅跳び</a:t>
                      </a:r>
                    </a:p>
                  </a:txBody>
                  <a:tcPr>
                    <a:solidFill>
                      <a:srgbClr val="F2F6FA"/>
                    </a:solidFill>
                  </a:tcPr>
                </a:tc>
                <a:tc>
                  <a:txBody>
                    <a:bodyPr/>
                    <a:lstStyle/>
                    <a:p>
                      <a:pPr>
                        <a:defRPr sz="1200">
                          <a:solidFill>
                            <a:srgbClr val="16202E"/>
                          </a:solidFill>
                          <a:latin typeface="Yu Gothic"/>
                        </a:defRPr>
                      </a:pPr>
                      <a:r>
                        <a:t>2m</a:t>
                      </a:r>
                    </a:p>
                  </a:txBody>
                  <a:tcPr>
                    <a:solidFill>
                      <a:srgbClr val="F2F6FA"/>
                    </a:solidFill>
                  </a:tcPr>
                </a:tc>
              </a:tr>
              <a:tr h="502920">
                <a:tc>
                  <a:txBody>
                    <a:bodyPr/>
                    <a:lstStyle/>
                    <a:p>
                      <a:pPr>
                        <a:defRPr sz="1200">
                          <a:solidFill>
                            <a:srgbClr val="16202E"/>
                          </a:solidFill>
                          <a:latin typeface="Yu Gothic"/>
                        </a:defRPr>
                      </a:pPr>
                      <a:r>
                        <a:t>脚長</a:t>
                      </a:r>
                    </a:p>
                  </a:txBody>
                  <a:tcPr>
                    <a:solidFill>
                      <a:srgbClr val="FFFFFF"/>
                    </a:solidFill>
                  </a:tcPr>
                </a:tc>
                <a:tc>
                  <a:txBody>
                    <a:bodyPr/>
                    <a:lstStyle/>
                    <a:p>
                      <a:pPr>
                        <a:defRPr sz="1200">
                          <a:solidFill>
                            <a:srgbClr val="16202E"/>
                          </a:solidFill>
                          <a:latin typeface="Yu Gothic"/>
                        </a:defRPr>
                      </a:pPr>
                      <a:r>
                        <a:t>0.85m</a:t>
                      </a:r>
                    </a:p>
                  </a:txBody>
                  <a:tcPr>
                    <a:solidFill>
                      <a:srgbClr val="FFFFFF"/>
                    </a:solidFill>
                  </a:tcPr>
                </a:tc>
              </a:tr>
              <a:tr h="502920">
                <a:tc>
                  <a:txBody>
                    <a:bodyPr/>
                    <a:lstStyle/>
                    <a:p>
                      <a:pPr>
                        <a:defRPr sz="1200">
                          <a:solidFill>
                            <a:srgbClr val="16202E"/>
                          </a:solidFill>
                          <a:latin typeface="Yu Gothic"/>
                        </a:defRPr>
                      </a:pPr>
                      <a:r>
                        <a:t>開発期間</a:t>
                      </a:r>
                    </a:p>
                  </a:txBody>
                  <a:tcPr>
                    <a:solidFill>
                      <a:srgbClr val="F2F6FA"/>
                    </a:solidFill>
                  </a:tcPr>
                </a:tc>
                <a:tc>
                  <a:txBody>
                    <a:bodyPr/>
                    <a:lstStyle/>
                    <a:p>
                      <a:pPr>
                        <a:defRPr sz="1200">
                          <a:solidFill>
                            <a:srgbClr val="16202E"/>
                          </a:solidFill>
                          <a:latin typeface="Yu Gothic"/>
                        </a:defRPr>
                      </a:pPr>
                      <a:r>
                        <a:t>3か月強</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TechNode・Interesting Engineering(2026-08-18)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『人類最速を上回る』という主張</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この比較についてです。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Unitreeは、この数値が人類の立ち幅跳び・走行速度の世界記録を上回ると説明している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12.66m/sは、ウサイン・ボルト選手の100m走の平均速度を上回るとされる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測定条件が人間の公式記録と同一かどうかの詳細は本調査の範囲では確認できていない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比較の厳密な妥当性については留保が必要である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TechTimes(2026-08-18)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立ち幅跳びの記録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2m</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脚長0.85mでの跳躍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TechNode(2026-08-18)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『第三者検証なし』の意味(本テーマの核心)</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この留保を正直にお伝えします。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発表された数値は、Unitree自社のデモ動画に基づくものである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独立した第三者機関による検証は行われていないと複数のメディアが指摘している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ペイロード条件・路面条件・測定方法・再現性についての詳細な開示は確認できていない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『世界記録』ではなく『自社発表の数値』として正確に扱う必要がある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TechTimes・TechNode(2026-08-18)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自社発表 vs 第三者検証済みの記録</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今回の自社発表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デモ動画に基づく数値</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測定条件の詳細開示なし</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再現性の確認なし</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第三者検証済みの人類記録</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公式競技での計測</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統一された測定条件</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複数回の再現性が確認済み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Supermanの設計上の特徴</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手・グリッパー</a:t>
                      </a:r>
                    </a:p>
                  </a:txBody>
                  <a:tcPr>
                    <a:solidFill>
                      <a:srgbClr val="FFFFFF"/>
                    </a:solidFill>
                  </a:tcPr>
                </a:tc>
                <a:tc>
                  <a:txBody>
                    <a:bodyPr/>
                    <a:lstStyle/>
                    <a:p>
                      <a:pPr>
                        <a:defRPr sz="1200">
                          <a:solidFill>
                            <a:srgbClr val="16202E"/>
                          </a:solidFill>
                          <a:latin typeface="Yu Gothic"/>
                        </a:defRPr>
                      </a:pPr>
                      <a:r>
                        <a:t>非搭載(物をつかむ機能なし)</a:t>
                      </a:r>
                    </a:p>
                  </a:txBody>
                  <a:tcPr>
                    <a:solidFill>
                      <a:srgbClr val="FFFFFF"/>
                    </a:solidFill>
                  </a:tcPr>
                </a:tc>
              </a:tr>
              <a:tr h="502920">
                <a:tc>
                  <a:txBody>
                    <a:bodyPr/>
                    <a:lstStyle/>
                    <a:p>
                      <a:pPr>
                        <a:defRPr sz="1200">
                          <a:solidFill>
                            <a:srgbClr val="16202E"/>
                          </a:solidFill>
                          <a:latin typeface="Yu Gothic"/>
                        </a:defRPr>
                      </a:pPr>
                      <a:r>
                        <a:t>開発方針</a:t>
                      </a:r>
                    </a:p>
                  </a:txBody>
                  <a:tcPr>
                    <a:solidFill>
                      <a:srgbClr val="F2F6FA"/>
                    </a:solidFill>
                  </a:tcPr>
                </a:tc>
                <a:tc>
                  <a:txBody>
                    <a:bodyPr/>
                    <a:lstStyle/>
                    <a:p>
                      <a:pPr>
                        <a:defRPr sz="1200">
                          <a:solidFill>
                            <a:srgbClr val="16202E"/>
                          </a:solidFill>
                          <a:latin typeface="Yu Gothic"/>
                        </a:defRPr>
                      </a:pPr>
                      <a:r>
                        <a:t>下半身の動的移動性能に開発資源を集中</a:t>
                      </a:r>
                    </a:p>
                  </a:txBody>
                  <a:tcPr>
                    <a:solidFill>
                      <a:srgbClr val="F2F6FA"/>
                    </a:solidFill>
                  </a:tcPr>
                </a:tc>
              </a:tr>
              <a:tr h="502920">
                <a:tc>
                  <a:txBody>
                    <a:bodyPr/>
                    <a:lstStyle/>
                    <a:p>
                      <a:pPr>
                        <a:defRPr sz="1200">
                          <a:solidFill>
                            <a:srgbClr val="16202E"/>
                          </a:solidFill>
                          <a:latin typeface="Yu Gothic"/>
                        </a:defRPr>
                      </a:pPr>
                      <a:r>
                        <a:t>位置づけ</a:t>
                      </a:r>
                    </a:p>
                  </a:txBody>
                  <a:tcPr>
                    <a:solidFill>
                      <a:srgbClr val="FFFFFF"/>
                    </a:solidFill>
                  </a:tcPr>
                </a:tc>
                <a:tc>
                  <a:txBody>
                    <a:bodyPr/>
                    <a:lstStyle/>
                    <a:p>
                      <a:pPr>
                        <a:defRPr sz="1200">
                          <a:solidFill>
                            <a:srgbClr val="16202E"/>
                          </a:solidFill>
                          <a:latin typeface="Yu Gothic"/>
                        </a:defRPr>
                      </a:pPr>
                      <a:r>
                        <a:t>完成品ではなく研究段階のプロジェクト</a:t>
                      </a:r>
                    </a:p>
                  </a:txBody>
                  <a:tcPr>
                    <a:solidFill>
                      <a:srgbClr val="FFFFFF"/>
                    </a:solidFill>
                  </a:tcPr>
                </a:tc>
              </a:tr>
              <a:tr h="502920">
                <a:tc>
                  <a:txBody>
                    <a:bodyPr/>
                    <a:lstStyle/>
                    <a:p>
                      <a:pPr>
                        <a:defRPr sz="1200">
                          <a:solidFill>
                            <a:srgbClr val="16202E"/>
                          </a:solidFill>
                          <a:latin typeface="Yu Gothic"/>
                        </a:defRPr>
                      </a:pPr>
                      <a:r>
                        <a:t>今後の見通し</a:t>
                      </a:r>
                    </a:p>
                  </a:txBody>
                  <a:tcPr>
                    <a:solidFill>
                      <a:srgbClr val="F2F6FA"/>
                    </a:solidFill>
                  </a:tcPr>
                </a:tc>
                <a:tc>
                  <a:txBody>
                    <a:bodyPr/>
                    <a:lstStyle/>
                    <a:p>
                      <a:pPr>
                        <a:defRPr sz="1200">
                          <a:solidFill>
                            <a:srgbClr val="16202E"/>
                          </a:solidFill>
                          <a:latin typeface="Yu Gothic"/>
                        </a:defRPr>
                      </a:pPr>
                      <a:r>
                        <a:t>同社は『さらなる最適化の余地がある』と説明</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Interesting Engineering・TechNode(2026-08-18)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『手がない』ことの意味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この設計上の割り切りについてです。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一般的なヒューマノイドロボットが持つ手・グリッパーを、あえて搭載していない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物をつかむ・作業するといった機能は持たない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純粋な移動性能(走る・跳ぶ)の実証に特化した設計とされる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実用的な作業ロボットとしての完成度を示すものではない点に注意が必要</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Interesting Engineering(2026-08-18)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開発期間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3か月強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短期間での開発と発表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TechNode(2026-08-18)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発表のタイミング</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発表された時期についてです。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今回の発表は、UnitreeのShanghai STAR Market上場(2026年8月19日)の前日に行われた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上場のタイミングと合わせた話題づくりの意図があった可能性はあるが、本調査ではこれを断定しない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同社は今回、大型IPOで大幅に株価が上昇したことでも注目を集めていた</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上場自体は本テーマとは別の既存テーマで扱っており、本テーマではSuperman単体の発表内容を扱う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今回の発表に至る流れ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3か月強の短期開発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下半身の動的移動性能に集中</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自社デモ動画で数値を発表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最高速度12.66m/s・跳躍2m</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『人類最速を上回る』と説明</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ただし第三者検証は確認できていない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開発から発表までの流れ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TechNode・Interesting Engineering(2026-08-18)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最高速度12.66m/sを主張</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自社デモ動画に基づく</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手を持たない特化型設計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移動性能の実証に集中</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第三者検証は確認できず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自社発表として正直に扱う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ヒューマノイドロボット業界における位置づけ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各社が性能を競い合うヒューマノイドロボット業界の一例として注目される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移動性能に特化した研究プロジェクトという位置づけは、実用ロボットとは異なる文脈で捉える必要がある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他社の同様の性能主張との詳細な比較は本調査では行っていない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業界全体として、自社発表の数値を鵜呑みにせず検証する文化が課題とされる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Superman(移動特化型) vs 一般的なヒューマノイドロボット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Superman</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手・グリッパーなし</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移動性能に特化</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研究段階のプロジェクト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一般的なヒューマノイドロボット</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手・グリッパーを搭載</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作業機能を重視</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実用化を目指す製品が多い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発表内容</a:t>
                      </a:r>
                    </a:p>
                  </a:txBody>
                  <a:tcPr>
                    <a:solidFill>
                      <a:srgbClr val="FFFFFF"/>
                    </a:solidFill>
                  </a:tcPr>
                </a:tc>
                <a:tc>
                  <a:txBody>
                    <a:bodyPr/>
                    <a:lstStyle/>
                    <a:p>
                      <a:pPr>
                        <a:defRPr sz="1200">
                          <a:solidFill>
                            <a:srgbClr val="16202E"/>
                          </a:solidFill>
                          <a:latin typeface="Yu Gothic"/>
                        </a:defRPr>
                      </a:pPr>
                      <a:r>
                        <a:t>最高速度12.66m/s・立ち幅跳び2m</a:t>
                      </a:r>
                    </a:p>
                  </a:txBody>
                  <a:tcPr>
                    <a:solidFill>
                      <a:srgbClr val="FFFFFF"/>
                    </a:solidFill>
                  </a:tcPr>
                </a:tc>
              </a:tr>
              <a:tr h="502920">
                <a:tc>
                  <a:txBody>
                    <a:bodyPr/>
                    <a:lstStyle/>
                    <a:p>
                      <a:pPr>
                        <a:defRPr sz="1200">
                          <a:solidFill>
                            <a:srgbClr val="16202E"/>
                          </a:solidFill>
                          <a:latin typeface="Yu Gothic"/>
                        </a:defRPr>
                      </a:pPr>
                      <a:r>
                        <a:t>検証状況</a:t>
                      </a:r>
                    </a:p>
                  </a:txBody>
                  <a:tcPr>
                    <a:solidFill>
                      <a:srgbClr val="F2F6FA"/>
                    </a:solidFill>
                  </a:tcPr>
                </a:tc>
                <a:tc>
                  <a:txBody>
                    <a:bodyPr/>
                    <a:lstStyle/>
                    <a:p>
                      <a:pPr>
                        <a:defRPr sz="1200">
                          <a:solidFill>
                            <a:srgbClr val="16202E"/>
                          </a:solidFill>
                          <a:latin typeface="Yu Gothic"/>
                        </a:defRPr>
                      </a:pPr>
                      <a:r>
                        <a:t>自社デモ動画に基づき、第三者検証は確認できていない</a:t>
                      </a:r>
                    </a:p>
                  </a:txBody>
                  <a:tcPr>
                    <a:solidFill>
                      <a:srgbClr val="F2F6FA"/>
                    </a:solidFill>
                  </a:tcPr>
                </a:tc>
              </a:tr>
              <a:tr h="502920">
                <a:tc>
                  <a:txBody>
                    <a:bodyPr/>
                    <a:lstStyle/>
                    <a:p>
                      <a:pPr>
                        <a:defRPr sz="1200">
                          <a:solidFill>
                            <a:srgbClr val="16202E"/>
                          </a:solidFill>
                          <a:latin typeface="Yu Gothic"/>
                        </a:defRPr>
                      </a:pPr>
                      <a:r>
                        <a:t>設計上の特徴</a:t>
                      </a:r>
                    </a:p>
                  </a:txBody>
                  <a:tcPr>
                    <a:solidFill>
                      <a:srgbClr val="FFFFFF"/>
                    </a:solidFill>
                  </a:tcPr>
                </a:tc>
                <a:tc>
                  <a:txBody>
                    <a:bodyPr/>
                    <a:lstStyle/>
                    <a:p>
                      <a:pPr>
                        <a:defRPr sz="1200">
                          <a:solidFill>
                            <a:srgbClr val="16202E"/>
                          </a:solidFill>
                          <a:latin typeface="Yu Gothic"/>
                        </a:defRPr>
                      </a:pPr>
                      <a:r>
                        <a:t>手を持たない移動特化型</a:t>
                      </a:r>
                    </a:p>
                  </a:txBody>
                  <a:tcPr>
                    <a:solidFill>
                      <a:srgbClr val="FFFFFF"/>
                    </a:solidFill>
                  </a:tcPr>
                </a:tc>
              </a:tr>
              <a:tr h="502920">
                <a:tc>
                  <a:txBody>
                    <a:bodyPr/>
                    <a:lstStyle/>
                    <a:p>
                      <a:pPr>
                        <a:defRPr sz="1200">
                          <a:solidFill>
                            <a:srgbClr val="16202E"/>
                          </a:solidFill>
                          <a:latin typeface="Yu Gothic"/>
                        </a:defRPr>
                      </a:pPr>
                      <a:r>
                        <a:t>発表日</a:t>
                      </a:r>
                    </a:p>
                  </a:txBody>
                  <a:tcPr>
                    <a:solidFill>
                      <a:srgbClr val="F2F6FA"/>
                    </a:solidFill>
                  </a:tcPr>
                </a:tc>
                <a:tc>
                  <a:txBody>
                    <a:bodyPr/>
                    <a:lstStyle/>
                    <a:p>
                      <a:pPr>
                        <a:defRPr sz="1200">
                          <a:solidFill>
                            <a:srgbClr val="16202E"/>
                          </a:solidFill>
                          <a:latin typeface="Yu Gothic"/>
                        </a:defRPr>
                      </a:pPr>
                      <a:r>
                        <a:t>2026年8月18日(Shanghai上場前日)</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TechNode・Interesting Engineering(2026-08-18)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今後注目される点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今後の見どころです。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第三者機関による独立した検証が今後行われるかどうか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測定条件(ペイロード・路面等)の詳細開示があるかどうか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今後の性能向上・製品化に向けた具体的な計画</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今後の公式発表・追加検証を継続して確認する必要がある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同社の姿勢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『さらなる最適化の余地がある』と説明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完成品ではなく研究段階と位置づけ</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Interesting Engineering(2026-08-18)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確認できた内容</a:t>
                      </a:r>
                    </a:p>
                  </a:txBody>
                  <a:tcPr>
                    <a:solidFill>
                      <a:srgbClr val="1B3A5C"/>
                    </a:solidFill>
                  </a:tcPr>
                </a:tc>
              </a:tr>
              <a:tr h="502920">
                <a:tc>
                  <a:txBody>
                    <a:bodyPr/>
                    <a:lstStyle/>
                    <a:p>
                      <a:pPr>
                        <a:defRPr sz="1200">
                          <a:solidFill>
                            <a:srgbClr val="16202E"/>
                          </a:solidFill>
                          <a:latin typeface="Yu Gothic"/>
                        </a:defRPr>
                      </a:pPr>
                      <a:r>
                        <a:t>TechNode</a:t>
                      </a:r>
                    </a:p>
                  </a:txBody>
                  <a:tcPr>
                    <a:solidFill>
                      <a:srgbClr val="FFFFFF"/>
                    </a:solidFill>
                  </a:tcPr>
                </a:tc>
                <a:tc>
                  <a:txBody>
                    <a:bodyPr/>
                    <a:lstStyle/>
                    <a:p>
                      <a:pPr>
                        <a:defRPr sz="1200">
                          <a:solidFill>
                            <a:srgbClr val="16202E"/>
                          </a:solidFill>
                          <a:latin typeface="Yu Gothic"/>
                        </a:defRPr>
                      </a:pPr>
                      <a:r>
                        <a:t>発表内容・開発期間の詳細</a:t>
                      </a:r>
                    </a:p>
                  </a:txBody>
                  <a:tcPr>
                    <a:solidFill>
                      <a:srgbClr val="FFFFFF"/>
                    </a:solidFill>
                  </a:tcPr>
                </a:tc>
              </a:tr>
              <a:tr h="502920">
                <a:tc>
                  <a:txBody>
                    <a:bodyPr/>
                    <a:lstStyle/>
                    <a:p>
                      <a:pPr>
                        <a:defRPr sz="1200">
                          <a:solidFill>
                            <a:srgbClr val="16202E"/>
                          </a:solidFill>
                          <a:latin typeface="Yu Gothic"/>
                        </a:defRPr>
                      </a:pPr>
                      <a:r>
                        <a:t>Interesting Engineering</a:t>
                      </a:r>
                    </a:p>
                  </a:txBody>
                  <a:tcPr>
                    <a:solidFill>
                      <a:srgbClr val="F2F6FA"/>
                    </a:solidFill>
                  </a:tcPr>
                </a:tc>
                <a:tc>
                  <a:txBody>
                    <a:bodyPr/>
                    <a:lstStyle/>
                    <a:p>
                      <a:pPr>
                        <a:defRPr sz="1200">
                          <a:solidFill>
                            <a:srgbClr val="16202E"/>
                          </a:solidFill>
                          <a:latin typeface="Yu Gothic"/>
                        </a:defRPr>
                      </a:pPr>
                      <a:r>
                        <a:t>設計思想・手を持たない特徴</a:t>
                      </a:r>
                    </a:p>
                  </a:txBody>
                  <a:tcPr>
                    <a:solidFill>
                      <a:srgbClr val="F2F6FA"/>
                    </a:solidFill>
                  </a:tcPr>
                </a:tc>
              </a:tr>
              <a:tr h="502920">
                <a:tc>
                  <a:txBody>
                    <a:bodyPr/>
                    <a:lstStyle/>
                    <a:p>
                      <a:pPr>
                        <a:defRPr sz="1200">
                          <a:solidFill>
                            <a:srgbClr val="16202E"/>
                          </a:solidFill>
                          <a:latin typeface="Yu Gothic"/>
                        </a:defRPr>
                      </a:pPr>
                      <a:r>
                        <a:t>TechTimes</a:t>
                      </a:r>
                    </a:p>
                  </a:txBody>
                  <a:tcPr>
                    <a:solidFill>
                      <a:srgbClr val="FFFFFF"/>
                    </a:solidFill>
                  </a:tcPr>
                </a:tc>
                <a:tc>
                  <a:txBody>
                    <a:bodyPr/>
                    <a:lstStyle/>
                    <a:p>
                      <a:pPr>
                        <a:defRPr sz="1200">
                          <a:solidFill>
                            <a:srgbClr val="16202E"/>
                          </a:solidFill>
                          <a:latin typeface="Yu Gothic"/>
                        </a:defRPr>
                      </a:pPr>
                      <a:r>
                        <a:t>第三者検証なしという留保の明記</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速度の時速換算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時速約45.6km</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12.66m/sを時速に換算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TechNode(2026-08-18)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Unitree公式の発信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自社Xアカウントで一次発表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『人類の限界を破る』と表現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Unitree公式X(2026-08-18)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『バズる』発表と正直な報道の両立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本テーマの制作方針についてです。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『ウサイン・ボルトより速い』という表現は話題性が高く、フックとして扱う価値がある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同時に、この数値が未検証の自社発表であることを本編中で明確に開示する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話題性のある見出しと、正直な内容紹介は両立できるという方針で本テーマを構成した</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読者が数値を鵜呑みにせず、正しく受け止められるよう配慮している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発表された数値の第三者による独立した検証の有無</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ペイロード条件・路面条件・測定方法・再現性の詳細な開示</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『人類の記録を上回る』という比較の測定条件上の妥当性</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本テーマは特定企業(Unitree)への投資推奨や、断定的な『世界記録達成』評価を行うものではなく、報じられた発表内容の紹介にとどめる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確認できている事実</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自社発表の数値(速度・跳躍)</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手を持たない設計</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3か月強の開発期間</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今後の不確定要素</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第三者検証の実施有無</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測定条件の詳細開示</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今後の製品化計画</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ロボティクス・AI技術の動向に関心がある立場として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移動特化型ロボットの技術的挑戦と、自社発表数値の扱い方の両方を把握する視点が役立つ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テック企業の発表を読み解く立場として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インパクトのある数値ほど、検証状況の確認が重要であるという視点が参考になる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中国のロボティクス産業を追う立場として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今回の発表と同時期の上場という文脈を踏まえつつ、両者を区別して見る視点が役立つ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Unitreeは2026年8月18日、新型ロボット『Superman』の最高速度12.66m/s等の数値を発表した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『人類最速を上回る』とされるが、これは自社デモ動画に基づく数値で第三者検証は確認できていない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Supermanは手を持たない、移動性能に特化した研究段階のプロジェクトである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検証状況や測定条件の詳細など、確認できていない点は正直に開示した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TechNode・Interesting Engineering(2026-08-18)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ウサイン・ボルトより速い?その真相を正直に。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Unitreeは2026年8月18日、新型ロボット『Superman』が人類最速を上回る数値を記録したと発表しました。この発表の中身と、第三者検証なしという重要な留保を、出典付きで正直に整理してお届けしました。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