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国内女子ゴルフCAT Ladies 2026で、吉田鈴選手が大混戦を制して今季2勝目を挙げました。何が起きたのか、出典付きで正確に整理してお届けします。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結論から確認します。吉田鈴選手が通算13アンダーで優勝し、今季2勝目を挙げました。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本日の流れです。大会概要から最終日の戦い、上位争い、そして確認できなかったことまで整理します。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大会当日中に複数メディアが報じた、鮮度の高い話題です。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CAT Ladies 2026は、2026年8月21日から23日まで、神奈川県の大箱根カントリークラブで開催されました。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CAT Ladies 2026は、大箱根カントリークラブで開催された総賞金8,000万円の大会です。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最終結果です。吉田選手が2位に2打差をつけて優勝しました。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最終日、吉田選手は無ボギーで4バーディーを奪う安定したプレーで、2位に2打差をつけました。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吉田選手の最終ラウンドは、無ボギーで4バーディーを奪う「68」でした。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3日間の大混戦の中、最終日の安定したプレーで優勝を勝ち取りました。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吉田選手は22歳で、今回の優勝は今季2勝目となりました。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2位以下も僅差の争いとなり、3位には3人の選手が並びました。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優勝した吉田選手には、総賞金8,000万円のうち1,440万円が贈られました。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初日から2日目にかけての大混戦を経て、最終日に吉田選手が抜け出しました。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会場の大箱根カントリークラブは、6,657ヤード・パー72のコースです。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確定していることと、まだ確認できていないことを整理します。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これらの項目は本調査の範囲では確認できておらず、推測で埋めていません。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大会最終日は2026年8月23日で、この日に吉田選手の優勝が決まりました。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優勝した吉田選手と2位の荒木選手を比較すると、最終日の安定したプレーが差を生みました。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国内女子ゴルフ界では、若手選手の活躍が続いており、今大会も接戦となりました。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複数の独立したメディアが最終結果を報じており、内容としての一貫性を確認しています。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総賞金額と優勝賞金は、異なる範囲の数字として区別する必要があります。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吉田選手は22歳で、今季2勝目という実績を積み重ねています。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今回の優勝の注目ポイントを3つにまとめました。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本テーマは、国内女子ゴルフツアーの最新結果として整理しています。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大会開幕から最終日の優勝決定までのタイムラインです。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上位はわずかな差でひしめき合う大混戦で、最終日まで優勝の行方が分かりませんでした。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吉田鈴選手は、CAT Ladies 2026で通算13アンダーの好スコアで今季2勝目を挙げました。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大会は3日間の日程で行われ、最終日に吉田選手が優勝を決めました。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本日は吉田鈴選手のCAT Ladies 2026優勝についてお届けしました。確認できなかったことは正直に開示しています。次回もお楽しみに。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C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" cy="45720"/>
          </a:xfrm>
          <a:prstGeom prst="rect">
            <a:avLst/>
          </a:prstGeom>
          <a:solidFill>
            <a:srgbClr val="00D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吉田鈴</a:t>
            </a:r>
          </a:p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無ボギー68で</a:t>
            </a:r>
          </a:p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大混戦を制す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FE8DE"/>
                </a:solidFill>
                <a:latin typeface="Yu Gothic"/>
              </a:rPr>
              <a:t>大箱根の激戦——出典付きで整理する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FC2AE"/>
                </a:solidFill>
                <a:latin typeface="Yu Gothic"/>
              </a:rPr>
              <a:t>出典: JLPGA公式(2026年8月23日)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C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" cy="45720"/>
          </a:xfrm>
          <a:prstGeom prst="rect">
            <a:avLst/>
          </a:prstGeom>
          <a:solidFill>
            <a:srgbClr val="00D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FE8DE"/>
                </a:solidFill>
                <a:latin typeface="Yu Gothic"/>
              </a:rPr>
              <a:t>まず結論から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00D2A0"/>
                </a:solidFill>
                <a:latin typeface="Yu Gothic"/>
              </a:rPr>
              <a:t>今季2勝目 通算13アンダー優勝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吉田鈴選手、CAT Ladies 2026制覇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FC2AE"/>
                </a:solidFill>
                <a:latin typeface="Yu Gothic"/>
              </a:rPr>
              <a:t>出典: JLPGA公式(2026-08-23)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C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" cy="45720"/>
          </a:xfrm>
          <a:prstGeom prst="rect">
            <a:avLst/>
          </a:prstGeom>
          <a:solidFill>
            <a:srgbClr val="00D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Yu Gothic"/>
              </a:rPr>
              <a:t>本日のアジェンダ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1B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3852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FE8DE"/>
                </a:solidFill>
                <a:latin typeface="Yu Gothic"/>
              </a:rPr>
              <a:t>なぜ今このテーマを扱うのか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1B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1576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FE8DE"/>
                </a:solidFill>
                <a:latin typeface="Yu Gothic"/>
              </a:rPr>
              <a:t>大会の概要を確認する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1B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9300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FE8DE"/>
                </a:solidFill>
                <a:latin typeface="Yu Gothic"/>
              </a:rPr>
              <a:t>最終日の戦いを確認する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1B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7024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FE8DE"/>
                </a:solidFill>
                <a:latin typeface="Yu Gothic"/>
              </a:rPr>
              <a:t>上位争いを確認する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1B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04748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FE8DE"/>
                </a:solidFill>
                <a:latin typeface="Yu Gothic"/>
              </a:rPr>
              <a:t>確認できなかったこと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C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559" cy="45720"/>
          </a:xfrm>
          <a:prstGeom prst="rect">
            <a:avLst/>
          </a:prstGeom>
          <a:solidFill>
            <a:srgbClr val="00D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2A2E"/>
                </a:solidFill>
                <a:latin typeface="Yu Gothic"/>
              </a:rPr>
              <a:t>なぜ今このテーマを扱うのか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00D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B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21C1F"/>
                </a:solidFill>
                <a:latin typeface="Yu Gothic"/>
              </a:rPr>
              <a:t>JLPGA公式・GDOゴルフニュース等が大会当日中に報道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B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21C1F"/>
                </a:solidFill>
                <a:latin typeface="Yu Gothic"/>
              </a:rPr>
              <a:t>無ボギー・4バーディーという安定した最終ラウンド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B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21C1F"/>
                </a:solidFill>
                <a:latin typeface="Yu Gothic"/>
              </a:rPr>
              <a:t>今季2勝目という節目の結果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7168"/>
                </a:solidFill>
                <a:latin typeface="Yu Gothic"/>
              </a:rPr>
              <a:t>出典: JLPGA公式(2026-08-23)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7168"/>
                </a:solidFill>
                <a:latin typeface="Yu Gothic"/>
              </a:rPr>
              <a:t>AI Company OS｜出典: JLPGA公式等(2026-08-23)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7168"/>
                </a:solidFill>
                <a:latin typeface="Yu Gothic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C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1949" cy="45720"/>
          </a:xfrm>
          <a:prstGeom prst="rect">
            <a:avLst/>
          </a:prstGeom>
          <a:solidFill>
            <a:srgbClr val="00D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FE8DE"/>
                </a:solidFill>
                <a:latin typeface="Yu Gothic"/>
              </a:rPr>
              <a:t>開催期間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00D2A0"/>
                </a:solidFill>
                <a:latin typeface="Yu Gothic"/>
              </a:rPr>
              <a:t>2026年8月21日〜23日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神奈川県・大箱根カントリークラブにて開催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FC2AE"/>
                </a:solidFill>
                <a:latin typeface="Yu Gothic"/>
              </a:rPr>
              <a:t>出典: JLPGA公式(2026-08-23)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C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8339" cy="45720"/>
          </a:xfrm>
          <a:prstGeom prst="rect">
            <a:avLst/>
          </a:prstGeom>
          <a:solidFill>
            <a:srgbClr val="00D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2A2E"/>
                </a:solidFill>
                <a:latin typeface="Yu Gothic"/>
              </a:rPr>
              <a:t>大会の概要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00D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B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21C1F"/>
                </a:solidFill>
                <a:latin typeface="Yu Gothic"/>
              </a:rPr>
              <a:t>国内女子ゴルフJLPGAツアー「CAT Ladies 2026」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B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21C1F"/>
                </a:solidFill>
                <a:latin typeface="Yu Gothic"/>
              </a:rPr>
              <a:t>会場は大箱根カントリークラブ(6,657ヤード、パー72)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B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21C1F"/>
                </a:solidFill>
                <a:latin typeface="Yu Gothic"/>
              </a:rPr>
              <a:t>総賞金額8,000万円、優勝賞金1,440万円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7168"/>
                </a:solidFill>
                <a:latin typeface="Yu Gothic"/>
              </a:rPr>
              <a:t>出典: JLPGA公式(2026-08-23)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7168"/>
                </a:solidFill>
                <a:latin typeface="Yu Gothic"/>
              </a:rPr>
              <a:t>AI Company OS｜出典: JLPGA公式等(2026-08-23)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7168"/>
                </a:solidFill>
                <a:latin typeface="Yu Gothic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C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44728" cy="45720"/>
          </a:xfrm>
          <a:prstGeom prst="rect">
            <a:avLst/>
          </a:prstGeom>
          <a:solidFill>
            <a:srgbClr val="00D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2A2E"/>
                </a:solidFill>
                <a:latin typeface="Yu Gothic"/>
              </a:rPr>
              <a:t>最終結果概要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00D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順位</a:t>
                      </a:r>
                    </a:p>
                  </a:txBody>
                  <a:tcPr>
                    <a:solidFill>
                      <a:srgbClr val="1B2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選手</a:t>
                      </a:r>
                    </a:p>
                  </a:txBody>
                  <a:tcPr>
                    <a:solidFill>
                      <a:srgbClr val="1B2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スコア</a:t>
                      </a:r>
                    </a:p>
                  </a:txBody>
                  <a:tcPr>
                    <a:solidFill>
                      <a:srgbClr val="1B2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21C1F"/>
                          </a:solidFill>
                          <a:latin typeface="Yu Gothic"/>
                        </a:defRPr>
                      </a:pPr>
                      <a:r>
                        <a:t>優勝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21C1F"/>
                          </a:solidFill>
                          <a:latin typeface="Yu Gothic"/>
                        </a:defRPr>
                      </a:pPr>
                      <a:r>
                        <a:t>吉田鈴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21C1F"/>
                          </a:solidFill>
                          <a:latin typeface="Yu Gothic"/>
                        </a:defRPr>
                      </a:pPr>
                      <a:r>
                        <a:t>通算13アンダー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21C1F"/>
                          </a:solidFill>
                          <a:latin typeface="Yu Gothic"/>
                        </a:defRPr>
                      </a:pPr>
                      <a:r>
                        <a:t>2位</a:t>
                      </a:r>
                    </a:p>
                  </a:txBody>
                  <a:tcPr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21C1F"/>
                          </a:solidFill>
                          <a:latin typeface="Yu Gothic"/>
                        </a:defRPr>
                      </a:pPr>
                      <a:r>
                        <a:t>荒木優奈</a:t>
                      </a:r>
                    </a:p>
                  </a:txBody>
                  <a:tcPr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21C1F"/>
                          </a:solidFill>
                          <a:latin typeface="Yu Gothic"/>
                        </a:defRPr>
                      </a:pPr>
                      <a:r>
                        <a:t>通算11アンダー</a:t>
                      </a:r>
                    </a:p>
                  </a:txBody>
                  <a:tcPr>
                    <a:solidFill>
                      <a:srgbClr val="F0F7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21C1F"/>
                          </a:solidFill>
                          <a:latin typeface="Yu Gothic"/>
                        </a:defRPr>
                      </a:pPr>
                      <a:r>
                        <a:t>3位タイ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21C1F"/>
                          </a:solidFill>
                          <a:latin typeface="Yu Gothic"/>
                        </a:defRPr>
                      </a:pPr>
                      <a:r>
                        <a:t>神谷そら・桑木志帆・河本結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21C1F"/>
                          </a:solidFill>
                          <a:latin typeface="Yu Gothic"/>
                        </a:defRPr>
                      </a:pPr>
                      <a:r>
                        <a:t>通算10アンダー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7168"/>
                </a:solidFill>
                <a:latin typeface="Yu Gothic"/>
              </a:rPr>
              <a:t>出典: JLPGA公式(2026-08-23)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7168"/>
                </a:solidFill>
                <a:latin typeface="Yu Gothic"/>
              </a:rPr>
              <a:t>AI Company OS｜出典: JLPGA公式等(2026-08-23)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7168"/>
                </a:solidFill>
                <a:latin typeface="Yu Gothic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C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51118" cy="45720"/>
          </a:xfrm>
          <a:prstGeom prst="rect">
            <a:avLst/>
          </a:prstGeom>
          <a:solidFill>
            <a:srgbClr val="00D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2A2E"/>
                </a:solidFill>
                <a:latin typeface="Yu Gothic"/>
              </a:rPr>
              <a:t>最終日の戦い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00D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B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21C1F"/>
                </a:solidFill>
                <a:latin typeface="Yu Gothic"/>
              </a:rPr>
              <a:t>吉田選手が無ボギー・4バーディーの「68」をマーク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B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21C1F"/>
                </a:solidFill>
                <a:latin typeface="Yu Gothic"/>
              </a:rPr>
              <a:t>大会記録に並ぶ好スコア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B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21C1F"/>
                </a:solidFill>
                <a:latin typeface="Yu Gothic"/>
              </a:rPr>
              <a:t>2位に2打差をつけて逃げ切り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7168"/>
                </a:solidFill>
                <a:latin typeface="Yu Gothic"/>
              </a:rPr>
              <a:t>出典: GDOゴルフニュース(2026-08-23)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7168"/>
                </a:solidFill>
                <a:latin typeface="Yu Gothic"/>
              </a:rPr>
              <a:t>AI Company OS｜出典: JLPGA公式等(2026-08-23)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7168"/>
                </a:solidFill>
                <a:latin typeface="Yu Gothic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C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508" cy="45720"/>
          </a:xfrm>
          <a:prstGeom prst="rect">
            <a:avLst/>
          </a:prstGeom>
          <a:solidFill>
            <a:srgbClr val="00D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FE8DE"/>
                </a:solidFill>
                <a:latin typeface="Yu Gothic"/>
              </a:rPr>
              <a:t>吉田選手の最終ラウンドスコア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00D2A0"/>
                </a:solidFill>
                <a:latin typeface="Yu Gothic"/>
              </a:rPr>
              <a:t>68(無ボギー・4バーディー)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大会記録に並ぶスコア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FC2AE"/>
                </a:solidFill>
                <a:latin typeface="Yu Gothic"/>
              </a:rPr>
              <a:t>出典: GDOゴルフニュース(2026-08-23)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C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00D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2A2E"/>
                </a:solidFill>
                <a:latin typeface="Yu Gothic"/>
              </a:rPr>
              <a:t>優勝までの流れ(概念図)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00D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0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B2A2E"/>
                </a:solidFill>
                <a:latin typeface="Yu Gothic"/>
              </a:rPr>
              <a:t>大会開幕(8/21)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0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B2A2E"/>
                </a:solidFill>
                <a:latin typeface="Yu Gothic"/>
              </a:rPr>
              <a:t>大混戦の上位争い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0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B2A2E"/>
                </a:solidFill>
                <a:latin typeface="Yu Gothic"/>
              </a:rPr>
              <a:t>最終日68で逃げ切り優勝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4805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5B7168"/>
                </a:solidFill>
                <a:latin typeface="Yu Gothic"/>
              </a:rPr>
              <a:t>3日間の大混戦を制した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7168"/>
                </a:solidFill>
                <a:latin typeface="Yu Gothic"/>
              </a:rPr>
              <a:t>AI Company OS｜出典: JLPGA公式等(2026-08-23)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7168"/>
                </a:solidFill>
                <a:latin typeface="Yu Gothic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C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70288" cy="45720"/>
          </a:xfrm>
          <a:prstGeom prst="rect">
            <a:avLst/>
          </a:prstGeom>
          <a:solidFill>
            <a:srgbClr val="00D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2A2E"/>
                </a:solidFill>
                <a:latin typeface="Yu Gothic"/>
              </a:rPr>
              <a:t>吉田選手のプロフィール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00D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1B2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1B2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21C1F"/>
                          </a:solidFill>
                          <a:latin typeface="Yu Gothic"/>
                        </a:defRPr>
                      </a:pPr>
                      <a:r>
                        <a:t>年齢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21C1F"/>
                          </a:solidFill>
                          <a:latin typeface="Yu Gothic"/>
                        </a:defRPr>
                      </a:pPr>
                      <a:r>
                        <a:t>22歳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21C1F"/>
                          </a:solidFill>
                          <a:latin typeface="Yu Gothic"/>
                        </a:defRPr>
                      </a:pPr>
                      <a:r>
                        <a:t>今回の実績</a:t>
                      </a:r>
                    </a:p>
                  </a:txBody>
                  <a:tcPr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21C1F"/>
                          </a:solidFill>
                          <a:latin typeface="Yu Gothic"/>
                        </a:defRPr>
                      </a:pPr>
                      <a:r>
                        <a:t>今季2勝目</a:t>
                      </a:r>
                    </a:p>
                  </a:txBody>
                  <a:tcPr>
                    <a:solidFill>
                      <a:srgbClr val="F0F7F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7168"/>
                </a:solidFill>
                <a:latin typeface="Yu Gothic"/>
              </a:rPr>
              <a:t>出典: JLPGA公式(2026-08-23)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7168"/>
                </a:solidFill>
                <a:latin typeface="Yu Gothic"/>
              </a:rPr>
              <a:t>AI Company OS｜出典: JLPGA公式等(2026-08-23)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7168"/>
                </a:solidFill>
                <a:latin typeface="Yu Gothic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C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76678" cy="45720"/>
          </a:xfrm>
          <a:prstGeom prst="rect">
            <a:avLst/>
          </a:prstGeom>
          <a:solidFill>
            <a:srgbClr val="00D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2A2E"/>
                </a:solidFill>
                <a:latin typeface="Yu Gothic"/>
              </a:rPr>
              <a:t>2位以下の争い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00D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B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21C1F"/>
                </a:solidFill>
                <a:latin typeface="Yu Gothic"/>
              </a:rPr>
              <a:t>2位は荒木優奈選手、通算11アンダー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B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21C1F"/>
                </a:solidFill>
                <a:latin typeface="Yu Gothic"/>
              </a:rPr>
              <a:t>3位タイに神谷そら選手・桑木志帆選手・河本結選手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B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21C1F"/>
                </a:solidFill>
                <a:latin typeface="Yu Gothic"/>
              </a:rPr>
              <a:t>3位タイの3選手は通算10アンダーで並ぶ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7168"/>
                </a:solidFill>
                <a:latin typeface="Yu Gothic"/>
              </a:rPr>
              <a:t>出典: JLPGA公式(2026-08-23)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7168"/>
                </a:solidFill>
                <a:latin typeface="Yu Gothic"/>
              </a:rPr>
              <a:t>AI Company OS｜出典: JLPGA公式等(2026-08-23)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7168"/>
                </a:solidFill>
                <a:latin typeface="Yu Gothic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C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283067" cy="45720"/>
          </a:xfrm>
          <a:prstGeom prst="rect">
            <a:avLst/>
          </a:prstGeom>
          <a:solidFill>
            <a:srgbClr val="00D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FE8DE"/>
                </a:solidFill>
                <a:latin typeface="Yu Gothic"/>
              </a:rPr>
              <a:t>優勝賞金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00D2A0"/>
                </a:solidFill>
                <a:latin typeface="Yu Gothic"/>
              </a:rPr>
              <a:t>1,440万円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総賞金額8,000万円のうち優勝者への分配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FC2AE"/>
                </a:solidFill>
                <a:latin typeface="Yu Gothic"/>
              </a:rPr>
              <a:t>出典: JLPGA公式(2026-08-23)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C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89457" cy="45720"/>
          </a:xfrm>
          <a:prstGeom prst="rect">
            <a:avLst/>
          </a:prstGeom>
          <a:solidFill>
            <a:srgbClr val="00D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2A2E"/>
                </a:solidFill>
                <a:latin typeface="Yu Gothic"/>
              </a:rPr>
              <a:t>大会の流れ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00D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0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1B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B2A2E"/>
                </a:solidFill>
                <a:latin typeface="Yu Gothic"/>
              </a:rPr>
              <a:t>初日〜2日目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7168"/>
                </a:solidFill>
                <a:latin typeface="Yu Gothic"/>
              </a:rPr>
              <a:t>大混戦の上位争いが展開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8295" y="3200400"/>
            <a:ext cx="234086" cy="365760"/>
          </a:xfrm>
          <a:prstGeom prst="chevron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0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2538" y="2011680"/>
            <a:ext cx="640080" cy="640080"/>
          </a:xfrm>
          <a:prstGeom prst="ellipse">
            <a:avLst/>
          </a:prstGeom>
          <a:solidFill>
            <a:srgbClr val="1B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B2A2E"/>
                </a:solidFill>
                <a:latin typeface="Yu Gothic"/>
              </a:rPr>
              <a:t>最終日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7168"/>
                </a:solidFill>
                <a:latin typeface="Yu Gothic"/>
              </a:rPr>
              <a:t>吉田選手が無ボギー68をマーク</a:t>
            </a:r>
          </a:p>
        </p:txBody>
      </p:sp>
      <p:sp>
        <p:nvSpPr>
          <p:cNvPr id="17" name="Chevron 16"/>
          <p:cNvSpPr/>
          <p:nvPr/>
        </p:nvSpPr>
        <p:spPr>
          <a:xfrm>
            <a:off x="7919313" y="3200400"/>
            <a:ext cx="234086" cy="365760"/>
          </a:xfrm>
          <a:prstGeom prst="chevron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4956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9236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0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3556" y="2011680"/>
            <a:ext cx="640080" cy="640080"/>
          </a:xfrm>
          <a:prstGeom prst="ellipse">
            <a:avLst/>
          </a:prstGeom>
          <a:solidFill>
            <a:srgbClr val="1B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B2A2E"/>
                </a:solidFill>
                <a:latin typeface="Yu Gothic"/>
              </a:rPr>
              <a:t>結果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556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7168"/>
                </a:solidFill>
                <a:latin typeface="Yu Gothic"/>
              </a:rPr>
              <a:t>通算13アンダーで今季2勝目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7168"/>
                </a:solidFill>
                <a:latin typeface="Yu Gothic"/>
              </a:rPr>
              <a:t>AI Company OS｜出典: JLPGA公式等(2026-08-23)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7168"/>
                </a:solidFill>
                <a:latin typeface="Yu Gothic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C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45720"/>
          </a:xfrm>
          <a:prstGeom prst="rect">
            <a:avLst/>
          </a:prstGeom>
          <a:solidFill>
            <a:srgbClr val="00D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2A2E"/>
                </a:solidFill>
                <a:latin typeface="Yu Gothic"/>
              </a:rPr>
              <a:t>会場について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00D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B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21C1F"/>
                </a:solidFill>
                <a:latin typeface="Yu Gothic"/>
              </a:rPr>
              <a:t>神奈川県・大箱根カントリークラブ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B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21C1F"/>
                </a:solidFill>
                <a:latin typeface="Yu Gothic"/>
              </a:rPr>
              <a:t>6,657ヤード、パー72の設計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B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21C1F"/>
                </a:solidFill>
                <a:latin typeface="Yu Gothic"/>
              </a:rPr>
              <a:t>3日間で計54ホールを戦う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7168"/>
                </a:solidFill>
                <a:latin typeface="Yu Gothic"/>
              </a:rPr>
              <a:t>AI Company OS｜出典: JLPGA公式等(2026-08-23)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7168"/>
                </a:solidFill>
                <a:latin typeface="Yu Gothic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C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02237" cy="45720"/>
          </a:xfrm>
          <a:prstGeom prst="rect">
            <a:avLst/>
          </a:prstGeom>
          <a:solidFill>
            <a:srgbClr val="00D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2A2E"/>
                </a:solidFill>
                <a:latin typeface="Yu Gothic"/>
              </a:rPr>
              <a:t>確定していること・確認できなかったこと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00D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区分</a:t>
                      </a:r>
                    </a:p>
                  </a:txBody>
                  <a:tcPr>
                    <a:solidFill>
                      <a:srgbClr val="1B2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1B2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21C1F"/>
                          </a:solidFill>
                          <a:latin typeface="Yu Gothic"/>
                        </a:defRPr>
                      </a:pPr>
                      <a:r>
                        <a:t>確定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21C1F"/>
                          </a:solidFill>
                          <a:latin typeface="Yu Gothic"/>
                        </a:defRPr>
                      </a:pPr>
                      <a:r>
                        <a:t>最終結果・スコア・賞金額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21C1F"/>
                          </a:solidFill>
                          <a:latin typeface="Yu Gothic"/>
                        </a:defRPr>
                      </a:pPr>
                      <a:r>
                        <a:t>確定</a:t>
                      </a:r>
                    </a:p>
                  </a:txBody>
                  <a:tcPr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21C1F"/>
                          </a:solidFill>
                          <a:latin typeface="Yu Gothic"/>
                        </a:defRPr>
                      </a:pPr>
                      <a:r>
                        <a:t>吉田選手の年齢・今季の勝利数</a:t>
                      </a:r>
                    </a:p>
                  </a:txBody>
                  <a:tcPr>
                    <a:solidFill>
                      <a:srgbClr val="F0F7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21C1F"/>
                          </a:solidFill>
                          <a:latin typeface="Yu Gothic"/>
                        </a:defRPr>
                      </a:pPr>
                      <a:r>
                        <a:t>未確認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21C1F"/>
                          </a:solidFill>
                          <a:latin typeface="Yu Gothic"/>
                        </a:defRPr>
                      </a:pPr>
                      <a:r>
                        <a:t>吉田選手の今季1勝目の詳細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7168"/>
                </a:solidFill>
                <a:latin typeface="Yu Gothic"/>
              </a:rPr>
              <a:t>出典: research.md参照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7168"/>
                </a:solidFill>
                <a:latin typeface="Yu Gothic"/>
              </a:rPr>
              <a:t>AI Company OS｜出典: JLPGA公式等(2026-08-23)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7168"/>
                </a:solidFill>
                <a:latin typeface="Yu Gothic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C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908627" cy="45720"/>
          </a:xfrm>
          <a:prstGeom prst="rect">
            <a:avLst/>
          </a:prstGeom>
          <a:solidFill>
            <a:srgbClr val="00D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2A2E"/>
                </a:solidFill>
                <a:latin typeface="Yu Gothic"/>
              </a:rPr>
              <a:t>確認できなかったこと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00D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B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21C1F"/>
                </a:solidFill>
                <a:latin typeface="Yu Gothic"/>
              </a:rPr>
              <a:t>吉田選手の1勝目(今季)の詳細な大会名・時期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B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21C1F"/>
                </a:solidFill>
                <a:latin typeface="Yu Gothic"/>
              </a:rPr>
              <a:t>大会最終日における具体的なホールごとのスコア推移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B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21C1F"/>
                </a:solidFill>
                <a:latin typeface="Yu Gothic"/>
              </a:rPr>
              <a:t>大会の観客動員数・視聴率等の詳細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7168"/>
                </a:solidFill>
                <a:latin typeface="Yu Gothic"/>
              </a:rPr>
              <a:t>AI Company OS｜出典: JLPGA公式等(2026-08-23)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7168"/>
                </a:solidFill>
                <a:latin typeface="Yu Gothic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C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017" cy="45720"/>
          </a:xfrm>
          <a:prstGeom prst="rect">
            <a:avLst/>
          </a:prstGeom>
          <a:solidFill>
            <a:srgbClr val="00D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FE8DE"/>
                </a:solidFill>
                <a:latin typeface="Yu Gothic"/>
              </a:rPr>
              <a:t>大会最終日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00D2A0"/>
                </a:solidFill>
                <a:latin typeface="Yu Gothic"/>
              </a:rPr>
              <a:t>2026年8月23日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吉田選手が優勝を決めた日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FC2AE"/>
                </a:solidFill>
                <a:latin typeface="Yu Gothic"/>
              </a:rPr>
              <a:t>出典: JLPGA公式(2026-08-23)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C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21406" cy="45720"/>
          </a:xfrm>
          <a:prstGeom prst="rect">
            <a:avLst/>
          </a:prstGeom>
          <a:solidFill>
            <a:srgbClr val="00D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2A2E"/>
                </a:solidFill>
                <a:latin typeface="Yu Gothic"/>
              </a:rPr>
              <a:t>吉田選手 vs 2位・荒木選手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00D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0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B2A2E"/>
                </a:solidFill>
                <a:latin typeface="Yu Gothic"/>
              </a:rPr>
              <a:t>吉田鈴選手(優勝)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1B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21C1F"/>
                </a:solidFill>
                <a:latin typeface="Yu Gothic"/>
              </a:rPr>
              <a:t>通算13アンダー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1B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21C1F"/>
                </a:solidFill>
                <a:latin typeface="Yu Gothic"/>
              </a:rPr>
              <a:t>最終日68(無ボギー)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0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B2A2E"/>
                </a:solidFill>
                <a:latin typeface="Yu Gothic"/>
              </a:rPr>
              <a:t>荒木優奈選手(2位)</a:t>
            </a:r>
          </a:p>
        </p:txBody>
      </p:sp>
      <p:sp>
        <p:nvSpPr>
          <p:cNvPr id="16" name="Oval 15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1B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21C1F"/>
                </a:solidFill>
                <a:latin typeface="Yu Gothic"/>
              </a:rPr>
              <a:t>通算11アンダー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1B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21C1F"/>
                </a:solidFill>
                <a:latin typeface="Yu Gothic"/>
              </a:rPr>
              <a:t>吉田選手に2打差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7168"/>
                </a:solidFill>
                <a:latin typeface="Yu Gothic"/>
              </a:rPr>
              <a:t>AI Company OS｜出典: JLPGA公式等(2026-08-23)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7168"/>
                </a:solidFill>
                <a:latin typeface="Yu Gothic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C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6" cy="45720"/>
          </a:xfrm>
          <a:prstGeom prst="rect">
            <a:avLst/>
          </a:prstGeom>
          <a:solidFill>
            <a:srgbClr val="00D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2A2E"/>
                </a:solidFill>
                <a:latin typeface="Yu Gothic"/>
              </a:rPr>
              <a:t>国内女子ゴルフ界の背景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00D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B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21C1F"/>
                </a:solidFill>
                <a:latin typeface="Yu Gothic"/>
              </a:rPr>
              <a:t>JLPGAツアーでは若手選手の活躍が続く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B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21C1F"/>
                </a:solidFill>
                <a:latin typeface="Yu Gothic"/>
              </a:rPr>
              <a:t>今大会も僅差の混戦となった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B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21C1F"/>
                </a:solidFill>
                <a:latin typeface="Yu Gothic"/>
              </a:rPr>
              <a:t>特定選手への過度な評価的表現は行わない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7168"/>
                </a:solidFill>
                <a:latin typeface="Yu Gothic"/>
              </a:rPr>
              <a:t>AI Company OS｜出典: JLPGA公式等(2026-08-23)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7168"/>
                </a:solidFill>
                <a:latin typeface="Yu Gothic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C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45720"/>
          </a:xfrm>
          <a:prstGeom prst="rect">
            <a:avLst/>
          </a:prstGeom>
          <a:solidFill>
            <a:srgbClr val="00D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2A2E"/>
                </a:solidFill>
                <a:latin typeface="Yu Gothic"/>
              </a:rPr>
              <a:t>主要出典の一覧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00D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メディア</a:t>
                      </a:r>
                    </a:p>
                  </a:txBody>
                  <a:tcPr>
                    <a:solidFill>
                      <a:srgbClr val="1B2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報道日</a:t>
                      </a:r>
                    </a:p>
                  </a:txBody>
                  <a:tcPr>
                    <a:solidFill>
                      <a:srgbClr val="1B2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21C1F"/>
                          </a:solidFill>
                          <a:latin typeface="Yu Gothic"/>
                        </a:defRPr>
                      </a:pPr>
                      <a:r>
                        <a:t>JLPGA公式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21C1F"/>
                          </a:solidFill>
                          <a:latin typeface="Yu Gothic"/>
                        </a:defRPr>
                      </a:pPr>
                      <a:r>
                        <a:t>2026年8月23日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21C1F"/>
                          </a:solidFill>
                          <a:latin typeface="Yu Gothic"/>
                        </a:defRPr>
                      </a:pPr>
                      <a:r>
                        <a:t>GDOゴルフニュース</a:t>
                      </a:r>
                    </a:p>
                  </a:txBody>
                  <a:tcPr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21C1F"/>
                          </a:solidFill>
                          <a:latin typeface="Yu Gothic"/>
                        </a:defRPr>
                      </a:pPr>
                      <a:r>
                        <a:t>2026年8月23日</a:t>
                      </a:r>
                    </a:p>
                  </a:txBody>
                  <a:tcPr>
                    <a:solidFill>
                      <a:srgbClr val="F0F7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21C1F"/>
                          </a:solidFill>
                          <a:latin typeface="Yu Gothic"/>
                        </a:defRPr>
                      </a:pPr>
                      <a:r>
                        <a:t>時事ドットコム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21C1F"/>
                          </a:solidFill>
                          <a:latin typeface="Yu Gothic"/>
                        </a:defRPr>
                      </a:pPr>
                      <a:r>
                        <a:t>2026年8月23日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7168"/>
                </a:solidFill>
                <a:latin typeface="Yu Gothic"/>
              </a:rPr>
              <a:t>AI Company OS｜出典: JLPGA公式等(2026-08-23)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7168"/>
                </a:solidFill>
                <a:latin typeface="Yu Gothic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C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940576" cy="45720"/>
          </a:xfrm>
          <a:prstGeom prst="rect">
            <a:avLst/>
          </a:prstGeom>
          <a:solidFill>
            <a:srgbClr val="00D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2A2E"/>
                </a:solidFill>
                <a:latin typeface="Yu Gothic"/>
              </a:rPr>
              <a:t>総賞金額 vs 優勝賞金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00D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0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B2A2E"/>
                </a:solidFill>
                <a:latin typeface="Yu Gothic"/>
              </a:rPr>
              <a:t>総賞金額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1B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21C1F"/>
                </a:solidFill>
                <a:latin typeface="Yu Gothic"/>
              </a:rPr>
              <a:t>8,000万円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1B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21C1F"/>
                </a:solidFill>
                <a:latin typeface="Yu Gothic"/>
              </a:rPr>
              <a:t>大会全体の規模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0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B2A2E"/>
                </a:solidFill>
                <a:latin typeface="Yu Gothic"/>
              </a:rPr>
              <a:t>優勝賞金</a:t>
            </a:r>
          </a:p>
        </p:txBody>
      </p:sp>
      <p:sp>
        <p:nvSpPr>
          <p:cNvPr id="16" name="Oval 15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1B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21C1F"/>
                </a:solidFill>
                <a:latin typeface="Yu Gothic"/>
              </a:rPr>
              <a:t>1,440万円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1B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21C1F"/>
                </a:solidFill>
                <a:latin typeface="Yu Gothic"/>
              </a:rPr>
              <a:t>吉田選手が獲得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7168"/>
                </a:solidFill>
                <a:latin typeface="Yu Gothic"/>
              </a:rPr>
              <a:t>AI Company OS｜出典: JLPGA公式等(2026-08-23)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7168"/>
                </a:solidFill>
                <a:latin typeface="Yu Gothi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C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346966" cy="45720"/>
          </a:xfrm>
          <a:prstGeom prst="rect">
            <a:avLst/>
          </a:prstGeom>
          <a:solidFill>
            <a:srgbClr val="00D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FE8DE"/>
                </a:solidFill>
                <a:latin typeface="Yu Gothic"/>
              </a:rPr>
              <a:t>吉田選手の年齢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00D2A0"/>
                </a:solidFill>
                <a:latin typeface="Yu Gothic"/>
              </a:rPr>
              <a:t>22歳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今季2勝目を挙げた若手選手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FC2AE"/>
                </a:solidFill>
                <a:latin typeface="Yu Gothic"/>
              </a:rPr>
              <a:t>出典: JLPGA公式(2026-08-23)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C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53356" cy="45720"/>
          </a:xfrm>
          <a:prstGeom prst="rect">
            <a:avLst/>
          </a:prstGeom>
          <a:solidFill>
            <a:srgbClr val="00D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2A2E"/>
                </a:solidFill>
                <a:latin typeface="Yu Gothic"/>
              </a:rPr>
              <a:t>今回の優勝の3つの注目ポイント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00D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0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B2A2E"/>
                </a:solidFill>
                <a:latin typeface="Yu 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7168"/>
                </a:solidFill>
                <a:latin typeface="Yu Gothic"/>
              </a:rPr>
              <a:t>無ボギー・4バーディーの安定した最終ラウンド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0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B2A2E"/>
                </a:solidFill>
                <a:latin typeface="Yu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7168"/>
                </a:solidFill>
                <a:latin typeface="Yu Gothic"/>
              </a:rPr>
              <a:t>大混戦を制した今季2勝目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0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B2A2E"/>
                </a:solidFill>
                <a:latin typeface="Yu Gothi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7168"/>
                </a:solidFill>
                <a:latin typeface="Yu Gothic"/>
              </a:rPr>
              <a:t>22歳という若さでの活躍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7168"/>
                </a:solidFill>
                <a:latin typeface="Yu Gothic"/>
              </a:rPr>
              <a:t>AI Company OS｜出典: JLPGA公式等(2026-08-23)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7168"/>
                </a:solidFill>
                <a:latin typeface="Yu Gothic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C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59746" cy="45720"/>
          </a:xfrm>
          <a:prstGeom prst="rect">
            <a:avLst/>
          </a:prstGeom>
          <a:solidFill>
            <a:srgbClr val="00D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2A2E"/>
                </a:solidFill>
                <a:latin typeface="Yu Gothic"/>
              </a:rPr>
              <a:t>視聴者にとっての意味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00D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B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21C1F"/>
                </a:solidFill>
                <a:latin typeface="Yu Gothic"/>
              </a:rPr>
              <a:t>国内女子ゴルフファンに直接関係する最新結果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B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21C1F"/>
                </a:solidFill>
                <a:latin typeface="Yu Gothic"/>
              </a:rPr>
              <a:t>若手選手の活躍という話題性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B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21C1F"/>
                </a:solidFill>
                <a:latin typeface="Yu Gothic"/>
              </a:rPr>
              <a:t>特定選手・大会への過度な評価的表現は行わない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7168"/>
                </a:solidFill>
                <a:latin typeface="Yu Gothic"/>
              </a:rPr>
              <a:t>AI Company OS｜出典: JLPGA公式等(2026-08-23)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7168"/>
                </a:solidFill>
                <a:latin typeface="Yu Gothic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C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66135" cy="45720"/>
          </a:xfrm>
          <a:prstGeom prst="rect">
            <a:avLst/>
          </a:prstGeom>
          <a:solidFill>
            <a:srgbClr val="00D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2A2E"/>
                </a:solidFill>
                <a:latin typeface="Yu Gothic"/>
              </a:rPr>
              <a:t>タイムライン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00D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時期</a:t>
                      </a:r>
                    </a:p>
                  </a:txBody>
                  <a:tcPr>
                    <a:solidFill>
                      <a:srgbClr val="1B2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できごと</a:t>
                      </a:r>
                    </a:p>
                  </a:txBody>
                  <a:tcPr>
                    <a:solidFill>
                      <a:srgbClr val="1B2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21C1F"/>
                          </a:solidFill>
                          <a:latin typeface="Yu Gothic"/>
                        </a:defRPr>
                      </a:pPr>
                      <a:r>
                        <a:t>2026年8月21日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21C1F"/>
                          </a:solidFill>
                          <a:latin typeface="Yu Gothic"/>
                        </a:defRPr>
                      </a:pPr>
                      <a:r>
                        <a:t>CAT Ladies 2026開幕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21C1F"/>
                          </a:solidFill>
                          <a:latin typeface="Yu Gothic"/>
                        </a:defRPr>
                      </a:pPr>
                      <a:r>
                        <a:t>2026年8月22日</a:t>
                      </a:r>
                    </a:p>
                  </a:txBody>
                  <a:tcPr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21C1F"/>
                          </a:solidFill>
                          <a:latin typeface="Yu Gothic"/>
                        </a:defRPr>
                      </a:pPr>
                      <a:r>
                        <a:t>2日目、大混戦が展開</a:t>
                      </a:r>
                    </a:p>
                  </a:txBody>
                  <a:tcPr>
                    <a:solidFill>
                      <a:srgbClr val="F0F7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21C1F"/>
                          </a:solidFill>
                          <a:latin typeface="Yu Gothic"/>
                        </a:defRPr>
                      </a:pPr>
                      <a:r>
                        <a:t>2026年8月23日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21C1F"/>
                          </a:solidFill>
                          <a:latin typeface="Yu Gothic"/>
                        </a:defRPr>
                      </a:pPr>
                      <a:r>
                        <a:t>最終日、吉田選手が68で優勝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7168"/>
                </a:solidFill>
                <a:latin typeface="Yu Gothic"/>
              </a:rPr>
              <a:t>AI Company OS｜出典: JLPGA公式等(2026-08-23)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7168"/>
                </a:solidFill>
                <a:latin typeface="Yu Gothic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C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525" cy="45720"/>
          </a:xfrm>
          <a:prstGeom prst="rect">
            <a:avLst/>
          </a:prstGeom>
          <a:solidFill>
            <a:srgbClr val="00D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2A2E"/>
                </a:solidFill>
                <a:latin typeface="Yu Gothic"/>
              </a:rPr>
              <a:t>接戦だった上位争い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00D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B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21C1F"/>
                </a:solidFill>
                <a:latin typeface="Yu Gothic"/>
              </a:rPr>
              <a:t>2位との差はわずか2打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B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21C1F"/>
                </a:solidFill>
                <a:latin typeface="Yu Gothic"/>
              </a:rPr>
              <a:t>3位タイには3選手が並ぶ大混戦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B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21C1F"/>
                </a:solidFill>
                <a:latin typeface="Yu Gothic"/>
              </a:rPr>
              <a:t>最終日まで優勝の行方が分からない展開だった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7168"/>
                </a:solidFill>
                <a:latin typeface="Yu Gothic"/>
              </a:rPr>
              <a:t>AI Company OS｜出典: JLPGA公式等(2026-08-23)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7168"/>
                </a:solidFill>
                <a:latin typeface="Yu Gothic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C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78915" cy="45720"/>
          </a:xfrm>
          <a:prstGeom prst="rect">
            <a:avLst/>
          </a:prstGeom>
          <a:solidFill>
            <a:srgbClr val="00D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FE8DE"/>
                </a:solidFill>
                <a:latin typeface="Yu Gothic"/>
              </a:rPr>
              <a:t>今日のまとめの数字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00D2A0"/>
                </a:solidFill>
                <a:latin typeface="Yu Gothic"/>
              </a:rPr>
              <a:t>今季2勝目 通算13アンダー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吉田鈴選手、CAT Ladies 2026(2026年8月23日)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FC2AE"/>
                </a:solidFill>
                <a:latin typeface="Yu Gothic"/>
              </a:rPr>
              <a:t>出典: JLPGA公式(2026-08-23)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C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785305" cy="45720"/>
          </a:xfrm>
          <a:prstGeom prst="rect">
            <a:avLst/>
          </a:prstGeom>
          <a:solidFill>
            <a:srgbClr val="00D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2A2E"/>
                </a:solidFill>
                <a:latin typeface="Yu Gothic"/>
              </a:rPr>
              <a:t>大会3日間の日程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00D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日程</a:t>
                      </a:r>
                    </a:p>
                  </a:txBody>
                  <a:tcPr>
                    <a:solidFill>
                      <a:srgbClr val="1B2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1B2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21C1F"/>
                          </a:solidFill>
                          <a:latin typeface="Yu Gothic"/>
                        </a:defRPr>
                      </a:pPr>
                      <a:r>
                        <a:t>8月21日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21C1F"/>
                          </a:solidFill>
                          <a:latin typeface="Yu Gothic"/>
                        </a:defRPr>
                      </a:pPr>
                      <a:r>
                        <a:t>大会初日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21C1F"/>
                          </a:solidFill>
                          <a:latin typeface="Yu Gothic"/>
                        </a:defRPr>
                      </a:pPr>
                      <a:r>
                        <a:t>8月22日</a:t>
                      </a:r>
                    </a:p>
                  </a:txBody>
                  <a:tcPr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21C1F"/>
                          </a:solidFill>
                          <a:latin typeface="Yu Gothic"/>
                        </a:defRPr>
                      </a:pPr>
                      <a:r>
                        <a:t>大会2日目、大混戦が展開</a:t>
                      </a:r>
                    </a:p>
                  </a:txBody>
                  <a:tcPr>
                    <a:solidFill>
                      <a:srgbClr val="F0F7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21C1F"/>
                          </a:solidFill>
                          <a:latin typeface="Yu Gothic"/>
                        </a:defRPr>
                      </a:pPr>
                      <a:r>
                        <a:t>8月23日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21C1F"/>
                          </a:solidFill>
                          <a:latin typeface="Yu Gothic"/>
                        </a:defRPr>
                      </a:pPr>
                      <a:r>
                        <a:t>最終日、吉田選手が68で優勝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7168"/>
                </a:solidFill>
                <a:latin typeface="Yu Gothic"/>
              </a:rPr>
              <a:t>出典: JLPGA公式(2026-08-23)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7168"/>
                </a:solidFill>
                <a:latin typeface="Yu Gothic"/>
              </a:rPr>
              <a:t>AI Company OS｜出典: JLPGA公式等(2026-08-23)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7168"/>
                </a:solidFill>
                <a:latin typeface="Yu Gothic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C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出典付きで、正確に。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CFE8DE"/>
                </a:solidFill>
                <a:latin typeface="Yu Gothic"/>
              </a:rPr>
              <a:t>AI Company OSは、確認できた事実だけをお届けします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626864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F0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28032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B2A2E"/>
                </a:solidFill>
                <a:latin typeface="Yu Gothic"/>
              </a:rPr>
              <a:t>次回もお楽しみに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