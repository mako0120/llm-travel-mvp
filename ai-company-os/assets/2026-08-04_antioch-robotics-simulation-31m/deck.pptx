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金額(万ドル)</c:v>
                </c:pt>
              </c:strCache>
            </c:strRef>
          </c:tx>
          <c:spPr>
            <a:solidFill>
              <a:srgbClr val="2E2A72"/>
            </a:solidFill>
          </c:spPr>
          <c:cat>
            <c:strRef>
              <c:f>Sheet1!$A$2:$A$4</c:f>
              <c:strCache>
                <c:ptCount val="3"/>
                <c:pt idx="0">
                  <c:v>以前のシード</c:v>
                </c:pt>
                <c:pt idx="1">
                  <c:v>今回のラウンド</c:v>
                </c:pt>
                <c:pt idx="2">
                  <c:v>累計</c:v>
                </c:pt>
              </c:strCache>
            </c:strRef>
          </c:cat>
          <c:val>
            <c:numRef>
              <c:f>Sheet1!$B$2:$B$4</c:f>
              <c:numCache>
                <c:formatCode>General</c:formatCode>
                <c:ptCount val="3"/>
                <c:pt idx="0">
                  <c:v>850</c:v>
                </c:pt>
                <c:pt idx="1">
                  <c:v>3140</c:v>
                </c:pt>
                <c:pt idx="2">
                  <c:v>4400</c:v>
                </c:pt>
              </c:numCache>
            </c:numRef>
          </c:val>
        </c:ser>
        <c:dLbls>
          <c:numFmt formatCode="#,##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ロボットを壊さずに鍛える、シミュレーションだけの道場に3,140万ドルです。元Tesla Autopilot開発者が創業したロボティクスシミュレーション基盤企業Antiochに、新たな資金調達がSEC提出書類によって判明しました。しかも発表はまさに今日、2026年8月4日です。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Antiochとはどんな会社か、シミュレーションだけでロボットを鍛えるとはどういうことか、新旧の資金調達の違い、出典の性質についての重要な注意、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何が起きたのか整理します。Antiochが、SEC提出書類に基づき新たに3,140万ドルの資金調達を行ったことが、2026年8月4日、AlleyWatchの報道により判明しました。投資家数は8名、募集総額は3,200万ドルです。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新たな調達額はこちら、3,140万ドルです。SEC提出書類に基づいて判明した金額で、企業自身のプレスリリースによるものではありません。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調達概要を表にまとめました。企業名はAntioch、事業領域はロボティクスシミュレーション基盤、今回判明した調達額は3,140万ドル、投資家数は8名、累計は4,400万ドルです。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ochとはどんな会社か紹介します。ロボティクスチームがソフトウェアだけで自律システムを構築・テスト・展開できるシミュレーション基盤を提供し、コストと時間のかかる実機テストへの依存を減らすことを狙いとしています。2025年創業、本拠地はニューヨーク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創業者を紹介します。Harry Mellsop氏はTeslaのAutopilotチームに在籍していた経歴を持ちます。Alex Langshur氏・Colton Swingle氏・Collin Schlager氏とともに、2025年に4名で共同創業しました。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ロボットの開発では通常、実際にロボットを動かして試す実機テストが必要ですが、時間がかかり、失敗すれば壊れてコストもかかります。Antiochはこの一部を、ソフトウェア上のシミュレーションだけで代替すること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シミュレーション活用の開発フローを概要で示します。仮想空間で自律システムを構築し、シミュレーションで繰り返しテストしてから、検証済みのシステムを現場の実機に展開します。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実機テスト中心の開発とAntiochのアプローチを比較します。従来は実際にロボットを動かして試験しますが、Antiochはソフトウェア上のシミュレーションで構築・テスト・展開し、実機テストへの依存を減らすことを狙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資金調達の歩みを紹介します。2026年4〜5月ごろに850万ドルのシード資金調達を発表し、今回SEC提出書類により3,140万ドルの調達が判明しました。累計調達額は4,400万ドルに達するとされています。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以前の850万ドルシードと、今回の3,140万ドルのラウンドを混同しないよう整理します。金額も発表時期も情報源も異なり、投資家がシードと同じかどうかも確認できていません。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調達額の推移をグラフにしました。以前のシードが850万ドル、今回のラウンドが3,140万ドル、累計が4,400万ドルです。累計が単純合計と一致しない点は後ほど説明します。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累計調達額はこちら、4,400万ドルです。以前のシードと今回のラウンドを含む数字として出典に記載されていますが、単純合計とは一致しない点は後ほど説明します。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SEC提出書類、Form Dについて説明します。企業が私募を行った際にSECへ提出する届出書類で、投資家数や募集総額は分かりますが、主導投資家名や資金使途までは通常記載されません。AlleyWatchはこの書類を確認して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重要な注意点です。鮮度はこのシリーズで最高水準ですが、出典は企業自身のプレスリリースではなく、SEC提出書類を報じた二次情報のみです。そのため主導投資家名や資金使途は確認できていません。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確認できたこと・できなかったことを正直に整理します。調達額や投資家数、募集総額は確認できていますが、主導投資家名や資金使途、顧客数、売上、企業評価額は確認できていません。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未確認事項を一覧にしました。主導投資家名、投資家の個別名、資金使途、顧客数、売上、企業評価額、いずれも本調査の範囲では確認できていません。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について、分かっていることと分かっていないことを整理します。投資家数は8名、募集総額は3,200万ドルと分かっていますが、主導投資家名や個別名、以前のシード投資家との関係は分か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ロボティクスにシミュレーションが重要かを概要で示します。実機テストは時間とコストがかかり失敗すれば機体が壊れますが、シミュレーションなら破損リスクなく繰り返し試験でき、開発サイクルの短縮を目指せ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理AIとロボティクスシミュレーション基盤を比較します。物理AIはロボットが現実世界で作業しますが、Antiochが手がけるロボティクスシミュレーション基盤は、ソフトウェア上で開発・テスト・展開を完結させ、実機依存を減らすことを目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自律システムや人型ロボット開発が各社で加速する中での資金調達と位置づけられますが、Antioch固有の市場シェアや競合比較は確認できていません。あくまで推測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今回のニュースの3つのポイントです。元Tesla Autopilotチームの創業者が率いること、着手日当日という鮮度、そして主導投資家名や資金使途が未確認という情報の厚みの薄さです。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round79評価表からの開示です。評価スコアは73/100で、着手日当日という鮮度や分かりやすいフックが評価された一方、出典がSEC提出書類の報道のみである点が懸念点として明記されています。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鮮度について開示します。本発表は着手日と同日であり、これまでのシリーズの中でも最高水準の鮮度です。ただし、鮮度の高さが出典の薄さを補うものではないことをあらためて明記します。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公平性・中立性について開示します。実在企業名・人物名はテキストとしてのみ使用し、特定企業・製品の利用を強く推奨する結論にはしていません。政治的・地政学的な論評も行っていません。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出典一覧です。今回の3,140万ドルはAlleyWatch、以前の850万ドルのシードについてはRoboticsAndAutomationNews・SiliconANGLE・The Robot Reportという独立した複数の情報源です。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既存テーマとの関係を確認しました。Antiochを主題とした既存テーマはなく、Gritt・Atoms等の物理AI系テーマとも事業内容が異なるため重複ではありません。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壊さず鍛えたロボットが現場に出る日、そして主導投資家の名前が明かされる日はいつでしょうか。Antiochの続報を、確認できたこと・できなかったことを区別しながら注目していきましょう。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ntiochが、SEC提出書類により新たに3,140万ドルの資金調達を行ったことが2026年8月4日に判明しました。鮮度は最高水準ですが、出典の薄さ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ロボットを壊さずに鍛える。元Teslaオートパイロット開発者が作った『シミュレーションだけの道場』に3,140万ドル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Antioch、ロボティクスシミュレーション基盤で3,140万ドル調達(SEC提出書類による、2026年8月4日発表)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AlleyWatch(2026-08-04)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何が起きたのか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Antiochとはどんな会社か</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『シミュレーションだけでロボットを鍛える』とはどういうことか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新しい3,140万ドルと、以前の850万ドルシードの違い</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出典の性質についての重要な注意(SEC提出書類報道であること)</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Antiochが、SEC提出書類(Form D)に基づき新たに3,140万ドルの資金調達を行ったことが判明</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2026年8月4日、AlleyWatchの報道により明らかになった</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本クローズの投資家数は8名、Form Dが示す募集総額は3,200万ドル</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累計調達額は4,400万ドルに達するとされる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AlleyWatch(2026-08-04)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新たな調達額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3,140万ドル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SEC提出書類(Form D)に基づく、2026年8月4日判明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AlleyWatch(2026-08-04)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調達概要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企業名</a:t>
                      </a:r>
                    </a:p>
                  </a:txBody>
                  <a:tcPr>
                    <a:solidFill>
                      <a:srgbClr val="FFFFFF"/>
                    </a:solidFill>
                  </a:tcPr>
                </a:tc>
                <a:tc>
                  <a:txBody>
                    <a:bodyPr/>
                    <a:lstStyle/>
                    <a:p>
                      <a:pPr>
                        <a:defRPr sz="1200">
                          <a:solidFill>
                            <a:srgbClr val="1C1B33"/>
                          </a:solidFill>
                          <a:latin typeface="Yu Gothic"/>
                        </a:defRPr>
                      </a:pPr>
                      <a:r>
                        <a:t>Antioch</a:t>
                      </a:r>
                    </a:p>
                  </a:txBody>
                  <a:tcPr>
                    <a:solidFill>
                      <a:srgbClr val="FFFFFF"/>
                    </a:solidFill>
                  </a:tcPr>
                </a:tc>
              </a:tr>
              <a:tr h="502920">
                <a:tc>
                  <a:txBody>
                    <a:bodyPr/>
                    <a:lstStyle/>
                    <a:p>
                      <a:pPr>
                        <a:defRPr sz="1200">
                          <a:solidFill>
                            <a:srgbClr val="1C1B33"/>
                          </a:solidFill>
                          <a:latin typeface="Yu Gothic"/>
                        </a:defRPr>
                      </a:pPr>
                      <a:r>
                        <a:t>事業領域</a:t>
                      </a:r>
                    </a:p>
                  </a:txBody>
                  <a:tcPr>
                    <a:solidFill>
                      <a:srgbClr val="F4F3FC"/>
                    </a:solidFill>
                  </a:tcPr>
                </a:tc>
                <a:tc>
                  <a:txBody>
                    <a:bodyPr/>
                    <a:lstStyle/>
                    <a:p>
                      <a:pPr>
                        <a:defRPr sz="1200">
                          <a:solidFill>
                            <a:srgbClr val="1C1B33"/>
                          </a:solidFill>
                          <a:latin typeface="Yu Gothic"/>
                        </a:defRPr>
                      </a:pPr>
                      <a:r>
                        <a:t>ロボティクスシミュレーション基盤</a:t>
                      </a:r>
                    </a:p>
                  </a:txBody>
                  <a:tcPr>
                    <a:solidFill>
                      <a:srgbClr val="F4F3FC"/>
                    </a:solidFill>
                  </a:tcPr>
                </a:tc>
              </a:tr>
              <a:tr h="502920">
                <a:tc>
                  <a:txBody>
                    <a:bodyPr/>
                    <a:lstStyle/>
                    <a:p>
                      <a:pPr>
                        <a:defRPr sz="1200">
                          <a:solidFill>
                            <a:srgbClr val="1C1B33"/>
                          </a:solidFill>
                          <a:latin typeface="Yu Gothic"/>
                        </a:defRPr>
                      </a:pPr>
                      <a:r>
                        <a:t>今回判明した調達額</a:t>
                      </a:r>
                    </a:p>
                  </a:txBody>
                  <a:tcPr>
                    <a:solidFill>
                      <a:srgbClr val="FFFFFF"/>
                    </a:solidFill>
                  </a:tcPr>
                </a:tc>
                <a:tc>
                  <a:txBody>
                    <a:bodyPr/>
                    <a:lstStyle/>
                    <a:p>
                      <a:pPr>
                        <a:defRPr sz="1200">
                          <a:solidFill>
                            <a:srgbClr val="1C1B33"/>
                          </a:solidFill>
                          <a:latin typeface="Yu Gothic"/>
                        </a:defRPr>
                      </a:pPr>
                      <a:r>
                        <a:t>3,140万ドル(Form D募集総額は3,200万ドル)</a:t>
                      </a:r>
                    </a:p>
                  </a:txBody>
                  <a:tcPr>
                    <a:solidFill>
                      <a:srgbClr val="FFFFFF"/>
                    </a:solidFill>
                  </a:tcPr>
                </a:tc>
              </a:tr>
              <a:tr h="502920">
                <a:tc>
                  <a:txBody>
                    <a:bodyPr/>
                    <a:lstStyle/>
                    <a:p>
                      <a:pPr>
                        <a:defRPr sz="1200">
                          <a:solidFill>
                            <a:srgbClr val="1C1B33"/>
                          </a:solidFill>
                          <a:latin typeface="Yu Gothic"/>
                        </a:defRPr>
                      </a:pPr>
                      <a:r>
                        <a:t>投資家数(本クローズ)</a:t>
                      </a:r>
                    </a:p>
                  </a:txBody>
                  <a:tcPr>
                    <a:solidFill>
                      <a:srgbClr val="F4F3FC"/>
                    </a:solidFill>
                  </a:tcPr>
                </a:tc>
                <a:tc>
                  <a:txBody>
                    <a:bodyPr/>
                    <a:lstStyle/>
                    <a:p>
                      <a:pPr>
                        <a:defRPr sz="1200">
                          <a:solidFill>
                            <a:srgbClr val="1C1B33"/>
                          </a:solidFill>
                          <a:latin typeface="Yu Gothic"/>
                        </a:defRPr>
                      </a:pPr>
                      <a:r>
                        <a:t>8名</a:t>
                      </a:r>
                    </a:p>
                  </a:txBody>
                  <a:tcPr>
                    <a:solidFill>
                      <a:srgbClr val="F4F3FC"/>
                    </a:solidFill>
                  </a:tcPr>
                </a:tc>
              </a:tr>
              <a:tr h="502920">
                <a:tc>
                  <a:txBody>
                    <a:bodyPr/>
                    <a:lstStyle/>
                    <a:p>
                      <a:pPr>
                        <a:defRPr sz="1200">
                          <a:solidFill>
                            <a:srgbClr val="1C1B33"/>
                          </a:solidFill>
                          <a:latin typeface="Yu Gothic"/>
                        </a:defRPr>
                      </a:pPr>
                      <a:r>
                        <a:t>累計調達額</a:t>
                      </a:r>
                    </a:p>
                  </a:txBody>
                  <a:tcPr>
                    <a:solidFill>
                      <a:srgbClr val="FFFFFF"/>
                    </a:solidFill>
                  </a:tcPr>
                </a:tc>
                <a:tc>
                  <a:txBody>
                    <a:bodyPr/>
                    <a:lstStyle/>
                    <a:p>
                      <a:pPr>
                        <a:defRPr sz="1200">
                          <a:solidFill>
                            <a:srgbClr val="1C1B33"/>
                          </a:solidFill>
                          <a:latin typeface="Yu Gothic"/>
                        </a:defRPr>
                      </a:pPr>
                      <a:r>
                        <a:t>4,400万ドル</a:t>
                      </a:r>
                    </a:p>
                  </a:txBody>
                  <a:tcPr>
                    <a:solidFill>
                      <a:srgbClr val="FFFFFF"/>
                    </a:solidFill>
                  </a:tcPr>
                </a:tc>
              </a:tr>
              <a:tr h="502920">
                <a:tc>
                  <a:txBody>
                    <a:bodyPr/>
                    <a:lstStyle/>
                    <a:p>
                      <a:pPr>
                        <a:defRPr sz="1200">
                          <a:solidFill>
                            <a:srgbClr val="1C1B33"/>
                          </a:solidFill>
                          <a:latin typeface="Yu Gothic"/>
                        </a:defRPr>
                      </a:pPr>
                      <a:r>
                        <a:t>判明日</a:t>
                      </a:r>
                    </a:p>
                  </a:txBody>
                  <a:tcPr>
                    <a:solidFill>
                      <a:srgbClr val="F4F3FC"/>
                    </a:solidFill>
                  </a:tcPr>
                </a:tc>
                <a:tc>
                  <a:txBody>
                    <a:bodyPr/>
                    <a:lstStyle/>
                    <a:p>
                      <a:pPr>
                        <a:defRPr sz="1200">
                          <a:solidFill>
                            <a:srgbClr val="1C1B33"/>
                          </a:solidFill>
                          <a:latin typeface="Yu Gothic"/>
                        </a:defRPr>
                      </a:pPr>
                      <a:r>
                        <a:t>2026年8月4日</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Antiochとは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事業内容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ロボティクスチームがソフトウェアだけで自律システムを構築・テスト・展開できるシミュレーション基盤を提供</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創業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2025年創業、本拠地はニューヨーク</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狙い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コストと時間のかかる実機テストへの依存を減らすこと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創業者紹介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Harry Mellsop氏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共同創業者。TeslaのAutopilotチームに在籍していた経歴を持つ</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Alex Langshur氏・Colton Swingle氏・Collin Schlager氏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共同創業者。3名の詳細な前職は本調査の範囲では確認できていない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創業年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2025年、4名で共同創業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 『シミュレーションだけでロボットを鍛える』とは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ロボットの開発では通常、実際にロボットを動かして試す『実機テスト』が必要</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実機テストは時間がかかり、失敗すればロボットが壊れコストもかかる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Antiochはこの実機テストの一部を、ソフトウェア上のシミュレーションだけで代替することを目指す</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『仮想空間で鍛えてから現場に出す』という考え方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シミュレーション活用の開発フロー(概要)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仮想空間で構築</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ソフトウェア上で自律システムを設計</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シミュレーションでテスト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仮想空間で繰り返し試験、破損リスクなし</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現場へ展開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検証済みのシステムを実機に展開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従来の実機テスト中心の開発 vs Antiochのアプローチ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従来の実機テスト中心の開発</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実際にロボットを動かして試験する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失敗すれば機体が壊れ、時間もコストもかかる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Antiochのアプローチ(ソフトウェアのみ)</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ソフトウェア上のシミュレーションで構築・テスト・展開</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実機テストへの依存を減らすことを狙う</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資金調達の歩み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シード(以前)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2026年4〜5月ごろ、850万ドルのシード資金調達を別途発表</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新ラウンド(今回)</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SEC提出書類により3,140万ドルの調達が判明、2026年8月4日</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累計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累計調達額は4,400万ドルに達するとされる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以前の850万ドルシード vs 今回の3,140万ドル(混同しないための整理)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以前のシード</a:t>
                      </a:r>
                    </a:p>
                  </a:txBody>
                  <a:tcPr>
                    <a:solidFill>
                      <a:srgbClr val="2E2A72"/>
                    </a:solidFill>
                  </a:tcPr>
                </a:tc>
                <a:tc>
                  <a:txBody>
                    <a:bodyPr/>
                    <a:lstStyle/>
                    <a:p>
                      <a:pPr>
                        <a:defRPr sz="1300" b="1">
                          <a:solidFill>
                            <a:srgbClr val="FFFFFF"/>
                          </a:solidFill>
                          <a:latin typeface="Yu Gothic"/>
                        </a:defRPr>
                      </a:pPr>
                      <a:r>
                        <a:t>今回のラウンド</a:t>
                      </a:r>
                    </a:p>
                  </a:txBody>
                  <a:tcPr>
                    <a:solidFill>
                      <a:srgbClr val="2E2A72"/>
                    </a:solidFill>
                  </a:tcPr>
                </a:tc>
              </a:tr>
              <a:tr h="502920">
                <a:tc>
                  <a:txBody>
                    <a:bodyPr/>
                    <a:lstStyle/>
                    <a:p>
                      <a:pPr>
                        <a:defRPr sz="1200">
                          <a:solidFill>
                            <a:srgbClr val="1C1B33"/>
                          </a:solidFill>
                          <a:latin typeface="Yu Gothic"/>
                        </a:defRPr>
                      </a:pPr>
                      <a:r>
                        <a:t>金額</a:t>
                      </a:r>
                    </a:p>
                  </a:txBody>
                  <a:tcPr>
                    <a:solidFill>
                      <a:srgbClr val="FFFFFF"/>
                    </a:solidFill>
                  </a:tcPr>
                </a:tc>
                <a:tc>
                  <a:txBody>
                    <a:bodyPr/>
                    <a:lstStyle/>
                    <a:p>
                      <a:pPr>
                        <a:defRPr sz="1200">
                          <a:solidFill>
                            <a:srgbClr val="1C1B33"/>
                          </a:solidFill>
                          <a:latin typeface="Yu Gothic"/>
                        </a:defRPr>
                      </a:pPr>
                      <a:r>
                        <a:t>850万ドル</a:t>
                      </a:r>
                    </a:p>
                  </a:txBody>
                  <a:tcPr>
                    <a:solidFill>
                      <a:srgbClr val="FFFFFF"/>
                    </a:solidFill>
                  </a:tcPr>
                </a:tc>
                <a:tc>
                  <a:txBody>
                    <a:bodyPr/>
                    <a:lstStyle/>
                    <a:p>
                      <a:pPr>
                        <a:defRPr sz="1200">
                          <a:solidFill>
                            <a:srgbClr val="1C1B33"/>
                          </a:solidFill>
                          <a:latin typeface="Yu Gothic"/>
                        </a:defRPr>
                      </a:pPr>
                      <a:r>
                        <a:t>3,140万ドル</a:t>
                      </a:r>
                    </a:p>
                  </a:txBody>
                  <a:tcPr>
                    <a:solidFill>
                      <a:srgbClr val="FFFFFF"/>
                    </a:solidFill>
                  </a:tcPr>
                </a:tc>
              </a:tr>
              <a:tr h="502920">
                <a:tc>
                  <a:txBody>
                    <a:bodyPr/>
                    <a:lstStyle/>
                    <a:p>
                      <a:pPr>
                        <a:defRPr sz="1200">
                          <a:solidFill>
                            <a:srgbClr val="1C1B33"/>
                          </a:solidFill>
                          <a:latin typeface="Yu Gothic"/>
                        </a:defRPr>
                      </a:pPr>
                      <a:r>
                        <a:t>発表・判明時期</a:t>
                      </a:r>
                    </a:p>
                  </a:txBody>
                  <a:tcPr>
                    <a:solidFill>
                      <a:srgbClr val="F4F3FC"/>
                    </a:solidFill>
                  </a:tcPr>
                </a:tc>
                <a:tc>
                  <a:txBody>
                    <a:bodyPr/>
                    <a:lstStyle/>
                    <a:p>
                      <a:pPr>
                        <a:defRPr sz="1200">
                          <a:solidFill>
                            <a:srgbClr val="1C1B33"/>
                          </a:solidFill>
                          <a:latin typeface="Yu Gothic"/>
                        </a:defRPr>
                      </a:pPr>
                      <a:r>
                        <a:t>2026年4〜5月ごろ</a:t>
                      </a:r>
                    </a:p>
                  </a:txBody>
                  <a:tcPr>
                    <a:solidFill>
                      <a:srgbClr val="F4F3FC"/>
                    </a:solidFill>
                  </a:tcPr>
                </a:tc>
                <a:tc>
                  <a:txBody>
                    <a:bodyPr/>
                    <a:lstStyle/>
                    <a:p>
                      <a:pPr>
                        <a:defRPr sz="1200">
                          <a:solidFill>
                            <a:srgbClr val="1C1B33"/>
                          </a:solidFill>
                          <a:latin typeface="Yu Gothic"/>
                        </a:defRPr>
                      </a:pPr>
                      <a:r>
                        <a:t>2026年8月4日判明</a:t>
                      </a:r>
                    </a:p>
                  </a:txBody>
                  <a:tcPr>
                    <a:solidFill>
                      <a:srgbClr val="F4F3FC"/>
                    </a:solidFill>
                  </a:tcPr>
                </a:tc>
              </a:tr>
              <a:tr h="502920">
                <a:tc>
                  <a:txBody>
                    <a:bodyPr/>
                    <a:lstStyle/>
                    <a:p>
                      <a:pPr>
                        <a:defRPr sz="1200">
                          <a:solidFill>
                            <a:srgbClr val="1C1B33"/>
                          </a:solidFill>
                          <a:latin typeface="Yu Gothic"/>
                        </a:defRPr>
                      </a:pPr>
                      <a:r>
                        <a:t>情報源</a:t>
                      </a:r>
                    </a:p>
                  </a:txBody>
                  <a:tcPr>
                    <a:solidFill>
                      <a:srgbClr val="FFFFFF"/>
                    </a:solidFill>
                  </a:tcPr>
                </a:tc>
                <a:tc>
                  <a:txBody>
                    <a:bodyPr/>
                    <a:lstStyle/>
                    <a:p>
                      <a:pPr>
                        <a:defRPr sz="1200">
                          <a:solidFill>
                            <a:srgbClr val="1C1B33"/>
                          </a:solidFill>
                          <a:latin typeface="Yu Gothic"/>
                        </a:defRPr>
                      </a:pPr>
                      <a:r>
                        <a:t>企業側の発表を報じた報道(RoboticsAndAutomationNews等)</a:t>
                      </a:r>
                    </a:p>
                  </a:txBody>
                  <a:tcPr>
                    <a:solidFill>
                      <a:srgbClr val="FFFFFF"/>
                    </a:solidFill>
                  </a:tcPr>
                </a:tc>
                <a:tc>
                  <a:txBody>
                    <a:bodyPr/>
                    <a:lstStyle/>
                    <a:p>
                      <a:pPr>
                        <a:defRPr sz="1200">
                          <a:solidFill>
                            <a:srgbClr val="1C1B33"/>
                          </a:solidFill>
                          <a:latin typeface="Yu Gothic"/>
                        </a:defRPr>
                      </a:pPr>
                      <a:r>
                        <a:t>SEC提出書類(Form D)を報じた二次情報(AlleyWatch)</a:t>
                      </a:r>
                    </a:p>
                  </a:txBody>
                  <a:tcPr>
                    <a:solidFill>
                      <a:srgbClr val="FFFFFF"/>
                    </a:solidFill>
                  </a:tcPr>
                </a:tc>
              </a:tr>
              <a:tr h="502920">
                <a:tc>
                  <a:txBody>
                    <a:bodyPr/>
                    <a:lstStyle/>
                    <a:p>
                      <a:pPr>
                        <a:defRPr sz="1200">
                          <a:solidFill>
                            <a:srgbClr val="1C1B33"/>
                          </a:solidFill>
                          <a:latin typeface="Yu Gothic"/>
                        </a:defRPr>
                      </a:pPr>
                      <a:r>
                        <a:t>投資家の特定</a:t>
                      </a:r>
                    </a:p>
                  </a:txBody>
                  <a:tcPr>
                    <a:solidFill>
                      <a:srgbClr val="F4F3FC"/>
                    </a:solidFill>
                  </a:tcPr>
                </a:tc>
                <a:tc>
                  <a:txBody>
                    <a:bodyPr/>
                    <a:lstStyle/>
                    <a:p>
                      <a:pPr>
                        <a:defRPr sz="1200">
                          <a:solidFill>
                            <a:srgbClr val="1C1B33"/>
                          </a:solidFill>
                          <a:latin typeface="Yu Gothic"/>
                        </a:defRPr>
                      </a:pPr>
                      <a:r>
                        <a:t>本調査の範囲では投資家名の詳細は未確認</a:t>
                      </a:r>
                    </a:p>
                  </a:txBody>
                  <a:tcPr>
                    <a:solidFill>
                      <a:srgbClr val="F4F3FC"/>
                    </a:solidFill>
                  </a:tcPr>
                </a:tc>
                <a:tc>
                  <a:txBody>
                    <a:bodyPr/>
                    <a:lstStyle/>
                    <a:p>
                      <a:pPr>
                        <a:defRPr sz="1200">
                          <a:solidFill>
                            <a:srgbClr val="1C1B33"/>
                          </a:solidFill>
                          <a:latin typeface="Yu Gothic"/>
                        </a:defRPr>
                      </a:pPr>
                      <a:r>
                        <a:t>主導投資家名・個別の投資家名は未確認(8名という人数のみ判明)</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調達額の推移(万ドル、出典に基づく数字)</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AlleyWatch(2026-08-04)・RoboticsAndAutomationNews(2026-05-03)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4,400万ドル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以前のシード(850万ドル)+今回のラウンド(3,140万ドル)を含む、出典記載の累計値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AlleyWatch(2026-08-04)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 SEC提出書類(Form D)とは何か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Form Dは、企業が私募(非公開の株式売却)を行った際にSECへ提出する届出書類</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投資家数・募集総額などの概要が記載されるが、詳細な内訳は開示義務がない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企業自身のプレスリリースとは異なり、主導投資家名や資金使途までは通常記載されない</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AlleyWatchはこの提出書類を確認して今回の3,140万ドルを報じた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重要な注意: 鮮度は最高水準、しかし出典はSEC提出書類のみ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鮮度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発表(判明)は着手日(2026年8月4日)当日。このシリーズで最高水準の鮮度</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出典の性質</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企業自身のプレスリリースではなく、SEC提出書類(Form D)を報じた二次情報(AlleyWatch)のみ</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結果として</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主導投資家名・投資家個別名・資金使途は確認できていない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調達額(3,140万ドル)・投資家数(8名)・募集総額(3,200万ドル)は提出書類報道として確認</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主導投資家名・8名それぞれの個別名・資金使途は確認できていない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現在の顧客数・売上・企業評価額は確認できていない</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以前のシード投資家が今回も参加しているかは確認できていない(推測で埋めない)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AlleyWatch(2026-08-04)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未確認事項一覧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主導投資家名</a:t>
                      </a:r>
                    </a:p>
                  </a:txBody>
                  <a:tcPr>
                    <a:solidFill>
                      <a:srgbClr val="FFFFFF"/>
                    </a:solidFill>
                  </a:tcPr>
                </a:tc>
                <a:tc>
                  <a:txBody>
                    <a:bodyPr/>
                    <a:lstStyle/>
                    <a:p>
                      <a:pPr>
                        <a:defRPr sz="1200">
                          <a:solidFill>
                            <a:srgbClr val="1C1B33"/>
                          </a:solidFill>
                          <a:latin typeface="Yu Gothic"/>
                        </a:defRPr>
                      </a:pPr>
                      <a:r>
                        <a:t>未確認</a:t>
                      </a:r>
                    </a:p>
                  </a:txBody>
                  <a:tcPr>
                    <a:solidFill>
                      <a:srgbClr val="FFFFFF"/>
                    </a:solidFill>
                  </a:tcPr>
                </a:tc>
              </a:tr>
              <a:tr h="502920">
                <a:tc>
                  <a:txBody>
                    <a:bodyPr/>
                    <a:lstStyle/>
                    <a:p>
                      <a:pPr>
                        <a:defRPr sz="1200">
                          <a:solidFill>
                            <a:srgbClr val="1C1B33"/>
                          </a:solidFill>
                          <a:latin typeface="Yu Gothic"/>
                        </a:defRPr>
                      </a:pPr>
                      <a:r>
                        <a:t>8名の投資家の個別名</a:t>
                      </a:r>
                    </a:p>
                  </a:txBody>
                  <a:tcPr>
                    <a:solidFill>
                      <a:srgbClr val="F4F3FC"/>
                    </a:solidFill>
                  </a:tcPr>
                </a:tc>
                <a:tc>
                  <a:txBody>
                    <a:bodyPr/>
                    <a:lstStyle/>
                    <a:p>
                      <a:pPr>
                        <a:defRPr sz="1200">
                          <a:solidFill>
                            <a:srgbClr val="1C1B33"/>
                          </a:solidFill>
                          <a:latin typeface="Yu Gothic"/>
                        </a:defRPr>
                      </a:pPr>
                      <a:r>
                        <a:t>未確認</a:t>
                      </a:r>
                    </a:p>
                  </a:txBody>
                  <a:tcPr>
                    <a:solidFill>
                      <a:srgbClr val="F4F3FC"/>
                    </a:solidFill>
                  </a:tcPr>
                </a:tc>
              </a:tr>
              <a:tr h="502920">
                <a:tc>
                  <a:txBody>
                    <a:bodyPr/>
                    <a:lstStyle/>
                    <a:p>
                      <a:pPr>
                        <a:defRPr sz="1200">
                          <a:solidFill>
                            <a:srgbClr val="1C1B33"/>
                          </a:solidFill>
                          <a:latin typeface="Yu Gothic"/>
                        </a:defRPr>
                      </a:pPr>
                      <a:r>
                        <a:t>資金使途</a:t>
                      </a:r>
                    </a:p>
                  </a:txBody>
                  <a:tcPr>
                    <a:solidFill>
                      <a:srgbClr val="FFFFFF"/>
                    </a:solidFill>
                  </a:tcPr>
                </a:tc>
                <a:tc>
                  <a:txBody>
                    <a:bodyPr/>
                    <a:lstStyle/>
                    <a:p>
                      <a:pPr>
                        <a:defRPr sz="1200">
                          <a:solidFill>
                            <a:srgbClr val="1C1B33"/>
                          </a:solidFill>
                          <a:latin typeface="Yu Gothic"/>
                        </a:defRPr>
                      </a:pPr>
                      <a:r>
                        <a:t>未確認</a:t>
                      </a:r>
                    </a:p>
                  </a:txBody>
                  <a:tcPr>
                    <a:solidFill>
                      <a:srgbClr val="FFFFFF"/>
                    </a:solidFill>
                  </a:tcPr>
                </a:tc>
              </a:tr>
              <a:tr h="502920">
                <a:tc>
                  <a:txBody>
                    <a:bodyPr/>
                    <a:lstStyle/>
                    <a:p>
                      <a:pPr>
                        <a:defRPr sz="1200">
                          <a:solidFill>
                            <a:srgbClr val="1C1B33"/>
                          </a:solidFill>
                          <a:latin typeface="Yu Gothic"/>
                        </a:defRPr>
                      </a:pPr>
                      <a:r>
                        <a:t>現在の顧客数</a:t>
                      </a:r>
                    </a:p>
                  </a:txBody>
                  <a:tcPr>
                    <a:solidFill>
                      <a:srgbClr val="F4F3FC"/>
                    </a:solidFill>
                  </a:tcPr>
                </a:tc>
                <a:tc>
                  <a:txBody>
                    <a:bodyPr/>
                    <a:lstStyle/>
                    <a:p>
                      <a:pPr>
                        <a:defRPr sz="1200">
                          <a:solidFill>
                            <a:srgbClr val="1C1B33"/>
                          </a:solidFill>
                          <a:latin typeface="Yu Gothic"/>
                        </a:defRPr>
                      </a:pPr>
                      <a:r>
                        <a:t>未確認</a:t>
                      </a:r>
                    </a:p>
                  </a:txBody>
                  <a:tcPr>
                    <a:solidFill>
                      <a:srgbClr val="F4F3FC"/>
                    </a:solidFill>
                  </a:tcPr>
                </a:tc>
              </a:tr>
              <a:tr h="502920">
                <a:tc>
                  <a:txBody>
                    <a:bodyPr/>
                    <a:lstStyle/>
                    <a:p>
                      <a:pPr>
                        <a:defRPr sz="1200">
                          <a:solidFill>
                            <a:srgbClr val="1C1B33"/>
                          </a:solidFill>
                          <a:latin typeface="Yu Gothic"/>
                        </a:defRPr>
                      </a:pPr>
                      <a:r>
                        <a:t>売上・収益</a:t>
                      </a:r>
                    </a:p>
                  </a:txBody>
                  <a:tcPr>
                    <a:solidFill>
                      <a:srgbClr val="FFFFFF"/>
                    </a:solidFill>
                  </a:tcPr>
                </a:tc>
                <a:tc>
                  <a:txBody>
                    <a:bodyPr/>
                    <a:lstStyle/>
                    <a:p>
                      <a:pPr>
                        <a:defRPr sz="1200">
                          <a:solidFill>
                            <a:srgbClr val="1C1B33"/>
                          </a:solidFill>
                          <a:latin typeface="Yu Gothic"/>
                        </a:defRPr>
                      </a:pPr>
                      <a:r>
                        <a:t>未確認</a:t>
                      </a:r>
                    </a:p>
                  </a:txBody>
                  <a:tcPr>
                    <a:solidFill>
                      <a:srgbClr val="FFFFFF"/>
                    </a:solidFill>
                  </a:tcPr>
                </a:tc>
              </a:tr>
              <a:tr h="502920">
                <a:tc>
                  <a:txBody>
                    <a:bodyPr/>
                    <a:lstStyle/>
                    <a:p>
                      <a:pPr>
                        <a:defRPr sz="1200">
                          <a:solidFill>
                            <a:srgbClr val="1C1B33"/>
                          </a:solidFill>
                          <a:latin typeface="Yu Gothic"/>
                        </a:defRPr>
                      </a:pPr>
                      <a:r>
                        <a:t>企業評価額(バリュエーション)</a:t>
                      </a:r>
                    </a:p>
                  </a:txBody>
                  <a:tcPr>
                    <a:solidFill>
                      <a:srgbClr val="F4F3FC"/>
                    </a:solidFill>
                  </a:tcPr>
                </a:tc>
                <a:tc>
                  <a:txBody>
                    <a:bodyPr/>
                    <a:lstStyle/>
                    <a:p>
                      <a:pPr>
                        <a:defRPr sz="1200">
                          <a:solidFill>
                            <a:srgbClr val="1C1B33"/>
                          </a:solidFill>
                          <a:latin typeface="Yu Gothic"/>
                        </a:defRPr>
                      </a:pPr>
                      <a:r>
                        <a:t>未確認</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投資家について、分かっていること・分かっていないこと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本クローズの投資家数は8名、Form Dの募集総額は3,200万ドル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主導投資家名、8名それぞれの社名・個人名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以前のシードとの関係</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以前のシード投資家と同一かどうかは出典に記載がなく、推測しない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なぜロボティクスにシミュレーションが重要か(概要)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実機テストの制約</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時間がかかり、失敗すれば機体が壊れコストがかかる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シミュレーションでの代替</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仮想空間で繰り返し試験、破損リスクなし</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開発サイクルの短縮</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Antiochが目指す方向性(企業紹介より)</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物理AI(現実世界で稼働) vs ロボティクスシミュレーション基盤(仮想空間のみ)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物理AI(現実世界で稼働するロボット)</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ロボットが実際の現場で作業を行う</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実機での稼働実績が価値の中心になる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ロボティクスシミュレーション基盤(Antiochの領域)</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ソフトウェア上でロボットの開発・テスト・展開を完結させることを目指す</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実機テストへの依存を減らすことが価値の中心</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業界文脈(ここからは推測、確定情報ではない)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自律システム・人型ロボット開発が各社で加速している中での資金調達と位置づけられる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シミュレーション基盤への投資需要が高まっている可能性がある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ただしAntioch固有の市場シェア・競合比較は本調査の範囲では確認できていない</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ここからは一般的な業界文脈の推測であり、確定した情報ではない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今回のニュースの3つのポイント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1. 元Tesla Autopilotチームの創業者</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Harry Mellsop氏がAntiochを共同創業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2. 着手日当日の鮮度</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2026年8月4日、SEC提出書類報道により判明</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3. 情報の厚みは薄い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主導投資家名・資金使途は未確認、プレスリリースではない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round79評価表からの開示(スコア73/100)</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評価スコア</a:t>
                      </a:r>
                    </a:p>
                  </a:txBody>
                  <a:tcPr>
                    <a:solidFill>
                      <a:srgbClr val="FFFFFF"/>
                    </a:solidFill>
                  </a:tcPr>
                </a:tc>
                <a:tc>
                  <a:txBody>
                    <a:bodyPr/>
                    <a:lstStyle/>
                    <a:p>
                      <a:pPr>
                        <a:defRPr sz="1200">
                          <a:solidFill>
                            <a:srgbClr val="1C1B33"/>
                          </a:solidFill>
                          <a:latin typeface="Yu Gothic"/>
                        </a:defRPr>
                      </a:pPr>
                      <a:r>
                        <a:t>73/100(通常の採用基準70点をやや上回る)</a:t>
                      </a:r>
                    </a:p>
                  </a:txBody>
                  <a:tcPr>
                    <a:solidFill>
                      <a:srgbClr val="FFFFFF"/>
                    </a:solidFill>
                  </a:tcPr>
                </a:tc>
              </a:tr>
              <a:tr h="502920">
                <a:tc>
                  <a:txBody>
                    <a:bodyPr/>
                    <a:lstStyle/>
                    <a:p>
                      <a:pPr>
                        <a:defRPr sz="1200">
                          <a:solidFill>
                            <a:srgbClr val="1C1B33"/>
                          </a:solidFill>
                          <a:latin typeface="Yu Gothic"/>
                        </a:defRPr>
                      </a:pPr>
                      <a:r>
                        <a:t>採用理由</a:t>
                      </a:r>
                    </a:p>
                  </a:txBody>
                  <a:tcPr>
                    <a:solidFill>
                      <a:srgbClr val="F4F3FC"/>
                    </a:solidFill>
                  </a:tcPr>
                </a:tc>
                <a:tc>
                  <a:txBody>
                    <a:bodyPr/>
                    <a:lstStyle/>
                    <a:p>
                      <a:pPr>
                        <a:defRPr sz="1200">
                          <a:solidFill>
                            <a:srgbClr val="1C1B33"/>
                          </a:solidFill>
                          <a:latin typeface="Yu Gothic"/>
                        </a:defRPr>
                      </a:pPr>
                      <a:r>
                        <a:t>着手日当日という最高水準の鮮度、分かりやすいフック、元Tesla Autopilotチームという経歴</a:t>
                      </a:r>
                    </a:p>
                  </a:txBody>
                  <a:tcPr>
                    <a:solidFill>
                      <a:srgbClr val="F4F3FC"/>
                    </a:solidFill>
                  </a:tcPr>
                </a:tc>
              </a:tr>
              <a:tr h="502920">
                <a:tc>
                  <a:txBody>
                    <a:bodyPr/>
                    <a:lstStyle/>
                    <a:p>
                      <a:pPr>
                        <a:defRPr sz="1200">
                          <a:solidFill>
                            <a:srgbClr val="1C1B33"/>
                          </a:solidFill>
                          <a:latin typeface="Yu Gothic"/>
                        </a:defRPr>
                      </a:pPr>
                      <a:r>
                        <a:t>懸念点</a:t>
                      </a:r>
                    </a:p>
                  </a:txBody>
                  <a:tcPr>
                    <a:solidFill>
                      <a:srgbClr val="FFFFFF"/>
                    </a:solidFill>
                  </a:tcPr>
                </a:tc>
                <a:tc>
                  <a:txBody>
                    <a:bodyPr/>
                    <a:lstStyle/>
                    <a:p>
                      <a:pPr>
                        <a:defRPr sz="1200">
                          <a:solidFill>
                            <a:srgbClr val="1C1B33"/>
                          </a:solidFill>
                          <a:latin typeface="Yu Gothic"/>
                        </a:defRPr>
                      </a:pPr>
                      <a:r>
                        <a:t>出典がSEC提出書類の報道のみで、企業公式発表と比べて情報の厚みに欠ける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鮮度についての開示(このシリーズで最高水準)</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本発表(判明)は2026年8月4日、着手日と同日である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docs/06_Content_R&amp;D.mdの鮮度基準(着手日の前日以内)を明確に満たしている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これまでこのシリーズで制作した全テーマの中でも最高水準の鮮度</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ただし鮮度の高さは出典の薄さを補うものではないことを明記する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実在企業名・人物名はテキストとしてのみ使用し、ロゴ・写真は使用しない</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特定企業・特定製品の利用を強く推奨する結論にはしていない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政治的・地政学的な論評は行っていない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日付</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AlleyWatch</a:t>
                      </a:r>
                    </a:p>
                  </a:txBody>
                  <a:tcPr>
                    <a:solidFill>
                      <a:srgbClr val="FFFFFF"/>
                    </a:solidFill>
                  </a:tcPr>
                </a:tc>
                <a:tc>
                  <a:txBody>
                    <a:bodyPr/>
                    <a:lstStyle/>
                    <a:p>
                      <a:pPr>
                        <a:defRPr sz="1200">
                          <a:solidFill>
                            <a:srgbClr val="1C1B33"/>
                          </a:solidFill>
                          <a:latin typeface="Yu Gothic"/>
                        </a:defRPr>
                      </a:pPr>
                      <a:r>
                        <a:t>2026-08-04</a:t>
                      </a:r>
                    </a:p>
                  </a:txBody>
                  <a:tcPr>
                    <a:solidFill>
                      <a:srgbClr val="FFFFFF"/>
                    </a:solidFill>
                  </a:tcPr>
                </a:tc>
                <a:tc>
                  <a:txBody>
                    <a:bodyPr/>
                    <a:lstStyle/>
                    <a:p>
                      <a:pPr>
                        <a:defRPr sz="1200">
                          <a:solidFill>
                            <a:srgbClr val="1C1B33"/>
                          </a:solidFill>
                          <a:latin typeface="Yu Gothic"/>
                        </a:defRPr>
                      </a:pPr>
                      <a:r>
                        <a:t>今回の3,140万ドル・SEC提出書類・投資家8名</a:t>
                      </a:r>
                    </a:p>
                  </a:txBody>
                  <a:tcPr>
                    <a:solidFill>
                      <a:srgbClr val="FFFFFF"/>
                    </a:solidFill>
                  </a:tcPr>
                </a:tc>
              </a:tr>
              <a:tr h="502920">
                <a:tc>
                  <a:txBody>
                    <a:bodyPr/>
                    <a:lstStyle/>
                    <a:p>
                      <a:pPr>
                        <a:defRPr sz="1200">
                          <a:solidFill>
                            <a:srgbClr val="1C1B33"/>
                          </a:solidFill>
                          <a:latin typeface="Yu Gothic"/>
                        </a:defRPr>
                      </a:pPr>
                      <a:r>
                        <a:t>RoboticsAndAutomationNews</a:t>
                      </a:r>
                    </a:p>
                  </a:txBody>
                  <a:tcPr>
                    <a:solidFill>
                      <a:srgbClr val="F4F3FC"/>
                    </a:solidFill>
                  </a:tcPr>
                </a:tc>
                <a:tc>
                  <a:txBody>
                    <a:bodyPr/>
                    <a:lstStyle/>
                    <a:p>
                      <a:pPr>
                        <a:defRPr sz="1200">
                          <a:solidFill>
                            <a:srgbClr val="1C1B33"/>
                          </a:solidFill>
                          <a:latin typeface="Yu Gothic"/>
                        </a:defRPr>
                      </a:pPr>
                      <a:r>
                        <a:t>2026-05-03</a:t>
                      </a:r>
                    </a:p>
                  </a:txBody>
                  <a:tcPr>
                    <a:solidFill>
                      <a:srgbClr val="F4F3FC"/>
                    </a:solidFill>
                  </a:tcPr>
                </a:tc>
                <a:tc>
                  <a:txBody>
                    <a:bodyPr/>
                    <a:lstStyle/>
                    <a:p>
                      <a:pPr>
                        <a:defRPr sz="1200">
                          <a:solidFill>
                            <a:srgbClr val="1C1B33"/>
                          </a:solidFill>
                          <a:latin typeface="Yu Gothic"/>
                        </a:defRPr>
                      </a:pPr>
                      <a:r>
                        <a:t>以前のシード(850万ドル)の背景情報</a:t>
                      </a:r>
                    </a:p>
                  </a:txBody>
                  <a:tcPr>
                    <a:solidFill>
                      <a:srgbClr val="F4F3FC"/>
                    </a:solidFill>
                  </a:tcPr>
                </a:tc>
              </a:tr>
              <a:tr h="502920">
                <a:tc>
                  <a:txBody>
                    <a:bodyPr/>
                    <a:lstStyle/>
                    <a:p>
                      <a:pPr>
                        <a:defRPr sz="1200">
                          <a:solidFill>
                            <a:srgbClr val="1C1B33"/>
                          </a:solidFill>
                          <a:latin typeface="Yu Gothic"/>
                        </a:defRPr>
                      </a:pPr>
                      <a:r>
                        <a:t>SiliconANGLE</a:t>
                      </a:r>
                    </a:p>
                  </a:txBody>
                  <a:tcPr>
                    <a:solidFill>
                      <a:srgbClr val="FFFFFF"/>
                    </a:solidFill>
                  </a:tcPr>
                </a:tc>
                <a:tc>
                  <a:txBody>
                    <a:bodyPr/>
                    <a:lstStyle/>
                    <a:p>
                      <a:pPr>
                        <a:defRPr sz="1200">
                          <a:solidFill>
                            <a:srgbClr val="1C1B33"/>
                          </a:solidFill>
                          <a:latin typeface="Yu Gothic"/>
                        </a:defRPr>
                      </a:pPr>
                      <a:r>
                        <a:t>2026-04-16</a:t>
                      </a:r>
                    </a:p>
                  </a:txBody>
                  <a:tcPr>
                    <a:solidFill>
                      <a:srgbClr val="FFFFFF"/>
                    </a:solidFill>
                  </a:tcPr>
                </a:tc>
                <a:tc>
                  <a:txBody>
                    <a:bodyPr/>
                    <a:lstStyle/>
                    <a:p>
                      <a:pPr>
                        <a:defRPr sz="1200">
                          <a:solidFill>
                            <a:srgbClr val="1C1B33"/>
                          </a:solidFill>
                          <a:latin typeface="Yu Gothic"/>
                        </a:defRPr>
                      </a:pPr>
                      <a:r>
                        <a:t>以前のシード(850万ドル)の背景情報</a:t>
                      </a:r>
                    </a:p>
                  </a:txBody>
                  <a:tcPr>
                    <a:solidFill>
                      <a:srgbClr val="FFFFFF"/>
                    </a:solidFill>
                  </a:tcPr>
                </a:tc>
              </a:tr>
              <a:tr h="502920">
                <a:tc>
                  <a:txBody>
                    <a:bodyPr/>
                    <a:lstStyle/>
                    <a:p>
                      <a:pPr>
                        <a:defRPr sz="1200">
                          <a:solidFill>
                            <a:srgbClr val="1C1B33"/>
                          </a:solidFill>
                          <a:latin typeface="Yu Gothic"/>
                        </a:defRPr>
                      </a:pPr>
                      <a:r>
                        <a:t>The Robot Report</a:t>
                      </a:r>
                    </a:p>
                  </a:txBody>
                  <a:tcPr>
                    <a:solidFill>
                      <a:srgbClr val="F4F3FC"/>
                    </a:solidFill>
                  </a:tcPr>
                </a:tc>
                <a:tc>
                  <a:txBody>
                    <a:bodyPr/>
                    <a:lstStyle/>
                    <a:p>
                      <a:pPr>
                        <a:defRPr sz="1200">
                          <a:solidFill>
                            <a:srgbClr val="1C1B33"/>
                          </a:solidFill>
                          <a:latin typeface="Yu Gothic"/>
                        </a:defRPr>
                      </a:pPr>
                      <a:r>
                        <a:t>2026年</a:t>
                      </a:r>
                    </a:p>
                  </a:txBody>
                  <a:tcPr>
                    <a:solidFill>
                      <a:srgbClr val="F4F3FC"/>
                    </a:solidFill>
                  </a:tcPr>
                </a:tc>
                <a:tc>
                  <a:txBody>
                    <a:bodyPr/>
                    <a:lstStyle/>
                    <a:p>
                      <a:pPr>
                        <a:defRPr sz="1200">
                          <a:solidFill>
                            <a:srgbClr val="1C1B33"/>
                          </a:solidFill>
                          <a:latin typeface="Yu Gothic"/>
                        </a:defRPr>
                      </a:pPr>
                      <a:r>
                        <a:t>以前のシード(850万ドル)の背景情報</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E2A72"/>
                    </a:solidFill>
                  </a:tcPr>
                </a:tc>
                <a:tc>
                  <a:txBody>
                    <a:bodyPr/>
                    <a:lstStyle/>
                    <a:p>
                      <a:pPr>
                        <a:defRPr sz="1300" b="1">
                          <a:solidFill>
                            <a:srgbClr val="FFFFFF"/>
                          </a:solidFill>
                          <a:latin typeface="Yu Gothic"/>
                        </a:defRPr>
                      </a:pPr>
                      <a:r>
                        <a:t>結果</a:t>
                      </a:r>
                    </a:p>
                  </a:txBody>
                  <a:tcPr>
                    <a:solidFill>
                      <a:srgbClr val="2E2A72"/>
                    </a:solidFill>
                  </a:tcPr>
                </a:tc>
              </a:tr>
              <a:tr h="502920">
                <a:tc>
                  <a:txBody>
                    <a:bodyPr/>
                    <a:lstStyle/>
                    <a:p>
                      <a:pPr>
                        <a:defRPr sz="1200">
                          <a:solidFill>
                            <a:srgbClr val="1C1B33"/>
                          </a:solidFill>
                          <a:latin typeface="Yu Gothic"/>
                        </a:defRPr>
                      </a:pPr>
                      <a:r>
                        <a:t>Antiochを主題としたテーマ</a:t>
                      </a:r>
                    </a:p>
                  </a:txBody>
                  <a:tcPr>
                    <a:solidFill>
                      <a:srgbClr val="FFFFFF"/>
                    </a:solidFill>
                  </a:tcPr>
                </a:tc>
                <a:tc>
                  <a:txBody>
                    <a:bodyPr/>
                    <a:lstStyle/>
                    <a:p>
                      <a:pPr>
                        <a:defRPr sz="1200">
                          <a:solidFill>
                            <a:srgbClr val="1C1B33"/>
                          </a:solidFill>
                          <a:latin typeface="Yu Gothic"/>
                        </a:defRPr>
                      </a:pPr>
                      <a:r>
                        <a:t>既存テーマになし</a:t>
                      </a:r>
                    </a:p>
                  </a:txBody>
                  <a:tcPr>
                    <a:solidFill>
                      <a:srgbClr val="FFFFFF"/>
                    </a:solidFill>
                  </a:tcPr>
                </a:tc>
              </a:tr>
              <a:tr h="502920">
                <a:tc>
                  <a:txBody>
                    <a:bodyPr/>
                    <a:lstStyle/>
                    <a:p>
                      <a:pPr>
                        <a:defRPr sz="1200">
                          <a:solidFill>
                            <a:srgbClr val="1C1B33"/>
                          </a:solidFill>
                          <a:latin typeface="Yu Gothic"/>
                        </a:defRPr>
                      </a:pPr>
                      <a:r>
                        <a:t>ロボティクス・物理AI系の既存テーマ(Gritt・Atoms等)との重複</a:t>
                      </a:r>
                    </a:p>
                  </a:txBody>
                  <a:tcPr>
                    <a:solidFill>
                      <a:srgbClr val="F4F3FC"/>
                    </a:solidFill>
                  </a:tcPr>
                </a:tc>
                <a:tc>
                  <a:txBody>
                    <a:bodyPr/>
                    <a:lstStyle/>
                    <a:p>
                      <a:pPr>
                        <a:defRPr sz="1200">
                          <a:solidFill>
                            <a:srgbClr val="1C1B33"/>
                          </a:solidFill>
                          <a:latin typeface="Yu Gothic"/>
                        </a:defRPr>
                      </a:pPr>
                      <a:r>
                        <a:t>対象企業・事業内容(実機稼働 vs シミュレーションのみ)が異なり重複ではない</a:t>
                      </a:r>
                    </a:p>
                  </a:txBody>
                  <a:tcPr>
                    <a:solidFill>
                      <a:srgbClr val="F4F3FC"/>
                    </a:solidFill>
                  </a:tcPr>
                </a:tc>
              </a:tr>
              <a:tr h="502920">
                <a:tc>
                  <a:txBody>
                    <a:bodyPr/>
                    <a:lstStyle/>
                    <a:p>
                      <a:pPr>
                        <a:defRPr sz="1200">
                          <a:solidFill>
                            <a:srgbClr val="1C1B33"/>
                          </a:solidFill>
                          <a:latin typeface="Yu Gothic"/>
                        </a:defRPr>
                      </a:pPr>
                      <a:r>
                        <a:t>判定</a:t>
                      </a:r>
                    </a:p>
                  </a:txBody>
                  <a:tcPr>
                    <a:solidFill>
                      <a:srgbClr val="FFFFFF"/>
                    </a:solidFill>
                  </a:tcPr>
                </a:tc>
                <a:tc>
                  <a:txBody>
                    <a:bodyPr/>
                    <a:lstStyle/>
                    <a:p>
                      <a:pPr>
                        <a:defRPr sz="1200">
                          <a:solidFill>
                            <a:srgbClr val="1C1B33"/>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壊さず鍛えたロボットが現場に出る日、主導投資家の名前は明かされるか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Antiochの続報を、確認できたこと・できなかったことを区別しながら注目していきましょう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Antiochが、SEC提出書類により新たに3,140万ドルの資金調達を行ったことが2026年8月4日に判明</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元Tesla Autopilotチームの Harry Mellsop氏らが2025年に共同創業、累計4,400万ドルを調達</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鮮度は着手日当日でこのシリーズ最高水準だが、出典はSEC提出書類の報道のみ</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主導投資家名・資金使途・顧客数・売上・評価額は確認できていない点を正直に開示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AlleyWatch(2026-08-04)ほか｜定期実行133本目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