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ナショナルバンクオープン2026の準々決勝。大坂なおみ選手は世界2位ルバキナ選手との初対戦に臨みました。第2セットのタイブレークでは、あと2ポイントで勝てるところまで迫っていました。今日はこの大接戦を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結論から言うと、スコアは4-6、7-6の5、6-4。世界ランク2位のルバキナ選手が、大坂なおみ選手にフルセットの末に勝利しました。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今日は、何が起きたのか、セットごとの攻防、あと一歩だった場面、試合の数字まとめ、不明点と今後の見方をお伝えします。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この話題を今回取り上げる理由は3つです。着手日から1日前という鮮度、複数メディアの一致した報道、そして具体的な数字が揃う大接戦だったことです。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前作の173本目は、準々決勝進出とルバキナ選手との初対戦が決まった時点を扱いました。本テーマはその後日談で、実際に行われた準々決勝の結果をお伝えします。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対戦の基本情報です。会場はSobeys Stadium、試合時間は2時間33分に及びました。世界2位のルバキナ選手と第11シードの大坂選手との初対戦でした。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初めての方向けに「WTA1000」を説明します。女子テニスの中でも上位に位置づけられる大会カテゴリーで、グランドスラムに次ぐ規模・注目度を持ちます。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「タイブレーク」は1セット6-6になった際の短い決着方式、「ブレークポイント」は相手のサーブのゲームを奪える可能性がある局面です。どちらも試合の流れを左右します。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3セットの流れを整理すると、第1セットは大坂選手が奪取、第2セットはタイブレークの末にルバキナ選手が奪取、第3セットもルバキナ選手が奪取して勝利を決めました。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第1セットは大坂なおみ選手が6-4で先取しました。世界2位相手に幸先の良いスタートでした。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第2セットのタイブレークでは、大坂選手が2ポイントで勝利という場面まで迫っていました。しかしそこからルバキナ選手が追いつきます。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注目したい数字がこちらです。第2セットのタイブレークで、大坂選手はあと2ポイントで勝利という場面までありました。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しかし最終的にはルバキナ選手がタイブレークを制し、7-6の5で第2セットを奪取しました。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決勝セットの第3セットでは、大坂選手が2対3の場面で4度のブレークポイントを握りました。しかし、いずれも決めきれませんでした。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この数字に注目です。第3セット2対3の場面で、大坂選手は4度のブレークポイントを握りましたが、いずれも決めきれませんでした。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第3セットはルバキナ選手が6-4で奪取し、勝利を決めました。試合時間は2時間33分に及びました。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ここまでの数字をまとめると、この表の通りです。最終スコア、各セットの経過、試合時間、会場を整理しています。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試合全体の流れを図で見ると、第1セットは大坂選手が先取、第2セットはタイブレークの末に逆転され、第3セットも4度の好機を決めきれず、ルバキナ選手が勝利しました。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優勢だった局面と決めきれなかった局面を並べると、大坂選手は複数回チャンスを作りながらも、いずれも決めきれなかったことが分かります。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この結果を知ると何が変わるか。対戦成績は0勝1敗ですが、内容としては世界2位を追い詰めた接戦だったと言えます。次の対戦への注目材料にもなります。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この試合を見るポイントは3つです。セットごとの経過を確認すること、タイブレークやブレークポイントの数字から接戦度を読み取ること、そして不明点は不明のまま受け止めることです。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事実と不明点を分けて整理します。最終スコアや試合時間は事実として確認できていますが、選手本人のコメントや今後の予定は確認できていません。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確認できていない項目を一覧にしました。選手本人のコメント、準決勝の詳細、今後の予定はいずれも出典で確認できていません。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ここで大事な点を確認します。本テーマは敗退という結果を扱いますが、大坂選手を過度に落胆させる表現、ルバキナ選手を過度に持ち上げる表現のいずれもしていません。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注意点です。選手本人のコメントや今後の予定は扱わず、出典に明記のない数字も一切使用していません。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この勝利により、ルバキナ選手は準決勝進出を決めました。準決勝の日程・対戦相手の詳細は、本テーマの範囲外として扱います。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出典はこの表の通りです。The Big Lead、National Bank Open公式サイト、CTV News、CKPG Todayが同じ結果を報じています。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確認できたことと確認できなかったことを正直に整理します。スコアや試合時間は確認済みですが、選手本人のコメントなどは未確認です。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大坂選手の今後の大会、そしてルバキナ選手の準決勝にも注目していきましょう。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今回もありがとうございました。大坂なおみ選手と世界2位ルバキナ選手の初対戦、フルセットの大接戦をお届けしました。次回もお楽しみに。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あと2ポイントで、世界2位を破れていた。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大坂なおみ選手、世界2位E・ルバキナ選手との初対戦。フルセットの末に敗退</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The Big Lead、National Bank Open公式サイト、CTV News、CKPG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4-6, 7-6(5), 6-4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世界2位・E・ルバキナ選手が、大坂なおみ選手にフルセットの末に勝利</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セットごとの攻防</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あと一歩だった場面</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試合の数字まとめ</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不明点・今後の見方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2026年8月11日の対戦で、着手日(8月12日)から1日前という高い鮮度</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The Big Lead・National Bank Open公式・CTV News・CKPG Todayの複数媒体が一致して報道</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フルセット・タイブレーク・4度のブレークポイントという具体的な数字が揃う大接戦</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Big Lead/National Bank Open公式サイト/CTV News/CKPG Today</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前作(173本目)との関係</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173本目(前作、2026-08-10)</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準々決勝進出が決定</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ルバキナ選手との初対戦が確定(結果はまだ)</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179本目(本テーマ、2026-08-11)</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実際に行われた準々決勝の結果</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4-6, 7-6(5), 6-4でルバキナ選手が勝利</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対戦の基本情報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大会</a:t>
                      </a:r>
                    </a:p>
                  </a:txBody>
                  <a:tcPr>
                    <a:solidFill>
                      <a:srgbClr val="FFFFFF"/>
                    </a:solidFill>
                  </a:tcPr>
                </a:tc>
                <a:tc>
                  <a:txBody>
                    <a:bodyPr/>
                    <a:lstStyle/>
                    <a:p>
                      <a:pPr>
                        <a:defRPr sz="1200">
                          <a:solidFill>
                            <a:srgbClr val="20261F"/>
                          </a:solidFill>
                          <a:latin typeface="Yu Gothic"/>
                        </a:defRPr>
                      </a:pPr>
                      <a:r>
                        <a:t>ナショナルバンクオープン2026(トロント、WTA1000)</a:t>
                      </a:r>
                    </a:p>
                  </a:txBody>
                  <a:tcPr>
                    <a:solidFill>
                      <a:srgbClr val="FFFFFF"/>
                    </a:solidFill>
                  </a:tcPr>
                </a:tc>
              </a:tr>
              <a:tr h="502920">
                <a:tc>
                  <a:txBody>
                    <a:bodyPr/>
                    <a:lstStyle/>
                    <a:p>
                      <a:pPr>
                        <a:defRPr sz="1200">
                          <a:solidFill>
                            <a:srgbClr val="20261F"/>
                          </a:solidFill>
                          <a:latin typeface="Yu Gothic"/>
                        </a:defRPr>
                      </a:pPr>
                      <a:r>
                        <a:t>ラウンド</a:t>
                      </a:r>
                    </a:p>
                  </a:txBody>
                  <a:tcPr>
                    <a:solidFill>
                      <a:srgbClr val="F4F1E6"/>
                    </a:solidFill>
                  </a:tcPr>
                </a:tc>
                <a:tc>
                  <a:txBody>
                    <a:bodyPr/>
                    <a:lstStyle/>
                    <a:p>
                      <a:pPr>
                        <a:defRPr sz="1200">
                          <a:solidFill>
                            <a:srgbClr val="20261F"/>
                          </a:solidFill>
                          <a:latin typeface="Yu Gothic"/>
                        </a:defRPr>
                      </a:pPr>
                      <a:r>
                        <a:t>準々決勝</a:t>
                      </a:r>
                    </a:p>
                  </a:txBody>
                  <a:tcPr>
                    <a:solidFill>
                      <a:srgbClr val="F4F1E6"/>
                    </a:solidFill>
                  </a:tcPr>
                </a:tc>
              </a:tr>
              <a:tr h="502920">
                <a:tc>
                  <a:txBody>
                    <a:bodyPr/>
                    <a:lstStyle/>
                    <a:p>
                      <a:pPr>
                        <a:defRPr sz="1200">
                          <a:solidFill>
                            <a:srgbClr val="20261F"/>
                          </a:solidFill>
                          <a:latin typeface="Yu Gothic"/>
                        </a:defRPr>
                      </a:pPr>
                      <a:r>
                        <a:t>対戦</a:t>
                      </a:r>
                    </a:p>
                  </a:txBody>
                  <a:tcPr>
                    <a:solidFill>
                      <a:srgbClr val="FFFFFF"/>
                    </a:solidFill>
                  </a:tcPr>
                </a:tc>
                <a:tc>
                  <a:txBody>
                    <a:bodyPr/>
                    <a:lstStyle/>
                    <a:p>
                      <a:pPr>
                        <a:defRPr sz="1200">
                          <a:solidFill>
                            <a:srgbClr val="20261F"/>
                          </a:solidFill>
                          <a:latin typeface="Yu Gothic"/>
                        </a:defRPr>
                      </a:pPr>
                      <a:r>
                        <a:t>大坂なおみ選手(第11シード) 対 E・ルバキナ選手(第2シード・世界2位)</a:t>
                      </a:r>
                    </a:p>
                  </a:txBody>
                  <a:tcPr>
                    <a:solidFill>
                      <a:srgbClr val="FFFFFF"/>
                    </a:solidFill>
                  </a:tcPr>
                </a:tc>
              </a:tr>
              <a:tr h="502920">
                <a:tc>
                  <a:txBody>
                    <a:bodyPr/>
                    <a:lstStyle/>
                    <a:p>
                      <a:pPr>
                        <a:defRPr sz="1200">
                          <a:solidFill>
                            <a:srgbClr val="20261F"/>
                          </a:solidFill>
                          <a:latin typeface="Yu Gothic"/>
                        </a:defRPr>
                      </a:pPr>
                      <a:r>
                        <a:t>会場</a:t>
                      </a:r>
                    </a:p>
                  </a:txBody>
                  <a:tcPr>
                    <a:solidFill>
                      <a:srgbClr val="F4F1E6"/>
                    </a:solidFill>
                  </a:tcPr>
                </a:tc>
                <a:tc>
                  <a:txBody>
                    <a:bodyPr/>
                    <a:lstStyle/>
                    <a:p>
                      <a:pPr>
                        <a:defRPr sz="1200">
                          <a:solidFill>
                            <a:srgbClr val="20261F"/>
                          </a:solidFill>
                          <a:latin typeface="Yu Gothic"/>
                        </a:defRPr>
                      </a:pPr>
                      <a:r>
                        <a:t>Sobeys Stadium</a:t>
                      </a:r>
                    </a:p>
                  </a:txBody>
                  <a:tcPr>
                    <a:solidFill>
                      <a:srgbClr val="F4F1E6"/>
                    </a:solidFill>
                  </a:tcPr>
                </a:tc>
              </a:tr>
              <a:tr h="502920">
                <a:tc>
                  <a:txBody>
                    <a:bodyPr/>
                    <a:lstStyle/>
                    <a:p>
                      <a:pPr>
                        <a:defRPr sz="1200">
                          <a:solidFill>
                            <a:srgbClr val="20261F"/>
                          </a:solidFill>
                          <a:latin typeface="Yu Gothic"/>
                        </a:defRPr>
                      </a:pPr>
                      <a:r>
                        <a:t>試合時間</a:t>
                      </a:r>
                    </a:p>
                  </a:txBody>
                  <a:tcPr>
                    <a:solidFill>
                      <a:srgbClr val="FFFFFF"/>
                    </a:solidFill>
                  </a:tcPr>
                </a:tc>
                <a:tc>
                  <a:txBody>
                    <a:bodyPr/>
                    <a:lstStyle/>
                    <a:p>
                      <a:pPr>
                        <a:defRPr sz="1200">
                          <a:solidFill>
                            <a:srgbClr val="20261F"/>
                          </a:solidFill>
                          <a:latin typeface="Yu Gothic"/>
                        </a:defRPr>
                      </a:pPr>
                      <a:r>
                        <a:t>2時間33分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National Bank Open公式サイト/The Big Lead</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初心者向け基礎知識:「WTA1000」とは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女子テニスの大会格の中でも上位に位置づけられるカテゴリー</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グランドスラムに次ぐ規模・注目度を持つ大会群</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ナショナルバンクオープンはこのWTA1000に属する大会</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初心者向け基礎知識:「タイブレーク」「ブレークポイント」とは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タイブレーク: 1セット6-6になった際に行う短いポイント制の決着方式</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ブレークポイント: 相手のサーブのゲームを奪える可能性がある局面</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どちらも試合の流れを左右する重要な局面として扱われる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3セットの流れ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第1セット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大坂選手が6-4で奪取</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第2セット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タイブレークの末、ルバキナ選手が7-6(5)で奪取</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第3セット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ルバキナ選手が6-4で奪取し、勝利を決める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第1セット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大坂なおみ選手が第1セットを先取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第2セット・タイブレークの攻防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スコア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6-6からタイブレークに突入</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大坂選手の場面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2ポイントで勝利という局面まで迫っていた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結果</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そこからルバキナ選手が追いつき逆転</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Big Lead「Down but never out: Elena Rybakina prevails over Naomi Osaka at National Bank Open」</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あと一歩だった場面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2ポイント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第2セットのタイブレークで、大坂選手はあと2ポイントで勝利という場面があった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第2セット結果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7-6(5)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ルバキナ選手がタイブレークを制し、第2セットを奪取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第3セット・4度のブレークポイント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スコア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大坂選手が2-3の場面</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大坂選手のチャンス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4度のブレークポイントを握る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結果</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いずれも決めきれず</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Big Lead/National Bank Open公式サイト</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決めきれなかった好機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第3セット2-3の場面で、大坂選手が握ったブレークポイントの回数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第3セット結果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ルバキナ選手が第3セットを奪取し、勝利を決めた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試合の数字まとめ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4523F"/>
                    </a:solidFill>
                  </a:tcPr>
                </a:tc>
                <a:tc>
                  <a:txBody>
                    <a:bodyPr/>
                    <a:lstStyle/>
                    <a:p>
                      <a:pPr>
                        <a:defRPr sz="1300" b="1">
                          <a:solidFill>
                            <a:srgbClr val="FFFFFF"/>
                          </a:solidFill>
                          <a:latin typeface="Yu Gothic"/>
                        </a:defRPr>
                      </a:pPr>
                      <a:r>
                        <a:t>数字</a:t>
                      </a:r>
                    </a:p>
                  </a:txBody>
                  <a:tcPr>
                    <a:solidFill>
                      <a:srgbClr val="24523F"/>
                    </a:solidFill>
                  </a:tcPr>
                </a:tc>
              </a:tr>
              <a:tr h="502920">
                <a:tc>
                  <a:txBody>
                    <a:bodyPr/>
                    <a:lstStyle/>
                    <a:p>
                      <a:pPr>
                        <a:defRPr sz="1200">
                          <a:solidFill>
                            <a:srgbClr val="20261F"/>
                          </a:solidFill>
                          <a:latin typeface="Yu Gothic"/>
                        </a:defRPr>
                      </a:pPr>
                      <a:r>
                        <a:t>最終スコア</a:t>
                      </a:r>
                    </a:p>
                  </a:txBody>
                  <a:tcPr>
                    <a:solidFill>
                      <a:srgbClr val="FFFFFF"/>
                    </a:solidFill>
                  </a:tcPr>
                </a:tc>
                <a:tc>
                  <a:txBody>
                    <a:bodyPr/>
                    <a:lstStyle/>
                    <a:p>
                      <a:pPr>
                        <a:defRPr sz="1200">
                          <a:solidFill>
                            <a:srgbClr val="20261F"/>
                          </a:solidFill>
                          <a:latin typeface="Yu Gothic"/>
                        </a:defRPr>
                      </a:pPr>
                      <a:r>
                        <a:t>4-6, 7-6(5), 6-4(ルバキナ選手の勝利)</a:t>
                      </a:r>
                    </a:p>
                  </a:txBody>
                  <a:tcPr>
                    <a:solidFill>
                      <a:srgbClr val="FFFFFF"/>
                    </a:solidFill>
                  </a:tcPr>
                </a:tc>
              </a:tr>
              <a:tr h="502920">
                <a:tc>
                  <a:txBody>
                    <a:bodyPr/>
                    <a:lstStyle/>
                    <a:p>
                      <a:pPr>
                        <a:defRPr sz="1200">
                          <a:solidFill>
                            <a:srgbClr val="20261F"/>
                          </a:solidFill>
                          <a:latin typeface="Yu Gothic"/>
                        </a:defRPr>
                      </a:pPr>
                      <a:r>
                        <a:t>第1セット</a:t>
                      </a:r>
                    </a:p>
                  </a:txBody>
                  <a:tcPr>
                    <a:solidFill>
                      <a:srgbClr val="F4F1E6"/>
                    </a:solidFill>
                  </a:tcPr>
                </a:tc>
                <a:tc>
                  <a:txBody>
                    <a:bodyPr/>
                    <a:lstStyle/>
                    <a:p>
                      <a:pPr>
                        <a:defRPr sz="1200">
                          <a:solidFill>
                            <a:srgbClr val="20261F"/>
                          </a:solidFill>
                          <a:latin typeface="Yu Gothic"/>
                        </a:defRPr>
                      </a:pPr>
                      <a:r>
                        <a:t>大坂選手が6-4で奪取</a:t>
                      </a:r>
                    </a:p>
                  </a:txBody>
                  <a:tcPr>
                    <a:solidFill>
                      <a:srgbClr val="F4F1E6"/>
                    </a:solidFill>
                  </a:tcPr>
                </a:tc>
              </a:tr>
              <a:tr h="502920">
                <a:tc>
                  <a:txBody>
                    <a:bodyPr/>
                    <a:lstStyle/>
                    <a:p>
                      <a:pPr>
                        <a:defRPr sz="1200">
                          <a:solidFill>
                            <a:srgbClr val="20261F"/>
                          </a:solidFill>
                          <a:latin typeface="Yu Gothic"/>
                        </a:defRPr>
                      </a:pPr>
                      <a:r>
                        <a:t>第2セットタイブレーク</a:t>
                      </a:r>
                    </a:p>
                  </a:txBody>
                  <a:tcPr>
                    <a:solidFill>
                      <a:srgbClr val="FFFFFF"/>
                    </a:solidFill>
                  </a:tcPr>
                </a:tc>
                <a:tc>
                  <a:txBody>
                    <a:bodyPr/>
                    <a:lstStyle/>
                    <a:p>
                      <a:pPr>
                        <a:defRPr sz="1200">
                          <a:solidFill>
                            <a:srgbClr val="20261F"/>
                          </a:solidFill>
                          <a:latin typeface="Yu Gothic"/>
                        </a:defRPr>
                      </a:pPr>
                      <a:r>
                        <a:t>大坂選手はあと2ポイントの場面から逆転される</a:t>
                      </a:r>
                    </a:p>
                  </a:txBody>
                  <a:tcPr>
                    <a:solidFill>
                      <a:srgbClr val="FFFFFF"/>
                    </a:solidFill>
                  </a:tcPr>
                </a:tc>
              </a:tr>
              <a:tr h="502920">
                <a:tc>
                  <a:txBody>
                    <a:bodyPr/>
                    <a:lstStyle/>
                    <a:p>
                      <a:pPr>
                        <a:defRPr sz="1200">
                          <a:solidFill>
                            <a:srgbClr val="20261F"/>
                          </a:solidFill>
                          <a:latin typeface="Yu Gothic"/>
                        </a:defRPr>
                      </a:pPr>
                      <a:r>
                        <a:t>第3セットのブレークポイント</a:t>
                      </a:r>
                    </a:p>
                  </a:txBody>
                  <a:tcPr>
                    <a:solidFill>
                      <a:srgbClr val="F4F1E6"/>
                    </a:solidFill>
                  </a:tcPr>
                </a:tc>
                <a:tc>
                  <a:txBody>
                    <a:bodyPr/>
                    <a:lstStyle/>
                    <a:p>
                      <a:pPr>
                        <a:defRPr sz="1200">
                          <a:solidFill>
                            <a:srgbClr val="20261F"/>
                          </a:solidFill>
                          <a:latin typeface="Yu Gothic"/>
                        </a:defRPr>
                      </a:pPr>
                      <a:r>
                        <a:t>大坂選手が2-3の場面で4度、いずれも決めきれず</a:t>
                      </a:r>
                    </a:p>
                  </a:txBody>
                  <a:tcPr>
                    <a:solidFill>
                      <a:srgbClr val="F4F1E6"/>
                    </a:solidFill>
                  </a:tcPr>
                </a:tc>
              </a:tr>
              <a:tr h="502920">
                <a:tc>
                  <a:txBody>
                    <a:bodyPr/>
                    <a:lstStyle/>
                    <a:p>
                      <a:pPr>
                        <a:defRPr sz="1200">
                          <a:solidFill>
                            <a:srgbClr val="20261F"/>
                          </a:solidFill>
                          <a:latin typeface="Yu Gothic"/>
                        </a:defRPr>
                      </a:pPr>
                      <a:r>
                        <a:t>試合時間</a:t>
                      </a:r>
                    </a:p>
                  </a:txBody>
                  <a:tcPr>
                    <a:solidFill>
                      <a:srgbClr val="FFFFFF"/>
                    </a:solidFill>
                  </a:tcPr>
                </a:tc>
                <a:tc>
                  <a:txBody>
                    <a:bodyPr/>
                    <a:lstStyle/>
                    <a:p>
                      <a:pPr>
                        <a:defRPr sz="1200">
                          <a:solidFill>
                            <a:srgbClr val="20261F"/>
                          </a:solidFill>
                          <a:latin typeface="Yu Gothic"/>
                        </a:defRPr>
                      </a:pPr>
                      <a:r>
                        <a:t>2時間33分</a:t>
                      </a:r>
                    </a:p>
                  </a:txBody>
                  <a:tcPr>
                    <a:solidFill>
                      <a:srgbClr val="FFFFFF"/>
                    </a:solidFill>
                  </a:tcPr>
                </a:tc>
              </a:tr>
              <a:tr h="502920">
                <a:tc>
                  <a:txBody>
                    <a:bodyPr/>
                    <a:lstStyle/>
                    <a:p>
                      <a:pPr>
                        <a:defRPr sz="1200">
                          <a:solidFill>
                            <a:srgbClr val="20261F"/>
                          </a:solidFill>
                          <a:latin typeface="Yu Gothic"/>
                        </a:defRPr>
                      </a:pPr>
                      <a:r>
                        <a:t>会場</a:t>
                      </a:r>
                    </a:p>
                  </a:txBody>
                  <a:tcPr>
                    <a:solidFill>
                      <a:srgbClr val="F4F1E6"/>
                    </a:solidFill>
                  </a:tcPr>
                </a:tc>
                <a:tc>
                  <a:txBody>
                    <a:bodyPr/>
                    <a:lstStyle/>
                    <a:p>
                      <a:pPr>
                        <a:defRPr sz="1200">
                          <a:solidFill>
                            <a:srgbClr val="20261F"/>
                          </a:solidFill>
                          <a:latin typeface="Yu Gothic"/>
                        </a:defRPr>
                      </a:pPr>
                      <a:r>
                        <a:t>Sobeys Stadium</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Big Lead/National Bank Open公式サイト/CTV News</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試合全体の流れ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第1セット</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大坂選手が6-4で奪取</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第2セット</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タイブレークの末、ルバキナ選手が逆転</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第3セット</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4度のブレークポイントを決めきれず</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試合終了</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ルバキナ選手が勝利、準決勝進出</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試合全体の流れを図にすると、このようになります</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優勢だった局面 vs 決めきれなかった局面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大坂選手が優勢だった局面</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第1セットを6-4で奪取</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第2セットタイブレークで2ポイント差まで迫る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決めきれなかった局面</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第2セットタイブレークで追いつかれ逆転される</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第3セット2-3の場面で4度のブレークポイントを逃す</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対戦成績は0勝1敗だが、内容としては世界2位を追い詰めた接戦だったと紹介できる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スコアの数字だけでなく、タイブレークやブレークポイントの内訳を見ることで試合の際どさが伝わる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次に対戦する機会があれば、この試合の内容が注目材料のひとつになる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この試合をどう見るか(活用ポイント)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確認1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最終スコアだけでなく、セットごとの経過を確認する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確認2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タイブレーク・ブレークポイントの数字から接戦度を読み取る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確認3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選手本人のコメント等、確認できていない点は不明のまま受け止める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事実 vs 不明点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確認できている事実</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最終スコア・各セットの経過・試合時間・会場</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ルバキナ選手が準決勝進出を決めたこと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確認できていないこと</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大坂選手・ルバキナ選手本人のコメント</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大坂選手の敗退後の今後の予定</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大坂選手・ルバキナ選手本人のコメント</a:t>
                      </a:r>
                    </a:p>
                  </a:txBody>
                  <a:tcPr>
                    <a:solidFill>
                      <a:srgbClr val="FFFFFF"/>
                    </a:solidFill>
                  </a:tcPr>
                </a:tc>
                <a:tc>
                  <a:txBody>
                    <a:bodyPr/>
                    <a:lstStyle/>
                    <a:p>
                      <a:pPr>
                        <a:defRPr sz="1200">
                          <a:solidFill>
                            <a:srgbClr val="20261F"/>
                          </a:solidFill>
                          <a:latin typeface="Yu Gothic"/>
                        </a:defRPr>
                      </a:pPr>
                      <a:r>
                        <a:t>不明(本調査の範囲では確認できず)</a:t>
                      </a:r>
                    </a:p>
                  </a:txBody>
                  <a:tcPr>
                    <a:solidFill>
                      <a:srgbClr val="FFFFFF"/>
                    </a:solidFill>
                  </a:tcPr>
                </a:tc>
              </a:tr>
              <a:tr h="502920">
                <a:tc>
                  <a:txBody>
                    <a:bodyPr/>
                    <a:lstStyle/>
                    <a:p>
                      <a:pPr>
                        <a:defRPr sz="1200">
                          <a:solidFill>
                            <a:srgbClr val="20261F"/>
                          </a:solidFill>
                          <a:latin typeface="Yu Gothic"/>
                        </a:defRPr>
                      </a:pPr>
                      <a:r>
                        <a:t>ルバキナ選手の準決勝の日程・対戦相手</a:t>
                      </a:r>
                    </a:p>
                  </a:txBody>
                  <a:tcPr>
                    <a:solidFill>
                      <a:srgbClr val="F4F1E6"/>
                    </a:solidFill>
                  </a:tcPr>
                </a:tc>
                <a:tc>
                  <a:txBody>
                    <a:bodyPr/>
                    <a:lstStyle/>
                    <a:p>
                      <a:pPr>
                        <a:defRPr sz="1200">
                          <a:solidFill>
                            <a:srgbClr val="20261F"/>
                          </a:solidFill>
                          <a:latin typeface="Yu Gothic"/>
                        </a:defRPr>
                      </a:pPr>
                      <a:r>
                        <a:t>本テーマの範囲外(深追いせず)</a:t>
                      </a:r>
                    </a:p>
                  </a:txBody>
                  <a:tcPr>
                    <a:solidFill>
                      <a:srgbClr val="F4F1E6"/>
                    </a:solidFill>
                  </a:tcPr>
                </a:tc>
              </a:tr>
              <a:tr h="502920">
                <a:tc>
                  <a:txBody>
                    <a:bodyPr/>
                    <a:lstStyle/>
                    <a:p>
                      <a:pPr>
                        <a:defRPr sz="1200">
                          <a:solidFill>
                            <a:srgbClr val="20261F"/>
                          </a:solidFill>
                          <a:latin typeface="Yu Gothic"/>
                        </a:defRPr>
                      </a:pPr>
                      <a:r>
                        <a:t>大坂選手の敗退後の今後の予定</a:t>
                      </a:r>
                    </a:p>
                  </a:txBody>
                  <a:tcPr>
                    <a:solidFill>
                      <a:srgbClr val="FFFFFF"/>
                    </a:solidFill>
                  </a:tcPr>
                </a:tc>
                <a:tc>
                  <a:txBody>
                    <a:bodyPr/>
                    <a:lstStyle/>
                    <a:p>
                      <a:pPr>
                        <a:defRPr sz="1200">
                          <a:solidFill>
                            <a:srgbClr val="20261F"/>
                          </a:solidFill>
                          <a:latin typeface="Yu Gothic"/>
                        </a:defRPr>
                      </a:pPr>
                      <a:r>
                        <a:t>不明(出典に記載なし)</a:t>
                      </a:r>
                    </a:p>
                  </a:txBody>
                  <a:tcPr>
                    <a:solidFill>
                      <a:srgbClr val="FFFFFF"/>
                    </a:solidFill>
                  </a:tcPr>
                </a:tc>
              </a:tr>
              <a:tr h="502920">
                <a:tc>
                  <a:txBody>
                    <a:bodyPr/>
                    <a:lstStyle/>
                    <a:p>
                      <a:pPr>
                        <a:defRPr sz="1200">
                          <a:solidFill>
                            <a:srgbClr val="20261F"/>
                          </a:solidFill>
                          <a:latin typeface="Yu Gothic"/>
                        </a:defRPr>
                      </a:pPr>
                      <a:r>
                        <a:t>タイブレーク2ポイント・ブレークポイント4度の詳細な内訳</a:t>
                      </a:r>
                    </a:p>
                  </a:txBody>
                  <a:tcPr>
                    <a:solidFill>
                      <a:srgbClr val="F4F1E6"/>
                    </a:solidFill>
                  </a:tcPr>
                </a:tc>
                <a:tc>
                  <a:txBody>
                    <a:bodyPr/>
                    <a:lstStyle/>
                    <a:p>
                      <a:pPr>
                        <a:defRPr sz="1200">
                          <a:solidFill>
                            <a:srgbClr val="20261F"/>
                          </a:solidFill>
                          <a:latin typeface="Yu Gothic"/>
                        </a:defRPr>
                      </a:pPr>
                      <a:r>
                        <a:t>出典に明記された回数のみを事実として扱う</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Big Lead/National Bank Open公式サイト/CTV News/CKPG Today</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【重要】中立性・配慮についての開示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本テーマは大坂選手の敗退という結果を扱うが、過度に落胆させる表現はしない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世界2位のルバキナ選手を過度に持ち上げる、あるいは大坂選手を過度に貶める表現もしない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接戦の内容を事実として淡々と紹介するトーンで統一する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注意点・過度な期待への注意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選手本人のコメントは確認できておらず、本テーマでは扱わない(不明)</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大坂選手の今後の予定・調整方針は本調査の範囲では確認できていない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出典に明記のない数字(推計・独自算出値)は一切使用していない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ルバキナ選手のこの後</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準決勝進出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この勝利により、E・ルバキナ選手は準決勝進出を決めた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Big Lead/National Bank Open公式サイト/CTV News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The Big Lead</a:t>
                      </a:r>
                    </a:p>
                  </a:txBody>
                  <a:tcPr>
                    <a:solidFill>
                      <a:srgbClr val="FFFFFF"/>
                    </a:solidFill>
                  </a:tcPr>
                </a:tc>
                <a:tc>
                  <a:txBody>
                    <a:bodyPr/>
                    <a:lstStyle/>
                    <a:p>
                      <a:pPr>
                        <a:defRPr sz="1200">
                          <a:solidFill>
                            <a:srgbClr val="20261F"/>
                          </a:solidFill>
                          <a:latin typeface="Yu Gothic"/>
                        </a:defRPr>
                      </a:pPr>
                      <a:r>
                        <a:t>「Down but never out: Elena Rybakina prevails over Naomi Osaka at National Bank Open」</a:t>
                      </a:r>
                    </a:p>
                  </a:txBody>
                  <a:tcPr>
                    <a:solidFill>
                      <a:srgbClr val="FFFFFF"/>
                    </a:solidFill>
                  </a:tcPr>
                </a:tc>
              </a:tr>
              <a:tr h="502920">
                <a:tc>
                  <a:txBody>
                    <a:bodyPr/>
                    <a:lstStyle/>
                    <a:p>
                      <a:pPr>
                        <a:defRPr sz="1200">
                          <a:solidFill>
                            <a:srgbClr val="20261F"/>
                          </a:solidFill>
                          <a:latin typeface="Yu Gothic"/>
                        </a:defRPr>
                      </a:pPr>
                      <a:r>
                        <a:t>National Bank Open公式サイト</a:t>
                      </a:r>
                    </a:p>
                  </a:txBody>
                  <a:tcPr>
                    <a:solidFill>
                      <a:srgbClr val="F4F1E6"/>
                    </a:solidFill>
                  </a:tcPr>
                </a:tc>
                <a:tc>
                  <a:txBody>
                    <a:bodyPr/>
                    <a:lstStyle/>
                    <a:p>
                      <a:pPr>
                        <a:defRPr sz="1200">
                          <a:solidFill>
                            <a:srgbClr val="20261F"/>
                          </a:solidFill>
                          <a:latin typeface="Yu Gothic"/>
                        </a:defRPr>
                      </a:pPr>
                      <a:r>
                        <a:t>「Big-Hitting Battle Between Osaka and Rybakina…」</a:t>
                      </a:r>
                    </a:p>
                  </a:txBody>
                  <a:tcPr>
                    <a:solidFill>
                      <a:srgbClr val="F4F1E6"/>
                    </a:solidFill>
                  </a:tcPr>
                </a:tc>
              </a:tr>
              <a:tr h="502920">
                <a:tc>
                  <a:txBody>
                    <a:bodyPr/>
                    <a:lstStyle/>
                    <a:p>
                      <a:pPr>
                        <a:defRPr sz="1200">
                          <a:solidFill>
                            <a:srgbClr val="20261F"/>
                          </a:solidFill>
                          <a:latin typeface="Yu Gothic"/>
                        </a:defRPr>
                      </a:pPr>
                      <a:r>
                        <a:t>CTV News</a:t>
                      </a:r>
                    </a:p>
                  </a:txBody>
                  <a:tcPr>
                    <a:solidFill>
                      <a:srgbClr val="FFFFFF"/>
                    </a:solidFill>
                  </a:tcPr>
                </a:tc>
                <a:tc>
                  <a:txBody>
                    <a:bodyPr/>
                    <a:lstStyle/>
                    <a:p>
                      <a:pPr>
                        <a:defRPr sz="1200">
                          <a:solidFill>
                            <a:srgbClr val="20261F"/>
                          </a:solidFill>
                          <a:latin typeface="Yu Gothic"/>
                        </a:defRPr>
                      </a:pPr>
                      <a:r>
                        <a:t>「Rybakina tops Osaka at NBO Toronto, Gauff advances on walkover after Bencic withdraws」</a:t>
                      </a:r>
                    </a:p>
                  </a:txBody>
                  <a:tcPr>
                    <a:solidFill>
                      <a:srgbClr val="FFFFFF"/>
                    </a:solidFill>
                  </a:tcPr>
                </a:tc>
              </a:tr>
              <a:tr h="502920">
                <a:tc>
                  <a:txBody>
                    <a:bodyPr/>
                    <a:lstStyle/>
                    <a:p>
                      <a:pPr>
                        <a:defRPr sz="1200">
                          <a:solidFill>
                            <a:srgbClr val="20261F"/>
                          </a:solidFill>
                          <a:latin typeface="Yu Gothic"/>
                        </a:defRPr>
                      </a:pPr>
                      <a:r>
                        <a:t>CKPG Today</a:t>
                      </a:r>
                    </a:p>
                  </a:txBody>
                  <a:tcPr>
                    <a:solidFill>
                      <a:srgbClr val="F4F1E6"/>
                    </a:solidFill>
                  </a:tcPr>
                </a:tc>
                <a:tc>
                  <a:txBody>
                    <a:bodyPr/>
                    <a:lstStyle/>
                    <a:p>
                      <a:pPr>
                        <a:defRPr sz="1200">
                          <a:solidFill>
                            <a:srgbClr val="20261F"/>
                          </a:solidFill>
                          <a:latin typeface="Yu Gothic"/>
                        </a:defRPr>
                      </a:pPr>
                      <a:r>
                        <a:t>同結果を報道</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確認済み: 最終スコア(4-6, 7-6(5), 6-4)、各セットの経過、試合時間(2時間33分)、会場(Sobeys Stadium)</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確認済み: ルバキナ選手が準決勝進出を決めたこと</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選手本人のコメント、大坂選手の今後の予定、準決勝の詳細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大坂選手の今後の大会、そしてルバキナ選手の準決勝にも注目していきます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大坂なおみ選手が世界2位E・ルバキナ選手と初対戦し、4-6, 7-6(5), 6-4のフルセットで敗退</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第2セットタイブレークで2ポイント、第3セットで4度のブレークポイントと、あと一歩の場面が複数あった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本テーマは173本目(対戦決定の時点を扱ったテーマ)の続報である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The Big Lead/National Bank Open公式/CTV News/CKPG Today｜179本目(173本目の続報)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