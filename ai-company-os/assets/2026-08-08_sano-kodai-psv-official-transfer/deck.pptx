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金額(億円)</c:v>
                </c:pt>
              </c:strCache>
            </c:strRef>
          </c:tx>
          <c:spPr>
            <a:solidFill>
              <a:srgbClr val="1E2761"/>
            </a:solidFill>
          </c:spPr>
          <c:cat>
            <c:strRef>
              <c:f>Sheet1!$A$2:$A$4</c:f>
              <c:strCache>
                <c:ptCount val="3"/>
                <c:pt idx="0">
                  <c:v>前身テーマ報道下限</c:v>
                </c:pt>
                <c:pt idx="1">
                  <c:v>前身テーマ報道上限</c:v>
                </c:pt>
                <c:pt idx="2">
                  <c:v>本発表(最大)</c:v>
                </c:pt>
              </c:strCache>
            </c:strRef>
          </c:cat>
          <c:val>
            <c:numRef>
              <c:f>Sheet1!$B$2:$B$4</c:f>
              <c:numCache>
                <c:formatCode>General</c:formatCode>
                <c:ptCount val="3"/>
                <c:pt idx="0">
                  <c:v>27</c:v>
                </c:pt>
                <c:pt idx="1">
                  <c:v>31</c:v>
                </c:pt>
                <c:pt idx="2">
                  <c:v>30</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『まだ合意』から『正式契約』へ。噂は本当でした。PSVアイントホーフェンが、日本代表MF佐野航大選手の完全移籍を、2026年8月8日に正式発表しました。契約は2031年までの5年間、背番号は24です。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佐野選手とPSVについて、前身テーマの『合意』段階からの決着ポイント、確定した3つの事実、移籍金は本当に確定額になったのか、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何が起きたのか整理します。PSVアイントホーフェンが、佐野航大選手の完全移籍を本日8月8日に正式発表しました。契約期間は2031年までの5年間、背番号は24です。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移籍概要を表にまとめました。移籍元はNECナイメヘン、移籍先はPSVアイントホーフェン、契約期間は2031年までの5年、背番号は24です。完全移籍として正式発表されました。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佐野航大選手とはどんな選手か紹介します。22歳のMFで、NECナイメヘン所属でした。2025-26シーズンはエールディヴィジで全試合に出場しています。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初心者向けに説明します。エールディヴィジはオランダの1部リーグで、NECもPSVもこのリーグに所属しています。今回は佐野選手個別の移籍という切り口で扱います。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PSVアイントホーフェンについて紹介します。前季のエールディヴィジ王者で、リーグ3連覇中のオランダの盟主クラブです。チャンピオンズリーグにも参戦しています。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サッカーの移籍手続きの一般的な流れを説明します。合意、メディカルチェック等の手続き、正式契約・公式発表の順に進みます。本テーマは、この最後の正式契約・公式発表の段階を扱います。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前身テーマと本テーマを比較します。前身テーマは8月5日、合意の段階でした。本テーマは8月8日、PSVが完全移籍を正式発表し、契約年数・背番号が確定しました。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何が決着したかを表にまとめました。契約の状態は合意から正式発表へ、契約期間は2031年までと確定、背番号は24と確定しました。移籍金も範囲から単一の報道数値になっています。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契約期間は2031年までの5年契約と正式発表されました。前身テーマの『合意』段階から、確定した事実として決着しました。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背番号は24です。前身テーマの時点では未確認でしたが、本発表により確定しました。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移籍金は、オランダ紙De Telegraaf経由の報道で最大1,700万ユーロ、約30億円とされています。ただしこの数字はなお『最大』という上限を示す表現です。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ここが今回重要なポイントです。移籍金は範囲表現から単一の報道数値に変わりましたが、『最大』という上限表現のままです。最終確定額かどうかの内訳は、本調査の範囲では確認できていません。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2025-26シーズンの佐野選手です。エールディヴィジでNECの全試合に出場し、チームのリーグ3位フィニッシュに貢献したと報じられています。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NECのリーグ最終順位は3位でした。佐野選手は全試合出場でこの結果に貢献したと報じられています。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移籍先PSVについてです。前季エールディヴィジ王者で、リーグ3連覇中、チャンピオンズリーグにも参戦している強豪クラブです。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時系列です。8月5日に合意が報道され、8月8日にPSVが完全移籍を正式発表しました。この間の交渉の詳細は、本調査の範囲では確認できていません。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既存テーマとの関係を確認しました。前身テーマ138本目は『合意』段階を扱ったものであり、本テーマはその後の正式契約・公式発表という進展です。重複ではありません。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です。本発表は正式契約として確定した情報であり、合意段階の報道とは重みが異なります。ただし移籍金のようになお上限表現が残る情報もあるため、区別して受け取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確認できたこと・できなかったことを正直に整理します。契約期間・背番号は確認できていますが、移籍金の内訳、PSVでの起用法、選手本人のコメントは確認できていません。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未確認事項を一覧にしました。PSVでの起用法、出場開始時期、選手本人のコメント、移籍金の内訳、いずれも本調査の範囲では確認できていません。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公平性・配慮について開示します。実在の選手名・クラブ名はテキストのみで扱い、選手の心境についての推測は行っていません。政治的な論評もありません。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鮮度について開示します。発表は8月8日、着手日は8月10日で2日前です。鮮度基準の境界内で満たしています。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round94評価表からの開示です。評価スコアは76/100で、前身テーマの不確実性への決着という物語性が評価されました。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数字で移籍金の報道の変化を見ます。前身テーマは27億円から31億円超という範囲でしたが、本発表では最大30億円という数値で報じられています。いずれも上限を含む報道値です。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出典一覧です。サッカーキング、Yahoo!ニュース、ライブドアニュース、Infoseekニュースという複数の情報源で、本日から2日前の2026年8月8日に報じられています。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今回のニュースの位置づけを概念図で示します。合意の報道から正式発表へと進みましたが、PSVでの具体的な起用法はまだ分かっていません。続報を注目していきます。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正式契約は決まりました。次はPSVでの起用がどうなるかです。具体的な起用法や選手本人のコメントは、確認できたこと・できなかったことを区別しながら注目していきましょう。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PSVが佐野航大選手の完全移籍を本日から2日前の8月8日に正式発表しました。契約期間は2031年まで、背番号は24と確定しました。移籍金の内訳など、なお不明な点は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『まだ合意』から『正式契約』へ――佐野航大、PSV移籍の噂は本当だった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PSVアイントホーフェンが完全移籍を正式発表(2026年8月8日・5年契約・背番号24)</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サッカーキング・Yahoo!ニュース・ライブドアニュース・Infoseekニュース(2026-08-08)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何が起きたのか(正式発表の内容)</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佐野航大選手・PSVアイントホーフェンとは</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前身テーマ『合意』段階からの決着ポイント</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確定した3つの事実(契約年数・背番号・移籍金)</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移籍金は本当に確定額になったのか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PSVアイントホーフェンが、日本代表MF佐野航大選手(22歳)の完全移籍を2026年8月8日に正式発表した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契約期間は2031年まで(5年契約)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背番号は24</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移籍金は、オランダ紙De Telegraaf経由の報道で最大1,700万ユーロ(約30億円)</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サッカーキング(2026-08-08)ほか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移籍概要(公式発表の内容)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選手名</a:t>
                      </a:r>
                    </a:p>
                  </a:txBody>
                  <a:tcPr>
                    <a:solidFill>
                      <a:srgbClr val="FFFFFF"/>
                    </a:solidFill>
                  </a:tcPr>
                </a:tc>
                <a:tc>
                  <a:txBody>
                    <a:bodyPr/>
                    <a:lstStyle/>
                    <a:p>
                      <a:pPr>
                        <a:defRPr sz="1200">
                          <a:solidFill>
                            <a:srgbClr val="1A1A2E"/>
                          </a:solidFill>
                          <a:latin typeface="Yu Gothic"/>
                        </a:defRPr>
                      </a:pPr>
                      <a:r>
                        <a:t>佐野航大(日本代表MF、22歳)</a:t>
                      </a:r>
                    </a:p>
                  </a:txBody>
                  <a:tcPr>
                    <a:solidFill>
                      <a:srgbClr val="FFFFFF"/>
                    </a:solidFill>
                  </a:tcPr>
                </a:tc>
              </a:tr>
              <a:tr h="502920">
                <a:tc>
                  <a:txBody>
                    <a:bodyPr/>
                    <a:lstStyle/>
                    <a:p>
                      <a:pPr>
                        <a:defRPr sz="1200">
                          <a:solidFill>
                            <a:srgbClr val="1A1A2E"/>
                          </a:solidFill>
                          <a:latin typeface="Yu Gothic"/>
                        </a:defRPr>
                      </a:pPr>
                      <a:r>
                        <a:t>移籍元</a:t>
                      </a:r>
                    </a:p>
                  </a:txBody>
                  <a:tcPr>
                    <a:solidFill>
                      <a:srgbClr val="F3F6FC"/>
                    </a:solidFill>
                  </a:tcPr>
                </a:tc>
                <a:tc>
                  <a:txBody>
                    <a:bodyPr/>
                    <a:lstStyle/>
                    <a:p>
                      <a:pPr>
                        <a:defRPr sz="1200">
                          <a:solidFill>
                            <a:srgbClr val="1A1A2E"/>
                          </a:solidFill>
                          <a:latin typeface="Yu Gothic"/>
                        </a:defRPr>
                      </a:pPr>
                      <a:r>
                        <a:t>NECナイメヘン(オランダ・エールディヴィジ)</a:t>
                      </a:r>
                    </a:p>
                  </a:txBody>
                  <a:tcPr>
                    <a:solidFill>
                      <a:srgbClr val="F3F6FC"/>
                    </a:solidFill>
                  </a:tcPr>
                </a:tc>
              </a:tr>
              <a:tr h="502920">
                <a:tc>
                  <a:txBody>
                    <a:bodyPr/>
                    <a:lstStyle/>
                    <a:p>
                      <a:pPr>
                        <a:defRPr sz="1200">
                          <a:solidFill>
                            <a:srgbClr val="1A1A2E"/>
                          </a:solidFill>
                          <a:latin typeface="Yu Gothic"/>
                        </a:defRPr>
                      </a:pPr>
                      <a:r>
                        <a:t>移籍先</a:t>
                      </a:r>
                    </a:p>
                  </a:txBody>
                  <a:tcPr>
                    <a:solidFill>
                      <a:srgbClr val="FFFFFF"/>
                    </a:solidFill>
                  </a:tcPr>
                </a:tc>
                <a:tc>
                  <a:txBody>
                    <a:bodyPr/>
                    <a:lstStyle/>
                    <a:p>
                      <a:pPr>
                        <a:defRPr sz="1200">
                          <a:solidFill>
                            <a:srgbClr val="1A1A2E"/>
                          </a:solidFill>
                          <a:latin typeface="Yu Gothic"/>
                        </a:defRPr>
                      </a:pPr>
                      <a:r>
                        <a:t>PSVアイントホーフェン(前季王者・リーグ3連覇中)</a:t>
                      </a:r>
                    </a:p>
                  </a:txBody>
                  <a:tcPr>
                    <a:solidFill>
                      <a:srgbClr val="FFFFFF"/>
                    </a:solidFill>
                  </a:tcPr>
                </a:tc>
              </a:tr>
              <a:tr h="502920">
                <a:tc>
                  <a:txBody>
                    <a:bodyPr/>
                    <a:lstStyle/>
                    <a:p>
                      <a:pPr>
                        <a:defRPr sz="1200">
                          <a:solidFill>
                            <a:srgbClr val="1A1A2E"/>
                          </a:solidFill>
                          <a:latin typeface="Yu Gothic"/>
                        </a:defRPr>
                      </a:pPr>
                      <a:r>
                        <a:t>現在のステータス</a:t>
                      </a:r>
                    </a:p>
                  </a:txBody>
                  <a:tcPr>
                    <a:solidFill>
                      <a:srgbClr val="F3F6FC"/>
                    </a:solidFill>
                  </a:tcPr>
                </a:tc>
                <a:tc>
                  <a:txBody>
                    <a:bodyPr/>
                    <a:lstStyle/>
                    <a:p>
                      <a:pPr>
                        <a:defRPr sz="1200">
                          <a:solidFill>
                            <a:srgbClr val="1A1A2E"/>
                          </a:solidFill>
                          <a:latin typeface="Yu Gothic"/>
                        </a:defRPr>
                      </a:pPr>
                      <a:r>
                        <a:t>完全移籍が正式発表された(2026年8月8日)</a:t>
                      </a:r>
                    </a:p>
                  </a:txBody>
                  <a:tcPr>
                    <a:solidFill>
                      <a:srgbClr val="F3F6FC"/>
                    </a:solidFill>
                  </a:tcPr>
                </a:tc>
              </a:tr>
              <a:tr h="502920">
                <a:tc>
                  <a:txBody>
                    <a:bodyPr/>
                    <a:lstStyle/>
                    <a:p>
                      <a:pPr>
                        <a:defRPr sz="1200">
                          <a:solidFill>
                            <a:srgbClr val="1A1A2E"/>
                          </a:solidFill>
                          <a:latin typeface="Yu Gothic"/>
                        </a:defRPr>
                      </a:pPr>
                      <a:r>
                        <a:t>契約期間</a:t>
                      </a:r>
                    </a:p>
                  </a:txBody>
                  <a:tcPr>
                    <a:solidFill>
                      <a:srgbClr val="FFFFFF"/>
                    </a:solidFill>
                  </a:tcPr>
                </a:tc>
                <a:tc>
                  <a:txBody>
                    <a:bodyPr/>
                    <a:lstStyle/>
                    <a:p>
                      <a:pPr>
                        <a:defRPr sz="1200">
                          <a:solidFill>
                            <a:srgbClr val="1A1A2E"/>
                          </a:solidFill>
                          <a:latin typeface="Yu Gothic"/>
                        </a:defRPr>
                      </a:pPr>
                      <a:r>
                        <a:t>2031年まで(5年契約)</a:t>
                      </a:r>
                    </a:p>
                  </a:txBody>
                  <a:tcPr>
                    <a:solidFill>
                      <a:srgbClr val="FFFFFF"/>
                    </a:solidFill>
                  </a:tcPr>
                </a:tc>
              </a:tr>
              <a:tr h="502920">
                <a:tc>
                  <a:txBody>
                    <a:bodyPr/>
                    <a:lstStyle/>
                    <a:p>
                      <a:pPr>
                        <a:defRPr sz="1200">
                          <a:solidFill>
                            <a:srgbClr val="1A1A2E"/>
                          </a:solidFill>
                          <a:latin typeface="Yu Gothic"/>
                        </a:defRPr>
                      </a:pPr>
                      <a:r>
                        <a:t>背番号</a:t>
                      </a:r>
                    </a:p>
                  </a:txBody>
                  <a:tcPr>
                    <a:solidFill>
                      <a:srgbClr val="F3F6FC"/>
                    </a:solidFill>
                  </a:tcPr>
                </a:tc>
                <a:tc>
                  <a:txBody>
                    <a:bodyPr/>
                    <a:lstStyle/>
                    <a:p>
                      <a:pPr>
                        <a:defRPr sz="1200">
                          <a:solidFill>
                            <a:srgbClr val="1A1A2E"/>
                          </a:solidFill>
                          <a:latin typeface="Yu Gothic"/>
                        </a:defRPr>
                      </a:pPr>
                      <a:r>
                        <a:t>24</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佐野航大選手とは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基本情報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22歳、ポジションはMF(ミッドフィルダー)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直近の所属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NECナイメヘン(オランダ・エールディヴィジ)</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2025-26シーズン</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エールディヴィジでNECの全試合に出場</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エールディヴィジとは何か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エールディヴィジ</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オランダの1部プロサッカーリーグ</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移籍元・移籍先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NECナイメヘン、PSVアイントホーフェンともに同リーグ所属</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本テーマの視点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あくまで佐野選手個別の移籍という切り口で扱う</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PSVアイントホーフェンとは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リーグでの位置づけ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前季エールディヴィジ王者</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直近の実績</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リーグ3連覇中、オランダの盟主クラブ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国際大会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UEFAチャンピオンズリーグにも参戦している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移籍が正式契約に至るまでの一般的な流れ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合意(Agreement)</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クラブ間・選手間で移籍条件について合意する段階(前身テーマが扱った段階)</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メディカルチェック等</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移籍先クラブによる健康状態確認などの手続き。本調査の範囲では完了時期は未確認</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正式契約・公式発表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契約書に署名し、クラブが公式に発表する段階(本テーマが扱う段階)</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前身テーマ(8月5日) と 本テーマ(8月8日)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前身テーマ(2026-08-05発表・138本目)</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『合意』の段階(正式契約はまだ先と開示)</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移籍金は27億円〜31億円超という『範囲』</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本テーマ(2026-08-08発表・159本目)</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PSVが完全移籍を正式発表(契約2031年まで)</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背番号24が確定。移籍金は最大1,700万ユーロ(約30億円)</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『合意』から『正式契約』へ、何が決着したか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前身テーマ(8/5・合意段階)</a:t>
                      </a:r>
                    </a:p>
                  </a:txBody>
                  <a:tcPr>
                    <a:solidFill>
                      <a:srgbClr val="1E2761"/>
                    </a:solidFill>
                  </a:tcPr>
                </a:tc>
                <a:tc>
                  <a:txBody>
                    <a:bodyPr/>
                    <a:lstStyle/>
                    <a:p>
                      <a:pPr>
                        <a:defRPr sz="1300" b="1">
                          <a:solidFill>
                            <a:srgbClr val="FFFFFF"/>
                          </a:solidFill>
                          <a:latin typeface="Yu Gothic"/>
                        </a:defRPr>
                      </a:pPr>
                      <a:r>
                        <a:t>本テーマ(8/8・正式発表)</a:t>
                      </a:r>
                    </a:p>
                  </a:txBody>
                  <a:tcPr>
                    <a:solidFill>
                      <a:srgbClr val="1E2761"/>
                    </a:solidFill>
                  </a:tcPr>
                </a:tc>
              </a:tr>
              <a:tr h="502920">
                <a:tc>
                  <a:txBody>
                    <a:bodyPr/>
                    <a:lstStyle/>
                    <a:p>
                      <a:pPr>
                        <a:defRPr sz="1200">
                          <a:solidFill>
                            <a:srgbClr val="1A1A2E"/>
                          </a:solidFill>
                          <a:latin typeface="Yu Gothic"/>
                        </a:defRPr>
                      </a:pPr>
                      <a:r>
                        <a:t>契約の状態</a:t>
                      </a:r>
                    </a:p>
                  </a:txBody>
                  <a:tcPr>
                    <a:solidFill>
                      <a:srgbClr val="FFFFFF"/>
                    </a:solidFill>
                  </a:tcPr>
                </a:tc>
                <a:tc>
                  <a:txBody>
                    <a:bodyPr/>
                    <a:lstStyle/>
                    <a:p>
                      <a:pPr>
                        <a:defRPr sz="1200">
                          <a:solidFill>
                            <a:srgbClr val="1A1A2E"/>
                          </a:solidFill>
                          <a:latin typeface="Yu Gothic"/>
                        </a:defRPr>
                      </a:pPr>
                      <a:r>
                        <a:t>合意(正式契約はまだ先)</a:t>
                      </a:r>
                    </a:p>
                  </a:txBody>
                  <a:tcPr>
                    <a:solidFill>
                      <a:srgbClr val="FFFFFF"/>
                    </a:solidFill>
                  </a:tcPr>
                </a:tc>
                <a:tc>
                  <a:txBody>
                    <a:bodyPr/>
                    <a:lstStyle/>
                    <a:p>
                      <a:pPr>
                        <a:defRPr sz="1200">
                          <a:solidFill>
                            <a:srgbClr val="1A1A2E"/>
                          </a:solidFill>
                          <a:latin typeface="Yu Gothic"/>
                        </a:defRPr>
                      </a:pPr>
                      <a:r>
                        <a:t>PSVが完全移籍を正式発表</a:t>
                      </a:r>
                    </a:p>
                  </a:txBody>
                  <a:tcPr>
                    <a:solidFill>
                      <a:srgbClr val="FFFFFF"/>
                    </a:solidFill>
                  </a:tcPr>
                </a:tc>
              </a:tr>
              <a:tr h="502920">
                <a:tc>
                  <a:txBody>
                    <a:bodyPr/>
                    <a:lstStyle/>
                    <a:p>
                      <a:pPr>
                        <a:defRPr sz="1200">
                          <a:solidFill>
                            <a:srgbClr val="1A1A2E"/>
                          </a:solidFill>
                          <a:latin typeface="Yu Gothic"/>
                        </a:defRPr>
                      </a:pPr>
                      <a:r>
                        <a:t>契約期間</a:t>
                      </a:r>
                    </a:p>
                  </a:txBody>
                  <a:tcPr>
                    <a:solidFill>
                      <a:srgbClr val="F3F6FC"/>
                    </a:solidFill>
                  </a:tcPr>
                </a:tc>
                <a:tc>
                  <a:txBody>
                    <a:bodyPr/>
                    <a:lstStyle/>
                    <a:p>
                      <a:pPr>
                        <a:defRPr sz="1200">
                          <a:solidFill>
                            <a:srgbClr val="1A1A2E"/>
                          </a:solidFill>
                          <a:latin typeface="Yu Gothic"/>
                        </a:defRPr>
                      </a:pPr>
                      <a:r>
                        <a:t>5年と報道(未確定のニュアンス)</a:t>
                      </a:r>
                    </a:p>
                  </a:txBody>
                  <a:tcPr>
                    <a:solidFill>
                      <a:srgbClr val="F3F6FC"/>
                    </a:solidFill>
                  </a:tcPr>
                </a:tc>
                <a:tc>
                  <a:txBody>
                    <a:bodyPr/>
                    <a:lstStyle/>
                    <a:p>
                      <a:pPr>
                        <a:defRPr sz="1200">
                          <a:solidFill>
                            <a:srgbClr val="1A1A2E"/>
                          </a:solidFill>
                          <a:latin typeface="Yu Gothic"/>
                        </a:defRPr>
                      </a:pPr>
                      <a:r>
                        <a:t>2031年まで(5年契約)と確定</a:t>
                      </a:r>
                    </a:p>
                  </a:txBody>
                  <a:tcPr>
                    <a:solidFill>
                      <a:srgbClr val="F3F6FC"/>
                    </a:solidFill>
                  </a:tcPr>
                </a:tc>
              </a:tr>
              <a:tr h="502920">
                <a:tc>
                  <a:txBody>
                    <a:bodyPr/>
                    <a:lstStyle/>
                    <a:p>
                      <a:pPr>
                        <a:defRPr sz="1200">
                          <a:solidFill>
                            <a:srgbClr val="1A1A2E"/>
                          </a:solidFill>
                          <a:latin typeface="Yu Gothic"/>
                        </a:defRPr>
                      </a:pPr>
                      <a:r>
                        <a:t>背番号</a:t>
                      </a:r>
                    </a:p>
                  </a:txBody>
                  <a:tcPr>
                    <a:solidFill>
                      <a:srgbClr val="FFFFFF"/>
                    </a:solidFill>
                  </a:tcPr>
                </a:tc>
                <a:tc>
                  <a:txBody>
                    <a:bodyPr/>
                    <a:lstStyle/>
                    <a:p>
                      <a:pPr>
                        <a:defRPr sz="1200">
                          <a:solidFill>
                            <a:srgbClr val="1A1A2E"/>
                          </a:solidFill>
                          <a:latin typeface="Yu Gothic"/>
                        </a:defRPr>
                      </a:pPr>
                      <a:r>
                        <a:t>未確認</a:t>
                      </a:r>
                    </a:p>
                  </a:txBody>
                  <a:tcPr>
                    <a:solidFill>
                      <a:srgbClr val="FFFFFF"/>
                    </a:solidFill>
                  </a:tcPr>
                </a:tc>
                <a:tc>
                  <a:txBody>
                    <a:bodyPr/>
                    <a:lstStyle/>
                    <a:p>
                      <a:pPr>
                        <a:defRPr sz="1200">
                          <a:solidFill>
                            <a:srgbClr val="1A1A2E"/>
                          </a:solidFill>
                          <a:latin typeface="Yu Gothic"/>
                        </a:defRPr>
                      </a:pPr>
                      <a:r>
                        <a:t>24と確定</a:t>
                      </a:r>
                    </a:p>
                  </a:txBody>
                  <a:tcPr>
                    <a:solidFill>
                      <a:srgbClr val="FFFFFF"/>
                    </a:solidFill>
                  </a:tcPr>
                </a:tc>
              </a:tr>
              <a:tr h="502920">
                <a:tc>
                  <a:txBody>
                    <a:bodyPr/>
                    <a:lstStyle/>
                    <a:p>
                      <a:pPr>
                        <a:defRPr sz="1200">
                          <a:solidFill>
                            <a:srgbClr val="1A1A2E"/>
                          </a:solidFill>
                          <a:latin typeface="Yu Gothic"/>
                        </a:defRPr>
                      </a:pPr>
                      <a:r>
                        <a:t>移籍金</a:t>
                      </a:r>
                    </a:p>
                  </a:txBody>
                  <a:tcPr>
                    <a:solidFill>
                      <a:srgbClr val="F3F6FC"/>
                    </a:solidFill>
                  </a:tcPr>
                </a:tc>
                <a:tc>
                  <a:txBody>
                    <a:bodyPr/>
                    <a:lstStyle/>
                    <a:p>
                      <a:pPr>
                        <a:defRPr sz="1200">
                          <a:solidFill>
                            <a:srgbClr val="1A1A2E"/>
                          </a:solidFill>
                          <a:latin typeface="Yu Gothic"/>
                        </a:defRPr>
                      </a:pPr>
                      <a:r>
                        <a:t>27億円〜31億円超という『範囲』</a:t>
                      </a:r>
                    </a:p>
                  </a:txBody>
                  <a:tcPr>
                    <a:solidFill>
                      <a:srgbClr val="F3F6FC"/>
                    </a:solidFill>
                  </a:tcPr>
                </a:tc>
                <a:tc>
                  <a:txBody>
                    <a:bodyPr/>
                    <a:lstStyle/>
                    <a:p>
                      <a:pPr>
                        <a:defRPr sz="1200">
                          <a:solidFill>
                            <a:srgbClr val="1A1A2E"/>
                          </a:solidFill>
                          <a:latin typeface="Yu Gothic"/>
                        </a:defRPr>
                      </a:pPr>
                      <a:r>
                        <a:t>最大1,700万ユーロ(約30億円)</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契約期間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2031年まで(5年契約)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PSVが公式発表した契約期間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サッカーキング(2026-08-08)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背番号</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佐野選手がPSVで背負う番号(公式発表)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サッカーキング(2026-08-08)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移籍金(報道)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最大1,700万ユーロ(約30億円)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オランダ紙De Telegraaf経由の報道による金額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サッカーキング(2026-08-08)経由のDe Telegraaf報道</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【重要】移籍金は本当に確定額になったのか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論点</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前身テーマの表現</a:t>
                      </a:r>
                    </a:p>
                  </a:txBody>
                  <a:tcPr>
                    <a:solidFill>
                      <a:srgbClr val="FFFFFF"/>
                    </a:solidFill>
                  </a:tcPr>
                </a:tc>
                <a:tc>
                  <a:txBody>
                    <a:bodyPr/>
                    <a:lstStyle/>
                    <a:p>
                      <a:pPr>
                        <a:defRPr sz="1200">
                          <a:solidFill>
                            <a:srgbClr val="1A1A2E"/>
                          </a:solidFill>
                          <a:latin typeface="Yu Gothic"/>
                        </a:defRPr>
                      </a:pPr>
                      <a:r>
                        <a:t>27億円〜31億円超という媒体間の『範囲』</a:t>
                      </a:r>
                    </a:p>
                  </a:txBody>
                  <a:tcPr>
                    <a:solidFill>
                      <a:srgbClr val="FFFFFF"/>
                    </a:solidFill>
                  </a:tcPr>
                </a:tc>
              </a:tr>
              <a:tr h="502920">
                <a:tc>
                  <a:txBody>
                    <a:bodyPr/>
                    <a:lstStyle/>
                    <a:p>
                      <a:pPr>
                        <a:defRPr sz="1200">
                          <a:solidFill>
                            <a:srgbClr val="1A1A2E"/>
                          </a:solidFill>
                          <a:latin typeface="Yu Gothic"/>
                        </a:defRPr>
                      </a:pPr>
                      <a:r>
                        <a:t>本発表での表現</a:t>
                      </a:r>
                    </a:p>
                  </a:txBody>
                  <a:tcPr>
                    <a:solidFill>
                      <a:srgbClr val="F3F6FC"/>
                    </a:solidFill>
                  </a:tcPr>
                </a:tc>
                <a:tc>
                  <a:txBody>
                    <a:bodyPr/>
                    <a:lstStyle/>
                    <a:p>
                      <a:pPr>
                        <a:defRPr sz="1200">
                          <a:solidFill>
                            <a:srgbClr val="1A1A2E"/>
                          </a:solidFill>
                          <a:latin typeface="Yu Gothic"/>
                        </a:defRPr>
                      </a:pPr>
                      <a:r>
                        <a:t>『最大』1,700万ユーロ(約30億円)という単一の報道数値</a:t>
                      </a:r>
                    </a:p>
                  </a:txBody>
                  <a:tcPr>
                    <a:solidFill>
                      <a:srgbClr val="F3F6FC"/>
                    </a:solidFill>
                  </a:tcPr>
                </a:tc>
              </a:tr>
              <a:tr h="502920">
                <a:tc>
                  <a:txBody>
                    <a:bodyPr/>
                    <a:lstStyle/>
                    <a:p>
                      <a:pPr>
                        <a:defRPr sz="1200">
                          <a:solidFill>
                            <a:srgbClr val="1A1A2E"/>
                          </a:solidFill>
                          <a:latin typeface="Yu Gothic"/>
                        </a:defRPr>
                      </a:pPr>
                      <a:r>
                        <a:t>それでも不明な点</a:t>
                      </a:r>
                    </a:p>
                  </a:txBody>
                  <a:tcPr>
                    <a:solidFill>
                      <a:srgbClr val="FFFFFF"/>
                    </a:solidFill>
                  </a:tcPr>
                </a:tc>
                <a:tc>
                  <a:txBody>
                    <a:bodyPr/>
                    <a:lstStyle/>
                    <a:p>
                      <a:pPr>
                        <a:defRPr sz="1200">
                          <a:solidFill>
                            <a:srgbClr val="1A1A2E"/>
                          </a:solidFill>
                          <a:latin typeface="Yu Gothic"/>
                        </a:defRPr>
                      </a:pPr>
                      <a:r>
                        <a:t>この金額が最終確定額そのものか、成功報酬等の変動条件を含む上限かの内訳は未確認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2025-26シーズンの佐野選手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出場状況</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エールディヴィジでNECの全試合に出場</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チームの結果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NECはリーグ3位でシーズンを終えた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貢献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佐野選手はこの3位フィニッシュに貢献したと報じられている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NECのリーグ最終順位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2025-26シーズン、エールディヴィジでのNECナイメヘンの最終順位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サッカーキング(2026-08-08)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移籍先PSVについて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前季の実績</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エールディヴィジ王者</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連覇の状況</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リーグ3連覇中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国際大会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UEFAチャンピオンズリーグにも参戦</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前身テーマから本発表までの時系列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8月5日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佐野選手とPSVが移籍で『合意』したと複数媒体が報道(前身テーマ)</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この間の経緯</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交渉・手続きの詳細は本調査の範囲では確認できていない</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8月8日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PSVが完全移籍を正式発表(本テーマ)</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同一主題の既存テーマ</a:t>
                      </a:r>
                    </a:p>
                  </a:txBody>
                  <a:tcPr>
                    <a:solidFill>
                      <a:srgbClr val="FFFFFF"/>
                    </a:solidFill>
                  </a:tcPr>
                </a:tc>
                <a:tc>
                  <a:txBody>
                    <a:bodyPr/>
                    <a:lstStyle/>
                    <a:p>
                      <a:pPr>
                        <a:defRPr sz="1200">
                          <a:solidFill>
                            <a:srgbClr val="1A1A2E"/>
                          </a:solidFill>
                          <a:latin typeface="Yu Gothic"/>
                        </a:defRPr>
                      </a:pPr>
                      <a:r>
                        <a:t>`2026-08-05_sano-kodai-psv-transfer`(138本目)が存在</a:t>
                      </a:r>
                    </a:p>
                  </a:txBody>
                  <a:tcPr>
                    <a:solidFill>
                      <a:srgbClr val="FFFFFF"/>
                    </a:solidFill>
                  </a:tcPr>
                </a:tc>
              </a:tr>
              <a:tr h="502920">
                <a:tc>
                  <a:txBody>
                    <a:bodyPr/>
                    <a:lstStyle/>
                    <a:p>
                      <a:pPr>
                        <a:defRPr sz="1200">
                          <a:solidFill>
                            <a:srgbClr val="1A1A2E"/>
                          </a:solidFill>
                          <a:latin typeface="Yu Gothic"/>
                        </a:defRPr>
                      </a:pPr>
                      <a:r>
                        <a:t>138本目が扱った段階</a:t>
                      </a:r>
                    </a:p>
                  </a:txBody>
                  <a:tcPr>
                    <a:solidFill>
                      <a:srgbClr val="F3F6FC"/>
                    </a:solidFill>
                  </a:tcPr>
                </a:tc>
                <a:tc>
                  <a:txBody>
                    <a:bodyPr/>
                    <a:lstStyle/>
                    <a:p>
                      <a:pPr>
                        <a:defRPr sz="1200">
                          <a:solidFill>
                            <a:srgbClr val="1A1A2E"/>
                          </a:solidFill>
                          <a:latin typeface="Yu Gothic"/>
                        </a:defRPr>
                      </a:pPr>
                      <a:r>
                        <a:t>『合意』段階(正式契約・背番号・確定移籍金はまだ先と開示)</a:t>
                      </a:r>
                    </a:p>
                  </a:txBody>
                  <a:tcPr>
                    <a:solidFill>
                      <a:srgbClr val="F3F6FC"/>
                    </a:solidFill>
                  </a:tcPr>
                </a:tc>
              </a:tr>
              <a:tr h="502920">
                <a:tc>
                  <a:txBody>
                    <a:bodyPr/>
                    <a:lstStyle/>
                    <a:p>
                      <a:pPr>
                        <a:defRPr sz="1200">
                          <a:solidFill>
                            <a:srgbClr val="1A1A2E"/>
                          </a:solidFill>
                          <a:latin typeface="Yu Gothic"/>
                        </a:defRPr>
                      </a:pPr>
                      <a:r>
                        <a:t>本テーマが扱う内容</a:t>
                      </a:r>
                    </a:p>
                  </a:txBody>
                  <a:tcPr>
                    <a:solidFill>
                      <a:srgbClr val="FFFFFF"/>
                    </a:solidFill>
                  </a:tcPr>
                </a:tc>
                <a:tc>
                  <a:txBody>
                    <a:bodyPr/>
                    <a:lstStyle/>
                    <a:p>
                      <a:pPr>
                        <a:defRPr sz="1200">
                          <a:solidFill>
                            <a:srgbClr val="1A1A2E"/>
                          </a:solidFill>
                          <a:latin typeface="Yu Gothic"/>
                        </a:defRPr>
                      </a:pPr>
                      <a:r>
                        <a:t>その後の正式契約・公式発表(進展であり重複ではない)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『合意』段階の報道は今後も覆る可能性を含むが、本発表は正式契約として確定した情報</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契約期間・背番号のように確定した事実と、移籍金のようになお上限表現が残る事実を区別して受け取ることが大切</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続報を追う際は、公式発表由来の情報かどうかを意識すると誤解を避けやすい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契約期間(2031年まで)・背番号(24)は公式発表として確認できている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移籍金は最大1,700万ユーロ(約30億円)という報道があるが、最終確定額かどうかの内訳は未確認</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佐野選手のPSVでの具体的な起用法・ポジション・出場開始時期は未確認</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佐野選手本人のコメント・心境は本調査の範囲では確認できていない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サッカーキング・Yahoo!ニュース・ライブドアニュース・Infoseekニュース(2026-08-08)</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未確認事項一覧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PSVでの具体的な起用法・ポジション</a:t>
                      </a:r>
                    </a:p>
                  </a:txBody>
                  <a:tcPr>
                    <a:solidFill>
                      <a:srgbClr val="FFFFFF"/>
                    </a:solidFill>
                  </a:tcPr>
                </a:tc>
                <a:tc>
                  <a:txBody>
                    <a:bodyPr/>
                    <a:lstStyle/>
                    <a:p>
                      <a:pPr>
                        <a:defRPr sz="1200">
                          <a:solidFill>
                            <a:srgbClr val="1A1A2E"/>
                          </a:solidFill>
                          <a:latin typeface="Yu Gothic"/>
                        </a:defRPr>
                      </a:pPr>
                      <a:r>
                        <a:t>未確認</a:t>
                      </a:r>
                    </a:p>
                  </a:txBody>
                  <a:tcPr>
                    <a:solidFill>
                      <a:srgbClr val="FFFFFF"/>
                    </a:solidFill>
                  </a:tcPr>
                </a:tc>
              </a:tr>
              <a:tr h="502920">
                <a:tc>
                  <a:txBody>
                    <a:bodyPr/>
                    <a:lstStyle/>
                    <a:p>
                      <a:pPr>
                        <a:defRPr sz="1200">
                          <a:solidFill>
                            <a:srgbClr val="1A1A2E"/>
                          </a:solidFill>
                          <a:latin typeface="Yu Gothic"/>
                        </a:defRPr>
                      </a:pPr>
                      <a:r>
                        <a:t>出場開始時期</a:t>
                      </a:r>
                    </a:p>
                  </a:txBody>
                  <a:tcPr>
                    <a:solidFill>
                      <a:srgbClr val="F3F6FC"/>
                    </a:solidFill>
                  </a:tcPr>
                </a:tc>
                <a:tc>
                  <a:txBody>
                    <a:bodyPr/>
                    <a:lstStyle/>
                    <a:p>
                      <a:pPr>
                        <a:defRPr sz="1200">
                          <a:solidFill>
                            <a:srgbClr val="1A1A2E"/>
                          </a:solidFill>
                          <a:latin typeface="Yu Gothic"/>
                        </a:defRPr>
                      </a:pPr>
                      <a:r>
                        <a:t>未確認</a:t>
                      </a:r>
                    </a:p>
                  </a:txBody>
                  <a:tcPr>
                    <a:solidFill>
                      <a:srgbClr val="F3F6FC"/>
                    </a:solidFill>
                  </a:tcPr>
                </a:tc>
              </a:tr>
              <a:tr h="502920">
                <a:tc>
                  <a:txBody>
                    <a:bodyPr/>
                    <a:lstStyle/>
                    <a:p>
                      <a:pPr>
                        <a:defRPr sz="1200">
                          <a:solidFill>
                            <a:srgbClr val="1A1A2E"/>
                          </a:solidFill>
                          <a:latin typeface="Yu Gothic"/>
                        </a:defRPr>
                      </a:pPr>
                      <a:r>
                        <a:t>佐野選手本人のコメント・心境</a:t>
                      </a:r>
                    </a:p>
                  </a:txBody>
                  <a:tcPr>
                    <a:solidFill>
                      <a:srgbClr val="FFFFFF"/>
                    </a:solidFill>
                  </a:tcPr>
                </a:tc>
                <a:tc>
                  <a:txBody>
                    <a:bodyPr/>
                    <a:lstStyle/>
                    <a:p>
                      <a:pPr>
                        <a:defRPr sz="1200">
                          <a:solidFill>
                            <a:srgbClr val="1A1A2E"/>
                          </a:solidFill>
                          <a:latin typeface="Yu Gothic"/>
                        </a:defRPr>
                      </a:pPr>
                      <a:r>
                        <a:t>未確認</a:t>
                      </a:r>
                    </a:p>
                  </a:txBody>
                  <a:tcPr>
                    <a:solidFill>
                      <a:srgbClr val="FFFFFF"/>
                    </a:solidFill>
                  </a:tcPr>
                </a:tc>
              </a:tr>
              <a:tr h="502920">
                <a:tc>
                  <a:txBody>
                    <a:bodyPr/>
                    <a:lstStyle/>
                    <a:p>
                      <a:pPr>
                        <a:defRPr sz="1200">
                          <a:solidFill>
                            <a:srgbClr val="1A1A2E"/>
                          </a:solidFill>
                          <a:latin typeface="Yu Gothic"/>
                        </a:defRPr>
                      </a:pPr>
                      <a:r>
                        <a:t>移籍金1,700万ユーロの内訳(最終確定額か変動条件込みか)</a:t>
                      </a:r>
                    </a:p>
                  </a:txBody>
                  <a:tcPr>
                    <a:solidFill>
                      <a:srgbClr val="F3F6FC"/>
                    </a:solidFill>
                  </a:tcPr>
                </a:tc>
                <a:tc>
                  <a:txBody>
                    <a:bodyPr/>
                    <a:lstStyle/>
                    <a:p>
                      <a:pPr>
                        <a:defRPr sz="1200">
                          <a:solidFill>
                            <a:srgbClr val="1A1A2E"/>
                          </a:solidFill>
                          <a:latin typeface="Yu Gothic"/>
                        </a:defRPr>
                      </a:pPr>
                      <a:r>
                        <a:t>未確認</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公平性・配慮についての開示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実在の選手名・クラブ名はテキストとしてのみ使用し、写真・ロゴは使用しない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佐野選手の心境について、報道されていない推測は一切行っていない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政治的な論評は行っていない</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特定クラブ・特定選手を過度に持ち上げたり貶めたりする表現は避けている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2026年8月8日</a:t>
                      </a:r>
                    </a:p>
                  </a:txBody>
                  <a:tcPr>
                    <a:solidFill>
                      <a:srgbClr val="FFFFFF"/>
                    </a:solidFill>
                  </a:tcPr>
                </a:tc>
              </a:tr>
              <a:tr h="502920">
                <a:tc>
                  <a:txBody>
                    <a:bodyPr/>
                    <a:lstStyle/>
                    <a:p>
                      <a:pPr>
                        <a:defRPr sz="1200">
                          <a:solidFill>
                            <a:srgbClr val="1A1A2E"/>
                          </a:solidFill>
                          <a:latin typeface="Yu Gothic"/>
                        </a:defRPr>
                      </a:pPr>
                      <a:r>
                        <a:t>着手日</a:t>
                      </a:r>
                    </a:p>
                  </a:txBody>
                  <a:tcPr>
                    <a:solidFill>
                      <a:srgbClr val="F3F6FC"/>
                    </a:solidFill>
                  </a:tcPr>
                </a:tc>
                <a:tc>
                  <a:txBody>
                    <a:bodyPr/>
                    <a:lstStyle/>
                    <a:p>
                      <a:pPr>
                        <a:defRPr sz="1200">
                          <a:solidFill>
                            <a:srgbClr val="1A1A2E"/>
                          </a:solidFill>
                          <a:latin typeface="Yu Gothic"/>
                        </a:defRPr>
                      </a:pPr>
                      <a:r>
                        <a:t>2026年8月10日(2日後)</a:t>
                      </a:r>
                    </a:p>
                  </a:txBody>
                  <a:tcPr>
                    <a:solidFill>
                      <a:srgbClr val="F3F6FC"/>
                    </a:solidFill>
                  </a:tcPr>
                </a:tc>
              </a:tr>
              <a:tr h="502920">
                <a:tc>
                  <a:txBody>
                    <a:bodyPr/>
                    <a:lstStyle/>
                    <a:p>
                      <a:pPr>
                        <a:defRPr sz="1200">
                          <a:solidFill>
                            <a:srgbClr val="1A1A2E"/>
                          </a:solidFill>
                          <a:latin typeface="Yu Gothic"/>
                        </a:defRPr>
                      </a:pPr>
                      <a:r>
                        <a:t>鮮度基準との関係</a:t>
                      </a:r>
                    </a:p>
                  </a:txBody>
                  <a:tcPr>
                    <a:solidFill>
                      <a:srgbClr val="FFFFFF"/>
                    </a:solidFill>
                  </a:tcPr>
                </a:tc>
                <a:tc>
                  <a:txBody>
                    <a:bodyPr/>
                    <a:lstStyle/>
                    <a:p>
                      <a:pPr>
                        <a:defRPr sz="1200">
                          <a:solidFill>
                            <a:srgbClr val="1A1A2E"/>
                          </a:solidFill>
                          <a:latin typeface="Yu Gothic"/>
                        </a:defRPr>
                      </a:pPr>
                      <a:r>
                        <a:t>『着手日から2日以内』の基準の境界内で満たす</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round94評価表からの開示(バズ路線スコア76/100)</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評価スコア</a:t>
                      </a:r>
                    </a:p>
                  </a:txBody>
                  <a:tcPr>
                    <a:solidFill>
                      <a:srgbClr val="FFFFFF"/>
                    </a:solidFill>
                  </a:tcPr>
                </a:tc>
                <a:tc>
                  <a:txBody>
                    <a:bodyPr/>
                    <a:lstStyle/>
                    <a:p>
                      <a:pPr>
                        <a:defRPr sz="1200">
                          <a:solidFill>
                            <a:srgbClr val="1A1A2E"/>
                          </a:solidFill>
                          <a:latin typeface="Yu Gothic"/>
                        </a:defRPr>
                      </a:pPr>
                      <a:r>
                        <a:t>76/100(round94評価表)</a:t>
                      </a:r>
                    </a:p>
                  </a:txBody>
                  <a:tcPr>
                    <a:solidFill>
                      <a:srgbClr val="FFFFFF"/>
                    </a:solidFill>
                  </a:tcPr>
                </a:tc>
              </a:tr>
              <a:tr h="502920">
                <a:tc>
                  <a:txBody>
                    <a:bodyPr/>
                    <a:lstStyle/>
                    <a:p>
                      <a:pPr>
                        <a:defRPr sz="1200">
                          <a:solidFill>
                            <a:srgbClr val="1A1A2E"/>
                          </a:solidFill>
                          <a:latin typeface="Yu Gothic"/>
                        </a:defRPr>
                      </a:pPr>
                      <a:r>
                        <a:t>採用理由</a:t>
                      </a:r>
                    </a:p>
                  </a:txBody>
                  <a:tcPr>
                    <a:solidFill>
                      <a:srgbClr val="F3F6FC"/>
                    </a:solidFill>
                  </a:tcPr>
                </a:tc>
                <a:tc>
                  <a:txBody>
                    <a:bodyPr/>
                    <a:lstStyle/>
                    <a:p>
                      <a:pPr>
                        <a:defRPr sz="1200">
                          <a:solidFill>
                            <a:srgbClr val="1A1A2E"/>
                          </a:solidFill>
                          <a:latin typeface="Yu Gothic"/>
                        </a:defRPr>
                      </a:pPr>
                      <a:r>
                        <a:t>前身テーマの不確実性(合意段階・移籍金の範囲)への明確な決着という物語的な閉幕性</a:t>
                      </a:r>
                    </a:p>
                  </a:txBody>
                  <a:tcPr>
                    <a:solidFill>
                      <a:srgbClr val="F3F6FC"/>
                    </a:solidFill>
                  </a:tcPr>
                </a:tc>
              </a:tr>
              <a:tr h="502920">
                <a:tc>
                  <a:txBody>
                    <a:bodyPr/>
                    <a:lstStyle/>
                    <a:p>
                      <a:pPr>
                        <a:defRPr sz="1200">
                          <a:solidFill>
                            <a:srgbClr val="1A1A2E"/>
                          </a:solidFill>
                          <a:latin typeface="Yu Gothic"/>
                        </a:defRPr>
                      </a:pPr>
                      <a:r>
                        <a:t>同ラウンドのもう1候補</a:t>
                      </a:r>
                    </a:p>
                  </a:txBody>
                  <a:tcPr>
                    <a:solidFill>
                      <a:srgbClr val="FFFFFF"/>
                    </a:solidFill>
                  </a:tcPr>
                </a:tc>
                <a:tc>
                  <a:txBody>
                    <a:bodyPr/>
                    <a:lstStyle/>
                    <a:p>
                      <a:pPr>
                        <a:defRPr sz="1200">
                          <a:solidFill>
                            <a:srgbClr val="1A1A2E"/>
                          </a:solidFill>
                          <a:latin typeface="Yu Gothic"/>
                        </a:defRPr>
                      </a:pPr>
                      <a:r>
                        <a:t>候補2(160本目、冨安健洋選手のクリスタル・パレス加入)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数字で見る: 移籍金の報道はどう変わったか(億円換算)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De Telegraaf経由の報道ほか(2026-08-05・2026-08-08)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サッカーキング</a:t>
                      </a:r>
                    </a:p>
                  </a:txBody>
                  <a:tcPr>
                    <a:solidFill>
                      <a:srgbClr val="FFFFFF"/>
                    </a:solidFill>
                  </a:tcPr>
                </a:tc>
                <a:tc>
                  <a:txBody>
                    <a:bodyPr/>
                    <a:lstStyle/>
                    <a:p>
                      <a:pPr>
                        <a:defRPr sz="1200">
                          <a:solidFill>
                            <a:srgbClr val="1A1A2E"/>
                          </a:solidFill>
                          <a:latin typeface="Yu Gothic"/>
                        </a:defRPr>
                      </a:pPr>
                      <a:r>
                        <a:t>2026-08-08</a:t>
                      </a:r>
                    </a:p>
                  </a:txBody>
                  <a:tcPr>
                    <a:solidFill>
                      <a:srgbClr val="FFFFFF"/>
                    </a:solidFill>
                  </a:tcPr>
                </a:tc>
                <a:tc>
                  <a:txBody>
                    <a:bodyPr/>
                    <a:lstStyle/>
                    <a:p>
                      <a:pPr>
                        <a:defRPr sz="1200">
                          <a:solidFill>
                            <a:srgbClr val="1A1A2E"/>
                          </a:solidFill>
                          <a:latin typeface="Yu Gothic"/>
                        </a:defRPr>
                      </a:pPr>
                      <a:r>
                        <a:t>『MF佐野航大、オランダ王者PSVへの完全移籍が決定! 2031年までの5年契約…移籍金は最大30億円に』</a:t>
                      </a:r>
                    </a:p>
                  </a:txBody>
                  <a:tcPr>
                    <a:solidFill>
                      <a:srgbClr val="FFFFFF"/>
                    </a:solidFill>
                  </a:tcPr>
                </a:tc>
              </a:tr>
              <a:tr h="502920">
                <a:tc>
                  <a:txBody>
                    <a:bodyPr/>
                    <a:lstStyle/>
                    <a:p>
                      <a:pPr>
                        <a:defRPr sz="1200">
                          <a:solidFill>
                            <a:srgbClr val="1A1A2E"/>
                          </a:solidFill>
                          <a:latin typeface="Yu Gothic"/>
                        </a:defRPr>
                      </a:pPr>
                      <a:r>
                        <a:t>Yahoo!ニュース</a:t>
                      </a:r>
                    </a:p>
                  </a:txBody>
                  <a:tcPr>
                    <a:solidFill>
                      <a:srgbClr val="F3F6FC"/>
                    </a:solidFill>
                  </a:tcPr>
                </a:tc>
                <a:tc>
                  <a:txBody>
                    <a:bodyPr/>
                    <a:lstStyle/>
                    <a:p>
                      <a:pPr>
                        <a:defRPr sz="1200">
                          <a:solidFill>
                            <a:srgbClr val="1A1A2E"/>
                          </a:solidFill>
                          <a:latin typeface="Yu Gothic"/>
                        </a:defRPr>
                      </a:pPr>
                      <a:r>
                        <a:t>2026-08-08</a:t>
                      </a:r>
                    </a:p>
                  </a:txBody>
                  <a:tcPr>
                    <a:solidFill>
                      <a:srgbClr val="F3F6FC"/>
                    </a:solidFill>
                  </a:tcPr>
                </a:tc>
                <a:tc>
                  <a:txBody>
                    <a:bodyPr/>
                    <a:lstStyle/>
                    <a:p>
                      <a:pPr>
                        <a:defRPr sz="1200">
                          <a:solidFill>
                            <a:srgbClr val="1A1A2E"/>
                          </a:solidFill>
                          <a:latin typeface="Yu Gothic"/>
                        </a:defRPr>
                      </a:pPr>
                      <a:r>
                        <a:t>サッカーキング記事の配信</a:t>
                      </a:r>
                    </a:p>
                  </a:txBody>
                  <a:tcPr>
                    <a:solidFill>
                      <a:srgbClr val="F3F6FC"/>
                    </a:solidFill>
                  </a:tcPr>
                </a:tc>
              </a:tr>
              <a:tr h="502920">
                <a:tc>
                  <a:txBody>
                    <a:bodyPr/>
                    <a:lstStyle/>
                    <a:p>
                      <a:pPr>
                        <a:defRPr sz="1200">
                          <a:solidFill>
                            <a:srgbClr val="1A1A2E"/>
                          </a:solidFill>
                          <a:latin typeface="Yu Gothic"/>
                        </a:defRPr>
                      </a:pPr>
                      <a:r>
                        <a:t>ライブドアニュース</a:t>
                      </a:r>
                    </a:p>
                  </a:txBody>
                  <a:tcPr>
                    <a:solidFill>
                      <a:srgbClr val="FFFFFF"/>
                    </a:solidFill>
                  </a:tcPr>
                </a:tc>
                <a:tc>
                  <a:txBody>
                    <a:bodyPr/>
                    <a:lstStyle/>
                    <a:p>
                      <a:pPr>
                        <a:defRPr sz="1200">
                          <a:solidFill>
                            <a:srgbClr val="1A1A2E"/>
                          </a:solidFill>
                          <a:latin typeface="Yu Gothic"/>
                        </a:defRPr>
                      </a:pPr>
                      <a:r>
                        <a:t>2026-08-08</a:t>
                      </a:r>
                    </a:p>
                  </a:txBody>
                  <a:tcPr>
                    <a:solidFill>
                      <a:srgbClr val="FFFFFF"/>
                    </a:solidFill>
                  </a:tcPr>
                </a:tc>
                <a:tc>
                  <a:txBody>
                    <a:bodyPr/>
                    <a:lstStyle/>
                    <a:p>
                      <a:pPr>
                        <a:defRPr sz="1200">
                          <a:solidFill>
                            <a:srgbClr val="1A1A2E"/>
                          </a:solidFill>
                          <a:latin typeface="Yu Gothic"/>
                        </a:defRPr>
                      </a:pPr>
                      <a:r>
                        <a:t>同内容の報道</a:t>
                      </a:r>
                    </a:p>
                  </a:txBody>
                  <a:tcPr>
                    <a:solidFill>
                      <a:srgbClr val="FFFFFF"/>
                    </a:solidFill>
                  </a:tcPr>
                </a:tc>
              </a:tr>
              <a:tr h="502920">
                <a:tc>
                  <a:txBody>
                    <a:bodyPr/>
                    <a:lstStyle/>
                    <a:p>
                      <a:pPr>
                        <a:defRPr sz="1200">
                          <a:solidFill>
                            <a:srgbClr val="1A1A2E"/>
                          </a:solidFill>
                          <a:latin typeface="Yu Gothic"/>
                        </a:defRPr>
                      </a:pPr>
                      <a:r>
                        <a:t>Infoseekニュース</a:t>
                      </a:r>
                    </a:p>
                  </a:txBody>
                  <a:tcPr>
                    <a:solidFill>
                      <a:srgbClr val="F3F6FC"/>
                    </a:solidFill>
                  </a:tcPr>
                </a:tc>
                <a:tc>
                  <a:txBody>
                    <a:bodyPr/>
                    <a:lstStyle/>
                    <a:p>
                      <a:pPr>
                        <a:defRPr sz="1200">
                          <a:solidFill>
                            <a:srgbClr val="1A1A2E"/>
                          </a:solidFill>
                          <a:latin typeface="Yu Gothic"/>
                        </a:defRPr>
                      </a:pPr>
                      <a:r>
                        <a:t>2026-08-08</a:t>
                      </a:r>
                    </a:p>
                  </a:txBody>
                  <a:tcPr>
                    <a:solidFill>
                      <a:srgbClr val="F3F6FC"/>
                    </a:solidFill>
                  </a:tcPr>
                </a:tc>
                <a:tc>
                  <a:txBody>
                    <a:bodyPr/>
                    <a:lstStyle/>
                    <a:p>
                      <a:pPr>
                        <a:defRPr sz="1200">
                          <a:solidFill>
                            <a:srgbClr val="1A1A2E"/>
                          </a:solidFill>
                          <a:latin typeface="Yu Gothic"/>
                        </a:defRPr>
                      </a:pPr>
                      <a:r>
                        <a:t>同内容の報道</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今回のニュースの位置づけ(概念図)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前身テーマ: 移籍で『合意』</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2026年8月5日、複数媒体が合意段階を報道</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本テーマ: 完全移籍を正式発表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2026年8月8日、PSVが公式発表(契約2031年まで・背番号24)</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今後: 具体的な起用法は不明</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PSVでのポジション・出場時期・本人コメントは本調査の範囲では未確認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正式契約は決まった。次はPSVでの起用がどうなるか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具体的な起用法・出場時期・選手本人のコメントは、確認できたこと・できなかったことを区別しながら注目していきましょう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PSVアイントホーフェンが、佐野航大選手の完全移籍を2026年8月8日に正式発表した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契約期間は2031年まで(5年契約)、背番号は24と確定した</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移籍金は最大1,700万ユーロ(約30億円)と報じられているが、内訳・最終確定性はなお未確認</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前身テーマが開示していた『合意』段階の不確実性の一部に、今回の発表で決着がついた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サッカーキング・Yahoo!ニュース・ライブドアニュース・Infoseekニュース(2026-08-08)｜定期実行159本目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