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10日、テルアビブとサンフランシスコに拠点を置くCormaが、防御専用サイバーセキュリティAIの『フロンティア研究所』を標榜し、6,000万ドルのシード資金調達とともにステルスを解除しました。今日はこの発表の中身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まず結論です。Cormaは防御専用サイバーセキュリティに特化した基盤モデルを作る『フロンティア研究所』を標榜し、Sequoia Capital主導で6,000万ドルのシード資金調達を実施したと発表しました。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今日はこの5つの流れでお伝えします。専門用語をかみ砕きながら、確定している事実と、自社発表にとどまる数字をはっきり分けて整理します。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このテーマを扱う理由は3つです。着手日からわずか1日前という新しい話題であること、攻撃と防御の対比という分かりやすい構図があること、そして異色の創業チーム構成が話題性を持つことです。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まず背景です。攻撃側でAIの利用が高度化していると指摘される中、防御側にもAIを充てるという位置づけで、Cormaは報じられています。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報道され方を見ると、Fortuneが独自取材として報じたほか、SiliconANGLEやSequoia Capital自身の公式ブログ、Yahoo Finance、Ctech、Ynetnewsといった複数のメディアが同時期に取り上げています。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時系列にするとこうです。2025年に設立され、発表の6週間前に最初のモデルを大手企業へデプロイし、2026年8月10日に資金調達とともにステルスを解除しました。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会社概要を表にまとめました。2025年設立、テルアビブとサンフランシスコに拠点を置き、テルアビブに20名の従業員を抱えています。CEOはAlon Pluda氏です。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『フロンティア研究所』とは、最先端の基盤モデル自体を独自に開発する組織を指す言葉として使われます。Cormaは、防御専用のセキュリティAIに特化した、初のフロンティア研究所を名乗っています。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Cormaが展開するAIエージェントは、既存のセキュリティツール群にまたがって動作し、人間を置き換えるのではなく『仮想従業員』のように機能する設計だとされています。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運用と比べるとこうなります。人手中心の運用に対し、Cormaは既存ツールを横断して自律的に動くエージェントを『仮想従業員』として位置づけています。対応時間の短縮はあくまで自社発表である点に留意し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資金調達額をあらためて確認します。6,000万ドルのシードラウンドをSequoia Capitalが主導し、Khosla VenturesとCoatueが参加しました。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参加した投資家を確認します。Sequoia Capitalが主導し、Khosla VenturesとCoatueが参加しました。Sequoiaは自社の公式ブログでも提携を発表しています。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人員体制です。テルアビブに20名の従業員がいると報じられています。サンフランシスコ拠点の人数は、本調査の範囲では確認できていません。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創業チームの構成です。Google・DeepMind出身のAI研究者と、イスラエルの精鋭諜報部隊Unit 8200出身のサイバーセキュリティ専門家で構成されると報じられています。ここでは事実として淡々とお伝えし、地政学的な論評は行いません。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創業チームをカードで整理しました。CEOのAlon Pluda氏のもと、AI研究とサイバーセキュリティ、異なる専門性を持つメンバーで構成されています。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ステルス解除の前段階も確認します。発表の6週間前には、最初のモデルをフォーチュン100・フォーチュン500企業にすでにデプロイしていたと報じられています。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デプロイ先とされる業界は、医療、金融サービス、エネルギー・重要インフラ、小売です。ただし具体的な企業名は、いずれの出典記事にも記載がなく不明です。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発表された数字を確認します。脅威対応時間を94%超短縮したとされていますが、これはCorma社自身の発表による自社測定値です。第三者機関による検証済みとは記載されていません。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もう1つの数字です。セキュリティカバレッジを15倍に拡大したとされていますが、これも自社測定値であり、測定方法や第三者検証の有無は出典記事に記載がなく不明です。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2つの数字を読むときの注意点です。あくまで自社発表による数値であり、測定方法や第三者検証の有無は不明です。客観的に検証済みの事実であるかのように受け取らないよう、あらためて強調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AIエージェントの位置づけを図にしました。既存のセキュリティツール群をまたいで自律的に動き、人間のセキュリティチームを置き換えるのではなく、仮想従業員として補う設計だと説明されています。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導入を検討する企業向けの確認ポイントです。権限範囲、数字の測定方法、具体的な導入事例の開示、この3点を確認することを勧めます。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立場別に整理すると、企業は独自検証を経てから判断すること、投資家・業界観察者は今後の開示を注視すること、一般の読者は業界動向の一例として捉えること、それぞれに実践的な示唆があります。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創業チームの経歴を扱う上での方針をあらためて明記します。Unit 8200出身という経歴は事実として淡々と扱い、地政学的な論評は一切行わず、あくまで経済ニュースの枠組みで整理します。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確認できなかったことを4点、一覧にしました。数字を作らず、正直に不明として扱っています。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受け止め方について整理します。自社発表の数字を過度に鵜呑みにせず、あくまで報道されている事実の範囲で慎重に受け止めていただきたいです。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最後にもう一度数字で確認します。6つの独立した情報源が、同じ時期にこの発表を報じました。単発の噂ではなく、複数の裏付けがある話題であることがわかります。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Cormaが防御専用サイバーセキュリティAIのフロンティア研究所としてステルスを解除した発表をお伝えしました。自社発表の数字を鵜呑みにせず、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攻撃側がAIを使うなら、防御側もAIを使えばいい。</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テルアビブ発のCormaが、防御専用サイバーセキュリティAIの「フロンティア研究所」として、Sequoia Capital主導の6,000万ドルのシード資金調達とともにステルスを解除した——2026年8月10日発表の要点を出典付きで整理する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Fortune / SiliconANGLE ほか(2026-08-10)。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結論を先に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6,000万ドル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Sequoia Capitalが主導し、Khosla Ventures・Coatueが参加するシード資金調達とともに、防御専用サイバーセキュリティAIの「フロンティア研究所」としてステルスを解除した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Fortune / SiliconANGLE(2026-08-10)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Cormaとは何か・なぜ今話題なのか(初心者向け解説)</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6,000万ドルの資金調達の中身(投資家・創業チーム)</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発表されたデプロイ実績と登場の背景</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実績数字(94%超短縮・15倍拡大)を自社発表という前提で読み解く</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企業が検討する際の確認ポイントと、確認できなかったこと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2026年8月10日発表で、着手日から1日前という新しい話題である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「AIが攻撃を強化する中、AIで防御を強化する」という対比構造が明確なフックになる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Google・DeepMind出身の研究者とイスラエル諜報部隊出身者という異色の創業チーム構成</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Fortune / SiliconANGLE ほか(2026-08-10)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サイバーセキュリティ業界の構図(概念図)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攻撃側</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AIを用いた攻撃の高度化が指摘されている</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防御側の課題</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人手だけでの対応には限界があるとされる</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Corma</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防御専用のAIエージェントを展開する新興企業として登場</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攻撃側の高度化に対し、防御側にもAIを充てるという位置づけで報じられている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報道され方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複数のメディアが同時期に報じています。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Fortuneが「Exclusive」として報道</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SiliconANGLE・Sequoia Capital公式ブログも同時期に発信</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Yahoo Finance・Ctech・Ynetnewsも報道</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各社(2026-08-10)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時系列</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設立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2025年、Cormaがテルアビブ/サンフランシスコで設立された</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先行デプロイ</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発表の6週間前、最初のモデルをフォーチュン100・500企業に導入</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ステルス解除</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2026年8月10日、6,000万ドルのシード調達とともに公表</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会社概要</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設立</a:t>
                      </a:r>
                    </a:p>
                  </a:txBody>
                  <a:tcPr>
                    <a:solidFill>
                      <a:srgbClr val="FFFFFF"/>
                    </a:solidFill>
                  </a:tcPr>
                </a:tc>
                <a:tc>
                  <a:txBody>
                    <a:bodyPr/>
                    <a:lstStyle/>
                    <a:p>
                      <a:pPr>
                        <a:defRPr sz="1200">
                          <a:solidFill>
                            <a:srgbClr val="16202E"/>
                          </a:solidFill>
                          <a:latin typeface="Yu Gothic"/>
                        </a:defRPr>
                      </a:pPr>
                      <a:r>
                        <a:t>2025年</a:t>
                      </a:r>
                    </a:p>
                  </a:txBody>
                  <a:tcPr>
                    <a:solidFill>
                      <a:srgbClr val="FFFFFF"/>
                    </a:solidFill>
                  </a:tcPr>
                </a:tc>
              </a:tr>
              <a:tr h="502920">
                <a:tc>
                  <a:txBody>
                    <a:bodyPr/>
                    <a:lstStyle/>
                    <a:p>
                      <a:pPr>
                        <a:defRPr sz="1200">
                          <a:solidFill>
                            <a:srgbClr val="16202E"/>
                          </a:solidFill>
                          <a:latin typeface="Yu Gothic"/>
                        </a:defRPr>
                      </a:pPr>
                      <a:r>
                        <a:t>拠点</a:t>
                      </a:r>
                    </a:p>
                  </a:txBody>
                  <a:tcPr>
                    <a:solidFill>
                      <a:srgbClr val="F2F6FA"/>
                    </a:solidFill>
                  </a:tcPr>
                </a:tc>
                <a:tc>
                  <a:txBody>
                    <a:bodyPr/>
                    <a:lstStyle/>
                    <a:p>
                      <a:pPr>
                        <a:defRPr sz="1200">
                          <a:solidFill>
                            <a:srgbClr val="16202E"/>
                          </a:solidFill>
                          <a:latin typeface="Yu Gothic"/>
                        </a:defRPr>
                      </a:pPr>
                      <a:r>
                        <a:t>テルアビブ、サンフランシスコ</a:t>
                      </a:r>
                    </a:p>
                  </a:txBody>
                  <a:tcPr>
                    <a:solidFill>
                      <a:srgbClr val="F2F6FA"/>
                    </a:solidFill>
                  </a:tcPr>
                </a:tc>
              </a:tr>
              <a:tr h="502920">
                <a:tc>
                  <a:txBody>
                    <a:bodyPr/>
                    <a:lstStyle/>
                    <a:p>
                      <a:pPr>
                        <a:defRPr sz="1200">
                          <a:solidFill>
                            <a:srgbClr val="16202E"/>
                          </a:solidFill>
                          <a:latin typeface="Yu Gothic"/>
                        </a:defRPr>
                      </a:pPr>
                      <a:r>
                        <a:t>従業員数</a:t>
                      </a:r>
                    </a:p>
                  </a:txBody>
                  <a:tcPr>
                    <a:solidFill>
                      <a:srgbClr val="FFFFFF"/>
                    </a:solidFill>
                  </a:tcPr>
                </a:tc>
                <a:tc>
                  <a:txBody>
                    <a:bodyPr/>
                    <a:lstStyle/>
                    <a:p>
                      <a:pPr>
                        <a:defRPr sz="1200">
                          <a:solidFill>
                            <a:srgbClr val="16202E"/>
                          </a:solidFill>
                          <a:latin typeface="Yu Gothic"/>
                        </a:defRPr>
                      </a:pPr>
                      <a:r>
                        <a:t>テルアビブに20名</a:t>
                      </a:r>
                    </a:p>
                  </a:txBody>
                  <a:tcPr>
                    <a:solidFill>
                      <a:srgbClr val="FFFFFF"/>
                    </a:solidFill>
                  </a:tcPr>
                </a:tc>
              </a:tr>
              <a:tr h="502920">
                <a:tc>
                  <a:txBody>
                    <a:bodyPr/>
                    <a:lstStyle/>
                    <a:p>
                      <a:pPr>
                        <a:defRPr sz="1200">
                          <a:solidFill>
                            <a:srgbClr val="16202E"/>
                          </a:solidFill>
                          <a:latin typeface="Yu Gothic"/>
                        </a:defRPr>
                      </a:pPr>
                      <a:r>
                        <a:t>CEO</a:t>
                      </a:r>
                    </a:p>
                  </a:txBody>
                  <a:tcPr>
                    <a:solidFill>
                      <a:srgbClr val="F2F6FA"/>
                    </a:solidFill>
                  </a:tcPr>
                </a:tc>
                <a:tc>
                  <a:txBody>
                    <a:bodyPr/>
                    <a:lstStyle/>
                    <a:p>
                      <a:pPr>
                        <a:defRPr sz="1200">
                          <a:solidFill>
                            <a:srgbClr val="16202E"/>
                          </a:solidFill>
                          <a:latin typeface="Yu Gothic"/>
                        </a:defRPr>
                      </a:pPr>
                      <a:r>
                        <a:t>共同創業者・Alon Pluda氏</a:t>
                      </a:r>
                    </a:p>
                  </a:txBody>
                  <a:tcPr>
                    <a:solidFill>
                      <a:srgbClr val="F2F6FA"/>
                    </a:solidFill>
                  </a:tcPr>
                </a:tc>
              </a:tr>
              <a:tr h="502920">
                <a:tc>
                  <a:txBody>
                    <a:bodyPr/>
                    <a:lstStyle/>
                    <a:p>
                      <a:pPr>
                        <a:defRPr sz="1200">
                          <a:solidFill>
                            <a:srgbClr val="16202E"/>
                          </a:solidFill>
                          <a:latin typeface="Yu Gothic"/>
                        </a:defRPr>
                      </a:pPr>
                      <a:r>
                        <a:t>主要投資家</a:t>
                      </a:r>
                    </a:p>
                  </a:txBody>
                  <a:tcPr>
                    <a:solidFill>
                      <a:srgbClr val="FFFFFF"/>
                    </a:solidFill>
                  </a:tcPr>
                </a:tc>
                <a:tc>
                  <a:txBody>
                    <a:bodyPr/>
                    <a:lstStyle/>
                    <a:p>
                      <a:pPr>
                        <a:defRPr sz="1200">
                          <a:solidFill>
                            <a:srgbClr val="16202E"/>
                          </a:solidFill>
                          <a:latin typeface="Yu Gothic"/>
                        </a:defRPr>
                      </a:pPr>
                      <a:r>
                        <a:t>Sequoia Capital(主導)、Khosla Ventures、Coatue</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Fortune / Ctech(2026-08-10)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基礎知識:「フロンティア研究所」とは(初心者向け)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専門用語を1つずつ解説します。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「フロンティア研究所」とは、最先端の基盤モデル自体を独自に開発する組織を指す言葉として使われることが多い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Cormaは「防御専用サイバーセキュリティに特化した基盤モデルを構築する初のフロンティア研究所」を標榜している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汎用AIベンダーのセキュリティ機能ではなく、防御目的に特化したモデル開発を掲げている点が特徴</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Fortune(2026-08-10)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基礎知識:「仮想従業員」型AIエージェントとは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もう1つの重要な用語です。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Cormaが展開するAIエージェントは、組織の既存セキュリティツール群にまたがって動作する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人間の労働力を置き換えるのではなく、「仮想従業員」のように機能する設計とされる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具体的な操作範囲・権限の詳細は本調査では確認できていない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Fortune / SiliconANGLE(2026-08-10)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従来の汎用セキュリティ運用 / Cormaの防御専用エージェント</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従来の汎用セキュリティ運用</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人手による監視・対応が中心</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複数ツールを人間が横断的に運用</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対応速度は人的リソースに依存</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Cormaの防御専用AIエージェント</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既存ツール群を横断して自律的に稼働</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「仮想従業員」として人間を補う設計</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対応時間短縮を掲げる(自社発表)</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シード資金調達</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6,000万ドル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Sequoia Capitalが主導し、Khosla Ventures・Coatueが参加したシードラウンド</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Fortune / SiliconANGLE(2026-08-10)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投資家一覧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Sequoia Capital</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本ラウンドを主導。公式ブログでも提携を発表</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Khosla Ventures</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シードラウンドに参加</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Coatue</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シードラウンドに参加</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テルアビブの体制</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20名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テルアビブに20名の従業員を抱える(サンフランシスコ拠点の人数は本調査では不明)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Fortune / Ctech(2026-08-10)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創業チーム構成(概念図)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AI研究者</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Google・DeepMind出身</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サイバーセキュリティ専門家</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イスラエルの精鋭諜報部隊「Unit 8200」出身</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共同創業体制</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CEOはAlon Pluda氏</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AI研究とサイバーセキュリティ、異なる専門性を持つ創業チームとして報じられている(事実として記載し、地政学的な論評は行わない)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創業チームの専門性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CEO</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Alon Pluda氏</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共同創業者・CEO</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AI</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Google・DeepMind出身研究者</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基盤モデル開発を担うとされる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Sec</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Unit 8200出身の専門家</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サイバーセキュリティの実務知見を持つとされる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発表前のデプロイ実績</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6週間前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発表の6週間前、最初のモデルをフォーチュン100・フォーチュン500企業にデプロイしたという</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Fortune / Yahoo Finance(2026-08-10)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デプロイ先とされる業界(社名は不明)</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医療</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デプロイ先の業界として挙げられている</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金融サービス</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同上</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エネルギー・重要インフラ</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同上</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小売</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同上</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発表された実績数字(1)</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94%超短縮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脅威対応時間を94%超短縮したという、Corma社自身の発表による自社測定値(第三者検証済みとは記載されていない)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Corma社発表(Fortune / SiliconANGLE 2026-08-10経由)</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発表された実績数字(2)</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15倍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セキュリティカバレッジを15倍に拡大したという、Corma社自身の発表による自社測定値(測定方法・第三者検証の有無は不明)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Corma社発表(Fortune / SiliconANGLE 2026-08-10経由)</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この2つの数字を読むときの注意点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誇張して受け取らないための整理です。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94%超短縮・15倍拡大はいずれもCorma社自身が発表した数値である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測定期間・比較対象・算出方法は出典記事に記載がなく不明</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第三者機関による独立検証が行われたとは、いずれの出典記事にも記載されていない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Fortune / SiliconANGLE(2026-08-10)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「仮想従業員」型AIエージェントの位置づけ(概念図)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既存のセキュリティツール群</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組織がすでに導入しているツール</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Cormaのエージェント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ツール群をまたいで自律的に動作</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人間のセキュリティチーム</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置き換えではなく、仮想従業員として補う設計とされる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既存ツールを横断して動く自律エージェントを、人間の代わりではなく補完役として位置づけている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企業が検討する際の確認ポイント</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権限範囲</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AIエージェントに与える操作権限の範囲を確認する</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数字の検証</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94%超・15倍という数字の測定方法を自社環境で確認する</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導入実績</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同業種での具体的な導入事例(社名)の開示を確認する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立場別の実践的示唆</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導入を検討する企業として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自社測定値である旨を踏まえ、独自の検証・PoCを経てから判断する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投資家・業界観察者として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創業チームの専門性と、今後の顧客開示の有無を注視する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一般の読者として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「防御側もAIを使う」という業界動向の一例として捉える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政治的中立性についての方針</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創業チームの経歴を扱う上での方針です。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創業チームにUnit 8200出身者が含まれる点は事実として淡々と扱う</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地政学的な論評・意見・評価は一切行わない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企業の技術・資金調達・製品という経済ニュースの枠組みに終始する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本シリーズの制作方針</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状況</a:t>
                      </a:r>
                    </a:p>
                  </a:txBody>
                  <a:tcPr>
                    <a:solidFill>
                      <a:srgbClr val="1B3A5C"/>
                    </a:solidFill>
                  </a:tcPr>
                </a:tc>
              </a:tr>
              <a:tr h="502920">
                <a:tc>
                  <a:txBody>
                    <a:bodyPr/>
                    <a:lstStyle/>
                    <a:p>
                      <a:pPr>
                        <a:defRPr sz="1200">
                          <a:solidFill>
                            <a:srgbClr val="16202E"/>
                          </a:solidFill>
                          <a:latin typeface="Yu Gothic"/>
                        </a:defRPr>
                      </a:pPr>
                      <a:r>
                        <a:t>デプロイ先のフォーチュン100・500企業の具体的な社名</a:t>
                      </a:r>
                    </a:p>
                  </a:txBody>
                  <a:tcPr>
                    <a:solidFill>
                      <a:srgbClr val="FFFFFF"/>
                    </a:solidFill>
                  </a:tcPr>
                </a:tc>
                <a:tc>
                  <a:txBody>
                    <a:bodyPr/>
                    <a:lstStyle/>
                    <a:p>
                      <a:pPr>
                        <a:defRPr sz="1200">
                          <a:solidFill>
                            <a:srgbClr val="16202E"/>
                          </a:solidFill>
                          <a:latin typeface="Yu Gothic"/>
                        </a:defRPr>
                      </a:pPr>
                      <a:r>
                        <a:t>本調査の範囲では確認できていない</a:t>
                      </a:r>
                    </a:p>
                  </a:txBody>
                  <a:tcPr>
                    <a:solidFill>
                      <a:srgbClr val="FFFFFF"/>
                    </a:solidFill>
                  </a:tcPr>
                </a:tc>
              </a:tr>
              <a:tr h="502920">
                <a:tc>
                  <a:txBody>
                    <a:bodyPr/>
                    <a:lstStyle/>
                    <a:p>
                      <a:pPr>
                        <a:defRPr sz="1200">
                          <a:solidFill>
                            <a:srgbClr val="16202E"/>
                          </a:solidFill>
                          <a:latin typeface="Yu Gothic"/>
                        </a:defRPr>
                      </a:pPr>
                      <a:r>
                        <a:t>94%超・15倍という数字の測定方法・第三者検証の有無</a:t>
                      </a:r>
                    </a:p>
                  </a:txBody>
                  <a:tcPr>
                    <a:solidFill>
                      <a:srgbClr val="F2F6FA"/>
                    </a:solidFill>
                  </a:tcPr>
                </a:tc>
                <a:tc>
                  <a:txBody>
                    <a:bodyPr/>
                    <a:lstStyle/>
                    <a:p>
                      <a:pPr>
                        <a:defRPr sz="1200">
                          <a:solidFill>
                            <a:srgbClr val="16202E"/>
                          </a:solidFill>
                          <a:latin typeface="Yu Gothic"/>
                        </a:defRPr>
                      </a:pPr>
                      <a:r>
                        <a:t>本調査の範囲では確認できていない</a:t>
                      </a:r>
                    </a:p>
                  </a:txBody>
                  <a:tcPr>
                    <a:solidFill>
                      <a:srgbClr val="F2F6FA"/>
                    </a:solidFill>
                  </a:tcPr>
                </a:tc>
              </a:tr>
              <a:tr h="502920">
                <a:tc>
                  <a:txBody>
                    <a:bodyPr/>
                    <a:lstStyle/>
                    <a:p>
                      <a:pPr>
                        <a:defRPr sz="1200">
                          <a:solidFill>
                            <a:srgbClr val="16202E"/>
                          </a:solidFill>
                          <a:latin typeface="Yu Gothic"/>
                        </a:defRPr>
                      </a:pPr>
                      <a:r>
                        <a:t>今後の一般提供時期・料金体系</a:t>
                      </a:r>
                    </a:p>
                  </a:txBody>
                  <a:tcPr>
                    <a:solidFill>
                      <a:srgbClr val="FFFFFF"/>
                    </a:solidFill>
                  </a:tcPr>
                </a:tc>
                <a:tc>
                  <a:txBody>
                    <a:bodyPr/>
                    <a:lstStyle/>
                    <a:p>
                      <a:pPr>
                        <a:defRPr sz="1200">
                          <a:solidFill>
                            <a:srgbClr val="16202E"/>
                          </a:solidFill>
                          <a:latin typeface="Yu Gothic"/>
                        </a:defRPr>
                      </a:pPr>
                      <a:r>
                        <a:t>本調査の範囲では確認できていない</a:t>
                      </a:r>
                    </a:p>
                  </a:txBody>
                  <a:tcPr>
                    <a:solidFill>
                      <a:srgbClr val="FFFFFF"/>
                    </a:solidFill>
                  </a:tcPr>
                </a:tc>
              </a:tr>
              <a:tr h="502920">
                <a:tc>
                  <a:txBody>
                    <a:bodyPr/>
                    <a:lstStyle/>
                    <a:p>
                      <a:pPr>
                        <a:defRPr sz="1200">
                          <a:solidFill>
                            <a:srgbClr val="16202E"/>
                          </a:solidFill>
                          <a:latin typeface="Yu Gothic"/>
                        </a:defRPr>
                      </a:pPr>
                      <a:r>
                        <a:t>企業評価額(バリュエーション)</a:t>
                      </a:r>
                    </a:p>
                  </a:txBody>
                  <a:tcPr>
                    <a:solidFill>
                      <a:srgbClr val="F2F6FA"/>
                    </a:solidFill>
                  </a:tcPr>
                </a:tc>
                <a:tc>
                  <a:txBody>
                    <a:bodyPr/>
                    <a:lstStyle/>
                    <a:p>
                      <a:pPr>
                        <a:defRPr sz="1200">
                          <a:solidFill>
                            <a:srgbClr val="16202E"/>
                          </a:solidFill>
                          <a:latin typeface="Yu Gothic"/>
                        </a:defRPr>
                      </a:pPr>
                      <a:r>
                        <a:t>本調査の範囲では確認できていない</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読み解く上での注意点</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本テーマを見るときに意識しておきたい点です。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発表された実績数字を、第三者検証済みの客観的事実であるかのように断定しない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あくまで報道されている範囲の事実にとどめる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特定企業・製品の利用を強く推奨する結論にはしない</a:t>
            </a:r>
          </a:p>
        </p:txBody>
      </p:sp>
      <p:sp>
        <p:nvSpPr>
          <p:cNvPr id="13" name="Oval 12"/>
          <p:cNvSpPr/>
          <p:nvPr/>
        </p:nvSpPr>
        <p:spPr>
          <a:xfrm>
            <a:off x="457200" y="445312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続報が出た場合、本テーマの内容を更新する必要がある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6メディアが同時期に報道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Fortune・SiliconANGLE・Sequoia Capital公式ブログ・Yahoo Finance・Ctech・Ynetnewsが、独立して同じ発表を報じた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各社(2026-08-10)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主な出典一覧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3A5C"/>
                    </a:solidFill>
                  </a:tcPr>
                </a:tc>
                <a:tc>
                  <a:txBody>
                    <a:bodyPr/>
                    <a:lstStyle/>
                    <a:p>
                      <a:pPr>
                        <a:defRPr sz="1300" b="1">
                          <a:solidFill>
                            <a:srgbClr val="FFFFFF"/>
                          </a:solidFill>
                          <a:latin typeface="Yu Gothic"/>
                        </a:defRPr>
                      </a:pPr>
                      <a:r>
                        <a:t>報道日</a:t>
                      </a:r>
                    </a:p>
                  </a:txBody>
                  <a:tcPr>
                    <a:solidFill>
                      <a:srgbClr val="1B3A5C"/>
                    </a:solidFill>
                  </a:tcPr>
                </a:tc>
              </a:tr>
              <a:tr h="502920">
                <a:tc>
                  <a:txBody>
                    <a:bodyPr/>
                    <a:lstStyle/>
                    <a:p>
                      <a:pPr>
                        <a:defRPr sz="1200">
                          <a:solidFill>
                            <a:srgbClr val="16202E"/>
                          </a:solidFill>
                          <a:latin typeface="Yu Gothic"/>
                        </a:defRPr>
                      </a:pPr>
                      <a:r>
                        <a:t>Fortune</a:t>
                      </a:r>
                    </a:p>
                  </a:txBody>
                  <a:tcPr>
                    <a:solidFill>
                      <a:srgbClr val="FFFFFF"/>
                    </a:solidFill>
                  </a:tcPr>
                </a:tc>
                <a:tc>
                  <a:txBody>
                    <a:bodyPr/>
                    <a:lstStyle/>
                    <a:p>
                      <a:pPr>
                        <a:defRPr sz="1200">
                          <a:solidFill>
                            <a:srgbClr val="16202E"/>
                          </a:solidFill>
                          <a:latin typeface="Yu Gothic"/>
                        </a:defRPr>
                      </a:pPr>
                      <a:r>
                        <a:t>2026-08-10</a:t>
                      </a:r>
                    </a:p>
                  </a:txBody>
                  <a:tcPr>
                    <a:solidFill>
                      <a:srgbClr val="FFFFFF"/>
                    </a:solidFill>
                  </a:tcPr>
                </a:tc>
              </a:tr>
              <a:tr h="502920">
                <a:tc>
                  <a:txBody>
                    <a:bodyPr/>
                    <a:lstStyle/>
                    <a:p>
                      <a:pPr>
                        <a:defRPr sz="1200">
                          <a:solidFill>
                            <a:srgbClr val="16202E"/>
                          </a:solidFill>
                          <a:latin typeface="Yu Gothic"/>
                        </a:defRPr>
                      </a:pPr>
                      <a:r>
                        <a:t>SiliconANGLE</a:t>
                      </a:r>
                    </a:p>
                  </a:txBody>
                  <a:tcPr>
                    <a:solidFill>
                      <a:srgbClr val="F2F6FA"/>
                    </a:solidFill>
                  </a:tcPr>
                </a:tc>
                <a:tc>
                  <a:txBody>
                    <a:bodyPr/>
                    <a:lstStyle/>
                    <a:p>
                      <a:pPr>
                        <a:defRPr sz="1200">
                          <a:solidFill>
                            <a:srgbClr val="16202E"/>
                          </a:solidFill>
                          <a:latin typeface="Yu Gothic"/>
                        </a:defRPr>
                      </a:pPr>
                      <a:r>
                        <a:t>2026-08-10</a:t>
                      </a:r>
                    </a:p>
                  </a:txBody>
                  <a:tcPr>
                    <a:solidFill>
                      <a:srgbClr val="F2F6FA"/>
                    </a:solidFill>
                  </a:tcPr>
                </a:tc>
              </a:tr>
              <a:tr h="502920">
                <a:tc>
                  <a:txBody>
                    <a:bodyPr/>
                    <a:lstStyle/>
                    <a:p>
                      <a:pPr>
                        <a:defRPr sz="1200">
                          <a:solidFill>
                            <a:srgbClr val="16202E"/>
                          </a:solidFill>
                          <a:latin typeface="Yu Gothic"/>
                        </a:defRPr>
                      </a:pPr>
                      <a:r>
                        <a:t>Sequoia Capital公式ブログ</a:t>
                      </a:r>
                    </a:p>
                  </a:txBody>
                  <a:tcPr>
                    <a:solidFill>
                      <a:srgbClr val="FFFFFF"/>
                    </a:solidFill>
                  </a:tcPr>
                </a:tc>
                <a:tc>
                  <a:txBody>
                    <a:bodyPr/>
                    <a:lstStyle/>
                    <a:p>
                      <a:pPr>
                        <a:defRPr sz="1200">
                          <a:solidFill>
                            <a:srgbClr val="16202E"/>
                          </a:solidFill>
                          <a:latin typeface="Yu Gothic"/>
                        </a:defRPr>
                      </a:pPr>
                      <a:r>
                        <a:t>2026-08-10</a:t>
                      </a:r>
                    </a:p>
                  </a:txBody>
                  <a:tcPr>
                    <a:solidFill>
                      <a:srgbClr val="FFFFFF"/>
                    </a:solidFill>
                  </a:tcPr>
                </a:tc>
              </a:tr>
              <a:tr h="502920">
                <a:tc>
                  <a:txBody>
                    <a:bodyPr/>
                    <a:lstStyle/>
                    <a:p>
                      <a:pPr>
                        <a:defRPr sz="1200">
                          <a:solidFill>
                            <a:srgbClr val="16202E"/>
                          </a:solidFill>
                          <a:latin typeface="Yu Gothic"/>
                        </a:defRPr>
                      </a:pPr>
                      <a:r>
                        <a:t>Yahoo Finance</a:t>
                      </a:r>
                    </a:p>
                  </a:txBody>
                  <a:tcPr>
                    <a:solidFill>
                      <a:srgbClr val="F2F6FA"/>
                    </a:solidFill>
                  </a:tcPr>
                </a:tc>
                <a:tc>
                  <a:txBody>
                    <a:bodyPr/>
                    <a:lstStyle/>
                    <a:p>
                      <a:pPr>
                        <a:defRPr sz="1200">
                          <a:solidFill>
                            <a:srgbClr val="16202E"/>
                          </a:solidFill>
                          <a:latin typeface="Yu Gothic"/>
                        </a:defRPr>
                      </a:pPr>
                      <a:r>
                        <a:t>2026-08-10</a:t>
                      </a:r>
                    </a:p>
                  </a:txBody>
                  <a:tcPr>
                    <a:solidFill>
                      <a:srgbClr val="F2F6FA"/>
                    </a:solidFill>
                  </a:tcPr>
                </a:tc>
              </a:tr>
              <a:tr h="502920">
                <a:tc>
                  <a:txBody>
                    <a:bodyPr/>
                    <a:lstStyle/>
                    <a:p>
                      <a:pPr>
                        <a:defRPr sz="1200">
                          <a:solidFill>
                            <a:srgbClr val="16202E"/>
                          </a:solidFill>
                          <a:latin typeface="Yu Gothic"/>
                        </a:defRPr>
                      </a:pPr>
                      <a:r>
                        <a:t>Ctech</a:t>
                      </a:r>
                    </a:p>
                  </a:txBody>
                  <a:tcPr>
                    <a:solidFill>
                      <a:srgbClr val="FFFFFF"/>
                    </a:solidFill>
                  </a:tcPr>
                </a:tc>
                <a:tc>
                  <a:txBody>
                    <a:bodyPr/>
                    <a:lstStyle/>
                    <a:p>
                      <a:pPr>
                        <a:defRPr sz="1200">
                          <a:solidFill>
                            <a:srgbClr val="16202E"/>
                          </a:solidFill>
                          <a:latin typeface="Yu Gothic"/>
                        </a:defRPr>
                      </a:pPr>
                      <a:r>
                        <a:t>2026-08-10</a:t>
                      </a:r>
                    </a:p>
                  </a:txBody>
                  <a:tcPr>
                    <a:solidFill>
                      <a:srgbClr val="FFFFFF"/>
                    </a:solidFill>
                  </a:tcPr>
                </a:tc>
              </a:tr>
              <a:tr h="502920">
                <a:tc>
                  <a:txBody>
                    <a:bodyPr/>
                    <a:lstStyle/>
                    <a:p>
                      <a:pPr>
                        <a:defRPr sz="1200">
                          <a:solidFill>
                            <a:srgbClr val="16202E"/>
                          </a:solidFill>
                          <a:latin typeface="Yu Gothic"/>
                        </a:defRPr>
                      </a:pPr>
                      <a:r>
                        <a:t>Ynetnews</a:t>
                      </a:r>
                    </a:p>
                  </a:txBody>
                  <a:tcPr>
                    <a:solidFill>
                      <a:srgbClr val="F2F6FA"/>
                    </a:solidFill>
                  </a:tcPr>
                </a:tc>
                <a:tc>
                  <a:txBody>
                    <a:bodyPr/>
                    <a:lstStyle/>
                    <a:p>
                      <a:pPr>
                        <a:defRPr sz="1200">
                          <a:solidFill>
                            <a:srgbClr val="16202E"/>
                          </a:solidFill>
                          <a:latin typeface="Yu Gothic"/>
                        </a:defRPr>
                      </a:pPr>
                      <a:r>
                        <a:t>2026-08-10</a:t>
                      </a:r>
                    </a:p>
                  </a:txBody>
                  <a:tcPr>
                    <a:solidFill>
                      <a:srgbClr val="F2F6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Fortune / SiliconANGLEほか(2026-08-10報道)｜167本目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攻撃側がAIを使うなら、防御側もAIを使う。ただし数字は自社発表であることを忘れずに。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特定企業・製品の利用を強く推奨する結論や、第三者検証済みであるかのような断定は一切行っていません。</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