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2026年8月11日、SUPERAGENT AI社が保険代理店向けAI『ビジネスパートナー』SUPERAGENT 3.0を一般公開しました。画面操作の代わりに、会話だけで業務を進めるという設計です。今日はこの発表内容を出典付きで整理してお伝えします。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まず結論からお伝えします。電話対応からトレーニングまで、保険代理店の日常業務の多くを、単一の会話インターフェースで動かせるAIが一般公開されたというのが今回の要点です。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今日はこの5つの流れでお伝えします。専門用語をかみ砕きながら、事実と自己評価をはっきり分けて整理します。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このテーマは着手日から1日以内という新しい発表に基づいています。しかも画面操作を会話に置き換えるという、業務ソフトのあり方そのものに関わる変化が注目点です。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SUPERAGENT AIは、保険代理店向けにAI製品を開発する企業です。2025年設立、サンフランシスコ拠点とされています。『ビジネスパートナー』は、画面操作ではなく会話で指示するAIという位置づけで呼ばれています。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保険代理店は、保険会社と契約者の間に立って提案や手続きを行う事業者で、見積もりや電話フォローなど日常業務の量が多い業種です。SUPERAGENT 3.0は、この業務を会話形式で代替することを狙っています。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全体の構造を図にするとこうです。会話での指示を起点に、データに変更を加える前は必ず許可を求め、電話対応まで含めて実行する、という流れです。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従来型のソフトと比べます。画面をクリックして進める操作から、会話で指示するだけの操作へ。ツールを使い分ける形から、単一インターフェースで完結する形への転換です。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報じられている範囲で流れを3ステップに整理しました。会話で指示し、変更前には必ず確認を取り、電話対応まで含めて実行する、という流れです。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単一の会話インターフェースでこなす業務を3つに整理しました。電話対応、営業支援、品質改善です。それぞれ次のスライドから詳しく見ていきます。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具体的な指示の例を見てみましょう。『今四半期に失注した全リードへの巻き返しキャンペーンを作って』と伝えると、電話ステップまで含めた実行可能なプレイブックを生成するとされています。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この具体例を流れにすると、指示・生成・実行の3ステップです。担当者が細かい手順を組み立てなくても、電話ステップまで含めたプレイブックが用意される形です。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通話分析の機能です。顧客対応を8つの評価軸でスコアリングし、どの断り文句が成約を妨げているかを特定できるとされています。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数字で確認します。顧客対応は8つの評価軸でスコアリングされ、成約を妨げている断り文句を特定できるとされています。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困難な顧客対応をAIトレーニングペルソナとして再現し、担当者がロールプレイで練習できる機能もあります。通話分析で見つかった断り文句のパターンと連動していると考えられます。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ここまでの主要機能を3つにまとめました。許可を求める仕組み、単一の会話インターフェース、そしてセルフオンボーディングです。次は料金と利用開始方法を見ていきます。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料金プランは、Pro(月額約499ドルから)、Scale(月額約999ドル)、個別見積もりのEnterpriseの3段階で、14日間の無料トライアルもあるとされています。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利用開始までの流れです。公開登録から、チャット誘導型のセルフオンボーディングを経て、会話形式での利用開始まで進みます。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3.0で確認できている変更点は、セルフオンボーディングによる公開登録の実現と、一般公開というタイミングです。以前のバージョンとの詳細な機能差分までは確認できておらず、不明として扱っています。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同社はこの発表を『保険業界史上最大のAIローンチ』と自称しています。ここで強調したいのは、これはSUPERAGENT AI社自身の自己評価であり、独立した第三者機関による評価ではないという点です。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見出しの印象と実際の内容には、しばしばギャップがあります。今回のケースでも、『史上最大』は同社の自己評価であり、客観的な裏付けとなる実績数値は非公開である点を押さえておく必要があります。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確認できなかったことを4点、一覧にしました。導入代理店数は同社の自己申告で500以上とされますが独立監査はなく、それ以外の数字や詳細も推測で埋めず、正直に不明として扱っています。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ここから事実と推測を分けます。公開日時や機能の概要は複数メディアが確認していますが、設計意図の解釈や対象顧客層の見立ては当社の見方であることを明確にします。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既存テーマ(Corgi、74本目)との関係を整理しました。企業・製品・扱う業務範囲がいずれも異なるため、重複ではないことを確認しています。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ここからは、視聴者にとって具体的に何を意味するかです。保険代理店経営者、現場の担当者、AIニュースを追う立場、それぞれで意識したい点をまとめました。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本テーマの鮮度を数字で確認します。中心となる発表・報道は2026年8月11日、着手日は8月12日で、2日以内という基準を満たしています。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ここで一度立ち止まります。本テーマは自己評価を含む発表内容を扱いますが、誇張や断定を避け、事実と自己評価を分けた整理に徹しています。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今後起こりうる展開を3つ挙げましたが、いずれも現時点では確定していません。続報が出た際にはこのテーマの内容も更新する必要があります。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本編は以上です。今回はSUPERAGENT AI社が保険代理店向けAI『ビジネスパートナー』SUPERAGENT 3.0を一般公開した経緯をお伝えしました。称賛や誇張ではなく、事実と自己評価を分けた整理に留めています。次回もまた出典付きでお届けします。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保険屋の仕事が、会話だけで終わる日が来た。</a:t>
            </a:r>
          </a:p>
          <a:p>
            <a:pPr algn="l">
              <a:lnSpc>
                <a:spcPct val="115000"/>
              </a:lnSpc>
            </a:pPr>
            <a:r>
              <a:rPr sz="4200" b="1">
                <a:solidFill>
                  <a:srgbClr val="FFFFFF"/>
                </a:solidFill>
                <a:latin typeface="Yu Gothic"/>
              </a:rPr>
              <a:t>SUPERAGENT AI社が、保険代理店向けAI「ビジネスパートナー」</a:t>
            </a:r>
          </a:p>
          <a:p>
            <a:pPr algn="l">
              <a:lnSpc>
                <a:spcPct val="115000"/>
              </a:lnSpc>
            </a:pPr>
            <a:r>
              <a:rPr sz="4200" b="1">
                <a:solidFill>
                  <a:srgbClr val="FFFFFF"/>
                </a:solidFill>
                <a:latin typeface="Yu Gothic"/>
              </a:rPr>
              <a:t>SUPERAGENT 3.0を一般公開した。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画面をクリックする代わりに、会話だけで電話対応から見積もりまで動かす――出典付きで整理する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Yahoo Finance・PRWeb・FFNews・BusinessWire(いずれも2026-08-11)。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会話だけで完結する保険代理店業務</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電話対応・キャンペーン・見積もり・データ取得・通話分析・担当者トレーニングまでを、単一の会話インターフェースで動かすAI『ビジネスパートナー』が一般公開された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Yahoo Finance(2026-08-11)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SUPERAGENT 3.0が何を、どう変えるのか(初心者向け解説つき)</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具体的にどんな業務を会話でこなせるのか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料金・利用開始方法</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「業界史上最大」という自己評価をどう見るべきか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2026年8月11日、太平洋時間午前8時からのライブ配信で一般公開され、複数の独立したメディアが同日に報じた(着手日の1日前)</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画面操作型ソフトを会話型AIに置き換えるという、業務ソフトのあり方に関わる変化</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保険代理店という具体的な業種に絞った実例として分かりやすい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 Finance / PRWeb(2026-08-11)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「SUPERAGENT AI」とは何か(初心者向け)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本題に入る前に、前提を確認します。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保険代理店向けにAI製品を開発する企業(2025年設立、米国サンフランシスコ拠点とされる)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「ビジネスパートナー」とは、画面操作ではなく会話で指示するAIという位置づけの呼び方</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SUPERAGENT 3.0は、同社製品の最新バージョンとして2026年8月11日に一般公開された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 Finance(2026-08-11)/ 同社発表文</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「保険代理店」とは何か(初心者向け)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もう一つの前提を確認します。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保険会社と契約者の間に立ち、保険商品の提案・契約手続き・アフターサポートを行う事業者</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見積もり作成・電話でのフォロー・契約更新の案内など、日常的な業務量が多い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SUPERAGENT 3.0は、この日常業務の多くを会話形式で代替することを狙う製品</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SUPERAGENT 3.0の基本構造(概念図)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会話で指示する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画面操作の代わりに、自然な会話でリクエストする</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変更前に必ず許可を求める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代理店のデータに変更を加える前に確認する</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電話ステップまで含めて実行する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生成したプレイブックを、電話対応まで含めて実行する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会話での指示を起点に、必ず許可を求めたうえで、電話対応まで含めた業務を実行する構造</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 Finance(2026-08-11)</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従来型の保険代理店ソフト / SUPERAGENT 3.0の違い</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従来型の保険代理店ソフト</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画面をクリックして進める操作</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機能ごとに別のツールを使い分ける</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変更内容の確認は担当者の手作業に依存する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SUPERAGENT 3.0</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会話で指示するだけで動く</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電話・キャンペーン・見積もり等を単一インターフェースで扱う</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データ変更前に必ず許可を求める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会話から実行までの流れ(報じられている範囲)</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①指示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会話形式で、やりたいことをそのまま伝える</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②確認</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データに変更を加える前に、必ず許可を求める</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③実行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電話ステップまで含めて、実行可能な形で業務を進める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単一インターフェースでこなす業務(概観)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電話対応</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インバウンド・アウトバウンドの通話をこなす</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営業支援</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キャンペーン作成・見積もり・データ取得を行う</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品質改善</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通話分析・担当者トレーニングを行う</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 Finance(2026-08-11)</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具体的な指示の例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「今四半期に失注した全リードへの巻き返しキャンペーンを作って」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このように指示すると、電話ステップまで含めた実行可能なプレイブックを生成するという利用例が紹介されている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Yahoo Finance(2026-08-11)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プレイブック生成の流れ(この具体例の場合)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指示</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『失注リードへの巻き返しキャンペーンを作って』と会話で伝える</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生成</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電話ステップまで含めた、実行可能なプレイブックを生成する</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実行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プレイブックに沿って、キャンペーンを実際に進める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通話分析: 8つの評価軸でスコアリング</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通話分析の機能を確認します。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顧客対応を8つの評価軸でスコアリングする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どの断り文句(objection)が成約を妨げているかを特定できる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担当者ごと・キャンペーンごとの傾向把握に使えると考えられる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 Finance(2026-08-11)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通話分析の評価軸</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8つの評価軸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顧客対応を8つの評価軸でスコアリングし、成約を妨げている断り文句を特定できるとされる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Yahoo Finance(2026-08-11)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担当者トレーニング: AIペルソナのロールプレイ</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もう一つの特徴的な機能です。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困難な顧客対応を、AIトレーニングペルソナとして再現する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担当者は、このAIペルソナ相手にロールプレイで練習できる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実際の断り文句パターン(前スライドの通話分析)と連動していると考えられる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 Finance(2026-08-11)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主要機能まとめ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A</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許可を求める仕組み</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データに変更を加える前に、必ず確認を取る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B</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単一の会話インターフェース</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電話・キャンペーン・見積もり・分析・トレーニングを1つの窓口で扱う</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C</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セルフオンボーディング</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チャット誘導型で、公開登録から利用を始められる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 Finance(2026-08-11)</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料金プラン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プラン</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Pro</a:t>
                      </a:r>
                    </a:p>
                  </a:txBody>
                  <a:tcPr>
                    <a:solidFill>
                      <a:srgbClr val="FFFFFF"/>
                    </a:solidFill>
                  </a:tcPr>
                </a:tc>
                <a:tc>
                  <a:txBody>
                    <a:bodyPr/>
                    <a:lstStyle/>
                    <a:p>
                      <a:pPr>
                        <a:defRPr sz="1200">
                          <a:solidFill>
                            <a:srgbClr val="121C1F"/>
                          </a:solidFill>
                          <a:latin typeface="Yu Gothic"/>
                        </a:defRPr>
                      </a:pPr>
                      <a:r>
                        <a:t>月額約499ドルから</a:t>
                      </a:r>
                    </a:p>
                  </a:txBody>
                  <a:tcPr>
                    <a:solidFill>
                      <a:srgbClr val="FFFFFF"/>
                    </a:solidFill>
                  </a:tcPr>
                </a:tc>
              </a:tr>
              <a:tr h="502920">
                <a:tc>
                  <a:txBody>
                    <a:bodyPr/>
                    <a:lstStyle/>
                    <a:p>
                      <a:pPr>
                        <a:defRPr sz="1200">
                          <a:solidFill>
                            <a:srgbClr val="121C1F"/>
                          </a:solidFill>
                          <a:latin typeface="Yu Gothic"/>
                        </a:defRPr>
                      </a:pPr>
                      <a:r>
                        <a:t>Scale</a:t>
                      </a:r>
                    </a:p>
                  </a:txBody>
                  <a:tcPr>
                    <a:solidFill>
                      <a:srgbClr val="F0F7F4"/>
                    </a:solidFill>
                  </a:tcPr>
                </a:tc>
                <a:tc>
                  <a:txBody>
                    <a:bodyPr/>
                    <a:lstStyle/>
                    <a:p>
                      <a:pPr>
                        <a:defRPr sz="1200">
                          <a:solidFill>
                            <a:srgbClr val="121C1F"/>
                          </a:solidFill>
                          <a:latin typeface="Yu Gothic"/>
                        </a:defRPr>
                      </a:pPr>
                      <a:r>
                        <a:t>月額約999ドル</a:t>
                      </a:r>
                    </a:p>
                  </a:txBody>
                  <a:tcPr>
                    <a:solidFill>
                      <a:srgbClr val="F0F7F4"/>
                    </a:solidFill>
                  </a:tcPr>
                </a:tc>
              </a:tr>
              <a:tr h="502920">
                <a:tc>
                  <a:txBody>
                    <a:bodyPr/>
                    <a:lstStyle/>
                    <a:p>
                      <a:pPr>
                        <a:defRPr sz="1200">
                          <a:solidFill>
                            <a:srgbClr val="121C1F"/>
                          </a:solidFill>
                          <a:latin typeface="Yu Gothic"/>
                        </a:defRPr>
                      </a:pPr>
                      <a:r>
                        <a:t>Enterprise</a:t>
                      </a:r>
                    </a:p>
                  </a:txBody>
                  <a:tcPr>
                    <a:solidFill>
                      <a:srgbClr val="FFFFFF"/>
                    </a:solidFill>
                  </a:tcPr>
                </a:tc>
                <a:tc>
                  <a:txBody>
                    <a:bodyPr/>
                    <a:lstStyle/>
                    <a:p>
                      <a:pPr>
                        <a:defRPr sz="1200">
                          <a:solidFill>
                            <a:srgbClr val="121C1F"/>
                          </a:solidFill>
                          <a:latin typeface="Yu Gothic"/>
                        </a:defRPr>
                      </a:pPr>
                      <a:r>
                        <a:t>個別見積もり(カスタムプラン)</a:t>
                      </a:r>
                    </a:p>
                  </a:txBody>
                  <a:tcPr>
                    <a:solidFill>
                      <a:srgbClr val="FFFFFF"/>
                    </a:solidFill>
                  </a:tcPr>
                </a:tc>
              </a:tr>
              <a:tr h="502920">
                <a:tc>
                  <a:txBody>
                    <a:bodyPr/>
                    <a:lstStyle/>
                    <a:p>
                      <a:pPr>
                        <a:defRPr sz="1200">
                          <a:solidFill>
                            <a:srgbClr val="121C1F"/>
                          </a:solidFill>
                          <a:latin typeface="Yu Gothic"/>
                        </a:defRPr>
                      </a:pPr>
                      <a:r>
                        <a:t>無料トライアル</a:t>
                      </a:r>
                    </a:p>
                  </a:txBody>
                  <a:tcPr>
                    <a:solidFill>
                      <a:srgbClr val="F0F7F4"/>
                    </a:solidFill>
                  </a:tcPr>
                </a:tc>
                <a:tc>
                  <a:txBody>
                    <a:bodyPr/>
                    <a:lstStyle/>
                    <a:p>
                      <a:pPr>
                        <a:defRPr sz="1200">
                          <a:solidFill>
                            <a:srgbClr val="121C1F"/>
                          </a:solidFill>
                          <a:latin typeface="Yu Gothic"/>
                        </a:defRPr>
                      </a:pPr>
                      <a:r>
                        <a:t>14日間</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 Finance(2026-08-11、検索結果の要約に基づく)</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利用開始までの流れ(セルフオンボーディング)</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①公開登録</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特別な営業対応を待たず、公開されたページから登録を始められる</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②チャットで案内</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チャット誘導型のセルフオンボーディングで、設定を進める</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③利用開始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会話形式で、電話対応やキャンペーン作成などを始められる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3.0で新しくなった点(確認できている範囲)</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バージョン3.0で確認できている変更点です。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チャット誘導型のセルフオンボーディングによる公開登録が可能になった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一般公開(Available to the Public)というタイミングでの発表</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それ以前のバージョンとの詳細な機能差分は、本調査の範囲では確認できていない(不明)</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Yahoo Finance(2026-08-11)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同社が使った表現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「保険業界史上最大のAIローンチ」</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これはSUPERAGENT AI社自身による自己評価であり、独立した第三者機関による評価・ランキングではない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Yahoo Finance / PRWeb(2026-08-11、同社発表文言)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見出しの印象 / 実際に確認できる事実</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業界で最大の出来事だと客観的に証明されている</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誰もが認める歴史的な発表</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数字的な裏付けがある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実際に確認できる事実</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SUPERAGENT AI社自身の自己評価である</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独立した第三者評価・ランキングは本調査の範囲では確認できていない</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導入代理店数・利用者数などの実績数値は非公開(不明)</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状況</a:t>
                      </a:r>
                    </a:p>
                  </a:txBody>
                  <a:tcPr>
                    <a:solidFill>
                      <a:srgbClr val="1B2A2E"/>
                    </a:solidFill>
                  </a:tcPr>
                </a:tc>
              </a:tr>
              <a:tr h="502920">
                <a:tc>
                  <a:txBody>
                    <a:bodyPr/>
                    <a:lstStyle/>
                    <a:p>
                      <a:pPr>
                        <a:defRPr sz="1200">
                          <a:solidFill>
                            <a:srgbClr val="121C1F"/>
                          </a:solidFill>
                          <a:latin typeface="Yu Gothic"/>
                        </a:defRPr>
                      </a:pPr>
                      <a:r>
                        <a:t>実際の導入代理店数の独立検証</a:t>
                      </a:r>
                    </a:p>
                  </a:txBody>
                  <a:tcPr>
                    <a:solidFill>
                      <a:srgbClr val="FFFFFF"/>
                    </a:solidFill>
                  </a:tcPr>
                </a:tc>
                <a:tc>
                  <a:txBody>
                    <a:bodyPr/>
                    <a:lstStyle/>
                    <a:p>
                      <a:pPr>
                        <a:defRPr sz="1200">
                          <a:solidFill>
                            <a:srgbClr val="121C1F"/>
                          </a:solidFill>
                          <a:latin typeface="Yu Gothic"/>
                        </a:defRPr>
                      </a:pPr>
                      <a:r>
                        <a:t>同社は自己申告で『500以上の米国代理店』とするが、第三者監査は確認できていない</a:t>
                      </a:r>
                    </a:p>
                  </a:txBody>
                  <a:tcPr>
                    <a:solidFill>
                      <a:srgbClr val="FFFFFF"/>
                    </a:solidFill>
                  </a:tcPr>
                </a:tc>
              </a:tr>
              <a:tr h="502920">
                <a:tc>
                  <a:txBody>
                    <a:bodyPr/>
                    <a:lstStyle/>
                    <a:p>
                      <a:pPr>
                        <a:defRPr sz="1200">
                          <a:solidFill>
                            <a:srgbClr val="121C1F"/>
                          </a:solidFill>
                          <a:latin typeface="Yu Gothic"/>
                        </a:defRPr>
                      </a:pPr>
                      <a:r>
                        <a:t>具体的な資金調達状況・企業評価額</a:t>
                      </a:r>
                    </a:p>
                  </a:txBody>
                  <a:tcPr>
                    <a:solidFill>
                      <a:srgbClr val="F0F7F4"/>
                    </a:solidFill>
                  </a:tcPr>
                </a:tc>
                <a:tc>
                  <a:txBody>
                    <a:bodyPr/>
                    <a:lstStyle/>
                    <a:p>
                      <a:pPr>
                        <a:defRPr sz="1200">
                          <a:solidFill>
                            <a:srgbClr val="121C1F"/>
                          </a:solidFill>
                          <a:latin typeface="Yu Gothic"/>
                        </a:defRPr>
                      </a:pPr>
                      <a:r>
                        <a:t>本調査の範囲では確認できていない</a:t>
                      </a:r>
                    </a:p>
                  </a:txBody>
                  <a:tcPr>
                    <a:solidFill>
                      <a:srgbClr val="F0F7F4"/>
                    </a:solidFill>
                  </a:tcPr>
                </a:tc>
              </a:tr>
              <a:tr h="502920">
                <a:tc>
                  <a:txBody>
                    <a:bodyPr/>
                    <a:lstStyle/>
                    <a:p>
                      <a:pPr>
                        <a:defRPr sz="1200">
                          <a:solidFill>
                            <a:srgbClr val="121C1F"/>
                          </a:solidFill>
                          <a:latin typeface="Yu Gothic"/>
                        </a:defRPr>
                      </a:pPr>
                      <a:r>
                        <a:t>「業界史上最大」という自己評価の客観的な裏付け</a:t>
                      </a:r>
                    </a:p>
                  </a:txBody>
                  <a:tcPr>
                    <a:solidFill>
                      <a:srgbClr val="FFFFFF"/>
                    </a:solidFill>
                  </a:tcPr>
                </a:tc>
                <a:tc>
                  <a:txBody>
                    <a:bodyPr/>
                    <a:lstStyle/>
                    <a:p>
                      <a:pPr>
                        <a:defRPr sz="1200">
                          <a:solidFill>
                            <a:srgbClr val="121C1F"/>
                          </a:solidFill>
                          <a:latin typeface="Yu Gothic"/>
                        </a:defRPr>
                      </a:pPr>
                      <a:r>
                        <a:t>独立した第三者評価は本調査の範囲では確認できていない</a:t>
                      </a:r>
                    </a:p>
                  </a:txBody>
                  <a:tcPr>
                    <a:solidFill>
                      <a:srgbClr val="FFFFFF"/>
                    </a:solidFill>
                  </a:tcPr>
                </a:tc>
              </a:tr>
              <a:tr h="502920">
                <a:tc>
                  <a:txBody>
                    <a:bodyPr/>
                    <a:lstStyle/>
                    <a:p>
                      <a:pPr>
                        <a:defRPr sz="1200">
                          <a:solidFill>
                            <a:srgbClr val="121C1F"/>
                          </a:solidFill>
                          <a:latin typeface="Yu Gothic"/>
                        </a:defRPr>
                      </a:pPr>
                      <a:r>
                        <a:t>8つの評価軸の具体的な項目名称</a:t>
                      </a:r>
                    </a:p>
                  </a:txBody>
                  <a:tcPr>
                    <a:solidFill>
                      <a:srgbClr val="F0F7F4"/>
                    </a:solidFill>
                  </a:tcPr>
                </a:tc>
                <a:tc>
                  <a:txBody>
                    <a:bodyPr/>
                    <a:lstStyle/>
                    <a:p>
                      <a:pPr>
                        <a:defRPr sz="1200">
                          <a:solidFill>
                            <a:srgbClr val="121C1F"/>
                          </a:solidFill>
                          <a:latin typeface="Yu Gothic"/>
                        </a:defRPr>
                      </a:pPr>
                      <a:r>
                        <a:t>『8つ』という数のみ確認でき、各軸の詳細名称は不明</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事実: 公開日時・機能の概要・料金の下限・8つの評価軸という数</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推測: 『許可を求める仕組み』はコンプライアンス上のセンシティブさを踏まえた設計であるという解釈は当社の見方</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推測: 価格帯・セルフオンボーディングから、中小規模の代理店を主対象にしている可能性があるという見立ても当社の解釈</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不明: 導入代理店数・利用者数・資金調達状況・『業界史上最大』の客観的な裏付け</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既存テーマとの関係</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1B2A2E"/>
                    </a:solidFill>
                  </a:tcPr>
                </a:tc>
                <a:tc>
                  <a:txBody>
                    <a:bodyPr/>
                    <a:lstStyle/>
                    <a:p>
                      <a:pPr>
                        <a:defRPr sz="1300" b="1">
                          <a:solidFill>
                            <a:srgbClr val="FFFFFF"/>
                          </a:solidFill>
                          <a:latin typeface="Yu Gothic"/>
                        </a:defRPr>
                      </a:pPr>
                      <a:r>
                        <a:t>既存テーマ(Corgi・74本目)</a:t>
                      </a:r>
                    </a:p>
                  </a:txBody>
                  <a:tcPr>
                    <a:solidFill>
                      <a:srgbClr val="1B2A2E"/>
                    </a:solidFill>
                  </a:tcPr>
                </a:tc>
                <a:tc>
                  <a:txBody>
                    <a:bodyPr/>
                    <a:lstStyle/>
                    <a:p>
                      <a:pPr>
                        <a:defRPr sz="1300" b="1">
                          <a:solidFill>
                            <a:srgbClr val="FFFFFF"/>
                          </a:solidFill>
                          <a:latin typeface="Yu Gothic"/>
                        </a:defRPr>
                      </a:pPr>
                      <a:r>
                        <a:t>本テーマ(SUPERAGENT・184本目)</a:t>
                      </a:r>
                    </a:p>
                  </a:txBody>
                  <a:tcPr>
                    <a:solidFill>
                      <a:srgbClr val="1B2A2E"/>
                    </a:solidFill>
                  </a:tcPr>
                </a:tc>
              </a:tr>
              <a:tr h="502920">
                <a:tc>
                  <a:txBody>
                    <a:bodyPr/>
                    <a:lstStyle/>
                    <a:p>
                      <a:pPr>
                        <a:defRPr sz="1200">
                          <a:solidFill>
                            <a:srgbClr val="121C1F"/>
                          </a:solidFill>
                          <a:latin typeface="Yu Gothic"/>
                        </a:defRPr>
                      </a:pPr>
                      <a:r>
                        <a:t>企業</a:t>
                      </a:r>
                    </a:p>
                  </a:txBody>
                  <a:tcPr>
                    <a:solidFill>
                      <a:srgbClr val="FFFFFF"/>
                    </a:solidFill>
                  </a:tcPr>
                </a:tc>
                <a:tc>
                  <a:txBody>
                    <a:bodyPr/>
                    <a:lstStyle/>
                    <a:p>
                      <a:pPr>
                        <a:defRPr sz="1200">
                          <a:solidFill>
                            <a:srgbClr val="121C1F"/>
                          </a:solidFill>
                          <a:latin typeface="Yu Gothic"/>
                        </a:defRPr>
                      </a:pPr>
                      <a:r>
                        <a:t>Corgi AI</a:t>
                      </a:r>
                    </a:p>
                  </a:txBody>
                  <a:tcPr>
                    <a:solidFill>
                      <a:srgbClr val="FFFFFF"/>
                    </a:solidFill>
                  </a:tcPr>
                </a:tc>
                <a:tc>
                  <a:txBody>
                    <a:bodyPr/>
                    <a:lstStyle/>
                    <a:p>
                      <a:pPr>
                        <a:defRPr sz="1200">
                          <a:solidFill>
                            <a:srgbClr val="121C1F"/>
                          </a:solidFill>
                          <a:latin typeface="Yu Gothic"/>
                        </a:defRPr>
                      </a:pPr>
                      <a:r>
                        <a:t>SUPERAGENT AI</a:t>
                      </a:r>
                    </a:p>
                  </a:txBody>
                  <a:tcPr>
                    <a:solidFill>
                      <a:srgbClr val="FFFFFF"/>
                    </a:solidFill>
                  </a:tcPr>
                </a:tc>
              </a:tr>
              <a:tr h="502920">
                <a:tc>
                  <a:txBody>
                    <a:bodyPr/>
                    <a:lstStyle/>
                    <a:p>
                      <a:pPr>
                        <a:defRPr sz="1200">
                          <a:solidFill>
                            <a:srgbClr val="121C1F"/>
                          </a:solidFill>
                          <a:latin typeface="Yu Gothic"/>
                        </a:defRPr>
                      </a:pPr>
                      <a:r>
                        <a:t>製品・業務範囲</a:t>
                      </a:r>
                    </a:p>
                  </a:txBody>
                  <a:tcPr>
                    <a:solidFill>
                      <a:srgbClr val="F0F7F4"/>
                    </a:solidFill>
                  </a:tcPr>
                </a:tc>
                <a:tc>
                  <a:txBody>
                    <a:bodyPr/>
                    <a:lstStyle/>
                    <a:p>
                      <a:pPr>
                        <a:defRPr sz="1200">
                          <a:solidFill>
                            <a:srgbClr val="121C1F"/>
                          </a:solidFill>
                          <a:latin typeface="Yu Gothic"/>
                        </a:defRPr>
                      </a:pPr>
                      <a:r>
                        <a:t>保険料率(アンダーライティング)の評価に特化</a:t>
                      </a:r>
                    </a:p>
                  </a:txBody>
                  <a:tcPr>
                    <a:solidFill>
                      <a:srgbClr val="F0F7F4"/>
                    </a:solidFill>
                  </a:tcPr>
                </a:tc>
                <a:tc>
                  <a:txBody>
                    <a:bodyPr/>
                    <a:lstStyle/>
                    <a:p>
                      <a:pPr>
                        <a:defRPr sz="1200">
                          <a:solidFill>
                            <a:srgbClr val="121C1F"/>
                          </a:solidFill>
                          <a:latin typeface="Yu Gothic"/>
                        </a:defRPr>
                      </a:pPr>
                      <a:r>
                        <a:t>代理店の電話対応・営業・分析・トレーニングまで会話形式でこなす</a:t>
                      </a:r>
                    </a:p>
                  </a:txBody>
                  <a:tcPr>
                    <a:solidFill>
                      <a:srgbClr val="F0F7F4"/>
                    </a:solidFill>
                  </a:tcPr>
                </a:tc>
              </a:tr>
              <a:tr h="502920">
                <a:tc>
                  <a:txBody>
                    <a:bodyPr/>
                    <a:lstStyle/>
                    <a:p>
                      <a:pPr>
                        <a:defRPr sz="1200">
                          <a:solidFill>
                            <a:srgbClr val="121C1F"/>
                          </a:solidFill>
                          <a:latin typeface="Yu Gothic"/>
                        </a:defRPr>
                      </a:pPr>
                      <a:r>
                        <a:t>記事の主眼</a:t>
                      </a:r>
                    </a:p>
                  </a:txBody>
                  <a:tcPr>
                    <a:solidFill>
                      <a:srgbClr val="FFFFFF"/>
                    </a:solidFill>
                  </a:tcPr>
                </a:tc>
                <a:tc>
                  <a:txBody>
                    <a:bodyPr/>
                    <a:lstStyle/>
                    <a:p>
                      <a:pPr>
                        <a:defRPr sz="1200">
                          <a:solidFill>
                            <a:srgbClr val="121C1F"/>
                          </a:solidFill>
                          <a:latin typeface="Yu Gothic"/>
                        </a:defRPr>
                      </a:pPr>
                      <a:r>
                        <a:t>資金調達・評価額の急拡大という成長ストーリー</a:t>
                      </a:r>
                    </a:p>
                  </a:txBody>
                  <a:tcPr>
                    <a:solidFill>
                      <a:srgbClr val="FFFFFF"/>
                    </a:solidFill>
                  </a:tcPr>
                </a:tc>
                <a:tc>
                  <a:txBody>
                    <a:bodyPr/>
                    <a:lstStyle/>
                    <a:p>
                      <a:pPr>
                        <a:defRPr sz="1200">
                          <a:solidFill>
                            <a:srgbClr val="121C1F"/>
                          </a:solidFill>
                          <a:latin typeface="Yu Gothic"/>
                        </a:defRPr>
                      </a:pPr>
                      <a:r>
                        <a:t>3.0の一般公開という製品発表そのもの</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読者にとっての実践的な示唆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保険代理店経営者として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会話型AIへの移行が、業務ソフト選定の新しい選択肢になりうる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現場の担当者として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通話分析やロールプレイ機能を、スキル向上にどう使えるか検討する価値がある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AIニュースを追う立場として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『業界史上最大』という表現を、企業の自己評価と客観的事実に分けて受け止める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着手日の1日前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Yahoo Finance・PRWeb・FFNews・BusinessWireの報道はいずれも2026年8月11日。着手日(2026年8月12日)を含めて2日以内という基準を満たす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docs/06_Content_R&amp;D.md基準</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主な出典一覧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報道日</a:t>
                      </a:r>
                    </a:p>
                  </a:txBody>
                  <a:tcPr>
                    <a:solidFill>
                      <a:srgbClr val="1B2A2E"/>
                    </a:solidFill>
                  </a:tcPr>
                </a:tc>
              </a:tr>
              <a:tr h="502920">
                <a:tc>
                  <a:txBody>
                    <a:bodyPr/>
                    <a:lstStyle/>
                    <a:p>
                      <a:pPr>
                        <a:defRPr sz="1200">
                          <a:solidFill>
                            <a:srgbClr val="121C1F"/>
                          </a:solidFill>
                          <a:latin typeface="Yu Gothic"/>
                        </a:defRPr>
                      </a:pPr>
                      <a:r>
                        <a:t>Yahoo Finance</a:t>
                      </a:r>
                    </a:p>
                  </a:txBody>
                  <a:tcPr>
                    <a:solidFill>
                      <a:srgbClr val="FFFFFF"/>
                    </a:solidFill>
                  </a:tcPr>
                </a:tc>
                <a:tc>
                  <a:txBody>
                    <a:bodyPr/>
                    <a:lstStyle/>
                    <a:p>
                      <a:pPr>
                        <a:defRPr sz="1200">
                          <a:solidFill>
                            <a:srgbClr val="121C1F"/>
                          </a:solidFill>
                          <a:latin typeface="Yu Gothic"/>
                        </a:defRPr>
                      </a:pPr>
                      <a:r>
                        <a:t>2026-08-11</a:t>
                      </a:r>
                    </a:p>
                  </a:txBody>
                  <a:tcPr>
                    <a:solidFill>
                      <a:srgbClr val="FFFFFF"/>
                    </a:solidFill>
                  </a:tcPr>
                </a:tc>
              </a:tr>
              <a:tr h="502920">
                <a:tc>
                  <a:txBody>
                    <a:bodyPr/>
                    <a:lstStyle/>
                    <a:p>
                      <a:pPr>
                        <a:defRPr sz="1200">
                          <a:solidFill>
                            <a:srgbClr val="121C1F"/>
                          </a:solidFill>
                          <a:latin typeface="Yu Gothic"/>
                        </a:defRPr>
                      </a:pPr>
                      <a:r>
                        <a:t>PRWeb</a:t>
                      </a:r>
                    </a:p>
                  </a:txBody>
                  <a:tcPr>
                    <a:solidFill>
                      <a:srgbClr val="F0F7F4"/>
                    </a:solidFill>
                  </a:tcPr>
                </a:tc>
                <a:tc>
                  <a:txBody>
                    <a:bodyPr/>
                    <a:lstStyle/>
                    <a:p>
                      <a:pPr>
                        <a:defRPr sz="1200">
                          <a:solidFill>
                            <a:srgbClr val="121C1F"/>
                          </a:solidFill>
                          <a:latin typeface="Yu Gothic"/>
                        </a:defRPr>
                      </a:pPr>
                      <a:r>
                        <a:t>2026-08-11(前日予告記事)</a:t>
                      </a:r>
                    </a:p>
                  </a:txBody>
                  <a:tcPr>
                    <a:solidFill>
                      <a:srgbClr val="F0F7F4"/>
                    </a:solidFill>
                  </a:tcPr>
                </a:tc>
              </a:tr>
              <a:tr h="502920">
                <a:tc>
                  <a:txBody>
                    <a:bodyPr/>
                    <a:lstStyle/>
                    <a:p>
                      <a:pPr>
                        <a:defRPr sz="1200">
                          <a:solidFill>
                            <a:srgbClr val="121C1F"/>
                          </a:solidFill>
                          <a:latin typeface="Yu Gothic"/>
                        </a:defRPr>
                      </a:pPr>
                      <a:r>
                        <a:t>FFNews</a:t>
                      </a:r>
                    </a:p>
                  </a:txBody>
                  <a:tcPr>
                    <a:solidFill>
                      <a:srgbClr val="FFFFFF"/>
                    </a:solidFill>
                  </a:tcPr>
                </a:tc>
                <a:tc>
                  <a:txBody>
                    <a:bodyPr/>
                    <a:lstStyle/>
                    <a:p>
                      <a:pPr>
                        <a:defRPr sz="1200">
                          <a:solidFill>
                            <a:srgbClr val="121C1F"/>
                          </a:solidFill>
                          <a:latin typeface="Yu Gothic"/>
                        </a:defRPr>
                      </a:pPr>
                      <a:r>
                        <a:t>2026-08-11</a:t>
                      </a:r>
                    </a:p>
                  </a:txBody>
                  <a:tcPr>
                    <a:solidFill>
                      <a:srgbClr val="FFFFFF"/>
                    </a:solidFill>
                  </a:tcPr>
                </a:tc>
              </a:tr>
              <a:tr h="502920">
                <a:tc>
                  <a:txBody>
                    <a:bodyPr/>
                    <a:lstStyle/>
                    <a:p>
                      <a:pPr>
                        <a:defRPr sz="1200">
                          <a:solidFill>
                            <a:srgbClr val="121C1F"/>
                          </a:solidFill>
                          <a:latin typeface="Yu Gothic"/>
                        </a:defRPr>
                      </a:pPr>
                      <a:r>
                        <a:t>BusinessWire</a:t>
                      </a:r>
                    </a:p>
                  </a:txBody>
                  <a:tcPr>
                    <a:solidFill>
                      <a:srgbClr val="F0F7F4"/>
                    </a:solidFill>
                  </a:tcPr>
                </a:tc>
                <a:tc>
                  <a:txBody>
                    <a:bodyPr/>
                    <a:lstStyle/>
                    <a:p>
                      <a:pPr>
                        <a:defRPr sz="1200">
                          <a:solidFill>
                            <a:srgbClr val="121C1F"/>
                          </a:solidFill>
                          <a:latin typeface="Yu Gothic"/>
                        </a:defRPr>
                      </a:pPr>
                      <a:r>
                        <a:t>2026-08-11</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本テーマの扱い方について(誇張回避・中立性)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「保険代理店の仕事が完全にAIに置き換わる」という誇張表現は使っていない</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「業界史上最大」という表現は、同社の自己評価であることを一貫して明示している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確認できなかった導入実績・資金調達状況は、推測で埋めず「不明」として扱う</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特定企業・製品の利用を強く推奨する結論にはしていない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今後起こりうる展開(いずれも確定ではない)</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導入実績の公表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導入代理店数・利用者数が今後公表される可能性がある</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資金調達状況の発表</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資金調達・企業評価額に関する情報が公表される可能性がある</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第三者評価の登場</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『業界史上最大』という自己評価を検証する第三者の分析が出る可能性がある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Yahoo Finance・PRWeb・FFNews・BusinessWire(2026-08-11発表)｜184本目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保険屋の仕事が、会話だけで終わる日が来た――ただしそれは、SUPERAGENT AI社自身の言葉で「史上最大」と語られた1日でもある。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特定企業への評価ではなく、事実関係の整理として、今後も出典付きで注目したいポイントです。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