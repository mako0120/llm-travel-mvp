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AIチップ設計スタートアップVelaura AIが、2026年8月18日、シリーズAで1億1000万ドルを調達し、評価額10億ドル超に到達したと発表しました。まさかの評価額到達です。今日はこの資金調達と、AIの電力問題に挑む「Titan Core」チッププラットフォームについて、出典付きで正確に整理してお届けします。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結論から確認します。Velaura AIはSeligman Ventures主導のシリーズAで1億1000万ドルを調達し、評価額は10億ドル超に到達しました。ここから数字を1つずつ出典付きで見ていきます。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今日は6つの流れでお伝えします。資金調達の数字からTitan Coreの技術概要、資金の使いみち、そして同日発表のEtchedテーマとの違いまで、正確に数字を引用しながら整理します。誇張せず、確認できなかったことは正直にお伝えします。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シリーズAという早い段階での評価額10億ドル超到達、そしてAIデータセンターの電力問題という業界共通の課題に取り組む製品である点があります。複数の媒体が金額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本題に入る前に、Velaura AIという企業の前提を確認します。AIアクセラレーターの電力あたり性能改善を掲げるチップ設計スタートアップで、主力製品は「Titan Core」チッププラットフォームです。本編は資金調達・製品紹介であり、製品利用を勧める内容ではありません。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アクセラレーターはAIの数学演算を高速処理する専用チップ、電力あたり性能は消費電力1ワットあたりの処理能力、シリーズAはシード期の次に行われる成長資金の調達ラウンド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今回の調達額です。Seligman Ventures主導のシリーズAラウンドで1億1000万ドルを調達しました。次に、調達の詳細を表で確認します。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今回のラウンドの概要を一覧にしました。2026年8月18日発表、調達額1億1000万ドル、到達評価額10億ドル超。主導投資家はSeligman Venturesで、新規投資家としてCapricorn Investment GroupとProsperity7 Venturesが参加しました。次に、投資家の顔ぶれを確認します。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参加した投資家を整理しました。Seligman Venturesが主導し、新規投資家としてCapricorn Investment GroupとProsperity7 Venturesが参加しています。次に、評価額を確認します。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到達した評価額を確認します。シリーズAでの調達を経て、Velaura AIの評価額は10億ドル超に到達しました。次に、資金調達をまとめて確認します。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資金調達をまとめました。調達額1億1000万ドル、到達評価額10億ドル超、新規参加投資家2社という内容です。次に、主力製品Titan Coreを深掘りします。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という言葉の意味を確認します。評価額(企業価値)は、資金調達時に投資家との合意で算定される推定企業価値であり、実際の売買で確定した価格ではありません。今回は『10億ドル超』という表現にとどまり、具体的な上限額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章に入る前に、AIの電力問題という背景を確認します。AIモデルの学習・推論に伴う電力消費がデータセンターで急増しており、電力供給の制約がAIインフラ拡張の課題として注目されています。電力あたり性能を改善するチップ設計は、その対応策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Titan Coreの性能改善を確認します。AIアクセラレーターにおける数学演算処理において、電力あたり性能を2〜4倍改善するとされています。次に、この数字の扱い方について注意点を確認します。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Titan Coreの技術概要です。AIアクセラレーターにおける数学演算処理に特化したチッププラットフォームで、電力あたり性能の改善を主な訴求点としています。改善幅は2〜4倍とされていますが、対象演算・比較対象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Titan Coreの狙いを3ステップで整理しました。AIデータセンターの電力消費急増という課題に着目し、AIアクセラレーターの数学演算処理向けにチップを設計することで、電力あたり性能の改善を目指す設計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資金調達から製品開発までの流れを図にしました。シリーズAでの調達から評価額10億ドル超への到達、そしてTitan Coreの開発・商用化の加速という流れが報じられています。次に、資金の使いみちを詳しく確認します。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調達資金の使いみちを確認します。Titan Coreシリコンプラットフォームの開発・商用化の加速、そしてエンジニアリング・顧客対応チームの拡大に充てるとしています。次に、製品出荷時期について正直な開示をします。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製品出荷時期について正直にお伝えします。Titan Coreの具体的な製品出荷時期は、本調査の範囲では確認できていません。開発・商用化の加速という資金使途の方針のみを紹介し、出荷時期は推測で補いません。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汎用AIアクセラレーターとTitan Coreの訴求点の違いを整理しました。汎用製品は幅広いワークロードに対応する一方、Titan Coreは電力あたり性能の改善を主な訴求点とする設計です。次に、既存顧客の有無を確認します。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既存顧客の有無についても正直にお伝えします。特定顧客名や導入実績の発表は、本調査の範囲では確認できていません。確認できた資金調達・製品概要の事実のみを紹介し、顧客状況は推測で補いません。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性能改善数値の第三者検証についても正直にお伝えします。電力あたり性能2〜4倍という数値は企業側発表に基づく方向性であり、独立機関による検証結果は確認できていません。確認できた数値をそのまま紹介し、性能の優劣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今回のラウンドの調達額・評価額・投資家の情報のみであり、性能数値の第三者検証や既存顧客・出荷時期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同じ2026年8月18日発表のAIチップ企業として、既にEtchedのテーマを扱っていますが、両者は別会社・別製品・別の技術アプローチです。EtchedはTransformer推論専用のASIC『Sohu』、Velaura AIは電力効率特化の『Titan Core』であり、重複するテーマではありません。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このニュースが読者にとって意味することをまとめました。AI業界の動向を追う立場、半導体・インフラを検討する立場、投資・スタートアップを追う立場、それぞれで意識したい視点です。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評価額・調達額は製品の性能そのものを直接示すものではなく、第三者検証の有無を確認したうえで判断することが望ましいです。本成果物は特定企業・製品への乗り換え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本編で使った主な出典を一覧にしました。Reuters・Yahoo Finance・The Star・AOL・Quartz・VentureBurn・TechStartups・Crypto Briefingという複数の独立した媒体が調達額・評価額の数値を一致させて報じていることを確認しています。詳細はresearch.mdをご確認ください。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本編は以上です。今回はVelaura AIがシリーズAで1億1000万ドルを調達し評価額10億ドル超に到達、AIの電力問題に挑む『Titan Core』の中身まで正確に整理してお伝えしました。数字は出典どおりに扱い、確認できなかったことは正直にお伝えしました。次回もまた出典付きでお届けします。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まさかの評価額10億ドル超。</a:t>
            </a:r>
          </a:p>
          <a:p>
            <a:pPr algn="l">
              <a:lnSpc>
                <a:spcPct val="115000"/>
              </a:lnSpc>
            </a:pPr>
            <a:r>
              <a:rPr sz="4200" b="1">
                <a:solidFill>
                  <a:srgbClr val="FFFFFF"/>
                </a:solidFill>
                <a:latin typeface="Yu Gothic"/>
              </a:rPr>
              <a:t>半導体新興Velaura AIが</a:t>
            </a:r>
          </a:p>
          <a:p>
            <a:pPr algn="l">
              <a:lnSpc>
                <a:spcPct val="115000"/>
              </a:lnSpc>
            </a:pPr>
            <a:r>
              <a:rPr sz="4200" b="1">
                <a:solidFill>
                  <a:srgbClr val="FFFFFF"/>
                </a:solidFill>
                <a:latin typeface="Yu Gothic"/>
              </a:rPr>
              <a:t>AIの電力問題に挑む</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2026年8月18日発表――シリーズAで1億1000万ドルを調達した中身を出典付きで整理する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Reuters(TradingView配信)・Yahoo Finance・The Star・AOL・Quartz・VentureBurn・TechStartups・Crypto Briefing(2026年8月18日)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評価額10億ドル超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Seligman Ventures主導のシリーズAで1億1000万ドルを調達し到達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Reuters(TradingView)・Yahoo Finance(2026-08-18)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Velaura AIとは・基礎知識</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今回の資金調達の数字を確認する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Titan Coreチッププラットフォームを深掘りする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資金の使いみちと今後の展望</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Etchedテーマとの違い・確認できなかったこと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シリーズAという早い段階で評価額10億ドル超という際立った到達である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AIデータセンターの電力消費急増という業界共通の課題に取り組む製品である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複数の独立した媒体(Reuters・Yahoo Finance等)が金額を一致させて報じている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Reuters(TradingView)・Yahoo Finance・The Star(2026-08-18)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Velaura AIとは(初心者向け)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Velaura AIは、AIアクセラレーターの電力あたり性能改善を掲げるチップ設計スタートアップである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主力製品は「Titan Core」チッププラットフォームである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本編ではVelaura AIという特定企業の資金調達・製品の事実を中立的に紹介する(利用を推奨する内容ではない)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用語解説:AIアクセラレーター・電力あたり性能・シリーズAとは(初心者向け)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『AIアクセラレーター』とは、AIの学習・推論に必要な大量の数学演算を高速処理するために設計された専用チップの総称である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『電力あたり性能』とは、消費電力1ワットあたりでどれだけの処理能力を発揮できるかを示す指標である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『シリーズA』とは、スタートアップの資金調達ラウンドの一段階で、シード期の次に行われる本格的な成長資金の調達を指す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今回の調達額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1億1000万ドル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Seligman Ventures主導のシリーズAラウンドでの調達額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Reuters(TradingView)・Yahoo Finance(2026-08-18)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今回のラウンドの概要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発表日</a:t>
                      </a:r>
                    </a:p>
                  </a:txBody>
                  <a:tcPr>
                    <a:solidFill>
                      <a:srgbClr val="FFFFFF"/>
                    </a:solidFill>
                  </a:tcPr>
                </a:tc>
                <a:tc>
                  <a:txBody>
                    <a:bodyPr/>
                    <a:lstStyle/>
                    <a:p>
                      <a:pPr>
                        <a:defRPr sz="1200">
                          <a:solidFill>
                            <a:srgbClr val="1E2124"/>
                          </a:solidFill>
                          <a:latin typeface="Yu Gothic"/>
                        </a:defRPr>
                      </a:pPr>
                      <a:r>
                        <a:t>2026年8月18日</a:t>
                      </a:r>
                    </a:p>
                  </a:txBody>
                  <a:tcPr>
                    <a:solidFill>
                      <a:srgbClr val="FFFFFF"/>
                    </a:solidFill>
                  </a:tcPr>
                </a:tc>
              </a:tr>
              <a:tr h="502920">
                <a:tc>
                  <a:txBody>
                    <a:bodyPr/>
                    <a:lstStyle/>
                    <a:p>
                      <a:pPr>
                        <a:defRPr sz="1200">
                          <a:solidFill>
                            <a:srgbClr val="1E2124"/>
                          </a:solidFill>
                          <a:latin typeface="Yu Gothic"/>
                        </a:defRPr>
                      </a:pPr>
                      <a:r>
                        <a:t>調達額</a:t>
                      </a:r>
                    </a:p>
                  </a:txBody>
                  <a:tcPr>
                    <a:solidFill>
                      <a:srgbClr val="F7F4EF"/>
                    </a:solidFill>
                  </a:tcPr>
                </a:tc>
                <a:tc>
                  <a:txBody>
                    <a:bodyPr/>
                    <a:lstStyle/>
                    <a:p>
                      <a:pPr>
                        <a:defRPr sz="1200">
                          <a:solidFill>
                            <a:srgbClr val="1E2124"/>
                          </a:solidFill>
                          <a:latin typeface="Yu Gothic"/>
                        </a:defRPr>
                      </a:pPr>
                      <a:r>
                        <a:t>1億1000万ドル(シリーズA)</a:t>
                      </a:r>
                    </a:p>
                  </a:txBody>
                  <a:tcPr>
                    <a:solidFill>
                      <a:srgbClr val="F7F4EF"/>
                    </a:solidFill>
                  </a:tcPr>
                </a:tc>
              </a:tr>
              <a:tr h="502920">
                <a:tc>
                  <a:txBody>
                    <a:bodyPr/>
                    <a:lstStyle/>
                    <a:p>
                      <a:pPr>
                        <a:defRPr sz="1200">
                          <a:solidFill>
                            <a:srgbClr val="1E2124"/>
                          </a:solidFill>
                          <a:latin typeface="Yu Gothic"/>
                        </a:defRPr>
                      </a:pPr>
                      <a:r>
                        <a:t>到達評価額</a:t>
                      </a:r>
                    </a:p>
                  </a:txBody>
                  <a:tcPr>
                    <a:solidFill>
                      <a:srgbClr val="FFFFFF"/>
                    </a:solidFill>
                  </a:tcPr>
                </a:tc>
                <a:tc>
                  <a:txBody>
                    <a:bodyPr/>
                    <a:lstStyle/>
                    <a:p>
                      <a:pPr>
                        <a:defRPr sz="1200">
                          <a:solidFill>
                            <a:srgbClr val="1E2124"/>
                          </a:solidFill>
                          <a:latin typeface="Yu Gothic"/>
                        </a:defRPr>
                      </a:pPr>
                      <a:r>
                        <a:t>10億ドル超</a:t>
                      </a:r>
                    </a:p>
                  </a:txBody>
                  <a:tcPr>
                    <a:solidFill>
                      <a:srgbClr val="FFFFFF"/>
                    </a:solidFill>
                  </a:tcPr>
                </a:tc>
              </a:tr>
              <a:tr h="502920">
                <a:tc>
                  <a:txBody>
                    <a:bodyPr/>
                    <a:lstStyle/>
                    <a:p>
                      <a:pPr>
                        <a:defRPr sz="1200">
                          <a:solidFill>
                            <a:srgbClr val="1E2124"/>
                          </a:solidFill>
                          <a:latin typeface="Yu Gothic"/>
                        </a:defRPr>
                      </a:pPr>
                      <a:r>
                        <a:t>主導投資家</a:t>
                      </a:r>
                    </a:p>
                  </a:txBody>
                  <a:tcPr>
                    <a:solidFill>
                      <a:srgbClr val="F7F4EF"/>
                    </a:solidFill>
                  </a:tcPr>
                </a:tc>
                <a:tc>
                  <a:txBody>
                    <a:bodyPr/>
                    <a:lstStyle/>
                    <a:p>
                      <a:pPr>
                        <a:defRPr sz="1200">
                          <a:solidFill>
                            <a:srgbClr val="1E2124"/>
                          </a:solidFill>
                          <a:latin typeface="Yu Gothic"/>
                        </a:defRPr>
                      </a:pPr>
                      <a:r>
                        <a:t>Seligman Ventures</a:t>
                      </a:r>
                    </a:p>
                  </a:txBody>
                  <a:tcPr>
                    <a:solidFill>
                      <a:srgbClr val="F7F4EF"/>
                    </a:solidFill>
                  </a:tcPr>
                </a:tc>
              </a:tr>
              <a:tr h="502920">
                <a:tc>
                  <a:txBody>
                    <a:bodyPr/>
                    <a:lstStyle/>
                    <a:p>
                      <a:pPr>
                        <a:defRPr sz="1200">
                          <a:solidFill>
                            <a:srgbClr val="1E2124"/>
                          </a:solidFill>
                          <a:latin typeface="Yu Gothic"/>
                        </a:defRPr>
                      </a:pPr>
                      <a:r>
                        <a:t>新規参加投資家</a:t>
                      </a:r>
                    </a:p>
                  </a:txBody>
                  <a:tcPr>
                    <a:solidFill>
                      <a:srgbClr val="FFFFFF"/>
                    </a:solidFill>
                  </a:tcPr>
                </a:tc>
                <a:tc>
                  <a:txBody>
                    <a:bodyPr/>
                    <a:lstStyle/>
                    <a:p>
                      <a:pPr>
                        <a:defRPr sz="1200">
                          <a:solidFill>
                            <a:srgbClr val="1E2124"/>
                          </a:solidFill>
                          <a:latin typeface="Yu Gothic"/>
                        </a:defRPr>
                      </a:pPr>
                      <a:r>
                        <a:t>Capricorn Investment Group・Prosperity7 Ventures</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Reuters(TradingView)・Yahoo Finance・The Star(2026-08-18)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参加した投資家</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主導</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Seligman Ventures</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今回のシリーズAラウンドを主導した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新規</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Capricorn Investment Group</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新規投資家として今回参加した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新規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Prosperity7 Ventures</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新規投資家として今回参加した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到達した評価額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評価額10億ドル超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シリーズAでの調達を経て到達した評価額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Reuters(TradingView)・Yahoo Finance(2026-08-18)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1億1000万ドル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今回の調達額(シリーズA)</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Seligman Ventures主導のラウンドで調達した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10億ドル超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到達評価額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今回のラウンドを経て到達した最新の評価額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2社</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新規参加投資家数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Capricorn Investment Group・Prosperity7 Venturesが新規参加した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「評価額」とは何か(初心者向け)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次章に入る前に、評価額という言葉の意味を確認します。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「評価額(企業価値)」とは、資金調達時に投資家との合意で算定される、その時点での推定企業価値である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実際の売買で確定した価格ではなく、あくまで今回のラウンドにおける合意額である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評価額は「10億ドル超」という表現にとどまり、具体的な上限額は出典セットに含まれていない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「AIの電力問題」とは(初心者向け)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次章に入る前に、背景となる課題を確認します。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AIモデルの学習・推論には大量の計算処理が必要で、それに伴う電力消費がデータセンターで急増している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電力供給の制約が、AIインフラの拡張スピードを左右する課題として業界で注目されている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『電力あたり性能』を改善するチップ設計は、この課題への対応策の一つとして位置づけられる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Titan Coreの性能改善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電力あたり性能2〜4倍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AIアクセラレーターの数学演算処理において改善するとされる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Reuters(TradingView)・Yahoo Finance・Quartz(2026-08-18)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Titan Coreとは(技術概要)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今回の主力製品の技術概要です。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Titan Coreは、AIアクセラレーターにおける数学演算処理に特化したチッププラットフォームである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電力あたり性能(消費電力1ワットあたりの処理能力)の改善を主な訴求点としている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改善幅は2〜4倍とされているが、対象となる演算処理・比較対象の詳細は本調査の範囲では確認できていない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Reuters(TradingView)・Yahoo Finance・Quartz(2026-08-18)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Titan Coreの狙い(3ステップ)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課題を見る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AIデータセンターの電力消費急増という業界共通の課題に着目する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演算処理を最適化する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AIアクセラレーターの数学演算処理に向けてチップを設計する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電力あたり性能を狙う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電力あたり性能を2〜4倍改善することを目指す設計とされている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資金調達から製品開発までの流れ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シリーズAで1億1000万ドル調達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Seligman Ventures主導、新規2社が参加</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評価額10億ドル超に到達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今回のラウンドを経て到達した評価額</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Titan Coreの開発・商用化を加速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調達資金をシリコンプラットフォームの開発加速に充てる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調達資金の使いみちとして、開発・商用化の加速が明示されている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Reuters(TradingView)・Yahoo Finance(2026-08-18)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調達資金の使いみち</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今回の資金がどこに使われるかを確認します。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Titan Coreシリコンプラットフォームの開発・商用化の加速に充てるとしている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エンジニアリングチームの拡大に充てるとしている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顧客対応チームの拡大に充てるとしている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Reuters(TradingView)・Yahoo Finance(2026-08-18)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製品出荷時期は不明(正直な開示)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Titan Coreの具体的な製品出荷時期は、本調査の範囲では確認できていない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『開発・商用化の加速』という資金使途は報じられているが、量産開始・出荷スケジュールの詳細は不明である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本成果物では、確認できた資金使途の方針のみを紹介し、出荷時期を推測で補わない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汎用AIアクセラレーター / Titan Coreの訴求点の違い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汎用AIアクセラレーター</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幅広いAIワークロードに対応できる汎用設計</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電力あたり性能は製品ごとに様々</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電力効率を主目的としない製品も多い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Titan Core</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電力あたり性能の改善を主な訴求点とする設計</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数学演算処理に向けた最適化を掲げる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電力あたり性能2〜4倍改善を目指すとされる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既存顧客の有無は不明(正直な開示)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Velaura AIの既存顧客の有無は、本調査の範囲では確認できていない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特定顧客名や導入実績の発表は、今回の調達発表の中では確認できていない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本成果物では、確認できた資金調達・製品概要の事実のみを紹介し、顧客状況を推測で補わない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性能改善数値の第三者検証も不明(正直な開示)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技術的な数値についても正直にお伝えします。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電力あたり性能2〜4倍改善という数値の第三者検証状況は、本調査の範囲では確認できていない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この数値は企業側発表(またはそれに基づく報道)に基づく方向性であり、独立機関による測定・検証結果ではない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本成果物では、確認できた数値をそのまま紹介し、性能の優劣を断定しない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評価額10億ドル超=事業が完全に安定して成功している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電力あたり性能2〜4倍は証明済みのはず</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既に多くの顧客が導入しているはず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確認できているのは今回のラウンドの調達額・評価額・投資家のみ</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電力あたり性能2〜4倍の第三者検証は本調査の範囲では未確認</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既存顧客の有無・出荷時期は未確認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Etchedテーマ(同日発表)との違い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比較項目</a:t>
                      </a:r>
                    </a:p>
                  </a:txBody>
                  <a:tcPr>
                    <a:solidFill>
                      <a:srgbClr val="3A4750"/>
                    </a:solidFill>
                  </a:tcPr>
                </a:tc>
                <a:tc>
                  <a:txBody>
                    <a:bodyPr/>
                    <a:lstStyle/>
                    <a:p>
                      <a:pPr>
                        <a:defRPr sz="1300" b="1">
                          <a:solidFill>
                            <a:srgbClr val="FFFFFF"/>
                          </a:solidFill>
                          <a:latin typeface="Yu Gothic"/>
                        </a:defRPr>
                      </a:pPr>
                      <a:r>
                        <a:t>Etched(既存テーマ)</a:t>
                      </a:r>
                    </a:p>
                  </a:txBody>
                  <a:tcPr>
                    <a:solidFill>
                      <a:srgbClr val="3A4750"/>
                    </a:solidFill>
                  </a:tcPr>
                </a:tc>
                <a:tc>
                  <a:txBody>
                    <a:bodyPr/>
                    <a:lstStyle/>
                    <a:p>
                      <a:pPr>
                        <a:defRPr sz="1300" b="1">
                          <a:solidFill>
                            <a:srgbClr val="FFFFFF"/>
                          </a:solidFill>
                          <a:latin typeface="Yu Gothic"/>
                        </a:defRPr>
                      </a:pPr>
                      <a:r>
                        <a:t>Velaura AI(本テーマ)</a:t>
                      </a:r>
                    </a:p>
                  </a:txBody>
                  <a:tcPr>
                    <a:solidFill>
                      <a:srgbClr val="3A4750"/>
                    </a:solidFill>
                  </a:tcPr>
                </a:tc>
              </a:tr>
              <a:tr h="502920">
                <a:tc>
                  <a:txBody>
                    <a:bodyPr/>
                    <a:lstStyle/>
                    <a:p>
                      <a:pPr>
                        <a:defRPr sz="1200">
                          <a:solidFill>
                            <a:srgbClr val="1E2124"/>
                          </a:solidFill>
                          <a:latin typeface="Yu Gothic"/>
                        </a:defRPr>
                      </a:pPr>
                      <a:r>
                        <a:t>製品</a:t>
                      </a:r>
                    </a:p>
                  </a:txBody>
                  <a:tcPr>
                    <a:solidFill>
                      <a:srgbClr val="FFFFFF"/>
                    </a:solidFill>
                  </a:tcPr>
                </a:tc>
                <a:tc>
                  <a:txBody>
                    <a:bodyPr/>
                    <a:lstStyle/>
                    <a:p>
                      <a:pPr>
                        <a:defRPr sz="1200">
                          <a:solidFill>
                            <a:srgbClr val="1E2124"/>
                          </a:solidFill>
                          <a:latin typeface="Yu Gothic"/>
                        </a:defRPr>
                      </a:pPr>
                      <a:r>
                        <a:t>Sohu(推論専用ASIC)</a:t>
                      </a:r>
                    </a:p>
                  </a:txBody>
                  <a:tcPr>
                    <a:solidFill>
                      <a:srgbClr val="FFFFFF"/>
                    </a:solidFill>
                  </a:tcPr>
                </a:tc>
                <a:tc>
                  <a:txBody>
                    <a:bodyPr/>
                    <a:lstStyle/>
                    <a:p>
                      <a:pPr>
                        <a:defRPr sz="1200">
                          <a:solidFill>
                            <a:srgbClr val="1E2124"/>
                          </a:solidFill>
                          <a:latin typeface="Yu Gothic"/>
                        </a:defRPr>
                      </a:pPr>
                      <a:r>
                        <a:t>Titan Core(チッププラットフォーム)</a:t>
                      </a:r>
                    </a:p>
                  </a:txBody>
                  <a:tcPr>
                    <a:solidFill>
                      <a:srgbClr val="FFFFFF"/>
                    </a:solidFill>
                  </a:tcPr>
                </a:tc>
              </a:tr>
              <a:tr h="502920">
                <a:tc>
                  <a:txBody>
                    <a:bodyPr/>
                    <a:lstStyle/>
                    <a:p>
                      <a:pPr>
                        <a:defRPr sz="1200">
                          <a:solidFill>
                            <a:srgbClr val="1E2124"/>
                          </a:solidFill>
                          <a:latin typeface="Yu Gothic"/>
                        </a:defRPr>
                      </a:pPr>
                      <a:r>
                        <a:t>技術アプローチ</a:t>
                      </a:r>
                    </a:p>
                  </a:txBody>
                  <a:tcPr>
                    <a:solidFill>
                      <a:srgbClr val="F7F4EF"/>
                    </a:solidFill>
                  </a:tcPr>
                </a:tc>
                <a:tc>
                  <a:txBody>
                    <a:bodyPr/>
                    <a:lstStyle/>
                    <a:p>
                      <a:pPr>
                        <a:defRPr sz="1200">
                          <a:solidFill>
                            <a:srgbClr val="1E2124"/>
                          </a:solidFill>
                          <a:latin typeface="Yu Gothic"/>
                        </a:defRPr>
                      </a:pPr>
                      <a:r>
                        <a:t>Transformer推論に特化した設計</a:t>
                      </a:r>
                    </a:p>
                  </a:txBody>
                  <a:tcPr>
                    <a:solidFill>
                      <a:srgbClr val="F7F4EF"/>
                    </a:solidFill>
                  </a:tcPr>
                </a:tc>
                <a:tc>
                  <a:txBody>
                    <a:bodyPr/>
                    <a:lstStyle/>
                    <a:p>
                      <a:pPr>
                        <a:defRPr sz="1200">
                          <a:solidFill>
                            <a:srgbClr val="1E2124"/>
                          </a:solidFill>
                          <a:latin typeface="Yu Gothic"/>
                        </a:defRPr>
                      </a:pPr>
                      <a:r>
                        <a:t>電力あたり性能の改善に特化した設計</a:t>
                      </a:r>
                    </a:p>
                  </a:txBody>
                  <a:tcPr>
                    <a:solidFill>
                      <a:srgbClr val="F7F4EF"/>
                    </a:solidFill>
                  </a:tcPr>
                </a:tc>
              </a:tr>
              <a:tr h="502920">
                <a:tc>
                  <a:txBody>
                    <a:bodyPr/>
                    <a:lstStyle/>
                    <a:p>
                      <a:pPr>
                        <a:defRPr sz="1200">
                          <a:solidFill>
                            <a:srgbClr val="1E2124"/>
                          </a:solidFill>
                          <a:latin typeface="Yu Gothic"/>
                        </a:defRPr>
                      </a:pPr>
                      <a:r>
                        <a:t>今回の調達</a:t>
                      </a:r>
                    </a:p>
                  </a:txBody>
                  <a:tcPr>
                    <a:solidFill>
                      <a:srgbClr val="FFFFFF"/>
                    </a:solidFill>
                  </a:tcPr>
                </a:tc>
                <a:tc>
                  <a:txBody>
                    <a:bodyPr/>
                    <a:lstStyle/>
                    <a:p>
                      <a:pPr>
                        <a:defRPr sz="1200">
                          <a:solidFill>
                            <a:srgbClr val="1E2124"/>
                          </a:solidFill>
                          <a:latin typeface="Yu Gothic"/>
                        </a:defRPr>
                      </a:pPr>
                      <a:r>
                        <a:t>追加調達7億ドル・評価額210億ドル</a:t>
                      </a:r>
                    </a:p>
                  </a:txBody>
                  <a:tcPr>
                    <a:solidFill>
                      <a:srgbClr val="FFFFFF"/>
                    </a:solidFill>
                  </a:tcPr>
                </a:tc>
                <a:tc>
                  <a:txBody>
                    <a:bodyPr/>
                    <a:lstStyle/>
                    <a:p>
                      <a:pPr>
                        <a:defRPr sz="1200">
                          <a:solidFill>
                            <a:srgbClr val="1E2124"/>
                          </a:solidFill>
                          <a:latin typeface="Yu Gothic"/>
                        </a:defRPr>
                      </a:pPr>
                      <a:r>
                        <a:t>調達1億1000万ドル・評価額10億ドル超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AIデータセンターの電力問題という共通課題に、複数の投資家が資金を投じている動きとして継続的に確認する視点が役立つ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半導体・インフラを検討する立場として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電力あたり性能という訴求点は事実として押さえつつ、実際の導入判断は出荷時期・第三者検証の有無を別途自身で確認する必要がある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投資・スタートアップを追う立場として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評価額はシリーズA時点の推定値であり、既存顧客の有無など非公表・未確認の項目には断定的な情報に注意する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評価額・調達額はあくまで資金調達時点の数字であり、製品の性能そのものを直接示すものではない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電力あたり性能2〜4倍という主張は、独立機関による第三者検証の有無を確認したうえで判断することが望ましい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Titan Coreは電力あたり性能の改善を訴求する製品として位置づけられる。本成果物は特定企業・製品への乗り換えを推奨する内容ではない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製品導入を検討する場合は、本成果物の紹介にとどまらず、自身で最新の公式情報を確認することが望ましい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今回の調達額・到達評価額</a:t>
                      </a:r>
                    </a:p>
                  </a:txBody>
                  <a:tcPr>
                    <a:solidFill>
                      <a:srgbClr val="FFFFFF"/>
                    </a:solidFill>
                  </a:tcPr>
                </a:tc>
                <a:tc>
                  <a:txBody>
                    <a:bodyPr/>
                    <a:lstStyle/>
                    <a:p>
                      <a:pPr>
                        <a:defRPr sz="1200">
                          <a:solidFill>
                            <a:srgbClr val="1E2124"/>
                          </a:solidFill>
                          <a:latin typeface="Yu Gothic"/>
                        </a:defRPr>
                      </a:pPr>
                      <a:r>
                        <a:t>1億1000万ドル・10億ドル超として複数媒体で確認済み</a:t>
                      </a:r>
                    </a:p>
                  </a:txBody>
                  <a:tcPr>
                    <a:solidFill>
                      <a:srgbClr val="FFFFFF"/>
                    </a:solidFill>
                  </a:tcPr>
                </a:tc>
              </a:tr>
              <a:tr h="502920">
                <a:tc>
                  <a:txBody>
                    <a:bodyPr/>
                    <a:lstStyle/>
                    <a:p>
                      <a:pPr>
                        <a:defRPr sz="1200">
                          <a:solidFill>
                            <a:srgbClr val="1E2124"/>
                          </a:solidFill>
                          <a:latin typeface="Yu Gothic"/>
                        </a:defRPr>
                      </a:pPr>
                      <a:r>
                        <a:t>主導投資家・新規参加投資家</a:t>
                      </a:r>
                    </a:p>
                  </a:txBody>
                  <a:tcPr>
                    <a:solidFill>
                      <a:srgbClr val="F7F4EF"/>
                    </a:solidFill>
                  </a:tcPr>
                </a:tc>
                <a:tc>
                  <a:txBody>
                    <a:bodyPr/>
                    <a:lstStyle/>
                    <a:p>
                      <a:pPr>
                        <a:defRPr sz="1200">
                          <a:solidFill>
                            <a:srgbClr val="1E2124"/>
                          </a:solidFill>
                          <a:latin typeface="Yu Gothic"/>
                        </a:defRPr>
                      </a:pPr>
                      <a:r>
                        <a:t>Seligman Ventures主導、Capricorn・Prosperity7が新規参加と確認済み</a:t>
                      </a:r>
                    </a:p>
                  </a:txBody>
                  <a:tcPr>
                    <a:solidFill>
                      <a:srgbClr val="F7F4EF"/>
                    </a:solidFill>
                  </a:tcPr>
                </a:tc>
              </a:tr>
              <a:tr h="502920">
                <a:tc>
                  <a:txBody>
                    <a:bodyPr/>
                    <a:lstStyle/>
                    <a:p>
                      <a:pPr>
                        <a:defRPr sz="1200">
                          <a:solidFill>
                            <a:srgbClr val="1E2124"/>
                          </a:solidFill>
                          <a:latin typeface="Yu Gothic"/>
                        </a:defRPr>
                      </a:pPr>
                      <a:r>
                        <a:t>Titan Coreの性能改善の方向性</a:t>
                      </a:r>
                    </a:p>
                  </a:txBody>
                  <a:tcPr>
                    <a:solidFill>
                      <a:srgbClr val="FFFFFF"/>
                    </a:solidFill>
                  </a:tcPr>
                </a:tc>
                <a:tc>
                  <a:txBody>
                    <a:bodyPr/>
                    <a:lstStyle/>
                    <a:p>
                      <a:pPr>
                        <a:defRPr sz="1200">
                          <a:solidFill>
                            <a:srgbClr val="1E2124"/>
                          </a:solidFill>
                          <a:latin typeface="Yu Gothic"/>
                        </a:defRPr>
                      </a:pPr>
                      <a:r>
                        <a:t>電力あたり性能2〜4倍改善という方向性として複数媒体で確認済み</a:t>
                      </a:r>
                    </a:p>
                  </a:txBody>
                  <a:tcPr>
                    <a:solidFill>
                      <a:srgbClr val="FFFFFF"/>
                    </a:solidFill>
                  </a:tcPr>
                </a:tc>
              </a:tr>
              <a:tr h="502920">
                <a:tc>
                  <a:txBody>
                    <a:bodyPr/>
                    <a:lstStyle/>
                    <a:p>
                      <a:pPr>
                        <a:defRPr sz="1200">
                          <a:solidFill>
                            <a:srgbClr val="1E2124"/>
                          </a:solidFill>
                          <a:latin typeface="Yu Gothic"/>
                        </a:defRPr>
                      </a:pPr>
                      <a:r>
                        <a:t>性能改善数値の第三者検証</a:t>
                      </a:r>
                    </a:p>
                  </a:txBody>
                  <a:tcPr>
                    <a:solidFill>
                      <a:srgbClr val="F7F4EF"/>
                    </a:solidFill>
                  </a:tcPr>
                </a:tc>
                <a:tc>
                  <a:txBody>
                    <a:bodyPr/>
                    <a:lstStyle/>
                    <a:p>
                      <a:pPr>
                        <a:defRPr sz="1200">
                          <a:solidFill>
                            <a:srgbClr val="1E2124"/>
                          </a:solidFill>
                          <a:latin typeface="Yu Gothic"/>
                        </a:defRPr>
                      </a:pPr>
                      <a:r>
                        <a:t>本調査の範囲では確認できていない</a:t>
                      </a:r>
                    </a:p>
                  </a:txBody>
                  <a:tcPr>
                    <a:solidFill>
                      <a:srgbClr val="F7F4EF"/>
                    </a:solidFill>
                  </a:tcPr>
                </a:tc>
              </a:tr>
              <a:tr h="502920">
                <a:tc>
                  <a:txBody>
                    <a:bodyPr/>
                    <a:lstStyle/>
                    <a:p>
                      <a:pPr>
                        <a:defRPr sz="1200">
                          <a:solidFill>
                            <a:srgbClr val="1E2124"/>
                          </a:solidFill>
                          <a:latin typeface="Yu Gothic"/>
                        </a:defRPr>
                      </a:pPr>
                      <a:r>
                        <a:t>製品出荷時期・既存顧客の有無</a:t>
                      </a:r>
                    </a:p>
                  </a:txBody>
                  <a:tcPr>
                    <a:solidFill>
                      <a:srgbClr val="FFFFFF"/>
                    </a:solidFill>
                  </a:tcPr>
                </a:tc>
                <a:tc>
                  <a:txBody>
                    <a:bodyPr/>
                    <a:lstStyle/>
                    <a:p>
                      <a:pPr>
                        <a:defRPr sz="1200">
                          <a:solidFill>
                            <a:srgbClr val="1E2124"/>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Reuters(TradingView配信)</a:t>
                      </a:r>
                    </a:p>
                  </a:txBody>
                  <a:tcPr>
                    <a:solidFill>
                      <a:srgbClr val="FFFFFF"/>
                    </a:solidFill>
                  </a:tcPr>
                </a:tc>
                <a:tc>
                  <a:txBody>
                    <a:bodyPr/>
                    <a:lstStyle/>
                    <a:p>
                      <a:pPr>
                        <a:defRPr sz="1200">
                          <a:solidFill>
                            <a:srgbClr val="1E2124"/>
                          </a:solidFill>
                          <a:latin typeface="Yu Gothic"/>
                        </a:defRPr>
                      </a:pPr>
                      <a:r>
                        <a:t>資金調達・評価額の一次報道</a:t>
                      </a:r>
                    </a:p>
                  </a:txBody>
                  <a:tcPr>
                    <a:solidFill>
                      <a:srgbClr val="FFFFFF"/>
                    </a:solidFill>
                  </a:tcPr>
                </a:tc>
              </a:tr>
              <a:tr h="502920">
                <a:tc>
                  <a:txBody>
                    <a:bodyPr/>
                    <a:lstStyle/>
                    <a:p>
                      <a:pPr>
                        <a:defRPr sz="1200">
                          <a:solidFill>
                            <a:srgbClr val="1E2124"/>
                          </a:solidFill>
                          <a:latin typeface="Yu Gothic"/>
                        </a:defRPr>
                      </a:pPr>
                      <a:r>
                        <a:t>Yahoo Finance</a:t>
                      </a:r>
                    </a:p>
                  </a:txBody>
                  <a:tcPr>
                    <a:solidFill>
                      <a:srgbClr val="F7F4EF"/>
                    </a:solidFill>
                  </a:tcPr>
                </a:tc>
                <a:tc>
                  <a:txBody>
                    <a:bodyPr/>
                    <a:lstStyle/>
                    <a:p>
                      <a:pPr>
                        <a:defRPr sz="1200">
                          <a:solidFill>
                            <a:srgbClr val="1E2124"/>
                          </a:solidFill>
                          <a:latin typeface="Yu Gothic"/>
                        </a:defRPr>
                      </a:pPr>
                      <a:r>
                        <a:t>資金調達・投資家・製品概要の報道</a:t>
                      </a:r>
                    </a:p>
                  </a:txBody>
                  <a:tcPr>
                    <a:solidFill>
                      <a:srgbClr val="F7F4EF"/>
                    </a:solidFill>
                  </a:tcPr>
                </a:tc>
              </a:tr>
              <a:tr h="502920">
                <a:tc>
                  <a:txBody>
                    <a:bodyPr/>
                    <a:lstStyle/>
                    <a:p>
                      <a:pPr>
                        <a:defRPr sz="1200">
                          <a:solidFill>
                            <a:srgbClr val="1E2124"/>
                          </a:solidFill>
                          <a:latin typeface="Yu Gothic"/>
                        </a:defRPr>
                      </a:pPr>
                      <a:r>
                        <a:t>The Star</a:t>
                      </a:r>
                    </a:p>
                  </a:txBody>
                  <a:tcPr>
                    <a:solidFill>
                      <a:srgbClr val="FFFFFF"/>
                    </a:solidFill>
                  </a:tcPr>
                </a:tc>
                <a:tc>
                  <a:txBody>
                    <a:bodyPr/>
                    <a:lstStyle/>
                    <a:p>
                      <a:pPr>
                        <a:defRPr sz="1200">
                          <a:solidFill>
                            <a:srgbClr val="1E2124"/>
                          </a:solidFill>
                          <a:latin typeface="Yu Gothic"/>
                        </a:defRPr>
                      </a:pPr>
                      <a:r>
                        <a:t>配信記事による報道</a:t>
                      </a:r>
                    </a:p>
                  </a:txBody>
                  <a:tcPr>
                    <a:solidFill>
                      <a:srgbClr val="FFFFFF"/>
                    </a:solidFill>
                  </a:tcPr>
                </a:tc>
              </a:tr>
              <a:tr h="502920">
                <a:tc>
                  <a:txBody>
                    <a:bodyPr/>
                    <a:lstStyle/>
                    <a:p>
                      <a:pPr>
                        <a:defRPr sz="1200">
                          <a:solidFill>
                            <a:srgbClr val="1E2124"/>
                          </a:solidFill>
                          <a:latin typeface="Yu Gothic"/>
                        </a:defRPr>
                      </a:pPr>
                      <a:r>
                        <a:t>AOL</a:t>
                      </a:r>
                    </a:p>
                  </a:txBody>
                  <a:tcPr>
                    <a:solidFill>
                      <a:srgbClr val="F7F4EF"/>
                    </a:solidFill>
                  </a:tcPr>
                </a:tc>
                <a:tc>
                  <a:txBody>
                    <a:bodyPr/>
                    <a:lstStyle/>
                    <a:p>
                      <a:pPr>
                        <a:defRPr sz="1200">
                          <a:solidFill>
                            <a:srgbClr val="1E2124"/>
                          </a:solidFill>
                          <a:latin typeface="Yu Gothic"/>
                        </a:defRPr>
                      </a:pPr>
                      <a:r>
                        <a:t>配信記事による報道</a:t>
                      </a:r>
                    </a:p>
                  </a:txBody>
                  <a:tcPr>
                    <a:solidFill>
                      <a:srgbClr val="F7F4EF"/>
                    </a:solidFill>
                  </a:tcPr>
                </a:tc>
              </a:tr>
              <a:tr h="502920">
                <a:tc>
                  <a:txBody>
                    <a:bodyPr/>
                    <a:lstStyle/>
                    <a:p>
                      <a:pPr>
                        <a:defRPr sz="1200">
                          <a:solidFill>
                            <a:srgbClr val="1E2124"/>
                          </a:solidFill>
                          <a:latin typeface="Yu Gothic"/>
                        </a:defRPr>
                      </a:pPr>
                      <a:r>
                        <a:t>Quartz</a:t>
                      </a:r>
                    </a:p>
                  </a:txBody>
                  <a:tcPr>
                    <a:solidFill>
                      <a:srgbClr val="FFFFFF"/>
                    </a:solidFill>
                  </a:tcPr>
                </a:tc>
                <a:tc>
                  <a:txBody>
                    <a:bodyPr/>
                    <a:lstStyle/>
                    <a:p>
                      <a:pPr>
                        <a:defRPr sz="1200">
                          <a:solidFill>
                            <a:srgbClr val="1E2124"/>
                          </a:solidFill>
                          <a:latin typeface="Yu Gothic"/>
                        </a:defRPr>
                      </a:pPr>
                      <a:r>
                        <a:t>資金調達・技術概要の報道</a:t>
                      </a:r>
                    </a:p>
                  </a:txBody>
                  <a:tcPr>
                    <a:solidFill>
                      <a:srgbClr val="FFFFFF"/>
                    </a:solidFill>
                  </a:tcPr>
                </a:tc>
              </a:tr>
              <a:tr h="502920">
                <a:tc>
                  <a:txBody>
                    <a:bodyPr/>
                    <a:lstStyle/>
                    <a:p>
                      <a:pPr>
                        <a:defRPr sz="1200">
                          <a:solidFill>
                            <a:srgbClr val="1E2124"/>
                          </a:solidFill>
                          <a:latin typeface="Yu Gothic"/>
                        </a:defRPr>
                      </a:pPr>
                      <a:r>
                        <a:t>VentureBurn・TechStartups・Crypto Briefing</a:t>
                      </a:r>
                    </a:p>
                  </a:txBody>
                  <a:tcPr>
                    <a:solidFill>
                      <a:srgbClr val="F7F4EF"/>
                    </a:solidFill>
                  </a:tcPr>
                </a:tc>
                <a:tc>
                  <a:txBody>
                    <a:bodyPr/>
                    <a:lstStyle/>
                    <a:p>
                      <a:pPr>
                        <a:defRPr sz="1200">
                          <a:solidFill>
                            <a:srgbClr val="1E2124"/>
                          </a:solidFill>
                          <a:latin typeface="Yu Gothic"/>
                        </a:defRPr>
                      </a:pPr>
                      <a:r>
                        <a:t>資金調達の報道</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Reuters(TradingView)・Yahoo Finance・The Star・AOL・Quartz・VentureBurn・TechStartups・Crypto Briefing(2026-08-18)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評価額10億ドル超。事実だけを、出典付きで。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Velaura AIがシリーズAで1億1000万ドルを調達し評価額10億ドル超に到達、AIの電力問題に挑む「Titan Core」の中身まで出典付きで整理してお届けしました。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