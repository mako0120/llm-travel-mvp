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不動産サービス大手JLLが2026年8月19日、欧州の次世代AIデータセンターが都市部から大きく離れた場所に建設される傾向を報告しました。今日はこの立地変化の中身を出典付きで整理してお届けします。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結論から確認します。2022〜2025年完成分の平均46kmに対し、2026〜2028年計画分は平均175kmと、主要ハブからの距離が大きく拡大しています。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今日は6つの流れでお伝えします。立地変化の数字から、背景要因、地域社会への影響まで、正確に数字を引用しながら整理します。誇張せず、確認できなかったことは正直にお伝えします。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このテーマを扱う理由です。高い鮮度に加え、都市部から約4倍遠くへという分かりやすい立地変化の数字に注目しました。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JLLは世界的な不動産サービス大手で、今回EMEA地域のデータセンター市場動向を分析したレポートを発表しました。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主要ハブからの平均距離は、2022〜2025年完成分の約46kmから、2026〜2028年計画分の約175kmへと大きく拡大しています。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175kmは46kmの約3.8倍にあたる大きな変化です。都市部での電力・土地不足が背景とされていますが、地域ごとの詳細な内訳までは確認できていません。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主要ハブからの平均距離は、約3.8倍に拡大しています。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都心部立地の割合は13%から5%へ減少する見通しで、グリーンフィールドでのプロジェクトが今後大きく増加する見通しです。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都心部立地とグリーンフィールド開発を対比しました。今後はグリーンフィールドでの開発が主流になる見通しです。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立地変化の背景には、電力不足・土地不足・冷却用水の確保・送電網の制約など、複数の要因があります。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AIトレーニング施設は大量の電力・冷却水を必要とし、これが立地選定に大きく影響しています。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グリーンフィールド(未開発地)でのプロジェクトが、今後のパイプライン全体の39%を占める見通しです。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地域社会への影響には、投資・雇用創出という前向きな側面と、環境・資源競合への懸念という両面があります。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立地変化に至る流れを図にしました。AI需要の急増から都市部の不足、そして郊外へのシフトという流れです。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今回のレポートを3ステップで総括しました。平均距離の拡大、都心部立地の減少、そして電力・土地確保の重要性という流れです。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AI需要が不動産市場・インフラ投資の在り方を大きく変えている事例として注目されますが、他地域との比較は行っていません。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完成分と計画分を対比しました。いずれの指標も、より郊外・グリーンフィールド寄りへとシフトしています。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今回の発表の要点をまとめました。平均距離、都心部立地割合、グリーンフィールド割合、背景要因という4点です。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今後の見どころとして、個別案件の詳細や他地域との比較が挙げられますが、いずれも現時点では確認できていません。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今回のレポートはEMEA(欧州・中東・アフリカ)地域を対象としています。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本テーマは、複数の独立したメディアが一致して報じている内容として整理しています。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今回のレポートは、世界的な不動産サービス大手JLLが発表したものです。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今回の分析対象は2026〜2028年の計画分で、2022〜2025年の完成分と比較されています。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電力アクセスがデータセンター立地選定の最重要要因の一つになりつつあります。国別の詳細な比較までは確認できていません。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確認できなかったことを正直にお伝えします。個別案件の詳細、算出方法論、反対運動の具体的事例は確認できていません。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確認できている事実と、今後の不確定要素を対比しました。確定事実と未確定要素を明確に区別してお伝えします。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このニュースが読者にとって意味することをまとめました。AI・データセンター業界を追う立場、地域経済に関心がある立場、不動産・インフラ投資に携わる立場、それぞれで意識したい視点です。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まとめです。都市部から遠ざかるAIデータセンターという立地変化と、その背景要因、そして確認できていない点を正直にお伝えしました。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JLLの欧州AIデータセンター立地レポート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都市部から</a:t>
            </a:r>
          </a:p>
          <a:p>
            <a:pPr algn="l">
              <a:lnSpc>
                <a:spcPct val="115000"/>
              </a:lnSpc>
            </a:pPr>
            <a:r>
              <a:rPr sz="4200" b="1">
                <a:solidFill>
                  <a:srgbClr val="FFFFFF"/>
                </a:solidFill>
                <a:latin typeface="Yu Gothic"/>
              </a:rPr>
              <a:t>約4倍遠くへ。</a:t>
            </a:r>
          </a:p>
          <a:p>
            <a:pPr algn="l">
              <a:lnSpc>
                <a:spcPct val="115000"/>
              </a:lnSpc>
            </a:pPr>
            <a:r>
              <a:rPr sz="4200" b="1">
                <a:solidFill>
                  <a:srgbClr val="FFFFFF"/>
                </a:solidFill>
                <a:latin typeface="Yu Gothic"/>
              </a:rPr>
              <a:t>AIが変えた立地戦略</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2026年8月19日発表——JLLレポート、欧州AIデータセンターの立地激変</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Yahoo Finance・Data Centre Magazine(2026年8月19日)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主要ハブからの平均距離、46km→175kmへ拡大</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JLL『EMEA Mid-Year Data Centre Report 2026』(2026年8月19日発表)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Yahoo Finance・Data Centre Magazine(2026-08-19)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JLLレポートとは・基礎知識</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立地変化の具体的な数字を確認する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変化の背景要因を確認する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地域社会への影響・今後の展望を確認する</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着手日当日(2026年8月19日)発表という最も高い鮮度の話題である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『都市部から約4倍遠くへ』という分かりやすい立地変化の数字である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AI需要が不動産・インフラ市場にどう波及しているかを示す具体的な事例である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複数の独立した情報源(Yahoo Finance・Data Centre Magazine等)で確認できる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Yahoo Finance・Data Centre Magazine(2026-08-19)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JLLレポートとは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JLLは世界的な不動産サービス・投資マネジメント大手企業</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『EMEA Mid-Year Data Centre Report 2026』を2026年8月19日に発表</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欧州・中東・アフリカ地域(EMEA)のデータセンター市場動向を分析するレポート</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AI需要がデータセンターの立地選定にどう影響しているかを分析している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Yahoo Finance・Data Centre Magazine(2026-08-19)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主要ハブからの平均距離の変化</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期間</a:t>
                      </a:r>
                    </a:p>
                  </a:txBody>
                  <a:tcPr>
                    <a:solidFill>
                      <a:srgbClr val="1E2761"/>
                    </a:solidFill>
                  </a:tcPr>
                </a:tc>
                <a:tc>
                  <a:txBody>
                    <a:bodyPr/>
                    <a:lstStyle/>
                    <a:p>
                      <a:pPr>
                        <a:defRPr sz="1300" b="1">
                          <a:solidFill>
                            <a:srgbClr val="FFFFFF"/>
                          </a:solidFill>
                          <a:latin typeface="Yu Gothic"/>
                        </a:defRPr>
                      </a:pPr>
                      <a:r>
                        <a:t>主要ハブからの平均距離</a:t>
                      </a:r>
                    </a:p>
                  </a:txBody>
                  <a:tcPr>
                    <a:solidFill>
                      <a:srgbClr val="1E2761"/>
                    </a:solidFill>
                  </a:tcPr>
                </a:tc>
              </a:tr>
              <a:tr h="502920">
                <a:tc>
                  <a:txBody>
                    <a:bodyPr/>
                    <a:lstStyle/>
                    <a:p>
                      <a:pPr>
                        <a:defRPr sz="1200">
                          <a:solidFill>
                            <a:srgbClr val="1A1A2E"/>
                          </a:solidFill>
                          <a:latin typeface="Yu Gothic"/>
                        </a:defRPr>
                      </a:pPr>
                      <a:r>
                        <a:t>2022〜2025年完成分</a:t>
                      </a:r>
                    </a:p>
                  </a:txBody>
                  <a:tcPr>
                    <a:solidFill>
                      <a:srgbClr val="FFFFFF"/>
                    </a:solidFill>
                  </a:tcPr>
                </a:tc>
                <a:tc>
                  <a:txBody>
                    <a:bodyPr/>
                    <a:lstStyle/>
                    <a:p>
                      <a:pPr>
                        <a:defRPr sz="1200">
                          <a:solidFill>
                            <a:srgbClr val="1A1A2E"/>
                          </a:solidFill>
                          <a:latin typeface="Yu Gothic"/>
                        </a:defRPr>
                      </a:pPr>
                      <a:r>
                        <a:t>約46km</a:t>
                      </a:r>
                    </a:p>
                  </a:txBody>
                  <a:tcPr>
                    <a:solidFill>
                      <a:srgbClr val="FFFFFF"/>
                    </a:solidFill>
                  </a:tcPr>
                </a:tc>
              </a:tr>
              <a:tr h="502920">
                <a:tc>
                  <a:txBody>
                    <a:bodyPr/>
                    <a:lstStyle/>
                    <a:p>
                      <a:pPr>
                        <a:defRPr sz="1200">
                          <a:solidFill>
                            <a:srgbClr val="1A1A2E"/>
                          </a:solidFill>
                          <a:latin typeface="Yu Gothic"/>
                        </a:defRPr>
                      </a:pPr>
                      <a:r>
                        <a:t>2026〜2028年計画分</a:t>
                      </a:r>
                    </a:p>
                  </a:txBody>
                  <a:tcPr>
                    <a:solidFill>
                      <a:srgbClr val="F3F6FC"/>
                    </a:solidFill>
                  </a:tcPr>
                </a:tc>
                <a:tc>
                  <a:txBody>
                    <a:bodyPr/>
                    <a:lstStyle/>
                    <a:p>
                      <a:pPr>
                        <a:defRPr sz="1200">
                          <a:solidFill>
                            <a:srgbClr val="1A1A2E"/>
                          </a:solidFill>
                          <a:latin typeface="Yu Gothic"/>
                        </a:defRPr>
                      </a:pPr>
                      <a:r>
                        <a:t>約175km</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Yahoo Finance・Data Centre Magazine(2026-08-19)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距離拡大の具体的な倍率</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この変化の規模です。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175kmは46kmの約3.8倍にあたる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ロンドン・フランクフルトなど都市部での電力・土地不足が背景とされる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『主要ハブ』の具体的な定義(どの都市を基準としたか)の詳細は本調査の範囲では確認できていない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地域ごとの詳細な内訳(国別の平均距離等)は確認できていない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Yahoo Finance(2026-08-19)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距離拡大の倍率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約3.8倍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46km→175kmへの変化</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Yahoo Finance(2026-08-19)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都市部の立地割合の変化</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都心部立地の減少についてです。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パイプライン案件のうち都心部に立地する割合は、13%から5%へ減少する見通し</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残りは工業地帯・都市周縁部が中心になるとされる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グリーンフィールド(未開発地)でのプロジェクトが今後のパイプライン全体の39%を占める見通し</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これまで完成したプロジェクトに占めるグリーンフィールドの割合は8%にとどまっていた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Data Centre Review・AI Magazine(2026-08-19)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都心部立地 vs グリーンフィールド開発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都心部立地</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パイプラインに占める割合は13%→5%へ減少</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電力・土地の不足が課題</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ロンドン・フランクフルト等が代表例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グリーンフィールド開発</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パイプラインに占める割合は8%→39%へ増加</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電力・土地の確保が容易</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工業地帯・都市周縁部が中心</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立地変化の背景要因</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要因</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電力不足</a:t>
                      </a:r>
                    </a:p>
                  </a:txBody>
                  <a:tcPr>
                    <a:solidFill>
                      <a:srgbClr val="FFFFFF"/>
                    </a:solidFill>
                  </a:tcPr>
                </a:tc>
                <a:tc>
                  <a:txBody>
                    <a:bodyPr/>
                    <a:lstStyle/>
                    <a:p>
                      <a:pPr>
                        <a:defRPr sz="1200">
                          <a:solidFill>
                            <a:srgbClr val="1A1A2E"/>
                          </a:solidFill>
                          <a:latin typeface="Yu Gothic"/>
                        </a:defRPr>
                      </a:pPr>
                      <a:r>
                        <a:t>都市部での電力供給能力が限界に近づいている</a:t>
                      </a:r>
                    </a:p>
                  </a:txBody>
                  <a:tcPr>
                    <a:solidFill>
                      <a:srgbClr val="FFFFFF"/>
                    </a:solidFill>
                  </a:tcPr>
                </a:tc>
              </a:tr>
              <a:tr h="502920">
                <a:tc>
                  <a:txBody>
                    <a:bodyPr/>
                    <a:lstStyle/>
                    <a:p>
                      <a:pPr>
                        <a:defRPr sz="1200">
                          <a:solidFill>
                            <a:srgbClr val="1A1A2E"/>
                          </a:solidFill>
                          <a:latin typeface="Yu Gothic"/>
                        </a:defRPr>
                      </a:pPr>
                      <a:r>
                        <a:t>土地不足</a:t>
                      </a:r>
                    </a:p>
                  </a:txBody>
                  <a:tcPr>
                    <a:solidFill>
                      <a:srgbClr val="F3F6FC"/>
                    </a:solidFill>
                  </a:tcPr>
                </a:tc>
                <a:tc>
                  <a:txBody>
                    <a:bodyPr/>
                    <a:lstStyle/>
                    <a:p>
                      <a:pPr>
                        <a:defRPr sz="1200">
                          <a:solidFill>
                            <a:srgbClr val="1A1A2E"/>
                          </a:solidFill>
                          <a:latin typeface="Yu Gothic"/>
                        </a:defRPr>
                      </a:pPr>
                      <a:r>
                        <a:t>都市部での適地確保が困難</a:t>
                      </a:r>
                    </a:p>
                  </a:txBody>
                  <a:tcPr>
                    <a:solidFill>
                      <a:srgbClr val="F3F6FC"/>
                    </a:solidFill>
                  </a:tcPr>
                </a:tc>
              </a:tr>
              <a:tr h="502920">
                <a:tc>
                  <a:txBody>
                    <a:bodyPr/>
                    <a:lstStyle/>
                    <a:p>
                      <a:pPr>
                        <a:defRPr sz="1200">
                          <a:solidFill>
                            <a:srgbClr val="1A1A2E"/>
                          </a:solidFill>
                          <a:latin typeface="Yu Gothic"/>
                        </a:defRPr>
                      </a:pPr>
                      <a:r>
                        <a:t>冷却用水の確保</a:t>
                      </a:r>
                    </a:p>
                  </a:txBody>
                  <a:tcPr>
                    <a:solidFill>
                      <a:srgbClr val="FFFFFF"/>
                    </a:solidFill>
                  </a:tcPr>
                </a:tc>
                <a:tc>
                  <a:txBody>
                    <a:bodyPr/>
                    <a:lstStyle/>
                    <a:p>
                      <a:pPr>
                        <a:defRPr sz="1200">
                          <a:solidFill>
                            <a:srgbClr val="1A1A2E"/>
                          </a:solidFill>
                          <a:latin typeface="Yu Gothic"/>
                        </a:defRPr>
                      </a:pPr>
                      <a:r>
                        <a:t>AIトレーニング施設は大量の水を必要とする</a:t>
                      </a:r>
                    </a:p>
                  </a:txBody>
                  <a:tcPr>
                    <a:solidFill>
                      <a:srgbClr val="FFFFFF"/>
                    </a:solidFill>
                  </a:tcPr>
                </a:tc>
              </a:tr>
              <a:tr h="502920">
                <a:tc>
                  <a:txBody>
                    <a:bodyPr/>
                    <a:lstStyle/>
                    <a:p>
                      <a:pPr>
                        <a:defRPr sz="1200">
                          <a:solidFill>
                            <a:srgbClr val="1A1A2E"/>
                          </a:solidFill>
                          <a:latin typeface="Yu Gothic"/>
                        </a:defRPr>
                      </a:pPr>
                      <a:r>
                        <a:t>送電網の制約</a:t>
                      </a:r>
                    </a:p>
                  </a:txBody>
                  <a:tcPr>
                    <a:solidFill>
                      <a:srgbClr val="F3F6FC"/>
                    </a:solidFill>
                  </a:tcPr>
                </a:tc>
                <a:tc>
                  <a:txBody>
                    <a:bodyPr/>
                    <a:lstStyle/>
                    <a:p>
                      <a:pPr>
                        <a:defRPr sz="1200">
                          <a:solidFill>
                            <a:srgbClr val="1A1A2E"/>
                          </a:solidFill>
                          <a:latin typeface="Yu Gothic"/>
                        </a:defRPr>
                      </a:pPr>
                      <a:r>
                        <a:t>新規接続に時間がかかる地域が多い</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Yahoo Finance・Data Centre Magazine(2026-08-19)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AIトレーニング施設の特殊性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なぜAI向け施設は特に立地に影響されるのかです。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AIトレーニング用の大規模施設は、大量の電力を必要とする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冷却のための大量の水も必要とされる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従来型のデータセンターと比べ、必要な電力規模が大きく異なるとされる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具体的な電力消費量の詳細な数値は本調査の範囲では確認できていない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Yahoo Finance(2026-08-19)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グリーンフィールド開発の拡大</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8%→39%へ拡大見通し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今後のパイプラインに占める割合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Data Centre Review(2026-08-19)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地域社会への影響(留保つき)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この変化が地域にもたらす影響です。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恵まれない地域への投資・雇用創出につながる可能性があるとされる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一方で、天然生息地の減少や、電力・水をめぐる住民との競合への懸念も指摘されている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具体的な反対運動の事例・規模は本調査では扱っていない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地域ごとの影響の詳細な検証は本調査の範囲では行っていない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Yahoo Finance(2026-08-19)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立地変化に至る流れ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AIトレーニング需要の急増</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大量の電力・冷却水が必要</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都市部の電力・土地が不足</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ロンドン・フランクフルト等</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郊外・グリーンフィールドへシフト</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平均距離が46km→175kmへ</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AI需要の急増から立地変化までの流れ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Yahoo Finance・Data Centre Magazine(2026-08-19)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今回のレポートの3ステップ総括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 平均距離が約3.8倍に拡大</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46km→175km</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 都心部立地が13%→5%へ減少</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グリーンフィールドが主流に</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3. 電力・土地確保が最優先事項に</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地域社会への影響も指摘</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不動産・インフラ業界における位置づけ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業界内での位置づけです。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AI需要が不動産市場・インフラ投資の在り方を大きく変えている事例として注目される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電力アクセスが、データセンター立地選定の最重要要因になりつつあるとされる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他地域(北米・アジア等)との詳細な比較は本調査では行っていない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個別の具体的な新設案件の詳細は確認できていない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2022〜2025年 vs 2026〜2028年計画分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2022〜2025年(完成分)</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平均距離46km</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グリーンフィールド8%</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都心部立地13%</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2026〜2028年(計画分)</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平均距離175km</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グリーンフィールド39%</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都心部立地5%</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今回の発表の要点まとめ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平均距離の変化</a:t>
                      </a:r>
                    </a:p>
                  </a:txBody>
                  <a:tcPr>
                    <a:solidFill>
                      <a:srgbClr val="FFFFFF"/>
                    </a:solidFill>
                  </a:tcPr>
                </a:tc>
                <a:tc>
                  <a:txBody>
                    <a:bodyPr/>
                    <a:lstStyle/>
                    <a:p>
                      <a:pPr>
                        <a:defRPr sz="1200">
                          <a:solidFill>
                            <a:srgbClr val="1A1A2E"/>
                          </a:solidFill>
                          <a:latin typeface="Yu Gothic"/>
                        </a:defRPr>
                      </a:pPr>
                      <a:r>
                        <a:t>46km→175km(約3.8倍)</a:t>
                      </a:r>
                    </a:p>
                  </a:txBody>
                  <a:tcPr>
                    <a:solidFill>
                      <a:srgbClr val="FFFFFF"/>
                    </a:solidFill>
                  </a:tcPr>
                </a:tc>
              </a:tr>
              <a:tr h="502920">
                <a:tc>
                  <a:txBody>
                    <a:bodyPr/>
                    <a:lstStyle/>
                    <a:p>
                      <a:pPr>
                        <a:defRPr sz="1200">
                          <a:solidFill>
                            <a:srgbClr val="1A1A2E"/>
                          </a:solidFill>
                          <a:latin typeface="Yu Gothic"/>
                        </a:defRPr>
                      </a:pPr>
                      <a:r>
                        <a:t>都心部立地割合の変化</a:t>
                      </a:r>
                    </a:p>
                  </a:txBody>
                  <a:tcPr>
                    <a:solidFill>
                      <a:srgbClr val="F3F6FC"/>
                    </a:solidFill>
                  </a:tcPr>
                </a:tc>
                <a:tc>
                  <a:txBody>
                    <a:bodyPr/>
                    <a:lstStyle/>
                    <a:p>
                      <a:pPr>
                        <a:defRPr sz="1200">
                          <a:solidFill>
                            <a:srgbClr val="1A1A2E"/>
                          </a:solidFill>
                          <a:latin typeface="Yu Gothic"/>
                        </a:defRPr>
                      </a:pPr>
                      <a:r>
                        <a:t>13%→5%</a:t>
                      </a:r>
                    </a:p>
                  </a:txBody>
                  <a:tcPr>
                    <a:solidFill>
                      <a:srgbClr val="F3F6FC"/>
                    </a:solidFill>
                  </a:tcPr>
                </a:tc>
              </a:tr>
              <a:tr h="502920">
                <a:tc>
                  <a:txBody>
                    <a:bodyPr/>
                    <a:lstStyle/>
                    <a:p>
                      <a:pPr>
                        <a:defRPr sz="1200">
                          <a:solidFill>
                            <a:srgbClr val="1A1A2E"/>
                          </a:solidFill>
                          <a:latin typeface="Yu Gothic"/>
                        </a:defRPr>
                      </a:pPr>
                      <a:r>
                        <a:t>グリーンフィールド割合の変化</a:t>
                      </a:r>
                    </a:p>
                  </a:txBody>
                  <a:tcPr>
                    <a:solidFill>
                      <a:srgbClr val="FFFFFF"/>
                    </a:solidFill>
                  </a:tcPr>
                </a:tc>
                <a:tc>
                  <a:txBody>
                    <a:bodyPr/>
                    <a:lstStyle/>
                    <a:p>
                      <a:pPr>
                        <a:defRPr sz="1200">
                          <a:solidFill>
                            <a:srgbClr val="1A1A2E"/>
                          </a:solidFill>
                          <a:latin typeface="Yu Gothic"/>
                        </a:defRPr>
                      </a:pPr>
                      <a:r>
                        <a:t>8%→39%</a:t>
                      </a:r>
                    </a:p>
                  </a:txBody>
                  <a:tcPr>
                    <a:solidFill>
                      <a:srgbClr val="FFFFFF"/>
                    </a:solidFill>
                  </a:tcPr>
                </a:tc>
              </a:tr>
              <a:tr h="502920">
                <a:tc>
                  <a:txBody>
                    <a:bodyPr/>
                    <a:lstStyle/>
                    <a:p>
                      <a:pPr>
                        <a:defRPr sz="1200">
                          <a:solidFill>
                            <a:srgbClr val="1A1A2E"/>
                          </a:solidFill>
                          <a:latin typeface="Yu Gothic"/>
                        </a:defRPr>
                      </a:pPr>
                      <a:r>
                        <a:t>主な背景要因</a:t>
                      </a:r>
                    </a:p>
                  </a:txBody>
                  <a:tcPr>
                    <a:solidFill>
                      <a:srgbClr val="F3F6FC"/>
                    </a:solidFill>
                  </a:tcPr>
                </a:tc>
                <a:tc>
                  <a:txBody>
                    <a:bodyPr/>
                    <a:lstStyle/>
                    <a:p>
                      <a:pPr>
                        <a:defRPr sz="1200">
                          <a:solidFill>
                            <a:srgbClr val="1A1A2E"/>
                          </a:solidFill>
                          <a:latin typeface="Yu Gothic"/>
                        </a:defRPr>
                      </a:pPr>
                      <a:r>
                        <a:t>電力・土地・冷却水の確保</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Yahoo Finance・Data Centre Magazine(2026-08-19)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今後注目される点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今後の見どころです。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個別の具体的な新設データセンター案件の詳細</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地域社会からの反対運動の実際の広がり</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他地域(北米・アジア等)での同様の傾向の有無</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今後のJLL・他の不動産調査機関による追加レポートを継続して確認する必要がある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対象地域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EMEA(欧州・中東・アフリカ)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JLLレポートの分析対象範囲</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Yahoo Finance(2026-08-19)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主な情報源(独立した複数メディア)</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1E2761"/>
                    </a:solidFill>
                  </a:tcPr>
                </a:tc>
                <a:tc>
                  <a:txBody>
                    <a:bodyPr/>
                    <a:lstStyle/>
                    <a:p>
                      <a:pPr>
                        <a:defRPr sz="1300" b="1">
                          <a:solidFill>
                            <a:srgbClr val="FFFFFF"/>
                          </a:solidFill>
                          <a:latin typeface="Yu Gothic"/>
                        </a:defRPr>
                      </a:pPr>
                      <a:r>
                        <a:t>確認できた内容</a:t>
                      </a:r>
                    </a:p>
                  </a:txBody>
                  <a:tcPr>
                    <a:solidFill>
                      <a:srgbClr val="1E2761"/>
                    </a:solidFill>
                  </a:tcPr>
                </a:tc>
              </a:tr>
              <a:tr h="502920">
                <a:tc>
                  <a:txBody>
                    <a:bodyPr/>
                    <a:lstStyle/>
                    <a:p>
                      <a:pPr>
                        <a:defRPr sz="1200">
                          <a:solidFill>
                            <a:srgbClr val="1A1A2E"/>
                          </a:solidFill>
                          <a:latin typeface="Yu Gothic"/>
                        </a:defRPr>
                      </a:pPr>
                      <a:r>
                        <a:t>Yahoo Finance</a:t>
                      </a:r>
                    </a:p>
                  </a:txBody>
                  <a:tcPr>
                    <a:solidFill>
                      <a:srgbClr val="FFFFFF"/>
                    </a:solidFill>
                  </a:tcPr>
                </a:tc>
                <a:tc>
                  <a:txBody>
                    <a:bodyPr/>
                    <a:lstStyle/>
                    <a:p>
                      <a:pPr>
                        <a:defRPr sz="1200">
                          <a:solidFill>
                            <a:srgbClr val="1A1A2E"/>
                          </a:solidFill>
                          <a:latin typeface="Yu Gothic"/>
                        </a:defRPr>
                      </a:pPr>
                      <a:r>
                        <a:t>レポート概要・平均距離の数字</a:t>
                      </a:r>
                    </a:p>
                  </a:txBody>
                  <a:tcPr>
                    <a:solidFill>
                      <a:srgbClr val="FFFFFF"/>
                    </a:solidFill>
                  </a:tcPr>
                </a:tc>
              </a:tr>
              <a:tr h="502920">
                <a:tc>
                  <a:txBody>
                    <a:bodyPr/>
                    <a:lstStyle/>
                    <a:p>
                      <a:pPr>
                        <a:defRPr sz="1200">
                          <a:solidFill>
                            <a:srgbClr val="1A1A2E"/>
                          </a:solidFill>
                          <a:latin typeface="Yu Gothic"/>
                        </a:defRPr>
                      </a:pPr>
                      <a:r>
                        <a:t>Data Centre Magazine</a:t>
                      </a:r>
                    </a:p>
                  </a:txBody>
                  <a:tcPr>
                    <a:solidFill>
                      <a:srgbClr val="F3F6FC"/>
                    </a:solidFill>
                  </a:tcPr>
                </a:tc>
                <a:tc>
                  <a:txBody>
                    <a:bodyPr/>
                    <a:lstStyle/>
                    <a:p>
                      <a:pPr>
                        <a:defRPr sz="1200">
                          <a:solidFill>
                            <a:srgbClr val="1A1A2E"/>
                          </a:solidFill>
                          <a:latin typeface="Yu Gothic"/>
                        </a:defRPr>
                      </a:pPr>
                      <a:r>
                        <a:t>JLLレポートの詳細解説</a:t>
                      </a:r>
                    </a:p>
                  </a:txBody>
                  <a:tcPr>
                    <a:solidFill>
                      <a:srgbClr val="F3F6FC"/>
                    </a:solidFill>
                  </a:tcPr>
                </a:tc>
              </a:tr>
              <a:tr h="502920">
                <a:tc>
                  <a:txBody>
                    <a:bodyPr/>
                    <a:lstStyle/>
                    <a:p>
                      <a:pPr>
                        <a:defRPr sz="1200">
                          <a:solidFill>
                            <a:srgbClr val="1A1A2E"/>
                          </a:solidFill>
                          <a:latin typeface="Yu Gothic"/>
                        </a:defRPr>
                      </a:pPr>
                      <a:r>
                        <a:t>Data Centre Review・AI Magazine</a:t>
                      </a:r>
                    </a:p>
                  </a:txBody>
                  <a:tcPr>
                    <a:solidFill>
                      <a:srgbClr val="FFFFFF"/>
                    </a:solidFill>
                  </a:tcPr>
                </a:tc>
                <a:tc>
                  <a:txBody>
                    <a:bodyPr/>
                    <a:lstStyle/>
                    <a:p>
                      <a:pPr>
                        <a:defRPr sz="1200">
                          <a:solidFill>
                            <a:srgbClr val="1A1A2E"/>
                          </a:solidFill>
                          <a:latin typeface="Yu Gothic"/>
                        </a:defRPr>
                      </a:pPr>
                      <a:r>
                        <a:t>都心部立地割合・グリーンフィールド割合</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本リサーチ(2026-08-19時点)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レポートの発表元</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JLL(世界的な不動産サービス大手)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『EMEA Mid-Year Data Centre Report 2026』</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Yahoo Finance(2026-08-19)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対象期間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2026〜2028年計画分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2022〜2025年完成分との比較対象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Yahoo Finance(2026-08-19)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電力確保をめぐる競争</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電力アクセスの重要性についてです。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電力アクセスがデータセンター立地選定の最重要要因の一つになりつつあるとされる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都市部では電力網の新規接続に時間がかかる地域が多いとされる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郊外・地方では比較的電力の確保がしやすいとされる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具体的な国別・地域別の電力事情の詳細な比較は本調査の範囲では確認できていない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Yahoo Finance・Data Centre Magazine(2026-08-19)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個別の具体的な新設データセンター案件(社名・立地・稼働時期)の詳細</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『175km』『46km』という平均値の算出方法論の詳細</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住民からの反対運動の具体的な事例・規模</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本テーマは特定企業・地域への投資を推奨するものではなく、報じられた市場動向の紹介にとどめる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確認できている事実</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平均距離の拡大(46km→175km)</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都心部立地割合の減少</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背景にある電力・土地不足</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今後の不確定要素</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個別案件の詳細</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地域社会への実際の影響</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他地域との比較</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AI・データセンター業界の動向に関心がある立場として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AI需要が不動産・インフラ市場にどう波及しているかを把握する視点が役立つ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地域経済・雇用に関心がある立場として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郊外への投資が雇用創出につながる可能性と、環境・資源への懸念を両面から見る視点が参考になる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不動産・インフラ投資に携わる立場として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電力アクセスが立地選定の最重要要因になりつつあることを意識する視点が役立つ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本編のまとめです。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JLLは2026年8月19日、欧州のAIデータセンターが都市部から大きく離れた場所に建設される傾向を報告した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主要ハブからの平均距離は46kmから175kmへ、約3.8倍に拡大している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電力・土地・冷却水の確保が、立地変化の主な背景要因とされる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地域社会への影響や個別案件の詳細など、確認できていない点は正直に開示した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 Finance・Data Centre Magazine(2026-08-19)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都市部から約4倍遠くへ。AIが変えた地図。</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JLLは2026年8月19日、欧州のAIデータセンターが都市部から大きく離れた場所に建設される傾向を報告しました。この立地変化の中身を、出典付きで正直に整理してお届けしました。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