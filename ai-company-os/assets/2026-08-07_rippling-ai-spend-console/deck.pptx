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7日、TechCrunchがHR・給与計算SaaS大手Ripplingの内部事情を報じました。AIトークンの支出がR&amp;D部門の人件費予算の40%に達する勢いで、しかも月次80%というペースで増加していました。同社は急遽、社員一人ひとりのAI利用とROIを可視化する社内ツール『AI Spend Console』を作り、今では他社にも販売しています。今日はこの発表を出典付きで整理します。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Ripplingでは、AIトークンへの支出がR&amp;D部門の人件費予算の40%に達する軌道にあることが、2026年3月の経営陣向け会議で明らかになりました。しかも支出は月次80%というペースで増え続けてい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発表から3日が経過しており、通常の鮮度基準は満たしていません。探索を尽くしても2日以内の候補が見つからなかったための例外採用であることを、ま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何が起きたのか整理します。CFOが提示した衝撃的な数字をきっかけに、Ripplingは支出の内訳を調べ、可視化ツールを開発して発表しました。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複数の独立したメディアが同じ内容を報じています。TechCrunchに加え、Rippling自身の公式発表や、複数の専門メディアが数字・機能を裏付けています。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この40%という数字を詳しく見ます。R&amp;D部門の社員に支払う給与などの総額の40%に相当する金額を、AIトークン代だけで使っていた計算になります。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増加のペースも見ておきます。月ごとに80%というペースで支出が増えていました。このまま続けば、翌年には人件費に迫る勢いだったとされています。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時系列で見ます。3月にCFOが危機的な数字を報告し、月次80%という増加ペースが判明。このままでは翌年に人件費に迫る勢いだったため、8月にツールを発表しました。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トークンは使うほど費用がかかる従量課金の単位です。RipplingはHR/給与計算のクラウド企業で、そのエンジニア組織の人件費予算と同規模の金額がAIに消えかけてい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社内調査で判明したのはこの2点です。ごく一部の社員が支出の大半を占めており、中には月5万ドルを超える利用をしていたエンジニアもいたといいます。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なぜ支出が膨らんだのか。最新・最高額のモデルをとりあえず選ぶ習慣や、利用状況を可視化・誘導する仕組みが無かったことが背景にあるとされています。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ここまでの数字を一覧にまとめました。40%、月次80%増、10〜15%の社員が60%、月5万ドル超。いずれも複数の独立した媒体で一致して報じられています。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Spend Console』の役割は主に3つです。社員別の可視化、成果とのROI評価、そして支出が本当に価値を生んでいるかの見極めです。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仕組みをもう少し詳しく見ます。複数のAIツールを横断して利用状況を集約し、GitHubやSalesforceの成果データと突き合わせることで、支出が価値を生んでいるかを評価します。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RipplingのCFOの発言を引用します。『いくら使っているかではなく、それが何を生み出しているかが問題だ』。このツールが目指す考え方を端的に示す一言です。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導入前後を比べるとこうなります。利用量自体は4月とほぼ同じ水準でも、支出は4月の37%にまで下がったといいます。使う量を減らしたのではなく、効率的な使い方への転換が効いたとされています。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Ripplingはこの経験を自社の課題解決だけで終わらせず、製品として他社にも販売しています。同じ課題を抱える企業が多いと見ていることがうかがえます。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3つのテーマとの関係を整理します。Weaveは測定問題の提起、Microsoftは社内での引き締め、Uberは火付け役自身の終焉宣言。そして本テーマは、危機への対応として実際に動く製品を作り、外販までした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4つのテーマの流れを図にするとこうなります。測定問題の提起から始まり、社内での引き締め、火付け役自身の終焉宣言を経て、最後に危機対応ツールを実際に作った企業の事例に至ります。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ここで確認できなかったことを一覧にします。正確な総額、算出期間の詳細、機能の全容、業界全体への波及、いずれも本調査の範囲では確定できませんでした。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ここからは実践的な視点です。企業のAI導入担当にとっては、利用量そのものを目標にしないこと、可視化の重要性、成果との突き合わせが参考になります。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ジニア個人にとっては、使った量だけでなく成果とセットで見られる可能性や、モデル選びの効率が問われる方向への変化が考えられます。ただしこれはRippling一社の取り組みである点には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実践的な視点として、評価指標の設計、可視化の有無、モデルの使い分け、成果の記録、この4点の確認をおすすめします。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Rippling一社の発表として扱い、特定企業の推奨や誇張はしていません。鮮度の例外採用も正直に開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最後にもう一度確認します。2026年8月7日、Ripplingは自社の危機的なAI支出への対応として開発したツールを発表しました。正確な総額や詳細な機能一覧は非公表であり、その旨を正直にお伝えしています。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本編は以上です。今回はRipplingがAIトークン支出の急増にどう向き合ったかをお伝えしました。非公開の情報は不明として扱い、推測部分は推測と明記しています。次回もまた出典付きでお届けします。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R&amp;D予算の40%が、</a:t>
            </a:r>
          </a:p>
          <a:p>
            <a:pPr algn="l">
              <a:lnSpc>
                <a:spcPct val="115000"/>
              </a:lnSpc>
            </a:pPr>
            <a:r>
              <a:rPr sz="4200" b="1">
                <a:solidFill>
                  <a:srgbClr val="FFFFFF"/>
                </a:solidFill>
                <a:latin typeface="Yu Gothic"/>
              </a:rPr>
              <a:t>AIトークン代に消えていた。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HR/給与SaaS大手Rippling、AIトークン支出が月次80%ペースで増加——社員10〜15%が支出の60%、一部は月5万ドル超。同社は社員のAI利用を丸ごと可視化する「AI Spend Console」を開発し、他社にも販売している(2026年8月7日TechCrunch報道)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TechCrunch(2026-08-07)ほか。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R&amp;D人件費予算の40%が、AIトークン代に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Rippling社内の分析(2026年3月、CFO Adam Swiecicki氏が経営陣に提示)で判明。支出は月次80%のペースで増加していた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TechCrunch(2026-08-07)ほか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『R&amp;D予算の40%』『月次80%増』とは何を意味する数字か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社内調査で分かった支出の偏り(10〜15%の社員が60%を占める、など)</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急遽開発した『AI Spend Console』の仕組みと導入効果</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既存3つの『tokenmaxxing』系テーマとの関係</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発表は2026年8月7日。着手日(2026年8月10日)から見て3日前で、通常の鮮度基準(2日以内)を満たさない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探索を尽くしても2日以内の候補が見つからず、鮮度基準の例外的最終手段として採用したことを正直に開示する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具体的な数字(40%、月次80%増、10〜15%/60%、月5万ドル超)が多く、検証可能性が高い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同一問題領域を扱う4件目のテーマだが、対応策(自社ツール開発・外販)の具体性が既存3テーマより一段踏み込んでいる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research/2026-08-10_theme-evaluation-round90.md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何が起きたのか(概要)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2026年3月、RipplingのCFO Adam Swiecicki氏が経営陣に、AIトークン支出がR&amp;D人件費予算の40%に達する軌道にあると報告</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支出は月次80%のペースで増加中。このペースが続けば翌年には人件費のほぼ90%に達する計算だった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社内調査で、10〜15%の社員が総AI支出の約60%を占め、一部エンジニアは月5万ドル超を利用していたと判明</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Ripplingは社員別・チーム別のAI利用とROIを可視化する『AI Spend Console』を開発し、2026年8月7日に発表</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確認できる内容</a:t>
                      </a:r>
                    </a:p>
                  </a:txBody>
                  <a:tcPr>
                    <a:solidFill>
                      <a:srgbClr val="1B3A5C"/>
                    </a:solidFill>
                  </a:tcPr>
                </a:tc>
              </a:tr>
              <a:tr h="502920">
                <a:tc>
                  <a:txBody>
                    <a:bodyPr/>
                    <a:lstStyle/>
                    <a:p>
                      <a:pPr>
                        <a:defRPr sz="1200">
                          <a:solidFill>
                            <a:srgbClr val="16202E"/>
                          </a:solidFill>
                          <a:latin typeface="Yu Gothic"/>
                        </a:defRPr>
                      </a:pPr>
                      <a:r>
                        <a:t>TechCrunch(2026-08-07)</a:t>
                      </a:r>
                    </a:p>
                  </a:txBody>
                  <a:tcPr>
                    <a:solidFill>
                      <a:srgbClr val="FFFFFF"/>
                    </a:solidFill>
                  </a:tcPr>
                </a:tc>
                <a:tc>
                  <a:txBody>
                    <a:bodyPr/>
                    <a:lstStyle/>
                    <a:p>
                      <a:pPr>
                        <a:defRPr sz="1200">
                          <a:solidFill>
                            <a:srgbClr val="16202E"/>
                          </a:solidFill>
                          <a:latin typeface="Yu Gothic"/>
                        </a:defRPr>
                      </a:pPr>
                      <a:r>
                        <a:t>CFOの発見・ツールの機能・導入効果を詳しく報じる記事</a:t>
                      </a:r>
                    </a:p>
                  </a:txBody>
                  <a:tcPr>
                    <a:solidFill>
                      <a:srgbClr val="FFFFFF"/>
                    </a:solidFill>
                  </a:tcPr>
                </a:tc>
              </a:tr>
              <a:tr h="502920">
                <a:tc>
                  <a:txBody>
                    <a:bodyPr/>
                    <a:lstStyle/>
                    <a:p>
                      <a:pPr>
                        <a:defRPr sz="1200">
                          <a:solidFill>
                            <a:srgbClr val="16202E"/>
                          </a:solidFill>
                          <a:latin typeface="Yu Gothic"/>
                        </a:defRPr>
                      </a:pPr>
                      <a:r>
                        <a:t>Rippling公式ブログ/製品ページ</a:t>
                      </a:r>
                    </a:p>
                  </a:txBody>
                  <a:tcPr>
                    <a:solidFill>
                      <a:srgbClr val="F2F6FA"/>
                    </a:solidFill>
                  </a:tcPr>
                </a:tc>
                <a:tc>
                  <a:txBody>
                    <a:bodyPr/>
                    <a:lstStyle/>
                    <a:p>
                      <a:pPr>
                        <a:defRPr sz="1200">
                          <a:solidFill>
                            <a:srgbClr val="16202E"/>
                          </a:solidFill>
                          <a:latin typeface="Yu Gothic"/>
                        </a:defRPr>
                      </a:pPr>
                      <a:r>
                        <a:t>自社発表としての製品紹介、外販の案内</a:t>
                      </a:r>
                    </a:p>
                  </a:txBody>
                  <a:tcPr>
                    <a:solidFill>
                      <a:srgbClr val="F2F6FA"/>
                    </a:solidFill>
                  </a:tcPr>
                </a:tc>
              </a:tr>
              <a:tr h="502920">
                <a:tc>
                  <a:txBody>
                    <a:bodyPr/>
                    <a:lstStyle/>
                    <a:p>
                      <a:pPr>
                        <a:defRPr sz="1200">
                          <a:solidFill>
                            <a:srgbClr val="16202E"/>
                          </a:solidFill>
                          <a:latin typeface="Yu Gothic"/>
                        </a:defRPr>
                      </a:pPr>
                      <a:r>
                        <a:t>stockpil / bitcoinworld</a:t>
                      </a:r>
                    </a:p>
                  </a:txBody>
                  <a:tcPr>
                    <a:solidFill>
                      <a:srgbClr val="FFFFFF"/>
                    </a:solidFill>
                  </a:tcPr>
                </a:tc>
                <a:tc>
                  <a:txBody>
                    <a:bodyPr/>
                    <a:lstStyle/>
                    <a:p>
                      <a:pPr>
                        <a:defRPr sz="1200">
                          <a:solidFill>
                            <a:srgbClr val="16202E"/>
                          </a:solidFill>
                          <a:latin typeface="Yu Gothic"/>
                        </a:defRPr>
                      </a:pPr>
                      <a:r>
                        <a:t>数字の詳細・外販の動きを裏付ける報道</a:t>
                      </a:r>
                    </a:p>
                  </a:txBody>
                  <a:tcPr>
                    <a:solidFill>
                      <a:srgbClr val="FFFFFF"/>
                    </a:solidFill>
                  </a:tcPr>
                </a:tc>
              </a:tr>
              <a:tr h="502920">
                <a:tc>
                  <a:txBody>
                    <a:bodyPr/>
                    <a:lstStyle/>
                    <a:p>
                      <a:pPr>
                        <a:defRPr sz="1200">
                          <a:solidFill>
                            <a:srgbClr val="16202E"/>
                          </a:solidFill>
                          <a:latin typeface="Yu Gothic"/>
                        </a:defRPr>
                      </a:pPr>
                      <a:r>
                        <a:t>Pebblous / techrseries / TechBuzz.ai</a:t>
                      </a:r>
                    </a:p>
                  </a:txBody>
                  <a:tcPr>
                    <a:solidFill>
                      <a:srgbClr val="F2F6FA"/>
                    </a:solidFill>
                  </a:tcPr>
                </a:tc>
                <a:tc>
                  <a:txBody>
                    <a:bodyPr/>
                    <a:lstStyle/>
                    <a:p>
                      <a:pPr>
                        <a:defRPr sz="1200">
                          <a:solidFill>
                            <a:srgbClr val="16202E"/>
                          </a:solidFill>
                          <a:latin typeface="Yu Gothic"/>
                        </a:defRPr>
                      </a:pPr>
                      <a:r>
                        <a:t>機能・仕組みを裏付ける報道</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R&amp;D人件費予算の40%(詳細)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40%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AIトークンへの支出が、R&amp;D部門の全社員に支払う報酬総額の40%に相当する金額に達する軌道にあった(2026年3月時点)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TechCrunch(2026-08-07)経由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支出の増加ペース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月次80%増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AIトークン支出は前月比80%のペースで増加していた。このペースが続けば翌年には人件費のほぼ90%に達する計算だったという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TechCrunch(2026-08-07)経由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危機発覚から発表までの時系列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2026年3月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CFO Adam Swiecicki氏が経営陣に『R&amp;D予算の40%』を報告</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月次80%増のペース</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このまま続けば翌年には人件費のほぼ90%相当に達する計算</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2026年8月7日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『AI Spend Console』を発表(TechCrunch報道)</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3月の発見から、8月の製品発表までの流れ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用語解説: そもそも『AIトークン支出』『Rippling』とは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『トークン』はAIモデルとのやり取りの単位で、使うほど費用がかかる従量課金の仕組み</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『AIトークン支出』は、社員がClaude・Cursor・Codexなどの生成AIツールを使うたびに発生する費用の総称</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Ripplingは人事・給与計算(HR/Payroll)クラウドサービスを提供する企業で、エンジニア組織(R&amp;D部門)を抱える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『R&amp;D人件費予算』とは、Ripplingが研究開発部門の社員に支払う給与等の総額の予算枠を指す</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社内調査で判明したこと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7B4FFF"/>
                </a:solidFill>
                <a:latin typeface="Yu Gothic"/>
              </a:rPr>
              <a:t>10〜15%</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B3A5C"/>
                </a:solidFill>
                <a:latin typeface="Yu Gothic"/>
              </a:rPr>
              <a:t>の社員が</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総AI支出の約60%を占めていた</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7B4FFF"/>
                </a:solidFill>
                <a:latin typeface="Yu Gothic"/>
              </a:rPr>
              <a:t>$50,000+</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B3A5C"/>
                </a:solidFill>
                <a:latin typeface="Yu Gothic"/>
              </a:rPr>
              <a:t>月5万ドル超</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一部のエンジニアは単月でこの額を利用していた</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なぜ支出が膨らんだのか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常に最高額のモデルを使用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業務内容にかかわらず、最新・最高額のフロンティアモデルをデフォルトで選ぶ社員が多かった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利用量の可視化が無かった</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導入前は、社員自身が自分のAI利用コストを把握する仕組みがなかった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承認済みモデルへの誘導がなかった</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コストの安いモデルへ自動的にルーティングする仕組みも無かった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ここまでの数字まとめ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B3A5C"/>
                    </a:solidFill>
                  </a:tcPr>
                </a:tc>
                <a:tc>
                  <a:txBody>
                    <a:bodyPr/>
                    <a:lstStyle/>
                    <a:p>
                      <a:pPr>
                        <a:defRPr sz="1300" b="1">
                          <a:solidFill>
                            <a:srgbClr val="FFFFFF"/>
                          </a:solidFill>
                          <a:latin typeface="Yu Gothic"/>
                        </a:defRPr>
                      </a:pPr>
                      <a:r>
                        <a:t>数値</a:t>
                      </a:r>
                    </a:p>
                  </a:txBody>
                  <a:tcPr>
                    <a:solidFill>
                      <a:srgbClr val="1B3A5C"/>
                    </a:solidFill>
                  </a:tcPr>
                </a:tc>
              </a:tr>
              <a:tr h="502920">
                <a:tc>
                  <a:txBody>
                    <a:bodyPr/>
                    <a:lstStyle/>
                    <a:p>
                      <a:pPr>
                        <a:defRPr sz="1200">
                          <a:solidFill>
                            <a:srgbClr val="16202E"/>
                          </a:solidFill>
                          <a:latin typeface="Yu Gothic"/>
                        </a:defRPr>
                      </a:pPr>
                      <a:r>
                        <a:t>R&amp;D人件費予算に対する比率</a:t>
                      </a:r>
                    </a:p>
                  </a:txBody>
                  <a:tcPr>
                    <a:solidFill>
                      <a:srgbClr val="FFFFFF"/>
                    </a:solidFill>
                  </a:tcPr>
                </a:tc>
                <a:tc>
                  <a:txBody>
                    <a:bodyPr/>
                    <a:lstStyle/>
                    <a:p>
                      <a:pPr>
                        <a:defRPr sz="1200">
                          <a:solidFill>
                            <a:srgbClr val="16202E"/>
                          </a:solidFill>
                          <a:latin typeface="Yu Gothic"/>
                        </a:defRPr>
                      </a:pPr>
                      <a:r>
                        <a:t>40%(2026年3月時点)</a:t>
                      </a:r>
                    </a:p>
                  </a:txBody>
                  <a:tcPr>
                    <a:solidFill>
                      <a:srgbClr val="FFFFFF"/>
                    </a:solidFill>
                  </a:tcPr>
                </a:tc>
              </a:tr>
              <a:tr h="502920">
                <a:tc>
                  <a:txBody>
                    <a:bodyPr/>
                    <a:lstStyle/>
                    <a:p>
                      <a:pPr>
                        <a:defRPr sz="1200">
                          <a:solidFill>
                            <a:srgbClr val="16202E"/>
                          </a:solidFill>
                          <a:latin typeface="Yu Gothic"/>
                        </a:defRPr>
                      </a:pPr>
                      <a:r>
                        <a:t>月次の増加ペース</a:t>
                      </a:r>
                    </a:p>
                  </a:txBody>
                  <a:tcPr>
                    <a:solidFill>
                      <a:srgbClr val="F2F6FA"/>
                    </a:solidFill>
                  </a:tcPr>
                </a:tc>
                <a:tc>
                  <a:txBody>
                    <a:bodyPr/>
                    <a:lstStyle/>
                    <a:p>
                      <a:pPr>
                        <a:defRPr sz="1200">
                          <a:solidFill>
                            <a:srgbClr val="16202E"/>
                          </a:solidFill>
                          <a:latin typeface="Yu Gothic"/>
                        </a:defRPr>
                      </a:pPr>
                      <a:r>
                        <a:t>80%増</a:t>
                      </a:r>
                    </a:p>
                  </a:txBody>
                  <a:tcPr>
                    <a:solidFill>
                      <a:srgbClr val="F2F6FA"/>
                    </a:solidFill>
                  </a:tcPr>
                </a:tc>
              </a:tr>
              <a:tr h="502920">
                <a:tc>
                  <a:txBody>
                    <a:bodyPr/>
                    <a:lstStyle/>
                    <a:p>
                      <a:pPr>
                        <a:defRPr sz="1200">
                          <a:solidFill>
                            <a:srgbClr val="16202E"/>
                          </a:solidFill>
                          <a:latin typeface="Yu Gothic"/>
                        </a:defRPr>
                      </a:pPr>
                      <a:r>
                        <a:t>支出が集中する社員の割合</a:t>
                      </a:r>
                    </a:p>
                  </a:txBody>
                  <a:tcPr>
                    <a:solidFill>
                      <a:srgbClr val="FFFFFF"/>
                    </a:solidFill>
                  </a:tcPr>
                </a:tc>
                <a:tc>
                  <a:txBody>
                    <a:bodyPr/>
                    <a:lstStyle/>
                    <a:p>
                      <a:pPr>
                        <a:defRPr sz="1200">
                          <a:solidFill>
                            <a:srgbClr val="16202E"/>
                          </a:solidFill>
                          <a:latin typeface="Yu Gothic"/>
                        </a:defRPr>
                      </a:pPr>
                      <a:r>
                        <a:t>10〜15%の社員が支出の約60%</a:t>
                      </a:r>
                    </a:p>
                  </a:txBody>
                  <a:tcPr>
                    <a:solidFill>
                      <a:srgbClr val="FFFFFF"/>
                    </a:solidFill>
                  </a:tcPr>
                </a:tc>
              </a:tr>
              <a:tr h="502920">
                <a:tc>
                  <a:txBody>
                    <a:bodyPr/>
                    <a:lstStyle/>
                    <a:p>
                      <a:pPr>
                        <a:defRPr sz="1200">
                          <a:solidFill>
                            <a:srgbClr val="16202E"/>
                          </a:solidFill>
                          <a:latin typeface="Yu Gothic"/>
                        </a:defRPr>
                      </a:pPr>
                      <a:r>
                        <a:t>突出した個人利用額</a:t>
                      </a:r>
                    </a:p>
                  </a:txBody>
                  <a:tcPr>
                    <a:solidFill>
                      <a:srgbClr val="F2F6FA"/>
                    </a:solidFill>
                  </a:tcPr>
                </a:tc>
                <a:tc>
                  <a:txBody>
                    <a:bodyPr/>
                    <a:lstStyle/>
                    <a:p>
                      <a:pPr>
                        <a:defRPr sz="1200">
                          <a:solidFill>
                            <a:srgbClr val="16202E"/>
                          </a:solidFill>
                          <a:latin typeface="Yu Gothic"/>
                        </a:defRPr>
                      </a:pPr>
                      <a:r>
                        <a:t>一部エンジニアが月5万ドル超</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 Spend Console」とは何か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社員別・チーム別に可視化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誰が、どのAIツールに、いくら使っているかを継続的に把握する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ROI(投資対効果)を評価</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支出をGitHub・Salesforceなどの成果指標と突き合わせる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 slop』かどうかを判定</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支出が本当に生産性向上につながっているか、低品質な生成物の量産に終わっていないかを見極める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TechCrunch(2026-08-07)経由、Rippling公式ブログ</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もう少し具体的な仕組み</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内部の作りをもう少し詳しく見ます。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Claude・Cursor・Codexなど、複数のAIツールにまたがる利用状況を1つの画面で継続的に把握する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承認済みモデルへのアクセスを管理する内部ルーティング層『AIゲートウェイ』を新設した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支出をGitHubのプルリクエスト数・コード生成速度、Salesforceの売上貢献などと突き合わせて評価する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AI支出が多い一方でコードレビューでのやり直しを同僚から頻繁に求められている社員も可視化するという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TechCrunch(2026-08-07)経由、01net、techrseries</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“The question isn't how much you are spending on AI. It's what your AI spend is producing. Until you can answer that, you're just managing costs – not outcomes.</a:t>
            </a:r>
          </a:p>
          <a:p>
            <a:pPr algn="l">
              <a:lnSpc>
                <a:spcPct val="125000"/>
              </a:lnSpc>
            </a:pPr>
            <a:r>
              <a:rPr sz="2800" b="1">
                <a:solidFill>
                  <a:srgbClr val="FFFFFF"/>
                </a:solidFill>
                <a:latin typeface="Yu Gothic"/>
              </a:rPr>
              <a:t>(いくら使っているかではなく、そのAI支出が何を生み出しているかが問題だ。それに答えられるまでは、コストを管理しているだけで、成果を管理してはいない)”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CE6F5"/>
                </a:solidFill>
                <a:latin typeface="Yu Gothic"/>
              </a:rPr>
              <a:t>— Adam Swiecicki氏(Rippling CFO)、TechCrunch経由(2026-08-07)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導入前 / 導入後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導入前(2026年3月時点)</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支出はR&amp;D人件費予算の40%</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月次80%のペースで増加中</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誰が何にいくら使っているか不透明</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導入後(AI Spend Console稼働後)</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支出はR&amp;D人件費予算の約15%まで低下</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2026年7月は4月とほぼ同水準の6000億トークンを利用</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にもかかわらず支出額は4月の37%にとどまった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自社利用だけでは終わらなかった</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この取り組み、他社にも広がっています。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Ripplingは『AI Spend Console』を自社利用にとどめず、他企業向けにも外販している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スタンドアロン製品として購入でき、他のHRシステムとも連携できるという</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支出のガバナンス機能を使うには、Rippling自社のAIゲートウェイの利用が前提となる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Rippling社のHR顧客には同ツールが含まれ、AI利用量に応じた追加費用が発生する仕組みという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stockpil、Rippling公式製品ページ</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既存3つの『tokenmaxxing』テーマとの関係</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a:t>
                      </a:r>
                    </a:p>
                  </a:txBody>
                  <a:tcPr>
                    <a:solidFill>
                      <a:srgbClr val="1B3A5C"/>
                    </a:solidFill>
                  </a:tcPr>
                </a:tc>
                <a:tc>
                  <a:txBody>
                    <a:bodyPr/>
                    <a:lstStyle/>
                    <a:p>
                      <a:pPr>
                        <a:defRPr sz="1300" b="1">
                          <a:solidFill>
                            <a:srgbClr val="FFFFFF"/>
                          </a:solidFill>
                          <a:latin typeface="Yu Gothic"/>
                        </a:defRPr>
                      </a:pPr>
                      <a:r>
                        <a:t>主体</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127本目(2026-07-29)</a:t>
                      </a:r>
                    </a:p>
                  </a:txBody>
                  <a:tcPr>
                    <a:solidFill>
                      <a:srgbClr val="FFFFFF"/>
                    </a:solidFill>
                  </a:tcPr>
                </a:tc>
                <a:tc>
                  <a:txBody>
                    <a:bodyPr/>
                    <a:lstStyle/>
                    <a:p>
                      <a:pPr>
                        <a:defRPr sz="1200">
                          <a:solidFill>
                            <a:srgbClr val="16202E"/>
                          </a:solidFill>
                          <a:latin typeface="Yu Gothic"/>
                        </a:defRPr>
                      </a:pPr>
                      <a:r>
                        <a:t>スタートアップWeave社</a:t>
                      </a:r>
                    </a:p>
                  </a:txBody>
                  <a:tcPr>
                    <a:solidFill>
                      <a:srgbClr val="FFFFFF"/>
                    </a:solidFill>
                  </a:tcPr>
                </a:tc>
                <a:tc>
                  <a:txBody>
                    <a:bodyPr/>
                    <a:lstStyle/>
                    <a:p>
                      <a:pPr>
                        <a:defRPr sz="1200">
                          <a:solidFill>
                            <a:srgbClr val="16202E"/>
                          </a:solidFill>
                          <a:latin typeface="Yu Gothic"/>
                        </a:defRPr>
                      </a:pPr>
                      <a:r>
                        <a:t>『AIをたくさん使った』ことと成果が比例しない、という測定問題を提起</a:t>
                      </a:r>
                    </a:p>
                  </a:txBody>
                  <a:tcPr>
                    <a:solidFill>
                      <a:srgbClr val="FFFFFF"/>
                    </a:solidFill>
                  </a:tcPr>
                </a:tc>
              </a:tr>
              <a:tr h="502920">
                <a:tc>
                  <a:txBody>
                    <a:bodyPr/>
                    <a:lstStyle/>
                    <a:p>
                      <a:pPr>
                        <a:defRPr sz="1200">
                          <a:solidFill>
                            <a:srgbClr val="16202E"/>
                          </a:solidFill>
                          <a:latin typeface="Yu Gothic"/>
                        </a:defRPr>
                      </a:pPr>
                      <a:r>
                        <a:t>142本目(2026-08-04)</a:t>
                      </a:r>
                    </a:p>
                  </a:txBody>
                  <a:tcPr>
                    <a:solidFill>
                      <a:srgbClr val="F2F6FA"/>
                    </a:solidFill>
                  </a:tcPr>
                </a:tc>
                <a:tc>
                  <a:txBody>
                    <a:bodyPr/>
                    <a:lstStyle/>
                    <a:p>
                      <a:pPr>
                        <a:defRPr sz="1200">
                          <a:solidFill>
                            <a:srgbClr val="16202E"/>
                          </a:solidFill>
                          <a:latin typeface="Yu Gothic"/>
                        </a:defRPr>
                      </a:pPr>
                      <a:r>
                        <a:t>Microsoft(EVP Jay Parikh氏)</a:t>
                      </a:r>
                    </a:p>
                  </a:txBody>
                  <a:tcPr>
                    <a:solidFill>
                      <a:srgbClr val="F2F6FA"/>
                    </a:solidFill>
                  </a:tcPr>
                </a:tc>
                <a:tc>
                  <a:txBody>
                    <a:bodyPr/>
                    <a:lstStyle/>
                    <a:p>
                      <a:pPr>
                        <a:defRPr sz="1200">
                          <a:solidFill>
                            <a:srgbClr val="16202E"/>
                          </a:solidFill>
                          <a:latin typeface="Yu Gothic"/>
                        </a:defRPr>
                      </a:pPr>
                      <a:r>
                        <a:t>自社の社内AIコスト管理方針として『tokenmaxxingは最適化目標ではない』と通達</a:t>
                      </a:r>
                    </a:p>
                  </a:txBody>
                  <a:tcPr>
                    <a:solidFill>
                      <a:srgbClr val="F2F6FA"/>
                    </a:solidFill>
                  </a:tcPr>
                </a:tc>
              </a:tr>
              <a:tr h="502920">
                <a:tc>
                  <a:txBody>
                    <a:bodyPr/>
                    <a:lstStyle/>
                    <a:p>
                      <a:pPr>
                        <a:defRPr sz="1200">
                          <a:solidFill>
                            <a:srgbClr val="16202E"/>
                          </a:solidFill>
                          <a:latin typeface="Yu Gothic"/>
                        </a:defRPr>
                      </a:pPr>
                      <a:r>
                        <a:t>150本目(2026-08-07)</a:t>
                      </a:r>
                    </a:p>
                  </a:txBody>
                  <a:tcPr>
                    <a:solidFill>
                      <a:srgbClr val="FFFFFF"/>
                    </a:solidFill>
                  </a:tcPr>
                </a:tc>
                <a:tc>
                  <a:txBody>
                    <a:bodyPr/>
                    <a:lstStyle/>
                    <a:p>
                      <a:pPr>
                        <a:defRPr sz="1200">
                          <a:solidFill>
                            <a:srgbClr val="16202E"/>
                          </a:solidFill>
                          <a:latin typeface="Yu Gothic"/>
                        </a:defRPr>
                      </a:pPr>
                      <a:r>
                        <a:t>Uber(CTO Praveen Neppalli Naga氏)</a:t>
                      </a:r>
                    </a:p>
                  </a:txBody>
                  <a:tcPr>
                    <a:solidFill>
                      <a:srgbClr val="FFFFFF"/>
                    </a:solidFill>
                  </a:tcPr>
                </a:tc>
                <a:tc>
                  <a:txBody>
                    <a:bodyPr/>
                    <a:lstStyle/>
                    <a:p>
                      <a:pPr>
                        <a:defRPr sz="1200">
                          <a:solidFill>
                            <a:srgbClr val="16202E"/>
                          </a:solidFill>
                          <a:latin typeface="Yu Gothic"/>
                        </a:defRPr>
                      </a:pPr>
                      <a:r>
                        <a:t>tokenmaxxingの火付け役とされる当のUber自身が、終焉を発言</a:t>
                      </a:r>
                    </a:p>
                  </a:txBody>
                  <a:tcPr>
                    <a:solidFill>
                      <a:srgbClr val="FFFFFF"/>
                    </a:solidFill>
                  </a:tcPr>
                </a:tc>
              </a:tr>
              <a:tr h="502920">
                <a:tc>
                  <a:txBody>
                    <a:bodyPr/>
                    <a:lstStyle/>
                    <a:p>
                      <a:pPr>
                        <a:defRPr sz="1200">
                          <a:solidFill>
                            <a:srgbClr val="16202E"/>
                          </a:solidFill>
                          <a:latin typeface="Yu Gothic"/>
                        </a:defRPr>
                      </a:pPr>
                      <a:r>
                        <a:t>152本目(本テーマ)</a:t>
                      </a:r>
                    </a:p>
                  </a:txBody>
                  <a:tcPr>
                    <a:solidFill>
                      <a:srgbClr val="F2F6FA"/>
                    </a:solidFill>
                  </a:tcPr>
                </a:tc>
                <a:tc>
                  <a:txBody>
                    <a:bodyPr/>
                    <a:lstStyle/>
                    <a:p>
                      <a:pPr>
                        <a:defRPr sz="1200">
                          <a:solidFill>
                            <a:srgbClr val="16202E"/>
                          </a:solidFill>
                          <a:latin typeface="Yu Gothic"/>
                        </a:defRPr>
                      </a:pPr>
                      <a:r>
                        <a:t>Rippling(CFO Adam Swiecicki氏ほか)</a:t>
                      </a:r>
                    </a:p>
                  </a:txBody>
                  <a:tcPr>
                    <a:solidFill>
                      <a:srgbClr val="F2F6FA"/>
                    </a:solidFill>
                  </a:tcPr>
                </a:tc>
                <a:tc>
                  <a:txBody>
                    <a:bodyPr/>
                    <a:lstStyle/>
                    <a:p>
                      <a:pPr>
                        <a:defRPr sz="1200">
                          <a:solidFill>
                            <a:srgbClr val="16202E"/>
                          </a:solidFill>
                          <a:latin typeface="Yu Gothic"/>
                        </a:defRPr>
                      </a:pPr>
                      <a:r>
                        <a:t>R&amp;D予算40%という危機に対し、可視化ツールを自社開発・外販</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各テーマREADME参照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『AIコスト危機』を巡る4つの物語の流れ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測定問題の提起(Weave、7/29)</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『使った量』と『成果』は比例しないと指摘</a:t>
            </a:r>
          </a:p>
        </p:txBody>
      </p:sp>
      <p:sp>
        <p:nvSpPr>
          <p:cNvPr id="10" name="Right Arrow 9"/>
          <p:cNvSpPr/>
          <p:nvPr/>
        </p:nvSpPr>
        <p:spPr>
          <a:xfrm>
            <a:off x="25571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内部での引き締め(Microsoft、8/4)</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社内方針として最適化目標から外す</a:t>
            </a:r>
          </a:p>
        </p:txBody>
      </p:sp>
      <p:sp>
        <p:nvSpPr>
          <p:cNvPr id="15" name="Right Arrow 14"/>
          <p:cNvSpPr/>
          <p:nvPr/>
        </p:nvSpPr>
        <p:spPr>
          <a:xfrm>
            <a:off x="57575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火付け役自身の終焉宣言(Uber、8/7)</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言葉を広めた当事者が終わりを語る</a:t>
            </a:r>
          </a:p>
        </p:txBody>
      </p:sp>
      <p:sp>
        <p:nvSpPr>
          <p:cNvPr id="20" name="Right Arrow 19"/>
          <p:cNvSpPr/>
          <p:nvPr/>
        </p:nvSpPr>
        <p:spPr>
          <a:xfrm>
            <a:off x="89579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危機対応ツールの開発・外販(Rippling、8/7)</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本テーマ。可視化ツールを実際に作り、製品化した</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同じ問題領域を、異なる主体・立場から扱った4つのテーマの流れ</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Ripplingの年間AIトークン支出の正確な総額(概算への言及はあるが、裏付けられた正確な数字ではない)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『月次80%増』の算出期間の詳細(具体的にいつからいつまでのデータに基づくか)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 Spend Consoleの完全な機能一覧(報道間で指標の数・名称に表現の揺れがある)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この動きがRippling一社にとどまるのか、HR/SaaS業界全体のトレンドの一部なのか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これは企業(AI導入担当)にとって何を意味するか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利用量そのものは目標にならない</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『どれだけ使ったか』を評価指標にする設計は見直しの対象になりうる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可視化が効率化の前提</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誰が何にいくら使っているかを把握できて初めて、対策を打てる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成果との突き合わせが鍵</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支出をPR数や売上などの成果指標と突き合わせる発想が参考になる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これはエンジニア個人にとって何を意味するか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変化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『使った量』だけでは評価されにくくなる可能性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支出とアウトプット(PR・コード品質)がセットで見られるようになる可能性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着目点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モデル選びの効率も問われる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常に最高額のモデルを選ぶのではなく、タスクに応じた選択が重視される方向へ</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Rippling一社の取り組みである点に留意</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自分の職場に同じ仕組みが導入されているとは限らない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実践: AIコスト管理を検討する際に確認したいこと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自分の職場に当てはめて考えるための整理です。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AI利用量を評価指標にしていないか、成果とセットで見ているかを確認する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社員自身が自分のAI利用量・コストを確認できる仕組みがあるかを点検する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タスクの難易度に応じてAIモデルを使い分ける運用になっているかを確認する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『使った量』だけでなく『何が生まれたか』を併せて記録する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誇張回避・鮮度例外・特定企業推奨に関する注記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冒頭の見出しは注目を集める表現だが、本文の内容自体は誇張していない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本テーマは鮮度基準の例外(発表から3日前)であることを、research.md・READMEで正直に開示している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Ripplingの自己申告・自社製品紹介ブログを情報源に含むため、効果の記述はRippling自身の発表として扱い、第三者検証済みであるかのように書いていない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本テーマはRippling・Anthropic等への言及を含むが、特定企業・製品の利用を強く推奨する結論にはしていない</a:t>
            </a:r>
          </a:p>
        </p:txBody>
      </p:sp>
      <p:sp>
        <p:nvSpPr>
          <p:cNvPr id="15" name="Oval 14"/>
          <p:cNvSpPr/>
          <p:nvPr/>
        </p:nvSpPr>
        <p:spPr>
          <a:xfrm>
            <a:off x="457200" y="523036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確認できていない数値(正確な総額・算出期間の詳細等)は創作せず、不明として明記している</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他社への波及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同様の課題を抱える企業が、可視化ツールの導入や自社開発に動くかどうか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外販の成果</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 Spend Console』を他社に販売する取り組みがどの程度普及するか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評価指標の広がり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『使った量』ではなく『生み出した成果』を評価する指標が業界に定着するかどうか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正確な支出総額の開示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年間AI支出の正確な金額が公表されるかどうか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他社の反応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同様の可視化ツール導入・開発の動きが他企業からも出てくるかどうか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外販の実績</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『AI Spend Console』を導入する企業が実際に増えるかどうか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2026/8/7 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RipplingはAIトークン支出がR&amp;D人件費予算の40%に達する軌道にあることを2026年3月に把握し、社員別ROI可視化ツール『AI Spend Console』を開発・発表、外販も開始した。正確な総額・詳細な機能一覧は非公表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TechCrunch(2026-08-07)ほか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TechCrunch(2026-08-07)</a:t>
                      </a:r>
                    </a:p>
                  </a:txBody>
                  <a:tcPr>
                    <a:solidFill>
                      <a:srgbClr val="FFFFFF"/>
                    </a:solidFill>
                  </a:tcPr>
                </a:tc>
                <a:tc>
                  <a:txBody>
                    <a:bodyPr/>
                    <a:lstStyle/>
                    <a:p>
                      <a:pPr>
                        <a:defRPr sz="1200">
                          <a:solidFill>
                            <a:srgbClr val="16202E"/>
                          </a:solidFill>
                          <a:latin typeface="Yu Gothic"/>
                        </a:defRPr>
                      </a:pPr>
                      <a:r>
                        <a:t>CFOの発見・ツールの機能・導入効果を詳しく報じる記事</a:t>
                      </a:r>
                    </a:p>
                  </a:txBody>
                  <a:tcPr>
                    <a:solidFill>
                      <a:srgbClr val="FFFFFF"/>
                    </a:solidFill>
                  </a:tcPr>
                </a:tc>
              </a:tr>
              <a:tr h="502920">
                <a:tc>
                  <a:txBody>
                    <a:bodyPr/>
                    <a:lstStyle/>
                    <a:p>
                      <a:pPr>
                        <a:defRPr sz="1200">
                          <a:solidFill>
                            <a:srgbClr val="16202E"/>
                          </a:solidFill>
                          <a:latin typeface="Yu Gothic"/>
                        </a:defRPr>
                      </a:pPr>
                      <a:r>
                        <a:t>Rippling公式ブログ/製品ページ</a:t>
                      </a:r>
                    </a:p>
                  </a:txBody>
                  <a:tcPr>
                    <a:solidFill>
                      <a:srgbClr val="F2F6FA"/>
                    </a:solidFill>
                  </a:tcPr>
                </a:tc>
                <a:tc>
                  <a:txBody>
                    <a:bodyPr/>
                    <a:lstStyle/>
                    <a:p>
                      <a:pPr>
                        <a:defRPr sz="1200">
                          <a:solidFill>
                            <a:srgbClr val="16202E"/>
                          </a:solidFill>
                          <a:latin typeface="Yu Gothic"/>
                        </a:defRPr>
                      </a:pPr>
                      <a:r>
                        <a:t>自社発表としての製品紹介</a:t>
                      </a:r>
                    </a:p>
                  </a:txBody>
                  <a:tcPr>
                    <a:solidFill>
                      <a:srgbClr val="F2F6FA"/>
                    </a:solidFill>
                  </a:tcPr>
                </a:tc>
              </a:tr>
              <a:tr h="502920">
                <a:tc>
                  <a:txBody>
                    <a:bodyPr/>
                    <a:lstStyle/>
                    <a:p>
                      <a:pPr>
                        <a:defRPr sz="1200">
                          <a:solidFill>
                            <a:srgbClr val="16202E"/>
                          </a:solidFill>
                          <a:latin typeface="Yu Gothic"/>
                        </a:defRPr>
                      </a:pPr>
                      <a:r>
                        <a:t>stockpil / bitcoinworld</a:t>
                      </a:r>
                    </a:p>
                  </a:txBody>
                  <a:tcPr>
                    <a:solidFill>
                      <a:srgbClr val="FFFFFF"/>
                    </a:solidFill>
                  </a:tcPr>
                </a:tc>
                <a:tc>
                  <a:txBody>
                    <a:bodyPr/>
                    <a:lstStyle/>
                    <a:p>
                      <a:pPr>
                        <a:defRPr sz="1200">
                          <a:solidFill>
                            <a:srgbClr val="16202E"/>
                          </a:solidFill>
                          <a:latin typeface="Yu Gothic"/>
                        </a:defRPr>
                      </a:pPr>
                      <a:r>
                        <a:t>数字の詳細・外販の動きを裏付ける報道</a:t>
                      </a:r>
                    </a:p>
                  </a:txBody>
                  <a:tcPr>
                    <a:solidFill>
                      <a:srgbClr val="FFFFFF"/>
                    </a:solidFill>
                  </a:tcPr>
                </a:tc>
              </a:tr>
              <a:tr h="502920">
                <a:tc>
                  <a:txBody>
                    <a:bodyPr/>
                    <a:lstStyle/>
                    <a:p>
                      <a:pPr>
                        <a:defRPr sz="1200">
                          <a:solidFill>
                            <a:srgbClr val="16202E"/>
                          </a:solidFill>
                          <a:latin typeface="Yu Gothic"/>
                        </a:defRPr>
                      </a:pPr>
                      <a:r>
                        <a:t>Pebblous / techrseries / TechBuzz.ai / 01net</a:t>
                      </a:r>
                    </a:p>
                  </a:txBody>
                  <a:tcPr>
                    <a:solidFill>
                      <a:srgbClr val="F2F6FA"/>
                    </a:solidFill>
                  </a:tcPr>
                </a:tc>
                <a:tc>
                  <a:txBody>
                    <a:bodyPr/>
                    <a:lstStyle/>
                    <a:p>
                      <a:pPr>
                        <a:defRPr sz="1200">
                          <a:solidFill>
                            <a:srgbClr val="16202E"/>
                          </a:solidFill>
                          <a:latin typeface="Yu Gothic"/>
                        </a:defRPr>
                      </a:pPr>
                      <a:r>
                        <a:t>機能・仕組みを裏付ける報道</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TechCrunch(2026-08-07)ほか｜152本目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『いくら使ったか』ではなく、『何が生まれたか』。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正確な支出総額や次の展開が明らかになれば、続報として出典付きでお届けします。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