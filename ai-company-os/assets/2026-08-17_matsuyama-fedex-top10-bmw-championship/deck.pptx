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順位</c:v>
                </c:pt>
              </c:strCache>
            </c:strRef>
          </c:tx>
          <c:spPr>
            <a:solidFill>
              <a:srgbClr val="1B2A2E"/>
            </a:solidFill>
          </c:spPr>
          <c:cat>
            <c:strRef>
              <c:f>Sheet1!$A$2:$A$3</c:f>
              <c:strCache>
                <c:ptCount val="2"/>
                <c:pt idx="0">
                  <c:v>最終日スタート</c:v>
                </c:pt>
                <c:pt idx="1">
                  <c:v>最終結果</c:v>
                </c:pt>
              </c:strCache>
            </c:strRef>
          </c:cat>
          <c:val>
            <c:numRef>
              <c:f>Sheet1!$B$2:$B$3</c:f>
              <c:numCache>
                <c:formatCode>General</c:formatCode>
                <c:ptCount val="2"/>
                <c:pt idx="0">
                  <c:v>6</c:v>
                </c:pt>
                <c:pt idx="1">
                  <c:v>7</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ランキング(位)</c:v>
                </c:pt>
              </c:strCache>
            </c:strRef>
          </c:tx>
          <c:spPr>
            <a:solidFill>
              <a:srgbClr val="1B2A2E"/>
            </a:solidFill>
          </c:spPr>
          <c:cat>
            <c:strRef>
              <c:f>Sheet1!$A$2:$A$3</c:f>
              <c:strCache>
                <c:ptCount val="2"/>
                <c:pt idx="0">
                  <c:v>大会前</c:v>
                </c:pt>
                <c:pt idx="1">
                  <c:v>大会後</c:v>
                </c:pt>
              </c:strCache>
            </c:strRef>
          </c:cat>
          <c:val>
            <c:numRef>
              <c:f>Sheet1!$B$2:$B$3</c:f>
              <c:numCache>
                <c:formatCode>General</c:formatCode>
                <c:ptCount val="2"/>
                <c:pt idx="0">
                  <c:v>20</c:v>
                </c:pt>
                <c:pt idx="1">
                  <c:v>16</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PGAツアー・プレーオフシリーズ第1戦、フェデックス・セントジュード選手権の最終日、松山英樹選手が6打差6位から出発し、この日71で回って通算6アンダー・274、7位でフィニッシュしました。優勝ではありませんが、これで4戦連続トップ10、次戦BMW選手権への進出が決まりました。今日は数字を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松山英樹選手は7位でフィニッシュしました。優勝ではありませんが、これで4戦連続のトップ10入りとなり、プレーオフ第2戦のBMW選手権への進出が決まり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最終日の結果から、4戦連続トップ10とBMW選手権進出の意味まで、正確に数字を引用しながら整理します。優勝ではなく7位だったという事実を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このテーマを扱う理由です。最終日確定が着手日の前日という新しさに加えて、優勝ではないのに4戦連続でトップ10という一貫した強さが見どころです。複数のメディアが数値を一致させて報じています。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松山英樹選手と大会の前提を確認します。PGAツアーを主戦場に活動する日本を代表する選手で、今回の大会はプレーオフシリーズの第1戦です。今回は経歴紹介ではなく、成績の整理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プレーオフシリーズはシーズン終盤に行われる、年間ポイント上位選手だけが出場できる大会群です。今回はその第1戦で、上位選手は次戦のBMW選手権に進みます。FedExCupはこの制度全体の名称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最終日のタイムラインです。6打差の6位から出発し、この日71で回って通算6アンダー・274。最終的に7位でフィニッシュしました。優勝ではなく7位、という事実をここで明確にしておきます。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順位の変化をグラフにしました。数字が小さいほど上位です。6打差の6位からスタートし、最終的には7位で終えました。1つ順位を下げてのフィニッシュだったことが分かります。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最終日のスコアです。6打差6位から出発した最終ラウンドで、松山選手は71で回りました。次のスライドで通算スコアを確認します。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通算スコアです。6アンダーパー、トータル274で大会を終えました。この結果が最終順位にどうつながったか、次に確認します。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今日押さえておきたい3つのポイントです。優勝ではなく7位だったこと、4戦連続トップ10という継続的な好調さ、そして次戦BMW選手権への進出決定。この3つを、これから数字で詳しく見ていきます。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松山選手と優勝者の関係を図にしました。優勝はスコッティ・シェフラー選手で、松山選手との差は11打です。7位という順位を、具体的な打数差で確認できます。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優勝との差を確認します。優勝はスコッティ・シェフラー選手で、松山選手との差は11打でした。この数字が、7位という順位の内容を裏付けています。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最終結果の主要数字を一覧にしました。ここまでの数字はすべて複数のメディアが一致させて報じている内容です。次に、この結果がランキングにどう影響したかを見ていきます。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FedExCupランキングの変化をグラフにしました。数字が小さいほど上位です。今回の7位フィニッシュを受けて、ランキングは20位から16位に上昇しました。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継続的な好調さを示す数字です。今回の7位を含め、松山選手は4試合連続でトップ10に入りました。1回の好成績ではなく、続けての結果である点がポイントです。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戦連続トップ10』という表現を正確に確認します。総括としての事実は確認できていますが、過去3試合それぞれの大会名・順位までは確認できていません。優勝が続いているわけではない点も、あわせ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次戦への進出です。松山選手は今回の結果を受けて、プレーオフ第2戦のBMW選手権への進出資格を得ました。次のスライドで、この大会がどういうものかを確認します。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W選手権について、確認できる範囲でお伝えします。プレーオフ第2戦であり、松山選手は進出資格を得ました。ただし出場資格の具体的な基準や開催日程・開催地は、本調査の範囲で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見出しの印象と実際の内容にはギャップが生まれがちです。今回はあくまで7位フィニッシュであり、優勝したわけでも、今後の勝利を保証するものでもありません。正確に区別してお伝えします。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誇張を避けるための補足です。事実と異なる表現は使わず、数字はすべて出典どおり正確に扱います。次戦以降の断定的な予測もしません。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今回の結果を支えた3つのポイントです。最終日の内容、4戦連続という一貫した安定感、そして意義のある結果につながったこと。いずれも出典どおりの数字で裏付けられています。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このニュースが読者にとって何を意味するかを整理します。優勝でなくても、継続的な好調さそのものに価値があるという一例です。BMW選手権の詳細な基準・日程は確認できておらず、推測では述べません。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視聴者にとっての実践的な示唆をまとめました。ゴルフファンとして、スポーツニュースを追う立場として、情報を発信する立場として、それぞれで意識したい点です。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日の数字と4戦連続トップ10・ランキング変動・BMW選手権進出は、複数の情報源で確認できた事実です。プレー内容の評価はあくまで一般的な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確認できていないことを正直にお伝えします。BMW選手権の出場資格の詳細な基準、開催日程・開催地、過去3試合の内訳は、本調査の範囲では確認できていません。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本テーマの鮮度を数字で確認します。最終日確定は着手日の前日にあたる2026年8月16日です。2日以内という当社の基準を満たしています。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松山英樹選手が、フェデックス・セントジュード選手権で7位フィニッシュし、4戦連続トップ10でBMW選手権への進出を決めた件をお伝えしました。優勝ではないという事実を含め、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優勝じゃない。けれど、4戦連続トップ10。</a:t>
            </a:r>
          </a:p>
          <a:p>
            <a:pPr algn="l">
              <a:lnSpc>
                <a:spcPct val="115000"/>
              </a:lnSpc>
            </a:pPr>
            <a:r>
              <a:rPr sz="4200" b="1">
                <a:solidFill>
                  <a:srgbClr val="FFFFFF"/>
                </a:solidFill>
                <a:latin typeface="Yu Gothic"/>
              </a:rPr>
              <a:t>松山英樹、フェデックス・セントジュード選手権7位で</a:t>
            </a:r>
          </a:p>
          <a:p>
            <a:pPr algn="l">
              <a:lnSpc>
                <a:spcPct val="115000"/>
              </a:lnSpc>
            </a:pPr>
            <a:r>
              <a:rPr sz="4200" b="1">
                <a:solidFill>
                  <a:srgbClr val="FFFFFF"/>
                </a:solidFill>
                <a:latin typeface="Yu Gothic"/>
              </a:rPr>
              <a:t>BMW選手権進出を決めた。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2026年8月16日、PGAツアー・プレーオフ第1戦最終日――出典付きで正確に整理する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ALBA Net・Olympics.com日本語版・日刊スポーツ(Yahoo!ニュース配信)・ゴルフダイジェスト(いずれも2026年8月16日/17日)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7位・4戦連続トップ10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16日、フェデックス・セントジュード選手権最終日。松山英樹選手は6打差6位から出発し、最終日71で回り、通算6アンダー・274で7位フィニッシュ。これで4戦連続トップ10、BMW選手権への進出が決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ALBA Net・Olympics.com日本語版(2026-08-16)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松山英樹選手とプレーオフシリーズの基礎知識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最終日の結果を数字で確認する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4戦連続トップ10とBMW選手権進出の意味</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誇張回避の補足・読者への示唆</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最終日確定(2026年8月16日)が着手日の前日という、鮮度の高い話題である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優勝ではないが『4戦連続トップ10』という一貫した強さのストーリー性がある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複数のスポーツ専門メディアが数値を一致させて報じている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ALBA Net・Olympics.com日本語版・日刊スポーツ(2026-08-16/17)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松山英樹選手とは(初心者向け)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本題に入る前に、選手と大会の前提を確認します。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松山英樹選手は、PGAツアーを主戦場に活動する日本を代表する男子プロゴルファーである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今回の『フェデックス・セントジュード選手権』は、PGAツアー主催のプレーオフシリーズ第1戦にあたる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選手の詳細な経歴(出身・生年月日等)は本調査の範囲では扱わず、今回の成績整理に焦点を当てる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前提知識:プレーオフシリーズ・FedExCupとは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シーズン終盤、年間ポイントランキング上位の選手のみが出場できる『プレーオフシリーズ』が行われる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今回の大会はその第1戦。上位選手はポイントに応じて次戦『BMW選手権』へ進出する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『FedExCup』は、この年間ポイント制度・トーナメントシリーズ全体を指す名称である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最終日のタイムライン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スタート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6打差の6位から最終日に出場</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最終ラウンド</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この日は「71」で回った</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通算スコア</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6アンダーパー・274に到達</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最終結果</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7位でフィニッシュ。優勝ではない</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順位の変化(スタート6位→フィニッシュ7位)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ALBA Net・Olympics.com日本語版(2026-08-16)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最終日のスコア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6打差6位から出発した最終日、松山選手はこの日「71」で回った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ALBA Net・ゴルフダイジェスト(2026-08-16)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通算スコア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6アンダー・274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3日間+最終日の合計。通算6アンダーパー、トータル274で大会を終えた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ALBA Net・日刊スポーツ(2026-08-16)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今日押さえておきたい3つのポイント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優勝ではなく7位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スコッティ・シェフラー選手が優勝。松山選手との差は11打だった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4戦連続トップ10</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今回の7位を含め、4試合連続でトップ10に入った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BMW選手権進出決定</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プレーオフ第2戦『BMW選手権』への進出資格を得た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松山選手とシェフラー選手の関係(概念図)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松山英樹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通算6アンダー・274、7位フィニッシュ</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差は11打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同じ大会・同じ最終日の結果として比較</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スコッティ・シェフラー</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本大会の優勝者</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松山選手は優勝者との差を『11打』という具体的な数字で確認できる7位フィニッシュだった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ALBA Net・Olympics.com日本語版(2026-08-16)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優勝との差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11打差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優勝はスコッティ・シェフラー選手。松山選手(7位)との差は11打だった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ALBA Net・Olympics.com日本語版(2026-08-16)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最終結果の主要数字一覧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数字</a:t>
                      </a:r>
                    </a:p>
                  </a:txBody>
                  <a:tcPr>
                    <a:solidFill>
                      <a:srgbClr val="1B2A2E"/>
                    </a:solidFill>
                  </a:tcPr>
                </a:tc>
              </a:tr>
              <a:tr h="502920">
                <a:tc>
                  <a:txBody>
                    <a:bodyPr/>
                    <a:lstStyle/>
                    <a:p>
                      <a:pPr>
                        <a:defRPr sz="1200">
                          <a:solidFill>
                            <a:srgbClr val="121C1F"/>
                          </a:solidFill>
                          <a:latin typeface="Yu Gothic"/>
                        </a:defRPr>
                      </a:pPr>
                      <a:r>
                        <a:t>最終日スタート時点の順位</a:t>
                      </a:r>
                    </a:p>
                  </a:txBody>
                  <a:tcPr>
                    <a:solidFill>
                      <a:srgbClr val="FFFFFF"/>
                    </a:solidFill>
                  </a:tcPr>
                </a:tc>
                <a:tc>
                  <a:txBody>
                    <a:bodyPr/>
                    <a:lstStyle/>
                    <a:p>
                      <a:pPr>
                        <a:defRPr sz="1200">
                          <a:solidFill>
                            <a:srgbClr val="121C1F"/>
                          </a:solidFill>
                          <a:latin typeface="Yu Gothic"/>
                        </a:defRPr>
                      </a:pPr>
                      <a:r>
                        <a:t>6位(6打差)</a:t>
                      </a:r>
                    </a:p>
                  </a:txBody>
                  <a:tcPr>
                    <a:solidFill>
                      <a:srgbClr val="FFFFFF"/>
                    </a:solidFill>
                  </a:tcPr>
                </a:tc>
              </a:tr>
              <a:tr h="502920">
                <a:tc>
                  <a:txBody>
                    <a:bodyPr/>
                    <a:lstStyle/>
                    <a:p>
                      <a:pPr>
                        <a:defRPr sz="1200">
                          <a:solidFill>
                            <a:srgbClr val="121C1F"/>
                          </a:solidFill>
                          <a:latin typeface="Yu Gothic"/>
                        </a:defRPr>
                      </a:pPr>
                      <a:r>
                        <a:t>最終日のスコア</a:t>
                      </a:r>
                    </a:p>
                  </a:txBody>
                  <a:tcPr>
                    <a:solidFill>
                      <a:srgbClr val="F0F7F4"/>
                    </a:solidFill>
                  </a:tcPr>
                </a:tc>
                <a:tc>
                  <a:txBody>
                    <a:bodyPr/>
                    <a:lstStyle/>
                    <a:p>
                      <a:pPr>
                        <a:defRPr sz="1200">
                          <a:solidFill>
                            <a:srgbClr val="121C1F"/>
                          </a:solidFill>
                          <a:latin typeface="Yu Gothic"/>
                        </a:defRPr>
                      </a:pPr>
                      <a:r>
                        <a:t>71</a:t>
                      </a:r>
                    </a:p>
                  </a:txBody>
                  <a:tcPr>
                    <a:solidFill>
                      <a:srgbClr val="F0F7F4"/>
                    </a:solidFill>
                  </a:tcPr>
                </a:tc>
              </a:tr>
              <a:tr h="502920">
                <a:tc>
                  <a:txBody>
                    <a:bodyPr/>
                    <a:lstStyle/>
                    <a:p>
                      <a:pPr>
                        <a:defRPr sz="1200">
                          <a:solidFill>
                            <a:srgbClr val="121C1F"/>
                          </a:solidFill>
                          <a:latin typeface="Yu Gothic"/>
                        </a:defRPr>
                      </a:pPr>
                      <a:r>
                        <a:t>通算スコア</a:t>
                      </a:r>
                    </a:p>
                  </a:txBody>
                  <a:tcPr>
                    <a:solidFill>
                      <a:srgbClr val="FFFFFF"/>
                    </a:solidFill>
                  </a:tcPr>
                </a:tc>
                <a:tc>
                  <a:txBody>
                    <a:bodyPr/>
                    <a:lstStyle/>
                    <a:p>
                      <a:pPr>
                        <a:defRPr sz="1200">
                          <a:solidFill>
                            <a:srgbClr val="121C1F"/>
                          </a:solidFill>
                          <a:latin typeface="Yu Gothic"/>
                        </a:defRPr>
                      </a:pPr>
                      <a:r>
                        <a:t>6アンダーパー・274</a:t>
                      </a:r>
                    </a:p>
                  </a:txBody>
                  <a:tcPr>
                    <a:solidFill>
                      <a:srgbClr val="FFFFFF"/>
                    </a:solidFill>
                  </a:tcPr>
                </a:tc>
              </a:tr>
              <a:tr h="502920">
                <a:tc>
                  <a:txBody>
                    <a:bodyPr/>
                    <a:lstStyle/>
                    <a:p>
                      <a:pPr>
                        <a:defRPr sz="1200">
                          <a:solidFill>
                            <a:srgbClr val="121C1F"/>
                          </a:solidFill>
                          <a:latin typeface="Yu Gothic"/>
                        </a:defRPr>
                      </a:pPr>
                      <a:r>
                        <a:t>最終順位</a:t>
                      </a:r>
                    </a:p>
                  </a:txBody>
                  <a:tcPr>
                    <a:solidFill>
                      <a:srgbClr val="F0F7F4"/>
                    </a:solidFill>
                  </a:tcPr>
                </a:tc>
                <a:tc>
                  <a:txBody>
                    <a:bodyPr/>
                    <a:lstStyle/>
                    <a:p>
                      <a:pPr>
                        <a:defRPr sz="1200">
                          <a:solidFill>
                            <a:srgbClr val="121C1F"/>
                          </a:solidFill>
                          <a:latin typeface="Yu Gothic"/>
                        </a:defRPr>
                      </a:pPr>
                      <a:r>
                        <a:t>7位</a:t>
                      </a:r>
                    </a:p>
                  </a:txBody>
                  <a:tcPr>
                    <a:solidFill>
                      <a:srgbClr val="F0F7F4"/>
                    </a:solidFill>
                  </a:tcPr>
                </a:tc>
              </a:tr>
              <a:tr h="502920">
                <a:tc>
                  <a:txBody>
                    <a:bodyPr/>
                    <a:lstStyle/>
                    <a:p>
                      <a:pPr>
                        <a:defRPr sz="1200">
                          <a:solidFill>
                            <a:srgbClr val="121C1F"/>
                          </a:solidFill>
                          <a:latin typeface="Yu Gothic"/>
                        </a:defRPr>
                      </a:pPr>
                      <a:r>
                        <a:t>優勝との差(優勝: スコッティ・シェフラー選手)</a:t>
                      </a:r>
                    </a:p>
                  </a:txBody>
                  <a:tcPr>
                    <a:solidFill>
                      <a:srgbClr val="FFFFFF"/>
                    </a:solidFill>
                  </a:tcPr>
                </a:tc>
                <a:tc>
                  <a:txBody>
                    <a:bodyPr/>
                    <a:lstStyle/>
                    <a:p>
                      <a:pPr>
                        <a:defRPr sz="1200">
                          <a:solidFill>
                            <a:srgbClr val="121C1F"/>
                          </a:solidFill>
                          <a:latin typeface="Yu Gothic"/>
                        </a:defRPr>
                      </a:pPr>
                      <a:r>
                        <a:t>11打差</a:t>
                      </a:r>
                    </a:p>
                  </a:txBody>
                  <a:tcPr>
                    <a:solidFill>
                      <a:srgbClr val="FFFFFF"/>
                    </a:solidFill>
                  </a:tcPr>
                </a:tc>
              </a:tr>
              <a:tr h="502920">
                <a:tc>
                  <a:txBody>
                    <a:bodyPr/>
                    <a:lstStyle/>
                    <a:p>
                      <a:pPr>
                        <a:defRPr sz="1200">
                          <a:solidFill>
                            <a:srgbClr val="121C1F"/>
                          </a:solidFill>
                          <a:latin typeface="Yu Gothic"/>
                        </a:defRPr>
                      </a:pPr>
                      <a:r>
                        <a:t>連続トップ10</a:t>
                      </a:r>
                    </a:p>
                  </a:txBody>
                  <a:tcPr>
                    <a:solidFill>
                      <a:srgbClr val="F0F7F4"/>
                    </a:solidFill>
                  </a:tcPr>
                </a:tc>
                <a:tc>
                  <a:txBody>
                    <a:bodyPr/>
                    <a:lstStyle/>
                    <a:p>
                      <a:pPr>
                        <a:defRPr sz="1200">
                          <a:solidFill>
                            <a:srgbClr val="121C1F"/>
                          </a:solidFill>
                          <a:latin typeface="Yu Gothic"/>
                        </a:defRPr>
                      </a:pPr>
                      <a:r>
                        <a:t>4戦連続</a:t>
                      </a:r>
                    </a:p>
                  </a:txBody>
                  <a:tcPr>
                    <a:solidFill>
                      <a:srgbClr val="F0F7F4"/>
                    </a:solidFill>
                  </a:tcPr>
                </a:tc>
              </a:tr>
              <a:tr h="502920">
                <a:tc>
                  <a:txBody>
                    <a:bodyPr/>
                    <a:lstStyle/>
                    <a:p>
                      <a:pPr>
                        <a:defRPr sz="1200">
                          <a:solidFill>
                            <a:srgbClr val="121C1F"/>
                          </a:solidFill>
                          <a:latin typeface="Yu Gothic"/>
                        </a:defRPr>
                      </a:pPr>
                      <a:r>
                        <a:t>FedExCupランキング</a:t>
                      </a:r>
                    </a:p>
                  </a:txBody>
                  <a:tcPr>
                    <a:solidFill>
                      <a:srgbClr val="FFFFFF"/>
                    </a:solidFill>
                  </a:tcPr>
                </a:tc>
                <a:tc>
                  <a:txBody>
                    <a:bodyPr/>
                    <a:lstStyle/>
                    <a:p>
                      <a:pPr>
                        <a:defRPr sz="1200">
                          <a:solidFill>
                            <a:srgbClr val="121C1F"/>
                          </a:solidFill>
                          <a:latin typeface="Yu Gothic"/>
                        </a:defRPr>
                      </a:pPr>
                      <a:r>
                        <a:t>20位→16位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ALBA Net・Olympics.com日本語版・日刊スポーツ(2026-08-16/17)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FedExCupランキングの変化</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Olympics.com日本語版・日刊スポーツ(2026-08-17)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継続的な好調さ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4戦連続トップ10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今回の7位フィニッシュを含め、松山選手は4試合連続でトップ10入りを果たした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Olympics.com日本語版・ゴルフダイジェスト(2026-08-16/17)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『4戦連続トップ10』の正確な意味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確認できているのは『今回の7位を含め、4試合連続でトップ10に入った』という総括の事実である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過去3試合それぞれの大会名・具体的な順位は、本調査の範囲では確認できていない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『4戦連続トップ10』は『4戦連続優勝』ではない。今回の順位もあくまで7位である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次戦への進出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BMW選手権進出決定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松山選手は今回の結果を受け、プレーオフ第2戦『BMW選手権』への進出資格を得た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ALBA Net・日刊スポーツ(2026-08-16/17)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BMW選手権とは(初心者向け・不明点明記)</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次戦について、確認できる範囲でお伝えします。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プレーオフシリーズの第2戦。フェデックス・セントジュード選手権の結果を受けて進出者が決まる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松山選手は今回の結果でBMW選手権への進出資格を得た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具体的な出場資格の基準(カットライン人数)・開催日程・開催地は、本調査の範囲では確認できていない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優勝した、または優勝に迫る快挙だった</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圧倒的な強さで大会を制した</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次戦以降も勝ち続けることが確定している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優勝はスコッティ・シェフラー選手。松山選手は7位で、差は11打</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4戦連続トップ10という継続的な好調さが実績</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BMW選手権の出場資格は得たが、その先の成績は本調査の範囲では確認できていない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誇張回避のための補足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『優勝した』『大逆転した』等、事実と異なる誇張表現は使わない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数字(6打差・71・274・6アンダー・7位・11打差・20位→16位・4戦連続)はすべて出典どおり正確に扱う</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選手への敬意を保ち、断定的な将来予測(次戦で優勝する等)は行わない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今回の結果を支えた3つのポイント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最終日の巻き返し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6打差6位から出発し、71で回って通算6アンダー・274まで積み上げた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一貫した安定感</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今回を含め4戦連続でトップ10に入り続けている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意義のある結果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順位を1つ落としながらも、ランキングを20位から16位に上げ次戦進出を決めた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松山選手は今回の結果でBMW選手権への進出を確定させ、シーズン終盤へ弾みをつけた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『優勝でなくても価値のある結果がある』という、順位だけでは測れない継続的な好調さの一例である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出場資格の詳細な基準・BMW選手権の日程は、本調査の範囲では確認できていない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ゴルフファンとして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順位の数字だけでなく、優勝者との差や連続成績まで確認すると理解が深まる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スポーツニュースを追う立場として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『進出決定』という見出しの背景にある、具体的な順位・差を確認する習慣が役立つ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優勝でない結果を扱う際、誇張せず正確に伝える姿勢が信頼につながる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事実: 6打差6位スタート・最終日71・通算6アンダー274・7位・シェフラー選手との差11打・4戦連続トップ10・ランキング20位→16位・BMW選手権進出決定</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推測: 安定した競技力がうかがえるという評価(具体的な技術要因は断定しない)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不明: BMW選手権の出場資格の詳細基準・開催日程・過去3試合の内訳・賞金額・世界ランキングへの影響</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確認できていないこと(1)</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BMW選手権の出場資格・カットラインの具体的な基準</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BMW選手権の具体的な開催日・開催地</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『4戦連続トップ10』の対象となる過去3試合それぞれの大会名・順位の内訳</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今回の賞金額</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世界ランキング(OWGR)への影響</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松山選手の今シーズンのその他の成績</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BMW選手権以降のプレーオフ通過可否</a:t>
                      </a:r>
                    </a:p>
                  </a:txBody>
                  <a:tcPr>
                    <a:solidFill>
                      <a:srgbClr val="F0F7F4"/>
                    </a:solidFill>
                  </a:tcPr>
                </a:tc>
                <a:tc>
                  <a:txBody>
                    <a:bodyPr/>
                    <a:lstStyle/>
                    <a:p>
                      <a:pPr>
                        <a:defRPr sz="1200">
                          <a:solidFill>
                            <a:srgbClr val="121C1F"/>
                          </a:solidFill>
                          <a:latin typeface="Yu Gothic"/>
                        </a:defRPr>
                      </a:pPr>
                      <a:r>
                        <a:t>本調査の範囲では確認できていない(推測で補わない)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着手日の前日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最終日・7位フィニッシュ確定(2026年8月16日)は着手日(2026年8月17日)の前日。着手日を含めて2日以内という基準を満たす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ALBA Net</a:t>
                      </a:r>
                    </a:p>
                  </a:txBody>
                  <a:tcPr>
                    <a:solidFill>
                      <a:srgbClr val="FFFFFF"/>
                    </a:solidFill>
                  </a:tcPr>
                </a:tc>
                <a:tc>
                  <a:txBody>
                    <a:bodyPr/>
                    <a:lstStyle/>
                    <a:p>
                      <a:pPr>
                        <a:defRPr sz="1200">
                          <a:solidFill>
                            <a:srgbClr val="121C1F"/>
                          </a:solidFill>
                          <a:latin typeface="Yu Gothic"/>
                        </a:defRPr>
                      </a:pPr>
                      <a:r>
                        <a:t>最終日リーダーボード・スコア詳細(2026-08-16)</a:t>
                      </a:r>
                    </a:p>
                  </a:txBody>
                  <a:tcPr>
                    <a:solidFill>
                      <a:srgbClr val="FFFFFF"/>
                    </a:solidFill>
                  </a:tcPr>
                </a:tc>
              </a:tr>
              <a:tr h="502920">
                <a:tc>
                  <a:txBody>
                    <a:bodyPr/>
                    <a:lstStyle/>
                    <a:p>
                      <a:pPr>
                        <a:defRPr sz="1200">
                          <a:solidFill>
                            <a:srgbClr val="121C1F"/>
                          </a:solidFill>
                          <a:latin typeface="Yu Gothic"/>
                        </a:defRPr>
                      </a:pPr>
                      <a:r>
                        <a:t>Olympics.com日本語版</a:t>
                      </a:r>
                    </a:p>
                  </a:txBody>
                  <a:tcPr>
                    <a:solidFill>
                      <a:srgbClr val="F0F7F4"/>
                    </a:solidFill>
                  </a:tcPr>
                </a:tc>
                <a:tc>
                  <a:txBody>
                    <a:bodyPr/>
                    <a:lstStyle/>
                    <a:p>
                      <a:pPr>
                        <a:defRPr sz="1200">
                          <a:solidFill>
                            <a:srgbClr val="121C1F"/>
                          </a:solidFill>
                          <a:latin typeface="Yu Gothic"/>
                        </a:defRPr>
                      </a:pPr>
                      <a:r>
                        <a:t>順位・ランキング変動・4戦連続トップ10の総括(2026-08-16/17)</a:t>
                      </a:r>
                    </a:p>
                  </a:txBody>
                  <a:tcPr>
                    <a:solidFill>
                      <a:srgbClr val="F0F7F4"/>
                    </a:solidFill>
                  </a:tcPr>
                </a:tc>
              </a:tr>
              <a:tr h="502920">
                <a:tc>
                  <a:txBody>
                    <a:bodyPr/>
                    <a:lstStyle/>
                    <a:p>
                      <a:pPr>
                        <a:defRPr sz="1200">
                          <a:solidFill>
                            <a:srgbClr val="121C1F"/>
                          </a:solidFill>
                          <a:latin typeface="Yu Gothic"/>
                        </a:defRPr>
                      </a:pPr>
                      <a:r>
                        <a:t>日刊スポーツ(Yahoo!ニュース配信)</a:t>
                      </a:r>
                    </a:p>
                  </a:txBody>
                  <a:tcPr>
                    <a:solidFill>
                      <a:srgbClr val="FFFFFF"/>
                    </a:solidFill>
                  </a:tcPr>
                </a:tc>
                <a:tc>
                  <a:txBody>
                    <a:bodyPr/>
                    <a:lstStyle/>
                    <a:p>
                      <a:pPr>
                        <a:defRPr sz="1200">
                          <a:solidFill>
                            <a:srgbClr val="121C1F"/>
                          </a:solidFill>
                          <a:latin typeface="Yu Gothic"/>
                        </a:defRPr>
                      </a:pPr>
                      <a:r>
                        <a:t>最終結果・BMW選手権進出の報道(2026-08-16/17)</a:t>
                      </a:r>
                    </a:p>
                  </a:txBody>
                  <a:tcPr>
                    <a:solidFill>
                      <a:srgbClr val="FFFFFF"/>
                    </a:solidFill>
                  </a:tcPr>
                </a:tc>
              </a:tr>
              <a:tr h="502920">
                <a:tc>
                  <a:txBody>
                    <a:bodyPr/>
                    <a:lstStyle/>
                    <a:p>
                      <a:pPr>
                        <a:defRPr sz="1200">
                          <a:solidFill>
                            <a:srgbClr val="121C1F"/>
                          </a:solidFill>
                          <a:latin typeface="Yu Gothic"/>
                        </a:defRPr>
                      </a:pPr>
                      <a:r>
                        <a:t>ゴルフダイジェスト</a:t>
                      </a:r>
                    </a:p>
                  </a:txBody>
                  <a:tcPr>
                    <a:solidFill>
                      <a:srgbClr val="F0F7F4"/>
                    </a:solidFill>
                  </a:tcPr>
                </a:tc>
                <a:tc>
                  <a:txBody>
                    <a:bodyPr/>
                    <a:lstStyle/>
                    <a:p>
                      <a:pPr>
                        <a:defRPr sz="1200">
                          <a:solidFill>
                            <a:srgbClr val="121C1F"/>
                          </a:solidFill>
                          <a:latin typeface="Yu Gothic"/>
                        </a:defRPr>
                      </a:pPr>
                      <a:r>
                        <a:t>最終結果・スコア詳細の確認(2026-08-16/17)</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ALBA Net・Olympics.com日本語版・日刊スポーツ(Yahoo!ニュース配信)・ゴルフダイジェスト(2026-08-16/17)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優勝ではない。けれど、4戦連続トップ10という強さがある。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6打差6位から最終日71、通算6アンダー274で7位。数字を正確に、出典付きで整理してお届けしました。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