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冒頭で具体的な事実を即座に提示し、挨拶なしで核心から入る(2026-07-24のエンゲージメント設計ルールに基づく)。本件は「協議中」の報道であり正式契約ではないことを1枚目から明示する。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OpenAIがこの施設をリースするための費用を裏付けるものとされる。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施設の規模を表で整理する。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3社の関係を図で示す。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資金の内訳を表で整理する。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段階的な計画を紹介する。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協議段階であることを強調する。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SoftBankの役割を紹介する。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規模感を表で示す。断定的な「世界一」表現は避ける。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政治的リスク回避のため、用地に関する事実の紹介にとどめる。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総額5,000億ドル。史上最大のデータセンター計画に、NVIDIAが2,500億ドルの保証</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NVIDIA、OpenAIのオハイオ州データセンター(SoftBankグループ開発)への資金保証を協議中(2026年7月27日報道)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Tom's Hardware, Yahoo Finance, Slashdot(WSJ報道の追随)、2026-07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規模・関係者を詳しく見る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データセンター</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AIの学習・稼働に必要な大量のサーバーを収容する巨大な施設</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資金保証(ギャランティ)</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ある企業が別の企業の借入・リース費用の支払いを裏付ける仕組み</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報道内容</a:t>
                      </a:r>
                    </a:p>
                  </a:txBody>
                  <a:tcPr>
                    <a:solidFill>
                      <a:srgbClr val="FFFFFF"/>
                    </a:solidFill>
                  </a:tcPr>
                </a:tc>
                <a:tc>
                  <a:txBody>
                    <a:bodyPr/>
                    <a:lstStyle/>
                    <a:p>
                      <a:pPr>
                        <a:defRPr sz="1200">
                          <a:solidFill>
                            <a:srgbClr val="1C2230"/>
                          </a:solidFill>
                          <a:latin typeface="Yu Gothic"/>
                        </a:defRPr>
                      </a:pPr>
                      <a:r>
                        <a:t>NVIDIAがOpenAIのデータセンター向け資金を保証する方向で協議中</a:t>
                      </a:r>
                    </a:p>
                  </a:txBody>
                  <a:tcPr>
                    <a:solidFill>
                      <a:srgbClr val="FFFFFF"/>
                    </a:solidFill>
                  </a:tcPr>
                </a:tc>
              </a:tr>
              <a:tr h="502920">
                <a:tc>
                  <a:txBody>
                    <a:bodyPr/>
                    <a:lstStyle/>
                    <a:p>
                      <a:pPr>
                        <a:defRPr sz="1200">
                          <a:solidFill>
                            <a:srgbClr val="1C2230"/>
                          </a:solidFill>
                          <a:latin typeface="Yu Gothic"/>
                        </a:defRPr>
                      </a:pPr>
                      <a:r>
                        <a:t>報道日</a:t>
                      </a:r>
                    </a:p>
                  </a:txBody>
                  <a:tcPr>
                    <a:solidFill>
                      <a:srgbClr val="F1F5FA"/>
                    </a:solidFill>
                  </a:tcPr>
                </a:tc>
                <a:tc>
                  <a:txBody>
                    <a:bodyPr/>
                    <a:lstStyle/>
                    <a:p>
                      <a:pPr>
                        <a:defRPr sz="1200">
                          <a:solidFill>
                            <a:srgbClr val="1C2230"/>
                          </a:solidFill>
                          <a:latin typeface="Yu Gothic"/>
                        </a:defRPr>
                      </a:pPr>
                      <a:r>
                        <a:t>2026年7月27日(Wall Street Journal発)</a:t>
                      </a:r>
                    </a:p>
                  </a:txBody>
                  <a:tcPr>
                    <a:solidFill>
                      <a:srgbClr val="F1F5FA"/>
                    </a:solidFill>
                  </a:tcPr>
                </a:tc>
              </a:tr>
              <a:tr h="502920">
                <a:tc>
                  <a:txBody>
                    <a:bodyPr/>
                    <a:lstStyle/>
                    <a:p>
                      <a:pPr>
                        <a:defRPr sz="1200">
                          <a:solidFill>
                            <a:srgbClr val="1C2230"/>
                          </a:solidFill>
                          <a:latin typeface="Yu Gothic"/>
                        </a:defRPr>
                      </a:pPr>
                      <a:r>
                        <a:t>対象施設</a:t>
                      </a:r>
                    </a:p>
                  </a:txBody>
                  <a:tcPr>
                    <a:solidFill>
                      <a:srgbClr val="FFFFFF"/>
                    </a:solidFill>
                  </a:tcPr>
                </a:tc>
                <a:tc>
                  <a:txBody>
                    <a:bodyPr/>
                    <a:lstStyle/>
                    <a:p>
                      <a:pPr>
                        <a:defRPr sz="1200">
                          <a:solidFill>
                            <a:srgbClr val="1C2230"/>
                          </a:solidFill>
                          <a:latin typeface="Yu Gothic"/>
                        </a:defRPr>
                      </a:pPr>
                      <a:r>
                        <a:t>オハイオ州の10ギガワット規模データセンター</a:t>
                      </a:r>
                    </a:p>
                  </a:txBody>
                  <a:tcPr>
                    <a:solidFill>
                      <a:srgbClr val="FFFFFF"/>
                    </a:solidFill>
                  </a:tcPr>
                </a:tc>
              </a:tr>
              <a:tr h="502920">
                <a:tc>
                  <a:txBody>
                    <a:bodyPr/>
                    <a:lstStyle/>
                    <a:p>
                      <a:pPr>
                        <a:defRPr sz="1200">
                          <a:solidFill>
                            <a:srgbClr val="1C2230"/>
                          </a:solidFill>
                          <a:latin typeface="Yu Gothic"/>
                        </a:defRPr>
                      </a:pPr>
                      <a:r>
                        <a:t>開発主体</a:t>
                      </a:r>
                    </a:p>
                  </a:txBody>
                  <a:tcPr>
                    <a:solidFill>
                      <a:srgbClr val="F1F5FA"/>
                    </a:solidFill>
                  </a:tcPr>
                </a:tc>
                <a:tc>
                  <a:txBody>
                    <a:bodyPr/>
                    <a:lstStyle/>
                    <a:p>
                      <a:pPr>
                        <a:defRPr sz="1200">
                          <a:solidFill>
                            <a:srgbClr val="1C2230"/>
                          </a:solidFill>
                          <a:latin typeface="Yu Gothic"/>
                        </a:defRPr>
                      </a:pPr>
                      <a:r>
                        <a:t>SoftBankグループの電力子会社SB Energy</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Tom's Hardware(2026-07-27)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NVIDIAが協議中の資金保証額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2,500億ドル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Tom's Hardwareの報道による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Tom's Hardware(2026-07-27)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施設の規模</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発電・データセンター規模</a:t>
                      </a:r>
                    </a:p>
                  </a:txBody>
                  <a:tcPr>
                    <a:solidFill>
                      <a:srgbClr val="FFFFFF"/>
                    </a:solidFill>
                  </a:tcPr>
                </a:tc>
                <a:tc>
                  <a:txBody>
                    <a:bodyPr/>
                    <a:lstStyle/>
                    <a:p>
                      <a:pPr>
                        <a:defRPr sz="1200">
                          <a:solidFill>
                            <a:srgbClr val="1C2230"/>
                          </a:solidFill>
                          <a:latin typeface="Yu Gothic"/>
                        </a:defRPr>
                      </a:pPr>
                      <a:r>
                        <a:t>10ギガワット</a:t>
                      </a:r>
                    </a:p>
                  </a:txBody>
                  <a:tcPr>
                    <a:solidFill>
                      <a:srgbClr val="FFFFFF"/>
                    </a:solidFill>
                  </a:tcPr>
                </a:tc>
              </a:tr>
              <a:tr h="502920">
                <a:tc>
                  <a:txBody>
                    <a:bodyPr/>
                    <a:lstStyle/>
                    <a:p>
                      <a:pPr>
                        <a:defRPr sz="1200">
                          <a:solidFill>
                            <a:srgbClr val="1C2230"/>
                          </a:solidFill>
                          <a:latin typeface="Yu Gothic"/>
                        </a:defRPr>
                      </a:pPr>
                      <a:r>
                        <a:t>第一段階の規模</a:t>
                      </a:r>
                    </a:p>
                  </a:txBody>
                  <a:tcPr>
                    <a:solidFill>
                      <a:srgbClr val="F1F5FA"/>
                    </a:solidFill>
                  </a:tcPr>
                </a:tc>
                <a:tc>
                  <a:txBody>
                    <a:bodyPr/>
                    <a:lstStyle/>
                    <a:p>
                      <a:pPr>
                        <a:defRPr sz="1200">
                          <a:solidFill>
                            <a:srgbClr val="1C2230"/>
                          </a:solidFill>
                          <a:latin typeface="Yu Gothic"/>
                        </a:defRPr>
                      </a:pPr>
                      <a:r>
                        <a:t>約800メガワット</a:t>
                      </a:r>
                    </a:p>
                  </a:txBody>
                  <a:tcPr>
                    <a:solidFill>
                      <a:srgbClr val="F1F5FA"/>
                    </a:solidFill>
                  </a:tcPr>
                </a:tc>
              </a:tr>
              <a:tr h="502920">
                <a:tc>
                  <a:txBody>
                    <a:bodyPr/>
                    <a:lstStyle/>
                    <a:p>
                      <a:pPr>
                        <a:defRPr sz="1200">
                          <a:solidFill>
                            <a:srgbClr val="1C2230"/>
                          </a:solidFill>
                          <a:latin typeface="Yu Gothic"/>
                        </a:defRPr>
                      </a:pPr>
                      <a:r>
                        <a:t>第一段階の完成目標</a:t>
                      </a:r>
                    </a:p>
                  </a:txBody>
                  <a:tcPr>
                    <a:solidFill>
                      <a:srgbClr val="FFFFFF"/>
                    </a:solidFill>
                  </a:tcPr>
                </a:tc>
                <a:tc>
                  <a:txBody>
                    <a:bodyPr/>
                    <a:lstStyle/>
                    <a:p>
                      <a:pPr>
                        <a:defRPr sz="1200">
                          <a:solidFill>
                            <a:srgbClr val="1C2230"/>
                          </a:solidFill>
                          <a:latin typeface="Yu Gothic"/>
                        </a:defRPr>
                      </a:pPr>
                      <a:r>
                        <a:t>2028年</a:t>
                      </a:r>
                    </a:p>
                  </a:txBody>
                  <a:tcPr>
                    <a:solidFill>
                      <a:srgbClr val="FFFFFF"/>
                    </a:solidFill>
                  </a:tcPr>
                </a:tc>
              </a:tr>
              <a:tr h="502920">
                <a:tc>
                  <a:txBody>
                    <a:bodyPr/>
                    <a:lstStyle/>
                    <a:p>
                      <a:pPr>
                        <a:defRPr sz="1200">
                          <a:solidFill>
                            <a:srgbClr val="1C2230"/>
                          </a:solidFill>
                          <a:latin typeface="Yu Gothic"/>
                        </a:defRPr>
                      </a:pPr>
                      <a:r>
                        <a:t>総費用(チップ含む)</a:t>
                      </a:r>
                    </a:p>
                  </a:txBody>
                  <a:tcPr>
                    <a:solidFill>
                      <a:srgbClr val="F1F5FA"/>
                    </a:solidFill>
                  </a:tcPr>
                </a:tc>
                <a:tc>
                  <a:txBody>
                    <a:bodyPr/>
                    <a:lstStyle/>
                    <a:p>
                      <a:pPr>
                        <a:defRPr sz="1200">
                          <a:solidFill>
                            <a:srgbClr val="1C2230"/>
                          </a:solidFill>
                          <a:latin typeface="Yu Gothic"/>
                        </a:defRPr>
                      </a:pPr>
                      <a:r>
                        <a:t>5,000億ドル超とされる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Yahoo Finance(2026-07-27)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関係者の関係</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SoftBankグループ(SB Energy)</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オハイオ州で施設を開発</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OpenAI</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完成した施設をリースして利用する予定</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NVIDIA</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リース・建設費用の資金保証を協議中</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Tom's Hardware(2026-07-27)</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資金の内訳(協議中の2つの枠組み)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枠組み</a:t>
                      </a:r>
                    </a:p>
                  </a:txBody>
                  <a:tcPr>
                    <a:solidFill>
                      <a:srgbClr val="2B3A55"/>
                    </a:solidFill>
                  </a:tcPr>
                </a:tc>
                <a:tc>
                  <a:txBody>
                    <a:bodyPr/>
                    <a:lstStyle/>
                    <a:p>
                      <a:pPr>
                        <a:defRPr sz="1300" b="1">
                          <a:solidFill>
                            <a:srgbClr val="FFFFFF"/>
                          </a:solidFill>
                          <a:latin typeface="Yu Gothic"/>
                        </a:defRPr>
                      </a:pPr>
                      <a:r>
                        <a:t>金額</a:t>
                      </a:r>
                    </a:p>
                  </a:txBody>
                  <a:tcPr>
                    <a:solidFill>
                      <a:srgbClr val="2B3A55"/>
                    </a:solidFill>
                  </a:tcPr>
                </a:tc>
                <a:tc>
                  <a:txBody>
                    <a:bodyPr/>
                    <a:lstStyle/>
                    <a:p>
                      <a:pPr>
                        <a:defRPr sz="1300" b="1">
                          <a:solidFill>
                            <a:srgbClr val="FFFFFF"/>
                          </a:solidFill>
                          <a:latin typeface="Yu Gothic"/>
                        </a:defRPr>
                      </a:pPr>
                      <a:r>
                        <a:t>対象</a:t>
                      </a:r>
                    </a:p>
                  </a:txBody>
                  <a:tcPr>
                    <a:solidFill>
                      <a:srgbClr val="2B3A55"/>
                    </a:solidFill>
                  </a:tcPr>
                </a:tc>
              </a:tr>
              <a:tr h="502920">
                <a:tc>
                  <a:txBody>
                    <a:bodyPr/>
                    <a:lstStyle/>
                    <a:p>
                      <a:pPr>
                        <a:defRPr sz="1200">
                          <a:solidFill>
                            <a:srgbClr val="1C2230"/>
                          </a:solidFill>
                          <a:latin typeface="Yu Gothic"/>
                        </a:defRPr>
                      </a:pPr>
                      <a:r>
                        <a:t>資金保証(今回の主な報道)</a:t>
                      </a:r>
                    </a:p>
                  </a:txBody>
                  <a:tcPr>
                    <a:solidFill>
                      <a:srgbClr val="FFFFFF"/>
                    </a:solidFill>
                  </a:tcPr>
                </a:tc>
                <a:tc>
                  <a:txBody>
                    <a:bodyPr/>
                    <a:lstStyle/>
                    <a:p>
                      <a:pPr>
                        <a:defRPr sz="1200">
                          <a:solidFill>
                            <a:srgbClr val="1C2230"/>
                          </a:solidFill>
                          <a:latin typeface="Yu Gothic"/>
                        </a:defRPr>
                      </a:pPr>
                      <a:r>
                        <a:t>約2,500億ドル</a:t>
                      </a:r>
                    </a:p>
                  </a:txBody>
                  <a:tcPr>
                    <a:solidFill>
                      <a:srgbClr val="FFFFFF"/>
                    </a:solidFill>
                  </a:tcPr>
                </a:tc>
                <a:tc>
                  <a:txBody>
                    <a:bodyPr/>
                    <a:lstStyle/>
                    <a:p>
                      <a:pPr>
                        <a:defRPr sz="1200">
                          <a:solidFill>
                            <a:srgbClr val="1C2230"/>
                          </a:solidFill>
                          <a:latin typeface="Yu Gothic"/>
                        </a:defRPr>
                      </a:pPr>
                      <a:r>
                        <a:t>リース・建設費用</a:t>
                      </a:r>
                    </a:p>
                  </a:txBody>
                  <a:tcPr>
                    <a:solidFill>
                      <a:srgbClr val="FFFFFF"/>
                    </a:solidFill>
                  </a:tcPr>
                </a:tc>
              </a:tr>
              <a:tr h="502920">
                <a:tc>
                  <a:txBody>
                    <a:bodyPr/>
                    <a:lstStyle/>
                    <a:p>
                      <a:pPr>
                        <a:defRPr sz="1200">
                          <a:solidFill>
                            <a:srgbClr val="1C2230"/>
                          </a:solidFill>
                          <a:latin typeface="Yu Gothic"/>
                        </a:defRPr>
                      </a:pPr>
                      <a:r>
                        <a:t>別枠の資金支援(協議中)</a:t>
                      </a:r>
                    </a:p>
                  </a:txBody>
                  <a:tcPr>
                    <a:solidFill>
                      <a:srgbClr val="F1F5FA"/>
                    </a:solidFill>
                  </a:tcPr>
                </a:tc>
                <a:tc>
                  <a:txBody>
                    <a:bodyPr/>
                    <a:lstStyle/>
                    <a:p>
                      <a:pPr>
                        <a:defRPr sz="1200">
                          <a:solidFill>
                            <a:srgbClr val="1C2230"/>
                          </a:solidFill>
                          <a:latin typeface="Yu Gothic"/>
                        </a:defRPr>
                      </a:pPr>
                      <a:r>
                        <a:t>最大3,500億ドル</a:t>
                      </a:r>
                    </a:p>
                  </a:txBody>
                  <a:tcPr>
                    <a:solidFill>
                      <a:srgbClr val="F1F5FA"/>
                    </a:solidFill>
                  </a:tcPr>
                </a:tc>
                <a:tc>
                  <a:txBody>
                    <a:bodyPr/>
                    <a:lstStyle/>
                    <a:p>
                      <a:pPr>
                        <a:defRPr sz="1200">
                          <a:solidFill>
                            <a:srgbClr val="1C2230"/>
                          </a:solidFill>
                          <a:latin typeface="Yu Gothic"/>
                        </a:defRPr>
                      </a:pPr>
                      <a:r>
                        <a:t>チップ購入費用</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Tom's Hardware(2026-07-27)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プロジェクトの段階</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第一段階(2028年完成目標)</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約800メガワット規模から稼働を開始する計画とされる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最終的な規模</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10ギガワットまで拡張する計画とされる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Yahoo Finance(2026-07-27)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まだ確定していないこと(重要)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協議中であり正式契約ではない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交渉は継続中で、契約条件は未確定とされる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実現する保証はない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報道された資金調達計画が最終的に実現するとは限らない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Capacity(2026-07-27)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既存テーマ(Project Camellia)との違い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Project Camellia(定期実行35本目)</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ジョージア州、3.2ギガワット規模</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OpenAI単独の設備投資として発表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今回(オハイオ州)</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オハイオ州、10ギガワット規模</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NVIDIA・OpenAI・SoftBankの3社が関与</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なぜNVIDIAが保証するのか(推測)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自社製品の需要確保</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OpenAIのようなAI開発企業がGPUを継続的に大量購入する体制を後押しする狙いがあると考えられる(推測)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業界全体の拡大</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AIインフラ市場全体の拡大が自社の利益にもつながると考えられる(推測)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SoftBankの役割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施設の開発主体</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電力子会社SB Energyがオハイオ州で施設を開発している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AIインフラへの継続投資</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OpenAIとの提携によるAIインフラ投資を継続的に行っている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Tom's Hardware(2026-07-27)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規模感の参考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今回の総費用(報道ベース)</a:t>
                      </a:r>
                    </a:p>
                  </a:txBody>
                  <a:tcPr>
                    <a:solidFill>
                      <a:srgbClr val="FFFFFF"/>
                    </a:solidFill>
                  </a:tcPr>
                </a:tc>
                <a:tc>
                  <a:txBody>
                    <a:bodyPr/>
                    <a:lstStyle/>
                    <a:p>
                      <a:pPr>
                        <a:defRPr sz="1200">
                          <a:solidFill>
                            <a:srgbClr val="1C2230"/>
                          </a:solidFill>
                          <a:latin typeface="Yu Gothic"/>
                        </a:defRPr>
                      </a:pPr>
                      <a:r>
                        <a:t>5,000億ドル超</a:t>
                      </a:r>
                    </a:p>
                  </a:txBody>
                  <a:tcPr>
                    <a:solidFill>
                      <a:srgbClr val="FFFFFF"/>
                    </a:solidFill>
                  </a:tcPr>
                </a:tc>
              </a:tr>
              <a:tr h="502920">
                <a:tc>
                  <a:txBody>
                    <a:bodyPr/>
                    <a:lstStyle/>
                    <a:p>
                      <a:pPr>
                        <a:defRPr sz="1200">
                          <a:solidFill>
                            <a:srgbClr val="1C2230"/>
                          </a:solidFill>
                          <a:latin typeface="Yu Gothic"/>
                        </a:defRPr>
                      </a:pPr>
                      <a:r>
                        <a:t>実現した場合の位置づけ</a:t>
                      </a:r>
                    </a:p>
                  </a:txBody>
                  <a:tcPr>
                    <a:solidFill>
                      <a:srgbClr val="F1F5FA"/>
                    </a:solidFill>
                  </a:tcPr>
                </a:tc>
                <a:tc>
                  <a:txBody>
                    <a:bodyPr/>
                    <a:lstStyle/>
                    <a:p>
                      <a:pPr>
                        <a:defRPr sz="1200">
                          <a:solidFill>
                            <a:srgbClr val="1C2230"/>
                          </a:solidFill>
                          <a:latin typeface="Yu Gothic"/>
                        </a:defRPr>
                      </a:pPr>
                      <a:r>
                        <a:t>史上最大級のデータセンタープロジェクトとされる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Yahoo Finance(2026-07-27)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用地について(事実のみ)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旧ウラン濃縮施設の跡地</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オハイオ州にある米エネルギー省所管の旧施設の跡地とされる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本動画では政策論には触れない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用地選定の背景にある政府の政策・意思決定については扱わない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Tom's Hardware(2026-07-27)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チップ購入資金(最大3,500億ドル規模)の協議の進捗の詳細は確認できなかった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交渉が最終的に合意に至るかどうかは本調査時点では不明</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11277295"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11277295"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10728655" cy="548640"/>
          </a:xfrm>
          <a:prstGeom prst="rect">
            <a:avLst/>
          </a:prstGeom>
          <a:noFill/>
        </p:spPr>
        <p:txBody>
          <a:bodyPr wrap="square" anchor="t" lIns="0" rIns="0" tIns="0" bIns="0">
            <a:spAutoFit/>
          </a:bodyPr>
          <a:lstStyle/>
          <a:p>
            <a:pPr algn="l"/>
            <a:r>
              <a:rPr sz="1600" b="1">
                <a:solidFill>
                  <a:srgbClr val="2B3A55"/>
                </a:solidFill>
                <a:latin typeface="Yu Gothic"/>
              </a:rPr>
              <a:t>DeepSeek V4安定版リリース</a:t>
            </a:r>
          </a:p>
        </p:txBody>
      </p:sp>
      <p:sp>
        <p:nvSpPr>
          <p:cNvPr id="9" name="TextBox 8"/>
          <p:cNvSpPr txBox="1"/>
          <p:nvPr/>
        </p:nvSpPr>
        <p:spPr>
          <a:xfrm>
            <a:off x="731520" y="2514600"/>
            <a:ext cx="10728655"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着手日から4日前で鮮度基準にやや届かず、情報の確度も十分確認できなかったため見送り</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AIインフラ投資の巨大化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1件で5,000億ドル規模という投資額の大きさ</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企業間の相互依存の深まり</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GPU企業・AI開発企業・インフラ企業が資金面でも連携する構造</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今後の続報への注目</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交渉の行方次第で計画が変わる可能性がある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これは何を意味するのか(業界にとって)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AIインフラへの投資規模が、これまでにない水準に拡大していることを示す事例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実際に契約が成立するかどうかは今後の交渉次第であり、確定した話ではない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こんな人におすすめ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AIインフラ・データセンター業界に関心がある人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投資規模の動向を知りたい人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NVIDIA・OpenAI・SoftBankの動向を追っている人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3社の関係性を知りたい人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もう契約は決まったの?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本調査時点では協議中であり、正式な契約は確認できていない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いつ完成するの?</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第一段階は2028年完成目標とされている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動向を追う場合の進め方(目安)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NVIDIA・OpenAI・SoftBankの公式発表を確認する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②契約成立の報道を待つ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協議が正式契約に至るかを確認する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③建設の進捗を追う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2028年の第一段階完成に向けた進捗を追う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直接的に個人が関わる話ではないが、AIサービスの裏側にある巨大な投資規模を知る材料になる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今後のAI関連ニュースを理解する上での背景知識として役立つ</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交渉が最終的に合意に至るか、正確な契約条件は本調査時点では不明</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チップ購入資金の協議の進捗の詳細は確認できなかった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協議中であることを明記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正式契約ではなく報道段階であることを繰り返し明記する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政治的論点には触れない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用地の政府政策的な背景には立ち入らない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企業間の資金調達という事実を淡々と紹介する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Tom's Hardware / Yahoo Finance</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Slashdot(WSJ報道の追随)/ DigiTimes / Capacity</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史上最大級のデータセンター計画、その資金の裏側</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NVIDIA・OpenAI・SoftBankによる2,500億ドル規模の資金保証は、まだ協議段階</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興味があれば、今後の正式発表を確認してみる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AIインフラへの巨大投資の動向は今後も続くテーマ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