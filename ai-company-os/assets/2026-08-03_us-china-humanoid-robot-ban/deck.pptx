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本日は米国政府が中国製ロボットの新規輸入を禁止したという話題をお届けします。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今日は、何が起きたのか、規制の内容と理由、対象と除外、政治的中立性についての開示をお伝えします。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米連邦通信委員会が、中国製の人型・四足ロボットの新規輸入を禁止する措置を発表しました。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その発表日がこちら、2026年7月28日、着手日の6から7日前です。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FCCの決定は、ホワイトハウス主導の省庁横断組織が7月27日に行った国家安全保障上の判断に基づいています。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規制の内容は、新規の人型・四足ロボット、パワーインバーターが対象で、既存導入済みモデルは対象外です。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FCCが挙げた理由は、サプライチェーンの脆弱性、サイバーセキュリティリスク、データプライバシーリスクです。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規制に至る経緯を図で見ると、7月27日の判断を受けて、7月28日にFCCが規制を発表しました。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対象と除外をまとめると、この表の通りです。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対象品目は、人型・四足ロボットとパワーインバーターです。既存導入済みモデルは対象外です。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報じたメディアは、CNN Business、The Japan Times、UPI、The Daily Caller、The AI Insiderです。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背景には、中国が世界の人型ロボットの大部分を供給している構図があるとされています。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規制の影響範囲を図で見ると、中国メーカー、米国の輸入企業、米国内メーカーそれぞれに関わる話題です。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ここで大事な点を確認します。本テーマは政策的な話題を扱うため、特定の政権・政党・国家への支持や批判は行わず、事実のみを客観的に紹介しています。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ここまでを総括します。米国が国家安全保障上のリスクを理由に、中国製ロボットの新規輸入を禁止したことが今回の核心です。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ここからは推測です。中国側の反応、米国内産業への影響、他分野への波及が焦点になりそうです。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想定される影響としては、中国メーカーへの影響、米国輸入企業の調達先見直しが挙げられます。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既存のAI規制関連テーマとは、法域・規制対象がそれぞれ異なり、重複ではありません。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本テーマでは数字の創作をせず、特定の政権・政党・国家への支持や批判もしていません。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出典はこの表の通り、独立した複数の大手報道機関です。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確認できたことと確認できなかったことを正直に整理します。中国側の公式な反応はまだ確認できていません。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改めて確認します。米FCCが2026年7月28日、中国製人型・四足ロボットの輸入禁止を発表しました。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規制前と規制後を比べると、新規の輸入が禁止される一方、既存導入済みモデルは対象外という違いがあります。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発表から報道、そして本日の話題化までの流れを図にすると、このようになります。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皆さんは、国家安全保障とロボット・AI技術の輸入について、どう向き合うべきだと思いますか。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数字で見ると、7月27日の国家安全保障判断を受けて、7月28日にFCCが規制を発表しました。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改めて総括します。先端技術をめぐる米中の競争が、また一歩進んだ、その一つの節目でした。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中国側の反応、そして米国内産業への影響に注目していきましょう。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今回もありがとうございました。米国が中国製ロボットの新規輸入を禁止した話題をお届けしました。次回もお楽しみに。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米国が、中国製ロボットを締め出した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米FCC、中国製人型・四足ロボットの新規輸入を禁止</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CNN Business・The Japan Times・UPI ほか(2026-07-28〜29)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規制の内容</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規制の理由</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対象と除外</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政治的中立性についての開示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米連邦通信委員会(FCC)が中国製ロボットの輸入禁止措置を発表</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発表日は2026年7月28日(火)、着手日の6〜7日前</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人型ロボット・四足ロボットが対象</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CNN Business(2026-07-29)</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2026年7月28日(火)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着手日の6〜7日前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Japan Times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発表機関</a:t>
                      </a:r>
                    </a:p>
                  </a:txBody>
                  <a:tcPr>
                    <a:solidFill>
                      <a:srgbClr val="FFFFFF"/>
                    </a:solidFill>
                  </a:tcPr>
                </a:tc>
                <a:tc>
                  <a:txBody>
                    <a:bodyPr/>
                    <a:lstStyle/>
                    <a:p>
                      <a:pPr>
                        <a:defRPr sz="1200">
                          <a:solidFill>
                            <a:srgbClr val="1C2230"/>
                          </a:solidFill>
                          <a:latin typeface="Yu Gothic"/>
                        </a:defRPr>
                      </a:pPr>
                      <a:r>
                        <a:t>米連邦通信委員会(FCC)</a:t>
                      </a:r>
                    </a:p>
                  </a:txBody>
                  <a:tcPr>
                    <a:solidFill>
                      <a:srgbClr val="FFFFFF"/>
                    </a:solidFill>
                  </a:tcPr>
                </a:tc>
              </a:tr>
              <a:tr h="502920">
                <a:tc>
                  <a:txBody>
                    <a:bodyPr/>
                    <a:lstStyle/>
                    <a:p>
                      <a:pPr>
                        <a:defRPr sz="1200">
                          <a:solidFill>
                            <a:srgbClr val="1C2230"/>
                          </a:solidFill>
                          <a:latin typeface="Yu Gothic"/>
                        </a:defRPr>
                      </a:pPr>
                      <a:r>
                        <a:t>対象</a:t>
                      </a:r>
                    </a:p>
                  </a:txBody>
                  <a:tcPr>
                    <a:solidFill>
                      <a:srgbClr val="F1F5FA"/>
                    </a:solidFill>
                  </a:tcPr>
                </a:tc>
                <a:tc>
                  <a:txBody>
                    <a:bodyPr/>
                    <a:lstStyle/>
                    <a:p>
                      <a:pPr>
                        <a:defRPr sz="1200">
                          <a:solidFill>
                            <a:srgbClr val="1C2230"/>
                          </a:solidFill>
                          <a:latin typeface="Yu Gothic"/>
                        </a:defRPr>
                      </a:pPr>
                      <a:r>
                        <a:t>中国製の新規人型・四足ロボット</a:t>
                      </a:r>
                    </a:p>
                  </a:txBody>
                  <a:tcPr>
                    <a:solidFill>
                      <a:srgbClr val="F1F5FA"/>
                    </a:solidFill>
                  </a:tcPr>
                </a:tc>
              </a:tr>
              <a:tr h="502920">
                <a:tc>
                  <a:txBody>
                    <a:bodyPr/>
                    <a:lstStyle/>
                    <a:p>
                      <a:pPr>
                        <a:defRPr sz="1200">
                          <a:solidFill>
                            <a:srgbClr val="1C2230"/>
                          </a:solidFill>
                          <a:latin typeface="Yu Gothic"/>
                        </a:defRPr>
                      </a:pPr>
                      <a:r>
                        <a:t>対象2</a:t>
                      </a:r>
                    </a:p>
                  </a:txBody>
                  <a:tcPr>
                    <a:solidFill>
                      <a:srgbClr val="FFFFFF"/>
                    </a:solidFill>
                  </a:tcPr>
                </a:tc>
                <a:tc>
                  <a:txBody>
                    <a:bodyPr/>
                    <a:lstStyle/>
                    <a:p>
                      <a:pPr>
                        <a:defRPr sz="1200">
                          <a:solidFill>
                            <a:srgbClr val="1C2230"/>
                          </a:solidFill>
                          <a:latin typeface="Yu Gothic"/>
                        </a:defRPr>
                      </a:pPr>
                      <a:r>
                        <a:t>パワーインバーター(送電網・データセンター機器向け)</a:t>
                      </a:r>
                    </a:p>
                  </a:txBody>
                  <a:tcPr>
                    <a:solidFill>
                      <a:srgbClr val="FFFFFF"/>
                    </a:solidFill>
                  </a:tcPr>
                </a:tc>
              </a:tr>
              <a:tr h="502920">
                <a:tc>
                  <a:txBody>
                    <a:bodyPr/>
                    <a:lstStyle/>
                    <a:p>
                      <a:pPr>
                        <a:defRPr sz="1200">
                          <a:solidFill>
                            <a:srgbClr val="1C2230"/>
                          </a:solidFill>
                          <a:latin typeface="Yu Gothic"/>
                        </a:defRPr>
                      </a:pPr>
                      <a:r>
                        <a:t>理由</a:t>
                      </a:r>
                    </a:p>
                  </a:txBody>
                  <a:tcPr>
                    <a:solidFill>
                      <a:srgbClr val="F1F5FA"/>
                    </a:solidFill>
                  </a:tcPr>
                </a:tc>
                <a:tc>
                  <a:txBody>
                    <a:bodyPr/>
                    <a:lstStyle/>
                    <a:p>
                      <a:pPr>
                        <a:defRPr sz="1200">
                          <a:solidFill>
                            <a:srgbClr val="1C2230"/>
                          </a:solidFill>
                          <a:latin typeface="Yu Gothic"/>
                        </a:defRPr>
                      </a:pPr>
                      <a:r>
                        <a:t>国家安全保障上のリスク</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規制を発表した機関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FCC</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米連邦通信委員会</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根拠</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ホワイトハウス主導の省庁横断組織の判断</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判断日</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2026年7月27日(月)</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規制の内容(概要)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対象1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中国製の新規人型ロボット</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対象2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中国製の新規四足ロボット</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対象3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パワーインバーター(再エネ・データセンター向け)</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除外</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既に導入済みのモデルは対象外</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規制の理由(FCCの説明)</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サプライチェーンの脆弱性が経済・国家安全保障を脅かす可能性</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重要インフラを脅かすサイバーセキュリティリスクの可能性</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インターネット接続されたロボットのデータプライバシーリスク</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Daily Caller(2026-07-29)</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規制に至る経緯(概念)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国家安全保障上の判断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2026年7月27日、省庁横断組織</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FCCの規制発表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2026年7月28日</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複数媒体が報道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2026年7月29日</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対象と除外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対象</a:t>
                      </a:r>
                    </a:p>
                  </a:txBody>
                  <a:tcPr>
                    <a:solidFill>
                      <a:srgbClr val="FFFFFF"/>
                    </a:solidFill>
                  </a:tcPr>
                </a:tc>
                <a:tc>
                  <a:txBody>
                    <a:bodyPr/>
                    <a:lstStyle/>
                    <a:p>
                      <a:pPr>
                        <a:defRPr sz="1200">
                          <a:solidFill>
                            <a:srgbClr val="1C2230"/>
                          </a:solidFill>
                          <a:latin typeface="Yu Gothic"/>
                        </a:defRPr>
                      </a:pPr>
                      <a:r>
                        <a:t>新規に輸入される中国製人型・四足ロボット</a:t>
                      </a:r>
                    </a:p>
                  </a:txBody>
                  <a:tcPr>
                    <a:solidFill>
                      <a:srgbClr val="FFFFFF"/>
                    </a:solidFill>
                  </a:tcPr>
                </a:tc>
              </a:tr>
              <a:tr h="502920">
                <a:tc>
                  <a:txBody>
                    <a:bodyPr/>
                    <a:lstStyle/>
                    <a:p>
                      <a:pPr>
                        <a:defRPr sz="1200">
                          <a:solidFill>
                            <a:srgbClr val="1C2230"/>
                          </a:solidFill>
                          <a:latin typeface="Yu Gothic"/>
                        </a:defRPr>
                      </a:pPr>
                      <a:r>
                        <a:t>対象</a:t>
                      </a:r>
                    </a:p>
                  </a:txBody>
                  <a:tcPr>
                    <a:solidFill>
                      <a:srgbClr val="F1F5FA"/>
                    </a:solidFill>
                  </a:tcPr>
                </a:tc>
                <a:tc>
                  <a:txBody>
                    <a:bodyPr/>
                    <a:lstStyle/>
                    <a:p>
                      <a:pPr>
                        <a:defRPr sz="1200">
                          <a:solidFill>
                            <a:srgbClr val="1C2230"/>
                          </a:solidFill>
                          <a:latin typeface="Yu Gothic"/>
                        </a:defRPr>
                      </a:pPr>
                      <a:r>
                        <a:t>パワーインバーター</a:t>
                      </a:r>
                    </a:p>
                  </a:txBody>
                  <a:tcPr>
                    <a:solidFill>
                      <a:srgbClr val="F1F5FA"/>
                    </a:solidFill>
                  </a:tcPr>
                </a:tc>
              </a:tr>
              <a:tr h="502920">
                <a:tc>
                  <a:txBody>
                    <a:bodyPr/>
                    <a:lstStyle/>
                    <a:p>
                      <a:pPr>
                        <a:defRPr sz="1200">
                          <a:solidFill>
                            <a:srgbClr val="1C2230"/>
                          </a:solidFill>
                          <a:latin typeface="Yu Gothic"/>
                        </a:defRPr>
                      </a:pPr>
                      <a:r>
                        <a:t>除外</a:t>
                      </a:r>
                    </a:p>
                  </a:txBody>
                  <a:tcPr>
                    <a:solidFill>
                      <a:srgbClr val="FFFFFF"/>
                    </a:solidFill>
                  </a:tcPr>
                </a:tc>
                <a:tc>
                  <a:txBody>
                    <a:bodyPr/>
                    <a:lstStyle/>
                    <a:p>
                      <a:pPr>
                        <a:defRPr sz="1200">
                          <a:solidFill>
                            <a:srgbClr val="1C2230"/>
                          </a:solidFill>
                          <a:latin typeface="Yu Gothic"/>
                        </a:defRPr>
                      </a:pPr>
                      <a:r>
                        <a:t>既に導入済みのモデル</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対象品目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人型・四足ロボット、パワーインバーター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既存導入済みモデルは規制の対象外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UPI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報じたメディア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CNN Business</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規制の全体像を報道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The Japan Times / UPI</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規制の詳細を報道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The Daily Caller / The AI Insider</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理由・背景を分析</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背景にある構図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中国は世界の人型ロボットの大部分を供給しているとされる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米国はこの規制で最大の輸出市場の一つを失う形になるとされる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米中の先端技術・AIをめぐる競争が背景にあると報じられている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CNN Business</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規制の影響範囲(概念)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中国のロボットメーカー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最大の輸出市場の一つを失う形に</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米国の輸入企業</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新規の中国製ロボット導入が制限される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米国内メーカー</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国内産業の保護が意図されているとされる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【重要】政治的中立性についての開示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本テーマは米国政府機関(FCC)による輸入規制という政策的な話題を扱う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特定の政権・政党・国家への支持や批判は行わない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報道された事実(規制の内容・根拠として挙げられた理由)のみを客観的に紹介する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中国側の反応・国際関係への評価は確認できた事実の範囲を超えて行わない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ここまでの総括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米国が、中国製ロボットの新規輸入を禁止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国家安全保障上のリスクを理由に</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中国側の反応</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中国政府・メーカーからの正式な反応が待たれる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米国内産業への影響</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国内メーカーの供給体制整備が進む可能性</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他分野への波及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他のハイテク製品にも同様の規制が広がる可能性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中国メーカー</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米国市場からの締め出しによる影響</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米国の輸入企業</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調達先の見直しが必要になる可能性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米中関係全体</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先端技術をめぐる競争の一場面として注目される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似たテーマとの違い(重複でないことの確認)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既存テーマ</a:t>
                      </a:r>
                    </a:p>
                  </a:txBody>
                  <a:tcPr>
                    <a:solidFill>
                      <a:srgbClr val="2B3A55"/>
                    </a:solidFill>
                  </a:tcPr>
                </a:tc>
                <a:tc>
                  <a:txBody>
                    <a:bodyPr/>
                    <a:lstStyle/>
                    <a:p>
                      <a:pPr>
                        <a:defRPr sz="1300" b="1">
                          <a:solidFill>
                            <a:srgbClr val="FFFFFF"/>
                          </a:solidFill>
                          <a:latin typeface="Yu Gothic"/>
                        </a:defRPr>
                      </a:pPr>
                      <a:r>
                        <a:t>違い</a:t>
                      </a:r>
                    </a:p>
                  </a:txBody>
                  <a:tcPr>
                    <a:solidFill>
                      <a:srgbClr val="2B3A55"/>
                    </a:solidFill>
                  </a:tcPr>
                </a:tc>
              </a:tr>
              <a:tr h="502920">
                <a:tc>
                  <a:txBody>
                    <a:bodyPr/>
                    <a:lstStyle/>
                    <a:p>
                      <a:pPr>
                        <a:defRPr sz="1200">
                          <a:solidFill>
                            <a:srgbClr val="1C2230"/>
                          </a:solidFill>
                          <a:latin typeface="Yu Gothic"/>
                        </a:defRPr>
                      </a:pPr>
                      <a:r>
                        <a:t>EU AI Act透明性義務</a:t>
                      </a:r>
                    </a:p>
                  </a:txBody>
                  <a:tcPr>
                    <a:solidFill>
                      <a:srgbClr val="FFFFFF"/>
                    </a:solidFill>
                  </a:tcPr>
                </a:tc>
                <a:tc>
                  <a:txBody>
                    <a:bodyPr/>
                    <a:lstStyle/>
                    <a:p>
                      <a:pPr>
                        <a:defRPr sz="1200">
                          <a:solidFill>
                            <a:srgbClr val="1C2230"/>
                          </a:solidFill>
                          <a:latin typeface="Yu Gothic"/>
                        </a:defRPr>
                      </a:pPr>
                      <a:r>
                        <a:t>法域(EU)・規制対象(AI一般の透明性)が異なる</a:t>
                      </a:r>
                    </a:p>
                  </a:txBody>
                  <a:tcPr>
                    <a:solidFill>
                      <a:srgbClr val="FFFFFF"/>
                    </a:solidFill>
                  </a:tcPr>
                </a:tc>
              </a:tr>
              <a:tr h="502920">
                <a:tc>
                  <a:txBody>
                    <a:bodyPr/>
                    <a:lstStyle/>
                    <a:p>
                      <a:pPr>
                        <a:defRPr sz="1200">
                          <a:solidFill>
                            <a:srgbClr val="1C2230"/>
                          </a:solidFill>
                          <a:latin typeface="Yu Gothic"/>
                        </a:defRPr>
                      </a:pPr>
                      <a:r>
                        <a:t>カリフォルニア州AI透明性法</a:t>
                      </a:r>
                    </a:p>
                  </a:txBody>
                  <a:tcPr>
                    <a:solidFill>
                      <a:srgbClr val="F1F5FA"/>
                    </a:solidFill>
                  </a:tcPr>
                </a:tc>
                <a:tc>
                  <a:txBody>
                    <a:bodyPr/>
                    <a:lstStyle/>
                    <a:p>
                      <a:pPr>
                        <a:defRPr sz="1200">
                          <a:solidFill>
                            <a:srgbClr val="1C2230"/>
                          </a:solidFill>
                          <a:latin typeface="Yu Gothic"/>
                        </a:defRPr>
                      </a:pPr>
                      <a:r>
                        <a:t>法域(米国州法)・規制対象が異なる</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数字の創作はせず、報道された内容のみを扱う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特定の政権・政党・国家への支持や批判はしない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確認できていない中国側の反応は断定しない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CNN Business</a:t>
                      </a:r>
                    </a:p>
                  </a:txBody>
                  <a:tcPr>
                    <a:solidFill>
                      <a:srgbClr val="FFFFFF"/>
                    </a:solidFill>
                  </a:tcPr>
                </a:tc>
                <a:tc>
                  <a:txBody>
                    <a:bodyPr/>
                    <a:lstStyle/>
                    <a:p>
                      <a:pPr>
                        <a:defRPr sz="1200">
                          <a:solidFill>
                            <a:srgbClr val="1C2230"/>
                          </a:solidFill>
                          <a:latin typeface="Yu Gothic"/>
                        </a:defRPr>
                      </a:pPr>
                      <a:r>
                        <a:t>規制の全体像・背景を報道</a:t>
                      </a:r>
                    </a:p>
                  </a:txBody>
                  <a:tcPr>
                    <a:solidFill>
                      <a:srgbClr val="FFFFFF"/>
                    </a:solidFill>
                  </a:tcPr>
                </a:tc>
              </a:tr>
              <a:tr h="502920">
                <a:tc>
                  <a:txBody>
                    <a:bodyPr/>
                    <a:lstStyle/>
                    <a:p>
                      <a:pPr>
                        <a:defRPr sz="1200">
                          <a:solidFill>
                            <a:srgbClr val="1C2230"/>
                          </a:solidFill>
                          <a:latin typeface="Yu Gothic"/>
                        </a:defRPr>
                      </a:pPr>
                      <a:r>
                        <a:t>The Japan Times / UPI</a:t>
                      </a:r>
                    </a:p>
                  </a:txBody>
                  <a:tcPr>
                    <a:solidFill>
                      <a:srgbClr val="F1F5FA"/>
                    </a:solidFill>
                  </a:tcPr>
                </a:tc>
                <a:tc>
                  <a:txBody>
                    <a:bodyPr/>
                    <a:lstStyle/>
                    <a:p>
                      <a:pPr>
                        <a:defRPr sz="1200">
                          <a:solidFill>
                            <a:srgbClr val="1C2230"/>
                          </a:solidFill>
                          <a:latin typeface="Yu Gothic"/>
                        </a:defRPr>
                      </a:pPr>
                      <a:r>
                        <a:t>規制の詳細を報道</a:t>
                      </a:r>
                    </a:p>
                  </a:txBody>
                  <a:tcPr>
                    <a:solidFill>
                      <a:srgbClr val="F1F5FA"/>
                    </a:solidFill>
                  </a:tcPr>
                </a:tc>
              </a:tr>
              <a:tr h="502920">
                <a:tc>
                  <a:txBody>
                    <a:bodyPr/>
                    <a:lstStyle/>
                    <a:p>
                      <a:pPr>
                        <a:defRPr sz="1200">
                          <a:solidFill>
                            <a:srgbClr val="1C2230"/>
                          </a:solidFill>
                          <a:latin typeface="Yu Gothic"/>
                        </a:defRPr>
                      </a:pPr>
                      <a:r>
                        <a:t>The Daily Caller / The AI Insider</a:t>
                      </a:r>
                    </a:p>
                  </a:txBody>
                  <a:tcPr>
                    <a:solidFill>
                      <a:srgbClr val="FFFFFF"/>
                    </a:solidFill>
                  </a:tcPr>
                </a:tc>
                <a:tc>
                  <a:txBody>
                    <a:bodyPr/>
                    <a:lstStyle/>
                    <a:p>
                      <a:pPr>
                        <a:defRPr sz="1200">
                          <a:solidFill>
                            <a:srgbClr val="1C2230"/>
                          </a:solidFill>
                          <a:latin typeface="Yu Gothic"/>
                        </a:defRPr>
                      </a:pPr>
                      <a:r>
                        <a:t>理由・背景を分析</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発表日・対象品目・規制の理由</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既存導入済みモデルが対象外であること</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規制の正式な発効日・対象品目の詳細リスト全体</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中国政府・中国メーカー側の公式な反応</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米FCCの決定</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2026年7月28日、輸入禁止を発表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中国製人型・四足ロボットが対象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規制前と規制後(概念)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規制前</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中国製ロボットが米国市場に自由に輸入されていた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中国が世界最大の供給国とされる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規制後(今回の措置)</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新規の中国製人型・四足ロボットの輸入が禁止</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既存導入済みモデルは対象外</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この話題の広がり方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国家安全保障上の判断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2026年7月27日</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FCCの規制発表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2026年7月28日</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着手日に話題化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本日、注目を集める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視聴者への問いかけ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国家安全保障とロボット・AI技術の輸入、どう向き合うべきだと思いますか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今後、他の国・分野にも同様の規制が広がると思いますか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数字で見る今回の規制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国家安全保障判断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2026年7月27日</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FCC規制発表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2026年7月28日</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対象</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新規の人型・四足ロボット</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先端技術をめぐる米中の競争が、また一歩進んだ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米FCC、中国製ロボットの新規輸入を禁止(2026年7月28日)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中国側の反応、米国内産業への影響に注目していきます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米FCC、中国製人型・四足ロボットの新規輸入を禁止(2026年7月28日)</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国家安全保障上のリスクを理由、既存導入済みモデルは対象外</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政治的中立性に配慮し、事実のみを客観的に紹介した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 Business・The Japan Times・UPI ほか(2026-07-28〜29)｜定期実行105本目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