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の『思考』は、もう隠せなかった。2026年8月10日、独立研究チームが、Anthropic・OpenAI・Google全社が採用する暗号化された思考過程を、別のAIに書き写させるだけで平文化できるという論文を発表しました。今日はこの発表の中身を、出典付きで整理して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まず結論です。Anthropic・OpenAI・Googleという主要AI3社全社が採用する暗号化reasoning blockが、下位モデルに書き写させるという手法で平文化できることが実証されました。ただし3社とも、責任ある開示の後、既に対策を実施しています。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今日はこの5つの流れでお伝えします。専門用語をかみ砕きながら、確定している事実と、確認できなかった部分をはっきり分けて整理します。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このテーマを扱う理由は3つです。着手日からわずか2日前という新しい話題であること、主要AI3社全社が対象という規模感、そして31万件超・367件・182件という具体的な数字があることです。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まず全体像です。ドイツのELLIS Institute Tübingen・Max Planck Instituteの独立研究チームが、Anthropic・OpenAI・Googleの暗号化reasoning blockを平文化できる手法を実証し、論文として発表しました。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報道され方を見ると、cybersecuritynews.comが3社すべてに関わる脆弱性として報じたほか、explainx.ai Blogが認証情報流出の具体的な件数を、AI Weeklyが過去の類似報告との関係を伝えています。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時系列にするとこうです。2026年5〜6月に同種の脆弱性が独立した研究者らにより報告され、今回8月10日に大規模な実証データを伴う論文が発表されました。責任ある開示の後、3社とも既に対策を実施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論文の概要を表にまとめました。ELLIS Institute TübingenとMax Planck Instituteの研究チームが、Anthropic・OpenAI・Googleを対象に、2026年8月10日にこの論文を発表しています。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『chain-of-thought』とは、AIが答えを出す前に行う思考の過程のことです。『reasoning block』は、その思考過程をAPIの応答として返す際のまとまりの単位を指します。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思考過程を暗号化する目的は、知的財産保護と情報漏洩防止の2点とされています。生の思考過程には、モデルの推論の癖が表れやすく、他社に模倣・学習されるリスクがあるためです。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蒸留』とは、強力なモデルの出力を使って別の小さなモデルを訓練する手法です。思考過程が読み取られると、競合他社が蒸留に悪用できてしまう懸念があり、暗号化はその対策としての意味合いも持ち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脆弱性の仕組みです。強力なモデルが出力した暗号化reasoning blockを、同一プロバイダーの下位モデルに渡し、『内容をそのまま書き写せ』と指示すると、下位モデルが平文で出力してしまうという仕組みです。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攻撃手法の流れを整理すると、上位モデルの暗号化reasoning blockを取得し、同一プロバイダーの下位モデルに渡し、内容をそのまま書き写すよう指示する、という3ステップです。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研究チームは、公開リポジトリから31万5,320件のreasoning blockを収集し、解読しました。公開されているエージェントログ等が対象になったとされています。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解読の結果、何が回収されたかを表にまとめました。31万5,320件のreasoning blockを解読した結果、367件の個人情報と182件の認証情報が回収されています。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認証情報182件の内訳のうち、出典記事に記載されているのはAPIキー62件・パスワード33件・個人メールアドレス30件です。この3項目の合計は182件と一致せず、差分の理由は本調査の範囲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回収された個人情報は367件でした。この数字も、公開されていたログを解読した結果として報告されています。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対象となったAI3社です。論文ではAnthropicの例としてClaude Opus 4.8とClaude Haiku 4.5の組み合わせが挙げられています。OpenAI・Googleについても同方式の暗号化reasoning blockが対象ですが、具体的なモデルの組み合わせの詳細は本調査の範囲では確認できていません。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なぜ下位モデルが読み解いてしまうのか。上位モデルほど蒸留対策・安全ガードレールが厳格に備わっているのに対し、下位モデルは同水準の対策がなく、指示に従いやすいと報じられています。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思考過程の扱いを比べるとこうなります。従来は生のchain-of-thoughtがそのまま返されていましたが、近年は暗号化reasoning block方式に移行していました。しかし今回、その暗号化が下位モデルへの書き写し指示によって平文化されることが実証されました。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重要なポイントです。研究チームは責任ある開示のプロセスを経て3社に報告し、3社とも既にサーバー側で対策を実施しています。論文に記載された元の手法は、現行のAPIでは再現できないとされています。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ここで事実・推測・不明を整理します。数字そのものは検証済みの事実ですが、その背景にある解釈の一部は推測であり、確認できていない点も複数あります。混同しないようにお伝えします。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確認できなかったことを4点、一覧にしました。数字を作らず、正直に不明として扱っています。特に対策の技術的詳細や、実際に悪用された事例の有無は、本調査の範囲では確認できていません。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この発表が意味することを立場別に整理すると、開発者はreasoning blockに機微情報を含めない運用の再確認、セキュリティ担当者は公開ログに認証情報を残さない運用の見直し、一般の読者は過度に不安がらず動向を見ていくこと、それぞれに示唆があります。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この発表から確認すべきことです。自社が利用するAI APIの提供元が対策済みであることの確認、公開ログに認証情報を残していないかの見直し、そして今後の続報の継続的な確認、この3点を意識することを勧めます。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本テーマはAnthropic社を含む3社に関するテーマです。本シリーズ自体がClaude Codeで制作・運用されている点を踏まえ、特定企業を過度に批判・擁護せず、3社とも同様の対応である事実を公平に扱う構成にしています。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脆弱性は、実は今回が初めての報告ではありません。2026年5〜6月にも独立した研究者らが同種の脆弱性を報告していました。今回の論文は、それを31万件超という大規模な実証データで正式に定量化したもので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ここまでの数字をカードで振り返ります。対象企業3社、解読したreasoning block31万5,320件、回収されたPII367件、回収された認証情報182件。この4つが今回の発表の骨格です。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本編で使った主な出典を一覧にしました。詳細はresearch.mdをご確認ください。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本編は以上です。今回は、Anthropic・OpenAI・Google全社の暗号化reasoning blockが、下位モデルに書き写させる手法で平文化できるという論文の発表をお伝えしました。3社とも既に対策済みであることを踏まえ、事実関係の整理に留めています。次回もまた出典付きでお届けします。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AIの『思考』は、もう隠せなかった。</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DCE6F5"/>
                </a:solidFill>
                <a:latin typeface="Yu Gothic"/>
              </a:rPr>
              <a:t>Anthropic・OpenAI・Google全社の暗号化reasoning blockが、別のAIに『書き写せ』と指示するだけで平文化できた——2026年8月10日発表の論文を出典付きで整理する</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A9C0D8"/>
                </a:solidFill>
                <a:latin typeface="Yu Gothic"/>
              </a:rPr>
              <a:t>出典: arXiv:2608.09867 ほか(2026-08-10)。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6F5"/>
                </a:solidFill>
                <a:latin typeface="Yu Gothic"/>
              </a:rPr>
              <a:t>結論を先に</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7B4FFF"/>
                </a:solidFill>
                <a:latin typeface="Yu Gothic"/>
              </a:rPr>
              <a:t>AI3社全社</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Anthropic・OpenAI・Googleの暗号化reasoning blockが、同一プロバイダーの下位モデルに書き写させる手法で平文化できることが実証された。ただし3社とも既に対策済み</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0D8"/>
                </a:solidFill>
                <a:latin typeface="Yu Gothic"/>
              </a:rPr>
              <a:t>出典: arXiv:2608.09867(2026-08-10)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DCE6F5"/>
                </a:solidFill>
                <a:latin typeface="Yu Gothic"/>
              </a:rPr>
              <a:t>何が起きたのか・なぜ今話題なのか</a:t>
            </a:r>
          </a:p>
        </p:txBody>
      </p:sp>
      <p:sp>
        <p:nvSpPr>
          <p:cNvPr id="7" name="Oval 6"/>
          <p:cNvSpPr/>
          <p:nvPr/>
        </p:nvSpPr>
        <p:spPr>
          <a:xfrm>
            <a:off x="548640" y="2697480"/>
            <a:ext cx="548640" cy="5486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DCE6F5"/>
                </a:solidFill>
                <a:latin typeface="Yu Gothic"/>
              </a:rPr>
              <a:t>基礎知識(reasoning block・chain-of-thought・蒸留とは)</a:t>
            </a:r>
          </a:p>
        </p:txBody>
      </p:sp>
      <p:sp>
        <p:nvSpPr>
          <p:cNvPr id="9" name="Oval 8"/>
          <p:cNvSpPr/>
          <p:nvPr/>
        </p:nvSpPr>
        <p:spPr>
          <a:xfrm>
            <a:off x="548640" y="3474720"/>
            <a:ext cx="548640" cy="5486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DCE6F5"/>
                </a:solidFill>
                <a:latin typeface="Yu Gothic"/>
              </a:rPr>
              <a:t>脆弱性の仕組みを数字で深掘り</a:t>
            </a:r>
          </a:p>
        </p:txBody>
      </p:sp>
      <p:sp>
        <p:nvSpPr>
          <p:cNvPr id="11" name="Oval 10"/>
          <p:cNvSpPr/>
          <p:nvPr/>
        </p:nvSpPr>
        <p:spPr>
          <a:xfrm>
            <a:off x="548640" y="4251960"/>
            <a:ext cx="548640" cy="5486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DCE6F5"/>
                </a:solidFill>
                <a:latin typeface="Yu Gothic"/>
              </a:rPr>
              <a:t>3社の対応(既に対策済みであること)</a:t>
            </a:r>
          </a:p>
        </p:txBody>
      </p:sp>
      <p:sp>
        <p:nvSpPr>
          <p:cNvPr id="13" name="Oval 12"/>
          <p:cNvSpPr/>
          <p:nvPr/>
        </p:nvSpPr>
        <p:spPr>
          <a:xfrm>
            <a:off x="548640" y="5029200"/>
            <a:ext cx="548640" cy="5486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DCE6F5"/>
                </a:solidFill>
                <a:latin typeface="Yu Gothic"/>
              </a:rPr>
              <a:t>事実・推測・不明の整理と、確認できなかったこと</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本テーマを取り上げる理由です。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2026年8月10日発表で、着手日から2日前という新しい話題である</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Anthropic・OpenAI・Google全社が対象という規模感が具体的なフックになる</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31万件超の解読・367件のPII・182件の認証情報という具体的な数字がある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arXiv:2608.09867(2026-08-10)</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arXiv:2608.09867ほか(2026-08-10発表)｜175本目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何が起きたのか(概念図)</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B3A5C"/>
                </a:solidFill>
                <a:latin typeface="Yu Gothic"/>
              </a:rPr>
              <a:t>AI3社</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A6B80"/>
                </a:solidFill>
                <a:latin typeface="Yu Gothic"/>
              </a:rPr>
              <a:t>Anthropic・OpenAI・Googleが暗号化reasoning blockを採用</a:t>
            </a:r>
          </a:p>
        </p:txBody>
      </p:sp>
      <p:sp>
        <p:nvSpPr>
          <p:cNvPr id="10" name="Right Arrow 9"/>
          <p:cNvSpPr/>
          <p:nvPr/>
        </p:nvSpPr>
        <p:spPr>
          <a:xfrm>
            <a:off x="4157319" y="3108959"/>
            <a:ext cx="676656" cy="365760"/>
          </a:xfrm>
          <a:prstGeom prst="rightArrow">
            <a:avLst/>
          </a:prstGeom>
          <a:solidFill>
            <a:srgbClr val="7B4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B3A5C"/>
                </a:solidFill>
                <a:latin typeface="Yu Gothic"/>
              </a:rPr>
              <a:t>独立研究チーム</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A6B80"/>
                </a:solidFill>
                <a:latin typeface="Yu Gothic"/>
              </a:rPr>
              <a:t>ELLIS Institute Tübingen・Max Planck Institute</a:t>
            </a:r>
          </a:p>
        </p:txBody>
      </p:sp>
      <p:sp>
        <p:nvSpPr>
          <p:cNvPr id="15" name="Right Arrow 14"/>
          <p:cNvSpPr/>
          <p:nvPr/>
        </p:nvSpPr>
        <p:spPr>
          <a:xfrm>
            <a:off x="7357719" y="3108959"/>
            <a:ext cx="676656" cy="365760"/>
          </a:xfrm>
          <a:prstGeom prst="rightArrow">
            <a:avLst/>
          </a:prstGeom>
          <a:solidFill>
            <a:srgbClr val="7B4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B3A5C"/>
                </a:solidFill>
                <a:latin typeface="Yu Gothic"/>
              </a:rPr>
              <a:t>平文化を実証</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A6B80"/>
                </a:solidFill>
                <a:latin typeface="Yu Gothic"/>
              </a:rPr>
              <a:t>論文arXiv:2608.09867で手法を公表(2026-08-10)</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A6B80"/>
                </a:solidFill>
                <a:latin typeface="Yu Gothic"/>
              </a:rPr>
              <a:t>独立研究チームが、AI3社の暗号化reasoning blockを平文化できる手法を実証し、論文として発表した</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arXiv:2608.09867ほか(2026-08-10発表)｜175本目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報道され方</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複数のメディア・情報源が同時期に取り上げています。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cybersecuritynews.comが3社すべてに関わる脆弱性として報道</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explainx.ai Blogが認証情報流出の具体的な件数を報道</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AI Weeklyが過去の類似報告との関係を含めて報道</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各社(2026-08-10前後)</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arXiv:2608.09867ほか(2026-08-10発表)｜175本目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時系列</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1B3A5C"/>
                </a:solidFill>
                <a:latin typeface="Yu Gothic"/>
              </a:rPr>
              <a:t>2026年5〜6月</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A6B80"/>
                </a:solidFill>
                <a:latin typeface="Yu Gothic"/>
              </a:rPr>
              <a:t>同種の脆弱性(暗号化reasoning blockの再利用可能性)が独立研究者らにより報告される</a:t>
            </a:r>
          </a:p>
        </p:txBody>
      </p:sp>
      <p:sp>
        <p:nvSpPr>
          <p:cNvPr id="11" name="Chevron 10"/>
          <p:cNvSpPr/>
          <p:nvPr/>
        </p:nvSpPr>
        <p:spPr>
          <a:xfrm>
            <a:off x="4038295" y="3200400"/>
            <a:ext cx="234086" cy="365760"/>
          </a:xfrm>
          <a:prstGeom prst="chevron">
            <a:avLst/>
          </a:prstGeom>
          <a:solidFill>
            <a:srgbClr val="7B4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1B3A5C"/>
                </a:solidFill>
                <a:latin typeface="Yu Gothic"/>
              </a:rPr>
              <a:t>2026年8月10日</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A6B80"/>
                </a:solidFill>
                <a:latin typeface="Yu Gothic"/>
              </a:rPr>
              <a:t>大規模な実証データを伴う論文(arXiv:2608.09867)が発表される</a:t>
            </a:r>
          </a:p>
        </p:txBody>
      </p:sp>
      <p:sp>
        <p:nvSpPr>
          <p:cNvPr id="17" name="Chevron 16"/>
          <p:cNvSpPr/>
          <p:nvPr/>
        </p:nvSpPr>
        <p:spPr>
          <a:xfrm>
            <a:off x="7919313" y="3200400"/>
            <a:ext cx="234086" cy="365760"/>
          </a:xfrm>
          <a:prstGeom prst="chevron">
            <a:avLst/>
          </a:prstGeom>
          <a:solidFill>
            <a:srgbClr val="7B4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1B3A5C"/>
                </a:solidFill>
                <a:latin typeface="Yu Gothic"/>
              </a:rPr>
              <a:t>責任ある開示後</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A6B80"/>
                </a:solidFill>
                <a:latin typeface="Yu Gothic"/>
              </a:rPr>
              <a:t>Anthropic・OpenAI・Googleの3社とも既に対策を実施済み</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arXiv:2608.09867ほか(2026-08-10発表)｜175本目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論文の概要</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B3A5C"/>
                    </a:solidFill>
                  </a:tcPr>
                </a:tc>
                <a:tc>
                  <a:txBody>
                    <a:bodyPr/>
                    <a:lstStyle/>
                    <a:p>
                      <a:pPr>
                        <a:defRPr sz="1300" b="1">
                          <a:solidFill>
                            <a:srgbClr val="FFFFFF"/>
                          </a:solidFill>
                          <a:latin typeface="Yu Gothic"/>
                        </a:defRPr>
                      </a:pPr>
                      <a:r>
                        <a:t>内容</a:t>
                      </a:r>
                    </a:p>
                  </a:txBody>
                  <a:tcPr>
                    <a:solidFill>
                      <a:srgbClr val="1B3A5C"/>
                    </a:solidFill>
                  </a:tcPr>
                </a:tc>
              </a:tr>
              <a:tr h="502920">
                <a:tc>
                  <a:txBody>
                    <a:bodyPr/>
                    <a:lstStyle/>
                    <a:p>
                      <a:pPr>
                        <a:defRPr sz="1200">
                          <a:solidFill>
                            <a:srgbClr val="16202E"/>
                          </a:solidFill>
                          <a:latin typeface="Yu Gothic"/>
                        </a:defRPr>
                      </a:pPr>
                      <a:r>
                        <a:t>論文タイトル</a:t>
                      </a:r>
                    </a:p>
                  </a:txBody>
                  <a:tcPr>
                    <a:solidFill>
                      <a:srgbClr val="FFFFFF"/>
                    </a:solidFill>
                  </a:tcPr>
                </a:tc>
                <a:tc>
                  <a:txBody>
                    <a:bodyPr/>
                    <a:lstStyle/>
                    <a:p>
                      <a:pPr>
                        <a:defRPr sz="1200">
                          <a:solidFill>
                            <a:srgbClr val="16202E"/>
                          </a:solidFill>
                          <a:latin typeface="Yu Gothic"/>
                        </a:defRPr>
                      </a:pPr>
                      <a:r>
                        <a:t>Stealing Reasoning Traces from Proprietary LLM APIs</a:t>
                      </a:r>
                    </a:p>
                  </a:txBody>
                  <a:tcPr>
                    <a:solidFill>
                      <a:srgbClr val="FFFFFF"/>
                    </a:solidFill>
                  </a:tcPr>
                </a:tc>
              </a:tr>
              <a:tr h="502920">
                <a:tc>
                  <a:txBody>
                    <a:bodyPr/>
                    <a:lstStyle/>
                    <a:p>
                      <a:pPr>
                        <a:defRPr sz="1200">
                          <a:solidFill>
                            <a:srgbClr val="16202E"/>
                          </a:solidFill>
                          <a:latin typeface="Yu Gothic"/>
                        </a:defRPr>
                      </a:pPr>
                      <a:r>
                        <a:t>発表日</a:t>
                      </a:r>
                    </a:p>
                  </a:txBody>
                  <a:tcPr>
                    <a:solidFill>
                      <a:srgbClr val="F2F6FA"/>
                    </a:solidFill>
                  </a:tcPr>
                </a:tc>
                <a:tc>
                  <a:txBody>
                    <a:bodyPr/>
                    <a:lstStyle/>
                    <a:p>
                      <a:pPr>
                        <a:defRPr sz="1200">
                          <a:solidFill>
                            <a:srgbClr val="16202E"/>
                          </a:solidFill>
                          <a:latin typeface="Yu Gothic"/>
                        </a:defRPr>
                      </a:pPr>
                      <a:r>
                        <a:t>2026年8月10日(arXiv:2608.09867)</a:t>
                      </a:r>
                    </a:p>
                  </a:txBody>
                  <a:tcPr>
                    <a:solidFill>
                      <a:srgbClr val="F2F6FA"/>
                    </a:solidFill>
                  </a:tcPr>
                </a:tc>
              </a:tr>
              <a:tr h="502920">
                <a:tc>
                  <a:txBody>
                    <a:bodyPr/>
                    <a:lstStyle/>
                    <a:p>
                      <a:pPr>
                        <a:defRPr sz="1200">
                          <a:solidFill>
                            <a:srgbClr val="16202E"/>
                          </a:solidFill>
                          <a:latin typeface="Yu Gothic"/>
                        </a:defRPr>
                      </a:pPr>
                      <a:r>
                        <a:t>所属機関</a:t>
                      </a:r>
                    </a:p>
                  </a:txBody>
                  <a:tcPr>
                    <a:solidFill>
                      <a:srgbClr val="FFFFFF"/>
                    </a:solidFill>
                  </a:tcPr>
                </a:tc>
                <a:tc>
                  <a:txBody>
                    <a:bodyPr/>
                    <a:lstStyle/>
                    <a:p>
                      <a:pPr>
                        <a:defRPr sz="1200">
                          <a:solidFill>
                            <a:srgbClr val="16202E"/>
                          </a:solidFill>
                          <a:latin typeface="Yu Gothic"/>
                        </a:defRPr>
                      </a:pPr>
                      <a:r>
                        <a:t>ELLIS Institute Tübingen / Max Planck Institute for Intelligent Systems</a:t>
                      </a:r>
                    </a:p>
                  </a:txBody>
                  <a:tcPr>
                    <a:solidFill>
                      <a:srgbClr val="FFFFFF"/>
                    </a:solidFill>
                  </a:tcPr>
                </a:tc>
              </a:tr>
              <a:tr h="502920">
                <a:tc>
                  <a:txBody>
                    <a:bodyPr/>
                    <a:lstStyle/>
                    <a:p>
                      <a:pPr>
                        <a:defRPr sz="1200">
                          <a:solidFill>
                            <a:srgbClr val="16202E"/>
                          </a:solidFill>
                          <a:latin typeface="Yu Gothic"/>
                        </a:defRPr>
                      </a:pPr>
                      <a:r>
                        <a:t>対象企業</a:t>
                      </a:r>
                    </a:p>
                  </a:txBody>
                  <a:tcPr>
                    <a:solidFill>
                      <a:srgbClr val="F2F6FA"/>
                    </a:solidFill>
                  </a:tcPr>
                </a:tc>
                <a:tc>
                  <a:txBody>
                    <a:bodyPr/>
                    <a:lstStyle/>
                    <a:p>
                      <a:pPr>
                        <a:defRPr sz="1200">
                          <a:solidFill>
                            <a:srgbClr val="16202E"/>
                          </a:solidFill>
                          <a:latin typeface="Yu Gothic"/>
                        </a:defRPr>
                      </a:pPr>
                      <a:r>
                        <a:t>Anthropic・OpenAI・Google</a:t>
                      </a:r>
                    </a:p>
                  </a:txBody>
                  <a:tcPr>
                    <a:solidFill>
                      <a:srgbClr val="F2F6FA"/>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arXiv:2608.09867(2026-08-10)</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arXiv:2608.09867ほか(2026-08-10発表)｜175本目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基礎知識:「reasoning block」「chain-of-thought」とは(初心者向け)</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専門用語を1つずつ解説します。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chain-of-thoughtは、AIが答えを出す前に行う『思考の過程』のこと</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reasoning blockは、その思考過程をAPIの応答として返す際のまとまりの単位</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近年、AI各社はこの思考過程をそのまま返さず、暗号化して返す方式に切り替えている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arXiv:2608.09867(2026-08-10)</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arXiv:2608.09867ほか(2026-08-10発表)｜175本目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基礎知識:なぜ思考過程を暗号化するのか</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暗号化の目的について整理します。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生の思考過程には、モデルの内部的な推論の癖・手法が表れやすいとされる</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他社が思考過程を模倣・学習に利用することを防ぐ知的財産保護が目的とされる</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思考過程に機微な情報が含まれる場合の情報漏洩防止も目的とされる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arXiv:2608.09867 / cybersecuritynews.com(2026-08-10)</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arXiv:2608.09867ほか(2026-08-10発表)｜175本目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基礎知識:「蒸留」とは</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もう1つの重要な用語です。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蒸留とは、強力なモデルの出力を使って、別の小さなモデルを訓練する手法</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思考過程が読み取られると、競合他社が蒸留に悪用できてしまう懸念がある</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暗号化reasoning blockは、この蒸留対策としての意味合いも持つとされる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arXiv:2608.09867 / cybersecuritynews.com(2026-08-10)</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arXiv:2608.09867ほか(2026-08-10発表)｜175本目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脆弱性の仕組み(概念図)</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B3A5C"/>
                </a:solidFill>
                <a:latin typeface="Yu Gothic"/>
              </a:rPr>
              <a:t>上位モデルの出力</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A6B80"/>
                </a:solidFill>
                <a:latin typeface="Yu Gothic"/>
              </a:rPr>
              <a:t>例: Claude Opus 4.8が暗号化reasoning blockを出力</a:t>
            </a:r>
          </a:p>
        </p:txBody>
      </p:sp>
      <p:sp>
        <p:nvSpPr>
          <p:cNvPr id="10" name="Right Arrow 9"/>
          <p:cNvSpPr/>
          <p:nvPr/>
        </p:nvSpPr>
        <p:spPr>
          <a:xfrm>
            <a:off x="4157319" y="3108959"/>
            <a:ext cx="676656" cy="365760"/>
          </a:xfrm>
          <a:prstGeom prst="rightArrow">
            <a:avLst/>
          </a:prstGeom>
          <a:solidFill>
            <a:srgbClr val="7B4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B3A5C"/>
                </a:solidFill>
                <a:latin typeface="Yu Gothic"/>
              </a:rPr>
              <a:t>下位モデルへ入力</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A6B80"/>
                </a:solidFill>
                <a:latin typeface="Yu Gothic"/>
              </a:rPr>
              <a:t>例: Claude Haiku 4.5に『そのまま書き写せ』と指示</a:t>
            </a:r>
          </a:p>
        </p:txBody>
      </p:sp>
      <p:sp>
        <p:nvSpPr>
          <p:cNvPr id="15" name="Right Arrow 14"/>
          <p:cNvSpPr/>
          <p:nvPr/>
        </p:nvSpPr>
        <p:spPr>
          <a:xfrm>
            <a:off x="7357719" y="3108959"/>
            <a:ext cx="676656" cy="365760"/>
          </a:xfrm>
          <a:prstGeom prst="rightArrow">
            <a:avLst/>
          </a:prstGeom>
          <a:solidFill>
            <a:srgbClr val="7B4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B3A5C"/>
                </a:solidFill>
                <a:latin typeface="Yu Gothic"/>
              </a:rPr>
              <a:t>平文で出力</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A6B80"/>
                </a:solidFill>
                <a:latin typeface="Yu Gothic"/>
              </a:rPr>
              <a:t>下位モデルが指示に従い、暗号化された思考過程を平文化</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A6B80"/>
                </a:solidFill>
                <a:latin typeface="Yu Gothic"/>
              </a:rPr>
              <a:t>同一プロバイダー内で、上位モデルの暗号化reasoning blockを下位モデルに渡し、書き写させる手法として報じられている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arXiv:2608.09867ほか(2026-08-10発表)｜175本目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攻撃手法の流れ</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1B3A5C"/>
                </a:solidFill>
                <a:latin typeface="Yu Gothic"/>
              </a:rPr>
              <a:t>暗号化ブロックを取得</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A6B80"/>
                </a:solidFill>
                <a:latin typeface="Yu Gothic"/>
              </a:rPr>
              <a:t>上位モデルのAPI応答から暗号化reasoning blockを取得する</a:t>
            </a:r>
          </a:p>
        </p:txBody>
      </p:sp>
      <p:sp>
        <p:nvSpPr>
          <p:cNvPr id="11" name="Chevron 10"/>
          <p:cNvSpPr/>
          <p:nvPr/>
        </p:nvSpPr>
        <p:spPr>
          <a:xfrm>
            <a:off x="4038295" y="3200400"/>
            <a:ext cx="234086" cy="365760"/>
          </a:xfrm>
          <a:prstGeom prst="chevron">
            <a:avLst/>
          </a:prstGeom>
          <a:solidFill>
            <a:srgbClr val="7B4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1B3A5C"/>
                </a:solidFill>
                <a:latin typeface="Yu Gothic"/>
              </a:rPr>
              <a:t>下位モデルに渡す</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A6B80"/>
                </a:solidFill>
                <a:latin typeface="Yu Gothic"/>
              </a:rPr>
              <a:t>同一プロバイダーの下位モデルへの入力として渡す</a:t>
            </a:r>
          </a:p>
        </p:txBody>
      </p:sp>
      <p:sp>
        <p:nvSpPr>
          <p:cNvPr id="17" name="Chevron 16"/>
          <p:cNvSpPr/>
          <p:nvPr/>
        </p:nvSpPr>
        <p:spPr>
          <a:xfrm>
            <a:off x="7919313" y="3200400"/>
            <a:ext cx="234086" cy="365760"/>
          </a:xfrm>
          <a:prstGeom prst="chevron">
            <a:avLst/>
          </a:prstGeom>
          <a:solidFill>
            <a:srgbClr val="7B4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1B3A5C"/>
                </a:solidFill>
                <a:latin typeface="Yu Gothic"/>
              </a:rPr>
              <a:t>書き写しを指示</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A6B80"/>
                </a:solidFill>
                <a:latin typeface="Yu Gothic"/>
              </a:rPr>
              <a:t>『内容をそのまま書き写せ』と指示し、平文出力を得る</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arXiv:2608.09867ほか(2026-08-10発表)｜175本目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6F5"/>
                </a:solidFill>
                <a:latin typeface="Yu Gothic"/>
              </a:rPr>
              <a:t>収集・解読した件数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7B4FFF"/>
                </a:solidFill>
                <a:latin typeface="Yu Gothic"/>
              </a:rPr>
              <a:t>31万5,320件</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研究チームが公開リポジトリ(公開されているエージェントログ等)から収集・解読したreasoning blockの件数</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0D8"/>
                </a:solidFill>
                <a:latin typeface="Yu Gothic"/>
              </a:rPr>
              <a:t>出典: arXiv:2608.09867(2026-08-10)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解読の結果、何が回収されたか</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B3A5C"/>
                    </a:solidFill>
                  </a:tcPr>
                </a:tc>
                <a:tc>
                  <a:txBody>
                    <a:bodyPr/>
                    <a:lstStyle/>
                    <a:p>
                      <a:pPr>
                        <a:defRPr sz="1300" b="1">
                          <a:solidFill>
                            <a:srgbClr val="FFFFFF"/>
                          </a:solidFill>
                          <a:latin typeface="Yu Gothic"/>
                        </a:defRPr>
                      </a:pPr>
                      <a:r>
                        <a:t>件数</a:t>
                      </a:r>
                    </a:p>
                  </a:txBody>
                  <a:tcPr>
                    <a:solidFill>
                      <a:srgbClr val="1B3A5C"/>
                    </a:solidFill>
                  </a:tcPr>
                </a:tc>
              </a:tr>
              <a:tr h="502920">
                <a:tc>
                  <a:txBody>
                    <a:bodyPr/>
                    <a:lstStyle/>
                    <a:p>
                      <a:pPr>
                        <a:defRPr sz="1200">
                          <a:solidFill>
                            <a:srgbClr val="16202E"/>
                          </a:solidFill>
                          <a:latin typeface="Yu Gothic"/>
                        </a:defRPr>
                      </a:pPr>
                      <a:r>
                        <a:t>収集・解読したreasoning block</a:t>
                      </a:r>
                    </a:p>
                  </a:txBody>
                  <a:tcPr>
                    <a:solidFill>
                      <a:srgbClr val="FFFFFF"/>
                    </a:solidFill>
                  </a:tcPr>
                </a:tc>
                <a:tc>
                  <a:txBody>
                    <a:bodyPr/>
                    <a:lstStyle/>
                    <a:p>
                      <a:pPr>
                        <a:defRPr sz="1200">
                          <a:solidFill>
                            <a:srgbClr val="16202E"/>
                          </a:solidFill>
                          <a:latin typeface="Yu Gothic"/>
                        </a:defRPr>
                      </a:pPr>
                      <a:r>
                        <a:t>31万5,320件</a:t>
                      </a:r>
                    </a:p>
                  </a:txBody>
                  <a:tcPr>
                    <a:solidFill>
                      <a:srgbClr val="FFFFFF"/>
                    </a:solidFill>
                  </a:tcPr>
                </a:tc>
              </a:tr>
              <a:tr h="502920">
                <a:tc>
                  <a:txBody>
                    <a:bodyPr/>
                    <a:lstStyle/>
                    <a:p>
                      <a:pPr>
                        <a:defRPr sz="1200">
                          <a:solidFill>
                            <a:srgbClr val="16202E"/>
                          </a:solidFill>
                          <a:latin typeface="Yu Gothic"/>
                        </a:defRPr>
                      </a:pPr>
                      <a:r>
                        <a:t>回収された個人情報(PII)</a:t>
                      </a:r>
                    </a:p>
                  </a:txBody>
                  <a:tcPr>
                    <a:solidFill>
                      <a:srgbClr val="F2F6FA"/>
                    </a:solidFill>
                  </a:tcPr>
                </a:tc>
                <a:tc>
                  <a:txBody>
                    <a:bodyPr/>
                    <a:lstStyle/>
                    <a:p>
                      <a:pPr>
                        <a:defRPr sz="1200">
                          <a:solidFill>
                            <a:srgbClr val="16202E"/>
                          </a:solidFill>
                          <a:latin typeface="Yu Gothic"/>
                        </a:defRPr>
                      </a:pPr>
                      <a:r>
                        <a:t>367件</a:t>
                      </a:r>
                    </a:p>
                  </a:txBody>
                  <a:tcPr>
                    <a:solidFill>
                      <a:srgbClr val="F2F6FA"/>
                    </a:solidFill>
                  </a:tcPr>
                </a:tc>
              </a:tr>
              <a:tr h="502920">
                <a:tc>
                  <a:txBody>
                    <a:bodyPr/>
                    <a:lstStyle/>
                    <a:p>
                      <a:pPr>
                        <a:defRPr sz="1200">
                          <a:solidFill>
                            <a:srgbClr val="16202E"/>
                          </a:solidFill>
                          <a:latin typeface="Yu Gothic"/>
                        </a:defRPr>
                      </a:pPr>
                      <a:r>
                        <a:t>回収された認証情報</a:t>
                      </a:r>
                    </a:p>
                  </a:txBody>
                  <a:tcPr>
                    <a:solidFill>
                      <a:srgbClr val="FFFFFF"/>
                    </a:solidFill>
                  </a:tcPr>
                </a:tc>
                <a:tc>
                  <a:txBody>
                    <a:bodyPr/>
                    <a:lstStyle/>
                    <a:p>
                      <a:pPr>
                        <a:defRPr sz="1200">
                          <a:solidFill>
                            <a:srgbClr val="16202E"/>
                          </a:solidFill>
                          <a:latin typeface="Yu Gothic"/>
                        </a:defRPr>
                      </a:pPr>
                      <a:r>
                        <a:t>182件</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arXiv:2608.09867(2026-08-10)</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arXiv:2608.09867ほか(2026-08-10発表)｜175本目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認証情報182件の内訳(出典記載分)</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7B4FFF"/>
                </a:solidFill>
                <a:latin typeface="Yu Gothic"/>
              </a:rPr>
              <a:t>62件</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B3A5C"/>
                </a:solidFill>
                <a:latin typeface="Yu Gothic"/>
              </a:rPr>
              <a:t>APIキー</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出典記事に記載された内訳の1つ</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7B4FFF"/>
                </a:solidFill>
                <a:latin typeface="Yu Gothic"/>
              </a:rPr>
              <a:t>33件</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B3A5C"/>
                </a:solidFill>
                <a:latin typeface="Yu Gothic"/>
              </a:rPr>
              <a:t>パスワード</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出典記事に記載された内訳の1つ</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7B4FFF"/>
                </a:solidFill>
                <a:latin typeface="Yu Gothic"/>
              </a:rPr>
              <a:t>30件</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B3A5C"/>
                </a:solidFill>
                <a:latin typeface="Yu Gothic"/>
              </a:rPr>
              <a:t>個人メールアドレス</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出典記事に記載された内訳の1つ</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arXiv:2608.09867ほか(2026-08-10発表)｜175本目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6F5"/>
                </a:solidFill>
                <a:latin typeface="Yu Gothic"/>
              </a:rPr>
              <a:t>回収された個人情報(PII)</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7B4FFF"/>
                </a:solidFill>
                <a:latin typeface="Yu Gothic"/>
              </a:rPr>
              <a:t>367件</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公開ログの解読を通じて回収された個人情報の件数</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0D8"/>
                </a:solidFill>
                <a:latin typeface="Yu Gothic"/>
              </a:rPr>
              <a:t>出典: arXiv:2608.09867(2026-08-10)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対象となったAI3社と、例に挙げられたモデル</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企業</a:t>
                      </a:r>
                    </a:p>
                  </a:txBody>
                  <a:tcPr>
                    <a:solidFill>
                      <a:srgbClr val="1B3A5C"/>
                    </a:solidFill>
                  </a:tcPr>
                </a:tc>
                <a:tc>
                  <a:txBody>
                    <a:bodyPr/>
                    <a:lstStyle/>
                    <a:p>
                      <a:pPr>
                        <a:defRPr sz="1300" b="1">
                          <a:solidFill>
                            <a:srgbClr val="FFFFFF"/>
                          </a:solidFill>
                          <a:latin typeface="Yu Gothic"/>
                        </a:defRPr>
                      </a:pPr>
                      <a:r>
                        <a:t>論文で例に挙げられたモデル</a:t>
                      </a:r>
                    </a:p>
                  </a:txBody>
                  <a:tcPr>
                    <a:solidFill>
                      <a:srgbClr val="1B3A5C"/>
                    </a:solidFill>
                  </a:tcPr>
                </a:tc>
              </a:tr>
              <a:tr h="502920">
                <a:tc>
                  <a:txBody>
                    <a:bodyPr/>
                    <a:lstStyle/>
                    <a:p>
                      <a:pPr>
                        <a:defRPr sz="1200">
                          <a:solidFill>
                            <a:srgbClr val="16202E"/>
                          </a:solidFill>
                          <a:latin typeface="Yu Gothic"/>
                        </a:defRPr>
                      </a:pPr>
                      <a:r>
                        <a:t>Anthropic</a:t>
                      </a:r>
                    </a:p>
                  </a:txBody>
                  <a:tcPr>
                    <a:solidFill>
                      <a:srgbClr val="FFFFFF"/>
                    </a:solidFill>
                  </a:tcPr>
                </a:tc>
                <a:tc>
                  <a:txBody>
                    <a:bodyPr/>
                    <a:lstStyle/>
                    <a:p>
                      <a:pPr>
                        <a:defRPr sz="1200">
                          <a:solidFill>
                            <a:srgbClr val="16202E"/>
                          </a:solidFill>
                          <a:latin typeface="Yu Gothic"/>
                        </a:defRPr>
                      </a:pPr>
                      <a:r>
                        <a:t>上位: Claude Opus 4.8 / 下位: Claude Haiku 4.5</a:t>
                      </a:r>
                    </a:p>
                  </a:txBody>
                  <a:tcPr>
                    <a:solidFill>
                      <a:srgbClr val="FFFFFF"/>
                    </a:solidFill>
                  </a:tcPr>
                </a:tc>
              </a:tr>
              <a:tr h="502920">
                <a:tc>
                  <a:txBody>
                    <a:bodyPr/>
                    <a:lstStyle/>
                    <a:p>
                      <a:pPr>
                        <a:defRPr sz="1200">
                          <a:solidFill>
                            <a:srgbClr val="16202E"/>
                          </a:solidFill>
                          <a:latin typeface="Yu Gothic"/>
                        </a:defRPr>
                      </a:pPr>
                      <a:r>
                        <a:t>OpenAI</a:t>
                      </a:r>
                    </a:p>
                  </a:txBody>
                  <a:tcPr>
                    <a:solidFill>
                      <a:srgbClr val="F2F6FA"/>
                    </a:solidFill>
                  </a:tcPr>
                </a:tc>
                <a:tc>
                  <a:txBody>
                    <a:bodyPr/>
                    <a:lstStyle/>
                    <a:p>
                      <a:pPr>
                        <a:defRPr sz="1200">
                          <a:solidFill>
                            <a:srgbClr val="16202E"/>
                          </a:solidFill>
                          <a:latin typeface="Yu Gothic"/>
                        </a:defRPr>
                      </a:pPr>
                      <a:r>
                        <a:t>暗号化reasoning block方式を採用(モデル対応は本調査の範囲では詳細不明)</a:t>
                      </a:r>
                    </a:p>
                  </a:txBody>
                  <a:tcPr>
                    <a:solidFill>
                      <a:srgbClr val="F2F6FA"/>
                    </a:solidFill>
                  </a:tcPr>
                </a:tc>
              </a:tr>
              <a:tr h="502920">
                <a:tc>
                  <a:txBody>
                    <a:bodyPr/>
                    <a:lstStyle/>
                    <a:p>
                      <a:pPr>
                        <a:defRPr sz="1200">
                          <a:solidFill>
                            <a:srgbClr val="16202E"/>
                          </a:solidFill>
                          <a:latin typeface="Yu Gothic"/>
                        </a:defRPr>
                      </a:pPr>
                      <a:r>
                        <a:t>Google</a:t>
                      </a:r>
                    </a:p>
                  </a:txBody>
                  <a:tcPr>
                    <a:solidFill>
                      <a:srgbClr val="FFFFFF"/>
                    </a:solidFill>
                  </a:tcPr>
                </a:tc>
                <a:tc>
                  <a:txBody>
                    <a:bodyPr/>
                    <a:lstStyle/>
                    <a:p>
                      <a:pPr>
                        <a:defRPr sz="1200">
                          <a:solidFill>
                            <a:srgbClr val="16202E"/>
                          </a:solidFill>
                          <a:latin typeface="Yu Gothic"/>
                        </a:defRPr>
                      </a:pPr>
                      <a:r>
                        <a:t>暗号化reasoning block方式を採用(モデル対応は本調査の範囲では詳細不明)</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arXiv:2608.09867(2026-08-10)</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arXiv:2608.09867ほか(2026-08-10発表)｜175本目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なぜ下位モデルの方が読み解いてしまうのか</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上位モデルと下位モデルの違いです。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上位モデルほど、蒸留対策・安全ガードレールが厳格に備わっているとされる</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下位モデルは同水準の対策が備わっておらず、指示に従いやすいと報じられている</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同一プロバイダー内でも、モデルの規模によって耐性に差があることを示す事例とされる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arXiv:2608.09867 / cybersecuritynews.com(2026-08-10)</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arXiv:2608.09867ほか(2026-08-10発表)｜175本目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従来のchain-of-thought / 暗号化reasoning block方式</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B3A5C"/>
                </a:solidFill>
                <a:latin typeface="Yu Gothic"/>
              </a:rPr>
              <a:t>従来:生のchain-of-thought</a:t>
            </a:r>
          </a:p>
        </p:txBody>
      </p:sp>
      <p:sp>
        <p:nvSpPr>
          <p:cNvPr id="9" name="Oval 8"/>
          <p:cNvSpPr/>
          <p:nvPr/>
        </p:nvSpPr>
        <p:spPr>
          <a:xfrm>
            <a:off x="777240" y="253288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思考過程がそのままAPI応答に含まれる</a:t>
            </a:r>
          </a:p>
        </p:txBody>
      </p:sp>
      <p:sp>
        <p:nvSpPr>
          <p:cNvPr id="11" name="Oval 10"/>
          <p:cNvSpPr/>
          <p:nvPr/>
        </p:nvSpPr>
        <p:spPr>
          <a:xfrm>
            <a:off x="777240" y="308152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他社が模倣・蒸留に利用しやすいとされる</a:t>
            </a:r>
          </a:p>
        </p:txBody>
      </p:sp>
      <p:sp>
        <p:nvSpPr>
          <p:cNvPr id="13" name="Oval 12"/>
          <p:cNvSpPr/>
          <p:nvPr/>
        </p:nvSpPr>
        <p:spPr>
          <a:xfrm>
            <a:off x="777240" y="363016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機微な情報が含まれるリスクもある</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B3A5C"/>
                </a:solidFill>
                <a:latin typeface="Yu Gothic"/>
              </a:rPr>
              <a:t>近年:暗号化reasoning block</a:t>
            </a:r>
          </a:p>
        </p:txBody>
      </p:sp>
      <p:sp>
        <p:nvSpPr>
          <p:cNvPr id="18" name="Oval 17"/>
          <p:cNvSpPr/>
          <p:nvPr/>
        </p:nvSpPr>
        <p:spPr>
          <a:xfrm>
            <a:off x="6598767" y="253288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思考過程を暗号化して返す方式に移行</a:t>
            </a:r>
          </a:p>
        </p:txBody>
      </p:sp>
      <p:sp>
        <p:nvSpPr>
          <p:cNvPr id="20" name="Oval 19"/>
          <p:cNvSpPr/>
          <p:nvPr/>
        </p:nvSpPr>
        <p:spPr>
          <a:xfrm>
            <a:off x="6598767" y="308152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知的財産保護・情報漏洩防止が目的とされていた</a:t>
            </a:r>
          </a:p>
        </p:txBody>
      </p:sp>
      <p:sp>
        <p:nvSpPr>
          <p:cNvPr id="22" name="Oval 21"/>
          <p:cNvSpPr/>
          <p:nvPr/>
        </p:nvSpPr>
        <p:spPr>
          <a:xfrm>
            <a:off x="6598767" y="363016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しかし下位モデルへの書き写し指示で平文化された</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arXiv:2608.09867ほか(2026-08-10発表)｜175本目</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3社とも既に対策済み(不安を煽らないための整理)</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重要なポイントとして、現在は対応済みです。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責任ある開示(responsible disclosure)を経て研究チームから3社へ報告された</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Anthropic・OpenAI・Googleの3社とも既にサーバー側で対策を実施している</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論文記載の元の手法(クロスモデルでの再現実験)は現行のAPIでは再現できないとされる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arXiv:2608.09867(2026-08-10)</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arXiv:2608.09867ほか(2026-08-10発表)｜175本目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事実・推測・不明の区別</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分類</a:t>
                      </a:r>
                    </a:p>
                  </a:txBody>
                  <a:tcPr>
                    <a:solidFill>
                      <a:srgbClr val="1B3A5C"/>
                    </a:solidFill>
                  </a:tcPr>
                </a:tc>
                <a:tc>
                  <a:txBody>
                    <a:bodyPr/>
                    <a:lstStyle/>
                    <a:p>
                      <a:pPr>
                        <a:defRPr sz="1300" b="1">
                          <a:solidFill>
                            <a:srgbClr val="FFFFFF"/>
                          </a:solidFill>
                          <a:latin typeface="Yu Gothic"/>
                        </a:defRPr>
                      </a:pPr>
                      <a:r>
                        <a:t>内容</a:t>
                      </a:r>
                    </a:p>
                  </a:txBody>
                  <a:tcPr>
                    <a:solidFill>
                      <a:srgbClr val="1B3A5C"/>
                    </a:solidFill>
                  </a:tcPr>
                </a:tc>
              </a:tr>
              <a:tr h="502920">
                <a:tc>
                  <a:txBody>
                    <a:bodyPr/>
                    <a:lstStyle/>
                    <a:p>
                      <a:pPr>
                        <a:defRPr sz="1200">
                          <a:solidFill>
                            <a:srgbClr val="16202E"/>
                          </a:solidFill>
                          <a:latin typeface="Yu Gothic"/>
                        </a:defRPr>
                      </a:pPr>
                      <a:r>
                        <a:t>検証済み事実</a:t>
                      </a:r>
                    </a:p>
                  </a:txBody>
                  <a:tcPr>
                    <a:solidFill>
                      <a:srgbClr val="FFFFFF"/>
                    </a:solidFill>
                  </a:tcPr>
                </a:tc>
                <a:tc>
                  <a:txBody>
                    <a:bodyPr/>
                    <a:lstStyle/>
                    <a:p>
                      <a:pPr>
                        <a:defRPr sz="1200">
                          <a:solidFill>
                            <a:srgbClr val="16202E"/>
                          </a:solidFill>
                          <a:latin typeface="Yu Gothic"/>
                        </a:defRPr>
                      </a:pPr>
                      <a:r>
                        <a:t>31万5,320件の解読、367件のPII、182件の認証情報(内訳一部)、3社とも対策済みであること</a:t>
                      </a:r>
                    </a:p>
                  </a:txBody>
                  <a:tcPr>
                    <a:solidFill>
                      <a:srgbClr val="FFFFFF"/>
                    </a:solidFill>
                  </a:tcPr>
                </a:tc>
              </a:tr>
              <a:tr h="502920">
                <a:tc>
                  <a:txBody>
                    <a:bodyPr/>
                    <a:lstStyle/>
                    <a:p>
                      <a:pPr>
                        <a:defRPr sz="1200">
                          <a:solidFill>
                            <a:srgbClr val="16202E"/>
                          </a:solidFill>
                          <a:latin typeface="Yu Gothic"/>
                        </a:defRPr>
                      </a:pPr>
                      <a:r>
                        <a:t>合理的推測</a:t>
                      </a:r>
                    </a:p>
                  </a:txBody>
                  <a:tcPr>
                    <a:solidFill>
                      <a:srgbClr val="F2F6FA"/>
                    </a:solidFill>
                  </a:tcPr>
                </a:tc>
                <a:tc>
                  <a:txBody>
                    <a:bodyPr/>
                    <a:lstStyle/>
                    <a:p>
                      <a:pPr>
                        <a:defRPr sz="1200">
                          <a:solidFill>
                            <a:srgbClr val="16202E"/>
                          </a:solidFill>
                          <a:latin typeface="Yu Gothic"/>
                        </a:defRPr>
                      </a:pPr>
                      <a:r>
                        <a:t>下位モデルの蒸留対策が上位モデルより緩い可能性、対策の一般的な性質(公式な技術詳細は非公開)</a:t>
                      </a:r>
                    </a:p>
                  </a:txBody>
                  <a:tcPr>
                    <a:solidFill>
                      <a:srgbClr val="F2F6FA"/>
                    </a:solidFill>
                  </a:tcPr>
                </a:tc>
              </a:tr>
              <a:tr h="502920">
                <a:tc>
                  <a:txBody>
                    <a:bodyPr/>
                    <a:lstStyle/>
                    <a:p>
                      <a:pPr>
                        <a:defRPr sz="1200">
                          <a:solidFill>
                            <a:srgbClr val="16202E"/>
                          </a:solidFill>
                          <a:latin typeface="Yu Gothic"/>
                        </a:defRPr>
                      </a:pPr>
                      <a:r>
                        <a:t>不明</a:t>
                      </a:r>
                    </a:p>
                  </a:txBody>
                  <a:tcPr>
                    <a:solidFill>
                      <a:srgbClr val="FFFFFF"/>
                    </a:solidFill>
                  </a:tcPr>
                </a:tc>
                <a:tc>
                  <a:txBody>
                    <a:bodyPr/>
                    <a:lstStyle/>
                    <a:p>
                      <a:pPr>
                        <a:defRPr sz="1200">
                          <a:solidFill>
                            <a:srgbClr val="16202E"/>
                          </a:solidFill>
                          <a:latin typeface="Yu Gothic"/>
                        </a:defRPr>
                      </a:pPr>
                      <a:r>
                        <a:t>対策の技術的詳細、被害者の具体名、収集経路の詳細、実際の悪用事例の有無</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research.md参照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arXiv:2608.09867ほか(2026-08-10発表)｜175本目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確認できなかったこと(一覧)</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B3A5C"/>
                    </a:solidFill>
                  </a:tcPr>
                </a:tc>
                <a:tc>
                  <a:txBody>
                    <a:bodyPr/>
                    <a:lstStyle/>
                    <a:p>
                      <a:pPr>
                        <a:defRPr sz="1300" b="1">
                          <a:solidFill>
                            <a:srgbClr val="FFFFFF"/>
                          </a:solidFill>
                          <a:latin typeface="Yu Gothic"/>
                        </a:defRPr>
                      </a:pPr>
                      <a:r>
                        <a:t>状況</a:t>
                      </a:r>
                    </a:p>
                  </a:txBody>
                  <a:tcPr>
                    <a:solidFill>
                      <a:srgbClr val="1B3A5C"/>
                    </a:solidFill>
                  </a:tcPr>
                </a:tc>
              </a:tr>
              <a:tr h="502920">
                <a:tc>
                  <a:txBody>
                    <a:bodyPr/>
                    <a:lstStyle/>
                    <a:p>
                      <a:pPr>
                        <a:defRPr sz="1200">
                          <a:solidFill>
                            <a:srgbClr val="16202E"/>
                          </a:solidFill>
                          <a:latin typeface="Yu Gothic"/>
                        </a:defRPr>
                      </a:pPr>
                      <a:r>
                        <a:t>3社が実施した具体的な対策の技術的詳細</a:t>
                      </a:r>
                    </a:p>
                  </a:txBody>
                  <a:tcPr>
                    <a:solidFill>
                      <a:srgbClr val="FFFFFF"/>
                    </a:solidFill>
                  </a:tcPr>
                </a:tc>
                <a:tc>
                  <a:txBody>
                    <a:bodyPr/>
                    <a:lstStyle/>
                    <a:p>
                      <a:pPr>
                        <a:defRPr sz="1200">
                          <a:solidFill>
                            <a:srgbClr val="16202E"/>
                          </a:solidFill>
                          <a:latin typeface="Yu Gothic"/>
                        </a:defRPr>
                      </a:pPr>
                      <a:r>
                        <a:t>本調査の範囲では確認できていない</a:t>
                      </a:r>
                    </a:p>
                  </a:txBody>
                  <a:tcPr>
                    <a:solidFill>
                      <a:srgbClr val="FFFFFF"/>
                    </a:solidFill>
                  </a:tcPr>
                </a:tc>
              </a:tr>
              <a:tr h="502920">
                <a:tc>
                  <a:txBody>
                    <a:bodyPr/>
                    <a:lstStyle/>
                    <a:p>
                      <a:pPr>
                        <a:defRPr sz="1200">
                          <a:solidFill>
                            <a:srgbClr val="16202E"/>
                          </a:solidFill>
                          <a:latin typeface="Yu Gothic"/>
                        </a:defRPr>
                      </a:pPr>
                      <a:r>
                        <a:t>影響を受けた実際のユーザー・企業の具体名</a:t>
                      </a:r>
                    </a:p>
                  </a:txBody>
                  <a:tcPr>
                    <a:solidFill>
                      <a:srgbClr val="F2F6FA"/>
                    </a:solidFill>
                  </a:tcPr>
                </a:tc>
                <a:tc>
                  <a:txBody>
                    <a:bodyPr/>
                    <a:lstStyle/>
                    <a:p>
                      <a:pPr>
                        <a:defRPr sz="1200">
                          <a:solidFill>
                            <a:srgbClr val="16202E"/>
                          </a:solidFill>
                          <a:latin typeface="Yu Gothic"/>
                        </a:defRPr>
                      </a:pPr>
                      <a:r>
                        <a:t>公開ログのスクレイピングという性質上、特定の被害者は公表されていない</a:t>
                      </a:r>
                    </a:p>
                  </a:txBody>
                  <a:tcPr>
                    <a:solidFill>
                      <a:srgbClr val="F2F6FA"/>
                    </a:solidFill>
                  </a:tcPr>
                </a:tc>
              </a:tr>
              <a:tr h="502920">
                <a:tc>
                  <a:txBody>
                    <a:bodyPr/>
                    <a:lstStyle/>
                    <a:p>
                      <a:pPr>
                        <a:defRPr sz="1200">
                          <a:solidFill>
                            <a:srgbClr val="16202E"/>
                          </a:solidFill>
                          <a:latin typeface="Yu Gothic"/>
                        </a:defRPr>
                      </a:pPr>
                      <a:r>
                        <a:t>31万5,320件の収集経路(具体的なサービス・プラットフォーム)の詳細</a:t>
                      </a:r>
                    </a:p>
                  </a:txBody>
                  <a:tcPr>
                    <a:solidFill>
                      <a:srgbClr val="FFFFFF"/>
                    </a:solidFill>
                  </a:tcPr>
                </a:tc>
                <a:tc>
                  <a:txBody>
                    <a:bodyPr/>
                    <a:lstStyle/>
                    <a:p>
                      <a:pPr>
                        <a:defRPr sz="1200">
                          <a:solidFill>
                            <a:srgbClr val="16202E"/>
                          </a:solidFill>
                          <a:latin typeface="Yu Gothic"/>
                        </a:defRPr>
                      </a:pPr>
                      <a:r>
                        <a:t>本調査の範囲では確認できていない</a:t>
                      </a:r>
                    </a:p>
                  </a:txBody>
                  <a:tcPr>
                    <a:solidFill>
                      <a:srgbClr val="FFFFFF"/>
                    </a:solidFill>
                  </a:tcPr>
                </a:tc>
              </a:tr>
              <a:tr h="502920">
                <a:tc>
                  <a:txBody>
                    <a:bodyPr/>
                    <a:lstStyle/>
                    <a:p>
                      <a:pPr>
                        <a:defRPr sz="1200">
                          <a:solidFill>
                            <a:srgbClr val="16202E"/>
                          </a:solidFill>
                          <a:latin typeface="Yu Gothic"/>
                        </a:defRPr>
                      </a:pPr>
                      <a:r>
                        <a:t>responsible disclosure以前に第三者に悪用された事例の有無</a:t>
                      </a:r>
                    </a:p>
                  </a:txBody>
                  <a:tcPr>
                    <a:solidFill>
                      <a:srgbClr val="F2F6FA"/>
                    </a:solidFill>
                  </a:tcPr>
                </a:tc>
                <a:tc>
                  <a:txBody>
                    <a:bodyPr/>
                    <a:lstStyle/>
                    <a:p>
                      <a:pPr>
                        <a:defRPr sz="1200">
                          <a:solidFill>
                            <a:srgbClr val="16202E"/>
                          </a:solidFill>
                          <a:latin typeface="Yu Gothic"/>
                        </a:defRPr>
                      </a:pPr>
                      <a:r>
                        <a:t>本調査の範囲では確認できていない</a:t>
                      </a:r>
                    </a:p>
                  </a:txBody>
                  <a:tcPr>
                    <a:solidFill>
                      <a:srgbClr val="F2F6FA"/>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research.md参照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arXiv:2608.09867ほか(2026-08-10発表)｜175本目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この発表が意味すること(立場別)</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7B4FFF"/>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B3A5C"/>
                </a:solidFill>
                <a:latin typeface="Yu Gothic"/>
              </a:rPr>
              <a:t>AI APIを利用する開発者として</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reasoning blockの中に機微情報を含む前提で運用しないことを再確認する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7B4FFF"/>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B3A5C"/>
                </a:solidFill>
                <a:latin typeface="Yu Gothic"/>
              </a:rPr>
              <a:t>企業のセキュリティ担当者として</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AIエージェントの公開ログに認証情報を残さない運用を見直す</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7B4FFF"/>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B3A5C"/>
                </a:solidFill>
                <a:latin typeface="Yu Gothic"/>
              </a:rPr>
              <a:t>一般の読者として</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3社とも既に対策済みであり、過度に不安がる必要はない一方、動向は継続して見る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arXiv:2608.09867ほか(2026-08-10発表)｜175本目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この発表から何を確認すべきか</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1B3A5C"/>
                </a:solidFill>
                <a:latin typeface="Yu Gothic"/>
              </a:rPr>
              <a:t>対応状況</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A6B80"/>
                </a:solidFill>
                <a:latin typeface="Yu Gothic"/>
              </a:rPr>
              <a:t>自社が利用するAI APIの提供元が対策済みであることを確認する</a:t>
            </a:r>
          </a:p>
        </p:txBody>
      </p:sp>
      <p:sp>
        <p:nvSpPr>
          <p:cNvPr id="11" name="Chevron 10"/>
          <p:cNvSpPr/>
          <p:nvPr/>
        </p:nvSpPr>
        <p:spPr>
          <a:xfrm>
            <a:off x="4038295" y="3200400"/>
            <a:ext cx="234086" cy="365760"/>
          </a:xfrm>
          <a:prstGeom prst="chevron">
            <a:avLst/>
          </a:prstGeom>
          <a:solidFill>
            <a:srgbClr val="7B4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1B3A5C"/>
                </a:solidFill>
                <a:latin typeface="Yu Gothic"/>
              </a:rPr>
              <a:t>運用の見直し</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A6B80"/>
                </a:solidFill>
                <a:latin typeface="Yu Gothic"/>
              </a:rPr>
              <a:t>公開するエージェントログに認証情報・個人情報を残していないか確認する</a:t>
            </a:r>
          </a:p>
        </p:txBody>
      </p:sp>
      <p:sp>
        <p:nvSpPr>
          <p:cNvPr id="17" name="Chevron 16"/>
          <p:cNvSpPr/>
          <p:nvPr/>
        </p:nvSpPr>
        <p:spPr>
          <a:xfrm>
            <a:off x="7919313" y="3200400"/>
            <a:ext cx="234086" cy="365760"/>
          </a:xfrm>
          <a:prstGeom prst="chevron">
            <a:avLst/>
          </a:prstGeom>
          <a:solidFill>
            <a:srgbClr val="7B4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1B3A5C"/>
                </a:solidFill>
                <a:latin typeface="Yu Gothic"/>
              </a:rPr>
              <a:t>継続的な注視</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A6B80"/>
                </a:solidFill>
                <a:latin typeface="Yu Gothic"/>
              </a:rPr>
              <a:t>同種の脆弱性が今後も報告される可能性を踏まえ、続報を確認する</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arXiv:2608.09867ほか(2026-08-10発表)｜175本目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本テーマの取り扱い方針(自己言及リスクへの配慮)</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本テーマはAnthropic社を含む3社に関するテーマであることを踏まえた方針です。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本シリーズ自体がClaude Codeで制作・運用されている点を踏まえ、Anthropicを含む特定企業を過度に批判・擁護しない</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3社とも同様の対応(既に対策済み)である事実を公平に扱い、3社の優劣を比較しない</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特定企業・製品の利用を推奨する結論にはしない</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本シリーズの制作方針</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arXiv:2608.09867ほか(2026-08-10発表)｜175本目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これは初めての報告ではない(概念図)</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B3A5C"/>
                </a:solidFill>
                <a:latin typeface="Yu Gothic"/>
              </a:rPr>
              <a:t>2026年5〜6月</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A6B80"/>
                </a:solidFill>
                <a:latin typeface="Yu Gothic"/>
              </a:rPr>
              <a:t>独立した研究者らが同種の脆弱性を既に報告していた</a:t>
            </a:r>
          </a:p>
        </p:txBody>
      </p:sp>
      <p:sp>
        <p:nvSpPr>
          <p:cNvPr id="10" name="Right Arrow 9"/>
          <p:cNvSpPr/>
          <p:nvPr/>
        </p:nvSpPr>
        <p:spPr>
          <a:xfrm>
            <a:off x="4157319" y="3108959"/>
            <a:ext cx="676656" cy="365760"/>
          </a:xfrm>
          <a:prstGeom prst="rightArrow">
            <a:avLst/>
          </a:prstGeom>
          <a:solidFill>
            <a:srgbClr val="7B4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B3A5C"/>
                </a:solidFill>
                <a:latin typeface="Yu Gothic"/>
              </a:rPr>
              <a:t>2026年8月10日</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A6B80"/>
                </a:solidFill>
                <a:latin typeface="Yu Gothic"/>
              </a:rPr>
              <a:t>今回の論文が大規模な実証データを伴い正式に定量化</a:t>
            </a:r>
          </a:p>
        </p:txBody>
      </p:sp>
      <p:sp>
        <p:nvSpPr>
          <p:cNvPr id="15" name="Right Arrow 14"/>
          <p:cNvSpPr/>
          <p:nvPr/>
        </p:nvSpPr>
        <p:spPr>
          <a:xfrm>
            <a:off x="7357719" y="3108959"/>
            <a:ext cx="676656" cy="365760"/>
          </a:xfrm>
          <a:prstGeom prst="rightArrow">
            <a:avLst/>
          </a:prstGeom>
          <a:solidFill>
            <a:srgbClr val="7B4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B3A5C"/>
                </a:solidFill>
                <a:latin typeface="Yu Gothic"/>
              </a:rPr>
              <a:t>3社とも対策済み</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A6B80"/>
                </a:solidFill>
                <a:latin typeface="Yu Gothic"/>
              </a:rPr>
              <a:t>責任ある開示を経て、現在はサーバー側で対応済み</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A6B80"/>
                </a:solidFill>
                <a:latin typeface="Yu Gothic"/>
              </a:rPr>
              <a:t>暗号化reasoning blockの再利用可能性という脆弱性自体は2026年5〜6月にも報告されており、今回はそれを大規模データで実証・定量化したものである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arXiv:2608.09867ほか(2026-08-10発表)｜175本目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数字で振り返る今回の発表</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2579293"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030653" cy="822960"/>
          </a:xfrm>
          <a:prstGeom prst="rect">
            <a:avLst/>
          </a:prstGeom>
          <a:noFill/>
        </p:spPr>
        <p:txBody>
          <a:bodyPr wrap="square" anchor="t" lIns="0" rIns="0" tIns="0" bIns="0">
            <a:spAutoFit/>
          </a:bodyPr>
          <a:lstStyle/>
          <a:p>
            <a:pPr algn="l"/>
            <a:r>
              <a:rPr sz="3400" b="1">
                <a:solidFill>
                  <a:srgbClr val="7B4FFF"/>
                </a:solidFill>
                <a:latin typeface="Yu Gothic"/>
              </a:rPr>
              <a:t>3社</a:t>
            </a:r>
          </a:p>
        </p:txBody>
      </p:sp>
      <p:sp>
        <p:nvSpPr>
          <p:cNvPr id="9" name="TextBox 8"/>
          <p:cNvSpPr txBox="1"/>
          <p:nvPr/>
        </p:nvSpPr>
        <p:spPr>
          <a:xfrm>
            <a:off x="731520" y="2834640"/>
            <a:ext cx="2030653" cy="548640"/>
          </a:xfrm>
          <a:prstGeom prst="rect">
            <a:avLst/>
          </a:prstGeom>
          <a:noFill/>
        </p:spPr>
        <p:txBody>
          <a:bodyPr wrap="square" anchor="t" lIns="0" rIns="0" tIns="0" bIns="0">
            <a:spAutoFit/>
          </a:bodyPr>
          <a:lstStyle/>
          <a:p>
            <a:pPr algn="l"/>
            <a:r>
              <a:rPr sz="1600" b="1">
                <a:solidFill>
                  <a:srgbClr val="1B3A5C"/>
                </a:solidFill>
                <a:latin typeface="Yu Gothic"/>
              </a:rPr>
              <a:t>対象企業</a:t>
            </a:r>
          </a:p>
        </p:txBody>
      </p:sp>
      <p:sp>
        <p:nvSpPr>
          <p:cNvPr id="10" name="TextBox 9"/>
          <p:cNvSpPr txBox="1"/>
          <p:nvPr/>
        </p:nvSpPr>
        <p:spPr>
          <a:xfrm>
            <a:off x="731520" y="3520440"/>
            <a:ext cx="2030653"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Anthropic・OpenAI・Google全社が対象</a:t>
            </a:r>
          </a:p>
        </p:txBody>
      </p:sp>
      <p:sp>
        <p:nvSpPr>
          <p:cNvPr id="11" name="Rounded Rectangle 10"/>
          <p:cNvSpPr/>
          <p:nvPr/>
        </p:nvSpPr>
        <p:spPr>
          <a:xfrm>
            <a:off x="3402253"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356533" y="1554480"/>
            <a:ext cx="2579293"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30853" y="1828800"/>
            <a:ext cx="2030653" cy="822960"/>
          </a:xfrm>
          <a:prstGeom prst="rect">
            <a:avLst/>
          </a:prstGeom>
          <a:noFill/>
        </p:spPr>
        <p:txBody>
          <a:bodyPr wrap="square" anchor="t" lIns="0" rIns="0" tIns="0" bIns="0">
            <a:spAutoFit/>
          </a:bodyPr>
          <a:lstStyle/>
          <a:p>
            <a:pPr algn="l"/>
            <a:r>
              <a:rPr sz="3400" b="1">
                <a:solidFill>
                  <a:srgbClr val="7B4FFF"/>
                </a:solidFill>
                <a:latin typeface="Yu Gothic"/>
              </a:rPr>
              <a:t>31万5,320件</a:t>
            </a:r>
          </a:p>
        </p:txBody>
      </p:sp>
      <p:sp>
        <p:nvSpPr>
          <p:cNvPr id="14" name="TextBox 13"/>
          <p:cNvSpPr txBox="1"/>
          <p:nvPr/>
        </p:nvSpPr>
        <p:spPr>
          <a:xfrm>
            <a:off x="3630853" y="2834640"/>
            <a:ext cx="2030653" cy="548640"/>
          </a:xfrm>
          <a:prstGeom prst="rect">
            <a:avLst/>
          </a:prstGeom>
          <a:noFill/>
        </p:spPr>
        <p:txBody>
          <a:bodyPr wrap="square" anchor="t" lIns="0" rIns="0" tIns="0" bIns="0">
            <a:spAutoFit/>
          </a:bodyPr>
          <a:lstStyle/>
          <a:p>
            <a:pPr algn="l"/>
            <a:r>
              <a:rPr sz="1600" b="1">
                <a:solidFill>
                  <a:srgbClr val="1B3A5C"/>
                </a:solidFill>
                <a:latin typeface="Yu Gothic"/>
              </a:rPr>
              <a:t>解読したreasoning block</a:t>
            </a:r>
          </a:p>
        </p:txBody>
      </p:sp>
      <p:sp>
        <p:nvSpPr>
          <p:cNvPr id="15" name="TextBox 14"/>
          <p:cNvSpPr txBox="1"/>
          <p:nvPr/>
        </p:nvSpPr>
        <p:spPr>
          <a:xfrm>
            <a:off x="3630853" y="3520440"/>
            <a:ext cx="2030653"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公開リポジトリから収集・解読</a:t>
            </a:r>
          </a:p>
        </p:txBody>
      </p:sp>
      <p:sp>
        <p:nvSpPr>
          <p:cNvPr id="16" name="Rounded Rectangle 15"/>
          <p:cNvSpPr/>
          <p:nvPr/>
        </p:nvSpPr>
        <p:spPr>
          <a:xfrm>
            <a:off x="6301587"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55867" y="1554480"/>
            <a:ext cx="2579293"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30187" y="1828800"/>
            <a:ext cx="2030653" cy="822960"/>
          </a:xfrm>
          <a:prstGeom prst="rect">
            <a:avLst/>
          </a:prstGeom>
          <a:noFill/>
        </p:spPr>
        <p:txBody>
          <a:bodyPr wrap="square" anchor="t" lIns="0" rIns="0" tIns="0" bIns="0">
            <a:spAutoFit/>
          </a:bodyPr>
          <a:lstStyle/>
          <a:p>
            <a:pPr algn="l"/>
            <a:r>
              <a:rPr sz="3400" b="1">
                <a:solidFill>
                  <a:srgbClr val="7B4FFF"/>
                </a:solidFill>
                <a:latin typeface="Yu Gothic"/>
              </a:rPr>
              <a:t>367件</a:t>
            </a:r>
          </a:p>
        </p:txBody>
      </p:sp>
      <p:sp>
        <p:nvSpPr>
          <p:cNvPr id="19" name="TextBox 18"/>
          <p:cNvSpPr txBox="1"/>
          <p:nvPr/>
        </p:nvSpPr>
        <p:spPr>
          <a:xfrm>
            <a:off x="6530187" y="2834640"/>
            <a:ext cx="2030653" cy="548640"/>
          </a:xfrm>
          <a:prstGeom prst="rect">
            <a:avLst/>
          </a:prstGeom>
          <a:noFill/>
        </p:spPr>
        <p:txBody>
          <a:bodyPr wrap="square" anchor="t" lIns="0" rIns="0" tIns="0" bIns="0">
            <a:spAutoFit/>
          </a:bodyPr>
          <a:lstStyle/>
          <a:p>
            <a:pPr algn="l"/>
            <a:r>
              <a:rPr sz="1600" b="1">
                <a:solidFill>
                  <a:srgbClr val="1B3A5C"/>
                </a:solidFill>
                <a:latin typeface="Yu Gothic"/>
              </a:rPr>
              <a:t>回収されたPII</a:t>
            </a:r>
          </a:p>
        </p:txBody>
      </p:sp>
      <p:sp>
        <p:nvSpPr>
          <p:cNvPr id="20" name="TextBox 19"/>
          <p:cNvSpPr txBox="1"/>
          <p:nvPr/>
        </p:nvSpPr>
        <p:spPr>
          <a:xfrm>
            <a:off x="6530187" y="3520440"/>
            <a:ext cx="2030653"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個人情報が回収された</a:t>
            </a:r>
          </a:p>
        </p:txBody>
      </p:sp>
      <p:sp>
        <p:nvSpPr>
          <p:cNvPr id="21" name="Rounded Rectangle 20"/>
          <p:cNvSpPr/>
          <p:nvPr/>
        </p:nvSpPr>
        <p:spPr>
          <a:xfrm>
            <a:off x="9200921"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155201" y="1554480"/>
            <a:ext cx="2579293"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429521" y="1828800"/>
            <a:ext cx="2030653" cy="822960"/>
          </a:xfrm>
          <a:prstGeom prst="rect">
            <a:avLst/>
          </a:prstGeom>
          <a:noFill/>
        </p:spPr>
        <p:txBody>
          <a:bodyPr wrap="square" anchor="t" lIns="0" rIns="0" tIns="0" bIns="0">
            <a:spAutoFit/>
          </a:bodyPr>
          <a:lstStyle/>
          <a:p>
            <a:pPr algn="l"/>
            <a:r>
              <a:rPr sz="3400" b="1">
                <a:solidFill>
                  <a:srgbClr val="7B4FFF"/>
                </a:solidFill>
                <a:latin typeface="Yu Gothic"/>
              </a:rPr>
              <a:t>182件</a:t>
            </a:r>
          </a:p>
        </p:txBody>
      </p:sp>
      <p:sp>
        <p:nvSpPr>
          <p:cNvPr id="24" name="TextBox 23"/>
          <p:cNvSpPr txBox="1"/>
          <p:nvPr/>
        </p:nvSpPr>
        <p:spPr>
          <a:xfrm>
            <a:off x="9429521" y="2834640"/>
            <a:ext cx="2030653" cy="548640"/>
          </a:xfrm>
          <a:prstGeom prst="rect">
            <a:avLst/>
          </a:prstGeom>
          <a:noFill/>
        </p:spPr>
        <p:txBody>
          <a:bodyPr wrap="square" anchor="t" lIns="0" rIns="0" tIns="0" bIns="0">
            <a:spAutoFit/>
          </a:bodyPr>
          <a:lstStyle/>
          <a:p>
            <a:pPr algn="l"/>
            <a:r>
              <a:rPr sz="1600" b="1">
                <a:solidFill>
                  <a:srgbClr val="1B3A5C"/>
                </a:solidFill>
                <a:latin typeface="Yu Gothic"/>
              </a:rPr>
              <a:t>回収された認証情報</a:t>
            </a:r>
          </a:p>
        </p:txBody>
      </p:sp>
      <p:sp>
        <p:nvSpPr>
          <p:cNvPr id="25" name="TextBox 24"/>
          <p:cNvSpPr txBox="1"/>
          <p:nvPr/>
        </p:nvSpPr>
        <p:spPr>
          <a:xfrm>
            <a:off x="9429521" y="3520440"/>
            <a:ext cx="2030653"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APIキー・パスワード等を含む</a:t>
            </a:r>
          </a:p>
        </p:txBody>
      </p:sp>
      <p:sp>
        <p:nvSpPr>
          <p:cNvPr id="26" name="TextBox 2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arXiv:2608.09867ほか(2026-08-10発表)｜175本目</a:t>
            </a:r>
          </a:p>
        </p:txBody>
      </p:sp>
      <p:sp>
        <p:nvSpPr>
          <p:cNvPr id="27" name="TextBox 2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主な出典一覧</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出典</a:t>
                      </a:r>
                    </a:p>
                  </a:txBody>
                  <a:tcPr>
                    <a:solidFill>
                      <a:srgbClr val="1B3A5C"/>
                    </a:solidFill>
                  </a:tcPr>
                </a:tc>
                <a:tc>
                  <a:txBody>
                    <a:bodyPr/>
                    <a:lstStyle/>
                    <a:p>
                      <a:pPr>
                        <a:defRPr sz="1300" b="1">
                          <a:solidFill>
                            <a:srgbClr val="FFFFFF"/>
                          </a:solidFill>
                          <a:latin typeface="Yu Gothic"/>
                        </a:defRPr>
                      </a:pPr>
                      <a:r>
                        <a:t>内容</a:t>
                      </a:r>
                    </a:p>
                  </a:txBody>
                  <a:tcPr>
                    <a:solidFill>
                      <a:srgbClr val="1B3A5C"/>
                    </a:solidFill>
                  </a:tcPr>
                </a:tc>
              </a:tr>
              <a:tr h="502920">
                <a:tc>
                  <a:txBody>
                    <a:bodyPr/>
                    <a:lstStyle/>
                    <a:p>
                      <a:pPr>
                        <a:defRPr sz="1200">
                          <a:solidFill>
                            <a:srgbClr val="16202E"/>
                          </a:solidFill>
                          <a:latin typeface="Yu Gothic"/>
                        </a:defRPr>
                      </a:pPr>
                      <a:r>
                        <a:t>arXiv:2608.09867</a:t>
                      </a:r>
                    </a:p>
                  </a:txBody>
                  <a:tcPr>
                    <a:solidFill>
                      <a:srgbClr val="FFFFFF"/>
                    </a:solidFill>
                  </a:tcPr>
                </a:tc>
                <a:tc>
                  <a:txBody>
                    <a:bodyPr/>
                    <a:lstStyle/>
                    <a:p>
                      <a:pPr>
                        <a:defRPr sz="1200">
                          <a:solidFill>
                            <a:srgbClr val="16202E"/>
                          </a:solidFill>
                          <a:latin typeface="Yu Gothic"/>
                        </a:defRPr>
                      </a:pPr>
                      <a:r>
                        <a:t>論文本体「Stealing Reasoning Traces from Proprietary LLM APIs」</a:t>
                      </a:r>
                    </a:p>
                  </a:txBody>
                  <a:tcPr>
                    <a:solidFill>
                      <a:srgbClr val="FFFFFF"/>
                    </a:solidFill>
                  </a:tcPr>
                </a:tc>
              </a:tr>
              <a:tr h="502920">
                <a:tc>
                  <a:txBody>
                    <a:bodyPr/>
                    <a:lstStyle/>
                    <a:p>
                      <a:pPr>
                        <a:defRPr sz="1200">
                          <a:solidFill>
                            <a:srgbClr val="16202E"/>
                          </a:solidFill>
                          <a:latin typeface="Yu Gothic"/>
                        </a:defRPr>
                      </a:pPr>
                      <a:r>
                        <a:t>cybersecuritynews.com</a:t>
                      </a:r>
                    </a:p>
                  </a:txBody>
                  <a:tcPr>
                    <a:solidFill>
                      <a:srgbClr val="F2F6FA"/>
                    </a:solidFill>
                  </a:tcPr>
                </a:tc>
                <a:tc>
                  <a:txBody>
                    <a:bodyPr/>
                    <a:lstStyle/>
                    <a:p>
                      <a:pPr>
                        <a:defRPr sz="1200">
                          <a:solidFill>
                            <a:srgbClr val="16202E"/>
                          </a:solidFill>
                          <a:latin typeface="Yu Gothic"/>
                        </a:defRPr>
                      </a:pPr>
                      <a:r>
                        <a:t>3社に関わる脆弱性としての報道</a:t>
                      </a:r>
                    </a:p>
                  </a:txBody>
                  <a:tcPr>
                    <a:solidFill>
                      <a:srgbClr val="F2F6FA"/>
                    </a:solidFill>
                  </a:tcPr>
                </a:tc>
              </a:tr>
              <a:tr h="502920">
                <a:tc>
                  <a:txBody>
                    <a:bodyPr/>
                    <a:lstStyle/>
                    <a:p>
                      <a:pPr>
                        <a:defRPr sz="1200">
                          <a:solidFill>
                            <a:srgbClr val="16202E"/>
                          </a:solidFill>
                          <a:latin typeface="Yu Gothic"/>
                        </a:defRPr>
                      </a:pPr>
                      <a:r>
                        <a:t>explainx.ai Blog</a:t>
                      </a:r>
                    </a:p>
                  </a:txBody>
                  <a:tcPr>
                    <a:solidFill>
                      <a:srgbClr val="FFFFFF"/>
                    </a:solidFill>
                  </a:tcPr>
                </a:tc>
                <a:tc>
                  <a:txBody>
                    <a:bodyPr/>
                    <a:lstStyle/>
                    <a:p>
                      <a:pPr>
                        <a:defRPr sz="1200">
                          <a:solidFill>
                            <a:srgbClr val="16202E"/>
                          </a:solidFill>
                          <a:latin typeface="Yu Gothic"/>
                        </a:defRPr>
                      </a:pPr>
                      <a:r>
                        <a:t>認証情報流出の具体的な件数の報道</a:t>
                      </a:r>
                    </a:p>
                  </a:txBody>
                  <a:tcPr>
                    <a:solidFill>
                      <a:srgbClr val="FFFFFF"/>
                    </a:solidFill>
                  </a:tcPr>
                </a:tc>
              </a:tr>
              <a:tr h="502920">
                <a:tc>
                  <a:txBody>
                    <a:bodyPr/>
                    <a:lstStyle/>
                    <a:p>
                      <a:pPr>
                        <a:defRPr sz="1200">
                          <a:solidFill>
                            <a:srgbClr val="16202E"/>
                          </a:solidFill>
                          <a:latin typeface="Yu Gothic"/>
                        </a:defRPr>
                      </a:pPr>
                      <a:r>
                        <a:t>AI Weekly</a:t>
                      </a:r>
                    </a:p>
                  </a:txBody>
                  <a:tcPr>
                    <a:solidFill>
                      <a:srgbClr val="F2F6FA"/>
                    </a:solidFill>
                  </a:tcPr>
                </a:tc>
                <a:tc>
                  <a:txBody>
                    <a:bodyPr/>
                    <a:lstStyle/>
                    <a:p>
                      <a:pPr>
                        <a:defRPr sz="1200">
                          <a:solidFill>
                            <a:srgbClr val="16202E"/>
                          </a:solidFill>
                          <a:latin typeface="Yu Gothic"/>
                        </a:defRPr>
                      </a:pPr>
                      <a:r>
                        <a:t>過去の類似報告との関係を含む報道</a:t>
                      </a:r>
                    </a:p>
                  </a:txBody>
                  <a:tcPr>
                    <a:solidFill>
                      <a:srgbClr val="F2F6FA"/>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arXiv:2608.09867ほか(2026-08-10発表)｜175本目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AIの思考は、もう完全な秘密ではない。ただし3社とも、既に対策は終えている。</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DCE6F5"/>
                </a:solidFill>
                <a:latin typeface="Yu Gothic"/>
              </a:rPr>
              <a:t>特定企業への過度な批判・擁護や、対策の技術的詳細の断定は一切行っていません。</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1B3A5C"/>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