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8月22日に北京で開幕する第2回世界ヒューマノイドロボット競技会に向け、2,056台のロボットが北京入りしたと複数媒体が報じました。今日はこの大会の規模と、前回大会からの拡大について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結論から確認します。第2回世界ヒューマノイドロボット競技会には、16カ国から666チーム・2,056台のロボットが参加します。会場は北京の国家速滑館、通称『氷のリボン』です。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今日は6つの流れでお伝えします。大会の基礎知識から、前回大会との比較、参加チームや種目の詳細まで、正確に数字を引用しながら整理します。誇張せず、確認できなかったことは正直にお伝えします。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このテーマを扱う理由です。着手日前日という高い鮮度、2,056台・666チームという具体的な数字、世界最大規模のロボット競技会という関心の高さに注目しました。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世界ヒューマノイドロボット競技会は、人型ロボットが技術を競う国際競技会です。第1回は2025年8月、第2回は今回2026年8月22日から26日まで北京で開催されます。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第2回大会の基本情報です。2026年8月22日から26日まで、北京の国家速滑館で開催され、16カ国・666チーム・ロボット2,056台が参加します。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2025年の第1回大会は280チーム・500台超でしたが、2026年の第2回大会は666チーム・2,056台へと拡大しました。チーム数は公式発表で前年比138%増です。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チーム数は前年比138%増と、複数の独立した中国国営メディアで一致して報じられています。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公式報道は『倍増』と表現していますが、単純に数字を比較すると約4倍に相当し、表現と数値が一致しません。原因は特定できていないため、いずれか一方が正しいと断定せず両方を正直に開示します。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2025年と2026年の比較表です。チーム数・ロボット台数・種目数のいずれも拡大していますが、ロボット台数の伸び率については公式表現と単純計算に食い違いがある点は前のスライドで開示した通りです。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中国国内からは157の企業と200の大学・研究機関が参加し、641チーム・1,975台のロボットを投入しています。国内産業の裾野の広さがうかがえます。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中国国内からは157の企業と200の大学・研究機関が参加し、641チーム・1,975台のロボットを投入しています。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米国・ドイツ・日本などからもチームが参加し、ブラジルはRoboCup優勝経験のあるチームを送り込んでいます。国別の詳しい内訳までは確認できていません。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大会開幕までの流れを図にしました。2025年の第1回大会から規模が拡大し、2026年8月18日にはロボットが北京入りして試走や種目準備を行う様子が報じられました。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第2回大会を3ステップで総括しました。参加規模の確定、ロボットの北京入り、そして8月22日からの大会開幕という流れです。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今大会から新たに、走り幅跳び・重量挙げ・綱引き・卓球の4種目が競技系種目に追加されました。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今大会から走り幅跳び・重量挙げ・綱引き・卓球の4種目が新たに加わりました。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種目は競技系とシナリオ系の2カテゴリに分かれます。シナリオ系では、ホテルや病院での緊急対応から、倉庫作業、EV充電まで、実務に近い場面が数多く用意されています。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シナリオ系種目は、緊急対応から倉庫作業、産業組立、小売サービスまで、実務に近い場面を想定した内容になっています。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会場は北京の国家速滑館、通称『氷のリボン』です。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本大会は、中国のヒューマノイドロボット企業各社の実機を比較できる場として業界内で注目されています。ただし参加企業・モデルの一覧は確認できていません。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本テーマで確定している事実と、まだ確定していないことを対比しました。大会本番はまだ開催されておらず、結果については扱っていません。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確認できなかったことを正直にお伝えします。倍増という表現と数値の食い違いの原因、参加企業の一覧、国別の内訳は確認できていません。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ロボット参加台数は2,056台です。2025年の500台超から大幅に拡大していますが、拡大率の表現には公式発表と単純計算とで食い違いがある点は前述の通りです。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参加規模のまとめです。16カ国・666チーム・2,056台のロボットが、32種目で技術を競います。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この大会は、ヒューマノイドロボット開発がデモンストレーション段階から実務検証段階へ移行しつつある動きの一例といえます。実際の商業化への波及効果は今後の続報待ちです。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種目数は2025年の26種目から2026年は32種目へ、6種目増えました。新規種目には走り幅跳び・重量挙げ・綱引き・卓球が含まれます。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このニュースが読者にとって意味することをまとめました。AI・ロボティクス業界の動向を追う立場、中国テック産業に関心がある立場、投資を検討する立場、それぞれで意識したい視点です。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まとめです。第2回大会は16カ国・666チーム・2,056台という規模で開催されます。前回大会からの拡大と、公式表現と数値の食い違いを正直にお伝えしました。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第2回世界ヒューマノイドロボット競技会の開幕直前の参加規模について、出典付き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2,056台のロボットが</a:t>
            </a:r>
          </a:p>
          <a:p>
            <a:pPr algn="l">
              <a:lnSpc>
                <a:spcPct val="115000"/>
              </a:lnSpc>
            </a:pPr>
            <a:r>
              <a:rPr sz="4200" b="1">
                <a:solidFill>
                  <a:srgbClr val="FFFFFF"/>
                </a:solidFill>
                <a:latin typeface="Yu Gothic"/>
              </a:rPr>
              <a:t>北京に集結。</a:t>
            </a:r>
          </a:p>
          <a:p>
            <a:pPr algn="l">
              <a:lnSpc>
                <a:spcPct val="115000"/>
              </a:lnSpc>
            </a:pPr>
            <a:r>
              <a:rPr sz="4200" b="1">
                <a:solidFill>
                  <a:srgbClr val="FFFFFF"/>
                </a:solidFill>
                <a:latin typeface="Yu Gothic"/>
              </a:rPr>
              <a:t>世界最大のヒューマノイド競技会へ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2026年8月22日開幕——666チーム・16カ国、前回大会から大幅拡大</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Global Times・People's Daily・eWeek・DIGITIMES(2026年8月18日)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2,056台・666チーム・16カ国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2026年8月22日〜26日、北京・国家速滑館(氷のリボン)で開催</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Global Times・eWeek(2026-08-18)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大会とは・基礎知識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2025年第1回大会との比較</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参加チーム・種目の詳細を確認する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AI・ロボティクス業界における位置づけを確認する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着手日の前日(2026年8月18日)のロボット北京入りという高い鮮度の話題である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『2,056台』『666チーム』という具体的でインパクトのある数字である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世界最大規模のヒューマノイドロボット競技会という、AI・ロボティクス業界の関心が高いテーマである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複数の独立した情報源(Global Times・People's Daily・eWeek・DIGITIMES等)で確認できる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Times・eWeek・DIGITIMES(2026-08-18)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世界ヒューマノイドロボット競技会とは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ヒューマノイド(人型)ロボットが、スポーツ種目や実務シナリオ種目で技術を競う国際競技会</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第1回大会は2025年8月に北京で開催</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第2回大会は2026年8月22日〜26日、北京・国家速滑館(氷のリボン)で開催</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競技系種目(陸上・格闘技等)とシナリオ系種目(緊急対応・物流等)の2カテゴリで構成</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Times・複数報道(2026-08-18)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第2回大会の基本情報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大会名</a:t>
                      </a:r>
                    </a:p>
                  </a:txBody>
                  <a:tcPr>
                    <a:solidFill>
                      <a:srgbClr val="FFFFFF"/>
                    </a:solidFill>
                  </a:tcPr>
                </a:tc>
                <a:tc>
                  <a:txBody>
                    <a:bodyPr/>
                    <a:lstStyle/>
                    <a:p>
                      <a:pPr>
                        <a:defRPr sz="1200">
                          <a:solidFill>
                            <a:srgbClr val="1C2230"/>
                          </a:solidFill>
                          <a:latin typeface="Yu Gothic"/>
                        </a:defRPr>
                      </a:pPr>
                      <a:r>
                        <a:t>第2回世界ヒューマノイドロボット競技会</a:t>
                      </a:r>
                    </a:p>
                  </a:txBody>
                  <a:tcPr>
                    <a:solidFill>
                      <a:srgbClr val="FFFFFF"/>
                    </a:solidFill>
                  </a:tcPr>
                </a:tc>
              </a:tr>
              <a:tr h="502920">
                <a:tc>
                  <a:txBody>
                    <a:bodyPr/>
                    <a:lstStyle/>
                    <a:p>
                      <a:pPr>
                        <a:defRPr sz="1200">
                          <a:solidFill>
                            <a:srgbClr val="1C2230"/>
                          </a:solidFill>
                          <a:latin typeface="Yu Gothic"/>
                        </a:defRPr>
                      </a:pPr>
                      <a:r>
                        <a:t>開催期間</a:t>
                      </a:r>
                    </a:p>
                  </a:txBody>
                  <a:tcPr>
                    <a:solidFill>
                      <a:srgbClr val="F1F5FA"/>
                    </a:solidFill>
                  </a:tcPr>
                </a:tc>
                <a:tc>
                  <a:txBody>
                    <a:bodyPr/>
                    <a:lstStyle/>
                    <a:p>
                      <a:pPr>
                        <a:defRPr sz="1200">
                          <a:solidFill>
                            <a:srgbClr val="1C2230"/>
                          </a:solidFill>
                          <a:latin typeface="Yu Gothic"/>
                        </a:defRPr>
                      </a:pPr>
                      <a:r>
                        <a:t>2026年8月22日〜26日</a:t>
                      </a:r>
                    </a:p>
                  </a:txBody>
                  <a:tcPr>
                    <a:solidFill>
                      <a:srgbClr val="F1F5FA"/>
                    </a:solidFill>
                  </a:tcPr>
                </a:tc>
              </a:tr>
              <a:tr h="502920">
                <a:tc>
                  <a:txBody>
                    <a:bodyPr/>
                    <a:lstStyle/>
                    <a:p>
                      <a:pPr>
                        <a:defRPr sz="1200">
                          <a:solidFill>
                            <a:srgbClr val="1C2230"/>
                          </a:solidFill>
                          <a:latin typeface="Yu Gothic"/>
                        </a:defRPr>
                      </a:pPr>
                      <a:r>
                        <a:t>会場</a:t>
                      </a:r>
                    </a:p>
                  </a:txBody>
                  <a:tcPr>
                    <a:solidFill>
                      <a:srgbClr val="FFFFFF"/>
                    </a:solidFill>
                  </a:tcPr>
                </a:tc>
                <a:tc>
                  <a:txBody>
                    <a:bodyPr/>
                    <a:lstStyle/>
                    <a:p>
                      <a:pPr>
                        <a:defRPr sz="1200">
                          <a:solidFill>
                            <a:srgbClr val="1C2230"/>
                          </a:solidFill>
                          <a:latin typeface="Yu Gothic"/>
                        </a:defRPr>
                      </a:pPr>
                      <a:r>
                        <a:t>北京・国家速滑館(通称『氷のリボン』)</a:t>
                      </a:r>
                    </a:p>
                  </a:txBody>
                  <a:tcPr>
                    <a:solidFill>
                      <a:srgbClr val="FFFFFF"/>
                    </a:solidFill>
                  </a:tcPr>
                </a:tc>
              </a:tr>
              <a:tr h="502920">
                <a:tc>
                  <a:txBody>
                    <a:bodyPr/>
                    <a:lstStyle/>
                    <a:p>
                      <a:pPr>
                        <a:defRPr sz="1200">
                          <a:solidFill>
                            <a:srgbClr val="1C2230"/>
                          </a:solidFill>
                          <a:latin typeface="Yu Gothic"/>
                        </a:defRPr>
                      </a:pPr>
                      <a:r>
                        <a:t>参加規模</a:t>
                      </a:r>
                    </a:p>
                  </a:txBody>
                  <a:tcPr>
                    <a:solidFill>
                      <a:srgbClr val="F1F5FA"/>
                    </a:solidFill>
                  </a:tcPr>
                </a:tc>
                <a:tc>
                  <a:txBody>
                    <a:bodyPr/>
                    <a:lstStyle/>
                    <a:p>
                      <a:pPr>
                        <a:defRPr sz="1200">
                          <a:solidFill>
                            <a:srgbClr val="1C2230"/>
                          </a:solidFill>
                          <a:latin typeface="Yu Gothic"/>
                        </a:defRPr>
                      </a:pPr>
                      <a:r>
                        <a:t>16カ国・666チーム・ロボット2,056台</a:t>
                      </a:r>
                    </a:p>
                  </a:txBody>
                  <a:tcPr>
                    <a:solidFill>
                      <a:srgbClr val="F1F5FA"/>
                    </a:solidFill>
                  </a:tcPr>
                </a:tc>
              </a:tr>
              <a:tr h="502920">
                <a:tc>
                  <a:txBody>
                    <a:bodyPr/>
                    <a:lstStyle/>
                    <a:p>
                      <a:pPr>
                        <a:defRPr sz="1200">
                          <a:solidFill>
                            <a:srgbClr val="1C2230"/>
                          </a:solidFill>
                          <a:latin typeface="Yu Gothic"/>
                        </a:defRPr>
                      </a:pPr>
                      <a:r>
                        <a:t>種目数</a:t>
                      </a:r>
                    </a:p>
                  </a:txBody>
                  <a:tcPr>
                    <a:solidFill>
                      <a:srgbClr val="FFFFFF"/>
                    </a:solidFill>
                  </a:tcPr>
                </a:tc>
                <a:tc>
                  <a:txBody>
                    <a:bodyPr/>
                    <a:lstStyle/>
                    <a:p>
                      <a:pPr>
                        <a:defRPr sz="1200">
                          <a:solidFill>
                            <a:srgbClr val="1C2230"/>
                          </a:solidFill>
                          <a:latin typeface="Yu Gothic"/>
                        </a:defRPr>
                      </a:pPr>
                      <a:r>
                        <a:t>32種目(競技系・シナリオ系)</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Times・People's Daily・eWeek(2026-08-18)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2025年第1回大会との比較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前回大会からの変化です。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2025年第1回大会は280チーム・ロボット500台超・26種目で開催</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2026年第2回大会は666チーム・ロボット2,056台・32種目に拡大</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チーム数は前年比+138%と公式発表されている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種目数も26種目から32種目へ拡大している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Times・People's Daily(2026-08-18)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チーム数の伸び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前年比+138%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2025年の280チームから2026年は666チームへ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Global Times・People's Daily(2026-08-18)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『倍増』という公式表現 vs 単純な数値比較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公式報道の表現</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『ロボット参加台数が前年から倍増した』と報道</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Global Times・People's Daily等が使用する表現</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複数の国営メディアで同様の表現が見られる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単純な数値比較</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2025年『500台超』→2026年『2,056台』</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単純計算では約4倍に相当</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『倍増』という表現とは数値的に一致しない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2025年 vs 2026年 比較表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2025年第1回</a:t>
                      </a:r>
                    </a:p>
                  </a:txBody>
                  <a:tcPr>
                    <a:solidFill>
                      <a:srgbClr val="2B3A55"/>
                    </a:solidFill>
                  </a:tcPr>
                </a:tc>
                <a:tc>
                  <a:txBody>
                    <a:bodyPr/>
                    <a:lstStyle/>
                    <a:p>
                      <a:pPr>
                        <a:defRPr sz="1300" b="1">
                          <a:solidFill>
                            <a:srgbClr val="FFFFFF"/>
                          </a:solidFill>
                          <a:latin typeface="Yu Gothic"/>
                        </a:defRPr>
                      </a:pPr>
                      <a:r>
                        <a:t>2026年第2回</a:t>
                      </a:r>
                    </a:p>
                  </a:txBody>
                  <a:tcPr>
                    <a:solidFill>
                      <a:srgbClr val="2B3A55"/>
                    </a:solidFill>
                  </a:tcPr>
                </a:tc>
              </a:tr>
              <a:tr h="502920">
                <a:tc>
                  <a:txBody>
                    <a:bodyPr/>
                    <a:lstStyle/>
                    <a:p>
                      <a:pPr>
                        <a:defRPr sz="1200">
                          <a:solidFill>
                            <a:srgbClr val="1C2230"/>
                          </a:solidFill>
                          <a:latin typeface="Yu Gothic"/>
                        </a:defRPr>
                      </a:pPr>
                      <a:r>
                        <a:t>チーム数</a:t>
                      </a:r>
                    </a:p>
                  </a:txBody>
                  <a:tcPr>
                    <a:solidFill>
                      <a:srgbClr val="FFFFFF"/>
                    </a:solidFill>
                  </a:tcPr>
                </a:tc>
                <a:tc>
                  <a:txBody>
                    <a:bodyPr/>
                    <a:lstStyle/>
                    <a:p>
                      <a:pPr>
                        <a:defRPr sz="1200">
                          <a:solidFill>
                            <a:srgbClr val="1C2230"/>
                          </a:solidFill>
                          <a:latin typeface="Yu Gothic"/>
                        </a:defRPr>
                      </a:pPr>
                      <a:r>
                        <a:t>280チーム</a:t>
                      </a:r>
                    </a:p>
                  </a:txBody>
                  <a:tcPr>
                    <a:solidFill>
                      <a:srgbClr val="FFFFFF"/>
                    </a:solidFill>
                  </a:tcPr>
                </a:tc>
                <a:tc>
                  <a:txBody>
                    <a:bodyPr/>
                    <a:lstStyle/>
                    <a:p>
                      <a:pPr>
                        <a:defRPr sz="1200">
                          <a:solidFill>
                            <a:srgbClr val="1C2230"/>
                          </a:solidFill>
                          <a:latin typeface="Yu Gothic"/>
                        </a:defRPr>
                      </a:pPr>
                      <a:r>
                        <a:t>666チーム(+138%)</a:t>
                      </a:r>
                    </a:p>
                  </a:txBody>
                  <a:tcPr>
                    <a:solidFill>
                      <a:srgbClr val="FFFFFF"/>
                    </a:solidFill>
                  </a:tcPr>
                </a:tc>
              </a:tr>
              <a:tr h="502920">
                <a:tc>
                  <a:txBody>
                    <a:bodyPr/>
                    <a:lstStyle/>
                    <a:p>
                      <a:pPr>
                        <a:defRPr sz="1200">
                          <a:solidFill>
                            <a:srgbClr val="1C2230"/>
                          </a:solidFill>
                          <a:latin typeface="Yu Gothic"/>
                        </a:defRPr>
                      </a:pPr>
                      <a:r>
                        <a:t>ロボット台数</a:t>
                      </a:r>
                    </a:p>
                  </a:txBody>
                  <a:tcPr>
                    <a:solidFill>
                      <a:srgbClr val="F1F5FA"/>
                    </a:solidFill>
                  </a:tcPr>
                </a:tc>
                <a:tc>
                  <a:txBody>
                    <a:bodyPr/>
                    <a:lstStyle/>
                    <a:p>
                      <a:pPr>
                        <a:defRPr sz="1200">
                          <a:solidFill>
                            <a:srgbClr val="1C2230"/>
                          </a:solidFill>
                          <a:latin typeface="Yu Gothic"/>
                        </a:defRPr>
                      </a:pPr>
                      <a:r>
                        <a:t>500台超</a:t>
                      </a:r>
                    </a:p>
                  </a:txBody>
                  <a:tcPr>
                    <a:solidFill>
                      <a:srgbClr val="F1F5FA"/>
                    </a:solidFill>
                  </a:tcPr>
                </a:tc>
                <a:tc>
                  <a:txBody>
                    <a:bodyPr/>
                    <a:lstStyle/>
                    <a:p>
                      <a:pPr>
                        <a:defRPr sz="1200">
                          <a:solidFill>
                            <a:srgbClr val="1C2230"/>
                          </a:solidFill>
                          <a:latin typeface="Yu Gothic"/>
                        </a:defRPr>
                      </a:pPr>
                      <a:r>
                        <a:t>2,056台</a:t>
                      </a:r>
                    </a:p>
                  </a:txBody>
                  <a:tcPr>
                    <a:solidFill>
                      <a:srgbClr val="F1F5FA"/>
                    </a:solidFill>
                  </a:tcPr>
                </a:tc>
              </a:tr>
              <a:tr h="502920">
                <a:tc>
                  <a:txBody>
                    <a:bodyPr/>
                    <a:lstStyle/>
                    <a:p>
                      <a:pPr>
                        <a:defRPr sz="1200">
                          <a:solidFill>
                            <a:srgbClr val="1C2230"/>
                          </a:solidFill>
                          <a:latin typeface="Yu Gothic"/>
                        </a:defRPr>
                      </a:pPr>
                      <a:r>
                        <a:t>種目数</a:t>
                      </a:r>
                    </a:p>
                  </a:txBody>
                  <a:tcPr>
                    <a:solidFill>
                      <a:srgbClr val="FFFFFF"/>
                    </a:solidFill>
                  </a:tcPr>
                </a:tc>
                <a:tc>
                  <a:txBody>
                    <a:bodyPr/>
                    <a:lstStyle/>
                    <a:p>
                      <a:pPr>
                        <a:defRPr sz="1200">
                          <a:solidFill>
                            <a:srgbClr val="1C2230"/>
                          </a:solidFill>
                          <a:latin typeface="Yu Gothic"/>
                        </a:defRPr>
                      </a:pPr>
                      <a:r>
                        <a:t>26種目</a:t>
                      </a:r>
                    </a:p>
                  </a:txBody>
                  <a:tcPr>
                    <a:solidFill>
                      <a:srgbClr val="FFFFFF"/>
                    </a:solidFill>
                  </a:tcPr>
                </a:tc>
                <a:tc>
                  <a:txBody>
                    <a:bodyPr/>
                    <a:lstStyle/>
                    <a:p>
                      <a:pPr>
                        <a:defRPr sz="1200">
                          <a:solidFill>
                            <a:srgbClr val="1C2230"/>
                          </a:solidFill>
                          <a:latin typeface="Yu Gothic"/>
                        </a:defRPr>
                      </a:pPr>
                      <a:r>
                        <a:t>32種目</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Times・People's Daily・Guangming Online(2026-08-18)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中国国内の参加状況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国内からの参加規模です。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中国国内からは157の企業と200の大学・研究機関が参加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国内勢だけで641チーム・ロボット1,975台を投入</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残りのチーム・ロボットが国際参加分(16カ国)に相当する計算になる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中国国内のヒューマノイドロボット産業の裾野の広さがうかがえる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Guangming Online(2026-08-18)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中国国内の参加規模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157社・200大学、641チーム・1,975台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全体(666チーム・2,056台)の大部分を国内勢が占める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Guangming Online(2026-08-18)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国際参加の状況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海外からの参加チームです。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米国・ドイツ・日本など、ロボティクス産業が確立した国々からもチームが参加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ブラジルは、RoboCup(ロボットワールドカップ)優勝経験のある5人チームで参加</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16カ国からの国際参加により、大会の国際色が強まっている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具体的な国別チーム数の内訳は、本調査の範囲では確認できていない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eWeek・複数報道(2026-08-18)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大会開幕までの流れ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第1回大会(2025年8月)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280チーム・500台超・26種目</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第2回大会の規模拡大が発表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666チーム・2,056台・32種目</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ロボット北京入り(2026年8月18日)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試走・種目準備の様子が報道される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第1回大会から今回の規模拡大、開幕直前の準備までの流れ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Times・複数報道(2026-08-18)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第2回大会の3ステップ総括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参加規模の確定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16カ国・666チーム・ロボット2,056台</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ロボット北京入り(8月18日)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400m試走・綱引き種目の準備が報じられる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大会開幕(8月22日〜26日)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32種目、国家速滑館で実施予定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新設された競技系種目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今大会から新たに追加された種目です。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走り幅跳び</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重量挙げ</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綱引き(タグ・オブ・ウォー)</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卓球</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Times・複数報道(2026-08-18)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新設種目数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4種目が新規追加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走り幅跳び・重量挙げ・綱引き・卓球</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Global Times(2026-08-18)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種目カテゴリの内訳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カテゴリ</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競技系種目</a:t>
                      </a:r>
                    </a:p>
                  </a:txBody>
                  <a:tcPr>
                    <a:solidFill>
                      <a:srgbClr val="FFFFFF"/>
                    </a:solidFill>
                  </a:tcPr>
                </a:tc>
                <a:tc>
                  <a:txBody>
                    <a:bodyPr/>
                    <a:lstStyle/>
                    <a:p>
                      <a:pPr>
                        <a:defRPr sz="1200">
                          <a:solidFill>
                            <a:srgbClr val="1C2230"/>
                          </a:solidFill>
                          <a:latin typeface="Yu Gothic"/>
                        </a:defRPr>
                      </a:pPr>
                      <a:r>
                        <a:t>陸上・格闘技・走り幅跳び・重量挙げ・綱引き・卓球など</a:t>
                      </a:r>
                    </a:p>
                  </a:txBody>
                  <a:tcPr>
                    <a:solidFill>
                      <a:srgbClr val="FFFFFF"/>
                    </a:solidFill>
                  </a:tcPr>
                </a:tc>
              </a:tr>
              <a:tr h="502920">
                <a:tc>
                  <a:txBody>
                    <a:bodyPr/>
                    <a:lstStyle/>
                    <a:p>
                      <a:pPr>
                        <a:defRPr sz="1200">
                          <a:solidFill>
                            <a:srgbClr val="1C2230"/>
                          </a:solidFill>
                          <a:latin typeface="Yu Gothic"/>
                        </a:defRPr>
                      </a:pPr>
                      <a:r>
                        <a:t>シナリオ系種目</a:t>
                      </a:r>
                    </a:p>
                  </a:txBody>
                  <a:tcPr>
                    <a:solidFill>
                      <a:srgbClr val="F1F5FA"/>
                    </a:solidFill>
                  </a:tcPr>
                </a:tc>
                <a:tc>
                  <a:txBody>
                    <a:bodyPr/>
                    <a:lstStyle/>
                    <a:p>
                      <a:pPr>
                        <a:defRPr sz="1200">
                          <a:solidFill>
                            <a:srgbClr val="1C2230"/>
                          </a:solidFill>
                          <a:latin typeface="Yu Gothic"/>
                        </a:defRPr>
                      </a:pPr>
                      <a:r>
                        <a:t>ホテル・病院等の緊急対応、倉庫での梱包・搬送</a:t>
                      </a:r>
                    </a:p>
                  </a:txBody>
                  <a:tcPr>
                    <a:solidFill>
                      <a:srgbClr val="F1F5FA"/>
                    </a:solidFill>
                  </a:tcPr>
                </a:tc>
              </a:tr>
              <a:tr h="502920">
                <a:tc>
                  <a:txBody>
                    <a:bodyPr/>
                    <a:lstStyle/>
                    <a:p>
                      <a:pPr>
                        <a:defRPr sz="1200">
                          <a:solidFill>
                            <a:srgbClr val="1C2230"/>
                          </a:solidFill>
                          <a:latin typeface="Yu Gothic"/>
                        </a:defRPr>
                      </a:pPr>
                      <a:r>
                        <a:t>シナリオ系種目(続き)</a:t>
                      </a:r>
                    </a:p>
                  </a:txBody>
                  <a:tcPr>
                    <a:solidFill>
                      <a:srgbClr val="FFFFFF"/>
                    </a:solidFill>
                  </a:tcPr>
                </a:tc>
                <a:tc>
                  <a:txBody>
                    <a:bodyPr/>
                    <a:lstStyle/>
                    <a:p>
                      <a:pPr>
                        <a:defRPr sz="1200">
                          <a:solidFill>
                            <a:srgbClr val="1C2230"/>
                          </a:solidFill>
                          <a:latin typeface="Yu Gothic"/>
                        </a:defRPr>
                      </a:pPr>
                      <a:r>
                        <a:t>産業組立・部材供給、小売・オフィスサービス</a:t>
                      </a:r>
                    </a:p>
                  </a:txBody>
                  <a:tcPr>
                    <a:solidFill>
                      <a:srgbClr val="FFFFFF"/>
                    </a:solidFill>
                  </a:tcPr>
                </a:tc>
              </a:tr>
              <a:tr h="502920">
                <a:tc>
                  <a:txBody>
                    <a:bodyPr/>
                    <a:lstStyle/>
                    <a:p>
                      <a:pPr>
                        <a:defRPr sz="1200">
                          <a:solidFill>
                            <a:srgbClr val="1C2230"/>
                          </a:solidFill>
                          <a:latin typeface="Yu Gothic"/>
                        </a:defRPr>
                      </a:pPr>
                      <a:r>
                        <a:t>シナリオ系種目(続き)</a:t>
                      </a:r>
                    </a:p>
                  </a:txBody>
                  <a:tcPr>
                    <a:solidFill>
                      <a:srgbClr val="F1F5FA"/>
                    </a:solidFill>
                  </a:tcPr>
                </a:tc>
                <a:tc>
                  <a:txBody>
                    <a:bodyPr/>
                    <a:lstStyle/>
                    <a:p>
                      <a:pPr>
                        <a:defRPr sz="1200">
                          <a:solidFill>
                            <a:srgbClr val="1C2230"/>
                          </a:solidFill>
                          <a:latin typeface="Yu Gothic"/>
                        </a:defRPr>
                      </a:pPr>
                      <a:r>
                        <a:t>EV充電、ケーブル接続・工具使用等の精密作業</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Times・複数報道(2026-08-18)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シナリオ系種目の具体例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実務を想定した種目の内容です。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ホテル・病院等の公共空間を想定した緊急対応シナリオ</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倉庫での梱包・搬送作業</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産業組立ラインでの部材供給作業</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小売店舗・オフィスでの接客サービス、EV充電、ケーブル接続などの精密作業</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Times・複数報道(2026-08-18)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大会会場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国家速滑館(氷のリボン)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2022年北京冬季五輪でも使用された会場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複数報道(2026-08-18)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AI・ロボティクス業界における位置づけ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業界内での本大会の意味です。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中国のヒューマノイドロボット企業が国内外の展示会・イベントで存在感を強める中、各社の実機を比較できる場として業界内で注目されている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競技系・シナリオ系の両方で技術を試すことで、実用化に向けた進捗を示す機会となっている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ただし、本大会における具体的な参加企業・ロボットモデルの一覧は、本調査の範囲では公式発表として確認できていない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大会の結果が実際の商業化・実用化にどうつながるかは、大会終了後の続報を待つ必要がある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大会規模の拡大 vs まだ出ていない結果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確定している事実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16カ国・666チーム・2,056台という参加規模</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前回大会からの拡大(チーム数+138%)</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8月18日時点でのロボット北京入り・準備状況</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まだ確定していないこと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大会本番(8月22日〜26日)の結果・成績</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具体的な参加企業・ロボットモデルの一覧</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実際の商業化・実用化への波及効果</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『ロボット参加台数が倍増した』という公式表現と、単純な数値比較(約4倍)との食い違いの原因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参加企業・ロボットモデルの具体的な一覧</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国別チーム数の詳しい内訳</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大会本番(8月22日〜26日)の結果・成績は、着手日時点でまだ開催されていないため扱っていない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もう一つの規模指標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ロボット2,056台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2025年の500台超から大幅に拡大(拡大率の表現には食い違いあり)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Global Times・eWeek(2026-08-18)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参加規模まとめ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数値</a:t>
                      </a:r>
                    </a:p>
                  </a:txBody>
                  <a:tcPr>
                    <a:solidFill>
                      <a:srgbClr val="2B3A55"/>
                    </a:solidFill>
                  </a:tcPr>
                </a:tc>
              </a:tr>
              <a:tr h="502920">
                <a:tc>
                  <a:txBody>
                    <a:bodyPr/>
                    <a:lstStyle/>
                    <a:p>
                      <a:pPr>
                        <a:defRPr sz="1200">
                          <a:solidFill>
                            <a:srgbClr val="1C2230"/>
                          </a:solidFill>
                          <a:latin typeface="Yu Gothic"/>
                        </a:defRPr>
                      </a:pPr>
                      <a:r>
                        <a:t>参加国数</a:t>
                      </a:r>
                    </a:p>
                  </a:txBody>
                  <a:tcPr>
                    <a:solidFill>
                      <a:srgbClr val="FFFFFF"/>
                    </a:solidFill>
                  </a:tcPr>
                </a:tc>
                <a:tc>
                  <a:txBody>
                    <a:bodyPr/>
                    <a:lstStyle/>
                    <a:p>
                      <a:pPr>
                        <a:defRPr sz="1200">
                          <a:solidFill>
                            <a:srgbClr val="1C2230"/>
                          </a:solidFill>
                          <a:latin typeface="Yu Gothic"/>
                        </a:defRPr>
                      </a:pPr>
                      <a:r>
                        <a:t>16カ国</a:t>
                      </a:r>
                    </a:p>
                  </a:txBody>
                  <a:tcPr>
                    <a:solidFill>
                      <a:srgbClr val="FFFFFF"/>
                    </a:solidFill>
                  </a:tcPr>
                </a:tc>
              </a:tr>
              <a:tr h="502920">
                <a:tc>
                  <a:txBody>
                    <a:bodyPr/>
                    <a:lstStyle/>
                    <a:p>
                      <a:pPr>
                        <a:defRPr sz="1200">
                          <a:solidFill>
                            <a:srgbClr val="1C2230"/>
                          </a:solidFill>
                          <a:latin typeface="Yu Gothic"/>
                        </a:defRPr>
                      </a:pPr>
                      <a:r>
                        <a:t>参加チーム数</a:t>
                      </a:r>
                    </a:p>
                  </a:txBody>
                  <a:tcPr>
                    <a:solidFill>
                      <a:srgbClr val="F1F5FA"/>
                    </a:solidFill>
                  </a:tcPr>
                </a:tc>
                <a:tc>
                  <a:txBody>
                    <a:bodyPr/>
                    <a:lstStyle/>
                    <a:p>
                      <a:pPr>
                        <a:defRPr sz="1200">
                          <a:solidFill>
                            <a:srgbClr val="1C2230"/>
                          </a:solidFill>
                          <a:latin typeface="Yu Gothic"/>
                        </a:defRPr>
                      </a:pPr>
                      <a:r>
                        <a:t>666チーム</a:t>
                      </a:r>
                    </a:p>
                  </a:txBody>
                  <a:tcPr>
                    <a:solidFill>
                      <a:srgbClr val="F1F5FA"/>
                    </a:solidFill>
                  </a:tcPr>
                </a:tc>
              </a:tr>
              <a:tr h="502920">
                <a:tc>
                  <a:txBody>
                    <a:bodyPr/>
                    <a:lstStyle/>
                    <a:p>
                      <a:pPr>
                        <a:defRPr sz="1200">
                          <a:solidFill>
                            <a:srgbClr val="1C2230"/>
                          </a:solidFill>
                          <a:latin typeface="Yu Gothic"/>
                        </a:defRPr>
                      </a:pPr>
                      <a:r>
                        <a:t>参加ロボット台数</a:t>
                      </a:r>
                    </a:p>
                  </a:txBody>
                  <a:tcPr>
                    <a:solidFill>
                      <a:srgbClr val="FFFFFF"/>
                    </a:solidFill>
                  </a:tcPr>
                </a:tc>
                <a:tc>
                  <a:txBody>
                    <a:bodyPr/>
                    <a:lstStyle/>
                    <a:p>
                      <a:pPr>
                        <a:defRPr sz="1200">
                          <a:solidFill>
                            <a:srgbClr val="1C2230"/>
                          </a:solidFill>
                          <a:latin typeface="Yu Gothic"/>
                        </a:defRPr>
                      </a:pPr>
                      <a:r>
                        <a:t>2,056台</a:t>
                      </a:r>
                    </a:p>
                  </a:txBody>
                  <a:tcPr>
                    <a:solidFill>
                      <a:srgbClr val="FFFFFF"/>
                    </a:solidFill>
                  </a:tcPr>
                </a:tc>
              </a:tr>
              <a:tr h="502920">
                <a:tc>
                  <a:txBody>
                    <a:bodyPr/>
                    <a:lstStyle/>
                    <a:p>
                      <a:pPr>
                        <a:defRPr sz="1200">
                          <a:solidFill>
                            <a:srgbClr val="1C2230"/>
                          </a:solidFill>
                          <a:latin typeface="Yu Gothic"/>
                        </a:defRPr>
                      </a:pPr>
                      <a:r>
                        <a:t>種目数</a:t>
                      </a:r>
                    </a:p>
                  </a:txBody>
                  <a:tcPr>
                    <a:solidFill>
                      <a:srgbClr val="F1F5FA"/>
                    </a:solidFill>
                  </a:tcPr>
                </a:tc>
                <a:tc>
                  <a:txBody>
                    <a:bodyPr/>
                    <a:lstStyle/>
                    <a:p>
                      <a:pPr>
                        <a:defRPr sz="1200">
                          <a:solidFill>
                            <a:srgbClr val="1C2230"/>
                          </a:solidFill>
                          <a:latin typeface="Yu Gothic"/>
                        </a:defRPr>
                      </a:pPr>
                      <a:r>
                        <a:t>32種目</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Global Times・People's Daily・eWeek(2026-08-18)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業界へのインプリケーション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この大会が示唆することです。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ヒューマノイドロボットの開発が、展示・デモンストレーションの段階から、実務シナリオでの技術検証の段階へと移行しつつある動きの一例といえる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中国国内の参加規模(157社・200大学)の大きさは、同国のロボティクス産業の裾野の広さを示す</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国際参加の広がり(16カ国)は、大会自体が国際的な技術交流の場としての性格を強めていることを示唆する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実際の商業化・実用化への波及効果は、大会終了後の続報を待って確認する必要がある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種目数の変化:2025年 vs 2026年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2025年第1回大会</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26種目</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280チーム・500台超</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ボクシング・サッカー・清掃・薬品仕分け等</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2026年第2回大会</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32種目(+6種目)</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666チーム・2,056台</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走り幅跳び・重量挙げ・綱引き・卓球等が新規追加</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AI・ロボティクス業界の動向を追う立場として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各社の実機を比較できる場として、業界の技術進捗を確認する視点が役立つ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中国テック産業に関心がある立場として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国内157社・200大学という参加規模から、産業の裾野の広さを確認できる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ロボティクス投資を検討する立場として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大会結果や具体的な参加企業の一覧は今後の続報を確認する必要がある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第2回世界ヒューマノイドロボット競技会は2026年8月22日〜26日、北京で開催され、16カ国・666チーム・2,056台のロボットが参加する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2025年第1回大会(280チーム・500台超)から大幅に規模が拡大している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『ロボット台数が倍増した』という公式表現と、単純な数値比較(約4倍)との食い違いを正直に開示した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着手日時点で大会本番はまだ開催されておらず、本テーマは開幕直前の参加規模・準備状況のみを扱っている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Global Times・People's Daily・eWeek・DIGITIMES(2026-08-18)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2,056台のロボットが北京に集結。開幕まで、あと数日。</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第2回世界ヒューマノイドロボット競技会が2026年8月22日に北京で開幕します。16カ国・666チーム・2,056台という規模、そして前回大会からの拡大の内実まで、出典付きで整理してお届けしました。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