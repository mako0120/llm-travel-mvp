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ド・ベンガルール発のエンタープライズAIスタートアップZenalystが2026年8月19日、プレシード資金調達を発表しました。同社は対象業務の手作業を最大90%削減したと説明しています。今日はこの発表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結論から確認します。Zenalystは自社のAIエージェント基盤『ZenForce』により、対象業務の手作業を最大90%削減したと発表しています。これは自社発表の数値である点に留意が必要です。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今日は6つの流れでお伝えします。資金調達の内容から、ZenForceの機能、90%削減の中身まで、正確に数字を引用しながら整理します。誇張せず、確認できなかったことは正直にお伝えします。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このテーマを扱う理由です。高い鮮度に加え、90%削減という具体的な数字、AIエージェントの実務活用事例という点に注目しました。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Zenalystは2025年設立のインド・ベンガルール拠点のエンタープライズAIプラットフォームで、150以上の企業システムと連携しています。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今回の資金調達の概要です。プレシードラウンドで3クロール・ルピーを、譲渡性転換社債の形で調達しました。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調達資金はZenForceの強化と、AIエージェントのライブラリ拡充に充てられます。評価額の詳細までは確認できていません。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Zenalystは150以上の企業システムと連携する統合プラットフォームを提供しています。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ZenForceは継続的なモニタリング・レポーティングを行うAIワークフォースと位置づけられています。技術基盤の詳細までは確認できていません。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ZenForceが対象とする業務分野を対比しました。財務・調達分野の情報が相対的に多く、法務分野の詳細は限定的です。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報道で確認できた導入企業です。不動産・製薬など複数業種にまたがっています。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上場企業を含む複数業種での導入実績が報じられていますが、企業ごとの具体的な効果の数値までは確認できていません。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Zenalystは2025年設立で、設立から1年程度というスピード感で資金調達・複数業種への導入を進めています。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『90%削減』は自社発表の数値であり、第三者による検証状況は確認できていません。断定的な事実としては扱いません。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Zenalystの成長の流れを図にしました。設立から複数業種への導入、そして今回の資金調達という流れです。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今回の発表を3ステップで総括しました。プレシード調達、ZenForceの強化、そして複数業種への導入実績という流れです。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バックオフィス業務向けAIエージェントへの投資が世界的に活発化する中での調達です。他社との具体的な比較は行っていません。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現時点の状況と、今後の展望を対比しました。今後の計画については確認できていない点が多く残ります。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今回の発表の要点をまとめました。調達額、連携システム数、導入企業、自社発表の効果という4点です。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今後の見どころとして、評価額や第三者検証の実施有無が挙げられますが、いずれも現時点では確認できていません。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ZenForceは財務・調達・法務の3分野を主な対象業務としています。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Zenalystの創業者3名です。それぞれの詳細な経歴は本調査の範囲では確認できていません。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今回のラウンドにはSKIL Cabs・GERP Technologies等、複数のエンジェル・法人投資家が参加しました。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今回はCompulsorily Convertible Debentures(譲渡性転換社債)という形式での調達です。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譲渡性転換社債は、将来の株式ラウンドで株式に転換される負債性の資金調達手段です。転換条件の詳細までは確認できていません。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確認できなかったことを正直にお伝えします。第三者検証の有無、評価額、技術基盤の詳細は確認できていません。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このニュースが読者にとって意味することをまとめました。AIエージェントに関心がある立場、投資に関心がある立場、実務に携わる立場、それぞれで意識したい視点です。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まとめです。AIエージェントによる手作業削減という発表内容と、自社発表である点への留保、そして確認できていない点を正直にお伝えしました。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Zenalystのプレシード資金調達について、AIエージェントによる手作業削減という発表内容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手作業が</a:t>
            </a:r>
          </a:p>
          <a:p>
            <a:pPr algn="l">
              <a:lnSpc>
                <a:spcPct val="115000"/>
              </a:lnSpc>
            </a:pPr>
            <a:r>
              <a:rPr sz="4200" b="1">
                <a:solidFill>
                  <a:srgbClr val="FFFFFF"/>
                </a:solidFill>
                <a:latin typeface="Yu Gothic"/>
              </a:rPr>
              <a:t>最大90%減った?</a:t>
            </a:r>
          </a:p>
          <a:p>
            <a:pPr algn="l">
              <a:lnSpc>
                <a:spcPct val="115000"/>
              </a:lnSpc>
            </a:pPr>
            <a:r>
              <a:rPr sz="4200" b="1">
                <a:solidFill>
                  <a:srgbClr val="FFFFFF"/>
                </a:solidFill>
                <a:latin typeface="Yu Gothic"/>
              </a:rPr>
              <a:t>新興AIエージェントの正体</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2026年8月19日発表——Zenalyst、プレシード資金調達の裏側</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StartupTalky・Entrackr(2026年8月19日)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対象業務の手作業を最大90%削減(自社発表)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150以上の企業システムと連携するAIエージェント基盤「ZenForce」(2026年8月19日発表)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StartupTalky・Entrackr(2026-08-19)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Zenalystとは・基礎知識</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今回の資金調達の内容を確認する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ZenForceの機能・導入企業を確認する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『90%削減』の中身を確認する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『手作業を最大90%削減』という具体的で分かりやすい数字である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AIエージェントが企業の実務にどう入り込むかを示す事例である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複数の独立した情報源(StartupTalky・Entrackr等)で確認できる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StartupTalky・Entrackr(2026-08-19)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Zenalystとは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2025年設立、インド・ベンガルール拠点のエンタープライズAIプラットフォーム</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創業者はナゲンドラ・シン氏、サンケート・クリシュナッパ氏、ヴィジャイ・ジャー氏の3名</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150以上の企業システムと連携する統合プラットフォームを提供</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財務・調達・法務などのバックオフィス業務を対象とする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StartupTalky・Entrackr(2026-08-19)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今回の資金調達の概要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調達額</a:t>
                      </a:r>
                    </a:p>
                  </a:txBody>
                  <a:tcPr>
                    <a:solidFill>
                      <a:srgbClr val="FFFFFF"/>
                    </a:solidFill>
                  </a:tcPr>
                </a:tc>
                <a:tc>
                  <a:txBody>
                    <a:bodyPr/>
                    <a:lstStyle/>
                    <a:p>
                      <a:pPr>
                        <a:defRPr sz="1200">
                          <a:solidFill>
                            <a:srgbClr val="2A1712"/>
                          </a:solidFill>
                          <a:latin typeface="Yu Gothic"/>
                        </a:defRPr>
                      </a:pPr>
                      <a:r>
                        <a:t>3クロール・ルピー</a:t>
                      </a:r>
                    </a:p>
                  </a:txBody>
                  <a:tcPr>
                    <a:solidFill>
                      <a:srgbClr val="FFFFFF"/>
                    </a:solidFill>
                  </a:tcPr>
                </a:tc>
              </a:tr>
              <a:tr h="502920">
                <a:tc>
                  <a:txBody>
                    <a:bodyPr/>
                    <a:lstStyle/>
                    <a:p>
                      <a:pPr>
                        <a:defRPr sz="1200">
                          <a:solidFill>
                            <a:srgbClr val="2A1712"/>
                          </a:solidFill>
                          <a:latin typeface="Yu Gothic"/>
                        </a:defRPr>
                      </a:pPr>
                      <a:r>
                        <a:t>ラウンド</a:t>
                      </a:r>
                    </a:p>
                  </a:txBody>
                  <a:tcPr>
                    <a:solidFill>
                      <a:srgbClr val="FBF3E6"/>
                    </a:solidFill>
                  </a:tcPr>
                </a:tc>
                <a:tc>
                  <a:txBody>
                    <a:bodyPr/>
                    <a:lstStyle/>
                    <a:p>
                      <a:pPr>
                        <a:defRPr sz="1200">
                          <a:solidFill>
                            <a:srgbClr val="2A1712"/>
                          </a:solidFill>
                          <a:latin typeface="Yu Gothic"/>
                        </a:defRPr>
                      </a:pPr>
                      <a:r>
                        <a:t>プレシード(譲渡性転換社債の形式)</a:t>
                      </a:r>
                    </a:p>
                  </a:txBody>
                  <a:tcPr>
                    <a:solidFill>
                      <a:srgbClr val="FBF3E6"/>
                    </a:solidFill>
                  </a:tcPr>
                </a:tc>
              </a:tr>
              <a:tr h="502920">
                <a:tc>
                  <a:txBody>
                    <a:bodyPr/>
                    <a:lstStyle/>
                    <a:p>
                      <a:pPr>
                        <a:defRPr sz="1200">
                          <a:solidFill>
                            <a:srgbClr val="2A1712"/>
                          </a:solidFill>
                          <a:latin typeface="Yu Gothic"/>
                        </a:defRPr>
                      </a:pPr>
                      <a:r>
                        <a:t>参加投資家</a:t>
                      </a:r>
                    </a:p>
                  </a:txBody>
                  <a:tcPr>
                    <a:solidFill>
                      <a:srgbClr val="FFFFFF"/>
                    </a:solidFill>
                  </a:tcPr>
                </a:tc>
                <a:tc>
                  <a:txBody>
                    <a:bodyPr/>
                    <a:lstStyle/>
                    <a:p>
                      <a:pPr>
                        <a:defRPr sz="1200">
                          <a:solidFill>
                            <a:srgbClr val="2A1712"/>
                          </a:solidFill>
                          <a:latin typeface="Yu Gothic"/>
                        </a:defRPr>
                      </a:pPr>
                      <a:r>
                        <a:t>SKIL Cabs・GERP Technologies等</a:t>
                      </a:r>
                    </a:p>
                  </a:txBody>
                  <a:tcPr>
                    <a:solidFill>
                      <a:srgbClr val="FFFFFF"/>
                    </a:solidFill>
                  </a:tcPr>
                </a:tc>
              </a:tr>
              <a:tr h="502920">
                <a:tc>
                  <a:txBody>
                    <a:bodyPr/>
                    <a:lstStyle/>
                    <a:p>
                      <a:pPr>
                        <a:defRPr sz="1200">
                          <a:solidFill>
                            <a:srgbClr val="2A1712"/>
                          </a:solidFill>
                          <a:latin typeface="Yu Gothic"/>
                        </a:defRPr>
                      </a:pPr>
                      <a:r>
                        <a:t>発表日</a:t>
                      </a:r>
                    </a:p>
                  </a:txBody>
                  <a:tcPr>
                    <a:solidFill>
                      <a:srgbClr val="FBF3E6"/>
                    </a:solidFill>
                  </a:tcPr>
                </a:tc>
                <a:tc>
                  <a:txBody>
                    <a:bodyPr/>
                    <a:lstStyle/>
                    <a:p>
                      <a:pPr>
                        <a:defRPr sz="1200">
                          <a:solidFill>
                            <a:srgbClr val="2A1712"/>
                          </a:solidFill>
                          <a:latin typeface="Yu Gothic"/>
                        </a:defRPr>
                      </a:pPr>
                      <a:r>
                        <a:t>2026年8月19日</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調達資金の使途</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資金の使い道です。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自社プラットフォーム『ZenForce』の強化に充当</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財務(トレジャリー)・調達・法務業務にまたがるAIエージェントのライブラリ拡充</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具体的な採用計画・開発ロードマップの詳細は本調査の範囲では確認できていない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今回の調達後の企業評価額(バリュエーション)は確認できていない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連携する企業システム数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150以上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統合プラットフォームとしての規模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StartupTalky(2026-08-19)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ZenForceの機能</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AIエージェント基盤の内容です。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継続的なモニタリング・レポーティングを行う『AIワークフォース』と位置づけられている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財務・調達・法務の各業務にまたがるAIエージェントのライブラリを提供</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モジュール型のエンタープライズ製品スイートの一部として設計されている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利用するAIモデル・技術基盤の詳細(自社開発か外部API利用か等)は本調査の範囲では確認できていない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Entrackr(2026-08-19)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対象業務: 財務・調達 vs 法務</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財務・調達</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トレジャリー業務のAIエージェント</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継続的なモニタリング機能</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導入企業に不動産・製薬等が含まれる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法務</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法務業務のAIエージェント</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詳細な機能内容は限定的にしか確認できていない</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対象業務の範囲は本調査では特定できていない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導入企業(報道で確認できた範囲)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a:t>
                      </a:r>
                    </a:p>
                  </a:txBody>
                  <a:tcPr>
                    <a:solidFill>
                      <a:srgbClr val="7A1F2B"/>
                    </a:solidFill>
                  </a:tcPr>
                </a:tc>
                <a:tc>
                  <a:txBody>
                    <a:bodyPr/>
                    <a:lstStyle/>
                    <a:p>
                      <a:pPr>
                        <a:defRPr sz="1300" b="1">
                          <a:solidFill>
                            <a:srgbClr val="FFFFFF"/>
                          </a:solidFill>
                          <a:latin typeface="Yu Gothic"/>
                        </a:defRPr>
                      </a:pPr>
                      <a:r>
                        <a:t>業種</a:t>
                      </a:r>
                    </a:p>
                  </a:txBody>
                  <a:tcPr>
                    <a:solidFill>
                      <a:srgbClr val="7A1F2B"/>
                    </a:solidFill>
                  </a:tcPr>
                </a:tc>
              </a:tr>
              <a:tr h="502920">
                <a:tc>
                  <a:txBody>
                    <a:bodyPr/>
                    <a:lstStyle/>
                    <a:p>
                      <a:pPr>
                        <a:defRPr sz="1200">
                          <a:solidFill>
                            <a:srgbClr val="2A1712"/>
                          </a:solidFill>
                          <a:latin typeface="Yu Gothic"/>
                        </a:defRPr>
                      </a:pPr>
                      <a:r>
                        <a:t>Sattva Group</a:t>
                      </a:r>
                    </a:p>
                  </a:txBody>
                  <a:tcPr>
                    <a:solidFill>
                      <a:srgbClr val="FFFFFF"/>
                    </a:solidFill>
                  </a:tcPr>
                </a:tc>
                <a:tc>
                  <a:txBody>
                    <a:bodyPr/>
                    <a:lstStyle/>
                    <a:p>
                      <a:pPr>
                        <a:defRPr sz="1200">
                          <a:solidFill>
                            <a:srgbClr val="2A1712"/>
                          </a:solidFill>
                          <a:latin typeface="Yu Gothic"/>
                        </a:defRPr>
                      </a:pPr>
                      <a:r>
                        <a:t>不動産開発</a:t>
                      </a:r>
                    </a:p>
                  </a:txBody>
                  <a:tcPr>
                    <a:solidFill>
                      <a:srgbClr val="FFFFFF"/>
                    </a:solidFill>
                  </a:tcPr>
                </a:tc>
              </a:tr>
              <a:tr h="502920">
                <a:tc>
                  <a:txBody>
                    <a:bodyPr/>
                    <a:lstStyle/>
                    <a:p>
                      <a:pPr>
                        <a:defRPr sz="1200">
                          <a:solidFill>
                            <a:srgbClr val="2A1712"/>
                          </a:solidFill>
                          <a:latin typeface="Yu Gothic"/>
                        </a:defRPr>
                      </a:pPr>
                      <a:r>
                        <a:t>Bharat Biotech</a:t>
                      </a:r>
                    </a:p>
                  </a:txBody>
                  <a:tcPr>
                    <a:solidFill>
                      <a:srgbClr val="FBF3E6"/>
                    </a:solidFill>
                  </a:tcPr>
                </a:tc>
                <a:tc>
                  <a:txBody>
                    <a:bodyPr/>
                    <a:lstStyle/>
                    <a:p>
                      <a:pPr>
                        <a:defRPr sz="1200">
                          <a:solidFill>
                            <a:srgbClr val="2A1712"/>
                          </a:solidFill>
                          <a:latin typeface="Yu Gothic"/>
                        </a:defRPr>
                      </a:pPr>
                      <a:r>
                        <a:t>製薬・バイオ</a:t>
                      </a:r>
                    </a:p>
                  </a:txBody>
                  <a:tcPr>
                    <a:solidFill>
                      <a:srgbClr val="FBF3E6"/>
                    </a:solidFill>
                  </a:tcPr>
                </a:tc>
              </a:tr>
              <a:tr h="502920">
                <a:tc>
                  <a:txBody>
                    <a:bodyPr/>
                    <a:lstStyle/>
                    <a:p>
                      <a:pPr>
                        <a:defRPr sz="1200">
                          <a:solidFill>
                            <a:srgbClr val="2A1712"/>
                          </a:solidFill>
                          <a:latin typeface="Yu Gothic"/>
                        </a:defRPr>
                      </a:pPr>
                      <a:r>
                        <a:t>Puravankara</a:t>
                      </a:r>
                    </a:p>
                  </a:txBody>
                  <a:tcPr>
                    <a:solidFill>
                      <a:srgbClr val="FFFFFF"/>
                    </a:solidFill>
                  </a:tcPr>
                </a:tc>
                <a:tc>
                  <a:txBody>
                    <a:bodyPr/>
                    <a:lstStyle/>
                    <a:p>
                      <a:pPr>
                        <a:defRPr sz="1200">
                          <a:solidFill>
                            <a:srgbClr val="2A1712"/>
                          </a:solidFill>
                          <a:latin typeface="Yu Gothic"/>
                        </a:defRPr>
                      </a:pPr>
                      <a:r>
                        <a:t>不動産開発(上場企業)</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StartupTalky・Entrackr(2026-08-19)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導入企業の広がり</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導入企業に関する追加情報です。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上場している不動産開発企業も導入企業に含まれると報じられている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不動産・製薬など、複数業種にまたがる導入実績がある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導入企業全体の総数・業種別内訳の詳細は本調査の範囲では確認できていない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各導入企業における具体的な削減効果の個別数値は確認できていない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Entrackr(2026-08-19)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創業年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2025年設立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設立から1年程度での資金調達・複数業種への導入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StartupTalky(2026-08-19)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『90%削減』の中身について(留保つき)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この数字の扱い方です。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『対象業務の手作業を最大90%削減』はZenalyst自社発表の数値である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第三者機関による独立した検証状況は本調査の範囲では確認できていない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『対象業務』の具体的な定義・範囲(全業務か特定業務のみか)は確認できていない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自社発表の数値であることを明記した上で、断定的な事実としては扱わない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Zenalystの成長の流れ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2025年設立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ベンガルール拠点</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150以上の企業システムと連携</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複数業種の企業へ導入</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プレシード調達で更なる拡充へ</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3クロール・ルピー、2026年8月19日発表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設立から今回の資金調達までの流れ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StartupTalky・Entrackr(2026-08-19)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プレシード調達</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3クロール・ルピー、譲渡性転換社債</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ZenForce強化</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財務・調達・法務のAIエージェント拡充</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複数業種への導入実績</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不動産・製薬など</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エンタープライズAIエージェント市場での位置づけ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バックオフィス業務(財務・調達・法務)向けAIエージェントへの投資が世界的に活発化する中での調達</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150以上のシステム連携という統合の広さは、同分野スタートアップの中での特徴の一つといえる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他の同分野スタートアップとの具体的な業績比較は本調査では行っていない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『90%削減』という数字を過度に一般化せず、自社発表の範囲で正確に伝える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プレシード時点 vs 今後の展望</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現時点(プレシード)</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3クロール・ルピー調達</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150以上のシステム連携</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不動産・製薬等への導入実績</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今後の展望(未確認)</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評価額・次ラウンドの計画</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対象業務の拡大範囲</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第三者検証の実施有無</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調達額</a:t>
                      </a:r>
                    </a:p>
                  </a:txBody>
                  <a:tcPr>
                    <a:solidFill>
                      <a:srgbClr val="FFFFFF"/>
                    </a:solidFill>
                  </a:tcPr>
                </a:tc>
                <a:tc>
                  <a:txBody>
                    <a:bodyPr/>
                    <a:lstStyle/>
                    <a:p>
                      <a:pPr>
                        <a:defRPr sz="1200">
                          <a:solidFill>
                            <a:srgbClr val="2A1712"/>
                          </a:solidFill>
                          <a:latin typeface="Yu Gothic"/>
                        </a:defRPr>
                      </a:pPr>
                      <a:r>
                        <a:t>3クロール・ルピー(プレシード)</a:t>
                      </a:r>
                    </a:p>
                  </a:txBody>
                  <a:tcPr>
                    <a:solidFill>
                      <a:srgbClr val="FFFFFF"/>
                    </a:solidFill>
                  </a:tcPr>
                </a:tc>
              </a:tr>
              <a:tr h="502920">
                <a:tc>
                  <a:txBody>
                    <a:bodyPr/>
                    <a:lstStyle/>
                    <a:p>
                      <a:pPr>
                        <a:defRPr sz="1200">
                          <a:solidFill>
                            <a:srgbClr val="2A1712"/>
                          </a:solidFill>
                          <a:latin typeface="Yu Gothic"/>
                        </a:defRPr>
                      </a:pPr>
                      <a:r>
                        <a:t>連携システム数</a:t>
                      </a:r>
                    </a:p>
                  </a:txBody>
                  <a:tcPr>
                    <a:solidFill>
                      <a:srgbClr val="FBF3E6"/>
                    </a:solidFill>
                  </a:tcPr>
                </a:tc>
                <a:tc>
                  <a:txBody>
                    <a:bodyPr/>
                    <a:lstStyle/>
                    <a:p>
                      <a:pPr>
                        <a:defRPr sz="1200">
                          <a:solidFill>
                            <a:srgbClr val="2A1712"/>
                          </a:solidFill>
                          <a:latin typeface="Yu Gothic"/>
                        </a:defRPr>
                      </a:pPr>
                      <a:r>
                        <a:t>150以上</a:t>
                      </a:r>
                    </a:p>
                  </a:txBody>
                  <a:tcPr>
                    <a:solidFill>
                      <a:srgbClr val="FBF3E6"/>
                    </a:solidFill>
                  </a:tcPr>
                </a:tc>
              </a:tr>
              <a:tr h="502920">
                <a:tc>
                  <a:txBody>
                    <a:bodyPr/>
                    <a:lstStyle/>
                    <a:p>
                      <a:pPr>
                        <a:defRPr sz="1200">
                          <a:solidFill>
                            <a:srgbClr val="2A1712"/>
                          </a:solidFill>
                          <a:latin typeface="Yu Gothic"/>
                        </a:defRPr>
                      </a:pPr>
                      <a:r>
                        <a:t>主な導入企業</a:t>
                      </a:r>
                    </a:p>
                  </a:txBody>
                  <a:tcPr>
                    <a:solidFill>
                      <a:srgbClr val="FFFFFF"/>
                    </a:solidFill>
                  </a:tcPr>
                </a:tc>
                <a:tc>
                  <a:txBody>
                    <a:bodyPr/>
                    <a:lstStyle/>
                    <a:p>
                      <a:pPr>
                        <a:defRPr sz="1200">
                          <a:solidFill>
                            <a:srgbClr val="2A1712"/>
                          </a:solidFill>
                          <a:latin typeface="Yu Gothic"/>
                        </a:defRPr>
                      </a:pPr>
                      <a:r>
                        <a:t>Sattva Group・Bharat Biotech・Puravankara</a:t>
                      </a:r>
                    </a:p>
                  </a:txBody>
                  <a:tcPr>
                    <a:solidFill>
                      <a:srgbClr val="FFFFFF"/>
                    </a:solidFill>
                  </a:tcPr>
                </a:tc>
              </a:tr>
              <a:tr h="502920">
                <a:tc>
                  <a:txBody>
                    <a:bodyPr/>
                    <a:lstStyle/>
                    <a:p>
                      <a:pPr>
                        <a:defRPr sz="1200">
                          <a:solidFill>
                            <a:srgbClr val="2A1712"/>
                          </a:solidFill>
                          <a:latin typeface="Yu Gothic"/>
                        </a:defRPr>
                      </a:pPr>
                      <a:r>
                        <a:t>自社発表の効果</a:t>
                      </a:r>
                    </a:p>
                  </a:txBody>
                  <a:tcPr>
                    <a:solidFill>
                      <a:srgbClr val="FBF3E6"/>
                    </a:solidFill>
                  </a:tcPr>
                </a:tc>
                <a:tc>
                  <a:txBody>
                    <a:bodyPr/>
                    <a:lstStyle/>
                    <a:p>
                      <a:pPr>
                        <a:defRPr sz="1200">
                          <a:solidFill>
                            <a:srgbClr val="2A1712"/>
                          </a:solidFill>
                          <a:latin typeface="Yu Gothic"/>
                        </a:defRPr>
                      </a:pPr>
                      <a:r>
                        <a:t>対象業務の手作業を最大90%削減</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StartupTalky・Entrackr(2026-08-19)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今後注目される点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今後の見どころです。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今回の調達後の企業評価額(バリュエーション)</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『90%削減』の第三者検証の実施有無</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対象業務の具体的な範囲拡大の計画</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今後の公式発表・追加ラウンドの動向を継続して確認する必要がある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対象業務の分野数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財務・調達・法務の3分野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ZenForceが対象とする主要業務分野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StartupTalky・Entrackr(2026-08-19)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創業者プロフィール</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創業者</a:t>
                      </a:r>
                    </a:p>
                  </a:txBody>
                  <a:tcPr>
                    <a:solidFill>
                      <a:srgbClr val="7A1F2B"/>
                    </a:solidFill>
                  </a:tcPr>
                </a:tc>
                <a:tc>
                  <a:txBody>
                    <a:bodyPr/>
                    <a:lstStyle/>
                    <a:p>
                      <a:pPr>
                        <a:defRPr sz="1300" b="1">
                          <a:solidFill>
                            <a:srgbClr val="FFFFFF"/>
                          </a:solidFill>
                          <a:latin typeface="Yu Gothic"/>
                        </a:defRPr>
                      </a:pPr>
                      <a:r>
                        <a:t>役割</a:t>
                      </a:r>
                    </a:p>
                  </a:txBody>
                  <a:tcPr>
                    <a:solidFill>
                      <a:srgbClr val="7A1F2B"/>
                    </a:solidFill>
                  </a:tcPr>
                </a:tc>
              </a:tr>
              <a:tr h="502920">
                <a:tc>
                  <a:txBody>
                    <a:bodyPr/>
                    <a:lstStyle/>
                    <a:p>
                      <a:pPr>
                        <a:defRPr sz="1200">
                          <a:solidFill>
                            <a:srgbClr val="2A1712"/>
                          </a:solidFill>
                          <a:latin typeface="Yu Gothic"/>
                        </a:defRPr>
                      </a:pPr>
                      <a:r>
                        <a:t>ナゲンドラ・シン氏</a:t>
                      </a:r>
                    </a:p>
                  </a:txBody>
                  <a:tcPr>
                    <a:solidFill>
                      <a:srgbClr val="FFFFFF"/>
                    </a:solidFill>
                  </a:tcPr>
                </a:tc>
                <a:tc>
                  <a:txBody>
                    <a:bodyPr/>
                    <a:lstStyle/>
                    <a:p>
                      <a:pPr>
                        <a:defRPr sz="1200">
                          <a:solidFill>
                            <a:srgbClr val="2A1712"/>
                          </a:solidFill>
                          <a:latin typeface="Yu Gothic"/>
                        </a:defRPr>
                      </a:pPr>
                      <a:r>
                        <a:t>共同創業者</a:t>
                      </a:r>
                    </a:p>
                  </a:txBody>
                  <a:tcPr>
                    <a:solidFill>
                      <a:srgbClr val="FFFFFF"/>
                    </a:solidFill>
                  </a:tcPr>
                </a:tc>
              </a:tr>
              <a:tr h="502920">
                <a:tc>
                  <a:txBody>
                    <a:bodyPr/>
                    <a:lstStyle/>
                    <a:p>
                      <a:pPr>
                        <a:defRPr sz="1200">
                          <a:solidFill>
                            <a:srgbClr val="2A1712"/>
                          </a:solidFill>
                          <a:latin typeface="Yu Gothic"/>
                        </a:defRPr>
                      </a:pPr>
                      <a:r>
                        <a:t>サンケート・クリシュナッパ氏</a:t>
                      </a:r>
                    </a:p>
                  </a:txBody>
                  <a:tcPr>
                    <a:solidFill>
                      <a:srgbClr val="FBF3E6"/>
                    </a:solidFill>
                  </a:tcPr>
                </a:tc>
                <a:tc>
                  <a:txBody>
                    <a:bodyPr/>
                    <a:lstStyle/>
                    <a:p>
                      <a:pPr>
                        <a:defRPr sz="1200">
                          <a:solidFill>
                            <a:srgbClr val="2A1712"/>
                          </a:solidFill>
                          <a:latin typeface="Yu Gothic"/>
                        </a:defRPr>
                      </a:pPr>
                      <a:r>
                        <a:t>共同創業者</a:t>
                      </a:r>
                    </a:p>
                  </a:txBody>
                  <a:tcPr>
                    <a:solidFill>
                      <a:srgbClr val="FBF3E6"/>
                    </a:solidFill>
                  </a:tcPr>
                </a:tc>
              </a:tr>
              <a:tr h="502920">
                <a:tc>
                  <a:txBody>
                    <a:bodyPr/>
                    <a:lstStyle/>
                    <a:p>
                      <a:pPr>
                        <a:defRPr sz="1200">
                          <a:solidFill>
                            <a:srgbClr val="2A1712"/>
                          </a:solidFill>
                          <a:latin typeface="Yu Gothic"/>
                        </a:defRPr>
                      </a:pPr>
                      <a:r>
                        <a:t>ヴィジャイ・ジャー氏</a:t>
                      </a:r>
                    </a:p>
                  </a:txBody>
                  <a:tcPr>
                    <a:solidFill>
                      <a:srgbClr val="FFFFFF"/>
                    </a:solidFill>
                  </a:tcPr>
                </a:tc>
                <a:tc>
                  <a:txBody>
                    <a:bodyPr/>
                    <a:lstStyle/>
                    <a:p>
                      <a:pPr>
                        <a:defRPr sz="1200">
                          <a:solidFill>
                            <a:srgbClr val="2A1712"/>
                          </a:solidFill>
                          <a:latin typeface="Yu Gothic"/>
                        </a:defRPr>
                      </a:pPr>
                      <a:r>
                        <a:t>共同創業者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StartupTalky(2026-08-19)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参加した投資家数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エンジェル・法人投資家が複数参加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SKIL Cabs・GERP Technologies等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StartupTalky(2026-08-19)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調達方式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譲渡性転換社債(CCD)</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株式ではなく転換社債の形式での調達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StartupTalky(2026-08-19)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『譲渡性転換社債』とは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調達方式についての補足です。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将来の株式ラウンドで株式に転換される前提の負債性資金調達手段</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プレシード〜シード期のスタートアップでインドでもしばしば用いられる方式とされる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株式による資金調達と異なり、この時点では企業評価額を確定させない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今回の転換条件の詳細(転換価格・トリガー等)は本調査の範囲では確認できていない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『手作業90%削減』の第三者検証の実施有無</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今回の調達後の企業評価額(バリュエーション)</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ZenForceが利用するAIモデル・技術基盤の詳細</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本テーマは特定企業(Zenalyst)の製品導入を推奨するものではなく、報じられた資金調達の紹介にとどめる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確認できている事実</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3クロール・ルピーの調達</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150以上のシステム連携</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複数業種への導入実績</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今後の不確定要素</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『90%削減』の第三者検証</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企業評価額</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対象業務の拡大範囲</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AIエージェント・業務効率化に関心がある立場として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バックオフィス業務でのAIエージェント活用事例の一つとして参考になる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スタートアップ投資に関心がある立場として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『90%削減』が自社発表の数値である点を踏まえ、鵜呑みにせず判断する視点が役立つ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企業の財務・調達・法務業務に携わる立場として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AIエージェントの導入検討時は、第三者検証の有無を確認する視点が参考になる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本編のまとめです。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Zenalystは2026年8月19日、プレシード資金調達を発表した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自社のAIエージェント基盤『ZenForce』により、対象業務の手作業を最大90%削減したと自社は説明している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150以上の企業システムと連携し、不動産・製薬等の企業に導入されている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『90%削減』が自社発表の数値である点や、評価額など、確認できていない点は正直に開示した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StartupTalky・Entrackr(2026-08-19)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手作業が90%減る時代。その中身を正直に。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Zenalystは2026年8月19日、プレシード資金調達を発表しました。AIエージェントによる手作業削減という発表内容から、自社発表である点への留保まで、出典付きで正直に整理してお届けしました。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