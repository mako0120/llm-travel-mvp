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発表されたAIエージェント企業Freehandの資金調達です。Meta、Unilever、Dunkin'といった著名企業が、サプライチェーンの支出管理をAIエージェントに任せているといいます。何が起きているのか、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まず結論からです。Freehandはシリーズ Bで7,500万ドルを調達し、Battery VenturesとNewRoad Capital Partnersが共同で主導しました。Meta、Unilever、J&amp;J、Pfizer、Dunkin'、Cardinal Healthという6社が導入企業として報じられており、顧客報告では業務処理速度が5〜7倍になったといいます。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この動画を見ると、発表の概要、Freehandが実際に何をする会社なのか、創業チームの経歴、報じられている効果数値、そして確認できなかったことまで分かります。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この話がどれくらい確かなのかにも触れておきます。GlobeNewswireの一次発表に加えて、Crunchbase News、Forbes、techfundingnewsという独立した複数のメディアが同じ発表を報じています。ただし、一部の媒体では「シード調達」と表記されており、この食い違いも正直に本編でお伝えします。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サプライチェーンにAIエージェントが必要なのかを整理し、次に発表の中身、Freehandの仕組み、導入企業と効果数値、最後に日本への関連と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CEOのコメントによれば、企業は年間160億ドルをサプライチェーンソフトウェアに費やし、さらにそのソフトウェアではできないことをする人材の雇用に3,480億ドルを費やしているといいます。この大きなギャップを埋めることに、AIエージェントの機会があるというわけ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改めて数字を見てみましょう。Freehandのシリーズ B調達額は7,500万ドルです。Battery VenturesとNewRoad Capital Partnersが共同で主導し、これで累計調達額は1億ドルになります。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投資家の顔ぶれを整理するとこうなります。Battery VenturesとNewRoad Capital Partnersが共同主導投資家で、元米商務長官のPenny Pritzker氏が率いるPSP Growthと、Nexus Venture Partnersが参加投資家として名を連ねています。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発表の中身をもう一度まとめます。シリーズBとして7,500万ドルを調達し、資金は請求処理から直接材料費や保守修繕運用費への対応領域拡大に使われる予定です。GlobeNewswireの公式発表に加えて、Crunchbase NewsやForbesといった媒体がこの発表を報じています。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創業からの軌跡を整理するとこうなります。創業者のNitin Jayakrishnan氏とAbhijeet Manohar氏は、物流SaaS企業Pandoを共同創業して売却済みで、その取締役に退いた上で2024年2月にFreehandを新たに設立しました。2024年3月にシリーズAで2,500万ドルを調達し、今回シリーズBで7,500万ドルを調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handが処理する業務を整理すると、サプライヤーとの価格交渉、契約履行状況の確認、サプライヤー管理、支払い処理、企業システム内でのデータ照合など多岐にわたります。これらをAIエージェントが自律的に処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仕組みを図で見てみます。調達・請求・契約データを取り込み、AIエージェントが分析・判断し、支払い処理やサプライヤーとのやり取りを実行します。CEOの言葉では、AIエージェントが成果に責任を持つ、という点が強調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handが行う作業を3ステップで見てみます。まず支出データを取り込み、次にAIエージェントが交渉や履行確認、支払いを自律的に行います。そして請求処理から直接材料費やMRO費へと対応領域を広げていく、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報じられた導入企業を業種別に整理すると、テクノロジーのMeta、消費財のUnilever、ヘルスケア・製薬のJohnson &amp; JohnsonとPfizer、外食のDunkin'、医療品流通のCardinal Healthと、幅広い業種にまたがっています。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1つ目の効果数値です。顧客報告によれば、サプライチェーン支出の5〜10%を回収できたといいます。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効果数値をまとめるとこうなります。支出の回収率が5〜10%、業務処理速度が5〜7倍、調達から支払いまでのサイクルが70%超短縮されたという顧客報告値です。いずれも一企業の報告値であること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従来は調達や請求処理を人が個別に対応し、処理速度や回収率は担当者のスキルに依存していました。それに対してFreehandのアプローチは、AIエージェントが交渉・履行確認・支払いを自律的に実行し、顧客報告では処理速度が5〜7倍、支出回収が5〜10%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共同創業者でCEOのNitin Jayakrishnan氏はこう述べています。私たちはそのギャップを埋めるためにFreehandを作った、意思決定し行動し成果に責任を持つAIエージェントによって、これはエンタープライズにおける真の自律性の始まりだ、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経歴を見ると、2名は物流SaaS企業Pandoを共同創業して売却済みで、その取締役に退いた上で2024年2月にFreehandを設立しています。実績のあるチームが同じ業界で再挑戦した、というストーリー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投資家として参加したPenny Pritzker氏はこう述べています。Freehandは、フロンティアAIをエンタープライズのサプライチェーン業務における測定可能な生産性へと転換している数少ない企業の一つだ、というコメントです。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投資家について、分かっていることと分かっていないことを整理します。分かっているのは、Battery VenturesとNewRoad Capital Partnersが共同主導し、PSP GrowthとNexus Venture Partnersが参加したこと。分かっていないのは、各投資家の出資比率や企業評価額です。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ここは正直にお伝えします。今回のラウンドについて、Crunchbase NewsやForbesなど多くの媒体は「シリーズB」と表記していますが、一部の媒体は「シード調達」と表記しており、内容が矛盾しています。本資料では、2024年のシリーズAとの整合性が取れる「シリーズB」表記を採用しつつ、この食い違いがあること自体を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気になるのは、日本への関連です。報道されている導入企業はいずれも米国発のグローバル企業で、日本国内の顧客企業があるかどうかは、今回の調査では確認できませんでした。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企業評価額、導入企業ごとの契約規模、日本国内の顧客・拠点、各投資家の出資比率、そしてGlobeNewswire一次発表の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ソフトウェアではできないことに人件費がかかっているという発想は他業務にも応用できますし、実績あるチームが同じ業界で再挑戦するという資金調達の作られ方も参考になります。顧客報告値と一次情報を区別して伝える姿勢も、情報を読み解くうえで参考にし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7,500万ドル・累計1億ドルという調達規模を把握し、次に5〜10%回収・5〜7倍速・70%超短縮という顧客報告値を確認し、最後に企業評価額や日本への関連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請求処理から直接材料費やMRO費へと事業領域が広がっていく可能性がありますし、同様のサプライチェーンAIエージェントへの投資が他社にも広がるかもしれません。調達・請求処理担当者の役割が、AIエージェントの監督や例外処理へと変化していく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企業評価額や導入企業ごとの契約規模の詳細が公表されていないこと。2つ目は、効果数値が顧客報告値であり第三者による検証結果ではないこと。3つ目は、情報源によって「シリーズB」と「シード調達」という表記の食い違い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今日の要点を3つにまとめます。シリーズB調達額は7,500万ドルで累計1億ドル。Meta・Unilever・J&amp;J・Pfizer・Dunkin'・Cardinal Healthという6社が導入企業として報じられ、顧客報告値では業務処理速度が5〜7倍になったとされています。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今日は、Freehandのシリーズ B調達について、調達額・導入企業・効果数値という3つの軸で確認してきました。AIエージェントのニュースを見るときは、今日紹介したような視点で顧客報告値と第三者の検証を区別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Meta・Unilever・Dunkin'が</a:t>
            </a:r>
          </a:p>
          <a:p>
            <a:pPr algn="l">
              <a:lnSpc>
                <a:spcPct val="115000"/>
              </a:lnSpc>
            </a:pPr>
            <a:r>
              <a:rPr sz="4200" b="1">
                <a:solidFill>
                  <a:srgbClr val="FFFFFF"/>
                </a:solidFill>
                <a:latin typeface="Yu Gothic"/>
              </a:rPr>
              <a:t>仕事を任せた「AIチーム」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2026年7月29日発表「Freehand シリーズB調達」から読み解く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AI Company OS 定期実行59本目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7,500万ドル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シリーズB調達額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Battery Ventures・NewRoad Capital Partnersが共同主導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6社が導入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報じられた導入企業</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Meta・Unilever・J&amp;J・Pfizer・Dunkin'・Cardinal Health</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5〜7倍速</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業務処理速度の向上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顧客報告値。支出の5〜10%回収、サイクル70%超短縮も</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 / Crunchbase News(2026-07-29)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何が発表されたのか、いつ・どんな規模の調達なのかが分かる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Freehandが何をするAIエージェントなのかが分かる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創業チームの経歴(前身企業Pando)が分かる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報じられている効果数値の中身が分かる</a:t>
            </a:r>
          </a:p>
        </p:txBody>
      </p:sp>
      <p:sp>
        <p:nvSpPr>
          <p:cNvPr id="14" name="Oval 13"/>
          <p:cNvSpPr/>
          <p:nvPr/>
        </p:nvSpPr>
        <p:spPr>
          <a:xfrm>
            <a:off x="457200" y="459028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GlobeNewswireの一次発表(プレスリリース)を確認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Crunchbase News・Forbes・techfundingnewsが同じ発表を報道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情報源間の食い違いも開示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一部媒体が「シード調達」と表記しているが、多数派の「シリーズB」表記を採用した理由を本編で説明します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前提: なぜサプライチェーンにAIエージェントが必要なのか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発表の中身: 調達額・投資家・創業からの軌跡</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仕組み: Freehandが何を処理するか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導入企業と効果数値、情報源間の食い違い</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日本への関連と、確認できなかったこと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 なぜサプライチェーンにAIエージェントか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巨額の支出構造</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企業は年間160億ドルをサプライチェーンソフトウェアに費やす</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さらに大きい人件費</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そのソフトでできないことをする人材の雇用に年間3,480億ドルを費やす</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ここにAIエージェントの機会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この「ソフトと人件費のギャップ」を埋める狙いがある(CEOコメントより)</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CEO Nitin Jayakrishnan氏コメント(複数媒体経由)</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シリーズB調達額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7,500万ドル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Battery Ventures・NewRoad Capital Partnersが共同主導。累計調達額は1億ドル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GlobeNewswire / Crunchbase News(2026-07-29)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投資家の顔ぶれ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B3A55"/>
                    </a:solidFill>
                  </a:tcPr>
                </a:tc>
                <a:tc>
                  <a:txBody>
                    <a:bodyPr/>
                    <a:lstStyle/>
                    <a:p>
                      <a:pPr>
                        <a:defRPr sz="1300" b="1">
                          <a:solidFill>
                            <a:srgbClr val="FFFFFF"/>
                          </a:solidFill>
                          <a:latin typeface="Yu Gothic"/>
                        </a:defRPr>
                      </a:pPr>
                      <a:r>
                        <a:t>投資家名</a:t>
                      </a:r>
                    </a:p>
                  </a:txBody>
                  <a:tcPr>
                    <a:solidFill>
                      <a:srgbClr val="2B3A55"/>
                    </a:solidFill>
                  </a:tcPr>
                </a:tc>
              </a:tr>
              <a:tr h="502920">
                <a:tc>
                  <a:txBody>
                    <a:bodyPr/>
                    <a:lstStyle/>
                    <a:p>
                      <a:pPr>
                        <a:defRPr sz="1200">
                          <a:solidFill>
                            <a:srgbClr val="1C2230"/>
                          </a:solidFill>
                          <a:latin typeface="Yu Gothic"/>
                        </a:defRPr>
                      </a:pPr>
                      <a:r>
                        <a:t>共同主導投資家</a:t>
                      </a:r>
                    </a:p>
                  </a:txBody>
                  <a:tcPr>
                    <a:solidFill>
                      <a:srgbClr val="FFFFFF"/>
                    </a:solidFill>
                  </a:tcPr>
                </a:tc>
                <a:tc>
                  <a:txBody>
                    <a:bodyPr/>
                    <a:lstStyle/>
                    <a:p>
                      <a:pPr>
                        <a:defRPr sz="1200">
                          <a:solidFill>
                            <a:srgbClr val="1C2230"/>
                          </a:solidFill>
                          <a:latin typeface="Yu Gothic"/>
                        </a:defRPr>
                      </a:pPr>
                      <a:r>
                        <a:t>Battery Ventures・NewRoad Capital Partners</a:t>
                      </a:r>
                    </a:p>
                  </a:txBody>
                  <a:tcPr>
                    <a:solidFill>
                      <a:srgbClr val="FFFFFF"/>
                    </a:solidFill>
                  </a:tcPr>
                </a:tc>
              </a:tr>
              <a:tr h="502920">
                <a:tc>
                  <a:txBody>
                    <a:bodyPr/>
                    <a:lstStyle/>
                    <a:p>
                      <a:pPr>
                        <a:defRPr sz="1200">
                          <a:solidFill>
                            <a:srgbClr val="1C2230"/>
                          </a:solidFill>
                          <a:latin typeface="Yu Gothic"/>
                        </a:defRPr>
                      </a:pPr>
                      <a:r>
                        <a:t>参加投資家</a:t>
                      </a:r>
                    </a:p>
                  </a:txBody>
                  <a:tcPr>
                    <a:solidFill>
                      <a:srgbClr val="F1F5FA"/>
                    </a:solidFill>
                  </a:tcPr>
                </a:tc>
                <a:tc>
                  <a:txBody>
                    <a:bodyPr/>
                    <a:lstStyle/>
                    <a:p>
                      <a:pPr>
                        <a:defRPr sz="1200">
                          <a:solidFill>
                            <a:srgbClr val="1C2230"/>
                          </a:solidFill>
                          <a:latin typeface="Yu Gothic"/>
                        </a:defRPr>
                      </a:pPr>
                      <a:r>
                        <a:t>PSP Growth(Penny Pritzker氏が率いるファンド)・Nexus Venture Partners</a:t>
                      </a:r>
                    </a:p>
                  </a:txBody>
                  <a:tcPr>
                    <a:solidFill>
                      <a:srgbClr val="F1F5FA"/>
                    </a:solidFill>
                  </a:tcPr>
                </a:tc>
              </a:tr>
              <a:tr h="502920">
                <a:tc>
                  <a:txBody>
                    <a:bodyPr/>
                    <a:lstStyle/>
                    <a:p>
                      <a:pPr>
                        <a:defRPr sz="1200">
                          <a:solidFill>
                            <a:srgbClr val="1C2230"/>
                          </a:solidFill>
                          <a:latin typeface="Yu Gothic"/>
                        </a:defRPr>
                      </a:pPr>
                      <a:r>
                        <a:t>累計調達額</a:t>
                      </a:r>
                    </a:p>
                  </a:txBody>
                  <a:tcPr>
                    <a:solidFill>
                      <a:srgbClr val="FFFFFF"/>
                    </a:solidFill>
                  </a:tcPr>
                </a:tc>
                <a:tc>
                  <a:txBody>
                    <a:bodyPr/>
                    <a:lstStyle/>
                    <a:p>
                      <a:pPr>
                        <a:defRPr sz="1200">
                          <a:solidFill>
                            <a:srgbClr val="1C2230"/>
                          </a:solidFill>
                          <a:latin typeface="Yu Gothic"/>
                        </a:defRPr>
                      </a:pPr>
                      <a:r>
                        <a:t>1億ドル(シリーズA2,500万ドル+シリーズB7,500万ドル)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techfundingnews / Crunchbase News(2026-07-29)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調達額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シリーズBとして7,500万ドル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資金使途</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請求処理から直接材料費・保守修繕運用(MRO)費への対応領域拡大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GlobeNewswire公式に加えCrunchbase News・Forbesなどが報道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GlobeNewswire / Crunchbase News / Forbes(いずれも2026-07-29)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創業からの軌跡</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2024年2月以前</a:t>
                      </a:r>
                    </a:p>
                  </a:txBody>
                  <a:tcPr>
                    <a:solidFill>
                      <a:srgbClr val="FFFFFF"/>
                    </a:solidFill>
                  </a:tcPr>
                </a:tc>
                <a:tc>
                  <a:txBody>
                    <a:bodyPr/>
                    <a:lstStyle/>
                    <a:p>
                      <a:pPr>
                        <a:defRPr sz="1200">
                          <a:solidFill>
                            <a:srgbClr val="1C2230"/>
                          </a:solidFill>
                          <a:latin typeface="Yu Gothic"/>
                        </a:defRPr>
                      </a:pPr>
                      <a:r>
                        <a:t>創業者2名が物流SaaS企業Pandoを共同創業・売却済み</a:t>
                      </a:r>
                    </a:p>
                  </a:txBody>
                  <a:tcPr>
                    <a:solidFill>
                      <a:srgbClr val="FFFFFF"/>
                    </a:solidFill>
                  </a:tcPr>
                </a:tc>
              </a:tr>
              <a:tr h="502920">
                <a:tc>
                  <a:txBody>
                    <a:bodyPr/>
                    <a:lstStyle/>
                    <a:p>
                      <a:pPr>
                        <a:defRPr sz="1200">
                          <a:solidFill>
                            <a:srgbClr val="1C2230"/>
                          </a:solidFill>
                          <a:latin typeface="Yu Gothic"/>
                        </a:defRPr>
                      </a:pPr>
                      <a:r>
                        <a:t>2024年2月</a:t>
                      </a:r>
                    </a:p>
                  </a:txBody>
                  <a:tcPr>
                    <a:solidFill>
                      <a:srgbClr val="F1F5FA"/>
                    </a:solidFill>
                  </a:tcPr>
                </a:tc>
                <a:tc>
                  <a:txBody>
                    <a:bodyPr/>
                    <a:lstStyle/>
                    <a:p>
                      <a:pPr>
                        <a:defRPr sz="1200">
                          <a:solidFill>
                            <a:srgbClr val="1C2230"/>
                          </a:solidFill>
                          <a:latin typeface="Yu Gothic"/>
                        </a:defRPr>
                      </a:pPr>
                      <a:r>
                        <a:t>Pandoの取締役に退き、Freehandを新たに設立</a:t>
                      </a:r>
                    </a:p>
                  </a:txBody>
                  <a:tcPr>
                    <a:solidFill>
                      <a:srgbClr val="F1F5FA"/>
                    </a:solidFill>
                  </a:tcPr>
                </a:tc>
              </a:tr>
              <a:tr h="502920">
                <a:tc>
                  <a:txBody>
                    <a:bodyPr/>
                    <a:lstStyle/>
                    <a:p>
                      <a:pPr>
                        <a:defRPr sz="1200">
                          <a:solidFill>
                            <a:srgbClr val="1C2230"/>
                          </a:solidFill>
                          <a:latin typeface="Yu Gothic"/>
                        </a:defRPr>
                      </a:pPr>
                      <a:r>
                        <a:t>2024年3月</a:t>
                      </a:r>
                    </a:p>
                  </a:txBody>
                  <a:tcPr>
                    <a:solidFill>
                      <a:srgbClr val="FFFFFF"/>
                    </a:solidFill>
                  </a:tcPr>
                </a:tc>
                <a:tc>
                  <a:txBody>
                    <a:bodyPr/>
                    <a:lstStyle/>
                    <a:p>
                      <a:pPr>
                        <a:defRPr sz="1200">
                          <a:solidFill>
                            <a:srgbClr val="1C2230"/>
                          </a:solidFill>
                          <a:latin typeface="Yu Gothic"/>
                        </a:defRPr>
                      </a:pPr>
                      <a:r>
                        <a:t>シリーズAで2,500万ドルを調達</a:t>
                      </a:r>
                    </a:p>
                  </a:txBody>
                  <a:tcPr>
                    <a:solidFill>
                      <a:srgbClr val="FFFFFF"/>
                    </a:solidFill>
                  </a:tcPr>
                </a:tc>
              </a:tr>
              <a:tr h="502920">
                <a:tc>
                  <a:txBody>
                    <a:bodyPr/>
                    <a:lstStyle/>
                    <a:p>
                      <a:pPr>
                        <a:defRPr sz="1200">
                          <a:solidFill>
                            <a:srgbClr val="1C2230"/>
                          </a:solidFill>
                          <a:latin typeface="Yu Gothic"/>
                        </a:defRPr>
                      </a:pPr>
                      <a:r>
                        <a:t>2026年7月29日</a:t>
                      </a:r>
                    </a:p>
                  </a:txBody>
                  <a:tcPr>
                    <a:solidFill>
                      <a:srgbClr val="F1F5FA"/>
                    </a:solidFill>
                  </a:tcPr>
                </a:tc>
                <a:tc>
                  <a:txBody>
                    <a:bodyPr/>
                    <a:lstStyle/>
                    <a:p>
                      <a:pPr>
                        <a:defRPr sz="1200">
                          <a:solidFill>
                            <a:srgbClr val="1C2230"/>
                          </a:solidFill>
                          <a:latin typeface="Yu Gothic"/>
                        </a:defRPr>
                      </a:pPr>
                      <a:r>
                        <a:t>シリーズBで7,500万ドルを調達</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Crunchbase News(2026-07-29)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Freehandが処理する業務</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サプライヤーとの価格交渉</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契約内容の履行状況の確認(コンプライアンス)</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サプライヤー管理</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支払い処理</a:t>
            </a:r>
          </a:p>
        </p:txBody>
      </p:sp>
      <p:sp>
        <p:nvSpPr>
          <p:cNvPr id="14" name="Oval 13"/>
          <p:cNvSpPr/>
          <p:nvPr/>
        </p:nvSpPr>
        <p:spPr>
          <a:xfrm>
            <a:off x="457200" y="459028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企業システム内でのデータ照合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Freehandの仕組みの全体像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支出データの取り込み</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調達・請求・契約データを収集</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AIエージェントが分析・判断</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交渉・履行確認・照合を自律的に処理</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行動・実行</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支払い処理やサプライヤーとのやり取りを実行</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成果に責任を持つ</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処理結果を記録し、成果として管理する</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支出データを取り込み、AIエージェントが判断し、実行まで担う構造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Crunchbase News(2026-07-29)</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Freehandが行う3つのステップ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取り込み</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サプライチェーン関連の支出データを集める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判断・実行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AIエージェントが交渉・履行確認・支払いを自律的に行う</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拡張</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請求処理から直接材料費・MRO費へ対応領域を広げる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報じられた導入企業と業種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企業名</a:t>
                      </a:r>
                    </a:p>
                  </a:txBody>
                  <a:tcPr>
                    <a:solidFill>
                      <a:srgbClr val="2B3A55"/>
                    </a:solidFill>
                  </a:tcPr>
                </a:tc>
                <a:tc>
                  <a:txBody>
                    <a:bodyPr/>
                    <a:lstStyle/>
                    <a:p>
                      <a:pPr>
                        <a:defRPr sz="1300" b="1">
                          <a:solidFill>
                            <a:srgbClr val="FFFFFF"/>
                          </a:solidFill>
                          <a:latin typeface="Yu Gothic"/>
                        </a:defRPr>
                      </a:pPr>
                      <a:r>
                        <a:t>業種</a:t>
                      </a:r>
                    </a:p>
                  </a:txBody>
                  <a:tcPr>
                    <a:solidFill>
                      <a:srgbClr val="2B3A55"/>
                    </a:solidFill>
                  </a:tcPr>
                </a:tc>
              </a:tr>
              <a:tr h="502920">
                <a:tc>
                  <a:txBody>
                    <a:bodyPr/>
                    <a:lstStyle/>
                    <a:p>
                      <a:pPr>
                        <a:defRPr sz="1200">
                          <a:solidFill>
                            <a:srgbClr val="1C2230"/>
                          </a:solidFill>
                          <a:latin typeface="Yu Gothic"/>
                        </a:defRPr>
                      </a:pPr>
                      <a:r>
                        <a:t>Meta</a:t>
                      </a:r>
                    </a:p>
                  </a:txBody>
                  <a:tcPr>
                    <a:solidFill>
                      <a:srgbClr val="FFFFFF"/>
                    </a:solidFill>
                  </a:tcPr>
                </a:tc>
                <a:tc>
                  <a:txBody>
                    <a:bodyPr/>
                    <a:lstStyle/>
                    <a:p>
                      <a:pPr>
                        <a:defRPr sz="1200">
                          <a:solidFill>
                            <a:srgbClr val="1C2230"/>
                          </a:solidFill>
                          <a:latin typeface="Yu Gothic"/>
                        </a:defRPr>
                      </a:pPr>
                      <a:r>
                        <a:t>テクノロジー</a:t>
                      </a:r>
                    </a:p>
                  </a:txBody>
                  <a:tcPr>
                    <a:solidFill>
                      <a:srgbClr val="FFFFFF"/>
                    </a:solidFill>
                  </a:tcPr>
                </a:tc>
              </a:tr>
              <a:tr h="502920">
                <a:tc>
                  <a:txBody>
                    <a:bodyPr/>
                    <a:lstStyle/>
                    <a:p>
                      <a:pPr>
                        <a:defRPr sz="1200">
                          <a:solidFill>
                            <a:srgbClr val="1C2230"/>
                          </a:solidFill>
                          <a:latin typeface="Yu Gothic"/>
                        </a:defRPr>
                      </a:pPr>
                      <a:r>
                        <a:t>Unilever</a:t>
                      </a:r>
                    </a:p>
                  </a:txBody>
                  <a:tcPr>
                    <a:solidFill>
                      <a:srgbClr val="F1F5FA"/>
                    </a:solidFill>
                  </a:tcPr>
                </a:tc>
                <a:tc>
                  <a:txBody>
                    <a:bodyPr/>
                    <a:lstStyle/>
                    <a:p>
                      <a:pPr>
                        <a:defRPr sz="1200">
                          <a:solidFill>
                            <a:srgbClr val="1C2230"/>
                          </a:solidFill>
                          <a:latin typeface="Yu Gothic"/>
                        </a:defRPr>
                      </a:pPr>
                      <a:r>
                        <a:t>消費財</a:t>
                      </a:r>
                    </a:p>
                  </a:txBody>
                  <a:tcPr>
                    <a:solidFill>
                      <a:srgbClr val="F1F5FA"/>
                    </a:solidFill>
                  </a:tcPr>
                </a:tc>
              </a:tr>
              <a:tr h="502920">
                <a:tc>
                  <a:txBody>
                    <a:bodyPr/>
                    <a:lstStyle/>
                    <a:p>
                      <a:pPr>
                        <a:defRPr sz="1200">
                          <a:solidFill>
                            <a:srgbClr val="1C2230"/>
                          </a:solidFill>
                          <a:latin typeface="Yu Gothic"/>
                        </a:defRPr>
                      </a:pPr>
                      <a:r>
                        <a:t>Johnson &amp; Johnson・Pfizer</a:t>
                      </a:r>
                    </a:p>
                  </a:txBody>
                  <a:tcPr>
                    <a:solidFill>
                      <a:srgbClr val="FFFFFF"/>
                    </a:solidFill>
                  </a:tcPr>
                </a:tc>
                <a:tc>
                  <a:txBody>
                    <a:bodyPr/>
                    <a:lstStyle/>
                    <a:p>
                      <a:pPr>
                        <a:defRPr sz="1200">
                          <a:solidFill>
                            <a:srgbClr val="1C2230"/>
                          </a:solidFill>
                          <a:latin typeface="Yu Gothic"/>
                        </a:defRPr>
                      </a:pPr>
                      <a:r>
                        <a:t>ヘルスケア・製薬</a:t>
                      </a:r>
                    </a:p>
                  </a:txBody>
                  <a:tcPr>
                    <a:solidFill>
                      <a:srgbClr val="FFFFFF"/>
                    </a:solidFill>
                  </a:tcPr>
                </a:tc>
              </a:tr>
              <a:tr h="502920">
                <a:tc>
                  <a:txBody>
                    <a:bodyPr/>
                    <a:lstStyle/>
                    <a:p>
                      <a:pPr>
                        <a:defRPr sz="1200">
                          <a:solidFill>
                            <a:srgbClr val="1C2230"/>
                          </a:solidFill>
                          <a:latin typeface="Yu Gothic"/>
                        </a:defRPr>
                      </a:pPr>
                      <a:r>
                        <a:t>Dunkin'</a:t>
                      </a:r>
                    </a:p>
                  </a:txBody>
                  <a:tcPr>
                    <a:solidFill>
                      <a:srgbClr val="F1F5FA"/>
                    </a:solidFill>
                  </a:tcPr>
                </a:tc>
                <a:tc>
                  <a:txBody>
                    <a:bodyPr/>
                    <a:lstStyle/>
                    <a:p>
                      <a:pPr>
                        <a:defRPr sz="1200">
                          <a:solidFill>
                            <a:srgbClr val="1C2230"/>
                          </a:solidFill>
                          <a:latin typeface="Yu Gothic"/>
                        </a:defRPr>
                      </a:pPr>
                      <a:r>
                        <a:t>外食</a:t>
                      </a:r>
                    </a:p>
                  </a:txBody>
                  <a:tcPr>
                    <a:solidFill>
                      <a:srgbClr val="F1F5FA"/>
                    </a:solidFill>
                  </a:tcPr>
                </a:tc>
              </a:tr>
              <a:tr h="502920">
                <a:tc>
                  <a:txBody>
                    <a:bodyPr/>
                    <a:lstStyle/>
                    <a:p>
                      <a:pPr>
                        <a:defRPr sz="1200">
                          <a:solidFill>
                            <a:srgbClr val="1C2230"/>
                          </a:solidFill>
                          <a:latin typeface="Yu Gothic"/>
                        </a:defRPr>
                      </a:pPr>
                      <a:r>
                        <a:t>Cardinal Health</a:t>
                      </a:r>
                    </a:p>
                  </a:txBody>
                  <a:tcPr>
                    <a:solidFill>
                      <a:srgbClr val="FFFFFF"/>
                    </a:solidFill>
                  </a:tcPr>
                </a:tc>
                <a:tc>
                  <a:txBody>
                    <a:bodyPr/>
                    <a:lstStyle/>
                    <a:p>
                      <a:pPr>
                        <a:defRPr sz="1200">
                          <a:solidFill>
                            <a:srgbClr val="1C2230"/>
                          </a:solidFill>
                          <a:latin typeface="Yu Gothic"/>
                        </a:defRPr>
                      </a:pPr>
                      <a:r>
                        <a:t>医療品流通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Crunchbase News / Forbes / techfundingnews(2026-07-29)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支出の回収率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5〜10%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顧客報告値。サプライチェーン支出のうち回収できた割合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Crunchbase News / techfundingnews(2026-07-29)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報じられている効果数値まとめ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数値</a:t>
                      </a:r>
                    </a:p>
                  </a:txBody>
                  <a:tcPr>
                    <a:solidFill>
                      <a:srgbClr val="2B3A55"/>
                    </a:solidFill>
                  </a:tcPr>
                </a:tc>
              </a:tr>
              <a:tr h="502920">
                <a:tc>
                  <a:txBody>
                    <a:bodyPr/>
                    <a:lstStyle/>
                    <a:p>
                      <a:pPr>
                        <a:defRPr sz="1200">
                          <a:solidFill>
                            <a:srgbClr val="1C2230"/>
                          </a:solidFill>
                          <a:latin typeface="Yu Gothic"/>
                        </a:defRPr>
                      </a:pPr>
                      <a:r>
                        <a:t>支出の回収率</a:t>
                      </a:r>
                    </a:p>
                  </a:txBody>
                  <a:tcPr>
                    <a:solidFill>
                      <a:srgbClr val="FFFFFF"/>
                    </a:solidFill>
                  </a:tcPr>
                </a:tc>
                <a:tc>
                  <a:txBody>
                    <a:bodyPr/>
                    <a:lstStyle/>
                    <a:p>
                      <a:pPr>
                        <a:defRPr sz="1200">
                          <a:solidFill>
                            <a:srgbClr val="1C2230"/>
                          </a:solidFill>
                          <a:latin typeface="Yu Gothic"/>
                        </a:defRPr>
                      </a:pPr>
                      <a:r>
                        <a:t>5〜10%</a:t>
                      </a:r>
                    </a:p>
                  </a:txBody>
                  <a:tcPr>
                    <a:solidFill>
                      <a:srgbClr val="FFFFFF"/>
                    </a:solidFill>
                  </a:tcPr>
                </a:tc>
              </a:tr>
              <a:tr h="502920">
                <a:tc>
                  <a:txBody>
                    <a:bodyPr/>
                    <a:lstStyle/>
                    <a:p>
                      <a:pPr>
                        <a:defRPr sz="1200">
                          <a:solidFill>
                            <a:srgbClr val="1C2230"/>
                          </a:solidFill>
                          <a:latin typeface="Yu Gothic"/>
                        </a:defRPr>
                      </a:pPr>
                      <a:r>
                        <a:t>業務処理速度の向上</a:t>
                      </a:r>
                    </a:p>
                  </a:txBody>
                  <a:tcPr>
                    <a:solidFill>
                      <a:srgbClr val="F1F5FA"/>
                    </a:solidFill>
                  </a:tcPr>
                </a:tc>
                <a:tc>
                  <a:txBody>
                    <a:bodyPr/>
                    <a:lstStyle/>
                    <a:p>
                      <a:pPr>
                        <a:defRPr sz="1200">
                          <a:solidFill>
                            <a:srgbClr val="1C2230"/>
                          </a:solidFill>
                          <a:latin typeface="Yu Gothic"/>
                        </a:defRPr>
                      </a:pPr>
                      <a:r>
                        <a:t>5〜7倍</a:t>
                      </a:r>
                    </a:p>
                  </a:txBody>
                  <a:tcPr>
                    <a:solidFill>
                      <a:srgbClr val="F1F5FA"/>
                    </a:solidFill>
                  </a:tcPr>
                </a:tc>
              </a:tr>
              <a:tr h="502920">
                <a:tc>
                  <a:txBody>
                    <a:bodyPr/>
                    <a:lstStyle/>
                    <a:p>
                      <a:pPr>
                        <a:defRPr sz="1200">
                          <a:solidFill>
                            <a:srgbClr val="1C2230"/>
                          </a:solidFill>
                          <a:latin typeface="Yu Gothic"/>
                        </a:defRPr>
                      </a:pPr>
                      <a:r>
                        <a:t>調達から支払いまでのサイクル短縮</a:t>
                      </a:r>
                    </a:p>
                  </a:txBody>
                  <a:tcPr>
                    <a:solidFill>
                      <a:srgbClr val="FFFFFF"/>
                    </a:solidFill>
                  </a:tcPr>
                </a:tc>
                <a:tc>
                  <a:txBody>
                    <a:bodyPr/>
                    <a:lstStyle/>
                    <a:p>
                      <a:pPr>
                        <a:defRPr sz="1200">
                          <a:solidFill>
                            <a:srgbClr val="1C2230"/>
                          </a:solidFill>
                          <a:latin typeface="Yu Gothic"/>
                        </a:defRPr>
                      </a:pPr>
                      <a:r>
                        <a:t>70%超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Crunchbase News / techfundingnews(顧客報告値, 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従来の人手作業と、Freehandのアプローチ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従来の人手中心の運用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調達・請求処理を人が個別に対応</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処理速度・回収率は担当者のスキルに依存</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大企業ほど処理件数が膨大になる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Freehandのアプローチ</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AIエージェントが交渉・履行確認・支払いを自律実行</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顧客報告では処理速度5〜7倍・支出回収5〜10%</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請求処理から直接材料費・MRO費へ対応領域を拡大中</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“私たちはそのギャップを埋めるためにFreehandを作った――意思決定し、行動し、成果に責任を持つAIエージェントによって。これはエンタープライズにおける真の自律性の始まりだ”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Freehand共同創業者兼CEO Nitin Jayakrishnan氏(複数媒体経由の引用)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創業チームの経歴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前身企業</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物流SaaS企業Pando(輸送管理・調達支払いシステム)を共同創業・売却済み</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創業メンバー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Nitin Jayakrishnan氏・Abhijeet Manohar氏の2名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設立時期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2024年2月、Pandoの取締役に退いた上で設立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Crunchbase News</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“Freehandは、フロンティアAIをエンタープライズのサプライチェーン業務における測定可能な生産性へと転換している数少ない企業の一つだ”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投資家 Penny Pritzker氏(PSP Growth、元米商務長官、複数媒体経由の引用)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投資家について分かっていること・いないこと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Battery Ventures・NewRoad Capital Partnersが共同主導、PSP Growth・Nexus Venture Partnersが参加したこと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各投資家の出資比率・出資額の内訳、企業評価額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直接材料費・MRO費への事業拡大が実際に進むかどうか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正直な報告: 情報源間の食い違い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本ラウンドの表記</a:t>
                      </a:r>
                    </a:p>
                  </a:txBody>
                  <a:tcPr>
                    <a:solidFill>
                      <a:srgbClr val="2B3A55"/>
                    </a:solidFill>
                  </a:tcPr>
                </a:tc>
              </a:tr>
              <a:tr h="502920">
                <a:tc>
                  <a:txBody>
                    <a:bodyPr/>
                    <a:lstStyle/>
                    <a:p>
                      <a:pPr>
                        <a:defRPr sz="1200">
                          <a:solidFill>
                            <a:srgbClr val="1C2230"/>
                          </a:solidFill>
                          <a:latin typeface="Yu Gothic"/>
                        </a:defRPr>
                      </a:pPr>
                      <a:r>
                        <a:t>Crunchbase News・Forbes・techfundingnews・Inc42</a:t>
                      </a:r>
                    </a:p>
                  </a:txBody>
                  <a:tcPr>
                    <a:solidFill>
                      <a:srgbClr val="FFFFFF"/>
                    </a:solidFill>
                  </a:tcPr>
                </a:tc>
                <a:tc>
                  <a:txBody>
                    <a:bodyPr/>
                    <a:lstStyle/>
                    <a:p>
                      <a:pPr>
                        <a:defRPr sz="1200">
                          <a:solidFill>
                            <a:srgbClr val="1C2230"/>
                          </a:solidFill>
                          <a:latin typeface="Yu Gothic"/>
                        </a:defRPr>
                      </a:pPr>
                      <a:r>
                        <a:t>シリーズB(前回シリーズAとの整合あり)</a:t>
                      </a:r>
                    </a:p>
                  </a:txBody>
                  <a:tcPr>
                    <a:solidFill>
                      <a:srgbClr val="FFFFFF"/>
                    </a:solidFill>
                  </a:tcPr>
                </a:tc>
              </a:tr>
              <a:tr h="502920">
                <a:tc>
                  <a:txBody>
                    <a:bodyPr/>
                    <a:lstStyle/>
                    <a:p>
                      <a:pPr>
                        <a:defRPr sz="1200">
                          <a:solidFill>
                            <a:srgbClr val="1C2230"/>
                          </a:solidFill>
                          <a:latin typeface="Yu Gothic"/>
                        </a:defRPr>
                      </a:pPr>
                      <a:r>
                        <a:t>retailtechinnovationhub</a:t>
                      </a:r>
                    </a:p>
                  </a:txBody>
                  <a:tcPr>
                    <a:solidFill>
                      <a:srgbClr val="F1F5FA"/>
                    </a:solidFill>
                  </a:tcPr>
                </a:tc>
                <a:tc>
                  <a:txBody>
                    <a:bodyPr/>
                    <a:lstStyle/>
                    <a:p>
                      <a:pPr>
                        <a:defRPr sz="1200">
                          <a:solidFill>
                            <a:srgbClr val="1C2230"/>
                          </a:solidFill>
                          <a:latin typeface="Yu Gothic"/>
                        </a:defRPr>
                      </a:pPr>
                      <a:r>
                        <a:t>シード調達(他媒体と矛盾)</a:t>
                      </a:r>
                    </a:p>
                  </a:txBody>
                  <a:tcPr>
                    <a:solidFill>
                      <a:srgbClr val="F1F5FA"/>
                    </a:solidFill>
                  </a:tcPr>
                </a:tc>
              </a:tr>
              <a:tr h="502920">
                <a:tc>
                  <a:txBody>
                    <a:bodyPr/>
                    <a:lstStyle/>
                    <a:p>
                      <a:pPr>
                        <a:defRPr sz="1200">
                          <a:solidFill>
                            <a:srgbClr val="1C2230"/>
                          </a:solidFill>
                          <a:latin typeface="Yu Gothic"/>
                        </a:defRPr>
                      </a:pPr>
                      <a:r>
                        <a:t>本資料の扱い</a:t>
                      </a:r>
                    </a:p>
                  </a:txBody>
                  <a:tcPr>
                    <a:solidFill>
                      <a:srgbClr val="FFFFFF"/>
                    </a:solidFill>
                  </a:tcPr>
                </a:tc>
                <a:tc>
                  <a:txBody>
                    <a:bodyPr/>
                    <a:lstStyle/>
                    <a:p>
                      <a:pPr>
                        <a:defRPr sz="1200">
                          <a:solidFill>
                            <a:srgbClr val="1C2230"/>
                          </a:solidFill>
                          <a:latin typeface="Yu Gothic"/>
                        </a:defRPr>
                      </a:pPr>
                      <a:r>
                        <a:t>多数派かつ資金調達履歴と整合する「シリーズB」を採用し、食い違いを明示</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報道からは米国拠点であることがうかがえるが、詳細な拠点情報は一次情報で確認できていない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日本国内の顧客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日本企業のサプライチェーンAIエージェント導入が今後増えるかを継続的に確認する必要がある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Freehandの企業評価額(バリュエーション)</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導入企業ごとの契約規模・導入時期の詳細</a:t>
                      </a:r>
                    </a:p>
                  </a:txBody>
                  <a:tcPr>
                    <a:solidFill>
                      <a:srgbClr val="F1F5FA"/>
                    </a:solidFill>
                  </a:tcPr>
                </a:tc>
                <a:tc>
                  <a:txBody>
                    <a:bodyPr/>
                    <a:lstStyle/>
                    <a:p>
                      <a:pPr>
                        <a:defRPr sz="1200">
                          <a:solidFill>
                            <a:srgbClr val="1C2230"/>
                          </a:solidFill>
                          <a:latin typeface="Yu Gothic"/>
                        </a:defRPr>
                      </a:pPr>
                      <a:r>
                        <a:t>一次情報では確認できず</a:t>
                      </a:r>
                    </a:p>
                  </a:txBody>
                  <a:tcPr>
                    <a:solidFill>
                      <a:srgbClr val="F1F5FA"/>
                    </a:solidFill>
                  </a:tcPr>
                </a:tc>
              </a:tr>
              <a:tr h="502920">
                <a:tc>
                  <a:txBody>
                    <a:bodyPr/>
                    <a:lstStyle/>
                    <a:p>
                      <a:pPr>
                        <a:defRPr sz="1200">
                          <a:solidFill>
                            <a:srgbClr val="1C2230"/>
                          </a:solidFill>
                          <a:latin typeface="Yu Gothic"/>
                        </a:defRPr>
                      </a:pPr>
                      <a:r>
                        <a:t>日本国内の顧客・拠点の有無</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各投資家の出資比率・出資額の内訳</a:t>
                      </a:r>
                    </a:p>
                  </a:txBody>
                  <a:tcPr>
                    <a:solidFill>
                      <a:srgbClr val="F1F5FA"/>
                    </a:solidFill>
                  </a:tcPr>
                </a:tc>
                <a:tc>
                  <a:txBody>
                    <a:bodyPr/>
                    <a:lstStyle/>
                    <a:p>
                      <a:pPr>
                        <a:defRPr sz="1200">
                          <a:solidFill>
                            <a:srgbClr val="1C2230"/>
                          </a:solidFill>
                          <a:latin typeface="Yu Gothic"/>
                        </a:defRPr>
                      </a:pPr>
                      <a:r>
                        <a:t>一次情報では確認できず</a:t>
                      </a:r>
                    </a:p>
                  </a:txBody>
                  <a:tcPr>
                    <a:solidFill>
                      <a:srgbClr val="F1F5FA"/>
                    </a:solidFill>
                  </a:tcPr>
                </a:tc>
              </a:tr>
              <a:tr h="502920">
                <a:tc>
                  <a:txBody>
                    <a:bodyPr/>
                    <a:lstStyle/>
                    <a:p>
                      <a:pPr>
                        <a:defRPr sz="1200">
                          <a:solidFill>
                            <a:srgbClr val="1C2230"/>
                          </a:solidFill>
                          <a:latin typeface="Yu Gothic"/>
                        </a:defRPr>
                      </a:pPr>
                      <a:r>
                        <a:t>GlobeNewswire一次発表の本文全体</a:t>
                      </a:r>
                    </a:p>
                  </a:txBody>
                  <a:tcPr>
                    <a:solidFill>
                      <a:srgbClr val="FFFFFF"/>
                    </a:solidFill>
                  </a:tcPr>
                </a:tc>
                <a:tc>
                  <a:txBody>
                    <a:bodyPr/>
                    <a:lstStyle/>
                    <a:p>
                      <a:pPr>
                        <a:defRPr sz="1200">
                          <a:solidFill>
                            <a:srgbClr val="1C2230"/>
                          </a:solidFill>
                          <a:latin typeface="Yu Gothic"/>
                        </a:defRPr>
                      </a:pPr>
                      <a:r>
                        <a:t>WebFetchのアクセス制限により複数媒体要約経由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「ソフトウェアではできないこと」に人件費がかかっているという発想は他業務にも応用できる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実績あるチームが同じ業界で再挑戦するという資金調達の作られ方は参考になる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顧客報告値と一次情報を区別して伝える姿勢は情報を読み解くうえで参考になる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AIエージェントが「成果に責任を持つ」という打ち出し方は他分野の製品にも広がりつつある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7,500万ドル・累計1億ドルという調達規模をまず把握する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効果数値を見る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5〜10%回収・5〜7倍速・70%超短縮という顧客報告値を確認する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企業評価額や日本への関連など、まだ分からない点を押さえる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対応領域の拡大</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事業展開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請求処理から直接材料費・MRO費へと事業領域が広がる可能性がある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他業種への波及</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市場への影響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同様のサプライチェーンAIエージェントへの投資が他社にも広がる可能性がある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人材配置の変化</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組織への影響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調達・請求処理担当者の役割が、AIエージェントの監督・例外処理へ変化する可能性がある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冷静に見る点、3つ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企業評価額や導入企業ごとの契約規模の詳細は公表されていない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効果数値(5〜10%回収等)は顧客報告値であり、第三者による検証結果ではない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情報源によって「シリーズB」と「シード調達」という表記の食い違いがある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今日の要点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7,500万ドル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シリーズB調達額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累計調達額1億ドル</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6社が導入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報じられた導入企業</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Meta・Unilever・J&amp;J・Pfizer・Dunkin'・Cardinal Health</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5〜7倍速</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業務処理速度の向上(顧客報告値)</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支出5〜10%回収、サイクル70%超短縮も</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「顧客報告値」と「第三者の検証」を区別して見る習慣を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AIエージェントのニュースを見るときは、調達額・導入企業・効果数値の出所を分けて確認しましょう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調達・請求処理業務に関わる方は、AIエージェントが処理できる業務範囲を一度確認してみてください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