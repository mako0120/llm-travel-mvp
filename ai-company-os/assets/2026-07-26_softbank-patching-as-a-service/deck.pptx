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約700システムを診断した結果、うち約4,000件は緊急対応を要する水準だった。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サービスの主な内容を整理する。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自社での診断結果を表で整理する。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サービスの流れを図で示す。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サービスを支える体制を表で整理する。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AI活用の意義について紹介する。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従来の対応との違いを対比で見せる。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サービス発表から本格展開までの経緯を紹介する。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実際に動向を追う前のチェックリストとして提示する。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自社を診断したら、脆弱性が1万件見つかった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ソフトバンク、OpenAIの技術を活用した「Patching as a Service」を3,000社へ本格展開(2026年7月14日)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ソフトバンク公式, マイナビニュース, ZDNET Japan(2026-07)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承: サービスの内容を詳しく見る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脆弱性</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システムやソフトウェアに存在する、サイバー攻撃に悪用されうる欠陥</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パッチ</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ソフトウェアの不具合・脆弱性を修正するための更新プログラム</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提供企業</a:t>
                      </a:r>
                    </a:p>
                  </a:txBody>
                  <a:tcPr>
                    <a:solidFill>
                      <a:srgbClr val="FFFFFF"/>
                    </a:solidFill>
                  </a:tcPr>
                </a:tc>
                <a:tc>
                  <a:txBody>
                    <a:bodyPr/>
                    <a:lstStyle/>
                    <a:p>
                      <a:pPr>
                        <a:defRPr sz="1200">
                          <a:solidFill>
                            <a:srgbClr val="1A1A2E"/>
                          </a:solidFill>
                          <a:latin typeface="Yu Gothic"/>
                        </a:defRPr>
                      </a:pPr>
                      <a:r>
                        <a:t>ソフトバンク・SB OAI Japan</a:t>
                      </a:r>
                    </a:p>
                  </a:txBody>
                  <a:tcPr>
                    <a:solidFill>
                      <a:srgbClr val="FFFFFF"/>
                    </a:solidFill>
                  </a:tcPr>
                </a:tc>
              </a:tr>
              <a:tr h="502920">
                <a:tc>
                  <a:txBody>
                    <a:bodyPr/>
                    <a:lstStyle/>
                    <a:p>
                      <a:pPr>
                        <a:defRPr sz="1200">
                          <a:solidFill>
                            <a:srgbClr val="1A1A2E"/>
                          </a:solidFill>
                          <a:latin typeface="Yu Gothic"/>
                        </a:defRPr>
                      </a:pPr>
                      <a:r>
                        <a:t>本格展開日</a:t>
                      </a:r>
                    </a:p>
                  </a:txBody>
                  <a:tcPr>
                    <a:solidFill>
                      <a:srgbClr val="F3F6FC"/>
                    </a:solidFill>
                  </a:tcPr>
                </a:tc>
                <a:tc>
                  <a:txBody>
                    <a:bodyPr/>
                    <a:lstStyle/>
                    <a:p>
                      <a:pPr>
                        <a:defRPr sz="1200">
                          <a:solidFill>
                            <a:srgbClr val="1A1A2E"/>
                          </a:solidFill>
                          <a:latin typeface="Yu Gothic"/>
                        </a:defRPr>
                      </a:pPr>
                      <a:r>
                        <a:t>2026年7月14日</a:t>
                      </a:r>
                    </a:p>
                  </a:txBody>
                  <a:tcPr>
                    <a:solidFill>
                      <a:srgbClr val="F3F6FC"/>
                    </a:solidFill>
                  </a:tcPr>
                </a:tc>
              </a:tr>
              <a:tr h="502920">
                <a:tc>
                  <a:txBody>
                    <a:bodyPr/>
                    <a:lstStyle/>
                    <a:p>
                      <a:pPr>
                        <a:defRPr sz="1200">
                          <a:solidFill>
                            <a:srgbClr val="1A1A2E"/>
                          </a:solidFill>
                          <a:latin typeface="Yu Gothic"/>
                        </a:defRPr>
                      </a:pPr>
                      <a:r>
                        <a:t>サービス名</a:t>
                      </a:r>
                    </a:p>
                  </a:txBody>
                  <a:tcPr>
                    <a:solidFill>
                      <a:srgbClr val="FFFFFF"/>
                    </a:solidFill>
                  </a:tcPr>
                </a:tc>
                <a:tc>
                  <a:txBody>
                    <a:bodyPr/>
                    <a:lstStyle/>
                    <a:p>
                      <a:pPr>
                        <a:defRPr sz="1200">
                          <a:solidFill>
                            <a:srgbClr val="1A1A2E"/>
                          </a:solidFill>
                          <a:latin typeface="Yu Gothic"/>
                        </a:defRPr>
                      </a:pPr>
                      <a:r>
                        <a:t>Patching as a Service</a:t>
                      </a:r>
                    </a:p>
                  </a:txBody>
                  <a:tcPr>
                    <a:solidFill>
                      <a:srgbClr val="FFFFFF"/>
                    </a:solidFill>
                  </a:tcPr>
                </a:tc>
              </a:tr>
              <a:tr h="502920">
                <a:tc>
                  <a:txBody>
                    <a:bodyPr/>
                    <a:lstStyle/>
                    <a:p>
                      <a:pPr>
                        <a:defRPr sz="1200">
                          <a:solidFill>
                            <a:srgbClr val="1A1A2E"/>
                          </a:solidFill>
                          <a:latin typeface="Yu Gothic"/>
                        </a:defRPr>
                      </a:pPr>
                      <a:r>
                        <a:t>対象</a:t>
                      </a:r>
                    </a:p>
                  </a:txBody>
                  <a:tcPr>
                    <a:solidFill>
                      <a:srgbClr val="F3F6FC"/>
                    </a:solidFill>
                  </a:tcPr>
                </a:tc>
                <a:tc>
                  <a:txBody>
                    <a:bodyPr/>
                    <a:lstStyle/>
                    <a:p>
                      <a:pPr>
                        <a:defRPr sz="1200">
                          <a:solidFill>
                            <a:srgbClr val="1A1A2E"/>
                          </a:solidFill>
                          <a:latin typeface="Yu Gothic"/>
                        </a:defRPr>
                      </a:pPr>
                      <a:r>
                        <a:t>電力・金融・通信・空港等の重要インフラ企業 約3,000社</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ソフトバンク公式プレスリリース(2026-07-14)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自社診断で発見した脆弱性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約10,500件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マイナビニュースの報道による(2026年7月15日)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マイナビニュース(2026-07-15)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サービスの主な内容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脆弱性診断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AIがシステムの脆弱性を自動で診断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対策の提案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診断結果のレポート・対策方針を提案</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パッチの適用</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修正パッチの適用までを一気通貫で支援</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ソフトバンク公式プレスリリース(2026-07-14)</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自社診断の結果(参考事例)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診断対象</a:t>
                      </a:r>
                    </a:p>
                  </a:txBody>
                  <a:tcPr>
                    <a:solidFill>
                      <a:srgbClr val="FFFFFF"/>
                    </a:solidFill>
                  </a:tcPr>
                </a:tc>
                <a:tc>
                  <a:txBody>
                    <a:bodyPr/>
                    <a:lstStyle/>
                    <a:p>
                      <a:pPr>
                        <a:defRPr sz="1200">
                          <a:solidFill>
                            <a:srgbClr val="1A1A2E"/>
                          </a:solidFill>
                          <a:latin typeface="Yu Gothic"/>
                        </a:defRPr>
                      </a:pPr>
                      <a:r>
                        <a:t>自社が管理する約700システム</a:t>
                      </a:r>
                    </a:p>
                  </a:txBody>
                  <a:tcPr>
                    <a:solidFill>
                      <a:srgbClr val="FFFFFF"/>
                    </a:solidFill>
                  </a:tcPr>
                </a:tc>
              </a:tr>
              <a:tr h="502920">
                <a:tc>
                  <a:txBody>
                    <a:bodyPr/>
                    <a:lstStyle/>
                    <a:p>
                      <a:pPr>
                        <a:defRPr sz="1200">
                          <a:solidFill>
                            <a:srgbClr val="1A1A2E"/>
                          </a:solidFill>
                          <a:latin typeface="Yu Gothic"/>
                        </a:defRPr>
                      </a:pPr>
                      <a:r>
                        <a:t>発見した脆弱性</a:t>
                      </a:r>
                    </a:p>
                  </a:txBody>
                  <a:tcPr>
                    <a:solidFill>
                      <a:srgbClr val="F3F6FC"/>
                    </a:solidFill>
                  </a:tcPr>
                </a:tc>
                <a:tc>
                  <a:txBody>
                    <a:bodyPr/>
                    <a:lstStyle/>
                    <a:p>
                      <a:pPr>
                        <a:defRPr sz="1200">
                          <a:solidFill>
                            <a:srgbClr val="1A1A2E"/>
                          </a:solidFill>
                          <a:latin typeface="Yu Gothic"/>
                        </a:defRPr>
                      </a:pPr>
                      <a:r>
                        <a:t>約10,500件</a:t>
                      </a:r>
                    </a:p>
                  </a:txBody>
                  <a:tcPr>
                    <a:solidFill>
                      <a:srgbClr val="F3F6FC"/>
                    </a:solidFill>
                  </a:tcPr>
                </a:tc>
              </a:tr>
              <a:tr h="502920">
                <a:tc>
                  <a:txBody>
                    <a:bodyPr/>
                    <a:lstStyle/>
                    <a:p>
                      <a:pPr>
                        <a:defRPr sz="1200">
                          <a:solidFill>
                            <a:srgbClr val="1A1A2E"/>
                          </a:solidFill>
                          <a:latin typeface="Yu Gothic"/>
                        </a:defRPr>
                      </a:pPr>
                      <a:r>
                        <a:t>緊急対応が必要な件数</a:t>
                      </a:r>
                    </a:p>
                  </a:txBody>
                  <a:tcPr>
                    <a:solidFill>
                      <a:srgbClr val="FFFFFF"/>
                    </a:solidFill>
                  </a:tcPr>
                </a:tc>
                <a:tc>
                  <a:txBody>
                    <a:bodyPr/>
                    <a:lstStyle/>
                    <a:p>
                      <a:pPr>
                        <a:defRPr sz="1200">
                          <a:solidFill>
                            <a:srgbClr val="1A1A2E"/>
                          </a:solidFill>
                          <a:latin typeface="Yu Gothic"/>
                        </a:defRPr>
                      </a:pPr>
                      <a:r>
                        <a:t>約4,000件</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マイナビニュース(2026-07-15)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サービスの流れ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脆弱性診断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AIがシステムを自動で診断</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対策の提案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レポート・修正方針を提示</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パッチの適用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修正までを一気通貫で支援</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ソフトバンク公式プレスリリース(2026-07-14)</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体制の整備</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新組織</a:t>
                      </a:r>
                    </a:p>
                  </a:txBody>
                  <a:tcPr>
                    <a:solidFill>
                      <a:srgbClr val="FFFFFF"/>
                    </a:solidFill>
                  </a:tcPr>
                </a:tc>
                <a:tc>
                  <a:txBody>
                    <a:bodyPr/>
                    <a:lstStyle/>
                    <a:p>
                      <a:pPr>
                        <a:defRPr sz="1200">
                          <a:solidFill>
                            <a:srgbClr val="1A1A2E"/>
                          </a:solidFill>
                          <a:latin typeface="Yu Gothic"/>
                        </a:defRPr>
                      </a:pPr>
                      <a:r>
                        <a:t>AIサイバー防衛室</a:t>
                      </a:r>
                    </a:p>
                  </a:txBody>
                  <a:tcPr>
                    <a:solidFill>
                      <a:srgbClr val="FFFFFF"/>
                    </a:solidFill>
                  </a:tcPr>
                </a:tc>
              </a:tr>
              <a:tr h="502920">
                <a:tc>
                  <a:txBody>
                    <a:bodyPr/>
                    <a:lstStyle/>
                    <a:p>
                      <a:pPr>
                        <a:defRPr sz="1200">
                          <a:solidFill>
                            <a:srgbClr val="1A1A2E"/>
                          </a:solidFill>
                          <a:latin typeface="Yu Gothic"/>
                        </a:defRPr>
                      </a:pPr>
                      <a:r>
                        <a:t>体制規模</a:t>
                      </a:r>
                    </a:p>
                  </a:txBody>
                  <a:tcPr>
                    <a:solidFill>
                      <a:srgbClr val="F3F6FC"/>
                    </a:solidFill>
                  </a:tcPr>
                </a:tc>
                <a:tc>
                  <a:txBody>
                    <a:bodyPr/>
                    <a:lstStyle/>
                    <a:p>
                      <a:pPr>
                        <a:defRPr sz="1200">
                          <a:solidFill>
                            <a:srgbClr val="1A1A2E"/>
                          </a:solidFill>
                          <a:latin typeface="Yu Gothic"/>
                        </a:defRPr>
                      </a:pPr>
                      <a:r>
                        <a:t>1,000人体制</a:t>
                      </a:r>
                    </a:p>
                  </a:txBody>
                  <a:tcPr>
                    <a:solidFill>
                      <a:srgbClr val="F3F6FC"/>
                    </a:solidFill>
                  </a:tcPr>
                </a:tc>
              </a:tr>
              <a:tr h="502920">
                <a:tc>
                  <a:txBody>
                    <a:bodyPr/>
                    <a:lstStyle/>
                    <a:p>
                      <a:pPr>
                        <a:defRPr sz="1200">
                          <a:solidFill>
                            <a:srgbClr val="1A1A2E"/>
                          </a:solidFill>
                          <a:latin typeface="Yu Gothic"/>
                        </a:defRPr>
                      </a:pPr>
                      <a:r>
                        <a:t>設置予定</a:t>
                      </a:r>
                    </a:p>
                  </a:txBody>
                  <a:tcPr>
                    <a:solidFill>
                      <a:srgbClr val="FFFFFF"/>
                    </a:solidFill>
                  </a:tcPr>
                </a:tc>
                <a:tc>
                  <a:txBody>
                    <a:bodyPr/>
                    <a:lstStyle/>
                    <a:p>
                      <a:pPr>
                        <a:defRPr sz="1200">
                          <a:solidFill>
                            <a:srgbClr val="1A1A2E"/>
                          </a:solidFill>
                          <a:latin typeface="Yu Gothic"/>
                        </a:defRPr>
                      </a:pPr>
                      <a:r>
                        <a:t>2026年7月16日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マイナビニュース(2026-07-15)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なぜサイバー防衛にAIを使うのか(参考)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スピード</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膨大な数のシステムを短期間で診断できる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見落としの低減</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人手では見落としやすい脆弱性も網羅的に検出できる可能性がある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従来の脆弱性対応と今回のサービスの違い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従来の脆弱性対応</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診断・対策を個別に人手で行う場合が多い</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対応に時間がかかりやすい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Patching as a Service</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AIが診断から提案までを一気通貫で支援</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自社実績として約10,500件を短期間で発見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これまでの経緯(参考)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発表(2026年6月16日)</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孫正義氏・OpenAI幹部らが登壇し発表</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本格展開(2026年7月14日)</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対象を3,000社に拡大し本格提供を開始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ソフトバンク公式プレスリリース(2026-07-14)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参考: なぜ自社の診断結果を先に公表したのか(推測)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有効性の提示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具体的な数字で効果を示し導入を後押ししたい狙いがあると考えられる(推測)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危機感の共有</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自社でも多くの脆弱性が見つかったことを示し、業界全体への警鐘としたと考えられる(推測)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出典の確認結果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本格展開日</a:t>
                      </a:r>
                    </a:p>
                  </a:txBody>
                  <a:tcPr>
                    <a:solidFill>
                      <a:srgbClr val="FFFFFF"/>
                    </a:solidFill>
                  </a:tcPr>
                </a:tc>
                <a:tc>
                  <a:txBody>
                    <a:bodyPr/>
                    <a:lstStyle/>
                    <a:p>
                      <a:pPr>
                        <a:defRPr sz="1200">
                          <a:solidFill>
                            <a:srgbClr val="1A1A2E"/>
                          </a:solidFill>
                          <a:latin typeface="Yu Gothic"/>
                        </a:defRPr>
                      </a:pPr>
                      <a:r>
                        <a:t>複数情報源で2026年7月14日と一致</a:t>
                      </a:r>
                    </a:p>
                  </a:txBody>
                  <a:tcPr>
                    <a:solidFill>
                      <a:srgbClr val="FFFFFF"/>
                    </a:solidFill>
                  </a:tcPr>
                </a:tc>
              </a:tr>
              <a:tr h="502920">
                <a:tc>
                  <a:txBody>
                    <a:bodyPr/>
                    <a:lstStyle/>
                    <a:p>
                      <a:pPr>
                        <a:defRPr sz="1200">
                          <a:solidFill>
                            <a:srgbClr val="1A1A2E"/>
                          </a:solidFill>
                          <a:latin typeface="Yu Gothic"/>
                        </a:defRPr>
                      </a:pPr>
                      <a:r>
                        <a:t>自社診断の脆弱性件数</a:t>
                      </a:r>
                    </a:p>
                  </a:txBody>
                  <a:tcPr>
                    <a:solidFill>
                      <a:srgbClr val="F3F6FC"/>
                    </a:solidFill>
                  </a:tcPr>
                </a:tc>
                <a:tc>
                  <a:txBody>
                    <a:bodyPr/>
                    <a:lstStyle/>
                    <a:p>
                      <a:pPr>
                        <a:defRPr sz="1200">
                          <a:solidFill>
                            <a:srgbClr val="1A1A2E"/>
                          </a:solidFill>
                          <a:latin typeface="Yu Gothic"/>
                        </a:defRPr>
                      </a:pPr>
                      <a:r>
                        <a:t>マイナビニュース等で確認</a:t>
                      </a:r>
                    </a:p>
                  </a:txBody>
                  <a:tcPr>
                    <a:solidFill>
                      <a:srgbClr val="F3F6FC"/>
                    </a:solidFill>
                  </a:tcPr>
                </a:tc>
              </a:tr>
              <a:tr h="502920">
                <a:tc>
                  <a:txBody>
                    <a:bodyPr/>
                    <a:lstStyle/>
                    <a:p>
                      <a:pPr>
                        <a:defRPr sz="1200">
                          <a:solidFill>
                            <a:srgbClr val="1A1A2E"/>
                          </a:solidFill>
                          <a:latin typeface="Yu Gothic"/>
                        </a:defRPr>
                      </a:pPr>
                      <a:r>
                        <a:t>対象社数(3,000社)</a:t>
                      </a:r>
                    </a:p>
                  </a:txBody>
                  <a:tcPr>
                    <a:solidFill>
                      <a:srgbClr val="FFFFFF"/>
                    </a:solidFill>
                  </a:tcPr>
                </a:tc>
                <a:tc>
                  <a:txBody>
                    <a:bodyPr/>
                    <a:lstStyle/>
                    <a:p>
                      <a:pPr>
                        <a:defRPr sz="1200">
                          <a:solidFill>
                            <a:srgbClr val="1A1A2E"/>
                          </a:solidFill>
                          <a:latin typeface="Yu Gothic"/>
                        </a:defRPr>
                      </a:pPr>
                      <a:r>
                        <a:t>ソフトバンク公式で確認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こんな人におすすめ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重要インフラ企業の担当者</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AIを活用したセキュリティ対策の事例を知りたい人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サイバーセキュリティに関心がある人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AI活用の最新事例を知りたい人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よくある疑問(Q&amp;A)</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誰が使えるの?</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当面は電力・金融・通信・空港等の重要インフラ企業約3,000社が対象</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料金は?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具体的な料金体系は本調査時点では確認できていない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約10,500件の脆弱性の深刻度別・システム種別の詳細な内訳は確認できなかった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サービスの具体的な料金体系は確認できなかった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見送った候補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Meta「Muse Image・Muse Video」</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鮮度不足・既存テーマとの近接性のため見送り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Netchex「Mesh」</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B2Bニッチな話題で一般視聴者への訴求力に欠けるため見送り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これが意味すること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AIによるセキュリティ対策の実用化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診断から修正提案までをAIが一気通貫で支援する事例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重要インフラの防御強化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電力・金融・通信等の社会基盤の安全性向上</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自社実績の公開という手法</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具体的な数字で効果を示す発表の仕方</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これは何を意味するのか(企業にとって)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AIを活用したセキュリティ診断が、重要インフラ企業を中心に広がりつつある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自社の脆弱性を早期に把握することが、サイバー攻撃への備えとして重要になっている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動向を追うなら確認したいこと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自社が対象になるか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業種・規模が対象条件に合致するか確認する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料金・導入条件</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公式サイトで最新の条件を確認する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他社の類似サービス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他のセキュリティベンダーの動向も確認する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動向を追う場合の進め方(目安)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①公式発表を確認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ソフトバンク公式の続報を確認する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②自社の状況を整理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自社のセキュリティ対策の現状を整理する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③専門家に相談</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必要に応じて専門家・ベンダーに相談する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個人にとっての影響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重要インフラのセキュリティ強化は、間接的に私たちの生活の安全にもつながる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AIを使ったセキュリティ対策のニュースは、成果と同時に限界も正しく理解することが大切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不明点・注意点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脆弱性の詳細な内訳、サービスの料金体系は公開情報からは確認できなかった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対象3,000社の業種別内訳の詳細も確認できなかった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企業のサービス展開という事実を淡々と紹介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誇張表現を避ける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セキュリティ対策の効果を過度に強調しない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検品結果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verify_pptx.py</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同一レイアウト連続チェック</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r h="502920">
                <a:tc>
                  <a:txBody>
                    <a:bodyPr/>
                    <a:lstStyle/>
                    <a:p>
                      <a:pPr>
                        <a:defRPr sz="1200">
                          <a:solidFill>
                            <a:srgbClr val="1A1A2E"/>
                          </a:solidFill>
                          <a:latin typeface="Yu Gothic"/>
                        </a:defRPr>
                      </a:pPr>
                      <a:r>
                        <a:t>bullets比率チェック</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対話原稿スライド数整合性</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ソフトバンク公式プレスリリース / SoftBank Group公式</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マイナビニュース / ZDNET Japan / Impress Watch</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AIが、重要インフラのセキュリティ対策を支える時代へ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診断から修正提案までを一気通貫で行うサービスが、3,000社規模で本格展開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興味があれば、公式サイトで対象条件を確認してみる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次回予告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AIを活用したセキュリティ対策の動向は今後も続くテーマ</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定期実行41本目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