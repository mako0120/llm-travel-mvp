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韓国の産業AIプラットフォーム企業DeepFineが、シリーズBの資金調達を発表しました。何が起きたのか、出典付きで正確に整理してお届けします。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結論から確認します。DeepFineは100億ウォン規模のシリーズB資金調達を実施し、累計調達額は約180億ウォンとなりました。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本日の流れです。今回の調達から企業概要、技術内容、そして確認できなかったことまで整理します。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複数の独立した韓国語メディアが継続的に報じた、注目度の高い話題です。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今回の発表は2026年8月18日で、着手日から7日前の情報であることを正直に開示します。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今回の調達には、Hyosung VenturesやPOSCO技術投資など複数の投資家が参加しました。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今回のラウンド概要です。複数の企業系ベンチャーキャピタルが参加しています。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DeepFineは、空間知能を基盤とした産業AIプラットフォーム企業として2019年に設立されました。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DeepFineは2019年7月に設立され、7年目を迎えています。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現場データの取得から業務標準化までを一気通貫で支援する仕組みです。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DeepFineは、AR・空間データ・業務協働の3つの製品群を展開しています。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空間知能・Vision AIは、現場の空間情報をAIが解析し、作業者に情報を提示する技術です。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DeepFineの累計調達額は、2019年の設立以来で約180億ウォンとなっています。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設立から今回の調達発表までの展開を整理します。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今回の調達は、現場ごとのAI構築をプラットフォーム型事業へ転換する狙いがあるとされています。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今回の発表は着手日から7日前の情報であることを正直に開示します。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従来の個別構築型と比べ、プラットフォーム化を目指している点が特徴です。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今回のラウンドには、韓国の主要企業系ベンチャーキャピタルが参加しました。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複数の独立した韓国語メディアで同一の調達内容を確認しています。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今回単体の調達額と、設立以降の累計調達額は、異なる種類の数字として区別する必要があります。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DeepFineの代表は、設立時からキム・ヒョンベ氏が務めています。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本テーマは、産業現場向けAIプラットフォーム企業の資金調達動向として整理しています。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設立から今回の発表までのタイムラインです。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今後、プラットフォーム化の進捗や海外展開の動向が注目されます。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DeepFineは、シリーズBの調達により、累計調達額約180億ウォンに到達しました。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今回のラウンドに参加した主要投資家を一覧にまとめました。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本日はDeepFineの資金調達についてお届けしました。確認できなかったことは正直に開示しています。次回もお楽しみに。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スマートグラスが</a:t>
            </a:r>
          </a:p>
          <a:p>
            <a:pPr algn="l">
              <a:lnSpc>
                <a:spcPct val="115000"/>
              </a:lnSpc>
            </a:pPr>
            <a:r>
              <a:rPr sz="4200" b="1">
                <a:solidFill>
                  <a:srgbClr val="FFFFFF"/>
                </a:solidFill>
                <a:latin typeface="Yu Gothic"/>
              </a:rPr>
              <a:t>工場を変える</a:t>
            </a:r>
          </a:p>
          <a:p>
            <a:pPr algn="l">
              <a:lnSpc>
                <a:spcPct val="115000"/>
              </a:lnSpc>
            </a:pPr>
            <a:r>
              <a:rPr sz="4200" b="1">
                <a:solidFill>
                  <a:srgbClr val="FFFFFF"/>
                </a:solidFill>
                <a:latin typeface="Yu Gothic"/>
              </a:rPr>
              <a:t>DeepFineが資金調達</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空間知能とVision AIで現場を標準化——出典付きで整理する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デジタルデイリー(2026年8月18日)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累計調達額180億ウォンに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DeepFineがシリーズB100億ウォンを調達</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デジタルデイリー(2026-08-18)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今回の調達を確認する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DeepFineという企業を確認する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スマートグラス×AIの仕組みを確認する</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複数の独立した韓国語メディアが同一の調達内容を報道</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スマートグラス×産業AIという分かりやすいユースケース</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現場業務のプラットフォーム化という明確な事業転換の方針</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デジタルデイリー(2026-08-18)</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発表日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2026年8月18日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複数の韓国語メディアが一致して報道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デジタルデイリー(2026-08-18)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今回の調達の内容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シリーズBラウンドで100億ウォンを調達</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累計調達額は約180億ウォンに到達</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Hyosung Ventures・POSCO技術投資等が参加</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デジタルデイリー(2026-08-18)</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今回のラウンド概要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調達額</a:t>
                      </a:r>
                    </a:p>
                  </a:txBody>
                  <a:tcPr>
                    <a:solidFill>
                      <a:srgbClr val="FFFFFF"/>
                    </a:solidFill>
                  </a:tcPr>
                </a:tc>
                <a:tc>
                  <a:txBody>
                    <a:bodyPr/>
                    <a:lstStyle/>
                    <a:p>
                      <a:pPr>
                        <a:defRPr sz="1200">
                          <a:solidFill>
                            <a:srgbClr val="1A1A2E"/>
                          </a:solidFill>
                          <a:latin typeface="Yu Gothic"/>
                        </a:defRPr>
                      </a:pPr>
                      <a:r>
                        <a:t>100億ウォン(シリーズB)</a:t>
                      </a:r>
                    </a:p>
                  </a:txBody>
                  <a:tcPr>
                    <a:solidFill>
                      <a:srgbClr val="FFFFFF"/>
                    </a:solidFill>
                  </a:tcPr>
                </a:tc>
              </a:tr>
              <a:tr h="502920">
                <a:tc>
                  <a:txBody>
                    <a:bodyPr/>
                    <a:lstStyle/>
                    <a:p>
                      <a:pPr>
                        <a:defRPr sz="1200">
                          <a:solidFill>
                            <a:srgbClr val="1A1A2E"/>
                          </a:solidFill>
                          <a:latin typeface="Yu Gothic"/>
                        </a:defRPr>
                      </a:pPr>
                      <a:r>
                        <a:t>累計調達額</a:t>
                      </a:r>
                    </a:p>
                  </a:txBody>
                  <a:tcPr>
                    <a:solidFill>
                      <a:srgbClr val="F3F6FC"/>
                    </a:solidFill>
                  </a:tcPr>
                </a:tc>
                <a:tc>
                  <a:txBody>
                    <a:bodyPr/>
                    <a:lstStyle/>
                    <a:p>
                      <a:pPr>
                        <a:defRPr sz="1200">
                          <a:solidFill>
                            <a:srgbClr val="1A1A2E"/>
                          </a:solidFill>
                          <a:latin typeface="Yu Gothic"/>
                        </a:defRPr>
                      </a:pPr>
                      <a:r>
                        <a:t>約180億ウォン</a:t>
                      </a:r>
                    </a:p>
                  </a:txBody>
                  <a:tcPr>
                    <a:solidFill>
                      <a:srgbClr val="F3F6FC"/>
                    </a:solidFill>
                  </a:tcPr>
                </a:tc>
              </a:tr>
              <a:tr h="502920">
                <a:tc>
                  <a:txBody>
                    <a:bodyPr/>
                    <a:lstStyle/>
                    <a:p>
                      <a:pPr>
                        <a:defRPr sz="1200">
                          <a:solidFill>
                            <a:srgbClr val="1A1A2E"/>
                          </a:solidFill>
                          <a:latin typeface="Yu Gothic"/>
                        </a:defRPr>
                      </a:pPr>
                      <a:r>
                        <a:t>主要参加投資家</a:t>
                      </a:r>
                    </a:p>
                  </a:txBody>
                  <a:tcPr>
                    <a:solidFill>
                      <a:srgbClr val="FFFFFF"/>
                    </a:solidFill>
                  </a:tcPr>
                </a:tc>
                <a:tc>
                  <a:txBody>
                    <a:bodyPr/>
                    <a:lstStyle/>
                    <a:p>
                      <a:pPr>
                        <a:defRPr sz="1200">
                          <a:solidFill>
                            <a:srgbClr val="1A1A2E"/>
                          </a:solidFill>
                          <a:latin typeface="Yu Gothic"/>
                        </a:defRPr>
                      </a:pPr>
                      <a:r>
                        <a:t>Hyosung Ventures・POSCO技術投資・LIG D&amp;A-IBKC</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デジタルデイリー(2026-08-18)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DeepFineという企業</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空間知能(空間インテリジェンス)基盤の産業AIプラットフォーム企業</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2019年7月に韓国で設立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代表はキム・ヒョンベ氏</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デジタルデイリー(2026-08-18)</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設立時期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2019年7月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韓国で設立、代表はキム・ヒョンベ氏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デジタルデイリー(2026-08-18)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事業の仕組み(概念図)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スマートグラス・Vision AI(現場データ取得)</a:t>
            </a:r>
          </a:p>
        </p:txBody>
      </p:sp>
      <p:sp>
        <p:nvSpPr>
          <p:cNvPr id="9" name="Right Arrow 8"/>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空間コンピューティング(現場の可視化・分析)</a:t>
            </a:r>
          </a:p>
        </p:txBody>
      </p:sp>
      <p:sp>
        <p:nvSpPr>
          <p:cNvPr id="13" name="Right Arrow 12"/>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産業AIプラットフォーム(業務標準化・AX支援)</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現場データの取得から業務標準化まで一気通貫</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主要製品一覧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製品名</a:t>
                      </a:r>
                    </a:p>
                  </a:txBody>
                  <a:tcPr>
                    <a:solidFill>
                      <a:srgbClr val="1E2761"/>
                    </a:solidFill>
                  </a:tcPr>
                </a:tc>
                <a:tc>
                  <a:txBody>
                    <a:bodyPr/>
                    <a:lstStyle/>
                    <a:p>
                      <a:pPr>
                        <a:defRPr sz="1300" b="1">
                          <a:solidFill>
                            <a:srgbClr val="FFFFFF"/>
                          </a:solidFill>
                          <a:latin typeface="Yu Gothic"/>
                        </a:defRPr>
                      </a:pPr>
                      <a:r>
                        <a:t>概要</a:t>
                      </a:r>
                    </a:p>
                  </a:txBody>
                  <a:tcPr>
                    <a:solidFill>
                      <a:srgbClr val="1E2761"/>
                    </a:solidFill>
                  </a:tcPr>
                </a:tc>
              </a:tr>
              <a:tr h="502920">
                <a:tc>
                  <a:txBody>
                    <a:bodyPr/>
                    <a:lstStyle/>
                    <a:p>
                      <a:pPr>
                        <a:defRPr sz="1200">
                          <a:solidFill>
                            <a:srgbClr val="1A1A2E"/>
                          </a:solidFill>
                          <a:latin typeface="Yu Gothic"/>
                        </a:defRPr>
                      </a:pPr>
                      <a:r>
                        <a:t>DAO(DEEP.FINE AR.ON)</a:t>
                      </a:r>
                    </a:p>
                  </a:txBody>
                  <a:tcPr>
                    <a:solidFill>
                      <a:srgbClr val="FFFFFF"/>
                    </a:solidFill>
                  </a:tcPr>
                </a:tc>
                <a:tc>
                  <a:txBody>
                    <a:bodyPr/>
                    <a:lstStyle/>
                    <a:p>
                      <a:pPr>
                        <a:defRPr sz="1200">
                          <a:solidFill>
                            <a:srgbClr val="1A1A2E"/>
                          </a:solidFill>
                          <a:latin typeface="Yu Gothic"/>
                        </a:defRPr>
                      </a:pPr>
                      <a:r>
                        <a:t>産業用拡張現実(AR)ソリューション</a:t>
                      </a:r>
                    </a:p>
                  </a:txBody>
                  <a:tcPr>
                    <a:solidFill>
                      <a:srgbClr val="FFFFFF"/>
                    </a:solidFill>
                  </a:tcPr>
                </a:tc>
              </a:tr>
              <a:tr h="502920">
                <a:tc>
                  <a:txBody>
                    <a:bodyPr/>
                    <a:lstStyle/>
                    <a:p>
                      <a:pPr>
                        <a:defRPr sz="1200">
                          <a:solidFill>
                            <a:srgbClr val="1A1A2E"/>
                          </a:solidFill>
                          <a:latin typeface="Yu Gothic"/>
                        </a:defRPr>
                      </a:pPr>
                      <a:r>
                        <a:t>DSC(DEEP.FINE Spatial Crafter)</a:t>
                      </a:r>
                    </a:p>
                  </a:txBody>
                  <a:tcPr>
                    <a:solidFill>
                      <a:srgbClr val="F3F6FC"/>
                    </a:solidFill>
                  </a:tcPr>
                </a:tc>
                <a:tc>
                  <a:txBody>
                    <a:bodyPr/>
                    <a:lstStyle/>
                    <a:p>
                      <a:pPr>
                        <a:defRPr sz="1200">
                          <a:solidFill>
                            <a:srgbClr val="1A1A2E"/>
                          </a:solidFill>
                          <a:latin typeface="Yu Gothic"/>
                        </a:defRPr>
                      </a:pPr>
                      <a:r>
                        <a:t>空間データ活用ソリューション</a:t>
                      </a:r>
                    </a:p>
                  </a:txBody>
                  <a:tcPr>
                    <a:solidFill>
                      <a:srgbClr val="F3F6FC"/>
                    </a:solidFill>
                  </a:tcPr>
                </a:tc>
              </a:tr>
              <a:tr h="502920">
                <a:tc>
                  <a:txBody>
                    <a:bodyPr/>
                    <a:lstStyle/>
                    <a:p>
                      <a:pPr>
                        <a:defRPr sz="1200">
                          <a:solidFill>
                            <a:srgbClr val="1A1A2E"/>
                          </a:solidFill>
                          <a:latin typeface="Yu Gothic"/>
                        </a:defRPr>
                      </a:pPr>
                      <a:r>
                        <a:t>ARON</a:t>
                      </a:r>
                    </a:p>
                  </a:txBody>
                  <a:tcPr>
                    <a:solidFill>
                      <a:srgbClr val="FFFFFF"/>
                    </a:solidFill>
                  </a:tcPr>
                </a:tc>
                <a:tc>
                  <a:txBody>
                    <a:bodyPr/>
                    <a:lstStyle/>
                    <a:p>
                      <a:pPr>
                        <a:defRPr sz="1200">
                          <a:solidFill>
                            <a:srgbClr val="1A1A2E"/>
                          </a:solidFill>
                          <a:latin typeface="Yu Gothic"/>
                        </a:defRPr>
                      </a:pPr>
                      <a:r>
                        <a:t>産業用業務協働ソリューション</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デジタルデイリー等(2026-08-18)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空間知能・Vision AIとは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カメラ・センサーで捉えた現場の空間情報をAIが解析する技術</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スマートグラスを通じて作業者に必要な情報をリアルタイム提示</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製造・建設等の現場業務のデジタル化に活用される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累計調達額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約180億ウォン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2019年の設立以来の累計額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デジタルデイリー(2026-08-18)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展開の流れ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2019年7月</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DeepFine設立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設立後</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AR・空間データ製品を開発・展開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2026年8月18日</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シリーズB100億ウォンの調達を発表</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今回の調達の目的</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現場ごとに個別構築していたAIを、継続的収益を生むプラットフォームへ転換</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産業AIプラットフォームの事業拡大</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特定企業の株式購入を推奨する意図はない</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VentureSquare(2026-08-18)</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確定</a:t>
                      </a:r>
                    </a:p>
                  </a:txBody>
                  <a:tcPr>
                    <a:solidFill>
                      <a:srgbClr val="FFFFFF"/>
                    </a:solidFill>
                  </a:tcPr>
                </a:tc>
                <a:tc>
                  <a:txBody>
                    <a:bodyPr/>
                    <a:lstStyle/>
                    <a:p>
                      <a:pPr>
                        <a:defRPr sz="1200">
                          <a:solidFill>
                            <a:srgbClr val="1A1A2E"/>
                          </a:solidFill>
                          <a:latin typeface="Yu Gothic"/>
                        </a:defRPr>
                      </a:pPr>
                      <a:r>
                        <a:t>調達額・累計額・設立時期・主要製品</a:t>
                      </a:r>
                    </a:p>
                  </a:txBody>
                  <a:tcPr>
                    <a:solidFill>
                      <a:srgbClr val="FFFFFF"/>
                    </a:solidFill>
                  </a:tcPr>
                </a:tc>
              </a:tr>
              <a:tr h="502920">
                <a:tc>
                  <a:txBody>
                    <a:bodyPr/>
                    <a:lstStyle/>
                    <a:p>
                      <a:pPr>
                        <a:defRPr sz="1200">
                          <a:solidFill>
                            <a:srgbClr val="1A1A2E"/>
                          </a:solidFill>
                          <a:latin typeface="Yu Gothic"/>
                        </a:defRPr>
                      </a:pPr>
                      <a:r>
                        <a:t>確定</a:t>
                      </a:r>
                    </a:p>
                  </a:txBody>
                  <a:tcPr>
                    <a:solidFill>
                      <a:srgbClr val="F3F6FC"/>
                    </a:solidFill>
                  </a:tcPr>
                </a:tc>
                <a:tc>
                  <a:txBody>
                    <a:bodyPr/>
                    <a:lstStyle/>
                    <a:p>
                      <a:pPr>
                        <a:defRPr sz="1200">
                          <a:solidFill>
                            <a:srgbClr val="1A1A2E"/>
                          </a:solidFill>
                          <a:latin typeface="Yu Gothic"/>
                        </a:defRPr>
                      </a:pPr>
                      <a:r>
                        <a:t>参加投資家・調達の目的</a:t>
                      </a:r>
                    </a:p>
                  </a:txBody>
                  <a:tcPr>
                    <a:solidFill>
                      <a:srgbClr val="F3F6FC"/>
                    </a:solidFill>
                  </a:tcPr>
                </a:tc>
              </a:tr>
              <a:tr h="502920">
                <a:tc>
                  <a:txBody>
                    <a:bodyPr/>
                    <a:lstStyle/>
                    <a:p>
                      <a:pPr>
                        <a:defRPr sz="1200">
                          <a:solidFill>
                            <a:srgbClr val="1A1A2E"/>
                          </a:solidFill>
                          <a:latin typeface="Yu Gothic"/>
                        </a:defRPr>
                      </a:pPr>
                      <a:r>
                        <a:t>未確認</a:t>
                      </a:r>
                    </a:p>
                  </a:txBody>
                  <a:tcPr>
                    <a:solidFill>
                      <a:srgbClr val="FFFFFF"/>
                    </a:solidFill>
                  </a:tcPr>
                </a:tc>
                <a:tc>
                  <a:txBody>
                    <a:bodyPr/>
                    <a:lstStyle/>
                    <a:p>
                      <a:pPr>
                        <a:defRPr sz="1200">
                          <a:solidFill>
                            <a:srgbClr val="1A1A2E"/>
                          </a:solidFill>
                          <a:latin typeface="Yu Gothic"/>
                        </a:defRPr>
                      </a:pPr>
                      <a:r>
                        <a:t>具体的な企業評価額・導入企業数</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今回の調達による具体的な企業評価額</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スマートグラス・AI製品の具体的な導入企業数・利用実績</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日本を含む海外展開の有無・計画</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発表日の鮮度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着手日から7日前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複数の韓国語メディアが一致して報道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research.md参照</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従来の産業AI導入 vs DeepFineのプラットフォーム型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従来の産業AI導入</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現場ごとに個別にAIを構築するケースが多い</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DeepFineのプラットフォーム型</a:t>
            </a:r>
          </a:p>
        </p:txBody>
      </p:sp>
      <p:sp>
        <p:nvSpPr>
          <p:cNvPr id="14" name="Oval 13"/>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継続的収益を生むプラットフォームとして展開</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参加投資家について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Hyosung Ventures(効成ベンチャーズ)</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POSCO技術投資</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LIG D&amp;A-IBKC</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デジタルデイリー(2026-08-18)</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主要出典の一覧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1E2761"/>
                    </a:solidFill>
                  </a:tcPr>
                </a:tc>
                <a:tc>
                  <a:txBody>
                    <a:bodyPr/>
                    <a:lstStyle/>
                    <a:p>
                      <a:pPr>
                        <a:defRPr sz="1300" b="1">
                          <a:solidFill>
                            <a:srgbClr val="FFFFFF"/>
                          </a:solidFill>
                          <a:latin typeface="Yu Gothic"/>
                        </a:defRPr>
                      </a:pPr>
                      <a:r>
                        <a:t>発表日</a:t>
                      </a:r>
                    </a:p>
                  </a:txBody>
                  <a:tcPr>
                    <a:solidFill>
                      <a:srgbClr val="1E2761"/>
                    </a:solidFill>
                  </a:tcPr>
                </a:tc>
              </a:tr>
              <a:tr h="502920">
                <a:tc>
                  <a:txBody>
                    <a:bodyPr/>
                    <a:lstStyle/>
                    <a:p>
                      <a:pPr>
                        <a:defRPr sz="1200">
                          <a:solidFill>
                            <a:srgbClr val="1A1A2E"/>
                          </a:solidFill>
                          <a:latin typeface="Yu Gothic"/>
                        </a:defRPr>
                      </a:pPr>
                      <a:r>
                        <a:t>デジタルデイリー / ITデイリー</a:t>
                      </a:r>
                    </a:p>
                  </a:txBody>
                  <a:tcPr>
                    <a:solidFill>
                      <a:srgbClr val="FFFFFF"/>
                    </a:solidFill>
                  </a:tcPr>
                </a:tc>
                <a:tc>
                  <a:txBody>
                    <a:bodyPr/>
                    <a:lstStyle/>
                    <a:p>
                      <a:pPr>
                        <a:defRPr sz="1200">
                          <a:solidFill>
                            <a:srgbClr val="1A1A2E"/>
                          </a:solidFill>
                          <a:latin typeface="Yu Gothic"/>
                        </a:defRPr>
                      </a:pPr>
                      <a:r>
                        <a:t>2026年8月18日</a:t>
                      </a:r>
                    </a:p>
                  </a:txBody>
                  <a:tcPr>
                    <a:solidFill>
                      <a:srgbClr val="FFFFFF"/>
                    </a:solidFill>
                  </a:tcPr>
                </a:tc>
              </a:tr>
              <a:tr h="502920">
                <a:tc>
                  <a:txBody>
                    <a:bodyPr/>
                    <a:lstStyle/>
                    <a:p>
                      <a:pPr>
                        <a:defRPr sz="1200">
                          <a:solidFill>
                            <a:srgbClr val="1A1A2E"/>
                          </a:solidFill>
                          <a:latin typeface="Yu Gothic"/>
                        </a:defRPr>
                      </a:pPr>
                      <a:r>
                        <a:t>HelloT / VentureSquare</a:t>
                      </a:r>
                    </a:p>
                  </a:txBody>
                  <a:tcPr>
                    <a:solidFill>
                      <a:srgbClr val="F3F6FC"/>
                    </a:solidFill>
                  </a:tcPr>
                </a:tc>
                <a:tc>
                  <a:txBody>
                    <a:bodyPr/>
                    <a:lstStyle/>
                    <a:p>
                      <a:pPr>
                        <a:defRPr sz="1200">
                          <a:solidFill>
                            <a:srgbClr val="1A1A2E"/>
                          </a:solidFill>
                          <a:latin typeface="Yu Gothic"/>
                        </a:defRPr>
                      </a:pPr>
                      <a:r>
                        <a:t>2026年8月18日</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今回の調達額 vs 累計調達額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今回のシリーズB</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100億ウォン</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累計調達額</a:t>
            </a:r>
          </a:p>
        </p:txBody>
      </p:sp>
      <p:sp>
        <p:nvSpPr>
          <p:cNvPr id="14" name="Oval 13"/>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約180億ウォン(2019年設立以降)</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代表者</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キム・ヒョンベ氏</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2019年の設立から代表を務める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デジタルデイリー等(2026-08-18)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今回の調達の3つの注目ポイント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スマートグラス×産業AIという独自モデル</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現場業務のプラットフォーム化への転換</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企業系ベンチャーキャピタルの継続支援</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視聴者にとっての意味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製造・建設現場のAI活用に関心がある層に関係する情報</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韓国発スタートアップの成長事例としての価値</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特定企業への投資や製品利用を強く推奨する意図はない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タイムライン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1E2761"/>
                    </a:solidFill>
                  </a:tcPr>
                </a:tc>
                <a:tc>
                  <a:txBody>
                    <a:bodyPr/>
                    <a:lstStyle/>
                    <a:p>
                      <a:pPr>
                        <a:defRPr sz="1300" b="1">
                          <a:solidFill>
                            <a:srgbClr val="FFFFFF"/>
                          </a:solidFill>
                          <a:latin typeface="Yu Gothic"/>
                        </a:defRPr>
                      </a:pPr>
                      <a:r>
                        <a:t>できごと</a:t>
                      </a:r>
                    </a:p>
                  </a:txBody>
                  <a:tcPr>
                    <a:solidFill>
                      <a:srgbClr val="1E2761"/>
                    </a:solidFill>
                  </a:tcPr>
                </a:tc>
              </a:tr>
              <a:tr h="502920">
                <a:tc>
                  <a:txBody>
                    <a:bodyPr/>
                    <a:lstStyle/>
                    <a:p>
                      <a:pPr>
                        <a:defRPr sz="1200">
                          <a:solidFill>
                            <a:srgbClr val="1A1A2E"/>
                          </a:solidFill>
                          <a:latin typeface="Yu Gothic"/>
                        </a:defRPr>
                      </a:pPr>
                      <a:r>
                        <a:t>2019年7月</a:t>
                      </a:r>
                    </a:p>
                  </a:txBody>
                  <a:tcPr>
                    <a:solidFill>
                      <a:srgbClr val="FFFFFF"/>
                    </a:solidFill>
                  </a:tcPr>
                </a:tc>
                <a:tc>
                  <a:txBody>
                    <a:bodyPr/>
                    <a:lstStyle/>
                    <a:p>
                      <a:pPr>
                        <a:defRPr sz="1200">
                          <a:solidFill>
                            <a:srgbClr val="1A1A2E"/>
                          </a:solidFill>
                          <a:latin typeface="Yu Gothic"/>
                        </a:defRPr>
                      </a:pPr>
                      <a:r>
                        <a:t>DeepFine設立</a:t>
                      </a:r>
                    </a:p>
                  </a:txBody>
                  <a:tcPr>
                    <a:solidFill>
                      <a:srgbClr val="FFFFFF"/>
                    </a:solidFill>
                  </a:tcPr>
                </a:tc>
              </a:tr>
              <a:tr h="502920">
                <a:tc>
                  <a:txBody>
                    <a:bodyPr/>
                    <a:lstStyle/>
                    <a:p>
                      <a:pPr>
                        <a:defRPr sz="1200">
                          <a:solidFill>
                            <a:srgbClr val="1A1A2E"/>
                          </a:solidFill>
                          <a:latin typeface="Yu Gothic"/>
                        </a:defRPr>
                      </a:pPr>
                      <a:r>
                        <a:t>設立後</a:t>
                      </a:r>
                    </a:p>
                  </a:txBody>
                  <a:tcPr>
                    <a:solidFill>
                      <a:srgbClr val="F3F6FC"/>
                    </a:solidFill>
                  </a:tcPr>
                </a:tc>
                <a:tc>
                  <a:txBody>
                    <a:bodyPr/>
                    <a:lstStyle/>
                    <a:p>
                      <a:pPr>
                        <a:defRPr sz="1200">
                          <a:solidFill>
                            <a:srgbClr val="1A1A2E"/>
                          </a:solidFill>
                          <a:latin typeface="Yu Gothic"/>
                        </a:defRPr>
                      </a:pPr>
                      <a:r>
                        <a:t>AR・空間データ製品を開発・展開</a:t>
                      </a:r>
                    </a:p>
                  </a:txBody>
                  <a:tcPr>
                    <a:solidFill>
                      <a:srgbClr val="F3F6FC"/>
                    </a:solidFill>
                  </a:tcPr>
                </a:tc>
              </a:tr>
              <a:tr h="502920">
                <a:tc>
                  <a:txBody>
                    <a:bodyPr/>
                    <a:lstStyle/>
                    <a:p>
                      <a:pPr>
                        <a:defRPr sz="1200">
                          <a:solidFill>
                            <a:srgbClr val="1A1A2E"/>
                          </a:solidFill>
                          <a:latin typeface="Yu Gothic"/>
                        </a:defRPr>
                      </a:pPr>
                      <a:r>
                        <a:t>2026年8月18日</a:t>
                      </a:r>
                    </a:p>
                  </a:txBody>
                  <a:tcPr>
                    <a:solidFill>
                      <a:srgbClr val="FFFFFF"/>
                    </a:solidFill>
                  </a:tcPr>
                </a:tc>
                <a:tc>
                  <a:txBody>
                    <a:bodyPr/>
                    <a:lstStyle/>
                    <a:p>
                      <a:pPr>
                        <a:defRPr sz="1200">
                          <a:solidFill>
                            <a:srgbClr val="1A1A2E"/>
                          </a:solidFill>
                          <a:latin typeface="Yu Gothic"/>
                        </a:defRPr>
                      </a:pPr>
                      <a:r>
                        <a:t>シリーズB100億ウォンの調達を発表</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今後注目される点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プラットフォーム型事業への転換の進捗</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海外展開の有無・具体的な導入企業の公表</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現時点では未確認の情報として今後の続報を待つ必要がある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累計調達額180億ウォン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DeepFineがシリーズB100億ウォンを調達(2026年8月18日発表)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デジタルデイリー(2026-08-18)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参加投資家一覧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投資家</a:t>
                      </a:r>
                    </a:p>
                  </a:txBody>
                  <a:tcPr>
                    <a:solidFill>
                      <a:srgbClr val="1E2761"/>
                    </a:solidFill>
                  </a:tcPr>
                </a:tc>
                <a:tc>
                  <a:txBody>
                    <a:bodyPr/>
                    <a:lstStyle/>
                    <a:p>
                      <a:pPr>
                        <a:defRPr sz="1300" b="1">
                          <a:solidFill>
                            <a:srgbClr val="FFFFFF"/>
                          </a:solidFill>
                          <a:latin typeface="Yu Gothic"/>
                        </a:defRPr>
                      </a:pPr>
                      <a:r>
                        <a:t>位置づけ</a:t>
                      </a:r>
                    </a:p>
                  </a:txBody>
                  <a:tcPr>
                    <a:solidFill>
                      <a:srgbClr val="1E2761"/>
                    </a:solidFill>
                  </a:tcPr>
                </a:tc>
              </a:tr>
              <a:tr h="502920">
                <a:tc>
                  <a:txBody>
                    <a:bodyPr/>
                    <a:lstStyle/>
                    <a:p>
                      <a:pPr>
                        <a:defRPr sz="1200">
                          <a:solidFill>
                            <a:srgbClr val="1A1A2E"/>
                          </a:solidFill>
                          <a:latin typeface="Yu Gothic"/>
                        </a:defRPr>
                      </a:pPr>
                      <a:r>
                        <a:t>Hyosung Ventures</a:t>
                      </a:r>
                    </a:p>
                  </a:txBody>
                  <a:tcPr>
                    <a:solidFill>
                      <a:srgbClr val="FFFFFF"/>
                    </a:solidFill>
                  </a:tcPr>
                </a:tc>
                <a:tc>
                  <a:txBody>
                    <a:bodyPr/>
                    <a:lstStyle/>
                    <a:p>
                      <a:pPr>
                        <a:defRPr sz="1200">
                          <a:solidFill>
                            <a:srgbClr val="1A1A2E"/>
                          </a:solidFill>
                          <a:latin typeface="Yu Gothic"/>
                        </a:defRPr>
                      </a:pPr>
                      <a:r>
                        <a:t>今回のラウンドに参加</a:t>
                      </a:r>
                    </a:p>
                  </a:txBody>
                  <a:tcPr>
                    <a:solidFill>
                      <a:srgbClr val="FFFFFF"/>
                    </a:solidFill>
                  </a:tcPr>
                </a:tc>
              </a:tr>
              <a:tr h="502920">
                <a:tc>
                  <a:txBody>
                    <a:bodyPr/>
                    <a:lstStyle/>
                    <a:p>
                      <a:pPr>
                        <a:defRPr sz="1200">
                          <a:solidFill>
                            <a:srgbClr val="1A1A2E"/>
                          </a:solidFill>
                          <a:latin typeface="Yu Gothic"/>
                        </a:defRPr>
                      </a:pPr>
                      <a:r>
                        <a:t>POSCO技術投資</a:t>
                      </a:r>
                    </a:p>
                  </a:txBody>
                  <a:tcPr>
                    <a:solidFill>
                      <a:srgbClr val="F3F6FC"/>
                    </a:solidFill>
                  </a:tcPr>
                </a:tc>
                <a:tc>
                  <a:txBody>
                    <a:bodyPr/>
                    <a:lstStyle/>
                    <a:p>
                      <a:pPr>
                        <a:defRPr sz="1200">
                          <a:solidFill>
                            <a:srgbClr val="1A1A2E"/>
                          </a:solidFill>
                          <a:latin typeface="Yu Gothic"/>
                        </a:defRPr>
                      </a:pPr>
                      <a:r>
                        <a:t>今回のラウンドに参加</a:t>
                      </a:r>
                    </a:p>
                  </a:txBody>
                  <a:tcPr>
                    <a:solidFill>
                      <a:srgbClr val="F3F6FC"/>
                    </a:solidFill>
                  </a:tcPr>
                </a:tc>
              </a:tr>
              <a:tr h="502920">
                <a:tc>
                  <a:txBody>
                    <a:bodyPr/>
                    <a:lstStyle/>
                    <a:p>
                      <a:pPr>
                        <a:defRPr sz="1200">
                          <a:solidFill>
                            <a:srgbClr val="1A1A2E"/>
                          </a:solidFill>
                          <a:latin typeface="Yu Gothic"/>
                        </a:defRPr>
                      </a:pPr>
                      <a:r>
                        <a:t>LIG D&amp;A-IBKC</a:t>
                      </a:r>
                    </a:p>
                  </a:txBody>
                  <a:tcPr>
                    <a:solidFill>
                      <a:srgbClr val="FFFFFF"/>
                    </a:solidFill>
                  </a:tcPr>
                </a:tc>
                <a:tc>
                  <a:txBody>
                    <a:bodyPr/>
                    <a:lstStyle/>
                    <a:p>
                      <a:pPr>
                        <a:defRPr sz="1200">
                          <a:solidFill>
                            <a:srgbClr val="1A1A2E"/>
                          </a:solidFill>
                          <a:latin typeface="Yu Gothic"/>
                        </a:defRPr>
                      </a:pPr>
                      <a:r>
                        <a:t>今回のラウンドに参加</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デジタルデイリー(2026-08-18)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デジタルデイリー等(2026-08-18)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