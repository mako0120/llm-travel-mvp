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金額(億円)</c:v>
                </c:pt>
              </c:strCache>
            </c:strRef>
          </c:tx>
          <c:spPr>
            <a:solidFill>
              <a:srgbClr val="7A1F2B"/>
            </a:solidFill>
          </c:spPr>
          <c:cat>
            <c:strRef>
              <c:f>Sheet1!$A$2:$A$4</c:f>
              <c:strCache>
                <c:ptCount val="3"/>
                <c:pt idx="0">
                  <c:v>NEC当初希望額</c:v>
                </c:pt>
                <c:pt idx="1">
                  <c:v>報道下限(De Telegraaf基本額)</c:v>
                </c:pt>
                <c:pt idx="2">
                  <c:v>報道上限(De Telegraaf条件付き)</c:v>
                </c:pt>
              </c:strCache>
            </c:strRef>
          </c:cat>
          <c:val>
            <c:numRef>
              <c:f>Sheet1!$B$2:$B$4</c:f>
              <c:numCache>
                <c:formatCode>General</c:formatCode>
                <c:ptCount val="3"/>
                <c:pt idx="0">
                  <c:v>36</c:v>
                </c:pt>
                <c:pt idx="1">
                  <c:v>27</c:v>
                </c:pt>
                <c:pt idx="2">
                  <c:v>31</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杯メンバーに選ばれなかった男が、オランダ王者から約31億円の値がつきました。日本代表MF佐野航大選手が、NECナイメヘンからPSVアイントホーフェンへの移籍で合意したと、本日2026年8月5日、複数のメディアが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佐野選手・PSV・エールディヴィジとは何か、移籍金の範囲、合意と正式契約の違い、今季成績とW杯落選という文脈、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何が起きたのか整理します。佐野航大選手が、PSVアイントホーフェンへの移籍に合意したと報じられました。契約年数は5年、移籍金は27億円から31億円超と幅のある報道です。現時点は合意の段階です。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移籍概要を表にまとめました。選手名は佐野航大、移籍元はNECナイメヘン、移籍先はPSVアイントホーフェン、契約年数は5年、現時点は合意の段階です。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佐野航大選手とはどんな選手か紹介します。22歳のMFで、NECナイメヘン所属です。日本代表のW杯メンバーには選ばれなかったと報じられています。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初心者向けに説明します。エールディヴィジはオランダの1部リーグで、NECもPSVもこのリーグに所属しています。PSVは前季王者で、オランダの盟主クラブです。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PSVアイントホーフェンについて紹介します。前季のエールディヴィジ王者で、オランダの盟主クラブです。今回、佐野選手の移籍先として合意に達したと報じられています。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佐野選手の今季成績です。リーグ戦34試合で3得点7アシスト、カップ戦等を含む公式戦では39試合に出場しています。NECの主力選手として扱われています。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初心者向けに、サッカーの移籍手続きの一般的な流れを説明します。合意、メディカルチェック、正式契約・公式発表の順に進みます。佐野選手は現在、合意の段階と報じられています。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今回の交渉の経緯です。今夏序盤からPSVは関心を示していましたが、当初はNECの希望額を高いと判断していました。ホッフェンハイムとの話が破談になった後、PSVとの交渉が急速に進みました。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NEC側の当初希望額は、約36億円(約2,000万ユーロ)と報じられています。PSVはこの金額を当初高すぎると判断していたとされます。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ここが今回重要なポイントです。移籍金は27億円から31億円超まで、媒体により幅のある報道です。本テーマでは単一の数字を確定額として断定しません。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数字をグラフで比較します。NEC当初希望額36億円、報道下限27億円、報道上限31億円です。いずれも報道に基づく数字で、確定額ではありません。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ここが今回最も重要な注意点です。合意に達したことは確定していますが、メディカルチェックを経た正式契約・公式発表はまだ行われていません。本テーマではこの違いを明確に区別します。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なぜCL予選を欠場したのか説明します。メディカルチェックを受けるため、8月4日の対オリンピアコス戦への出場を見送ったと報じられています。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佐野選手は、8月4日のCL3次予選・対オリンピアコス戦を欠場しました。メディカルチェックのためと報じられています。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NECとPSVを比較します。NECではリーグ戦34試合で3得点7アシストの主力選手でした。PSVとは5年契約で合意したと報じられています。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杯メンバー落選からの物語です。日本代表のW杯メンバーには選ばれませんでしたが、リーグでは主力として活躍を続け、オランダ王者からの移籍合意が報じられました。選手の心境についての推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位置づけを概念図で示します。W杯メンバーには選ばれませんでしたが、リーグでは主力として活躍し、オランダ王者から移籍合意という評価を受けました。あくまで事実の並びで、選手の心境の推測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確認できたこと・できなかったことを正直に整理します。移籍合意や契約年数は確認できていますが、確定移籍金・メディカルチェック完了・正式契約は確認できていません。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未確認事項を一覧にしました。確定移籍金、メディカルチェックの完了、正式契約、PSVでの役割、選手本人のコメント、いずれも本調査の範囲では確認できていません。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出典について整理します。複数の日本語メディアが、オランダ紙De Telegraafの報道等を踏まえて同日に報じています。本テーマではこれらを整理してお伝えします。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round81評価表からの開示です。評価スコアは79/100で、意外性のあるストーリーと数字のインパクト、着手日当日という鮮度が評価されました。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本件の報道は着手日と同日であり、シリーズの中でも最高水準の鮮度です。ただし鮮度が高いからといって、確定額や正式契約の有無という不確実性が解消され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公平性・配慮について開示します。実在の選手名・クラブ名はテキストのみで扱い、選手の心境についての推測は行っていません。政治的な論評もありません。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出典一覧です。フットボールチャンネル、ライブドアニュース、東スポWEB配信、GOAL配信という複数の独立した情報源で、本日2026年8月5日に報じられています。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既存テーマとの関係を確認しました。佐野航大選手・PSVを主題とした既存テーマはなく、他の日本人選手移籍テーマとも対象選手・移籍先が異なるため重複ではありません。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契約年数は5年と報じられています。PSVとの間で、この期間での契約に合意したとされています。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オランダ王者からの移籍合意は、正式契約までたどり着くのでしょうか。続報を、確認できたこと・できなかったことを区別しながら注目していきましょう。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佐野航大選手がPSVアイントホーフェンへの移籍で合意したと本日報じられました。移籍金は幅のある報道で、現時点は合意の段階です。W杯落選からの一転という文脈で報じられてい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W杯メンバーに選ばれなかった男が、オランダ王者から約31億円の値がついた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佐野航大選手、NECからPSVアイントホーフェンへ移籍合意(2026年8月5日発表)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フットボールチャンネル・ライブドアニュース・東スポWEB・GOAL(2026-08-05)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佐野航大選手・PSV・エールディヴィジとは</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移籍金の範囲(報道による数字の幅)</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『合意』と『正式契約』の違い</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佐野選手の今季成績とW杯メンバー落選という文脈</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何が起きたのか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日本代表MF佐野航大選手(22歳、NECナイメヘン所属)が、PSVアイントホーフェンへの移籍に合意したと2026年8月5日に報じられた</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契約年数は5年と報じられている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移籍金は27億円〜31億円超と、媒体により幅のある金額で報じられている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現時点は『合意』の段階で、メディカルチェックを経て正式契約となる見通し</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フットボールチャンネル・ライブドアニュース(2026-08-05)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移籍概要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選手名</a:t>
                      </a:r>
                    </a:p>
                  </a:txBody>
                  <a:tcPr>
                    <a:solidFill>
                      <a:srgbClr val="FFFFFF"/>
                    </a:solidFill>
                  </a:tcPr>
                </a:tc>
                <a:tc>
                  <a:txBody>
                    <a:bodyPr/>
                    <a:lstStyle/>
                    <a:p>
                      <a:pPr>
                        <a:defRPr sz="1200">
                          <a:solidFill>
                            <a:srgbClr val="2A1712"/>
                          </a:solidFill>
                          <a:latin typeface="Yu Gothic"/>
                        </a:defRPr>
                      </a:pPr>
                      <a:r>
                        <a:t>佐野航大(日本代表MF、22歳)</a:t>
                      </a:r>
                    </a:p>
                  </a:txBody>
                  <a:tcPr>
                    <a:solidFill>
                      <a:srgbClr val="FFFFFF"/>
                    </a:solidFill>
                  </a:tcPr>
                </a:tc>
              </a:tr>
              <a:tr h="502920">
                <a:tc>
                  <a:txBody>
                    <a:bodyPr/>
                    <a:lstStyle/>
                    <a:p>
                      <a:pPr>
                        <a:defRPr sz="1200">
                          <a:solidFill>
                            <a:srgbClr val="2A1712"/>
                          </a:solidFill>
                          <a:latin typeface="Yu Gothic"/>
                        </a:defRPr>
                      </a:pPr>
                      <a:r>
                        <a:t>移籍元</a:t>
                      </a:r>
                    </a:p>
                  </a:txBody>
                  <a:tcPr>
                    <a:solidFill>
                      <a:srgbClr val="FBF3E6"/>
                    </a:solidFill>
                  </a:tcPr>
                </a:tc>
                <a:tc>
                  <a:txBody>
                    <a:bodyPr/>
                    <a:lstStyle/>
                    <a:p>
                      <a:pPr>
                        <a:defRPr sz="1200">
                          <a:solidFill>
                            <a:srgbClr val="2A1712"/>
                          </a:solidFill>
                          <a:latin typeface="Yu Gothic"/>
                        </a:defRPr>
                      </a:pPr>
                      <a:r>
                        <a:t>NECナイメヘン(オランダ・エールディヴィジ)</a:t>
                      </a:r>
                    </a:p>
                  </a:txBody>
                  <a:tcPr>
                    <a:solidFill>
                      <a:srgbClr val="FBF3E6"/>
                    </a:solidFill>
                  </a:tcPr>
                </a:tc>
              </a:tr>
              <a:tr h="502920">
                <a:tc>
                  <a:txBody>
                    <a:bodyPr/>
                    <a:lstStyle/>
                    <a:p>
                      <a:pPr>
                        <a:defRPr sz="1200">
                          <a:solidFill>
                            <a:srgbClr val="2A1712"/>
                          </a:solidFill>
                          <a:latin typeface="Yu Gothic"/>
                        </a:defRPr>
                      </a:pPr>
                      <a:r>
                        <a:t>移籍先</a:t>
                      </a:r>
                    </a:p>
                  </a:txBody>
                  <a:tcPr>
                    <a:solidFill>
                      <a:srgbClr val="FFFFFF"/>
                    </a:solidFill>
                  </a:tcPr>
                </a:tc>
                <a:tc>
                  <a:txBody>
                    <a:bodyPr/>
                    <a:lstStyle/>
                    <a:p>
                      <a:pPr>
                        <a:defRPr sz="1200">
                          <a:solidFill>
                            <a:srgbClr val="2A1712"/>
                          </a:solidFill>
                          <a:latin typeface="Yu Gothic"/>
                        </a:defRPr>
                      </a:pPr>
                      <a:r>
                        <a:t>PSVアイントホーフェン(前季エールディヴィジ王者)</a:t>
                      </a:r>
                    </a:p>
                  </a:txBody>
                  <a:tcPr>
                    <a:solidFill>
                      <a:srgbClr val="FFFFFF"/>
                    </a:solidFill>
                  </a:tcPr>
                </a:tc>
              </a:tr>
              <a:tr h="502920">
                <a:tc>
                  <a:txBody>
                    <a:bodyPr/>
                    <a:lstStyle/>
                    <a:p>
                      <a:pPr>
                        <a:defRPr sz="1200">
                          <a:solidFill>
                            <a:srgbClr val="2A1712"/>
                          </a:solidFill>
                          <a:latin typeface="Yu Gothic"/>
                        </a:defRPr>
                      </a:pPr>
                      <a:r>
                        <a:t>現在のステータス</a:t>
                      </a:r>
                    </a:p>
                  </a:txBody>
                  <a:tcPr>
                    <a:solidFill>
                      <a:srgbClr val="FBF3E6"/>
                    </a:solidFill>
                  </a:tcPr>
                </a:tc>
                <a:tc>
                  <a:txBody>
                    <a:bodyPr/>
                    <a:lstStyle/>
                    <a:p>
                      <a:pPr>
                        <a:defRPr sz="1200">
                          <a:solidFill>
                            <a:srgbClr val="2A1712"/>
                          </a:solidFill>
                          <a:latin typeface="Yu Gothic"/>
                        </a:defRPr>
                      </a:pPr>
                      <a:r>
                        <a:t>合意に達したと報道(メディカルチェック後に正式契約の見通し)</a:t>
                      </a:r>
                    </a:p>
                  </a:txBody>
                  <a:tcPr>
                    <a:solidFill>
                      <a:srgbClr val="FBF3E6"/>
                    </a:solidFill>
                  </a:tcPr>
                </a:tc>
              </a:tr>
              <a:tr h="502920">
                <a:tc>
                  <a:txBody>
                    <a:bodyPr/>
                    <a:lstStyle/>
                    <a:p>
                      <a:pPr>
                        <a:defRPr sz="1200">
                          <a:solidFill>
                            <a:srgbClr val="2A1712"/>
                          </a:solidFill>
                          <a:latin typeface="Yu Gothic"/>
                        </a:defRPr>
                      </a:pPr>
                      <a:r>
                        <a:t>契約年数(報道)</a:t>
                      </a:r>
                    </a:p>
                  </a:txBody>
                  <a:tcPr>
                    <a:solidFill>
                      <a:srgbClr val="FFFFFF"/>
                    </a:solidFill>
                  </a:tcPr>
                </a:tc>
                <a:tc>
                  <a:txBody>
                    <a:bodyPr/>
                    <a:lstStyle/>
                    <a:p>
                      <a:pPr>
                        <a:defRPr sz="1200">
                          <a:solidFill>
                            <a:srgbClr val="2A1712"/>
                          </a:solidFill>
                          <a:latin typeface="Yu Gothic"/>
                        </a:defRPr>
                      </a:pPr>
                      <a:r>
                        <a:t>5年</a:t>
                      </a:r>
                    </a:p>
                  </a:txBody>
                  <a:tcPr>
                    <a:solidFill>
                      <a:srgbClr val="FFFFFF"/>
                    </a:solidFill>
                  </a:tcPr>
                </a:tc>
              </a:tr>
              <a:tr h="502920">
                <a:tc>
                  <a:txBody>
                    <a:bodyPr/>
                    <a:lstStyle/>
                    <a:p>
                      <a:pPr>
                        <a:defRPr sz="1200">
                          <a:solidFill>
                            <a:srgbClr val="2A1712"/>
                          </a:solidFill>
                          <a:latin typeface="Yu Gothic"/>
                        </a:defRPr>
                      </a:pPr>
                      <a:r>
                        <a:t>発表日</a:t>
                      </a:r>
                    </a:p>
                  </a:txBody>
                  <a:tcPr>
                    <a:solidFill>
                      <a:srgbClr val="FBF3E6"/>
                    </a:solidFill>
                  </a:tcPr>
                </a:tc>
                <a:tc>
                  <a:txBody>
                    <a:bodyPr/>
                    <a:lstStyle/>
                    <a:p>
                      <a:pPr>
                        <a:defRPr sz="1200">
                          <a:solidFill>
                            <a:srgbClr val="2A1712"/>
                          </a:solidFill>
                          <a:latin typeface="Yu Gothic"/>
                        </a:defRPr>
                      </a:pPr>
                      <a:r>
                        <a:t>2026年8月5日</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佐野航大選手とは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基本情報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22歳、ポジションはMF(ミッドフィルダー)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直近の所属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NECナイメヘン(オランダ・エールディヴィジ)</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直近の話題</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日本代表のW杯メンバーには選ばれなかったと報じられている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エールディヴィジとは何か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エールディヴィジは、オランダの1部プロサッカーリーグ</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移籍元のNECナイメヘン、移籍先のPSVアイントホーフェンともに同リーグ所属</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PSVは前季のエールディヴィジ王者で、オランダの盟主クラブと位置づけられる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本テーマでは、あくまで佐野選手個別の移籍という切り口で扱う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PSVアイントホーフェンとは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クラブ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PSVアイントホーフェン(オランダ)</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リーグでの位置づけ</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前季エールディヴィジ王者(オランダの盟主クラブ)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今回の位置づけ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佐野選手が移籍合意に達したと報じられている移籍先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佐野選手の今季成績</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リーグ戦成績(今季)</a:t>
                      </a:r>
                    </a:p>
                  </a:txBody>
                  <a:tcPr>
                    <a:solidFill>
                      <a:srgbClr val="FFFFFF"/>
                    </a:solidFill>
                  </a:tcPr>
                </a:tc>
                <a:tc>
                  <a:txBody>
                    <a:bodyPr/>
                    <a:lstStyle/>
                    <a:p>
                      <a:pPr>
                        <a:defRPr sz="1200">
                          <a:solidFill>
                            <a:srgbClr val="2A1712"/>
                          </a:solidFill>
                          <a:latin typeface="Yu Gothic"/>
                        </a:defRPr>
                      </a:pPr>
                      <a:r>
                        <a:t>3得点7アシスト(34試合出場)</a:t>
                      </a:r>
                    </a:p>
                  </a:txBody>
                  <a:tcPr>
                    <a:solidFill>
                      <a:srgbClr val="FFFFFF"/>
                    </a:solidFill>
                  </a:tcPr>
                </a:tc>
              </a:tr>
              <a:tr h="502920">
                <a:tc>
                  <a:txBody>
                    <a:bodyPr/>
                    <a:lstStyle/>
                    <a:p>
                      <a:pPr>
                        <a:defRPr sz="1200">
                          <a:solidFill>
                            <a:srgbClr val="2A1712"/>
                          </a:solidFill>
                          <a:latin typeface="Yu Gothic"/>
                        </a:defRPr>
                      </a:pPr>
                      <a:r>
                        <a:t>公式戦総出場(カップ戦含む)</a:t>
                      </a:r>
                    </a:p>
                  </a:txBody>
                  <a:tcPr>
                    <a:solidFill>
                      <a:srgbClr val="FBF3E6"/>
                    </a:solidFill>
                  </a:tcPr>
                </a:tc>
                <a:tc>
                  <a:txBody>
                    <a:bodyPr/>
                    <a:lstStyle/>
                    <a:p>
                      <a:pPr>
                        <a:defRPr sz="1200">
                          <a:solidFill>
                            <a:srgbClr val="2A1712"/>
                          </a:solidFill>
                          <a:latin typeface="Yu Gothic"/>
                        </a:defRPr>
                      </a:pPr>
                      <a:r>
                        <a:t>39試合</a:t>
                      </a:r>
                    </a:p>
                  </a:txBody>
                  <a:tcPr>
                    <a:solidFill>
                      <a:srgbClr val="FBF3E6"/>
                    </a:solidFill>
                  </a:tcPr>
                </a:tc>
              </a:tr>
              <a:tr h="502920">
                <a:tc>
                  <a:txBody>
                    <a:bodyPr/>
                    <a:lstStyle/>
                    <a:p>
                      <a:pPr>
                        <a:defRPr sz="1200">
                          <a:solidFill>
                            <a:srgbClr val="2A1712"/>
                          </a:solidFill>
                          <a:latin typeface="Yu Gothic"/>
                        </a:defRPr>
                      </a:pPr>
                      <a:r>
                        <a:t>ポジション</a:t>
                      </a:r>
                    </a:p>
                  </a:txBody>
                  <a:tcPr>
                    <a:solidFill>
                      <a:srgbClr val="FFFFFF"/>
                    </a:solidFill>
                  </a:tcPr>
                </a:tc>
                <a:tc>
                  <a:txBody>
                    <a:bodyPr/>
                    <a:lstStyle/>
                    <a:p>
                      <a:pPr>
                        <a:defRPr sz="1200">
                          <a:solidFill>
                            <a:srgbClr val="2A1712"/>
                          </a:solidFill>
                          <a:latin typeface="Yu Gothic"/>
                        </a:defRPr>
                      </a:pPr>
                      <a:r>
                        <a:t>MF(ミッドフィルダー)</a:t>
                      </a:r>
                    </a:p>
                  </a:txBody>
                  <a:tcPr>
                    <a:solidFill>
                      <a:srgbClr val="FFFFFF"/>
                    </a:solidFill>
                  </a:tcPr>
                </a:tc>
              </a:tr>
              <a:tr h="502920">
                <a:tc>
                  <a:txBody>
                    <a:bodyPr/>
                    <a:lstStyle/>
                    <a:p>
                      <a:pPr>
                        <a:defRPr sz="1200">
                          <a:solidFill>
                            <a:srgbClr val="2A1712"/>
                          </a:solidFill>
                          <a:latin typeface="Yu Gothic"/>
                        </a:defRPr>
                      </a:pPr>
                      <a:r>
                        <a:t>年齢</a:t>
                      </a:r>
                    </a:p>
                  </a:txBody>
                  <a:tcPr>
                    <a:solidFill>
                      <a:srgbClr val="FBF3E6"/>
                    </a:solidFill>
                  </a:tcPr>
                </a:tc>
                <a:tc>
                  <a:txBody>
                    <a:bodyPr/>
                    <a:lstStyle/>
                    <a:p>
                      <a:pPr>
                        <a:defRPr sz="1200">
                          <a:solidFill>
                            <a:srgbClr val="2A1712"/>
                          </a:solidFill>
                          <a:latin typeface="Yu Gothic"/>
                        </a:defRPr>
                      </a:pPr>
                      <a:r>
                        <a:t>22歳</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フットボールチャンネル(2026-08-05)ほか</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移籍が正式契約に至るまでの一般的な流れ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合意(Agreement)</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クラブ間・選手間で移籍条件について合意する段階</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メディカルチェック</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移籍先クラブが選手の健康状態を確認する検査</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正式契約・公式発表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契約書に署名し、クラブが公式に発表する段階</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今回の交渉の経緯(時系列)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1. 今夏序盤</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PSVが佐野選手への関心を示していたと報じられる</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2. 当初は高いと判断</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NEC側の希望額(約36億円)をPSVは当初高すぎると判断したとされる</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3. ホッフェンハイムとの交渉破談</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ドイツ・ホッフェンハイムへの移籍話が破談になったと報じられる</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4. PSVとの交渉が急進展</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その後PSVとの交渉が一気に進み、移籍合意に至ったと報じられる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NEC側の当初希望額(参考)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約36億円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PSVが当初『高すぎる』と判断したとされるNEC側の希望額(約2,000万ユーロ)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報道(2026-08-05)ほか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【重要】移籍金は『範囲』で報じられている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報道された移籍金</a:t>
                      </a:r>
                    </a:p>
                  </a:txBody>
                  <a:tcPr>
                    <a:solidFill>
                      <a:srgbClr val="7A1F2B"/>
                    </a:solidFill>
                  </a:tcPr>
                </a:tc>
                <a:tc>
                  <a:txBody>
                    <a:bodyPr/>
                    <a:lstStyle/>
                    <a:p>
                      <a:pPr>
                        <a:defRPr sz="1300" b="1">
                          <a:solidFill>
                            <a:srgbClr val="FFFFFF"/>
                          </a:solidFill>
                          <a:latin typeface="Yu Gothic"/>
                        </a:defRPr>
                      </a:pPr>
                      <a:r>
                        <a:t>備考</a:t>
                      </a:r>
                    </a:p>
                  </a:txBody>
                  <a:tcPr>
                    <a:solidFill>
                      <a:srgbClr val="7A1F2B"/>
                    </a:solidFill>
                  </a:tcPr>
                </a:tc>
              </a:tr>
              <a:tr h="502920">
                <a:tc>
                  <a:txBody>
                    <a:bodyPr/>
                    <a:lstStyle/>
                    <a:p>
                      <a:pPr>
                        <a:defRPr sz="1200">
                          <a:solidFill>
                            <a:srgbClr val="2A1712"/>
                          </a:solidFill>
                          <a:latin typeface="Yu Gothic"/>
                        </a:defRPr>
                      </a:pPr>
                      <a:r>
                        <a:t>De Telegraaf(オランダ紙)経由の報道</a:t>
                      </a:r>
                    </a:p>
                  </a:txBody>
                  <a:tcPr>
                    <a:solidFill>
                      <a:srgbClr val="FFFFFF"/>
                    </a:solidFill>
                  </a:tcPr>
                </a:tc>
                <a:tc>
                  <a:txBody>
                    <a:bodyPr/>
                    <a:lstStyle/>
                    <a:p>
                      <a:pPr>
                        <a:defRPr sz="1200">
                          <a:solidFill>
                            <a:srgbClr val="2A1712"/>
                          </a:solidFill>
                          <a:latin typeface="Yu Gothic"/>
                        </a:defRPr>
                      </a:pPr>
                      <a:r>
                        <a:t>基本額 約1,500万ユーロ(約27億円)、条件により最大1,700万ユーロ(約31億円)</a:t>
                      </a:r>
                    </a:p>
                  </a:txBody>
                  <a:tcPr>
                    <a:solidFill>
                      <a:srgbClr val="FFFFFF"/>
                    </a:solidFill>
                  </a:tcPr>
                </a:tc>
                <a:tc>
                  <a:txBody>
                    <a:bodyPr/>
                    <a:lstStyle/>
                    <a:p>
                      <a:pPr>
                        <a:defRPr sz="1200">
                          <a:solidFill>
                            <a:srgbClr val="2A1712"/>
                          </a:solidFill>
                          <a:latin typeface="Yu Gothic"/>
                        </a:defRPr>
                      </a:pPr>
                      <a:r>
                        <a:t>ボーナス等の条件付き加算を含む上限</a:t>
                      </a:r>
                    </a:p>
                  </a:txBody>
                  <a:tcPr>
                    <a:solidFill>
                      <a:srgbClr val="FFFFFF"/>
                    </a:solidFill>
                  </a:tcPr>
                </a:tc>
              </a:tr>
              <a:tr h="502920">
                <a:tc>
                  <a:txBody>
                    <a:bodyPr/>
                    <a:lstStyle/>
                    <a:p>
                      <a:pPr>
                        <a:defRPr sz="1200">
                          <a:solidFill>
                            <a:srgbClr val="2A1712"/>
                          </a:solidFill>
                          <a:latin typeface="Yu Gothic"/>
                        </a:defRPr>
                      </a:pPr>
                      <a:r>
                        <a:t>東スポWEB・GOAL(日本メディア)</a:t>
                      </a:r>
                    </a:p>
                  </a:txBody>
                  <a:tcPr>
                    <a:solidFill>
                      <a:srgbClr val="FBF3E6"/>
                    </a:solidFill>
                  </a:tcPr>
                </a:tc>
                <a:tc>
                  <a:txBody>
                    <a:bodyPr/>
                    <a:lstStyle/>
                    <a:p>
                      <a:pPr>
                        <a:defRPr sz="1200">
                          <a:solidFill>
                            <a:srgbClr val="2A1712"/>
                          </a:solidFill>
                          <a:latin typeface="Yu Gothic"/>
                        </a:defRPr>
                      </a:pPr>
                      <a:r>
                        <a:t>『移籍金は最大30億円超』と表現</a:t>
                      </a:r>
                    </a:p>
                  </a:txBody>
                  <a:tcPr>
                    <a:solidFill>
                      <a:srgbClr val="FBF3E6"/>
                    </a:solidFill>
                  </a:tcPr>
                </a:tc>
                <a:tc>
                  <a:txBody>
                    <a:bodyPr/>
                    <a:lstStyle/>
                    <a:p>
                      <a:pPr>
                        <a:defRPr sz="1200">
                          <a:solidFill>
                            <a:srgbClr val="2A1712"/>
                          </a:solidFill>
                          <a:latin typeface="Yu Gothic"/>
                        </a:defRPr>
                      </a:pPr>
                      <a:r>
                        <a:t>海外報道を踏まえた見出し表現</a:t>
                      </a:r>
                    </a:p>
                  </a:txBody>
                  <a:tcPr>
                    <a:solidFill>
                      <a:srgbClr val="FBF3E6"/>
                    </a:solidFill>
                  </a:tcPr>
                </a:tc>
              </a:tr>
              <a:tr h="502920">
                <a:tc>
                  <a:txBody>
                    <a:bodyPr/>
                    <a:lstStyle/>
                    <a:p>
                      <a:pPr>
                        <a:defRPr sz="1200">
                          <a:solidFill>
                            <a:srgbClr val="2A1712"/>
                          </a:solidFill>
                          <a:latin typeface="Yu Gothic"/>
                        </a:defRPr>
                      </a:pPr>
                      <a:r>
                        <a:t>NEC側の当初希望額(参考・交渉開始時)</a:t>
                      </a:r>
                    </a:p>
                  </a:txBody>
                  <a:tcPr>
                    <a:solidFill>
                      <a:srgbClr val="FFFFFF"/>
                    </a:solidFill>
                  </a:tcPr>
                </a:tc>
                <a:tc>
                  <a:txBody>
                    <a:bodyPr/>
                    <a:lstStyle/>
                    <a:p>
                      <a:pPr>
                        <a:defRPr sz="1200">
                          <a:solidFill>
                            <a:srgbClr val="2A1712"/>
                          </a:solidFill>
                          <a:latin typeface="Yu Gothic"/>
                        </a:defRPr>
                      </a:pPr>
                      <a:r>
                        <a:t>約2,000万ユーロ(約36億円)</a:t>
                      </a:r>
                    </a:p>
                  </a:txBody>
                  <a:tcPr>
                    <a:solidFill>
                      <a:srgbClr val="FFFFFF"/>
                    </a:solidFill>
                  </a:tcPr>
                </a:tc>
                <a:tc>
                  <a:txBody>
                    <a:bodyPr/>
                    <a:lstStyle/>
                    <a:p>
                      <a:pPr>
                        <a:defRPr sz="1200">
                          <a:solidFill>
                            <a:srgbClr val="2A1712"/>
                          </a:solidFill>
                          <a:latin typeface="Yu Gothic"/>
                        </a:defRPr>
                      </a:pPr>
                      <a:r>
                        <a:t>PSVが当初『高すぎる』と判断したと報じられている金額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数字で比較(億円、出典に基づく報道値)</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De Telegraaf経由の報道ほか(2026-08-05)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【最重要】『合意』であり、正式契約はまだ先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現状(確定事実)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PSVとの間で移籍に合意したと報じられている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残っているステップ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メディカルチェックを経て、正式契約・公式発表となる見通し</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本テーマでの扱い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『合意』を確定事実とし、『正式契約が完了した』とは書かない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なぜCL予選を欠場したのか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移籍が正式に成立するには、通常メディカルチェック(健康診断)を経る必要がある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佐野選手は、2026年8月4日のCL3次予選・対オリンピアコス戦への出場を見送った</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これは、オランダでのメディカルチェックを受けるためと報じられている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NECからの公式な欠場理由の発表内容そのものは、本調査の範囲では確認できていない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Yahoo!ニュース(東スポWEB配信、2026-08-05)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CL3次予選・対オリンピアコス戦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8月4日を欠場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メディカルチェックのため、佐野選手はこの試合への出場を見送ったと報じられる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Yahoo!ニュース(東スポWEB配信、2026-08-05)ほか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NEC(移籍前) と PSV(移籍後・合意内容)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NEC(移籍前)</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エールディヴィジのクラブ</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今季3得点7アシスト(34試合)の主力選手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PSV(移籍後・合意内容)</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エールディヴィジの盟主(前季王者)</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5年契約で合意と報じられる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W杯メンバー落選からの物語(事実ベースの文脈)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W杯メンバー落選</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日本代表のW杯メンバーには選ばれなかったと報じられている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国内リーグでは主力</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今季34試合で3得点7アシストを記録</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報じられ方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一部メディアはこの移籍合意を『W杯落選からの一転』というストーリーで報じている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今回のニュースの位置づけ(概念図)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W杯メンバーには選ばれず</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日本代表のW杯メンバー発表で選出されなかったと報じられている</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エールディヴィジでは主力として活躍</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今季34試合で3得点7アシスト</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オランダ王者PSVから移籍合意</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2026年8月5日、PSVとの移籍合意が報じられた</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PSVとの移籍合意・5年契約・NECの当初希望額などは複数媒体で報じられている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移籍金の確定額は媒体により幅があり、確定していない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メディカルチェックの完了・正式契約の締結はまだ確認できていない</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佐野選手本人の直接のコメントは、本調査の範囲では確認できていない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フットボールチャンネル・ライブドアニュース・東スポWEB・GOAL(2026-08-05)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未確認事項一覧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移籍金の正確な確定額</a:t>
                      </a:r>
                    </a:p>
                  </a:txBody>
                  <a:tcPr>
                    <a:solidFill>
                      <a:srgbClr val="FFFFFF"/>
                    </a:solidFill>
                  </a:tcPr>
                </a:tc>
                <a:tc>
                  <a:txBody>
                    <a:bodyPr/>
                    <a:lstStyle/>
                    <a:p>
                      <a:pPr>
                        <a:defRPr sz="1200">
                          <a:solidFill>
                            <a:srgbClr val="2A1712"/>
                          </a:solidFill>
                          <a:latin typeface="Yu Gothic"/>
                        </a:defRPr>
                      </a:pPr>
                      <a:r>
                        <a:t>未確認(複数媒体で27億円〜31億円超と幅がある報道のみ)</a:t>
                      </a:r>
                    </a:p>
                  </a:txBody>
                  <a:tcPr>
                    <a:solidFill>
                      <a:srgbClr val="FFFFFF"/>
                    </a:solidFill>
                  </a:tcPr>
                </a:tc>
              </a:tr>
              <a:tr h="502920">
                <a:tc>
                  <a:txBody>
                    <a:bodyPr/>
                    <a:lstStyle/>
                    <a:p>
                      <a:pPr>
                        <a:defRPr sz="1200">
                          <a:solidFill>
                            <a:srgbClr val="2A1712"/>
                          </a:solidFill>
                          <a:latin typeface="Yu Gothic"/>
                        </a:defRPr>
                      </a:pPr>
                      <a:r>
                        <a:t>メディカルチェックが完了したか</a:t>
                      </a:r>
                    </a:p>
                  </a:txBody>
                  <a:tcPr>
                    <a:solidFill>
                      <a:srgbClr val="FBF3E6"/>
                    </a:solidFill>
                  </a:tcPr>
                </a:tc>
                <a:tc>
                  <a:txBody>
                    <a:bodyPr/>
                    <a:lstStyle/>
                    <a:p>
                      <a:pPr>
                        <a:defRPr sz="1200">
                          <a:solidFill>
                            <a:srgbClr val="2A1712"/>
                          </a:solidFill>
                          <a:latin typeface="Yu Gothic"/>
                        </a:defRPr>
                      </a:pPr>
                      <a:r>
                        <a:t>未確認</a:t>
                      </a:r>
                    </a:p>
                  </a:txBody>
                  <a:tcPr>
                    <a:solidFill>
                      <a:srgbClr val="FBF3E6"/>
                    </a:solidFill>
                  </a:tcPr>
                </a:tc>
              </a:tr>
              <a:tr h="502920">
                <a:tc>
                  <a:txBody>
                    <a:bodyPr/>
                    <a:lstStyle/>
                    <a:p>
                      <a:pPr>
                        <a:defRPr sz="1200">
                          <a:solidFill>
                            <a:srgbClr val="2A1712"/>
                          </a:solidFill>
                          <a:latin typeface="Yu Gothic"/>
                        </a:defRPr>
                      </a:pPr>
                      <a:r>
                        <a:t>正式契約・公式発表</a:t>
                      </a:r>
                    </a:p>
                  </a:txBody>
                  <a:tcPr>
                    <a:solidFill>
                      <a:srgbClr val="FFFFFF"/>
                    </a:solidFill>
                  </a:tcPr>
                </a:tc>
                <a:tc>
                  <a:txBody>
                    <a:bodyPr/>
                    <a:lstStyle/>
                    <a:p>
                      <a:pPr>
                        <a:defRPr sz="1200">
                          <a:solidFill>
                            <a:srgbClr val="2A1712"/>
                          </a:solidFill>
                          <a:latin typeface="Yu Gothic"/>
                        </a:defRPr>
                      </a:pPr>
                      <a:r>
                        <a:t>未確認(本稿時点では『合意』の報道のみ)</a:t>
                      </a:r>
                    </a:p>
                  </a:txBody>
                  <a:tcPr>
                    <a:solidFill>
                      <a:srgbClr val="FFFFFF"/>
                    </a:solidFill>
                  </a:tcPr>
                </a:tc>
              </a:tr>
              <a:tr h="502920">
                <a:tc>
                  <a:txBody>
                    <a:bodyPr/>
                    <a:lstStyle/>
                    <a:p>
                      <a:pPr>
                        <a:defRPr sz="1200">
                          <a:solidFill>
                            <a:srgbClr val="2A1712"/>
                          </a:solidFill>
                          <a:latin typeface="Yu Gothic"/>
                        </a:defRPr>
                      </a:pPr>
                      <a:r>
                        <a:t>PSVでの具体的な役割・背番号</a:t>
                      </a:r>
                    </a:p>
                  </a:txBody>
                  <a:tcPr>
                    <a:solidFill>
                      <a:srgbClr val="FBF3E6"/>
                    </a:solidFill>
                  </a:tcPr>
                </a:tc>
                <a:tc>
                  <a:txBody>
                    <a:bodyPr/>
                    <a:lstStyle/>
                    <a:p>
                      <a:pPr>
                        <a:defRPr sz="1200">
                          <a:solidFill>
                            <a:srgbClr val="2A1712"/>
                          </a:solidFill>
                          <a:latin typeface="Yu Gothic"/>
                        </a:defRPr>
                      </a:pPr>
                      <a:r>
                        <a:t>未確認</a:t>
                      </a:r>
                    </a:p>
                  </a:txBody>
                  <a:tcPr>
                    <a:solidFill>
                      <a:srgbClr val="FBF3E6"/>
                    </a:solidFill>
                  </a:tcPr>
                </a:tc>
              </a:tr>
              <a:tr h="502920">
                <a:tc>
                  <a:txBody>
                    <a:bodyPr/>
                    <a:lstStyle/>
                    <a:p>
                      <a:pPr>
                        <a:defRPr sz="1200">
                          <a:solidFill>
                            <a:srgbClr val="2A1712"/>
                          </a:solidFill>
                          <a:latin typeface="Yu Gothic"/>
                        </a:defRPr>
                      </a:pPr>
                      <a:r>
                        <a:t>佐野選手本人のコメント</a:t>
                      </a:r>
                    </a:p>
                  </a:txBody>
                  <a:tcPr>
                    <a:solidFill>
                      <a:srgbClr val="FFFFFF"/>
                    </a:solidFill>
                  </a:tcPr>
                </a:tc>
                <a:tc>
                  <a:txBody>
                    <a:bodyPr/>
                    <a:lstStyle/>
                    <a:p>
                      <a:pPr>
                        <a:defRPr sz="1200">
                          <a:solidFill>
                            <a:srgbClr val="2A1712"/>
                          </a:solidFill>
                          <a:latin typeface="Yu Gothic"/>
                        </a:defRPr>
                      </a:pPr>
                      <a:r>
                        <a:t>未確認(本人発言の引用は確認できていない)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日本語メディア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フットボールチャンネル・ライブドアニュース・Yahoo!ニュース(東スポWEB配信・GOAL配信)</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海外発の情報源</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オランダ紙De Telegraafの報道を、日本メディア各社が引用・紹介する形で報じている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本テーマでの扱い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複数の独立した媒体で同日(2026-08-05)に報じられている内容を中心に整理している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round81評価表からの開示(スコア79/100)</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評価スコア</a:t>
                      </a:r>
                    </a:p>
                  </a:txBody>
                  <a:tcPr>
                    <a:solidFill>
                      <a:srgbClr val="FFFFFF"/>
                    </a:solidFill>
                  </a:tcPr>
                </a:tc>
                <a:tc>
                  <a:txBody>
                    <a:bodyPr/>
                    <a:lstStyle/>
                    <a:p>
                      <a:pPr>
                        <a:defRPr sz="1200">
                          <a:solidFill>
                            <a:srgbClr val="2A1712"/>
                          </a:solidFill>
                          <a:latin typeface="Yu Gothic"/>
                        </a:defRPr>
                      </a:pPr>
                      <a:r>
                        <a:t>79/100(round81評価表)</a:t>
                      </a:r>
                    </a:p>
                  </a:txBody>
                  <a:tcPr>
                    <a:solidFill>
                      <a:srgbClr val="FFFFFF"/>
                    </a:solidFill>
                  </a:tcPr>
                </a:tc>
              </a:tr>
              <a:tr h="502920">
                <a:tc>
                  <a:txBody>
                    <a:bodyPr/>
                    <a:lstStyle/>
                    <a:p>
                      <a:pPr>
                        <a:defRPr sz="1200">
                          <a:solidFill>
                            <a:srgbClr val="2A1712"/>
                          </a:solidFill>
                          <a:latin typeface="Yu Gothic"/>
                        </a:defRPr>
                      </a:pPr>
                      <a:r>
                        <a:t>採用理由</a:t>
                      </a:r>
                    </a:p>
                  </a:txBody>
                  <a:tcPr>
                    <a:solidFill>
                      <a:srgbClr val="FBF3E6"/>
                    </a:solidFill>
                  </a:tcPr>
                </a:tc>
                <a:tc>
                  <a:txBody>
                    <a:bodyPr/>
                    <a:lstStyle/>
                    <a:p>
                      <a:pPr>
                        <a:defRPr sz="1200">
                          <a:solidFill>
                            <a:srgbClr val="2A1712"/>
                          </a:solidFill>
                          <a:latin typeface="Yu Gothic"/>
                        </a:defRPr>
                      </a:pPr>
                      <a:r>
                        <a:t>W杯メンバー落選からオランダ王者への移籍合意という意外性、具体的な移籍金という数字のインパクト、着手日当日という最高水準の鮮度</a:t>
                      </a:r>
                    </a:p>
                  </a:txBody>
                  <a:tcPr>
                    <a:solidFill>
                      <a:srgbClr val="FBF3E6"/>
                    </a:solidFill>
                  </a:tcPr>
                </a:tc>
              </a:tr>
              <a:tr h="502920">
                <a:tc>
                  <a:txBody>
                    <a:bodyPr/>
                    <a:lstStyle/>
                    <a:p>
                      <a:pPr>
                        <a:defRPr sz="1200">
                          <a:solidFill>
                            <a:srgbClr val="2A1712"/>
                          </a:solidFill>
                          <a:latin typeface="Yu Gothic"/>
                        </a:defRPr>
                      </a:pPr>
                      <a:r>
                        <a:t>同ラウンドの候補</a:t>
                      </a:r>
                    </a:p>
                  </a:txBody>
                  <a:tcPr>
                    <a:solidFill>
                      <a:srgbClr val="FFFFFF"/>
                    </a:solidFill>
                  </a:tcPr>
                </a:tc>
                <a:tc>
                  <a:txBody>
                    <a:bodyPr/>
                    <a:lstStyle/>
                    <a:p>
                      <a:pPr>
                        <a:defRPr sz="1200">
                          <a:solidFill>
                            <a:srgbClr val="2A1712"/>
                          </a:solidFill>
                          <a:latin typeface="Yu Gothic"/>
                        </a:defRPr>
                      </a:pPr>
                      <a:r>
                        <a:t>候補1(137本目、Perplexity Comet訴訟)はスコア83/100で先に採用済み</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鮮度についての開示(このシリーズで最高水準)</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本件の報道は2026年8月5日、着手日と同日である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docs/06_Content_R&amp;D.mdの鮮度基準(着手日から2日以内)を明確に満たしている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これまでのシリーズの中でも最高水準の鮮度である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ただし鮮度の高さは、移籍金の確定額や正式契約の有無という不確実性を補うものではない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公平性・配慮についての開示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実在の選手名・クラブ名はテキストとしてのみ使用し、写真・ロゴは使用しない</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佐野選手の心境について、報道されていない推測は一切行っていない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政治的な論評は行っていない</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特定クラブ・特定選手を過度に持ち上げたり貶めたりする表現は避けている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7A1F2B"/>
                    </a:solidFill>
                  </a:tcPr>
                </a:tc>
                <a:tc>
                  <a:txBody>
                    <a:bodyPr/>
                    <a:lstStyle/>
                    <a:p>
                      <a:pPr>
                        <a:defRPr sz="1300" b="1">
                          <a:solidFill>
                            <a:srgbClr val="FFFFFF"/>
                          </a:solidFill>
                          <a:latin typeface="Yu Gothic"/>
                        </a:defRPr>
                      </a:pPr>
                      <a:r>
                        <a:t>日付</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フットボールチャンネル</a:t>
                      </a:r>
                    </a:p>
                  </a:txBody>
                  <a:tcPr>
                    <a:solidFill>
                      <a:srgbClr val="FFFFFF"/>
                    </a:solidFill>
                  </a:tcPr>
                </a:tc>
                <a:tc>
                  <a:txBody>
                    <a:bodyPr/>
                    <a:lstStyle/>
                    <a:p>
                      <a:pPr>
                        <a:defRPr sz="1200">
                          <a:solidFill>
                            <a:srgbClr val="2A1712"/>
                          </a:solidFill>
                          <a:latin typeface="Yu Gothic"/>
                        </a:defRPr>
                      </a:pPr>
                      <a:r>
                        <a:t>2026-08-05</a:t>
                      </a:r>
                    </a:p>
                  </a:txBody>
                  <a:tcPr>
                    <a:solidFill>
                      <a:srgbClr val="FFFFFF"/>
                    </a:solidFill>
                  </a:tcPr>
                </a:tc>
                <a:tc>
                  <a:txBody>
                    <a:bodyPr/>
                    <a:lstStyle/>
                    <a:p>
                      <a:pPr>
                        <a:defRPr sz="1200">
                          <a:solidFill>
                            <a:srgbClr val="2A1712"/>
                          </a:solidFill>
                          <a:latin typeface="Yu Gothic"/>
                        </a:defRPr>
                      </a:pPr>
                      <a:r>
                        <a:t>『NEC佐野航大、オランダ王者PSVと合意 メディカルチェック後に正式契約へ』</a:t>
                      </a:r>
                    </a:p>
                  </a:txBody>
                  <a:tcPr>
                    <a:solidFill>
                      <a:srgbClr val="FFFFFF"/>
                    </a:solidFill>
                  </a:tcPr>
                </a:tc>
              </a:tr>
              <a:tr h="502920">
                <a:tc>
                  <a:txBody>
                    <a:bodyPr/>
                    <a:lstStyle/>
                    <a:p>
                      <a:pPr>
                        <a:defRPr sz="1200">
                          <a:solidFill>
                            <a:srgbClr val="2A1712"/>
                          </a:solidFill>
                          <a:latin typeface="Yu Gothic"/>
                        </a:defRPr>
                      </a:pPr>
                      <a:r>
                        <a:t>ライブドアニュース</a:t>
                      </a:r>
                    </a:p>
                  </a:txBody>
                  <a:tcPr>
                    <a:solidFill>
                      <a:srgbClr val="FBF3E6"/>
                    </a:solidFill>
                  </a:tcPr>
                </a:tc>
                <a:tc>
                  <a:txBody>
                    <a:bodyPr/>
                    <a:lstStyle/>
                    <a:p>
                      <a:pPr>
                        <a:defRPr sz="1200">
                          <a:solidFill>
                            <a:srgbClr val="2A1712"/>
                          </a:solidFill>
                          <a:latin typeface="Yu Gothic"/>
                        </a:defRPr>
                      </a:pPr>
                      <a:r>
                        <a:t>2026-08-05</a:t>
                      </a:r>
                    </a:p>
                  </a:txBody>
                  <a:tcPr>
                    <a:solidFill>
                      <a:srgbClr val="FBF3E6"/>
                    </a:solidFill>
                  </a:tcPr>
                </a:tc>
                <a:tc>
                  <a:txBody>
                    <a:bodyPr/>
                    <a:lstStyle/>
                    <a:p>
                      <a:pPr>
                        <a:defRPr sz="1200">
                          <a:solidFill>
                            <a:srgbClr val="2A1712"/>
                          </a:solidFill>
                          <a:latin typeface="Yu Gothic"/>
                        </a:defRPr>
                      </a:pPr>
                      <a:r>
                        <a:t>『佐野航大がPSVアイントホーフェンへの移籍に合意、移籍金は最大30億円超』ほか</a:t>
                      </a:r>
                    </a:p>
                  </a:txBody>
                  <a:tcPr>
                    <a:solidFill>
                      <a:srgbClr val="FBF3E6"/>
                    </a:solidFill>
                  </a:tcPr>
                </a:tc>
              </a:tr>
              <a:tr h="502920">
                <a:tc>
                  <a:txBody>
                    <a:bodyPr/>
                    <a:lstStyle/>
                    <a:p>
                      <a:pPr>
                        <a:defRPr sz="1200">
                          <a:solidFill>
                            <a:srgbClr val="2A1712"/>
                          </a:solidFill>
                          <a:latin typeface="Yu Gothic"/>
                        </a:defRPr>
                      </a:pPr>
                      <a:r>
                        <a:t>Yahoo!ニュース(東スポWEB配信)</a:t>
                      </a:r>
                    </a:p>
                  </a:txBody>
                  <a:tcPr>
                    <a:solidFill>
                      <a:srgbClr val="FFFFFF"/>
                    </a:solidFill>
                  </a:tcPr>
                </a:tc>
                <a:tc>
                  <a:txBody>
                    <a:bodyPr/>
                    <a:lstStyle/>
                    <a:p>
                      <a:pPr>
                        <a:defRPr sz="1200">
                          <a:solidFill>
                            <a:srgbClr val="2A1712"/>
                          </a:solidFill>
                          <a:latin typeface="Yu Gothic"/>
                        </a:defRPr>
                      </a:pPr>
                      <a:r>
                        <a:t>2026-08-05</a:t>
                      </a:r>
                    </a:p>
                  </a:txBody>
                  <a:tcPr>
                    <a:solidFill>
                      <a:srgbClr val="FFFFFF"/>
                    </a:solidFill>
                  </a:tcPr>
                </a:tc>
                <a:tc>
                  <a:txBody>
                    <a:bodyPr/>
                    <a:lstStyle/>
                    <a:p>
                      <a:pPr>
                        <a:defRPr sz="1200">
                          <a:solidFill>
                            <a:srgbClr val="2A1712"/>
                          </a:solidFill>
                          <a:latin typeface="Yu Gothic"/>
                        </a:defRPr>
                      </a:pPr>
                      <a:r>
                        <a:t>『MF佐野航大がPSV移籍合意 移籍金は最大30億円超 急転CL予選出場を回避』</a:t>
                      </a:r>
                    </a:p>
                  </a:txBody>
                  <a:tcPr>
                    <a:solidFill>
                      <a:srgbClr val="FFFFFF"/>
                    </a:solidFill>
                  </a:tcPr>
                </a:tc>
              </a:tr>
              <a:tr h="502920">
                <a:tc>
                  <a:txBody>
                    <a:bodyPr/>
                    <a:lstStyle/>
                    <a:p>
                      <a:pPr>
                        <a:defRPr sz="1200">
                          <a:solidFill>
                            <a:srgbClr val="2A1712"/>
                          </a:solidFill>
                          <a:latin typeface="Yu Gothic"/>
                        </a:defRPr>
                      </a:pPr>
                      <a:r>
                        <a:t>Yahoo!ニュース(GOAL配信)</a:t>
                      </a:r>
                    </a:p>
                  </a:txBody>
                  <a:tcPr>
                    <a:solidFill>
                      <a:srgbClr val="FBF3E6"/>
                    </a:solidFill>
                  </a:tcPr>
                </a:tc>
                <a:tc>
                  <a:txBody>
                    <a:bodyPr/>
                    <a:lstStyle/>
                    <a:p>
                      <a:pPr>
                        <a:defRPr sz="1200">
                          <a:solidFill>
                            <a:srgbClr val="2A1712"/>
                          </a:solidFill>
                          <a:latin typeface="Yu Gothic"/>
                        </a:defRPr>
                      </a:pPr>
                      <a:r>
                        <a:t>2026-08-05</a:t>
                      </a:r>
                    </a:p>
                  </a:txBody>
                  <a:tcPr>
                    <a:solidFill>
                      <a:srgbClr val="FBF3E6"/>
                    </a:solidFill>
                  </a:tcPr>
                </a:tc>
                <a:tc>
                  <a:txBody>
                    <a:bodyPr/>
                    <a:lstStyle/>
                    <a:p>
                      <a:pPr>
                        <a:defRPr sz="1200">
                          <a:solidFill>
                            <a:srgbClr val="2A1712"/>
                          </a:solidFill>
                          <a:latin typeface="Yu Gothic"/>
                        </a:defRPr>
                      </a:pPr>
                      <a:r>
                        <a:t>NEC監督のコメントを引用した記事</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7A1F2B"/>
                    </a:solidFill>
                  </a:tcPr>
                </a:tc>
                <a:tc>
                  <a:txBody>
                    <a:bodyPr/>
                    <a:lstStyle/>
                    <a:p>
                      <a:pPr>
                        <a:defRPr sz="1300" b="1">
                          <a:solidFill>
                            <a:srgbClr val="FFFFFF"/>
                          </a:solidFill>
                          <a:latin typeface="Yu Gothic"/>
                        </a:defRPr>
                      </a:pPr>
                      <a:r>
                        <a:t>結果</a:t>
                      </a:r>
                    </a:p>
                  </a:txBody>
                  <a:tcPr>
                    <a:solidFill>
                      <a:srgbClr val="7A1F2B"/>
                    </a:solidFill>
                  </a:tcPr>
                </a:tc>
              </a:tr>
              <a:tr h="502920">
                <a:tc>
                  <a:txBody>
                    <a:bodyPr/>
                    <a:lstStyle/>
                    <a:p>
                      <a:pPr>
                        <a:defRPr sz="1200">
                          <a:solidFill>
                            <a:srgbClr val="2A1712"/>
                          </a:solidFill>
                          <a:latin typeface="Yu Gothic"/>
                        </a:defRPr>
                      </a:pPr>
                      <a:r>
                        <a:t>佐野航大選手・PSVを主題としたテーマ</a:t>
                      </a:r>
                    </a:p>
                  </a:txBody>
                  <a:tcPr>
                    <a:solidFill>
                      <a:srgbClr val="FFFFFF"/>
                    </a:solidFill>
                  </a:tcPr>
                </a:tc>
                <a:tc>
                  <a:txBody>
                    <a:bodyPr/>
                    <a:lstStyle/>
                    <a:p>
                      <a:pPr>
                        <a:defRPr sz="1200">
                          <a:solidFill>
                            <a:srgbClr val="2A1712"/>
                          </a:solidFill>
                          <a:latin typeface="Yu Gothic"/>
                        </a:defRPr>
                      </a:pPr>
                      <a:r>
                        <a:t>既存テーマになし(assets/配下を確認)</a:t>
                      </a:r>
                    </a:p>
                  </a:txBody>
                  <a:tcPr>
                    <a:solidFill>
                      <a:srgbClr val="FFFFFF"/>
                    </a:solidFill>
                  </a:tcPr>
                </a:tc>
              </a:tr>
              <a:tr h="502920">
                <a:tc>
                  <a:txBody>
                    <a:bodyPr/>
                    <a:lstStyle/>
                    <a:p>
                      <a:pPr>
                        <a:defRPr sz="1200">
                          <a:solidFill>
                            <a:srgbClr val="2A1712"/>
                          </a:solidFill>
                          <a:latin typeface="Yu Gothic"/>
                        </a:defRPr>
                      </a:pPr>
                      <a:r>
                        <a:t>他の日本人選手移籍テーマ(橋岡大樹・山本拓実・里井龍之介等)との重複</a:t>
                      </a:r>
                    </a:p>
                  </a:txBody>
                  <a:tcPr>
                    <a:solidFill>
                      <a:srgbClr val="FBF3E6"/>
                    </a:solidFill>
                  </a:tcPr>
                </a:tc>
                <a:tc>
                  <a:txBody>
                    <a:bodyPr/>
                    <a:lstStyle/>
                    <a:p>
                      <a:pPr>
                        <a:defRPr sz="1200">
                          <a:solidFill>
                            <a:srgbClr val="2A1712"/>
                          </a:solidFill>
                          <a:latin typeface="Yu Gothic"/>
                        </a:defRPr>
                      </a:pPr>
                      <a:r>
                        <a:t>対象選手・移籍先が異なり重複ではない</a:t>
                      </a:r>
                    </a:p>
                  </a:txBody>
                  <a:tcPr>
                    <a:solidFill>
                      <a:srgbClr val="FBF3E6"/>
                    </a:solidFill>
                  </a:tcPr>
                </a:tc>
              </a:tr>
              <a:tr h="502920">
                <a:tc>
                  <a:txBody>
                    <a:bodyPr/>
                    <a:lstStyle/>
                    <a:p>
                      <a:pPr>
                        <a:defRPr sz="1200">
                          <a:solidFill>
                            <a:srgbClr val="2A1712"/>
                          </a:solidFill>
                          <a:latin typeface="Yu Gothic"/>
                        </a:defRPr>
                      </a:pPr>
                      <a:r>
                        <a:t>判定</a:t>
                      </a:r>
                    </a:p>
                  </a:txBody>
                  <a:tcPr>
                    <a:solidFill>
                      <a:srgbClr val="FFFFFF"/>
                    </a:solidFill>
                  </a:tcPr>
                </a:tc>
                <a:tc>
                  <a:txBody>
                    <a:bodyPr/>
                    <a:lstStyle/>
                    <a:p>
                      <a:pPr>
                        <a:defRPr sz="1200">
                          <a:solidFill>
                            <a:srgbClr val="2A1712"/>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契約年数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5年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報じられている契約期間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報道(2026-08-05)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オランダ王者からの移籍合意は、正式契約までたどり着くのか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続報を、確認できたこと・できなかったことを区別しながら注目していきましょう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日本代表MF佐野航大選手(22歳)が、NECからPSVアイントホーフェンへの移籍で合意したと2026年8月5日に報道された</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移籍金は27億円〜31億円超と報道により幅があり、確定額ではない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現時点は『合意』の段階で、メディカルチェックを経て正式契約となる見通し</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W杯メンバー落選から一転、オランダ王者からの評価という文脈で報じられている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フットボールチャンネル・ライブドアニュース・東スポWEB・GOAL(2026-08-05)ほか｜定期実行138本目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