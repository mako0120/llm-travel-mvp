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成長率400%超、ネット収益維持率180%、解約率ゼロ。ここまで聞くと絶好調に見えます。ですが、この会社が本当に取り組んでいるのは『AIエージェントは、データが悪いと何もできない』という、意外と語られていない弱点そのものです。2026年7月30日、エンタープライズ企業のデータをAIエージェントが扱える形に整えるDataBahnが、Insight Partners主導でシリーズB4,000万ドルの調達を発表しました。今日はこの発表を、出典付きで整理してお伝えします。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まず数字から確認します。今回のシリーズBは4,000万ドル。これまでの調達と合わせると、累計調達額は5,900万ドルになります。発表は2026年7月30日、米国時間です。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今日はこの6つの流れでお伝えします。数字の羅列で終わらせず、何が確認できて、何が確認できていないかまで、正直にお伝えします。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発表内容を整理すると、この5点になります。特に注目したいのは、参加投資家が4社とも継続投資家である点。新規投資家を呼び込むのではなく、既存の応援団がそろって追加出資した形の調達です。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投資家の顔ぶれです。各社の出資比率・出資額の内訳は公表されておらず、本デッキでは『不明』として扱います。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で整理するとこうなります。企業の中にはログやテレメトリなど600以上のバラバラなデータソースがあります。DataBahnはそれを取り込み、整えて、AIエージェントが使える形にして届ける役割を担う、という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トロールプレーン』という言葉だけだと分かりにくいので、機能を分解しました。取り込み・正規化・エンリッチ・ガバナンス・ルーティングの5つです。特定のベンダーに縛られず、任意のソース・任意の配信先・任意のモデルに対応する、と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DataBahnが想定する利用者は、AIエージェント・コパイロット・自律型アプリケーションの3種類だと説明されています。共通するのは『データが悪いと、結果も悪くなる』という前提です。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600以上、という数字が発表されています。具体的にどのようなソースの内訳かまでは、一次情報からは確認できていません。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この表は、DataBahn自身が説明している対応範囲をまとめたものです。第三者による検証結果ではなく、あくまで発表内容の要約である点にご注意ください。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発表内容から読み取れる処理の流れを4ステップに整理しました。あくまで公表情報からの整理であり、DataBahn自身がこの4ステップという名称で説明しているわけではありません。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ここからは成長指標を見ていきます。前年同期比で400%を超える売上成長率が報告されています。ただし、これは自社発表の数値であり、独立した第三者による監査結果ではない点は明記しておきます。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NRR180%、解約率ゼロ、PoC受注率97%。いずれも強い数字ですが、算出期間や算出方法の詳細までは一次情報から確認できていません。自社発表値としてお伝えします。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顧客層はかなり大企業寄りだと報じられています。ただし、具体的な企業名までは公表されておらず、業種の言及にとどまっている点にご注意ください。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報道内容を階層別に整理しました。繰り返しになりますが、個別の企業名は確認できていません。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CEOのNanda Santhana氏のコメントです。『データの量より質、そして編成の仕方』という考え方が、今回の資金調達の背景にあるメッセージだと読み取れます。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この比較は、DataBahn自身の発表内容をもとにした整理であり、競合製品を直接評価した第三者比較ではありません。あくまで『DataBahnがどう自社を位置づけているか』の紹介です。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これまで本シリーズでは、AIエージェントの『身元管理』や『特定業務の自動化』を扱ってきました。今回のDataBahnは、その手前にある『データそのものを整える基盤』という、また違う切り口です。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創業は2023年、共同創業者はNanda Santhana氏とNithya Nareshkumar氏の2名です。累計調達額5,900万ドルのうち、シリーズB以前の内訳(シードやシリーズAの有無・金額)までは公表情報から確認できていません。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累計では5,900万ドルです。ただし、この金額に至るまでの各ラウンドの内訳は、確認できた範囲の報道からは分かりませんでした。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査の過程で、『DataBahn』という同じ名前の会社がもう一社存在することが分かりました。今回扱っているのは、資金調達を発表したdatabahn.aiであり、別の営業インテリジェンス企業(databahn.com)とは無関係です。情報を探す際は、この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強い数字が並びますが、いずれも自社発表であることは重要なポイントです。鵜呑みにせず、あくまで『企業側の主張』として受け止める視点を持っておくと良いと思います。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情報収集の限界についても正直にお伝えします。一次発表の本文全体には直接アクセスできず、複数の専門メディアの要約を突き合わせて確認しました。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3つ目の『AIエージェントへの文脈提供』は発表内容そのものですが、1つ目・2つ目は当社の推測です。競合をどう位置づけているかまでは一次情報で確認できていません。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ここまでの内容を、確からしさの3段階に整理し直しました。この整理の仕方自体を、他のニュースを読むときにも使っていただければと思います。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この4点は、今回の調査で確認できなかった事項として一覧化しました。今後、追加の情報が公開された場合は更新が必要です。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既存63テーマとの重複がないことも確認しています。エージェント統治・特定業務自動化とは異なり、今回はその手前にある『データ基盤』というテーマです。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スポーツの記録でも、企業の資金調達でも、数字を見るときの姿勢は同じだと思います。何が確認できて、何が確認できていないかを分けて考える。この動画がその練習になれば嬉しいです。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を確認します。調達額4,000万ドル、売上成長率400%超。ただし、これらは自社発表であり、評価額や出資比率、顧客企業名は分かっていません。強い数字と、分かっていないことの両方を覚えて帰っ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本編は以上です。今回はDataBahnのシリーズB調達を題材に、AIエージェントを支える『データ基盤』という切り口と、数字の読み方についてお伝えしました。次回もまた出典付きでお届けします。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売上成長率400%、解約率ゼロ。</a:t>
            </a:r>
          </a:p>
          <a:p>
            <a:pPr algn="l">
              <a:lnSpc>
                <a:spcPct val="115000"/>
              </a:lnSpc>
            </a:pPr>
            <a:r>
              <a:rPr sz="4200" b="1">
                <a:solidFill>
                  <a:srgbClr val="FFFFFF"/>
                </a:solidFill>
                <a:latin typeface="Yu Gothic"/>
              </a:rPr>
              <a:t>それでもAIエージェントの弱点は「データ」だった。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DataBahn、シリーズB 4,000万ドル調達(Insight Partners主導・2026年7月30日発表)を、出典付きで振り返る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PR Newswire(一次発表)ほか。数値は自社発表値を含みます。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今回発表された調達額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$40M</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シリーズB、Insight Partners主導(累計調達額は5,900万ドル)。着手日の前日(2026-07-30)発表。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 Newswire(一次発表, 2026-07-30)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何が発表されたのか(調達額・投資家)</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DataBahnは何をする会社か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「エージェンティック・データ・コントロール・プレーン」とは</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報じられている成長数値</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顧客構成とCEOコメント</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確認できなかったこと・読み解く上での注意点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2026年7月30日、米テキサス州ダラス拠点のDataBahnが発表した内容です。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シリーズBとして4,000万ドルを調達</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主導投資家はInsight Partners</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既存投資家のForgepoint・GTM Capital・S3 Venturesも参加</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累計調達額は5,900万ドルに到達</a:t>
            </a:r>
          </a:p>
        </p:txBody>
      </p:sp>
      <p:sp>
        <p:nvSpPr>
          <p:cNvPr id="15" name="Oval 14"/>
          <p:cNvSpPr/>
          <p:nvPr/>
        </p:nvSpPr>
        <p:spPr>
          <a:xfrm>
            <a:off x="457200" y="523036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資金は「エージェンティック・データ・コントロール・プレーン」のR&amp;Dに投資</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 / Tech Startups(2026-07-30)</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調達ラウンドの投資家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主導</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Insight Partners</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本ラウンドを主導した投資家</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継続</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Forgepoint</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既存投資家として参加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継続</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GTM Capital / S3 Ventures</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いずれも既存投資家として参加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Newswire(2026-07-30)</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なぜ今、「データ基盤」が話題になるのか(概念図)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企業内データ</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600以上のソースに散在</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DataBahn</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取り込み・正規化・エンリッチ・ガバナンス・ルーティング</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AIエージェント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信頼できる文脈化データが必要</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AIエージェントは、整えられたデータがなければ正しく判断・行動できない、という発想</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「エージェンティック・データ・コントロール・プレーン」とは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DataBahn自身の説明を要約すると、次のような機能です。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600以上のデータソースからテレメトリを取り込む</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データを正規化(フォーマットをそろえる)する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データをエンリッチ(付加情報を加える)する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データのガバナンス(統制・管理)を行う</a:t>
            </a:r>
          </a:p>
        </p:txBody>
      </p:sp>
      <p:sp>
        <p:nvSpPr>
          <p:cNvPr id="15" name="Oval 14"/>
          <p:cNvSpPr/>
          <p:nvPr/>
        </p:nvSpPr>
        <p:spPr>
          <a:xfrm>
            <a:off x="457200" y="523036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任意の配信先・任意のAIモデルにルーティングする</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 / SiliconANGLE(2026-07-30)</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誰のためのデータ基盤か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AI</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AIエージェント</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判断・行動の材料となる文脈化データを必要とする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AI</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コパイロット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同様に信頼できるデータ供給が前提になる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AI</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自律型アプリケーション</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人手を介さず動くため、データの質が結果を左右する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Newswire(2026-07-30)</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対応するデータソースの数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600+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企業内の600以上のデータソースからテレメトリを取り込む(自社発表値)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 Newswire / SiliconANGLE(2026-07-30)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対応範囲の特徴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観点</a:t>
                      </a:r>
                    </a:p>
                  </a:txBody>
                  <a:tcPr>
                    <a:solidFill>
                      <a:srgbClr val="2B3A55"/>
                    </a:solidFill>
                  </a:tcPr>
                </a:tc>
                <a:tc>
                  <a:txBody>
                    <a:bodyPr/>
                    <a:lstStyle/>
                    <a:p>
                      <a:pPr>
                        <a:defRPr sz="1300" b="1">
                          <a:solidFill>
                            <a:srgbClr val="FFFFFF"/>
                          </a:solidFill>
                          <a:latin typeface="Yu Gothic"/>
                        </a:defRPr>
                      </a:pPr>
                      <a:r>
                        <a:t>DataBahnの説明</a:t>
                      </a:r>
                    </a:p>
                  </a:txBody>
                  <a:tcPr>
                    <a:solidFill>
                      <a:srgbClr val="2B3A55"/>
                    </a:solidFill>
                  </a:tcPr>
                </a:tc>
              </a:tr>
              <a:tr h="502920">
                <a:tc>
                  <a:txBody>
                    <a:bodyPr/>
                    <a:lstStyle/>
                    <a:p>
                      <a:pPr>
                        <a:defRPr sz="1200">
                          <a:solidFill>
                            <a:srgbClr val="1C2230"/>
                          </a:solidFill>
                          <a:latin typeface="Yu Gothic"/>
                        </a:defRPr>
                      </a:pPr>
                      <a:r>
                        <a:t>ソース</a:t>
                      </a:r>
                    </a:p>
                  </a:txBody>
                  <a:tcPr>
                    <a:solidFill>
                      <a:srgbClr val="FFFFFF"/>
                    </a:solidFill>
                  </a:tcPr>
                </a:tc>
                <a:tc>
                  <a:txBody>
                    <a:bodyPr/>
                    <a:lstStyle/>
                    <a:p>
                      <a:pPr>
                        <a:defRPr sz="1200">
                          <a:solidFill>
                            <a:srgbClr val="1C2230"/>
                          </a:solidFill>
                          <a:latin typeface="Yu Gothic"/>
                        </a:defRPr>
                      </a:pPr>
                      <a:r>
                        <a:t>任意のデータソースに対応(600以上の実績)</a:t>
                      </a:r>
                    </a:p>
                  </a:txBody>
                  <a:tcPr>
                    <a:solidFill>
                      <a:srgbClr val="FFFFFF"/>
                    </a:solidFill>
                  </a:tcPr>
                </a:tc>
              </a:tr>
              <a:tr h="502920">
                <a:tc>
                  <a:txBody>
                    <a:bodyPr/>
                    <a:lstStyle/>
                    <a:p>
                      <a:pPr>
                        <a:defRPr sz="1200">
                          <a:solidFill>
                            <a:srgbClr val="1C2230"/>
                          </a:solidFill>
                          <a:latin typeface="Yu Gothic"/>
                        </a:defRPr>
                      </a:pPr>
                      <a:r>
                        <a:t>配信先</a:t>
                      </a:r>
                    </a:p>
                  </a:txBody>
                  <a:tcPr>
                    <a:solidFill>
                      <a:srgbClr val="F1F5FA"/>
                    </a:solidFill>
                  </a:tcPr>
                </a:tc>
                <a:tc>
                  <a:txBody>
                    <a:bodyPr/>
                    <a:lstStyle/>
                    <a:p>
                      <a:pPr>
                        <a:defRPr sz="1200">
                          <a:solidFill>
                            <a:srgbClr val="1C2230"/>
                          </a:solidFill>
                          <a:latin typeface="Yu Gothic"/>
                        </a:defRPr>
                      </a:pPr>
                      <a:r>
                        <a:t>任意の配信先にルーティング可能</a:t>
                      </a:r>
                    </a:p>
                  </a:txBody>
                  <a:tcPr>
                    <a:solidFill>
                      <a:srgbClr val="F1F5FA"/>
                    </a:solidFill>
                  </a:tcPr>
                </a:tc>
              </a:tr>
              <a:tr h="502920">
                <a:tc>
                  <a:txBody>
                    <a:bodyPr/>
                    <a:lstStyle/>
                    <a:p>
                      <a:pPr>
                        <a:defRPr sz="1200">
                          <a:solidFill>
                            <a:srgbClr val="1C2230"/>
                          </a:solidFill>
                          <a:latin typeface="Yu Gothic"/>
                        </a:defRPr>
                      </a:pPr>
                      <a:r>
                        <a:t>AIモデル</a:t>
                      </a:r>
                    </a:p>
                  </a:txBody>
                  <a:tcPr>
                    <a:solidFill>
                      <a:srgbClr val="FFFFFF"/>
                    </a:solidFill>
                  </a:tcPr>
                </a:tc>
                <a:tc>
                  <a:txBody>
                    <a:bodyPr/>
                    <a:lstStyle/>
                    <a:p>
                      <a:pPr>
                        <a:defRPr sz="1200">
                          <a:solidFill>
                            <a:srgbClr val="1C2230"/>
                          </a:solidFill>
                          <a:latin typeface="Yu Gothic"/>
                        </a:defRPr>
                      </a:pPr>
                      <a:r>
                        <a:t>任意のAIモデルに対応、特定ベンダーに縛られない</a:t>
                      </a:r>
                    </a:p>
                  </a:txBody>
                  <a:tcPr>
                    <a:solidFill>
                      <a:srgbClr val="FFFFFF"/>
                    </a:solidFill>
                  </a:tcPr>
                </a:tc>
              </a:tr>
              <a:tr h="502920">
                <a:tc>
                  <a:txBody>
                    <a:bodyPr/>
                    <a:lstStyle/>
                    <a:p>
                      <a:pPr>
                        <a:defRPr sz="1200">
                          <a:solidFill>
                            <a:srgbClr val="1C2230"/>
                          </a:solidFill>
                          <a:latin typeface="Yu Gothic"/>
                        </a:defRPr>
                      </a:pPr>
                      <a:r>
                        <a:t>対象規模</a:t>
                      </a:r>
                    </a:p>
                  </a:txBody>
                  <a:tcPr>
                    <a:solidFill>
                      <a:srgbClr val="F1F5FA"/>
                    </a:solidFill>
                  </a:tcPr>
                </a:tc>
                <a:tc>
                  <a:txBody>
                    <a:bodyPr/>
                    <a:lstStyle/>
                    <a:p>
                      <a:pPr>
                        <a:defRPr sz="1200">
                          <a:solidFill>
                            <a:srgbClr val="1C2230"/>
                          </a:solidFill>
                          <a:latin typeface="Yu Gothic"/>
                        </a:defRPr>
                      </a:pPr>
                      <a:r>
                        <a:t>Fortune 100規模での運用実績を主張</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Newswire(2026-07-30)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データがAIエージェントに届くまで(概念上の流れ)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取り込み</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600以上のソースからテレメトリを収集</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整形</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正規化・エンリッチでデータの質を整える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統制</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ガバナンスでアクセス・利用を管理</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配信</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任意の配信先・AIモデルにルーティング</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報じられている売上成長率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前年同期比の売上成長率(自社発表値、第三者検証ではない)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 Newswire / SiliconANGLE(2026-07-30)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あわせて報じられている成長指標(自社発表値)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180%</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ネット収益維持率(NRR)</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既存顧客からの収益が拡大している目安</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0%</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顧客解約率</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報告期間中の解約はゼロだったという主張</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97%</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PoC受注率</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概念実証(PoC)から受注に至った割合</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 / SiliconANGLE(2026-07-30)</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顧客構成について報じられていること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SiliconANGLEの報道を要約すると、次のとおりです。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顧客の50%超がFortune 500企業</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過去1年でFortune 10・Fortune 50・Fortune 100企業への導入実績あり</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ヘルスケア・金融サービス・製造業・運輸業のFortune 100企業を含む</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具体的な企業名は公表されていない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SiliconANGLE(2026-07-30)</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Fortune階層別の導入実績(報道ベース)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階層</a:t>
                      </a:r>
                    </a:p>
                  </a:txBody>
                  <a:tcPr>
                    <a:solidFill>
                      <a:srgbClr val="2B3A55"/>
                    </a:solidFill>
                  </a:tcPr>
                </a:tc>
                <a:tc>
                  <a:txBody>
                    <a:bodyPr/>
                    <a:lstStyle/>
                    <a:p>
                      <a:pPr>
                        <a:defRPr sz="1300" b="1">
                          <a:solidFill>
                            <a:srgbClr val="FFFFFF"/>
                          </a:solidFill>
                          <a:latin typeface="Yu Gothic"/>
                        </a:defRPr>
                      </a:pPr>
                      <a:r>
                        <a:t>報じられている内容</a:t>
                      </a:r>
                    </a:p>
                  </a:txBody>
                  <a:tcPr>
                    <a:solidFill>
                      <a:srgbClr val="2B3A55"/>
                    </a:solidFill>
                  </a:tcPr>
                </a:tc>
              </a:tr>
              <a:tr h="502920">
                <a:tc>
                  <a:txBody>
                    <a:bodyPr/>
                    <a:lstStyle/>
                    <a:p>
                      <a:pPr>
                        <a:defRPr sz="1200">
                          <a:solidFill>
                            <a:srgbClr val="1C2230"/>
                          </a:solidFill>
                          <a:latin typeface="Yu Gothic"/>
                        </a:defRPr>
                      </a:pPr>
                      <a:r>
                        <a:t>Fortune 10</a:t>
                      </a:r>
                    </a:p>
                  </a:txBody>
                  <a:tcPr>
                    <a:solidFill>
                      <a:srgbClr val="FFFFFF"/>
                    </a:solidFill>
                  </a:tcPr>
                </a:tc>
                <a:tc>
                  <a:txBody>
                    <a:bodyPr/>
                    <a:lstStyle/>
                    <a:p>
                      <a:pPr>
                        <a:defRPr sz="1200">
                          <a:solidFill>
                            <a:srgbClr val="1C2230"/>
                          </a:solidFill>
                          <a:latin typeface="Yu Gothic"/>
                        </a:defRPr>
                      </a:pPr>
                      <a:r>
                        <a:t>過去1年で複数の導入実績あり(企業名非公表)</a:t>
                      </a:r>
                    </a:p>
                  </a:txBody>
                  <a:tcPr>
                    <a:solidFill>
                      <a:srgbClr val="FFFFFF"/>
                    </a:solidFill>
                  </a:tcPr>
                </a:tc>
              </a:tr>
              <a:tr h="502920">
                <a:tc>
                  <a:txBody>
                    <a:bodyPr/>
                    <a:lstStyle/>
                    <a:p>
                      <a:pPr>
                        <a:defRPr sz="1200">
                          <a:solidFill>
                            <a:srgbClr val="1C2230"/>
                          </a:solidFill>
                          <a:latin typeface="Yu Gothic"/>
                        </a:defRPr>
                      </a:pPr>
                      <a:r>
                        <a:t>Fortune 50</a:t>
                      </a:r>
                    </a:p>
                  </a:txBody>
                  <a:tcPr>
                    <a:solidFill>
                      <a:srgbClr val="F1F5FA"/>
                    </a:solidFill>
                  </a:tcPr>
                </a:tc>
                <a:tc>
                  <a:txBody>
                    <a:bodyPr/>
                    <a:lstStyle/>
                    <a:p>
                      <a:pPr>
                        <a:defRPr sz="1200">
                          <a:solidFill>
                            <a:srgbClr val="1C2230"/>
                          </a:solidFill>
                          <a:latin typeface="Yu Gothic"/>
                        </a:defRPr>
                      </a:pPr>
                      <a:r>
                        <a:t>過去1年で複数の導入実績あり(企業名非公表)</a:t>
                      </a:r>
                    </a:p>
                  </a:txBody>
                  <a:tcPr>
                    <a:solidFill>
                      <a:srgbClr val="F1F5FA"/>
                    </a:solidFill>
                  </a:tcPr>
                </a:tc>
              </a:tr>
              <a:tr h="502920">
                <a:tc>
                  <a:txBody>
                    <a:bodyPr/>
                    <a:lstStyle/>
                    <a:p>
                      <a:pPr>
                        <a:defRPr sz="1200">
                          <a:solidFill>
                            <a:srgbClr val="1C2230"/>
                          </a:solidFill>
                          <a:latin typeface="Yu Gothic"/>
                        </a:defRPr>
                      </a:pPr>
                      <a:r>
                        <a:t>Fortune 100</a:t>
                      </a:r>
                    </a:p>
                  </a:txBody>
                  <a:tcPr>
                    <a:solidFill>
                      <a:srgbClr val="FFFFFF"/>
                    </a:solidFill>
                  </a:tcPr>
                </a:tc>
                <a:tc>
                  <a:txBody>
                    <a:bodyPr/>
                    <a:lstStyle/>
                    <a:p>
                      <a:pPr>
                        <a:defRPr sz="1200">
                          <a:solidFill>
                            <a:srgbClr val="1C2230"/>
                          </a:solidFill>
                          <a:latin typeface="Yu Gothic"/>
                        </a:defRPr>
                      </a:pPr>
                      <a:r>
                        <a:t>ヘルスケア・金融・製造・運輸の企業を含む(企業名非公表)</a:t>
                      </a:r>
                    </a:p>
                  </a:txBody>
                  <a:tcPr>
                    <a:solidFill>
                      <a:srgbClr val="FFFFFF"/>
                    </a:solidFill>
                  </a:tcPr>
                </a:tc>
              </a:tr>
              <a:tr h="502920">
                <a:tc>
                  <a:txBody>
                    <a:bodyPr/>
                    <a:lstStyle/>
                    <a:p>
                      <a:pPr>
                        <a:defRPr sz="1200">
                          <a:solidFill>
                            <a:srgbClr val="1C2230"/>
                          </a:solidFill>
                          <a:latin typeface="Yu Gothic"/>
                        </a:defRPr>
                      </a:pPr>
                      <a:r>
                        <a:t>全顧客に占める割合</a:t>
                      </a:r>
                    </a:p>
                  </a:txBody>
                  <a:tcPr>
                    <a:solidFill>
                      <a:srgbClr val="F1F5FA"/>
                    </a:solidFill>
                  </a:tcPr>
                </a:tc>
                <a:tc>
                  <a:txBody>
                    <a:bodyPr/>
                    <a:lstStyle/>
                    <a:p>
                      <a:pPr>
                        <a:defRPr sz="1200">
                          <a:solidFill>
                            <a:srgbClr val="1C2230"/>
                          </a:solidFill>
                          <a:latin typeface="Yu Gothic"/>
                        </a:defRPr>
                      </a:pPr>
                      <a:r>
                        <a:t>50%超がFortune 500企業</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SiliconANGLE(2026-07-30)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はあらゆる企業アプリケーションを変えつつあるが、AIは自らが理解できる企業データの質でしか良くならない。次世代のエンタープライズ基盤は、より多くのデータを移動させることではなく、適切なデータを適切なタイミングでインテリジェントに編成することを中心に構築され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Nanda Santhana氏(CEO・共同創業者、PR Newswire経由の引用、意訳)</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従来のデータパイプラインとの違い(発表内容からの整理)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従来型のデータパイプライン</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特定の配信先・用途向けに構築されがち</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ベンダーロックインが生じやすい</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AI活用を前提に設計されていない場合が多い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DataBahnが主張する立ち位置</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任意のソース・配信先・AIモデルに対応</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特定ベンダーに縛られない設計を主張</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AIエージェント向けの文脈化データ供給を前提にする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本パイプラインの既存テーマとの位置づけ(概念図)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エージェント統治</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58本目 Hush Security(IDガバナンス)</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データ基盤</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本テーマ DataBahn(テレメトリ・データ)</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業務自動化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59・63本目(サプライチェーン・ヘルスケア)</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同じ「AIエージェントを支える基盤」でも、対象領域が異なる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創業の背景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2023</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創業年</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DataBahnはテキサス州ダラスで創業</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2名</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共同創業者</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Nanda Santhana氏(CEO)・Nithya Nareshkumar氏</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$59M</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累計調達額</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シリーズBを含む累計調達額(内訳の詳細は非公表)</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 / S3 Ventures投資先情報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$59M</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シリーズBの4,000万ドルを含む累計額(内訳の詳細は非公表)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 Startups / SiliconANGLE(2026-07-30)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正直な注記: 同名の別会社が存在する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本テーマの対象</a:t>
                      </a:r>
                    </a:p>
                  </a:txBody>
                  <a:tcPr>
                    <a:solidFill>
                      <a:srgbClr val="FFFFFF"/>
                    </a:solidFill>
                  </a:tcPr>
                </a:tc>
                <a:tc>
                  <a:txBody>
                    <a:bodyPr/>
                    <a:lstStyle/>
                    <a:p>
                      <a:pPr>
                        <a:defRPr sz="1200">
                          <a:solidFill>
                            <a:srgbClr val="1C2230"/>
                          </a:solidFill>
                          <a:latin typeface="Yu Gothic"/>
                        </a:defRPr>
                      </a:pPr>
                      <a:r>
                        <a:t>databahn.ai(テレメトリ・データパイプライン管理、Insight Partners主導のシリーズB)</a:t>
                      </a:r>
                    </a:p>
                  </a:txBody>
                  <a:tcPr>
                    <a:solidFill>
                      <a:srgbClr val="FFFFFF"/>
                    </a:solidFill>
                  </a:tcPr>
                </a:tc>
              </a:tr>
              <a:tr h="502920">
                <a:tc>
                  <a:txBody>
                    <a:bodyPr/>
                    <a:lstStyle/>
                    <a:p>
                      <a:pPr>
                        <a:defRPr sz="1200">
                          <a:solidFill>
                            <a:srgbClr val="1C2230"/>
                          </a:solidFill>
                          <a:latin typeface="Yu Gothic"/>
                        </a:defRPr>
                      </a:pPr>
                      <a:r>
                        <a:t>混同しやすい別会社</a:t>
                      </a:r>
                    </a:p>
                  </a:txBody>
                  <a:tcPr>
                    <a:solidFill>
                      <a:srgbClr val="F1F5FA"/>
                    </a:solidFill>
                  </a:tcPr>
                </a:tc>
                <a:tc>
                  <a:txBody>
                    <a:bodyPr/>
                    <a:lstStyle/>
                    <a:p>
                      <a:pPr>
                        <a:defRPr sz="1200">
                          <a:solidFill>
                            <a:srgbClr val="1C2230"/>
                          </a:solidFill>
                          <a:latin typeface="Yu Gothic"/>
                        </a:defRPr>
                      </a:pPr>
                      <a:r>
                        <a:t>databahn.com(Fortune 500向け営業インテリジェンス・組織図提供サービス、無関係の別法人)</a:t>
                      </a:r>
                    </a:p>
                  </a:txBody>
                  <a:tcPr>
                    <a:solidFill>
                      <a:srgbClr val="F1F5FA"/>
                    </a:solidFill>
                  </a:tcPr>
                </a:tc>
              </a:tr>
              <a:tr h="502920">
                <a:tc>
                  <a:txBody>
                    <a:bodyPr/>
                    <a:lstStyle/>
                    <a:p>
                      <a:pPr>
                        <a:defRPr sz="1200">
                          <a:solidFill>
                            <a:srgbClr val="1C2230"/>
                          </a:solidFill>
                          <a:latin typeface="Yu Gothic"/>
                        </a:defRPr>
                      </a:pPr>
                      <a:r>
                        <a:t>注意点</a:t>
                      </a:r>
                    </a:p>
                  </a:txBody>
                  <a:tcPr>
                    <a:solidFill>
                      <a:srgbClr val="FFFFFF"/>
                    </a:solidFill>
                  </a:tcPr>
                </a:tc>
                <a:tc>
                  <a:txBody>
                    <a:bodyPr/>
                    <a:lstStyle/>
                    <a:p>
                      <a:pPr>
                        <a:defRPr sz="1200">
                          <a:solidFill>
                            <a:srgbClr val="1C2230"/>
                          </a:solidFill>
                          <a:latin typeface="Yu Gothic"/>
                        </a:defRPr>
                      </a:pPr>
                      <a:r>
                        <a:t>検索結果には別会社の評価額情報も混在するため、本デッキでは対象を databahn.ai に限定して扱う</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調査時の確認事項(research.md参照)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読み解く上での注意点(1)</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成長数値(400%成長・NRR180%・解約率0%等)はすべて自社発表値</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算出期間・算出方法の詳細な開示は確認できていない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第三者機関による監査結果ではない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個別の顧客企業名は公表されていない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読み解く上での注意点(2)</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資金調達報道そのものについても、留意点があります。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本テーマの一次発表はPR Newswireだが、WebFetchのアクセス制限により本文全体は直接確認できていない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SiliconANGLE・Techzine Global等の複数媒体の要約に基づいている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各投資家の出資比率・出資額の内訳は非公表</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企業評価額(バリュエーション)は非公表</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想定される活用シーン(合理的推測)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セキュリティ・SIEM連携</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ログ・テレメトリの統制という性質上、セキュリティ運用との親和性が考えられる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オブザーバビリティ基盤</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既存のデータパイプライン市場の隣接領域と考えられる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AIエージェントへの文脈提供</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発表内容が明言する主目的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確認できたこと・できなかったこと(全体整理)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確認できたこと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調達額・投資家・成長数値(自社発表)・CEOコメント</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推測にとどまること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想定される活用シーン・市場での位置づけ</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確認できなかったこと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評価額・出資比率・顧客企業名・調達履歴の内訳</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3段階に分けて、情報の確からしさを整理する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企業評価額(バリュエーション)</a:t>
                      </a:r>
                    </a:p>
                  </a:txBody>
                  <a:tcPr>
                    <a:solidFill>
                      <a:srgbClr val="FFFFFF"/>
                    </a:solidFill>
                  </a:tcPr>
                </a:tc>
                <a:tc>
                  <a:txBody>
                    <a:bodyPr/>
                    <a:lstStyle/>
                    <a:p>
                      <a:pPr>
                        <a:defRPr sz="1200">
                          <a:solidFill>
                            <a:srgbClr val="1C2230"/>
                          </a:solidFill>
                          <a:latin typeface="Yu Gothic"/>
                        </a:defRPr>
                      </a:pPr>
                      <a:r>
                        <a:t>非公表・未確認</a:t>
                      </a:r>
                    </a:p>
                  </a:txBody>
                  <a:tcPr>
                    <a:solidFill>
                      <a:srgbClr val="FFFFFF"/>
                    </a:solidFill>
                  </a:tcPr>
                </a:tc>
              </a:tr>
              <a:tr h="502920">
                <a:tc>
                  <a:txBody>
                    <a:bodyPr/>
                    <a:lstStyle/>
                    <a:p>
                      <a:pPr>
                        <a:defRPr sz="1200">
                          <a:solidFill>
                            <a:srgbClr val="1C2230"/>
                          </a:solidFill>
                          <a:latin typeface="Yu Gothic"/>
                        </a:defRPr>
                      </a:pPr>
                      <a:r>
                        <a:t>各投資家の出資比率・出資額の内訳</a:t>
                      </a:r>
                    </a:p>
                  </a:txBody>
                  <a:tcPr>
                    <a:solidFill>
                      <a:srgbClr val="F1F5FA"/>
                    </a:solidFill>
                  </a:tcPr>
                </a:tc>
                <a:tc>
                  <a:txBody>
                    <a:bodyPr/>
                    <a:lstStyle/>
                    <a:p>
                      <a:pPr>
                        <a:defRPr sz="1200">
                          <a:solidFill>
                            <a:srgbClr val="1C2230"/>
                          </a:solidFill>
                          <a:latin typeface="Yu Gothic"/>
                        </a:defRPr>
                      </a:pPr>
                      <a:r>
                        <a:t>非公表・未確認</a:t>
                      </a:r>
                    </a:p>
                  </a:txBody>
                  <a:tcPr>
                    <a:solidFill>
                      <a:srgbClr val="F1F5FA"/>
                    </a:solidFill>
                  </a:tcPr>
                </a:tc>
              </a:tr>
              <a:tr h="502920">
                <a:tc>
                  <a:txBody>
                    <a:bodyPr/>
                    <a:lstStyle/>
                    <a:p>
                      <a:pPr>
                        <a:defRPr sz="1200">
                          <a:solidFill>
                            <a:srgbClr val="1C2230"/>
                          </a:solidFill>
                          <a:latin typeface="Yu Gothic"/>
                        </a:defRPr>
                      </a:pPr>
                      <a:r>
                        <a:t>個別のFortune 500顧客企業名</a:t>
                      </a:r>
                    </a:p>
                  </a:txBody>
                  <a:tcPr>
                    <a:solidFill>
                      <a:srgbClr val="FFFFFF"/>
                    </a:solidFill>
                  </a:tcPr>
                </a:tc>
                <a:tc>
                  <a:txBody>
                    <a:bodyPr/>
                    <a:lstStyle/>
                    <a:p>
                      <a:pPr>
                        <a:defRPr sz="1200">
                          <a:solidFill>
                            <a:srgbClr val="1C2230"/>
                          </a:solidFill>
                          <a:latin typeface="Yu Gothic"/>
                        </a:defRPr>
                      </a:pPr>
                      <a:r>
                        <a:t>業種の言及のみ、企業名は非公表</a:t>
                      </a:r>
                    </a:p>
                  </a:txBody>
                  <a:tcPr>
                    <a:solidFill>
                      <a:srgbClr val="FFFFFF"/>
                    </a:solidFill>
                  </a:tcPr>
                </a:tc>
              </a:tr>
              <a:tr h="502920">
                <a:tc>
                  <a:txBody>
                    <a:bodyPr/>
                    <a:lstStyle/>
                    <a:p>
                      <a:pPr>
                        <a:defRPr sz="1200">
                          <a:solidFill>
                            <a:srgbClr val="1C2230"/>
                          </a:solidFill>
                          <a:latin typeface="Yu Gothic"/>
                        </a:defRPr>
                      </a:pPr>
                      <a:r>
                        <a:t>シリーズB以前の調達履歴の詳細</a:t>
                      </a:r>
                    </a:p>
                  </a:txBody>
                  <a:tcPr>
                    <a:solidFill>
                      <a:srgbClr val="F1F5FA"/>
                    </a:solidFill>
                  </a:tcPr>
                </a:tc>
                <a:tc>
                  <a:txBody>
                    <a:bodyPr/>
                    <a:lstStyle/>
                    <a:p>
                      <a:pPr>
                        <a:defRPr sz="1200">
                          <a:solidFill>
                            <a:srgbClr val="1C2230"/>
                          </a:solidFill>
                          <a:latin typeface="Yu Gothic"/>
                        </a:defRPr>
                      </a:pPr>
                      <a:r>
                        <a:t>累計額のみ判明、内訳は未確認</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既存テーマとの違い(重複確認)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近いテーマ</a:t>
                      </a:r>
                    </a:p>
                  </a:txBody>
                  <a:tcPr>
                    <a:solidFill>
                      <a:srgbClr val="2B3A55"/>
                    </a:solidFill>
                  </a:tcPr>
                </a:tc>
                <a:tc>
                  <a:txBody>
                    <a:bodyPr/>
                    <a:lstStyle/>
                    <a:p>
                      <a:pPr>
                        <a:defRPr sz="1300" b="1">
                          <a:solidFill>
                            <a:srgbClr val="FFFFFF"/>
                          </a:solidFill>
                          <a:latin typeface="Yu Gothic"/>
                        </a:defRPr>
                      </a:pPr>
                      <a:r>
                        <a:t>本テーマとの違い</a:t>
                      </a:r>
                    </a:p>
                  </a:txBody>
                  <a:tcPr>
                    <a:solidFill>
                      <a:srgbClr val="2B3A55"/>
                    </a:solidFill>
                  </a:tcPr>
                </a:tc>
              </a:tr>
              <a:tr h="502920">
                <a:tc>
                  <a:txBody>
                    <a:bodyPr/>
                    <a:lstStyle/>
                    <a:p>
                      <a:pPr>
                        <a:defRPr sz="1200">
                          <a:solidFill>
                            <a:srgbClr val="1C2230"/>
                          </a:solidFill>
                          <a:latin typeface="Yu Gothic"/>
                        </a:defRPr>
                      </a:pPr>
                      <a:r>
                        <a:t>58本目 Hush Security(エージェント統治・ID管理)</a:t>
                      </a:r>
                    </a:p>
                  </a:txBody>
                  <a:tcPr>
                    <a:solidFill>
                      <a:srgbClr val="FFFFFF"/>
                    </a:solidFill>
                  </a:tcPr>
                </a:tc>
                <a:tc>
                  <a:txBody>
                    <a:bodyPr/>
                    <a:lstStyle/>
                    <a:p>
                      <a:pPr>
                        <a:defRPr sz="1200">
                          <a:solidFill>
                            <a:srgbClr val="1C2230"/>
                          </a:solidFill>
                          <a:latin typeface="Yu Gothic"/>
                        </a:defRPr>
                      </a:pPr>
                      <a:r>
                        <a:t>対象がID・アクセス権限の統治ではなく、テレメトリ・データそのものの整備</a:t>
                      </a:r>
                    </a:p>
                  </a:txBody>
                  <a:tcPr>
                    <a:solidFill>
                      <a:srgbClr val="FFFFFF"/>
                    </a:solidFill>
                  </a:tcPr>
                </a:tc>
              </a:tr>
              <a:tr h="502920">
                <a:tc>
                  <a:txBody>
                    <a:bodyPr/>
                    <a:lstStyle/>
                    <a:p>
                      <a:pPr>
                        <a:defRPr sz="1200">
                          <a:solidFill>
                            <a:srgbClr val="1C2230"/>
                          </a:solidFill>
                          <a:latin typeface="Yu Gothic"/>
                        </a:defRPr>
                      </a:pPr>
                      <a:r>
                        <a:t>59本目 Freehand(サプライチェーンAIエージェント)</a:t>
                      </a:r>
                    </a:p>
                  </a:txBody>
                  <a:tcPr>
                    <a:solidFill>
                      <a:srgbClr val="F1F5FA"/>
                    </a:solidFill>
                  </a:tcPr>
                </a:tc>
                <a:tc>
                  <a:txBody>
                    <a:bodyPr/>
                    <a:lstStyle/>
                    <a:p>
                      <a:pPr>
                        <a:defRPr sz="1200">
                          <a:solidFill>
                            <a:srgbClr val="1C2230"/>
                          </a:solidFill>
                          <a:latin typeface="Yu Gothic"/>
                        </a:defRPr>
                      </a:pPr>
                      <a:r>
                        <a:t>特定業務の自動化ではなく、業種横断のデータ基盤インフラ</a:t>
                      </a:r>
                    </a:p>
                  </a:txBody>
                  <a:tcPr>
                    <a:solidFill>
                      <a:srgbClr val="F1F5FA"/>
                    </a:solidFill>
                  </a:tcPr>
                </a:tc>
              </a:tr>
              <a:tr h="502920">
                <a:tc>
                  <a:txBody>
                    <a:bodyPr/>
                    <a:lstStyle/>
                    <a:p>
                      <a:pPr>
                        <a:defRPr sz="1200">
                          <a:solidFill>
                            <a:srgbClr val="1C2230"/>
                          </a:solidFill>
                          <a:latin typeface="Yu Gothic"/>
                        </a:defRPr>
                      </a:pPr>
                      <a:r>
                        <a:t>63本目 Assured(ヘルスケア資格認定AIエージェント)</a:t>
                      </a:r>
                    </a:p>
                  </a:txBody>
                  <a:tcPr>
                    <a:solidFill>
                      <a:srgbClr val="FFFFFF"/>
                    </a:solidFill>
                  </a:tcPr>
                </a:tc>
                <a:tc>
                  <a:txBody>
                    <a:bodyPr/>
                    <a:lstStyle/>
                    <a:p>
                      <a:pPr>
                        <a:defRPr sz="1200">
                          <a:solidFill>
                            <a:srgbClr val="1C2230"/>
                          </a:solidFill>
                          <a:latin typeface="Yu Gothic"/>
                        </a:defRPr>
                      </a:pPr>
                      <a:r>
                        <a:t>特定業務の自動化ではなく、業種横断のデータ基盤インフラ</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個別の投資判断ではなく、一般的な視点としてまとめます。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『AIエージェント』の資金調達ニュースは、エージェント本体だけでなく周辺のデータ基盤にも広がっている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強い成長数値ほど、自社発表か第三者検証かを区別して読む価値がある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同名の別会社が存在するケースがあるため、企業名だけで判断しないほうがよい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非公開の項目(評価額・出資比率等)は、無理に推測せず「不明」として扱ってよい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 Newswire・SiliconANGLE ほか(2026-07-30発表)｜定期実行64本目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$40M / 400%+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調達額4,000万ドル、売上成長率400%超(自社発表)。ただし評価額・出資比率・顧客名は非公表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数字の『出どころ』を、いつも分けて見る。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自社発表値と第三者検証、公表されていることといないこと。次のニュースを読むときも、この視点を持ってみてください。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