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気づけば、もう1つのAIアシスタントも10億人に迫っていました。今日はこの話題を、出典付きで整理してお伝えします。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まず数字から。Geminiの月間利用者数は、9億5,000万人を超えました。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今日はこの5つの流れでお伝えします。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Googleが自ら決算発表の場で説明した数字であり、公式な情報です。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前年から3倍という急速な成長で、9.5億人まで到達しました。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前年からわずか1年で、利用者数が3倍に増えました。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79本目とは対象企業・指標・情報源がいずれも異なる、別の話題です。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Geminiの基本情報を整理しました。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情報の確からしさが異なる点を、特に強調してお伝えします。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10億人まで、あと5,000万人ほどに迫っています。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複数のAIアシスタントが、同時に大きな成長を見せています。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AIアシスタント業界全体で、大規模な利用者獲得競争が起きています。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3社とも急成長していますが、規模には差があります。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情報の性質の違いを、改めて整理しました。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この報道は、着手日の11日前のものです。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この話題は、着手日の11日前の出来事です。鮮度がやや古い点を正直にお伝えします。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成長の背景として、Googleの既存サービスとの統合が推測されますが、これはあくまで推測です。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本テーマの要点をまとめました。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これらは確認できておらず、正直にお伝えします。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ここまでの内容を総括します。Geminiは、9.5億人からさらに10億人へと迫っています。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ここからは推測です。今後の展開はまだ確定していません。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79本目とは明確に異なる話題であることを確認しています。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確認できたこと・できなかったことを、正直に区別してお伝えします。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この話題は今後も続きそうです。注目したいポイントを整理しました。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本パイプラインが使用するClaudeも、同時期に大きく成長しています。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3社を並べて比較しました。ただし情報源の性質が異なる点にご注意ください。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最後にもう一度、この報道の核心を振り返ります。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AIアシスタント業界は、複数社が同時に大規模化する新しい局面に入っています。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気づけば、もう1つのAIも10億人に迫っていました。今日はこの話題をお伝えしました。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今回は、Geminiの利用者数が10億人に迫っている件をお伝えしました。ご視聴ありがとうございました。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気づけば、もう1つのAIも10億人に迫っていた。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Googleのgemini、月間利用者数が9.5億人を突破(2026年7月23日報道)</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TechCrunch・Business Standard ほか</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Geminiの月間利用者数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9.5億人超</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Googleの2026年第2四半期決算発表による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TechCrunch(2026-07-23)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何が発表されたのか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79本目(ChatGPT)との違い</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AIアシスタント業界の10億人競争</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鮮度についての正直な開示</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確認できなかったこと・今後の見通し</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何が発表されたのか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2026年7月23日の報道のポイントです。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Googleが2026年第2四半期の決算発表でGeminiの数字を説明した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月間利用者数は9億5,000万人を超えた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前年から3倍に増加した</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10億人という節目に近づいている</a:t>
            </a:r>
          </a:p>
        </p:txBody>
      </p:sp>
      <p:sp>
        <p:nvSpPr>
          <p:cNvPr id="15" name="Oval 14"/>
          <p:cNvSpPr/>
          <p:nvPr/>
        </p:nvSpPr>
        <p:spPr>
          <a:xfrm>
            <a:off x="457200" y="523036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6" name="TextBox 15"/>
          <p:cNvSpPr txBox="1"/>
          <p:nvPr/>
        </p:nvSpPr>
        <p:spPr>
          <a:xfrm>
            <a:off x="960120" y="5212079"/>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Google自身の公式発表に基づく数字である</a:t>
            </a:r>
          </a:p>
        </p:txBody>
      </p:sp>
      <p:sp>
        <p:nvSpPr>
          <p:cNvPr id="17" name="TextBox 1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TechCrunch(2026-07-23)</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成長の流れ(概念図)</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前年の利用者数</a:t>
            </a:r>
          </a:p>
        </p:txBody>
      </p:sp>
      <p:sp>
        <p:nvSpPr>
          <p:cNvPr id="9" name="Right Arrow 8"/>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3倍に増加</a:t>
            </a:r>
          </a:p>
        </p:txBody>
      </p:sp>
      <p:sp>
        <p:nvSpPr>
          <p:cNvPr id="13" name="Right Arrow 12"/>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9.5億人を突破(7/23)</a:t>
            </a:r>
          </a:p>
        </p:txBody>
      </p:sp>
      <p:sp>
        <p:nvSpPr>
          <p:cNvPr id="17" name="Right Arrow 16"/>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10億人に接近</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前年からの成長率</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3倍</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2025年から2026年にかけての利用者数の伸び</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79本目(ChatGPT)との違い</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79本目(ChatGPT)</a:t>
                      </a:r>
                    </a:p>
                  </a:txBody>
                  <a:tcPr>
                    <a:solidFill>
                      <a:srgbClr val="2B3A55"/>
                    </a:solidFill>
                  </a:tcPr>
                </a:tc>
                <a:tc>
                  <a:txBody>
                    <a:bodyPr/>
                    <a:lstStyle/>
                    <a:p>
                      <a:pPr>
                        <a:defRPr sz="1300" b="1">
                          <a:solidFill>
                            <a:srgbClr val="FFFFFF"/>
                          </a:solidFill>
                          <a:latin typeface="Yu Gothic"/>
                        </a:defRPr>
                      </a:pPr>
                      <a:r>
                        <a:t>本テーマ(Gemini)</a:t>
                      </a:r>
                    </a:p>
                  </a:txBody>
                  <a:tcPr>
                    <a:solidFill>
                      <a:srgbClr val="2B3A55"/>
                    </a:solidFill>
                  </a:tcPr>
                </a:tc>
              </a:tr>
              <a:tr h="502920">
                <a:tc>
                  <a:txBody>
                    <a:bodyPr/>
                    <a:lstStyle/>
                    <a:p>
                      <a:pPr>
                        <a:defRPr sz="1200">
                          <a:solidFill>
                            <a:srgbClr val="1C2230"/>
                          </a:solidFill>
                          <a:latin typeface="Yu Gothic"/>
                        </a:defRPr>
                      </a:pPr>
                      <a:r>
                        <a:t>対象企業</a:t>
                      </a:r>
                    </a:p>
                  </a:txBody>
                  <a:tcPr>
                    <a:solidFill>
                      <a:srgbClr val="FFFFFF"/>
                    </a:solidFill>
                  </a:tcPr>
                </a:tc>
                <a:tc>
                  <a:txBody>
                    <a:bodyPr/>
                    <a:lstStyle/>
                    <a:p>
                      <a:pPr>
                        <a:defRPr sz="1200">
                          <a:solidFill>
                            <a:srgbClr val="1C2230"/>
                          </a:solidFill>
                          <a:latin typeface="Yu Gothic"/>
                        </a:defRPr>
                      </a:pPr>
                      <a:r>
                        <a:t>OpenAI</a:t>
                      </a:r>
                    </a:p>
                  </a:txBody>
                  <a:tcPr>
                    <a:solidFill>
                      <a:srgbClr val="FFFFFF"/>
                    </a:solidFill>
                  </a:tcPr>
                </a:tc>
                <a:tc>
                  <a:txBody>
                    <a:bodyPr/>
                    <a:lstStyle/>
                    <a:p>
                      <a:pPr>
                        <a:defRPr sz="1200">
                          <a:solidFill>
                            <a:srgbClr val="1C2230"/>
                          </a:solidFill>
                          <a:latin typeface="Yu Gothic"/>
                        </a:defRPr>
                      </a:pPr>
                      <a:r>
                        <a:t>Google</a:t>
                      </a:r>
                    </a:p>
                  </a:txBody>
                  <a:tcPr>
                    <a:solidFill>
                      <a:srgbClr val="FFFFFF"/>
                    </a:solidFill>
                  </a:tcPr>
                </a:tc>
              </a:tr>
              <a:tr h="502920">
                <a:tc>
                  <a:txBody>
                    <a:bodyPr/>
                    <a:lstStyle/>
                    <a:p>
                      <a:pPr>
                        <a:defRPr sz="1200">
                          <a:solidFill>
                            <a:srgbClr val="1C2230"/>
                          </a:solidFill>
                          <a:latin typeface="Yu Gothic"/>
                        </a:defRPr>
                      </a:pPr>
                      <a:r>
                        <a:t>指標</a:t>
                      </a:r>
                    </a:p>
                  </a:txBody>
                  <a:tcPr>
                    <a:solidFill>
                      <a:srgbClr val="F1F5FA"/>
                    </a:solidFill>
                  </a:tcPr>
                </a:tc>
                <a:tc>
                  <a:txBody>
                    <a:bodyPr/>
                    <a:lstStyle/>
                    <a:p>
                      <a:pPr>
                        <a:defRPr sz="1200">
                          <a:solidFill>
                            <a:srgbClr val="1C2230"/>
                          </a:solidFill>
                          <a:latin typeface="Yu Gothic"/>
                        </a:defRPr>
                      </a:pPr>
                      <a:r>
                        <a:t>週間利用者数</a:t>
                      </a:r>
                    </a:p>
                  </a:txBody>
                  <a:tcPr>
                    <a:solidFill>
                      <a:srgbClr val="F1F5FA"/>
                    </a:solidFill>
                  </a:tcPr>
                </a:tc>
                <a:tc>
                  <a:txBody>
                    <a:bodyPr/>
                    <a:lstStyle/>
                    <a:p>
                      <a:pPr>
                        <a:defRPr sz="1200">
                          <a:solidFill>
                            <a:srgbClr val="1C2230"/>
                          </a:solidFill>
                          <a:latin typeface="Yu Gothic"/>
                        </a:defRPr>
                      </a:pPr>
                      <a:r>
                        <a:t>月間利用者数</a:t>
                      </a:r>
                    </a:p>
                  </a:txBody>
                  <a:tcPr>
                    <a:solidFill>
                      <a:srgbClr val="F1F5FA"/>
                    </a:solidFill>
                  </a:tcPr>
                </a:tc>
              </a:tr>
              <a:tr h="502920">
                <a:tc>
                  <a:txBody>
                    <a:bodyPr/>
                    <a:lstStyle/>
                    <a:p>
                      <a:pPr>
                        <a:defRPr sz="1200">
                          <a:solidFill>
                            <a:srgbClr val="1C2230"/>
                          </a:solidFill>
                          <a:latin typeface="Yu Gothic"/>
                        </a:defRPr>
                      </a:pPr>
                      <a:r>
                        <a:t>情報源</a:t>
                      </a:r>
                    </a:p>
                  </a:txBody>
                  <a:tcPr>
                    <a:solidFill>
                      <a:srgbClr val="FFFFFF"/>
                    </a:solidFill>
                  </a:tcPr>
                </a:tc>
                <a:tc>
                  <a:txBody>
                    <a:bodyPr/>
                    <a:lstStyle/>
                    <a:p>
                      <a:pPr>
                        <a:defRPr sz="1200">
                          <a:solidFill>
                            <a:srgbClr val="1C2230"/>
                          </a:solidFill>
                          <a:latin typeface="Yu Gothic"/>
                        </a:defRPr>
                      </a:pPr>
                      <a:r>
                        <a:t>未確認の業界報道</a:t>
                      </a:r>
                    </a:p>
                  </a:txBody>
                  <a:tcPr>
                    <a:solidFill>
                      <a:srgbClr val="FFFFFF"/>
                    </a:solidFill>
                  </a:tcPr>
                </a:tc>
                <a:tc>
                  <a:txBody>
                    <a:bodyPr/>
                    <a:lstStyle/>
                    <a:p>
                      <a:pPr>
                        <a:defRPr sz="1200">
                          <a:solidFill>
                            <a:srgbClr val="1C2230"/>
                          </a:solidFill>
                          <a:latin typeface="Yu Gothic"/>
                        </a:defRPr>
                      </a:pPr>
                      <a:r>
                        <a:t>Google公式の決算発表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Geminiの特徴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提供元</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Google</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統合サービス</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検索やAndroid等、Googleの各種サービスと連携</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成長スピード</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前年から3倍という急成長</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79本目との混同回避(詳しく)</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特に重要な違いを詳しく説明します。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79本目はOpenAIが公式に確認していない、報道ベースの数字だった</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本テーマはGoogle自身が決算発表という公式な場で説明した数字</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情報の性質(未確認 vs 公式)が根本的に異なる</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混同しないよう、デッキ全体で明確に区別している</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研究チームによる整理</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10億人まであと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約5,000万人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9.5億人から10億人までの差</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競争する主要AIアシスタント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ChatGPT(OpenAI)</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Gemini(Google)</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Claude(Anthropic)</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それぞれ急成長中</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AIアシスタント業界の10億人競争</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業界全体の傾向です。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ChatGPTは月間利用者数が2026年6月に10億人を突破したとされる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Geminiは9.5億人まで到達し、10億人に接近している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Claudeも急成長しているが、規模はまだ両社より小さい</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複数のAI企業が同時に大規模な利用者数を獲得している状況</a:t>
            </a:r>
          </a:p>
        </p:txBody>
      </p:sp>
      <p:sp>
        <p:nvSpPr>
          <p:cNvPr id="15" name="TextBox 14"/>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demandsage・TechCrunch</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3社の規模感(参考)</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ChatGPT</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月間利用者数が10億人規模に到達したとされる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Gemini</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月間利用者数9.5億人超、10億人に接近</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Claude</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月間利用者数は前年から大きく増加中</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未確認情報 と 公式発表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未確認情報(79本目)</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OpenAI非公式の報道ベース</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報道機関の企業データ引用</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公式発表(本テーマ)</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Google自身の決算発表</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確定情報として扱える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報道日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2026-07-23</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着手日の11日前</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TechCrunch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鮮度についての正直な開示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本テーマの鮮度についてです。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報道は2026年7月23日、着手日(2026-08-03)の11日前である</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より新しい具体的な続報は本ラウンドの調査時点では見つかっていない</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正直に、やや鮮度が古いことを開示する</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成長要因(推測)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52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6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89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Googleサービスとの統合</a:t>
            </a:r>
          </a:p>
        </p:txBody>
      </p:sp>
      <p:sp>
        <p:nvSpPr>
          <p:cNvPr id="9" name="Right Arrow 8"/>
          <p:cNvSpPr/>
          <p:nvPr/>
        </p:nvSpPr>
        <p:spPr>
          <a:xfrm>
            <a:off x="25571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3526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069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898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検索・Androidからの流入</a:t>
            </a:r>
          </a:p>
        </p:txBody>
      </p:sp>
      <p:sp>
        <p:nvSpPr>
          <p:cNvPr id="13" name="Right Arrow 12"/>
          <p:cNvSpPr/>
          <p:nvPr/>
        </p:nvSpPr>
        <p:spPr>
          <a:xfrm>
            <a:off x="57575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5530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5073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02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機能の拡充</a:t>
            </a:r>
          </a:p>
        </p:txBody>
      </p:sp>
      <p:sp>
        <p:nvSpPr>
          <p:cNvPr id="17" name="Right Arrow 16"/>
          <p:cNvSpPr/>
          <p:nvPr/>
        </p:nvSpPr>
        <p:spPr>
          <a:xfrm>
            <a:off x="89579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9753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707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90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利用者数の急増(推測)</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本テーマのまとめ表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提供元</a:t>
                      </a:r>
                    </a:p>
                  </a:txBody>
                  <a:tcPr>
                    <a:solidFill>
                      <a:srgbClr val="FFFFFF"/>
                    </a:solidFill>
                  </a:tcPr>
                </a:tc>
                <a:tc>
                  <a:txBody>
                    <a:bodyPr/>
                    <a:lstStyle/>
                    <a:p>
                      <a:pPr>
                        <a:defRPr sz="1200">
                          <a:solidFill>
                            <a:srgbClr val="1C2230"/>
                          </a:solidFill>
                          <a:latin typeface="Yu Gothic"/>
                        </a:defRPr>
                      </a:pPr>
                      <a:r>
                        <a:t>Google</a:t>
                      </a:r>
                    </a:p>
                  </a:txBody>
                  <a:tcPr>
                    <a:solidFill>
                      <a:srgbClr val="FFFFFF"/>
                    </a:solidFill>
                  </a:tcPr>
                </a:tc>
              </a:tr>
              <a:tr h="502920">
                <a:tc>
                  <a:txBody>
                    <a:bodyPr/>
                    <a:lstStyle/>
                    <a:p>
                      <a:pPr>
                        <a:defRPr sz="1200">
                          <a:solidFill>
                            <a:srgbClr val="1C2230"/>
                          </a:solidFill>
                          <a:latin typeface="Yu Gothic"/>
                        </a:defRPr>
                      </a:pPr>
                      <a:r>
                        <a:t>月間利用者数</a:t>
                      </a:r>
                    </a:p>
                  </a:txBody>
                  <a:tcPr>
                    <a:solidFill>
                      <a:srgbClr val="F1F5FA"/>
                    </a:solidFill>
                  </a:tcPr>
                </a:tc>
                <a:tc>
                  <a:txBody>
                    <a:bodyPr/>
                    <a:lstStyle/>
                    <a:p>
                      <a:pPr>
                        <a:defRPr sz="1200">
                          <a:solidFill>
                            <a:srgbClr val="1C2230"/>
                          </a:solidFill>
                          <a:latin typeface="Yu Gothic"/>
                        </a:defRPr>
                      </a:pPr>
                      <a:r>
                        <a:t>9.5億人超</a:t>
                      </a:r>
                    </a:p>
                  </a:txBody>
                  <a:tcPr>
                    <a:solidFill>
                      <a:srgbClr val="F1F5FA"/>
                    </a:solidFill>
                  </a:tcPr>
                </a:tc>
              </a:tr>
              <a:tr h="502920">
                <a:tc>
                  <a:txBody>
                    <a:bodyPr/>
                    <a:lstStyle/>
                    <a:p>
                      <a:pPr>
                        <a:defRPr sz="1200">
                          <a:solidFill>
                            <a:srgbClr val="1C2230"/>
                          </a:solidFill>
                          <a:latin typeface="Yu Gothic"/>
                        </a:defRPr>
                      </a:pPr>
                      <a:r>
                        <a:t>前年比</a:t>
                      </a:r>
                    </a:p>
                  </a:txBody>
                  <a:tcPr>
                    <a:solidFill>
                      <a:srgbClr val="FFFFFF"/>
                    </a:solidFill>
                  </a:tcPr>
                </a:tc>
                <a:tc>
                  <a:txBody>
                    <a:bodyPr/>
                    <a:lstStyle/>
                    <a:p>
                      <a:pPr>
                        <a:defRPr sz="1200">
                          <a:solidFill>
                            <a:srgbClr val="1C2230"/>
                          </a:solidFill>
                          <a:latin typeface="Yu Gothic"/>
                        </a:defRPr>
                      </a:pPr>
                      <a:r>
                        <a:t>3倍</a:t>
                      </a:r>
                    </a:p>
                  </a:txBody>
                  <a:tcPr>
                    <a:solidFill>
                      <a:srgbClr val="FFFFFF"/>
                    </a:solidFill>
                  </a:tcPr>
                </a:tc>
              </a:tr>
              <a:tr h="502920">
                <a:tc>
                  <a:txBody>
                    <a:bodyPr/>
                    <a:lstStyle/>
                    <a:p>
                      <a:pPr>
                        <a:defRPr sz="1200">
                          <a:solidFill>
                            <a:srgbClr val="1C2230"/>
                          </a:solidFill>
                          <a:latin typeface="Yu Gothic"/>
                        </a:defRPr>
                      </a:pPr>
                      <a:r>
                        <a:t>報道日</a:t>
                      </a:r>
                    </a:p>
                  </a:txBody>
                  <a:tcPr>
                    <a:solidFill>
                      <a:srgbClr val="F1F5FA"/>
                    </a:solidFill>
                  </a:tcPr>
                </a:tc>
                <a:tc>
                  <a:txBody>
                    <a:bodyPr/>
                    <a:lstStyle/>
                    <a:p>
                      <a:pPr>
                        <a:defRPr sz="1200">
                          <a:solidFill>
                            <a:srgbClr val="1C2230"/>
                          </a:solidFill>
                          <a:latin typeface="Yu Gothic"/>
                        </a:defRPr>
                      </a:pPr>
                      <a:r>
                        <a:t>2026年7月23日</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確認できなかったこと(一覧)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正直にお伝えします。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Googleの決算発表原文全体(WebFetchのアクセス制限により複数媒体経由の要約に基づく)</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正確な利用者数の内訳(地域別・年齢層別等)</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Geminiが実際に10億人に到達したかどうかの確定報道</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9.5億人 → 10億人へ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Geminiが、もう1つの『10億人アシスタント』になろうとしている</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今後の見通し(推測であることを明示)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10億人到達の続報を注視</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他社の対抗策に注目</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業界全体の競争が激化</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具体的な展開はまだ不明</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似たテーマとの違い(重複ではないことの確認)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79本目との違い</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対象企業・指標・情報源がいずれも異なる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本テーマの独自性</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複数のAIアシスタントが同時に迫る業界トレンドとして扱う</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既存テーマとの関係</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既存86テーマにこの切り口を扱ったものはない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 と 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確認できたこと</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9.5億人という数字・前年比3倍という成長率</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Google公式決算発表という情報源</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確認できなかったこと</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決算発表原文全体・利用者内訳</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10億人到達の確定報道</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今後注目したいポイント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視聴者の皆さんと一緒に注目したい点です。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Geminiが実際に10億人を突破するタイミング</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ChatGPT・Claudeとの競争がどう推移するか</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各社の次の決算発表での数字</a:t>
            </a:r>
          </a:p>
        </p:txBody>
      </p:sp>
      <p:sp>
        <p:nvSpPr>
          <p:cNvPr id="13" name="Oval 12"/>
          <p:cNvSpPr/>
          <p:nvPr/>
        </p:nvSpPr>
        <p:spPr>
          <a:xfrm>
            <a:off x="457200" y="445312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4" name="TextBox 13"/>
          <p:cNvSpPr txBox="1"/>
          <p:nvPr/>
        </p:nvSpPr>
        <p:spPr>
          <a:xfrm>
            <a:off x="960120" y="44348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具体的な展開はまだ不明</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Claudeの成長(参考)</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前年から急増</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Anthropic製Claudeも大きく利用者数を伸ばしている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fatjoe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3社の比較表(参考、確定値ではない項目を含む)</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3759098"/>
                <a:gridCol w="3759098"/>
                <a:gridCol w="3759099"/>
              </a:tblGrid>
              <a:tr h="502920">
                <a:tc>
                  <a:txBody>
                    <a:bodyPr/>
                    <a:lstStyle/>
                    <a:p>
                      <a:pPr>
                        <a:defRPr sz="1300" b="1">
                          <a:solidFill>
                            <a:srgbClr val="FFFFFF"/>
                          </a:solidFill>
                          <a:latin typeface="Yu Gothic"/>
                        </a:defRPr>
                      </a:pPr>
                      <a:r>
                        <a:t>AIアシスタント</a:t>
                      </a:r>
                    </a:p>
                  </a:txBody>
                  <a:tcPr>
                    <a:solidFill>
                      <a:srgbClr val="2B3A55"/>
                    </a:solidFill>
                  </a:tcPr>
                </a:tc>
                <a:tc>
                  <a:txBody>
                    <a:bodyPr/>
                    <a:lstStyle/>
                    <a:p>
                      <a:pPr>
                        <a:defRPr sz="1300" b="1">
                          <a:solidFill>
                            <a:srgbClr val="FFFFFF"/>
                          </a:solidFill>
                          <a:latin typeface="Yu Gothic"/>
                        </a:defRPr>
                      </a:pPr>
                      <a:r>
                        <a:t>提供元</a:t>
                      </a:r>
                    </a:p>
                  </a:txBody>
                  <a:tcPr>
                    <a:solidFill>
                      <a:srgbClr val="2B3A55"/>
                    </a:solidFill>
                  </a:tcPr>
                </a:tc>
                <a:tc>
                  <a:txBody>
                    <a:bodyPr/>
                    <a:lstStyle/>
                    <a:p>
                      <a:pPr>
                        <a:defRPr sz="1300" b="1">
                          <a:solidFill>
                            <a:srgbClr val="FFFFFF"/>
                          </a:solidFill>
                          <a:latin typeface="Yu Gothic"/>
                        </a:defRPr>
                      </a:pPr>
                      <a:r>
                        <a:t>報告されている規模感</a:t>
                      </a:r>
                    </a:p>
                  </a:txBody>
                  <a:tcPr>
                    <a:solidFill>
                      <a:srgbClr val="2B3A55"/>
                    </a:solidFill>
                  </a:tcPr>
                </a:tc>
              </a:tr>
              <a:tr h="502920">
                <a:tc>
                  <a:txBody>
                    <a:bodyPr/>
                    <a:lstStyle/>
                    <a:p>
                      <a:pPr>
                        <a:defRPr sz="1200">
                          <a:solidFill>
                            <a:srgbClr val="1C2230"/>
                          </a:solidFill>
                          <a:latin typeface="Yu Gothic"/>
                        </a:defRPr>
                      </a:pPr>
                      <a:r>
                        <a:t>ChatGPT</a:t>
                      </a:r>
                    </a:p>
                  </a:txBody>
                  <a:tcPr>
                    <a:solidFill>
                      <a:srgbClr val="FFFFFF"/>
                    </a:solidFill>
                  </a:tcPr>
                </a:tc>
                <a:tc>
                  <a:txBody>
                    <a:bodyPr/>
                    <a:lstStyle/>
                    <a:p>
                      <a:pPr>
                        <a:defRPr sz="1200">
                          <a:solidFill>
                            <a:srgbClr val="1C2230"/>
                          </a:solidFill>
                          <a:latin typeface="Yu Gothic"/>
                        </a:defRPr>
                      </a:pPr>
                      <a:r>
                        <a:t>OpenAI</a:t>
                      </a:r>
                    </a:p>
                  </a:txBody>
                  <a:tcPr>
                    <a:solidFill>
                      <a:srgbClr val="FFFFFF"/>
                    </a:solidFill>
                  </a:tcPr>
                </a:tc>
                <a:tc>
                  <a:txBody>
                    <a:bodyPr/>
                    <a:lstStyle/>
                    <a:p>
                      <a:pPr>
                        <a:defRPr sz="1200">
                          <a:solidFill>
                            <a:srgbClr val="1C2230"/>
                          </a:solidFill>
                          <a:latin typeface="Yu Gothic"/>
                        </a:defRPr>
                      </a:pPr>
                      <a:r>
                        <a:t>月間10億人規模(報道ベース)</a:t>
                      </a:r>
                    </a:p>
                  </a:txBody>
                  <a:tcPr>
                    <a:solidFill>
                      <a:srgbClr val="FFFFFF"/>
                    </a:solidFill>
                  </a:tcPr>
                </a:tc>
              </a:tr>
              <a:tr h="502920">
                <a:tc>
                  <a:txBody>
                    <a:bodyPr/>
                    <a:lstStyle/>
                    <a:p>
                      <a:pPr>
                        <a:defRPr sz="1200">
                          <a:solidFill>
                            <a:srgbClr val="1C2230"/>
                          </a:solidFill>
                          <a:latin typeface="Yu Gothic"/>
                        </a:defRPr>
                      </a:pPr>
                      <a:r>
                        <a:t>Gemini</a:t>
                      </a:r>
                    </a:p>
                  </a:txBody>
                  <a:tcPr>
                    <a:solidFill>
                      <a:srgbClr val="F1F5FA"/>
                    </a:solidFill>
                  </a:tcPr>
                </a:tc>
                <a:tc>
                  <a:txBody>
                    <a:bodyPr/>
                    <a:lstStyle/>
                    <a:p>
                      <a:pPr>
                        <a:defRPr sz="1200">
                          <a:solidFill>
                            <a:srgbClr val="1C2230"/>
                          </a:solidFill>
                          <a:latin typeface="Yu Gothic"/>
                        </a:defRPr>
                      </a:pPr>
                      <a:r>
                        <a:t>Google</a:t>
                      </a:r>
                    </a:p>
                  </a:txBody>
                  <a:tcPr>
                    <a:solidFill>
                      <a:srgbClr val="F1F5FA"/>
                    </a:solidFill>
                  </a:tcPr>
                </a:tc>
                <a:tc>
                  <a:txBody>
                    <a:bodyPr/>
                    <a:lstStyle/>
                    <a:p>
                      <a:pPr>
                        <a:defRPr sz="1200">
                          <a:solidFill>
                            <a:srgbClr val="1C2230"/>
                          </a:solidFill>
                          <a:latin typeface="Yu Gothic"/>
                        </a:defRPr>
                      </a:pPr>
                      <a:r>
                        <a:t>月間9.5億人超(公式発表)</a:t>
                      </a:r>
                    </a:p>
                  </a:txBody>
                  <a:tcPr>
                    <a:solidFill>
                      <a:srgbClr val="F1F5FA"/>
                    </a:solidFill>
                  </a:tcPr>
                </a:tc>
              </a:tr>
              <a:tr h="502920">
                <a:tc>
                  <a:txBody>
                    <a:bodyPr/>
                    <a:lstStyle/>
                    <a:p>
                      <a:pPr>
                        <a:defRPr sz="1200">
                          <a:solidFill>
                            <a:srgbClr val="1C2230"/>
                          </a:solidFill>
                          <a:latin typeface="Yu Gothic"/>
                        </a:defRPr>
                      </a:pPr>
                      <a:r>
                        <a:t>Claude</a:t>
                      </a:r>
                    </a:p>
                  </a:txBody>
                  <a:tcPr>
                    <a:solidFill>
                      <a:srgbClr val="FFFFFF"/>
                    </a:solidFill>
                  </a:tcPr>
                </a:tc>
                <a:tc>
                  <a:txBody>
                    <a:bodyPr/>
                    <a:lstStyle/>
                    <a:p>
                      <a:pPr>
                        <a:defRPr sz="1200">
                          <a:solidFill>
                            <a:srgbClr val="1C2230"/>
                          </a:solidFill>
                          <a:latin typeface="Yu Gothic"/>
                        </a:defRPr>
                      </a:pPr>
                      <a:r>
                        <a:t>Anthropic</a:t>
                      </a:r>
                    </a:p>
                  </a:txBody>
                  <a:tcPr>
                    <a:solidFill>
                      <a:srgbClr val="FFFFFF"/>
                    </a:solidFill>
                  </a:tcPr>
                </a:tc>
                <a:tc>
                  <a:txBody>
                    <a:bodyPr/>
                    <a:lstStyle/>
                    <a:p>
                      <a:pPr>
                        <a:defRPr sz="1200">
                          <a:solidFill>
                            <a:srgbClr val="1C2230"/>
                          </a:solidFill>
                          <a:latin typeface="Yu Gothic"/>
                        </a:defRPr>
                      </a:pPr>
                      <a:r>
                        <a:t>急成長中(具体的な最新値は本調査で未確認)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66960" cy="2560320"/>
          </a:xfrm>
          <a:prstGeom prst="rect">
            <a:avLst/>
          </a:prstGeom>
          <a:noFill/>
        </p:spPr>
        <p:txBody>
          <a:bodyPr wrap="square" anchor="ctr" lIns="0" rIns="0" tIns="0" bIns="0">
            <a:spAutoFit/>
          </a:bodyPr>
          <a:lstStyle/>
          <a:p>
            <a:pPr algn="l">
              <a:lnSpc>
                <a:spcPct val="125000"/>
              </a:lnSpc>
            </a:pPr>
            <a:r>
              <a:rPr sz="2800" b="1">
                <a:solidFill>
                  <a:srgbClr val="FFFFFF"/>
                </a:solidFill>
                <a:latin typeface="Yu Gothic"/>
              </a:rPr>
              <a:t>“Geminiの利用者数は、前年から3倍に増加した。”</a:t>
            </a:r>
          </a:p>
        </p:txBody>
      </p:sp>
      <p:sp>
        <p:nvSpPr>
          <p:cNvPr id="5" name="TextBox 4"/>
          <p:cNvSpPr txBox="1"/>
          <p:nvPr/>
        </p:nvSpPr>
        <p:spPr>
          <a:xfrm>
            <a:off x="1097280" y="4572000"/>
            <a:ext cx="9966960" cy="548640"/>
          </a:xfrm>
          <a:prstGeom prst="rect">
            <a:avLst/>
          </a:prstGeom>
          <a:noFill/>
        </p:spPr>
        <p:txBody>
          <a:bodyPr wrap="square" anchor="t" lIns="0" rIns="0" tIns="0" bIns="0">
            <a:spAutoFit/>
          </a:bodyPr>
          <a:lstStyle/>
          <a:p>
            <a:pPr algn="l"/>
            <a:r>
              <a:rPr sz="1600" b="0">
                <a:solidFill>
                  <a:srgbClr val="D3E4F5"/>
                </a:solidFill>
                <a:latin typeface="Yu Gothic"/>
              </a:rPr>
              <a:t>— Google 2026年第2四半期決算発表の趣旨(報道の要約)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AIアシスタント業界の変化</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11277295" cy="457200"/>
          </a:xfrm>
          <a:prstGeom prst="rect">
            <a:avLst/>
          </a:prstGeom>
          <a:noFill/>
        </p:spPr>
        <p:txBody>
          <a:bodyPr wrap="square" anchor="t" lIns="0" rIns="0" tIns="0" bIns="0">
            <a:spAutoFit/>
          </a:bodyPr>
          <a:lstStyle/>
          <a:p>
            <a:pPr algn="l"/>
            <a:r>
              <a:rPr sz="1600" b="0">
                <a:solidFill>
                  <a:srgbClr val="5A6474"/>
                </a:solidFill>
                <a:latin typeface="Yu Gothic"/>
              </a:rPr>
              <a:t>この話題から見える大きな流れです。</a:t>
            </a:r>
          </a:p>
        </p:txBody>
      </p:sp>
      <p:sp>
        <p:nvSpPr>
          <p:cNvPr id="7" name="Oval 6"/>
          <p:cNvSpPr/>
          <p:nvPr/>
        </p:nvSpPr>
        <p:spPr>
          <a:xfrm>
            <a:off x="457200" y="21214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8" name="TextBox 7"/>
          <p:cNvSpPr txBox="1"/>
          <p:nvPr/>
        </p:nvSpPr>
        <p:spPr>
          <a:xfrm>
            <a:off x="960120" y="21031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単一のAIアシスタントの時代から、複数社が並び立つ時代へ</a:t>
            </a:r>
          </a:p>
        </p:txBody>
      </p:sp>
      <p:sp>
        <p:nvSpPr>
          <p:cNvPr id="9" name="Oval 8"/>
          <p:cNvSpPr/>
          <p:nvPr/>
        </p:nvSpPr>
        <p:spPr>
          <a:xfrm>
            <a:off x="457200" y="28986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0" name="TextBox 9"/>
          <p:cNvSpPr txBox="1"/>
          <p:nvPr/>
        </p:nvSpPr>
        <p:spPr>
          <a:xfrm>
            <a:off x="960120" y="28803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各社が数億〜10億人規模のユーザー基盤を持つようになった</a:t>
            </a:r>
          </a:p>
        </p:txBody>
      </p:sp>
      <p:sp>
        <p:nvSpPr>
          <p:cNvPr id="11" name="Oval 10"/>
          <p:cNvSpPr/>
          <p:nvPr/>
        </p:nvSpPr>
        <p:spPr>
          <a:xfrm>
            <a:off x="457200" y="3675887"/>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2" name="TextBox 11"/>
          <p:cNvSpPr txBox="1"/>
          <p:nvPr/>
        </p:nvSpPr>
        <p:spPr>
          <a:xfrm>
            <a:off x="960120" y="365760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今後は利用者数だけでなく、収益化・機能面での競争が焦点になる可能性</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TechCrunch・Business Standard ほか(2026-07-23報道)｜定期実行87本目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28 / 30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最後に伝えたいこと</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9.5億人 → もう1つの10億人へ</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1つのAIだけでなく、複数のAIが同時に大規模化していることを記憶しておきたい</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10億人の座は、1つではないのかもしれない。</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出典付きで、正確に整理してお届けしました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