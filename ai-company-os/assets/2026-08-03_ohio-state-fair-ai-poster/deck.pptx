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優勝したポスターの星条旗、実は星の数が間違っていました。今日はこの話題を、出典付きで整理してお伝えします。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まず数字から。優勝作品には1,000ドルの賞金が贈られました。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ルール上は認められていたAI利用ですが、受賞をきっかけに大きな議論が起きました。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受賞から誤りの指摘、批判の拡大まで、短期間で話題が広がりました。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受賞は、着手日の4日前の出来事です。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コンテストの基本情報を整理しました。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受賞作には、AI特有の分かりやすいミスが含まれていました。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指摘された誤りを整理しました。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SNS上では、こうした厳しい声が多く上がりました。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39作品という応募の中から選ばれた1位でした。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この4段階を経て、地方局が一斉に報じるほどの話題になりました。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批判は、公平性と審査プロセスの両面に向けられています。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主催者は、ルール違反ではなかったとしつつも、今後の方針転換を発表しました。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どちらか一方に偏らず、両方の立場を公平にお伝えします。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主催者は、2027年からAI利用を禁止する方針を明らかにしました。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AI技術そのものへの評価ではなく、コンテストのルール整備という論点として中立に扱っています。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AIをどこまで創作の一部として認めるか、という境界の議論が今回の核心です。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似た過去の事例と混同しないよう、時期・場所を明確に区別しています。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この話題は、着手日の1〜4日前の出来事です。直近の話題として扱っています。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ここまでの内容を総括します。1つの受賞が、コンテストのルール見直しにまで発展しました。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関連する話題はありますが、切り口はそれぞれ異なります。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このコンテスト自体は、2024年に始まった比較的新しい取り組みでした。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最後にもう一度、主催者側の説明を振り返ります。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今回は、オハイオ州フェアのAI生成ポスター優勝騒動をお伝えしました。ご視聴ありがとうございました。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優勝したポスターの星条旗、星の数が間違っていた。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オハイオ州フェアのポスターコンテストでAI生成作品が優勝し炎上(2026年7月30日〜8月2日)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Fox8・NewsNation・NBC4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優勝賞金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1,000ドル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全39作品の中から選ばれたAI生成作品に贈られた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614NOW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受賞作の問題点</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SNSでの批判の広がり</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主催者の対応(2027年からのAI禁止)</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2026年7月30日の出来事のポイントです。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オハイオ州フェアのポスターコンテストで、AI生成作品が1位に選ばれた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コンテストのテーマは米国建国250周年を記念した愛国的なもの</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全39作品の中からの受賞だった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コンテストは2024年に開始、応募時の申告があればAI利用が認められていた</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受賞後、SNS上で大きな批判が起きた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Fox8・NBC4</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炎上までの流れ(概念図)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AI生成作品を応募</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審査で1位に選出(7/30)</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AI特有の誤りが指摘される</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SNSで批判が拡大</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受賞日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2026-07-30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着手日の4日前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Fox8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コンテストの概要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開始年</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2024年に開始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AI利用ルール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応募時に申告すれば使用可</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2026年のテーマ</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米国建国250周年を記念した愛国的なテーマ</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受賞作の問題点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指摘された具体的な誤りです。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星条旗の星の数が正しくない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星条旗の縞の数も正しくない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その他のラベル表記にも誤りがあったとされる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AI生成物によくある典型的なミスとして指摘された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614NOW・ABC6</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指摘されたAI生成物特有の誤り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箇所</a:t>
                      </a:r>
                    </a:p>
                  </a:txBody>
                  <a:tcPr>
                    <a:solidFill>
                      <a:srgbClr val="24523F"/>
                    </a:solidFill>
                  </a:tcPr>
                </a:tc>
                <a:tc>
                  <a:txBody>
                    <a:bodyPr/>
                    <a:lstStyle/>
                    <a:p>
                      <a:pPr>
                        <a:defRPr sz="1300" b="1">
                          <a:solidFill>
                            <a:srgbClr val="FFFFFF"/>
                          </a:solidFill>
                          <a:latin typeface="Yu Gothic"/>
                        </a:defRPr>
                      </a:pPr>
                      <a:r>
                        <a:t>指摘内容</a:t>
                      </a:r>
                    </a:p>
                  </a:txBody>
                  <a:tcPr>
                    <a:solidFill>
                      <a:srgbClr val="24523F"/>
                    </a:solidFill>
                  </a:tcPr>
                </a:tc>
              </a:tr>
              <a:tr h="502920">
                <a:tc>
                  <a:txBody>
                    <a:bodyPr/>
                    <a:lstStyle/>
                    <a:p>
                      <a:pPr>
                        <a:defRPr sz="1200">
                          <a:solidFill>
                            <a:srgbClr val="20261F"/>
                          </a:solidFill>
                          <a:latin typeface="Yu Gothic"/>
                        </a:defRPr>
                      </a:pPr>
                      <a:r>
                        <a:t>星条旗の星の数</a:t>
                      </a:r>
                    </a:p>
                  </a:txBody>
                  <a:tcPr>
                    <a:solidFill>
                      <a:srgbClr val="FFFFFF"/>
                    </a:solidFill>
                  </a:tcPr>
                </a:tc>
                <a:tc>
                  <a:txBody>
                    <a:bodyPr/>
                    <a:lstStyle/>
                    <a:p>
                      <a:pPr>
                        <a:defRPr sz="1200">
                          <a:solidFill>
                            <a:srgbClr val="20261F"/>
                          </a:solidFill>
                          <a:latin typeface="Yu Gothic"/>
                        </a:defRPr>
                      </a:pPr>
                      <a:r>
                        <a:t>実際の数と異なる</a:t>
                      </a:r>
                    </a:p>
                  </a:txBody>
                  <a:tcPr>
                    <a:solidFill>
                      <a:srgbClr val="FFFFFF"/>
                    </a:solidFill>
                  </a:tcPr>
                </a:tc>
              </a:tr>
              <a:tr h="502920">
                <a:tc>
                  <a:txBody>
                    <a:bodyPr/>
                    <a:lstStyle/>
                    <a:p>
                      <a:pPr>
                        <a:defRPr sz="1200">
                          <a:solidFill>
                            <a:srgbClr val="20261F"/>
                          </a:solidFill>
                          <a:latin typeface="Yu Gothic"/>
                        </a:defRPr>
                      </a:pPr>
                      <a:r>
                        <a:t>星条旗の縞の数</a:t>
                      </a:r>
                    </a:p>
                  </a:txBody>
                  <a:tcPr>
                    <a:solidFill>
                      <a:srgbClr val="F4F1E6"/>
                    </a:solidFill>
                  </a:tcPr>
                </a:tc>
                <a:tc>
                  <a:txBody>
                    <a:bodyPr/>
                    <a:lstStyle/>
                    <a:p>
                      <a:pPr>
                        <a:defRPr sz="1200">
                          <a:solidFill>
                            <a:srgbClr val="20261F"/>
                          </a:solidFill>
                          <a:latin typeface="Yu Gothic"/>
                        </a:defRPr>
                      </a:pPr>
                      <a:r>
                        <a:t>実際の数と異なる</a:t>
                      </a:r>
                    </a:p>
                  </a:txBody>
                  <a:tcPr>
                    <a:solidFill>
                      <a:srgbClr val="F4F1E6"/>
                    </a:solidFill>
                  </a:tcPr>
                </a:tc>
              </a:tr>
              <a:tr h="502920">
                <a:tc>
                  <a:txBody>
                    <a:bodyPr/>
                    <a:lstStyle/>
                    <a:p>
                      <a:pPr>
                        <a:defRPr sz="1200">
                          <a:solidFill>
                            <a:srgbClr val="20261F"/>
                          </a:solidFill>
                          <a:latin typeface="Yu Gothic"/>
                        </a:defRPr>
                      </a:pPr>
                      <a:r>
                        <a:t>その他のラベル表記</a:t>
                      </a:r>
                    </a:p>
                  </a:txBody>
                  <a:tcPr>
                    <a:solidFill>
                      <a:srgbClr val="FFFFFF"/>
                    </a:solidFill>
                  </a:tcPr>
                </a:tc>
                <a:tc>
                  <a:txBody>
                    <a:bodyPr/>
                    <a:lstStyle/>
                    <a:p>
                      <a:pPr>
                        <a:defRPr sz="1200">
                          <a:solidFill>
                            <a:srgbClr val="20261F"/>
                          </a:solidFill>
                          <a:latin typeface="Yu Gothic"/>
                        </a:defRPr>
                      </a:pPr>
                      <a:r>
                        <a:t>細部に誤りがあるとされる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“AIに、美術コンテストの居場所はない。”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SNS上の批判の趣旨(報道の要約)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応募総数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39作品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この中からAI生成作品が1位に選ばれた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614NOW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炎上の広がり方(概念)</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受賞発表</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誤りに気づいた人が指摘</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SNSで拡散</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地方局が一斉に報道</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SNSでの批判の内容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報道で紹介されている批判の主な論点です。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努力してきた人間のアーティストに対して不公平だという指摘</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審査プロセスがAI生成物を見抜けなかったことへの疑問</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『AI生成物特有のミス』が入賞してしまったことへの皮肉</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伝統的な美術コンテストの意義が問われているという論調</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614NOW・ABC6</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主催者の対応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現状のルール確認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応募時の申告があればAI利用は違反ではなかった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認識の変化への言及</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『AIの利用状況はここ数年で大きく変化した』とコメント</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2027年からの方針</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ポスターコンテストでのAI利用を禁止する方針を発表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批判する声 と 主催者側の説明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批判する声</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人間の努力への不公平感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審査プロセスへの疑問</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主催者側の説明</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現行ルール上は違反ではなかった</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2027年からルールを見直す</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方針転換の時期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2027年から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ポスターコンテストでのAI利用を禁止する方針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Fox8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本テーマの中立性についての開示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本テーマの取り扱い方についてです。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AI技術そのものを否定する内容ではない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コンテストの審査プロセス・ルール整備という論点として扱っている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受賞者個人への人格攻撃的な表現は使用していない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特定のAIツール・企業名への言及は避けている(報道でも特定されていない)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AIと創作活動の境界(概念図)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AIを道具として使う創作</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AIが完全に生成する創作</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この境界の扱いが議論の的</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コンテストごとにルールが分かれる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似た事例との違い(混同回避)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事例</a:t>
                      </a:r>
                    </a:p>
                  </a:txBody>
                  <a:tcPr>
                    <a:solidFill>
                      <a:srgbClr val="24523F"/>
                    </a:solidFill>
                  </a:tcPr>
                </a:tc>
                <a:tc>
                  <a:txBody>
                    <a:bodyPr/>
                    <a:lstStyle/>
                    <a:p>
                      <a:pPr>
                        <a:defRPr sz="1300" b="1">
                          <a:solidFill>
                            <a:srgbClr val="FFFFFF"/>
                          </a:solidFill>
                          <a:latin typeface="Yu Gothic"/>
                        </a:defRPr>
                      </a:pPr>
                      <a:r>
                        <a:t>時期・場所</a:t>
                      </a:r>
                    </a:p>
                  </a:txBody>
                  <a:tcPr>
                    <a:solidFill>
                      <a:srgbClr val="24523F"/>
                    </a:solidFill>
                  </a:tcPr>
                </a:tc>
                <a:tc>
                  <a:txBody>
                    <a:bodyPr/>
                    <a:lstStyle/>
                    <a:p>
                      <a:pPr>
                        <a:defRPr sz="1300" b="1">
                          <a:solidFill>
                            <a:srgbClr val="FFFFFF"/>
                          </a:solidFill>
                          <a:latin typeface="Yu Gothic"/>
                        </a:defRPr>
                      </a:pPr>
                      <a:r>
                        <a:t>本テーマとの関係</a:t>
                      </a:r>
                    </a:p>
                  </a:txBody>
                  <a:tcPr>
                    <a:solidFill>
                      <a:srgbClr val="24523F"/>
                    </a:solidFill>
                  </a:tcPr>
                </a:tc>
              </a:tr>
              <a:tr h="502920">
                <a:tc>
                  <a:txBody>
                    <a:bodyPr/>
                    <a:lstStyle/>
                    <a:p>
                      <a:pPr>
                        <a:defRPr sz="1200">
                          <a:solidFill>
                            <a:srgbClr val="20261F"/>
                          </a:solidFill>
                          <a:latin typeface="Yu Gothic"/>
                        </a:defRPr>
                      </a:pPr>
                      <a:r>
                        <a:t>コロラド州フェア(Jason Allen氏)</a:t>
                      </a:r>
                    </a:p>
                  </a:txBody>
                  <a:tcPr>
                    <a:solidFill>
                      <a:srgbClr val="FFFFFF"/>
                    </a:solidFill>
                  </a:tcPr>
                </a:tc>
                <a:tc>
                  <a:txBody>
                    <a:bodyPr/>
                    <a:lstStyle/>
                    <a:p>
                      <a:pPr>
                        <a:defRPr sz="1200">
                          <a:solidFill>
                            <a:srgbClr val="20261F"/>
                          </a:solidFill>
                          <a:latin typeface="Yu Gothic"/>
                        </a:defRPr>
                      </a:pPr>
                      <a:r>
                        <a:t>2022年、コロラド州</a:t>
                      </a:r>
                    </a:p>
                  </a:txBody>
                  <a:tcPr>
                    <a:solidFill>
                      <a:srgbClr val="FFFFFF"/>
                    </a:solidFill>
                  </a:tcPr>
                </a:tc>
                <a:tc>
                  <a:txBody>
                    <a:bodyPr/>
                    <a:lstStyle/>
                    <a:p>
                      <a:pPr>
                        <a:defRPr sz="1200">
                          <a:solidFill>
                            <a:srgbClr val="20261F"/>
                          </a:solidFill>
                          <a:latin typeface="Yu Gothic"/>
                        </a:defRPr>
                      </a:pPr>
                      <a:r>
                        <a:t>本テーマとは別の、より古い先行事例</a:t>
                      </a:r>
                    </a:p>
                  </a:txBody>
                  <a:tcPr>
                    <a:solidFill>
                      <a:srgbClr val="FFFFFF"/>
                    </a:solidFill>
                  </a:tcPr>
                </a:tc>
              </a:tr>
              <a:tr h="502920">
                <a:tc>
                  <a:txBody>
                    <a:bodyPr/>
                    <a:lstStyle/>
                    <a:p>
                      <a:pPr>
                        <a:defRPr sz="1200">
                          <a:solidFill>
                            <a:srgbClr val="20261F"/>
                          </a:solidFill>
                          <a:latin typeface="Yu Gothic"/>
                        </a:defRPr>
                      </a:pPr>
                      <a:r>
                        <a:t>本テーマ</a:t>
                      </a:r>
                    </a:p>
                  </a:txBody>
                  <a:tcPr>
                    <a:solidFill>
                      <a:srgbClr val="F4F1E6"/>
                    </a:solidFill>
                  </a:tcPr>
                </a:tc>
                <a:tc>
                  <a:txBody>
                    <a:bodyPr/>
                    <a:lstStyle/>
                    <a:p>
                      <a:pPr>
                        <a:defRPr sz="1200">
                          <a:solidFill>
                            <a:srgbClr val="20261F"/>
                          </a:solidFill>
                          <a:latin typeface="Yu Gothic"/>
                        </a:defRPr>
                      </a:pPr>
                      <a:r>
                        <a:t>2026年、オハイオ州</a:t>
                      </a:r>
                    </a:p>
                  </a:txBody>
                  <a:tcPr>
                    <a:solidFill>
                      <a:srgbClr val="F4F1E6"/>
                    </a:solidFill>
                  </a:tcPr>
                </a:tc>
                <a:tc>
                  <a:txBody>
                    <a:bodyPr/>
                    <a:lstStyle/>
                    <a:p>
                      <a:pPr>
                        <a:defRPr sz="1200">
                          <a:solidFill>
                            <a:srgbClr val="20261F"/>
                          </a:solidFill>
                          <a:latin typeface="Yu Gothic"/>
                        </a:defRPr>
                      </a:pPr>
                      <a:r>
                        <a:t>今回新たに起きた出来事</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受賞は2026年7月30日、着手日(2026-08-03)の4日前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炎上・方針発表の報道は8月1日〜2日、着手日の1〜2日前</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受賞者本人のコメント等は本ラウンドの調査時点では確認できていない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1,000ドル → 炎上 → ルール改定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AI生成作品の受賞が、コンテストのルール見直しにまで発展した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2027年ルールの詳細を注視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他の美術コンテストへの波及</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AI利用ルールの議論が広がる可能性</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具体的な展開はまだ不明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82本目との違い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82本目はPR業界のAIなりすまし問題、本テーマは美術コンテストの審査ルール問題</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本テーマの独自性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AIとクリエイティブ・コンテストをめぐる論争を正面から扱う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既存テーマとの関係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既存85テーマにこの切り口を扱ったものはない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 と 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確認できたこと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受賞の経緯・指摘された誤り・主催者の方針</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SNSでの批判の内容</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確認できなかったこと</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受賞者本人の氏名・コメント</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批判・肯定の正確な比率</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オハイオ州フェア公式声明の原文全体(WebFetchのアクセス制限により複数媒体経由の要約に基づく)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受賞者(応募者)本人の氏名・具体的な申告内容</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批判的な反応と肯定的な反応の正確な比率</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コンテストの歴史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2024年開始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AI利用を申告制で認めていた、比較的新しいコンテスト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614NOW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本テーマのまとめ表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コンテスト</a:t>
                      </a:r>
                    </a:p>
                  </a:txBody>
                  <a:tcPr>
                    <a:solidFill>
                      <a:srgbClr val="FFFFFF"/>
                    </a:solidFill>
                  </a:tcPr>
                </a:tc>
                <a:tc>
                  <a:txBody>
                    <a:bodyPr/>
                    <a:lstStyle/>
                    <a:p>
                      <a:pPr>
                        <a:defRPr sz="1200">
                          <a:solidFill>
                            <a:srgbClr val="20261F"/>
                          </a:solidFill>
                          <a:latin typeface="Yu Gothic"/>
                        </a:defRPr>
                      </a:pPr>
                      <a:r>
                        <a:t>オハイオ州フェア・ポスターコンテスト</a:t>
                      </a:r>
                    </a:p>
                  </a:txBody>
                  <a:tcPr>
                    <a:solidFill>
                      <a:srgbClr val="FFFFFF"/>
                    </a:solidFill>
                  </a:tcPr>
                </a:tc>
              </a:tr>
              <a:tr h="502920">
                <a:tc>
                  <a:txBody>
                    <a:bodyPr/>
                    <a:lstStyle/>
                    <a:p>
                      <a:pPr>
                        <a:defRPr sz="1200">
                          <a:solidFill>
                            <a:srgbClr val="20261F"/>
                          </a:solidFill>
                          <a:latin typeface="Yu Gothic"/>
                        </a:defRPr>
                      </a:pPr>
                      <a:r>
                        <a:t>受賞日</a:t>
                      </a:r>
                    </a:p>
                  </a:txBody>
                  <a:tcPr>
                    <a:solidFill>
                      <a:srgbClr val="F4F1E6"/>
                    </a:solidFill>
                  </a:tcPr>
                </a:tc>
                <a:tc>
                  <a:txBody>
                    <a:bodyPr/>
                    <a:lstStyle/>
                    <a:p>
                      <a:pPr>
                        <a:defRPr sz="1200">
                          <a:solidFill>
                            <a:srgbClr val="20261F"/>
                          </a:solidFill>
                          <a:latin typeface="Yu Gothic"/>
                        </a:defRPr>
                      </a:pPr>
                      <a:r>
                        <a:t>2026年7月30日</a:t>
                      </a:r>
                    </a:p>
                  </a:txBody>
                  <a:tcPr>
                    <a:solidFill>
                      <a:srgbClr val="F4F1E6"/>
                    </a:solidFill>
                  </a:tcPr>
                </a:tc>
              </a:tr>
              <a:tr h="502920">
                <a:tc>
                  <a:txBody>
                    <a:bodyPr/>
                    <a:lstStyle/>
                    <a:p>
                      <a:pPr>
                        <a:defRPr sz="1200">
                          <a:solidFill>
                            <a:srgbClr val="20261F"/>
                          </a:solidFill>
                          <a:latin typeface="Yu Gothic"/>
                        </a:defRPr>
                      </a:pPr>
                      <a:r>
                        <a:t>賞金</a:t>
                      </a:r>
                    </a:p>
                  </a:txBody>
                  <a:tcPr>
                    <a:solidFill>
                      <a:srgbClr val="FFFFFF"/>
                    </a:solidFill>
                  </a:tcPr>
                </a:tc>
                <a:tc>
                  <a:txBody>
                    <a:bodyPr/>
                    <a:lstStyle/>
                    <a:p>
                      <a:pPr>
                        <a:defRPr sz="1200">
                          <a:solidFill>
                            <a:srgbClr val="20261F"/>
                          </a:solidFill>
                          <a:latin typeface="Yu Gothic"/>
                        </a:defRPr>
                      </a:pPr>
                      <a:r>
                        <a:t>1,000ドル</a:t>
                      </a:r>
                    </a:p>
                  </a:txBody>
                  <a:tcPr>
                    <a:solidFill>
                      <a:srgbClr val="FFFFFF"/>
                    </a:solidFill>
                  </a:tcPr>
                </a:tc>
              </a:tr>
              <a:tr h="502920">
                <a:tc>
                  <a:txBody>
                    <a:bodyPr/>
                    <a:lstStyle/>
                    <a:p>
                      <a:pPr>
                        <a:defRPr sz="1200">
                          <a:solidFill>
                            <a:srgbClr val="20261F"/>
                          </a:solidFill>
                          <a:latin typeface="Yu Gothic"/>
                        </a:defRPr>
                      </a:pPr>
                      <a:r>
                        <a:t>主催者の対応</a:t>
                      </a:r>
                    </a:p>
                  </a:txBody>
                  <a:tcPr>
                    <a:solidFill>
                      <a:srgbClr val="F4F1E6"/>
                    </a:solidFill>
                  </a:tcPr>
                </a:tc>
                <a:tc>
                  <a:txBody>
                    <a:bodyPr/>
                    <a:lstStyle/>
                    <a:p>
                      <a:pPr>
                        <a:defRPr sz="1200">
                          <a:solidFill>
                            <a:srgbClr val="20261F"/>
                          </a:solidFill>
                          <a:latin typeface="Yu Gothic"/>
                        </a:defRPr>
                      </a:pPr>
                      <a:r>
                        <a:t>2027年からAI利用を禁止する方針</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“AIの利用状況はここ数年で大きく変化した。”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オハイオ州フェア主催者側の説明(報道の要約)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2027年からの具体的なルール内容</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他の美術コンテスト・州フェアへの波及</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AIと創作活動をめぐる議論が今後どう広がるか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具体的な展開はまだ不明</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Fox8・NewsNation・NBC4 ほか(2026-07-30〜08-02報道)｜定期実行86本目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審査員も気づかなかったAIの『間違い』。あなたなら見抜けましたか。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出典付きで、公平に整理してお届けしました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