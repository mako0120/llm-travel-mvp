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iboが2026年8月19日、2026年第2四半期決算を発表しました。総売上高は名目で前年比2%増、調整後EPSは市場予想を上回りましたが、為替の影響を除くと売上高は実は4%減です。今日はこの見出しの裏側を、出典付きで正直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結論から確認します。Weiboの総売上高は名目で前年比2%増ですが、為替の影響を除いた定額為替ベースでは4%減です。調整後EPSは市場予想を上回りましたが、営業利益率は前年の33%から26%へ縮小しています。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今日は6つの流れでお伝えします。決算の主要指標から、見出しと実態の食い違い、AI活用の状況まで、正確に数字を引用しながら整理します。誇張せず、確認できなかったことは正直にお伝えします。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このテーマを扱う理由です。着手日当日という最も高い鮮度に加え、増収の見出しと実態の食い違い、営業利益率の縮小という隠れがちな事実に注目しました。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Weiboは中国発のSNSプラットフォームで、米国NASDAQに上場しています。収益の柱は広告収入とVAS収入で、AIを活用した広告のターゲティングやクリエイティブ生成にも取り組んでいます。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2026年Q2の主要指標です。総売上高は名目で2%増ですが定額為替ベースでは4%減、広告収入は1%減、VAS収入は19%増、調整後EPSは市場予想を上回る一方、営業利益率は縮小しています。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名目上の2%増収は、主に人民元高による為替換算効果によるものです。定額為替ベースで見ると、売上高は実質4%減少しています。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定額為替ベースで見ると、Weiboの売上高は実質4%減少しています。名目の2%増との差は主に為替換算効果によるものです。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Weibo自身は名目の増収を前面に出していますが、24/7 Wall St.は為替を除いた実態の減収を指摘しています。本テーマでは両方の数字を必ず併記します。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Weibo公式の見せ方と独立分析の指摘を対比しました。金額自体に食い違いはなく、為替の扱い方によって『増収』にも『減収』にも見えるという構図です。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セグメント別の状況です。広告収入は減少していますが、VAS収入は19%増加しており、増収の一部を下支えしています。営業利益率は縮小しています。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VAS収入は19%増加しており、広告収入の減少を一部下支えしています。ただし具体的な内訳までは確認できていません。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VAS収入は前年同期比19%増と、決算の中でも数少ない明確なプラス要因です。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決算数字の見せ方の流れを図にしました。名目の+2%から為替換算効果を除くと、実態は4%減という数字が浮かび上がります。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2026年Q2決算を3ステップで総括しました。名目の増収から、為替を除いた実態の減収、そして営業利益率の縮小という流れです。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AIは広告のターゲティングやクリエイティブ生成に既に活用されていますが、大規模な収益化はまだ試験段階だと経営陣自身が説明しています。誇張せず正確に扱います。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AIによる大規模な収益化は、まだ試験段階だと経営陣自身が説明しています。断定的な成果は確認できていません。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MAUは5億6,100万人、DAUは2億5,400万人です。前四半期からわずかに減少しており、この状況下でAIを活用したユーザー体験の最適化に注力しています。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ユーザー指標と財務指標のまとめです。MAU・DAUともに前四半期からわずかに減少していますが、現金保有額は26億4,000万ドルと厚みがあります。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営業利益率は33%から26%へ縮小しており、収益性の観点で重要な事実です。ただし縮小の具体的な要因までは確認できていません。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営業利益率は前年の33%から26%へ、7ポイント縮小しています。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調整後EPSが予想を上回ったことと、営業利益率が縮小していることは、矛盾する事実ではなく両方とも成立します。片方だけを見て評価しないことが重要です。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広告収入とVAS収入の明暗を対比しました。広告収入は減少していますが、VAS収入は大きく伸びています。ただし全体に占める割合は広告収入の方が大きい点に留意が必要です。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2026年6月30日時点で、Weiboは26億4,000万ドルの現金・現金同等物・短期投資を保有しています。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経営陣は携帯電話・オンラインゲーム分野の広告需要の弱さに言及しつつ、レコメンドフィード・動画関連機能への投資継続を今後の重点方針として掲げています。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確認できなかったことを正直にお伝えします。VAS収入の内訳、営業利益率縮小の要因、AI活用の具体的な収益貢献額は確認できていません。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今回の決算の要点をまとめました。名目の増収、為替を除いた実態の減収、予想を上回った調整後EPS、そして縮小した営業利益率という4点です。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このニュースが読者にとって意味することをまとめました。決算分析に関心がある立場、中国テック企業の動向を追う立場、投資を検討する立場、それぞれで意識したい視点です。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まとめです。名目の増収の裏にある為替換算効果、営業利益率の縮小、そしてAI活用の現状を正直にお伝えしました。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Weiboの2026年Q2決算について、見出しの数字と実態の食い違いまで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『予想超え』の見出しは</a:t>
            </a:r>
          </a:p>
          <a:p>
            <a:pPr algn="l">
              <a:lnSpc>
                <a:spcPct val="115000"/>
              </a:lnSpc>
            </a:pPr>
            <a:r>
              <a:rPr sz="4200" b="1">
                <a:solidFill>
                  <a:srgbClr val="FFFFFF"/>
                </a:solidFill>
                <a:latin typeface="Yu Gothic"/>
              </a:rPr>
              <a:t>本当か。</a:t>
            </a:r>
          </a:p>
          <a:p>
            <a:pPr algn="l">
              <a:lnSpc>
                <a:spcPct val="115000"/>
              </a:lnSpc>
            </a:pPr>
            <a:r>
              <a:rPr sz="4200" b="1">
                <a:solidFill>
                  <a:srgbClr val="FFFFFF"/>
                </a:solidFill>
                <a:latin typeface="Yu Gothic"/>
              </a:rPr>
              <a:t>Weibo決算の裏側を暴く</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CE6F5"/>
                </a:solidFill>
                <a:latin typeface="Yu Gothic"/>
              </a:rPr>
              <a:t>2026年8月19日発表——名目+2%増収の裏で、定額為替ベースは4%減収</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C0D8"/>
                </a:solidFill>
                <a:latin typeface="Yu Gothic"/>
              </a:rPr>
              <a:t>出典: PR Newswire・24/7 Wall St.・StockTitan(2026年8月19日)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名目+2%増収、定額為替ベースは4%減収</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調整後EPSは0.38ドルで市場予想を上回るが、営業利益率は33%→26%へ縮小</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PR Newswire・24/7 Wall St.(2026-08-19)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CE6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CE6F5"/>
                </a:solidFill>
                <a:latin typeface="Yu Gothic"/>
              </a:rPr>
              <a:t>Weiboとは・基礎知識</a:t>
            </a:r>
          </a:p>
        </p:txBody>
      </p:sp>
      <p:sp>
        <p:nvSpPr>
          <p:cNvPr id="9" name="Oval 8"/>
          <p:cNvSpPr/>
          <p:nvPr/>
        </p:nvSpPr>
        <p:spPr>
          <a:xfrm>
            <a:off x="548640" y="347472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CE6F5"/>
                </a:solidFill>
                <a:latin typeface="Yu Gothic"/>
              </a:rPr>
              <a:t>決算の主要指標を確認する</a:t>
            </a:r>
          </a:p>
        </p:txBody>
      </p:sp>
      <p:sp>
        <p:nvSpPr>
          <p:cNvPr id="11" name="Oval 10"/>
          <p:cNvSpPr/>
          <p:nvPr/>
        </p:nvSpPr>
        <p:spPr>
          <a:xfrm>
            <a:off x="548640" y="425196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CE6F5"/>
                </a:solidFill>
                <a:latin typeface="Yu Gothic"/>
              </a:rPr>
              <a:t>『増収の見出し』と『為替除く実態』の食い違いを確認する</a:t>
            </a:r>
          </a:p>
        </p:txBody>
      </p:sp>
      <p:sp>
        <p:nvSpPr>
          <p:cNvPr id="13" name="Oval 12"/>
          <p:cNvSpPr/>
          <p:nvPr/>
        </p:nvSpPr>
        <p:spPr>
          <a:xfrm>
            <a:off x="548640" y="502920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CE6F5"/>
                </a:solidFill>
                <a:latin typeface="Yu Gothic"/>
              </a:rPr>
              <a:t>AI活用の状況を確認する</a:t>
            </a:r>
          </a:p>
        </p:txBody>
      </p:sp>
      <p:sp>
        <p:nvSpPr>
          <p:cNvPr id="15" name="Oval 14"/>
          <p:cNvSpPr/>
          <p:nvPr/>
        </p:nvSpPr>
        <p:spPr>
          <a:xfrm>
            <a:off x="548640" y="58064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CE6F5"/>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着手日当日(2026年8月19日)発表という最も高い鮮度の話題である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『名目増収・予想超え』という見出しと、『為替除くと4%減収』という実態の食い違いがある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営業利益率が33%から26%へ縮小しているという、増収報道の陰に隠れがちな事実がある</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複数の独立した情報源(PR Newswire・24/7 Wall St.・StockTitan等)で確認できる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PR Newswire・24/7 Wall St.(2026-08-19)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PR Newswire・24/7 Wall St.・StockTitan(2026-08-19)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Weiboとは</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基礎知識を簡単に整理します。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中国発のソーシャルメディア(SNS)プラットフォーム</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米国NASDAQ上場(銘柄コードWB)</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収益の柱は広告・マーケティング収入とVAS(付加価値サービス)収入</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AIを活用した広告のターゲティング・入札・クリエイティブ生成に取り組んでいる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PR Newswire・Seeking Alpha(2026-08-19)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PR Newswire・24/7 Wall St.・StockTitan(2026-08-19)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2026年Q2 主要指標</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指標</a:t>
                      </a:r>
                    </a:p>
                  </a:txBody>
                  <a:tcPr>
                    <a:solidFill>
                      <a:srgbClr val="1B3A5C"/>
                    </a:solidFill>
                  </a:tcPr>
                </a:tc>
                <a:tc>
                  <a:txBody>
                    <a:bodyPr/>
                    <a:lstStyle/>
                    <a:p>
                      <a:pPr>
                        <a:defRPr sz="1300" b="1">
                          <a:solidFill>
                            <a:srgbClr val="FFFFFF"/>
                          </a:solidFill>
                          <a:latin typeface="Yu Gothic"/>
                        </a:defRPr>
                      </a:pPr>
                      <a:r>
                        <a:t>2026年Q2(前年同期比)</a:t>
                      </a:r>
                    </a:p>
                  </a:txBody>
                  <a:tcPr>
                    <a:solidFill>
                      <a:srgbClr val="1B3A5C"/>
                    </a:solidFill>
                  </a:tcPr>
                </a:tc>
              </a:tr>
              <a:tr h="502920">
                <a:tc>
                  <a:txBody>
                    <a:bodyPr/>
                    <a:lstStyle/>
                    <a:p>
                      <a:pPr>
                        <a:defRPr sz="1200">
                          <a:solidFill>
                            <a:srgbClr val="16202E"/>
                          </a:solidFill>
                          <a:latin typeface="Yu Gothic"/>
                        </a:defRPr>
                      </a:pPr>
                      <a:r>
                        <a:t>総売上高</a:t>
                      </a:r>
                    </a:p>
                  </a:txBody>
                  <a:tcPr>
                    <a:solidFill>
                      <a:srgbClr val="FFFFFF"/>
                    </a:solidFill>
                  </a:tcPr>
                </a:tc>
                <a:tc>
                  <a:txBody>
                    <a:bodyPr/>
                    <a:lstStyle/>
                    <a:p>
                      <a:pPr>
                        <a:defRPr sz="1200">
                          <a:solidFill>
                            <a:srgbClr val="16202E"/>
                          </a:solidFill>
                          <a:latin typeface="Yu Gothic"/>
                        </a:defRPr>
                      </a:pPr>
                      <a:r>
                        <a:t>4億5,380万ドル(名目+2% / 定額為替ベース▲4%)</a:t>
                      </a:r>
                    </a:p>
                  </a:txBody>
                  <a:tcPr>
                    <a:solidFill>
                      <a:srgbClr val="FFFFFF"/>
                    </a:solidFill>
                  </a:tcPr>
                </a:tc>
              </a:tr>
              <a:tr h="502920">
                <a:tc>
                  <a:txBody>
                    <a:bodyPr/>
                    <a:lstStyle/>
                    <a:p>
                      <a:pPr>
                        <a:defRPr sz="1200">
                          <a:solidFill>
                            <a:srgbClr val="16202E"/>
                          </a:solidFill>
                          <a:latin typeface="Yu Gothic"/>
                        </a:defRPr>
                      </a:pPr>
                      <a:r>
                        <a:t>広告・マーケティング収入</a:t>
                      </a:r>
                    </a:p>
                  </a:txBody>
                  <a:tcPr>
                    <a:solidFill>
                      <a:srgbClr val="F2F6FA"/>
                    </a:solidFill>
                  </a:tcPr>
                </a:tc>
                <a:tc>
                  <a:txBody>
                    <a:bodyPr/>
                    <a:lstStyle/>
                    <a:p>
                      <a:pPr>
                        <a:defRPr sz="1200">
                          <a:solidFill>
                            <a:srgbClr val="16202E"/>
                          </a:solidFill>
                          <a:latin typeface="Yu Gothic"/>
                        </a:defRPr>
                      </a:pPr>
                      <a:r>
                        <a:t>3億8,100万ドル(▲1%)</a:t>
                      </a:r>
                    </a:p>
                  </a:txBody>
                  <a:tcPr>
                    <a:solidFill>
                      <a:srgbClr val="F2F6FA"/>
                    </a:solidFill>
                  </a:tcPr>
                </a:tc>
              </a:tr>
              <a:tr h="502920">
                <a:tc>
                  <a:txBody>
                    <a:bodyPr/>
                    <a:lstStyle/>
                    <a:p>
                      <a:pPr>
                        <a:defRPr sz="1200">
                          <a:solidFill>
                            <a:srgbClr val="16202E"/>
                          </a:solidFill>
                          <a:latin typeface="Yu Gothic"/>
                        </a:defRPr>
                      </a:pPr>
                      <a:r>
                        <a:t>VAS収入</a:t>
                      </a:r>
                    </a:p>
                  </a:txBody>
                  <a:tcPr>
                    <a:solidFill>
                      <a:srgbClr val="FFFFFF"/>
                    </a:solidFill>
                  </a:tcPr>
                </a:tc>
                <a:tc>
                  <a:txBody>
                    <a:bodyPr/>
                    <a:lstStyle/>
                    <a:p>
                      <a:pPr>
                        <a:defRPr sz="1200">
                          <a:solidFill>
                            <a:srgbClr val="16202E"/>
                          </a:solidFill>
                          <a:latin typeface="Yu Gothic"/>
                        </a:defRPr>
                      </a:pPr>
                      <a:r>
                        <a:t>7,290万ドル(+19%)</a:t>
                      </a:r>
                    </a:p>
                  </a:txBody>
                  <a:tcPr>
                    <a:solidFill>
                      <a:srgbClr val="FFFFFF"/>
                    </a:solidFill>
                  </a:tcPr>
                </a:tc>
              </a:tr>
              <a:tr h="502920">
                <a:tc>
                  <a:txBody>
                    <a:bodyPr/>
                    <a:lstStyle/>
                    <a:p>
                      <a:pPr>
                        <a:defRPr sz="1200">
                          <a:solidFill>
                            <a:srgbClr val="16202E"/>
                          </a:solidFill>
                          <a:latin typeface="Yu Gothic"/>
                        </a:defRPr>
                      </a:pPr>
                      <a:r>
                        <a:t>調整後EPS(非GAAP)</a:t>
                      </a:r>
                    </a:p>
                  </a:txBody>
                  <a:tcPr>
                    <a:solidFill>
                      <a:srgbClr val="F2F6FA"/>
                    </a:solidFill>
                  </a:tcPr>
                </a:tc>
                <a:tc>
                  <a:txBody>
                    <a:bodyPr/>
                    <a:lstStyle/>
                    <a:p>
                      <a:pPr>
                        <a:defRPr sz="1200">
                          <a:solidFill>
                            <a:srgbClr val="16202E"/>
                          </a:solidFill>
                          <a:latin typeface="Yu Gothic"/>
                        </a:defRPr>
                      </a:pPr>
                      <a:r>
                        <a:t>0.38ドル(市場予想を上回る)</a:t>
                      </a:r>
                    </a:p>
                  </a:txBody>
                  <a:tcPr>
                    <a:solidFill>
                      <a:srgbClr val="F2F6FA"/>
                    </a:solidFill>
                  </a:tcPr>
                </a:tc>
              </a:tr>
              <a:tr h="502920">
                <a:tc>
                  <a:txBody>
                    <a:bodyPr/>
                    <a:lstStyle/>
                    <a:p>
                      <a:pPr>
                        <a:defRPr sz="1200">
                          <a:solidFill>
                            <a:srgbClr val="16202E"/>
                          </a:solidFill>
                          <a:latin typeface="Yu Gothic"/>
                        </a:defRPr>
                      </a:pPr>
                      <a:r>
                        <a:t>営業利益率</a:t>
                      </a:r>
                    </a:p>
                  </a:txBody>
                  <a:tcPr>
                    <a:solidFill>
                      <a:srgbClr val="FFFFFF"/>
                    </a:solidFill>
                  </a:tcPr>
                </a:tc>
                <a:tc>
                  <a:txBody>
                    <a:bodyPr/>
                    <a:lstStyle/>
                    <a:p>
                      <a:pPr>
                        <a:defRPr sz="1200">
                          <a:solidFill>
                            <a:srgbClr val="16202E"/>
                          </a:solidFill>
                          <a:latin typeface="Yu Gothic"/>
                        </a:defRPr>
                      </a:pPr>
                      <a:r>
                        <a:t>26%(前年33%から縮小)</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PR Newswire・24/7 Wall St.・StockTitan(2026-08-19)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PR Newswire・24/7 Wall St.・StockTitan(2026-08-19)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『名目増収』の中身</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名目+2%増収の要因です。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総売上高は前年同期の4億4,480万ドルから4億5,380万ドルへ、名目で2%増加</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しかしこの増加は主に人民元高による為替換算効果によるもの</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定額為替ベース(為替変動を除いたベース)で見ると、売上高は実質4%減少している</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広告収入も定額為替ベースでは1%減となっている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24/7 Wall St.(2026-08-19)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PR Newswire・24/7 Wall St.・StockTitan(2026-08-19)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定額為替ベースでの売上高</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実質▲4%</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名目+2%との差は主に人民元高による為替換算効果</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24/7 Wall St.(2026-08-19)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見出しの増収と実態の食い違いについて</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同じ決算でも、伝え方が大きく異なります。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Weibo自身の決算発表は『総売上高は前年同期比2%増』という名目の数字を前面に押し出している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CEOのGaofei Wang氏は『堅調な四半期だった』とコメントしている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一方、24/7 Wall St.は『見出し上の予想超えが4%の減収を覆い隠している』と報じている</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本テーマでは名目の数字(+2%)と定額為替ベースの数字(▲4%)の両方を必ず併記する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PR Newswire・24/7 Wall St.(2026-08-19)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PR Newswire・24/7 Wall St.・StockTitan(2026-08-19)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Weibo公式の見せ方 vs 独立分析の指摘</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Weibo公式の見せ方</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『総売上高は前年同期比2%増』</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CEOは『堅調な四半期』とコメント</a:t>
            </a:r>
          </a:p>
        </p:txBody>
      </p:sp>
      <p:sp>
        <p:nvSpPr>
          <p:cNvPr id="13" name="Oval 12"/>
          <p:cNvSpPr/>
          <p:nvPr/>
        </p:nvSpPr>
        <p:spPr>
          <a:xfrm>
            <a:off x="777240"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調整後EPSは市場予想を上回る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独立分析(24/7 Wall St.)の指摘</a:t>
            </a:r>
          </a:p>
        </p:txBody>
      </p:sp>
      <p:sp>
        <p:nvSpPr>
          <p:cNvPr id="18" name="Oval 17"/>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定額為替ベースでは売上高4%減</a:t>
            </a:r>
          </a:p>
        </p:txBody>
      </p:sp>
      <p:sp>
        <p:nvSpPr>
          <p:cNvPr id="20" name="Oval 19"/>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広告収入も定額為替ベースで1%減</a:t>
            </a:r>
          </a:p>
        </p:txBody>
      </p:sp>
      <p:sp>
        <p:nvSpPr>
          <p:cNvPr id="22" name="Oval 21"/>
          <p:cNvSpPr/>
          <p:nvPr/>
        </p:nvSpPr>
        <p:spPr>
          <a:xfrm>
            <a:off x="6598767"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『見出しが実態の減収を覆い隠している』と指摘</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PR Newswire・24/7 Wall St.・StockTitan(2026-08-19)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セグメント別の状況</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セグメント</a:t>
                      </a:r>
                    </a:p>
                  </a:txBody>
                  <a:tcPr>
                    <a:solidFill>
                      <a:srgbClr val="1B3A5C"/>
                    </a:solidFill>
                  </a:tcPr>
                </a:tc>
                <a:tc>
                  <a:txBody>
                    <a:bodyPr/>
                    <a:lstStyle/>
                    <a:p>
                      <a:pPr>
                        <a:defRPr sz="1300" b="1">
                          <a:solidFill>
                            <a:srgbClr val="FFFFFF"/>
                          </a:solidFill>
                          <a:latin typeface="Yu Gothic"/>
                        </a:defRPr>
                      </a:pPr>
                      <a:r>
                        <a:t>2026年Q2の状況</a:t>
                      </a:r>
                    </a:p>
                  </a:txBody>
                  <a:tcPr>
                    <a:solidFill>
                      <a:srgbClr val="1B3A5C"/>
                    </a:solidFill>
                  </a:tcPr>
                </a:tc>
              </a:tr>
              <a:tr h="502920">
                <a:tc>
                  <a:txBody>
                    <a:bodyPr/>
                    <a:lstStyle/>
                    <a:p>
                      <a:pPr>
                        <a:defRPr sz="1200">
                          <a:solidFill>
                            <a:srgbClr val="16202E"/>
                          </a:solidFill>
                          <a:latin typeface="Yu Gothic"/>
                        </a:defRPr>
                      </a:pPr>
                      <a:r>
                        <a:t>広告・マーケティング収入</a:t>
                      </a:r>
                    </a:p>
                  </a:txBody>
                  <a:tcPr>
                    <a:solidFill>
                      <a:srgbClr val="FFFFFF"/>
                    </a:solidFill>
                  </a:tcPr>
                </a:tc>
                <a:tc>
                  <a:txBody>
                    <a:bodyPr/>
                    <a:lstStyle/>
                    <a:p>
                      <a:pPr>
                        <a:defRPr sz="1200">
                          <a:solidFill>
                            <a:srgbClr val="16202E"/>
                          </a:solidFill>
                          <a:latin typeface="Yu Gothic"/>
                        </a:defRPr>
                      </a:pPr>
                      <a:r>
                        <a:t>3億8,100万ドル、前年同期比▲1%</a:t>
                      </a:r>
                    </a:p>
                  </a:txBody>
                  <a:tcPr>
                    <a:solidFill>
                      <a:srgbClr val="FFFFFF"/>
                    </a:solidFill>
                  </a:tcPr>
                </a:tc>
              </a:tr>
              <a:tr h="502920">
                <a:tc>
                  <a:txBody>
                    <a:bodyPr/>
                    <a:lstStyle/>
                    <a:p>
                      <a:pPr>
                        <a:defRPr sz="1200">
                          <a:solidFill>
                            <a:srgbClr val="16202E"/>
                          </a:solidFill>
                          <a:latin typeface="Yu Gothic"/>
                        </a:defRPr>
                      </a:pPr>
                      <a:r>
                        <a:t>VAS(付加価値サービス)収入</a:t>
                      </a:r>
                    </a:p>
                  </a:txBody>
                  <a:tcPr>
                    <a:solidFill>
                      <a:srgbClr val="F2F6FA"/>
                    </a:solidFill>
                  </a:tcPr>
                </a:tc>
                <a:tc>
                  <a:txBody>
                    <a:bodyPr/>
                    <a:lstStyle/>
                    <a:p>
                      <a:pPr>
                        <a:defRPr sz="1200">
                          <a:solidFill>
                            <a:srgbClr val="16202E"/>
                          </a:solidFill>
                          <a:latin typeface="Yu Gothic"/>
                        </a:defRPr>
                      </a:pPr>
                      <a:r>
                        <a:t>7,290万ドル、前年同期比+19%(6,140万ドルから増加)</a:t>
                      </a:r>
                    </a:p>
                  </a:txBody>
                  <a:tcPr>
                    <a:solidFill>
                      <a:srgbClr val="F2F6FA"/>
                    </a:solidFill>
                  </a:tcPr>
                </a:tc>
              </a:tr>
              <a:tr h="502920">
                <a:tc>
                  <a:txBody>
                    <a:bodyPr/>
                    <a:lstStyle/>
                    <a:p>
                      <a:pPr>
                        <a:defRPr sz="1200">
                          <a:solidFill>
                            <a:srgbClr val="16202E"/>
                          </a:solidFill>
                          <a:latin typeface="Yu Gothic"/>
                        </a:defRPr>
                      </a:pPr>
                      <a:r>
                        <a:t>営業利益率</a:t>
                      </a:r>
                    </a:p>
                  </a:txBody>
                  <a:tcPr>
                    <a:solidFill>
                      <a:srgbClr val="FFFFFF"/>
                    </a:solidFill>
                  </a:tcPr>
                </a:tc>
                <a:tc>
                  <a:txBody>
                    <a:bodyPr/>
                    <a:lstStyle/>
                    <a:p>
                      <a:pPr>
                        <a:defRPr sz="1200">
                          <a:solidFill>
                            <a:srgbClr val="16202E"/>
                          </a:solidFill>
                          <a:latin typeface="Yu Gothic"/>
                        </a:defRPr>
                      </a:pPr>
                      <a:r>
                        <a:t>26%(前年33%から縮小)</a:t>
                      </a:r>
                    </a:p>
                  </a:txBody>
                  <a:tcPr>
                    <a:solidFill>
                      <a:srgbClr val="FFFFFF"/>
                    </a:solidFill>
                  </a:tcPr>
                </a:tc>
              </a:tr>
              <a:tr h="502920">
                <a:tc>
                  <a:txBody>
                    <a:bodyPr/>
                    <a:lstStyle/>
                    <a:p>
                      <a:pPr>
                        <a:defRPr sz="1200">
                          <a:solidFill>
                            <a:srgbClr val="16202E"/>
                          </a:solidFill>
                          <a:latin typeface="Yu Gothic"/>
                        </a:defRPr>
                      </a:pPr>
                      <a:r>
                        <a:t>現金・現金同等物・短期投資</a:t>
                      </a:r>
                    </a:p>
                  </a:txBody>
                  <a:tcPr>
                    <a:solidFill>
                      <a:srgbClr val="F2F6FA"/>
                    </a:solidFill>
                  </a:tcPr>
                </a:tc>
                <a:tc>
                  <a:txBody>
                    <a:bodyPr/>
                    <a:lstStyle/>
                    <a:p>
                      <a:pPr>
                        <a:defRPr sz="1200">
                          <a:solidFill>
                            <a:srgbClr val="16202E"/>
                          </a:solidFill>
                          <a:latin typeface="Yu Gothic"/>
                        </a:defRPr>
                      </a:pPr>
                      <a:r>
                        <a:t>26億4,000万ドル(2026年6月30日時点)</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PR Newswire(2026-08-19)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PR Newswire・24/7 Wall St.・StockTitan(2026-08-19)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VAS収入の伸び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付加価値サービス収入の状況です。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VAS収入は前年同期の6,140万ドルから7,290万ドルへ、19%増加</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広告収入(全体の大部分を占める)が1%減となる中、VASの伸びが増収の一部を下支えしている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VAS収入増加の具体的な内訳(会員課金・ライブ配信・ゲーム内課金等の構成比)は、本調査の範囲では確認できていない</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VAS単体の伸びだけを見て『好調』と断定せず、全体像とあわせて評価する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PR Newswire(2026-08-19)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PR Newswire・24/7 Wall St.・StockTitan(2026-08-19)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VAS収入の伸び率</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前年比+19%</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6,140万ドルから7,290万ドルへ増加</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PR Newswire(2026-08-19)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決算数字の見せ方の流れ</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名目売上高+2%(公式発表の見出し)</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人民元高による為替換算効果を含む</a:t>
            </a:r>
          </a:p>
        </p:txBody>
      </p:sp>
      <p:sp>
        <p:nvSpPr>
          <p:cNvPr id="10" name="Right Arrow 9"/>
          <p:cNvSpPr/>
          <p:nvPr/>
        </p:nvSpPr>
        <p:spPr>
          <a:xfrm>
            <a:off x="41573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為替換算効果を除去</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定額為替ベースで再計算</a:t>
            </a:r>
          </a:p>
        </p:txBody>
      </p:sp>
      <p:sp>
        <p:nvSpPr>
          <p:cNvPr id="15" name="Right Arrow 14"/>
          <p:cNvSpPr/>
          <p:nvPr/>
        </p:nvSpPr>
        <p:spPr>
          <a:xfrm>
            <a:off x="73577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定額為替ベースでは▲4%</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独立分析による指摘</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B80"/>
                </a:solidFill>
                <a:latin typeface="Yu Gothic"/>
              </a:rPr>
              <a:t>名目の数字から為替を除いた実態までの流れ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PR Newswire・24/7 Wall St.(2026-08-19)</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PR Newswire・24/7 Wall St.・StockTitan(2026-08-19)</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2026年Q2決算の3ステップ総括</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1. 名目売上高+2%</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調整後EPSは市場予想を上回る</a:t>
            </a:r>
          </a:p>
        </p:txBody>
      </p:sp>
      <p:sp>
        <p:nvSpPr>
          <p:cNvPr id="11" name="Chevron 10"/>
          <p:cNvSpPr/>
          <p:nvPr/>
        </p:nvSpPr>
        <p:spPr>
          <a:xfrm>
            <a:off x="4038295"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2. 定額為替ベースでは▲4%</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為替換算効果を除いた実態</a:t>
            </a:r>
          </a:p>
        </p:txBody>
      </p:sp>
      <p:sp>
        <p:nvSpPr>
          <p:cNvPr id="17" name="Chevron 16"/>
          <p:cNvSpPr/>
          <p:nvPr/>
        </p:nvSpPr>
        <p:spPr>
          <a:xfrm>
            <a:off x="7919313"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3. 営業利益率は33%→26%</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収益性は縮小している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PR Newswire・24/7 Wall St.・StockTitan(2026-08-19)</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AI活用の状況</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AIに関する取り組みです。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広告のターゲティング・入札・クリエイティブ生成において、AIが既に活用されていると経営陣が説明</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レコメンドフィード依存度の高いセグメントのユーザー体験最適化を重点方針として掲げている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エンゲージメント・収益化を高めるためのAIへの戦略的投資継続を表明している</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AI活用による大規模な収益化は『まだ試験段階であり、広範な展開には至っていない』と経営陣自身が説明している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Weibo決算コールの言及(複数報道)(2026-08-19時点)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PR Newswire・24/7 Wall St.・StockTitan(2026-08-19)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AI収益化の段階</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試験段階(経営陣の説明)</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広範な展開には至っていないと経営陣自身が説明</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Weibo決算コールの言及(複数報道)</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ユーザー指標</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ユーザー数の状況です。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MAU(月間アクティブユーザー)は5億6,100万人</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DAU(日間アクティブユーザー)は2億5,400万人</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前四半期(2026年Q1)のMAU562万人からわずかに減少</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ユーザー数の減少傾向がある中、AIを活用したレコメンドフィード最適化に注力している構図</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Seeking Alpha・PR Newswire(2026-08-19)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PR Newswire・24/7 Wall St.・StockTitan(2026-08-19)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ユーザー指標まとめ</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指標</a:t>
                      </a:r>
                    </a:p>
                  </a:txBody>
                  <a:tcPr>
                    <a:solidFill>
                      <a:srgbClr val="1B3A5C"/>
                    </a:solidFill>
                  </a:tcPr>
                </a:tc>
                <a:tc>
                  <a:txBody>
                    <a:bodyPr/>
                    <a:lstStyle/>
                    <a:p>
                      <a:pPr>
                        <a:defRPr sz="1300" b="1">
                          <a:solidFill>
                            <a:srgbClr val="FFFFFF"/>
                          </a:solidFill>
                          <a:latin typeface="Yu Gothic"/>
                        </a:defRPr>
                      </a:pPr>
                      <a:r>
                        <a:t>数値</a:t>
                      </a:r>
                    </a:p>
                  </a:txBody>
                  <a:tcPr>
                    <a:solidFill>
                      <a:srgbClr val="1B3A5C"/>
                    </a:solidFill>
                  </a:tcPr>
                </a:tc>
              </a:tr>
              <a:tr h="502920">
                <a:tc>
                  <a:txBody>
                    <a:bodyPr/>
                    <a:lstStyle/>
                    <a:p>
                      <a:pPr>
                        <a:defRPr sz="1200">
                          <a:solidFill>
                            <a:srgbClr val="16202E"/>
                          </a:solidFill>
                          <a:latin typeface="Yu Gothic"/>
                        </a:defRPr>
                      </a:pPr>
                      <a:r>
                        <a:t>MAU(月間アクティブユーザー)</a:t>
                      </a:r>
                    </a:p>
                  </a:txBody>
                  <a:tcPr>
                    <a:solidFill>
                      <a:srgbClr val="FFFFFF"/>
                    </a:solidFill>
                  </a:tcPr>
                </a:tc>
                <a:tc>
                  <a:txBody>
                    <a:bodyPr/>
                    <a:lstStyle/>
                    <a:p>
                      <a:pPr>
                        <a:defRPr sz="1200">
                          <a:solidFill>
                            <a:srgbClr val="16202E"/>
                          </a:solidFill>
                          <a:latin typeface="Yu Gothic"/>
                        </a:defRPr>
                      </a:pPr>
                      <a:r>
                        <a:t>5億6,100万人</a:t>
                      </a:r>
                    </a:p>
                  </a:txBody>
                  <a:tcPr>
                    <a:solidFill>
                      <a:srgbClr val="FFFFFF"/>
                    </a:solidFill>
                  </a:tcPr>
                </a:tc>
              </a:tr>
              <a:tr h="502920">
                <a:tc>
                  <a:txBody>
                    <a:bodyPr/>
                    <a:lstStyle/>
                    <a:p>
                      <a:pPr>
                        <a:defRPr sz="1200">
                          <a:solidFill>
                            <a:srgbClr val="16202E"/>
                          </a:solidFill>
                          <a:latin typeface="Yu Gothic"/>
                        </a:defRPr>
                      </a:pPr>
                      <a:r>
                        <a:t>DAU(日間アクティブユーザー)</a:t>
                      </a:r>
                    </a:p>
                  </a:txBody>
                  <a:tcPr>
                    <a:solidFill>
                      <a:srgbClr val="F2F6FA"/>
                    </a:solidFill>
                  </a:tcPr>
                </a:tc>
                <a:tc>
                  <a:txBody>
                    <a:bodyPr/>
                    <a:lstStyle/>
                    <a:p>
                      <a:pPr>
                        <a:defRPr sz="1200">
                          <a:solidFill>
                            <a:srgbClr val="16202E"/>
                          </a:solidFill>
                          <a:latin typeface="Yu Gothic"/>
                        </a:defRPr>
                      </a:pPr>
                      <a:r>
                        <a:t>2億5,400万人</a:t>
                      </a:r>
                    </a:p>
                  </a:txBody>
                  <a:tcPr>
                    <a:solidFill>
                      <a:srgbClr val="F2F6FA"/>
                    </a:solidFill>
                  </a:tcPr>
                </a:tc>
              </a:tr>
              <a:tr h="502920">
                <a:tc>
                  <a:txBody>
                    <a:bodyPr/>
                    <a:lstStyle/>
                    <a:p>
                      <a:pPr>
                        <a:defRPr sz="1200">
                          <a:solidFill>
                            <a:srgbClr val="16202E"/>
                          </a:solidFill>
                          <a:latin typeface="Yu Gothic"/>
                        </a:defRPr>
                      </a:pPr>
                      <a:r>
                        <a:t>現金・現金同等物・短期投資</a:t>
                      </a:r>
                    </a:p>
                  </a:txBody>
                  <a:tcPr>
                    <a:solidFill>
                      <a:srgbClr val="FFFFFF"/>
                    </a:solidFill>
                  </a:tcPr>
                </a:tc>
                <a:tc>
                  <a:txBody>
                    <a:bodyPr/>
                    <a:lstStyle/>
                    <a:p>
                      <a:pPr>
                        <a:defRPr sz="1200">
                          <a:solidFill>
                            <a:srgbClr val="16202E"/>
                          </a:solidFill>
                          <a:latin typeface="Yu Gothic"/>
                        </a:defRPr>
                      </a:pPr>
                      <a:r>
                        <a:t>26億4,000万ドル</a:t>
                      </a:r>
                    </a:p>
                  </a:txBody>
                  <a:tcPr>
                    <a:solidFill>
                      <a:srgbClr val="FFFFFF"/>
                    </a:solidFill>
                  </a:tcPr>
                </a:tc>
              </a:tr>
              <a:tr h="502920">
                <a:tc>
                  <a:txBody>
                    <a:bodyPr/>
                    <a:lstStyle/>
                    <a:p>
                      <a:pPr>
                        <a:defRPr sz="1200">
                          <a:solidFill>
                            <a:srgbClr val="16202E"/>
                          </a:solidFill>
                          <a:latin typeface="Yu Gothic"/>
                        </a:defRPr>
                      </a:pPr>
                      <a:r>
                        <a:t>調整後EPS</a:t>
                      </a:r>
                    </a:p>
                  </a:txBody>
                  <a:tcPr>
                    <a:solidFill>
                      <a:srgbClr val="F2F6FA"/>
                    </a:solidFill>
                  </a:tcPr>
                </a:tc>
                <a:tc>
                  <a:txBody>
                    <a:bodyPr/>
                    <a:lstStyle/>
                    <a:p>
                      <a:pPr>
                        <a:defRPr sz="1200">
                          <a:solidFill>
                            <a:srgbClr val="16202E"/>
                          </a:solidFill>
                          <a:latin typeface="Yu Gothic"/>
                        </a:defRPr>
                      </a:pPr>
                      <a:r>
                        <a:t>0.38ドル</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PR Newswire・Seeking Alpha(2026-08-19)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PR Newswire・24/7 Wall St.・StockTitan(2026-08-19)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営業利益率の縮小について</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収益性の変化です。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営業利益率は前年の33%から26%へ、7ポイント縮小</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増収報道の陰に隠れがちだが、収益性の観点で重要な事実である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縮小の具体的な要因(コスト構造の変化等)は、本調査の範囲では確認できていない</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調整後EPSが市場予想を上回ったことと、営業利益率が縮小していることは、矛盾する事実ではなく両方とも成立しうる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24/7 Wall St.(2026-08-19)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PR Newswire・24/7 Wall St.・StockTitan(2026-08-19)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営業利益率の変化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33%→26%</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7ポイントの縮小</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24/7 Wall St.(2026-08-19)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『調整後EPSは予想超え』 vs 『営業利益率は縮小』</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調整後EPS(0.38ドル)</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市場予想を上回った</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決算発表の見出しとして強調されやすい</a:t>
            </a:r>
          </a:p>
        </p:txBody>
      </p:sp>
      <p:sp>
        <p:nvSpPr>
          <p:cNvPr id="13" name="Oval 12"/>
          <p:cNvSpPr/>
          <p:nvPr/>
        </p:nvSpPr>
        <p:spPr>
          <a:xfrm>
            <a:off x="777240"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非GAAPベースの指標</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営業利益率(26%)</a:t>
            </a:r>
          </a:p>
        </p:txBody>
      </p:sp>
      <p:sp>
        <p:nvSpPr>
          <p:cNvPr id="18" name="Oval 17"/>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前年の33%から縮小</a:t>
            </a:r>
          </a:p>
        </p:txBody>
      </p:sp>
      <p:sp>
        <p:nvSpPr>
          <p:cNvPr id="20" name="Oval 19"/>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増収報道の陰に隠れがちな事実</a:t>
            </a:r>
          </a:p>
        </p:txBody>
      </p:sp>
      <p:sp>
        <p:nvSpPr>
          <p:cNvPr id="22" name="Oval 21"/>
          <p:cNvSpPr/>
          <p:nvPr/>
        </p:nvSpPr>
        <p:spPr>
          <a:xfrm>
            <a:off x="6598767"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収益性の観点で重要な指標</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PR Newswire・24/7 Wall St.・StockTitan(2026-08-19)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広告収入 vs VAS収入(明暗の対比)</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広告・マーケティング収入</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3億8,100万ドル</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前年同期比▲1%</a:t>
            </a:r>
          </a:p>
        </p:txBody>
      </p:sp>
      <p:sp>
        <p:nvSpPr>
          <p:cNvPr id="13" name="Oval 12"/>
          <p:cNvSpPr/>
          <p:nvPr/>
        </p:nvSpPr>
        <p:spPr>
          <a:xfrm>
            <a:off x="777240"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全体売上高の大部分を占める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VAS(付加価値サービス)収入</a:t>
            </a:r>
          </a:p>
        </p:txBody>
      </p:sp>
      <p:sp>
        <p:nvSpPr>
          <p:cNvPr id="18" name="Oval 17"/>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7,290万ドル</a:t>
            </a:r>
          </a:p>
        </p:txBody>
      </p:sp>
      <p:sp>
        <p:nvSpPr>
          <p:cNvPr id="20" name="Oval 19"/>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前年同期比+19%</a:t>
            </a:r>
          </a:p>
        </p:txBody>
      </p:sp>
      <p:sp>
        <p:nvSpPr>
          <p:cNvPr id="22" name="Oval 21"/>
          <p:cNvSpPr/>
          <p:nvPr/>
        </p:nvSpPr>
        <p:spPr>
          <a:xfrm>
            <a:off x="6598767"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全体に占める割合は広告収入より小さい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PR Newswire・24/7 Wall St.・StockTitan(2026-08-19)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現金保有額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26億4,000万ドル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2026年6月30日時点の現金・現金同等物・短期投資の合計</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PR Newswire(2026-08-19)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決算コールでの他の言及</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報道されているその他の経営陣の発言です。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CEOのGaofei Wang氏は決算を『堅調な四半期だった』と総括している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経営陣は広告主のカテゴリ別動向について、携帯電話・オンラインゲーム分野での弱さに言及したとされる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レコメンドフィード・動画関連機能への投資継続を今後の重点方針として掲げている</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決算コールの詳細な質疑応答の全文までは、本調査の範囲では確認できていない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24/7 Wall St.・複数報道(2026-08-19)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PR Newswire・24/7 Wall St.・StockTitan(2026-08-19)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正直にお伝えする留保事項です。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VAS収入増加(19%増)の具体的な内訳(会員課金・ライブ配信・ゲーム内課金等の構成比)</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営業利益率縮小の具体的な要因(コスト構造の変化等)</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AI活用による具体的な収益貢献額</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本テーマはWeibo株式の購入・投資を推奨するものではなく、報じられた経営指標の紹介にとどめる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PR Newswire・24/7 Wall St.・StockTitan(2026-08-19)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今回の決算の要点まとめ</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名目売上高</a:t>
                      </a:r>
                    </a:p>
                  </a:txBody>
                  <a:tcPr>
                    <a:solidFill>
                      <a:srgbClr val="FFFFFF"/>
                    </a:solidFill>
                  </a:tcPr>
                </a:tc>
                <a:tc>
                  <a:txBody>
                    <a:bodyPr/>
                    <a:lstStyle/>
                    <a:p>
                      <a:pPr>
                        <a:defRPr sz="1200">
                          <a:solidFill>
                            <a:srgbClr val="16202E"/>
                          </a:solidFill>
                          <a:latin typeface="Yu Gothic"/>
                        </a:defRPr>
                      </a:pPr>
                      <a:r>
                        <a:t>+2%(4億5,380万ドル)</a:t>
                      </a:r>
                    </a:p>
                  </a:txBody>
                  <a:tcPr>
                    <a:solidFill>
                      <a:srgbClr val="FFFFFF"/>
                    </a:solidFill>
                  </a:tcPr>
                </a:tc>
              </a:tr>
              <a:tr h="502920">
                <a:tc>
                  <a:txBody>
                    <a:bodyPr/>
                    <a:lstStyle/>
                    <a:p>
                      <a:pPr>
                        <a:defRPr sz="1200">
                          <a:solidFill>
                            <a:srgbClr val="16202E"/>
                          </a:solidFill>
                          <a:latin typeface="Yu Gothic"/>
                        </a:defRPr>
                      </a:pPr>
                      <a:r>
                        <a:t>定額為替ベース売上高</a:t>
                      </a:r>
                    </a:p>
                  </a:txBody>
                  <a:tcPr>
                    <a:solidFill>
                      <a:srgbClr val="F2F6FA"/>
                    </a:solidFill>
                  </a:tcPr>
                </a:tc>
                <a:tc>
                  <a:txBody>
                    <a:bodyPr/>
                    <a:lstStyle/>
                    <a:p>
                      <a:pPr>
                        <a:defRPr sz="1200">
                          <a:solidFill>
                            <a:srgbClr val="16202E"/>
                          </a:solidFill>
                          <a:latin typeface="Yu Gothic"/>
                        </a:defRPr>
                      </a:pPr>
                      <a:r>
                        <a:t>▲4%</a:t>
                      </a:r>
                    </a:p>
                  </a:txBody>
                  <a:tcPr>
                    <a:solidFill>
                      <a:srgbClr val="F2F6FA"/>
                    </a:solidFill>
                  </a:tcPr>
                </a:tc>
              </a:tr>
              <a:tr h="502920">
                <a:tc>
                  <a:txBody>
                    <a:bodyPr/>
                    <a:lstStyle/>
                    <a:p>
                      <a:pPr>
                        <a:defRPr sz="1200">
                          <a:solidFill>
                            <a:srgbClr val="16202E"/>
                          </a:solidFill>
                          <a:latin typeface="Yu Gothic"/>
                        </a:defRPr>
                      </a:pPr>
                      <a:r>
                        <a:t>調整後EPS</a:t>
                      </a:r>
                    </a:p>
                  </a:txBody>
                  <a:tcPr>
                    <a:solidFill>
                      <a:srgbClr val="FFFFFF"/>
                    </a:solidFill>
                  </a:tcPr>
                </a:tc>
                <a:tc>
                  <a:txBody>
                    <a:bodyPr/>
                    <a:lstStyle/>
                    <a:p>
                      <a:pPr>
                        <a:defRPr sz="1200">
                          <a:solidFill>
                            <a:srgbClr val="16202E"/>
                          </a:solidFill>
                          <a:latin typeface="Yu Gothic"/>
                        </a:defRPr>
                      </a:pPr>
                      <a:r>
                        <a:t>0.38ドル(予想超え)</a:t>
                      </a:r>
                    </a:p>
                  </a:txBody>
                  <a:tcPr>
                    <a:solidFill>
                      <a:srgbClr val="FFFFFF"/>
                    </a:solidFill>
                  </a:tcPr>
                </a:tc>
              </a:tr>
              <a:tr h="502920">
                <a:tc>
                  <a:txBody>
                    <a:bodyPr/>
                    <a:lstStyle/>
                    <a:p>
                      <a:pPr>
                        <a:defRPr sz="1200">
                          <a:solidFill>
                            <a:srgbClr val="16202E"/>
                          </a:solidFill>
                          <a:latin typeface="Yu Gothic"/>
                        </a:defRPr>
                      </a:pPr>
                      <a:r>
                        <a:t>営業利益率</a:t>
                      </a:r>
                    </a:p>
                  </a:txBody>
                  <a:tcPr>
                    <a:solidFill>
                      <a:srgbClr val="F2F6FA"/>
                    </a:solidFill>
                  </a:tcPr>
                </a:tc>
                <a:tc>
                  <a:txBody>
                    <a:bodyPr/>
                    <a:lstStyle/>
                    <a:p>
                      <a:pPr>
                        <a:defRPr sz="1200">
                          <a:solidFill>
                            <a:srgbClr val="16202E"/>
                          </a:solidFill>
                          <a:latin typeface="Yu Gothic"/>
                        </a:defRPr>
                      </a:pPr>
                      <a:r>
                        <a:t>26%(前年33%から縮小)</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PR Newswire・24/7 Wall St.・StockTitan(2026-08-19)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PR Newswire・24/7 Wall St.・StockTitan(2026-08-19)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決算・企業分析に関心がある立場として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名目の数字だけでなく、為替換算効果を除いた実態まで確認する視点が役立つ</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中国テック企業の動向を追う立場として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広告収入の減少とVAS収入の伸びという明暗を合わせて把握する視点が参考になる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投資を検討する立場として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調整後EPSの予想超えだけでなく、営業利益率の縮小まで確認する必要がある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PR Newswire・24/7 Wall St.・StockTitan(2026-08-19)</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まとめ</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本編のまとめです。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Weiboの2026年Q2決算は、名目売上高+2%・調整後EPS予想超えという見出しの裏で、定額為替ベースでは4%減収だった</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営業利益率は前年の33%から26%へ縮小している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広告収入が1%減となる中、VAS収入は19%増加し、増収の一部を下支えしている</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AIは広告のターゲティング・クリエイティブ生成に活用されているが、大規模な収益化はまだ試験段階と経営陣自身が説明している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PR Newswire・24/7 Wall St.・StockTitan(2026-08-19)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『予想超え』の見出しだけでは、決算は分からない。</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CE6F5"/>
                </a:solidFill>
                <a:latin typeface="Yu Gothic"/>
              </a:rPr>
              <a:t>Weiboの2026年Q2決算は、名目売上高+2%・調整後EPS予想超えという見出しの裏で、定額為替ベースでは4%減収、営業利益率も縮小していました。数字の見せ方の違いまで、出典付きで正直に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3A5C"/>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