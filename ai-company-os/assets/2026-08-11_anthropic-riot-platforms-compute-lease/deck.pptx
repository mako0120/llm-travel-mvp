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2026年8月11日、ビットコインマイナーのRiot Platforms社が、テキサス州ロックデールのキャンパスから191メガワットのコンピュート容量をAnthropicに供給する20年間のリース契約を締結したと発表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まず結論です。Riot Platforms社がAnthropicと20年間のコンピュートリース契約を締結し、契約ベースの収益は約91億ドルにのぼると発表しました。この発表を受け、Riot Platforms株は急騰しています。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今日はこの5つの流れでお伝えします。専門用語をかみ砕きながら、確定している事実と、報道により数値が異なる部分をはっきり分けて整理します。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1日前という新しい話題であること、91億ドルという桁の大きさ、そしてビットコインマイナーがAIインフラ企業に転換するという分かりやすい構図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まず全体像です。ビットコインマイナーのRiot Platforms社が、自社の電力インフラである191メガワットのコンピュート容量を、20年間Anthropicにリースする契約を結んだという構図です。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報道され方を見ると、CNBCが業界転換の文脈として報じたほか、Data Center Dynamicsが契約条件を詳細に伝え、Yahoo Finance、CoinDesk、24/7 Wall St.といった複数のメディアが同時期に取り上げています。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時系列にするとこうです。2026年8月11日に契約締結が発表され、2027年12月までに96メガワットが稼働、2028年6月にフル稼働を迎え、契約自体は2048年6月まで続きます。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契約の概要を表にまとめました。Riot Platforms社が、テキサス州ロックデールのキャンパスから191メガワットのコンピュート容量を、20年間Anthropicに提供する契約です。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『データセンターリース契約』とは、データセンターの電力・設備容量を一定期間、特定の企業に貸し出す契約です。AI企業は自前で建設せずに大規模な計算資源を確保できます。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『コンピュート容量』は、AIの学習・推論を行うサーバー群が消費する電力の規模をメガワットで表したものです。AI需要の急増で、電力容量そのものが希少な経営資源になっています。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なぜビットコインマイナーがAIに転換するのか。もともとマイニングのために確保していた大規模な電力インフラが、急増するAI企業のコンピュート需要の受け皿として活用される構図です。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あらためて容量を確認します。テキサス州ロックデールのキャンパスから、191メガワットのデータセンター電力容量がAnthropicに供給されます。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契約金額の内訳です。契約ベースの収益は約91億ドル。2回の5年延長オプションを行使すれば最大161億ドルに達する見込みです。収益計上は2027年後半以降と数年先になります。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2回の5年延長オプションを行使した場合、契約総額は最大161億ドルに達する見込みだと報じられています。あくまで延長オプションを行使した場合の見込みです。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容量は一気に稼働するわけではありません。2027年12月までに96メガワット、2028年6月までに191メガワットのフル稼働を目指す段階的なスケジュールです。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ここまでの数字をカードで振り返ります。191メガワットの容量、20年間の契約期間、91億ドルの契約ベース収益、延長時最大161億ドル。この4つが契約規模の骨格です。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91億ドルという数字を読むときの注意点です。これは20年契約全体の累計見込み額であり、契約締結時点でAnthropicが一括で91億ドルを支払ったわけではありません。収益計上は数年先です。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株価の反応を確認します。発表を受けてRiot Platforms株は急騰しましたが、報道機関によって17%から25%程度まで、上昇率の数値に幅があります。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報道機関ごとの数値を表にしました。CoinDeskは約20%、24/7 Wall St.は約17%と報じており、他にも25%程度とする報道があります。測定したタイミングが異なるための差だと考えられます。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値に幅がある理由は、時間外取引・プレマーケット・寄り付き後など、報道機関が株価を切り取ったタイミングが異なるためです。本テーマでは特定の一つの数値を断定せず、幅を示す形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業界全体の潮流として見ると、ビットコインマイニング企業が保有する電力インフラが、AI需要の受け皿となる動きが広がっています。今回の契約は、その一例として報じられています。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益構造を比べるとこうなります。従来のビットコインマイニング収益は価格変動に左右されますが、AIインフラのリース収益は長期契約に基づく見通しが立てやすい収益に変わります。ただしAI企業側の需要への依存という新しいリスクも生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ここで事実・推測・不明を整理します。数字そのものは検証済みの事実ですが、その解釈の一部は推測であり、確認できていない点も複数あります。混同しないようにお伝えします。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確認できなかったことを4点、一覧にしました。数字を作らず、正直に不明として扱っています。特にAnthropic自身が公式にコメントしたかどうかは、本調査の範囲では確認できていません。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この契約から確認すべきことです。91億ドルの性質、業界動向が一時的か構造的か、株価反応の数値に幅がある点、この3つを意識して見ていくことを勧めます。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投資家・業界観察者は収益計上時期を継続して確認すること、企業は電力容量確保競争の一例として捉えること、一般の読者は数値の幅を踏まえて鵜呑みにしないこと、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本テーマはAnthropic社に関するテーマです。本シリーズ自体がClaude Codeで制作・運用されている点を踏まえ、称賛的な表現・誇張は避け、契約規模や株価反応という客観的事実を淡々と報告する構成にしています。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最後にもう一度数字で確認します。5つの独立した情報源が、同じ時期にこの発表を報じました。単発の噂ではなく、複数の裏付けがある話題であることがわかります。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本編は以上です。今回はビットコインマイナーのRiot Platforms社がAnthropicと91億ドルのコンピュートリース契約を締結した発表をお伝えしました。数字を鵜呑みにせず、事実関係の整理に留めています。次回もまた出典付きでお届けします。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ビットコインマイナーが、Anthropicと91億ドルの電力契約を結んだ日。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Riot Platforms社が、テキサス州ロックデールのキャンパスから191メガワットのコンピュート容量を20年間供給する契約を締結——2026年8月11日発表の要点を出典付きで整理する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CNBC / Data Center Dynamics ほか(2026-08-11)。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91億ドル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Riot Platforms社が、191メガワットのコンピュート容量を20年間Anthropicに供給する契約を締結。契約ベースの収益は約91億ドルで、発表を受けてRiot株は急騰した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CNBC / Data Center Dynamics(2026-08-11)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この契約とは何か・なぜ今話題なのか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基礎知識(データセンターリース契約・コンピュート容量とは)</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契約の中身を数字で深掘り(容量・期間・金額)</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株価の反応(複数報道の数値の幅を正直に示す)</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業界の潮流と、確認できなかったこと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2026年8月11日発表で、着手日から1日前という新しい話題である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91億ドル、延長時最大161億ドルという桁の大きさが具体的なフックになる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「ビットコインマイナーがAIインフラ企業に転換する」という業界転換の物語性がある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 / Data Center Dynamics ほか(2026-08-11)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Riot Platforms</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ビットコインマイナー、テキサス州ロックデールに拠点</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191メガワットの容量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データセンター電力(コンピュート容量)を提供</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Anthropic</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20年間のリース契約でこの容量を利用する側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ビットコインマイニング企業が、自社の電力インフラをAI企業へ長期リースする形の契約として報じられている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報道され方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複数のメディアが同時期に報じています。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CNBCが「ビットコインマイナーがAIインフラへ転換する動き」として報道</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Data Center Dynamicsが契約の規模・条件を詳細に報道</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Yahoo Finance・CoinDesk・24/7 Wall St.も同時期に報道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各社(2026-08-11)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時系列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契約締結発表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2026年8月11日、20年間のコンピュートリース契約締結を発表</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段階稼働開始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2027年12月までに96メガワットが稼働予定</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フル稼働・満了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2028年6月にフル稼働、契約自体は2048年6月まで続く</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契約の概要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提供元</a:t>
                      </a:r>
                    </a:p>
                  </a:txBody>
                  <a:tcPr>
                    <a:solidFill>
                      <a:srgbClr val="FFFFFF"/>
                    </a:solidFill>
                  </a:tcPr>
                </a:tc>
                <a:tc>
                  <a:txBody>
                    <a:bodyPr/>
                    <a:lstStyle/>
                    <a:p>
                      <a:pPr>
                        <a:defRPr sz="1200">
                          <a:solidFill>
                            <a:srgbClr val="1A1A2E"/>
                          </a:solidFill>
                          <a:latin typeface="Yu Gothic"/>
                        </a:defRPr>
                      </a:pPr>
                      <a:r>
                        <a:t>Riot Platforms(ビットコインマイナー)</a:t>
                      </a:r>
                    </a:p>
                  </a:txBody>
                  <a:tcPr>
                    <a:solidFill>
                      <a:srgbClr val="FFFFFF"/>
                    </a:solidFill>
                  </a:tcPr>
                </a:tc>
              </a:tr>
              <a:tr h="502920">
                <a:tc>
                  <a:txBody>
                    <a:bodyPr/>
                    <a:lstStyle/>
                    <a:p>
                      <a:pPr>
                        <a:defRPr sz="1200">
                          <a:solidFill>
                            <a:srgbClr val="1A1A2E"/>
                          </a:solidFill>
                          <a:latin typeface="Yu Gothic"/>
                        </a:defRPr>
                      </a:pPr>
                      <a:r>
                        <a:t>利用側</a:t>
                      </a:r>
                    </a:p>
                  </a:txBody>
                  <a:tcPr>
                    <a:solidFill>
                      <a:srgbClr val="F3F6FC"/>
                    </a:solidFill>
                  </a:tcPr>
                </a:tc>
                <a:tc>
                  <a:txBody>
                    <a:bodyPr/>
                    <a:lstStyle/>
                    <a:p>
                      <a:pPr>
                        <a:defRPr sz="1200">
                          <a:solidFill>
                            <a:srgbClr val="1A1A2E"/>
                          </a:solidFill>
                          <a:latin typeface="Yu Gothic"/>
                        </a:defRPr>
                      </a:pPr>
                      <a:r>
                        <a:t>Anthropic</a:t>
                      </a:r>
                    </a:p>
                  </a:txBody>
                  <a:tcPr>
                    <a:solidFill>
                      <a:srgbClr val="F3F6FC"/>
                    </a:solidFill>
                  </a:tcPr>
                </a:tc>
              </a:tr>
              <a:tr h="502920">
                <a:tc>
                  <a:txBody>
                    <a:bodyPr/>
                    <a:lstStyle/>
                    <a:p>
                      <a:pPr>
                        <a:defRPr sz="1200">
                          <a:solidFill>
                            <a:srgbClr val="1A1A2E"/>
                          </a:solidFill>
                          <a:latin typeface="Yu Gothic"/>
                        </a:defRPr>
                      </a:pPr>
                      <a:r>
                        <a:t>拠点</a:t>
                      </a:r>
                    </a:p>
                  </a:txBody>
                  <a:tcPr>
                    <a:solidFill>
                      <a:srgbClr val="FFFFFF"/>
                    </a:solidFill>
                  </a:tcPr>
                </a:tc>
                <a:tc>
                  <a:txBody>
                    <a:bodyPr/>
                    <a:lstStyle/>
                    <a:p>
                      <a:pPr>
                        <a:defRPr sz="1200">
                          <a:solidFill>
                            <a:srgbClr val="1A1A2E"/>
                          </a:solidFill>
                          <a:latin typeface="Yu Gothic"/>
                        </a:defRPr>
                      </a:pPr>
                      <a:r>
                        <a:t>テキサス州ロックデールのキャンパス</a:t>
                      </a:r>
                    </a:p>
                  </a:txBody>
                  <a:tcPr>
                    <a:solidFill>
                      <a:srgbClr val="FFFFFF"/>
                    </a:solidFill>
                  </a:tcPr>
                </a:tc>
              </a:tr>
              <a:tr h="502920">
                <a:tc>
                  <a:txBody>
                    <a:bodyPr/>
                    <a:lstStyle/>
                    <a:p>
                      <a:pPr>
                        <a:defRPr sz="1200">
                          <a:solidFill>
                            <a:srgbClr val="1A1A2E"/>
                          </a:solidFill>
                          <a:latin typeface="Yu Gothic"/>
                        </a:defRPr>
                      </a:pPr>
                      <a:r>
                        <a:t>容量</a:t>
                      </a:r>
                    </a:p>
                  </a:txBody>
                  <a:tcPr>
                    <a:solidFill>
                      <a:srgbClr val="F3F6FC"/>
                    </a:solidFill>
                  </a:tcPr>
                </a:tc>
                <a:tc>
                  <a:txBody>
                    <a:bodyPr/>
                    <a:lstStyle/>
                    <a:p>
                      <a:pPr>
                        <a:defRPr sz="1200">
                          <a:solidFill>
                            <a:srgbClr val="1A1A2E"/>
                          </a:solidFill>
                          <a:latin typeface="Yu Gothic"/>
                        </a:defRPr>
                      </a:pPr>
                      <a:r>
                        <a:t>191メガワット(コンピュート/データセンター電力)</a:t>
                      </a:r>
                    </a:p>
                  </a:txBody>
                  <a:tcPr>
                    <a:solidFill>
                      <a:srgbClr val="F3F6FC"/>
                    </a:solidFill>
                  </a:tcPr>
                </a:tc>
              </a:tr>
              <a:tr h="502920">
                <a:tc>
                  <a:txBody>
                    <a:bodyPr/>
                    <a:lstStyle/>
                    <a:p>
                      <a:pPr>
                        <a:defRPr sz="1200">
                          <a:solidFill>
                            <a:srgbClr val="1A1A2E"/>
                          </a:solidFill>
                          <a:latin typeface="Yu Gothic"/>
                        </a:defRPr>
                      </a:pPr>
                      <a:r>
                        <a:t>契約期間</a:t>
                      </a:r>
                    </a:p>
                  </a:txBody>
                  <a:tcPr>
                    <a:solidFill>
                      <a:srgbClr val="FFFFFF"/>
                    </a:solidFill>
                  </a:tcPr>
                </a:tc>
                <a:tc>
                  <a:txBody>
                    <a:bodyPr/>
                    <a:lstStyle/>
                    <a:p>
                      <a:pPr>
                        <a:defRPr sz="1200">
                          <a:solidFill>
                            <a:srgbClr val="1A1A2E"/>
                          </a:solidFill>
                          <a:latin typeface="Yu Gothic"/>
                        </a:defRPr>
                      </a:pPr>
                      <a:r>
                        <a:t>20年間(2048年6月まで)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 / Data Center Dynamics(2026-08-11)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基礎知識:「データセンターリース契約」とは(初心者向け)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データセンターの電力・設備容量を、一定期間にわたり特定の利用企業に貸し出す契約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AI企業は自前でデータセンターを建設・保有せずに大規模な計算資源を確保できる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20年という長期契約は、AI企業側の長期的な計算需要見通しの表れと位置づけられる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 / Data Center Dynamics(2026-08-11)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基礎知識:「コンピュート容量(メガワット)」とは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もう1つの重要な用語です。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AIの学習・推論を行うサーバー群が消費する電力の規模をメガワット(MW)で表す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AIモデルの計算需要が急増する中、電力容量そのものが希少な経営資源になっている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191メガワットは、大規模なAIデータセンター1拠点分に相当する規模とされる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Data Center Dynamics(2026-08-11)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基礎知識:なぜビットコインマイナーがAIに転換するのか(概念図)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既存の電力・用地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ビットコインマイニングのために確保していた大規模な電力供給網</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AI側の需要急増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AI企業がコンピュート容量を求めて争奪戦になっている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リース契約への転換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マイニング企業が電力インフラをAI企業へ貸し出す動き</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ビットコインマイニング企業がもともと保有していた電力インフラが、AI需要の受け皿として活用される構図として報じられている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コンピュート容量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191メガワット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テキサス州ロックデールのキャンパスから供給されるデータセンター電力容量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CNBC / Data Center Dynamics(2026-08-11)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契約金額の内訳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金額・条件</a:t>
                      </a:r>
                    </a:p>
                  </a:txBody>
                  <a:tcPr>
                    <a:solidFill>
                      <a:srgbClr val="1E2761"/>
                    </a:solidFill>
                  </a:tcPr>
                </a:tc>
              </a:tr>
              <a:tr h="502920">
                <a:tc>
                  <a:txBody>
                    <a:bodyPr/>
                    <a:lstStyle/>
                    <a:p>
                      <a:pPr>
                        <a:defRPr sz="1200">
                          <a:solidFill>
                            <a:srgbClr val="1A1A2E"/>
                          </a:solidFill>
                          <a:latin typeface="Yu Gothic"/>
                        </a:defRPr>
                      </a:pPr>
                      <a:r>
                        <a:t>契約ベースの収益</a:t>
                      </a:r>
                    </a:p>
                  </a:txBody>
                  <a:tcPr>
                    <a:solidFill>
                      <a:srgbClr val="FFFFFF"/>
                    </a:solidFill>
                  </a:tcPr>
                </a:tc>
                <a:tc>
                  <a:txBody>
                    <a:bodyPr/>
                    <a:lstStyle/>
                    <a:p>
                      <a:pPr>
                        <a:defRPr sz="1200">
                          <a:solidFill>
                            <a:srgbClr val="1A1A2E"/>
                          </a:solidFill>
                          <a:latin typeface="Yu Gothic"/>
                        </a:defRPr>
                      </a:pPr>
                      <a:r>
                        <a:t>約91億ドル(20年間の累計見込み)</a:t>
                      </a:r>
                    </a:p>
                  </a:txBody>
                  <a:tcPr>
                    <a:solidFill>
                      <a:srgbClr val="FFFFFF"/>
                    </a:solidFill>
                  </a:tcPr>
                </a:tc>
              </a:tr>
              <a:tr h="502920">
                <a:tc>
                  <a:txBody>
                    <a:bodyPr/>
                    <a:lstStyle/>
                    <a:p>
                      <a:pPr>
                        <a:defRPr sz="1200">
                          <a:solidFill>
                            <a:srgbClr val="1A1A2E"/>
                          </a:solidFill>
                          <a:latin typeface="Yu Gothic"/>
                        </a:defRPr>
                      </a:pPr>
                      <a:r>
                        <a:t>延長オプション</a:t>
                      </a:r>
                    </a:p>
                  </a:txBody>
                  <a:tcPr>
                    <a:solidFill>
                      <a:srgbClr val="F3F6FC"/>
                    </a:solidFill>
                  </a:tcPr>
                </a:tc>
                <a:tc>
                  <a:txBody>
                    <a:bodyPr/>
                    <a:lstStyle/>
                    <a:p>
                      <a:pPr>
                        <a:defRPr sz="1200">
                          <a:solidFill>
                            <a:srgbClr val="1A1A2E"/>
                          </a:solidFill>
                          <a:latin typeface="Yu Gothic"/>
                        </a:defRPr>
                      </a:pPr>
                      <a:r>
                        <a:t>5年間の延長を2回行使可能</a:t>
                      </a:r>
                    </a:p>
                  </a:txBody>
                  <a:tcPr>
                    <a:solidFill>
                      <a:srgbClr val="F3F6FC"/>
                    </a:solidFill>
                  </a:tcPr>
                </a:tc>
              </a:tr>
              <a:tr h="502920">
                <a:tc>
                  <a:txBody>
                    <a:bodyPr/>
                    <a:lstStyle/>
                    <a:p>
                      <a:pPr>
                        <a:defRPr sz="1200">
                          <a:solidFill>
                            <a:srgbClr val="1A1A2E"/>
                          </a:solidFill>
                          <a:latin typeface="Yu Gothic"/>
                        </a:defRPr>
                      </a:pPr>
                      <a:r>
                        <a:t>延長時の総額見込み</a:t>
                      </a:r>
                    </a:p>
                  </a:txBody>
                  <a:tcPr>
                    <a:solidFill>
                      <a:srgbClr val="FFFFFF"/>
                    </a:solidFill>
                  </a:tcPr>
                </a:tc>
                <a:tc>
                  <a:txBody>
                    <a:bodyPr/>
                    <a:lstStyle/>
                    <a:p>
                      <a:pPr>
                        <a:defRPr sz="1200">
                          <a:solidFill>
                            <a:srgbClr val="1A1A2E"/>
                          </a:solidFill>
                          <a:latin typeface="Yu Gothic"/>
                        </a:defRPr>
                      </a:pPr>
                      <a:r>
                        <a:t>最大161億ドル</a:t>
                      </a:r>
                    </a:p>
                  </a:txBody>
                  <a:tcPr>
                    <a:solidFill>
                      <a:srgbClr val="FFFFFF"/>
                    </a:solidFill>
                  </a:tcPr>
                </a:tc>
              </a:tr>
              <a:tr h="502920">
                <a:tc>
                  <a:txBody>
                    <a:bodyPr/>
                    <a:lstStyle/>
                    <a:p>
                      <a:pPr>
                        <a:defRPr sz="1200">
                          <a:solidFill>
                            <a:srgbClr val="1A1A2E"/>
                          </a:solidFill>
                          <a:latin typeface="Yu Gothic"/>
                        </a:defRPr>
                      </a:pPr>
                      <a:r>
                        <a:t>収益計上の時期</a:t>
                      </a:r>
                    </a:p>
                  </a:txBody>
                  <a:tcPr>
                    <a:solidFill>
                      <a:srgbClr val="F3F6FC"/>
                    </a:solidFill>
                  </a:tcPr>
                </a:tc>
                <a:tc>
                  <a:txBody>
                    <a:bodyPr/>
                    <a:lstStyle/>
                    <a:p>
                      <a:pPr>
                        <a:defRPr sz="1200">
                          <a:solidFill>
                            <a:srgbClr val="1A1A2E"/>
                          </a:solidFill>
                          <a:latin typeface="Yu Gothic"/>
                        </a:defRPr>
                      </a:pPr>
                      <a:r>
                        <a:t>2027年後半〜2028年半ば以降(数年先)</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Data Center Dynamics / CNBC(2026-08-11)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延長オプション行使時の総額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最大161億ドル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2回の5年延長オプションを行使した場合に見込まれる総額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Data Center Dynamics(2026-08-11)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容量の稼働スケジュール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2026年8月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契約締結を発表</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2027年12月まで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96メガワットが稼働予定</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2028年6月まで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191メガワットのフル稼働を目指す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数字で振り返る契約規模</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191MW</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コンピュート容量</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テキサス州ロックデールのキャンパスから供給</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20年</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契約期間</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2048年6月まで続く長期契約</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91億ドル</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契約ベースの収益</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20年間の累計見込み額</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161億ドル</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延長時の総額見込み</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5年延長×2回行使した場合</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金額を読むときの注意点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91億ドルという数字を誤解しないための整理です。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91億ドルは20年契約全体の累計見込み額であり、一括で支払われる金額ではない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収益計上は2027年後半〜2028年半ばと数年先である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契約締結時点でAnthropicが実際に91億ドルを支払ったわけではない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Data Center Dynamics(2026-08-11)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株価の反応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17%〜25%程度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発表を受けてRiot Platforms株が急騰。ただし報道機関により測定タイミングが異なり、上昇率の数値には幅がある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 / 24/7 Wall St. ほか(2026-08-11)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報道機関ごとの上昇率(数値に幅がある点に注意)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報道機関</a:t>
                      </a:r>
                    </a:p>
                  </a:txBody>
                  <a:tcPr>
                    <a:solidFill>
                      <a:srgbClr val="1E2761"/>
                    </a:solidFill>
                  </a:tcPr>
                </a:tc>
                <a:tc>
                  <a:txBody>
                    <a:bodyPr/>
                    <a:lstStyle/>
                    <a:p>
                      <a:pPr>
                        <a:defRPr sz="1300" b="1">
                          <a:solidFill>
                            <a:srgbClr val="FFFFFF"/>
                          </a:solidFill>
                          <a:latin typeface="Yu Gothic"/>
                        </a:defRPr>
                      </a:pPr>
                      <a:r>
                        <a:t>報じられた上昇率</a:t>
                      </a:r>
                    </a:p>
                  </a:txBody>
                  <a:tcPr>
                    <a:solidFill>
                      <a:srgbClr val="1E2761"/>
                    </a:solidFill>
                  </a:tcPr>
                </a:tc>
                <a:tc>
                  <a:txBody>
                    <a:bodyPr/>
                    <a:lstStyle/>
                    <a:p>
                      <a:pPr>
                        <a:defRPr sz="1300" b="1">
                          <a:solidFill>
                            <a:srgbClr val="FFFFFF"/>
                          </a:solidFill>
                          <a:latin typeface="Yu Gothic"/>
                        </a:defRPr>
                      </a:pPr>
                      <a:r>
                        <a:t>測定タイミングの目安</a:t>
                      </a:r>
                    </a:p>
                  </a:txBody>
                  <a:tcPr>
                    <a:solidFill>
                      <a:srgbClr val="1E2761"/>
                    </a:solidFill>
                  </a:tcPr>
                </a:tc>
              </a:tr>
              <a:tr h="502920">
                <a:tc>
                  <a:txBody>
                    <a:bodyPr/>
                    <a:lstStyle/>
                    <a:p>
                      <a:pPr>
                        <a:defRPr sz="1200">
                          <a:solidFill>
                            <a:srgbClr val="1A1A2E"/>
                          </a:solidFill>
                          <a:latin typeface="Yu Gothic"/>
                        </a:defRPr>
                      </a:pPr>
                      <a:r>
                        <a:t>CoinDesk</a:t>
                      </a:r>
                    </a:p>
                  </a:txBody>
                  <a:tcPr>
                    <a:solidFill>
                      <a:srgbClr val="FFFFFF"/>
                    </a:solidFill>
                  </a:tcPr>
                </a:tc>
                <a:tc>
                  <a:txBody>
                    <a:bodyPr/>
                    <a:lstStyle/>
                    <a:p>
                      <a:pPr>
                        <a:defRPr sz="1200">
                          <a:solidFill>
                            <a:srgbClr val="1A1A2E"/>
                          </a:solidFill>
                          <a:latin typeface="Yu Gothic"/>
                        </a:defRPr>
                      </a:pPr>
                      <a:r>
                        <a:t>約20%</a:t>
                      </a:r>
                    </a:p>
                  </a:txBody>
                  <a:tcPr>
                    <a:solidFill>
                      <a:srgbClr val="FFFFFF"/>
                    </a:solidFill>
                  </a:tcPr>
                </a:tc>
                <a:tc>
                  <a:txBody>
                    <a:bodyPr/>
                    <a:lstStyle/>
                    <a:p>
                      <a:pPr>
                        <a:defRPr sz="1200">
                          <a:solidFill>
                            <a:srgbClr val="1A1A2E"/>
                          </a:solidFill>
                          <a:latin typeface="Yu Gothic"/>
                        </a:defRPr>
                      </a:pPr>
                      <a:r>
                        <a:t>プレマーケット取引時点</a:t>
                      </a:r>
                    </a:p>
                  </a:txBody>
                  <a:tcPr>
                    <a:solidFill>
                      <a:srgbClr val="FFFFFF"/>
                    </a:solidFill>
                  </a:tcPr>
                </a:tc>
              </a:tr>
              <a:tr h="502920">
                <a:tc>
                  <a:txBody>
                    <a:bodyPr/>
                    <a:lstStyle/>
                    <a:p>
                      <a:pPr>
                        <a:defRPr sz="1200">
                          <a:solidFill>
                            <a:srgbClr val="1A1A2E"/>
                          </a:solidFill>
                          <a:latin typeface="Yu Gothic"/>
                        </a:defRPr>
                      </a:pPr>
                      <a:r>
                        <a:t>24/7 Wall St.</a:t>
                      </a:r>
                    </a:p>
                  </a:txBody>
                  <a:tcPr>
                    <a:solidFill>
                      <a:srgbClr val="F3F6FC"/>
                    </a:solidFill>
                  </a:tcPr>
                </a:tc>
                <a:tc>
                  <a:txBody>
                    <a:bodyPr/>
                    <a:lstStyle/>
                    <a:p>
                      <a:pPr>
                        <a:defRPr sz="1200">
                          <a:solidFill>
                            <a:srgbClr val="1A1A2E"/>
                          </a:solidFill>
                          <a:latin typeface="Yu Gothic"/>
                        </a:defRPr>
                      </a:pPr>
                      <a:r>
                        <a:t>約17%</a:t>
                      </a:r>
                    </a:p>
                  </a:txBody>
                  <a:tcPr>
                    <a:solidFill>
                      <a:srgbClr val="F3F6FC"/>
                    </a:solidFill>
                  </a:tcPr>
                </a:tc>
                <a:tc>
                  <a:txBody>
                    <a:bodyPr/>
                    <a:lstStyle/>
                    <a:p>
                      <a:pPr>
                        <a:defRPr sz="1200">
                          <a:solidFill>
                            <a:srgbClr val="1A1A2E"/>
                          </a:solidFill>
                          <a:latin typeface="Yu Gothic"/>
                        </a:defRPr>
                      </a:pPr>
                      <a:r>
                        <a:t>時間外取引時点</a:t>
                      </a:r>
                    </a:p>
                  </a:txBody>
                  <a:tcPr>
                    <a:solidFill>
                      <a:srgbClr val="F3F6FC"/>
                    </a:solidFill>
                  </a:tcPr>
                </a:tc>
              </a:tr>
              <a:tr h="502920">
                <a:tc>
                  <a:txBody>
                    <a:bodyPr/>
                    <a:lstStyle/>
                    <a:p>
                      <a:pPr>
                        <a:defRPr sz="1200">
                          <a:solidFill>
                            <a:srgbClr val="1A1A2E"/>
                          </a:solidFill>
                          <a:latin typeface="Yu Gothic"/>
                        </a:defRPr>
                      </a:pPr>
                      <a:r>
                        <a:t>その他の報道</a:t>
                      </a:r>
                    </a:p>
                  </a:txBody>
                  <a:tcPr>
                    <a:solidFill>
                      <a:srgbClr val="FFFFFF"/>
                    </a:solidFill>
                  </a:tcPr>
                </a:tc>
                <a:tc>
                  <a:txBody>
                    <a:bodyPr/>
                    <a:lstStyle/>
                    <a:p>
                      <a:pPr>
                        <a:defRPr sz="1200">
                          <a:solidFill>
                            <a:srgbClr val="1A1A2E"/>
                          </a:solidFill>
                          <a:latin typeface="Yu Gothic"/>
                        </a:defRPr>
                      </a:pPr>
                      <a:r>
                        <a:t>最大で約25%程度とする報道もある</a:t>
                      </a:r>
                    </a:p>
                  </a:txBody>
                  <a:tcPr>
                    <a:solidFill>
                      <a:srgbClr val="FFFFFF"/>
                    </a:solidFill>
                  </a:tcPr>
                </a:tc>
                <a:tc>
                  <a:txBody>
                    <a:bodyPr/>
                    <a:lstStyle/>
                    <a:p>
                      <a:pPr>
                        <a:defRPr sz="1200">
                          <a:solidFill>
                            <a:srgbClr val="1A1A2E"/>
                          </a:solidFill>
                          <a:latin typeface="Yu Gothic"/>
                        </a:defRPr>
                      </a:pPr>
                      <a:r>
                        <a:t>寄り付き後など測定タイミングが異なる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 / 24/7 Wall St. ほか(2026-08-11)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なぜ数値に幅があるのか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特定の一つの数値を断定的に採用しない理由です。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時間外取引・プレマーケット・寄り付き後など、測定するタイミングが報道ごとに異なる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株価は取引時間中も変動し続けるため、切り取るタイミングで数値が変わる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本テーマでは特定の一つの数値を断定せず、17%〜25%程度という幅で正直に示す</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 / 24/7 Wall St. ほか(2026-08-11)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業界の潮流(概念図)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ビットコインマイニング業界</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大規模な電力インフラを保有</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AIインフラ需要の急増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コンピュート容量の争奪戦が起きている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業界転換の一例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Riot PlatformsとAnthropicの契約はその一例とされる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この契約は、ビットコインマイニング企業がAIインフラ企業へ転換する業界全体の潮流の一例とされている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従来のビットコインマイニング収益 / AIインフラリース収益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従来のビットコインマイニング収益</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ビットコイン価格の変動に収益が左右される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マイニング報酬・電力コストが収益を左右する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短期的な価格変動リスクが大きい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AIインフラ・電力リース収益</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長期契約に基づく契約ベースの収益になる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20年という長期の見通しが立てやすい</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AI企業側の需要に依存するという新たなリスクもある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事実・推測・不明の区別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検証済み事実</a:t>
                      </a:r>
                    </a:p>
                  </a:txBody>
                  <a:tcPr>
                    <a:solidFill>
                      <a:srgbClr val="FFFFFF"/>
                    </a:solidFill>
                  </a:tcPr>
                </a:tc>
                <a:tc>
                  <a:txBody>
                    <a:bodyPr/>
                    <a:lstStyle/>
                    <a:p>
                      <a:pPr>
                        <a:defRPr sz="1200">
                          <a:solidFill>
                            <a:srgbClr val="1A1A2E"/>
                          </a:solidFill>
                          <a:latin typeface="Yu Gothic"/>
                        </a:defRPr>
                      </a:pPr>
                      <a:r>
                        <a:t>容量191MW・期間20年・契約ベース収益91億ドル・延長時最大161億ドル・段階稼働スケジュール・株価急騰(数値には幅あり)</a:t>
                      </a:r>
                    </a:p>
                  </a:txBody>
                  <a:tcPr>
                    <a:solidFill>
                      <a:srgbClr val="FFFFFF"/>
                    </a:solidFill>
                  </a:tcPr>
                </a:tc>
              </a:tr>
              <a:tr h="502920">
                <a:tc>
                  <a:txBody>
                    <a:bodyPr/>
                    <a:lstStyle/>
                    <a:p>
                      <a:pPr>
                        <a:defRPr sz="1200">
                          <a:solidFill>
                            <a:srgbClr val="1A1A2E"/>
                          </a:solidFill>
                          <a:latin typeface="Yu Gothic"/>
                        </a:defRPr>
                      </a:pPr>
                      <a:r>
                        <a:t>合理的推測</a:t>
                      </a:r>
                    </a:p>
                  </a:txBody>
                  <a:tcPr>
                    <a:solidFill>
                      <a:srgbClr val="F3F6FC"/>
                    </a:solidFill>
                  </a:tcPr>
                </a:tc>
                <a:tc>
                  <a:txBody>
                    <a:bodyPr/>
                    <a:lstStyle/>
                    <a:p>
                      <a:pPr>
                        <a:defRPr sz="1200">
                          <a:solidFill>
                            <a:srgbClr val="1A1A2E"/>
                          </a:solidFill>
                          <a:latin typeface="Yu Gothic"/>
                        </a:defRPr>
                      </a:pPr>
                      <a:r>
                        <a:t>91億ドルは累計見込み額で一括支払いではないこと、電力インフラ保有がAI需要の受け皿になったという文脈</a:t>
                      </a:r>
                    </a:p>
                  </a:txBody>
                  <a:tcPr>
                    <a:solidFill>
                      <a:srgbClr val="F3F6FC"/>
                    </a:solidFill>
                  </a:tcPr>
                </a:tc>
              </a:tr>
              <a:tr h="502920">
                <a:tc>
                  <a:txBody>
                    <a:bodyPr/>
                    <a:lstStyle/>
                    <a:p>
                      <a:pPr>
                        <a:defRPr sz="1200">
                          <a:solidFill>
                            <a:srgbClr val="1A1A2E"/>
                          </a:solidFill>
                          <a:latin typeface="Yu Gothic"/>
                        </a:defRPr>
                      </a:pPr>
                      <a:r>
                        <a:t>不明</a:t>
                      </a:r>
                    </a:p>
                  </a:txBody>
                  <a:tcPr>
                    <a:solidFill>
                      <a:srgbClr val="FFFFFF"/>
                    </a:solidFill>
                  </a:tcPr>
                </a:tc>
                <a:tc>
                  <a:txBody>
                    <a:bodyPr/>
                    <a:lstStyle/>
                    <a:p>
                      <a:pPr>
                        <a:defRPr sz="1200">
                          <a:solidFill>
                            <a:srgbClr val="1A1A2E"/>
                          </a:solidFill>
                          <a:latin typeface="Yu Gothic"/>
                        </a:defRPr>
                      </a:pPr>
                      <a:r>
                        <a:t>Anthropicの公式コメントの有無、電力の具体的な用途、他契約との関係性、Riotの今後の方針</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Anthropicがこの契約について公式にコメント・確認したかどうか</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r h="502920">
                <a:tc>
                  <a:txBody>
                    <a:bodyPr/>
                    <a:lstStyle/>
                    <a:p>
                      <a:pPr>
                        <a:defRPr sz="1200">
                          <a:solidFill>
                            <a:srgbClr val="1A1A2E"/>
                          </a:solidFill>
                          <a:latin typeface="Yu Gothic"/>
                        </a:defRPr>
                      </a:pPr>
                      <a:r>
                        <a:t>電力容量が主にどのAIモデルの訓練・推論用途に使われるかの詳細</a:t>
                      </a:r>
                    </a:p>
                  </a:txBody>
                  <a:tcPr>
                    <a:solidFill>
                      <a:srgbClr val="F3F6FC"/>
                    </a:solidFill>
                  </a:tcPr>
                </a:tc>
                <a:tc>
                  <a:txBody>
                    <a:bodyPr/>
                    <a:lstStyle/>
                    <a:p>
                      <a:pPr>
                        <a:defRPr sz="1200">
                          <a:solidFill>
                            <a:srgbClr val="1A1A2E"/>
                          </a:solidFill>
                          <a:latin typeface="Yu Gothic"/>
                        </a:defRPr>
                      </a:pPr>
                      <a:r>
                        <a:t>本調査の範囲では確認できていない</a:t>
                      </a:r>
                    </a:p>
                  </a:txBody>
                  <a:tcPr>
                    <a:solidFill>
                      <a:srgbClr val="F3F6FC"/>
                    </a:solidFill>
                  </a:tcPr>
                </a:tc>
              </a:tr>
              <a:tr h="502920">
                <a:tc>
                  <a:txBody>
                    <a:bodyPr/>
                    <a:lstStyle/>
                    <a:p>
                      <a:pPr>
                        <a:defRPr sz="1200">
                          <a:solidFill>
                            <a:srgbClr val="1A1A2E"/>
                          </a:solidFill>
                          <a:latin typeface="Yu Gothic"/>
                        </a:defRPr>
                      </a:pPr>
                      <a:r>
                        <a:t>他の同種契約(AMD向け50メガワット等)との具体的な関係性</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r h="502920">
                <a:tc>
                  <a:txBody>
                    <a:bodyPr/>
                    <a:lstStyle/>
                    <a:p>
                      <a:pPr>
                        <a:defRPr sz="1200">
                          <a:solidFill>
                            <a:srgbClr val="1A1A2E"/>
                          </a:solidFill>
                          <a:latin typeface="Yu Gothic"/>
                        </a:defRPr>
                      </a:pPr>
                      <a:r>
                        <a:t>Riot Platforms社の今後のビットコインマイニング事業自体の方針</a:t>
                      </a:r>
                    </a:p>
                  </a:txBody>
                  <a:tcPr>
                    <a:solidFill>
                      <a:srgbClr val="F3F6FC"/>
                    </a:solidFill>
                  </a:tcPr>
                </a:tc>
                <a:tc>
                  <a:txBody>
                    <a:bodyPr/>
                    <a:lstStyle/>
                    <a:p>
                      <a:pPr>
                        <a:defRPr sz="1200">
                          <a:solidFill>
                            <a:srgbClr val="1A1A2E"/>
                          </a:solidFill>
                          <a:latin typeface="Yu Gothic"/>
                        </a:defRPr>
                      </a:pPr>
                      <a:r>
                        <a:t>本調査の範囲では確認できていない</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この契約から何を確認すべきか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契約の性質</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91億ドルは累計見込み額であり、即時の支払いではないことを確認する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業界動向</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ビットコインマイナーのAI転換が一時的か構造的かを継続して見る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株価反応</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報道による数値の幅を踏まえ、単一の数値を鵜呑みにしない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立場別の実践的示唆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投資家・業界観察者として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契約ベース収益の計上時期・延長オプションの行使有無を継続して確認する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AIインフラに関心がある企業として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電力容量の確保競争が今後も続く業界動向の一例として捉える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株価上昇率は報道により数値が異なる点を踏まえ、単一の数値を鵜呑みにしない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本テーマの取り扱い方針(自己言及リスクへの配慮)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本テーマはAnthropic社に関するテーマであることを踏まえた方針です。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本シリーズ自体がClaude Codeで制作・運用されている点を踏まえ、称賛的な表現・誇張は避ける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契約規模・株価反応という客観的事実を淡々と報告する構成にする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特定企業(Anthropic)の製品利用を推奨する結論にはしない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5媒体が同時期に報道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CNBC・Data Center Dynamics・Yahoo Finance・CoinDesk・24/7 Wall St.が、独立して同じ発表を報じた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各社(2026-08-11)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報道日</a:t>
                      </a:r>
                    </a:p>
                  </a:txBody>
                  <a:tcPr>
                    <a:solidFill>
                      <a:srgbClr val="1E2761"/>
                    </a:solidFill>
                  </a:tcPr>
                </a:tc>
              </a:tr>
              <a:tr h="502920">
                <a:tc>
                  <a:txBody>
                    <a:bodyPr/>
                    <a:lstStyle/>
                    <a:p>
                      <a:pPr>
                        <a:defRPr sz="1200">
                          <a:solidFill>
                            <a:srgbClr val="1A1A2E"/>
                          </a:solidFill>
                          <a:latin typeface="Yu Gothic"/>
                        </a:defRPr>
                      </a:pPr>
                      <a:r>
                        <a:t>CNBC</a:t>
                      </a:r>
                    </a:p>
                  </a:txBody>
                  <a:tcPr>
                    <a:solidFill>
                      <a:srgbClr val="FFFFFF"/>
                    </a:solidFill>
                  </a:tcPr>
                </a:tc>
                <a:tc>
                  <a:txBody>
                    <a:bodyPr/>
                    <a:lstStyle/>
                    <a:p>
                      <a:pPr>
                        <a:defRPr sz="1200">
                          <a:solidFill>
                            <a:srgbClr val="1A1A2E"/>
                          </a:solidFill>
                          <a:latin typeface="Yu Gothic"/>
                        </a:defRPr>
                      </a:pPr>
                      <a:r>
                        <a:t>2026-08-11</a:t>
                      </a:r>
                    </a:p>
                  </a:txBody>
                  <a:tcPr>
                    <a:solidFill>
                      <a:srgbClr val="FFFFFF"/>
                    </a:solidFill>
                  </a:tcPr>
                </a:tc>
              </a:tr>
              <a:tr h="502920">
                <a:tc>
                  <a:txBody>
                    <a:bodyPr/>
                    <a:lstStyle/>
                    <a:p>
                      <a:pPr>
                        <a:defRPr sz="1200">
                          <a:solidFill>
                            <a:srgbClr val="1A1A2E"/>
                          </a:solidFill>
                          <a:latin typeface="Yu Gothic"/>
                        </a:defRPr>
                      </a:pPr>
                      <a:r>
                        <a:t>Data Center Dynamics</a:t>
                      </a:r>
                    </a:p>
                  </a:txBody>
                  <a:tcPr>
                    <a:solidFill>
                      <a:srgbClr val="F3F6FC"/>
                    </a:solidFill>
                  </a:tcPr>
                </a:tc>
                <a:tc>
                  <a:txBody>
                    <a:bodyPr/>
                    <a:lstStyle/>
                    <a:p>
                      <a:pPr>
                        <a:defRPr sz="1200">
                          <a:solidFill>
                            <a:srgbClr val="1A1A2E"/>
                          </a:solidFill>
                          <a:latin typeface="Yu Gothic"/>
                        </a:defRPr>
                      </a:pPr>
                      <a:r>
                        <a:t>2026-08-11</a:t>
                      </a:r>
                    </a:p>
                  </a:txBody>
                  <a:tcPr>
                    <a:solidFill>
                      <a:srgbClr val="F3F6FC"/>
                    </a:solidFill>
                  </a:tcPr>
                </a:tc>
              </a:tr>
              <a:tr h="502920">
                <a:tc>
                  <a:txBody>
                    <a:bodyPr/>
                    <a:lstStyle/>
                    <a:p>
                      <a:pPr>
                        <a:defRPr sz="1200">
                          <a:solidFill>
                            <a:srgbClr val="1A1A2E"/>
                          </a:solidFill>
                          <a:latin typeface="Yu Gothic"/>
                        </a:defRPr>
                      </a:pPr>
                      <a:r>
                        <a:t>Yahoo Finance</a:t>
                      </a:r>
                    </a:p>
                  </a:txBody>
                  <a:tcPr>
                    <a:solidFill>
                      <a:srgbClr val="FFFFFF"/>
                    </a:solidFill>
                  </a:tcPr>
                </a:tc>
                <a:tc>
                  <a:txBody>
                    <a:bodyPr/>
                    <a:lstStyle/>
                    <a:p>
                      <a:pPr>
                        <a:defRPr sz="1200">
                          <a:solidFill>
                            <a:srgbClr val="1A1A2E"/>
                          </a:solidFill>
                          <a:latin typeface="Yu Gothic"/>
                        </a:defRPr>
                      </a:pPr>
                      <a:r>
                        <a:t>2026-08-11</a:t>
                      </a:r>
                    </a:p>
                  </a:txBody>
                  <a:tcPr>
                    <a:solidFill>
                      <a:srgbClr val="FFFFFF"/>
                    </a:solidFill>
                  </a:tcPr>
                </a:tc>
              </a:tr>
              <a:tr h="502920">
                <a:tc>
                  <a:txBody>
                    <a:bodyPr/>
                    <a:lstStyle/>
                    <a:p>
                      <a:pPr>
                        <a:defRPr sz="1200">
                          <a:solidFill>
                            <a:srgbClr val="1A1A2E"/>
                          </a:solidFill>
                          <a:latin typeface="Yu Gothic"/>
                        </a:defRPr>
                      </a:pPr>
                      <a:r>
                        <a:t>CoinDesk</a:t>
                      </a:r>
                    </a:p>
                  </a:txBody>
                  <a:tcPr>
                    <a:solidFill>
                      <a:srgbClr val="F3F6FC"/>
                    </a:solidFill>
                  </a:tcPr>
                </a:tc>
                <a:tc>
                  <a:txBody>
                    <a:bodyPr/>
                    <a:lstStyle/>
                    <a:p>
                      <a:pPr>
                        <a:defRPr sz="1200">
                          <a:solidFill>
                            <a:srgbClr val="1A1A2E"/>
                          </a:solidFill>
                          <a:latin typeface="Yu Gothic"/>
                        </a:defRPr>
                      </a:pPr>
                      <a:r>
                        <a:t>2026-08-11</a:t>
                      </a:r>
                    </a:p>
                  </a:txBody>
                  <a:tcPr>
                    <a:solidFill>
                      <a:srgbClr val="F3F6FC"/>
                    </a:solidFill>
                  </a:tcPr>
                </a:tc>
              </a:tr>
              <a:tr h="502920">
                <a:tc>
                  <a:txBody>
                    <a:bodyPr/>
                    <a:lstStyle/>
                    <a:p>
                      <a:pPr>
                        <a:defRPr sz="1200">
                          <a:solidFill>
                            <a:srgbClr val="1A1A2E"/>
                          </a:solidFill>
                          <a:latin typeface="Yu Gothic"/>
                        </a:defRPr>
                      </a:pPr>
                      <a:r>
                        <a:t>24/7 Wall St.</a:t>
                      </a:r>
                    </a:p>
                  </a:txBody>
                  <a:tcPr>
                    <a:solidFill>
                      <a:srgbClr val="FFFFFF"/>
                    </a:solidFill>
                  </a:tcPr>
                </a:tc>
                <a:tc>
                  <a:txBody>
                    <a:bodyPr/>
                    <a:lstStyle/>
                    <a:p>
                      <a:pPr>
                        <a:defRPr sz="1200">
                          <a:solidFill>
                            <a:srgbClr val="1A1A2E"/>
                          </a:solidFill>
                          <a:latin typeface="Yu Gothic"/>
                        </a:defRPr>
                      </a:pPr>
                      <a:r>
                        <a:t>2026-08-11</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CNBC / Data Center Dynamicsほか(2026-08-11報道)｜174本目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91億ドルの契約は、まだ始まったばかり。数字は累計の見込み額であることを忘れずに。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特定企業・製品の利用を強く推奨する結論や、株価上昇率の単一数値への断定は一切行っていません。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