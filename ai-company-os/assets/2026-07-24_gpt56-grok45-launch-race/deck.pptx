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ドル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Sheet1!$A$2:$A$5</c:f>
              <c:strCache>
                <c:ptCount val="4"/>
                <c:pt idx="0">
                  <c:v>Grok 4.5</c:v>
                </c:pt>
                <c:pt idx="1">
                  <c:v>GPT-5.6 Luna</c:v>
                </c:pt>
                <c:pt idx="2">
                  <c:v>GPT-5.6 Terra</c:v>
                </c:pt>
                <c:pt idx="3">
                  <c:v>GPT-5.6 Sol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2.5</c:v>
                </c:pt>
                <c:pt idx="3">
                  <c:v>5</c:v>
                </c:pt>
              </c:numCache>
            </c:numRef>
          </c:val>
        </c:ser>
        <c:dLbls>
          <c:numFmt formatCode="$#,##0.00" sourceLinked="0"/>
          <c:txPr>
            <a:bodyPr/>
            <a:lstStyle/>
            <a:p>
              <a:pPr>
                <a:defRPr sz="1200" b="1">
                  <a:solidFill>
                    <a:srgbClr val="1E2761"/>
                  </a:solidFill>
                  <a:latin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ドル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Sheet1!$A$2:$A$5</c:f>
              <c:strCache>
                <c:ptCount val="4"/>
                <c:pt idx="0">
                  <c:v>Grok 4.5</c:v>
                </c:pt>
                <c:pt idx="1">
                  <c:v>GPT-5.6 Luna</c:v>
                </c:pt>
                <c:pt idx="2">
                  <c:v>GPT-5.6 Terra</c:v>
                </c:pt>
                <c:pt idx="3">
                  <c:v>GPT-5.6 Sol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6</c:v>
                </c:pt>
                <c:pt idx="2">
                  <c:v>15</c:v>
                </c:pt>
                <c:pt idx="3">
                  <c:v>30</c:v>
                </c:pt>
              </c:numCache>
            </c:numRef>
          </c:val>
        </c:ser>
        <c:dLbls>
          <c:numFmt formatCode="$#,##0.00" sourceLinked="0"/>
          <c:txPr>
            <a:bodyPr/>
            <a:lstStyle/>
            <a:p>
              <a:pPr>
                <a:defRPr sz="1200" b="1">
                  <a:solidFill>
                    <a:srgbClr val="1E2761"/>
                  </a:solidFill>
                  <a:latin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フックとして問いかけから入る。1日違いの競合発表という珍しさを突く。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起承転結を予告する。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専門用語を最初に整理する。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2社の発表を表で整理する。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時系列を図で示す。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Grok 4.5の概要を表で整理する。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100万トークンあたりの入力料金を数字で示す。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GPT-5.6の3段階構成を表で整理する。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4モデルの入力料金差をグラフで見せる。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出力料金は差がさらに大きいことをグラフで見せる。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TerraはGPT-5.5と同等性能を保ちつつ2倍安くなったことを示す。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2社の設計思想の違いを対比で見せる。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提供チャネルを表で整理する。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異例の審査プロセスを図で示す。事実を淡々と紹介する。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特定の政府・政党への批判ではなく、事実として淡々と紹介する。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Grok 4.5と連携するCursorの開発元Anysphereを、SpaceXが全株式取引で買収すると発表したことを示す。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ここからは推測であることを明言する。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見送った候補も具体的に共有する。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転換パート。ここから実践的な話に入る。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出来事の紹介だけで終わらせず、読み手にとっての意味を扱う。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実際に試す前のチェックリストとして提示する。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実践につながる進め方をステップで見せる。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個人視点も扱う。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不明点を正直に「不明」と明言する。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政治・対立を煽らないという制作方針を明確に伝える。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検品結果を表でまとめる。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出典を短く再掲する。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結のキーメッセージ。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オープンループで次回への引き。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最終スライド。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1日違いで発表された2つのAIモデル、知っていますか?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OpenAI「GPT-5.6」 vs xAI「Grok 4.5」 — コーディング特化モデルの価格競争(2026年7月8-9日)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A3D0"/>
                </a:solidFill>
                <a:latin typeface="Yu Gothic"/>
              </a:rPr>
              <a:t>出典: OpenAI公式, TechCrunch, US News/AP, Winbuzzer(2026-07-08〜09)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今日話すこと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起: 前提知識 + 何が起きたか(2社の発表)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承: 料金・提供チャネルを比較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転: なぜこのタイミングか、これは何を意味するか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Yu Gothic"/>
              </a:rPr>
              <a:t>結: 不明点・リスク配慮・まとめ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まず言葉の整理(初心者向け)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コーディングエージェント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AIが自律的にコードを書き・実行・修正するツール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トークン単価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AIモデルの利用料金の基準。100万トークンあたりの金額で表記される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何が起きたか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発表内容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2026年7月8日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xAI(SpaceXAI)が「Grok 4.5」を発表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2026年7月9日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OpenAIが「GPT-5.6」(Sol/Terra/Luna)を一般提供開始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US News/AP(2026-07-08)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発表までのタイムライン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6/26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GPT-5.6 Solプレビュー(米政府要請で制限提供)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7/8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Grok 4.5発表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7/9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GPT-5.6一般提供開始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TechCrunch(2026-06-26)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Grok 4.5の概要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xAI(SpaceXAI)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コーディング・エージェント向け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学習環境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NVIDIA GB300 GPUを数万基使用(自社発表)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US News/AP(2026-07-08)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Grok 4.5の入力料金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$2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100万トークンあたり(キャッシュ入力は$0.5)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Winbuzzer(2026-07-09)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GPT-5.6の3ティア構成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ティア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位置づけ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Sol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最上位、最も高性能・高価格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Terra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標準、多くの本番用途の既定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Luna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最安、高速・大量処理向け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OpenAI公式ブログ(2026-07-09)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入力料金の比較(100万トークンあたり)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63040"/>
          <a:ext cx="108813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Winbuzzer(2026-07-09)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出力料金の比較(100万トークンあたり)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63040"/>
          <a:ext cx="108813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OpenAI公式ブログ(2026-07-09)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Terraの値下げ幅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2倍安く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前世代(GPT-5.5)比、本番用途の既定モデルに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OpenAI公式ブログ(2026-07-09)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Grok 4.5とGPT-5.6、アプローチの違い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Grok 4.5(xAI)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単一モデルで幅広くカバー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Cursor等の外部ツールと連携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少ないステップでタスク完了を志向(自社発表)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GPT-5.6(OpenAI)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Sol/Terra/Lunaの3段階で使い分け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ChatGPT・API・Codex・Copilotに統合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1A2E"/>
                </a:solidFill>
                <a:latin typeface="Yu Gothic"/>
              </a:rPr>
              <a:t>用途別の価格帯を明確に提示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提供チャネル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モデル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チャネル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Grok 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Grok Build / SpaceXAIコンソール / Cursor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GPT-5.6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ChatGPT / API / Codex / GitHub Copilot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TechCrunch(2026-07-09)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GPT-5.6 Solの政府審査プロセス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6/26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プレビュー発表、約20組織限定で制限提供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13日間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米政府機関(国家サイバー長官室等)の要請で制限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7/9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商務省CAISIの検証後、一般提供開始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TechCrunch(2026-06-26)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政府審査という異例のプロセス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GPT-5.6 Solは一般提供前に、米政府機関の要請で約20組織限定の制限提供期間があった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OpenAIは「制限が常態化すべきではない」とコメントしている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出典: TechCrunch(2026-06-26)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Yu Gothic"/>
              </a:rPr>
              <a:t>SpaceXによるCursor買収額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D9A441"/>
                </a:solidFill>
                <a:latin typeface="Yu Gothic"/>
              </a:rPr>
              <a:t>600億ドル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Anysphere(Cursor開発元)の買収発表(全株式取引)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FA3D0"/>
                </a:solidFill>
                <a:latin typeface="Yu Gothic"/>
              </a:rPr>
              <a:t>出典: US News/AP(2026-07-08)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なぜこのタイミングで競合発表が重なったのか(推測)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市場の奪い合い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コーディングエージェント市場の主導権を先に握る狙い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価格での差別化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性能だけでなく価格でも先手を打つ狙い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審査プロセスの影響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GPT-5.6は政府審査で発表が後ろ倒しになった可能性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見送った候補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Mistral AI「Robostral Navigate」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ロボティクスモデル。実用性・身近さで見送り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Perplexity CometのSamsung統合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既存製品の機能アップデートで新規性が薄く見送り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これが意味すること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価格競争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同用途モデルの価格帯が広がる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使い分け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用途別にモデルを選ぶ動きが加速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2761"/>
                </a:solidFill>
                <a:latin typeface="Yu Gothic"/>
              </a:rPr>
              <a:t>統合の広がり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既存ツール(Cursor/Copilot等)への組み込みが進む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これは何を意味するのか(利用者にとって)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コーディング用途で選べるAIモデルの選択肢と価格帯が広がっている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既に使っているツール(Cursor、GitHub Copilot等)経由で新モデルを試せる場合がある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試すなら確認したいこと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何に使うか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コーディング用途か、それ以外かを決める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料金の見積もり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入出力トークン数の目安を確認する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既存ツールとの連携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普段使うツールが対応しているか確認する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実際に試す場合の進め方(目安)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①目的を決める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コーディング用途か汎用かを明確にする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②モデルを選ぶ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料金・性能の比較表を参考に検討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③既存ツール経由で試す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270"/>
                </a:solidFill>
                <a:latin typeface="Yu Gothic"/>
              </a:rPr>
              <a:t>Cursor・Copilot等、慣れたツールから試すのも手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個人にとっての影響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普段使うコーディングツールの裏側で、AIモデルが日々更新されている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料金・性能の選択肢が増え、用途に合わせて選べるようになってきている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不明点・注意点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両モデルの詳細なベンチマーク数値(第三者による独立検証)は非公開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GPT-5.6の政府審査(CAISIの検証内容)の具体的な基準は非公開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SpaceXによるAnysphere買収の完了時期・審査見通しは今回の発表では未言及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リスク配慮のポイント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事実紹介に徹する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企業の製品発表という事実を淡々と紹介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政府審査は中立に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特定の政府・政党への批判や憶測は行わない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Yu Gothic"/>
              </a:rPr>
              <a:t>自社発表と明示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270"/>
                </a:solidFill>
                <a:latin typeface="Yu Gothic"/>
              </a:rPr>
              <a:t>各社の性能主張は「自社発表」と明記している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検品結果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verify_pptx.py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同一レイアウト連続チェック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bullets比率チェック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対話原稿スライド数整合性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OpenAI公式ブログ / TechCrunch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US News(AP配信) / Yahoo Tech / Winbuzzer / TechTimes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AIモデルの価格競争は「速さ」から「使い分け」の時代へ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用途別の価格帯が広がり、既存ツール経由で試しやすくなっている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興味があれば、まずは普段使うツール経由で試してみる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Yu Gothic"/>
              </a:rPr>
              <a:t>次回予告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AIモデルの価格競争・専門特化は続くテーマ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1A2E"/>
                </a:solidFill>
                <a:latin typeface="Yu Gothic"/>
              </a:rPr>
              <a:t>次回も独立系メディアの報道をもとに紹介する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270"/>
                </a:solidFill>
                <a:latin typeface="Yu Gothic"/>
              </a:rPr>
              <a:t>AI Company OS - 定期実行26本目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270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FA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ご視聴ありがとうございました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ADCFC"/>
                </a:solidFill>
                <a:latin typeface="Yu Gothic"/>
              </a:rPr>
              <a:t>出典・詳細はresearch.mdと各スライドの出典表記を参照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Yu Gothic"/>
              </a:rPr>
              <a:t>質問・フィードバックはいつでもどうぞ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