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得点</c:v>
                </c:pt>
              </c:strCache>
            </c:strRef>
          </c:tx>
          <c:spPr>
            <a:solidFill>
              <a:srgbClr val="2B3A55"/>
            </a:solidFill>
          </c:spPr>
          <c:cat>
            <c:strRef>
              <c:f>Sheet1!$A$2:$A$5</c:f>
              <c:strCache>
                <c:ptCount val="4"/>
                <c:pt idx="0">
                  <c:v>第1セット・田中</c:v>
                </c:pt>
                <c:pt idx="1">
                  <c:v>第1セット・翁</c:v>
                </c:pt>
                <c:pt idx="2">
                  <c:v>第2セット・田中</c:v>
                </c:pt>
                <c:pt idx="3">
                  <c:v>第2セット・翁</c:v>
                </c:pt>
              </c:strCache>
            </c:strRef>
          </c:cat>
          <c:val>
            <c:numRef>
              <c:f>Sheet1!$B$2:$B$5</c:f>
              <c:numCache>
                <c:formatCode>General</c:formatCode>
                <c:ptCount val="4"/>
                <c:pt idx="0">
                  <c:v>21</c:v>
                </c:pt>
                <c:pt idx="1">
                  <c:v>17</c:v>
                </c:pt>
                <c:pt idx="2">
                  <c:v>21</c:v>
                </c:pt>
                <c:pt idx="3">
                  <c:v>14</c:v>
                </c:pt>
              </c:numCache>
            </c:numRef>
          </c:val>
        </c:ser>
        <c:dLbls>
          <c:numFmt formatCode="#,##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得点</c:v>
                </c:pt>
              </c:strCache>
            </c:strRef>
          </c:tx>
          <c:spPr>
            <a:solidFill>
              <a:srgbClr val="2B3A55"/>
            </a:solidFill>
          </c:spPr>
          <c:cat>
            <c:strRef>
              <c:f>Sheet1!$A$2:$A$7</c:f>
              <c:strCache>
                <c:ptCount val="6"/>
                <c:pt idx="0">
                  <c:v>第1セット・奈良岡</c:v>
                </c:pt>
                <c:pt idx="1">
                  <c:v>第1セット・戚</c:v>
                </c:pt>
                <c:pt idx="2">
                  <c:v>第2セット・奈良岡</c:v>
                </c:pt>
                <c:pt idx="3">
                  <c:v>第2セット・戚</c:v>
                </c:pt>
                <c:pt idx="4">
                  <c:v>第3セット・奈良岡</c:v>
                </c:pt>
                <c:pt idx="5">
                  <c:v>第3セット・戚</c:v>
                </c:pt>
              </c:strCache>
            </c:strRef>
          </c:cat>
          <c:val>
            <c:numRef>
              <c:f>Sheet1!$B$2:$B$7</c:f>
              <c:numCache>
                <c:formatCode>General</c:formatCode>
                <c:ptCount val="6"/>
                <c:pt idx="0">
                  <c:v>21</c:v>
                </c:pt>
                <c:pt idx="1">
                  <c:v>17</c:v>
                </c:pt>
                <c:pt idx="2">
                  <c:v>19</c:v>
                </c:pt>
                <c:pt idx="3">
                  <c:v>21</c:v>
                </c:pt>
                <c:pt idx="4">
                  <c:v>21</c:v>
                </c:pt>
                <c:pt idx="5">
                  <c:v>12</c:v>
                </c:pt>
              </c:numCache>
            </c:numRef>
          </c:val>
        </c:ser>
        <c:dLbls>
          <c:numFmt formatCode="#,##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得点</c:v>
                </c:pt>
              </c:strCache>
            </c:strRef>
          </c:tx>
          <c:spPr>
            <a:solidFill>
              <a:srgbClr val="2B3A55"/>
            </a:solidFill>
          </c:spPr>
          <c:cat>
            <c:strRef>
              <c:f>Sheet1!$A$2:$A$7</c:f>
              <c:strCache>
                <c:ptCount val="6"/>
                <c:pt idx="0">
                  <c:v>第1セット・熊谷/西</c:v>
                </c:pt>
                <c:pt idx="1">
                  <c:v>第1セット・李/李</c:v>
                </c:pt>
                <c:pt idx="2">
                  <c:v>第2セット・熊谷/西</c:v>
                </c:pt>
                <c:pt idx="3">
                  <c:v>第2セット・李/李</c:v>
                </c:pt>
                <c:pt idx="4">
                  <c:v>第3セット・熊谷/西</c:v>
                </c:pt>
                <c:pt idx="5">
                  <c:v>第3セット・李/李</c:v>
                </c:pt>
              </c:strCache>
            </c:strRef>
          </c:cat>
          <c:val>
            <c:numRef>
              <c:f>Sheet1!$B$2:$B$7</c:f>
              <c:numCache>
                <c:formatCode>General</c:formatCode>
                <c:ptCount val="6"/>
                <c:pt idx="0">
                  <c:v>21</c:v>
                </c:pt>
                <c:pt idx="1">
                  <c:v>12</c:v>
                </c:pt>
                <c:pt idx="2">
                  <c:v>18</c:v>
                </c:pt>
                <c:pt idx="3">
                  <c:v>21</c:v>
                </c:pt>
                <c:pt idx="4">
                  <c:v>21</c:v>
                </c:pt>
                <c:pt idx="5">
                  <c:v>18</c:v>
                </c:pt>
              </c:numCache>
            </c:numRef>
          </c:val>
        </c:ser>
        <c:dLbls>
          <c:numFmt formatCode="#,##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試合数</c:v>
                </c:pt>
              </c:strCache>
            </c:strRef>
          </c:tx>
          <c:spPr>
            <a:solidFill>
              <a:srgbClr val="2B3A55"/>
            </a:solidFill>
          </c:spPr>
          <c:cat>
            <c:strRef>
              <c:f>Sheet1!$A$2:$A$3</c:f>
              <c:strCache>
                <c:ptCount val="2"/>
                <c:pt idx="0">
                  <c:v>ストレート勝ち</c:v>
                </c:pt>
                <c:pt idx="1">
                  <c:v>フルセット勝ち</c:v>
                </c:pt>
              </c:strCache>
            </c:strRef>
          </c:cat>
          <c:val>
            <c:numRef>
              <c:f>Sheet1!$B$2:$B$3</c:f>
              <c:numCache>
                <c:formatCode>General</c:formatCode>
                <c:ptCount val="2"/>
                <c:pt idx="0">
                  <c:v>3</c:v>
                </c:pt>
                <c:pt idx="1">
                  <c:v>2</c:v>
                </c:pt>
              </c:numCache>
            </c:numRef>
          </c:val>
        </c:ser>
        <c:dLbls>
          <c:numFmt formatCode="#,##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2026年8月17日、バドミントン世界選手権2026がインド・ニューデリーのKD Jadhavインドアスタジアムで開幕しました。混合ダブルスを除く4種目の1回戦が行われ、日本勢は確認できた5試合すべてに勝利しています。今日はこの初日の結果を、出典付きで正確に整理してお届けします。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大会初日、混合ダブルスを除く4種目の1回戦が行われ、本調査で確認できた日本勢の5試合はすべて勝利という結果でした。他の日本人選手の結果は未確認のため『確認できた5試合』という表現にとどめます。ここから1試合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今日は6つの流れでお伝えします。基礎知識から大会概要、5試合それぞれの数字での深掘り、そして確認できていないことまで、出典付きで正確に整理します。断定を避けるべき点は正直にお伝えします。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大会初日という新しさに加え、第7シード選手を破った試合やフルセットの接戦など数字で語れる見どころが複数あります。独立した2つの情報源が内容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基礎知識を確認します。バドミントン世界選手権は国際バドミントン連盟(BWF)が主催する国際大会で、5種目それぞれの世界王座を争います。シードは実力上位と位置づけられた選手・ペア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大会概要を確認します。バドミントン世界選手権2026は2026年8月17日、インド・ニューデリーのKD Jadhavインドアスタジアムで開幕しました。初日は混合ダブルスを除く4種目の1回戦が行われています。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この後よく出てくる言葉を確認します。ストレートは2セット連取での決着、フルセットは3セット目までもつれた末の決着です。第◯シードは大会側が実力上位と位置づけて登録した選手・ペアを指します。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日の流れです。インド・ニューデリーで大会が開幕し、混合ダブルスを除く4種目の1回戦が行われました。本調査では男子シングルス2試合・男子ダブルス2試合・女子ダブルス1試合の計5試合を確認でき、いずれも日本勢の勝利という結果で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男子シングルス1回戦、田中湧士選手が第7シードの翁泓陽選手(中国)と対戦しました。結果は21-17、21-14のストレート勝ち。シード選手を破っての2回戦進出です。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セットスコアをグラフにしました。第1セットは21-17、第2セットは21-14。いずれも田中選手が5点前後の差をつけて連取し、ストレートで勝利しています。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続いて男子シングルスのもう1試合です。奈良岡功大選手が戚又仁選手(台湾)と対戦し、21-17、19-21、21-12のフルセットの末に初戦を突破しました。第2セットを落とす接戦でした。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セットスコアをグラフにしました。第1セットは奈良岡選手が21-17で先取しましたが、第2セットは19-21で戚選手が奪い返しました。第3セットは21-12で奈良岡選手が突き放し、フルセットの末に勝利しています。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男子ダブルス1回戦、霜上雄一/野村拓海組がポポフ兄弟(フランス)と対戦しました。結果は21-13、21-17のストレート勝ちで、初戦を突破しています。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男子ダブルスのもう1試合です。熊谷翔/西大輝組が李芳任/李芳至組(台湾)と対戦し、21-12、18-21、21-18のフルセットの末に勝利しました。第2セットを落とす接戦を制しています。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セットスコアをグラフにしました。第1セットは21-12で大きくリードしましたが、第2セットは18-21で落とし、第3セットを21-18で制してフルセット勝利となりました。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女子ダブルス1回戦、大澤佳歩/田部真唯組がドラプカ/ルムポルト組(オーストリア)と対戦しました。結果は21-5、21-7の大差での勝利です。確認できた5試合の中でも最も点差の大きい結果でした。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確認できた5試合をサマリー表にまとめました。男子シングルス2試合、男子ダブルス2試合、女子ダブルス1試合で、いずれも日本勢が勝利しています。詳細な出典はresearch.mdをご確認ください。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5試合の内訳をグラフにしました。ストレート勝ちが3試合(田中選手、霜上/野村組、大澤/田部組)、フルセットの末の勝利が2試合(奈良岡選手、熊谷/西組)でした。接戦を制した試合も複数含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見出しの印象と実際の内容にはギャップが生まれがちです。確認できたのは5試合のみで、他の日本人選手の結果は未確認です。5試合中2試合はフルセットの接戦であり、楽勝続きだったわけではありません。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確認できていることを正確に整理します。大会の開幕日・会場、そして5試合それぞれのスコア・対戦相手・シード情報は、複数の独立した情報源で確認できています。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他の日本人選手の初日成績は本調査の範囲では確認できていません。そのため大会参加日本人選手全員が勝利したという断定は行わず、確認できた5試合すべてに勝利という表現にとどめ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確認できていることといないことを整理します。5試合のスコア・対戦相手・シード情報、大会の開幕日・会場は確認できています。一方、他の日本人選手の全結果や2回戦以降の日程は確認できていません。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確認できた5試合すべての勝利は好材料ですが、大会全体の結果を先取りする断定は避けます。確認できていない選手・種目は続報を待つ姿勢が大切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視聴者にとっての実践的な示唆をまとめました。バドミントンファンとして、ニュースを見る立場として、情報を発信する立場として、それぞれで意識したい点です。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大会の開幕と確認できた5試合の勝利はすべて出典で確認できた事実です。ストレート勝ちとフルセット勝ちの内訳からの評価は合理的推測とし、他の選手の結果や今後の日程は不明として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断定的な表現を避ける理由です。日本勢が初日5戦全勝という見出しは、確認できた5試合の範囲に限定した事実です。確認できていない選手の結果は未確認のまま扱い、大会全体の成否を先取りして評価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この結果が話題になった理由を3つにまとめました。シード選手を破った試合、フルセットの接戦を制した試合、複数種目にまたがる5試合すべての勝利という点です。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今後の見どころ・追い方です。2回戦以降の日程・結果、他の日本人選手の成績は、続報が出た場合にあらためて出典を確認して伝えます。本テーマでは大会全体の結果を先取りした予測は行いません。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本編で使った主な出典を一覧にしました。詳細はresearch.mdをご確認ください。独立した2つの情報源で内容が一致することを確認しています。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バドミントン世界選手権2026の開幕初日、確認できた5試合すべてで日本勢が勝利した結果をお伝えしました。他の日本人選手の結果は未確認であり、正直にお伝えしました。続報が出た際はあらためて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まさかの5戦5勝。</a:t>
            </a:r>
          </a:p>
          <a:p>
            <a:pPr algn="l">
              <a:lnSpc>
                <a:spcPct val="115000"/>
              </a:lnSpc>
            </a:pPr>
            <a:r>
              <a:rPr sz="4200" b="1">
                <a:solidFill>
                  <a:srgbClr val="FFFFFF"/>
                </a:solidFill>
                <a:latin typeface="Yu Gothic"/>
              </a:rPr>
              <a:t>バドミントン世界選手権2026、</a:t>
            </a:r>
          </a:p>
          <a:p>
            <a:pPr algn="l">
              <a:lnSpc>
                <a:spcPct val="115000"/>
              </a:lnSpc>
            </a:pPr>
            <a:r>
              <a:rPr sz="4200" b="1">
                <a:solidFill>
                  <a:srgbClr val="FFFFFF"/>
                </a:solidFill>
                <a:latin typeface="Yu Gothic"/>
              </a:rPr>
              <a:t>日本勢が初日から衝撃のスタート</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2026年8月17日、インド・ニューデリーで開幕――確認できた5試合すべてで日本勢が勝利した初日を、出典付きで正確に整理してお届けします</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バドミントン・マガジン/バドスピ(badspi.jp)・中国新聞デジタル(2026年8月17日時点)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確認できた5試合すべてに勝利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2026年8月17日、大会初日(混合ダブルスを除く4種目の1回戦)で、本調査により確認できた日本勢の5試合はすべて勝利という結果だった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バドミントン・マガジン/バドスピ(badspi.jp)・中国新聞デジタル(2026-08-17)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バドミントン世界選手権の基礎知識(初心者向け)</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大会概要と初日の流れ</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5試合を数字で深掘り(男子シングルス・男子ダブルス・女子ダブルス)</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確認できていないこと・断定を避ける理由</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読者への示唆と出典一覧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大会初日(2026年8月17日)は着手日(2026年8月18日)の前日という鮮度の高い話題である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第7シード選手を破った試合やフルセットの接戦など、数字で語れる見どころが複数ある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独立した2つの情報源(バドミントン・マガジン/バドスピ、中国新聞デジタル)が内容を一致させて報じている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バドミントン・マガジン/バドスピ(badspi.jp)・中国新聞デジタル(2026-08-17)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バドミントン世界選手権とは(初心者向け)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本題に入る前に、基礎知識を確認します。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国際バドミントン連盟(BWF)が主催する国際大会で、5種目それぞれの世界王座を争う</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対象種目は男子シングルス・女子シングルス・男子ダブルス・女子ダブルス・混合ダブルスの5つ</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『シード』は実力上位と位置づけられた選手・ペアを指し、上位シードほど有利な位置に組まれる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大会概要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大会名</a:t>
                      </a:r>
                    </a:p>
                  </a:txBody>
                  <a:tcPr>
                    <a:solidFill>
                      <a:srgbClr val="FFFFFF"/>
                    </a:solidFill>
                  </a:tcPr>
                </a:tc>
                <a:tc>
                  <a:txBody>
                    <a:bodyPr/>
                    <a:lstStyle/>
                    <a:p>
                      <a:pPr>
                        <a:defRPr sz="1200">
                          <a:solidFill>
                            <a:srgbClr val="1C2230"/>
                          </a:solidFill>
                          <a:latin typeface="Yu Gothic"/>
                        </a:defRPr>
                      </a:pPr>
                      <a:r>
                        <a:t>バドミントン世界選手権2026(BWF世界選手権)</a:t>
                      </a:r>
                    </a:p>
                  </a:txBody>
                  <a:tcPr>
                    <a:solidFill>
                      <a:srgbClr val="FFFFFF"/>
                    </a:solidFill>
                  </a:tcPr>
                </a:tc>
              </a:tr>
              <a:tr h="502920">
                <a:tc>
                  <a:txBody>
                    <a:bodyPr/>
                    <a:lstStyle/>
                    <a:p>
                      <a:pPr>
                        <a:defRPr sz="1200">
                          <a:solidFill>
                            <a:srgbClr val="1C2230"/>
                          </a:solidFill>
                          <a:latin typeface="Yu Gothic"/>
                        </a:defRPr>
                      </a:pPr>
                      <a:r>
                        <a:t>開幕日</a:t>
                      </a:r>
                    </a:p>
                  </a:txBody>
                  <a:tcPr>
                    <a:solidFill>
                      <a:srgbClr val="F1F5FA"/>
                    </a:solidFill>
                  </a:tcPr>
                </a:tc>
                <a:tc>
                  <a:txBody>
                    <a:bodyPr/>
                    <a:lstStyle/>
                    <a:p>
                      <a:pPr>
                        <a:defRPr sz="1200">
                          <a:solidFill>
                            <a:srgbClr val="1C2230"/>
                          </a:solidFill>
                          <a:latin typeface="Yu Gothic"/>
                        </a:defRPr>
                      </a:pPr>
                      <a:r>
                        <a:t>2026年8月17日</a:t>
                      </a:r>
                    </a:p>
                  </a:txBody>
                  <a:tcPr>
                    <a:solidFill>
                      <a:srgbClr val="F1F5FA"/>
                    </a:solidFill>
                  </a:tcPr>
                </a:tc>
              </a:tr>
              <a:tr h="502920">
                <a:tc>
                  <a:txBody>
                    <a:bodyPr/>
                    <a:lstStyle/>
                    <a:p>
                      <a:pPr>
                        <a:defRPr sz="1200">
                          <a:solidFill>
                            <a:srgbClr val="1C2230"/>
                          </a:solidFill>
                          <a:latin typeface="Yu Gothic"/>
                        </a:defRPr>
                      </a:pPr>
                      <a:r>
                        <a:t>開催地</a:t>
                      </a:r>
                    </a:p>
                  </a:txBody>
                  <a:tcPr>
                    <a:solidFill>
                      <a:srgbClr val="FFFFFF"/>
                    </a:solidFill>
                  </a:tcPr>
                </a:tc>
                <a:tc>
                  <a:txBody>
                    <a:bodyPr/>
                    <a:lstStyle/>
                    <a:p>
                      <a:pPr>
                        <a:defRPr sz="1200">
                          <a:solidFill>
                            <a:srgbClr val="1C2230"/>
                          </a:solidFill>
                          <a:latin typeface="Yu Gothic"/>
                        </a:defRPr>
                      </a:pPr>
                      <a:r>
                        <a:t>インド・ニューデリー</a:t>
                      </a:r>
                    </a:p>
                  </a:txBody>
                  <a:tcPr>
                    <a:solidFill>
                      <a:srgbClr val="FFFFFF"/>
                    </a:solidFill>
                  </a:tcPr>
                </a:tc>
              </a:tr>
              <a:tr h="502920">
                <a:tc>
                  <a:txBody>
                    <a:bodyPr/>
                    <a:lstStyle/>
                    <a:p>
                      <a:pPr>
                        <a:defRPr sz="1200">
                          <a:solidFill>
                            <a:srgbClr val="1C2230"/>
                          </a:solidFill>
                          <a:latin typeface="Yu Gothic"/>
                        </a:defRPr>
                      </a:pPr>
                      <a:r>
                        <a:t>会場</a:t>
                      </a:r>
                    </a:p>
                  </a:txBody>
                  <a:tcPr>
                    <a:solidFill>
                      <a:srgbClr val="F1F5FA"/>
                    </a:solidFill>
                  </a:tcPr>
                </a:tc>
                <a:tc>
                  <a:txBody>
                    <a:bodyPr/>
                    <a:lstStyle/>
                    <a:p>
                      <a:pPr>
                        <a:defRPr sz="1200">
                          <a:solidFill>
                            <a:srgbClr val="1C2230"/>
                          </a:solidFill>
                          <a:latin typeface="Yu Gothic"/>
                        </a:defRPr>
                      </a:pPr>
                      <a:r>
                        <a:t>KD Jadhavインドアスタジアム</a:t>
                      </a:r>
                    </a:p>
                  </a:txBody>
                  <a:tcPr>
                    <a:solidFill>
                      <a:srgbClr val="F1F5FA"/>
                    </a:solidFill>
                  </a:tcPr>
                </a:tc>
              </a:tr>
              <a:tr h="502920">
                <a:tc>
                  <a:txBody>
                    <a:bodyPr/>
                    <a:lstStyle/>
                    <a:p>
                      <a:pPr>
                        <a:defRPr sz="1200">
                          <a:solidFill>
                            <a:srgbClr val="1C2230"/>
                          </a:solidFill>
                          <a:latin typeface="Yu Gothic"/>
                        </a:defRPr>
                      </a:pPr>
                      <a:r>
                        <a:t>初日の実施種目</a:t>
                      </a:r>
                    </a:p>
                  </a:txBody>
                  <a:tcPr>
                    <a:solidFill>
                      <a:srgbClr val="FFFFFF"/>
                    </a:solidFill>
                  </a:tcPr>
                </a:tc>
                <a:tc>
                  <a:txBody>
                    <a:bodyPr/>
                    <a:lstStyle/>
                    <a:p>
                      <a:pPr>
                        <a:defRPr sz="1200">
                          <a:solidFill>
                            <a:srgbClr val="1C2230"/>
                          </a:solidFill>
                          <a:latin typeface="Yu Gothic"/>
                        </a:defRPr>
                      </a:pPr>
                      <a:r>
                        <a:t>混合ダブルスを除く4種目の1回戦</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バドミントン・マガジン/バドスピ(badspi.jp)・中国新聞デジタル(2026-08-17)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用語解説(初心者向け)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この後よく出てくる言葉を確認します。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ストレート: 2セットを連取して決着すること(接戦になりにくい決着パターン)</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フルセット: 3セット目までもつれた末に決着すること(接戦の末の決着パターン)</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第◯シード: 大会側が実力上位と位置づけて登録した選手・ペアを指す表記</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初日(8月17日)の流れ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開幕</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インド・ニューデリーのKD Jadhavインドアスタジアムで大会が開幕</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1回戦</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混合ダブルスを除く4種目の1回戦が行われる</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確認</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本調査で男子シングルス2試合・男子ダブルス2試合・女子ダブルス1試合の計5試合を確認</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結果</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確認できた5試合はすべて日本勢の勝利という結果だった</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男子シングルス1回戦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田中湧士、第7シードを撃破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田中湧士選手が第7シードの翁泓陽選手(中国)を21-17、21-14のストレートで下し、2回戦進出を決めた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バドミントン・マガジン/バドスピ(badspi.jp)・中国新聞デジタル(2026-08-17)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田中湧士 vs 翁泓陽(第7シード)のセットスコア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バドミントン・マガジン/バドスピ(badspi.jp)・中国新聞デジタル(2026-08-17)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男子シングルス1回戦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奈良岡功大、フルセットの末に初戦突破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奈良岡功大選手が戚又仁選手(台湾)を21-17、19-21、21-12のフルセットで下し、初戦を突破した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バドミントン・マガジン/バドスピ(badspi.jp)・中国新聞デジタル(2026-08-17)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奈良岡功大 vs 戚又仁のセットスコア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バドミントン・マガジン/バドスピ(badspi.jp)・中国新聞デジタル(2026-08-17)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男子ダブルス1回戦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霜上雄一/野村拓海組が撃破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霜上雄一/野村拓海組がポポフ兄弟(フランス)を21-13、21-17で下し、初戦を突破した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バドミントン・マガジン/バドスピ(badspi.jp)・中国新聞デジタル(2026-08-17)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男子ダブルス1回戦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熊谷翔/西大輝組、フルセットの末に撃破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熊谷翔/西大輝組が李芳任/李芳至組(台湾)を21-12、18-21、21-18のフルセットで下した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バドミントン・マガジン/バドスピ(badspi.jp)・中国新聞デジタル(2026-08-17)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熊谷翔/西大輝 vs 李芳任/李芳至のセットスコア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バドミントン・マガジン/バドスピ(badspi.jp)・中国新聞デジタル(2026-08-17)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女子ダブルス1回戦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大澤佳歩/田部真唯組、圧勝で初戦突破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大澤佳歩/田部真唯組がドラプカ/ルムポルト組(オーストリア)を21-5、21-7の大差で下した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バドミントン・マガジン/バドスピ(badspi.jp)・中国新聞デジタル(2026-08-17)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確認できた5試合サマリー</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種目</a:t>
                      </a:r>
                    </a:p>
                  </a:txBody>
                  <a:tcPr>
                    <a:solidFill>
                      <a:srgbClr val="2B3A55"/>
                    </a:solidFill>
                  </a:tcPr>
                </a:tc>
                <a:tc>
                  <a:txBody>
                    <a:bodyPr/>
                    <a:lstStyle/>
                    <a:p>
                      <a:pPr>
                        <a:defRPr sz="1300" b="1">
                          <a:solidFill>
                            <a:srgbClr val="FFFFFF"/>
                          </a:solidFill>
                          <a:latin typeface="Yu Gothic"/>
                        </a:defRPr>
                      </a:pPr>
                      <a:r>
                        <a:t>日本勢</a:t>
                      </a:r>
                    </a:p>
                  </a:txBody>
                  <a:tcPr>
                    <a:solidFill>
                      <a:srgbClr val="2B3A55"/>
                    </a:solidFill>
                  </a:tcPr>
                </a:tc>
                <a:tc>
                  <a:txBody>
                    <a:bodyPr/>
                    <a:lstStyle/>
                    <a:p>
                      <a:pPr>
                        <a:defRPr sz="1300" b="1">
                          <a:solidFill>
                            <a:srgbClr val="FFFFFF"/>
                          </a:solidFill>
                          <a:latin typeface="Yu Gothic"/>
                        </a:defRPr>
                      </a:pPr>
                      <a:r>
                        <a:t>対戦相手</a:t>
                      </a:r>
                    </a:p>
                  </a:txBody>
                  <a:tcPr>
                    <a:solidFill>
                      <a:srgbClr val="2B3A55"/>
                    </a:solidFill>
                  </a:tcPr>
                </a:tc>
                <a:tc>
                  <a:txBody>
                    <a:bodyPr/>
                    <a:lstStyle/>
                    <a:p>
                      <a:pPr>
                        <a:defRPr sz="1300" b="1">
                          <a:solidFill>
                            <a:srgbClr val="FFFFFF"/>
                          </a:solidFill>
                          <a:latin typeface="Yu Gothic"/>
                        </a:defRPr>
                      </a:pPr>
                      <a:r>
                        <a:t>スコア</a:t>
                      </a:r>
                    </a:p>
                  </a:txBody>
                  <a:tcPr>
                    <a:solidFill>
                      <a:srgbClr val="2B3A55"/>
                    </a:solidFill>
                  </a:tcPr>
                </a:tc>
              </a:tr>
              <a:tr h="502920">
                <a:tc>
                  <a:txBody>
                    <a:bodyPr/>
                    <a:lstStyle/>
                    <a:p>
                      <a:pPr>
                        <a:defRPr sz="1200">
                          <a:solidFill>
                            <a:srgbClr val="1C2230"/>
                          </a:solidFill>
                          <a:latin typeface="Yu Gothic"/>
                        </a:defRPr>
                      </a:pPr>
                      <a:r>
                        <a:t>男子シングルス</a:t>
                      </a:r>
                    </a:p>
                  </a:txBody>
                  <a:tcPr>
                    <a:solidFill>
                      <a:srgbClr val="FFFFFF"/>
                    </a:solidFill>
                  </a:tcPr>
                </a:tc>
                <a:tc>
                  <a:txBody>
                    <a:bodyPr/>
                    <a:lstStyle/>
                    <a:p>
                      <a:pPr>
                        <a:defRPr sz="1200">
                          <a:solidFill>
                            <a:srgbClr val="1C2230"/>
                          </a:solidFill>
                          <a:latin typeface="Yu Gothic"/>
                        </a:defRPr>
                      </a:pPr>
                      <a:r>
                        <a:t>田中湧士</a:t>
                      </a:r>
                    </a:p>
                  </a:txBody>
                  <a:tcPr>
                    <a:solidFill>
                      <a:srgbClr val="FFFFFF"/>
                    </a:solidFill>
                  </a:tcPr>
                </a:tc>
                <a:tc>
                  <a:txBody>
                    <a:bodyPr/>
                    <a:lstStyle/>
                    <a:p>
                      <a:pPr>
                        <a:defRPr sz="1200">
                          <a:solidFill>
                            <a:srgbClr val="1C2230"/>
                          </a:solidFill>
                          <a:latin typeface="Yu Gothic"/>
                        </a:defRPr>
                      </a:pPr>
                      <a:r>
                        <a:t>翁泓陽(中国、第7シード)</a:t>
                      </a:r>
                    </a:p>
                  </a:txBody>
                  <a:tcPr>
                    <a:solidFill>
                      <a:srgbClr val="FFFFFF"/>
                    </a:solidFill>
                  </a:tcPr>
                </a:tc>
                <a:tc>
                  <a:txBody>
                    <a:bodyPr/>
                    <a:lstStyle/>
                    <a:p>
                      <a:pPr>
                        <a:defRPr sz="1200">
                          <a:solidFill>
                            <a:srgbClr val="1C2230"/>
                          </a:solidFill>
                          <a:latin typeface="Yu Gothic"/>
                        </a:defRPr>
                      </a:pPr>
                      <a:r>
                        <a:t>21-17, 21-14</a:t>
                      </a:r>
                    </a:p>
                  </a:txBody>
                  <a:tcPr>
                    <a:solidFill>
                      <a:srgbClr val="FFFFFF"/>
                    </a:solidFill>
                  </a:tcPr>
                </a:tc>
              </a:tr>
              <a:tr h="502920">
                <a:tc>
                  <a:txBody>
                    <a:bodyPr/>
                    <a:lstStyle/>
                    <a:p>
                      <a:pPr>
                        <a:defRPr sz="1200">
                          <a:solidFill>
                            <a:srgbClr val="1C2230"/>
                          </a:solidFill>
                          <a:latin typeface="Yu Gothic"/>
                        </a:defRPr>
                      </a:pPr>
                      <a:r>
                        <a:t>男子シングルス</a:t>
                      </a:r>
                    </a:p>
                  </a:txBody>
                  <a:tcPr>
                    <a:solidFill>
                      <a:srgbClr val="F1F5FA"/>
                    </a:solidFill>
                  </a:tcPr>
                </a:tc>
                <a:tc>
                  <a:txBody>
                    <a:bodyPr/>
                    <a:lstStyle/>
                    <a:p>
                      <a:pPr>
                        <a:defRPr sz="1200">
                          <a:solidFill>
                            <a:srgbClr val="1C2230"/>
                          </a:solidFill>
                          <a:latin typeface="Yu Gothic"/>
                        </a:defRPr>
                      </a:pPr>
                      <a:r>
                        <a:t>奈良岡功大</a:t>
                      </a:r>
                    </a:p>
                  </a:txBody>
                  <a:tcPr>
                    <a:solidFill>
                      <a:srgbClr val="F1F5FA"/>
                    </a:solidFill>
                  </a:tcPr>
                </a:tc>
                <a:tc>
                  <a:txBody>
                    <a:bodyPr/>
                    <a:lstStyle/>
                    <a:p>
                      <a:pPr>
                        <a:defRPr sz="1200">
                          <a:solidFill>
                            <a:srgbClr val="1C2230"/>
                          </a:solidFill>
                          <a:latin typeface="Yu Gothic"/>
                        </a:defRPr>
                      </a:pPr>
                      <a:r>
                        <a:t>戚又仁(台湾)</a:t>
                      </a:r>
                    </a:p>
                  </a:txBody>
                  <a:tcPr>
                    <a:solidFill>
                      <a:srgbClr val="F1F5FA"/>
                    </a:solidFill>
                  </a:tcPr>
                </a:tc>
                <a:tc>
                  <a:txBody>
                    <a:bodyPr/>
                    <a:lstStyle/>
                    <a:p>
                      <a:pPr>
                        <a:defRPr sz="1200">
                          <a:solidFill>
                            <a:srgbClr val="1C2230"/>
                          </a:solidFill>
                          <a:latin typeface="Yu Gothic"/>
                        </a:defRPr>
                      </a:pPr>
                      <a:r>
                        <a:t>21-17, 19-21, 21-12</a:t>
                      </a:r>
                    </a:p>
                  </a:txBody>
                  <a:tcPr>
                    <a:solidFill>
                      <a:srgbClr val="F1F5FA"/>
                    </a:solidFill>
                  </a:tcPr>
                </a:tc>
              </a:tr>
              <a:tr h="502920">
                <a:tc>
                  <a:txBody>
                    <a:bodyPr/>
                    <a:lstStyle/>
                    <a:p>
                      <a:pPr>
                        <a:defRPr sz="1200">
                          <a:solidFill>
                            <a:srgbClr val="1C2230"/>
                          </a:solidFill>
                          <a:latin typeface="Yu Gothic"/>
                        </a:defRPr>
                      </a:pPr>
                      <a:r>
                        <a:t>男子ダブルス</a:t>
                      </a:r>
                    </a:p>
                  </a:txBody>
                  <a:tcPr>
                    <a:solidFill>
                      <a:srgbClr val="FFFFFF"/>
                    </a:solidFill>
                  </a:tcPr>
                </a:tc>
                <a:tc>
                  <a:txBody>
                    <a:bodyPr/>
                    <a:lstStyle/>
                    <a:p>
                      <a:pPr>
                        <a:defRPr sz="1200">
                          <a:solidFill>
                            <a:srgbClr val="1C2230"/>
                          </a:solidFill>
                          <a:latin typeface="Yu Gothic"/>
                        </a:defRPr>
                      </a:pPr>
                      <a:r>
                        <a:t>霜上雄一/野村拓海</a:t>
                      </a:r>
                    </a:p>
                  </a:txBody>
                  <a:tcPr>
                    <a:solidFill>
                      <a:srgbClr val="FFFFFF"/>
                    </a:solidFill>
                  </a:tcPr>
                </a:tc>
                <a:tc>
                  <a:txBody>
                    <a:bodyPr/>
                    <a:lstStyle/>
                    <a:p>
                      <a:pPr>
                        <a:defRPr sz="1200">
                          <a:solidFill>
                            <a:srgbClr val="1C2230"/>
                          </a:solidFill>
                          <a:latin typeface="Yu Gothic"/>
                        </a:defRPr>
                      </a:pPr>
                      <a:r>
                        <a:t>ポポフ兄弟(フランス)</a:t>
                      </a:r>
                    </a:p>
                  </a:txBody>
                  <a:tcPr>
                    <a:solidFill>
                      <a:srgbClr val="FFFFFF"/>
                    </a:solidFill>
                  </a:tcPr>
                </a:tc>
                <a:tc>
                  <a:txBody>
                    <a:bodyPr/>
                    <a:lstStyle/>
                    <a:p>
                      <a:pPr>
                        <a:defRPr sz="1200">
                          <a:solidFill>
                            <a:srgbClr val="1C2230"/>
                          </a:solidFill>
                          <a:latin typeface="Yu Gothic"/>
                        </a:defRPr>
                      </a:pPr>
                      <a:r>
                        <a:t>21-13, 21-17</a:t>
                      </a:r>
                    </a:p>
                  </a:txBody>
                  <a:tcPr>
                    <a:solidFill>
                      <a:srgbClr val="FFFFFF"/>
                    </a:solidFill>
                  </a:tcPr>
                </a:tc>
              </a:tr>
              <a:tr h="502920">
                <a:tc>
                  <a:txBody>
                    <a:bodyPr/>
                    <a:lstStyle/>
                    <a:p>
                      <a:pPr>
                        <a:defRPr sz="1200">
                          <a:solidFill>
                            <a:srgbClr val="1C2230"/>
                          </a:solidFill>
                          <a:latin typeface="Yu Gothic"/>
                        </a:defRPr>
                      </a:pPr>
                      <a:r>
                        <a:t>男子ダブルス</a:t>
                      </a:r>
                    </a:p>
                  </a:txBody>
                  <a:tcPr>
                    <a:solidFill>
                      <a:srgbClr val="F1F5FA"/>
                    </a:solidFill>
                  </a:tcPr>
                </a:tc>
                <a:tc>
                  <a:txBody>
                    <a:bodyPr/>
                    <a:lstStyle/>
                    <a:p>
                      <a:pPr>
                        <a:defRPr sz="1200">
                          <a:solidFill>
                            <a:srgbClr val="1C2230"/>
                          </a:solidFill>
                          <a:latin typeface="Yu Gothic"/>
                        </a:defRPr>
                      </a:pPr>
                      <a:r>
                        <a:t>熊谷翔/西大輝</a:t>
                      </a:r>
                    </a:p>
                  </a:txBody>
                  <a:tcPr>
                    <a:solidFill>
                      <a:srgbClr val="F1F5FA"/>
                    </a:solidFill>
                  </a:tcPr>
                </a:tc>
                <a:tc>
                  <a:txBody>
                    <a:bodyPr/>
                    <a:lstStyle/>
                    <a:p>
                      <a:pPr>
                        <a:defRPr sz="1200">
                          <a:solidFill>
                            <a:srgbClr val="1C2230"/>
                          </a:solidFill>
                          <a:latin typeface="Yu Gothic"/>
                        </a:defRPr>
                      </a:pPr>
                      <a:r>
                        <a:t>李芳任/李芳至(台湾)</a:t>
                      </a:r>
                    </a:p>
                  </a:txBody>
                  <a:tcPr>
                    <a:solidFill>
                      <a:srgbClr val="F1F5FA"/>
                    </a:solidFill>
                  </a:tcPr>
                </a:tc>
                <a:tc>
                  <a:txBody>
                    <a:bodyPr/>
                    <a:lstStyle/>
                    <a:p>
                      <a:pPr>
                        <a:defRPr sz="1200">
                          <a:solidFill>
                            <a:srgbClr val="1C2230"/>
                          </a:solidFill>
                          <a:latin typeface="Yu Gothic"/>
                        </a:defRPr>
                      </a:pPr>
                      <a:r>
                        <a:t>21-12, 18-21, 21-18</a:t>
                      </a:r>
                    </a:p>
                  </a:txBody>
                  <a:tcPr>
                    <a:solidFill>
                      <a:srgbClr val="F1F5FA"/>
                    </a:solidFill>
                  </a:tcPr>
                </a:tc>
              </a:tr>
              <a:tr h="502920">
                <a:tc>
                  <a:txBody>
                    <a:bodyPr/>
                    <a:lstStyle/>
                    <a:p>
                      <a:pPr>
                        <a:defRPr sz="1200">
                          <a:solidFill>
                            <a:srgbClr val="1C2230"/>
                          </a:solidFill>
                          <a:latin typeface="Yu Gothic"/>
                        </a:defRPr>
                      </a:pPr>
                      <a:r>
                        <a:t>女子ダブルス</a:t>
                      </a:r>
                    </a:p>
                  </a:txBody>
                  <a:tcPr>
                    <a:solidFill>
                      <a:srgbClr val="FFFFFF"/>
                    </a:solidFill>
                  </a:tcPr>
                </a:tc>
                <a:tc>
                  <a:txBody>
                    <a:bodyPr/>
                    <a:lstStyle/>
                    <a:p>
                      <a:pPr>
                        <a:defRPr sz="1200">
                          <a:solidFill>
                            <a:srgbClr val="1C2230"/>
                          </a:solidFill>
                          <a:latin typeface="Yu Gothic"/>
                        </a:defRPr>
                      </a:pPr>
                      <a:r>
                        <a:t>大澤佳歩/田部真唯</a:t>
                      </a:r>
                    </a:p>
                  </a:txBody>
                  <a:tcPr>
                    <a:solidFill>
                      <a:srgbClr val="FFFFFF"/>
                    </a:solidFill>
                  </a:tcPr>
                </a:tc>
                <a:tc>
                  <a:txBody>
                    <a:bodyPr/>
                    <a:lstStyle/>
                    <a:p>
                      <a:pPr>
                        <a:defRPr sz="1200">
                          <a:solidFill>
                            <a:srgbClr val="1C2230"/>
                          </a:solidFill>
                          <a:latin typeface="Yu Gothic"/>
                        </a:defRPr>
                      </a:pPr>
                      <a:r>
                        <a:t>ドラプカ/ルムポルト(オーストリア)</a:t>
                      </a:r>
                    </a:p>
                  </a:txBody>
                  <a:tcPr>
                    <a:solidFill>
                      <a:srgbClr val="FFFFFF"/>
                    </a:solidFill>
                  </a:tcPr>
                </a:tc>
                <a:tc>
                  <a:txBody>
                    <a:bodyPr/>
                    <a:lstStyle/>
                    <a:p>
                      <a:pPr>
                        <a:defRPr sz="1200">
                          <a:solidFill>
                            <a:srgbClr val="1C2230"/>
                          </a:solidFill>
                          <a:latin typeface="Yu Gothic"/>
                        </a:defRPr>
                      </a:pPr>
                      <a:r>
                        <a:t>21-5, 21-7</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バドミントン・マガジン/バドスピ(badspi.jp)・中国新聞デジタル(2026-08-17)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ストレート勝ちとフルセット勝ちの内訳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バドミントン・マガジン/バドスピ(badspi.jp)・中国新聞デジタル(2026-08-17)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大会に出た日本人選手全員が勝った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初日の全試合結果が判明している</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楽勝続きで接戦は無かった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確認できたのは5試合のみで、他の日本人選手の結果は未確認</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初日全体の全試合結果までは確認できていない</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5試合中2試合はフルセットの接戦だった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正確に整理します。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大会が2026年8月17日、インド・ニューデリーのKD Jadhavインドアスタジアムで開幕したこと</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初日、男子シングルス2試合・男子ダブルス2試合・女子ダブルス1試合の計5試合で日本勢が勝利したこと</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各試合のスコア・対戦相手・シード情報(翁泓陽選手が第7シード)</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初日に実施された他の日本人選手(4種目1回戦全体)の全結果は確認できていない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宮崎友花選手・山口茜選手ら、他の日本人選手の初日成績も本調査の範囲では確認できていない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そのため『大会参加日本人選手全員が勝利した』という断定は行わず、『確認できた5試合すべてに勝利』という表現にとどめる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確認できていること / いないこと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確認できていること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5試合のスコア・対戦相手・シード情報</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大会の開幕日・会場</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確認できていないこと</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他の日本人選手(4種目1回戦全体)の全結果</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宮崎友花選手・山口茜選手らの初日成績</a:t>
            </a:r>
          </a:p>
        </p:txBody>
      </p:sp>
      <p:sp>
        <p:nvSpPr>
          <p:cNvPr id="20" name="Oval 19"/>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2回戦以降の日程・組み合わせ</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確認できた5試合すべてで日本勢が勝利したという事実は、大会初日の好材料として位置づけられる(大会全体の結果を先取りする断定は避ける)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見出しの『全勝』という言葉が指す範囲(確認できた5試合)を意識して受け止める視点が役立つ</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確認できていない選手・種目については、続報が出るまで断定しない姿勢が信頼につながる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バドミントンファンとして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確認できた5試合の内容を正確な事実として楽しみつつ、続報を待つ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ニュースを見る立場として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見出しの『全勝』が指す範囲(確認できた5試合)を意識して受け止める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未確認の選手・種目を断定的に書かず、正確に伝える姿勢が信頼につながる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事実: 2026年8月17日に大会が開幕し、確認できた5試合(男子シングルス2・男子ダブルス2・女子ダブルス1)すべてで日本勢が勝利した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推測: 確認できた5試合の内訳(ストレート3・フルセット2)から接戦を制した試合も複数あったと位置づけられる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不明: 他の日本人選手の初日成績、2回戦以降の日程・組み合わせ</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断定的な表現を避ける理由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本テーマ固有の注意点です。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『日本勢が初日5戦全勝』という見出しは、あくまで確認できた5試合の範囲に限定した事実である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確認できていない選手の結果を『勝った』とも『負けた』とも書かず、そのまま『未確認』として扱う</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大会は初日を終えたばかりであり、大会全体の成否を先取りして評価しない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この結果が話題になった3つの理由</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シード選手を撃破</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田中湧士選手が第7シードの翁泓陽選手を破っての2回戦進出</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接戦を制した試合も</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5試合中2試合がフルセットの末の勝利という接戦だった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確認できた5試合すべて勝利</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男子シングルス・男子ダブルス・女子ダブルスの複数種目で結果を残した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今後の見どころ・追い方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続報をどう追うか。</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2回戦以降の日程・結果は本調査の範囲外であり、続報が出た場合はあらためて出典を確認して伝える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宮崎友花選手・山口茜選手ら、他の日本人選手の結果も続報を待って正確に伝える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本テーマでは大会全体の結果を先取りした予測は行わない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バドミントン・マガジン/バドスピ(badspi.jp)</a:t>
                      </a:r>
                    </a:p>
                  </a:txBody>
                  <a:tcPr>
                    <a:solidFill>
                      <a:srgbClr val="FFFFFF"/>
                    </a:solidFill>
                  </a:tcPr>
                </a:tc>
                <a:tc>
                  <a:txBody>
                    <a:bodyPr/>
                    <a:lstStyle/>
                    <a:p>
                      <a:pPr>
                        <a:defRPr sz="1200">
                          <a:solidFill>
                            <a:srgbClr val="1C2230"/>
                          </a:solidFill>
                          <a:latin typeface="Yu Gothic"/>
                        </a:defRPr>
                      </a:pPr>
                      <a:r>
                        <a:t>大会概要・5試合の結果とスコア(2026-08-17)</a:t>
                      </a:r>
                    </a:p>
                  </a:txBody>
                  <a:tcPr>
                    <a:solidFill>
                      <a:srgbClr val="FFFFFF"/>
                    </a:solidFill>
                  </a:tcPr>
                </a:tc>
              </a:tr>
              <a:tr h="502920">
                <a:tc>
                  <a:txBody>
                    <a:bodyPr/>
                    <a:lstStyle/>
                    <a:p>
                      <a:pPr>
                        <a:defRPr sz="1200">
                          <a:solidFill>
                            <a:srgbClr val="1C2230"/>
                          </a:solidFill>
                          <a:latin typeface="Yu Gothic"/>
                        </a:defRPr>
                      </a:pPr>
                      <a:r>
                        <a:t>中国新聞デジタル</a:t>
                      </a:r>
                    </a:p>
                  </a:txBody>
                  <a:tcPr>
                    <a:solidFill>
                      <a:srgbClr val="F1F5FA"/>
                    </a:solidFill>
                  </a:tcPr>
                </a:tc>
                <a:tc>
                  <a:txBody>
                    <a:bodyPr/>
                    <a:lstStyle/>
                    <a:p>
                      <a:pPr>
                        <a:defRPr sz="1200">
                          <a:solidFill>
                            <a:srgbClr val="1C2230"/>
                          </a:solidFill>
                          <a:latin typeface="Yu Gothic"/>
                        </a:defRPr>
                      </a:pPr>
                      <a:r>
                        <a:t>大会概要・5試合の結果とスコアの確認(2026-08-17)</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バドミントン・マガジン/バドスピ(badspi.jp)・中国新聞デジタル(2026-08-17時点)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確認できた5試合すべてに勝利。バドミントン世界選手権2026、日本勢の初日</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田中湧士選手・奈良岡功大選手・霜上雄一/野村拓海組・熊谷翔/西大輝組・大澤佳歩/田部真唯組――出典付きで正確に整理してお届けしました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