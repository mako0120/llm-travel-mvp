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ロンドン発のAI教育スタートアップMedly AIが2026年8月18〜19日、$800万のシード資金調達を発表しました。ユーザー数は口コミだけで10万人から40万人超へ拡大したといいます。今日はこの急成長の中身を出典付きで整理してお届けします。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結論から確認します。Medly AIのユーザー数は2025年初頭の10万人から、2026年時点で40万人超へ、主に口コミで拡大しました。今回$800万のシード資金をFelix Capital主導で調達しています。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今日は6つの流れでお伝えします。資金調達の内容から、急成長の中身、創業者の背景まで、正確に数字を引用しながら整理します。誇張せず、確認できなかったことは正直にお伝えします。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このテーマを扱う理由です。高い鮮度に加え、口コミだけでの急成長という具体的な数字、英国政府プログラムへの採択という裏付けに注目しました。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Medly AIは英国ロンドン拠点のAI教育スタートアップで、GCSE・Aレベル・IB・SAT等の試験対策に特化したAI家庭教師サービスを提供しています。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今回の資金調達の概要です。Felix Capital主導で$800万を調達し、既存投資家も継続して参加しています。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今回のラウンドには複数の著名なエンジェル投資家も参加しています。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累計調達額は約$1,200万です。2025年2月のシード資金に続く2度目の調達となります。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ユーザー数は2025年初頭の10万人から40万人超へ、主に口コミで拡大しました。ただし数字の算出定義の詳細までは確認できていません。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2025年初頭と2026年の今回発表時点を対比しました。約1.5年でユーザー数が4倍になっています。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英国政府のAI家庭教師プログラムにも採択されています。53件の応募の中から選ばれた8社の一つです。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このプログラムは、恵まれない環境の生徒の学力向上を目的としています。具体的な成果指標の詳細までは確認できていません。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53件の応募の中から選ばれた8社の一つとして、政府プログラムに採択されました。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創業者2名はいずれも元NHS医師という珍しい経歴を持ち、医療・神経科学の知見を教育分野に応用しています。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今回の資金調達に至る流れを図にしました。初回シード調達から、口コミによる急成長、そして今回の追加調達という流れです。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今回の発表を3ステップで総括しました。ユーザー数の急成長、政府プログラムへの採択、そして今回の追加調達という流れです。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技術面については、複数の専門特化型モデルを組み合わせた独自アーキテクチャと説明されていますが、詳細までは確認できていません。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GCSE・Aレベル・IB・SAT等、複数の主要試験制度に対応しています。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AI教育テック分野への投資が世界的に活発化する中での資金調達です。他社との具体的な比較は行っていません。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初回シードと今回の追加調達を対比しました。調達規模・ユーザー数ともに大きく拡大しています。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今回の発表の要点をまとめました。調達額、ユーザー数急成長、政府プログラム採択、創業者という4点です。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英国政府がAI家庭教師の実証に公的に乗り出している事例として注目されます。海外展開の計画は確認できていません。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設立から約1.5年という短期間で、ユーザー数4倍・シード資金調達2回という成長を遂げています。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今回の資金調達に関する確認できた公式数値です。具体的な資金使途の内訳報道は本調査の範囲では確認できていません。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2026年8月18〜19日はAI関連の資金調達・決算発表が相次いだ日程でした。各社のニュースは独立しており、本テーマではMedly AI固有の内容のみを扱います。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確認できなかったことを正直にお伝えします。評価額、ユーザー数の定義、海外展開計画は確認できていません。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Medly AIの特徴を一般的な傾向と対比しました。ただし個別の他社比較検証は行っておらず、あくまで報道内容に基づく整理です。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このニュースが読者にとって意味することをまとめました。AI教育の動向を追う立場、投資に関心がある立場、教育・子育てに関心がある立場、それぞれで意識したい視点です。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まとめです。口コミによる急成長と、英国政府プログラムへの採択、そして確認できていない点を正直にお伝えしました。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本編は以上です。今回はMedly AIの$8Mシード資金調達について、口コミによる急成長の中身と確認できていない点まで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口コミだけで</a:t>
            </a:r>
          </a:p>
          <a:p>
            <a:pPr algn="l">
              <a:lnSpc>
                <a:spcPct val="115000"/>
              </a:lnSpc>
            </a:pPr>
            <a:r>
              <a:rPr sz="4200" b="1">
                <a:solidFill>
                  <a:srgbClr val="FFFFFF"/>
                </a:solidFill>
                <a:latin typeface="Yu Gothic"/>
              </a:rPr>
              <a:t>ユーザー4倍増。</a:t>
            </a:r>
          </a:p>
          <a:p>
            <a:pPr algn="l">
              <a:lnSpc>
                <a:spcPct val="115000"/>
              </a:lnSpc>
            </a:pPr>
            <a:r>
              <a:rPr sz="4200" b="1">
                <a:solidFill>
                  <a:srgbClr val="FFFFFF"/>
                </a:solidFill>
                <a:latin typeface="Yu Gothic"/>
              </a:rPr>
              <a:t>異例のAI家庭教師の正体</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CE6F5"/>
                </a:solidFill>
                <a:latin typeface="Yu Gothic"/>
              </a:rPr>
              <a:t>2026年8月18〜19日発表——Medly AI、$8Mシード調達の裏側</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A9C0D8"/>
                </a:solidFill>
                <a:latin typeface="Yu Gothic"/>
              </a:rPr>
              <a:t>出典: TechFundingNews・TheNextWeb(2026年8月18〜19日)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ユーザー数、口コミだけで10万人→40万人超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$800万のシード調達をFelix Capital主導で実施(2026年8月18〜19日発表)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TechFundingNews・TheNextWeb(2026-08-18/19)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CE6F5"/>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CE6F5"/>
                </a:solidFill>
                <a:latin typeface="Yu Gothic"/>
              </a:rPr>
              <a:t>Medly AIとは・基礎知識</a:t>
            </a:r>
          </a:p>
        </p:txBody>
      </p:sp>
      <p:sp>
        <p:nvSpPr>
          <p:cNvPr id="9" name="Oval 8"/>
          <p:cNvSpPr/>
          <p:nvPr/>
        </p:nvSpPr>
        <p:spPr>
          <a:xfrm>
            <a:off x="548640" y="347472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CE6F5"/>
                </a:solidFill>
                <a:latin typeface="Yu Gothic"/>
              </a:rPr>
              <a:t>今回の資金調達の内容を確認する</a:t>
            </a:r>
          </a:p>
        </p:txBody>
      </p:sp>
      <p:sp>
        <p:nvSpPr>
          <p:cNvPr id="11" name="Oval 10"/>
          <p:cNvSpPr/>
          <p:nvPr/>
        </p:nvSpPr>
        <p:spPr>
          <a:xfrm>
            <a:off x="548640" y="425196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CE6F5"/>
                </a:solidFill>
                <a:latin typeface="Yu Gothic"/>
              </a:rPr>
              <a:t>急成長の中身・英国政府との関わりを確認する</a:t>
            </a:r>
          </a:p>
        </p:txBody>
      </p:sp>
      <p:sp>
        <p:nvSpPr>
          <p:cNvPr id="13" name="Oval 12"/>
          <p:cNvSpPr/>
          <p:nvPr/>
        </p:nvSpPr>
        <p:spPr>
          <a:xfrm>
            <a:off x="548640" y="502920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CE6F5"/>
                </a:solidFill>
                <a:latin typeface="Yu Gothic"/>
              </a:rPr>
              <a:t>創業者・技術面の状況を確認する</a:t>
            </a:r>
          </a:p>
        </p:txBody>
      </p:sp>
      <p:sp>
        <p:nvSpPr>
          <p:cNvPr id="15" name="Oval 14"/>
          <p:cNvSpPr/>
          <p:nvPr/>
        </p:nvSpPr>
        <p:spPr>
          <a:xfrm>
            <a:off x="548640" y="580644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DCE6F5"/>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着手日当日〜前日(2026年8月18〜19日)発表という高い鮮度の話題である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ユーザー数が口コミだけで4倍に増えたという、具体的で分かりやすい急成長の数字である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英国政府プログラムへの採択という、公的な裏付けもある</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複数の独立した情報源(TechFundingNews・TheNextWeb等)で確認できる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TechFundingNews・TheNextWeb(2026-08-18/19)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TechFundingNews・TheNextWeb(2026-08-18/19)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Medly AIとは</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基礎知識を簡単に整理します。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英国ロンドン拠点のAI教育スタートアップ</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GCSE・Aレベル・IB(国際バカロレア)・SAT等の試験対策に特化したAI家庭教師サービス</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会話型のチュータリングと、手書き解答の自動採点・フィードバック機能が特徴</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元NHS(英国民保健サービス)医師2名が創業</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TechFundingNews・UCL Enterprise(2026-08-18/19)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TechFundingNews・TheNextWeb(2026-08-18/19)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今回の資金調達の概要</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3A5C"/>
                    </a:solidFill>
                  </a:tcPr>
                </a:tc>
                <a:tc>
                  <a:txBody>
                    <a:bodyPr/>
                    <a:lstStyle/>
                    <a:p>
                      <a:pPr>
                        <a:defRPr sz="1300" b="1">
                          <a:solidFill>
                            <a:srgbClr val="FFFFFF"/>
                          </a:solidFill>
                          <a:latin typeface="Yu Gothic"/>
                        </a:defRPr>
                      </a:pPr>
                      <a:r>
                        <a:t>内容</a:t>
                      </a:r>
                    </a:p>
                  </a:txBody>
                  <a:tcPr>
                    <a:solidFill>
                      <a:srgbClr val="1B3A5C"/>
                    </a:solidFill>
                  </a:tcPr>
                </a:tc>
              </a:tr>
              <a:tr h="502920">
                <a:tc>
                  <a:txBody>
                    <a:bodyPr/>
                    <a:lstStyle/>
                    <a:p>
                      <a:pPr>
                        <a:defRPr sz="1200">
                          <a:solidFill>
                            <a:srgbClr val="16202E"/>
                          </a:solidFill>
                          <a:latin typeface="Yu Gothic"/>
                        </a:defRPr>
                      </a:pPr>
                      <a:r>
                        <a:t>調達額</a:t>
                      </a:r>
                    </a:p>
                  </a:txBody>
                  <a:tcPr>
                    <a:solidFill>
                      <a:srgbClr val="FFFFFF"/>
                    </a:solidFill>
                  </a:tcPr>
                </a:tc>
                <a:tc>
                  <a:txBody>
                    <a:bodyPr/>
                    <a:lstStyle/>
                    <a:p>
                      <a:pPr>
                        <a:defRPr sz="1200">
                          <a:solidFill>
                            <a:srgbClr val="16202E"/>
                          </a:solidFill>
                          <a:latin typeface="Yu Gothic"/>
                        </a:defRPr>
                      </a:pPr>
                      <a:r>
                        <a:t>$800万(約8億円)のシード資金</a:t>
                      </a:r>
                    </a:p>
                  </a:txBody>
                  <a:tcPr>
                    <a:solidFill>
                      <a:srgbClr val="FFFFFF"/>
                    </a:solidFill>
                  </a:tcPr>
                </a:tc>
              </a:tr>
              <a:tr h="502920">
                <a:tc>
                  <a:txBody>
                    <a:bodyPr/>
                    <a:lstStyle/>
                    <a:p>
                      <a:pPr>
                        <a:defRPr sz="1200">
                          <a:solidFill>
                            <a:srgbClr val="16202E"/>
                          </a:solidFill>
                          <a:latin typeface="Yu Gothic"/>
                        </a:defRPr>
                      </a:pPr>
                      <a:r>
                        <a:t>主導投資家</a:t>
                      </a:r>
                    </a:p>
                  </a:txBody>
                  <a:tcPr>
                    <a:solidFill>
                      <a:srgbClr val="F2F6FA"/>
                    </a:solidFill>
                  </a:tcPr>
                </a:tc>
                <a:tc>
                  <a:txBody>
                    <a:bodyPr/>
                    <a:lstStyle/>
                    <a:p>
                      <a:pPr>
                        <a:defRPr sz="1200">
                          <a:solidFill>
                            <a:srgbClr val="16202E"/>
                          </a:solidFill>
                          <a:latin typeface="Yu Gothic"/>
                        </a:defRPr>
                      </a:pPr>
                      <a:r>
                        <a:t>Felix Capital</a:t>
                      </a:r>
                    </a:p>
                  </a:txBody>
                  <a:tcPr>
                    <a:solidFill>
                      <a:srgbClr val="F2F6FA"/>
                    </a:solidFill>
                  </a:tcPr>
                </a:tc>
              </a:tr>
              <a:tr h="502920">
                <a:tc>
                  <a:txBody>
                    <a:bodyPr/>
                    <a:lstStyle/>
                    <a:p>
                      <a:pPr>
                        <a:defRPr sz="1200">
                          <a:solidFill>
                            <a:srgbClr val="16202E"/>
                          </a:solidFill>
                          <a:latin typeface="Yu Gothic"/>
                        </a:defRPr>
                      </a:pPr>
                      <a:r>
                        <a:t>参加した既存投資家</a:t>
                      </a:r>
                    </a:p>
                  </a:txBody>
                  <a:tcPr>
                    <a:solidFill>
                      <a:srgbClr val="FFFFFF"/>
                    </a:solidFill>
                  </a:tcPr>
                </a:tc>
                <a:tc>
                  <a:txBody>
                    <a:bodyPr/>
                    <a:lstStyle/>
                    <a:p>
                      <a:pPr>
                        <a:defRPr sz="1200">
                          <a:solidFill>
                            <a:srgbClr val="16202E"/>
                          </a:solidFill>
                          <a:latin typeface="Yu Gothic"/>
                        </a:defRPr>
                      </a:pPr>
                      <a:r>
                        <a:t>Eka Ventures・Ada Ventures</a:t>
                      </a:r>
                    </a:p>
                  </a:txBody>
                  <a:tcPr>
                    <a:solidFill>
                      <a:srgbClr val="FFFFFF"/>
                    </a:solidFill>
                  </a:tcPr>
                </a:tc>
              </a:tr>
              <a:tr h="502920">
                <a:tc>
                  <a:txBody>
                    <a:bodyPr/>
                    <a:lstStyle/>
                    <a:p>
                      <a:pPr>
                        <a:defRPr sz="1200">
                          <a:solidFill>
                            <a:srgbClr val="16202E"/>
                          </a:solidFill>
                          <a:latin typeface="Yu Gothic"/>
                        </a:defRPr>
                      </a:pPr>
                      <a:r>
                        <a:t>累計調達額</a:t>
                      </a:r>
                    </a:p>
                  </a:txBody>
                  <a:tcPr>
                    <a:solidFill>
                      <a:srgbClr val="F2F6FA"/>
                    </a:solidFill>
                  </a:tcPr>
                </a:tc>
                <a:tc>
                  <a:txBody>
                    <a:bodyPr/>
                    <a:lstStyle/>
                    <a:p>
                      <a:pPr>
                        <a:defRPr sz="1200">
                          <a:solidFill>
                            <a:srgbClr val="16202E"/>
                          </a:solidFill>
                          <a:latin typeface="Yu Gothic"/>
                        </a:defRPr>
                      </a:pPr>
                      <a:r>
                        <a:t>約$1,200万(2025年2月の£170万シードを含む)</a:t>
                      </a:r>
                    </a:p>
                  </a:txBody>
                  <a:tcPr>
                    <a:solidFill>
                      <a:srgbClr val="F2F6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TechFundingNews・TheNextWeb(2026-08-18/19)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TechFundingNews・TheNextWeb(2026-08-18/19)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参加した個人投資家(エンジェル)</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今回参加した主なエンジェル投資家です。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InvestEngineのCEO、アンドレイ・ドブリニン氏</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Creator Fundのゼネラルパートナー、アル・ジャイルズ氏</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LearnLaunchのゼネラルパートナー、ジーン・ハモンド氏</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Episode 1のゼネラルパートナー、ヘクター・メイソン氏</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TechFundingNews(2026-08-18/19)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TechFundingNews・TheNextWeb(2026-08-18/19)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累計調達額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約$1,200万</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2025年2月の£170万シード(Eka Ventures主導)を含む</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TechFundingNews(2026-08-18/19)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ユーザー数急成長の中身</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急成長の具体的な数字です。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2025年初頭時点でユーザー数10万人</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2026年時点(今回の発表時)で40万人超へ拡大</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拡大の主な要因は口コミとされ、大規模な広告出稿によるものではないという</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「40万人超」の算出時点・定義(登録者数か月間アクティブ数か)の詳細は確認できていない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TechFundingNews・TheNextWeb(2026-08-18/19)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TechFundingNews・TheNextWeb(2026-08-18/19)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ユーザー数の推移</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2025年初頭</a:t>
            </a:r>
          </a:p>
        </p:txBody>
      </p:sp>
      <p:sp>
        <p:nvSpPr>
          <p:cNvPr id="9" name="Oval 8"/>
          <p:cNvSpPr/>
          <p:nvPr/>
        </p:nvSpPr>
        <p:spPr>
          <a:xfrm>
            <a:off x="777240"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ユーザー数10万人</a:t>
            </a:r>
          </a:p>
        </p:txBody>
      </p:sp>
      <p:sp>
        <p:nvSpPr>
          <p:cNvPr id="11" name="Oval 10"/>
          <p:cNvSpPr/>
          <p:nvPr/>
        </p:nvSpPr>
        <p:spPr>
          <a:xfrm>
            <a:off x="777240"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設立から間もない時期</a:t>
            </a:r>
          </a:p>
        </p:txBody>
      </p:sp>
      <p:sp>
        <p:nvSpPr>
          <p:cNvPr id="13" name="Oval 12"/>
          <p:cNvSpPr/>
          <p:nvPr/>
        </p:nvSpPr>
        <p:spPr>
          <a:xfrm>
            <a:off x="777240"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£170万のシード資金調達済み</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2026年(今回)</a:t>
            </a:r>
          </a:p>
        </p:txBody>
      </p:sp>
      <p:sp>
        <p:nvSpPr>
          <p:cNvPr id="18" name="Oval 17"/>
          <p:cNvSpPr/>
          <p:nvPr/>
        </p:nvSpPr>
        <p:spPr>
          <a:xfrm>
            <a:off x="6598767"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ユーザー数40万人超</a:t>
            </a:r>
          </a:p>
        </p:txBody>
      </p:sp>
      <p:sp>
        <p:nvSpPr>
          <p:cNvPr id="20" name="Oval 19"/>
          <p:cNvSpPr/>
          <p:nvPr/>
        </p:nvSpPr>
        <p:spPr>
          <a:xfrm>
            <a:off x="6598767"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約1.5年で4倍に拡大</a:t>
            </a:r>
          </a:p>
        </p:txBody>
      </p:sp>
      <p:sp>
        <p:nvSpPr>
          <p:cNvPr id="22" name="Oval 21"/>
          <p:cNvSpPr/>
          <p:nvPr/>
        </p:nvSpPr>
        <p:spPr>
          <a:xfrm>
            <a:off x="6598767"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$800万の追加シード資金を調達</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TechFundingNews・TheNextWeb(2026-08-18/19)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英国政府プログラムへの採択</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3A5C"/>
                    </a:solidFill>
                  </a:tcPr>
                </a:tc>
                <a:tc>
                  <a:txBody>
                    <a:bodyPr/>
                    <a:lstStyle/>
                    <a:p>
                      <a:pPr>
                        <a:defRPr sz="1300" b="1">
                          <a:solidFill>
                            <a:srgbClr val="FFFFFF"/>
                          </a:solidFill>
                          <a:latin typeface="Yu Gothic"/>
                        </a:defRPr>
                      </a:pPr>
                      <a:r>
                        <a:t>内容</a:t>
                      </a:r>
                    </a:p>
                  </a:txBody>
                  <a:tcPr>
                    <a:solidFill>
                      <a:srgbClr val="1B3A5C"/>
                    </a:solidFill>
                  </a:tcPr>
                </a:tc>
              </a:tr>
              <a:tr h="502920">
                <a:tc>
                  <a:txBody>
                    <a:bodyPr/>
                    <a:lstStyle/>
                    <a:p>
                      <a:pPr>
                        <a:defRPr sz="1200">
                          <a:solidFill>
                            <a:srgbClr val="16202E"/>
                          </a:solidFill>
                          <a:latin typeface="Yu Gothic"/>
                        </a:defRPr>
                      </a:pPr>
                      <a:r>
                        <a:t>プログラム名</a:t>
                      </a:r>
                    </a:p>
                  </a:txBody>
                  <a:tcPr>
                    <a:solidFill>
                      <a:srgbClr val="FFFFFF"/>
                    </a:solidFill>
                  </a:tcPr>
                </a:tc>
                <a:tc>
                  <a:txBody>
                    <a:bodyPr/>
                    <a:lstStyle/>
                    <a:p>
                      <a:pPr>
                        <a:defRPr sz="1200">
                          <a:solidFill>
                            <a:srgbClr val="16202E"/>
                          </a:solidFill>
                          <a:latin typeface="Yu Gothic"/>
                        </a:defRPr>
                      </a:pPr>
                      <a:r>
                        <a:t>AI Tutoring Tools Pioneers Programme</a:t>
                      </a:r>
                    </a:p>
                  </a:txBody>
                  <a:tcPr>
                    <a:solidFill>
                      <a:srgbClr val="FFFFFF"/>
                    </a:solidFill>
                  </a:tcPr>
                </a:tc>
              </a:tr>
              <a:tr h="502920">
                <a:tc>
                  <a:txBody>
                    <a:bodyPr/>
                    <a:lstStyle/>
                    <a:p>
                      <a:pPr>
                        <a:defRPr sz="1200">
                          <a:solidFill>
                            <a:srgbClr val="16202E"/>
                          </a:solidFill>
                          <a:latin typeface="Yu Gothic"/>
                        </a:defRPr>
                      </a:pPr>
                      <a:r>
                        <a:t>実施機関</a:t>
                      </a:r>
                    </a:p>
                  </a:txBody>
                  <a:tcPr>
                    <a:solidFill>
                      <a:srgbClr val="F2F6FA"/>
                    </a:solidFill>
                  </a:tcPr>
                </a:tc>
                <a:tc>
                  <a:txBody>
                    <a:bodyPr/>
                    <a:lstStyle/>
                    <a:p>
                      <a:pPr>
                        <a:defRPr sz="1200">
                          <a:solidFill>
                            <a:srgbClr val="16202E"/>
                          </a:solidFill>
                          <a:latin typeface="Yu Gothic"/>
                        </a:defRPr>
                      </a:pPr>
                      <a:r>
                        <a:t>科学・イノベーション・技術省(教育省が実施パートナー)</a:t>
                      </a:r>
                    </a:p>
                  </a:txBody>
                  <a:tcPr>
                    <a:solidFill>
                      <a:srgbClr val="F2F6FA"/>
                    </a:solidFill>
                  </a:tcPr>
                </a:tc>
              </a:tr>
              <a:tr h="502920">
                <a:tc>
                  <a:txBody>
                    <a:bodyPr/>
                    <a:lstStyle/>
                    <a:p>
                      <a:pPr>
                        <a:defRPr sz="1200">
                          <a:solidFill>
                            <a:srgbClr val="16202E"/>
                          </a:solidFill>
                          <a:latin typeface="Yu Gothic"/>
                        </a:defRPr>
                      </a:pPr>
                      <a:r>
                        <a:t>採択結果</a:t>
                      </a:r>
                    </a:p>
                  </a:txBody>
                  <a:tcPr>
                    <a:solidFill>
                      <a:srgbClr val="FFFFFF"/>
                    </a:solidFill>
                  </a:tcPr>
                </a:tc>
                <a:tc>
                  <a:txBody>
                    <a:bodyPr/>
                    <a:lstStyle/>
                    <a:p>
                      <a:pPr>
                        <a:defRPr sz="1200">
                          <a:solidFill>
                            <a:srgbClr val="16202E"/>
                          </a:solidFill>
                          <a:latin typeface="Yu Gothic"/>
                        </a:defRPr>
                      </a:pPr>
                      <a:r>
                        <a:t>53件の応募中、選ばれた8社の一つ</a:t>
                      </a:r>
                    </a:p>
                  </a:txBody>
                  <a:tcPr>
                    <a:solidFill>
                      <a:srgbClr val="FFFFFF"/>
                    </a:solidFill>
                  </a:tcPr>
                </a:tc>
              </a:tr>
              <a:tr h="502920">
                <a:tc>
                  <a:txBody>
                    <a:bodyPr/>
                    <a:lstStyle/>
                    <a:p>
                      <a:pPr>
                        <a:defRPr sz="1200">
                          <a:solidFill>
                            <a:srgbClr val="16202E"/>
                          </a:solidFill>
                          <a:latin typeface="Yu Gothic"/>
                        </a:defRPr>
                      </a:pPr>
                      <a:r>
                        <a:t>契約規模・期間</a:t>
                      </a:r>
                    </a:p>
                  </a:txBody>
                  <a:tcPr>
                    <a:solidFill>
                      <a:srgbClr val="F2F6FA"/>
                    </a:solidFill>
                  </a:tcPr>
                </a:tc>
                <a:tc>
                  <a:txBody>
                    <a:bodyPr/>
                    <a:lstStyle/>
                    <a:p>
                      <a:pPr>
                        <a:defRPr sz="1200">
                          <a:solidFill>
                            <a:srgbClr val="16202E"/>
                          </a:solidFill>
                          <a:latin typeface="Yu Gothic"/>
                        </a:defRPr>
                      </a:pPr>
                      <a:r>
                        <a:t>£30万(VAT別)、2027年3月31日までの研究契約</a:t>
                      </a:r>
                    </a:p>
                  </a:txBody>
                  <a:tcPr>
                    <a:solidFill>
                      <a:srgbClr val="F2F6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TechFundingNews(2026-08-18/19)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TechFundingNews・TheNextWeb(2026-08-18/19)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政府プログラムの目的</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採択されたプログラムの狙いです。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恵まれない環境の生徒の学力向上を目的とするプログラム</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実施パートナーとして教育省(Department for Education)が関与</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契約期間は2027年3月31日までの研究契約</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本プログラムでの具体的な成果指標・評価方法の詳細は確認できていない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TechFundingNews(2026-08-18/19)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TechFundingNews・TheNextWeb(2026-08-18/19)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政府プログラムの採択倍率</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53件の応募中、選ばれた8社の一つ</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英国 科学・イノベーション・技術省のプログラム</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TechFundingNews(2026-08-18/19)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創業者の背景</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創業者2名の経歴です。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共同創業者はカヴィ・サムラ氏(UCL医学部卒、2021年)</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共同創業者はポール・ジャン氏(UCL精神神経科学博士、2023年/UCL医学部卒、2024年)</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いずれも元NHS(英国民保健サービス)医師という経歴を持つ</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医療・神経科学の知見を教育分野に応用している点が特徴とされる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UCL Enterprise・TechFundingNews(2026-08-18/19)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TechFundingNews・TheNextWeb(2026-08-18/19)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今回の資金調達に至る流れ</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2025年2月、£170万のシード調達</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Eka Ventures主導</a:t>
            </a:r>
          </a:p>
        </p:txBody>
      </p:sp>
      <p:sp>
        <p:nvSpPr>
          <p:cNvPr id="10" name="Right Arrow 9"/>
          <p:cNvSpPr/>
          <p:nvPr/>
        </p:nvSpPr>
        <p:spPr>
          <a:xfrm>
            <a:off x="41573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口コミでユーザー数が4倍に拡大</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10万人→40万人超</a:t>
            </a:r>
          </a:p>
        </p:txBody>
      </p:sp>
      <p:sp>
        <p:nvSpPr>
          <p:cNvPr id="15" name="Right Arrow 14"/>
          <p:cNvSpPr/>
          <p:nvPr/>
        </p:nvSpPr>
        <p:spPr>
          <a:xfrm>
            <a:off x="73577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英国政府プログラム採択・$8M追加調達</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Felix Capital主導、2026年8月発表</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B80"/>
                </a:solidFill>
                <a:latin typeface="Yu Gothic"/>
              </a:rPr>
              <a:t>初回シード調達から今回の$8M調達までの流れ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TechFundingNews・TheNextWeb(2026-08-18/19)</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TechFundingNews・TheNextWeb(2026-08-18/19)</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今回の発表の3ステップ総括</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1. ユーザー数4倍増</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10万人→40万人超、主に口コミ</a:t>
            </a:r>
          </a:p>
        </p:txBody>
      </p:sp>
      <p:sp>
        <p:nvSpPr>
          <p:cNvPr id="11" name="Chevron 10"/>
          <p:cNvSpPr/>
          <p:nvPr/>
        </p:nvSpPr>
        <p:spPr>
          <a:xfrm>
            <a:off x="4038295"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2. 英国政府プログラム採択</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53件中8社の一つ、£30万の契約</a:t>
            </a:r>
          </a:p>
        </p:txBody>
      </p:sp>
      <p:sp>
        <p:nvSpPr>
          <p:cNvPr id="17" name="Chevron 16"/>
          <p:cNvSpPr/>
          <p:nvPr/>
        </p:nvSpPr>
        <p:spPr>
          <a:xfrm>
            <a:off x="7919313"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3. $8Mシード追加調達</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Felix Capital主導、累計約$1,200万</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TechFundingNews・TheNextWeb(2026-08-18/19)</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技術面の特徴について(留保つき)</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技術面に関する情報です。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会話型のチュータリングと、手書き解答の自動採点・フィードバック機能を特徴とする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報道では『フロンティアモデルを教育・採点用に適応させた、複数の専門特化型モデルを組み合わせた独自アーキテクチャ』と説明されている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特定の基盤モデルの提供元名は本調査で確認できた範囲では明らかにされていない</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詳細な技術アーキテクチャの内訳は本調査の範囲では確認できていない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TechFundingNews・TheNextWeb(2026-08-18/19)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対象とする試験の範囲</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GCSE・Aレベル・IB・SAT等</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英国を中心とした複数の主要試験制度に対応</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TechFundingNews(2026-08-18/19)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AI教育スタートアップとしての位置づけ</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業界内での位置づけです。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AI家庭教師・教育テック分野への投資が世界的に活発化する中での資金調達</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英国政府の公的プログラムに採択された点は、他の同分野スタートアップとの差別化要素の一つといえる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他のAI教育スタートアップとの具体的な業績比較は本調査では行っていない</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急成長を過度に楽観視せず、確認できた事実の範囲で正確に伝える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TechFundingNews・TheNextWeb(2026-08-18/19)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初回シード vs 今回のシード追加調達</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初回(2025年2月)</a:t>
            </a:r>
          </a:p>
        </p:txBody>
      </p:sp>
      <p:sp>
        <p:nvSpPr>
          <p:cNvPr id="9" name="Oval 8"/>
          <p:cNvSpPr/>
          <p:nvPr/>
        </p:nvSpPr>
        <p:spPr>
          <a:xfrm>
            <a:off x="777240"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£170万(約$210万)</a:t>
            </a:r>
          </a:p>
        </p:txBody>
      </p:sp>
      <p:sp>
        <p:nvSpPr>
          <p:cNvPr id="11" name="Oval 10"/>
          <p:cNvSpPr/>
          <p:nvPr/>
        </p:nvSpPr>
        <p:spPr>
          <a:xfrm>
            <a:off x="777240"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Eka Ventures主導</a:t>
            </a:r>
          </a:p>
        </p:txBody>
      </p:sp>
      <p:sp>
        <p:nvSpPr>
          <p:cNvPr id="13" name="Oval 12"/>
          <p:cNvSpPr/>
          <p:nvPr/>
        </p:nvSpPr>
        <p:spPr>
          <a:xfrm>
            <a:off x="777240"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ユーザー数10万人時点</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今回(2026年8月)</a:t>
            </a:r>
          </a:p>
        </p:txBody>
      </p:sp>
      <p:sp>
        <p:nvSpPr>
          <p:cNvPr id="18" name="Oval 17"/>
          <p:cNvSpPr/>
          <p:nvPr/>
        </p:nvSpPr>
        <p:spPr>
          <a:xfrm>
            <a:off x="6598767"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$800万</a:t>
            </a:r>
          </a:p>
        </p:txBody>
      </p:sp>
      <p:sp>
        <p:nvSpPr>
          <p:cNvPr id="20" name="Oval 19"/>
          <p:cNvSpPr/>
          <p:nvPr/>
        </p:nvSpPr>
        <p:spPr>
          <a:xfrm>
            <a:off x="6598767"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Felix Capital主導</a:t>
            </a:r>
          </a:p>
        </p:txBody>
      </p:sp>
      <p:sp>
        <p:nvSpPr>
          <p:cNvPr id="22" name="Oval 21"/>
          <p:cNvSpPr/>
          <p:nvPr/>
        </p:nvSpPr>
        <p:spPr>
          <a:xfrm>
            <a:off x="6598767"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ユーザー数40万人超時点</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TechFundingNews・TheNextWeb(2026-08-18/19)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今回の発表の要点まとめ</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3A5C"/>
                    </a:solidFill>
                  </a:tcPr>
                </a:tc>
                <a:tc>
                  <a:txBody>
                    <a:bodyPr/>
                    <a:lstStyle/>
                    <a:p>
                      <a:pPr>
                        <a:defRPr sz="1300" b="1">
                          <a:solidFill>
                            <a:srgbClr val="FFFFFF"/>
                          </a:solidFill>
                          <a:latin typeface="Yu Gothic"/>
                        </a:defRPr>
                      </a:pPr>
                      <a:r>
                        <a:t>内容</a:t>
                      </a:r>
                    </a:p>
                  </a:txBody>
                  <a:tcPr>
                    <a:solidFill>
                      <a:srgbClr val="1B3A5C"/>
                    </a:solidFill>
                  </a:tcPr>
                </a:tc>
              </a:tr>
              <a:tr h="502920">
                <a:tc>
                  <a:txBody>
                    <a:bodyPr/>
                    <a:lstStyle/>
                    <a:p>
                      <a:pPr>
                        <a:defRPr sz="1200">
                          <a:solidFill>
                            <a:srgbClr val="16202E"/>
                          </a:solidFill>
                          <a:latin typeface="Yu Gothic"/>
                        </a:defRPr>
                      </a:pPr>
                      <a:r>
                        <a:t>調達額</a:t>
                      </a:r>
                    </a:p>
                  </a:txBody>
                  <a:tcPr>
                    <a:solidFill>
                      <a:srgbClr val="FFFFFF"/>
                    </a:solidFill>
                  </a:tcPr>
                </a:tc>
                <a:tc>
                  <a:txBody>
                    <a:bodyPr/>
                    <a:lstStyle/>
                    <a:p>
                      <a:pPr>
                        <a:defRPr sz="1200">
                          <a:solidFill>
                            <a:srgbClr val="16202E"/>
                          </a:solidFill>
                          <a:latin typeface="Yu Gothic"/>
                        </a:defRPr>
                      </a:pPr>
                      <a:r>
                        <a:t>$800万(Felix Capital主導)</a:t>
                      </a:r>
                    </a:p>
                  </a:txBody>
                  <a:tcPr>
                    <a:solidFill>
                      <a:srgbClr val="FFFFFF"/>
                    </a:solidFill>
                  </a:tcPr>
                </a:tc>
              </a:tr>
              <a:tr h="502920">
                <a:tc>
                  <a:txBody>
                    <a:bodyPr/>
                    <a:lstStyle/>
                    <a:p>
                      <a:pPr>
                        <a:defRPr sz="1200">
                          <a:solidFill>
                            <a:srgbClr val="16202E"/>
                          </a:solidFill>
                          <a:latin typeface="Yu Gothic"/>
                        </a:defRPr>
                      </a:pPr>
                      <a:r>
                        <a:t>ユーザー数</a:t>
                      </a:r>
                    </a:p>
                  </a:txBody>
                  <a:tcPr>
                    <a:solidFill>
                      <a:srgbClr val="F2F6FA"/>
                    </a:solidFill>
                  </a:tcPr>
                </a:tc>
                <a:tc>
                  <a:txBody>
                    <a:bodyPr/>
                    <a:lstStyle/>
                    <a:p>
                      <a:pPr>
                        <a:defRPr sz="1200">
                          <a:solidFill>
                            <a:srgbClr val="16202E"/>
                          </a:solidFill>
                          <a:latin typeface="Yu Gothic"/>
                        </a:defRPr>
                      </a:pPr>
                      <a:r>
                        <a:t>10万人→40万人超(約1.5年で4倍)</a:t>
                      </a:r>
                    </a:p>
                  </a:txBody>
                  <a:tcPr>
                    <a:solidFill>
                      <a:srgbClr val="F2F6FA"/>
                    </a:solidFill>
                  </a:tcPr>
                </a:tc>
              </a:tr>
              <a:tr h="502920">
                <a:tc>
                  <a:txBody>
                    <a:bodyPr/>
                    <a:lstStyle/>
                    <a:p>
                      <a:pPr>
                        <a:defRPr sz="1200">
                          <a:solidFill>
                            <a:srgbClr val="16202E"/>
                          </a:solidFill>
                          <a:latin typeface="Yu Gothic"/>
                        </a:defRPr>
                      </a:pPr>
                      <a:r>
                        <a:t>政府プログラム</a:t>
                      </a:r>
                    </a:p>
                  </a:txBody>
                  <a:tcPr>
                    <a:solidFill>
                      <a:srgbClr val="FFFFFF"/>
                    </a:solidFill>
                  </a:tcPr>
                </a:tc>
                <a:tc>
                  <a:txBody>
                    <a:bodyPr/>
                    <a:lstStyle/>
                    <a:p>
                      <a:pPr>
                        <a:defRPr sz="1200">
                          <a:solidFill>
                            <a:srgbClr val="16202E"/>
                          </a:solidFill>
                          <a:latin typeface="Yu Gothic"/>
                        </a:defRPr>
                      </a:pPr>
                      <a:r>
                        <a:t>53件中8社の一つに採択、£30万の契約</a:t>
                      </a:r>
                    </a:p>
                  </a:txBody>
                  <a:tcPr>
                    <a:solidFill>
                      <a:srgbClr val="FFFFFF"/>
                    </a:solidFill>
                  </a:tcPr>
                </a:tc>
              </a:tr>
              <a:tr h="502920">
                <a:tc>
                  <a:txBody>
                    <a:bodyPr/>
                    <a:lstStyle/>
                    <a:p>
                      <a:pPr>
                        <a:defRPr sz="1200">
                          <a:solidFill>
                            <a:srgbClr val="16202E"/>
                          </a:solidFill>
                          <a:latin typeface="Yu Gothic"/>
                        </a:defRPr>
                      </a:pPr>
                      <a:r>
                        <a:t>創業者</a:t>
                      </a:r>
                    </a:p>
                  </a:txBody>
                  <a:tcPr>
                    <a:solidFill>
                      <a:srgbClr val="F2F6FA"/>
                    </a:solidFill>
                  </a:tcPr>
                </a:tc>
                <a:tc>
                  <a:txBody>
                    <a:bodyPr/>
                    <a:lstStyle/>
                    <a:p>
                      <a:pPr>
                        <a:defRPr sz="1200">
                          <a:solidFill>
                            <a:srgbClr val="16202E"/>
                          </a:solidFill>
                          <a:latin typeface="Yu Gothic"/>
                        </a:defRPr>
                      </a:pPr>
                      <a:r>
                        <a:t>元NHS医師2名(UCL出身)</a:t>
                      </a:r>
                    </a:p>
                  </a:txBody>
                  <a:tcPr>
                    <a:solidFill>
                      <a:srgbClr val="F2F6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TechFundingNews・TheNextWeb(2026-08-18/19)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TechFundingNews・TheNextWeb(2026-08-18/19)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英国のAI教育市場における意味</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業界内での本発表の意味です。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英国政府が公的プログラムを通じてAI家庭教師の実証に乗り出している事例として注目される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口コミだけでの急成長は、広告費に依存しない成長モデルとして業界内で関心を集めている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英国以外の国への展開計画の有無・時期は本調査の範囲では確認できていない</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教育格差是正への実際の効果は、今後の政府プログラムの検証結果を待つ必要がある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TechFundingNews・TheNextWeb(2026-08-18/19)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設立から今回調達までの期間</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約1.5年でユーザー4倍・調達2回</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2025年2月の初回シードから2026年8月の追加調達まで</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TechFundingNews(2026-08-18/19)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今回の資金調達の使途(報道ベース)</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3A5C"/>
                    </a:solidFill>
                  </a:tcPr>
                </a:tc>
                <a:tc>
                  <a:txBody>
                    <a:bodyPr/>
                    <a:lstStyle/>
                    <a:p>
                      <a:pPr>
                        <a:defRPr sz="1300" b="1">
                          <a:solidFill>
                            <a:srgbClr val="FFFFFF"/>
                          </a:solidFill>
                          <a:latin typeface="Yu Gothic"/>
                        </a:defRPr>
                      </a:pPr>
                      <a:r>
                        <a:t>内容</a:t>
                      </a:r>
                    </a:p>
                  </a:txBody>
                  <a:tcPr>
                    <a:solidFill>
                      <a:srgbClr val="1B3A5C"/>
                    </a:solidFill>
                  </a:tcPr>
                </a:tc>
              </a:tr>
              <a:tr h="502920">
                <a:tc>
                  <a:txBody>
                    <a:bodyPr/>
                    <a:lstStyle/>
                    <a:p>
                      <a:pPr>
                        <a:defRPr sz="1200">
                          <a:solidFill>
                            <a:srgbClr val="16202E"/>
                          </a:solidFill>
                          <a:latin typeface="Yu Gothic"/>
                        </a:defRPr>
                      </a:pPr>
                      <a:r>
                        <a:t>報道された調達額</a:t>
                      </a:r>
                    </a:p>
                  </a:txBody>
                  <a:tcPr>
                    <a:solidFill>
                      <a:srgbClr val="FFFFFF"/>
                    </a:solidFill>
                  </a:tcPr>
                </a:tc>
                <a:tc>
                  <a:txBody>
                    <a:bodyPr/>
                    <a:lstStyle/>
                    <a:p>
                      <a:pPr>
                        <a:defRPr sz="1200">
                          <a:solidFill>
                            <a:srgbClr val="16202E"/>
                          </a:solidFill>
                          <a:latin typeface="Yu Gothic"/>
                        </a:defRPr>
                      </a:pPr>
                      <a:r>
                        <a:t>$800万(Felix Capital主導のシード)</a:t>
                      </a:r>
                    </a:p>
                  </a:txBody>
                  <a:tcPr>
                    <a:solidFill>
                      <a:srgbClr val="FFFFFF"/>
                    </a:solidFill>
                  </a:tcPr>
                </a:tc>
              </a:tr>
              <a:tr h="502920">
                <a:tc>
                  <a:txBody>
                    <a:bodyPr/>
                    <a:lstStyle/>
                    <a:p>
                      <a:pPr>
                        <a:defRPr sz="1200">
                          <a:solidFill>
                            <a:srgbClr val="16202E"/>
                          </a:solidFill>
                          <a:latin typeface="Yu Gothic"/>
                        </a:defRPr>
                      </a:pPr>
                      <a:r>
                        <a:t>累計調達額</a:t>
                      </a:r>
                    </a:p>
                  </a:txBody>
                  <a:tcPr>
                    <a:solidFill>
                      <a:srgbClr val="F2F6FA"/>
                    </a:solidFill>
                  </a:tcPr>
                </a:tc>
                <a:tc>
                  <a:txBody>
                    <a:bodyPr/>
                    <a:lstStyle/>
                    <a:p>
                      <a:pPr>
                        <a:defRPr sz="1200">
                          <a:solidFill>
                            <a:srgbClr val="16202E"/>
                          </a:solidFill>
                          <a:latin typeface="Yu Gothic"/>
                        </a:defRPr>
                      </a:pPr>
                      <a:r>
                        <a:t>約$1,200万</a:t>
                      </a:r>
                    </a:p>
                  </a:txBody>
                  <a:tcPr>
                    <a:solidFill>
                      <a:srgbClr val="F2F6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TechFundingNews(2026-08-18/19)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TechFundingNews・TheNextWeb(2026-08-18/19)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発表のタイミング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同日に複数分野の決算・資金調達ニュースが集中</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AI関連の資金調達・決算発表が相次いだ2026年8月18〜19日</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本リサーチ(2026-08-19時点)</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正直にお伝えする留保事項です。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今回の資金調達後の具体的な企業評価額(バリュエーション)</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ユーザー数『40万人超』の算出時点・定義(登録者数か月間アクティブ数か)の詳細</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英国以外の国への展開計画の有無・時期</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本テーマは特定企業(Medly AI)の製品購入・利用を推奨するものではなく、報じられた資金調達の紹介にとどめる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TechFundingNews・TheNextWeb(2026-08-18/19)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今回の資金調達 vs 業界の一般的なAI教育スタートアップ</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Medly AI(今回)</a:t>
            </a:r>
          </a:p>
        </p:txBody>
      </p:sp>
      <p:sp>
        <p:nvSpPr>
          <p:cNvPr id="9" name="Oval 8"/>
          <p:cNvSpPr/>
          <p:nvPr/>
        </p:nvSpPr>
        <p:spPr>
          <a:xfrm>
            <a:off x="777240"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口コミ中心でユーザー4倍増</a:t>
            </a:r>
          </a:p>
        </p:txBody>
      </p:sp>
      <p:sp>
        <p:nvSpPr>
          <p:cNvPr id="11" name="Oval 10"/>
          <p:cNvSpPr/>
          <p:nvPr/>
        </p:nvSpPr>
        <p:spPr>
          <a:xfrm>
            <a:off x="777240"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英国政府プログラムに採択</a:t>
            </a:r>
          </a:p>
        </p:txBody>
      </p:sp>
      <p:sp>
        <p:nvSpPr>
          <p:cNvPr id="13" name="Oval 12"/>
          <p:cNvSpPr/>
          <p:nvPr/>
        </p:nvSpPr>
        <p:spPr>
          <a:xfrm>
            <a:off x="777240"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元NHS医師2名が創業</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一般的なAI教育スタートアップ</a:t>
            </a:r>
          </a:p>
        </p:txBody>
      </p:sp>
      <p:sp>
        <p:nvSpPr>
          <p:cNvPr id="18" name="Oval 17"/>
          <p:cNvSpPr/>
          <p:nvPr/>
        </p:nvSpPr>
        <p:spPr>
          <a:xfrm>
            <a:off x="6598767"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広告出稿による成長が多い傾向</a:t>
            </a:r>
          </a:p>
        </p:txBody>
      </p:sp>
      <p:sp>
        <p:nvSpPr>
          <p:cNvPr id="20" name="Oval 19"/>
          <p:cNvSpPr/>
          <p:nvPr/>
        </p:nvSpPr>
        <p:spPr>
          <a:xfrm>
            <a:off x="6598767"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公的プログラムへの採択は必ずしも一般的ではない</a:t>
            </a:r>
          </a:p>
        </p:txBody>
      </p:sp>
      <p:sp>
        <p:nvSpPr>
          <p:cNvPr id="22" name="Oval 21"/>
          <p:cNvSpPr/>
          <p:nvPr/>
        </p:nvSpPr>
        <p:spPr>
          <a:xfrm>
            <a:off x="6598767"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本調査では個別の比較検証は行っていない</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TechFundingNews・TheNextWeb(2026-08-18/19)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AI教育・edtechの動向に関心がある立場として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口コミだけでの急成長という成長モデルと、公的プログラムとの連携事例が参考になる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スタートアップ投資に関心がある立場として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調達額・ユーザー数の推移を、確認できた公式数値の範囲で正確に把握する視点が役立つ</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教育・子育てに関心がある立場として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AI家庭教師サービスの利用を検討する際は、評価額や利用実績を鵜呑みにせず、確認できていない点も踏まえて判断する必要がある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TechFundingNews・TheNextWeb(2026-08-18/19)</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まとめ</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本編のまとめです。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Medly AIは2026年8月18〜19日、Felix Capital主導で$800万のシード資金調達を発表した</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ユーザー数は2025年初頭の10万人から40万人超へ、主に口コミで拡大した</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英国政府のAI家庭教師プログラムにも53件中8社の一つとして採択されている</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評価額やユーザー数の算出定義など、確認できていない点は正直に開示した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TechFundingNews・TheNextWeb(2026-08-18/19)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広告費ゼロで、ユーザーは4倍になった。</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CE6F5"/>
                </a:solidFill>
                <a:latin typeface="Yu Gothic"/>
              </a:rPr>
              <a:t>Medly AIは2026年8月18〜19日、$800万のシード資金調達を発表しました。口コミだけでのユーザー4倍増から、英国政府プログラムへの採択まで、出典付きで正直に整理してお届けしました。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B3A5C"/>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