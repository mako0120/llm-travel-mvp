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RAM価格($/GB)</c:v>
                </c:pt>
              </c:strCache>
            </c:strRef>
          </c:tx>
          <c:spPr>
            <a:solidFill>
              <a:srgbClr val="2B3A55"/>
            </a:solidFill>
          </c:spPr>
          <c:cat>
            <c:strRef>
              <c:f>Sheet1!$A$2:$A$3</c:f>
              <c:strCache>
                <c:ptCount val="2"/>
                <c:pt idx="0">
                  <c:v>2025年</c:v>
                </c:pt>
                <c:pt idx="1">
                  <c:v>2026年</c:v>
                </c:pt>
              </c:strCache>
            </c:strRef>
          </c:cat>
          <c:val>
            <c:numRef>
              <c:f>Sheet1!$B$2:$B$3</c:f>
              <c:numCache>
                <c:formatCode>General</c:formatCode>
                <c:ptCount val="2"/>
                <c:pt idx="0">
                  <c:v>2.8</c:v>
                </c:pt>
                <c:pt idx="1">
                  <c:v>12</c:v>
                </c:pt>
              </c:numCache>
            </c:numRef>
          </c:val>
        </c:ser>
        <c:dLbls>
          <c:numFmt formatCode="$#,##0.0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前年比出荷成長率の目安(%)</c:v>
                </c:pt>
              </c:strCache>
            </c:strRef>
          </c:tx>
          <c:spPr>
            <a:solidFill>
              <a:srgbClr val="2B3A55"/>
            </a:solidFill>
          </c:spPr>
          <c:cat>
            <c:strRef>
              <c:f>Sheet1!$A$2:$A$3</c:f>
              <c:strCache>
                <c:ptCount val="2"/>
                <c:pt idx="0">
                  <c:v>2025年(実績)</c:v>
                </c:pt>
                <c:pt idx="1">
                  <c:v>2026年(予測)</c:v>
                </c:pt>
              </c:strCache>
            </c:strRef>
          </c:cat>
          <c:val>
            <c:numRef>
              <c:f>Sheet1!$B$2:$B$3</c:f>
              <c:numCache>
                <c:formatCode>General</c:formatCode>
                <c:ptCount val="2"/>
                <c:pt idx="0">
                  <c:v>0</c:v>
                </c:pt>
                <c:pt idx="1">
                  <c:v>-12.9</c:v>
                </c:pt>
              </c:numCache>
            </c:numRef>
          </c:val>
        </c:ser>
        <c:dLbls>
          <c:numFmt formatCode="0.0&quot;%&quot;"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最も驚きのある数字(6倍)を即座に提示する(2026-07-23のエンゲージメント設計ルールに基づく)。本件はGoogleが値上げの方向性を認めた段階の報道であり、正式な価格発表は8月12日であることを踏まえたトーンに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結論を先に提示する。詳細は後続スライドで深掘りする。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視聴者が得られるものを先に提示し、離脱を防ぐ。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AI専門の話ではなく生活に関わる話であることを示し、幅広い視聴者への関心を作る。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AI需要とスマホ値上げをつなぐ因果関係を平易に説明する。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時系列を整理し、まだ正式発表前であることを明確にする。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1年での変化を対比で見せる。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Morgan Stanleyのデータとして、Barkat氏が引用した数字。</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実在の発言を引用する。批判・揶揄ではなく事実紹介として扱う。</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9to5Googleが伝えた試算。1台あたりの影響を具体的な金額で示す。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数字を見せるスライドはグラフで視覚化する(bulletsで羅列しない)。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Pixel 11だけの話ではないことを示す。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観測情報であり確定事項ではないことを明示する。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AI需要からスマホ値上げまでの因果関係を1枚の図で見せる。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Google固有の問題ではなく業界共通の構造であることを示す。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一次資料に本調査ではアクセスできておらず、伝聞情報であることをノートで明示する。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AI業界の話を、視聴者自身の生活の話に接続する(起承転結の「転」)。</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視聴者自身の判断材料として、両論を対比で示す(断定的な推奨はしない)。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「これで何が変わるか」を個人・企業の両方の視点で示す(初心者にもわかる構成ルール)。</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値上げだけでなく、対応策も併せて伝える(公平な視点)。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確認できたことと、できなかったことを区別して伝える。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断定を避け、確定情報と観測情報を区別する姿勢を保つ。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正直に、確認できなかったことを明示する(誇張・断定をしない)。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出典を一覧で提示し、透明性を確保する。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結のキーメッセージ。誇張せず、事実に基づいて締める。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視聴者の次のアクションを1つに絞って提示する。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RAM価格、1年で6倍。AIがあなたのスマホを値上げしている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Google幹部がPixel 11シリーズの値上げを事実上認める(2026年7月24日、9to5Googleのインタビューより)</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9to5Google、Android Central、taisy0、ギズモード・ジャパン、2026-07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何が起きたか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AIデータセンター向けメモリ需要が、RAM価格を1年で約6倍に押し上げた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誰が認めたか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Google幹部が9to5Googleの取材で、Pixel 11シリーズを含む値上げを事実上認めた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AIとスマホの値段が、なぜつながっているのかが分かる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Googleが公式に認めた具体的な数字を、出典付きで整理して知れる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8月12日の正式発表に向けて、何を確認すればよいかが分かる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なぜ今、この話を扱うのか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一次情報がある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Google幹部本人が9to5Googleの取材に答えた、一次性の高い情報</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生活に直結する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AI業界の裏側の話ではなく、次に買うスマホの値段に直結する話</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数字で見る値上げの背景</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業界全体への波及・これは何を意味するか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不明点・注意点・まとめ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RAM(メモリ)</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スマホやパソコンが今処理しているデータを一時的に置いておく部品</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HBM(高帯域幅メモリ)</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AIの学習・稼働に使う、大量のデータを高速でやり取りできる特殊なメモリ</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なぜAIがメモリを大量に消費するのか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生成AIの学習・稼働には、HBMを大量に積んだ専用サーバーが必要になる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データセンター向けの需要が急増し、メモリ工場の生産能力がそちらに優先的に振り向けられている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結果として、スマホなど消費者向け製品に回るメモリの供給が細くなっている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時系列で見る今回の報道</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B3A55"/>
                    </a:solidFill>
                  </a:tcPr>
                </a:tc>
                <a:tc>
                  <a:txBody>
                    <a:bodyPr/>
                    <a:lstStyle/>
                    <a:p>
                      <a:pPr>
                        <a:defRPr sz="1300" b="1">
                          <a:solidFill>
                            <a:srgbClr val="FFFFFF"/>
                          </a:solidFill>
                          <a:latin typeface="Yu Gothic"/>
                        </a:defRPr>
                      </a:pPr>
                      <a:r>
                        <a:t>できごと</a:t>
                      </a:r>
                    </a:p>
                  </a:txBody>
                  <a:tcPr>
                    <a:solidFill>
                      <a:srgbClr val="2B3A55"/>
                    </a:solidFill>
                  </a:tcPr>
                </a:tc>
              </a:tr>
              <a:tr h="502920">
                <a:tc>
                  <a:txBody>
                    <a:bodyPr/>
                    <a:lstStyle/>
                    <a:p>
                      <a:pPr>
                        <a:defRPr sz="1200">
                          <a:solidFill>
                            <a:srgbClr val="1C2230"/>
                          </a:solidFill>
                          <a:latin typeface="Yu Gothic"/>
                        </a:defRPr>
                      </a:pPr>
                      <a:r>
                        <a:t>2026年7月24日</a:t>
                      </a:r>
                    </a:p>
                  </a:txBody>
                  <a:tcPr>
                    <a:solidFill>
                      <a:srgbClr val="FFFFFF"/>
                    </a:solidFill>
                  </a:tcPr>
                </a:tc>
                <a:tc>
                  <a:txBody>
                    <a:bodyPr/>
                    <a:lstStyle/>
                    <a:p>
                      <a:pPr>
                        <a:defRPr sz="1200">
                          <a:solidFill>
                            <a:srgbClr val="1C2230"/>
                          </a:solidFill>
                          <a:latin typeface="Yu Gothic"/>
                        </a:defRPr>
                      </a:pPr>
                      <a:r>
                        <a:t>Google幹部Shakil Barkat氏が9to5Googleの取材で値上げを事実上認める</a:t>
                      </a:r>
                    </a:p>
                  </a:txBody>
                  <a:tcPr>
                    <a:solidFill>
                      <a:srgbClr val="FFFFFF"/>
                    </a:solidFill>
                  </a:tcPr>
                </a:tc>
              </a:tr>
              <a:tr h="502920">
                <a:tc>
                  <a:txBody>
                    <a:bodyPr/>
                    <a:lstStyle/>
                    <a:p>
                      <a:pPr>
                        <a:defRPr sz="1200">
                          <a:solidFill>
                            <a:srgbClr val="1C2230"/>
                          </a:solidFill>
                          <a:latin typeface="Yu Gothic"/>
                        </a:defRPr>
                      </a:pPr>
                      <a:r>
                        <a:t>2026年7月25〜27日</a:t>
                      </a:r>
                    </a:p>
                  </a:txBody>
                  <a:tcPr>
                    <a:solidFill>
                      <a:srgbClr val="F1F5FA"/>
                    </a:solidFill>
                  </a:tcPr>
                </a:tc>
                <a:tc>
                  <a:txBody>
                    <a:bodyPr/>
                    <a:lstStyle/>
                    <a:p>
                      <a:pPr>
                        <a:defRPr sz="1200">
                          <a:solidFill>
                            <a:srgbClr val="1C2230"/>
                          </a:solidFill>
                          <a:latin typeface="Yu Gothic"/>
                        </a:defRPr>
                      </a:pPr>
                      <a:r>
                        <a:t>Android Central等、英語圏メディアが追随報道</a:t>
                      </a:r>
                    </a:p>
                  </a:txBody>
                  <a:tcPr>
                    <a:solidFill>
                      <a:srgbClr val="F1F5FA"/>
                    </a:solidFill>
                  </a:tcPr>
                </a:tc>
              </a:tr>
              <a:tr h="502920">
                <a:tc>
                  <a:txBody>
                    <a:bodyPr/>
                    <a:lstStyle/>
                    <a:p>
                      <a:pPr>
                        <a:defRPr sz="1200">
                          <a:solidFill>
                            <a:srgbClr val="1C2230"/>
                          </a:solidFill>
                          <a:latin typeface="Yu Gothic"/>
                        </a:defRPr>
                      </a:pPr>
                      <a:r>
                        <a:t>2026年7月25日以降</a:t>
                      </a:r>
                    </a:p>
                  </a:txBody>
                  <a:tcPr>
                    <a:solidFill>
                      <a:srgbClr val="FFFFFF"/>
                    </a:solidFill>
                  </a:tcPr>
                </a:tc>
                <a:tc>
                  <a:txBody>
                    <a:bodyPr/>
                    <a:lstStyle/>
                    <a:p>
                      <a:pPr>
                        <a:defRPr sz="1200">
                          <a:solidFill>
                            <a:srgbClr val="1C2230"/>
                          </a:solidFill>
                          <a:latin typeface="Yu Gothic"/>
                        </a:defRPr>
                      </a:pPr>
                      <a:r>
                        <a:t>ギズモード・ジャパン等、日本語メディアも報道</a:t>
                      </a:r>
                    </a:p>
                  </a:txBody>
                  <a:tcPr>
                    <a:solidFill>
                      <a:srgbClr val="FFFFFF"/>
                    </a:solidFill>
                  </a:tcPr>
                </a:tc>
              </a:tr>
              <a:tr h="502920">
                <a:tc>
                  <a:txBody>
                    <a:bodyPr/>
                    <a:lstStyle/>
                    <a:p>
                      <a:pPr>
                        <a:defRPr sz="1200">
                          <a:solidFill>
                            <a:srgbClr val="1C2230"/>
                          </a:solidFill>
                          <a:latin typeface="Yu Gothic"/>
                        </a:defRPr>
                      </a:pPr>
                      <a:r>
                        <a:t>2026年8月12日(予定)</a:t>
                      </a:r>
                    </a:p>
                  </a:txBody>
                  <a:tcPr>
                    <a:solidFill>
                      <a:srgbClr val="F1F5FA"/>
                    </a:solidFill>
                  </a:tcPr>
                </a:tc>
                <a:tc>
                  <a:txBody>
                    <a:bodyPr/>
                    <a:lstStyle/>
                    <a:p>
                      <a:pPr>
                        <a:defRPr sz="1200">
                          <a:solidFill>
                            <a:srgbClr val="1C2230"/>
                          </a:solidFill>
                          <a:latin typeface="Yu Gothic"/>
                        </a:defRPr>
                      </a:pPr>
                      <a:r>
                        <a:t>Made by Googleイベントで正式発表・価格公表</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 Android Central(2026-07)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RAM価格、2025年と2026年の違い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2025年</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1GBあたり約$2.80</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スマホ部材費への影響は限定的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2026年</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1GBあたり約$12(約6倍)</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スマホの部材費に直接影響</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発言者</a:t>
                      </a:r>
                    </a:p>
                  </a:txBody>
                  <a:tcPr>
                    <a:solidFill>
                      <a:srgbClr val="FFFFFF"/>
                    </a:solidFill>
                  </a:tcPr>
                </a:tc>
                <a:tc>
                  <a:txBody>
                    <a:bodyPr/>
                    <a:lstStyle/>
                    <a:p>
                      <a:pPr>
                        <a:defRPr sz="1200">
                          <a:solidFill>
                            <a:srgbClr val="1C2230"/>
                          </a:solidFill>
                          <a:latin typeface="Yu Gothic"/>
                        </a:defRPr>
                      </a:pPr>
                      <a:r>
                        <a:t>Google幹部 Shakil Barkat氏(VP of Devices and Services)</a:t>
                      </a:r>
                    </a:p>
                  </a:txBody>
                  <a:tcPr>
                    <a:solidFill>
                      <a:srgbClr val="FFFFFF"/>
                    </a:solidFill>
                  </a:tcPr>
                </a:tc>
              </a:tr>
              <a:tr h="502920">
                <a:tc>
                  <a:txBody>
                    <a:bodyPr/>
                    <a:lstStyle/>
                    <a:p>
                      <a:pPr>
                        <a:defRPr sz="1200">
                          <a:solidFill>
                            <a:srgbClr val="1C2230"/>
                          </a:solidFill>
                          <a:latin typeface="Yu Gothic"/>
                        </a:defRPr>
                      </a:pPr>
                      <a:r>
                        <a:t>発言内容</a:t>
                      </a:r>
                    </a:p>
                  </a:txBody>
                  <a:tcPr>
                    <a:solidFill>
                      <a:srgbClr val="F1F5FA"/>
                    </a:solidFill>
                  </a:tcPr>
                </a:tc>
                <a:tc>
                  <a:txBody>
                    <a:bodyPr/>
                    <a:lstStyle/>
                    <a:p>
                      <a:pPr>
                        <a:defRPr sz="1200">
                          <a:solidFill>
                            <a:srgbClr val="1C2230"/>
                          </a:solidFill>
                          <a:latin typeface="Yu Gothic"/>
                        </a:defRPr>
                      </a:pPr>
                      <a:r>
                        <a:t>RAM価格高騰を理由に、Pixel 11シリーズを含む値上げを事実上認めた</a:t>
                      </a:r>
                    </a:p>
                  </a:txBody>
                  <a:tcPr>
                    <a:solidFill>
                      <a:srgbClr val="F1F5FA"/>
                    </a:solidFill>
                  </a:tcPr>
                </a:tc>
              </a:tr>
              <a:tr h="502920">
                <a:tc>
                  <a:txBody>
                    <a:bodyPr/>
                    <a:lstStyle/>
                    <a:p>
                      <a:pPr>
                        <a:defRPr sz="1200">
                          <a:solidFill>
                            <a:srgbClr val="1C2230"/>
                          </a:solidFill>
                          <a:latin typeface="Yu Gothic"/>
                        </a:defRPr>
                      </a:pPr>
                      <a:r>
                        <a:t>対象範囲</a:t>
                      </a:r>
                    </a:p>
                  </a:txBody>
                  <a:tcPr>
                    <a:solidFill>
                      <a:srgbClr val="FFFFFF"/>
                    </a:solidFill>
                  </a:tcPr>
                </a:tc>
                <a:tc>
                  <a:txBody>
                    <a:bodyPr/>
                    <a:lstStyle/>
                    <a:p>
                      <a:pPr>
                        <a:defRPr sz="1200">
                          <a:solidFill>
                            <a:srgbClr val="1C2230"/>
                          </a:solidFill>
                          <a:latin typeface="Yu Gothic"/>
                        </a:defRPr>
                      </a:pPr>
                      <a:r>
                        <a:t>Pixel 11シリーズに加え、既存のPixel 10やPixel Watch等も対象</a:t>
                      </a:r>
                    </a:p>
                  </a:txBody>
                  <a:tcPr>
                    <a:solidFill>
                      <a:srgbClr val="FFFFFF"/>
                    </a:solidFill>
                  </a:tcPr>
                </a:tc>
              </a:tr>
              <a:tr h="502920">
                <a:tc>
                  <a:txBody>
                    <a:bodyPr/>
                    <a:lstStyle/>
                    <a:p>
                      <a:pPr>
                        <a:defRPr sz="1200">
                          <a:solidFill>
                            <a:srgbClr val="1C2230"/>
                          </a:solidFill>
                          <a:latin typeface="Yu Gothic"/>
                        </a:defRPr>
                      </a:pPr>
                      <a:r>
                        <a:t>正式発表</a:t>
                      </a:r>
                    </a:p>
                  </a:txBody>
                  <a:tcPr>
                    <a:solidFill>
                      <a:srgbClr val="F1F5FA"/>
                    </a:solidFill>
                  </a:tcPr>
                </a:tc>
                <a:tc>
                  <a:txBody>
                    <a:bodyPr/>
                    <a:lstStyle/>
                    <a:p>
                      <a:pPr>
                        <a:defRPr sz="1200">
                          <a:solidFill>
                            <a:srgbClr val="1C2230"/>
                          </a:solidFill>
                          <a:latin typeface="Yu Gothic"/>
                        </a:defRPr>
                      </a:pPr>
                      <a:r>
                        <a:t>2026年8月12日、Made by Googleイベントで価格を公表予定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RAM価格の高騰幅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約6倍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1GBあたり$2.80(2025年)→ $12(2026年)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9to5Google、Morgan Stanleyデータ引用(2026-07-24)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“これまでは価格変動を吸収してきたが、もはやそれができない状況にある。”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Shakil Barkat氏(Google, VP of Devices and Services)、9to5Googleのインタビューより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部材費(BOM)への影響試算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従来</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16GB RAM搭載機の部材費は約$45程度と試算されていた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現在</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同条件で約$192程度まで増加すると試算されている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9to5Google(2026-07-24)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RAM価格の推移(1GBあたり、米ドル)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Morgan Stanleyデータ、9to5Google経由(2026-07)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値上げの対象になるPixel製品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Pixel 11シリーズ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2026年8月12日発表予定の新シリーズ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既存のPixelシリーズ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Pixel 10やPixel Watch等、既存モデルも値上げの対象</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Android Central, taisy0(2026-07-25)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Pixel 11 Proの仕様に関する観測(未確定)</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観測されている内容</a:t>
                      </a:r>
                    </a:p>
                  </a:txBody>
                  <a:tcPr>
                    <a:solidFill>
                      <a:srgbClr val="2B3A55"/>
                    </a:solidFill>
                  </a:tcPr>
                </a:tc>
              </a:tr>
              <a:tr h="502920">
                <a:tc>
                  <a:txBody>
                    <a:bodyPr/>
                    <a:lstStyle/>
                    <a:p>
                      <a:pPr>
                        <a:defRPr sz="1200">
                          <a:solidFill>
                            <a:srgbClr val="1C2230"/>
                          </a:solidFill>
                          <a:latin typeface="Yu Gothic"/>
                        </a:defRPr>
                      </a:pPr>
                      <a:r>
                        <a:t>エントリーモデルの容量</a:t>
                      </a:r>
                    </a:p>
                  </a:txBody>
                  <a:tcPr>
                    <a:solidFill>
                      <a:srgbClr val="FFFFFF"/>
                    </a:solidFill>
                  </a:tcPr>
                </a:tc>
                <a:tc>
                  <a:txBody>
                    <a:bodyPr/>
                    <a:lstStyle/>
                    <a:p>
                      <a:pPr>
                        <a:defRPr sz="1200">
                          <a:solidFill>
                            <a:srgbClr val="1C2230"/>
                          </a:solidFill>
                          <a:latin typeface="Yu Gothic"/>
                        </a:defRPr>
                      </a:pPr>
                      <a:r>
                        <a:t>256GBに拡大するとの観測</a:t>
                      </a:r>
                    </a:p>
                  </a:txBody>
                  <a:tcPr>
                    <a:solidFill>
                      <a:srgbClr val="FFFFFF"/>
                    </a:solidFill>
                  </a:tcPr>
                </a:tc>
              </a:tr>
              <a:tr h="502920">
                <a:tc>
                  <a:txBody>
                    <a:bodyPr/>
                    <a:lstStyle/>
                    <a:p>
                      <a:pPr>
                        <a:defRPr sz="1200">
                          <a:solidFill>
                            <a:srgbClr val="1C2230"/>
                          </a:solidFill>
                          <a:latin typeface="Yu Gothic"/>
                        </a:defRPr>
                      </a:pPr>
                      <a:r>
                        <a:t>RAM容量</a:t>
                      </a:r>
                    </a:p>
                  </a:txBody>
                  <a:tcPr>
                    <a:solidFill>
                      <a:srgbClr val="F1F5FA"/>
                    </a:solidFill>
                  </a:tcPr>
                </a:tc>
                <a:tc>
                  <a:txBody>
                    <a:bodyPr/>
                    <a:lstStyle/>
                    <a:p>
                      <a:pPr>
                        <a:defRPr sz="1200">
                          <a:solidFill>
                            <a:srgbClr val="1C2230"/>
                          </a:solidFill>
                          <a:latin typeface="Yu Gothic"/>
                        </a:defRPr>
                      </a:pPr>
                      <a:r>
                        <a:t>16GBから12GBに縮小するとの観測もある</a:t>
                      </a:r>
                    </a:p>
                  </a:txBody>
                  <a:tcPr>
                    <a:solidFill>
                      <a:srgbClr val="F1F5FA"/>
                    </a:solidFill>
                  </a:tcPr>
                </a:tc>
              </a:tr>
              <a:tr h="502920">
                <a:tc>
                  <a:txBody>
                    <a:bodyPr/>
                    <a:lstStyle/>
                    <a:p>
                      <a:pPr>
                        <a:defRPr sz="1200">
                          <a:solidFill>
                            <a:srgbClr val="1C2230"/>
                          </a:solidFill>
                          <a:latin typeface="Yu Gothic"/>
                        </a:defRPr>
                      </a:pPr>
                      <a:r>
                        <a:t>確定状況</a:t>
                      </a:r>
                    </a:p>
                  </a:txBody>
                  <a:tcPr>
                    <a:solidFill>
                      <a:srgbClr val="FFFFFF"/>
                    </a:solidFill>
                  </a:tcPr>
                </a:tc>
                <a:tc>
                  <a:txBody>
                    <a:bodyPr/>
                    <a:lstStyle/>
                    <a:p>
                      <a:pPr>
                        <a:defRPr sz="1200">
                          <a:solidFill>
                            <a:srgbClr val="1C2230"/>
                          </a:solidFill>
                          <a:latin typeface="Yu Gothic"/>
                        </a:defRPr>
                      </a:pPr>
                      <a:r>
                        <a:t>いずれもGoogleの公式発表はまだない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Gadget Hacks(観測情報、2026-07)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値上げにつながる構造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AIデータセンター</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HBM(高帯域幅メモリ)を大量に必要とする</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メモリメーカー</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生産能力をHBM向けに優先配分する</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消費者向けRAM</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供給が細り、価格が高騰する</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スマートフォン</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部材費上昇分が販売価格に転嫁される</a:t>
            </a:r>
          </a:p>
        </p:txBody>
      </p:sp>
      <p:sp>
        <p:nvSpPr>
          <p:cNvPr id="25" name="TextBox 2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TechStartups等の報道をもとに構成(2026-07-27)</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業界全体への波及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Googleだけではない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複数の報道で、他のAndroidメーカーも今年に入り価格改定を行っているとされる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業界共通の課題</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メモリ高騰はスマホ業界全体が直面している構造的な課題とされる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各種報道の伝聞情報(2026-07)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スマホ出荷への影響予測(観測情報)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調査会社の予測として複数メディアが伝聞報道(一次資料未確認、2026-07)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AIの経済的な影響は、データセンターの中だけにとどまらず、身近な製品の値段にも及び始めている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スマホに限らず、メモリを使う製品全般が同様の影響を受ける可能性がある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しばらくはメモリ価格の高止まりが続く可能性がある、との見方が複数メディアで示されている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買い替えを検討する場合の考え方(目安)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①発表を待つ</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2026年8月12日の正式発表・価格を確認する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②仕様を比較する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RAM容量・ストレージ容量の変更点を確認する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③他機種とも比べる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他のAndroidメーカーの価格改定状況も合わせて確認する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「今の機種を使い続ける」か「新機種を待つ」か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今の機種を使い続ける</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値上げの影響を受けない</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最新機能は使えない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新機種の発表を待つ</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正式な価格・仕様を確認してから判断できる</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値上げ後の価格になる可能性が高い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 これで何が変わるか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個人にとって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次に買うスマホやパソコンが、これまでより高くなる可能性がある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企業にとって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AI導入コストだけでなく、社用端末の調達コストにも影響しうる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Google側の対応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Barkat氏は、Androidのメモリ使用効率を高める専任のエンジニアリング取り組みを進めていると説明した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価格転嫁だけでなく、ソフトウェア側の省メモリ化でも対応しようとしている姿勢がうかがえる</a:t>
            </a:r>
          </a:p>
        </p:txBody>
      </p:sp>
      <p:sp>
        <p:nvSpPr>
          <p:cNvPr id="10" name="TextBox 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9to5Google(2026-07-24)</a:t>
            </a:r>
          </a:p>
        </p:txBody>
      </p:sp>
      <p:sp>
        <p:nvSpPr>
          <p:cNvPr id="11" name="TextBox 1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2" name="TextBox 1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確認できた範囲での業界の動き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他メーカーも値上げ傾向</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複数の報道で、一部Androidメーカーが年内に価格を改定したとされる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詳細は未確認</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メーカー別の具体的な値上げ幅の内訳までは本調査では確認できていない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慎重に見るべき点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Pixel 11の具体的な価格・スペックは、2026年8月12日の発表まで確定しない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RAM容量の削減など一部の観測情報は、Googleの公式発表ではない点に注意する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出荷台数の予測は、一次資料に本調査ではアクセスできておらず伝聞情報である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今回含まれなかったもの・不明点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他のAndroidメーカー各社の値上げ幅の詳細な内訳は確認できなかった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出荷台数減少予測の一次資料(調査会社本体のレポート)には本調査ではアクセスできなかった</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Pixel 11の最終的な価格・仕様は、8月12日の発表まで不明である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2B3A55"/>
                    </a:solidFill>
                  </a:tcPr>
                </a:tc>
                <a:tc>
                  <a:txBody>
                    <a:bodyPr/>
                    <a:lstStyle/>
                    <a:p>
                      <a:pPr>
                        <a:defRPr sz="1300" b="1">
                          <a:solidFill>
                            <a:srgbClr val="FFFFFF"/>
                          </a:solidFill>
                          <a:latin typeface="Yu Gothic"/>
                        </a:defRPr>
                      </a:pPr>
                      <a:r>
                        <a:t>日付</a:t>
                      </a:r>
                    </a:p>
                  </a:txBody>
                  <a:tcPr>
                    <a:solidFill>
                      <a:srgbClr val="2B3A55"/>
                    </a:solidFill>
                  </a:tcPr>
                </a:tc>
              </a:tr>
              <a:tr h="502920">
                <a:tc>
                  <a:txBody>
                    <a:bodyPr/>
                    <a:lstStyle/>
                    <a:p>
                      <a:pPr>
                        <a:defRPr sz="1200">
                          <a:solidFill>
                            <a:srgbClr val="1C2230"/>
                          </a:solidFill>
                          <a:latin typeface="Yu Gothic"/>
                        </a:defRPr>
                      </a:pPr>
                      <a:r>
                        <a:t>9to5Google(一次インタビュー)</a:t>
                      </a:r>
                    </a:p>
                  </a:txBody>
                  <a:tcPr>
                    <a:solidFill>
                      <a:srgbClr val="FFFFFF"/>
                    </a:solidFill>
                  </a:tcPr>
                </a:tc>
                <a:tc>
                  <a:txBody>
                    <a:bodyPr/>
                    <a:lstStyle/>
                    <a:p>
                      <a:pPr>
                        <a:defRPr sz="1200">
                          <a:solidFill>
                            <a:srgbClr val="1C2230"/>
                          </a:solidFill>
                          <a:latin typeface="Yu Gothic"/>
                        </a:defRPr>
                      </a:pPr>
                      <a:r>
                        <a:t>2026-07-24</a:t>
                      </a:r>
                    </a:p>
                  </a:txBody>
                  <a:tcPr>
                    <a:solidFill>
                      <a:srgbClr val="FFFFFF"/>
                    </a:solidFill>
                  </a:tcPr>
                </a:tc>
              </a:tr>
              <a:tr h="502920">
                <a:tc>
                  <a:txBody>
                    <a:bodyPr/>
                    <a:lstStyle/>
                    <a:p>
                      <a:pPr>
                        <a:defRPr sz="1200">
                          <a:solidFill>
                            <a:srgbClr val="1C2230"/>
                          </a:solidFill>
                          <a:latin typeface="Yu Gothic"/>
                        </a:defRPr>
                      </a:pPr>
                      <a:r>
                        <a:t>Android Central</a:t>
                      </a:r>
                    </a:p>
                  </a:txBody>
                  <a:tcPr>
                    <a:solidFill>
                      <a:srgbClr val="F1F5FA"/>
                    </a:solidFill>
                  </a:tcPr>
                </a:tc>
                <a:tc>
                  <a:txBody>
                    <a:bodyPr/>
                    <a:lstStyle/>
                    <a:p>
                      <a:pPr>
                        <a:defRPr sz="1200">
                          <a:solidFill>
                            <a:srgbClr val="1C2230"/>
                          </a:solidFill>
                          <a:latin typeface="Yu Gothic"/>
                        </a:defRPr>
                      </a:pPr>
                      <a:r>
                        <a:t>2026-07-27</a:t>
                      </a:r>
                    </a:p>
                  </a:txBody>
                  <a:tcPr>
                    <a:solidFill>
                      <a:srgbClr val="F1F5FA"/>
                    </a:solidFill>
                  </a:tcPr>
                </a:tc>
              </a:tr>
              <a:tr h="502920">
                <a:tc>
                  <a:txBody>
                    <a:bodyPr/>
                    <a:lstStyle/>
                    <a:p>
                      <a:pPr>
                        <a:defRPr sz="1200">
                          <a:solidFill>
                            <a:srgbClr val="1C2230"/>
                          </a:solidFill>
                          <a:latin typeface="Yu Gothic"/>
                        </a:defRPr>
                      </a:pPr>
                      <a:r>
                        <a:t>Android Headlines</a:t>
                      </a:r>
                    </a:p>
                  </a:txBody>
                  <a:tcPr>
                    <a:solidFill>
                      <a:srgbClr val="FFFFFF"/>
                    </a:solidFill>
                  </a:tcPr>
                </a:tc>
                <a:tc>
                  <a:txBody>
                    <a:bodyPr/>
                    <a:lstStyle/>
                    <a:p>
                      <a:pPr>
                        <a:defRPr sz="1200">
                          <a:solidFill>
                            <a:srgbClr val="1C2230"/>
                          </a:solidFill>
                          <a:latin typeface="Yu Gothic"/>
                        </a:defRPr>
                      </a:pPr>
                      <a:r>
                        <a:t>2026-07</a:t>
                      </a:r>
                    </a:p>
                  </a:txBody>
                  <a:tcPr>
                    <a:solidFill>
                      <a:srgbClr val="FFFFFF"/>
                    </a:solidFill>
                  </a:tcPr>
                </a:tc>
              </a:tr>
              <a:tr h="502920">
                <a:tc>
                  <a:txBody>
                    <a:bodyPr/>
                    <a:lstStyle/>
                    <a:p>
                      <a:pPr>
                        <a:defRPr sz="1200">
                          <a:solidFill>
                            <a:srgbClr val="1C2230"/>
                          </a:solidFill>
                          <a:latin typeface="Yu Gothic"/>
                        </a:defRPr>
                      </a:pPr>
                      <a:r>
                        <a:t>taisy0 / ギズモード・ジャパン(日本語)</a:t>
                      </a:r>
                    </a:p>
                  </a:txBody>
                  <a:tcPr>
                    <a:solidFill>
                      <a:srgbClr val="F1F5FA"/>
                    </a:solidFill>
                  </a:tcPr>
                </a:tc>
                <a:tc>
                  <a:txBody>
                    <a:bodyPr/>
                    <a:lstStyle/>
                    <a:p>
                      <a:pPr>
                        <a:defRPr sz="1200">
                          <a:solidFill>
                            <a:srgbClr val="1C2230"/>
                          </a:solidFill>
                          <a:latin typeface="Yu Gothic"/>
                        </a:defRPr>
                      </a:pPr>
                      <a:r>
                        <a:t>2026-07-25</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詳細は research.md を参照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AIの影響は、もうデータセンターの外側にまで来ている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RAM価格の6倍高騰が、Google Pixel 11シリーズをはじめスマホ業界全体の値上げにつながっている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8月12日のMade by Googleイベントで、正式な価格発表を確認してみる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次に買う1台を選ぶ前に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値上げの背景を知っておくと、価格改定のニュースを見たときに納得感を持って判断できる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気になった方は、今回の出典元の記事も合わせて確認してみてください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