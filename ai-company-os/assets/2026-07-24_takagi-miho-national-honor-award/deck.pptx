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枚数</c:v>
                </c:pt>
              </c:strCache>
            </c:strRef>
          </c:tx>
          <c:spPr>
            <a:solidFill>
              <a:srgbClr val="1E2761"/>
            </a:solidFill>
          </c:spPr>
          <c:cat>
            <c:strRef>
              <c:f>Sheet1!$A$2:$A$4</c:f>
              <c:strCache>
                <c:ptCount val="3"/>
                <c:pt idx="0">
                  <c:v>金</c:v>
                </c:pt>
                <c:pt idx="1">
                  <c:v>銀</c:v>
                </c:pt>
                <c:pt idx="2">
                  <c:v>銅</c:v>
                </c:pt>
              </c:strCache>
            </c:strRef>
          </c:cat>
          <c:val>
            <c:numRef>
              <c:f>Sheet1!$B$2:$B$4</c:f>
              <c:numCache>
                <c:formatCode>General</c:formatCode>
                <c:ptCount val="3"/>
                <c:pt idx="0">
                  <c:v>2</c:v>
                </c:pt>
                <c:pt idx="1">
                  <c:v>5</c:v>
                </c:pt>
                <c:pt idx="2">
                  <c:v>3</c:v>
                </c:pt>
              </c:numCache>
            </c:numRef>
          </c:val>
        </c:ser>
        <c:dLbls>
          <c:numFmt formatCode="#,##0" sourceLinked="0"/>
          <c:txPr>
            <a:bodyPr/>
            <a:lstStyle/>
            <a:p>
              <a:pPr>
                <a:defRPr sz="1200" b="1">
                  <a:solidFill>
                    <a:srgbClr val="1E2761"/>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コールドオープン: 冒頭で具体的な事実を即座に提示し、挨拶なしで核心から入る(2026-07-24のエンゲージメント設計ルールに基づく)。</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起承転結を予告する。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専門用語を最初に整理する。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発表の概要を表で整理する。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夏冬を通じて日本の女子選手として歴代単独最多の記録とされる。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4大会にわたるメダル獲得の内訳を表で整理する。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通算10個のメダルを色別に示す。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選手のプロフィールを整理する。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4大会にわたる歩みを図で示す。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授与に至る経緯を表で整理する。本テーマは選手個人の功績を称える事実紹介に徹し、政治的な論評は行わない。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国民栄誉賞そのものについて参考情報を紹介する。</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現役時代と引退後の変化を対比で見せる。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ここは推測であることを明言する。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複数情報源での事実確認結果を表で示す。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想定利用者像を整理する。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想定される疑問に先回りして答える。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正直に、含まれなかったものも伝える。</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見送った候補も具体的に共有する。</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転換パート。ここから実践的な話に入る。</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出来事の紹介だけで終わらせず、読み手にとっての意味を扱う。</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実際に関連情報を追う前のチェックリストとして提示する。</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実践につながる進め方をステップで見せる。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個人視点も扱う。</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不明点を正直に「不明」と明言する。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政治・対立を煽らないという制作方針を明確に伝える。</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検品結果を表でまとめる。</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出典を短く再掲する。</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結のキーメッセージ。</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オープンループで次回への引き。</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最終スライド。</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冬季五輪、通算10個のメダル。女子選手として歴代単独最多</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スピードスケート・高木美帆さんに国民栄誉賞、表彰式は7月28日の方針(2026年7月22日)</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日本経済新聞, 時事通信, JOC公式</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今日話すこと</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起: 前提知識 + 何が起きたか</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承: 高木美帆さんの実績を詳しく見る</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転: なぜ今このタイミングか、これは何を意味するか</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結: 不明点・リスク配慮・まとめ</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まず言葉の整理(初心者向け)</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国民栄誉賞</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国民に広く敬愛され、社会に明るい希望を与えた人に政府が贈る表彰</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団体パシュート</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スピードスケートの団体種目。3人1組でチームの総合力を競う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何が起きたか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表彰対象</a:t>
                      </a:r>
                    </a:p>
                  </a:txBody>
                  <a:tcPr>
                    <a:solidFill>
                      <a:srgbClr val="FFFFFF"/>
                    </a:solidFill>
                  </a:tcPr>
                </a:tc>
                <a:tc>
                  <a:txBody>
                    <a:bodyPr/>
                    <a:lstStyle/>
                    <a:p>
                      <a:pPr>
                        <a:defRPr sz="1200">
                          <a:solidFill>
                            <a:srgbClr val="1A1A2E"/>
                          </a:solidFill>
                          <a:latin typeface="Yu Gothic"/>
                        </a:defRPr>
                      </a:pPr>
                      <a:r>
                        <a:t>高木美帆さん(スピードスケート)</a:t>
                      </a:r>
                    </a:p>
                  </a:txBody>
                  <a:tcPr>
                    <a:solidFill>
                      <a:srgbClr val="FFFFFF"/>
                    </a:solidFill>
                  </a:tcPr>
                </a:tc>
              </a:tr>
              <a:tr h="502920">
                <a:tc>
                  <a:txBody>
                    <a:bodyPr/>
                    <a:lstStyle/>
                    <a:p>
                      <a:pPr>
                        <a:defRPr sz="1200">
                          <a:solidFill>
                            <a:srgbClr val="1A1A2E"/>
                          </a:solidFill>
                          <a:latin typeface="Yu Gothic"/>
                        </a:defRPr>
                      </a:pPr>
                      <a:r>
                        <a:t>発表日</a:t>
                      </a:r>
                    </a:p>
                  </a:txBody>
                  <a:tcPr>
                    <a:solidFill>
                      <a:srgbClr val="F3F6FC"/>
                    </a:solidFill>
                  </a:tcPr>
                </a:tc>
                <a:tc>
                  <a:txBody>
                    <a:bodyPr/>
                    <a:lstStyle/>
                    <a:p>
                      <a:pPr>
                        <a:defRPr sz="1200">
                          <a:solidFill>
                            <a:srgbClr val="1A1A2E"/>
                          </a:solidFill>
                          <a:latin typeface="Yu Gothic"/>
                        </a:defRPr>
                      </a:pPr>
                      <a:r>
                        <a:t>2026年7月22日</a:t>
                      </a:r>
                    </a:p>
                  </a:txBody>
                  <a:tcPr>
                    <a:solidFill>
                      <a:srgbClr val="F3F6FC"/>
                    </a:solidFill>
                  </a:tcPr>
                </a:tc>
              </a:tr>
              <a:tr h="502920">
                <a:tc>
                  <a:txBody>
                    <a:bodyPr/>
                    <a:lstStyle/>
                    <a:p>
                      <a:pPr>
                        <a:defRPr sz="1200">
                          <a:solidFill>
                            <a:srgbClr val="1A1A2E"/>
                          </a:solidFill>
                          <a:latin typeface="Yu Gothic"/>
                        </a:defRPr>
                      </a:pPr>
                      <a:r>
                        <a:t>表彰式(予定)</a:t>
                      </a:r>
                    </a:p>
                  </a:txBody>
                  <a:tcPr>
                    <a:solidFill>
                      <a:srgbClr val="FFFFFF"/>
                    </a:solidFill>
                  </a:tcPr>
                </a:tc>
                <a:tc>
                  <a:txBody>
                    <a:bodyPr/>
                    <a:lstStyle/>
                    <a:p>
                      <a:pPr>
                        <a:defRPr sz="1200">
                          <a:solidFill>
                            <a:srgbClr val="1A1A2E"/>
                          </a:solidFill>
                          <a:latin typeface="Yu Gothic"/>
                        </a:defRPr>
                      </a:pPr>
                      <a:r>
                        <a:t>7月28日、首相官邸</a:t>
                      </a:r>
                    </a:p>
                  </a:txBody>
                  <a:tcPr>
                    <a:solidFill>
                      <a:srgbClr val="FFFFFF"/>
                    </a:solidFill>
                  </a:tcPr>
                </a:tc>
              </a:tr>
              <a:tr h="502920">
                <a:tc>
                  <a:txBody>
                    <a:bodyPr/>
                    <a:lstStyle/>
                    <a:p>
                      <a:pPr>
                        <a:defRPr sz="1200">
                          <a:solidFill>
                            <a:srgbClr val="1A1A2E"/>
                          </a:solidFill>
                          <a:latin typeface="Yu Gothic"/>
                        </a:defRPr>
                      </a:pPr>
                      <a:r>
                        <a:t>主な実績</a:t>
                      </a:r>
                    </a:p>
                  </a:txBody>
                  <a:tcPr>
                    <a:solidFill>
                      <a:srgbClr val="F3F6FC"/>
                    </a:solidFill>
                  </a:tcPr>
                </a:tc>
                <a:tc>
                  <a:txBody>
                    <a:bodyPr/>
                    <a:lstStyle/>
                    <a:p>
                      <a:pPr>
                        <a:defRPr sz="1200">
                          <a:solidFill>
                            <a:srgbClr val="1A1A2E"/>
                          </a:solidFill>
                          <a:latin typeface="Yu Gothic"/>
                        </a:defRPr>
                      </a:pPr>
                      <a:r>
                        <a:t>冬季五輪通算10個のメダル獲得</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日本経済新聞(2026-07-22)</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定期実行37本目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冬季五輪通算メダル数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10個</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日本経済新聞・時事通信の報道による(2026年7月22日)</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時事通信・Yahoo!ニュース(2026-07-22)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メダルの内訳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大会</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2018年平昌大会</a:t>
                      </a:r>
                    </a:p>
                  </a:txBody>
                  <a:tcPr>
                    <a:solidFill>
                      <a:srgbClr val="FFFFFF"/>
                    </a:solidFill>
                  </a:tcPr>
                </a:tc>
                <a:tc>
                  <a:txBody>
                    <a:bodyPr/>
                    <a:lstStyle/>
                    <a:p>
                      <a:pPr>
                        <a:defRPr sz="1200">
                          <a:solidFill>
                            <a:srgbClr val="1A1A2E"/>
                          </a:solidFill>
                          <a:latin typeface="Yu Gothic"/>
                        </a:defRPr>
                      </a:pPr>
                      <a:r>
                        <a:t>金1(団体パシュート)・銀2(1000m・1500m)</a:t>
                      </a:r>
                    </a:p>
                  </a:txBody>
                  <a:tcPr>
                    <a:solidFill>
                      <a:srgbClr val="FFFFFF"/>
                    </a:solidFill>
                  </a:tcPr>
                </a:tc>
              </a:tr>
              <a:tr h="502920">
                <a:tc>
                  <a:txBody>
                    <a:bodyPr/>
                    <a:lstStyle/>
                    <a:p>
                      <a:pPr>
                        <a:defRPr sz="1200">
                          <a:solidFill>
                            <a:srgbClr val="1A1A2E"/>
                          </a:solidFill>
                          <a:latin typeface="Yu Gothic"/>
                        </a:defRPr>
                      </a:pPr>
                      <a:r>
                        <a:t>2022年北京大会</a:t>
                      </a:r>
                    </a:p>
                  </a:txBody>
                  <a:tcPr>
                    <a:solidFill>
                      <a:srgbClr val="F3F6FC"/>
                    </a:solidFill>
                  </a:tcPr>
                </a:tc>
                <a:tc>
                  <a:txBody>
                    <a:bodyPr/>
                    <a:lstStyle/>
                    <a:p>
                      <a:pPr>
                        <a:defRPr sz="1200">
                          <a:solidFill>
                            <a:srgbClr val="1A1A2E"/>
                          </a:solidFill>
                          <a:latin typeface="Yu Gothic"/>
                        </a:defRPr>
                      </a:pPr>
                      <a:r>
                        <a:t>金1(1000m)・銀3(500m・1500m・パシュート)</a:t>
                      </a:r>
                    </a:p>
                  </a:txBody>
                  <a:tcPr>
                    <a:solidFill>
                      <a:srgbClr val="F3F6FC"/>
                    </a:solidFill>
                  </a:tcPr>
                </a:tc>
              </a:tr>
              <a:tr h="502920">
                <a:tc>
                  <a:txBody>
                    <a:bodyPr/>
                    <a:lstStyle/>
                    <a:p>
                      <a:pPr>
                        <a:defRPr sz="1200">
                          <a:solidFill>
                            <a:srgbClr val="1A1A2E"/>
                          </a:solidFill>
                          <a:latin typeface="Yu Gothic"/>
                        </a:defRPr>
                      </a:pPr>
                      <a:r>
                        <a:t>2026年ミラノ・コルティナ大会</a:t>
                      </a:r>
                    </a:p>
                  </a:txBody>
                  <a:tcPr>
                    <a:solidFill>
                      <a:srgbClr val="FFFFFF"/>
                    </a:solidFill>
                  </a:tcPr>
                </a:tc>
                <a:tc>
                  <a:txBody>
                    <a:bodyPr/>
                    <a:lstStyle/>
                    <a:p>
                      <a:pPr>
                        <a:defRPr sz="1200">
                          <a:solidFill>
                            <a:srgbClr val="1A1A2E"/>
                          </a:solidFill>
                          <a:latin typeface="Yu Gothic"/>
                        </a:defRPr>
                      </a:pPr>
                      <a:r>
                        <a:t>銅3(500m・1000m・団体パシュート)</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JOC公式(2026年時点)</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定期実行37本目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メダルの色別内訳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JOC公式(2026年時点)</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定期実行37本目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高木美帆さんのプロフィール(初心者向け)</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出身</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北海道出身、32歳</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五輪出場歴</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15歳で2010年バンクーバー大会に初出場し、4大会連続で出場</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引退</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2026年ミラノ・コルティナ大会をもって現役を引退</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JOC公式(2026年時点)</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定期実行37本目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記録が生まれるまでの歩み</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2010年バンクーバー</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15歳で五輪初出場</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2018年・2022年</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平昌・北京で計6個のメダルを積み重ねる</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2026年ミラノ・コルティナ</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10個目のメダルで歴代単独最多に到達し引退</a:t>
            </a:r>
          </a:p>
        </p:txBody>
      </p:sp>
      <p:sp>
        <p:nvSpPr>
          <p:cNvPr id="20" name="TextBox 19"/>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JOC公式(2026年時点)</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定期実行37本目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授与の経緯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検討の指示</a:t>
                      </a:r>
                    </a:p>
                  </a:txBody>
                  <a:tcPr>
                    <a:solidFill>
                      <a:srgbClr val="FFFFFF"/>
                    </a:solidFill>
                  </a:tcPr>
                </a:tc>
                <a:tc>
                  <a:txBody>
                    <a:bodyPr/>
                    <a:lstStyle/>
                    <a:p>
                      <a:pPr>
                        <a:defRPr sz="1200">
                          <a:solidFill>
                            <a:srgbClr val="1A1A2E"/>
                          </a:solidFill>
                          <a:latin typeface="Yu Gothic"/>
                        </a:defRPr>
                      </a:pPr>
                      <a:r>
                        <a:t>高市早苗首相が2026年5月に検討を指示したと報じられている</a:t>
                      </a:r>
                    </a:p>
                  </a:txBody>
                  <a:tcPr>
                    <a:solidFill>
                      <a:srgbClr val="FFFFFF"/>
                    </a:solidFill>
                  </a:tcPr>
                </a:tc>
              </a:tr>
              <a:tr h="502920">
                <a:tc>
                  <a:txBody>
                    <a:bodyPr/>
                    <a:lstStyle/>
                    <a:p>
                      <a:pPr>
                        <a:defRPr sz="1200">
                          <a:solidFill>
                            <a:srgbClr val="1A1A2E"/>
                          </a:solidFill>
                          <a:latin typeface="Yu Gothic"/>
                        </a:defRPr>
                      </a:pPr>
                      <a:r>
                        <a:t>発表</a:t>
                      </a:r>
                    </a:p>
                  </a:txBody>
                  <a:tcPr>
                    <a:solidFill>
                      <a:srgbClr val="F3F6FC"/>
                    </a:solidFill>
                  </a:tcPr>
                </a:tc>
                <a:tc>
                  <a:txBody>
                    <a:bodyPr/>
                    <a:lstStyle/>
                    <a:p>
                      <a:pPr>
                        <a:defRPr sz="1200">
                          <a:solidFill>
                            <a:srgbClr val="1A1A2E"/>
                          </a:solidFill>
                          <a:latin typeface="Yu Gothic"/>
                        </a:defRPr>
                      </a:pPr>
                      <a:r>
                        <a:t>2026年7月22日に授与方針が明らかになった</a:t>
                      </a:r>
                    </a:p>
                  </a:txBody>
                  <a:tcPr>
                    <a:solidFill>
                      <a:srgbClr val="F3F6FC"/>
                    </a:solidFill>
                  </a:tcPr>
                </a:tc>
              </a:tr>
              <a:tr h="502920">
                <a:tc>
                  <a:txBody>
                    <a:bodyPr/>
                    <a:lstStyle/>
                    <a:p>
                      <a:pPr>
                        <a:defRPr sz="1200">
                          <a:solidFill>
                            <a:srgbClr val="1A1A2E"/>
                          </a:solidFill>
                          <a:latin typeface="Yu Gothic"/>
                        </a:defRPr>
                      </a:pPr>
                      <a:r>
                        <a:t>表彰式(予定)</a:t>
                      </a:r>
                    </a:p>
                  </a:txBody>
                  <a:tcPr>
                    <a:solidFill>
                      <a:srgbClr val="FFFFFF"/>
                    </a:solidFill>
                  </a:tcPr>
                </a:tc>
                <a:tc>
                  <a:txBody>
                    <a:bodyPr/>
                    <a:lstStyle/>
                    <a:p>
                      <a:pPr>
                        <a:defRPr sz="1200">
                          <a:solidFill>
                            <a:srgbClr val="1A1A2E"/>
                          </a:solidFill>
                          <a:latin typeface="Yu Gothic"/>
                        </a:defRPr>
                      </a:pPr>
                      <a:r>
                        <a:t>7月28日、首相官邸</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日本経済新聞(2026-07-22)</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定期実行37本目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国民栄誉賞について(参考)</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創設</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1977年に創設された、内閣総理大臣が授与する表彰</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対象分野</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スポーツ・文化・芸能など幅広い分野の功績者が過去に受賞している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引退前と引退後の高木美帆さん</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現役時代</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4大会連続で冬季五輪に出場</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通算10個のメダルを獲得</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引退後</a:t>
            </a:r>
          </a:p>
        </p:txBody>
      </p:sp>
      <p:sp>
        <p:nvSpPr>
          <p:cNvPr id="16" name="Oval 15"/>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国民栄誉賞の授与対象に</a:t>
            </a:r>
          </a:p>
        </p:txBody>
      </p:sp>
      <p:sp>
        <p:nvSpPr>
          <p:cNvPr id="18" name="Oval 17"/>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7月28日に表彰式を予定</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定期実行37本目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参考: なぜこの記録が評価されたのか(推測)</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分かりやすい記録</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夏冬通じて歴代単独最多という明確な記録が決め手になったと考えられる(推測)</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長年の継続的な活躍</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4大会にわたって結果を出し続けた継続性も評価されたと考えられる(推測)</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出典の確認結果</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確認項目</a:t>
                      </a:r>
                    </a:p>
                  </a:txBody>
                  <a:tcPr>
                    <a:solidFill>
                      <a:srgbClr val="1E2761"/>
                    </a:solidFill>
                  </a:tcPr>
                </a:tc>
                <a:tc>
                  <a:txBody>
                    <a:bodyPr/>
                    <a:lstStyle/>
                    <a:p>
                      <a:pPr>
                        <a:defRPr sz="1300" b="1">
                          <a:solidFill>
                            <a:srgbClr val="FFFFFF"/>
                          </a:solidFill>
                          <a:latin typeface="Yu Gothic"/>
                        </a:defRPr>
                      </a:pPr>
                      <a:r>
                        <a:t>結果</a:t>
                      </a:r>
                    </a:p>
                  </a:txBody>
                  <a:tcPr>
                    <a:solidFill>
                      <a:srgbClr val="1E2761"/>
                    </a:solidFill>
                  </a:tcPr>
                </a:tc>
              </a:tr>
              <a:tr h="502920">
                <a:tc>
                  <a:txBody>
                    <a:bodyPr/>
                    <a:lstStyle/>
                    <a:p>
                      <a:pPr>
                        <a:defRPr sz="1200">
                          <a:solidFill>
                            <a:srgbClr val="1A1A2E"/>
                          </a:solidFill>
                          <a:latin typeface="Yu Gothic"/>
                        </a:defRPr>
                      </a:pPr>
                      <a:r>
                        <a:t>発表日</a:t>
                      </a:r>
                    </a:p>
                  </a:txBody>
                  <a:tcPr>
                    <a:solidFill>
                      <a:srgbClr val="FFFFFF"/>
                    </a:solidFill>
                  </a:tcPr>
                </a:tc>
                <a:tc>
                  <a:txBody>
                    <a:bodyPr/>
                    <a:lstStyle/>
                    <a:p>
                      <a:pPr>
                        <a:defRPr sz="1200">
                          <a:solidFill>
                            <a:srgbClr val="1A1A2E"/>
                          </a:solidFill>
                          <a:latin typeface="Yu Gothic"/>
                        </a:defRPr>
                      </a:pPr>
                      <a:r>
                        <a:t>複数の報道機関で2026年7月22日と一致</a:t>
                      </a:r>
                    </a:p>
                  </a:txBody>
                  <a:tcPr>
                    <a:solidFill>
                      <a:srgbClr val="FFFFFF"/>
                    </a:solidFill>
                  </a:tcPr>
                </a:tc>
              </a:tr>
              <a:tr h="502920">
                <a:tc>
                  <a:txBody>
                    <a:bodyPr/>
                    <a:lstStyle/>
                    <a:p>
                      <a:pPr>
                        <a:defRPr sz="1200">
                          <a:solidFill>
                            <a:srgbClr val="1A1A2E"/>
                          </a:solidFill>
                          <a:latin typeface="Yu Gothic"/>
                        </a:defRPr>
                      </a:pPr>
                      <a:r>
                        <a:t>メダル数(10個)・内訳</a:t>
                      </a:r>
                    </a:p>
                  </a:txBody>
                  <a:tcPr>
                    <a:solidFill>
                      <a:srgbClr val="F3F6FC"/>
                    </a:solidFill>
                  </a:tcPr>
                </a:tc>
                <a:tc>
                  <a:txBody>
                    <a:bodyPr/>
                    <a:lstStyle/>
                    <a:p>
                      <a:pPr>
                        <a:defRPr sz="1200">
                          <a:solidFill>
                            <a:srgbClr val="1A1A2E"/>
                          </a:solidFill>
                          <a:latin typeface="Yu Gothic"/>
                        </a:defRPr>
                      </a:pPr>
                      <a:r>
                        <a:t>JOC公式・複数メディアで確認</a:t>
                      </a:r>
                    </a:p>
                  </a:txBody>
                  <a:tcPr>
                    <a:solidFill>
                      <a:srgbClr val="F3F6FC"/>
                    </a:solidFill>
                  </a:tcPr>
                </a:tc>
              </a:tr>
              <a:tr h="502920">
                <a:tc>
                  <a:txBody>
                    <a:bodyPr/>
                    <a:lstStyle/>
                    <a:p>
                      <a:pPr>
                        <a:defRPr sz="1200">
                          <a:solidFill>
                            <a:srgbClr val="1A1A2E"/>
                          </a:solidFill>
                          <a:latin typeface="Yu Gothic"/>
                        </a:defRPr>
                      </a:pPr>
                      <a:r>
                        <a:t>表彰式の予定日</a:t>
                      </a:r>
                    </a:p>
                  </a:txBody>
                  <a:tcPr>
                    <a:solidFill>
                      <a:srgbClr val="FFFFFF"/>
                    </a:solidFill>
                  </a:tcPr>
                </a:tc>
                <a:tc>
                  <a:txBody>
                    <a:bodyPr/>
                    <a:lstStyle/>
                    <a:p>
                      <a:pPr>
                        <a:defRPr sz="1200">
                          <a:solidFill>
                            <a:srgbClr val="1A1A2E"/>
                          </a:solidFill>
                          <a:latin typeface="Yu Gothic"/>
                        </a:defRPr>
                      </a:pPr>
                      <a:r>
                        <a:t>複数メディアで7月28日と一致</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定期実行37本目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こんな人におすすめ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スピードスケート・冬季五輪に関心がある人</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選手の実績を振り返りたい人</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国民栄誉賞に関心がある人</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授与の経緯を知りたい人</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よくある疑問(Q&amp;A)</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国民栄誉賞は誰でももらえる?</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社会に広く感動・希望を与えた人が対象とされ、授与は不定期</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表彰式はいつ?</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2026年7月28日、首相官邸で開催される方針と報じられている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今回含まれなかったもの</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表彰式の具体的な進行内容・記念品の詳細は確定情報を確認できなかった</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国民栄誉賞の正式な選定理由(表彰状の文言等)は表彰式前の本調査時点では非公表</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定期実行37本目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見送った候補</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OpenAI「ChatGPT for Small Business」</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前回(定期実行36本目)で採用済みのため、対象ジャンル配分を踏まえ今回は日本枠を優先</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その他AI/エージェント系候補</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`round14`の見送り理由を参照(自己言及回避・重複・鮮度不足等)</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これが意味すること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継続的な努力の結晶</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4大会・16年にわたる競技人生の集大成</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日本の冬季競技の歴史に残る記録</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歴代単独最多という明確な指標</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次世代への影響</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後進選手にとっての目標・励みになり得る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定期実行37本目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これは何を意味するのか(ファンにとって)</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1つの記録の裏には、4大会・16年にわたる継続的な努力があったことが見える事例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表彰は選手個人への敬意であり、政治的な立場とは切り離して受け止めることが大切</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定期実行37本目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関連情報を追うなら知っておきたいこと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表彰式の日程</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7月28日予定、正式な発表を確認する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過去の受賞者</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国民栄誉賞の過去の受賞者と比較してみる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引退後の活動</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今後の公式発表・報道を確認する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定期実行37本目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関連情報を追う場合の進め方(目安)</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①公式発表を確認</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首相官邸・スポーツ協会等の公式発表を確認する</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②過去の記録と比較</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他の五輪メダリストの記録と比較してみる</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③一次情報で裏取り</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気になる数字は公式記録・複数メディアで確認する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定期実行37本目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個人にとっての影響</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継続的な努力が積み重なって大きな記録につながるという事例として参考になる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スポーツのニュースも、事実と推測を分けて受け止めることが大切</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定期実行37本目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不明点・注意点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表彰式の具体的な進行内容・記念品の詳細は確定情報を確認できなかった</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国民栄誉賞の正式な選定理由の文言は表彰式前の本調査時点では非公表</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定期実行37本目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リスク配慮のポイント</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事実紹介に徹する</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選手個人の競技実績を称える事実紹介に徹する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政治的論評を避ける</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授与を決めた政府・首相への論評には踏み込まない</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推測は明示</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推測部分は「推測」と明言している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定期実行37本目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検品結果</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結果</a:t>
                      </a:r>
                    </a:p>
                  </a:txBody>
                  <a:tcPr>
                    <a:solidFill>
                      <a:srgbClr val="1E2761"/>
                    </a:solidFill>
                  </a:tcPr>
                </a:tc>
              </a:tr>
              <a:tr h="502920">
                <a:tc>
                  <a:txBody>
                    <a:bodyPr/>
                    <a:lstStyle/>
                    <a:p>
                      <a:pPr>
                        <a:defRPr sz="1200">
                          <a:solidFill>
                            <a:srgbClr val="1A1A2E"/>
                          </a:solidFill>
                          <a:latin typeface="Yu Gothic"/>
                        </a:defRPr>
                      </a:pPr>
                      <a:r>
                        <a:t>verify_pptx.py</a:t>
                      </a:r>
                    </a:p>
                  </a:txBody>
                  <a:tcPr>
                    <a:solidFill>
                      <a:srgbClr val="FFFFFF"/>
                    </a:solidFill>
                  </a:tcPr>
                </a:tc>
                <a:tc>
                  <a:txBody>
                    <a:bodyPr/>
                    <a:lstStyle/>
                    <a:p>
                      <a:pPr>
                        <a:defRPr sz="1200">
                          <a:solidFill>
                            <a:srgbClr val="1A1A2E"/>
                          </a:solidFill>
                          <a:latin typeface="Yu Gothic"/>
                        </a:defRPr>
                      </a:pPr>
                      <a:r>
                        <a:t>合格</a:t>
                      </a:r>
                    </a:p>
                  </a:txBody>
                  <a:tcPr>
                    <a:solidFill>
                      <a:srgbClr val="FFFFFF"/>
                    </a:solidFill>
                  </a:tcPr>
                </a:tc>
              </a:tr>
              <a:tr h="502920">
                <a:tc>
                  <a:txBody>
                    <a:bodyPr/>
                    <a:lstStyle/>
                    <a:p>
                      <a:pPr>
                        <a:defRPr sz="1200">
                          <a:solidFill>
                            <a:srgbClr val="1A1A2E"/>
                          </a:solidFill>
                          <a:latin typeface="Yu Gothic"/>
                        </a:defRPr>
                      </a:pPr>
                      <a:r>
                        <a:t>同一レイアウト連続チェック</a:t>
                      </a:r>
                    </a:p>
                  </a:txBody>
                  <a:tcPr>
                    <a:solidFill>
                      <a:srgbClr val="F3F6FC"/>
                    </a:solidFill>
                  </a:tcPr>
                </a:tc>
                <a:tc>
                  <a:txBody>
                    <a:bodyPr/>
                    <a:lstStyle/>
                    <a:p>
                      <a:pPr>
                        <a:defRPr sz="1200">
                          <a:solidFill>
                            <a:srgbClr val="1A1A2E"/>
                          </a:solidFill>
                          <a:latin typeface="Yu Gothic"/>
                        </a:defRPr>
                      </a:pPr>
                      <a:r>
                        <a:t>合格</a:t>
                      </a:r>
                    </a:p>
                  </a:txBody>
                  <a:tcPr>
                    <a:solidFill>
                      <a:srgbClr val="F3F6FC"/>
                    </a:solidFill>
                  </a:tcPr>
                </a:tc>
              </a:tr>
              <a:tr h="502920">
                <a:tc>
                  <a:txBody>
                    <a:bodyPr/>
                    <a:lstStyle/>
                    <a:p>
                      <a:pPr>
                        <a:defRPr sz="1200">
                          <a:solidFill>
                            <a:srgbClr val="1A1A2E"/>
                          </a:solidFill>
                          <a:latin typeface="Yu Gothic"/>
                        </a:defRPr>
                      </a:pPr>
                      <a:r>
                        <a:t>bullets比率チェック</a:t>
                      </a:r>
                    </a:p>
                  </a:txBody>
                  <a:tcPr>
                    <a:solidFill>
                      <a:srgbClr val="FFFFFF"/>
                    </a:solidFill>
                  </a:tcPr>
                </a:tc>
                <a:tc>
                  <a:txBody>
                    <a:bodyPr/>
                    <a:lstStyle/>
                    <a:p>
                      <a:pPr>
                        <a:defRPr sz="1200">
                          <a:solidFill>
                            <a:srgbClr val="1A1A2E"/>
                          </a:solidFill>
                          <a:latin typeface="Yu Gothic"/>
                        </a:defRPr>
                      </a:pPr>
                      <a:r>
                        <a:t>合格</a:t>
                      </a:r>
                    </a:p>
                  </a:txBody>
                  <a:tcPr>
                    <a:solidFill>
                      <a:srgbClr val="FFFFFF"/>
                    </a:solidFill>
                  </a:tcPr>
                </a:tc>
              </a:tr>
              <a:tr h="502920">
                <a:tc>
                  <a:txBody>
                    <a:bodyPr/>
                    <a:lstStyle/>
                    <a:p>
                      <a:pPr>
                        <a:defRPr sz="1200">
                          <a:solidFill>
                            <a:srgbClr val="1A1A2E"/>
                          </a:solidFill>
                          <a:latin typeface="Yu Gothic"/>
                        </a:defRPr>
                      </a:pPr>
                      <a:r>
                        <a:t>対話原稿スライド数整合性</a:t>
                      </a:r>
                    </a:p>
                  </a:txBody>
                  <a:tcPr>
                    <a:solidFill>
                      <a:srgbClr val="F3F6FC"/>
                    </a:solidFill>
                  </a:tcPr>
                </a:tc>
                <a:tc>
                  <a:txBody>
                    <a:bodyPr/>
                    <a:lstStyle/>
                    <a:p>
                      <a:pPr>
                        <a:defRPr sz="1200">
                          <a:solidFill>
                            <a:srgbClr val="1A1A2E"/>
                          </a:solidFill>
                          <a:latin typeface="Yu Gothic"/>
                        </a:defRPr>
                      </a:pPr>
                      <a:r>
                        <a:t>合格</a:t>
                      </a:r>
                    </a:p>
                  </a:txBody>
                  <a:tcPr>
                    <a:solidFill>
                      <a:srgbClr val="F3F6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定期実行37本目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出典一覧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日本経済新聞 / 時事通信(Yahoo!ニュース配信)</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JOC(日本オリンピック委員会)公式 / nippon.com</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定期実行37本目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16年、4大会にわたる挑戦が、歴代単独最多の記録を生んだ</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高木美帆さんの功績を称える国民栄誉賞、表彰式は7月28日の予定</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興味があれば、公式発表や表彰式の報道を確認してみる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次回予告</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スポーツ選手の功績を称えるニュースは今後も続くテーマ</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次回も独立系メディアの報道をもとに紹介する</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定期実行37本目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ご視聴ありがとうございました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出典・詳細はresearch.mdと各スライドの出典表記を参照</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質問・フィードバックはいつでもどうぞ</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