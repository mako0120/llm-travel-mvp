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調達額(百万ドル)</c:v>
                </c:pt>
              </c:strCache>
            </c:strRef>
          </c:tx>
          <c:spPr>
            <a:solidFill>
              <a:srgbClr val="7A1F2B"/>
            </a:solidFill>
          </c:spPr>
          <c:cat>
            <c:strRef>
              <c:f>Sheet1!$A$2:$A$4</c:f>
              <c:strCache>
                <c:ptCount val="3"/>
                <c:pt idx="0">
                  <c:v>シリーズA(2020年10月)</c:v>
                </c:pt>
                <c:pt idx="1">
                  <c:v>シリーズB(2022年3月)</c:v>
                </c:pt>
                <c:pt idx="2">
                  <c:v>シリーズC(2026年8月)</c:v>
                </c:pt>
              </c:strCache>
            </c:strRef>
          </c:cat>
          <c:val>
            <c:numRef>
              <c:f>Sheet1!$B$2:$B$4</c:f>
              <c:numCache>
                <c:formatCode>General</c:formatCode>
                <c:ptCount val="3"/>
                <c:pt idx="0">
                  <c:v>14</c:v>
                </c:pt>
                <c:pt idx="1">
                  <c:v>40</c:v>
                </c:pt>
                <c:pt idx="2">
                  <c:v>63</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2026年8月12日、メンロパーク拠点のSkan AIが、シリーズCで6,300万ドルを調達したと発表しました。従業員の実際の働き方を観察し、その知見でAIエージェントを作るという同社のコンセプトを、出典付きで整理してお伝えします。プライバシーに関わる論点にも中立的に触れ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結論から確認します。今回のシリーズCは6,300万ドル、Cathay InnovationとDell Technologies Capitalが共同でリードしました。Citi Ventures・Bloomberg Beta・State Farm Ventures・Wipro Venturesも参加しています。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今日は6つの流れでお伝えします。専門用語をかみ砕きながら、事実と推測、確認できなかったことをはっきり分けて整理します。プライバシーに関する論点も一つの章として扱います。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このテーマは着手日から1日以内という新しい発表に基づいています。従業員の働き方をAIが観察してコピーするという分かりやすいフック、6,300万ドルという調達規模、大手Dell Technologies Capitalの参画が注目点です。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Skan AIは、カリフォルニア州メンロパークを拠点に2018年に設立されたと報じられているAI企業です。エンタープライズAIコンテキストプラットフォームを提供し、米国大手銀行トップ10のうち7行、Unum、Mitieなどを顧客に持つ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業務観察型AIコンテキストプラットフォームとは、従業員が実際にどうアプリを使い業務を進めているかを観察・記録し、そのデータをもとにAIエージェントを構築する仕組みです。次のスライド以降で具体的な仕組み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Graph of Workの仕組みを図にしました。従業員のデスクトップでの作業観察を出発点に、それを業務の実態を表すモデルへ蒸留し、そのモデルを拠り所にAIエージェントを構築するという構成だと報じられています。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改めてシリーズCの規模を確認します。6,300万ドルの調達を、Cathay InnovationとDell Technologies Capitalが共同でリードしました。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出資者を一覧にしました。Cathay InnovationとDell Technologies Capitalが共同でリードし、Citi Ventures、Bloomberg Beta、State Farm Ventures、Wipro Venturesが参加しています。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資金調達の推移をグラフにしました。シリーズAの1,400万ドル、シリーズBの4,000万ドルから、今回のシリーズCで6,300万ドルへと、調達額が拡大しています。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累計調達額を確認します。今回のシリーズCを経て、Skan AIの累計調達額はおよそ1.2億ドルに達したと複数の媒体が報じています。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時系列で見ると、2018年の設立から、2020年のシリーズA、2022年のシリーズBを経て、2026年8月のシリーズCへとつながっています。今回は新製品のGA発表も同時に行われました。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CEOのAvinash Misra氏のコメントを紹介します。AIモデル自体を「車」に例え、より大きな機会は業務の実態を示す「ナビゲーションシステム」を作ることにある、という考え方を述べています。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観察から自律実行までの流れを4ステップに整理しました。観察、蒸留、構築、そして人間の監督という順序で進むと説明されています。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Skan AI Blueprintは、レガシー環境や規制業務を含むあらゆる業務システムにまたがってAI活用機会を発見し、優先順位をつける製品と説明されています。今回、資金調達と同時にGAが発表されました。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Skan AI Agentsは、実際に観測された数千件の業務ケースから構築されるAIエージェントです。本番投入前に現実データでテストされ、人間の監督と監査可能性を備えると説明されています。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2つの製品の役割を比較します。Blueprintが「どこにAI活用機会があるか」を発見する製品であるのに対し、Agentsは実際に業務を自律実行する製品です。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主な顧客・実績を3つ紹介します。米国大手銀行トップ10のうち7行、Unum、Mitieを顧客に持つとされ、累計5億ドル超の顧客価値を主張しているとされています。ただしこれはDealroomが報じたSkan側の主張であり、第三者検証の有無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報じられている導入効果の一例を確認します。あるAML業務でAIエージェントがケースの60%を処理しているとVentureBeatは報じていますが、顧客名や測定方法までは確認できていません。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業務観察に伴うプライバシーの論点を扱います。まずSkan側の説明です。企業が観察対象を限定でき、スクリーンショットは端末上でのみ処理され、送信されるのは匿名化されたメタデータのみだ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慮策と、それでも残る論点の両方を正直にお伝えします。CEOは欧州の労使協議会の承認事例を挙げていますが、VentureBeatは同じ仕組みが業績の低いチームの可視化にもつながりうると指摘し、一部顧客での人員削減の例も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今回の発表は資金調達と製品GAの発表であり、Skan側は個人監視ではなく業務プロセスの観察だと説明していますが、プライバシー配慮策の第三者検証は確認できておらず、懸念の指摘も報道に併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確認できていないことを正直にお伝えします。調達後の評価額、顧客銀行の具体的な社名、業務観察の技術的な詳細は、本調査の範囲では確認できていません。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調達額や出資者などは複数メディアが確認した事実ですが、プライバシー配慮策はSkan側の説明に基づく報道であり、評価額や配慮策の第三者検証は不明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読者にとっての実践的な示唆をまとめました。投資動向、AI技術動向、そして自社でAI導入を検討する立場、それぞれで意識したい点です。特に導入検討の立場では、配慮策の説明を鵜呑みにせず自社で確認する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ここで一度立ち止まります。本テーマは業務観察というプライバシーに関わりうる話題を扱いますが、扇動・隠蔽どちらにも偏らない中立的な整理に徹しています。良い・悪いという価値判断も行いません。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本テーマの鮮度を数字で確認します。中心となる発表・報道は2026年8月12日、着手日は8月13日で、2日以内という基準を満たしています。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本編は以上です。今回はSkan AIが業務観察型AIエージェント基盤でシリーズC 6,300万ドルを調達した経緯と、そこに伴うプライバシーの論点をお伝えしました。称賛や煽りではなく、事実関係の整理に留めています。次回もまた出典付きでお届けします。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あなたの仕事の仕方を、AIが観察している。</a:t>
            </a:r>
          </a:p>
          <a:p>
            <a:pPr algn="l">
              <a:lnSpc>
                <a:spcPct val="115000"/>
              </a:lnSpc>
            </a:pPr>
            <a:r>
              <a:rPr sz="4200" b="1">
                <a:solidFill>
                  <a:srgbClr val="FFFFFF"/>
                </a:solidFill>
                <a:latin typeface="Yu Gothic"/>
              </a:rPr>
              <a:t>メンロパーク拠点のSkan AIが、</a:t>
            </a:r>
          </a:p>
          <a:p>
            <a:pPr algn="l">
              <a:lnSpc>
                <a:spcPct val="115000"/>
              </a:lnSpc>
            </a:pPr>
            <a:r>
              <a:rPr sz="4200" b="1">
                <a:solidFill>
                  <a:srgbClr val="FFFFFF"/>
                </a:solidFill>
                <a:latin typeface="Yu Gothic"/>
              </a:rPr>
              <a:t>シリーズCで6,300万ドルを調達したと発表した。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Cathay InnovationとDell Technologies Capitalが共同主導――出典付きで事実とプライバシー論点を整理する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Yahoo Finance・VentureBeat・TheNextWeb・PRNewswire・FinSMEs(いずれも2026-08-12)。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6,300万ドル調達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Cathay InnovationとDell Technologies Capitalが共同主導。Citi Ventures・Bloomberg Beta・State Farm Ventures・Wipro Venturesも参加した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PRNewswire・VentureBeat(2026-08-12)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資金調達の内訳(投資家・過去ラウンドとの比較)</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「Context Graph of Work」「Blueprint」「Agents」とは何か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報じられている顧客・実績</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プライバシーへの配慮と、それでも残る論点</a:t>
            </a:r>
          </a:p>
        </p:txBody>
      </p:sp>
      <p:sp>
        <p:nvSpPr>
          <p:cNvPr id="15" name="Oval 14"/>
          <p:cNvSpPr/>
          <p:nvPr/>
        </p:nvSpPr>
        <p:spPr>
          <a:xfrm>
            <a:off x="548640" y="58064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2026年8月12日の発表を、着手日から1日以内に複数の独立したメディアが報じている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「従業員の働き方をAIが観察してコピーする」という分かりやすく、やや不気味さも感じさせるフックがある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6,300万ドルという調達規模、Dell Technologies Capitalという大手の参画も話題性になる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Yahoo Finance・VentureBeat・TheNextWeb・PRNewswire・FinSMEs(2026-08-12)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Skan AIとは(初心者向け)</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米カリフォルニア州メンロパーク拠点、2018年設立と報じられるAI企業</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「エンタープライズAIコンテキストプラットフォーム」を提供し、企業向けAIエージェントの基盤づくりを手がける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米国大手銀行トップ10のうち7行、Unum、Mitieなどを顧客に持つとされる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VentureBeat・unite.ai・Dealroom.co(2026-08-12)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「業務観察型AIコンテキストプラットフォーム」とは何か(前提知識)</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従業員が実際にどのアプリをどう使って業務を進めているかを観察・記録する仕組み</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その観察結果から、業務の実態を表す「地図」のようなデータ(コンテキスト)を作る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そのコンテキストをもとに、実際の業務を再現・自動化するAIエージェントを構築する、という発想</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「Context Graph of Work」の仕組み(概念図)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デスクトップでの業務観察</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複数アプリにまたがる従業員の作業を記録する</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Context Graph(業務の地図)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観察結果を、実際の業務運営を表すモデルへ蒸留する</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AIエージェントの構築</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そのモデルを拠り所に、顧客向けAIエージェントを構築する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従業員の作業観察を出発点に、業務の実態モデルを経てAIエージェントへとつなげる構成だと報じられている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VentureBeat・unite.ai(2026-08-12)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シリーズCの規模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6,300万ドル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Cathay InnovationとDell Technologies Capitalが共同主導したシリーズC</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PRNewswire・Yahoo Finance(2026-08-12)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シリーズCの出資者一覧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役割</a:t>
                      </a:r>
                    </a:p>
                  </a:txBody>
                  <a:tcPr>
                    <a:solidFill>
                      <a:srgbClr val="7A1F2B"/>
                    </a:solidFill>
                  </a:tcPr>
                </a:tc>
                <a:tc>
                  <a:txBody>
                    <a:bodyPr/>
                    <a:lstStyle/>
                    <a:p>
                      <a:pPr>
                        <a:defRPr sz="1300" b="1">
                          <a:solidFill>
                            <a:srgbClr val="FFFFFF"/>
                          </a:solidFill>
                          <a:latin typeface="Yu Gothic"/>
                        </a:defRPr>
                      </a:pPr>
                      <a:r>
                        <a:t>出資者</a:t>
                      </a:r>
                    </a:p>
                  </a:txBody>
                  <a:tcPr>
                    <a:solidFill>
                      <a:srgbClr val="7A1F2B"/>
                    </a:solidFill>
                  </a:tcPr>
                </a:tc>
              </a:tr>
              <a:tr h="502920">
                <a:tc>
                  <a:txBody>
                    <a:bodyPr/>
                    <a:lstStyle/>
                    <a:p>
                      <a:pPr>
                        <a:defRPr sz="1200">
                          <a:solidFill>
                            <a:srgbClr val="2A1712"/>
                          </a:solidFill>
                          <a:latin typeface="Yu Gothic"/>
                        </a:defRPr>
                      </a:pPr>
                      <a:r>
                        <a:t>共同リード</a:t>
                      </a:r>
                    </a:p>
                  </a:txBody>
                  <a:tcPr>
                    <a:solidFill>
                      <a:srgbClr val="FFFFFF"/>
                    </a:solidFill>
                  </a:tcPr>
                </a:tc>
                <a:tc>
                  <a:txBody>
                    <a:bodyPr/>
                    <a:lstStyle/>
                    <a:p>
                      <a:pPr>
                        <a:defRPr sz="1200">
                          <a:solidFill>
                            <a:srgbClr val="2A1712"/>
                          </a:solidFill>
                          <a:latin typeface="Yu Gothic"/>
                        </a:defRPr>
                      </a:pPr>
                      <a:r>
                        <a:t>Cathay Innovation</a:t>
                      </a:r>
                    </a:p>
                  </a:txBody>
                  <a:tcPr>
                    <a:solidFill>
                      <a:srgbClr val="FFFFFF"/>
                    </a:solidFill>
                  </a:tcPr>
                </a:tc>
              </a:tr>
              <a:tr h="502920">
                <a:tc>
                  <a:txBody>
                    <a:bodyPr/>
                    <a:lstStyle/>
                    <a:p>
                      <a:pPr>
                        <a:defRPr sz="1200">
                          <a:solidFill>
                            <a:srgbClr val="2A1712"/>
                          </a:solidFill>
                          <a:latin typeface="Yu Gothic"/>
                        </a:defRPr>
                      </a:pPr>
                      <a:r>
                        <a:t>共同リード</a:t>
                      </a:r>
                    </a:p>
                  </a:txBody>
                  <a:tcPr>
                    <a:solidFill>
                      <a:srgbClr val="FBF3E6"/>
                    </a:solidFill>
                  </a:tcPr>
                </a:tc>
                <a:tc>
                  <a:txBody>
                    <a:bodyPr/>
                    <a:lstStyle/>
                    <a:p>
                      <a:pPr>
                        <a:defRPr sz="1200">
                          <a:solidFill>
                            <a:srgbClr val="2A1712"/>
                          </a:solidFill>
                          <a:latin typeface="Yu Gothic"/>
                        </a:defRPr>
                      </a:pPr>
                      <a:r>
                        <a:t>Dell Technologies Capital</a:t>
                      </a:r>
                    </a:p>
                  </a:txBody>
                  <a:tcPr>
                    <a:solidFill>
                      <a:srgbClr val="FBF3E6"/>
                    </a:solidFill>
                  </a:tcPr>
                </a:tc>
              </a:tr>
              <a:tr h="502920">
                <a:tc>
                  <a:txBody>
                    <a:bodyPr/>
                    <a:lstStyle/>
                    <a:p>
                      <a:pPr>
                        <a:defRPr sz="1200">
                          <a:solidFill>
                            <a:srgbClr val="2A1712"/>
                          </a:solidFill>
                          <a:latin typeface="Yu Gothic"/>
                        </a:defRPr>
                      </a:pPr>
                      <a:r>
                        <a:t>参加</a:t>
                      </a:r>
                    </a:p>
                  </a:txBody>
                  <a:tcPr>
                    <a:solidFill>
                      <a:srgbClr val="FFFFFF"/>
                    </a:solidFill>
                  </a:tcPr>
                </a:tc>
                <a:tc>
                  <a:txBody>
                    <a:bodyPr/>
                    <a:lstStyle/>
                    <a:p>
                      <a:pPr>
                        <a:defRPr sz="1200">
                          <a:solidFill>
                            <a:srgbClr val="2A1712"/>
                          </a:solidFill>
                          <a:latin typeface="Yu Gothic"/>
                        </a:defRPr>
                      </a:pPr>
                      <a:r>
                        <a:t>Citi Ventures / Bloomberg Beta / State Farm Ventures / Wipro Ventures</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PRNewswire・VentureBeat(2026-08-12)</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資金調達ラウンドの推移(百万ドル)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Cathay Innovation・PRNewswire・unite.ai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約1.2億ドル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シリーズA・B・Cの合計。複数媒体が「およそ1.2億ドル」と報じている(当社によるラウンド単純合算はおよそ1.17億ドル)</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VentureBeat・unite.ai・Dealroom.co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これまでのタイムライン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2018年</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Skan AI、米カリフォルニア州メンロパークで設立(と報じられている)</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2020年10月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シリーズAで1,400万ドルを調達(Cathay Innovationがリード)</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2022年3月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シリーズBで4,000万ドルを調達(Dell Technologies Capitalがリード)</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2026年8月12日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シリーズCで6,300万ドルを調達、BlueprintとAgentsのGAを同時発表</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“誰もがより良い車を作ることに夢中だが、私たちはより大きな機会は、より良いナビゲーションシステムを作ることにあると考えている。”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F3E3C9"/>
                </a:solidFill>
                <a:latin typeface="Yu Gothic"/>
              </a:rPr>
              <a:t>— Avinash Misra氏(Skan AI共同創業者・CEO、unite.ai掲載コメントの意訳、2026-08-12)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観察から自律実行までの4ステップ(報じられている範囲)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①観察</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従業員のデスクトップでの作業を、対象アプリ・URLを限定して観察する</a:t>
            </a:r>
          </a:p>
        </p:txBody>
      </p:sp>
      <p:sp>
        <p:nvSpPr>
          <p:cNvPr id="11" name="Chevron 10"/>
          <p:cNvSpPr/>
          <p:nvPr/>
        </p:nvSpPr>
        <p:spPr>
          <a:xfrm>
            <a:off x="3068040"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②蒸留</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観察結果をContext Graphという業務実態のモデルへ変換する</a:t>
            </a:r>
          </a:p>
        </p:txBody>
      </p:sp>
      <p:sp>
        <p:nvSpPr>
          <p:cNvPr id="17" name="Chevron 16"/>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③構築</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モデルを拠り所にAIエージェント(Skan AI Agents)を構築する</a:t>
            </a:r>
          </a:p>
        </p:txBody>
      </p:sp>
      <p:sp>
        <p:nvSpPr>
          <p:cNvPr id="23" name="Chevron 22"/>
          <p:cNvSpPr/>
          <p:nvPr/>
        </p:nvSpPr>
        <p:spPr>
          <a:xfrm>
            <a:off x="8889568"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7A1F2B"/>
                </a:solidFill>
                <a:latin typeface="Yu Gothic"/>
              </a:rPr>
              <a:t>④監督</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人間の監督のもとで運用し、監査可能性を保つとされる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「Skan AI Blueprint」とは何か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今回GAが発表された製品の一つです。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レガシー環境や規制業務を含む、あらゆる業務システムにまたがってAI活用機会を発見する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発見した機会に優先順位をつけ、どこからAI導入を始めるべきかを示すとされる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資金調達と同時に一般提供(GA)が発表された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Skan AI公式・unite.ai(2026-08-12)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「Skan AI Agents」とは何か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もう一つのGA製品です。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実際に観測された数千件の業務ケースをもとに構築されるAIエージェント</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本番投入前に現実のデータでテストされ、業務の変化に応じて継続更新されるとされる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人間の監督と監査可能性(auditability)を備えると説明されている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Skan AI公式・unite.ai(2026-08-12)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Blueprint と Agents の役割の違い</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Skan AI Blueprint</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AI活用機会の発見・優先順位付けが目的</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導入の「どこから始めるか」を示す</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既存のSkan AI Intelligenceと連携する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Skan AI Agents</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観測データをもとにした自律実行が目的</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本番投入前に現実データでテストされる</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人間の監督・監査可能性を備える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報じられている主な顧客・実績</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米国大手銀行</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米国大手銀行トップ10のうち7行を顧客に持つとされる(個別行名は未確認)</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Unum・Mitie</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具体的な顧客名として報じられている企業</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5億ドル超</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累計の「特定された顧客価値(identified customer value)」を主張しているとされる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Dealroom.co(2026-08-12)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報じられている導入効果の一例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AMLケースの60%をAIエージェントが処理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あるマネーロンダリング対策(AML)業務での事例としてVentureBeatが報じている。顧客名・測定方法・検証主体は本調査の範囲では未確認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VentureBeat(2026-08-12)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プライバシーへの配慮(1): Skanが説明する仕組み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ここからは、業務観察に伴うプライバシーの論点を扱います。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企業側が観察対象のアプリ・URLを限定できる「オプトイン・スコーピングモデル」を採用しているとされる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スクリーンショットは従業員の端末上でのみ処理され、Skanの分析基盤には送信されないとされる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送信されるのは匿名化・抽象化されたメタデータのみで、従業員識別子はトークンに置き換えられるとされる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VentureBeat(2026-08-12、CEOの説明に基づく報道)</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プライバシーへの配慮(2): 中立的な論点として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配慮策と、それでも残る論点の両方を正直にお伝えします。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CEOは、プライバシー保護に厳格とされる欧州の労使協議会の承認事例を実証例として挙げている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一方でVentureBeatは、業務の問題点を可視化する仕組みが、原理的にはパフォーマンスの低いチームの可視化にもつながりうると指摘している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同報道は、導入が一部顧客での人員削減につながった例があるとも報じている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VentureBeat(2026-08-12)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従業員を監視するツールが登場した</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AIが人間の仕事を丸ごと奪う</a:t>
            </a:r>
          </a:p>
        </p:txBody>
      </p:sp>
      <p:sp>
        <p:nvSpPr>
          <p:cNvPr id="13" name="Oval 12"/>
          <p:cNvSpPr/>
          <p:nvPr/>
        </p:nvSpPr>
        <p:spPr>
          <a:xfrm>
            <a:off x="777240"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プライバシー対策は万全で懸念は存在しない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Skan側は業務プロセスの観察であり個人監視ではないと説明している</a:t>
            </a:r>
          </a:p>
        </p:txBody>
      </p:sp>
      <p:sp>
        <p:nvSpPr>
          <p:cNvPr id="20" name="Oval 19"/>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現時点では業務の一部の自動化・支援の事例が中心</a:t>
            </a:r>
          </a:p>
        </p:txBody>
      </p:sp>
      <p:sp>
        <p:nvSpPr>
          <p:cNvPr id="22" name="Oval 21"/>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配慮策はSkan側の説明であり第三者検証の有無は未確認、懸念の指摘も併存する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正直にお伝えします。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シリーズC後の正確な評価額(post-money valuation)</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米国大手銀行トップ10のうち7行の具体的な社名</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業務観察の具体的な技術手法(取得頻度・保持期間・解析モデルの詳細)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プライバシー配慮策の第三者監査・認証の有無</a:t>
                      </a:r>
                    </a:p>
                  </a:txBody>
                  <a:tcPr>
                    <a:solidFill>
                      <a:srgbClr val="FFFFFF"/>
                    </a:solidFill>
                  </a:tcPr>
                </a:tc>
                <a:tc>
                  <a:txBody>
                    <a:bodyPr/>
                    <a:lstStyle/>
                    <a:p>
                      <a:pPr>
                        <a:defRPr sz="1200">
                          <a:solidFill>
                            <a:srgbClr val="2A1712"/>
                          </a:solidFill>
                          <a:latin typeface="Yu Gothic"/>
                        </a:defRPr>
                      </a:pPr>
                      <a:r>
                        <a:t>Skan側の説明として報じられているのみで、独立監査の結果は本調査の範囲では未確認</a:t>
                      </a:r>
                    </a:p>
                  </a:txBody>
                  <a:tcPr>
                    <a:solidFill>
                      <a:srgbClr val="FFFFFF"/>
                    </a:solidFill>
                  </a:tcPr>
                </a:tc>
              </a:tr>
              <a:tr h="502920">
                <a:tc>
                  <a:txBody>
                    <a:bodyPr/>
                    <a:lstStyle/>
                    <a:p>
                      <a:pPr>
                        <a:defRPr sz="1200">
                          <a:solidFill>
                            <a:srgbClr val="2A1712"/>
                          </a:solidFill>
                          <a:latin typeface="Yu Gothic"/>
                        </a:defRPr>
                      </a:pPr>
                      <a:r>
                        <a:t>「AMLケースの60%」の顧客名・測定方法</a:t>
                      </a:r>
                    </a:p>
                  </a:txBody>
                  <a:tcPr>
                    <a:solidFill>
                      <a:srgbClr val="FBF3E6"/>
                    </a:solidFill>
                  </a:tcPr>
                </a:tc>
                <a:tc>
                  <a:txBody>
                    <a:bodyPr/>
                    <a:lstStyle/>
                    <a:p>
                      <a:pPr>
                        <a:defRPr sz="1200">
                          <a:solidFill>
                            <a:srgbClr val="2A1712"/>
                          </a:solidFill>
                          <a:latin typeface="Yu Gothic"/>
                        </a:defRPr>
                      </a:pPr>
                      <a:r>
                        <a:t>VentureBeatの記事内の事例紹介にとどまり、詳細な検証データは未確認</a:t>
                      </a:r>
                    </a:p>
                  </a:txBody>
                  <a:tcPr>
                    <a:solidFill>
                      <a:srgbClr val="FBF3E6"/>
                    </a:solidFill>
                  </a:tcPr>
                </a:tc>
              </a:tr>
              <a:tr h="502920">
                <a:tc>
                  <a:txBody>
                    <a:bodyPr/>
                    <a:lstStyle/>
                    <a:p>
                      <a:pPr>
                        <a:defRPr sz="1200">
                          <a:solidFill>
                            <a:srgbClr val="2A1712"/>
                          </a:solidFill>
                          <a:latin typeface="Yu Gothic"/>
                        </a:defRPr>
                      </a:pPr>
                      <a:r>
                        <a:t>「一部顧客で人員削減」の具体的な件数・規模</a:t>
                      </a:r>
                    </a:p>
                  </a:txBody>
                  <a:tcPr>
                    <a:solidFill>
                      <a:srgbClr val="FFFFFF"/>
                    </a:solidFill>
                  </a:tcPr>
                </a:tc>
                <a:tc>
                  <a:txBody>
                    <a:bodyPr/>
                    <a:lstStyle/>
                    <a:p>
                      <a:pPr>
                        <a:defRPr sz="1200">
                          <a:solidFill>
                            <a:srgbClr val="2A1712"/>
                          </a:solidFill>
                          <a:latin typeface="Yu Gothic"/>
                        </a:defRPr>
                      </a:pPr>
                      <a:r>
                        <a:t>VentureBeatの指摘のみで、具体的な数値・対象業務は未確認</a:t>
                      </a:r>
                    </a:p>
                  </a:txBody>
                  <a:tcPr>
                    <a:solidFill>
                      <a:srgbClr val="FFFFFF"/>
                    </a:solidFill>
                  </a:tcPr>
                </a:tc>
              </a:tr>
              <a:tr h="502920">
                <a:tc>
                  <a:txBody>
                    <a:bodyPr/>
                    <a:lstStyle/>
                    <a:p>
                      <a:pPr>
                        <a:defRPr sz="1200">
                          <a:solidFill>
                            <a:srgbClr val="2A1712"/>
                          </a:solidFill>
                          <a:latin typeface="Yu Gothic"/>
                        </a:defRPr>
                      </a:pPr>
                      <a:r>
                        <a:t>累計調達額(約1.2億ドル)の一次資料</a:t>
                      </a:r>
                    </a:p>
                  </a:txBody>
                  <a:tcPr>
                    <a:solidFill>
                      <a:srgbClr val="FBF3E6"/>
                    </a:solidFill>
                  </a:tcPr>
                </a:tc>
                <a:tc>
                  <a:txBody>
                    <a:bodyPr/>
                    <a:lstStyle/>
                    <a:p>
                      <a:pPr>
                        <a:defRPr sz="1200">
                          <a:solidFill>
                            <a:srgbClr val="2A1712"/>
                          </a:solidFill>
                          <a:latin typeface="Yu Gothic"/>
                        </a:defRPr>
                      </a:pPr>
                      <a:r>
                        <a:t>複数媒体の概算報道に基づく二次情報であり、一次資料での直接確認は未実施</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事実: 調達額・出資者・製品名(Blueprint・Agents)・過去ラウンドの金額は複数メディアが一致して報道</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推測: 累計調達額の単純合算(約1.17億ドル)は当社によるラウンド合算であり報道の概算値と近似する参考値</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Skan側の説明: プライバシー配慮策(三層アーキテクチャ・トークン化等)はCEOの説明に基づく報道</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不明: 調達後の評価額・顧客銀行の具体名・配慮策の第三者検証・人員削減の規模</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投資動向を追う立場として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エンタープライズAIの「文脈(コンテキスト)」を扱う投資テーマの一例として捉え、個別銘柄の推奨とは切り離して見る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AI技術動向を追う立場として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業務観察データを起点にAIエージェントを構築するアプローチの一例として、他社動向とも比較して確認する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社内でAI導入を検討する立場として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「業務観察」型ツールの検討時は、配慮策の説明を鵜呑みにせず、対象範囲・同意プロセス・監査体制を自社で確認する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「業務観察」というコンセプトを推奨も否定もせず、報じられている事実として紹介している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プライバシー・雇用への懸念は、扇動的にも隠蔽的にもならないよう中立的に扱っている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Skan・投資家・顧客企業への政治的評価(良い/悪いの判断)は行わない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着手日の1日前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Yahoo Finance・VentureBeat・TheNextWeb・PRNewswire・FinSMEsの報道はいずれも2026年8月12日。着手日(2026年8月13日)を含めて2日以内という基準を満たす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主な出典一覧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報道日</a:t>
                      </a:r>
                    </a:p>
                  </a:txBody>
                  <a:tcPr>
                    <a:solidFill>
                      <a:srgbClr val="7A1F2B"/>
                    </a:solidFill>
                  </a:tcPr>
                </a:tc>
              </a:tr>
              <a:tr h="502920">
                <a:tc>
                  <a:txBody>
                    <a:bodyPr/>
                    <a:lstStyle/>
                    <a:p>
                      <a:pPr>
                        <a:defRPr sz="1200">
                          <a:solidFill>
                            <a:srgbClr val="2A1712"/>
                          </a:solidFill>
                          <a:latin typeface="Yu Gothic"/>
                        </a:defRPr>
                      </a:pPr>
                      <a:r>
                        <a:t>Yahoo Finance / PRNewswire</a:t>
                      </a:r>
                    </a:p>
                  </a:txBody>
                  <a:tcPr>
                    <a:solidFill>
                      <a:srgbClr val="FFFFFF"/>
                    </a:solidFill>
                  </a:tcPr>
                </a:tc>
                <a:tc>
                  <a:txBody>
                    <a:bodyPr/>
                    <a:lstStyle/>
                    <a:p>
                      <a:pPr>
                        <a:defRPr sz="1200">
                          <a:solidFill>
                            <a:srgbClr val="2A1712"/>
                          </a:solidFill>
                          <a:latin typeface="Yu Gothic"/>
                        </a:defRPr>
                      </a:pPr>
                      <a:r>
                        <a:t>2026-08-12</a:t>
                      </a:r>
                    </a:p>
                  </a:txBody>
                  <a:tcPr>
                    <a:solidFill>
                      <a:srgbClr val="FFFFFF"/>
                    </a:solidFill>
                  </a:tcPr>
                </a:tc>
              </a:tr>
              <a:tr h="502920">
                <a:tc>
                  <a:txBody>
                    <a:bodyPr/>
                    <a:lstStyle/>
                    <a:p>
                      <a:pPr>
                        <a:defRPr sz="1200">
                          <a:solidFill>
                            <a:srgbClr val="2A1712"/>
                          </a:solidFill>
                          <a:latin typeface="Yu Gothic"/>
                        </a:defRPr>
                      </a:pPr>
                      <a:r>
                        <a:t>VentureBeat / TheNextWeb</a:t>
                      </a:r>
                    </a:p>
                  </a:txBody>
                  <a:tcPr>
                    <a:solidFill>
                      <a:srgbClr val="FBF3E6"/>
                    </a:solidFill>
                  </a:tcPr>
                </a:tc>
                <a:tc>
                  <a:txBody>
                    <a:bodyPr/>
                    <a:lstStyle/>
                    <a:p>
                      <a:pPr>
                        <a:defRPr sz="1200">
                          <a:solidFill>
                            <a:srgbClr val="2A1712"/>
                          </a:solidFill>
                          <a:latin typeface="Yu Gothic"/>
                        </a:defRPr>
                      </a:pPr>
                      <a:r>
                        <a:t>2026-08-12</a:t>
                      </a:r>
                    </a:p>
                  </a:txBody>
                  <a:tcPr>
                    <a:solidFill>
                      <a:srgbClr val="FBF3E6"/>
                    </a:solidFill>
                  </a:tcPr>
                </a:tc>
              </a:tr>
              <a:tr h="502920">
                <a:tc>
                  <a:txBody>
                    <a:bodyPr/>
                    <a:lstStyle/>
                    <a:p>
                      <a:pPr>
                        <a:defRPr sz="1200">
                          <a:solidFill>
                            <a:srgbClr val="2A1712"/>
                          </a:solidFill>
                          <a:latin typeface="Yu Gothic"/>
                        </a:defRPr>
                      </a:pPr>
                      <a:r>
                        <a:t>FinSMEs / unite.ai / Dealroom.co</a:t>
                      </a:r>
                    </a:p>
                  </a:txBody>
                  <a:tcPr>
                    <a:solidFill>
                      <a:srgbClr val="FFFFFF"/>
                    </a:solidFill>
                  </a:tcPr>
                </a:tc>
                <a:tc>
                  <a:txBody>
                    <a:bodyPr/>
                    <a:lstStyle/>
                    <a:p>
                      <a:pPr>
                        <a:defRPr sz="1200">
                          <a:solidFill>
                            <a:srgbClr val="2A1712"/>
                          </a:solidFill>
                          <a:latin typeface="Yu Gothic"/>
                        </a:defRPr>
                      </a:pPr>
                      <a:r>
                        <a:t>2026-08-12</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Yahoo Finance・VentureBeat・TheNextWeb・PRNewswire・FinSMEs(2026-08-12発表)｜194本目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資金と製品は揃った。次に問われるのは、プライバシーへの配慮を保ちながら実運用に耐えられるかどうか。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特定企業への評価ではなく、事実関係とプライバシー論点の整理として、今後も出典付きで注目したいポイントです。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