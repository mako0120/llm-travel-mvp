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低予算の中国アニメ映画「牛来(Niu Lai)」が、稚拙な作画を酷評されたことをきっかけに逆に大ヒットしています。何が起きたのか、出典付きで正確に整理してお届けします。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結論から確認します。公開後10日間はわずか約1万元だった興行収入が、着手日時点で約4,517万元まで急増しました。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今日は6つの流れでお伝えします。逆転ヒットの経緯から制作背景まで、正確に事実を引用しながら整理します。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このテーマを扱う理由です。酷評から逆転ヒットというギャップの大きさに注目しました。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映画の基本情報です。母子2人だけで5年かけて制作された作品です。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「下手すぎて逆に良い」という現象について確認します。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公開直後10日間の興行収入は約1万元と、ほとんど注目されていませんでした。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逆転ヒットまでの流れを図にしました。酷評そのものが拡散のきっかけになりました。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今回の現象を3ステップで総括しました。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制作背景です。母子2人だけで5年かけて作り上げた、非常に人間味のある作品です。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公開後10日間の約1万元から、着手日時点で約4,517万元へと大きく伸びました。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興行収入の推移をまとめました。実績値と予測値は明確に区別してお伝えします。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エンタメ動向を追う立場にとっての意味です。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業界内での位置づけです。低予算作品としては異例の成績です。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実績値と予測値を明確に区別して対比しました。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複数の独立した海外主要メディアが同一の事実を報じていることを確認しています。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制作には5年もの歳月がかけられました。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転換点についてです。確定的な要因は確認できておらず、推測で断定しません。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ドル換算で約700万ドルという、低予算作品としては際立った成績です。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作品情報をまとめました。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投資回収率の観点でも、2026年の中国映画の中で際立って高い部類に位置づけられています。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海外メディアの報道時期をまとめました。継続的に報じられ続けている話題です。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2026年の中国国内アニメ映画興行収入ランキングでトップ10入りしていると報じられています。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一般的な低予算映画の傾向と、今回のNiu Laiを対比しました。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今後注目される点です。断定的な予測は行いません。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本編のまとめです。Niu Laiの逆転ヒットについて、出典付きで整理してお伝えしました。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本編は以上です。今回はNiu Laiの逆転ヒットについて、その中身を正確に整理してお伝えしました。数字は出典どおりに扱い、実績と予測を区別しました。次回もまた出典付きでお届けします。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「下手すぎて</a:t>
            </a:r>
          </a:p>
          <a:p>
            <a:pPr algn="l">
              <a:lnSpc>
                <a:spcPct val="115000"/>
              </a:lnSpc>
            </a:pPr>
            <a:r>
              <a:rPr sz="4200" b="1">
                <a:solidFill>
                  <a:srgbClr val="FFFFFF"/>
                </a:solidFill>
                <a:latin typeface="Yu Gothic"/>
              </a:rPr>
              <a:t>逆に人気」</a:t>
            </a:r>
          </a:p>
          <a:p>
            <a:pPr algn="l">
              <a:lnSpc>
                <a:spcPct val="115000"/>
              </a:lnSpc>
            </a:pPr>
            <a:r>
              <a:rPr sz="4200" b="1">
                <a:solidFill>
                  <a:srgbClr val="FFFFFF"/>
                </a:solidFill>
                <a:latin typeface="Yu Gothic"/>
              </a:rPr>
              <a:t>中国アニメが逆転ヒット</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2026年8月24日時点——出典付きで整理する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NBC News・Bloomberg(2026年8月19〜24日)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約4,517万元 Niu Laiの累計興行収入(2026年8月24日時点)</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公開後10日間はわずか約1万元だった(NBC News)</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Wikipedia集計・NBC News(2026-08-24時点)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映画「Niu Lai」の基本情報を確認する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なぜ酷評から逆転ヒットしたのか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興行収入の推移を確認する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制作背景(母子2人での制作)を確認する</a:t>
            </a:r>
          </a:p>
        </p:txBody>
      </p:sp>
      <p:sp>
        <p:nvSpPr>
          <p:cNvPr id="15" name="Oval 14"/>
          <p:cNvSpPr/>
          <p:nvPr/>
        </p:nvSpPr>
        <p:spPr>
          <a:xfrm>
            <a:off x="548640" y="58064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着手日時点(2026年8月24日)でも興行収入が更新され続けている進行中の話題である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「酷評が逆に人気につながる」という、ギャップのあるストーリーで数字のインパクトが大きい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母子2人による5年がかりの手作り制作という、非常に人間味のある背景がある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複数の独立した海外メディアが同じ中心数値を報じており、情報の一貫性を確認できた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NBC News・Bloomberg(2026-08-19〜24)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映画「Niu Lai」の基本情報</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作品名</a:t>
                      </a:r>
                    </a:p>
                  </a:txBody>
                  <a:tcPr>
                    <a:solidFill>
                      <a:srgbClr val="FFFFFF"/>
                    </a:solidFill>
                  </a:tcPr>
                </a:tc>
                <a:tc>
                  <a:txBody>
                    <a:bodyPr/>
                    <a:lstStyle/>
                    <a:p>
                      <a:pPr>
                        <a:defRPr sz="1200">
                          <a:solidFill>
                            <a:srgbClr val="1A1A2E"/>
                          </a:solidFill>
                          <a:latin typeface="Yu Gothic"/>
                        </a:defRPr>
                      </a:pPr>
                      <a:r>
                        <a:t>牛来(Niu Lai、英題: Here Comes the Cow)</a:t>
                      </a:r>
                    </a:p>
                  </a:txBody>
                  <a:tcPr>
                    <a:solidFill>
                      <a:srgbClr val="FFFFFF"/>
                    </a:solidFill>
                  </a:tcPr>
                </a:tc>
              </a:tr>
              <a:tr h="502920">
                <a:tc>
                  <a:txBody>
                    <a:bodyPr/>
                    <a:lstStyle/>
                    <a:p>
                      <a:pPr>
                        <a:defRPr sz="1200">
                          <a:solidFill>
                            <a:srgbClr val="1A1A2E"/>
                          </a:solidFill>
                          <a:latin typeface="Yu Gothic"/>
                        </a:defRPr>
                      </a:pPr>
                      <a:r>
                        <a:t>公開日</a:t>
                      </a:r>
                    </a:p>
                  </a:txBody>
                  <a:tcPr>
                    <a:solidFill>
                      <a:srgbClr val="F3F6FC"/>
                    </a:solidFill>
                  </a:tcPr>
                </a:tc>
                <a:tc>
                  <a:txBody>
                    <a:bodyPr/>
                    <a:lstStyle/>
                    <a:p>
                      <a:pPr>
                        <a:defRPr sz="1200">
                          <a:solidFill>
                            <a:srgbClr val="1A1A2E"/>
                          </a:solidFill>
                          <a:latin typeface="Yu Gothic"/>
                        </a:defRPr>
                      </a:pPr>
                      <a:r>
                        <a:t>2026年8月5日(中国)</a:t>
                      </a:r>
                    </a:p>
                  </a:txBody>
                  <a:tcPr>
                    <a:solidFill>
                      <a:srgbClr val="F3F6FC"/>
                    </a:solidFill>
                  </a:tcPr>
                </a:tc>
              </a:tr>
              <a:tr h="502920">
                <a:tc>
                  <a:txBody>
                    <a:bodyPr/>
                    <a:lstStyle/>
                    <a:p>
                      <a:pPr>
                        <a:defRPr sz="1200">
                          <a:solidFill>
                            <a:srgbClr val="1A1A2E"/>
                          </a:solidFill>
                          <a:latin typeface="Yu Gothic"/>
                        </a:defRPr>
                      </a:pPr>
                      <a:r>
                        <a:t>内容</a:t>
                      </a:r>
                    </a:p>
                  </a:txBody>
                  <a:tcPr>
                    <a:solidFill>
                      <a:srgbClr val="FFFFFF"/>
                    </a:solidFill>
                  </a:tcPr>
                </a:tc>
                <a:tc>
                  <a:txBody>
                    <a:bodyPr/>
                    <a:lstStyle/>
                    <a:p>
                      <a:pPr>
                        <a:defRPr sz="1200">
                          <a:solidFill>
                            <a:srgbClr val="1A1A2E"/>
                          </a:solidFill>
                          <a:latin typeface="Yu Gothic"/>
                        </a:defRPr>
                      </a:pPr>
                      <a:r>
                        <a:t>子牛「牛来」と母牛の関係を描く3DCGアニメーション</a:t>
                      </a:r>
                    </a:p>
                  </a:txBody>
                  <a:tcPr>
                    <a:solidFill>
                      <a:srgbClr val="FFFFFF"/>
                    </a:solidFill>
                  </a:tcPr>
                </a:tc>
              </a:tr>
              <a:tr h="502920">
                <a:tc>
                  <a:txBody>
                    <a:bodyPr/>
                    <a:lstStyle/>
                    <a:p>
                      <a:pPr>
                        <a:defRPr sz="1200">
                          <a:solidFill>
                            <a:srgbClr val="1A1A2E"/>
                          </a:solidFill>
                          <a:latin typeface="Yu Gothic"/>
                        </a:defRPr>
                      </a:pPr>
                      <a:r>
                        <a:t>制作</a:t>
                      </a:r>
                    </a:p>
                  </a:txBody>
                  <a:tcPr>
                    <a:solidFill>
                      <a:srgbClr val="F3F6FC"/>
                    </a:solidFill>
                  </a:tcPr>
                </a:tc>
                <a:tc>
                  <a:txBody>
                    <a:bodyPr/>
                    <a:lstStyle/>
                    <a:p>
                      <a:pPr>
                        <a:defRPr sz="1200">
                          <a:solidFill>
                            <a:srgbClr val="1A1A2E"/>
                          </a:solidFill>
                          <a:latin typeface="Yu Gothic"/>
                        </a:defRPr>
                      </a:pPr>
                      <a:r>
                        <a:t>母子2人、5年がかりでコマ単位で制作</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Bloomberg(2026-08-19)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「下手すぎて逆に良い」現象とは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前提知識を確認します。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作品の完成度の低さそのものが話題を呼び、逆に人気を集める現象を指す</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SNS上での酷評・嘲笑が拡散のきっかけとなり、興味本位の観客を呼び込む</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英語圏では "so bad it's good" と表現される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公開直後の興行収入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約1万元(約1,480ドル) 公開後10日間の興行収入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当初はほとんど注目されていなかった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NBC News(2026-08-19時点の報道)</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逆転ヒットまでの流れ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8月5日、公開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当初はほぼ無風だった</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稚拙な作画がSNSで酷評・拡散</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「下手すぎる」という評判が広がる</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興味本位の観客が殺到</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着手日時点で約4,517万元に急増</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逆転ヒットまでの流れ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Bloomberg・NBC News(2026-08-19〜24)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今回の現象を3ステップで総括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1. 稚拙な作画で酷評される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SNSで「下手すぎる」と拡散</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 興味本位の観客が殺到</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「見てみたい」層を取り込む</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3. 興行収入が急増</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着手日時点で約4,517万元</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制作背景—母子2人だけの手作り作品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制作背景を確認します。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映画は母親と息子の2人だけで制作された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5年をかけてコマ単位でアニメーションを作り上げた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エンドクレジットの楽曲も2人が自ら作曲したと報じられている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Bloomberg(2026-08-19)</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確定していること</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公開日(2026年8月5日)・着手日時点の興行収入(約4,517万元)</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母子2人・5年がかりでの制作という背景</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酷評が拡散のきっかけになったという経緯</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監督・脚本担当それぞれの氏名・経歴の詳細</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制作費の正確な総額</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興行収入の伸び幅</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約4,500倍以上 公開後10日間から着手日時点までの伸び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約1万元から約4,517万元へ</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NBC News・Wikipedia集計(2026-08-24時点)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興行収入の推移</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時点</a:t>
                      </a:r>
                    </a:p>
                  </a:txBody>
                  <a:tcPr>
                    <a:solidFill>
                      <a:srgbClr val="1E2761"/>
                    </a:solidFill>
                  </a:tcPr>
                </a:tc>
                <a:tc>
                  <a:txBody>
                    <a:bodyPr/>
                    <a:lstStyle/>
                    <a:p>
                      <a:pPr>
                        <a:defRPr sz="1300" b="1">
                          <a:solidFill>
                            <a:srgbClr val="FFFFFF"/>
                          </a:solidFill>
                          <a:latin typeface="Yu Gothic"/>
                        </a:defRPr>
                      </a:pPr>
                      <a:r>
                        <a:t>累計興行収入</a:t>
                      </a:r>
                    </a:p>
                  </a:txBody>
                  <a:tcPr>
                    <a:solidFill>
                      <a:srgbClr val="1E2761"/>
                    </a:solidFill>
                  </a:tcPr>
                </a:tc>
              </a:tr>
              <a:tr h="502920">
                <a:tc>
                  <a:txBody>
                    <a:bodyPr/>
                    <a:lstStyle/>
                    <a:p>
                      <a:pPr>
                        <a:defRPr sz="1200">
                          <a:solidFill>
                            <a:srgbClr val="1A1A2E"/>
                          </a:solidFill>
                          <a:latin typeface="Yu Gothic"/>
                        </a:defRPr>
                      </a:pPr>
                      <a:r>
                        <a:t>公開後10日間(8月5日〜)</a:t>
                      </a:r>
                    </a:p>
                  </a:txBody>
                  <a:tcPr>
                    <a:solidFill>
                      <a:srgbClr val="FFFFFF"/>
                    </a:solidFill>
                  </a:tcPr>
                </a:tc>
                <a:tc>
                  <a:txBody>
                    <a:bodyPr/>
                    <a:lstStyle/>
                    <a:p>
                      <a:pPr>
                        <a:defRPr sz="1200">
                          <a:solidFill>
                            <a:srgbClr val="1A1A2E"/>
                          </a:solidFill>
                          <a:latin typeface="Yu Gothic"/>
                        </a:defRPr>
                      </a:pPr>
                      <a:r>
                        <a:t>約1万元(約1,480ドル)</a:t>
                      </a:r>
                    </a:p>
                  </a:txBody>
                  <a:tcPr>
                    <a:solidFill>
                      <a:srgbClr val="FFFFFF"/>
                    </a:solidFill>
                  </a:tcPr>
                </a:tc>
              </a:tr>
              <a:tr h="502920">
                <a:tc>
                  <a:txBody>
                    <a:bodyPr/>
                    <a:lstStyle/>
                    <a:p>
                      <a:pPr>
                        <a:defRPr sz="1200">
                          <a:solidFill>
                            <a:srgbClr val="1A1A2E"/>
                          </a:solidFill>
                          <a:latin typeface="Yu Gothic"/>
                        </a:defRPr>
                      </a:pPr>
                      <a:r>
                        <a:t>着手日時点(2026年8月24日)</a:t>
                      </a:r>
                    </a:p>
                  </a:txBody>
                  <a:tcPr>
                    <a:solidFill>
                      <a:srgbClr val="F3F6FC"/>
                    </a:solidFill>
                  </a:tcPr>
                </a:tc>
                <a:tc>
                  <a:txBody>
                    <a:bodyPr/>
                    <a:lstStyle/>
                    <a:p>
                      <a:pPr>
                        <a:defRPr sz="1200">
                          <a:solidFill>
                            <a:srgbClr val="1A1A2E"/>
                          </a:solidFill>
                          <a:latin typeface="Yu Gothic"/>
                        </a:defRPr>
                      </a:pPr>
                      <a:r>
                        <a:t>約4,517万元(約700万ドル)</a:t>
                      </a:r>
                    </a:p>
                  </a:txBody>
                  <a:tcPr>
                    <a:solidFill>
                      <a:srgbClr val="F3F6FC"/>
                    </a:solidFill>
                  </a:tcPr>
                </a:tc>
              </a:tr>
              <a:tr h="502920">
                <a:tc>
                  <a:txBody>
                    <a:bodyPr/>
                    <a:lstStyle/>
                    <a:p>
                      <a:pPr>
                        <a:defRPr sz="1200">
                          <a:solidFill>
                            <a:srgbClr val="1A1A2E"/>
                          </a:solidFill>
                          <a:latin typeface="Yu Gothic"/>
                        </a:defRPr>
                      </a:pPr>
                      <a:r>
                        <a:t>最終興行収入予測(猫眼による)</a:t>
                      </a:r>
                    </a:p>
                  </a:txBody>
                  <a:tcPr>
                    <a:solidFill>
                      <a:srgbClr val="FFFFFF"/>
                    </a:solidFill>
                  </a:tcPr>
                </a:tc>
                <a:tc>
                  <a:txBody>
                    <a:bodyPr/>
                    <a:lstStyle/>
                    <a:p>
                      <a:pPr>
                        <a:defRPr sz="1200">
                          <a:solidFill>
                            <a:srgbClr val="1A1A2E"/>
                          </a:solidFill>
                          <a:latin typeface="Yu Gothic"/>
                        </a:defRPr>
                      </a:pPr>
                      <a:r>
                        <a:t>1億3,300万〜1億3,500万元</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NBC News・Wikipedia・猫眼(2026-08-19〜24)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視聴者にとっての意味—エンタメ動向を追う立場として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海外の映画興行における「逆転ヒット」現象を、具体的な数字とともに把握できる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SNS上の酷評が必ずしもマイナスに働くとは限らないという事例として興味深い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実績値と予測値を区別する視点が役立つ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業界内での位置づけ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業界内での位置づけを確認します。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2026年の中国国内アニメ映画興行収入ランキングでトップ10入りしていると報じられている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投資回収率(ROI)の観点で、2026年の中国映画の中でも際立って高い部類に位置づけられている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同時期に公開されている大型作品とも比較される規模に成長した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Collider・Hong Kong Free Press(2026年8月)</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着手日時点の実績 vs 最終興行収入予測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着手日時点の実績(確定)</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約4,517万元(約700万ドル)</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最終興行収入予測(猫眼による、未確定)</a:t>
            </a:r>
          </a:p>
        </p:txBody>
      </p:sp>
      <p:sp>
        <p:nvSpPr>
          <p:cNvPr id="14" name="Oval 13"/>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1億3,300万〜1億3,500万元</a:t>
            </a:r>
          </a:p>
        </p:txBody>
      </p:sp>
      <p:sp>
        <p:nvSpPr>
          <p:cNvPr id="16" name="Oval 15"/>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あくまで予測値であり断定はしない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監督(母親)・脚本担当(息子)それぞれの氏名・経歴の詳細は確認できていない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制作費の正確な総額は確認できていない(「予算の1000倍以上を稼いだ」という報道はあるが、制作費そのものの金額は未確認)</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日本を含む海外での公開・配信予定の有無は確認できていない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主な情報源</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E2761"/>
                    </a:solidFill>
                  </a:tcPr>
                </a:tc>
                <a:tc>
                  <a:txBody>
                    <a:bodyPr/>
                    <a:lstStyle/>
                    <a:p>
                      <a:pPr>
                        <a:defRPr sz="1300" b="1">
                          <a:solidFill>
                            <a:srgbClr val="FFFFFF"/>
                          </a:solidFill>
                          <a:latin typeface="Yu Gothic"/>
                        </a:defRPr>
                      </a:pPr>
                      <a:r>
                        <a:t>報道内容</a:t>
                      </a:r>
                    </a:p>
                  </a:txBody>
                  <a:tcPr>
                    <a:solidFill>
                      <a:srgbClr val="1E2761"/>
                    </a:solidFill>
                  </a:tcPr>
                </a:tc>
              </a:tr>
              <a:tr h="502920">
                <a:tc>
                  <a:txBody>
                    <a:bodyPr/>
                    <a:lstStyle/>
                    <a:p>
                      <a:pPr>
                        <a:defRPr sz="1200">
                          <a:solidFill>
                            <a:srgbClr val="1A1A2E"/>
                          </a:solidFill>
                          <a:latin typeface="Yu Gothic"/>
                        </a:defRPr>
                      </a:pPr>
                      <a:r>
                        <a:t>NBC News(2026-08-24更新)</a:t>
                      </a:r>
                    </a:p>
                  </a:txBody>
                  <a:tcPr>
                    <a:solidFill>
                      <a:srgbClr val="FFFFFF"/>
                    </a:solidFill>
                  </a:tcPr>
                </a:tc>
                <a:tc>
                  <a:txBody>
                    <a:bodyPr/>
                    <a:lstStyle/>
                    <a:p>
                      <a:pPr>
                        <a:defRPr sz="1200">
                          <a:solidFill>
                            <a:srgbClr val="1A1A2E"/>
                          </a:solidFill>
                          <a:latin typeface="Yu Gothic"/>
                        </a:defRPr>
                      </a:pPr>
                      <a:r>
                        <a:t>興行収入の最新状況</a:t>
                      </a:r>
                    </a:p>
                  </a:txBody>
                  <a:tcPr>
                    <a:solidFill>
                      <a:srgbClr val="FFFFFF"/>
                    </a:solidFill>
                  </a:tcPr>
                </a:tc>
              </a:tr>
              <a:tr h="502920">
                <a:tc>
                  <a:txBody>
                    <a:bodyPr/>
                    <a:lstStyle/>
                    <a:p>
                      <a:pPr>
                        <a:defRPr sz="1200">
                          <a:solidFill>
                            <a:srgbClr val="1A1A2E"/>
                          </a:solidFill>
                          <a:latin typeface="Yu Gothic"/>
                        </a:defRPr>
                      </a:pPr>
                      <a:r>
                        <a:t>Bloomberg(2026-08-19)</a:t>
                      </a:r>
                    </a:p>
                  </a:txBody>
                  <a:tcPr>
                    <a:solidFill>
                      <a:srgbClr val="F3F6FC"/>
                    </a:solidFill>
                  </a:tcPr>
                </a:tc>
                <a:tc>
                  <a:txBody>
                    <a:bodyPr/>
                    <a:lstStyle/>
                    <a:p>
                      <a:pPr>
                        <a:defRPr sz="1200">
                          <a:solidFill>
                            <a:srgbClr val="1A1A2E"/>
                          </a:solidFill>
                          <a:latin typeface="Yu Gothic"/>
                        </a:defRPr>
                      </a:pPr>
                      <a:r>
                        <a:t>制作背景の詳細</a:t>
                      </a:r>
                    </a:p>
                  </a:txBody>
                  <a:tcPr>
                    <a:solidFill>
                      <a:srgbClr val="F3F6FC"/>
                    </a:solidFill>
                  </a:tcPr>
                </a:tc>
              </a:tr>
              <a:tr h="502920">
                <a:tc>
                  <a:txBody>
                    <a:bodyPr/>
                    <a:lstStyle/>
                    <a:p>
                      <a:pPr>
                        <a:defRPr sz="1200">
                          <a:solidFill>
                            <a:srgbClr val="1A1A2E"/>
                          </a:solidFill>
                          <a:latin typeface="Yu Gothic"/>
                        </a:defRPr>
                      </a:pPr>
                      <a:r>
                        <a:t>Hong Kong Free Press(2026-08-22)</a:t>
                      </a:r>
                    </a:p>
                  </a:txBody>
                  <a:tcPr>
                    <a:solidFill>
                      <a:srgbClr val="FFFFFF"/>
                    </a:solidFill>
                  </a:tcPr>
                </a:tc>
                <a:tc>
                  <a:txBody>
                    <a:bodyPr/>
                    <a:lstStyle/>
                    <a:p>
                      <a:pPr>
                        <a:defRPr sz="1200">
                          <a:solidFill>
                            <a:srgbClr val="1A1A2E"/>
                          </a:solidFill>
                          <a:latin typeface="Yu Gothic"/>
                        </a:defRPr>
                      </a:pPr>
                      <a:r>
                        <a:t>業界内での位置づけ</a:t>
                      </a:r>
                    </a:p>
                  </a:txBody>
                  <a:tcPr>
                    <a:solidFill>
                      <a:srgbClr val="FFFFFF"/>
                    </a:solidFill>
                  </a:tcPr>
                </a:tc>
              </a:tr>
              <a:tr h="502920">
                <a:tc>
                  <a:txBody>
                    <a:bodyPr/>
                    <a:lstStyle/>
                    <a:p>
                      <a:pPr>
                        <a:defRPr sz="1200">
                          <a:solidFill>
                            <a:srgbClr val="1A1A2E"/>
                          </a:solidFill>
                          <a:latin typeface="Yu Gothic"/>
                        </a:defRPr>
                      </a:pPr>
                      <a:r>
                        <a:t>Euronews(2026-08-18)</a:t>
                      </a:r>
                    </a:p>
                  </a:txBody>
                  <a:tcPr>
                    <a:solidFill>
                      <a:srgbClr val="F3F6FC"/>
                    </a:solidFill>
                  </a:tcPr>
                </a:tc>
                <a:tc>
                  <a:txBody>
                    <a:bodyPr/>
                    <a:lstStyle/>
                    <a:p>
                      <a:pPr>
                        <a:defRPr sz="1200">
                          <a:solidFill>
                            <a:srgbClr val="1A1A2E"/>
                          </a:solidFill>
                          <a:latin typeface="Yu Gothic"/>
                        </a:defRPr>
                      </a:pPr>
                      <a:r>
                        <a:t>他作品との比較</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エンタメ動向を追う立場として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海外の逆転ヒット現象を具体的な数字とともに把握できる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創作活動に関心がある立場として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少人数・低予算でも話題化しうる事例として参考になる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実績値と予測値を明確に区別する視点が役立つ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制作にかかった年数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5年 母子2人がコマ単位で制作にかけた期間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エンドクレジットの楽曲も自作と報じられている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Bloomberg(2026-08-19)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酷評から人気への転換点について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転換点を確認します(推測を含む)。</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SNS上での拡散は、単なる批判にとどまらず「実際に見てみたい」という好奇心を刺激したと考えられる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低予算・手作りという背景が明らかになったことも、好意的な受け止めにつながった可能性がある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ただし転換点を生んだ具体的な要因の確定的な説明は、本調査の範囲では確認できていない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興行収入の絶対的な規模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約700万ドル 着手日時点の興行収入(ドル換算)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低予算作品としては際立った成績と報じられている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NBC News(2026-08-24時点)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作品情報まとめ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公開日</a:t>
                      </a:r>
                    </a:p>
                  </a:txBody>
                  <a:tcPr>
                    <a:solidFill>
                      <a:srgbClr val="FFFFFF"/>
                    </a:solidFill>
                  </a:tcPr>
                </a:tc>
                <a:tc>
                  <a:txBody>
                    <a:bodyPr/>
                    <a:lstStyle/>
                    <a:p>
                      <a:pPr>
                        <a:defRPr sz="1200">
                          <a:solidFill>
                            <a:srgbClr val="1A1A2E"/>
                          </a:solidFill>
                          <a:latin typeface="Yu Gothic"/>
                        </a:defRPr>
                      </a:pPr>
                      <a:r>
                        <a:t>2026年8月5日</a:t>
                      </a:r>
                    </a:p>
                  </a:txBody>
                  <a:tcPr>
                    <a:solidFill>
                      <a:srgbClr val="FFFFFF"/>
                    </a:solidFill>
                  </a:tcPr>
                </a:tc>
              </a:tr>
              <a:tr h="502920">
                <a:tc>
                  <a:txBody>
                    <a:bodyPr/>
                    <a:lstStyle/>
                    <a:p>
                      <a:pPr>
                        <a:defRPr sz="1200">
                          <a:solidFill>
                            <a:srgbClr val="1A1A2E"/>
                          </a:solidFill>
                          <a:latin typeface="Yu Gothic"/>
                        </a:defRPr>
                      </a:pPr>
                      <a:r>
                        <a:t>制作体制</a:t>
                      </a:r>
                    </a:p>
                  </a:txBody>
                  <a:tcPr>
                    <a:solidFill>
                      <a:srgbClr val="F3F6FC"/>
                    </a:solidFill>
                  </a:tcPr>
                </a:tc>
                <a:tc>
                  <a:txBody>
                    <a:bodyPr/>
                    <a:lstStyle/>
                    <a:p>
                      <a:pPr>
                        <a:defRPr sz="1200">
                          <a:solidFill>
                            <a:srgbClr val="1A1A2E"/>
                          </a:solidFill>
                          <a:latin typeface="Yu Gothic"/>
                        </a:defRPr>
                      </a:pPr>
                      <a:r>
                        <a:t>母子2人</a:t>
                      </a:r>
                    </a:p>
                  </a:txBody>
                  <a:tcPr>
                    <a:solidFill>
                      <a:srgbClr val="F3F6FC"/>
                    </a:solidFill>
                  </a:tcPr>
                </a:tc>
              </a:tr>
              <a:tr h="502920">
                <a:tc>
                  <a:txBody>
                    <a:bodyPr/>
                    <a:lstStyle/>
                    <a:p>
                      <a:pPr>
                        <a:defRPr sz="1200">
                          <a:solidFill>
                            <a:srgbClr val="1A1A2E"/>
                          </a:solidFill>
                          <a:latin typeface="Yu Gothic"/>
                        </a:defRPr>
                      </a:pPr>
                      <a:r>
                        <a:t>制作期間</a:t>
                      </a:r>
                    </a:p>
                  </a:txBody>
                  <a:tcPr>
                    <a:solidFill>
                      <a:srgbClr val="FFFFFF"/>
                    </a:solidFill>
                  </a:tcPr>
                </a:tc>
                <a:tc>
                  <a:txBody>
                    <a:bodyPr/>
                    <a:lstStyle/>
                    <a:p>
                      <a:pPr>
                        <a:defRPr sz="1200">
                          <a:solidFill>
                            <a:srgbClr val="1A1A2E"/>
                          </a:solidFill>
                          <a:latin typeface="Yu Gothic"/>
                        </a:defRPr>
                      </a:pPr>
                      <a:r>
                        <a:t>5年</a:t>
                      </a:r>
                    </a:p>
                  </a:txBody>
                  <a:tcPr>
                    <a:solidFill>
                      <a:srgbClr val="FFFFFF"/>
                    </a:solidFill>
                  </a:tcPr>
                </a:tc>
              </a:tr>
              <a:tr h="502920">
                <a:tc>
                  <a:txBody>
                    <a:bodyPr/>
                    <a:lstStyle/>
                    <a:p>
                      <a:pPr>
                        <a:defRPr sz="1200">
                          <a:solidFill>
                            <a:srgbClr val="1A1A2E"/>
                          </a:solidFill>
                          <a:latin typeface="Yu Gothic"/>
                        </a:defRPr>
                      </a:pPr>
                      <a:r>
                        <a:t>着手日時点の興行収入</a:t>
                      </a:r>
                    </a:p>
                  </a:txBody>
                  <a:tcPr>
                    <a:solidFill>
                      <a:srgbClr val="F3F6FC"/>
                    </a:solidFill>
                  </a:tcPr>
                </a:tc>
                <a:tc>
                  <a:txBody>
                    <a:bodyPr/>
                    <a:lstStyle/>
                    <a:p>
                      <a:pPr>
                        <a:defRPr sz="1200">
                          <a:solidFill>
                            <a:srgbClr val="1A1A2E"/>
                          </a:solidFill>
                          <a:latin typeface="Yu Gothic"/>
                        </a:defRPr>
                      </a:pPr>
                      <a:r>
                        <a:t>約4,517万元(約700万ドル)</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投資回収率(ROI)の高さ</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際立って高い部類 2026年の中国映画の中でのROI評価</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低予算での制作規模を踏まえた相対評価と報じられている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Collider(2026年8月)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海外メディアの報道時期</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1E2761"/>
                    </a:solidFill>
                  </a:tcPr>
                </a:tc>
                <a:tc>
                  <a:txBody>
                    <a:bodyPr/>
                    <a:lstStyle/>
                    <a:p>
                      <a:pPr>
                        <a:defRPr sz="1300" b="1">
                          <a:solidFill>
                            <a:srgbClr val="FFFFFF"/>
                          </a:solidFill>
                          <a:latin typeface="Yu Gothic"/>
                        </a:defRPr>
                      </a:pPr>
                      <a:r>
                        <a:t>メディア</a:t>
                      </a:r>
                    </a:p>
                  </a:txBody>
                  <a:tcPr>
                    <a:solidFill>
                      <a:srgbClr val="1E2761"/>
                    </a:solidFill>
                  </a:tcPr>
                </a:tc>
              </a:tr>
              <a:tr h="502920">
                <a:tc>
                  <a:txBody>
                    <a:bodyPr/>
                    <a:lstStyle/>
                    <a:p>
                      <a:pPr>
                        <a:defRPr sz="1200">
                          <a:solidFill>
                            <a:srgbClr val="1A1A2E"/>
                          </a:solidFill>
                          <a:latin typeface="Yu Gothic"/>
                        </a:defRPr>
                      </a:pPr>
                      <a:r>
                        <a:t>2026年8月18日</a:t>
                      </a:r>
                    </a:p>
                  </a:txBody>
                  <a:tcPr>
                    <a:solidFill>
                      <a:srgbClr val="FFFFFF"/>
                    </a:solidFill>
                  </a:tcPr>
                </a:tc>
                <a:tc>
                  <a:txBody>
                    <a:bodyPr/>
                    <a:lstStyle/>
                    <a:p>
                      <a:pPr>
                        <a:defRPr sz="1200">
                          <a:solidFill>
                            <a:srgbClr val="1A1A2E"/>
                          </a:solidFill>
                          <a:latin typeface="Yu Gothic"/>
                        </a:defRPr>
                      </a:pPr>
                      <a:r>
                        <a:t>Euronews</a:t>
                      </a:r>
                    </a:p>
                  </a:txBody>
                  <a:tcPr>
                    <a:solidFill>
                      <a:srgbClr val="FFFFFF"/>
                    </a:solidFill>
                  </a:tcPr>
                </a:tc>
              </a:tr>
              <a:tr h="502920">
                <a:tc>
                  <a:txBody>
                    <a:bodyPr/>
                    <a:lstStyle/>
                    <a:p>
                      <a:pPr>
                        <a:defRPr sz="1200">
                          <a:solidFill>
                            <a:srgbClr val="1A1A2E"/>
                          </a:solidFill>
                          <a:latin typeface="Yu Gothic"/>
                        </a:defRPr>
                      </a:pPr>
                      <a:r>
                        <a:t>2026年8月19日</a:t>
                      </a:r>
                    </a:p>
                  </a:txBody>
                  <a:tcPr>
                    <a:solidFill>
                      <a:srgbClr val="F3F6FC"/>
                    </a:solidFill>
                  </a:tcPr>
                </a:tc>
                <a:tc>
                  <a:txBody>
                    <a:bodyPr/>
                    <a:lstStyle/>
                    <a:p>
                      <a:pPr>
                        <a:defRPr sz="1200">
                          <a:solidFill>
                            <a:srgbClr val="1A1A2E"/>
                          </a:solidFill>
                          <a:latin typeface="Yu Gothic"/>
                        </a:defRPr>
                      </a:pPr>
                      <a:r>
                        <a:t>Bloomberg・NBC News</a:t>
                      </a:r>
                    </a:p>
                  </a:txBody>
                  <a:tcPr>
                    <a:solidFill>
                      <a:srgbClr val="F3F6FC"/>
                    </a:solidFill>
                  </a:tcPr>
                </a:tc>
              </a:tr>
              <a:tr h="502920">
                <a:tc>
                  <a:txBody>
                    <a:bodyPr/>
                    <a:lstStyle/>
                    <a:p>
                      <a:pPr>
                        <a:defRPr sz="1200">
                          <a:solidFill>
                            <a:srgbClr val="1A1A2E"/>
                          </a:solidFill>
                          <a:latin typeface="Yu Gothic"/>
                        </a:defRPr>
                      </a:pPr>
                      <a:r>
                        <a:t>2026年8月22日</a:t>
                      </a:r>
                    </a:p>
                  </a:txBody>
                  <a:tcPr>
                    <a:solidFill>
                      <a:srgbClr val="FFFFFF"/>
                    </a:solidFill>
                  </a:tcPr>
                </a:tc>
                <a:tc>
                  <a:txBody>
                    <a:bodyPr/>
                    <a:lstStyle/>
                    <a:p>
                      <a:pPr>
                        <a:defRPr sz="1200">
                          <a:solidFill>
                            <a:srgbClr val="1A1A2E"/>
                          </a:solidFill>
                          <a:latin typeface="Yu Gothic"/>
                        </a:defRPr>
                      </a:pPr>
                      <a:r>
                        <a:t>Hong Kong Free Press・The Standard</a:t>
                      </a:r>
                    </a:p>
                  </a:txBody>
                  <a:tcPr>
                    <a:solidFill>
                      <a:srgbClr val="FFFFFF"/>
                    </a:solidFill>
                  </a:tcPr>
                </a:tc>
              </a:tr>
              <a:tr h="502920">
                <a:tc>
                  <a:txBody>
                    <a:bodyPr/>
                    <a:lstStyle/>
                    <a:p>
                      <a:pPr>
                        <a:defRPr sz="1200">
                          <a:solidFill>
                            <a:srgbClr val="1A1A2E"/>
                          </a:solidFill>
                          <a:latin typeface="Yu Gothic"/>
                        </a:defRPr>
                      </a:pPr>
                      <a:r>
                        <a:t>2026年8月24日</a:t>
                      </a:r>
                    </a:p>
                  </a:txBody>
                  <a:tcPr>
                    <a:solidFill>
                      <a:srgbClr val="F3F6FC"/>
                    </a:solidFill>
                  </a:tcPr>
                </a:tc>
                <a:tc>
                  <a:txBody>
                    <a:bodyPr/>
                    <a:lstStyle/>
                    <a:p>
                      <a:pPr>
                        <a:defRPr sz="1200">
                          <a:solidFill>
                            <a:srgbClr val="1A1A2E"/>
                          </a:solidFill>
                          <a:latin typeface="Yu Gothic"/>
                        </a:defRPr>
                      </a:pPr>
                      <a:r>
                        <a:t>NBC News(最新更新)</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国内アニメ映画ランキングでの位置づけ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トップ10入り 2026年の中国国内アニメ映画興行収入ランキング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低予算作品としては異例の順位と報じられている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Hong Kong Free Press(2026-08-22)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一般的な低予算映画 vs 今回のNiu Lai</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一般的な低予算映画</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話題化せず埋もれるケースが多い</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今回のNiu Lai</a:t>
            </a:r>
          </a:p>
        </p:txBody>
      </p:sp>
      <p:sp>
        <p:nvSpPr>
          <p:cNvPr id="14" name="Oval 13"/>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酷評そのものが拡散のきっかけになった</a:t>
            </a:r>
          </a:p>
        </p:txBody>
      </p:sp>
      <p:sp>
        <p:nvSpPr>
          <p:cNvPr id="16" name="Oval 15"/>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着手日時点で約4,517万元まで急増</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今後注目される点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最終的な興行収入が予測値(1億3,300万〜1億3,500万元)に近づくかどうかに注目が集まる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同様の「逆転ヒット」がSNS時代の映画マーケティングにどう影響するかも注目点である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具体的な今後の興行収入予測は本テーマの範囲では断定せず、確認できた事実にとどめる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本編のまとめです。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中国の低予算アニメ映画「Niu Lai」が、稚拙な作画への酷評をきっかけに逆転ヒットした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公開後10日間で約1万元だった興行収入が、着手日時点で約4,517万元まで急増した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母子2人が5年をかけてコマ単位で制作した作品である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最終興行収入の予測値(1億3,300万〜1億3,500万元)はあくまで予測であり、実績値と区別してお伝えした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NBC News・Bloomberg等(2026-08-19〜24)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「下手すぎて逆に人気」Niu Lai、興収4,517万元に急増。</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中国の低予算アニメ映画が、稚拙な作画への酷評をきっかけに逆転ヒットしました。母子2人が5年かけて制作した作品の物語を、出典付きで整理してお届けしました。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