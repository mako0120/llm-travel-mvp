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2026年8月24日、ファストファッション大手SHEINが香港証券取引所への上場プロセスを正式開始しました。何が発表されたのか、出典付きで正確に整理してお届けします。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結論から確認します。SHEINは最大約270億ドルの評価額を目指してIPOを開始しましたが、これはピーク時から約7割減の水準です。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今日は6つの流れでお伝えします。IPOの基本情報から評価額の推移、欧州市場との関係まで、正確に事実を引用しながら整理します。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このテーマを扱う理由です。評価額の大幅な変動という数字のインパクトに注目しました。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IPOの基本情報です。香港証券取引所への上場を目指しています。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IPOとは何かを確認します。企業にとって大規模な資金調達の手段の一つです。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2022年のピーク時評価額(約1,000億ドル)から、約7割減という大きな下落幅です。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ファストファッションとは何かを確認します。SHEINはこの分野の世界的な企業です。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欧州市場との関係です。SHEINにとって最大の開示地域別市場です。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欧州売上は全世界売上の35.4%を占める、最大の開示地域別市場です。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欧州市場の位置づけをまとめました。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評価額低下の背景です。確定的な要因は確認できておらず、推測で埋めません。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2022年のピーク時評価額と、今回のIPO目標評価額を対比しました。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複数の独立した海外主要経済メディアが同一の事実を報じていることを確認しています。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最終価格の決定は8月31日、取引開始は9月1日を予定しています。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7割減とはいえ、最大270億ドルという評価額自体は依然として大型のIPO案件です。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IPOプロセス開始から取引開始まで、約8日間というスケジュールです。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IPOスケジュールをまとめました。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一般的なIPO案件の特徴と、今回のSHEIN案件を対比しました。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上場先に香港を選んだ点です。具体的な選定理由は確認できておらず、推測で埋めません。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最大270億ドルという評価額は、世界的に見ても大型のIPO案件の一つに位置づけられます。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今後注目される点です。株価予測等の推測では断定しません。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本編のまとめです。SHEINの香港IPO始動について、出典付きで整理してお伝えしました。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SHEINの香港IPO始動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SHEIN、</a:t>
            </a:r>
          </a:p>
          <a:p>
            <a:pPr algn="l">
              <a:lnSpc>
                <a:spcPct val="115000"/>
              </a:lnSpc>
            </a:pPr>
            <a:r>
              <a:rPr sz="4200" b="1">
                <a:solidFill>
                  <a:srgbClr val="FFFFFF"/>
                </a:solidFill>
                <a:latin typeface="Yu Gothic"/>
              </a:rPr>
              <a:t>香港IPO始動。</a:t>
            </a:r>
          </a:p>
          <a:p>
            <a:pPr algn="l">
              <a:lnSpc>
                <a:spcPct val="115000"/>
              </a:lnSpc>
            </a:pPr>
            <a:r>
              <a:rPr sz="4200" b="1">
                <a:solidFill>
                  <a:srgbClr val="FFFFFF"/>
                </a:solidFill>
                <a:latin typeface="Yu Gothic"/>
              </a:rPr>
              <a:t>評価額は7割減</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Euronews・Forbes(2026年8月24日)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最大270億ドル SHEINが目指すIPO評価額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2022年のピーク時評価額(約1,000億ドル)から約7割減(2026年8月24日発表)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RTE・Forbes(2026-08-24)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IPOの基本情報を確認する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評価額の推移を確認する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今後のスケジュールを確認する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欧州市場との関係を確認する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着手日当日(2026年8月24日)、海外の主要経済メディアが一斉に報じた話題である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評価額7割減という、数字のインパクトが大きい出来事である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世界的なファストファッション企業の大型IPOという注目度の高い出来事である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複数の独立したメディアが同じ中心数値を報じており、情報の一貫性を確認できた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Euronews・Forbes(2026-08-24)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IPOの基本情報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企業名</a:t>
                      </a:r>
                    </a:p>
                  </a:txBody>
                  <a:tcPr>
                    <a:solidFill>
                      <a:srgbClr val="FFFFFF"/>
                    </a:solidFill>
                  </a:tcPr>
                </a:tc>
                <a:tc>
                  <a:txBody>
                    <a:bodyPr/>
                    <a:lstStyle/>
                    <a:p>
                      <a:pPr>
                        <a:defRPr sz="1200">
                          <a:solidFill>
                            <a:srgbClr val="1E2124"/>
                          </a:solidFill>
                          <a:latin typeface="Yu Gothic"/>
                        </a:defRPr>
                      </a:pPr>
                      <a:r>
                        <a:t>SHEIN(ファストファッション大手)</a:t>
                      </a:r>
                    </a:p>
                  </a:txBody>
                  <a:tcPr>
                    <a:solidFill>
                      <a:srgbClr val="FFFFFF"/>
                    </a:solidFill>
                  </a:tcPr>
                </a:tc>
              </a:tr>
              <a:tr h="502920">
                <a:tc>
                  <a:txBody>
                    <a:bodyPr/>
                    <a:lstStyle/>
                    <a:p>
                      <a:pPr>
                        <a:defRPr sz="1200">
                          <a:solidFill>
                            <a:srgbClr val="1E2124"/>
                          </a:solidFill>
                          <a:latin typeface="Yu Gothic"/>
                        </a:defRPr>
                      </a:pPr>
                      <a:r>
                        <a:t>上場先</a:t>
                      </a:r>
                    </a:p>
                  </a:txBody>
                  <a:tcPr>
                    <a:solidFill>
                      <a:srgbClr val="F7F4EF"/>
                    </a:solidFill>
                  </a:tcPr>
                </a:tc>
                <a:tc>
                  <a:txBody>
                    <a:bodyPr/>
                    <a:lstStyle/>
                    <a:p>
                      <a:pPr>
                        <a:defRPr sz="1200">
                          <a:solidFill>
                            <a:srgbClr val="1E2124"/>
                          </a:solidFill>
                          <a:latin typeface="Yu Gothic"/>
                        </a:defRPr>
                      </a:pPr>
                      <a:r>
                        <a:t>香港証券取引所</a:t>
                      </a:r>
                    </a:p>
                  </a:txBody>
                  <a:tcPr>
                    <a:solidFill>
                      <a:srgbClr val="F7F4EF"/>
                    </a:solidFill>
                  </a:tcPr>
                </a:tc>
              </a:tr>
              <a:tr h="502920">
                <a:tc>
                  <a:txBody>
                    <a:bodyPr/>
                    <a:lstStyle/>
                    <a:p>
                      <a:pPr>
                        <a:defRPr sz="1200">
                          <a:solidFill>
                            <a:srgbClr val="1E2124"/>
                          </a:solidFill>
                          <a:latin typeface="Yu Gothic"/>
                        </a:defRPr>
                      </a:pPr>
                      <a:r>
                        <a:t>目標評価額</a:t>
                      </a:r>
                    </a:p>
                  </a:txBody>
                  <a:tcPr>
                    <a:solidFill>
                      <a:srgbClr val="FFFFFF"/>
                    </a:solidFill>
                  </a:tcPr>
                </a:tc>
                <a:tc>
                  <a:txBody>
                    <a:bodyPr/>
                    <a:lstStyle/>
                    <a:p>
                      <a:pPr>
                        <a:defRPr sz="1200">
                          <a:solidFill>
                            <a:srgbClr val="1E2124"/>
                          </a:solidFill>
                          <a:latin typeface="Yu Gothic"/>
                        </a:defRPr>
                      </a:pPr>
                      <a:r>
                        <a:t>最大約270億ドル</a:t>
                      </a:r>
                    </a:p>
                  </a:txBody>
                  <a:tcPr>
                    <a:solidFill>
                      <a:srgbClr val="FFFFFF"/>
                    </a:solidFill>
                  </a:tcPr>
                </a:tc>
              </a:tr>
              <a:tr h="502920">
                <a:tc>
                  <a:txBody>
                    <a:bodyPr/>
                    <a:lstStyle/>
                    <a:p>
                      <a:pPr>
                        <a:defRPr sz="1200">
                          <a:solidFill>
                            <a:srgbClr val="1E2124"/>
                          </a:solidFill>
                          <a:latin typeface="Yu Gothic"/>
                        </a:defRPr>
                      </a:pPr>
                      <a:r>
                        <a:t>IPOプロセス開始日</a:t>
                      </a:r>
                    </a:p>
                  </a:txBody>
                  <a:tcPr>
                    <a:solidFill>
                      <a:srgbClr val="F7F4EF"/>
                    </a:solidFill>
                  </a:tcPr>
                </a:tc>
                <a:tc>
                  <a:txBody>
                    <a:bodyPr/>
                    <a:lstStyle/>
                    <a:p>
                      <a:pPr>
                        <a:defRPr sz="1200">
                          <a:solidFill>
                            <a:srgbClr val="1E2124"/>
                          </a:solidFill>
                          <a:latin typeface="Yu Gothic"/>
                        </a:defRPr>
                      </a:pPr>
                      <a:r>
                        <a:t>2026年8月24日</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Euronews・Forbes(2026-08-24)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「IPO(新規株式公開)」とは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前提知識を確認します。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これまで非公開だった企業が、証券取引所に株式を上場し、一般の投資家が株式を売買できるようにすることである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企業にとっては大規模な資金調達の手段の一つとなる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評価額は市場環境や投資家の期待値によって変動する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ピーク時評価額との差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約7割減 2022年のピーク時評価額からの下落幅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ピーク時は約1,000億ドルと報じられていた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Forbes(2026-08-24)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IPOまでの流れ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8月24日、IPOプロセス開始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最大270億ドルの評価額を目指す</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8月31日、最終価格決定予定</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本日時点では未確定</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9月1日、取引開始予定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香港証券取引所での上場</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IPOまでの流れ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Business of Fashion(2026-08-24)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IPOプロセス正式開始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香港証券取引所への上場を目指す</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評価額目標を発表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最大約270億ドル</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今後のスケジュールを提示</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8月31日価格決定、9月1日取引開始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「ファストファッション」とは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前提知識を確認します。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トレンドを反映した衣料品を、短いサイクルで大量に生産・販売するビジネスモデルのことである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SHEINはこの分野で世界的に事業を展開する企業の一つである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オンライン販売を中心に急成長してきた企業として知られる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確定していること</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目標評価額(最大270億ドル)</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上場先(香港証券取引所)</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今後のスケジュール(8/31価格決定、9/1取引開始)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調達資金の具体的な使途</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現在の株主構成の詳細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欧州市場との関係</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欧州市場との関係を確認します。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欧州(EU+英国)は、SHEINにとって開示されている地域別売上の中で最大の市場である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2025年の欧州売上は148億ドル(約127億ユーロ)にのぼる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この金額は、SHEINの全世界売上の35.4%を占める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Euronews(2026-08-24)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欧州売上比率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35.4% 全世界売上に占める欧州(EU+英国)の割合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2025年の欧州売上は148億ドル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Euronews(2026-08-24)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欧州市場の位置づけ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2025年の欧州売上</a:t>
                      </a:r>
                    </a:p>
                  </a:txBody>
                  <a:tcPr>
                    <a:solidFill>
                      <a:srgbClr val="FFFFFF"/>
                    </a:solidFill>
                  </a:tcPr>
                </a:tc>
                <a:tc>
                  <a:txBody>
                    <a:bodyPr/>
                    <a:lstStyle/>
                    <a:p>
                      <a:pPr>
                        <a:defRPr sz="1200">
                          <a:solidFill>
                            <a:srgbClr val="1E2124"/>
                          </a:solidFill>
                          <a:latin typeface="Yu Gothic"/>
                        </a:defRPr>
                      </a:pPr>
                      <a:r>
                        <a:t>148億ドル(約127億ユーロ)</a:t>
                      </a:r>
                    </a:p>
                  </a:txBody>
                  <a:tcPr>
                    <a:solidFill>
                      <a:srgbClr val="FFFFFF"/>
                    </a:solidFill>
                  </a:tcPr>
                </a:tc>
              </a:tr>
              <a:tr h="502920">
                <a:tc>
                  <a:txBody>
                    <a:bodyPr/>
                    <a:lstStyle/>
                    <a:p>
                      <a:pPr>
                        <a:defRPr sz="1200">
                          <a:solidFill>
                            <a:srgbClr val="1E2124"/>
                          </a:solidFill>
                          <a:latin typeface="Yu Gothic"/>
                        </a:defRPr>
                      </a:pPr>
                      <a:r>
                        <a:t>全世界売上に占める比率</a:t>
                      </a:r>
                    </a:p>
                  </a:txBody>
                  <a:tcPr>
                    <a:solidFill>
                      <a:srgbClr val="F7F4EF"/>
                    </a:solidFill>
                  </a:tcPr>
                </a:tc>
                <a:tc>
                  <a:txBody>
                    <a:bodyPr/>
                    <a:lstStyle/>
                    <a:p>
                      <a:pPr>
                        <a:defRPr sz="1200">
                          <a:solidFill>
                            <a:srgbClr val="1E2124"/>
                          </a:solidFill>
                          <a:latin typeface="Yu Gothic"/>
                        </a:defRPr>
                      </a:pPr>
                      <a:r>
                        <a:t>35.4%</a:t>
                      </a:r>
                    </a:p>
                  </a:txBody>
                  <a:tcPr>
                    <a:solidFill>
                      <a:srgbClr val="F7F4EF"/>
                    </a:solidFill>
                  </a:tcPr>
                </a:tc>
              </a:tr>
              <a:tr h="502920">
                <a:tc>
                  <a:txBody>
                    <a:bodyPr/>
                    <a:lstStyle/>
                    <a:p>
                      <a:pPr>
                        <a:defRPr sz="1200">
                          <a:solidFill>
                            <a:srgbClr val="1E2124"/>
                          </a:solidFill>
                          <a:latin typeface="Yu Gothic"/>
                        </a:defRPr>
                      </a:pPr>
                      <a:r>
                        <a:t>市場としての位置づけ</a:t>
                      </a:r>
                    </a:p>
                  </a:txBody>
                  <a:tcPr>
                    <a:solidFill>
                      <a:srgbClr val="FFFFFF"/>
                    </a:solidFill>
                  </a:tcPr>
                </a:tc>
                <a:tc>
                  <a:txBody>
                    <a:bodyPr/>
                    <a:lstStyle/>
                    <a:p>
                      <a:pPr>
                        <a:defRPr sz="1200">
                          <a:solidFill>
                            <a:srgbClr val="1E2124"/>
                          </a:solidFill>
                          <a:latin typeface="Yu Gothic"/>
                        </a:defRPr>
                      </a:pPr>
                      <a:r>
                        <a:t>開示されている地域別売上で最大</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Euronews(2026-08-24)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視聴者にとっての意味—企業動向を追う立場として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世界的なファストファッション企業のIPOという大型経済ニュースを、具体的な数字とともに把握できる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『IPO』『評価額』といった企業金融の基礎用語を実例を通じて学べる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確定した情報と、確認できていないこと(資金使途等)を区別する視点が役立つ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評価額低下の背景について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評価額低下の背景を確認します(推測を含む)。</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企業のIPOにおける評価額は、市場環境や投資家の期待値によって変動する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今回のような大幅な評価額低下には何らかの背景があると考えられるが、具体的な要因の確定的な説明は本調査の範囲では確認できていない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推測で断定せず、確認できたことと推測を明確に区別してお伝えする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2022年ピーク時 vs 2026年IPO目標</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2022年(ピーク時)</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評価額 約1,000億ドルと報じられた</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2026年8月24日(IPO目標)</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評価額 最大約270億ドルを目指す</a:t>
            </a:r>
          </a:p>
        </p:txBody>
      </p:sp>
      <p:sp>
        <p:nvSpPr>
          <p:cNvPr id="16" name="Oval 15"/>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約7割減の水準</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今回のIPOによる具体的な調達資金の使途は確認できていない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SHEIN創業の経緯・現在の株主構成の詳細は確認できていない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本テーマは各情報源への直接アクセスではなく、検索結果の要約に基づいて調査している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主な情報源</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報道内容</a:t>
                      </a:r>
                    </a:p>
                  </a:txBody>
                  <a:tcPr>
                    <a:solidFill>
                      <a:srgbClr val="3A4750"/>
                    </a:solidFill>
                  </a:tcPr>
                </a:tc>
              </a:tr>
              <a:tr h="502920">
                <a:tc>
                  <a:txBody>
                    <a:bodyPr/>
                    <a:lstStyle/>
                    <a:p>
                      <a:pPr>
                        <a:defRPr sz="1200">
                          <a:solidFill>
                            <a:srgbClr val="1E2124"/>
                          </a:solidFill>
                          <a:latin typeface="Yu Gothic"/>
                        </a:defRPr>
                      </a:pPr>
                      <a:r>
                        <a:t>Euronews(2026-08-24)</a:t>
                      </a:r>
                    </a:p>
                  </a:txBody>
                  <a:tcPr>
                    <a:solidFill>
                      <a:srgbClr val="FFFFFF"/>
                    </a:solidFill>
                  </a:tcPr>
                </a:tc>
                <a:tc>
                  <a:txBody>
                    <a:bodyPr/>
                    <a:lstStyle/>
                    <a:p>
                      <a:pPr>
                        <a:defRPr sz="1200">
                          <a:solidFill>
                            <a:srgbClr val="1E2124"/>
                          </a:solidFill>
                          <a:latin typeface="Yu Gothic"/>
                        </a:defRPr>
                      </a:pPr>
                      <a:r>
                        <a:t>欧州市場との関係の詳細</a:t>
                      </a:r>
                    </a:p>
                  </a:txBody>
                  <a:tcPr>
                    <a:solidFill>
                      <a:srgbClr val="FFFFFF"/>
                    </a:solidFill>
                  </a:tcPr>
                </a:tc>
              </a:tr>
              <a:tr h="502920">
                <a:tc>
                  <a:txBody>
                    <a:bodyPr/>
                    <a:lstStyle/>
                    <a:p>
                      <a:pPr>
                        <a:defRPr sz="1200">
                          <a:solidFill>
                            <a:srgbClr val="1E2124"/>
                          </a:solidFill>
                          <a:latin typeface="Yu Gothic"/>
                        </a:defRPr>
                      </a:pPr>
                      <a:r>
                        <a:t>Forbes(2026-08-24)</a:t>
                      </a:r>
                    </a:p>
                  </a:txBody>
                  <a:tcPr>
                    <a:solidFill>
                      <a:srgbClr val="F7F4EF"/>
                    </a:solidFill>
                  </a:tcPr>
                </a:tc>
                <a:tc>
                  <a:txBody>
                    <a:bodyPr/>
                    <a:lstStyle/>
                    <a:p>
                      <a:pPr>
                        <a:defRPr sz="1200">
                          <a:solidFill>
                            <a:srgbClr val="1E2124"/>
                          </a:solidFill>
                          <a:latin typeface="Yu Gothic"/>
                        </a:defRPr>
                      </a:pPr>
                      <a:r>
                        <a:t>評価額・ピーク時との比較</a:t>
                      </a:r>
                    </a:p>
                  </a:txBody>
                  <a:tcPr>
                    <a:solidFill>
                      <a:srgbClr val="F7F4EF"/>
                    </a:solidFill>
                  </a:tcPr>
                </a:tc>
              </a:tr>
              <a:tr h="502920">
                <a:tc>
                  <a:txBody>
                    <a:bodyPr/>
                    <a:lstStyle/>
                    <a:p>
                      <a:pPr>
                        <a:defRPr sz="1200">
                          <a:solidFill>
                            <a:srgbClr val="1E2124"/>
                          </a:solidFill>
                          <a:latin typeface="Yu Gothic"/>
                        </a:defRPr>
                      </a:pPr>
                      <a:r>
                        <a:t>Business of Fashion(2026-08-24)</a:t>
                      </a:r>
                    </a:p>
                  </a:txBody>
                  <a:tcPr>
                    <a:solidFill>
                      <a:srgbClr val="FFFFFF"/>
                    </a:solidFill>
                  </a:tcPr>
                </a:tc>
                <a:tc>
                  <a:txBody>
                    <a:bodyPr/>
                    <a:lstStyle/>
                    <a:p>
                      <a:pPr>
                        <a:defRPr sz="1200">
                          <a:solidFill>
                            <a:srgbClr val="1E2124"/>
                          </a:solidFill>
                          <a:latin typeface="Yu Gothic"/>
                        </a:defRPr>
                      </a:pPr>
                      <a:r>
                        <a:t>今後のスケジュール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企業動向を追う立場として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世界的企業のIPOという大型ニュースを、具体的な数字とともに把握できる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投資に関心がある立場として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IPO評価額の仕組みを実例を通じて学べる(投資助言ではない)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確定した情報と、確認できていない資金使途等を明確に区別する視点が役立つ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最終価格決定日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8月31日 IPOの最終価格が決定される予定日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取引開始は9月1日予定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Business of Fashion(2026-08-24)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評価額の絶対的な規模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最大270億ドル 目標評価額そのものの規模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世界的にも大型のIPO案件の一つ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RTE・Forbes(2026-08-24)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IPOプロセス開始からの日数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8日間 IPOプロセス開始から取引開始予定までの期間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8月24日開始、9月1日取引開始予定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Business of Fashion(2026-08-24)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IPOスケジュールまとめ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8月24日</a:t>
                      </a:r>
                    </a:p>
                  </a:txBody>
                  <a:tcPr>
                    <a:solidFill>
                      <a:srgbClr val="FFFFFF"/>
                    </a:solidFill>
                  </a:tcPr>
                </a:tc>
                <a:tc>
                  <a:txBody>
                    <a:bodyPr/>
                    <a:lstStyle/>
                    <a:p>
                      <a:pPr>
                        <a:defRPr sz="1200">
                          <a:solidFill>
                            <a:srgbClr val="1E2124"/>
                          </a:solidFill>
                          <a:latin typeface="Yu Gothic"/>
                        </a:defRPr>
                      </a:pPr>
                      <a:r>
                        <a:t>IPOプロセス正式開始</a:t>
                      </a:r>
                    </a:p>
                  </a:txBody>
                  <a:tcPr>
                    <a:solidFill>
                      <a:srgbClr val="FFFFFF"/>
                    </a:solidFill>
                  </a:tcPr>
                </a:tc>
              </a:tr>
              <a:tr h="502920">
                <a:tc>
                  <a:txBody>
                    <a:bodyPr/>
                    <a:lstStyle/>
                    <a:p>
                      <a:pPr>
                        <a:defRPr sz="1200">
                          <a:solidFill>
                            <a:srgbClr val="1E2124"/>
                          </a:solidFill>
                          <a:latin typeface="Yu Gothic"/>
                        </a:defRPr>
                      </a:pPr>
                      <a:r>
                        <a:t>8月31日</a:t>
                      </a:r>
                    </a:p>
                  </a:txBody>
                  <a:tcPr>
                    <a:solidFill>
                      <a:srgbClr val="F7F4EF"/>
                    </a:solidFill>
                  </a:tcPr>
                </a:tc>
                <a:tc>
                  <a:txBody>
                    <a:bodyPr/>
                    <a:lstStyle/>
                    <a:p>
                      <a:pPr>
                        <a:defRPr sz="1200">
                          <a:solidFill>
                            <a:srgbClr val="1E2124"/>
                          </a:solidFill>
                          <a:latin typeface="Yu Gothic"/>
                        </a:defRPr>
                      </a:pPr>
                      <a:r>
                        <a:t>最終価格決定予定</a:t>
                      </a:r>
                    </a:p>
                  </a:txBody>
                  <a:tcPr>
                    <a:solidFill>
                      <a:srgbClr val="F7F4EF"/>
                    </a:solidFill>
                  </a:tcPr>
                </a:tc>
              </a:tr>
              <a:tr h="502920">
                <a:tc>
                  <a:txBody>
                    <a:bodyPr/>
                    <a:lstStyle/>
                    <a:p>
                      <a:pPr>
                        <a:defRPr sz="1200">
                          <a:solidFill>
                            <a:srgbClr val="1E2124"/>
                          </a:solidFill>
                          <a:latin typeface="Yu Gothic"/>
                        </a:defRPr>
                      </a:pPr>
                      <a:r>
                        <a:t>9月1日</a:t>
                      </a:r>
                    </a:p>
                  </a:txBody>
                  <a:tcPr>
                    <a:solidFill>
                      <a:srgbClr val="FFFFFF"/>
                    </a:solidFill>
                  </a:tcPr>
                </a:tc>
                <a:tc>
                  <a:txBody>
                    <a:bodyPr/>
                    <a:lstStyle/>
                    <a:p>
                      <a:pPr>
                        <a:defRPr sz="1200">
                          <a:solidFill>
                            <a:srgbClr val="1E2124"/>
                          </a:solidFill>
                          <a:latin typeface="Yu Gothic"/>
                        </a:defRPr>
                      </a:pPr>
                      <a:r>
                        <a:t>香港証券取引所で取引開始予定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Business of Fashion(2026-08-24)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SHEIN vs 一般的なIPO案件</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一般的なIPO案件</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評価額は市場環境・投資家の期待値で変動</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今回のSHEIN案件</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ピーク時から約7割減という大幅な変動</a:t>
            </a:r>
          </a:p>
        </p:txBody>
      </p:sp>
      <p:sp>
        <p:nvSpPr>
          <p:cNvPr id="16" name="Oval 15"/>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それでも最大270億ドルという大型案件</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上場先に香港を選んだ点について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上場先について確認します。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SHEINは今回、香港証券取引所への上場を選んだ</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アジア圏の主要な国際金融市場の一つである香港市場を選定した背景には、様々な事業戦略上の判断があると考えられる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ただし具体的な選定理由の公式な説明は、本調査の範囲では確認できていない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世界的なIPO市場における位置づけ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大型案件の一つ 最大270億ドル規模のIPO</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同業他社との具体的な比較データは本調査の範囲では確認できていない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本調査による整理</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今後注目される点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8月31日の最終価格決定、9月1日の取引開始という節目に注目が集まる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実際の取引開始後の株価動向が、今回の評価額の妥当性を測る材料になると考えられる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具体的な株価予測は本テーマの範囲では行わず、確認できた事実にとどめる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本編のまとめです。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2026年8月24日、SHEINが香港証券取引所への上場プロセスを正式開始した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目標評価額は最大約270億ドルで、2022年のピーク時から約7割減の水準である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欧州(EU+英国)は開示されている地域別売上で最大の市場で、全世界売上の35.4%を占める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最終価格決定は8月31日、取引開始は9月1日を予定している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Euronews・Forbes等(2026-08-24)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SHEIN、香港IPO始動。評価額はピーク時から7割減。</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2026年8月24日、ファストファッション大手SHEINが香港証券取引所への上場プロセスを正式開始しました。評価額7割減という事実を、出典付きで整理してお届けしました。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