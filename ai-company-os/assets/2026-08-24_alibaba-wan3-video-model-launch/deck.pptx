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アリババがAI動画生成モデル「Wan3.0」を正式にリリースしました。何が発表されたのか、出典付きで正確に整理してお届けします。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結論から確認します。アリババは文書やスライドから最長30秒の動画を生成できるWan3.0を正式リリースしました。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今日は6つの流れでお伝えします。Wan3.0の基本情報から活用用途まで、正確に事実を引用しながら整理します。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このテーマを扱う理由です。大型資金調達の翌日という発表タイミングに注目しました。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Wan3.0の基本情報です。公開ベータから正式版へと進みました。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AI動画生成モデルとは何かを確認します。世界的に競争が激しい分野です。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Wan3.0の正式リリースは、約102億ドルの大型株式売り出しの翌日というタイミングでした。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発表までの流れを図にしました。資金調達の翌日に製品を正式リリースするという流れです。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Wan3.0でできることです。文書から動画を生成できる点が特徴です。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公開ベータ開始から正式リリースまで、約18日間という短期間での展開です。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Wan3.0の活用用途をまとめました。幅広い分野で使われています。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AI技術動向を追う立場にとっての意味です。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第三者評価についてです。情報源間で矛盾があったため、順位に関する主張は採用していません。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公開ベータ版と正式リリース版を対比しました。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アリババは前週、AI関連の設備投資増加を理由に四半期利益が前年比75%減少したと報告しています。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投資方針についてです。Wan3.0はこの大きな投資方針の一部として位置づけられます。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文書・スプレッドシート・スライド・ウェブページという4種類の素材から動画を生成できます。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Wan3.0の情報をまとめました。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調達資金の100%をAI関連投資に充てるとしています。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海外メディアの報道時期をまとめました。継続的に報じられている一連の流れです。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Wan3.0は、アリババが継続的に開発してきたWanシリーズの最新版です。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一般的なAI動画モデルの発表と、今回のWan3.0を対比しました。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本編のまとめです。Wan3.0の正式リリースについて、出典付きで整理してお伝えしました。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アリババのWan3.0正式リリースについて、その中身を正確に整理してお伝えしました。数字は出典どおりに扱い、確認できなかったことや情報源間の矛盾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アリババ、</a:t>
            </a:r>
          </a:p>
          <a:p>
            <a:pPr algn="l">
              <a:lnSpc>
                <a:spcPct val="115000"/>
              </a:lnSpc>
            </a:pPr>
            <a:r>
              <a:rPr sz="4200" b="1">
                <a:solidFill>
                  <a:srgbClr val="FFFFFF"/>
                </a:solidFill>
                <a:latin typeface="Yu Gothic"/>
              </a:rPr>
              <a:t>AI動画モデル</a:t>
            </a:r>
          </a:p>
          <a:p>
            <a:pPr algn="l">
              <a:lnSpc>
                <a:spcPct val="115000"/>
              </a:lnSpc>
            </a:pPr>
            <a:r>
              <a:rPr sz="4200" b="1">
                <a:solidFill>
                  <a:srgbClr val="FFFFFF"/>
                </a:solidFill>
                <a:latin typeface="Yu Gothic"/>
              </a:rPr>
              <a:t>「Wan3.0」正式始動</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2026年8月24日発表——出典付きで整理する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Reuters・TechNode(2026年8月24日)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最長30秒 Wan3.0が文書等から生成できる動画の長さ</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約102億ドルの株式売り出しの翌日に正式リリース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Reuters・TechNode(2026-08-24)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Wan3.0の基本情報を確認する</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できることを確認する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資金調達との関係を確認する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活用されている用途を確認する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着手日前後(2026年8月24日)、海外の主要メディアが一斉に報じた話題である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約102億ドルの大型調達の翌日という、タイミングのインパクトが大きい発表である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文書からの動画生成という、実用的な新機能が注目されている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複数の独立したメディアが同じ中心事実を報じており、情報の一貫性を確認できた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Reuters・TechNode(2026-08-24)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Wan3.0の基本情報</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モデル名</a:t>
                      </a:r>
                    </a:p>
                  </a:txBody>
                  <a:tcPr>
                    <a:solidFill>
                      <a:srgbClr val="FFFFFF"/>
                    </a:solidFill>
                  </a:tcPr>
                </a:tc>
                <a:tc>
                  <a:txBody>
                    <a:bodyPr/>
                    <a:lstStyle/>
                    <a:p>
                      <a:pPr>
                        <a:defRPr sz="1200">
                          <a:solidFill>
                            <a:srgbClr val="2A1712"/>
                          </a:solidFill>
                          <a:latin typeface="Yu Gothic"/>
                        </a:defRPr>
                      </a:pPr>
                      <a:r>
                        <a:t>Wan3.0(アリババのAI動画生成モデル)</a:t>
                      </a:r>
                    </a:p>
                  </a:txBody>
                  <a:tcPr>
                    <a:solidFill>
                      <a:srgbClr val="FFFFFF"/>
                    </a:solidFill>
                  </a:tcPr>
                </a:tc>
              </a:tr>
              <a:tr h="502920">
                <a:tc>
                  <a:txBody>
                    <a:bodyPr/>
                    <a:lstStyle/>
                    <a:p>
                      <a:pPr>
                        <a:defRPr sz="1200">
                          <a:solidFill>
                            <a:srgbClr val="2A1712"/>
                          </a:solidFill>
                          <a:latin typeface="Yu Gothic"/>
                        </a:defRPr>
                      </a:pPr>
                      <a:r>
                        <a:t>正式リリース日</a:t>
                      </a:r>
                    </a:p>
                  </a:txBody>
                  <a:tcPr>
                    <a:solidFill>
                      <a:srgbClr val="FBF3E6"/>
                    </a:solidFill>
                  </a:tcPr>
                </a:tc>
                <a:tc>
                  <a:txBody>
                    <a:bodyPr/>
                    <a:lstStyle/>
                    <a:p>
                      <a:pPr>
                        <a:defRPr sz="1200">
                          <a:solidFill>
                            <a:srgbClr val="2A1712"/>
                          </a:solidFill>
                          <a:latin typeface="Yu Gothic"/>
                        </a:defRPr>
                      </a:pPr>
                      <a:r>
                        <a:t>2026年8月24日</a:t>
                      </a:r>
                    </a:p>
                  </a:txBody>
                  <a:tcPr>
                    <a:solidFill>
                      <a:srgbClr val="FBF3E6"/>
                    </a:solidFill>
                  </a:tcPr>
                </a:tc>
              </a:tr>
              <a:tr h="502920">
                <a:tc>
                  <a:txBody>
                    <a:bodyPr/>
                    <a:lstStyle/>
                    <a:p>
                      <a:pPr>
                        <a:defRPr sz="1200">
                          <a:solidFill>
                            <a:srgbClr val="2A1712"/>
                          </a:solidFill>
                          <a:latin typeface="Yu Gothic"/>
                        </a:defRPr>
                      </a:pPr>
                      <a:r>
                        <a:t>公開ベータ開始日</a:t>
                      </a:r>
                    </a:p>
                  </a:txBody>
                  <a:tcPr>
                    <a:solidFill>
                      <a:srgbClr val="FFFFFF"/>
                    </a:solidFill>
                  </a:tcPr>
                </a:tc>
                <a:tc>
                  <a:txBody>
                    <a:bodyPr/>
                    <a:lstStyle/>
                    <a:p>
                      <a:pPr>
                        <a:defRPr sz="1200">
                          <a:solidFill>
                            <a:srgbClr val="2A1712"/>
                          </a:solidFill>
                          <a:latin typeface="Yu Gothic"/>
                        </a:defRPr>
                      </a:pPr>
                      <a:r>
                        <a:t>2026年8月6日</a:t>
                      </a:r>
                    </a:p>
                  </a:txBody>
                  <a:tcPr>
                    <a:solidFill>
                      <a:srgbClr val="FFFFFF"/>
                    </a:solidFill>
                  </a:tcPr>
                </a:tc>
              </a:tr>
              <a:tr h="502920">
                <a:tc>
                  <a:txBody>
                    <a:bodyPr/>
                    <a:lstStyle/>
                    <a:p>
                      <a:pPr>
                        <a:defRPr sz="1200">
                          <a:solidFill>
                            <a:srgbClr val="2A1712"/>
                          </a:solidFill>
                          <a:latin typeface="Yu Gothic"/>
                        </a:defRPr>
                      </a:pPr>
                      <a:r>
                        <a:t>生成可能な動画の長さ</a:t>
                      </a:r>
                    </a:p>
                  </a:txBody>
                  <a:tcPr>
                    <a:solidFill>
                      <a:srgbClr val="FBF3E6"/>
                    </a:solidFill>
                  </a:tcPr>
                </a:tc>
                <a:tc>
                  <a:txBody>
                    <a:bodyPr/>
                    <a:lstStyle/>
                    <a:p>
                      <a:pPr>
                        <a:defRPr sz="1200">
                          <a:solidFill>
                            <a:srgbClr val="2A1712"/>
                          </a:solidFill>
                          <a:latin typeface="Yu Gothic"/>
                        </a:defRPr>
                      </a:pPr>
                      <a:r>
                        <a:t>最長30秒</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TechNode・Reuters(2026-08-24)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「AI動画生成モデル」とは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前提知識を確認します。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テキストや文書など様々な入力から、動画コンテンツを自動生成するAI技術である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近年、世界的に競争が激しくなっている生成AIの応用分野の一つである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アリババはこの分野で自社モデル「Wan」シリーズを継続的に開発してきた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資金調達との関係</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約102億ドル 前日の株式売り出しによる調達額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調達資金の100%をAI関連投資に充てるとされている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本調査による整理(既存テーマ2026-08-23参照)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発表までの流れ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8月6日、Wan3.0公開ベータ開始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様々な用途での活用が進む</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8月23日、約102億ドルの株式売り出し</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AI投資資金を調達(既存テーマで詳報)</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8月24日、Wan3.0正式リリース</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機能強化版として提供開始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発表までの流れ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TechNode・Reuters(2026-08-24)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今回の発表を3ステップで総括</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1. 公開ベータで実績を積む</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8月6日から様々な用途で活用</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 大型資金調達を実施</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約102億ドル</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3. 正式版としてリリース</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機能を強化して提供開始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Wan3.0でできること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できることを確認します。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文書・スプレッドシート・スライド・ウェブページから最長30秒の動画を生成できる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ショートドラマ・映画制作、広告・マーケティングなどの用途で活用されている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観光プロモーション、音楽ビデオ制作でも活用されていると報じられている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TechNode(2026-08-24)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確定していること</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正式リリース日(2026年8月24日)・公開ベータ開始日(8月6日)</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生成可能な動画の長さ(最長30秒)・入力できる素材の種類</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活用されている用途(映像制作・広告・観光・音楽ビデオ)</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第三者機関による独立したベンチマーク評価・順位</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具体的な料金体系・利用条件の詳細</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公開ベータからの期間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約18日間 公開ベータ開始から正式リリースまでの期間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8月6日から8月24日まで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本調査による整理</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Wan3.0の活用用途</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用途</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ショートドラマ・映画制作</a:t>
                      </a:r>
                    </a:p>
                  </a:txBody>
                  <a:tcPr>
                    <a:solidFill>
                      <a:srgbClr val="FFFFFF"/>
                    </a:solidFill>
                  </a:tcPr>
                </a:tc>
                <a:tc>
                  <a:txBody>
                    <a:bodyPr/>
                    <a:lstStyle/>
                    <a:p>
                      <a:pPr>
                        <a:defRPr sz="1200">
                          <a:solidFill>
                            <a:srgbClr val="2A1712"/>
                          </a:solidFill>
                          <a:latin typeface="Yu Gothic"/>
                        </a:defRPr>
                      </a:pPr>
                      <a:r>
                        <a:t>8月6日のベータ開始以降活用</a:t>
                      </a:r>
                    </a:p>
                  </a:txBody>
                  <a:tcPr>
                    <a:solidFill>
                      <a:srgbClr val="FFFFFF"/>
                    </a:solidFill>
                  </a:tcPr>
                </a:tc>
              </a:tr>
              <a:tr h="502920">
                <a:tc>
                  <a:txBody>
                    <a:bodyPr/>
                    <a:lstStyle/>
                    <a:p>
                      <a:pPr>
                        <a:defRPr sz="1200">
                          <a:solidFill>
                            <a:srgbClr val="2A1712"/>
                          </a:solidFill>
                          <a:latin typeface="Yu Gothic"/>
                        </a:defRPr>
                      </a:pPr>
                      <a:r>
                        <a:t>広告・マーケティング</a:t>
                      </a:r>
                    </a:p>
                  </a:txBody>
                  <a:tcPr>
                    <a:solidFill>
                      <a:srgbClr val="FBF3E6"/>
                    </a:solidFill>
                  </a:tcPr>
                </a:tc>
                <a:tc>
                  <a:txBody>
                    <a:bodyPr/>
                    <a:lstStyle/>
                    <a:p>
                      <a:pPr>
                        <a:defRPr sz="1200">
                          <a:solidFill>
                            <a:srgbClr val="2A1712"/>
                          </a:solidFill>
                          <a:latin typeface="Yu Gothic"/>
                        </a:defRPr>
                      </a:pPr>
                      <a:r>
                        <a:t>同上</a:t>
                      </a:r>
                    </a:p>
                  </a:txBody>
                  <a:tcPr>
                    <a:solidFill>
                      <a:srgbClr val="FBF3E6"/>
                    </a:solidFill>
                  </a:tcPr>
                </a:tc>
              </a:tr>
              <a:tr h="502920">
                <a:tc>
                  <a:txBody>
                    <a:bodyPr/>
                    <a:lstStyle/>
                    <a:p>
                      <a:pPr>
                        <a:defRPr sz="1200">
                          <a:solidFill>
                            <a:srgbClr val="2A1712"/>
                          </a:solidFill>
                          <a:latin typeface="Yu Gothic"/>
                        </a:defRPr>
                      </a:pPr>
                      <a:r>
                        <a:t>観光プロモーション</a:t>
                      </a:r>
                    </a:p>
                  </a:txBody>
                  <a:tcPr>
                    <a:solidFill>
                      <a:srgbClr val="FFFFFF"/>
                    </a:solidFill>
                  </a:tcPr>
                </a:tc>
                <a:tc>
                  <a:txBody>
                    <a:bodyPr/>
                    <a:lstStyle/>
                    <a:p>
                      <a:pPr>
                        <a:defRPr sz="1200">
                          <a:solidFill>
                            <a:srgbClr val="2A1712"/>
                          </a:solidFill>
                          <a:latin typeface="Yu Gothic"/>
                        </a:defRPr>
                      </a:pPr>
                      <a:r>
                        <a:t>同上</a:t>
                      </a:r>
                    </a:p>
                  </a:txBody>
                  <a:tcPr>
                    <a:solidFill>
                      <a:srgbClr val="FFFFFF"/>
                    </a:solidFill>
                  </a:tcPr>
                </a:tc>
              </a:tr>
              <a:tr h="502920">
                <a:tc>
                  <a:txBody>
                    <a:bodyPr/>
                    <a:lstStyle/>
                    <a:p>
                      <a:pPr>
                        <a:defRPr sz="1200">
                          <a:solidFill>
                            <a:srgbClr val="2A1712"/>
                          </a:solidFill>
                          <a:latin typeface="Yu Gothic"/>
                        </a:defRPr>
                      </a:pPr>
                      <a:r>
                        <a:t>音楽ビデオ制作</a:t>
                      </a:r>
                    </a:p>
                  </a:txBody>
                  <a:tcPr>
                    <a:solidFill>
                      <a:srgbClr val="FBF3E6"/>
                    </a:solidFill>
                  </a:tcPr>
                </a:tc>
                <a:tc>
                  <a:txBody>
                    <a:bodyPr/>
                    <a:lstStyle/>
                    <a:p>
                      <a:pPr>
                        <a:defRPr sz="1200">
                          <a:solidFill>
                            <a:srgbClr val="2A1712"/>
                          </a:solidFill>
                          <a:latin typeface="Yu Gothic"/>
                        </a:defRPr>
                      </a:pPr>
                      <a:r>
                        <a:t>同上</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TechNode(2026-08-24)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視聴者にとっての意味—AI技術動向を追う立場として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文書からの動画生成という新しいAI機能の実例を、具体的な事実とともに把握できる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大型資金調達と製品リリースのタイミングの関係を実例を通じて学べる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確定した情報と未検証のランキング等の主張を区別する視点が役立つ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第三者評価に関する矛盾について(正直な開示)</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順位・評価に関する情報を確認します。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検索結果の中には、Wan3.0が特定のベンチマークで上位に位置づけられているとする記述が複数見られた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一方で、独立したベンチマークにまだ掲載されていない、順位は未確認とする記述も見られ、情報源間で矛盾していた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本テーマでは、この矛盾を解消できなかったため、順位・ランキングに関する主張は一切採用しない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公開ベータ版 vs 正式リリース版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公開ベータ版(8月6日〜)</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様々な用途での試験的な活用</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正式リリース版(8月24日〜)</a:t>
            </a:r>
          </a:p>
        </p:txBody>
      </p:sp>
      <p:sp>
        <p:nvSpPr>
          <p:cNvPr id="14" name="Oval 13"/>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機能を強化して提供開始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第三者機関による独立したベンチマーク評価・ランキング上の順位は情報源間で矛盾があり採用しない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Wan3.0の具体的な料金体系・利用条件の詳細は確認できていない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日本語を含む多言語対応の詳細は確認できていない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主な情報源</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報道内容</a:t>
                      </a:r>
                    </a:p>
                  </a:txBody>
                  <a:tcPr>
                    <a:solidFill>
                      <a:srgbClr val="7A1F2B"/>
                    </a:solidFill>
                  </a:tcPr>
                </a:tc>
              </a:tr>
              <a:tr h="502920">
                <a:tc>
                  <a:txBody>
                    <a:bodyPr/>
                    <a:lstStyle/>
                    <a:p>
                      <a:pPr>
                        <a:defRPr sz="1200">
                          <a:solidFill>
                            <a:srgbClr val="2A1712"/>
                          </a:solidFill>
                          <a:latin typeface="Yu Gothic"/>
                        </a:defRPr>
                      </a:pPr>
                      <a:r>
                        <a:t>Reuters(2026-08-24)</a:t>
                      </a:r>
                    </a:p>
                  </a:txBody>
                  <a:tcPr>
                    <a:solidFill>
                      <a:srgbClr val="FFFFFF"/>
                    </a:solidFill>
                  </a:tcPr>
                </a:tc>
                <a:tc>
                  <a:txBody>
                    <a:bodyPr/>
                    <a:lstStyle/>
                    <a:p>
                      <a:pPr>
                        <a:defRPr sz="1200">
                          <a:solidFill>
                            <a:srgbClr val="2A1712"/>
                          </a:solidFill>
                          <a:latin typeface="Yu Gothic"/>
                        </a:defRPr>
                      </a:pPr>
                      <a:r>
                        <a:t>リリースの詳細</a:t>
                      </a:r>
                    </a:p>
                  </a:txBody>
                  <a:tcPr>
                    <a:solidFill>
                      <a:srgbClr val="FFFFFF"/>
                    </a:solidFill>
                  </a:tcPr>
                </a:tc>
              </a:tr>
              <a:tr h="502920">
                <a:tc>
                  <a:txBody>
                    <a:bodyPr/>
                    <a:lstStyle/>
                    <a:p>
                      <a:pPr>
                        <a:defRPr sz="1200">
                          <a:solidFill>
                            <a:srgbClr val="2A1712"/>
                          </a:solidFill>
                          <a:latin typeface="Yu Gothic"/>
                        </a:defRPr>
                      </a:pPr>
                      <a:r>
                        <a:t>TechNode(2026-08-24)</a:t>
                      </a:r>
                    </a:p>
                  </a:txBody>
                  <a:tcPr>
                    <a:solidFill>
                      <a:srgbClr val="FBF3E6"/>
                    </a:solidFill>
                  </a:tcPr>
                </a:tc>
                <a:tc>
                  <a:txBody>
                    <a:bodyPr/>
                    <a:lstStyle/>
                    <a:p>
                      <a:pPr>
                        <a:defRPr sz="1200">
                          <a:solidFill>
                            <a:srgbClr val="2A1712"/>
                          </a:solidFill>
                          <a:latin typeface="Yu Gothic"/>
                        </a:defRPr>
                      </a:pPr>
                      <a:r>
                        <a:t>資金調達との関係</a:t>
                      </a:r>
                    </a:p>
                  </a:txBody>
                  <a:tcPr>
                    <a:solidFill>
                      <a:srgbClr val="FBF3E6"/>
                    </a:solidFill>
                  </a:tcPr>
                </a:tc>
              </a:tr>
              <a:tr h="502920">
                <a:tc>
                  <a:txBody>
                    <a:bodyPr/>
                    <a:lstStyle/>
                    <a:p>
                      <a:pPr>
                        <a:defRPr sz="1200">
                          <a:solidFill>
                            <a:srgbClr val="2A1712"/>
                          </a:solidFill>
                          <a:latin typeface="Yu Gothic"/>
                        </a:defRPr>
                      </a:pPr>
                      <a:r>
                        <a:t>Yahoo Finance(2026-08-24)</a:t>
                      </a:r>
                    </a:p>
                  </a:txBody>
                  <a:tcPr>
                    <a:solidFill>
                      <a:srgbClr val="FFFFFF"/>
                    </a:solidFill>
                  </a:tcPr>
                </a:tc>
                <a:tc>
                  <a:txBody>
                    <a:bodyPr/>
                    <a:lstStyle/>
                    <a:p>
                      <a:pPr>
                        <a:defRPr sz="1200">
                          <a:solidFill>
                            <a:srgbClr val="2A1712"/>
                          </a:solidFill>
                          <a:latin typeface="Yu Gothic"/>
                        </a:defRPr>
                      </a:pPr>
                      <a:r>
                        <a:t>財務状況との関連</a:t>
                      </a:r>
                    </a:p>
                  </a:txBody>
                  <a:tcPr>
                    <a:solidFill>
                      <a:srgbClr val="FFFFFF"/>
                    </a:solidFill>
                  </a:tcPr>
                </a:tc>
              </a:tr>
              <a:tr h="502920">
                <a:tc>
                  <a:txBody>
                    <a:bodyPr/>
                    <a:lstStyle/>
                    <a:p>
                      <a:pPr>
                        <a:defRPr sz="1200">
                          <a:solidFill>
                            <a:srgbClr val="2A1712"/>
                          </a:solidFill>
                          <a:latin typeface="Yu Gothic"/>
                        </a:defRPr>
                      </a:pPr>
                      <a:r>
                        <a:t>The Express Tribune(2026-08-24)</a:t>
                      </a:r>
                    </a:p>
                  </a:txBody>
                  <a:tcPr>
                    <a:solidFill>
                      <a:srgbClr val="FBF3E6"/>
                    </a:solidFill>
                  </a:tcPr>
                </a:tc>
                <a:tc>
                  <a:txBody>
                    <a:bodyPr/>
                    <a:lstStyle/>
                    <a:p>
                      <a:pPr>
                        <a:defRPr sz="1200">
                          <a:solidFill>
                            <a:srgbClr val="2A1712"/>
                          </a:solidFill>
                          <a:latin typeface="Yu Gothic"/>
                        </a:defRPr>
                      </a:pPr>
                      <a:r>
                        <a:t>活用用途の詳細</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AI技術動向を追う立場として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文書からの動画生成という新機能を具体的な事実とともに把握できる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コンテンツ制作に関心がある立場として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映像制作・広告等での活用事例を実例を通じて学べる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確定情報と未検証の主張を区別する視点が役立つ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前週の財務状況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前年比75%減 アリババが前週報告した四半期利益の減少幅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AI関連の設備投資増加が理由とされている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 Finance(2026-08-24)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「フルスタックAI能力」という投資方針について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投資方針を確認します。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アリババは調達資金の100%を「フルスタックAI能力」に投じるとしている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この範囲にはチップ・インフラ・モデルの開発と実装が含まれるとされている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Wan3.0はこの投資方針のもとで開発・提供されているモデルの一つと位置づけられる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入力できる素材の種類</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4種類 文書・スプレッドシート・スライド・ウェブページ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これらから最長30秒の動画を生成できる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TechNode(2026-08-24)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Wan3.0情報まとめ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正式リリース日</a:t>
                      </a:r>
                    </a:p>
                  </a:txBody>
                  <a:tcPr>
                    <a:solidFill>
                      <a:srgbClr val="FFFFFF"/>
                    </a:solidFill>
                  </a:tcPr>
                </a:tc>
                <a:tc>
                  <a:txBody>
                    <a:bodyPr/>
                    <a:lstStyle/>
                    <a:p>
                      <a:pPr>
                        <a:defRPr sz="1200">
                          <a:solidFill>
                            <a:srgbClr val="2A1712"/>
                          </a:solidFill>
                          <a:latin typeface="Yu Gothic"/>
                        </a:defRPr>
                      </a:pPr>
                      <a:r>
                        <a:t>2026年8月24日</a:t>
                      </a:r>
                    </a:p>
                  </a:txBody>
                  <a:tcPr>
                    <a:solidFill>
                      <a:srgbClr val="FFFFFF"/>
                    </a:solidFill>
                  </a:tcPr>
                </a:tc>
              </a:tr>
              <a:tr h="502920">
                <a:tc>
                  <a:txBody>
                    <a:bodyPr/>
                    <a:lstStyle/>
                    <a:p>
                      <a:pPr>
                        <a:defRPr sz="1200">
                          <a:solidFill>
                            <a:srgbClr val="2A1712"/>
                          </a:solidFill>
                          <a:latin typeface="Yu Gothic"/>
                        </a:defRPr>
                      </a:pPr>
                      <a:r>
                        <a:t>生成可能な動画の長さ</a:t>
                      </a:r>
                    </a:p>
                  </a:txBody>
                  <a:tcPr>
                    <a:solidFill>
                      <a:srgbClr val="FBF3E6"/>
                    </a:solidFill>
                  </a:tcPr>
                </a:tc>
                <a:tc>
                  <a:txBody>
                    <a:bodyPr/>
                    <a:lstStyle/>
                    <a:p>
                      <a:pPr>
                        <a:defRPr sz="1200">
                          <a:solidFill>
                            <a:srgbClr val="2A1712"/>
                          </a:solidFill>
                          <a:latin typeface="Yu Gothic"/>
                        </a:defRPr>
                      </a:pPr>
                      <a:r>
                        <a:t>最長30秒</a:t>
                      </a:r>
                    </a:p>
                  </a:txBody>
                  <a:tcPr>
                    <a:solidFill>
                      <a:srgbClr val="FBF3E6"/>
                    </a:solidFill>
                  </a:tcPr>
                </a:tc>
              </a:tr>
              <a:tr h="502920">
                <a:tc>
                  <a:txBody>
                    <a:bodyPr/>
                    <a:lstStyle/>
                    <a:p>
                      <a:pPr>
                        <a:defRPr sz="1200">
                          <a:solidFill>
                            <a:srgbClr val="2A1712"/>
                          </a:solidFill>
                          <a:latin typeface="Yu Gothic"/>
                        </a:defRPr>
                      </a:pPr>
                      <a:r>
                        <a:t>入力素材の種類</a:t>
                      </a:r>
                    </a:p>
                  </a:txBody>
                  <a:tcPr>
                    <a:solidFill>
                      <a:srgbClr val="FFFFFF"/>
                    </a:solidFill>
                  </a:tcPr>
                </a:tc>
                <a:tc>
                  <a:txBody>
                    <a:bodyPr/>
                    <a:lstStyle/>
                    <a:p>
                      <a:pPr>
                        <a:defRPr sz="1200">
                          <a:solidFill>
                            <a:srgbClr val="2A1712"/>
                          </a:solidFill>
                          <a:latin typeface="Yu Gothic"/>
                        </a:defRPr>
                      </a:pPr>
                      <a:r>
                        <a:t>文書・表計算・スライド・ウェブページ</a:t>
                      </a:r>
                    </a:p>
                  </a:txBody>
                  <a:tcPr>
                    <a:solidFill>
                      <a:srgbClr val="FFFFFF"/>
                    </a:solidFill>
                  </a:tcPr>
                </a:tc>
              </a:tr>
              <a:tr h="502920">
                <a:tc>
                  <a:txBody>
                    <a:bodyPr/>
                    <a:lstStyle/>
                    <a:p>
                      <a:pPr>
                        <a:defRPr sz="1200">
                          <a:solidFill>
                            <a:srgbClr val="2A1712"/>
                          </a:solidFill>
                          <a:latin typeface="Yu Gothic"/>
                        </a:defRPr>
                      </a:pPr>
                      <a:r>
                        <a:t>第三者評価</a:t>
                      </a:r>
                    </a:p>
                  </a:txBody>
                  <a:tcPr>
                    <a:solidFill>
                      <a:srgbClr val="FBF3E6"/>
                    </a:solidFill>
                  </a:tcPr>
                </a:tc>
                <a:tc>
                  <a:txBody>
                    <a:bodyPr/>
                    <a:lstStyle/>
                    <a:p>
                      <a:pPr>
                        <a:defRPr sz="1200">
                          <a:solidFill>
                            <a:srgbClr val="2A1712"/>
                          </a:solidFill>
                          <a:latin typeface="Yu Gothic"/>
                        </a:defRPr>
                      </a:pPr>
                      <a:r>
                        <a:t>情報源間で矛盾があり未採用</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調達資金の投資比率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100% 調達資金のうちAI関連投資に充てるとされる割合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チップ・インフラ・モデル開発を含む「フルスタックAI能力」に投じる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本調査による整理(既存テーマ2026-08-23参照)</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7A1F2B"/>
                    </a:solidFill>
                  </a:tcPr>
                </a:tc>
                <a:tc>
                  <a:txBody>
                    <a:bodyPr/>
                    <a:lstStyle/>
                    <a:p>
                      <a:pPr>
                        <a:defRPr sz="1300" b="1">
                          <a:solidFill>
                            <a:srgbClr val="FFFFFF"/>
                          </a:solidFill>
                          <a:latin typeface="Yu Gothic"/>
                        </a:defRPr>
                      </a:pPr>
                      <a:r>
                        <a:t>メディア</a:t>
                      </a:r>
                    </a:p>
                  </a:txBody>
                  <a:tcPr>
                    <a:solidFill>
                      <a:srgbClr val="7A1F2B"/>
                    </a:solidFill>
                  </a:tcPr>
                </a:tc>
              </a:tr>
              <a:tr h="502920">
                <a:tc>
                  <a:txBody>
                    <a:bodyPr/>
                    <a:lstStyle/>
                    <a:p>
                      <a:pPr>
                        <a:defRPr sz="1200">
                          <a:solidFill>
                            <a:srgbClr val="2A1712"/>
                          </a:solidFill>
                          <a:latin typeface="Yu Gothic"/>
                        </a:defRPr>
                      </a:pPr>
                      <a:r>
                        <a:t>2026年8月6日</a:t>
                      </a:r>
                    </a:p>
                  </a:txBody>
                  <a:tcPr>
                    <a:solidFill>
                      <a:srgbClr val="FFFFFF"/>
                    </a:solidFill>
                  </a:tcPr>
                </a:tc>
                <a:tc>
                  <a:txBody>
                    <a:bodyPr/>
                    <a:lstStyle/>
                    <a:p>
                      <a:pPr>
                        <a:defRPr sz="1200">
                          <a:solidFill>
                            <a:srgbClr val="2A1712"/>
                          </a:solidFill>
                          <a:latin typeface="Yu Gothic"/>
                        </a:defRPr>
                      </a:pPr>
                      <a:r>
                        <a:t>公開ベータ開始(各種報道)</a:t>
                      </a:r>
                    </a:p>
                  </a:txBody>
                  <a:tcPr>
                    <a:solidFill>
                      <a:srgbClr val="FFFFFF"/>
                    </a:solidFill>
                  </a:tcPr>
                </a:tc>
              </a:tr>
              <a:tr h="502920">
                <a:tc>
                  <a:txBody>
                    <a:bodyPr/>
                    <a:lstStyle/>
                    <a:p>
                      <a:pPr>
                        <a:defRPr sz="1200">
                          <a:solidFill>
                            <a:srgbClr val="2A1712"/>
                          </a:solidFill>
                          <a:latin typeface="Yu Gothic"/>
                        </a:defRPr>
                      </a:pPr>
                      <a:r>
                        <a:t>2026年8月23日</a:t>
                      </a:r>
                    </a:p>
                  </a:txBody>
                  <a:tcPr>
                    <a:solidFill>
                      <a:srgbClr val="FBF3E6"/>
                    </a:solidFill>
                  </a:tcPr>
                </a:tc>
                <a:tc>
                  <a:txBody>
                    <a:bodyPr/>
                    <a:lstStyle/>
                    <a:p>
                      <a:pPr>
                        <a:defRPr sz="1200">
                          <a:solidFill>
                            <a:srgbClr val="2A1712"/>
                          </a:solidFill>
                          <a:latin typeface="Yu Gothic"/>
                        </a:defRPr>
                      </a:pPr>
                      <a:r>
                        <a:t>株式売り出しの発表(既存テーマ参照)</a:t>
                      </a:r>
                    </a:p>
                  </a:txBody>
                  <a:tcPr>
                    <a:solidFill>
                      <a:srgbClr val="FBF3E6"/>
                    </a:solidFill>
                  </a:tcPr>
                </a:tc>
              </a:tr>
              <a:tr h="502920">
                <a:tc>
                  <a:txBody>
                    <a:bodyPr/>
                    <a:lstStyle/>
                    <a:p>
                      <a:pPr>
                        <a:defRPr sz="1200">
                          <a:solidFill>
                            <a:srgbClr val="2A1712"/>
                          </a:solidFill>
                          <a:latin typeface="Yu Gothic"/>
                        </a:defRPr>
                      </a:pPr>
                      <a:r>
                        <a:t>2026年8月24日</a:t>
                      </a:r>
                    </a:p>
                  </a:txBody>
                  <a:tcPr>
                    <a:solidFill>
                      <a:srgbClr val="FFFFFF"/>
                    </a:solidFill>
                  </a:tcPr>
                </a:tc>
                <a:tc>
                  <a:txBody>
                    <a:bodyPr/>
                    <a:lstStyle/>
                    <a:p>
                      <a:pPr>
                        <a:defRPr sz="1200">
                          <a:solidFill>
                            <a:srgbClr val="2A1712"/>
                          </a:solidFill>
                          <a:latin typeface="Yu Gothic"/>
                        </a:defRPr>
                      </a:pPr>
                      <a:r>
                        <a:t>Wan3.0正式リリース(Reuters・TechNode等)</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アリババのAIモデル開発の位置づけ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Wanシリーズ アリババが継続開発するAI動画生成モデル群の名称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Wan3.0はその最新版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本調査による整理</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一般的なAI動画モデルの発表 vs 今回のWan3.0</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一般的なAI動画モデルの発表</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単独の製品発表として行われることが多い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今回のWan3.0</a:t>
            </a:r>
          </a:p>
        </p:txBody>
      </p:sp>
      <p:sp>
        <p:nvSpPr>
          <p:cNvPr id="14" name="Oval 13"/>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大型資金調達の翌日という発表タイミング</a:t>
            </a:r>
          </a:p>
        </p:txBody>
      </p:sp>
      <p:sp>
        <p:nvSpPr>
          <p:cNvPr id="16" name="Oval 15"/>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文書からの動画生成という実用的な新機能</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今後注目される点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第三者機関による独立したベンチマーク評価が今後公開されるかどうかに注目が集まる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調達資金がどのようにAI関連投資に配分されていくかも注目点である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具体的な今後の業績予測は本テーマの範囲では断定せず、確認できた事実にとどめる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本編のまとめです。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アリババが2026年8月24日、AI動画生成モデル「Wan3.0」を正式リリースした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文書・スプレッドシート・スライド・ウェブページから最長30秒の動画を生成できる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約102億ドルの株式売り出しの翌日という発表タイミングだった</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第三者評価については情報源間で矛盾があり、本テーマでは一切採用していない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Reuters・TechNode等(2026-08-24)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アリババ、AI動画生成モデル「Wan3.0」正式リリース。</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アリババが、文書から動画を生成できるWan3.0を正式リリースしました。大型資金調達の翌日という発表タイミングを、出典付きで整理してお届けしました。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