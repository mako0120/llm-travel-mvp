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8日、OpenAIがAIプレゼン生成スタートアップNextSlideを買収したとTechCrunchが報じました。NextSlideのチームは丸ごと、ChatGPTの開発チームへ統合されます。プロンプトやメモから資料を自動生成するツールを作っていた会社が、AI業界最大手にまるごと買収された、という話です。今日はこの経緯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まず結論です。買収の金額は非公開でした。OpenAIの小規模な買収ではよくあることだと報じられています。人数や統合スケジュールも公開されていません。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1日前の新しい報道であること、そして何より、AIで資料を作るという行為そのものを扱う会社が買収された、という自己言及的な面白さがあります。実は、この動画を作っている私たち自身の仕組みも、プロンプトから資料を自動生成するという点でNextSlideと近い作業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Slideは、プロンプトやメモ、文書、リサーチ資料を、そのまま編集可能なプレゼン資料に変換するAIツールを作っていた会社です。デザインの知識がなくても資料が作れる、という点を売りに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時系列で整理するとこうなります。買収自体は2026年初めに成立していたとされますが、公表は数か月遅れて8月7日から8日にかけて行われました。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複数の独立したメディアが同じ内容を報じています。一次報道はTechCrunchで、他メディアはその内容を裏付ける形で報じています。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もう一つの注目点は、買収が成立してから公表されるまで数か月かかったとされていることです。正確な成立日は非公開です。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ここで一度、用語を整理します。今回の買収は、製品をそのまま存続させるというより、チームをChatGPT開発チームに統合するという形です。人材獲得を主目的とした買収と位置づけられます。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構造を図にするとこうなります。NextSlideという会社があり、OpenAIがそれを買収し、チームはChatGPTの開発チームに統合されました。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買収前と買収後を比べると、独立した会社から、ChatGPT開発チームの一部へと立場が変わったことが分かります。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ここで創業者の経歴に触れる数字を紹介します。Ahmed Beshry氏の前職Caper AIは、2021年にInstacartへ3.5億ドルで売却されました。あくまで前職の金額であり、今回のNextSlide買収額とは別です。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経歴を整理するとこの4つの節目があります。スマートカート事業の売却経験を持つ起業家が、次にAIプレゼン生成という領域で会社を立ち上げ、今回OpenAIに迎えられた形です。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製品の入力と出力を整理するとこうなります。文章やメモを渡すと、編集可能なプレゼン資料として出力する、という仕組みです。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もう一つ注目したい数字です。NextSlideは創業から1年強という短期間で、今回の買収公表を迎えました。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AIプレゼン生成の領域には、すでに複数のプレイヤーがいます。Microsoft・Google・Canvaといった大手のAI機能に加え、Gammaのような独立系のツールも存在します。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市場の規模感をつかむための参考として、競合とされるGammaの数字を紹介します。NextSlideとは別の会社ですが、同じ領域でこれだけの規模のツールが存在するということです。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2社を並べると、公開されている情報量に大きな差があることが分かります。NextSlideの数字の多くは非公開のままです。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ここで一度、確認できなかったことを一覧にします。金額、人数、統合スケジュール、資金調達履歴、正確な成立日、いずれも非公開または未確認です。数字を作らず、正直に不明として扱います。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ここからは実践的な視点です。現時点で具体的な新機能は発表されていません。ChatGPTユーザーが今すぐ何かをする必要がある話ではないという点は押さえておきたいです。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この図はあくまで推測です。複数メディアが、ChatGPTがテキスト対話から、資料作成を含むより幅広い業務ツールへ広がっていく可能性を指摘していますが、公式な発表ではありません。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分かっていることと、まだ分からないことを分けます。両社がどう住み分けるかは、複数メディアの分析による推測の域を出ません。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情報源の性質を確認します。企業の自社発表そのものではなく、複数の報道機関の記事を突き合わせて整理しています。非公開の情報を推測で埋めることはしていません。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誇張しないための整理です。今回の買収でOpenAIがプレゼン資料市場を一気に制するとは断定できません。既存の競合ツールは引き続き存在しています。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タイトルは注目を集める表現を使っていますが、本文の中身は事実と推測を分けて、誇張せずに整理しています。特定の企業や製品を強く推す結論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最後にもう一度確認します。2026年8月8日、OpenAIがNextSlideを買収し、チーム全員をChatGPT開発チームへ統合したと報じられました。金額・人数・スケジュールは非公開です。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によるNextSlide買収と、そのチームがChatGPTに統合されたこと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AIで資料を作るAIが、</a:t>
            </a:r>
          </a:p>
          <a:p>
            <a:pPr algn="l">
              <a:lnSpc>
                <a:spcPct val="115000"/>
              </a:lnSpc>
            </a:pPr>
            <a:r>
              <a:rPr sz="4200" b="1">
                <a:solidFill>
                  <a:srgbClr val="FFFFFF"/>
                </a:solidFill>
                <a:latin typeface="Yu Gothic"/>
              </a:rPr>
              <a:t>AI業界最大手に丸ごと買収された。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OpenAI、プレゼン自動生成スタートアップ「NextSlide」を買収。チーム全員をChatGPT開発チームへ統合(2026年8月8日発表)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TechCrunch(2026-08-08)ほか。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今回の買収額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非公開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OpenAIの小規模買収では一般的な扱いとされる。チームの人数・統合スケジュールも非公開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 / Yahoo Finance(2026-08-08)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NextSlideとはどんな会社・製品だったのか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買収の時系列: いつ成立し、いつ公表されたのか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創業者Ahmed Beshry氏の経歴と、過去の売却実績</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AIプレゼン生成市場の規模感(競合ツールとの比較)</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この買収がChatGPT・業界にとって何を意味するか(推測は推測と明記)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報道は2026年8月8日。着手日から見て1日前の、鮮度の高いニュース</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「AIで資料を自動生成するツール」が「AI業界最大手」に買収された、という構図そのものが話題性を持つ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本パイプライン(AI Company OS)自身もAIでプレゼン資料を自動生成しており、他人事ではないテーマ</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既存の類似テーマ(AIプレゼン市場全般の調査)とは主題が異なり、重複しない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NextSlideとはどんな会社だったのか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買収された側の製品を確認します。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プロンプト・メモ・文書・リサーチ資料を、編集可能な体裁の整ったプレゼン資料に変換するAIツール</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デザインスキルや手作業のレイアウト調整がなくても資料を作れる、という訴求</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創業からおよそ1年強で、今回の公表を迎えたとされる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創業者はAhmed Beshry氏</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 / Unite.AI(2026-08-08)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買収の時系列(判明している範囲)</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2026年初め</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買収そのものが成立(正確な日付は非公開)</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その後数か月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非公開のまま、NextSlideのチームがOpenAIで活動</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2026/8/7〜8</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LinkedIn・NextSlide公式サイトで公表</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2026/8/8</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TechCrunchが報道、他メディアも追随</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この買収を報じたメディア(一部)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確認できる内容</a:t>
                      </a:r>
                    </a:p>
                  </a:txBody>
                  <a:tcPr>
                    <a:solidFill>
                      <a:srgbClr val="3A4750"/>
                    </a:solidFill>
                  </a:tcPr>
                </a:tc>
              </a:tr>
              <a:tr h="502920">
                <a:tc>
                  <a:txBody>
                    <a:bodyPr/>
                    <a:lstStyle/>
                    <a:p>
                      <a:pPr>
                        <a:defRPr sz="1200">
                          <a:solidFill>
                            <a:srgbClr val="1E2124"/>
                          </a:solidFill>
                          <a:latin typeface="Yu Gothic"/>
                        </a:defRPr>
                      </a:pPr>
                      <a:r>
                        <a:t>TechCrunch(2026-08-08)</a:t>
                      </a:r>
                    </a:p>
                  </a:txBody>
                  <a:tcPr>
                    <a:solidFill>
                      <a:srgbClr val="FFFFFF"/>
                    </a:solidFill>
                  </a:tcPr>
                </a:tc>
                <a:tc>
                  <a:txBody>
                    <a:bodyPr/>
                    <a:lstStyle/>
                    <a:p>
                      <a:pPr>
                        <a:defRPr sz="1200">
                          <a:solidFill>
                            <a:srgbClr val="1E2124"/>
                          </a:solidFill>
                          <a:latin typeface="Yu Gothic"/>
                        </a:defRPr>
                      </a:pPr>
                      <a:r>
                        <a:t>買収の一次報道、製品概要、チーム統合の事実</a:t>
                      </a:r>
                    </a:p>
                  </a:txBody>
                  <a:tcPr>
                    <a:solidFill>
                      <a:srgbClr val="FFFFFF"/>
                    </a:solidFill>
                  </a:tcPr>
                </a:tc>
              </a:tr>
              <a:tr h="502920">
                <a:tc>
                  <a:txBody>
                    <a:bodyPr/>
                    <a:lstStyle/>
                    <a:p>
                      <a:pPr>
                        <a:defRPr sz="1200">
                          <a:solidFill>
                            <a:srgbClr val="1E2124"/>
                          </a:solidFill>
                          <a:latin typeface="Yu Gothic"/>
                        </a:defRPr>
                      </a:pPr>
                      <a:r>
                        <a:t>Yahoo Finance</a:t>
                      </a:r>
                    </a:p>
                  </a:txBody>
                  <a:tcPr>
                    <a:solidFill>
                      <a:srgbClr val="F7F4EF"/>
                    </a:solidFill>
                  </a:tcPr>
                </a:tc>
                <a:tc>
                  <a:txBody>
                    <a:bodyPr/>
                    <a:lstStyle/>
                    <a:p>
                      <a:pPr>
                        <a:defRPr sz="1200">
                          <a:solidFill>
                            <a:srgbClr val="1E2124"/>
                          </a:solidFill>
                          <a:latin typeface="Yu Gothic"/>
                        </a:defRPr>
                      </a:pPr>
                      <a:r>
                        <a:t>金額非公開である旨を確認</a:t>
                      </a:r>
                    </a:p>
                  </a:txBody>
                  <a:tcPr>
                    <a:solidFill>
                      <a:srgbClr val="F7F4EF"/>
                    </a:solidFill>
                  </a:tcPr>
                </a:tc>
              </a:tr>
              <a:tr h="502920">
                <a:tc>
                  <a:txBody>
                    <a:bodyPr/>
                    <a:lstStyle/>
                    <a:p>
                      <a:pPr>
                        <a:defRPr sz="1200">
                          <a:solidFill>
                            <a:srgbClr val="1E2124"/>
                          </a:solidFill>
                          <a:latin typeface="Yu Gothic"/>
                        </a:defRPr>
                      </a:pPr>
                      <a:r>
                        <a:t>Unite.AI</a:t>
                      </a:r>
                    </a:p>
                  </a:txBody>
                  <a:tcPr>
                    <a:solidFill>
                      <a:srgbClr val="FFFFFF"/>
                    </a:solidFill>
                  </a:tcPr>
                </a:tc>
                <a:tc>
                  <a:txBody>
                    <a:bodyPr/>
                    <a:lstStyle/>
                    <a:p>
                      <a:pPr>
                        <a:defRPr sz="1200">
                          <a:solidFill>
                            <a:srgbClr val="1E2124"/>
                          </a:solidFill>
                          <a:latin typeface="Yu Gothic"/>
                        </a:defRPr>
                      </a:pPr>
                      <a:r>
                        <a:t>創業者の経歴、製品の詳細</a:t>
                      </a:r>
                    </a:p>
                  </a:txBody>
                  <a:tcPr>
                    <a:solidFill>
                      <a:srgbClr val="FFFFFF"/>
                    </a:solidFill>
                  </a:tcPr>
                </a:tc>
              </a:tr>
              <a:tr h="502920">
                <a:tc>
                  <a:txBody>
                    <a:bodyPr/>
                    <a:lstStyle/>
                    <a:p>
                      <a:pPr>
                        <a:defRPr sz="1200">
                          <a:solidFill>
                            <a:srgbClr val="1E2124"/>
                          </a:solidFill>
                          <a:latin typeface="Yu Gothic"/>
                        </a:defRPr>
                      </a:pPr>
                      <a:r>
                        <a:t>BigGo Finance</a:t>
                      </a:r>
                    </a:p>
                  </a:txBody>
                  <a:tcPr>
                    <a:solidFill>
                      <a:srgbClr val="F7F4EF"/>
                    </a:solidFill>
                  </a:tcPr>
                </a:tc>
                <a:tc>
                  <a:txBody>
                    <a:bodyPr/>
                    <a:lstStyle/>
                    <a:p>
                      <a:pPr>
                        <a:defRPr sz="1200">
                          <a:solidFill>
                            <a:srgbClr val="1E2124"/>
                          </a:solidFill>
                          <a:latin typeface="Yu Gothic"/>
                        </a:defRPr>
                      </a:pPr>
                      <a:r>
                        <a:t>戦略的な位置づけの分析</a:t>
                      </a:r>
                    </a:p>
                  </a:txBody>
                  <a:tcPr>
                    <a:solidFill>
                      <a:srgbClr val="F7F4EF"/>
                    </a:solidFill>
                  </a:tcPr>
                </a:tc>
              </a:tr>
              <a:tr h="502920">
                <a:tc>
                  <a:txBody>
                    <a:bodyPr/>
                    <a:lstStyle/>
                    <a:p>
                      <a:pPr>
                        <a:defRPr sz="1200">
                          <a:solidFill>
                            <a:srgbClr val="1E2124"/>
                          </a:solidFill>
                          <a:latin typeface="Yu Gothic"/>
                        </a:defRPr>
                      </a:pPr>
                      <a:r>
                        <a:t>CryptoBriefing</a:t>
                      </a:r>
                    </a:p>
                  </a:txBody>
                  <a:tcPr>
                    <a:solidFill>
                      <a:srgbClr val="FFFFFF"/>
                    </a:solidFill>
                  </a:tcPr>
                </a:tc>
                <a:tc>
                  <a:txBody>
                    <a:bodyPr/>
                    <a:lstStyle/>
                    <a:p>
                      <a:pPr>
                        <a:defRPr sz="1200">
                          <a:solidFill>
                            <a:srgbClr val="1E2124"/>
                          </a:solidFill>
                          <a:latin typeface="Yu Gothic"/>
                        </a:defRPr>
                      </a:pPr>
                      <a:r>
                        <a:t>同内容の要約報道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公表までのタイムラグ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数か月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買収の成立(2026年初め)から公表(2026年8月7〜8日)までの期間として報じられている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 / Unite.AI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用語解説: 「アクイハイア」的な買収とは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本題に入る前に、買収の性質を整理します。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今回はNextSlideの製品自体を存続させるのではなく、チームをChatGPT開発チームへ統合する形</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スタートアップ買収には、事業(プロダクト)目的とチーム(人材)目的の両方があるが、今回はチーム統合が明確</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買収金額が非公開であることは、上場していない小規模スタートアップの買収では珍しくない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「フロンティアAI企業」による人材獲得目的の買収は、業界内でしばしば見られる動き</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買収の構造(概念図)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NextSlide</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プレゼン自動生成AIを開発するスタートアップ</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OpenAI</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2026年初めに買収</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ChatGPT開発チーム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NextSlideチーム全員が統合</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NextSlideという独立した製品・会社としての活動は、この統合により終了したとみられる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買収前 / 買収後のNextSlide</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買収前</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独立したスタートアップとして製品を提供</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創業者Ahmed Beshry氏が経営</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プレゼン生成ツール単体で展開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買収後(現在)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OpenAIの傘下でChatGPT開発チームに統合</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チーム全員がChatGPT関連の開発に従事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NextSlide単体としての新規展開は確認できていない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創業者Ahmed Beshry氏の前職の売却額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前職Caper AI(スマートカート・キャッシャーレス決済)が2021年にInstacartへ売却された金額(NextSlide自体の買収額とは別)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TechCrunch(2021-10-19) / Yahoo Finance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Ahmed Beshry氏の経歴</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Caper AI 共同創業</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スマートカート・キャッシャーレス決済のスタートアップ</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Instacartへ売却(2021)</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売却額3.5億ドルと報じられている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NextSlide創業</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AIプレゼン生成スタートアップを新たに立ち上げ</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OpenAIへ(2026)</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チームごとChatGPT開発チームに統合</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 / Unite.AI / BigGo Finance</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NextSlideの製品概要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入力</a:t>
                      </a:r>
                    </a:p>
                  </a:txBody>
                  <a:tcPr>
                    <a:solidFill>
                      <a:srgbClr val="3A4750"/>
                    </a:solidFill>
                  </a:tcPr>
                </a:tc>
                <a:tc>
                  <a:txBody>
                    <a:bodyPr/>
                    <a:lstStyle/>
                    <a:p>
                      <a:pPr>
                        <a:defRPr sz="1300" b="1">
                          <a:solidFill>
                            <a:srgbClr val="FFFFFF"/>
                          </a:solidFill>
                          <a:latin typeface="Yu Gothic"/>
                        </a:defRPr>
                      </a:pPr>
                      <a:r>
                        <a:t>出力</a:t>
                      </a:r>
                    </a:p>
                  </a:txBody>
                  <a:tcPr>
                    <a:solidFill>
                      <a:srgbClr val="3A4750"/>
                    </a:solidFill>
                  </a:tcPr>
                </a:tc>
              </a:tr>
              <a:tr h="502920">
                <a:tc>
                  <a:txBody>
                    <a:bodyPr/>
                    <a:lstStyle/>
                    <a:p>
                      <a:pPr>
                        <a:defRPr sz="1200">
                          <a:solidFill>
                            <a:srgbClr val="1E2124"/>
                          </a:solidFill>
                          <a:latin typeface="Yu Gothic"/>
                        </a:defRPr>
                      </a:pPr>
                      <a:r>
                        <a:t>プロンプト(文章での指示)</a:t>
                      </a:r>
                    </a:p>
                  </a:txBody>
                  <a:tcPr>
                    <a:solidFill>
                      <a:srgbClr val="FFFFFF"/>
                    </a:solidFill>
                  </a:tcPr>
                </a:tc>
                <a:tc>
                  <a:txBody>
                    <a:bodyPr/>
                    <a:lstStyle/>
                    <a:p>
                      <a:pPr>
                        <a:defRPr sz="1200">
                          <a:solidFill>
                            <a:srgbClr val="1E2124"/>
                          </a:solidFill>
                          <a:latin typeface="Yu Gothic"/>
                        </a:defRPr>
                      </a:pPr>
                      <a:r>
                        <a:t>編集可能なプレゼン資料</a:t>
                      </a:r>
                    </a:p>
                  </a:txBody>
                  <a:tcPr>
                    <a:solidFill>
                      <a:srgbClr val="FFFFFF"/>
                    </a:solidFill>
                  </a:tcPr>
                </a:tc>
              </a:tr>
              <a:tr h="502920">
                <a:tc>
                  <a:txBody>
                    <a:bodyPr/>
                    <a:lstStyle/>
                    <a:p>
                      <a:pPr>
                        <a:defRPr sz="1200">
                          <a:solidFill>
                            <a:srgbClr val="1E2124"/>
                          </a:solidFill>
                          <a:latin typeface="Yu Gothic"/>
                        </a:defRPr>
                      </a:pPr>
                      <a:r>
                        <a:t>メモ・箇条書き</a:t>
                      </a:r>
                    </a:p>
                  </a:txBody>
                  <a:tcPr>
                    <a:solidFill>
                      <a:srgbClr val="F7F4EF"/>
                    </a:solidFill>
                  </a:tcPr>
                </a:tc>
                <a:tc>
                  <a:txBody>
                    <a:bodyPr/>
                    <a:lstStyle/>
                    <a:p>
                      <a:pPr>
                        <a:defRPr sz="1200">
                          <a:solidFill>
                            <a:srgbClr val="1E2124"/>
                          </a:solidFill>
                          <a:latin typeface="Yu Gothic"/>
                        </a:defRPr>
                      </a:pPr>
                      <a:r>
                        <a:t>体裁の整ったスライド構成</a:t>
                      </a:r>
                    </a:p>
                  </a:txBody>
                  <a:tcPr>
                    <a:solidFill>
                      <a:srgbClr val="F7F4EF"/>
                    </a:solidFill>
                  </a:tcPr>
                </a:tc>
              </a:tr>
              <a:tr h="502920">
                <a:tc>
                  <a:txBody>
                    <a:bodyPr/>
                    <a:lstStyle/>
                    <a:p>
                      <a:pPr>
                        <a:defRPr sz="1200">
                          <a:solidFill>
                            <a:srgbClr val="1E2124"/>
                          </a:solidFill>
                          <a:latin typeface="Yu Gothic"/>
                        </a:defRPr>
                      </a:pPr>
                      <a:r>
                        <a:t>文書・リサーチ資料</a:t>
                      </a:r>
                    </a:p>
                  </a:txBody>
                  <a:tcPr>
                    <a:solidFill>
                      <a:srgbClr val="FFFFFF"/>
                    </a:solidFill>
                  </a:tcPr>
                </a:tc>
                <a:tc>
                  <a:txBody>
                    <a:bodyPr/>
                    <a:lstStyle/>
                    <a:p>
                      <a:pPr>
                        <a:defRPr sz="1200">
                          <a:solidFill>
                            <a:srgbClr val="1E2124"/>
                          </a:solidFill>
                          <a:latin typeface="Yu Gothic"/>
                        </a:defRPr>
                      </a:pPr>
                      <a:r>
                        <a:t>資料としてまとめ直したスライド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 / Unite.AI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NextSlideの創業から買収公表までの期間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約1年強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設立からおよそ1年強で、買収が公表される展開となった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Unite.AI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同じ領域の主なプレイヤー(参考)</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A</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Microsoft PowerPoint</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Copilotが法人向けサブスクリプションでプレゼン自動生成に対応</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B</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Google Slides</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AI機能によるスライド生成に対応</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C</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Canva</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AIによるデザイン生成機能を提供</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D</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Gamma(独立系)</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NextSlideとは別会社。テキストからプレゼン等を生成する独立系AIツール</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TechBuzz.ai要約(2026-08-08)</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参考: Gammaの利用者数(NextSlideとは別会社)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7,000万人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2025年11月時点で報じられた利用者数。評価額は21億ドルとされる(NextSlide自体の数値ではない、市場規模の参考値)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TechCrunch(2025-11-10)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NextSlideとGamma、分かっている範囲の違い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会社としての現状</a:t>
                      </a:r>
                    </a:p>
                  </a:txBody>
                  <a:tcPr>
                    <a:solidFill>
                      <a:srgbClr val="FFFFFF"/>
                    </a:solidFill>
                  </a:tcPr>
                </a:tc>
                <a:tc>
                  <a:txBody>
                    <a:bodyPr/>
                    <a:lstStyle/>
                    <a:p>
                      <a:pPr>
                        <a:defRPr sz="1200">
                          <a:solidFill>
                            <a:srgbClr val="1E2124"/>
                          </a:solidFill>
                          <a:latin typeface="Yu Gothic"/>
                        </a:defRPr>
                      </a:pPr>
                      <a:r>
                        <a:t>NextSlideはOpenAIに買収されChatGPTチームへ統合／Gammaは独立して事業継続中</a:t>
                      </a:r>
                    </a:p>
                  </a:txBody>
                  <a:tcPr>
                    <a:solidFill>
                      <a:srgbClr val="FFFFFF"/>
                    </a:solidFill>
                  </a:tcPr>
                </a:tc>
              </a:tr>
              <a:tr h="502920">
                <a:tc>
                  <a:txBody>
                    <a:bodyPr/>
                    <a:lstStyle/>
                    <a:p>
                      <a:pPr>
                        <a:defRPr sz="1200">
                          <a:solidFill>
                            <a:srgbClr val="1E2124"/>
                          </a:solidFill>
                          <a:latin typeface="Yu Gothic"/>
                        </a:defRPr>
                      </a:pPr>
                      <a:r>
                        <a:t>利用者数・評価額の公開状況</a:t>
                      </a:r>
                    </a:p>
                  </a:txBody>
                  <a:tcPr>
                    <a:solidFill>
                      <a:srgbClr val="F7F4EF"/>
                    </a:solidFill>
                  </a:tcPr>
                </a:tc>
                <a:tc>
                  <a:txBody>
                    <a:bodyPr/>
                    <a:lstStyle/>
                    <a:p>
                      <a:pPr>
                        <a:defRPr sz="1200">
                          <a:solidFill>
                            <a:srgbClr val="1E2124"/>
                          </a:solidFill>
                          <a:latin typeface="Yu Gothic"/>
                        </a:defRPr>
                      </a:pPr>
                      <a:r>
                        <a:t>NextSlideは非公開／Gammaは利用者7,000万人・評価額21億ドルが公開されている</a:t>
                      </a:r>
                    </a:p>
                  </a:txBody>
                  <a:tcPr>
                    <a:solidFill>
                      <a:srgbClr val="F7F4EF"/>
                    </a:solidFill>
                  </a:tcPr>
                </a:tc>
              </a:tr>
              <a:tr h="502920">
                <a:tc>
                  <a:txBody>
                    <a:bodyPr/>
                    <a:lstStyle/>
                    <a:p>
                      <a:pPr>
                        <a:defRPr sz="1200">
                          <a:solidFill>
                            <a:srgbClr val="1E2124"/>
                          </a:solidFill>
                          <a:latin typeface="Yu Gothic"/>
                        </a:defRPr>
                      </a:pPr>
                      <a:r>
                        <a:t>本テーマでの位置づけ</a:t>
                      </a:r>
                    </a:p>
                  </a:txBody>
                  <a:tcPr>
                    <a:solidFill>
                      <a:srgbClr val="FFFFFF"/>
                    </a:solidFill>
                  </a:tcPr>
                </a:tc>
                <a:tc>
                  <a:txBody>
                    <a:bodyPr/>
                    <a:lstStyle/>
                    <a:p>
                      <a:pPr>
                        <a:defRPr sz="1200">
                          <a:solidFill>
                            <a:srgbClr val="1E2124"/>
                          </a:solidFill>
                          <a:latin typeface="Yu Gothic"/>
                        </a:defRPr>
                      </a:pPr>
                      <a:r>
                        <a:t>NextSlideが主題／Gammaは市場規模を示す参考の比較対象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 / Unite.AI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買収の正確な金額</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NextSlideの正確なチーム人数</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ChatGPTへの統合の具体的なスケジュール・ロードマップ</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NextSlideの過去の資金調達履歴・投資家</a:t>
            </a:r>
          </a:p>
        </p:txBody>
      </p:sp>
      <p:sp>
        <p:nvSpPr>
          <p:cNvPr id="15" name="Oval 14"/>
          <p:cNvSpPr/>
          <p:nvPr/>
        </p:nvSpPr>
        <p:spPr>
          <a:xfrm>
            <a:off x="457200" y="523036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買収が「正式に成立した」正確な日付(「2026年初め」以上の情報はなし)</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ChatGPTユーザーにとって、今何が変わるか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現時点</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具体的な新機能は未発表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統合後の機能名・提供開始時期は公表されていない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方向性</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資料作成がChatGPTに近づく可能性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チーム統合により、将来的に関連機能が加わる可能性はあるが未確定</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今すぐの行動は不要</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現時点でユーザーが何かを変える必要がある発表内容ではない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想定される統合後の姿(推測、概念図)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ChatGPT(現状)</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テキスト対話が中心</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資料生成機能の強化(推測)</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NextSlideのチーム・技術が寄与する可能性</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マルチモーダルな業務ツール化(推測)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複数メディアが指摘する方向性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この図は当社の推測であり、OpenAIの公式ロードマップではない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ChatGPT(推測) / Microsoft PowerPoint Copilotの位置関係</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分かっていること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ChatGPTにNextSlideのチームが統合されたこと</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Microsoft PowerPoint CopilotがすでにAI資料生成機能を持つこと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分かっていないこと(推測の範囲)</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両者が今後どう住み分けるか</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企業向け・個人向けでの役割分担があるかどうか</a:t>
            </a:r>
          </a:p>
        </p:txBody>
      </p:sp>
      <p:sp>
        <p:nvSpPr>
          <p:cNvPr id="20" name="Oval 19"/>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統合後のChatGPTの具体的な機能名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競合関係の強まり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Microsoft・Google・Canva・Gamma等との競合が強まる可能性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人材獲得型買収の広がり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AI大手による小規模スタートアップの人材獲得買収が今後も続く可能性</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独立系ツールへの影響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大手がプレゼン生成機能を内製化することで独立系ツールの立ち位置が変わる可能性</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読み解く上での注意点(1)</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本テーマはNextSlide・OpenAIの自社公式発表ではなく、複数メディアの報道に基づく整理</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TechCrunchの一次報道を中心に、Yahoo Finance・Unite.AI等で内容を突き合わせている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買収契約書・OpenAI公式ブログ等の一次資料への直接アクセスはできていない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非公開の情報(金額・人数・スケジュール)は推測で埋めていない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読み解く上での注意点(2)</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誇張しないための整理です。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「AIが資料作成AIを買収した」という構図は事実だが、それだけで市場を独占するとは言えない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PowerPoint・Google Slides・Canva・Gammaなど既存プレイヤーは引き続き存在する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特定の企業・製品の利用を強く推す結論にはしない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続報が出た場合は、本テーマの内容を更新する必要がある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本テーマを見る際に、あらかじめお伝えしておきたい点です。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タイトル・冒頭の見出しは注目を集める表現を使っているが、本文の内容自体は誇張していない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「OpenAIがプレゼン資料市場を制する」といった断定的な結論は出さない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特定企業・特定製品の利用を強く推奨する結論にはしていない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事実(報道内容)と当社の推測を、全編を通じて明確に区別している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新機能の公表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統合後、ChatGPTに具体的な機能として反映されるかどうか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競合の反応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Microsoft・Google・Canva・Gamma等がどう動くか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同種の買収の有無</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AI大手による同様の人材獲得型買収が今後も続くかどうか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2026/8/8 買収公表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OpenAIがAIプレゼン生成スタートアップNextSlideを買収し、チーム全員をChatGPT開発チームへ統合したと報じられた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TechCrunch(2026-08-08)ほか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TechCrunch(2026-08-08)</a:t>
                      </a:r>
                    </a:p>
                  </a:txBody>
                  <a:tcPr>
                    <a:solidFill>
                      <a:srgbClr val="FFFFFF"/>
                    </a:solidFill>
                  </a:tcPr>
                </a:tc>
                <a:tc>
                  <a:txBody>
                    <a:bodyPr/>
                    <a:lstStyle/>
                    <a:p>
                      <a:pPr>
                        <a:defRPr sz="1200">
                          <a:solidFill>
                            <a:srgbClr val="1E2124"/>
                          </a:solidFill>
                          <a:latin typeface="Yu Gothic"/>
                        </a:defRPr>
                      </a:pPr>
                      <a:r>
                        <a:t>買収の一次報道</a:t>
                      </a:r>
                    </a:p>
                  </a:txBody>
                  <a:tcPr>
                    <a:solidFill>
                      <a:srgbClr val="FFFFFF"/>
                    </a:solidFill>
                  </a:tcPr>
                </a:tc>
              </a:tr>
              <a:tr h="502920">
                <a:tc>
                  <a:txBody>
                    <a:bodyPr/>
                    <a:lstStyle/>
                    <a:p>
                      <a:pPr>
                        <a:defRPr sz="1200">
                          <a:solidFill>
                            <a:srgbClr val="1E2124"/>
                          </a:solidFill>
                          <a:latin typeface="Yu Gothic"/>
                        </a:defRPr>
                      </a:pPr>
                      <a:r>
                        <a:t>Yahoo Finance</a:t>
                      </a:r>
                    </a:p>
                  </a:txBody>
                  <a:tcPr>
                    <a:solidFill>
                      <a:srgbClr val="F7F4EF"/>
                    </a:solidFill>
                  </a:tcPr>
                </a:tc>
                <a:tc>
                  <a:txBody>
                    <a:bodyPr/>
                    <a:lstStyle/>
                    <a:p>
                      <a:pPr>
                        <a:defRPr sz="1200">
                          <a:solidFill>
                            <a:srgbClr val="1E2124"/>
                          </a:solidFill>
                          <a:latin typeface="Yu Gothic"/>
                        </a:defRPr>
                      </a:pPr>
                      <a:r>
                        <a:t>金額非公開である旨</a:t>
                      </a:r>
                    </a:p>
                  </a:txBody>
                  <a:tcPr>
                    <a:solidFill>
                      <a:srgbClr val="F7F4EF"/>
                    </a:solidFill>
                  </a:tcPr>
                </a:tc>
              </a:tr>
              <a:tr h="502920">
                <a:tc>
                  <a:txBody>
                    <a:bodyPr/>
                    <a:lstStyle/>
                    <a:p>
                      <a:pPr>
                        <a:defRPr sz="1200">
                          <a:solidFill>
                            <a:srgbClr val="1E2124"/>
                          </a:solidFill>
                          <a:latin typeface="Yu Gothic"/>
                        </a:defRPr>
                      </a:pPr>
                      <a:r>
                        <a:t>Unite.AI</a:t>
                      </a:r>
                    </a:p>
                  </a:txBody>
                  <a:tcPr>
                    <a:solidFill>
                      <a:srgbClr val="FFFFFF"/>
                    </a:solidFill>
                  </a:tcPr>
                </a:tc>
                <a:tc>
                  <a:txBody>
                    <a:bodyPr/>
                    <a:lstStyle/>
                    <a:p>
                      <a:pPr>
                        <a:defRPr sz="1200">
                          <a:solidFill>
                            <a:srgbClr val="1E2124"/>
                          </a:solidFill>
                          <a:latin typeface="Yu Gothic"/>
                        </a:defRPr>
                      </a:pPr>
                      <a:r>
                        <a:t>創業者の経歴・製品詳細</a:t>
                      </a:r>
                    </a:p>
                  </a:txBody>
                  <a:tcPr>
                    <a:solidFill>
                      <a:srgbClr val="FFFFFF"/>
                    </a:solidFill>
                  </a:tcPr>
                </a:tc>
              </a:tr>
              <a:tr h="502920">
                <a:tc>
                  <a:txBody>
                    <a:bodyPr/>
                    <a:lstStyle/>
                    <a:p>
                      <a:pPr>
                        <a:defRPr sz="1200">
                          <a:solidFill>
                            <a:srgbClr val="1E2124"/>
                          </a:solidFill>
                          <a:latin typeface="Yu Gothic"/>
                        </a:defRPr>
                      </a:pPr>
                      <a:r>
                        <a:t>BigGo Finance / CryptoBriefing</a:t>
                      </a:r>
                    </a:p>
                  </a:txBody>
                  <a:tcPr>
                    <a:solidFill>
                      <a:srgbClr val="F7F4EF"/>
                    </a:solidFill>
                  </a:tcPr>
                </a:tc>
                <a:tc>
                  <a:txBody>
                    <a:bodyPr/>
                    <a:lstStyle/>
                    <a:p>
                      <a:pPr>
                        <a:defRPr sz="1200">
                          <a:solidFill>
                            <a:srgbClr val="1E2124"/>
                          </a:solidFill>
                          <a:latin typeface="Yu Gothic"/>
                        </a:defRPr>
                      </a:pPr>
                      <a:r>
                        <a:t>戦略的な位置づけの報道</a:t>
                      </a:r>
                    </a:p>
                  </a:txBody>
                  <a:tcPr>
                    <a:solidFill>
                      <a:srgbClr val="F7F4EF"/>
                    </a:solidFill>
                  </a:tcPr>
                </a:tc>
              </a:tr>
              <a:tr h="502920">
                <a:tc>
                  <a:txBody>
                    <a:bodyPr/>
                    <a:lstStyle/>
                    <a:p>
                      <a:pPr>
                        <a:defRPr sz="1200">
                          <a:solidFill>
                            <a:srgbClr val="1E2124"/>
                          </a:solidFill>
                          <a:latin typeface="Yu Gothic"/>
                        </a:defRPr>
                      </a:pPr>
                      <a:r>
                        <a:t>TechCrunch(2021-10-19)</a:t>
                      </a:r>
                    </a:p>
                  </a:txBody>
                  <a:tcPr>
                    <a:solidFill>
                      <a:srgbClr val="FFFFFF"/>
                    </a:solidFill>
                  </a:tcPr>
                </a:tc>
                <a:tc>
                  <a:txBody>
                    <a:bodyPr/>
                    <a:lstStyle/>
                    <a:p>
                      <a:pPr>
                        <a:defRPr sz="1200">
                          <a:solidFill>
                            <a:srgbClr val="1E2124"/>
                          </a:solidFill>
                          <a:latin typeface="Yu Gothic"/>
                        </a:defRPr>
                      </a:pPr>
                      <a:r>
                        <a:t>参考: Caper AI売却の報道</a:t>
                      </a:r>
                    </a:p>
                  </a:txBody>
                  <a:tcPr>
                    <a:solidFill>
                      <a:srgbClr val="FFFFFF"/>
                    </a:solidFill>
                  </a:tcPr>
                </a:tc>
              </a:tr>
              <a:tr h="502920">
                <a:tc>
                  <a:txBody>
                    <a:bodyPr/>
                    <a:lstStyle/>
                    <a:p>
                      <a:pPr>
                        <a:defRPr sz="1200">
                          <a:solidFill>
                            <a:srgbClr val="1E2124"/>
                          </a:solidFill>
                          <a:latin typeface="Yu Gothic"/>
                        </a:defRPr>
                      </a:pPr>
                      <a:r>
                        <a:t>TechCrunch(2025-11-10)</a:t>
                      </a:r>
                    </a:p>
                  </a:txBody>
                  <a:tcPr>
                    <a:solidFill>
                      <a:srgbClr val="F7F4EF"/>
                    </a:solidFill>
                  </a:tcPr>
                </a:tc>
                <a:tc>
                  <a:txBody>
                    <a:bodyPr/>
                    <a:lstStyle/>
                    <a:p>
                      <a:pPr>
                        <a:defRPr sz="1200">
                          <a:solidFill>
                            <a:srgbClr val="1E2124"/>
                          </a:solidFill>
                          <a:latin typeface="Yu Gothic"/>
                        </a:defRPr>
                      </a:pPr>
                      <a:r>
                        <a:t>参考: Gammaの利用者数・評価額</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 ほか(発表日2026-08-08)｜145本目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AIで資料を作る仕事が、AIに飲み込まれていく。それでも、事実と推測は分けて追っていく。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統合後の具体的な機能・金額・スケジュールが明らかになれば、続報として出典付きでお届けします。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