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2026年8月24日、スズキが同社初の軽乗用EV「eスカイ」を公開しました。何が発表されたのか、出典付きで正確に整理してお届けします。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結論から確認します。スズキ初の軽乗用EV「eスカイ」は、航続距離310kmという国産メーカー最長の性能を実現しました。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今日は6つの流れでお伝えします。スペックから開発コンセプト、今後の予定まで、正確に事実を引用しながら整理します。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このテーマを扱う理由です。高い鮮度と、スペックのインパクトに注目しました。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「eスカイ」の基本スペックです。26kWhのバッテリーで310kmの航続距離を実現しています。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軽自動車・軽EVとは何かを確認します。日本国内で広く普及している車両区分です。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車体サイズは全長3,395mm×全幅1,475mm×全高1,625mmという参考値が示されています。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発表から発売までの流れを図にしました。詳細は今秋の発表を待つ形になります。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「eスカイ」の特徴を3ステップで総括しました。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LFPバッテリーとは何かを確認します。安全性・耐久性に優れるとされる方式です。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日産サクラとの比較です。航続距離という数値面で上回るとされています。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「eスカイ」は、スズキにとって初めての軽乗用EVという節目の発表です。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開発コンセプトです。日常の足として使いやすいことを重視しています。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開発コンセプトの3要素をまとめました。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今後の発売予定です。詳細は今秋の発表を待つことになります。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本日の車両公開と、今秋予定の正式発表の違いを対比しました。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自動車業界動向を追う立場にとっての意味です。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バッテリー容量は26kWhです。この容量で310kmの航続距離を実現しています。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軽EV市場における今回の意味です。推測にとどまる部分は明確に区別してお伝えします。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複数の独立した自動車専門メディアが同一の事実を報じていることを確認しています。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車重は1,030kgです。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軽自動車は日本独自の車両区分です。『eスカイ』はこの規格に基づく電気自動車です。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「eスカイ」の主要スペックをまとめました。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本日までに公開された情報と、今後判明する情報を整理しました。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スズキ全体の電動化戦略における位置づけです。推測にとどまる部分は明確に区別してお伝えします。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本編のまとめです。スズキ初の軽乗用EV『eスカイ』の発表について、出典付きで整理してお伝えしました。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スズキ初の軽乗用EV『eスカイ』の発表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スズキ初の軽EV</a:t>
            </a:r>
          </a:p>
          <a:p>
            <a:pPr algn="l">
              <a:lnSpc>
                <a:spcPct val="115000"/>
              </a:lnSpc>
            </a:pPr>
            <a:r>
              <a:rPr sz="4200" b="1">
                <a:solidFill>
                  <a:srgbClr val="FFFFFF"/>
                </a:solidFill>
                <a:latin typeface="Yu Gothic"/>
              </a:rPr>
              <a:t>「eスカイ」、</a:t>
            </a:r>
          </a:p>
          <a:p>
            <a:pPr algn="l">
              <a:lnSpc>
                <a:spcPct val="115000"/>
              </a:lnSpc>
            </a:pPr>
            <a:r>
              <a:rPr sz="4200" b="1">
                <a:solidFill>
                  <a:srgbClr val="FFFFFF"/>
                </a:solidFill>
                <a:latin typeface="Yu Gothic"/>
              </a:rPr>
              <a:t>航続310kmで国産最長に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Yahoo!ニュース・Motor Fan(2026年8月24日)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航続距離310km 国産メーカーの軽EVとして最長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スズキ初の軽乗用EV「eスカイ」を公開(2026年8月24日発表)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Yahoo!ニュース・乗りものニュース(2026-08-24)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「eスカイ」の基本スペックを確認する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他社軽EVとの比較を確認する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開発コンセプトを確認する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今後の発売予定を確認する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着手日当日(2026年8月24日)、日本の主要自動車メディアが一斉に報じた話題である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国産軽EVとして最長の航続距離という、スペックのインパクトが大きい出来事である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スズキにとって初の軽乗用EVという節目の発表である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Yahoo!ニュース・Motor Fan(2026-08-24)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「eスカイ」の基本スペック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航続距離</a:t>
                      </a:r>
                    </a:p>
                  </a:txBody>
                  <a:tcPr>
                    <a:solidFill>
                      <a:srgbClr val="FFFFFF"/>
                    </a:solidFill>
                  </a:tcPr>
                </a:tc>
                <a:tc>
                  <a:txBody>
                    <a:bodyPr/>
                    <a:lstStyle/>
                    <a:p>
                      <a:pPr>
                        <a:defRPr sz="1200">
                          <a:solidFill>
                            <a:srgbClr val="121C1F"/>
                          </a:solidFill>
                          <a:latin typeface="Yu Gothic"/>
                        </a:defRPr>
                      </a:pPr>
                      <a:r>
                        <a:t>310km(国産軽EV最長)</a:t>
                      </a:r>
                    </a:p>
                  </a:txBody>
                  <a:tcPr>
                    <a:solidFill>
                      <a:srgbClr val="FFFFFF"/>
                    </a:solidFill>
                  </a:tcPr>
                </a:tc>
              </a:tr>
              <a:tr h="502920">
                <a:tc>
                  <a:txBody>
                    <a:bodyPr/>
                    <a:lstStyle/>
                    <a:p>
                      <a:pPr>
                        <a:defRPr sz="1200">
                          <a:solidFill>
                            <a:srgbClr val="121C1F"/>
                          </a:solidFill>
                          <a:latin typeface="Yu Gothic"/>
                        </a:defRPr>
                      </a:pPr>
                      <a:r>
                        <a:t>バッテリー容量</a:t>
                      </a:r>
                    </a:p>
                  </a:txBody>
                  <a:tcPr>
                    <a:solidFill>
                      <a:srgbClr val="F0F7F4"/>
                    </a:solidFill>
                  </a:tcPr>
                </a:tc>
                <a:tc>
                  <a:txBody>
                    <a:bodyPr/>
                    <a:lstStyle/>
                    <a:p>
                      <a:pPr>
                        <a:defRPr sz="1200">
                          <a:solidFill>
                            <a:srgbClr val="121C1F"/>
                          </a:solidFill>
                          <a:latin typeface="Yu Gothic"/>
                        </a:defRPr>
                      </a:pPr>
                      <a:r>
                        <a:t>26kWh</a:t>
                      </a:r>
                    </a:p>
                  </a:txBody>
                  <a:tcPr>
                    <a:solidFill>
                      <a:srgbClr val="F0F7F4"/>
                    </a:solidFill>
                  </a:tcPr>
                </a:tc>
              </a:tr>
              <a:tr h="502920">
                <a:tc>
                  <a:txBody>
                    <a:bodyPr/>
                    <a:lstStyle/>
                    <a:p>
                      <a:pPr>
                        <a:defRPr sz="1200">
                          <a:solidFill>
                            <a:srgbClr val="121C1F"/>
                          </a:solidFill>
                          <a:latin typeface="Yu Gothic"/>
                        </a:defRPr>
                      </a:pPr>
                      <a:r>
                        <a:t>車重</a:t>
                      </a:r>
                    </a:p>
                  </a:txBody>
                  <a:tcPr>
                    <a:solidFill>
                      <a:srgbClr val="FFFFFF"/>
                    </a:solidFill>
                  </a:tcPr>
                </a:tc>
                <a:tc>
                  <a:txBody>
                    <a:bodyPr/>
                    <a:lstStyle/>
                    <a:p>
                      <a:pPr>
                        <a:defRPr sz="1200">
                          <a:solidFill>
                            <a:srgbClr val="121C1F"/>
                          </a:solidFill>
                          <a:latin typeface="Yu Gothic"/>
                        </a:defRPr>
                      </a:pPr>
                      <a:r>
                        <a:t>1,030kg</a:t>
                      </a:r>
                    </a:p>
                  </a:txBody>
                  <a:tcPr>
                    <a:solidFill>
                      <a:srgbClr val="FFFFFF"/>
                    </a:solidFill>
                  </a:tcPr>
                </a:tc>
              </a:tr>
              <a:tr h="502920">
                <a:tc>
                  <a:txBody>
                    <a:bodyPr/>
                    <a:lstStyle/>
                    <a:p>
                      <a:pPr>
                        <a:defRPr sz="1200">
                          <a:solidFill>
                            <a:srgbClr val="121C1F"/>
                          </a:solidFill>
                          <a:latin typeface="Yu Gothic"/>
                        </a:defRPr>
                      </a:pPr>
                      <a:r>
                        <a:t>バッテリー方式</a:t>
                      </a:r>
                    </a:p>
                  </a:txBody>
                  <a:tcPr>
                    <a:solidFill>
                      <a:srgbClr val="F0F7F4"/>
                    </a:solidFill>
                  </a:tcPr>
                </a:tc>
                <a:tc>
                  <a:txBody>
                    <a:bodyPr/>
                    <a:lstStyle/>
                    <a:p>
                      <a:pPr>
                        <a:defRPr sz="1200">
                          <a:solidFill>
                            <a:srgbClr val="121C1F"/>
                          </a:solidFill>
                          <a:latin typeface="Yu Gothic"/>
                        </a:defRPr>
                      </a:pPr>
                      <a:r>
                        <a:t>LFP(リン酸鉄リチウムイオン)</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Motor Fan(2026-08-24)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「軽自動車(軽EV)」とは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前提知識を確認します。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日本国内の車両区分の一つで、排気量・車体サイズ等に法律上の制限がある小型車のことである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税金や維持費が比較的安く、日本国内で広く普及している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「軽EV」は、この軽自動車規格の電気自動車を指す</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車体サイズ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全長3,395mm×全幅1,475mm×全高1,625mm(参考値)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正式発表時に変更される可能性がある参考値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Motor Fan(2026-08-24)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発表から発売までの流れ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8月24日、車両を公開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航続距離310km等の主要スペックを発表</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今秋、詳細発表を予定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正式な価格・発売時期を発表</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発売(時期は今秋発表予定)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本日時点では未確定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発表から発売までの流れ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Yahoo!ニュース(2026-08-24)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「eスカイ」の特徴3ステップ総括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国産最長の航続距離</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310kmを実現</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LFPバッテリー採用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e VITARAでの実績を活用</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ガソリン車に近い乗り味</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違和感のない運転感覚を追求</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「LFPバッテリー」とは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前提知識を確認します。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電気自動車用バッテリーの方式の一つで、リン酸鉄リチウムイオンの略である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他方式と比べて熱に強く、長寿命・安全性が高いとされる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スズキの他モデル(e VITARA)でも採用実績がある方式である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確定していること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航続距離310km・バッテリー26kWh・車重1,030kg</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LFPバッテリー採用</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開発コンセプト『Easy to Switch!』</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具体的な発売日・販売価格</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欧州等への輸出計画の有無・詳細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日産サクラとの比較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他社軽EVとの比較を確認します。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日産サクラは、現行の国産軽EVの中で高い販売実績を持つ代表的なモデルである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今回の『eスカイ』の航続距離(310km)は、これを上回るとされている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この比較はあくまで航続距離という客観的な数値の比較であり、車種の優劣を評価するものではない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Infoseek・Motor Fan(2026-08-24)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スズキにとっての位置づけ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初の軽乗用EV スズキにとって記念すべき第1弾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同社の電動化戦略における節目の発表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webCG(2026-08-24)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開発コンセプト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開発コンセプトを確認します。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開発コンセプトは『Easy to Switch!』である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(1)少ない電気でたくさん走る、(2)ちゃんと『使える』、(3)走りも快適、の3要素を重視した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ガソリン車と違和感のない乗り味を追求したと報じられている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webCG・Yahoo!ニュース(2026-08-24)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開発コンセプトの3要素</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要素</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効率性</a:t>
                      </a:r>
                    </a:p>
                  </a:txBody>
                  <a:tcPr>
                    <a:solidFill>
                      <a:srgbClr val="FFFFFF"/>
                    </a:solidFill>
                  </a:tcPr>
                </a:tc>
                <a:tc>
                  <a:txBody>
                    <a:bodyPr/>
                    <a:lstStyle/>
                    <a:p>
                      <a:pPr>
                        <a:defRPr sz="1200">
                          <a:solidFill>
                            <a:srgbClr val="121C1F"/>
                          </a:solidFill>
                          <a:latin typeface="Yu Gothic"/>
                        </a:defRPr>
                      </a:pPr>
                      <a:r>
                        <a:t>少ない電気でたくさん走る</a:t>
                      </a:r>
                    </a:p>
                  </a:txBody>
                  <a:tcPr>
                    <a:solidFill>
                      <a:srgbClr val="FFFFFF"/>
                    </a:solidFill>
                  </a:tcPr>
                </a:tc>
              </a:tr>
              <a:tr h="502920">
                <a:tc>
                  <a:txBody>
                    <a:bodyPr/>
                    <a:lstStyle/>
                    <a:p>
                      <a:pPr>
                        <a:defRPr sz="1200">
                          <a:solidFill>
                            <a:srgbClr val="121C1F"/>
                          </a:solidFill>
                          <a:latin typeface="Yu Gothic"/>
                        </a:defRPr>
                      </a:pPr>
                      <a:r>
                        <a:t>実用性</a:t>
                      </a:r>
                    </a:p>
                  </a:txBody>
                  <a:tcPr>
                    <a:solidFill>
                      <a:srgbClr val="F0F7F4"/>
                    </a:solidFill>
                  </a:tcPr>
                </a:tc>
                <a:tc>
                  <a:txBody>
                    <a:bodyPr/>
                    <a:lstStyle/>
                    <a:p>
                      <a:pPr>
                        <a:defRPr sz="1200">
                          <a:solidFill>
                            <a:srgbClr val="121C1F"/>
                          </a:solidFill>
                          <a:latin typeface="Yu Gothic"/>
                        </a:defRPr>
                      </a:pPr>
                      <a:r>
                        <a:t>ちゃんと『使える』</a:t>
                      </a:r>
                    </a:p>
                  </a:txBody>
                  <a:tcPr>
                    <a:solidFill>
                      <a:srgbClr val="F0F7F4"/>
                    </a:solidFill>
                  </a:tcPr>
                </a:tc>
              </a:tr>
              <a:tr h="502920">
                <a:tc>
                  <a:txBody>
                    <a:bodyPr/>
                    <a:lstStyle/>
                    <a:p>
                      <a:pPr>
                        <a:defRPr sz="1200">
                          <a:solidFill>
                            <a:srgbClr val="121C1F"/>
                          </a:solidFill>
                          <a:latin typeface="Yu Gothic"/>
                        </a:defRPr>
                      </a:pPr>
                      <a:r>
                        <a:t>快適性</a:t>
                      </a:r>
                    </a:p>
                  </a:txBody>
                  <a:tcPr>
                    <a:solidFill>
                      <a:srgbClr val="FFFFFF"/>
                    </a:solidFill>
                  </a:tcPr>
                </a:tc>
                <a:tc>
                  <a:txBody>
                    <a:bodyPr/>
                    <a:lstStyle/>
                    <a:p>
                      <a:pPr>
                        <a:defRPr sz="1200">
                          <a:solidFill>
                            <a:srgbClr val="121C1F"/>
                          </a:solidFill>
                          <a:latin typeface="Yu Gothic"/>
                        </a:defRPr>
                      </a:pPr>
                      <a:r>
                        <a:t>走りも快適</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webCG(2026-08-24)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今後の発売予定</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今後のスケジュールを確認します。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詳細な仕様・価格・発売時期は今秋に発表予定である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本日時点(8月24日)では、車両の公開のみで正式な販売条件は未確定である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具体的な発売日・価格を推測で断定することはしない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Yahoo!ニュース(2026-08-24)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車両公開 vs 正式発表(今秋予定)</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本日(8月24日)の車両公開</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主要スペック(航続距離・バッテリー容量等)を発表</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価格・発売日は未発表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今秋予定の正式発表</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価格・発売時期の詳細を発表予定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視聴者にとっての意味—自動車業界動向を追う立場として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国産軽EV市場における新たな選択肢の登場を、具体的なスペックとともに把握できる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『軽EV』『LFPバッテリー』といった用語を、実例を通じて学べる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確定したスペックと、確認できていないこと(価格・発売日等)を区別する視点が役立つ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バッテリー容量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26kWh 「eスカイ」のバッテリー容量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航続距離310kmを支える容量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Motor Fan(2026-08-24)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軽EV市場における今回の意味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業界内での位置づけを確認します。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国産軽EV市場は、日産サクラ等の既存モデルが先行してきた分野である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航続距離で既存モデルを上回るスペックの新規参入は、市場競争を活性化させる可能性があると考えられる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ただし具体的な市場への影響は、本調査の範囲では確認できていない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具体的な発売日・販売価格は本調査時点では未発表である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欧州等への輸出計画の有無・詳細は確認できていない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車体サイズは『参考値』であり、正式発表時に変更される可能性がある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主な情報源</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報道内容</a:t>
                      </a:r>
                    </a:p>
                  </a:txBody>
                  <a:tcPr>
                    <a:solidFill>
                      <a:srgbClr val="1B2A2E"/>
                    </a:solidFill>
                  </a:tcPr>
                </a:tc>
              </a:tr>
              <a:tr h="502920">
                <a:tc>
                  <a:txBody>
                    <a:bodyPr/>
                    <a:lstStyle/>
                    <a:p>
                      <a:pPr>
                        <a:defRPr sz="1200">
                          <a:solidFill>
                            <a:srgbClr val="121C1F"/>
                          </a:solidFill>
                          <a:latin typeface="Yu Gothic"/>
                        </a:defRPr>
                      </a:pPr>
                      <a:r>
                        <a:t>Yahoo!ニュース(2026-08-24)</a:t>
                      </a:r>
                    </a:p>
                  </a:txBody>
                  <a:tcPr>
                    <a:solidFill>
                      <a:srgbClr val="FFFFFF"/>
                    </a:solidFill>
                  </a:tcPr>
                </a:tc>
                <a:tc>
                  <a:txBody>
                    <a:bodyPr/>
                    <a:lstStyle/>
                    <a:p>
                      <a:pPr>
                        <a:defRPr sz="1200">
                          <a:solidFill>
                            <a:srgbClr val="121C1F"/>
                          </a:solidFill>
                          <a:latin typeface="Yu Gothic"/>
                        </a:defRPr>
                      </a:pPr>
                      <a:r>
                        <a:t>航続距離310km・今秋詳細発表</a:t>
                      </a:r>
                    </a:p>
                  </a:txBody>
                  <a:tcPr>
                    <a:solidFill>
                      <a:srgbClr val="FFFFFF"/>
                    </a:solidFill>
                  </a:tcPr>
                </a:tc>
              </a:tr>
              <a:tr h="502920">
                <a:tc>
                  <a:txBody>
                    <a:bodyPr/>
                    <a:lstStyle/>
                    <a:p>
                      <a:pPr>
                        <a:defRPr sz="1200">
                          <a:solidFill>
                            <a:srgbClr val="121C1F"/>
                          </a:solidFill>
                          <a:latin typeface="Yu Gothic"/>
                        </a:defRPr>
                      </a:pPr>
                      <a:r>
                        <a:t>Motor Fan(2026-08-24)</a:t>
                      </a:r>
                    </a:p>
                  </a:txBody>
                  <a:tcPr>
                    <a:solidFill>
                      <a:srgbClr val="F0F7F4"/>
                    </a:solidFill>
                  </a:tcPr>
                </a:tc>
                <a:tc>
                  <a:txBody>
                    <a:bodyPr/>
                    <a:lstStyle/>
                    <a:p>
                      <a:pPr>
                        <a:defRPr sz="1200">
                          <a:solidFill>
                            <a:srgbClr val="121C1F"/>
                          </a:solidFill>
                          <a:latin typeface="Yu Gothic"/>
                        </a:defRPr>
                      </a:pPr>
                      <a:r>
                        <a:t>バッテリー容量・車重等の詳細スペック</a:t>
                      </a:r>
                    </a:p>
                  </a:txBody>
                  <a:tcPr>
                    <a:solidFill>
                      <a:srgbClr val="F0F7F4"/>
                    </a:solidFill>
                  </a:tcPr>
                </a:tc>
              </a:tr>
              <a:tr h="502920">
                <a:tc>
                  <a:txBody>
                    <a:bodyPr/>
                    <a:lstStyle/>
                    <a:p>
                      <a:pPr>
                        <a:defRPr sz="1200">
                          <a:solidFill>
                            <a:srgbClr val="121C1F"/>
                          </a:solidFill>
                          <a:latin typeface="Yu Gothic"/>
                        </a:defRPr>
                      </a:pPr>
                      <a:r>
                        <a:t>乗りものニュース・webCG(2026-08-24)</a:t>
                      </a:r>
                    </a:p>
                  </a:txBody>
                  <a:tcPr>
                    <a:solidFill>
                      <a:srgbClr val="FFFFFF"/>
                    </a:solidFill>
                  </a:tcPr>
                </a:tc>
                <a:tc>
                  <a:txBody>
                    <a:bodyPr/>
                    <a:lstStyle/>
                    <a:p>
                      <a:pPr>
                        <a:defRPr sz="1200">
                          <a:solidFill>
                            <a:srgbClr val="121C1F"/>
                          </a:solidFill>
                          <a:latin typeface="Yu Gothic"/>
                        </a:defRPr>
                      </a:pPr>
                      <a:r>
                        <a:t>開発コンセプト・デザイン</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自動車業界動向を追う立場として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国産軽EV市場の新たな動きを、具体的なスペックとともに把握できる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軽EVの購入を検討する立場として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航続距離等のスペック比較を、実例を通じて学べる(購入推奨ではない)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確定したスペックと、確認できていない価格・発売日等を明確に区別する視点が役立つ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車重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1,030kg 「eスカイ」の車重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軽EVとしての基本スペックの一つ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Motor Fan(2026-08-24)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軽自動車という車両区分</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日本独自の規格 サイズ・排気量に法律上の制限がある区分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『eスカイ』はこの軽自動車規格のEV</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「eスカイ」スペックまとめ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数値</a:t>
                      </a:r>
                    </a:p>
                  </a:txBody>
                  <a:tcPr>
                    <a:solidFill>
                      <a:srgbClr val="1B2A2E"/>
                    </a:solidFill>
                  </a:tcPr>
                </a:tc>
              </a:tr>
              <a:tr h="502920">
                <a:tc>
                  <a:txBody>
                    <a:bodyPr/>
                    <a:lstStyle/>
                    <a:p>
                      <a:pPr>
                        <a:defRPr sz="1200">
                          <a:solidFill>
                            <a:srgbClr val="121C1F"/>
                          </a:solidFill>
                          <a:latin typeface="Yu Gothic"/>
                        </a:defRPr>
                      </a:pPr>
                      <a:r>
                        <a:t>航続距離</a:t>
                      </a:r>
                    </a:p>
                  </a:txBody>
                  <a:tcPr>
                    <a:solidFill>
                      <a:srgbClr val="FFFFFF"/>
                    </a:solidFill>
                  </a:tcPr>
                </a:tc>
                <a:tc>
                  <a:txBody>
                    <a:bodyPr/>
                    <a:lstStyle/>
                    <a:p>
                      <a:pPr>
                        <a:defRPr sz="1200">
                          <a:solidFill>
                            <a:srgbClr val="121C1F"/>
                          </a:solidFill>
                          <a:latin typeface="Yu Gothic"/>
                        </a:defRPr>
                      </a:pPr>
                      <a:r>
                        <a:t>310km</a:t>
                      </a:r>
                    </a:p>
                  </a:txBody>
                  <a:tcPr>
                    <a:solidFill>
                      <a:srgbClr val="FFFFFF"/>
                    </a:solidFill>
                  </a:tcPr>
                </a:tc>
              </a:tr>
              <a:tr h="502920">
                <a:tc>
                  <a:txBody>
                    <a:bodyPr/>
                    <a:lstStyle/>
                    <a:p>
                      <a:pPr>
                        <a:defRPr sz="1200">
                          <a:solidFill>
                            <a:srgbClr val="121C1F"/>
                          </a:solidFill>
                          <a:latin typeface="Yu Gothic"/>
                        </a:defRPr>
                      </a:pPr>
                      <a:r>
                        <a:t>バッテリー容量</a:t>
                      </a:r>
                    </a:p>
                  </a:txBody>
                  <a:tcPr>
                    <a:solidFill>
                      <a:srgbClr val="F0F7F4"/>
                    </a:solidFill>
                  </a:tcPr>
                </a:tc>
                <a:tc>
                  <a:txBody>
                    <a:bodyPr/>
                    <a:lstStyle/>
                    <a:p>
                      <a:pPr>
                        <a:defRPr sz="1200">
                          <a:solidFill>
                            <a:srgbClr val="121C1F"/>
                          </a:solidFill>
                          <a:latin typeface="Yu Gothic"/>
                        </a:defRPr>
                      </a:pPr>
                      <a:r>
                        <a:t>26kWh</a:t>
                      </a:r>
                    </a:p>
                  </a:txBody>
                  <a:tcPr>
                    <a:solidFill>
                      <a:srgbClr val="F0F7F4"/>
                    </a:solidFill>
                  </a:tcPr>
                </a:tc>
              </a:tr>
              <a:tr h="502920">
                <a:tc>
                  <a:txBody>
                    <a:bodyPr/>
                    <a:lstStyle/>
                    <a:p>
                      <a:pPr>
                        <a:defRPr sz="1200">
                          <a:solidFill>
                            <a:srgbClr val="121C1F"/>
                          </a:solidFill>
                          <a:latin typeface="Yu Gothic"/>
                        </a:defRPr>
                      </a:pPr>
                      <a:r>
                        <a:t>車重</a:t>
                      </a:r>
                    </a:p>
                  </a:txBody>
                  <a:tcPr>
                    <a:solidFill>
                      <a:srgbClr val="FFFFFF"/>
                    </a:solidFill>
                  </a:tcPr>
                </a:tc>
                <a:tc>
                  <a:txBody>
                    <a:bodyPr/>
                    <a:lstStyle/>
                    <a:p>
                      <a:pPr>
                        <a:defRPr sz="1200">
                          <a:solidFill>
                            <a:srgbClr val="121C1F"/>
                          </a:solidFill>
                          <a:latin typeface="Yu Gothic"/>
                        </a:defRPr>
                      </a:pPr>
                      <a:r>
                        <a:t>1,030kg</a:t>
                      </a:r>
                    </a:p>
                  </a:txBody>
                  <a:tcPr>
                    <a:solidFill>
                      <a:srgbClr val="FFFFFF"/>
                    </a:solidFill>
                  </a:tcPr>
                </a:tc>
              </a:tr>
              <a:tr h="502920">
                <a:tc>
                  <a:txBody>
                    <a:bodyPr/>
                    <a:lstStyle/>
                    <a:p>
                      <a:pPr>
                        <a:defRPr sz="1200">
                          <a:solidFill>
                            <a:srgbClr val="121C1F"/>
                          </a:solidFill>
                          <a:latin typeface="Yu Gothic"/>
                        </a:defRPr>
                      </a:pPr>
                      <a:r>
                        <a:t>全長×全幅×全高</a:t>
                      </a:r>
                    </a:p>
                  </a:txBody>
                  <a:tcPr>
                    <a:solidFill>
                      <a:srgbClr val="F0F7F4"/>
                    </a:solidFill>
                  </a:tcPr>
                </a:tc>
                <a:tc>
                  <a:txBody>
                    <a:bodyPr/>
                    <a:lstStyle/>
                    <a:p>
                      <a:pPr>
                        <a:defRPr sz="1200">
                          <a:solidFill>
                            <a:srgbClr val="121C1F"/>
                          </a:solidFill>
                          <a:latin typeface="Yu Gothic"/>
                        </a:defRPr>
                      </a:pPr>
                      <a:r>
                        <a:t>3,395mm×1,475mm×1,625mm(参考値)</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Motor Fan(2026-08-24)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公開情報 vs 今後判明する情報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本日までに公開された情報</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航続距離・バッテリー容量・車重</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開発コンセプト『Easy to Switch!』</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今後判明する情報(今秋予定)</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正式な価格</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発売時期</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電動化戦略における位置づけ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スズキ全体の戦略における位置づけを確認します。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スズキは大型モデルの『e VITARA』に続き、軽自動車クラスでも電動化を進める形となる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軽自動車は日本国内で高いシェアを持つ車両区分であり、この分野でのEV展開は同社の電動化戦略上重要と考えられる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ただし同社の電動化戦略全体の詳細な計画は、本調査の範囲では確認できていない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2026年8月24日、スズキが同社初の軽乗用EV『eスカイ』を公開した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航続距離310kmは、国産メーカーの軽EVとして最長である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LFPバッテリー(26kWh)を採用し、開発コンセプトは『Easy to Switch!』である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価格・発売時期の詳細は今秋に発表予定で、本日時点では未確定である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Yahoo!ニュース・Motor Fan等(2026-08-24)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スズキ初の軽EV「eスカイ」、航続310kmで国産最長に。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2026年8月24日、スズキが同社初の軽乗用EV『eスカイ』を公開しました。国産軽EV最長の航続距離310kmという事実を、出典付きで整理してお届けしました。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