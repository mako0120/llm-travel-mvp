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違反1件、1日あたり5,000ドル。2026年8月2日、カリフォルニア州の『AI Transparency Act』が施行されました。大規模な生成AIサービスに、電子透かしと検出ツールの提供が義務付けられます。そして、あるメディアは『Midjourneyには施行日時点で電子透かしがない』と報じています。今日はこの制度変更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まず罰則から確認します。違反1件につき1日あたり5,000ドル。しかもこれは、違反が続く限り毎日積み上がっていく仕組みです。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今日はこの5つの流れでお伝えします。昨日お伝えしたEU AI Actと似た話題ですが、中身は結構違います。その違いも整理します。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施行内容を整理すると、この5点になります。対象は大規模な事業者に限られていますが、義務の中身は具体的です。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義務は4つに整理できます。検出ツール、潜在的な電子透かし、任意の可視透かし、そしてライセンス先への適用です。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対象は、月間利用者100万人を超える大規模な生成AI提供者に限定されています。すべての事業者が対象というわけではありません。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検出ツールは無料で提供しなければなりません。利用者が『これはAIで作られたものか』を自分で確認できるようにする、という趣旨です。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透かしには2種類あります。見えない電子透かしは必須、目に見える透かしは利用者が選べるオプションという位置づけです。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表にまとめるとこうなります。必須の義務と、利用者が選べる任意の機能が分かれている点がポイントです。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改めて罰則を確認します。1件・1日あたり5,000ドル。長期間対応しなければ、その分だけ累積していく仕組みです。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提訴できるのは州司法長官だけではありません。市や郡の検事も動けるため、執行のすそ野が広い設計になっています。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具体例として名前が挙がっているのが、画像生成AIサービスのMidjourneyです。ただし、この情報の扱いには注意が必要です。次のスライドで詳しく説明します。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Midjourneyは2023年から業界団体に参加していますが、実装はまだ出荷されていないと報じられています。ただし、これはTechTimesという1つのメディアの報道であり、断定的には扱いません。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ここは正直にお伝えしたい点です。Midjourneyの件は1つのメディアの報道にとどまり、他で裏付けが取れていません。だからこそ、断定を避けて紹介しています。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実は昨日ご紹介したEU AI Actと、本テーマのカリフォルニア州法は、同じ2026年8月2日に発効・施行しています。偶然か意図的な調整かは分かっていませんが、世界の複数地域で同時に動きがあったことになります。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同じ『AI透明性規制』というくくりでも、中身はかなり違います。罰則の仕組みも、一括方式と累積方式で性質が異なります。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この法律は、もともとの制定後にAB 853という別の法律で改正され、施行日が変更された経緯があります。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対象になるかどうかの基準は、月間利用者100万人超です。小規模なサービスは対象外になります。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小規模な事業者は今回の義務の対象外です。ただし、基準を超えれば対象になりますし、他の規制が別に適用される可能性もあります。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特に強調したいのは、Midjourneyの件が1つのメディアの報道だという点です。話題性はありますが、慎重に扱っています。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この4点は、今回の調査で確認できなかった事項として一覧化しました。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月間利用者100万人超という基準があるため、対象になる日本企業は限られると考えられますが、断定はできません。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『規制される』段階の話は、昨日のEUに続いて、今日はカリフォルニアです。世界各地で同時並行的に動いていることが分かります。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66本目とはカテゴリが近いですが、規制主体も罰則の仕組みも異なる別の法律です。デッキ内で明確に比較整理しています。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この3つは当社の推測です。制度の内容から一般的に想定される影響を整理したもので、断定はしていません。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実務的な視点として、事業者が今のうちに確認しておきたい4つのポイントをまとめました。これは一般的な整理であり、法的助言ではありません。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こちらも、AIの利用自体が禁止されたわけではありません。『大規模に使うなら、透かしと検出手段を用意する』というのが本質です。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同じ『AI透明性規制』でも、地域によって中身は違います。そして、話題性のある個別企業の話ほど、情報源を確認する姿勢が大切だと思います。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カリフォルニア州AI透明性法は2026年8月2日に施行され、違反1件・1日あたり5,000ドルの罰則があります。EUとは異なる仕組みですが、同じ日に世界の複数地域で規制が動き出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本編は以上です。今回はカリフォルニア州AI透明性法の施行を題材に、EUとの違いを比較しながらお伝えしました。次回もまた出典付きでお届けします。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違反1件・1日あたり5,000ドル。</a:t>
            </a:r>
          </a:p>
          <a:p>
            <a:pPr algn="l">
              <a:lnSpc>
                <a:spcPct val="115000"/>
              </a:lnSpc>
            </a:pPr>
            <a:r>
              <a:rPr sz="4200" b="1">
                <a:solidFill>
                  <a:srgbClr val="FFFFFF"/>
                </a:solidFill>
                <a:latin typeface="Yu Gothic"/>
              </a:rPr>
              <a:t>カリフォルニア州で、AIの「透かし義務」が発効した。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カリフォルニア州「AI Transparency Act」(施行日2026年8月2日)を、出典付きで振り返る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TechTimes・steg.ai ほか。Midjourneyに関する記述はTechTimesの単一情報源に基づく(本編で明示)。</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違反した場合の罰則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$5,000 / 違反1件・1日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違反が続く限り、1日ごとに別個の違反とみなされ累積する(施行日2026-08-02)</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steg.ai(2026-08-02)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何が施行されたのか(カリフォルニア州AI透明性法)</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具体的にどんな義務が生じたのか</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罰則・対象事業者の範囲</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Midjourneyについて報じられていること(要出典)</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前日のEU AI Actとの違い・確認できなかったこと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施行の概要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2026年8月2日、カリフォルニア州AI透明性法のポイントです。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SB 942として制定、AB 853により施行日が変更された法律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月間利用者100万人超の大規模な生成AI提供者が対象</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無料のAI検出ツールの提供が義務化</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AI生成画像・動画・音声への電子透かし実装が義務化</a:t>
            </a:r>
          </a:p>
        </p:txBody>
      </p:sp>
      <p:sp>
        <p:nvSpPr>
          <p:cNvPr id="15" name="Oval 14"/>
          <p:cNvSpPr/>
          <p:nvPr/>
        </p:nvSpPr>
        <p:spPr>
          <a:xfrm>
            <a:off x="457200" y="523036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違反時は1件・1日あたり5,000ドルの民事罰</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steg.ai / TechTimes(2026-08-02)</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TechTimes・steg.ai ほか(施行日2026-08-02)｜定期実行67本目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4つの義務</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1</a:t>
            </a:r>
          </a:p>
        </p:txBody>
      </p:sp>
      <p:sp>
        <p:nvSpPr>
          <p:cNvPr id="9" name="TextBox 8"/>
          <p:cNvSpPr txBox="1"/>
          <p:nvPr/>
        </p:nvSpPr>
        <p:spPr>
          <a:xfrm>
            <a:off x="731520"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無料の検出ツール</a:t>
            </a:r>
          </a:p>
        </p:txBody>
      </p:sp>
      <p:sp>
        <p:nvSpPr>
          <p:cNvPr id="10" name="TextBox 9"/>
          <p:cNvSpPr txBox="1"/>
          <p:nvPr/>
        </p:nvSpPr>
        <p:spPr>
          <a:xfrm>
            <a:off x="731520"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利用者がコンテンツの生成・改変を確認できるようにする</a:t>
            </a:r>
          </a:p>
        </p:txBody>
      </p:sp>
      <p:sp>
        <p:nvSpPr>
          <p:cNvPr id="11" name="Rounded Rectangle 10"/>
          <p:cNvSpPr/>
          <p:nvPr/>
        </p:nvSpPr>
        <p:spPr>
          <a:xfrm>
            <a:off x="3402253"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56533"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0853"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2</a:t>
            </a:r>
          </a:p>
        </p:txBody>
      </p:sp>
      <p:sp>
        <p:nvSpPr>
          <p:cNvPr id="14" name="TextBox 13"/>
          <p:cNvSpPr txBox="1"/>
          <p:nvPr/>
        </p:nvSpPr>
        <p:spPr>
          <a:xfrm>
            <a:off x="3630853"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潜在的開示(電子透かし)</a:t>
            </a:r>
          </a:p>
        </p:txBody>
      </p:sp>
      <p:sp>
        <p:nvSpPr>
          <p:cNvPr id="15" name="TextBox 14"/>
          <p:cNvSpPr txBox="1"/>
          <p:nvPr/>
        </p:nvSpPr>
        <p:spPr>
          <a:xfrm>
            <a:off x="3630853"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AI生成画像・動画・音声に埋め込む</a:t>
            </a:r>
          </a:p>
        </p:txBody>
      </p:sp>
      <p:sp>
        <p:nvSpPr>
          <p:cNvPr id="16" name="Rounded Rectangle 15"/>
          <p:cNvSpPr/>
          <p:nvPr/>
        </p:nvSpPr>
        <p:spPr>
          <a:xfrm>
            <a:off x="6301587"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55867"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0187"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3</a:t>
            </a:r>
          </a:p>
        </p:txBody>
      </p:sp>
      <p:sp>
        <p:nvSpPr>
          <p:cNvPr id="19" name="TextBox 18"/>
          <p:cNvSpPr txBox="1"/>
          <p:nvPr/>
        </p:nvSpPr>
        <p:spPr>
          <a:xfrm>
            <a:off x="6530187"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可視的開示(任意)</a:t>
            </a:r>
          </a:p>
        </p:txBody>
      </p:sp>
      <p:sp>
        <p:nvSpPr>
          <p:cNvPr id="20" name="TextBox 19"/>
          <p:cNvSpPr txBox="1"/>
          <p:nvPr/>
        </p:nvSpPr>
        <p:spPr>
          <a:xfrm>
            <a:off x="6530187"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利用者が選べる、目に見える透かしのオプション</a:t>
            </a:r>
          </a:p>
        </p:txBody>
      </p:sp>
      <p:sp>
        <p:nvSpPr>
          <p:cNvPr id="21" name="Rounded Rectangle 20"/>
          <p:cNvSpPr/>
          <p:nvPr/>
        </p:nvSpPr>
        <p:spPr>
          <a:xfrm>
            <a:off x="9200921" y="1609344"/>
            <a:ext cx="2579293"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5201" y="1554480"/>
            <a:ext cx="2579293"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29521" y="1828800"/>
            <a:ext cx="2030653" cy="822960"/>
          </a:xfrm>
          <a:prstGeom prst="rect">
            <a:avLst/>
          </a:prstGeom>
          <a:noFill/>
        </p:spPr>
        <p:txBody>
          <a:bodyPr wrap="square" anchor="t" lIns="0" rIns="0" tIns="0" bIns="0">
            <a:spAutoFit/>
          </a:bodyPr>
          <a:lstStyle/>
          <a:p>
            <a:pPr algn="l"/>
            <a:r>
              <a:rPr sz="3400" b="1">
                <a:solidFill>
                  <a:srgbClr val="1F8FD6"/>
                </a:solidFill>
                <a:latin typeface="Yu Gothic"/>
              </a:rPr>
              <a:t>4</a:t>
            </a:r>
          </a:p>
        </p:txBody>
      </p:sp>
      <p:sp>
        <p:nvSpPr>
          <p:cNvPr id="24" name="TextBox 23"/>
          <p:cNvSpPr txBox="1"/>
          <p:nvPr/>
        </p:nvSpPr>
        <p:spPr>
          <a:xfrm>
            <a:off x="9429521" y="2834640"/>
            <a:ext cx="2030653" cy="548640"/>
          </a:xfrm>
          <a:prstGeom prst="rect">
            <a:avLst/>
          </a:prstGeom>
          <a:noFill/>
        </p:spPr>
        <p:txBody>
          <a:bodyPr wrap="square" anchor="t" lIns="0" rIns="0" tIns="0" bIns="0">
            <a:spAutoFit/>
          </a:bodyPr>
          <a:lstStyle/>
          <a:p>
            <a:pPr algn="l"/>
            <a:r>
              <a:rPr sz="1600" b="1">
                <a:solidFill>
                  <a:srgbClr val="2B3A55"/>
                </a:solidFill>
                <a:latin typeface="Yu Gothic"/>
              </a:rPr>
              <a:t>ライセンス先への適用</a:t>
            </a:r>
          </a:p>
        </p:txBody>
      </p:sp>
      <p:sp>
        <p:nvSpPr>
          <p:cNvPr id="25" name="TextBox 24"/>
          <p:cNvSpPr txBox="1"/>
          <p:nvPr/>
        </p:nvSpPr>
        <p:spPr>
          <a:xfrm>
            <a:off x="9429521" y="3520440"/>
            <a:ext cx="2030653"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サードパーティのライセンス先にも義務が及ぶ</a:t>
            </a:r>
          </a:p>
        </p:txBody>
      </p:sp>
      <p:sp>
        <p:nvSpPr>
          <p:cNvPr id="26" name="TextBox 25"/>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steg.ai</a:t>
            </a:r>
          </a:p>
        </p:txBody>
      </p:sp>
      <p:sp>
        <p:nvSpPr>
          <p:cNvPr id="27" name="TextBox 2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TechTimes・steg.ai ほか(施行日2026-08-02)｜定期実行67本目</a:t>
            </a:r>
          </a:p>
        </p:txBody>
      </p:sp>
      <p:sp>
        <p:nvSpPr>
          <p:cNvPr id="28" name="TextBox 2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対象事業者の基準(概念図)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生成AI提供者</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画像・動画・音声を生成するサービス</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月間利用者100万人超か</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この基準で対象かどうかが決まる</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対象なら義務が発生</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検出ツール・電子透かしの提供義務</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小規模な事業者は対象外、大規模事業者に限定した設計</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TechTimes・steg.ai ほか(施行日2026-08-02)｜定期実行67本目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検出ツール義務(具体的に)</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求められることを整理すると、次のとおりです。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無料で利用できるAI検出ツールを提供する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利用者がコンテンツの生成・改変の有無を確認できるようにする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対象は画像・動画・音声などの生成コンテンツ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steg.ai</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TechTimes・steg.ai ほか(施行日2026-08-02)｜定期実行67本目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電子透かし義務(具体的に)</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潜在的開示と可視的開示、2種類の透かしがあります。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潜在的開示(latent disclosure): 見た目には分からない電子透かしを埋め込む(必須)</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可視的開示(manifest disclosure): 目に見える透かしを利用者が選べるようにする(任意)</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いずれもAI生成画像・動画・音声が対象</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steg.ai</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TechTimes・steg.ai ほか(施行日2026-08-02)｜定期実行67本目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4つの義務、詳細一覧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義務</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検出ツール</a:t>
                      </a:r>
                    </a:p>
                  </a:txBody>
                  <a:tcPr>
                    <a:solidFill>
                      <a:srgbClr val="FFFFFF"/>
                    </a:solidFill>
                  </a:tcPr>
                </a:tc>
                <a:tc>
                  <a:txBody>
                    <a:bodyPr/>
                    <a:lstStyle/>
                    <a:p>
                      <a:pPr>
                        <a:defRPr sz="1200">
                          <a:solidFill>
                            <a:srgbClr val="1C2230"/>
                          </a:solidFill>
                          <a:latin typeface="Yu Gothic"/>
                        </a:defRPr>
                      </a:pPr>
                      <a:r>
                        <a:t>無料で提供し、利用者が生成・改変の有無を確認できるようにする</a:t>
                      </a:r>
                    </a:p>
                  </a:txBody>
                  <a:tcPr>
                    <a:solidFill>
                      <a:srgbClr val="FFFFFF"/>
                    </a:solidFill>
                  </a:tcPr>
                </a:tc>
              </a:tr>
              <a:tr h="502920">
                <a:tc>
                  <a:txBody>
                    <a:bodyPr/>
                    <a:lstStyle/>
                    <a:p>
                      <a:pPr>
                        <a:defRPr sz="1200">
                          <a:solidFill>
                            <a:srgbClr val="1C2230"/>
                          </a:solidFill>
                          <a:latin typeface="Yu Gothic"/>
                        </a:defRPr>
                      </a:pPr>
                      <a:r>
                        <a:t>潜在的開示</a:t>
                      </a:r>
                    </a:p>
                  </a:txBody>
                  <a:tcPr>
                    <a:solidFill>
                      <a:srgbClr val="F1F5FA"/>
                    </a:solidFill>
                  </a:tcPr>
                </a:tc>
                <a:tc>
                  <a:txBody>
                    <a:bodyPr/>
                    <a:lstStyle/>
                    <a:p>
                      <a:pPr>
                        <a:defRPr sz="1200">
                          <a:solidFill>
                            <a:srgbClr val="1C2230"/>
                          </a:solidFill>
                          <a:latin typeface="Yu Gothic"/>
                        </a:defRPr>
                      </a:pPr>
                      <a:r>
                        <a:t>AI生成画像・動画・音声に電子透かしを埋め込む(必須)</a:t>
                      </a:r>
                    </a:p>
                  </a:txBody>
                  <a:tcPr>
                    <a:solidFill>
                      <a:srgbClr val="F1F5FA"/>
                    </a:solidFill>
                  </a:tcPr>
                </a:tc>
              </a:tr>
              <a:tr h="502920">
                <a:tc>
                  <a:txBody>
                    <a:bodyPr/>
                    <a:lstStyle/>
                    <a:p>
                      <a:pPr>
                        <a:defRPr sz="1200">
                          <a:solidFill>
                            <a:srgbClr val="1C2230"/>
                          </a:solidFill>
                          <a:latin typeface="Yu Gothic"/>
                        </a:defRPr>
                      </a:pPr>
                      <a:r>
                        <a:t>可視的開示</a:t>
                      </a:r>
                    </a:p>
                  </a:txBody>
                  <a:tcPr>
                    <a:solidFill>
                      <a:srgbClr val="FFFFFF"/>
                    </a:solidFill>
                  </a:tcPr>
                </a:tc>
                <a:tc>
                  <a:txBody>
                    <a:bodyPr/>
                    <a:lstStyle/>
                    <a:p>
                      <a:pPr>
                        <a:defRPr sz="1200">
                          <a:solidFill>
                            <a:srgbClr val="1C2230"/>
                          </a:solidFill>
                          <a:latin typeface="Yu Gothic"/>
                        </a:defRPr>
                      </a:pPr>
                      <a:r>
                        <a:t>目に見える透かしを利用者が選べるようにする(任意)</a:t>
                      </a:r>
                    </a:p>
                  </a:txBody>
                  <a:tcPr>
                    <a:solidFill>
                      <a:srgbClr val="FFFFFF"/>
                    </a:solidFill>
                  </a:tcPr>
                </a:tc>
              </a:tr>
              <a:tr h="502920">
                <a:tc>
                  <a:txBody>
                    <a:bodyPr/>
                    <a:lstStyle/>
                    <a:p>
                      <a:pPr>
                        <a:defRPr sz="1200">
                          <a:solidFill>
                            <a:srgbClr val="1C2230"/>
                          </a:solidFill>
                          <a:latin typeface="Yu Gothic"/>
                        </a:defRPr>
                      </a:pPr>
                      <a:r>
                        <a:t>ライセンス先への適用</a:t>
                      </a:r>
                    </a:p>
                  </a:txBody>
                  <a:tcPr>
                    <a:solidFill>
                      <a:srgbClr val="F1F5FA"/>
                    </a:solidFill>
                  </a:tcPr>
                </a:tc>
                <a:tc>
                  <a:txBody>
                    <a:bodyPr/>
                    <a:lstStyle/>
                    <a:p>
                      <a:pPr>
                        <a:defRPr sz="1200">
                          <a:solidFill>
                            <a:srgbClr val="1C2230"/>
                          </a:solidFill>
                          <a:latin typeface="Yu Gothic"/>
                        </a:defRPr>
                      </a:pPr>
                      <a:r>
                        <a:t>サードパーティのライセンス先にも義務を及ぼす</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steg.ai</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TechTimes・steg.ai ほか(施行日2026-08-02)｜定期実行67本目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改めて、罰則の水準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$5,000 / 違反1件・1日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違反が続く限り、毎日新たな違反として累積する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steg.ai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罰則の仕組み</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誰が、どのように提訴できるのか、という点です。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州司法長官(Attorney General)が提訴できる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市検事(city attorney)・郡検事(county counsel)も提訴できる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勝訴した原告側には弁護士費用も認められる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steg.ai</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TechTimes・steg.ai ほか(施行日2026-08-02)｜定期実行67本目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報じられている具体例</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Midjourney</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施行日時点で電子透かし・C2PA対応が確認できないと報じられている(単一情報源、詳細は次スライド)</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TechTimes(2026-08-02)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Midjourneyについて報じられている内容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未実装</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C2PA・電子透かし</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施行日時点で確認できないと報じられている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2023年〜</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業界団体への参加</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Content Authenticity Initiativeの会員だが実装は未出荷と報じられている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注意</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情報源は単一</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TechTimesの記事以外に独立した裏付け報道は確認できていない</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TechTimes(2026-08-02)</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TechTimes・steg.ai ほか(施行日2026-08-02)｜定期実行67本目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情報源についての注意</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扱い</a:t>
                      </a:r>
                    </a:p>
                  </a:txBody>
                  <a:tcPr>
                    <a:solidFill>
                      <a:srgbClr val="2B3A55"/>
                    </a:solidFill>
                  </a:tcPr>
                </a:tc>
              </a:tr>
              <a:tr h="502920">
                <a:tc>
                  <a:txBody>
                    <a:bodyPr/>
                    <a:lstStyle/>
                    <a:p>
                      <a:pPr>
                        <a:defRPr sz="1200">
                          <a:solidFill>
                            <a:srgbClr val="1C2230"/>
                          </a:solidFill>
                          <a:latin typeface="Yu Gothic"/>
                        </a:defRPr>
                      </a:pPr>
                      <a:r>
                        <a:t>Midjourneyの対応状況</a:t>
                      </a:r>
                    </a:p>
                  </a:txBody>
                  <a:tcPr>
                    <a:solidFill>
                      <a:srgbClr val="FFFFFF"/>
                    </a:solidFill>
                  </a:tcPr>
                </a:tc>
                <a:tc>
                  <a:txBody>
                    <a:bodyPr/>
                    <a:lstStyle/>
                    <a:p>
                      <a:pPr>
                        <a:defRPr sz="1200">
                          <a:solidFill>
                            <a:srgbClr val="1C2230"/>
                          </a:solidFill>
                          <a:latin typeface="Yu Gothic"/>
                        </a:defRPr>
                      </a:pPr>
                      <a:r>
                        <a:t>TechTimesの記事のみが情報源。他媒体による独立した裏付けは確認できていない</a:t>
                      </a:r>
                    </a:p>
                  </a:txBody>
                  <a:tcPr>
                    <a:solidFill>
                      <a:srgbClr val="FFFFFF"/>
                    </a:solidFill>
                  </a:tcPr>
                </a:tc>
              </a:tr>
              <a:tr h="502920">
                <a:tc>
                  <a:txBody>
                    <a:bodyPr/>
                    <a:lstStyle/>
                    <a:p>
                      <a:pPr>
                        <a:defRPr sz="1200">
                          <a:solidFill>
                            <a:srgbClr val="1C2230"/>
                          </a:solidFill>
                          <a:latin typeface="Yu Gothic"/>
                        </a:defRPr>
                      </a:pPr>
                      <a:r>
                        <a:t>本テーマでの扱い方</a:t>
                      </a:r>
                    </a:p>
                  </a:txBody>
                  <a:tcPr>
                    <a:solidFill>
                      <a:srgbClr val="F1F5FA"/>
                    </a:solidFill>
                  </a:tcPr>
                </a:tc>
                <a:tc>
                  <a:txBody>
                    <a:bodyPr/>
                    <a:lstStyle/>
                    <a:p>
                      <a:pPr>
                        <a:defRPr sz="1200">
                          <a:solidFill>
                            <a:srgbClr val="1C2230"/>
                          </a:solidFill>
                          <a:latin typeface="Yu Gothic"/>
                        </a:defRPr>
                      </a:pPr>
                      <a:r>
                        <a:t>『TechTimesが報じている内容』として紹介し、断定的な事実として扱わない</a:t>
                      </a:r>
                    </a:p>
                  </a:txBody>
                  <a:tcPr>
                    <a:solidFill>
                      <a:srgbClr val="F1F5FA"/>
                    </a:solidFill>
                  </a:tcPr>
                </a:tc>
              </a:tr>
              <a:tr h="502920">
                <a:tc>
                  <a:txBody>
                    <a:bodyPr/>
                    <a:lstStyle/>
                    <a:p>
                      <a:pPr>
                        <a:defRPr sz="1200">
                          <a:solidFill>
                            <a:srgbClr val="1C2230"/>
                          </a:solidFill>
                          <a:latin typeface="Yu Gothic"/>
                        </a:defRPr>
                      </a:pPr>
                      <a:r>
                        <a:t>Midjourney社の公式コメント</a:t>
                      </a:r>
                    </a:p>
                  </a:txBody>
                  <a:tcPr>
                    <a:solidFill>
                      <a:srgbClr val="FFFFFF"/>
                    </a:solidFill>
                  </a:tcPr>
                </a:tc>
                <a:tc>
                  <a:txBody>
                    <a:bodyPr/>
                    <a:lstStyle/>
                    <a:p>
                      <a:pPr>
                        <a:defRPr sz="1200">
                          <a:solidFill>
                            <a:srgbClr val="1C2230"/>
                          </a:solidFill>
                          <a:latin typeface="Yu Gothic"/>
                        </a:defRPr>
                      </a:pPr>
                      <a:r>
                        <a:t>確認できていない</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TechTimes・steg.ai ほか(施行日2026-08-02)｜定期実行67本目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EUとカリフォルニア、同じ日に発効(概念図)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EU AI Act 第50条</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2026-08-02発効(66本目で紹介)</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同じ8月2日</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偶然か意図的な調整かは未確認</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カリフォルニア州AI透明性法</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2026-08-02施行(本テーマ)</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世界の複数地域で、同じ日にAI透明性規制が動き出した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TechTimes・steg.ai ほか(施行日2026-08-02)｜定期実行67本目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EU AI Act(昨日)とカリフォルニア州法(本日)の比較</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観点</a:t>
                      </a:r>
                    </a:p>
                  </a:txBody>
                  <a:tcPr>
                    <a:solidFill>
                      <a:srgbClr val="2B3A55"/>
                    </a:solidFill>
                  </a:tcPr>
                </a:tc>
                <a:tc>
                  <a:txBody>
                    <a:bodyPr/>
                    <a:lstStyle/>
                    <a:p>
                      <a:pPr>
                        <a:defRPr sz="1300" b="1">
                          <a:solidFill>
                            <a:srgbClr val="FFFFFF"/>
                          </a:solidFill>
                          <a:latin typeface="Yu Gothic"/>
                        </a:defRPr>
                      </a:pPr>
                      <a:r>
                        <a:t>EU AI Act 第50条</a:t>
                      </a:r>
                    </a:p>
                  </a:txBody>
                  <a:tcPr>
                    <a:solidFill>
                      <a:srgbClr val="2B3A55"/>
                    </a:solidFill>
                  </a:tcPr>
                </a:tc>
                <a:tc>
                  <a:txBody>
                    <a:bodyPr/>
                    <a:lstStyle/>
                    <a:p>
                      <a:pPr>
                        <a:defRPr sz="1300" b="1">
                          <a:solidFill>
                            <a:srgbClr val="FFFFFF"/>
                          </a:solidFill>
                          <a:latin typeface="Yu Gothic"/>
                        </a:defRPr>
                      </a:pPr>
                      <a:r>
                        <a:t>カリフォルニア州AI透明性法</a:t>
                      </a:r>
                    </a:p>
                  </a:txBody>
                  <a:tcPr>
                    <a:solidFill>
                      <a:srgbClr val="2B3A55"/>
                    </a:solidFill>
                  </a:tcPr>
                </a:tc>
              </a:tr>
              <a:tr h="502920">
                <a:tc>
                  <a:txBody>
                    <a:bodyPr/>
                    <a:lstStyle/>
                    <a:p>
                      <a:pPr>
                        <a:defRPr sz="1200">
                          <a:solidFill>
                            <a:srgbClr val="1C2230"/>
                          </a:solidFill>
                          <a:latin typeface="Yu Gothic"/>
                        </a:defRPr>
                      </a:pPr>
                      <a:r>
                        <a:t>規制主体</a:t>
                      </a:r>
                    </a:p>
                  </a:txBody>
                  <a:tcPr>
                    <a:solidFill>
                      <a:srgbClr val="FFFFFF"/>
                    </a:solidFill>
                  </a:tcPr>
                </a:tc>
                <a:tc>
                  <a:txBody>
                    <a:bodyPr/>
                    <a:lstStyle/>
                    <a:p>
                      <a:pPr>
                        <a:defRPr sz="1200">
                          <a:solidFill>
                            <a:srgbClr val="1C2230"/>
                          </a:solidFill>
                          <a:latin typeface="Yu Gothic"/>
                        </a:defRPr>
                      </a:pPr>
                      <a:r>
                        <a:t>EU(欧州委員会・加盟国当局)</a:t>
                      </a:r>
                    </a:p>
                  </a:txBody>
                  <a:tcPr>
                    <a:solidFill>
                      <a:srgbClr val="FFFFFF"/>
                    </a:solidFill>
                  </a:tcPr>
                </a:tc>
                <a:tc>
                  <a:txBody>
                    <a:bodyPr/>
                    <a:lstStyle/>
                    <a:p>
                      <a:pPr>
                        <a:defRPr sz="1200">
                          <a:solidFill>
                            <a:srgbClr val="1C2230"/>
                          </a:solidFill>
                          <a:latin typeface="Yu Gothic"/>
                        </a:defRPr>
                      </a:pPr>
                      <a:r>
                        <a:t>カリフォルニア州(司法長官・市検事・郡検事)</a:t>
                      </a:r>
                    </a:p>
                  </a:txBody>
                  <a:tcPr>
                    <a:solidFill>
                      <a:srgbClr val="FFFFFF"/>
                    </a:solidFill>
                  </a:tcPr>
                </a:tc>
              </a:tr>
              <a:tr h="502920">
                <a:tc>
                  <a:txBody>
                    <a:bodyPr/>
                    <a:lstStyle/>
                    <a:p>
                      <a:pPr>
                        <a:defRPr sz="1200">
                          <a:solidFill>
                            <a:srgbClr val="1C2230"/>
                          </a:solidFill>
                          <a:latin typeface="Yu Gothic"/>
                        </a:defRPr>
                      </a:pPr>
                      <a:r>
                        <a:t>主な義務</a:t>
                      </a:r>
                    </a:p>
                  </a:txBody>
                  <a:tcPr>
                    <a:solidFill>
                      <a:srgbClr val="F1F5FA"/>
                    </a:solidFill>
                  </a:tcPr>
                </a:tc>
                <a:tc>
                  <a:txBody>
                    <a:bodyPr/>
                    <a:lstStyle/>
                    <a:p>
                      <a:pPr>
                        <a:defRPr sz="1200">
                          <a:solidFill>
                            <a:srgbClr val="1C2230"/>
                          </a:solidFill>
                          <a:latin typeface="Yu Gothic"/>
                        </a:defRPr>
                      </a:pPr>
                      <a:r>
                        <a:t>チャットボットの名乗り・ディープフェイクのラベル表示</a:t>
                      </a:r>
                    </a:p>
                  </a:txBody>
                  <a:tcPr>
                    <a:solidFill>
                      <a:srgbClr val="F1F5FA"/>
                    </a:solidFill>
                  </a:tcPr>
                </a:tc>
                <a:tc>
                  <a:txBody>
                    <a:bodyPr/>
                    <a:lstStyle/>
                    <a:p>
                      <a:pPr>
                        <a:defRPr sz="1200">
                          <a:solidFill>
                            <a:srgbClr val="1C2230"/>
                          </a:solidFill>
                          <a:latin typeface="Yu Gothic"/>
                        </a:defRPr>
                      </a:pPr>
                      <a:r>
                        <a:t>検出ツールの提供・電子透かしの実装</a:t>
                      </a:r>
                    </a:p>
                  </a:txBody>
                  <a:tcPr>
                    <a:solidFill>
                      <a:srgbClr val="F1F5FA"/>
                    </a:solidFill>
                  </a:tcPr>
                </a:tc>
              </a:tr>
              <a:tr h="502920">
                <a:tc>
                  <a:txBody>
                    <a:bodyPr/>
                    <a:lstStyle/>
                    <a:p>
                      <a:pPr>
                        <a:defRPr sz="1200">
                          <a:solidFill>
                            <a:srgbClr val="1C2230"/>
                          </a:solidFill>
                          <a:latin typeface="Yu Gothic"/>
                        </a:defRPr>
                      </a:pPr>
                      <a:r>
                        <a:t>罰則の仕組み</a:t>
                      </a:r>
                    </a:p>
                  </a:txBody>
                  <a:tcPr>
                    <a:solidFill>
                      <a:srgbClr val="FFFFFF"/>
                    </a:solidFill>
                  </a:tcPr>
                </a:tc>
                <a:tc>
                  <a:txBody>
                    <a:bodyPr/>
                    <a:lstStyle/>
                    <a:p>
                      <a:pPr>
                        <a:defRPr sz="1200">
                          <a:solidFill>
                            <a:srgbClr val="1C2230"/>
                          </a:solidFill>
                          <a:latin typeface="Yu Gothic"/>
                        </a:defRPr>
                      </a:pPr>
                      <a:r>
                        <a:t>最大1,500万ユーロまたは売上高3%(一括方式)</a:t>
                      </a:r>
                    </a:p>
                  </a:txBody>
                  <a:tcPr>
                    <a:solidFill>
                      <a:srgbClr val="FFFFFF"/>
                    </a:solidFill>
                  </a:tcPr>
                </a:tc>
                <a:tc>
                  <a:txBody>
                    <a:bodyPr/>
                    <a:lstStyle/>
                    <a:p>
                      <a:pPr>
                        <a:defRPr sz="1200">
                          <a:solidFill>
                            <a:srgbClr val="1C2230"/>
                          </a:solidFill>
                          <a:latin typeface="Yu Gothic"/>
                        </a:defRPr>
                      </a:pPr>
                      <a:r>
                        <a:t>1件・1日あたり5,000ドル(累積方式)</a:t>
                      </a:r>
                    </a:p>
                  </a:txBody>
                  <a:tcPr>
                    <a:solidFill>
                      <a:srgbClr val="FFFFFF"/>
                    </a:solidFill>
                  </a:tcPr>
                </a:tc>
              </a:tr>
              <a:tr h="502920">
                <a:tc>
                  <a:txBody>
                    <a:bodyPr/>
                    <a:lstStyle/>
                    <a:p>
                      <a:pPr>
                        <a:defRPr sz="1200">
                          <a:solidFill>
                            <a:srgbClr val="1C2230"/>
                          </a:solidFill>
                          <a:latin typeface="Yu Gothic"/>
                        </a:defRPr>
                      </a:pPr>
                      <a:r>
                        <a:t>対象の絞り込み</a:t>
                      </a:r>
                    </a:p>
                  </a:txBody>
                  <a:tcPr>
                    <a:solidFill>
                      <a:srgbClr val="F1F5FA"/>
                    </a:solidFill>
                  </a:tcPr>
                </a:tc>
                <a:tc>
                  <a:txBody>
                    <a:bodyPr/>
                    <a:lstStyle/>
                    <a:p>
                      <a:pPr>
                        <a:defRPr sz="1200">
                          <a:solidFill>
                            <a:srgbClr val="1C2230"/>
                          </a:solidFill>
                          <a:latin typeface="Yu Gothic"/>
                        </a:defRPr>
                      </a:pPr>
                      <a:r>
                        <a:t>分野・機能ごとに規定</a:t>
                      </a:r>
                    </a:p>
                  </a:txBody>
                  <a:tcPr>
                    <a:solidFill>
                      <a:srgbClr val="F1F5FA"/>
                    </a:solidFill>
                  </a:tcPr>
                </a:tc>
                <a:tc>
                  <a:txBody>
                    <a:bodyPr/>
                    <a:lstStyle/>
                    <a:p>
                      <a:pPr>
                        <a:defRPr sz="1200">
                          <a:solidFill>
                            <a:srgbClr val="1C2230"/>
                          </a:solidFill>
                          <a:latin typeface="Yu Gothic"/>
                        </a:defRPr>
                      </a:pPr>
                      <a:r>
                        <a:t>月間利用者100万人超の事業者に限定</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TechTimes・steg.ai ほか(施行日2026-08-02)｜定期実行67本目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施行までの経緯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SB 942制定</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カリフォルニア州でAI透明性法として制定</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AB 853による改正</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施行日をEUの日程に合わせる形で変更</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2026年8月2日施行</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検出ツール・電子透かしの義務が発生(本テーマ)</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TechTimes・steg.ai ほか(施行日2026-08-02)｜定期実行67本目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対象事業者の基準</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月間利用者100万人超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この基準を超える大規模な生成AI提供者が対象</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Regulations.ai</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大規模事業者 vs 小規模事業者</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月間利用者100万人超(対象)</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検出ツール・電子透かしの提供が義務</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違反時は1日あたり5,000ドルの罰則対象</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サードパーティのライセンス先にも義務が及ぶ</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月間利用者100万人以下(対象外)</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本法律の義務は適用されない</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ただし将来的な基準見直しの可能性はある</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他の規制(EU AI Act等)は別途対象になりうる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TechTimes・steg.ai ほか(施行日2026-08-02)｜定期実行67本目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読み解く上での注意点(1)</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本テーマを見るときに意識しておきたい点です。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本テーマは企業の自社発表ではなく、公的機関(カリフォルニア州)による法規制の施行</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Midjourneyの件はTechTimesという単一の情報源に基づく報道である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施行直後のため、実際に執行(罰金賦課等)された事例はまだ確認できていない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条文原文全体は直接確認できておらず、複数の法律専門メディアの要約に基づく</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TechTimes・steg.ai ほか(施行日2026-08-02)｜定期実行67本目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状況</a:t>
                      </a:r>
                    </a:p>
                  </a:txBody>
                  <a:tcPr>
                    <a:solidFill>
                      <a:srgbClr val="2B3A55"/>
                    </a:solidFill>
                  </a:tcPr>
                </a:tc>
              </a:tr>
              <a:tr h="502920">
                <a:tc>
                  <a:txBody>
                    <a:bodyPr/>
                    <a:lstStyle/>
                    <a:p>
                      <a:pPr>
                        <a:defRPr sz="1200">
                          <a:solidFill>
                            <a:srgbClr val="1C2230"/>
                          </a:solidFill>
                          <a:latin typeface="Yu Gothic"/>
                        </a:defRPr>
                      </a:pPr>
                      <a:r>
                        <a:t>カリフォルニア州法の条文原文全体</a:t>
                      </a:r>
                    </a:p>
                  </a:txBody>
                  <a:tcPr>
                    <a:solidFill>
                      <a:srgbClr val="FFFFFF"/>
                    </a:solidFill>
                  </a:tcPr>
                </a:tc>
                <a:tc>
                  <a:txBody>
                    <a:bodyPr/>
                    <a:lstStyle/>
                    <a:p>
                      <a:pPr>
                        <a:defRPr sz="1200">
                          <a:solidFill>
                            <a:srgbClr val="1C2230"/>
                          </a:solidFill>
                          <a:latin typeface="Yu Gothic"/>
                        </a:defRPr>
                      </a:pPr>
                      <a:r>
                        <a:t>WebFetchのアクセス制限により未確認、複数媒体の要約に基づく</a:t>
                      </a:r>
                    </a:p>
                  </a:txBody>
                  <a:tcPr>
                    <a:solidFill>
                      <a:srgbClr val="FFFFFF"/>
                    </a:solidFill>
                  </a:tcPr>
                </a:tc>
              </a:tr>
              <a:tr h="502920">
                <a:tc>
                  <a:txBody>
                    <a:bodyPr/>
                    <a:lstStyle/>
                    <a:p>
                      <a:pPr>
                        <a:defRPr sz="1200">
                          <a:solidFill>
                            <a:srgbClr val="1C2230"/>
                          </a:solidFill>
                          <a:latin typeface="Yu Gothic"/>
                        </a:defRPr>
                      </a:pPr>
                      <a:r>
                        <a:t>Midjourneyの対応状況の独立した裏付け</a:t>
                      </a:r>
                    </a:p>
                  </a:txBody>
                  <a:tcPr>
                    <a:solidFill>
                      <a:srgbClr val="F1F5FA"/>
                    </a:solidFill>
                  </a:tcPr>
                </a:tc>
                <a:tc>
                  <a:txBody>
                    <a:bodyPr/>
                    <a:lstStyle/>
                    <a:p>
                      <a:pPr>
                        <a:defRPr sz="1200">
                          <a:solidFill>
                            <a:srgbClr val="1C2230"/>
                          </a:solidFill>
                          <a:latin typeface="Yu Gothic"/>
                        </a:defRPr>
                      </a:pPr>
                      <a:r>
                        <a:t>TechTimes以外の報道は確認できていない</a:t>
                      </a:r>
                    </a:p>
                  </a:txBody>
                  <a:tcPr>
                    <a:solidFill>
                      <a:srgbClr val="F1F5FA"/>
                    </a:solidFill>
                  </a:tcPr>
                </a:tc>
              </a:tr>
              <a:tr h="502920">
                <a:tc>
                  <a:txBody>
                    <a:bodyPr/>
                    <a:lstStyle/>
                    <a:p>
                      <a:pPr>
                        <a:defRPr sz="1200">
                          <a:solidFill>
                            <a:srgbClr val="1C2230"/>
                          </a:solidFill>
                          <a:latin typeface="Yu Gothic"/>
                        </a:defRPr>
                      </a:pPr>
                      <a:r>
                        <a:t>実際に執行(罰金賦課等)された事例</a:t>
                      </a:r>
                    </a:p>
                  </a:txBody>
                  <a:tcPr>
                    <a:solidFill>
                      <a:srgbClr val="FFFFFF"/>
                    </a:solidFill>
                  </a:tcPr>
                </a:tc>
                <a:tc>
                  <a:txBody>
                    <a:bodyPr/>
                    <a:lstStyle/>
                    <a:p>
                      <a:pPr>
                        <a:defRPr sz="1200">
                          <a:solidFill>
                            <a:srgbClr val="1C2230"/>
                          </a:solidFill>
                          <a:latin typeface="Yu Gothic"/>
                        </a:defRPr>
                      </a:pPr>
                      <a:r>
                        <a:t>施行直後のため確認できていない</a:t>
                      </a:r>
                    </a:p>
                  </a:txBody>
                  <a:tcPr>
                    <a:solidFill>
                      <a:srgbClr val="FFFFFF"/>
                    </a:solidFill>
                  </a:tcPr>
                </a:tc>
              </a:tr>
              <a:tr h="502920">
                <a:tc>
                  <a:txBody>
                    <a:bodyPr/>
                    <a:lstStyle/>
                    <a:p>
                      <a:pPr>
                        <a:defRPr sz="1200">
                          <a:solidFill>
                            <a:srgbClr val="1C2230"/>
                          </a:solidFill>
                          <a:latin typeface="Yu Gothic"/>
                        </a:defRPr>
                      </a:pPr>
                      <a:r>
                        <a:t>対象となる具体的な事業者数・企業名の一覧</a:t>
                      </a:r>
                    </a:p>
                  </a:txBody>
                  <a:tcPr>
                    <a:solidFill>
                      <a:srgbClr val="F1F5FA"/>
                    </a:solidFill>
                  </a:tcPr>
                </a:tc>
                <a:tc>
                  <a:txBody>
                    <a:bodyPr/>
                    <a:lstStyle/>
                    <a:p>
                      <a:pPr>
                        <a:defRPr sz="1200">
                          <a:solidFill>
                            <a:srgbClr val="1C2230"/>
                          </a:solidFill>
                          <a:latin typeface="Yu Gothic"/>
                        </a:defRPr>
                      </a:pPr>
                      <a:r>
                        <a:t>非公表・未確認</a:t>
                      </a:r>
                    </a:p>
                  </a:txBody>
                  <a:tcPr>
                    <a:solidFill>
                      <a:srgbClr val="F1F5FA"/>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TechTimes・steg.ai ほか(施行日2026-08-02)｜定期実行67本目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読み解く上での注意点(2)</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日本企業への影響について触れておきます。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カリフォルニア州向けにサービスを提供する日本企業も、基準を満たせば対象になりうる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月間利用者100万人超という基準は、多くの日本企業には直接関係しない可能性がある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具体的にどれだけの日本企業が対象・対応済みかは確認できていない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本テーマは米国の規制の紹介として扱う</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TechTimes・steg.ai ほか(施行日2026-08-02)｜定期実行67本目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本パイプラインの既存テーマとの位置づけ(概念図)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資金調達・製品ローンチ・料金制度</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58〜65本目の中心的な切り口</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EU AI Act 透明性義務</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66本目</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カリフォルニア州AI透明性法</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本テーマ(67本目)</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A6474"/>
                </a:solidFill>
                <a:latin typeface="Yu Gothic"/>
              </a:rPr>
              <a:t>「規制される」段階の話が、複数の地域にまたがって続いている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TechTimes・steg.ai ほか(施行日2026-08-02)｜定期実行67本目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既存テーマとの違い(重複確認)</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近いテーマ</a:t>
                      </a:r>
                    </a:p>
                  </a:txBody>
                  <a:tcPr>
                    <a:solidFill>
                      <a:srgbClr val="2B3A55"/>
                    </a:solidFill>
                  </a:tcPr>
                </a:tc>
                <a:tc>
                  <a:txBody>
                    <a:bodyPr/>
                    <a:lstStyle/>
                    <a:p>
                      <a:pPr>
                        <a:defRPr sz="1300" b="1">
                          <a:solidFill>
                            <a:srgbClr val="FFFFFF"/>
                          </a:solidFill>
                          <a:latin typeface="Yu Gothic"/>
                        </a:defRPr>
                      </a:pPr>
                      <a:r>
                        <a:t>本テーマとの違い</a:t>
                      </a:r>
                    </a:p>
                  </a:txBody>
                  <a:tcPr>
                    <a:solidFill>
                      <a:srgbClr val="2B3A55"/>
                    </a:solidFill>
                  </a:tcPr>
                </a:tc>
              </a:tr>
              <a:tr h="502920">
                <a:tc>
                  <a:txBody>
                    <a:bodyPr/>
                    <a:lstStyle/>
                    <a:p>
                      <a:pPr>
                        <a:defRPr sz="1200">
                          <a:solidFill>
                            <a:srgbClr val="1C2230"/>
                          </a:solidFill>
                          <a:latin typeface="Yu Gothic"/>
                        </a:defRPr>
                      </a:pPr>
                      <a:r>
                        <a:t>2026-08-03_eu-ai-act-transparency-obligations(66本目)</a:t>
                      </a:r>
                    </a:p>
                  </a:txBody>
                  <a:tcPr>
                    <a:solidFill>
                      <a:srgbClr val="FFFFFF"/>
                    </a:solidFill>
                  </a:tcPr>
                </a:tc>
                <a:tc>
                  <a:txBody>
                    <a:bodyPr/>
                    <a:lstStyle/>
                    <a:p>
                      <a:pPr>
                        <a:defRPr sz="1200">
                          <a:solidFill>
                            <a:srgbClr val="1C2230"/>
                          </a:solidFill>
                          <a:latin typeface="Yu Gothic"/>
                        </a:defRPr>
                      </a:pPr>
                      <a:r>
                        <a:t>規制主体・罰則の仕組み・具体的な技術要件が異なる(本編スライド16で比較)</a:t>
                      </a:r>
                    </a:p>
                  </a:txBody>
                  <a:tcPr>
                    <a:solidFill>
                      <a:srgbClr val="FFFFFF"/>
                    </a:solidFill>
                  </a:tcPr>
                </a:tc>
              </a:tr>
              <a:tr h="502920">
                <a:tc>
                  <a:txBody>
                    <a:bodyPr/>
                    <a:lstStyle/>
                    <a:p>
                      <a:pPr>
                        <a:defRPr sz="1200">
                          <a:solidFill>
                            <a:srgbClr val="1C2230"/>
                          </a:solidFill>
                          <a:latin typeface="Yu Gothic"/>
                        </a:defRPr>
                      </a:pPr>
                      <a:r>
                        <a:t>58〜65本目の資金調達・製品系テーマ</a:t>
                      </a:r>
                    </a:p>
                  </a:txBody>
                  <a:tcPr>
                    <a:solidFill>
                      <a:srgbClr val="F1F5FA"/>
                    </a:solidFill>
                  </a:tcPr>
                </a:tc>
                <a:tc>
                  <a:txBody>
                    <a:bodyPr/>
                    <a:lstStyle/>
                    <a:p>
                      <a:pPr>
                        <a:defRPr sz="1200">
                          <a:solidFill>
                            <a:srgbClr val="1C2230"/>
                          </a:solidFill>
                          <a:latin typeface="Yu Gothic"/>
                        </a:defRPr>
                      </a:pPr>
                      <a:r>
                        <a:t>あちらは「調達される・作られる」段階、本テーマは「規制される」段階で切り口が異なる</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TechTimes・steg.ai ほか(施行日2026-08-02)｜定期実行67本目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想定される影響(合理的推測)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電子透かし技術の需要増</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対象事業者による透かし実装への投資が進むと考えられる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検出ツール市場の拡大</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AI検出ツールを提供するサービスの需要が増えると考えられる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1F8FD6"/>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B3A55"/>
                </a:solidFill>
                <a:latin typeface="Yu Gothic"/>
              </a:rPr>
              <a:t>複数地域対応の負担</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EU・カリフォルニア双方への対応が必要になる事業者が出てくると考えられる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TechTimes・steg.ai ほか(施行日2026-08-02)｜定期実行67本目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事業者が今のうちに確認しておきたいこと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対象範囲の確認</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月間利用者数がカリフォルニア州の基準に該当するか確認する</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検出ツールの整備</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無料で提供できるAI検出ツールがあるか確認する</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電子透かしの実装状況の確認</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潜在的開示(電子透かし)が実装されているか確認する</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EUとの重複対応の整理</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EU AI Actとあわせて対応すべき項目を整理する</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TechTimes・steg.ai ほか(施行日2026-08-02)｜定期実行67本目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変わったこと・変わらないこと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変わったこと</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大規模生成AI提供者に検出ツール・電子透かしの義務が発生</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違反時に1日あたり5,000ドルの罰則が生じる</a:t>
            </a:r>
          </a:p>
        </p:txBody>
      </p:sp>
      <p:sp>
        <p:nvSpPr>
          <p:cNvPr id="13" name="Oval 12"/>
          <p:cNvSpPr/>
          <p:nvPr/>
        </p:nvSpPr>
        <p:spPr>
          <a:xfrm>
            <a:off x="777240"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市・郡の検事も執行に関われるようになった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変わらないこと</a:t>
            </a:r>
          </a:p>
        </p:txBody>
      </p:sp>
      <p:sp>
        <p:nvSpPr>
          <p:cNvPr id="18" name="Oval 17"/>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月間利用者100万人以下の事業者は対象外のまま</a:t>
            </a:r>
          </a:p>
        </p:txBody>
      </p:sp>
      <p:sp>
        <p:nvSpPr>
          <p:cNvPr id="20" name="Oval 19"/>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AI技術・サービス自体の提供は禁止されていない</a:t>
            </a:r>
          </a:p>
        </p:txBody>
      </p:sp>
      <p:sp>
        <p:nvSpPr>
          <p:cNvPr id="22" name="Oval 21"/>
          <p:cNvSpPr/>
          <p:nvPr/>
        </p:nvSpPr>
        <p:spPr>
          <a:xfrm>
            <a:off x="6598767" y="363016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可視的開示(見える透かし)はあくまで利用者が選べる任意機能のまま</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TechTimes・steg.ai ほか(施行日2026-08-02)｜定期実行67本目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この発表から得られる学び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個別の企業評価ではなく、一般的な視点としてまとめます。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AI関連の法規制は、EUだけでなく米国の州単位でも動いている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『施行日が同じ』でも、規制の中身・罰則の仕組みは地域ごとに大きく異なる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著名企業の対応状況を報じる記事は、情報源の数(単一か複数か)を確認する価値がある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対象事業者の基準(利用者数等)を確認し、自分に関係する話かどうかを見極めるとよい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TechTimes・steg.ai ほか(施行日2026-08-02)｜定期実行67本目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$5,000 / 違反1件・1日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2026年8月2日施行。EUと同日、別の仕組みでAI透明性規制が動き出した。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本編のまとめ</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『同じカテゴリ』のニュースこそ、違いを丁寧に確認する。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EUとカリフォルニア、どちらも『AI透明性規制』ですが中身は別物です。次に似たニュースを見るときも、この視点を持ってみてください。</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