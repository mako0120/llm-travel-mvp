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AIチップの中で今、渋滞が起きています。SK hynixとSanDiskが2026年8月3日、その渋滞を解消するかもしれない新しいメモリの層「HBF」の初の技術仕様を、業界標準化団体OCPを通じて発表しました。今日はこの発表を、出典に基づいて整理してお届けします。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今日わかることは6つです。何が起きたのか、AIチップの渋滞とは何か、メモリの階層とは何か、技術仕様の中身、UCIeとは何か、そして確認できたこと・できなかったこと・鮮度についてです。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何が起きたのか整理します。SK hynixとSanDiskが2026年8月3日、OCPを通じてAI推論向け新メモリ規格HBFの初の技術仕様を発表しました。HBFはHBMとSSDの間に位置する新しいメモリ層です。発表はFlash Memory Summit 2026の開幕にあわせて行われました。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発表日はこちら、2026年8月3日です。着手日の2日前という、鮮度基準ぎりぎりのタイミングで、SK hynixとSanDiskがHBFの初の技術仕様を発表しました。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発表概要を表にまとめました。発表した企業はSK hynixとSanDisk、発表したものはHBFの初の技術仕様、発表経路はOCP、発表日は8月3日、発表の場はFMS2026です。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登場人物・関係者を整理します。SK hynix、SanDisk、技術仕様を公開したOCP、そして発表のタイミングにあわせたイベントであるFlash Memory Summit 2026です。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初心者向けに説明します。AI推論では演算装置が大量のデータをメモリとやり取りしますが、高速小容量のHBMと大容量低速のSSDの間にすき間がありました。このすき間を埋めるのがHBFです。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メモリの階層を概念図で示します。HBMは高帯域幅・小容量、SSDは大容量・低帯域幅です。HBFはこの2つの間に位置する新しいメモリ層として提案されました。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速度と容量のトレードオフです。HBMは最速だが容量が限られ、SSDは大容量だが低速、HBFはその中間の新しい選択肢として位置づけられています。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HBMとSSDの強みと弱みを比較します。HBMは帯域幅が高い一方で容量が限られ、SSDは容量が大きい一方で帯域幅が低いという、対照的な特性を持っています。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初心者向けに説明します。HBFはNAND型フラッシュメモリを積層したチップをベースにした、AI推論向けの新しいメモリ規格です。今回発表されたのは初の技術仕様であり、製品化そのものとは別の段階です。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HBFの技術仕様を表にまとめました。最大容量512GB、8層または16層のNANDダイスタック、3段階の帯域幅クラス、UCIe採用という中身です。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HBFの初期仕様がサポートする最大容量はこちら、512GBです。8層または16層のNANDダイスタック構成によって実現されています。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帯域幅クラスは3段階です。最小クラスが約0.4TB/s、最大クラスが約3.0TB/s、中間クラスはこの範囲内に位置づけられています。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初心者向けに説明します。UCIeは異なるメーカーのチップレット同士をつなぐオープンな業界標準規格です。HBFはこれを採用し、GPU・CPUなど異なる処理装置と接続できる設計になっています。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UCIeによるオープンなチップレット接続を概念図で示します。GPUなどの演算装置が、オープンな接続規格であるUCIeを介して、新しいメモリ層であるHBFと接続される設計です。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UCIe採用が意味することを整理します。オープン性、異種プロセッサへの対応、そして複数メーカーの製品を組み合わせられる可能性のあるエコシステムの広がりです。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従来型の専有インターコネクトとUCIeを比較します。従来型は特定メーカーの製品に接続が限定されやすい一方、UCIeは異なるメーカーの製品を組み合わせやすい設計を志向しています。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なぜOCPを通じた発表なのかを説明します。OCPという業界横断の標準化団体を通じて公開することで、他の企業も参照・議論できるオープンな仕様として位置づけられています。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発表の場について整理します。Flash Memory Summit 2026は2026年8月4日から6日まで、米カリフォルニア州サンタクララで開催され、今回の発表はその開幕にあわせて行われました。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この発表が意味することです。AI推論システムには新しい選択肢が加わる可能性、半導体業界にはオープンな標準化の動き、開発者にはUCIe経由の新しい仕様が示されました。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未確認事項を一覧にしました。実際の量産時期、最初に採用する企業・製品、価格、他の主要メモリメーカーの採用計画、実際の性能ベンチマーク、いずれも本調査の範囲では確認できていません。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確認できたこと・できなかったことを正直に整理します。発表日や技術仕様は確認できていますが、量産時期・採用企業・価格・他社の動向は確認できていません。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鮮度について開示します。発表は着手日の2日前であり、新基準を際どいラインで満たしています。round82評価表ではスコア72/100で採用されました。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公平性・中立性について開示します。特定企業・製品の利用を強く推奨する結論にはしておらず、実在企業名・団体名はテキストのみで扱っています。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round82評価表からの開示です。評価スコアは72/100で、分かりやすいフックと信頼性の高さ、鮮度基準ぎりぎりながら満たしている点が評価されました。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出典一覧です。SanDisk公式プレスリリース、SK hynix Newsroom、HPCwire、PR Newswireという複数の情報源で報じられています。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既存テーマとの関係を確認しました。SK hynix・SanDisk・HBFを主題とした既存テーマはなく、重複ではありません。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今回のニュースの3つのポイントです。新しいメモリ層の登場、最大512GB・3段階の帯域幅クラスという具体的な仕様、そしてUCIe採用によるオープンな接続規格の志向です。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チップの渋滞は本当に解消するのか。量産時期や採用企業、価格、他のメモリメーカーの動向はまだ見えていません。確認できたこと・できなかったことを区別しながら、続報を注目していきましょう。今回もご視聴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AIチップが渋滞する問題に、SK hynixとSanDiskが出した答えは「新しいメモリの層」だった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CE6F5"/>
                </a:solidFill>
                <a:latin typeface="Yu Gothic"/>
              </a:rPr>
              <a:t>SK hynixとSanDisk、AI推論向け新メモリ規格「HBF」の初の技術仕様をOCP経由で発表</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A9C0D8"/>
                </a:solidFill>
                <a:latin typeface="Yu Gothic"/>
              </a:rPr>
              <a:t>出典: SanDisk公式プレスリリース(2026-08-03)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今日わかること</a:t>
            </a:r>
          </a:p>
        </p:txBody>
      </p:sp>
      <p:sp>
        <p:nvSpPr>
          <p:cNvPr id="5" name="Oval 4"/>
          <p:cNvSpPr/>
          <p:nvPr/>
        </p:nvSpPr>
        <p:spPr>
          <a:xfrm>
            <a:off x="548640" y="192024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CE6F5"/>
                </a:solidFill>
                <a:latin typeface="Yu Gothic"/>
              </a:rPr>
              <a:t>何が起きたのか</a:t>
            </a:r>
          </a:p>
        </p:txBody>
      </p:sp>
      <p:sp>
        <p:nvSpPr>
          <p:cNvPr id="7" name="Oval 6"/>
          <p:cNvSpPr/>
          <p:nvPr/>
        </p:nvSpPr>
        <p:spPr>
          <a:xfrm>
            <a:off x="548640" y="269748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CE6F5"/>
                </a:solidFill>
                <a:latin typeface="Yu Gothic"/>
              </a:rPr>
              <a:t>初心者向け: そもそもAIチップの'渋滞'とは何か</a:t>
            </a:r>
          </a:p>
        </p:txBody>
      </p:sp>
      <p:sp>
        <p:nvSpPr>
          <p:cNvPr id="9" name="Oval 8"/>
          <p:cNvSpPr/>
          <p:nvPr/>
        </p:nvSpPr>
        <p:spPr>
          <a:xfrm>
            <a:off x="548640" y="347472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CE6F5"/>
                </a:solidFill>
                <a:latin typeface="Yu Gothic"/>
              </a:rPr>
              <a:t>初心者向け: メモリの階層(HBM・HBF・SSD)とは何か</a:t>
            </a:r>
          </a:p>
        </p:txBody>
      </p:sp>
      <p:sp>
        <p:nvSpPr>
          <p:cNvPr id="11" name="Oval 10"/>
          <p:cNvSpPr/>
          <p:nvPr/>
        </p:nvSpPr>
        <p:spPr>
          <a:xfrm>
            <a:off x="548640" y="425196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CE6F5"/>
                </a:solidFill>
                <a:latin typeface="Yu Gothic"/>
              </a:rPr>
              <a:t>技術仕様(容量・帯域幅クラス・ダイスタック)</a:t>
            </a:r>
          </a:p>
        </p:txBody>
      </p:sp>
      <p:sp>
        <p:nvSpPr>
          <p:cNvPr id="13" name="Oval 12"/>
          <p:cNvSpPr/>
          <p:nvPr/>
        </p:nvSpPr>
        <p:spPr>
          <a:xfrm>
            <a:off x="548640" y="502920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CE6F5"/>
                </a:solidFill>
                <a:latin typeface="Yu Gothic"/>
              </a:rPr>
              <a:t>初心者向け: UCIe(オープンなチップレット接続規格)とは何か</a:t>
            </a:r>
          </a:p>
        </p:txBody>
      </p:sp>
      <p:sp>
        <p:nvSpPr>
          <p:cNvPr id="15" name="Oval 14"/>
          <p:cNvSpPr/>
          <p:nvPr/>
        </p:nvSpPr>
        <p:spPr>
          <a:xfrm>
            <a:off x="548640" y="580644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DCE6F5"/>
                </a:solidFill>
                <a:latin typeface="Yu Gothic"/>
              </a:rPr>
              <a:t>確認できたこと・できなかったこと・鮮度について</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何が起きたのか</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SK hynixとSanDiskが2026年8月3日、Open Compute Project(OCP)を通じてAI推論向け新メモリ規格「HBF(High Bandwidth Flash)」の初の技術仕様を発表した</a:t>
            </a:r>
          </a:p>
        </p:txBody>
      </p:sp>
      <p:sp>
        <p:nvSpPr>
          <p:cNvPr id="8" name="Oval 7"/>
          <p:cNvSpPr/>
          <p:nvPr/>
        </p:nvSpPr>
        <p:spPr>
          <a:xfrm>
            <a:off x="457200" y="225856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HBFは、既存のHBM(高帯域幅メモリ)とSSDの間に位置する新しいメモリ層と位置づけられている</a:t>
            </a:r>
          </a:p>
        </p:txBody>
      </p:sp>
      <p:sp>
        <p:nvSpPr>
          <p:cNvPr id="10" name="Oval 9"/>
          <p:cNvSpPr/>
          <p:nvPr/>
        </p:nvSpPr>
        <p:spPr>
          <a:xfrm>
            <a:off x="457200" y="30358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AI推論ワークロードにおけるメモリの帯域幅・容量の制約に対応することを狙った規格</a:t>
            </a:r>
          </a:p>
        </p:txBody>
      </p:sp>
      <p:sp>
        <p:nvSpPr>
          <p:cNvPr id="12" name="Oval 11"/>
          <p:cNvSpPr/>
          <p:nvPr/>
        </p:nvSpPr>
        <p:spPr>
          <a:xfrm>
            <a:off x="457200" y="38130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発表は、米カリフォルニア州で開催中のFlash Memory Summit(FMS)2026(2026年8月4〜6日)の開幕にあわせて行われた</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SanDisk公式プレスリリース(2026-08-03)</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SanDisk公式プレスリリース(2026-08-03)ほか｜定期実行140本目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発表日</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2026年8月3日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SK hynixとSanDisk、OCP経由でHBFの初の技術仕様を発表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SanDisk公式プレスリリース(2026-08-03)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発表概要</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3A5C"/>
                    </a:solidFill>
                  </a:tcPr>
                </a:tc>
                <a:tc>
                  <a:txBody>
                    <a:bodyPr/>
                    <a:lstStyle/>
                    <a:p>
                      <a:pPr>
                        <a:defRPr sz="1300" b="1">
                          <a:solidFill>
                            <a:srgbClr val="FFFFFF"/>
                          </a:solidFill>
                          <a:latin typeface="Yu Gothic"/>
                        </a:defRPr>
                      </a:pPr>
                      <a:r>
                        <a:t>内容</a:t>
                      </a:r>
                    </a:p>
                  </a:txBody>
                  <a:tcPr>
                    <a:solidFill>
                      <a:srgbClr val="1B3A5C"/>
                    </a:solidFill>
                  </a:tcPr>
                </a:tc>
              </a:tr>
              <a:tr h="502920">
                <a:tc>
                  <a:txBody>
                    <a:bodyPr/>
                    <a:lstStyle/>
                    <a:p>
                      <a:pPr>
                        <a:defRPr sz="1200">
                          <a:solidFill>
                            <a:srgbClr val="16202E"/>
                          </a:solidFill>
                          <a:latin typeface="Yu Gothic"/>
                        </a:defRPr>
                      </a:pPr>
                      <a:r>
                        <a:t>発表した企業</a:t>
                      </a:r>
                    </a:p>
                  </a:txBody>
                  <a:tcPr>
                    <a:solidFill>
                      <a:srgbClr val="FFFFFF"/>
                    </a:solidFill>
                  </a:tcPr>
                </a:tc>
                <a:tc>
                  <a:txBody>
                    <a:bodyPr/>
                    <a:lstStyle/>
                    <a:p>
                      <a:pPr>
                        <a:defRPr sz="1200">
                          <a:solidFill>
                            <a:srgbClr val="16202E"/>
                          </a:solidFill>
                          <a:latin typeface="Yu Gothic"/>
                        </a:defRPr>
                      </a:pPr>
                      <a:r>
                        <a:t>SK hynix、SanDisk</a:t>
                      </a:r>
                    </a:p>
                  </a:txBody>
                  <a:tcPr>
                    <a:solidFill>
                      <a:srgbClr val="FFFFFF"/>
                    </a:solidFill>
                  </a:tcPr>
                </a:tc>
              </a:tr>
              <a:tr h="502920">
                <a:tc>
                  <a:txBody>
                    <a:bodyPr/>
                    <a:lstStyle/>
                    <a:p>
                      <a:pPr>
                        <a:defRPr sz="1200">
                          <a:solidFill>
                            <a:srgbClr val="16202E"/>
                          </a:solidFill>
                          <a:latin typeface="Yu Gothic"/>
                        </a:defRPr>
                      </a:pPr>
                      <a:r>
                        <a:t>発表したもの</a:t>
                      </a:r>
                    </a:p>
                  </a:txBody>
                  <a:tcPr>
                    <a:solidFill>
                      <a:srgbClr val="F2F6FA"/>
                    </a:solidFill>
                  </a:tcPr>
                </a:tc>
                <a:tc>
                  <a:txBody>
                    <a:bodyPr/>
                    <a:lstStyle/>
                    <a:p>
                      <a:pPr>
                        <a:defRPr sz="1200">
                          <a:solidFill>
                            <a:srgbClr val="16202E"/>
                          </a:solidFill>
                          <a:latin typeface="Yu Gothic"/>
                        </a:defRPr>
                      </a:pPr>
                      <a:r>
                        <a:t>AI推論向け新メモリ規格「HBF」の初の技術仕様</a:t>
                      </a:r>
                    </a:p>
                  </a:txBody>
                  <a:tcPr>
                    <a:solidFill>
                      <a:srgbClr val="F2F6FA"/>
                    </a:solidFill>
                  </a:tcPr>
                </a:tc>
              </a:tr>
              <a:tr h="502920">
                <a:tc>
                  <a:txBody>
                    <a:bodyPr/>
                    <a:lstStyle/>
                    <a:p>
                      <a:pPr>
                        <a:defRPr sz="1200">
                          <a:solidFill>
                            <a:srgbClr val="16202E"/>
                          </a:solidFill>
                          <a:latin typeface="Yu Gothic"/>
                        </a:defRPr>
                      </a:pPr>
                      <a:r>
                        <a:t>発表経路</a:t>
                      </a:r>
                    </a:p>
                  </a:txBody>
                  <a:tcPr>
                    <a:solidFill>
                      <a:srgbClr val="FFFFFF"/>
                    </a:solidFill>
                  </a:tcPr>
                </a:tc>
                <a:tc>
                  <a:txBody>
                    <a:bodyPr/>
                    <a:lstStyle/>
                    <a:p>
                      <a:pPr>
                        <a:defRPr sz="1200">
                          <a:solidFill>
                            <a:srgbClr val="16202E"/>
                          </a:solidFill>
                          <a:latin typeface="Yu Gothic"/>
                        </a:defRPr>
                      </a:pPr>
                      <a:r>
                        <a:t>Open Compute Project(OCP)</a:t>
                      </a:r>
                    </a:p>
                  </a:txBody>
                  <a:tcPr>
                    <a:solidFill>
                      <a:srgbClr val="FFFFFF"/>
                    </a:solidFill>
                  </a:tcPr>
                </a:tc>
              </a:tr>
              <a:tr h="502920">
                <a:tc>
                  <a:txBody>
                    <a:bodyPr/>
                    <a:lstStyle/>
                    <a:p>
                      <a:pPr>
                        <a:defRPr sz="1200">
                          <a:solidFill>
                            <a:srgbClr val="16202E"/>
                          </a:solidFill>
                          <a:latin typeface="Yu Gothic"/>
                        </a:defRPr>
                      </a:pPr>
                      <a:r>
                        <a:t>発表日</a:t>
                      </a:r>
                    </a:p>
                  </a:txBody>
                  <a:tcPr>
                    <a:solidFill>
                      <a:srgbClr val="F2F6FA"/>
                    </a:solidFill>
                  </a:tcPr>
                </a:tc>
                <a:tc>
                  <a:txBody>
                    <a:bodyPr/>
                    <a:lstStyle/>
                    <a:p>
                      <a:pPr>
                        <a:defRPr sz="1200">
                          <a:solidFill>
                            <a:srgbClr val="16202E"/>
                          </a:solidFill>
                          <a:latin typeface="Yu Gothic"/>
                        </a:defRPr>
                      </a:pPr>
                      <a:r>
                        <a:t>2026年8月3日</a:t>
                      </a:r>
                    </a:p>
                  </a:txBody>
                  <a:tcPr>
                    <a:solidFill>
                      <a:srgbClr val="F2F6FA"/>
                    </a:solidFill>
                  </a:tcPr>
                </a:tc>
              </a:tr>
              <a:tr h="502920">
                <a:tc>
                  <a:txBody>
                    <a:bodyPr/>
                    <a:lstStyle/>
                    <a:p>
                      <a:pPr>
                        <a:defRPr sz="1200">
                          <a:solidFill>
                            <a:srgbClr val="16202E"/>
                          </a:solidFill>
                          <a:latin typeface="Yu Gothic"/>
                        </a:defRPr>
                      </a:pPr>
                      <a:r>
                        <a:t>発表の場</a:t>
                      </a:r>
                    </a:p>
                  </a:txBody>
                  <a:tcPr>
                    <a:solidFill>
                      <a:srgbClr val="FFFFFF"/>
                    </a:solidFill>
                  </a:tcPr>
                </a:tc>
                <a:tc>
                  <a:txBody>
                    <a:bodyPr/>
                    <a:lstStyle/>
                    <a:p>
                      <a:pPr>
                        <a:defRPr sz="1200">
                          <a:solidFill>
                            <a:srgbClr val="16202E"/>
                          </a:solidFill>
                          <a:latin typeface="Yu Gothic"/>
                        </a:defRPr>
                      </a:pPr>
                      <a:r>
                        <a:t>Flash Memory Summit(FMS)2026(2026年8月4〜6日、米カリフォルニア州サンタクララ・コンベンションセンター)</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SanDisk公式プレスリリース(2026-08-03)ほか｜定期実行140本目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登場人物・関係者</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2579293"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030653" cy="548640"/>
          </a:xfrm>
          <a:prstGeom prst="rect">
            <a:avLst/>
          </a:prstGeom>
          <a:noFill/>
        </p:spPr>
        <p:txBody>
          <a:bodyPr wrap="square" anchor="t" lIns="0" rIns="0" tIns="0" bIns="0">
            <a:spAutoFit/>
          </a:bodyPr>
          <a:lstStyle/>
          <a:p>
            <a:pPr algn="l"/>
            <a:r>
              <a:rPr sz="1600" b="1">
                <a:solidFill>
                  <a:srgbClr val="1B3A5C"/>
                </a:solidFill>
                <a:latin typeface="Yu Gothic"/>
              </a:rPr>
              <a:t>SK hynix</a:t>
            </a:r>
          </a:p>
        </p:txBody>
      </p:sp>
      <p:sp>
        <p:nvSpPr>
          <p:cNvPr id="9" name="TextBox 8"/>
          <p:cNvSpPr txBox="1"/>
          <p:nvPr/>
        </p:nvSpPr>
        <p:spPr>
          <a:xfrm>
            <a:off x="731520" y="2514600"/>
            <a:ext cx="2030653"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HBF標準仕様の共同発表企業の一社。韓国の大手メモリメーカー</a:t>
            </a:r>
          </a:p>
        </p:txBody>
      </p:sp>
      <p:sp>
        <p:nvSpPr>
          <p:cNvPr id="10" name="Rounded Rectangle 9"/>
          <p:cNvSpPr/>
          <p:nvPr/>
        </p:nvSpPr>
        <p:spPr>
          <a:xfrm>
            <a:off x="3402253"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56533" y="1554480"/>
            <a:ext cx="2579293"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30853" y="1828800"/>
            <a:ext cx="2030653" cy="548640"/>
          </a:xfrm>
          <a:prstGeom prst="rect">
            <a:avLst/>
          </a:prstGeom>
          <a:noFill/>
        </p:spPr>
        <p:txBody>
          <a:bodyPr wrap="square" anchor="t" lIns="0" rIns="0" tIns="0" bIns="0">
            <a:spAutoFit/>
          </a:bodyPr>
          <a:lstStyle/>
          <a:p>
            <a:pPr algn="l"/>
            <a:r>
              <a:rPr sz="1600" b="1">
                <a:solidFill>
                  <a:srgbClr val="1B3A5C"/>
                </a:solidFill>
                <a:latin typeface="Yu Gothic"/>
              </a:rPr>
              <a:t>SanDisk</a:t>
            </a:r>
          </a:p>
        </p:txBody>
      </p:sp>
      <p:sp>
        <p:nvSpPr>
          <p:cNvPr id="13" name="TextBox 12"/>
          <p:cNvSpPr txBox="1"/>
          <p:nvPr/>
        </p:nvSpPr>
        <p:spPr>
          <a:xfrm>
            <a:off x="3630853" y="2514600"/>
            <a:ext cx="2030653"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HBF標準仕様の共同発表企業の一社。ストレージ・フラッシュメモリメーカー</a:t>
            </a:r>
          </a:p>
        </p:txBody>
      </p:sp>
      <p:sp>
        <p:nvSpPr>
          <p:cNvPr id="14" name="Rounded Rectangle 13"/>
          <p:cNvSpPr/>
          <p:nvPr/>
        </p:nvSpPr>
        <p:spPr>
          <a:xfrm>
            <a:off x="6301587"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55867" y="1554480"/>
            <a:ext cx="2579293"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0187" y="1828800"/>
            <a:ext cx="2030653" cy="548640"/>
          </a:xfrm>
          <a:prstGeom prst="rect">
            <a:avLst/>
          </a:prstGeom>
          <a:noFill/>
        </p:spPr>
        <p:txBody>
          <a:bodyPr wrap="square" anchor="t" lIns="0" rIns="0" tIns="0" bIns="0">
            <a:spAutoFit/>
          </a:bodyPr>
          <a:lstStyle/>
          <a:p>
            <a:pPr algn="l"/>
            <a:r>
              <a:rPr sz="1600" b="1">
                <a:solidFill>
                  <a:srgbClr val="1B3A5C"/>
                </a:solidFill>
                <a:latin typeface="Yu Gothic"/>
              </a:rPr>
              <a:t>Open Compute Project(OCP)</a:t>
            </a:r>
          </a:p>
        </p:txBody>
      </p:sp>
      <p:sp>
        <p:nvSpPr>
          <p:cNvPr id="17" name="TextBox 16"/>
          <p:cNvSpPr txBox="1"/>
          <p:nvPr/>
        </p:nvSpPr>
        <p:spPr>
          <a:xfrm>
            <a:off x="6530187" y="2514600"/>
            <a:ext cx="2030653"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技術仕様が公開されたオープンな業界標準化団体</a:t>
            </a:r>
          </a:p>
        </p:txBody>
      </p:sp>
      <p:sp>
        <p:nvSpPr>
          <p:cNvPr id="18" name="Rounded Rectangle 17"/>
          <p:cNvSpPr/>
          <p:nvPr/>
        </p:nvSpPr>
        <p:spPr>
          <a:xfrm>
            <a:off x="9200921"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155201" y="1554480"/>
            <a:ext cx="2579293"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29521" y="1828800"/>
            <a:ext cx="2030653" cy="548640"/>
          </a:xfrm>
          <a:prstGeom prst="rect">
            <a:avLst/>
          </a:prstGeom>
          <a:noFill/>
        </p:spPr>
        <p:txBody>
          <a:bodyPr wrap="square" anchor="t" lIns="0" rIns="0" tIns="0" bIns="0">
            <a:spAutoFit/>
          </a:bodyPr>
          <a:lstStyle/>
          <a:p>
            <a:pPr algn="l"/>
            <a:r>
              <a:rPr sz="1600" b="1">
                <a:solidFill>
                  <a:srgbClr val="1B3A5C"/>
                </a:solidFill>
                <a:latin typeface="Yu Gothic"/>
              </a:rPr>
              <a:t>Flash Memory Summit 2026</a:t>
            </a:r>
          </a:p>
        </p:txBody>
      </p:sp>
      <p:sp>
        <p:nvSpPr>
          <p:cNvPr id="21" name="TextBox 20"/>
          <p:cNvSpPr txBox="1"/>
          <p:nvPr/>
        </p:nvSpPr>
        <p:spPr>
          <a:xfrm>
            <a:off x="9429521" y="2514600"/>
            <a:ext cx="2030653"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発表のタイミングにあわせた業界イベント(2026年8月4〜6日)</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SanDisk公式プレスリリース(2026-08-03)ほか｜定期実行140本目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初心者向け: そもそもAIチップの'渋滞'とは何か</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AI推論(学習済みのAIモデルを使って答えを出す処理)では、GPUなどの演算装置が大量のデータをメモリとやり取りする</a:t>
            </a:r>
          </a:p>
        </p:txBody>
      </p:sp>
      <p:sp>
        <p:nvSpPr>
          <p:cNvPr id="8" name="Oval 7"/>
          <p:cNvSpPr/>
          <p:nvPr/>
        </p:nvSpPr>
        <p:spPr>
          <a:xfrm>
            <a:off x="457200" y="225856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高速だが容量が限られる「HBM(高帯域幅メモリ)」と、大容量だが低速な「SSD」の間には、埋まっていないすき間があった</a:t>
            </a:r>
          </a:p>
        </p:txBody>
      </p:sp>
      <p:sp>
        <p:nvSpPr>
          <p:cNvPr id="10" name="Oval 9"/>
          <p:cNvSpPr/>
          <p:nvPr/>
        </p:nvSpPr>
        <p:spPr>
          <a:xfrm>
            <a:off x="457200" y="30358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このすき間が、AI推論システムの帯域幅・容量の制約、いわば'渋滞'を生む一因とされてきた</a:t>
            </a:r>
          </a:p>
        </p:txBody>
      </p:sp>
      <p:sp>
        <p:nvSpPr>
          <p:cNvPr id="12" name="Oval 11"/>
          <p:cNvSpPr/>
          <p:nvPr/>
        </p:nvSpPr>
        <p:spPr>
          <a:xfrm>
            <a:off x="457200" y="38130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SK hynixとSanDiskは、この間を埋める新しいメモリ層「HBF」を提案した</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SanDisk公式プレスリリース(2026-08-03)ほか｜定期実行140本目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メモリの階層(概念図): HBM・HBF・SSD</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HBM</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高帯域幅・小容量。GPUに最も近い高速メモリ</a:t>
            </a:r>
          </a:p>
        </p:txBody>
      </p:sp>
      <p:sp>
        <p:nvSpPr>
          <p:cNvPr id="10" name="Right Arrow 9"/>
          <p:cNvSpPr/>
          <p:nvPr/>
        </p:nvSpPr>
        <p:spPr>
          <a:xfrm>
            <a:off x="41573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HBF(新設)</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HBMとSSDの間に位置する新しいメモリ層</a:t>
            </a:r>
          </a:p>
        </p:txBody>
      </p:sp>
      <p:sp>
        <p:nvSpPr>
          <p:cNvPr id="15" name="Right Arrow 14"/>
          <p:cNvSpPr/>
          <p:nvPr/>
        </p:nvSpPr>
        <p:spPr>
          <a:xfrm>
            <a:off x="73577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SSD</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大容量・低帯域幅のストレージ</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SanDisk公式プレスリリース(2026-08-03)ほか｜定期実行140本目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速度と容量のトレードオフ</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1. HBM</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最も高速。ただし容量は限られる</a:t>
            </a:r>
          </a:p>
        </p:txBody>
      </p:sp>
      <p:sp>
        <p:nvSpPr>
          <p:cNvPr id="11" name="Chevron 10"/>
          <p:cNvSpPr/>
          <p:nvPr/>
        </p:nvSpPr>
        <p:spPr>
          <a:xfrm>
            <a:off x="4038295" y="3200400"/>
            <a:ext cx="234086" cy="365760"/>
          </a:xfrm>
          <a:prstGeom prst="chevron">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2. HBF</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HBMより大容量、SSDより高速という新しい選択肢</a:t>
            </a:r>
          </a:p>
        </p:txBody>
      </p:sp>
      <p:sp>
        <p:nvSpPr>
          <p:cNvPr id="17" name="Chevron 16"/>
          <p:cNvSpPr/>
          <p:nvPr/>
        </p:nvSpPr>
        <p:spPr>
          <a:xfrm>
            <a:off x="7919313" y="3200400"/>
            <a:ext cx="234086" cy="365760"/>
          </a:xfrm>
          <a:prstGeom prst="chevron">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3. SSD</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最も大容量。ただし帯域幅は最も低い</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SanDisk公式プレスリリース(2026-08-03)ほか｜定期実行140本目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HBMとSSD、それぞれの強みと弱み</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HBM(高帯域幅メモリ)</a:t>
            </a:r>
          </a:p>
        </p:txBody>
      </p:sp>
      <p:sp>
        <p:nvSpPr>
          <p:cNvPr id="9" name="Oval 8"/>
          <p:cNvSpPr/>
          <p:nvPr/>
        </p:nvSpPr>
        <p:spPr>
          <a:xfrm>
            <a:off x="777240"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帯域幅が非常に高い</a:t>
            </a:r>
          </a:p>
        </p:txBody>
      </p:sp>
      <p:sp>
        <p:nvSpPr>
          <p:cNvPr id="11" name="Oval 10"/>
          <p:cNvSpPr/>
          <p:nvPr/>
        </p:nvSpPr>
        <p:spPr>
          <a:xfrm>
            <a:off x="777240"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容量は限られる</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SSD(ストレージ)</a:t>
            </a:r>
          </a:p>
        </p:txBody>
      </p:sp>
      <p:sp>
        <p:nvSpPr>
          <p:cNvPr id="16" name="Oval 15"/>
          <p:cNvSpPr/>
          <p:nvPr/>
        </p:nvSpPr>
        <p:spPr>
          <a:xfrm>
            <a:off x="6598767"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容量が非常に大きい</a:t>
            </a:r>
          </a:p>
        </p:txBody>
      </p:sp>
      <p:sp>
        <p:nvSpPr>
          <p:cNvPr id="18" name="Oval 17"/>
          <p:cNvSpPr/>
          <p:nvPr/>
        </p:nvSpPr>
        <p:spPr>
          <a:xfrm>
            <a:off x="6598767"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帯域幅はHBMに比べて低い</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SanDisk公式プレスリリース(2026-08-03)ほか｜定期実行140本目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初心者向け: HBFとは何か</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HBF(High Bandwidth Flash)は、NAND型フラッシュメモリを積層したチップをベースにした、AI推論向けの新しいメモリ規格</a:t>
            </a:r>
          </a:p>
        </p:txBody>
      </p:sp>
      <p:sp>
        <p:nvSpPr>
          <p:cNvPr id="8" name="Oval 7"/>
          <p:cNvSpPr/>
          <p:nvPr/>
        </p:nvSpPr>
        <p:spPr>
          <a:xfrm>
            <a:off x="457200" y="225856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HBM(高帯域幅メモリ)とSSDの間に位置する、新しいメモリ層として設計されている</a:t>
            </a:r>
          </a:p>
        </p:txBody>
      </p:sp>
      <p:sp>
        <p:nvSpPr>
          <p:cNvPr id="10" name="Oval 9"/>
          <p:cNvSpPr/>
          <p:nvPr/>
        </p:nvSpPr>
        <p:spPr>
          <a:xfrm>
            <a:off x="457200" y="30358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今回OCPを通じて発表されたのはHBFの'初の技術仕様'であり、製品化・量産の計画そのものとは別の段階</a:t>
            </a:r>
          </a:p>
        </p:txBody>
      </p:sp>
      <p:sp>
        <p:nvSpPr>
          <p:cNvPr id="12" name="Oval 11"/>
          <p:cNvSpPr/>
          <p:nvPr/>
        </p:nvSpPr>
        <p:spPr>
          <a:xfrm>
            <a:off x="457200" y="38130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SK hynixとSanDiskが共同で仕様策定を進めている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SanDisk公式プレスリリース(2026-08-03)ほか｜定期実行140本目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HBFの技術仕様(初版)</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3A5C"/>
                    </a:solidFill>
                  </a:tcPr>
                </a:tc>
                <a:tc>
                  <a:txBody>
                    <a:bodyPr/>
                    <a:lstStyle/>
                    <a:p>
                      <a:pPr>
                        <a:defRPr sz="1300" b="1">
                          <a:solidFill>
                            <a:srgbClr val="FFFFFF"/>
                          </a:solidFill>
                          <a:latin typeface="Yu Gothic"/>
                        </a:defRPr>
                      </a:pPr>
                      <a:r>
                        <a:t>内容</a:t>
                      </a:r>
                    </a:p>
                  </a:txBody>
                  <a:tcPr>
                    <a:solidFill>
                      <a:srgbClr val="1B3A5C"/>
                    </a:solidFill>
                  </a:tcPr>
                </a:tc>
              </a:tr>
              <a:tr h="502920">
                <a:tc>
                  <a:txBody>
                    <a:bodyPr/>
                    <a:lstStyle/>
                    <a:p>
                      <a:pPr>
                        <a:defRPr sz="1200">
                          <a:solidFill>
                            <a:srgbClr val="16202E"/>
                          </a:solidFill>
                          <a:latin typeface="Yu Gothic"/>
                        </a:defRPr>
                      </a:pPr>
                      <a:r>
                        <a:t>最大容量</a:t>
                      </a:r>
                    </a:p>
                  </a:txBody>
                  <a:tcPr>
                    <a:solidFill>
                      <a:srgbClr val="FFFFFF"/>
                    </a:solidFill>
                  </a:tcPr>
                </a:tc>
                <a:tc>
                  <a:txBody>
                    <a:bodyPr/>
                    <a:lstStyle/>
                    <a:p>
                      <a:pPr>
                        <a:defRPr sz="1200">
                          <a:solidFill>
                            <a:srgbClr val="16202E"/>
                          </a:solidFill>
                          <a:latin typeface="Yu Gothic"/>
                        </a:defRPr>
                      </a:pPr>
                      <a:r>
                        <a:t>512GB</a:t>
                      </a:r>
                    </a:p>
                  </a:txBody>
                  <a:tcPr>
                    <a:solidFill>
                      <a:srgbClr val="FFFFFF"/>
                    </a:solidFill>
                  </a:tcPr>
                </a:tc>
              </a:tr>
              <a:tr h="502920">
                <a:tc>
                  <a:txBody>
                    <a:bodyPr/>
                    <a:lstStyle/>
                    <a:p>
                      <a:pPr>
                        <a:defRPr sz="1200">
                          <a:solidFill>
                            <a:srgbClr val="16202E"/>
                          </a:solidFill>
                          <a:latin typeface="Yu Gothic"/>
                        </a:defRPr>
                      </a:pPr>
                      <a:r>
                        <a:t>ダイスタック構成</a:t>
                      </a:r>
                    </a:p>
                  </a:txBody>
                  <a:tcPr>
                    <a:solidFill>
                      <a:srgbClr val="F2F6FA"/>
                    </a:solidFill>
                  </a:tcPr>
                </a:tc>
                <a:tc>
                  <a:txBody>
                    <a:bodyPr/>
                    <a:lstStyle/>
                    <a:p>
                      <a:pPr>
                        <a:defRPr sz="1200">
                          <a:solidFill>
                            <a:srgbClr val="16202E"/>
                          </a:solidFill>
                          <a:latin typeface="Yu Gothic"/>
                        </a:defRPr>
                      </a:pPr>
                      <a:r>
                        <a:t>8層または16層のNANDダイスタック</a:t>
                      </a:r>
                    </a:p>
                  </a:txBody>
                  <a:tcPr>
                    <a:solidFill>
                      <a:srgbClr val="F2F6FA"/>
                    </a:solidFill>
                  </a:tcPr>
                </a:tc>
              </a:tr>
              <a:tr h="502920">
                <a:tc>
                  <a:txBody>
                    <a:bodyPr/>
                    <a:lstStyle/>
                    <a:p>
                      <a:pPr>
                        <a:defRPr sz="1200">
                          <a:solidFill>
                            <a:srgbClr val="16202E"/>
                          </a:solidFill>
                          <a:latin typeface="Yu Gothic"/>
                        </a:defRPr>
                      </a:pPr>
                      <a:r>
                        <a:t>帯域幅クラス</a:t>
                      </a:r>
                    </a:p>
                  </a:txBody>
                  <a:tcPr>
                    <a:solidFill>
                      <a:srgbClr val="FFFFFF"/>
                    </a:solidFill>
                  </a:tcPr>
                </a:tc>
                <a:tc>
                  <a:txBody>
                    <a:bodyPr/>
                    <a:lstStyle/>
                    <a:p>
                      <a:pPr>
                        <a:defRPr sz="1200">
                          <a:solidFill>
                            <a:srgbClr val="16202E"/>
                          </a:solidFill>
                          <a:latin typeface="Yu Gothic"/>
                        </a:defRPr>
                      </a:pPr>
                      <a:r>
                        <a:t>3段階(約0.4TB/s〜3.0TB/s)</a:t>
                      </a:r>
                    </a:p>
                  </a:txBody>
                  <a:tcPr>
                    <a:solidFill>
                      <a:srgbClr val="FFFFFF"/>
                    </a:solidFill>
                  </a:tcPr>
                </a:tc>
              </a:tr>
              <a:tr h="502920">
                <a:tc>
                  <a:txBody>
                    <a:bodyPr/>
                    <a:lstStyle/>
                    <a:p>
                      <a:pPr>
                        <a:defRPr sz="1200">
                          <a:solidFill>
                            <a:srgbClr val="16202E"/>
                          </a:solidFill>
                          <a:latin typeface="Yu Gothic"/>
                        </a:defRPr>
                      </a:pPr>
                      <a:r>
                        <a:t>採用インターコネクト規格</a:t>
                      </a:r>
                    </a:p>
                  </a:txBody>
                  <a:tcPr>
                    <a:solidFill>
                      <a:srgbClr val="F2F6FA"/>
                    </a:solidFill>
                  </a:tcPr>
                </a:tc>
                <a:tc>
                  <a:txBody>
                    <a:bodyPr/>
                    <a:lstStyle/>
                    <a:p>
                      <a:pPr>
                        <a:defRPr sz="1200">
                          <a:solidFill>
                            <a:srgbClr val="16202E"/>
                          </a:solidFill>
                          <a:latin typeface="Yu Gothic"/>
                        </a:defRPr>
                      </a:pPr>
                      <a:r>
                        <a:t>UCIe(Universal Chiplet Interconnect Express)</a:t>
                      </a:r>
                    </a:p>
                  </a:txBody>
                  <a:tcPr>
                    <a:solidFill>
                      <a:srgbClr val="F2F6FA"/>
                    </a:solidFill>
                  </a:tcPr>
                </a:tc>
              </a:tr>
              <a:tr h="502920">
                <a:tc>
                  <a:txBody>
                    <a:bodyPr/>
                    <a:lstStyle/>
                    <a:p>
                      <a:pPr>
                        <a:defRPr sz="1200">
                          <a:solidFill>
                            <a:srgbClr val="16202E"/>
                          </a:solidFill>
                          <a:latin typeface="Yu Gothic"/>
                        </a:defRPr>
                      </a:pPr>
                      <a:r>
                        <a:t>仕様の発表元</a:t>
                      </a:r>
                    </a:p>
                  </a:txBody>
                  <a:tcPr>
                    <a:solidFill>
                      <a:srgbClr val="FFFFFF"/>
                    </a:solidFill>
                  </a:tcPr>
                </a:tc>
                <a:tc>
                  <a:txBody>
                    <a:bodyPr/>
                    <a:lstStyle/>
                    <a:p>
                      <a:pPr>
                        <a:defRPr sz="1200">
                          <a:solidFill>
                            <a:srgbClr val="16202E"/>
                          </a:solidFill>
                          <a:latin typeface="Yu Gothic"/>
                        </a:defRPr>
                      </a:pPr>
                      <a:r>
                        <a:t>Open Compute Project(OCP)</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SanDisk公式プレスリリース(2026-08-03)、SK hynix Newsroom</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SanDisk公式プレスリリース(2026-08-03)ほか｜定期実行140本目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HBFの初期仕様がサポートする最大容量</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512GB</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8層または16層のNANDダイスタックで実現</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SanDisk公式プレスリリース(2026-08-03)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3段階の帯域幅クラス</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B3A5C"/>
                </a:solidFill>
                <a:latin typeface="Yu Gothic"/>
              </a:rPr>
              <a:t>クラス1(最小)</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約0.4TB/s</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B3A5C"/>
                </a:solidFill>
                <a:latin typeface="Yu Gothic"/>
              </a:rPr>
              <a:t>クラス2(中間)</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0.4TB/s〜3.0TB/sの範囲内(具体的な数値は公表内容の範囲で選択可能)</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B3A5C"/>
                </a:solidFill>
                <a:latin typeface="Yu Gothic"/>
              </a:rPr>
              <a:t>クラス3(最大)</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約3.0TB/s</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SanDisk公式プレスリリース(2026-08-03)</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SanDisk公式プレスリリース(2026-08-03)ほか｜定期実行140本目</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初心者向け: UCIe(オープンなチップレット接続規格)とは何か</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UCIe(Universal Chiplet Interconnect Express)は、異なるメーカーが作ったチップレット(小さな半導体部品)同士をつなぐ、オープンな業界標準規格</a:t>
            </a:r>
          </a:p>
        </p:txBody>
      </p:sp>
      <p:sp>
        <p:nvSpPr>
          <p:cNvPr id="8" name="Oval 7"/>
          <p:cNvSpPr/>
          <p:nvPr/>
        </p:nvSpPr>
        <p:spPr>
          <a:xfrm>
            <a:off x="457200" y="225856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特定メーカー専有の接続方式ではなく、複数メーカーの製品を組み合わせられる点が特徴</a:t>
            </a:r>
          </a:p>
        </p:txBody>
      </p:sp>
      <p:sp>
        <p:nvSpPr>
          <p:cNvPr id="10" name="Oval 9"/>
          <p:cNvSpPr/>
          <p:nvPr/>
        </p:nvSpPr>
        <p:spPr>
          <a:xfrm>
            <a:off x="457200" y="30358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HBFはこのUCIeを採用しており、GPU・CPUなど異なる種類の処理装置と接続できる設計になっている</a:t>
            </a:r>
          </a:p>
        </p:txBody>
      </p:sp>
      <p:sp>
        <p:nvSpPr>
          <p:cNvPr id="12" name="Oval 11"/>
          <p:cNvSpPr/>
          <p:nvPr/>
        </p:nvSpPr>
        <p:spPr>
          <a:xfrm>
            <a:off x="457200" y="38130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特定ベンダーに閉じた独自インターコネクトに縛られない、オープンなチップレットのエコシステムを志向している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SanDisk公式プレスリリース(2026-08-03)ほか｜定期実行140本目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UCIeによるオープンなチップレット接続(概念図)</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GPU</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AI推論を担う演算装置(異種プロセッサの一例)</a:t>
            </a:r>
          </a:p>
        </p:txBody>
      </p:sp>
      <p:sp>
        <p:nvSpPr>
          <p:cNvPr id="10" name="Right Arrow 9"/>
          <p:cNvSpPr/>
          <p:nvPr/>
        </p:nvSpPr>
        <p:spPr>
          <a:xfrm>
            <a:off x="41573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UCIe</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オープンなチップレット接続規格</a:t>
            </a:r>
          </a:p>
        </p:txBody>
      </p:sp>
      <p:sp>
        <p:nvSpPr>
          <p:cNvPr id="15" name="Right Arrow 14"/>
          <p:cNvSpPr/>
          <p:nvPr/>
        </p:nvSpPr>
        <p:spPr>
          <a:xfrm>
            <a:off x="73577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HBF</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UCIe経由で接続される新しいメモリ層</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SanDisk公式プレスリリース(2026-08-03)ほか｜定期実行140本目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UCIe採用が意味すること</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B3A5C"/>
                </a:solidFill>
                <a:latin typeface="Yu Gothic"/>
              </a:rPr>
              <a:t>オープン性</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特定ベンダー専有の接続方式に縛られない</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B3A5C"/>
                </a:solidFill>
                <a:latin typeface="Yu Gothic"/>
              </a:rPr>
              <a:t>異種プロセッサ対応</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GPU・CPUなど異なる処理装置と接続できる設計</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B3A5C"/>
                </a:solidFill>
                <a:latin typeface="Yu Gothic"/>
              </a:rPr>
              <a:t>エコシステムの広がり</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複数メーカーの製品を組み合わせられる可能性</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SanDisk公式プレスリリース(2026-08-03)ほか｜定期実行140本目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従来型の専有インターコネクト vs UCIe(オープン規格)</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従来型: 専有インターコネクト</a:t>
            </a:r>
          </a:p>
        </p:txBody>
      </p:sp>
      <p:sp>
        <p:nvSpPr>
          <p:cNvPr id="9" name="Oval 8"/>
          <p:cNvSpPr/>
          <p:nvPr/>
        </p:nvSpPr>
        <p:spPr>
          <a:xfrm>
            <a:off x="777240"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特定メーカーの製品に接続が限定されやすい</a:t>
            </a:r>
          </a:p>
        </p:txBody>
      </p:sp>
      <p:sp>
        <p:nvSpPr>
          <p:cNvPr id="11" name="Oval 10"/>
          <p:cNvSpPr/>
          <p:nvPr/>
        </p:nvSpPr>
        <p:spPr>
          <a:xfrm>
            <a:off x="777240"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他社製品との組み合わせに制約が生じやすい</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HBFが採用: UCIe(オープン規格)</a:t>
            </a:r>
          </a:p>
        </p:txBody>
      </p:sp>
      <p:sp>
        <p:nvSpPr>
          <p:cNvPr id="16" name="Oval 15"/>
          <p:cNvSpPr/>
          <p:nvPr/>
        </p:nvSpPr>
        <p:spPr>
          <a:xfrm>
            <a:off x="6598767"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異なるメーカーのチップレットを組み合わせやすい設計</a:t>
            </a:r>
          </a:p>
        </p:txBody>
      </p:sp>
      <p:sp>
        <p:nvSpPr>
          <p:cNvPr id="18" name="Oval 17"/>
          <p:cNvSpPr/>
          <p:nvPr/>
        </p:nvSpPr>
        <p:spPr>
          <a:xfrm>
            <a:off x="6598767"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GPU・CPUなど異種プロセッサとの接続を志向</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SanDisk公式プレスリリース(2026-08-03)ほか｜定期実行140本目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なぜOCPを通じた発表なのか(標準化団体の意義)</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今回の技術仕様は、SK hynixとSanDiskの2社だけでなく、Open Compute Project(OCP)という業界横断の標準化団体を通じて公開された</a:t>
            </a:r>
          </a:p>
        </p:txBody>
      </p:sp>
      <p:sp>
        <p:nvSpPr>
          <p:cNvPr id="8" name="Oval 7"/>
          <p:cNvSpPr/>
          <p:nvPr/>
        </p:nvSpPr>
        <p:spPr>
          <a:xfrm>
            <a:off x="457200" y="225856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OCPを経由することで、他の企業も参照・議論できるオープンな仕様として位置づけられる</a:t>
            </a:r>
          </a:p>
        </p:txBody>
      </p:sp>
      <p:sp>
        <p:nvSpPr>
          <p:cNvPr id="10" name="Oval 9"/>
          <p:cNvSpPr/>
          <p:nvPr/>
        </p:nvSpPr>
        <p:spPr>
          <a:xfrm>
            <a:off x="457200" y="30358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発表は、業界イベントであるFlash Memory Summit(FMS)2026(2026年8月4〜6日)にあわせて行われた</a:t>
            </a:r>
          </a:p>
        </p:txBody>
      </p:sp>
      <p:sp>
        <p:nvSpPr>
          <p:cNvPr id="12" name="Oval 11"/>
          <p:cNvSpPr/>
          <p:nvPr/>
        </p:nvSpPr>
        <p:spPr>
          <a:xfrm>
            <a:off x="457200" y="38130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特定2社だけの独自規格ではなく、業界標準を志向する動きとして注目されている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SanDisk公式プレスリリース(2026-08-03)ほか｜定期実行140本目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発表の場: Flash Memory Summit(FMS)2026</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3A5C"/>
                    </a:solidFill>
                  </a:tcPr>
                </a:tc>
                <a:tc>
                  <a:txBody>
                    <a:bodyPr/>
                    <a:lstStyle/>
                    <a:p>
                      <a:pPr>
                        <a:defRPr sz="1300" b="1">
                          <a:solidFill>
                            <a:srgbClr val="FFFFFF"/>
                          </a:solidFill>
                          <a:latin typeface="Yu Gothic"/>
                        </a:defRPr>
                      </a:pPr>
                      <a:r>
                        <a:t>内容</a:t>
                      </a:r>
                    </a:p>
                  </a:txBody>
                  <a:tcPr>
                    <a:solidFill>
                      <a:srgbClr val="1B3A5C"/>
                    </a:solidFill>
                  </a:tcPr>
                </a:tc>
              </a:tr>
              <a:tr h="502920">
                <a:tc>
                  <a:txBody>
                    <a:bodyPr/>
                    <a:lstStyle/>
                    <a:p>
                      <a:pPr>
                        <a:defRPr sz="1200">
                          <a:solidFill>
                            <a:srgbClr val="16202E"/>
                          </a:solidFill>
                          <a:latin typeface="Yu Gothic"/>
                        </a:defRPr>
                      </a:pPr>
                      <a:r>
                        <a:t>イベント名</a:t>
                      </a:r>
                    </a:p>
                  </a:txBody>
                  <a:tcPr>
                    <a:solidFill>
                      <a:srgbClr val="FFFFFF"/>
                    </a:solidFill>
                  </a:tcPr>
                </a:tc>
                <a:tc>
                  <a:txBody>
                    <a:bodyPr/>
                    <a:lstStyle/>
                    <a:p>
                      <a:pPr>
                        <a:defRPr sz="1200">
                          <a:solidFill>
                            <a:srgbClr val="16202E"/>
                          </a:solidFill>
                          <a:latin typeface="Yu Gothic"/>
                        </a:defRPr>
                      </a:pPr>
                      <a:r>
                        <a:t>Flash Memory Summit(FMS)2026</a:t>
                      </a:r>
                    </a:p>
                  </a:txBody>
                  <a:tcPr>
                    <a:solidFill>
                      <a:srgbClr val="FFFFFF"/>
                    </a:solidFill>
                  </a:tcPr>
                </a:tc>
              </a:tr>
              <a:tr h="502920">
                <a:tc>
                  <a:txBody>
                    <a:bodyPr/>
                    <a:lstStyle/>
                    <a:p>
                      <a:pPr>
                        <a:defRPr sz="1200">
                          <a:solidFill>
                            <a:srgbClr val="16202E"/>
                          </a:solidFill>
                          <a:latin typeface="Yu Gothic"/>
                        </a:defRPr>
                      </a:pPr>
                      <a:r>
                        <a:t>開催期間</a:t>
                      </a:r>
                    </a:p>
                  </a:txBody>
                  <a:tcPr>
                    <a:solidFill>
                      <a:srgbClr val="F2F6FA"/>
                    </a:solidFill>
                  </a:tcPr>
                </a:tc>
                <a:tc>
                  <a:txBody>
                    <a:bodyPr/>
                    <a:lstStyle/>
                    <a:p>
                      <a:pPr>
                        <a:defRPr sz="1200">
                          <a:solidFill>
                            <a:srgbClr val="16202E"/>
                          </a:solidFill>
                          <a:latin typeface="Yu Gothic"/>
                        </a:defRPr>
                      </a:pPr>
                      <a:r>
                        <a:t>2026年8月4日〜6日</a:t>
                      </a:r>
                    </a:p>
                  </a:txBody>
                  <a:tcPr>
                    <a:solidFill>
                      <a:srgbClr val="F2F6FA"/>
                    </a:solidFill>
                  </a:tcPr>
                </a:tc>
              </a:tr>
              <a:tr h="502920">
                <a:tc>
                  <a:txBody>
                    <a:bodyPr/>
                    <a:lstStyle/>
                    <a:p>
                      <a:pPr>
                        <a:defRPr sz="1200">
                          <a:solidFill>
                            <a:srgbClr val="16202E"/>
                          </a:solidFill>
                          <a:latin typeface="Yu Gothic"/>
                        </a:defRPr>
                      </a:pPr>
                      <a:r>
                        <a:t>開催地</a:t>
                      </a:r>
                    </a:p>
                  </a:txBody>
                  <a:tcPr>
                    <a:solidFill>
                      <a:srgbClr val="FFFFFF"/>
                    </a:solidFill>
                  </a:tcPr>
                </a:tc>
                <a:tc>
                  <a:txBody>
                    <a:bodyPr/>
                    <a:lstStyle/>
                    <a:p>
                      <a:pPr>
                        <a:defRPr sz="1200">
                          <a:solidFill>
                            <a:srgbClr val="16202E"/>
                          </a:solidFill>
                          <a:latin typeface="Yu Gothic"/>
                        </a:defRPr>
                      </a:pPr>
                      <a:r>
                        <a:t>米カリフォルニア州サンタクララ・コンベンションセンター</a:t>
                      </a:r>
                    </a:p>
                  </a:txBody>
                  <a:tcPr>
                    <a:solidFill>
                      <a:srgbClr val="FFFFFF"/>
                    </a:solidFill>
                  </a:tcPr>
                </a:tc>
              </a:tr>
              <a:tr h="502920">
                <a:tc>
                  <a:txBody>
                    <a:bodyPr/>
                    <a:lstStyle/>
                    <a:p>
                      <a:pPr>
                        <a:defRPr sz="1200">
                          <a:solidFill>
                            <a:srgbClr val="16202E"/>
                          </a:solidFill>
                          <a:latin typeface="Yu Gothic"/>
                        </a:defRPr>
                      </a:pPr>
                      <a:r>
                        <a:t>今回の発表との関係</a:t>
                      </a:r>
                    </a:p>
                  </a:txBody>
                  <a:tcPr>
                    <a:solidFill>
                      <a:srgbClr val="F2F6FA"/>
                    </a:solidFill>
                  </a:tcPr>
                </a:tc>
                <a:tc>
                  <a:txBody>
                    <a:bodyPr/>
                    <a:lstStyle/>
                    <a:p>
                      <a:pPr>
                        <a:defRPr sz="1200">
                          <a:solidFill>
                            <a:srgbClr val="16202E"/>
                          </a:solidFill>
                          <a:latin typeface="Yu Gothic"/>
                        </a:defRPr>
                      </a:pPr>
                      <a:r>
                        <a:t>HBF技術仕様の発表は、開幕直前・あわせてのタイミングで行われた</a:t>
                      </a:r>
                    </a:p>
                  </a:txBody>
                  <a:tcPr>
                    <a:solidFill>
                      <a:srgbClr val="F2F6FA"/>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SanDisk公式プレスリリース(2026-08-03)ほか｜定期実行140本目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この発表が意味すること</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B3A5C"/>
                </a:solidFill>
                <a:latin typeface="Yu Gothic"/>
              </a:rPr>
              <a:t>AI推論システムにとって</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HBMとSSDの間を埋める新しい選択肢が加わる可能性</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B3A5C"/>
                </a:solidFill>
                <a:latin typeface="Yu Gothic"/>
              </a:rPr>
              <a:t>半導体業界にとって</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オープンな標準化団体を通じた規格提案という動き</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B3A5C"/>
                </a:solidFill>
                <a:latin typeface="Yu Gothic"/>
              </a:rPr>
              <a:t>開発者・設計者にとって</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UCIe経由で異種プロセッサとの接続を検討できる新しい仕様が公開された</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SanDisk公式プレスリリース(2026-08-03)ほか｜定期実行140本目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【重要】未確認事項一覧</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3A5C"/>
                    </a:solidFill>
                  </a:tcPr>
                </a:tc>
                <a:tc>
                  <a:txBody>
                    <a:bodyPr/>
                    <a:lstStyle/>
                    <a:p>
                      <a:pPr>
                        <a:defRPr sz="1300" b="1">
                          <a:solidFill>
                            <a:srgbClr val="FFFFFF"/>
                          </a:solidFill>
                          <a:latin typeface="Yu Gothic"/>
                        </a:defRPr>
                      </a:pPr>
                      <a:r>
                        <a:t>状況</a:t>
                      </a:r>
                    </a:p>
                  </a:txBody>
                  <a:tcPr>
                    <a:solidFill>
                      <a:srgbClr val="1B3A5C"/>
                    </a:solidFill>
                  </a:tcPr>
                </a:tc>
              </a:tr>
              <a:tr h="502920">
                <a:tc>
                  <a:txBody>
                    <a:bodyPr/>
                    <a:lstStyle/>
                    <a:p>
                      <a:pPr>
                        <a:defRPr sz="1200">
                          <a:solidFill>
                            <a:srgbClr val="16202E"/>
                          </a:solidFill>
                          <a:latin typeface="Yu Gothic"/>
                        </a:defRPr>
                      </a:pPr>
                      <a:r>
                        <a:t>HBFチップの実際の量産時期</a:t>
                      </a:r>
                    </a:p>
                  </a:txBody>
                  <a:tcPr>
                    <a:solidFill>
                      <a:srgbClr val="FFFFFF"/>
                    </a:solidFill>
                  </a:tcPr>
                </a:tc>
                <a:tc>
                  <a:txBody>
                    <a:bodyPr/>
                    <a:lstStyle/>
                    <a:p>
                      <a:pPr>
                        <a:defRPr sz="1200">
                          <a:solidFill>
                            <a:srgbClr val="16202E"/>
                          </a:solidFill>
                          <a:latin typeface="Yu Gothic"/>
                        </a:defRPr>
                      </a:pPr>
                      <a:r>
                        <a:t>未確認</a:t>
                      </a:r>
                    </a:p>
                  </a:txBody>
                  <a:tcPr>
                    <a:solidFill>
                      <a:srgbClr val="FFFFFF"/>
                    </a:solidFill>
                  </a:tcPr>
                </a:tc>
              </a:tr>
              <a:tr h="502920">
                <a:tc>
                  <a:txBody>
                    <a:bodyPr/>
                    <a:lstStyle/>
                    <a:p>
                      <a:pPr>
                        <a:defRPr sz="1200">
                          <a:solidFill>
                            <a:srgbClr val="16202E"/>
                          </a:solidFill>
                          <a:latin typeface="Yu Gothic"/>
                        </a:defRPr>
                      </a:pPr>
                      <a:r>
                        <a:t>HBFを最初に採用する具体的な企業・製品</a:t>
                      </a:r>
                    </a:p>
                  </a:txBody>
                  <a:tcPr>
                    <a:solidFill>
                      <a:srgbClr val="F2F6FA"/>
                    </a:solidFill>
                  </a:tcPr>
                </a:tc>
                <a:tc>
                  <a:txBody>
                    <a:bodyPr/>
                    <a:lstStyle/>
                    <a:p>
                      <a:pPr>
                        <a:defRPr sz="1200">
                          <a:solidFill>
                            <a:srgbClr val="16202E"/>
                          </a:solidFill>
                          <a:latin typeface="Yu Gothic"/>
                        </a:defRPr>
                      </a:pPr>
                      <a:r>
                        <a:t>未確認</a:t>
                      </a:r>
                    </a:p>
                  </a:txBody>
                  <a:tcPr>
                    <a:solidFill>
                      <a:srgbClr val="F2F6FA"/>
                    </a:solidFill>
                  </a:tcPr>
                </a:tc>
              </a:tr>
              <a:tr h="502920">
                <a:tc>
                  <a:txBody>
                    <a:bodyPr/>
                    <a:lstStyle/>
                    <a:p>
                      <a:pPr>
                        <a:defRPr sz="1200">
                          <a:solidFill>
                            <a:srgbClr val="16202E"/>
                          </a:solidFill>
                          <a:latin typeface="Yu Gothic"/>
                        </a:defRPr>
                      </a:pPr>
                      <a:r>
                        <a:t>価格</a:t>
                      </a:r>
                    </a:p>
                  </a:txBody>
                  <a:tcPr>
                    <a:solidFill>
                      <a:srgbClr val="FFFFFF"/>
                    </a:solidFill>
                  </a:tcPr>
                </a:tc>
                <a:tc>
                  <a:txBody>
                    <a:bodyPr/>
                    <a:lstStyle/>
                    <a:p>
                      <a:pPr>
                        <a:defRPr sz="1200">
                          <a:solidFill>
                            <a:srgbClr val="16202E"/>
                          </a:solidFill>
                          <a:latin typeface="Yu Gothic"/>
                        </a:defRPr>
                      </a:pPr>
                      <a:r>
                        <a:t>未確認</a:t>
                      </a:r>
                    </a:p>
                  </a:txBody>
                  <a:tcPr>
                    <a:solidFill>
                      <a:srgbClr val="FFFFFF"/>
                    </a:solidFill>
                  </a:tcPr>
                </a:tc>
              </a:tr>
              <a:tr h="502920">
                <a:tc>
                  <a:txBody>
                    <a:bodyPr/>
                    <a:lstStyle/>
                    <a:p>
                      <a:pPr>
                        <a:defRPr sz="1200">
                          <a:solidFill>
                            <a:srgbClr val="16202E"/>
                          </a:solidFill>
                          <a:latin typeface="Yu Gothic"/>
                        </a:defRPr>
                      </a:pPr>
                      <a:r>
                        <a:t>他の主要メモリメーカー(Samsung・Micron等)がOCPのHBF規格を採用する計画があるか</a:t>
                      </a:r>
                    </a:p>
                  </a:txBody>
                  <a:tcPr>
                    <a:solidFill>
                      <a:srgbClr val="F2F6FA"/>
                    </a:solidFill>
                  </a:tcPr>
                </a:tc>
                <a:tc>
                  <a:txBody>
                    <a:bodyPr/>
                    <a:lstStyle/>
                    <a:p>
                      <a:pPr>
                        <a:defRPr sz="1200">
                          <a:solidFill>
                            <a:srgbClr val="16202E"/>
                          </a:solidFill>
                          <a:latin typeface="Yu Gothic"/>
                        </a:defRPr>
                      </a:pPr>
                      <a:r>
                        <a:t>未確認</a:t>
                      </a:r>
                    </a:p>
                  </a:txBody>
                  <a:tcPr>
                    <a:solidFill>
                      <a:srgbClr val="F2F6FA"/>
                    </a:solidFill>
                  </a:tcPr>
                </a:tc>
              </a:tr>
              <a:tr h="502920">
                <a:tc>
                  <a:txBody>
                    <a:bodyPr/>
                    <a:lstStyle/>
                    <a:p>
                      <a:pPr>
                        <a:defRPr sz="1200">
                          <a:solidFill>
                            <a:srgbClr val="16202E"/>
                          </a:solidFill>
                          <a:latin typeface="Yu Gothic"/>
                        </a:defRPr>
                      </a:pPr>
                      <a:r>
                        <a:t>実際のAI推論ワークロードでの性能ベンチマーク</a:t>
                      </a:r>
                    </a:p>
                  </a:txBody>
                  <a:tcPr>
                    <a:solidFill>
                      <a:srgbClr val="FFFFFF"/>
                    </a:solidFill>
                  </a:tcPr>
                </a:tc>
                <a:tc>
                  <a:txBody>
                    <a:bodyPr/>
                    <a:lstStyle/>
                    <a:p>
                      <a:pPr>
                        <a:defRPr sz="1200">
                          <a:solidFill>
                            <a:srgbClr val="16202E"/>
                          </a:solidFill>
                          <a:latin typeface="Yu Gothic"/>
                        </a:defRPr>
                      </a:pPr>
                      <a:r>
                        <a:t>未確認</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SanDisk公式プレスリリース(2026-08-03)ほか｜定期実行140本目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確認できたこと・できなかったこと(正直な開示)</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発表日・発表企業・発表経路(OCP)・技術仕様(容量・帯域幅クラス・ダイスタック・UCIe採用)は複数媒体の報道として確認できた</a:t>
            </a:r>
          </a:p>
        </p:txBody>
      </p:sp>
      <p:sp>
        <p:nvSpPr>
          <p:cNvPr id="8" name="Oval 7"/>
          <p:cNvSpPr/>
          <p:nvPr/>
        </p:nvSpPr>
        <p:spPr>
          <a:xfrm>
            <a:off x="457200" y="225856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HBFチップの実際の量産時期、最初に採用する具体的な企業・製品は確認できていない</a:t>
            </a:r>
          </a:p>
        </p:txBody>
      </p:sp>
      <p:sp>
        <p:nvSpPr>
          <p:cNvPr id="10" name="Oval 9"/>
          <p:cNvSpPr/>
          <p:nvPr/>
        </p:nvSpPr>
        <p:spPr>
          <a:xfrm>
            <a:off x="457200" y="30358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価格に関する情報は確認できていない(本テーマでは金額を一切創作していない)</a:t>
            </a:r>
          </a:p>
        </p:txBody>
      </p:sp>
      <p:sp>
        <p:nvSpPr>
          <p:cNvPr id="12" name="Oval 11"/>
          <p:cNvSpPr/>
          <p:nvPr/>
        </p:nvSpPr>
        <p:spPr>
          <a:xfrm>
            <a:off x="457200" y="38130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他の主要メモリメーカーがこの規格に参加・採用するかどうかは確認できていない</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SanDisk公式プレスリリース(2026-08-03)ほか</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SanDisk公式プレスリリース(2026-08-03)ほか｜定期実行140本目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鮮度についての開示(着手日から2日以内の新基準を際どいラインで満たす)</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発表は2026年8月3日であり、着手日(2026年8月5日)の2日前である</a:t>
            </a:r>
          </a:p>
        </p:txBody>
      </p:sp>
      <p:sp>
        <p:nvSpPr>
          <p:cNvPr id="8" name="Oval 7"/>
          <p:cNvSpPr/>
          <p:nvPr/>
        </p:nvSpPr>
        <p:spPr>
          <a:xfrm>
            <a:off x="457200" y="225856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docs/06_Content_R&amp;D.mdの2026-08-05追記で厳格化された鮮度基準(着手日から2日以内)を、際どいラインではあるが満たしている</a:t>
            </a:r>
          </a:p>
        </p:txBody>
      </p:sp>
      <p:sp>
        <p:nvSpPr>
          <p:cNvPr id="10" name="Oval 9"/>
          <p:cNvSpPr/>
          <p:nvPr/>
        </p:nvSpPr>
        <p:spPr>
          <a:xfrm>
            <a:off x="457200" y="30358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round82評価表(2026-08-05)ではスコア72/100で採用された</a:t>
            </a:r>
          </a:p>
        </p:txBody>
      </p:sp>
      <p:sp>
        <p:nvSpPr>
          <p:cNvPr id="12" name="Oval 11"/>
          <p:cNvSpPr/>
          <p:nvPr/>
        </p:nvSpPr>
        <p:spPr>
          <a:xfrm>
            <a:off x="457200" y="38130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鮮度基準を満たしているからといって、量産時期・採用企業・価格など確認できていない事項を他項目で水増しして穴埋めすることはしない</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SanDisk公式プレスリリース(2026-08-03)ほか｜定期実行140本目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公平性・中立性についての開示</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本テーマは実在企業(SK hynix・SanDisk)が共同発表した業界標準規格を扱う、技術・標準化の話題である</a:t>
            </a:r>
          </a:p>
        </p:txBody>
      </p:sp>
      <p:sp>
        <p:nvSpPr>
          <p:cNvPr id="8" name="Oval 7"/>
          <p:cNvSpPr/>
          <p:nvPr/>
        </p:nvSpPr>
        <p:spPr>
          <a:xfrm>
            <a:off x="457200" y="225856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特定企業・特定製品(HBF等)の利用を強く推奨する結論にはしていない</a:t>
            </a:r>
          </a:p>
        </p:txBody>
      </p:sp>
      <p:sp>
        <p:nvSpPr>
          <p:cNvPr id="10" name="Oval 9"/>
          <p:cNvSpPr/>
          <p:nvPr/>
        </p:nvSpPr>
        <p:spPr>
          <a:xfrm>
            <a:off x="457200" y="30358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実在企業名・団体名(SK hynix・SanDisk・OCP)はテキストとしてのみ使用し、ロゴ・写真は使用しない</a:t>
            </a:r>
          </a:p>
        </p:txBody>
      </p:sp>
      <p:sp>
        <p:nvSpPr>
          <p:cNvPr id="12" name="Oval 11"/>
          <p:cNvSpPr/>
          <p:nvPr/>
        </p:nvSpPr>
        <p:spPr>
          <a:xfrm>
            <a:off x="457200" y="38130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数字は出典に基づくもののみを使用し、量産時期・採用企業・価格・性能ベンチマーク等の未確認情報は一切創作していない</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SanDisk公式プレスリリース(2026-08-03)ほか｜定期実行140本目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round82評価表からの開示(スコア72/100)</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3A5C"/>
                    </a:solidFill>
                  </a:tcPr>
                </a:tc>
                <a:tc>
                  <a:txBody>
                    <a:bodyPr/>
                    <a:lstStyle/>
                    <a:p>
                      <a:pPr>
                        <a:defRPr sz="1300" b="1">
                          <a:solidFill>
                            <a:srgbClr val="FFFFFF"/>
                          </a:solidFill>
                          <a:latin typeface="Yu Gothic"/>
                        </a:defRPr>
                      </a:pPr>
                      <a:r>
                        <a:t>内容</a:t>
                      </a:r>
                    </a:p>
                  </a:txBody>
                  <a:tcPr>
                    <a:solidFill>
                      <a:srgbClr val="1B3A5C"/>
                    </a:solidFill>
                  </a:tcPr>
                </a:tc>
              </a:tr>
              <a:tr h="502920">
                <a:tc>
                  <a:txBody>
                    <a:bodyPr/>
                    <a:lstStyle/>
                    <a:p>
                      <a:pPr>
                        <a:defRPr sz="1200">
                          <a:solidFill>
                            <a:srgbClr val="16202E"/>
                          </a:solidFill>
                          <a:latin typeface="Yu Gothic"/>
                        </a:defRPr>
                      </a:pPr>
                      <a:r>
                        <a:t>評価スコア</a:t>
                      </a:r>
                    </a:p>
                  </a:txBody>
                  <a:tcPr>
                    <a:solidFill>
                      <a:srgbClr val="FFFFFF"/>
                    </a:solidFill>
                  </a:tcPr>
                </a:tc>
                <a:tc>
                  <a:txBody>
                    <a:bodyPr/>
                    <a:lstStyle/>
                    <a:p>
                      <a:pPr>
                        <a:defRPr sz="1200">
                          <a:solidFill>
                            <a:srgbClr val="16202E"/>
                          </a:solidFill>
                          <a:latin typeface="Yu Gothic"/>
                        </a:defRPr>
                      </a:pPr>
                      <a:r>
                        <a:t>72/100</a:t>
                      </a:r>
                    </a:p>
                  </a:txBody>
                  <a:tcPr>
                    <a:solidFill>
                      <a:srgbClr val="FFFFFF"/>
                    </a:solidFill>
                  </a:tcPr>
                </a:tc>
              </a:tr>
              <a:tr h="502920">
                <a:tc>
                  <a:txBody>
                    <a:bodyPr/>
                    <a:lstStyle/>
                    <a:p>
                      <a:pPr>
                        <a:defRPr sz="1200">
                          <a:solidFill>
                            <a:srgbClr val="16202E"/>
                          </a:solidFill>
                          <a:latin typeface="Yu Gothic"/>
                        </a:defRPr>
                      </a:pPr>
                      <a:r>
                        <a:t>採用理由</a:t>
                      </a:r>
                    </a:p>
                  </a:txBody>
                  <a:tcPr>
                    <a:solidFill>
                      <a:srgbClr val="F2F6FA"/>
                    </a:solidFill>
                  </a:tcPr>
                </a:tc>
                <a:tc>
                  <a:txBody>
                    <a:bodyPr/>
                    <a:lstStyle/>
                    <a:p>
                      <a:pPr>
                        <a:defRPr sz="1200">
                          <a:solidFill>
                            <a:srgbClr val="16202E"/>
                          </a:solidFill>
                          <a:latin typeface="Yu Gothic"/>
                        </a:defRPr>
                      </a:pPr>
                      <a:r>
                        <a:t>「AIチップのボトルネックを解消する新メモリ層」という具体的で分かりやすいフック、業界標準化団体を通じた発表という信頼性の高さ、着手日の2日前という鮮度基準ぎりぎりながら満たしている点</a:t>
                      </a:r>
                    </a:p>
                  </a:txBody>
                  <a:tcPr>
                    <a:solidFill>
                      <a:srgbClr val="F2F6FA"/>
                    </a:solidFill>
                  </a:tcPr>
                </a:tc>
              </a:tr>
              <a:tr h="502920">
                <a:tc>
                  <a:txBody>
                    <a:bodyPr/>
                    <a:lstStyle/>
                    <a:p>
                      <a:pPr>
                        <a:defRPr sz="1200">
                          <a:solidFill>
                            <a:srgbClr val="16202E"/>
                          </a:solidFill>
                          <a:latin typeface="Yu Gothic"/>
                        </a:defRPr>
                      </a:pPr>
                      <a:r>
                        <a:t>新しい鮮度基準</a:t>
                      </a:r>
                    </a:p>
                  </a:txBody>
                  <a:tcPr>
                    <a:solidFill>
                      <a:srgbClr val="FFFFFF"/>
                    </a:solidFill>
                  </a:tcPr>
                </a:tc>
                <a:tc>
                  <a:txBody>
                    <a:bodyPr/>
                    <a:lstStyle/>
                    <a:p>
                      <a:pPr>
                        <a:defRPr sz="1200">
                          <a:solidFill>
                            <a:srgbClr val="16202E"/>
                          </a:solidFill>
                          <a:latin typeface="Yu Gothic"/>
                        </a:defRPr>
                      </a:pPr>
                      <a:r>
                        <a:t>着手日から2日以内(2026-08-05に厳格化された基準を際どいラインで満たす)</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SanDisk公式プレスリリース(2026-08-03)ほか｜定期実行140本目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出典一覧</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媒体</a:t>
                      </a:r>
                    </a:p>
                  </a:txBody>
                  <a:tcPr>
                    <a:solidFill>
                      <a:srgbClr val="1B3A5C"/>
                    </a:solidFill>
                  </a:tcPr>
                </a:tc>
                <a:tc>
                  <a:txBody>
                    <a:bodyPr/>
                    <a:lstStyle/>
                    <a:p>
                      <a:pPr>
                        <a:defRPr sz="1300" b="1">
                          <a:solidFill>
                            <a:srgbClr val="FFFFFF"/>
                          </a:solidFill>
                          <a:latin typeface="Yu Gothic"/>
                        </a:defRPr>
                      </a:pPr>
                      <a:r>
                        <a:t>日付</a:t>
                      </a:r>
                    </a:p>
                  </a:txBody>
                  <a:tcPr>
                    <a:solidFill>
                      <a:srgbClr val="1B3A5C"/>
                    </a:solidFill>
                  </a:tcPr>
                </a:tc>
                <a:tc>
                  <a:txBody>
                    <a:bodyPr/>
                    <a:lstStyle/>
                    <a:p>
                      <a:pPr>
                        <a:defRPr sz="1300" b="1">
                          <a:solidFill>
                            <a:srgbClr val="FFFFFF"/>
                          </a:solidFill>
                          <a:latin typeface="Yu Gothic"/>
                        </a:defRPr>
                      </a:pPr>
                      <a:r>
                        <a:t>内容</a:t>
                      </a:r>
                    </a:p>
                  </a:txBody>
                  <a:tcPr>
                    <a:solidFill>
                      <a:srgbClr val="1B3A5C"/>
                    </a:solidFill>
                  </a:tcPr>
                </a:tc>
              </a:tr>
              <a:tr h="502920">
                <a:tc>
                  <a:txBody>
                    <a:bodyPr/>
                    <a:lstStyle/>
                    <a:p>
                      <a:pPr>
                        <a:defRPr sz="1200">
                          <a:solidFill>
                            <a:srgbClr val="16202E"/>
                          </a:solidFill>
                          <a:latin typeface="Yu Gothic"/>
                        </a:defRPr>
                      </a:pPr>
                      <a:r>
                        <a:t>SanDisk公式プレスリリース</a:t>
                      </a:r>
                    </a:p>
                  </a:txBody>
                  <a:tcPr>
                    <a:solidFill>
                      <a:srgbClr val="FFFFFF"/>
                    </a:solidFill>
                  </a:tcPr>
                </a:tc>
                <a:tc>
                  <a:txBody>
                    <a:bodyPr/>
                    <a:lstStyle/>
                    <a:p>
                      <a:pPr>
                        <a:defRPr sz="1200">
                          <a:solidFill>
                            <a:srgbClr val="16202E"/>
                          </a:solidFill>
                          <a:latin typeface="Yu Gothic"/>
                        </a:defRPr>
                      </a:pPr>
                      <a:r>
                        <a:t>2026-08-03</a:t>
                      </a:r>
                    </a:p>
                  </a:txBody>
                  <a:tcPr>
                    <a:solidFill>
                      <a:srgbClr val="FFFFFF"/>
                    </a:solidFill>
                  </a:tcPr>
                </a:tc>
                <a:tc>
                  <a:txBody>
                    <a:bodyPr/>
                    <a:lstStyle/>
                    <a:p>
                      <a:pPr>
                        <a:defRPr sz="1200">
                          <a:solidFill>
                            <a:srgbClr val="16202E"/>
                          </a:solidFill>
                          <a:latin typeface="Yu Gothic"/>
                        </a:defRPr>
                      </a:pPr>
                      <a:r>
                        <a:t>HBF技術仕様の発表・技術仕様の詳細</a:t>
                      </a:r>
                    </a:p>
                  </a:txBody>
                  <a:tcPr>
                    <a:solidFill>
                      <a:srgbClr val="FFFFFF"/>
                    </a:solidFill>
                  </a:tcPr>
                </a:tc>
              </a:tr>
              <a:tr h="502920">
                <a:tc>
                  <a:txBody>
                    <a:bodyPr/>
                    <a:lstStyle/>
                    <a:p>
                      <a:pPr>
                        <a:defRPr sz="1200">
                          <a:solidFill>
                            <a:srgbClr val="16202E"/>
                          </a:solidFill>
                          <a:latin typeface="Yu Gothic"/>
                        </a:defRPr>
                      </a:pPr>
                      <a:r>
                        <a:t>SK hynix Newsroom</a:t>
                      </a:r>
                    </a:p>
                  </a:txBody>
                  <a:tcPr>
                    <a:solidFill>
                      <a:srgbClr val="F2F6FA"/>
                    </a:solidFill>
                  </a:tcPr>
                </a:tc>
                <a:tc>
                  <a:txBody>
                    <a:bodyPr/>
                    <a:lstStyle/>
                    <a:p>
                      <a:pPr>
                        <a:defRPr sz="1200">
                          <a:solidFill>
                            <a:srgbClr val="16202E"/>
                          </a:solidFill>
                          <a:latin typeface="Yu Gothic"/>
                        </a:defRPr>
                      </a:pPr>
                      <a:r>
                        <a:t>2026-08-03</a:t>
                      </a:r>
                    </a:p>
                  </a:txBody>
                  <a:tcPr>
                    <a:solidFill>
                      <a:srgbClr val="F2F6FA"/>
                    </a:solidFill>
                  </a:tcPr>
                </a:tc>
                <a:tc>
                  <a:txBody>
                    <a:bodyPr/>
                    <a:lstStyle/>
                    <a:p>
                      <a:pPr>
                        <a:defRPr sz="1200">
                          <a:solidFill>
                            <a:srgbClr val="16202E"/>
                          </a:solidFill>
                          <a:latin typeface="Yu Gothic"/>
                        </a:defRPr>
                      </a:pPr>
                      <a:r>
                        <a:t>HBF技術仕様の発表(SK hynix側の発表)</a:t>
                      </a:r>
                    </a:p>
                  </a:txBody>
                  <a:tcPr>
                    <a:solidFill>
                      <a:srgbClr val="F2F6FA"/>
                    </a:solidFill>
                  </a:tcPr>
                </a:tc>
              </a:tr>
              <a:tr h="502920">
                <a:tc>
                  <a:txBody>
                    <a:bodyPr/>
                    <a:lstStyle/>
                    <a:p>
                      <a:pPr>
                        <a:defRPr sz="1200">
                          <a:solidFill>
                            <a:srgbClr val="16202E"/>
                          </a:solidFill>
                          <a:latin typeface="Yu Gothic"/>
                        </a:defRPr>
                      </a:pPr>
                      <a:r>
                        <a:t>HPCwire</a:t>
                      </a:r>
                    </a:p>
                  </a:txBody>
                  <a:tcPr>
                    <a:solidFill>
                      <a:srgbClr val="FFFFFF"/>
                    </a:solidFill>
                  </a:tcPr>
                </a:tc>
                <a:tc>
                  <a:txBody>
                    <a:bodyPr/>
                    <a:lstStyle/>
                    <a:p>
                      <a:pPr>
                        <a:defRPr sz="1200">
                          <a:solidFill>
                            <a:srgbClr val="16202E"/>
                          </a:solidFill>
                          <a:latin typeface="Yu Gothic"/>
                        </a:defRPr>
                      </a:pPr>
                      <a:r>
                        <a:t>(報道)</a:t>
                      </a:r>
                    </a:p>
                  </a:txBody>
                  <a:tcPr>
                    <a:solidFill>
                      <a:srgbClr val="FFFFFF"/>
                    </a:solidFill>
                  </a:tcPr>
                </a:tc>
                <a:tc>
                  <a:txBody>
                    <a:bodyPr/>
                    <a:lstStyle/>
                    <a:p>
                      <a:pPr>
                        <a:defRPr sz="1200">
                          <a:solidFill>
                            <a:srgbClr val="16202E"/>
                          </a:solidFill>
                          <a:latin typeface="Yu Gothic"/>
                        </a:defRPr>
                      </a:pPr>
                      <a:r>
                        <a:t>同ニュースの報道</a:t>
                      </a:r>
                    </a:p>
                  </a:txBody>
                  <a:tcPr>
                    <a:solidFill>
                      <a:srgbClr val="FFFFFF"/>
                    </a:solidFill>
                  </a:tcPr>
                </a:tc>
              </a:tr>
              <a:tr h="502920">
                <a:tc>
                  <a:txBody>
                    <a:bodyPr/>
                    <a:lstStyle/>
                    <a:p>
                      <a:pPr>
                        <a:defRPr sz="1200">
                          <a:solidFill>
                            <a:srgbClr val="16202E"/>
                          </a:solidFill>
                          <a:latin typeface="Yu Gothic"/>
                        </a:defRPr>
                      </a:pPr>
                      <a:r>
                        <a:t>PR Newswire</a:t>
                      </a:r>
                    </a:p>
                  </a:txBody>
                  <a:tcPr>
                    <a:solidFill>
                      <a:srgbClr val="F2F6FA"/>
                    </a:solidFill>
                  </a:tcPr>
                </a:tc>
                <a:tc>
                  <a:txBody>
                    <a:bodyPr/>
                    <a:lstStyle/>
                    <a:p>
                      <a:pPr>
                        <a:defRPr sz="1200">
                          <a:solidFill>
                            <a:srgbClr val="16202E"/>
                          </a:solidFill>
                          <a:latin typeface="Yu Gothic"/>
                        </a:defRPr>
                      </a:pPr>
                      <a:r>
                        <a:t>(配信)</a:t>
                      </a:r>
                    </a:p>
                  </a:txBody>
                  <a:tcPr>
                    <a:solidFill>
                      <a:srgbClr val="F2F6FA"/>
                    </a:solidFill>
                  </a:tcPr>
                </a:tc>
                <a:tc>
                  <a:txBody>
                    <a:bodyPr/>
                    <a:lstStyle/>
                    <a:p>
                      <a:pPr>
                        <a:defRPr sz="1200">
                          <a:solidFill>
                            <a:srgbClr val="16202E"/>
                          </a:solidFill>
                          <a:latin typeface="Yu Gothic"/>
                        </a:defRPr>
                      </a:pPr>
                      <a:r>
                        <a:t>プレスリリースの配信</a:t>
                      </a:r>
                    </a:p>
                  </a:txBody>
                  <a:tcPr>
                    <a:solidFill>
                      <a:srgbClr val="F2F6FA"/>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SanDisk公式プレスリリース(2026-08-03)ほか｜定期実行140本目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既存テーマとの関係(重複でないことの確認)</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確認項目</a:t>
                      </a:r>
                    </a:p>
                  </a:txBody>
                  <a:tcPr>
                    <a:solidFill>
                      <a:srgbClr val="1B3A5C"/>
                    </a:solidFill>
                  </a:tcPr>
                </a:tc>
                <a:tc>
                  <a:txBody>
                    <a:bodyPr/>
                    <a:lstStyle/>
                    <a:p>
                      <a:pPr>
                        <a:defRPr sz="1300" b="1">
                          <a:solidFill>
                            <a:srgbClr val="FFFFFF"/>
                          </a:solidFill>
                          <a:latin typeface="Yu Gothic"/>
                        </a:defRPr>
                      </a:pPr>
                      <a:r>
                        <a:t>結果</a:t>
                      </a:r>
                    </a:p>
                  </a:txBody>
                  <a:tcPr>
                    <a:solidFill>
                      <a:srgbClr val="1B3A5C"/>
                    </a:solidFill>
                  </a:tcPr>
                </a:tc>
              </a:tr>
              <a:tr h="502920">
                <a:tc>
                  <a:txBody>
                    <a:bodyPr/>
                    <a:lstStyle/>
                    <a:p>
                      <a:pPr>
                        <a:defRPr sz="1200">
                          <a:solidFill>
                            <a:srgbClr val="16202E"/>
                          </a:solidFill>
                          <a:latin typeface="Yu Gothic"/>
                        </a:defRPr>
                      </a:pPr>
                      <a:r>
                        <a:t>SK hynix・SanDisk・HBFを主題としたテーマ</a:t>
                      </a:r>
                    </a:p>
                  </a:txBody>
                  <a:tcPr>
                    <a:solidFill>
                      <a:srgbClr val="FFFFFF"/>
                    </a:solidFill>
                  </a:tcPr>
                </a:tc>
                <a:tc>
                  <a:txBody>
                    <a:bodyPr/>
                    <a:lstStyle/>
                    <a:p>
                      <a:pPr>
                        <a:defRPr sz="1200">
                          <a:solidFill>
                            <a:srgbClr val="16202E"/>
                          </a:solidFill>
                          <a:latin typeface="Yu Gothic"/>
                        </a:defRPr>
                      </a:pPr>
                      <a:r>
                        <a:t>既存テーマになし</a:t>
                      </a:r>
                    </a:p>
                  </a:txBody>
                  <a:tcPr>
                    <a:solidFill>
                      <a:srgbClr val="FFFFFF"/>
                    </a:solidFill>
                  </a:tcPr>
                </a:tc>
              </a:tr>
              <a:tr h="502920">
                <a:tc>
                  <a:txBody>
                    <a:bodyPr/>
                    <a:lstStyle/>
                    <a:p>
                      <a:pPr>
                        <a:defRPr sz="1200">
                          <a:solidFill>
                            <a:srgbClr val="16202E"/>
                          </a:solidFill>
                          <a:latin typeface="Yu Gothic"/>
                        </a:defRPr>
                      </a:pPr>
                      <a:r>
                        <a:t>半導体・メモリ関連の既存テーマとの重複</a:t>
                      </a:r>
                    </a:p>
                  </a:txBody>
                  <a:tcPr>
                    <a:solidFill>
                      <a:srgbClr val="F2F6FA"/>
                    </a:solidFill>
                  </a:tcPr>
                </a:tc>
                <a:tc>
                  <a:txBody>
                    <a:bodyPr/>
                    <a:lstStyle/>
                    <a:p>
                      <a:pPr>
                        <a:defRPr sz="1200">
                          <a:solidFill>
                            <a:srgbClr val="16202E"/>
                          </a:solidFill>
                          <a:latin typeface="Yu Gothic"/>
                        </a:defRPr>
                      </a:pPr>
                      <a:r>
                        <a:t>assets/配下を確認したが、対象・規格(HBF)を扱う既存テーマはなく重複ではない</a:t>
                      </a:r>
                    </a:p>
                  </a:txBody>
                  <a:tcPr>
                    <a:solidFill>
                      <a:srgbClr val="F2F6FA"/>
                    </a:solidFill>
                  </a:tcPr>
                </a:tc>
              </a:tr>
              <a:tr h="502920">
                <a:tc>
                  <a:txBody>
                    <a:bodyPr/>
                    <a:lstStyle/>
                    <a:p>
                      <a:pPr>
                        <a:defRPr sz="1200">
                          <a:solidFill>
                            <a:srgbClr val="16202E"/>
                          </a:solidFill>
                          <a:latin typeface="Yu Gothic"/>
                        </a:defRPr>
                      </a:pPr>
                      <a:r>
                        <a:t>判定</a:t>
                      </a:r>
                    </a:p>
                  </a:txBody>
                  <a:tcPr>
                    <a:solidFill>
                      <a:srgbClr val="FFFFFF"/>
                    </a:solidFill>
                  </a:tcPr>
                </a:tc>
                <a:tc>
                  <a:txBody>
                    <a:bodyPr/>
                    <a:lstStyle/>
                    <a:p>
                      <a:pPr>
                        <a:defRPr sz="1200">
                          <a:solidFill>
                            <a:srgbClr val="16202E"/>
                          </a:solidFill>
                          <a:latin typeface="Yu Gothic"/>
                        </a:defRPr>
                      </a:pPr>
                      <a:r>
                        <a:t>重複ではない</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SanDisk公式プレスリリース(2026-08-03)ほか｜定期実行140本目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今回のニュースの3つのポイント</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B3A5C"/>
                </a:solidFill>
                <a:latin typeface="Yu Gothic"/>
              </a:rPr>
              <a:t>1. 新しいメモリ層</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HBMとSSDの間を埋める'HBF'の初の技術仕様が発表された</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B3A5C"/>
                </a:solidFill>
                <a:latin typeface="Yu Gothic"/>
              </a:rPr>
              <a:t>2. 具体的な仕様</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最大512GB、3段階の帯域幅クラス(約0.4TB/s〜3.0TB/s)</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B3A5C"/>
                </a:solidFill>
                <a:latin typeface="Yu Gothic"/>
              </a:rPr>
              <a:t>3. オープンな接続規格</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UCIe採用により、特定ベンダーに閉じないチップレットエコシステムを志向</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SanDisk公式プレスリリース(2026-08-03)ほか｜定期実行140本目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「渋滞」は本当に解消するのか — 量産・採用企業・価格はまだ見えていない</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CE6F5"/>
                </a:solidFill>
                <a:latin typeface="Yu Gothic"/>
              </a:rPr>
              <a:t>HBFの実際の量産時期や、最初に採用する企業・製品、価格、他のメモリメーカーの動向を、確認できたこと・できなかったことを区別しながら注目していきましょう</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B3A5C"/>
                </a:solidFill>
                <a:latin typeface="Yu Gothic"/>
              </a:rPr>
              <a:t>続報が入り次第、改めてお届けします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