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米国のヘルスケア企業Cityblock Healthが、大型の資金調達と買収を同時発表しました。何が起きているのか、出典付きで正確に整理してお届けします。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結論から確認します。今回の調達と買収により、Cityblockの年換算収益は22億ドル規模に達します。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本日の流れです。企業概要から買収内容、資金使途、そして確認できなかったことまで整理します。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資金調達と買収が同時に発表され、着手日前日時点でも報道が続いている鮮度の高い話題です。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シリーズEの調達額は116百万ドルで、General Catalystが主導しています。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Cityblockは、成果連動型のヘルスケアを提供する米国企業で、統合的なケアを掲げています。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今回の調達と買収の概要です。買収は全株式交換による取引とされています。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Homeward Healthは地方向けのメディケア・アドバンテージ提供企業で、全株式交換による買収が発表されました。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買収後、Cityblockは都市部・地方部合わせて約20万人のアクティブ会員にサービスを提供する規模になります。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Cityblockは独自開発の「CORE」というプラットフォームで、AIを活用したケアの隙間の特定を行っています。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今回の買収により、都市部のCityblockと地方部のHomeward Healthのケアが統合される見込みです。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調達資金は、提供体制の拡大・エンジニアリングチームの拡大・AI臨床業務ソフトウェアの構築に充てられます。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都市部と地方部の異なる医療課題に対応する統合的なケア提供を目指しています。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買収と調達により、Cityblockの年換算収益は22億ドル規模に達します。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シリーズEの調達、買収契約の締結、そして今後という流れで整理します。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買収の狙いは、都市部と地方部を横断した提供体制の構築にあるとみられます。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一部報道によれば、Cityblockはこれまでに累計約10億ドルを調達してきたとされています。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都市部と地方部では医療アクセスの環境が大きく異なり、それぞれ異なるアプローチが必要とされています。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バリューベースケアへの転換とAI活用が、ヘルスケア業界全体のトレンドとなっています。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複数の独立したメディアが同一の調達額・買収内容を報じており、報道内容としての一貫性を確認しています。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買収前後で、サービス提供範囲と規模の両方が大きく変化します。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今回のシリーズEはGeneral Catalystが主導しています。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本テーマは、ヘルスケア×AIの資金調達動向の一事例として整理しています。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今回のニュースに至るまでのタイムラインです。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買収により、Cityblockの会員基盤は都市部・地方部を合わせた規模に拡大します。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116百万ドルのシリーズEとHomeward Health買収により、Cityblockは年換算収益22億ドル規模になります。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本日はCityblock Healthの調達・買収についてお届けしました。確認できなかったことは正直に開示しています。次回もお楽しみに。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都市と地方の</a:t>
            </a:r>
          </a:p>
          <a:p>
            <a:pPr algn="l">
              <a:lnSpc>
                <a:spcPct val="115000"/>
              </a:lnSpc>
            </a:pPr>
            <a:r>
              <a:rPr sz="4200" b="1">
                <a:solidFill>
                  <a:srgbClr val="FFFFFF"/>
                </a:solidFill>
                <a:latin typeface="Yu Gothic"/>
              </a:rPr>
              <a:t>ケアを統合</a:t>
            </a:r>
          </a:p>
          <a:p>
            <a:pPr algn="l">
              <a:lnSpc>
                <a:spcPct val="115000"/>
              </a:lnSpc>
            </a:pPr>
            <a:r>
              <a:rPr sz="4200" b="1">
                <a:solidFill>
                  <a:srgbClr val="FFFFFF"/>
                </a:solidFill>
                <a:latin typeface="Yu Gothic"/>
              </a:rPr>
              <a:t>Cityblockが大型買収</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約174億円調達しHomeward Healthを買収——出典付きで整理する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AlleyWatch(2026年8月24日)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年換算収益22億ドル 調達・買収後の規模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約20万人のアクティブ会員にサービス提供</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AlleyWatch(2026-08-24)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Cityblock Healthとは何か、基本情報を確認する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Homeward Health買収の内容を確認する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資金の使い道・CORE プラットフォーム</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AlleyWatch・Crain's New Yorkが2026年8月24日時点でも報じ続ける話題</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資金調達と企業買収が同時発表されたという話題性</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都市部と地方部のケアを統合するという珍しいアプローチ</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AlleyWatch(2026-08-24)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シリーズEの調達額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116百万ドル General Catalyst主導のシリーズE</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約174億円規模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AlleyWatch(2026-08-24)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Cityblock Healthとは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米国のバリューベース(成果連動型)ヘルスケア提供企業</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メディケイド・デュアルエリジブル(メディケア・メディケイド両対象者)向けにサービス提供</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プライマリケア・行動医療・社会サービスを統合的に提供</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AlleyWatch(2026-08-24)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調達・買収の概要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調達額</a:t>
                      </a:r>
                    </a:p>
                  </a:txBody>
                  <a:tcPr>
                    <a:solidFill>
                      <a:srgbClr val="FFFFFF"/>
                    </a:solidFill>
                  </a:tcPr>
                </a:tc>
                <a:tc>
                  <a:txBody>
                    <a:bodyPr/>
                    <a:lstStyle/>
                    <a:p>
                      <a:pPr>
                        <a:defRPr sz="1200">
                          <a:solidFill>
                            <a:srgbClr val="2A1712"/>
                          </a:solidFill>
                          <a:latin typeface="Yu Gothic"/>
                        </a:defRPr>
                      </a:pPr>
                      <a:r>
                        <a:t>116百万ドル(シリーズE)</a:t>
                      </a:r>
                    </a:p>
                  </a:txBody>
                  <a:tcPr>
                    <a:solidFill>
                      <a:srgbClr val="FFFFFF"/>
                    </a:solidFill>
                  </a:tcPr>
                </a:tc>
              </a:tr>
              <a:tr h="502920">
                <a:tc>
                  <a:txBody>
                    <a:bodyPr/>
                    <a:lstStyle/>
                    <a:p>
                      <a:pPr>
                        <a:defRPr sz="1200">
                          <a:solidFill>
                            <a:srgbClr val="2A1712"/>
                          </a:solidFill>
                          <a:latin typeface="Yu Gothic"/>
                        </a:defRPr>
                      </a:pPr>
                      <a:r>
                        <a:t>リード投資家</a:t>
                      </a:r>
                    </a:p>
                  </a:txBody>
                  <a:tcPr>
                    <a:solidFill>
                      <a:srgbClr val="FBF3E6"/>
                    </a:solidFill>
                  </a:tcPr>
                </a:tc>
                <a:tc>
                  <a:txBody>
                    <a:bodyPr/>
                    <a:lstStyle/>
                    <a:p>
                      <a:pPr>
                        <a:defRPr sz="1200">
                          <a:solidFill>
                            <a:srgbClr val="2A1712"/>
                          </a:solidFill>
                          <a:latin typeface="Yu Gothic"/>
                        </a:defRPr>
                      </a:pPr>
                      <a:r>
                        <a:t>General Catalyst</a:t>
                      </a:r>
                    </a:p>
                  </a:txBody>
                  <a:tcPr>
                    <a:solidFill>
                      <a:srgbClr val="FBF3E6"/>
                    </a:solidFill>
                  </a:tcPr>
                </a:tc>
              </a:tr>
              <a:tr h="502920">
                <a:tc>
                  <a:txBody>
                    <a:bodyPr/>
                    <a:lstStyle/>
                    <a:p>
                      <a:pPr>
                        <a:defRPr sz="1200">
                          <a:solidFill>
                            <a:srgbClr val="2A1712"/>
                          </a:solidFill>
                          <a:latin typeface="Yu Gothic"/>
                        </a:defRPr>
                      </a:pPr>
                      <a:r>
                        <a:t>買収対象</a:t>
                      </a:r>
                    </a:p>
                  </a:txBody>
                  <a:tcPr>
                    <a:solidFill>
                      <a:srgbClr val="FFFFFF"/>
                    </a:solidFill>
                  </a:tcPr>
                </a:tc>
                <a:tc>
                  <a:txBody>
                    <a:bodyPr/>
                    <a:lstStyle/>
                    <a:p>
                      <a:pPr>
                        <a:defRPr sz="1200">
                          <a:solidFill>
                            <a:srgbClr val="2A1712"/>
                          </a:solidFill>
                          <a:latin typeface="Yu Gothic"/>
                        </a:defRPr>
                      </a:pPr>
                      <a:r>
                        <a:t>Homeward Health(地方向けメディケア・アドバンテージ)</a:t>
                      </a:r>
                    </a:p>
                  </a:txBody>
                  <a:tcPr>
                    <a:solidFill>
                      <a:srgbClr val="FFFFFF"/>
                    </a:solidFill>
                  </a:tcPr>
                </a:tc>
              </a:tr>
              <a:tr h="502920">
                <a:tc>
                  <a:txBody>
                    <a:bodyPr/>
                    <a:lstStyle/>
                    <a:p>
                      <a:pPr>
                        <a:defRPr sz="1200">
                          <a:solidFill>
                            <a:srgbClr val="2A1712"/>
                          </a:solidFill>
                          <a:latin typeface="Yu Gothic"/>
                        </a:defRPr>
                      </a:pPr>
                      <a:r>
                        <a:t>買収形態</a:t>
                      </a:r>
                    </a:p>
                  </a:txBody>
                  <a:tcPr>
                    <a:solidFill>
                      <a:srgbClr val="FBF3E6"/>
                    </a:solidFill>
                  </a:tcPr>
                </a:tc>
                <a:tc>
                  <a:txBody>
                    <a:bodyPr/>
                    <a:lstStyle/>
                    <a:p>
                      <a:pPr>
                        <a:defRPr sz="1200">
                          <a:solidFill>
                            <a:srgbClr val="2A1712"/>
                          </a:solidFill>
                          <a:latin typeface="Yu Gothic"/>
                        </a:defRPr>
                      </a:pPr>
                      <a:r>
                        <a:t>全株式交換による最終契約</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AlleyWatch(2026-08-24)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Homeward Health買収とは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地方向けメディケア・アドバンテージを提供する企業</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全株式交換による買収の最終契約を締結</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具体的な取引額・株式交換比率は確認できていない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AlleyWatch(2026-08-24)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アクティブ会員数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約20万人 都市部・地方部の合計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買収後の規模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AlleyWatch(2026-08-24)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CORE プラットフォームとは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Care Orchestration and Resourcing Engineの略</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臨床・社会的データを分析しケアの隙間を特定</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必要な介入を予測するAIネイティブな仕組み</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AlleyWatch(2026-08-24)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都市部×地方部の統合ケア(概念図)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都市部のケア(Cityblock)</a:t>
            </a:r>
          </a:p>
        </p:txBody>
      </p:sp>
      <p:sp>
        <p:nvSpPr>
          <p:cNvPr id="9" name="Right Arrow 8"/>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地方部のケア(Homeward)</a:t>
            </a:r>
          </a:p>
        </p:txBody>
      </p:sp>
      <p:sp>
        <p:nvSpPr>
          <p:cNvPr id="13" name="Right Arrow 12"/>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統合されたケア提供体制</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買収により都市部と地方部のケアが統合される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資金の使い道</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使途</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提供体制の拡大</a:t>
                      </a:r>
                    </a:p>
                  </a:txBody>
                  <a:tcPr>
                    <a:solidFill>
                      <a:srgbClr val="FFFFFF"/>
                    </a:solidFill>
                  </a:tcPr>
                </a:tc>
                <a:tc>
                  <a:txBody>
                    <a:bodyPr/>
                    <a:lstStyle/>
                    <a:p>
                      <a:pPr>
                        <a:defRPr sz="1200">
                          <a:solidFill>
                            <a:srgbClr val="2A1712"/>
                          </a:solidFill>
                          <a:latin typeface="Yu Gothic"/>
                        </a:defRPr>
                      </a:pPr>
                      <a:r>
                        <a:t>メディケア・メディケイド・デュアルエリジブル向け</a:t>
                      </a:r>
                    </a:p>
                  </a:txBody>
                  <a:tcPr>
                    <a:solidFill>
                      <a:srgbClr val="FFFFFF"/>
                    </a:solidFill>
                  </a:tcPr>
                </a:tc>
              </a:tr>
              <a:tr h="502920">
                <a:tc>
                  <a:txBody>
                    <a:bodyPr/>
                    <a:lstStyle/>
                    <a:p>
                      <a:pPr>
                        <a:defRPr sz="1200">
                          <a:solidFill>
                            <a:srgbClr val="2A1712"/>
                          </a:solidFill>
                          <a:latin typeface="Yu Gothic"/>
                        </a:defRPr>
                      </a:pPr>
                      <a:r>
                        <a:t>エンジニアリング拡大</a:t>
                      </a:r>
                    </a:p>
                  </a:txBody>
                  <a:tcPr>
                    <a:solidFill>
                      <a:srgbClr val="FBF3E6"/>
                    </a:solidFill>
                  </a:tcPr>
                </a:tc>
                <a:tc>
                  <a:txBody>
                    <a:bodyPr/>
                    <a:lstStyle/>
                    <a:p>
                      <a:pPr>
                        <a:defRPr sz="1200">
                          <a:solidFill>
                            <a:srgbClr val="2A1712"/>
                          </a:solidFill>
                          <a:latin typeface="Yu Gothic"/>
                        </a:defRPr>
                      </a:pPr>
                      <a:r>
                        <a:t>技術チームの拡充</a:t>
                      </a:r>
                    </a:p>
                  </a:txBody>
                  <a:tcPr>
                    <a:solidFill>
                      <a:srgbClr val="FBF3E6"/>
                    </a:solidFill>
                  </a:tcPr>
                </a:tc>
              </a:tr>
              <a:tr h="502920">
                <a:tc>
                  <a:txBody>
                    <a:bodyPr/>
                    <a:lstStyle/>
                    <a:p>
                      <a:pPr>
                        <a:defRPr sz="1200">
                          <a:solidFill>
                            <a:srgbClr val="2A1712"/>
                          </a:solidFill>
                          <a:latin typeface="Yu Gothic"/>
                        </a:defRPr>
                      </a:pPr>
                      <a:r>
                        <a:t>AI臨床業務ソフトウェア</a:t>
                      </a:r>
                    </a:p>
                  </a:txBody>
                  <a:tcPr>
                    <a:solidFill>
                      <a:srgbClr val="FFFFFF"/>
                    </a:solidFill>
                  </a:tcPr>
                </a:tc>
                <a:tc>
                  <a:txBody>
                    <a:bodyPr/>
                    <a:lstStyle/>
                    <a:p>
                      <a:pPr>
                        <a:defRPr sz="1200">
                          <a:solidFill>
                            <a:srgbClr val="2A1712"/>
                          </a:solidFill>
                          <a:latin typeface="Yu Gothic"/>
                        </a:defRPr>
                      </a:pPr>
                      <a:r>
                        <a:t>CORE等のAI活用ソフトウェアの構築</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AlleyWatch(2026-08-24)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統合ケアの意義</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都市部と地方部で異なる医療アクセスの課題に対応</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デュアルエリジブル層など複雑なニーズを持つ層への対応強化</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AIを活用した予測的なケア提供の拡大</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買収後の年換算収益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22億ドル 買収・調達後の年換算収益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約20万人のアクティブ会員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AlleyWatch(2026-08-24)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取引の流れ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シリーズE</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General Catalyst主導、116百万ドル</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買収契約</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Homeward Healthとの最終契約締結</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今後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買収完了の具体的時期は未確認</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買収の狙い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都市部・地方部を横断した提供体制の構築</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デュアルエリジブル層向けサービスの拡充</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AI活用のケア予測モデルの適用範囲拡大</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確定</a:t>
                      </a:r>
                    </a:p>
                  </a:txBody>
                  <a:tcPr>
                    <a:solidFill>
                      <a:srgbClr val="FFFFFF"/>
                    </a:solidFill>
                  </a:tcPr>
                </a:tc>
                <a:tc>
                  <a:txBody>
                    <a:bodyPr/>
                    <a:lstStyle/>
                    <a:p>
                      <a:pPr>
                        <a:defRPr sz="1200">
                          <a:solidFill>
                            <a:srgbClr val="2A1712"/>
                          </a:solidFill>
                          <a:latin typeface="Yu Gothic"/>
                        </a:defRPr>
                      </a:pPr>
                      <a:r>
                        <a:t>調達額・リード投資家・買収の事実</a:t>
                      </a:r>
                    </a:p>
                  </a:txBody>
                  <a:tcPr>
                    <a:solidFill>
                      <a:srgbClr val="FFFFFF"/>
                    </a:solidFill>
                  </a:tcPr>
                </a:tc>
              </a:tr>
              <a:tr h="502920">
                <a:tc>
                  <a:txBody>
                    <a:bodyPr/>
                    <a:lstStyle/>
                    <a:p>
                      <a:pPr>
                        <a:defRPr sz="1200">
                          <a:solidFill>
                            <a:srgbClr val="2A1712"/>
                          </a:solidFill>
                          <a:latin typeface="Yu Gothic"/>
                        </a:defRPr>
                      </a:pPr>
                      <a:r>
                        <a:t>確定</a:t>
                      </a:r>
                    </a:p>
                  </a:txBody>
                  <a:tcPr>
                    <a:solidFill>
                      <a:srgbClr val="FBF3E6"/>
                    </a:solidFill>
                  </a:tcPr>
                </a:tc>
                <a:tc>
                  <a:txBody>
                    <a:bodyPr/>
                    <a:lstStyle/>
                    <a:p>
                      <a:pPr>
                        <a:defRPr sz="1200">
                          <a:solidFill>
                            <a:srgbClr val="2A1712"/>
                          </a:solidFill>
                          <a:latin typeface="Yu Gothic"/>
                        </a:defRPr>
                      </a:pPr>
                      <a:r>
                        <a:t>買収後の年換算収益・会員数</a:t>
                      </a:r>
                    </a:p>
                  </a:txBody>
                  <a:tcPr>
                    <a:solidFill>
                      <a:srgbClr val="FBF3E6"/>
                    </a:solidFill>
                  </a:tcPr>
                </a:tc>
              </a:tr>
              <a:tr h="502920">
                <a:tc>
                  <a:txBody>
                    <a:bodyPr/>
                    <a:lstStyle/>
                    <a:p>
                      <a:pPr>
                        <a:defRPr sz="1200">
                          <a:solidFill>
                            <a:srgbClr val="2A1712"/>
                          </a:solidFill>
                          <a:latin typeface="Yu Gothic"/>
                        </a:defRPr>
                      </a:pPr>
                      <a:r>
                        <a:t>未確認</a:t>
                      </a:r>
                    </a:p>
                  </a:txBody>
                  <a:tcPr>
                    <a:solidFill>
                      <a:srgbClr val="FFFFFF"/>
                    </a:solidFill>
                  </a:tcPr>
                </a:tc>
                <a:tc>
                  <a:txBody>
                    <a:bodyPr/>
                    <a:lstStyle/>
                    <a:p>
                      <a:pPr>
                        <a:defRPr sz="1200">
                          <a:solidFill>
                            <a:srgbClr val="2A1712"/>
                          </a:solidFill>
                          <a:latin typeface="Yu Gothic"/>
                        </a:defRPr>
                      </a:pPr>
                      <a:r>
                        <a:t>買収の具体的な取引額・完了予定時期</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買収(Homeward Health)の具体的な取引額・株式交換比率</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買収完了の具体的な予定時期</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「AI活用の臨床業務ソフトウェア」の具体的な技術的詳細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これまでの累計調達額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約10億ドル シリーズE以前の累計(報道による推計)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General Catalyst等が継続的に支援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報道による推計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都市部向け vs 地方部向けケア</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都市部(Cityblock)</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密集した医療アクセス環境</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多様な社会サービスとの連携</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地方部(Homeward)</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医療アクセスが限られた環境</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メディケア・アドバンテージ中心</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ヘルスケア業界の背景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バリューベースケア(成果連動型)への転換が業界全体で進行中</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AIを活用した予測的なケアモデルへの投資が拡大</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都市部・地方部の医療格差解消が政策的にも注目されている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主要出典の一覧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7A1F2B"/>
                    </a:solidFill>
                  </a:tcPr>
                </a:tc>
                <a:tc>
                  <a:txBody>
                    <a:bodyPr/>
                    <a:lstStyle/>
                    <a:p>
                      <a:pPr>
                        <a:defRPr sz="1300" b="1">
                          <a:solidFill>
                            <a:srgbClr val="FFFFFF"/>
                          </a:solidFill>
                          <a:latin typeface="Yu Gothic"/>
                        </a:defRPr>
                      </a:pPr>
                      <a:r>
                        <a:t>日付</a:t>
                      </a:r>
                    </a:p>
                  </a:txBody>
                  <a:tcPr>
                    <a:solidFill>
                      <a:srgbClr val="7A1F2B"/>
                    </a:solidFill>
                  </a:tcPr>
                </a:tc>
              </a:tr>
              <a:tr h="502920">
                <a:tc>
                  <a:txBody>
                    <a:bodyPr/>
                    <a:lstStyle/>
                    <a:p>
                      <a:pPr>
                        <a:defRPr sz="1200">
                          <a:solidFill>
                            <a:srgbClr val="2A1712"/>
                          </a:solidFill>
                          <a:latin typeface="Yu Gothic"/>
                        </a:defRPr>
                      </a:pPr>
                      <a:r>
                        <a:t>AlleyWatch</a:t>
                      </a:r>
                    </a:p>
                  </a:txBody>
                  <a:tcPr>
                    <a:solidFill>
                      <a:srgbClr val="FFFFFF"/>
                    </a:solidFill>
                  </a:tcPr>
                </a:tc>
                <a:tc>
                  <a:txBody>
                    <a:bodyPr/>
                    <a:lstStyle/>
                    <a:p>
                      <a:pPr>
                        <a:defRPr sz="1200">
                          <a:solidFill>
                            <a:srgbClr val="2A1712"/>
                          </a:solidFill>
                          <a:latin typeface="Yu Gothic"/>
                        </a:defRPr>
                      </a:pPr>
                      <a:r>
                        <a:t>2026年8月24日</a:t>
                      </a:r>
                    </a:p>
                  </a:txBody>
                  <a:tcPr>
                    <a:solidFill>
                      <a:srgbClr val="FFFFFF"/>
                    </a:solidFill>
                  </a:tcPr>
                </a:tc>
              </a:tr>
              <a:tr h="502920">
                <a:tc>
                  <a:txBody>
                    <a:bodyPr/>
                    <a:lstStyle/>
                    <a:p>
                      <a:pPr>
                        <a:defRPr sz="1200">
                          <a:solidFill>
                            <a:srgbClr val="2A1712"/>
                          </a:solidFill>
                          <a:latin typeface="Yu Gothic"/>
                        </a:defRPr>
                      </a:pPr>
                      <a:r>
                        <a:t>Crain's New York</a:t>
                      </a:r>
                    </a:p>
                  </a:txBody>
                  <a:tcPr>
                    <a:solidFill>
                      <a:srgbClr val="FBF3E6"/>
                    </a:solidFill>
                  </a:tcPr>
                </a:tc>
                <a:tc>
                  <a:txBody>
                    <a:bodyPr/>
                    <a:lstStyle/>
                    <a:p>
                      <a:pPr>
                        <a:defRPr sz="1200">
                          <a:solidFill>
                            <a:srgbClr val="2A1712"/>
                          </a:solidFill>
                          <a:latin typeface="Yu Gothic"/>
                        </a:defRPr>
                      </a:pPr>
                      <a:r>
                        <a:t>2026年8月24日</a:t>
                      </a:r>
                    </a:p>
                  </a:txBody>
                  <a:tcPr>
                    <a:solidFill>
                      <a:srgbClr val="FBF3E6"/>
                    </a:solidFill>
                  </a:tcPr>
                </a:tc>
              </a:tr>
              <a:tr h="502920">
                <a:tc>
                  <a:txBody>
                    <a:bodyPr/>
                    <a:lstStyle/>
                    <a:p>
                      <a:pPr>
                        <a:defRPr sz="1200">
                          <a:solidFill>
                            <a:srgbClr val="2A1712"/>
                          </a:solidFill>
                          <a:latin typeface="Yu Gothic"/>
                        </a:defRPr>
                      </a:pPr>
                      <a:r>
                        <a:t>Axios Pro</a:t>
                      </a:r>
                    </a:p>
                  </a:txBody>
                  <a:tcPr>
                    <a:solidFill>
                      <a:srgbClr val="FFFFFF"/>
                    </a:solidFill>
                  </a:tcPr>
                </a:tc>
                <a:tc>
                  <a:txBody>
                    <a:bodyPr/>
                    <a:lstStyle/>
                    <a:p>
                      <a:pPr>
                        <a:defRPr sz="1200">
                          <a:solidFill>
                            <a:srgbClr val="2A1712"/>
                          </a:solidFill>
                          <a:latin typeface="Yu Gothic"/>
                        </a:defRPr>
                      </a:pPr>
                      <a:r>
                        <a:t>2026年8月20日</a:t>
                      </a:r>
                    </a:p>
                  </a:txBody>
                  <a:tcPr>
                    <a:solidFill>
                      <a:srgbClr val="FFFFFF"/>
                    </a:solidFill>
                  </a:tcPr>
                </a:tc>
              </a:tr>
              <a:tr h="502920">
                <a:tc>
                  <a:txBody>
                    <a:bodyPr/>
                    <a:lstStyle/>
                    <a:p>
                      <a:pPr>
                        <a:defRPr sz="1200">
                          <a:solidFill>
                            <a:srgbClr val="2A1712"/>
                          </a:solidFill>
                          <a:latin typeface="Yu Gothic"/>
                        </a:defRPr>
                      </a:pPr>
                      <a:r>
                        <a:t>MedCity News</a:t>
                      </a:r>
                    </a:p>
                  </a:txBody>
                  <a:tcPr>
                    <a:solidFill>
                      <a:srgbClr val="FBF3E6"/>
                    </a:solidFill>
                  </a:tcPr>
                </a:tc>
                <a:tc>
                  <a:txBody>
                    <a:bodyPr/>
                    <a:lstStyle/>
                    <a:p>
                      <a:pPr>
                        <a:defRPr sz="1200">
                          <a:solidFill>
                            <a:srgbClr val="2A1712"/>
                          </a:solidFill>
                          <a:latin typeface="Yu Gothic"/>
                        </a:defRPr>
                      </a:pPr>
                      <a:r>
                        <a:t>2026年8月</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買収前 vs 買収後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買収前</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都市部中心のサービス提供</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年換算収益は買収前水準</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買収後</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都市部・地方部を横断</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年換算収益22億ドル・会員数約20万人</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リード投資家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General Catalyst シリーズEを主導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継続的な支援関係</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AlleyWatch(2026-08-24)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調達と買収を同時発表という大型ニュース</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都市部・地方部のケアを統合する珍しいアプローチ</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AI活用の臨床業務ソフトウェアへの投資拡大</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視聴者にとっての意味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ヘルスケア×AIの資金調達動向を追う人に参考になる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都市部・地方部の医療格差という社会課題への一事例として押さえたい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特定サービスの利用を推奨するものではない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タイムライン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7A1F2B"/>
                    </a:solidFill>
                  </a:tcPr>
                </a:tc>
                <a:tc>
                  <a:txBody>
                    <a:bodyPr/>
                    <a:lstStyle/>
                    <a:p>
                      <a:pPr>
                        <a:defRPr sz="1300" b="1">
                          <a:solidFill>
                            <a:srgbClr val="FFFFFF"/>
                          </a:solidFill>
                          <a:latin typeface="Yu Gothic"/>
                        </a:defRPr>
                      </a:pPr>
                      <a:r>
                        <a:t>できごと</a:t>
                      </a:r>
                    </a:p>
                  </a:txBody>
                  <a:tcPr>
                    <a:solidFill>
                      <a:srgbClr val="7A1F2B"/>
                    </a:solidFill>
                  </a:tcPr>
                </a:tc>
              </a:tr>
              <a:tr h="502920">
                <a:tc>
                  <a:txBody>
                    <a:bodyPr/>
                    <a:lstStyle/>
                    <a:p>
                      <a:pPr>
                        <a:defRPr sz="1200">
                          <a:solidFill>
                            <a:srgbClr val="2A1712"/>
                          </a:solidFill>
                          <a:latin typeface="Yu Gothic"/>
                        </a:defRPr>
                      </a:pPr>
                      <a:r>
                        <a:t>2026年8月20日</a:t>
                      </a:r>
                    </a:p>
                  </a:txBody>
                  <a:tcPr>
                    <a:solidFill>
                      <a:srgbClr val="FFFFFF"/>
                    </a:solidFill>
                  </a:tcPr>
                </a:tc>
                <a:tc>
                  <a:txBody>
                    <a:bodyPr/>
                    <a:lstStyle/>
                    <a:p>
                      <a:pPr>
                        <a:defRPr sz="1200">
                          <a:solidFill>
                            <a:srgbClr val="2A1712"/>
                          </a:solidFill>
                          <a:latin typeface="Yu Gothic"/>
                        </a:defRPr>
                      </a:pPr>
                      <a:r>
                        <a:t>Axios Proが調達・買収を報道</a:t>
                      </a:r>
                    </a:p>
                  </a:txBody>
                  <a:tcPr>
                    <a:solidFill>
                      <a:srgbClr val="FFFFFF"/>
                    </a:solidFill>
                  </a:tcPr>
                </a:tc>
              </a:tr>
              <a:tr h="502920">
                <a:tc>
                  <a:txBody>
                    <a:bodyPr/>
                    <a:lstStyle/>
                    <a:p>
                      <a:pPr>
                        <a:defRPr sz="1200">
                          <a:solidFill>
                            <a:srgbClr val="2A1712"/>
                          </a:solidFill>
                          <a:latin typeface="Yu Gothic"/>
                        </a:defRPr>
                      </a:pPr>
                      <a:r>
                        <a:t>2026年8月24日</a:t>
                      </a:r>
                    </a:p>
                  </a:txBody>
                  <a:tcPr>
                    <a:solidFill>
                      <a:srgbClr val="FBF3E6"/>
                    </a:solidFill>
                  </a:tcPr>
                </a:tc>
                <a:tc>
                  <a:txBody>
                    <a:bodyPr/>
                    <a:lstStyle/>
                    <a:p>
                      <a:pPr>
                        <a:defRPr sz="1200">
                          <a:solidFill>
                            <a:srgbClr val="2A1712"/>
                          </a:solidFill>
                          <a:latin typeface="Yu Gothic"/>
                        </a:defRPr>
                      </a:pPr>
                      <a:r>
                        <a:t>AlleyWatch・Crain's New Yorkが継続報道</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Cityblockの成長</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買収前</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都市部の会員基盤</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買収後</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都市部・地方部合計約20万人の会員基盤</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AlleyWatch等(2026-08-24)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116百万ドル→年換算収益22億ドル Cityblockの調達・買収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AlleyWatch(2026-08-24)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