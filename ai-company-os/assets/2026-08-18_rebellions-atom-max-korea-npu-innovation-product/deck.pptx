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韓国のAI半導体スタートアップ、リベリオンズのサーバー向けNPU『ATOM-Max』が、2026年8月18日、韓国科学技術情報通信部の『優秀研究開発革新製品』に指定されたと発表されました。今日はこの指定の中身と、韓国国産NPU業界の全体像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結論から確認します。リベリオンズのATOM-Maxが韓国政府の革新製品に指定され、公共機関は競争入札なしで随意契約を結べるようになりました。調達期間も60日から10日以内に短縮されます。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今日は6つの流れでお伝えします。指定の内容から、ATOM-Maxの性能、韓国国産NPU業界の全体像まで、正確に数字を引用しながら整理します。誇張せず、確認できなかったことは正直にお伝えします。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このテーマを扱う理由です。着手日前日という高い鮮度、外国製GPU依存からの脱却という関心の高さ、調達期間短縮という具体的な数字に注目しました。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リベリオンズは韓国のAI半導体スタートアップで、サーバー向けNPUを開発しています。ATOM-Maxは大規模AI推論ワークロード向けの製品で、カード型・サーバー型の両方が今回の指定対象です。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革新製品指定の内容です。ATOM-Maxカード・サーバーが対象となり、公共機関は随意契約が可能になります。調達期間は60日から10日以内に短縮され、有効期間は最大6年まで延長できます。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この指定は、外国製GPUに依存してきた韓国の公共AIインフラに国産NPUが制度的な足がかりを得る転換点です。ただし、技術的優位性を政府が公式認定したものではない点は正確に扱います。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調達期間は従来の60日から10日以内へと大幅に短縮されます。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指定を受けた韓国NPU企業の一覧です。Rebellionsは今回8月18日に指定されましたが、FuriosaAIとDeepXは2026年上半期のうちに指定されており、具体的な指定日までは確認できていません。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ATOM-Maxの性能数値は、ISSCC 2024での発表・実演デモに基づくものです。Nvidia A100と比較して消費電力は約1/5、エネルギー効率は3〜4.5倍とされていますが、今回の政府指定とは別の時点・文脈の情報である点を区別して扱います。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エネルギー効率はNvidia A100比で3から4.5倍とされていますが、独立した第三者による再検証結果ではない点に留意が必要です。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韓国国内のNPU企業は5社あり、うちRebellionsとFuriosaAIはそれぞれ企業価値2兆ウォン規模と評価されています。主要4社はいずれも国産NPUの量産に成功したと報じられています。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韓国国産NPU企業の一覧です。Rebellions・FuriosaAI・DeepXはいずれも革新製品指定を受けており、DeepXは世界8カ国への輸出実績もあります。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RebellionsとFuriosaAIはそれぞれ約6,400億ウォン・約8,000億ウォンの資金調達を実施し、政府の国民成長ファンドの投資対象候補としても有力視されています。ただし正式決定ではない点に留意します。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韓国政府の国民成長ファンドが、半導体分野で最初の投資対象としてFuriosaAIとRebellionsを選定したと報じられていますが、正式決定という段階ではありません。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国産NPU普及までの流れを図にしました。量産成功から革新製品指定、そして公共調達での随意契約解禁までの流れです。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今回の発表を3ステップで総括しました。ATOM-Maxの革新製品指定、公共調達の随意契約解禁、そして国産NPU業界全体への波及という流れです。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韓国政府は『K-エヌビディア』というNPU企業育成のメガプロジェクトを推進しており、今回の指定もこの政策文脈の一環と位置づけられます。ただし正式決定という段階ではありません。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RebellionsとFuriosaAIはいずれも企業価値約2兆ウォン規模と評価されていますが、これは報道での評価額であり、正式な財務諸表としての開示ではありません。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DeepXは世界8カ国への輸出実績があり、中国のBaiduも輸出先に含まれると報じられています。ただし具体的な輸出金額までは確認できていません。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革新製品指定が意味することと意味しないことを対比しました。これはあくまで公共調達手続きの簡素化であり、技術的優位性の政府認定ではありません。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確認できなかったことを正直にお伝えします。性能数値の第三者検証、資金調達額の正式開示、国民成長ファンドの正式決定は確認できていません。本テーマは投資を推奨するものではありません。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革新製品指定の有効期間は基本3年間で、1次・2次延長により最大6年まで延長可能です。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今回の発表の要点をまとめました。ATOM-Maxの指定、調達期間の短縮、業界内での位置づけ、そして政策文脈という4点です。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この発表は、韓国の公共AIインフラが国産NPUへシフトする制度的な環境が整いつつあることを示しています。実際の切り替え実績は今後の続報で確認する必要があります。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RebellionsとFuriosaAIの概要を比較しました。企業価値はいずれも約2兆ウォン規模、資金調達額はFuriosaAIの方がやや大きいと報じられています。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国産NPUと外国製GPUの、公共調達における位置づけの違いを対比しました。今回の指定により、国産NPU側に手続き上の優遇措置が生まれています。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このニュースが読者にとって意味することをまとめました。AI半導体業界の動向を追う立場、韓国テック産業に関心がある立場、投資を検討する立場、それぞれで意識したい視点です。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まとめです。ATOM-Maxの革新製品指定と、それに伴う公共調達の随意契約解禁、そして国産NPU業界全体への波及を正直にお伝えしました。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リベリオンズのATOM-Maxの革新製品指定と、韓国国産NPU業界の全体像について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外国製GPU依存に、</a:t>
            </a:r>
          </a:p>
          <a:p>
            <a:pPr algn="l">
              <a:lnSpc>
                <a:spcPct val="115000"/>
              </a:lnSpc>
            </a:pPr>
            <a:r>
              <a:rPr sz="4200" b="1">
                <a:solidFill>
                  <a:srgbClr val="FFFFFF"/>
                </a:solidFill>
                <a:latin typeface="Yu Gothic"/>
              </a:rPr>
              <a:t>風穴。</a:t>
            </a:r>
          </a:p>
          <a:p>
            <a:pPr algn="l">
              <a:lnSpc>
                <a:spcPct val="115000"/>
              </a:lnSpc>
            </a:pPr>
            <a:r>
              <a:rPr sz="4200" b="1">
                <a:solidFill>
                  <a:srgbClr val="FFFFFF"/>
                </a:solidFill>
                <a:latin typeface="Yu Gothic"/>
              </a:rPr>
              <a:t>韓国国産NPUが政府調達へ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2026年8月18日発表——リベリオンズ「ATOM-Max」が革新製品指定を取得</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디지털데일리・한국경제・와우테일(2026年8月18日)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ATOM-Maxが政府革新製品に指定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公共機関は競争入札なしで随意契約可能に、調達期間は60日→10日以内へ短縮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디지털데일리・한국경제(2026-08-18)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リベリオンズとATOM-Maxとは・基礎知識</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革新製品指定の内容を確認する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ATOM-Maxの性能を確認する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韓国国産NPU業界の全体像を確認する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着手日の前日(2026年8月18日)発表という高い鮮度の話題である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外国製GPU依存からの脱却という、AI半導体業界の関心が高いテーマである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調達期間60日→10日以内という具体的でインパクトのある数字である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複数の独立した韓国メディア(디지털데일리・한국경제・와우테일等)で確認できる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디지털데일리・한국경제・와우테일(2026-08-18)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リベリオンズとATOM-Maxとは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韓国のAI半導体スタートアップ「Rebellions(リベリオンズ)」</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サーバー向けNPU(ニューラルネットワーク処理装置)を開発</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『ATOM-Max』(型番RBLN-CA25)は大規模AI推論ワークロード向けの製品</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カード型・サーバー型の両方が今回の指定対象</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디지털데일리・한국경제(2026-08-18)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革新製品指定の内容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指定対象</a:t>
                      </a:r>
                    </a:p>
                  </a:txBody>
                  <a:tcPr>
                    <a:solidFill>
                      <a:srgbClr val="FFFFFF"/>
                    </a:solidFill>
                  </a:tcPr>
                </a:tc>
                <a:tc>
                  <a:txBody>
                    <a:bodyPr/>
                    <a:lstStyle/>
                    <a:p>
                      <a:pPr>
                        <a:defRPr sz="1200">
                          <a:solidFill>
                            <a:srgbClr val="1E2124"/>
                          </a:solidFill>
                          <a:latin typeface="Yu Gothic"/>
                        </a:defRPr>
                      </a:pPr>
                      <a:r>
                        <a:t>ATOM-Maxカード・サーバー</a:t>
                      </a:r>
                    </a:p>
                  </a:txBody>
                  <a:tcPr>
                    <a:solidFill>
                      <a:srgbClr val="FFFFFF"/>
                    </a:solidFill>
                  </a:tcPr>
                </a:tc>
              </a:tr>
              <a:tr h="502920">
                <a:tc>
                  <a:txBody>
                    <a:bodyPr/>
                    <a:lstStyle/>
                    <a:p>
                      <a:pPr>
                        <a:defRPr sz="1200">
                          <a:solidFill>
                            <a:srgbClr val="1E2124"/>
                          </a:solidFill>
                          <a:latin typeface="Yu Gothic"/>
                        </a:defRPr>
                      </a:pPr>
                      <a:r>
                        <a:t>指定機関</a:t>
                      </a:r>
                    </a:p>
                  </a:txBody>
                  <a:tcPr>
                    <a:solidFill>
                      <a:srgbClr val="F7F4EF"/>
                    </a:solidFill>
                  </a:tcPr>
                </a:tc>
                <a:tc>
                  <a:txBody>
                    <a:bodyPr/>
                    <a:lstStyle/>
                    <a:p>
                      <a:pPr>
                        <a:defRPr sz="1200">
                          <a:solidFill>
                            <a:srgbClr val="1E2124"/>
                          </a:solidFill>
                          <a:latin typeface="Yu Gothic"/>
                        </a:defRPr>
                      </a:pPr>
                      <a:r>
                        <a:t>韓国科学技術情報通信部</a:t>
                      </a:r>
                    </a:p>
                  </a:txBody>
                  <a:tcPr>
                    <a:solidFill>
                      <a:srgbClr val="F7F4EF"/>
                    </a:solidFill>
                  </a:tcPr>
                </a:tc>
              </a:tr>
              <a:tr h="502920">
                <a:tc>
                  <a:txBody>
                    <a:bodyPr/>
                    <a:lstStyle/>
                    <a:p>
                      <a:pPr>
                        <a:defRPr sz="1200">
                          <a:solidFill>
                            <a:srgbClr val="1E2124"/>
                          </a:solidFill>
                          <a:latin typeface="Yu Gothic"/>
                        </a:defRPr>
                      </a:pPr>
                      <a:r>
                        <a:t>調達手続きの変化</a:t>
                      </a:r>
                    </a:p>
                  </a:txBody>
                  <a:tcPr>
                    <a:solidFill>
                      <a:srgbClr val="FFFFFF"/>
                    </a:solidFill>
                  </a:tcPr>
                </a:tc>
                <a:tc>
                  <a:txBody>
                    <a:bodyPr/>
                    <a:lstStyle/>
                    <a:p>
                      <a:pPr>
                        <a:defRPr sz="1200">
                          <a:solidFill>
                            <a:srgbClr val="1E2124"/>
                          </a:solidFill>
                          <a:latin typeface="Yu Gothic"/>
                        </a:defRPr>
                      </a:pPr>
                      <a:r>
                        <a:t>競争入札なしの随意契約が可能に</a:t>
                      </a:r>
                    </a:p>
                  </a:txBody>
                  <a:tcPr>
                    <a:solidFill>
                      <a:srgbClr val="FFFFFF"/>
                    </a:solidFill>
                  </a:tcPr>
                </a:tc>
              </a:tr>
              <a:tr h="502920">
                <a:tc>
                  <a:txBody>
                    <a:bodyPr/>
                    <a:lstStyle/>
                    <a:p>
                      <a:pPr>
                        <a:defRPr sz="1200">
                          <a:solidFill>
                            <a:srgbClr val="1E2124"/>
                          </a:solidFill>
                          <a:latin typeface="Yu Gothic"/>
                        </a:defRPr>
                      </a:pPr>
                      <a:r>
                        <a:t>調達期間の短縮</a:t>
                      </a:r>
                    </a:p>
                  </a:txBody>
                  <a:tcPr>
                    <a:solidFill>
                      <a:srgbClr val="F7F4EF"/>
                    </a:solidFill>
                  </a:tcPr>
                </a:tc>
                <a:tc>
                  <a:txBody>
                    <a:bodyPr/>
                    <a:lstStyle/>
                    <a:p>
                      <a:pPr>
                        <a:defRPr sz="1200">
                          <a:solidFill>
                            <a:srgbClr val="1E2124"/>
                          </a:solidFill>
                          <a:latin typeface="Yu Gothic"/>
                        </a:defRPr>
                      </a:pPr>
                      <a:r>
                        <a:t>従来60日→10日以内</a:t>
                      </a:r>
                    </a:p>
                  </a:txBody>
                  <a:tcPr>
                    <a:solidFill>
                      <a:srgbClr val="F7F4EF"/>
                    </a:solidFill>
                  </a:tcPr>
                </a:tc>
              </a:tr>
              <a:tr h="502920">
                <a:tc>
                  <a:txBody>
                    <a:bodyPr/>
                    <a:lstStyle/>
                    <a:p>
                      <a:pPr>
                        <a:defRPr sz="1200">
                          <a:solidFill>
                            <a:srgbClr val="1E2124"/>
                          </a:solidFill>
                          <a:latin typeface="Yu Gothic"/>
                        </a:defRPr>
                      </a:pPr>
                      <a:r>
                        <a:t>有効期間</a:t>
                      </a:r>
                    </a:p>
                  </a:txBody>
                  <a:tcPr>
                    <a:solidFill>
                      <a:srgbClr val="FFFFFF"/>
                    </a:solidFill>
                  </a:tcPr>
                </a:tc>
                <a:tc>
                  <a:txBody>
                    <a:bodyPr/>
                    <a:lstStyle/>
                    <a:p>
                      <a:pPr>
                        <a:defRPr sz="1200">
                          <a:solidFill>
                            <a:srgbClr val="1E2124"/>
                          </a:solidFill>
                          <a:latin typeface="Yu Gothic"/>
                        </a:defRPr>
                      </a:pPr>
                      <a:r>
                        <a:t>3年間(延長で最大6年まで)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디지털데일리・한국경제・와우테일(2026-08-18)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指定の意味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この指定が持つ意味です。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外国製GPUに依存してきた韓国の公共AIインフラに、国産NPUが制度的な足がかりを得る転換点</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公共機関がRebellionsと直接、随意契約を結べるようになる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調達期間の大幅な短縮により、公共部門でのAIインフラ整備のスピードが上がる可能性がある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ただし『革新製品』指定はあくまで公共調達制度上の位置づけであり、技術的優位性を政府が公式認定したものではない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디지털데일리(2026-08-18)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調達期間の短縮幅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60日→10日以内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競争入札なしの随意契約が可能になったことによる短縮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디지털데일리・한국경제(2026-08-18)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指定を受けた韓国NPU企業と時期</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企業名</a:t>
                      </a:r>
                    </a:p>
                  </a:txBody>
                  <a:tcPr>
                    <a:solidFill>
                      <a:srgbClr val="3A4750"/>
                    </a:solidFill>
                  </a:tcPr>
                </a:tc>
                <a:tc>
                  <a:txBody>
                    <a:bodyPr/>
                    <a:lstStyle/>
                    <a:p>
                      <a:pPr>
                        <a:defRPr sz="1300" b="1">
                          <a:solidFill>
                            <a:srgbClr val="FFFFFF"/>
                          </a:solidFill>
                          <a:latin typeface="Yu Gothic"/>
                        </a:defRPr>
                      </a:pPr>
                      <a:r>
                        <a:t>指定時期・対象</a:t>
                      </a:r>
                    </a:p>
                  </a:txBody>
                  <a:tcPr>
                    <a:solidFill>
                      <a:srgbClr val="3A4750"/>
                    </a:solidFill>
                  </a:tcPr>
                </a:tc>
              </a:tr>
              <a:tr h="502920">
                <a:tc>
                  <a:txBody>
                    <a:bodyPr/>
                    <a:lstStyle/>
                    <a:p>
                      <a:pPr>
                        <a:defRPr sz="1200">
                          <a:solidFill>
                            <a:srgbClr val="1E2124"/>
                          </a:solidFill>
                          <a:latin typeface="Yu Gothic"/>
                        </a:defRPr>
                      </a:pPr>
                      <a:r>
                        <a:t>Rebellions(리벨리온)</a:t>
                      </a:r>
                    </a:p>
                  </a:txBody>
                  <a:tcPr>
                    <a:solidFill>
                      <a:srgbClr val="FFFFFF"/>
                    </a:solidFill>
                  </a:tcPr>
                </a:tc>
                <a:tc>
                  <a:txBody>
                    <a:bodyPr/>
                    <a:lstStyle/>
                    <a:p>
                      <a:pPr>
                        <a:defRPr sz="1200">
                          <a:solidFill>
                            <a:srgbClr val="1E2124"/>
                          </a:solidFill>
                          <a:latin typeface="Yu Gothic"/>
                        </a:defRPr>
                      </a:pPr>
                      <a:r>
                        <a:t>2026年8月18日、ATOM-Maxカード・サーバーが指定</a:t>
                      </a:r>
                    </a:p>
                  </a:txBody>
                  <a:tcPr>
                    <a:solidFill>
                      <a:srgbClr val="FFFFFF"/>
                    </a:solidFill>
                  </a:tcPr>
                </a:tc>
              </a:tr>
              <a:tr h="502920">
                <a:tc>
                  <a:txBody>
                    <a:bodyPr/>
                    <a:lstStyle/>
                    <a:p>
                      <a:pPr>
                        <a:defRPr sz="1200">
                          <a:solidFill>
                            <a:srgbClr val="1E2124"/>
                          </a:solidFill>
                          <a:latin typeface="Yu Gothic"/>
                        </a:defRPr>
                      </a:pPr>
                      <a:r>
                        <a:t>FuriosaAI(퓨리오사AI)</a:t>
                      </a:r>
                    </a:p>
                  </a:txBody>
                  <a:tcPr>
                    <a:solidFill>
                      <a:srgbClr val="F7F4EF"/>
                    </a:solidFill>
                  </a:tcPr>
                </a:tc>
                <a:tc>
                  <a:txBody>
                    <a:bodyPr/>
                    <a:lstStyle/>
                    <a:p>
                      <a:pPr>
                        <a:defRPr sz="1200">
                          <a:solidFill>
                            <a:srgbClr val="1E2124"/>
                          </a:solidFill>
                          <a:latin typeface="Yu Gothic"/>
                        </a:defRPr>
                      </a:pPr>
                      <a:r>
                        <a:t>2026年上半期、AI半導体が指定(具体的な指定日は未確認)</a:t>
                      </a:r>
                    </a:p>
                  </a:txBody>
                  <a:tcPr>
                    <a:solidFill>
                      <a:srgbClr val="F7F4EF"/>
                    </a:solidFill>
                  </a:tcPr>
                </a:tc>
              </a:tr>
              <a:tr h="502920">
                <a:tc>
                  <a:txBody>
                    <a:bodyPr/>
                    <a:lstStyle/>
                    <a:p>
                      <a:pPr>
                        <a:defRPr sz="1200">
                          <a:solidFill>
                            <a:srgbClr val="1E2124"/>
                          </a:solidFill>
                          <a:latin typeface="Yu Gothic"/>
                        </a:defRPr>
                      </a:pPr>
                      <a:r>
                        <a:t>DeepX(딥엑스)</a:t>
                      </a:r>
                    </a:p>
                  </a:txBody>
                  <a:tcPr>
                    <a:solidFill>
                      <a:srgbClr val="FFFFFF"/>
                    </a:solidFill>
                  </a:tcPr>
                </a:tc>
                <a:tc>
                  <a:txBody>
                    <a:bodyPr/>
                    <a:lstStyle/>
                    <a:p>
                      <a:pPr>
                        <a:defRPr sz="1200">
                          <a:solidFill>
                            <a:srgbClr val="1E2124"/>
                          </a:solidFill>
                          <a:latin typeface="Yu Gothic"/>
                        </a:defRPr>
                      </a:pPr>
                      <a:r>
                        <a:t>2026年上半期、AI半導体が指定(具体的な指定日は未確認)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한국경제・e4ds news(2026-08-18時点の報道)</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ATOM-Maxの性能(公表資料に基づく)</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性能に関する公表情報です。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ISSCC 2024で発表された論文・実演デモに基づく数値</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大規模AI推論ワークロードにおいて、Nvidia A100と比較し消費電力は約1/5とされる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エネルギー効率はNvidia A100比で3〜4.5倍優れているとされる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この性能数値は2026年8月18日の政府指定とは別の時点・文脈の情報であり、区別して扱う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ISSCC 2024論文・関連報道の言及</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エネルギー効率(公表値)</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Nvidia A100比で3〜4.5倍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ISSCC 2024での発表・実演デモに基づく数値(独立した第三者検証ではない)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ISSCC 2024論文・関連報道の言及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韓国国産NPU業界の全体像</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業界の構図を整理します。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韓国国内のNPU企業は、FuriosaAI・Rebellions・DeepX・Mobilint・HyperAccelの5社</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このうちRebellionsとFuriosaAIは、それぞれ企業価値2兆ウォン規模と評価されている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2026年上半期には、RebellionsのNPUに加えFuriosaAIとDeepXのAI半導体も『革新製品』指定を受けている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韓国主要4社(FuriosaAI・Rebellions・DeepX・Mobilint)はいずれも国産NPUの量産に成功したと報じられている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한국경제・e4ds news(2026-08-18)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韓国国産NPU企業一覧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企業名</a:t>
                      </a:r>
                    </a:p>
                  </a:txBody>
                  <a:tcPr>
                    <a:solidFill>
                      <a:srgbClr val="3A4750"/>
                    </a:solidFill>
                  </a:tcPr>
                </a:tc>
                <a:tc>
                  <a:txBody>
                    <a:bodyPr/>
                    <a:lstStyle/>
                    <a:p>
                      <a:pPr>
                        <a:defRPr sz="1300" b="1">
                          <a:solidFill>
                            <a:srgbClr val="FFFFFF"/>
                          </a:solidFill>
                          <a:latin typeface="Yu Gothic"/>
                        </a:defRPr>
                      </a:pPr>
                      <a:r>
                        <a:t>補足</a:t>
                      </a:r>
                    </a:p>
                  </a:txBody>
                  <a:tcPr>
                    <a:solidFill>
                      <a:srgbClr val="3A4750"/>
                    </a:solidFill>
                  </a:tcPr>
                </a:tc>
              </a:tr>
              <a:tr h="502920">
                <a:tc>
                  <a:txBody>
                    <a:bodyPr/>
                    <a:lstStyle/>
                    <a:p>
                      <a:pPr>
                        <a:defRPr sz="1200">
                          <a:solidFill>
                            <a:srgbClr val="1E2124"/>
                          </a:solidFill>
                          <a:latin typeface="Yu Gothic"/>
                        </a:defRPr>
                      </a:pPr>
                      <a:r>
                        <a:t>Rebellions(リベリオンズ)</a:t>
                      </a:r>
                    </a:p>
                  </a:txBody>
                  <a:tcPr>
                    <a:solidFill>
                      <a:srgbClr val="FFFFFF"/>
                    </a:solidFill>
                  </a:tcPr>
                </a:tc>
                <a:tc>
                  <a:txBody>
                    <a:bodyPr/>
                    <a:lstStyle/>
                    <a:p>
                      <a:pPr>
                        <a:defRPr sz="1200">
                          <a:solidFill>
                            <a:srgbClr val="1E2124"/>
                          </a:solidFill>
                          <a:latin typeface="Yu Gothic"/>
                        </a:defRPr>
                      </a:pPr>
                      <a:r>
                        <a:t>企業価値約2兆ウォン、今回ATOM-Maxが革新製品指定</a:t>
                      </a:r>
                    </a:p>
                  </a:txBody>
                  <a:tcPr>
                    <a:solidFill>
                      <a:srgbClr val="FFFFFF"/>
                    </a:solidFill>
                  </a:tcPr>
                </a:tc>
              </a:tr>
              <a:tr h="502920">
                <a:tc>
                  <a:txBody>
                    <a:bodyPr/>
                    <a:lstStyle/>
                    <a:p>
                      <a:pPr>
                        <a:defRPr sz="1200">
                          <a:solidFill>
                            <a:srgbClr val="1E2124"/>
                          </a:solidFill>
                          <a:latin typeface="Yu Gothic"/>
                        </a:defRPr>
                      </a:pPr>
                      <a:r>
                        <a:t>FuriosaAI(퓨리오사AI)</a:t>
                      </a:r>
                    </a:p>
                  </a:txBody>
                  <a:tcPr>
                    <a:solidFill>
                      <a:srgbClr val="F7F4EF"/>
                    </a:solidFill>
                  </a:tcPr>
                </a:tc>
                <a:tc>
                  <a:txBody>
                    <a:bodyPr/>
                    <a:lstStyle/>
                    <a:p>
                      <a:pPr>
                        <a:defRPr sz="1200">
                          <a:solidFill>
                            <a:srgbClr val="1E2124"/>
                          </a:solidFill>
                          <a:latin typeface="Yu Gothic"/>
                        </a:defRPr>
                      </a:pPr>
                      <a:r>
                        <a:t>企業価値約2兆ウォン、AI半導体が革新製品指定済み</a:t>
                      </a:r>
                    </a:p>
                  </a:txBody>
                  <a:tcPr>
                    <a:solidFill>
                      <a:srgbClr val="F7F4EF"/>
                    </a:solidFill>
                  </a:tcPr>
                </a:tc>
              </a:tr>
              <a:tr h="502920">
                <a:tc>
                  <a:txBody>
                    <a:bodyPr/>
                    <a:lstStyle/>
                    <a:p>
                      <a:pPr>
                        <a:defRPr sz="1200">
                          <a:solidFill>
                            <a:srgbClr val="1E2124"/>
                          </a:solidFill>
                          <a:latin typeface="Yu Gothic"/>
                        </a:defRPr>
                      </a:pPr>
                      <a:r>
                        <a:t>DeepX(딥엑스)</a:t>
                      </a:r>
                    </a:p>
                  </a:txBody>
                  <a:tcPr>
                    <a:solidFill>
                      <a:srgbClr val="FFFFFF"/>
                    </a:solidFill>
                  </a:tcPr>
                </a:tc>
                <a:tc>
                  <a:txBody>
                    <a:bodyPr/>
                    <a:lstStyle/>
                    <a:p>
                      <a:pPr>
                        <a:defRPr sz="1200">
                          <a:solidFill>
                            <a:srgbClr val="1E2124"/>
                          </a:solidFill>
                          <a:latin typeface="Yu Gothic"/>
                        </a:defRPr>
                      </a:pPr>
                      <a:r>
                        <a:t>AI半導体が革新製品指定済み、世界8カ国へ輸出実績</a:t>
                      </a:r>
                    </a:p>
                  </a:txBody>
                  <a:tcPr>
                    <a:solidFill>
                      <a:srgbClr val="FFFFFF"/>
                    </a:solidFill>
                  </a:tcPr>
                </a:tc>
              </a:tr>
              <a:tr h="502920">
                <a:tc>
                  <a:txBody>
                    <a:bodyPr/>
                    <a:lstStyle/>
                    <a:p>
                      <a:pPr>
                        <a:defRPr sz="1200">
                          <a:solidFill>
                            <a:srgbClr val="1E2124"/>
                          </a:solidFill>
                          <a:latin typeface="Yu Gothic"/>
                        </a:defRPr>
                      </a:pPr>
                      <a:r>
                        <a:t>Mobilint・HyperAccel</a:t>
                      </a:r>
                    </a:p>
                  </a:txBody>
                  <a:tcPr>
                    <a:solidFill>
                      <a:srgbClr val="F7F4EF"/>
                    </a:solidFill>
                  </a:tcPr>
                </a:tc>
                <a:tc>
                  <a:txBody>
                    <a:bodyPr/>
                    <a:lstStyle/>
                    <a:p>
                      <a:pPr>
                        <a:defRPr sz="1200">
                          <a:solidFill>
                            <a:srgbClr val="1E2124"/>
                          </a:solidFill>
                          <a:latin typeface="Yu Gothic"/>
                        </a:defRPr>
                      </a:pPr>
                      <a:r>
                        <a:t>国産NPU量産に成功したと報じられる</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한국경제・뉴시스(2026-08-18時点)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資金調達・政府支援の文脈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業界を取り巻く資金・政策の動きです。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RebellionsとFuriosaAIは大型資金調達を実施し、それぞれ約6,400億ウォン・約8,000億ウォンを確保したと報じられている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韓国政府の『国民成長ファンド』が半導体分野で最初の投資対象としてFuriosaAIとRebellionsを選定したと報じられている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政府の7大メガプロジェクトの一つ『K-エヌビディア』(NPU企業育成)の対象候補として有力視されている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『有力視されている』という報道段階の情報であり、正式決定ではない点に留意する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뉴시스・디일렉(2026年、複数時点の報道)</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政府支援の規模感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国民成長ファンド、半導体分野で初の投資対象に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FuriosaAI・Rebellionsが選定されたと報じられる(正式決定段階ではない)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뉴시스・디일렉(2026年)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国産NPU普及までの流れ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国産NPUの量産成功</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主要4社が達成</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『革新製品』指定(2026年上半期〜)</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Rebellions・FuriosaAI・DeepX</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公共調達での随意契約が可能に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調達期間60日→10日以内</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量産成功から政府指定、公共調達解禁までの流れ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한국경제・디지털데일리(2026-08-18)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ATOM-Maxが革新製品指定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韓国科学技術情報通信部が指定</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公共調達の随意契約が可能に</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調達期間60日→10日以内へ短縮</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国産NPU業界全体への波及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FuriosaAI・DeepXも既に指定済み</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K-エヌビディアという政策文脈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韓国政府の半導体育成策との関係です。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韓国政府は7大メガプロジェクトの一つとして『K-エヌビディア』(NPU企業育成)を推進</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国民成長ファンドが半導体分野で最初の投資対象としてFuriosaAI・Rebellionsを選定したと報じられている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本指定は、こうした政府の産業育成策の一環として位置づけられる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『K-エヌビディア』対象候補として有力視されているが、正式決定という段階ではない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뉴시스・디일렉(2026年)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国内NPU企業の企業価値</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Rebellions・FuriosaAIとも約2兆ウォン規模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報道での評価額。正式な財務諸表としての開示ではない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한국경제(2026-08-18時点)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DeepXの輸出実績</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他社の実績も参考として整理します。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DeepXは、AI半導体の輸出において世界8カ国への実績があるとされる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輸出先には中国のBaiduも含まれると報じられている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韓国国産NPU企業が海外市場でも一定の実績を積みつつあることを示す事例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具体的な輸出金額・契約条件までは本調査の範囲では確認できていない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뉴시스(2026年)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革新製品指定の意味 vs 技術的優位性の証明</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革新製品指定が意味すること</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公共調達での随意契約が可能に</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調達期間の大幅短縮(60日→10日以内)</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公共部門でのAIインフラ整備が進めやすくなる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意味しないこと</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政府による技術的優位性の公式認定ではない</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外国製GPUより性能が優れていることの証明ではない</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性能数値(A100比)はISSCC発表に基づく自社公表値</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ATOM-Maxの性能数値(A100比)は独立した第三者による再検証結果ではない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資金調達額(6,400億ウォン)・企業価値(2兆ウォン)はRebellions自身の正式な財務諸表としての開示ではない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『国民成長ファンド』の投資対象選定・『K-エヌビディア』対象候補という情報は正式決定ではなく報道段階</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本テーマはRebellions製品の購入・投資を推奨するものではなく、報じられた指定内容・業界動向の紹介にとどめる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有効期間の延長幅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3年間、延長で最大6年まで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革新製品指定の有効期間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디지털데일리(2026-08-18)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指定対象</a:t>
                      </a:r>
                    </a:p>
                  </a:txBody>
                  <a:tcPr>
                    <a:solidFill>
                      <a:srgbClr val="FFFFFF"/>
                    </a:solidFill>
                  </a:tcPr>
                </a:tc>
                <a:tc>
                  <a:txBody>
                    <a:bodyPr/>
                    <a:lstStyle/>
                    <a:p>
                      <a:pPr>
                        <a:defRPr sz="1200">
                          <a:solidFill>
                            <a:srgbClr val="1E2124"/>
                          </a:solidFill>
                          <a:latin typeface="Yu Gothic"/>
                        </a:defRPr>
                      </a:pPr>
                      <a:r>
                        <a:t>ATOM-Maxカード・サーバー</a:t>
                      </a:r>
                    </a:p>
                  </a:txBody>
                  <a:tcPr>
                    <a:solidFill>
                      <a:srgbClr val="FFFFFF"/>
                    </a:solidFill>
                  </a:tcPr>
                </a:tc>
              </a:tr>
              <a:tr h="502920">
                <a:tc>
                  <a:txBody>
                    <a:bodyPr/>
                    <a:lstStyle/>
                    <a:p>
                      <a:pPr>
                        <a:defRPr sz="1200">
                          <a:solidFill>
                            <a:srgbClr val="1E2124"/>
                          </a:solidFill>
                          <a:latin typeface="Yu Gothic"/>
                        </a:defRPr>
                      </a:pPr>
                      <a:r>
                        <a:t>調達期間</a:t>
                      </a:r>
                    </a:p>
                  </a:txBody>
                  <a:tcPr>
                    <a:solidFill>
                      <a:srgbClr val="F7F4EF"/>
                    </a:solidFill>
                  </a:tcPr>
                </a:tc>
                <a:tc>
                  <a:txBody>
                    <a:bodyPr/>
                    <a:lstStyle/>
                    <a:p>
                      <a:pPr>
                        <a:defRPr sz="1200">
                          <a:solidFill>
                            <a:srgbClr val="1E2124"/>
                          </a:solidFill>
                          <a:latin typeface="Yu Gothic"/>
                        </a:defRPr>
                      </a:pPr>
                      <a:r>
                        <a:t>60日→10日以内</a:t>
                      </a:r>
                    </a:p>
                  </a:txBody>
                  <a:tcPr>
                    <a:solidFill>
                      <a:srgbClr val="F7F4EF"/>
                    </a:solidFill>
                  </a:tcPr>
                </a:tc>
              </a:tr>
              <a:tr h="502920">
                <a:tc>
                  <a:txBody>
                    <a:bodyPr/>
                    <a:lstStyle/>
                    <a:p>
                      <a:pPr>
                        <a:defRPr sz="1200">
                          <a:solidFill>
                            <a:srgbClr val="1E2124"/>
                          </a:solidFill>
                          <a:latin typeface="Yu Gothic"/>
                        </a:defRPr>
                      </a:pPr>
                      <a:r>
                        <a:t>業界内の位置づけ</a:t>
                      </a:r>
                    </a:p>
                  </a:txBody>
                  <a:tcPr>
                    <a:solidFill>
                      <a:srgbClr val="FFFFFF"/>
                    </a:solidFill>
                  </a:tcPr>
                </a:tc>
                <a:tc>
                  <a:txBody>
                    <a:bodyPr/>
                    <a:lstStyle/>
                    <a:p>
                      <a:pPr>
                        <a:defRPr sz="1200">
                          <a:solidFill>
                            <a:srgbClr val="1E2124"/>
                          </a:solidFill>
                          <a:latin typeface="Yu Gothic"/>
                        </a:defRPr>
                      </a:pPr>
                      <a:r>
                        <a:t>FuriosaAI・DeepXに続く指定</a:t>
                      </a:r>
                    </a:p>
                  </a:txBody>
                  <a:tcPr>
                    <a:solidFill>
                      <a:srgbClr val="FFFFFF"/>
                    </a:solidFill>
                  </a:tcPr>
                </a:tc>
              </a:tr>
              <a:tr h="502920">
                <a:tc>
                  <a:txBody>
                    <a:bodyPr/>
                    <a:lstStyle/>
                    <a:p>
                      <a:pPr>
                        <a:defRPr sz="1200">
                          <a:solidFill>
                            <a:srgbClr val="1E2124"/>
                          </a:solidFill>
                          <a:latin typeface="Yu Gothic"/>
                        </a:defRPr>
                      </a:pPr>
                      <a:r>
                        <a:t>政策文脈</a:t>
                      </a:r>
                    </a:p>
                  </a:txBody>
                  <a:tcPr>
                    <a:solidFill>
                      <a:srgbClr val="F7F4EF"/>
                    </a:solidFill>
                  </a:tcPr>
                </a:tc>
                <a:tc>
                  <a:txBody>
                    <a:bodyPr/>
                    <a:lstStyle/>
                    <a:p>
                      <a:pPr>
                        <a:defRPr sz="1200">
                          <a:solidFill>
                            <a:srgbClr val="1E2124"/>
                          </a:solidFill>
                          <a:latin typeface="Yu Gothic"/>
                        </a:defRPr>
                      </a:pPr>
                      <a:r>
                        <a:t>『K-エヌビディア』メガプロジェクトの一環と位置づけ</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디지털데일리・한국경제・뉴시스(2026-08-18)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業界へのインプリケーション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この発表が示唆することです。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韓国の公共AIインフラが、外国製GPU依存から国産NPUへとシフトする制度的な環境が整いつつある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Rebellions・FuriosaAI・DeepXという複数の国産NPU企業が同様の指定を受けており、業界全体としての動きといえる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政府の『K-エヌビディア』政策と連動する形で、今後も同様の制度的支援が続く可能性がある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ただし、実際に公共機関がどの程度国産NPUへ切り替えるかは、今後の調達実績を見て判断する必要がある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Rebellions vs FuriosaAI(概要比較)</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Rebellions(リベリオンズ)</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企業価値約2兆ウォン</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資金調達約6,400億ウォン</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ATOM-Maxが今回革新製品指定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FuriosaAI(퓨리오사AI)</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企業価値約2兆ウォン</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資金調達約8,000億ウォン</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AI半導体が既に革新製品指定済み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国産NPU vs 外国製GPU(公共調達における位置づけ)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国産NPU(今回の指定後)</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随意契約が可能</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調達期間10日以内</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革新製品指定による優遇措置あり</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外国製GPU(従来の調達)</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競争入札が必要な場合が多い</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調達期間は最大60日程度</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革新製品指定の対象外</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AI半導体業界の動向を追う立場として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国産NPUの公共調達解禁という制度変化の事例として参考になる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韓国テック産業に関心がある立場として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Rebellions・FuriosaAI・DeepXという複数企業の動きを合わせて追う視点が役立つ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性能数値の第三者検証状況や、正式な財務開示の有無を別途確認する必要がある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リベリオンズのATOM-Maxが韓国政府の革新製品に指定され、公共機関は随意契約が可能に</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調達期間は60日から10日以内へ短縮、有効期間は最大6年まで延長可能</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FuriosaAI・DeepXも既に同様の指定を受けており、国産NPU業界全体の動きとして位置づけられる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性能数値や資金調達額の正式開示状況、K-エヌビディア政策の正式決定状況は未確認として正直に開示した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디지털데일리・한국경제・와우테일(2026-08-18)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外国製GPU依存に、静かな風穴。国産NPUが公共調達へ。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韓国リベリオンズのATOM-Maxが政府の革新製品指定を取得し、公共機関は随意契約が可能になりました。国産NPU業界全体の動き、そして確認できなかったことまで、出典付きで整理してお届けしました。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