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8日、AIインフラ企業FirebirdがアルメニアのHrazdanで、CIS地域(独立国家共同体)最大とされるAI工場を正式に開所しました。開所式にはNVIDIAの創業者兼CEO、ジェンスン・フアン氏本人が登壇。プロンプトの向こう側にある物理的なAI工場が、アメリカでも中国でもなく、アルメニアに誕生したという話です。今日はこの経緯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まず結論です。Firebirdはこの開所にあたり、すでに5億ドルを投資してフェーズ1を稼働させました。今後フェーズ2が完了すると、総投資額はおよそ50億ドルに達する見込みだと報じられています。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今日はこの5つの流れでお伝えします。事実と、当社の推測、そして確認できなかったことをはっきり分けて整理します。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1日前という新しい発表であること、そして『世界最大級のAI工場』と聞いて誰もが思い浮かべる米国や中国ではなく、アルメニアという場所に誕生したという意外性があります。しかもNVIDIAのジェンスン・フアンCEO本人が現地に赴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何が起きたのか整理します。FirebirdというAIインフラ企業が、アルメニアのHrazdanという場所で新しいAI工場を開所しました。NVIDIAのDSXプラットフォームと、Dell TechnologiesのPowerEdgeサーバーを組み合わせて作られています。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複数の独立したメディアが同じ内容を報じています。一次発表はNVIDIA公式ブログで、他のメディアはその内容を裏付ける形で報じています。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開所式にはアルメニアのニコル・パシニャン首相と、NVIDIAのジェンスン・フアンCEOが出席しました。ここでは出席の事実のみを扱い、アルメニアの政治・政府方針についての評価は行いません。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ここで一度、用語を整理します。『AI工場』とは、大量のGPUを集めてAIの学習や推論を行う大規模施設のことです。DSXはNVIDIAが提供する、こうした施設を作るためのプラットフォームの名前です。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構成を図にするとこうなります。NVIDIAのDSXという設計基盤と、DellのPowerEdgeサーバーというハードウェアを組み合わせて、Firebirdのアルメニア施設が構築されています。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具体的な規模を見ていきます。フェーズ1として、NVIDIA Blackwell世代のGPUが6,144基、すでに導入・稼働しています。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3フェーズの拡張計画を整理するとこうなります。フェーズ1はすでに稼働していますが、フェーズ2・フェーズ3の正確な完成時期は公表されておらず、不明として扱います。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最終的な目標も見ておきます。フェーズ2が完了すると、Blackwell世代とVera Rubin世代を合わせて70,000基を超えるNVIDIA GPU規模になる計画です。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投資額の全体像です。初期投資5億ドルから始まり、フェーズ2が完了する頃には総投資額が約50億ドルに達する見込みだと報じられています。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現在の姿と、完成時の目標を並べるとこうなります。GPU基数も投資額も、現在から大きく拡大する計画ですが、完成時期そのものは公表されていません。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birdはアルメニアだけでなく、世界規模での展開を計画しています。アルメニア・カザフスタン・その他のフロンティア市場を含めたパイプライン全体で、2028年末までに2ギガワット規模の容量を目指す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birdのグローバルな展開先はアルメニアだけではありません。カザフスタンや、その他の『フロンティア市場』と呼ばれる地域も含まれるとされていますが、具体的な国名までは今回の発表で特定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この施設を最初に使う企業として、AI検索で知られるPerplexityが発表されました。自社の回答エンジンや、AIによる『デジタル同僚』プラットフォームを支えるために、この基盤を利用するとされています。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Perplexityがこの基盤を使う用途は2つ挙げられています。1つは回答エンジン、もう1つはAIによる『デジタル同僚』プラットフォームです。ただし、どの程度の規模を割り当てるかは公表されていません。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今回の発表そのもので、私たちが使うサービスがすぐに変わるわけではありません。ただ、AIサービスを支える計算基盤がどこにあるかという視点は、今後意識しておく価値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ここで表現を正確に押さえておきます。報道が使っているのは『CIS地域最大』という限定的な表現であり、『世界最大』ではありません。この違いを曖昧にしないことが大切です。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左右で分けるとこうなります。『CIS地域最大』は複数のメディアが一致して報じている事実ですが、『世界最大』かどうかはこの情報だけでは判断できません。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ここで一度、確認できなかったことを一覧にします。フェーズ2以降の時期、他の顧客の有無、投資条件、出資構造、いずれも非公開または未確認です。数字を作らず、正直に不明として扱います。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この図はあくまで推測です。フェーズ2・3に向けては、追加のGPU投入だけでなく電力調達や投資の拡大が必要になると考えられますが、具体的な計画は公表されていません。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タイトルは注目を集める表現を使っていますが、本文の中身は事実と推測を分けて、誇張せずに整理しています。特定の企業を強く推す結論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にはアルメニアの首相が登場しますが、これは開所式への出席という事実のみを扱っています。アルメニアの政治や政府方針についての評価は一切行っていません。あくまで経済・技術のニュー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8日、FirebirdがアルメニアのHrazdanでCIS地域最大のAI工場を開所しました。フェーズ1は6,144基のBlackwell世代GPUで稼働しており、Perplexityが最初の顧客として発表されています。フェーズ2以降の時期や他の顧客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FirebirdによるアルメニアでのAI工場開所と、Perplexityが最初の顧客になったこと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ジェンスン・フアンCEOが向かった先は、</a:t>
            </a:r>
          </a:p>
          <a:p>
            <a:pPr algn="l">
              <a:lnSpc>
                <a:spcPct val="115000"/>
              </a:lnSpc>
            </a:pPr>
            <a:r>
              <a:rPr sz="4200" b="1">
                <a:solidFill>
                  <a:srgbClr val="FFFFFF"/>
                </a:solidFill>
                <a:latin typeface="Yu Gothic"/>
              </a:rPr>
              <a:t>アメリカでも中国でもなくアルメニアだった。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AIインフラ企業Firebird、CIS地域最大のAI工場をHrazdanに開所。初期投資5億ドル、Perplexityが最初の顧客に(2026年8月8日発表)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NVIDIA公式ブログ(2026-08-08)ほか。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初期投資5億ドル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フェーズ1(NVIDIA Blackwell世代GPU 6,144基)がすでに稼働。フェーズ2完了時には総投資額が約50億ドルに達する見込み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 / Morningstar(2026-08-08)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Firebirdとは何か、何が開所したのか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規模: GPU基数・投資額・フェーズ構成</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開所式に登壇したのは誰か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Perplexityとの関係、この工場が何に使われるのか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『CIS地域最大』の正確な意味と、確認できなかったこと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発表は2026年8月8日。着手日から見て1日前の、鮮度の高いニュース</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『世界最大級のAI工場』と聞いて多くの人が思い浮かべる米国・中国ではなく、アルメニアという地理的な意外性がある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NVIDIA創業者兼CEOのジェンスン・フアン氏が本人として開所式に登壇している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AI検索・エージェントで知られるPerplexityが最初の顧客として名前を連ねている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NVIDIA公式ブログ(2026-08-08)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AIインフラ企業Firebirdが、アルメニア・Hrazdanで新しいAI工場を正式開所</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NVIDIAのDSXプラットフォームとDell Technologies PowerEdgeサーバーを組み合わせて構築</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大規模なAIの学習・ファインチューニング・推論向けに設計された施設</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報道各社は『CIS地域(独立国家共同体)最大』のAI工場と位置づけている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NVIDIA公式ブログ(2026-08-08)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この開所を報じた主なメディア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24523F"/>
                    </a:solidFill>
                  </a:tcPr>
                </a:tc>
                <a:tc>
                  <a:txBody>
                    <a:bodyPr/>
                    <a:lstStyle/>
                    <a:p>
                      <a:pPr>
                        <a:defRPr sz="1300" b="1">
                          <a:solidFill>
                            <a:srgbClr val="FFFFFF"/>
                          </a:solidFill>
                          <a:latin typeface="Yu Gothic"/>
                        </a:defRPr>
                      </a:pPr>
                      <a:r>
                        <a:t>確認できる内容</a:t>
                      </a:r>
                    </a:p>
                  </a:txBody>
                  <a:tcPr>
                    <a:solidFill>
                      <a:srgbClr val="24523F"/>
                    </a:solidFill>
                  </a:tcPr>
                </a:tc>
              </a:tr>
              <a:tr h="502920">
                <a:tc>
                  <a:txBody>
                    <a:bodyPr/>
                    <a:lstStyle/>
                    <a:p>
                      <a:pPr>
                        <a:defRPr sz="1200">
                          <a:solidFill>
                            <a:srgbClr val="20261F"/>
                          </a:solidFill>
                          <a:latin typeface="Yu Gothic"/>
                        </a:defRPr>
                      </a:pPr>
                      <a:r>
                        <a:t>NVIDIA公式ブログ(2026-08-08)</a:t>
                      </a:r>
                    </a:p>
                  </a:txBody>
                  <a:tcPr>
                    <a:solidFill>
                      <a:srgbClr val="FFFFFF"/>
                    </a:solidFill>
                  </a:tcPr>
                </a:tc>
                <a:tc>
                  <a:txBody>
                    <a:bodyPr/>
                    <a:lstStyle/>
                    <a:p>
                      <a:pPr>
                        <a:defRPr sz="1200">
                          <a:solidFill>
                            <a:srgbClr val="20261F"/>
                          </a:solidFill>
                          <a:latin typeface="Yu Gothic"/>
                        </a:defRPr>
                      </a:pPr>
                      <a:r>
                        <a:t>一次発表。規模・構成・登壇者の詳細</a:t>
                      </a:r>
                    </a:p>
                  </a:txBody>
                  <a:tcPr>
                    <a:solidFill>
                      <a:srgbClr val="FFFFFF"/>
                    </a:solidFill>
                  </a:tcPr>
                </a:tc>
              </a:tr>
              <a:tr h="502920">
                <a:tc>
                  <a:txBody>
                    <a:bodyPr/>
                    <a:lstStyle/>
                    <a:p>
                      <a:pPr>
                        <a:defRPr sz="1200">
                          <a:solidFill>
                            <a:srgbClr val="20261F"/>
                          </a:solidFill>
                          <a:latin typeface="Yu Gothic"/>
                        </a:defRPr>
                      </a:pPr>
                      <a:r>
                        <a:t>PR Newswire / Morningstar</a:t>
                      </a:r>
                    </a:p>
                  </a:txBody>
                  <a:tcPr>
                    <a:solidFill>
                      <a:srgbClr val="F4F1E6"/>
                    </a:solidFill>
                  </a:tcPr>
                </a:tc>
                <a:tc>
                  <a:txBody>
                    <a:bodyPr/>
                    <a:lstStyle/>
                    <a:p>
                      <a:pPr>
                        <a:defRPr sz="1200">
                          <a:solidFill>
                            <a:srgbClr val="20261F"/>
                          </a:solidFill>
                          <a:latin typeface="Yu Gothic"/>
                        </a:defRPr>
                      </a:pPr>
                      <a:r>
                        <a:t>投資額・グローバル展開計画</a:t>
                      </a:r>
                    </a:p>
                  </a:txBody>
                  <a:tcPr>
                    <a:solidFill>
                      <a:srgbClr val="F4F1E6"/>
                    </a:solidFill>
                  </a:tcPr>
                </a:tc>
              </a:tr>
              <a:tr h="502920">
                <a:tc>
                  <a:txBody>
                    <a:bodyPr/>
                    <a:lstStyle/>
                    <a:p>
                      <a:pPr>
                        <a:defRPr sz="1200">
                          <a:solidFill>
                            <a:srgbClr val="20261F"/>
                          </a:solidFill>
                          <a:latin typeface="Yu Gothic"/>
                        </a:defRPr>
                      </a:pPr>
                      <a:r>
                        <a:t>Yahoo Finance</a:t>
                      </a:r>
                    </a:p>
                  </a:txBody>
                  <a:tcPr>
                    <a:solidFill>
                      <a:srgbClr val="FFFFFF"/>
                    </a:solidFill>
                  </a:tcPr>
                </a:tc>
                <a:tc>
                  <a:txBody>
                    <a:bodyPr/>
                    <a:lstStyle/>
                    <a:p>
                      <a:pPr>
                        <a:defRPr sz="1200">
                          <a:solidFill>
                            <a:srgbClr val="20261F"/>
                          </a:solidFill>
                          <a:latin typeface="Yu Gothic"/>
                        </a:defRPr>
                      </a:pPr>
                      <a:r>
                        <a:t>『CIS地域最大』という位置づけの確認</a:t>
                      </a:r>
                    </a:p>
                  </a:txBody>
                  <a:tcPr>
                    <a:solidFill>
                      <a:srgbClr val="FFFFFF"/>
                    </a:solidFill>
                  </a:tcPr>
                </a:tc>
              </a:tr>
              <a:tr h="502920">
                <a:tc>
                  <a:txBody>
                    <a:bodyPr/>
                    <a:lstStyle/>
                    <a:p>
                      <a:pPr>
                        <a:defRPr sz="1200">
                          <a:solidFill>
                            <a:srgbClr val="20261F"/>
                          </a:solidFill>
                          <a:latin typeface="Yu Gothic"/>
                        </a:defRPr>
                      </a:pPr>
                      <a:r>
                        <a:t>ARMENPRESS(アルメニア国営通信)</a:t>
                      </a:r>
                    </a:p>
                  </a:txBody>
                  <a:tcPr>
                    <a:solidFill>
                      <a:srgbClr val="F4F1E6"/>
                    </a:solidFill>
                  </a:tcPr>
                </a:tc>
                <a:tc>
                  <a:txBody>
                    <a:bodyPr/>
                    <a:lstStyle/>
                    <a:p>
                      <a:pPr>
                        <a:defRPr sz="1200">
                          <a:solidFill>
                            <a:srgbClr val="20261F"/>
                          </a:solidFill>
                          <a:latin typeface="Yu Gothic"/>
                        </a:defRPr>
                      </a:pPr>
                      <a:r>
                        <a:t>首相のコメント・現地の様子</a:t>
                      </a:r>
                    </a:p>
                  </a:txBody>
                  <a:tcPr>
                    <a:solidFill>
                      <a:srgbClr val="F4F1E6"/>
                    </a:solidFill>
                  </a:tcPr>
                </a:tc>
              </a:tr>
              <a:tr h="502920">
                <a:tc>
                  <a:txBody>
                    <a:bodyPr/>
                    <a:lstStyle/>
                    <a:p>
                      <a:pPr>
                        <a:defRPr sz="1200">
                          <a:solidFill>
                            <a:srgbClr val="20261F"/>
                          </a:solidFill>
                          <a:latin typeface="Yu Gothic"/>
                        </a:defRPr>
                      </a:pPr>
                      <a:r>
                        <a:t>Unite.AI / TechBuzz.ai / TahawulTech</a:t>
                      </a:r>
                    </a:p>
                  </a:txBody>
                  <a:tcPr>
                    <a:solidFill>
                      <a:srgbClr val="FFFFFF"/>
                    </a:solidFill>
                  </a:tcPr>
                </a:tc>
                <a:tc>
                  <a:txBody>
                    <a:bodyPr/>
                    <a:lstStyle/>
                    <a:p>
                      <a:pPr>
                        <a:defRPr sz="1200">
                          <a:solidFill>
                            <a:srgbClr val="20261F"/>
                          </a:solidFill>
                          <a:latin typeface="Yu Gothic"/>
                        </a:defRPr>
                      </a:pPr>
                      <a:r>
                        <a:t>GPU構成・規模の詳細を裏付け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開所式に登壇したのは誰か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ニコル・パシニャン首相</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アルメニア首相として出席(事実として記載。政治的評価は行わない)</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ジェンスン・フアン氏</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NVIDIA創業者兼CEOとして登壇</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政府高官</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その他アルメニア政府関係者が同席</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技術企業幹部</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Firebird・関連企業の幹部が同席</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 / ARMENPRESS(2026-08-08)</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用語解説: 『AI工場』とは何か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大量のGPU(画像処理用に開発され、AI計算にも使われる半導体)を集約し、AIの学習・推論を行う大規模施設のこと</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『DSX』はNVIDIAが提供する、AI工場向けの設計・構築プラットフォームの名称</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一般的なデータセンターより高密度にGPUを詰め込み、電力・冷却を最適化する設計が特徴とされる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自社でAIモデルを一から作らない企業でも、この基盤を借りてAIサービスを動かせる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構成の概念図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NVIDIA DSXプラットフォーム</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AI工場向けの設計・構築基盤</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Dell PowerEdgeサーバー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実際にGPUを搭載するハードウェア</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Firebird AI工場(Hrazdan)</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学習・ファインチューニング・推論を行う施設</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NVIDIAの基盤設計とDellのハードウェアを組み合わせて、Firebirdの施設が構築されている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フェーズ1: 稼働中のGPU基数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6,144基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 Blackwell世代GPUがフェーズ1として導入・稼働している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NVIDIA公式ブログ / Unite.AI(2026-08-08)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3フェーズの拡張計画(判明している範囲)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フェーズ</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c>
                  <a:txBody>
                    <a:bodyPr/>
                    <a:lstStyle/>
                    <a:p>
                      <a:pPr>
                        <a:defRPr sz="1300" b="1">
                          <a:solidFill>
                            <a:srgbClr val="FFFFFF"/>
                          </a:solidFill>
                          <a:latin typeface="Yu Gothic"/>
                        </a:defRPr>
                      </a:pPr>
                      <a:r>
                        <a:t>完成時期</a:t>
                      </a:r>
                    </a:p>
                  </a:txBody>
                  <a:tcPr>
                    <a:solidFill>
                      <a:srgbClr val="24523F"/>
                    </a:solidFill>
                  </a:tcPr>
                </a:tc>
              </a:tr>
              <a:tr h="502920">
                <a:tc>
                  <a:txBody>
                    <a:bodyPr/>
                    <a:lstStyle/>
                    <a:p>
                      <a:pPr>
                        <a:defRPr sz="1200">
                          <a:solidFill>
                            <a:srgbClr val="20261F"/>
                          </a:solidFill>
                          <a:latin typeface="Yu Gothic"/>
                        </a:defRPr>
                      </a:pPr>
                      <a:r>
                        <a:t>フェーズ1</a:t>
                      </a:r>
                    </a:p>
                  </a:txBody>
                  <a:tcPr>
                    <a:solidFill>
                      <a:srgbClr val="FFFFFF"/>
                    </a:solidFill>
                  </a:tcPr>
                </a:tc>
                <a:tc>
                  <a:txBody>
                    <a:bodyPr/>
                    <a:lstStyle/>
                    <a:p>
                      <a:pPr>
                        <a:defRPr sz="1200">
                          <a:solidFill>
                            <a:srgbClr val="20261F"/>
                          </a:solidFill>
                          <a:latin typeface="Yu Gothic"/>
                        </a:defRPr>
                      </a:pPr>
                      <a:r>
                        <a:t>Blackwell世代GPU 6,144基が稼働中</a:t>
                      </a:r>
                    </a:p>
                  </a:txBody>
                  <a:tcPr>
                    <a:solidFill>
                      <a:srgbClr val="FFFFFF"/>
                    </a:solidFill>
                  </a:tcPr>
                </a:tc>
                <a:tc>
                  <a:txBody>
                    <a:bodyPr/>
                    <a:lstStyle/>
                    <a:p>
                      <a:pPr>
                        <a:defRPr sz="1200">
                          <a:solidFill>
                            <a:srgbClr val="20261F"/>
                          </a:solidFill>
                          <a:latin typeface="Yu Gothic"/>
                        </a:defRPr>
                      </a:pPr>
                      <a:r>
                        <a:t>2026年8月時点で稼働済み</a:t>
                      </a:r>
                    </a:p>
                  </a:txBody>
                  <a:tcPr>
                    <a:solidFill>
                      <a:srgbClr val="FFFFFF"/>
                    </a:solidFill>
                  </a:tcPr>
                </a:tc>
              </a:tr>
              <a:tr h="502920">
                <a:tc>
                  <a:txBody>
                    <a:bodyPr/>
                    <a:lstStyle/>
                    <a:p>
                      <a:pPr>
                        <a:defRPr sz="1200">
                          <a:solidFill>
                            <a:srgbClr val="20261F"/>
                          </a:solidFill>
                          <a:latin typeface="Yu Gothic"/>
                        </a:defRPr>
                      </a:pPr>
                      <a:r>
                        <a:t>フェーズ2</a:t>
                      </a:r>
                    </a:p>
                  </a:txBody>
                  <a:tcPr>
                    <a:solidFill>
                      <a:srgbClr val="F4F1E6"/>
                    </a:solidFill>
                  </a:tcPr>
                </a:tc>
                <a:tc>
                  <a:txBody>
                    <a:bodyPr/>
                    <a:lstStyle/>
                    <a:p>
                      <a:pPr>
                        <a:defRPr sz="1200">
                          <a:solidFill>
                            <a:srgbClr val="20261F"/>
                          </a:solidFill>
                          <a:latin typeface="Yu Gothic"/>
                        </a:defRPr>
                      </a:pPr>
                      <a:r>
                        <a:t>GPUを追加投入し合計70,000基超を目指す</a:t>
                      </a:r>
                    </a:p>
                  </a:txBody>
                  <a:tcPr>
                    <a:solidFill>
                      <a:srgbClr val="F4F1E6"/>
                    </a:solidFill>
                  </a:tcPr>
                </a:tc>
                <a:tc>
                  <a:txBody>
                    <a:bodyPr/>
                    <a:lstStyle/>
                    <a:p>
                      <a:pPr>
                        <a:defRPr sz="1200">
                          <a:solidFill>
                            <a:srgbClr val="20261F"/>
                          </a:solidFill>
                          <a:latin typeface="Yu Gothic"/>
                        </a:defRPr>
                      </a:pPr>
                      <a:r>
                        <a:t>不明(公表なし)</a:t>
                      </a:r>
                    </a:p>
                  </a:txBody>
                  <a:tcPr>
                    <a:solidFill>
                      <a:srgbClr val="F4F1E6"/>
                    </a:solidFill>
                  </a:tcPr>
                </a:tc>
              </a:tr>
              <a:tr h="502920">
                <a:tc>
                  <a:txBody>
                    <a:bodyPr/>
                    <a:lstStyle/>
                    <a:p>
                      <a:pPr>
                        <a:defRPr sz="1200">
                          <a:solidFill>
                            <a:srgbClr val="20261F"/>
                          </a:solidFill>
                          <a:latin typeface="Yu Gothic"/>
                        </a:defRPr>
                      </a:pPr>
                      <a:r>
                        <a:t>フェーズ3</a:t>
                      </a:r>
                    </a:p>
                  </a:txBody>
                  <a:tcPr>
                    <a:solidFill>
                      <a:srgbClr val="FFFFFF"/>
                    </a:solidFill>
                  </a:tcPr>
                </a:tc>
                <a:tc>
                  <a:txBody>
                    <a:bodyPr/>
                    <a:lstStyle/>
                    <a:p>
                      <a:pPr>
                        <a:defRPr sz="1200">
                          <a:solidFill>
                            <a:srgbClr val="20261F"/>
                          </a:solidFill>
                          <a:latin typeface="Yu Gothic"/>
                        </a:defRPr>
                      </a:pPr>
                      <a:r>
                        <a:t>3フェーズ構成の一部として継続拡張</a:t>
                      </a:r>
                    </a:p>
                  </a:txBody>
                  <a:tcPr>
                    <a:solidFill>
                      <a:srgbClr val="FFFFFF"/>
                    </a:solidFill>
                  </a:tcPr>
                </a:tc>
                <a:tc>
                  <a:txBody>
                    <a:bodyPr/>
                    <a:lstStyle/>
                    <a:p>
                      <a:pPr>
                        <a:defRPr sz="1200">
                          <a:solidFill>
                            <a:srgbClr val="20261F"/>
                          </a:solidFill>
                          <a:latin typeface="Yu Gothic"/>
                        </a:defRPr>
                      </a:pPr>
                      <a:r>
                        <a:t>不明(公表なし)</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 / The AI Insider</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最終形の目標: GPU合計基数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70,000基超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フェーズ2完了後、Blackwell・Vera Rubin世代を合わせて70,000基超のNVIDIA GPU規模を目指す計画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NVIDIA公式ブログ / The AI Insider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総投資額の見込み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約50億ドル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フェーズ2完了時点での総投資額の見込み(初期投資5億ドルからの拡大)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 / Morningstar(2026-08-08)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現在(フェーズ1) / 完成時の目標</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現在(フェーズ1、稼働中)</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Blackwell世代GPU 6,144基</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初期投資5億ドル</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2026年8月時点で稼働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完成時の目標(フェーズ2完了後)</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GPU合計70,000基超(Blackwell・Vera Rubin)</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総投資額約50億ドル</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完成時期は非公表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Firebirdのグローバル展開目標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2ギガワット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アルメニア・カザフスタン・その他『フロンティア市場』を含むグローバルなAIインフラパイプライン全体で、2028年末までに達成を目指す容量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NVIDIA公式ブログ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Firebirdのグローバル拠点(パイプライン)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アルメニア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Hrazdanの施設が稼働中。今回のニュースの舞台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カザフスタン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グローバル展開計画に含まれるとされる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その他フロンティア市場</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具体的な国・地域名は本発表内では特定されていない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Perplexityが最初の顧客に</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この施設を最初に使う企業が発表されました。</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AI検索・AIエージェントサービスを提供するPerplexityが、Firebirdの最初の顧客の1社として発表された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自社の回答エンジン(answer engine)を支える計算資源として、この基盤を利用するとされる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AI駆動の『デジタル同僚(digital coworker)』プラットフォームの提供にも活用するとされる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Perplexity以外に顧客がいるかどうかは、今回の発表では確認できていない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 / PR Newswire</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Perplexityは何に使うのか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回答エンジン(answer engine)</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ユーザーの質問にAIが直接答えるPerplexityの中核機能</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デジタル同僚プラットフォーム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AIが業務を支援する『デジタル同僚』的なサービスとされる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C</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詳細な稼働規模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Perplexity向けにどの程度の計算資源を割り当てるかは非公表</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これは私たちにとって何を意味するか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現時点</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一般消費者への直接の変化はなし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今回の発表はインフラの開所であり、個人向けサービスの変更ではない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間接的な影響</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Perplexity利用者への波及の可能性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計算資源の拡大が応答速度・提供機能に影響する可能性はあるが未確定</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注目点</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AI基盤の立地が多様化している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AI企業を検討・利用する際、計算資源がどこにあるかという視点が今後重要になる可能性がある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『CIS地域最大』の正確な理解</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表現の範囲を正確に押さえておきます。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報道各社が使っている表現は『CIS地域(独立国家共同体)最大』であり、『世界最大』ではない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CIS地域とは、旧ソ連構成国の一部が加盟する国家間の枠組みを指す地理的な区分</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この限定語を外して『世界最大のAI工場』と言い換えるのは正確ではない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本テーマでは一次情報(NVIDIA公式)の表現に忠実に『CIS地域最大』を使う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NVIDIA公式ブログ</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『CIS地域最大』 / 『世界最大』の違い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今回、報じられている内容</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『CIS地域最大』のAI工場と位置づけ</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NVIDIA公式・複数の独立メディアで表現が一致</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報じられていない・断定できない内容</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『世界最大』であるという主張</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米国・中国の主要AIデータセンターとの直接比較</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フェーズ2・フェーズ3の正確な完成時期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Perplexity以外の顧客の有無・件数</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アルメニア政府とFirebirdの間の具体的な投資優遇措置・契約条件</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Firebirdの出資・資金調達構造(株主構成・出資者一覧など)</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本施設を非CIS地域の主要AIデータセンターと直接比較した場合の位置づけ</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今後の展開(推測、概念図)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フェーズ1(現在)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6,144基のGPUが稼働</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フェーズ2〜3(推測)</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追加のGPU投入と電力・投資の拡大が必要になると考えられる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グローバル2GW目標(推測)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アルメニア以外の拠点も含めた将来像</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この図は当社の推測であり、Firebirdの公式ロードマップそのものではない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CIS地域でのAI基盤競争</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他の企業・国が同種のAI工場をこの地域で展開する可能性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顧客企業の拡大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Perplexity以外の企業がこの基盤を利用する可能性</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電力・環境面の論点</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大規模なGPU集積に伴う電力需要が今後注目される可能性</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読み解く上での注意点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誇張しないための整理です。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タイトル・冒頭の見出しは注目を集める表現を使っているが、本文の内容自体は誇張していない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『CIS地域最大』を『世界最大』と混同しない、断定的な結論は出さない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特定企業(Firebird・NVIDIA・Perplexity)の利用を強く推奨する結論にはしない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続報が出た場合は、本テーマの内容を更新する必要がある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政治的中立性についての注記</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本テーマの扱い方に関する注記です。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本テーマにはアルメニア首相の出席という事実が含まれるが、アルメニアの政治・政府方針についての評価・論評は行わない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本編はあくまで経済・技術面のインフラ投資ニュースとして扱う</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特定の政党・政治家個人への評価は一切含めていない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地政学的な位置づけについての当社独自の見解も述べていない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フェーズ2の進捗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追加GPUの投入・完成時期が公表されるかどうか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顧客の広がり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Perplexity以外の企業がこの基盤を使うと発表されるかどうか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他拠点の状況</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カザフスタン・フロンティア市場での展開が具体化するかどうか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2026/8/8 開所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Firebirdがアルメニア・HrazdanにCIS地域最大のAI工場を開所。フェーズ1は6,144基のBlackwell世代GPUで稼働、Perplexityが最初の顧客に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NVIDIA公式ブログ(2026-08-08)ほか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NVIDIA公式ブログ(2026-08-08)</a:t>
                      </a:r>
                    </a:p>
                  </a:txBody>
                  <a:tcPr>
                    <a:solidFill>
                      <a:srgbClr val="FFFFFF"/>
                    </a:solidFill>
                  </a:tcPr>
                </a:tc>
                <a:tc>
                  <a:txBody>
                    <a:bodyPr/>
                    <a:lstStyle/>
                    <a:p>
                      <a:pPr>
                        <a:defRPr sz="1200">
                          <a:solidFill>
                            <a:srgbClr val="20261F"/>
                          </a:solidFill>
                          <a:latin typeface="Yu Gothic"/>
                        </a:defRPr>
                      </a:pPr>
                      <a:r>
                        <a:t>一次発表、規模・構成・登壇者の詳細</a:t>
                      </a:r>
                    </a:p>
                  </a:txBody>
                  <a:tcPr>
                    <a:solidFill>
                      <a:srgbClr val="FFFFFF"/>
                    </a:solidFill>
                  </a:tcPr>
                </a:tc>
              </a:tr>
              <a:tr h="502920">
                <a:tc>
                  <a:txBody>
                    <a:bodyPr/>
                    <a:lstStyle/>
                    <a:p>
                      <a:pPr>
                        <a:defRPr sz="1200">
                          <a:solidFill>
                            <a:srgbClr val="20261F"/>
                          </a:solidFill>
                          <a:latin typeface="Yu Gothic"/>
                        </a:defRPr>
                      </a:pPr>
                      <a:r>
                        <a:t>PR Newswire / Morningstar</a:t>
                      </a:r>
                    </a:p>
                  </a:txBody>
                  <a:tcPr>
                    <a:solidFill>
                      <a:srgbClr val="F4F1E6"/>
                    </a:solidFill>
                  </a:tcPr>
                </a:tc>
                <a:tc>
                  <a:txBody>
                    <a:bodyPr/>
                    <a:lstStyle/>
                    <a:p>
                      <a:pPr>
                        <a:defRPr sz="1200">
                          <a:solidFill>
                            <a:srgbClr val="20261F"/>
                          </a:solidFill>
                          <a:latin typeface="Yu Gothic"/>
                        </a:defRPr>
                      </a:pPr>
                      <a:r>
                        <a:t>投資額・グローバル展開計画</a:t>
                      </a:r>
                    </a:p>
                  </a:txBody>
                  <a:tcPr>
                    <a:solidFill>
                      <a:srgbClr val="F4F1E6"/>
                    </a:solidFill>
                  </a:tcPr>
                </a:tc>
              </a:tr>
              <a:tr h="502920">
                <a:tc>
                  <a:txBody>
                    <a:bodyPr/>
                    <a:lstStyle/>
                    <a:p>
                      <a:pPr>
                        <a:defRPr sz="1200">
                          <a:solidFill>
                            <a:srgbClr val="20261F"/>
                          </a:solidFill>
                          <a:latin typeface="Yu Gothic"/>
                        </a:defRPr>
                      </a:pPr>
                      <a:r>
                        <a:t>Yahoo Finance</a:t>
                      </a:r>
                    </a:p>
                  </a:txBody>
                  <a:tcPr>
                    <a:solidFill>
                      <a:srgbClr val="FFFFFF"/>
                    </a:solidFill>
                  </a:tcPr>
                </a:tc>
                <a:tc>
                  <a:txBody>
                    <a:bodyPr/>
                    <a:lstStyle/>
                    <a:p>
                      <a:pPr>
                        <a:defRPr sz="1200">
                          <a:solidFill>
                            <a:srgbClr val="20261F"/>
                          </a:solidFill>
                          <a:latin typeface="Yu Gothic"/>
                        </a:defRPr>
                      </a:pPr>
                      <a:r>
                        <a:t>『CIS地域最大』の位置づけ</a:t>
                      </a:r>
                    </a:p>
                  </a:txBody>
                  <a:tcPr>
                    <a:solidFill>
                      <a:srgbClr val="FFFFFF"/>
                    </a:solidFill>
                  </a:tcPr>
                </a:tc>
              </a:tr>
              <a:tr h="502920">
                <a:tc>
                  <a:txBody>
                    <a:bodyPr/>
                    <a:lstStyle/>
                    <a:p>
                      <a:pPr>
                        <a:defRPr sz="1200">
                          <a:solidFill>
                            <a:srgbClr val="20261F"/>
                          </a:solidFill>
                          <a:latin typeface="Yu Gothic"/>
                        </a:defRPr>
                      </a:pPr>
                      <a:r>
                        <a:t>ARMENPRESS</a:t>
                      </a:r>
                    </a:p>
                  </a:txBody>
                  <a:tcPr>
                    <a:solidFill>
                      <a:srgbClr val="F4F1E6"/>
                    </a:solidFill>
                  </a:tcPr>
                </a:tc>
                <a:tc>
                  <a:txBody>
                    <a:bodyPr/>
                    <a:lstStyle/>
                    <a:p>
                      <a:pPr>
                        <a:defRPr sz="1200">
                          <a:solidFill>
                            <a:srgbClr val="20261F"/>
                          </a:solidFill>
                          <a:latin typeface="Yu Gothic"/>
                        </a:defRPr>
                      </a:pPr>
                      <a:r>
                        <a:t>首相のコメント・現地の様子</a:t>
                      </a:r>
                    </a:p>
                  </a:txBody>
                  <a:tcPr>
                    <a:solidFill>
                      <a:srgbClr val="F4F1E6"/>
                    </a:solidFill>
                  </a:tcPr>
                </a:tc>
              </a:tr>
              <a:tr h="502920">
                <a:tc>
                  <a:txBody>
                    <a:bodyPr/>
                    <a:lstStyle/>
                    <a:p>
                      <a:pPr>
                        <a:defRPr sz="1200">
                          <a:solidFill>
                            <a:srgbClr val="20261F"/>
                          </a:solidFill>
                          <a:latin typeface="Yu Gothic"/>
                        </a:defRPr>
                      </a:pPr>
                      <a:r>
                        <a:t>Unite.AI / The AI Insider / TechBuzz.ai / TahawulTech</a:t>
                      </a:r>
                    </a:p>
                  </a:txBody>
                  <a:tcPr>
                    <a:solidFill>
                      <a:srgbClr val="FFFFFF"/>
                    </a:solidFill>
                  </a:tcPr>
                </a:tc>
                <a:tc>
                  <a:txBody>
                    <a:bodyPr/>
                    <a:lstStyle/>
                    <a:p>
                      <a:pPr>
                        <a:defRPr sz="1200">
                          <a:solidFill>
                            <a:srgbClr val="20261F"/>
                          </a:solidFill>
                          <a:latin typeface="Yu Gothic"/>
                        </a:defRPr>
                      </a:pPr>
                      <a:r>
                        <a:t>GPU構成・規模の詳細を裏付け</a:t>
                      </a:r>
                    </a:p>
                  </a:txBody>
                  <a:tcPr>
                    <a:solidFill>
                      <a:srgbClr val="FFFFFF"/>
                    </a:solidFill>
                  </a:tcPr>
                </a:tc>
              </a:tr>
              <a:tr h="502920">
                <a:tc>
                  <a:txBody>
                    <a:bodyPr/>
                    <a:lstStyle/>
                    <a:p>
                      <a:pPr>
                        <a:defRPr sz="1200">
                          <a:solidFill>
                            <a:srgbClr val="20261F"/>
                          </a:solidFill>
                          <a:latin typeface="Yu Gothic"/>
                        </a:defRPr>
                      </a:pPr>
                      <a:r>
                        <a:t>Firebird公式サイト</a:t>
                      </a:r>
                    </a:p>
                  </a:txBody>
                  <a:tcPr>
                    <a:solidFill>
                      <a:srgbClr val="F4F1E6"/>
                    </a:solidFill>
                  </a:tcPr>
                </a:tc>
                <a:tc>
                  <a:txBody>
                    <a:bodyPr/>
                    <a:lstStyle/>
                    <a:p>
                      <a:pPr>
                        <a:defRPr sz="1200">
                          <a:solidFill>
                            <a:srgbClr val="20261F"/>
                          </a:solidFill>
                          <a:latin typeface="Yu Gothic"/>
                        </a:defRPr>
                      </a:pPr>
                      <a:r>
                        <a:t>自社発表の掲載を確認</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NVIDIA公式ブログほか(発表日2026-08-08)｜148本目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世界最大級と呼びたくなる話ほど、正確な範囲を確かめてから伝えたい。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フェーズ2以降の完成時期や新たな顧客が明らかになれば、続報として出典付きでお届けします。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