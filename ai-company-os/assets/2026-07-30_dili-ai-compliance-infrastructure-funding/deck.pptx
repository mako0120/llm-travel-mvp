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巨大なインフラ投資ブームを陰で支えるAIの話です。今回はDiliの資金調達をお伝えします。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今日お伝えする5つのポイントです。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まず何が起きたのか整理します。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累計調達額はこちら、2,170万ドルです。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調達の概要を表にまとめました。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Diliがどんな会社か紹介します。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監査プロセスの大まかな流れです。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従来の監査との違いを整理します。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初心者向けに背景制度を簡単に説明します。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シリーズA単体の調達額はこちら、1,500万ドルです。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創業チームの2名を紹介します。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参加した投資家を確認します。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Diliが対象とする業界を整理します。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背景にある課題意識を整理します。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ここからは推測です。資金の使途を考えてみます。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創業年を確認します。2023年の創業です。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Diliの特徴を整理します。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ここは正直にお伝えします。確認できていない点があります。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監査カバー率はこちら、100%です。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分野全体の流れを概観します。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リスクについても触れておきます。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同じroundで採用した候補1との鮮度を比較します。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今後の注目ポイントを整理します。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皆さんはどう思いますか、というところで問いかけます。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調達段階を改めて確認します。シリーズAです。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今回もありがとうございました。Diliの資金調達の話題をお届けしました。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最後にまとめます。次回もお楽しみに。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アメリカのインフラ投資ブームを、AIが陰から支えていた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Dili、Khosla Ventures主導で2,170万ドルを調達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TechCrunch(2026-07-30)ほか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今日分かること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Diliとはどんな会社か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AIコンプライアンス監査とは何か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参加した著名投資家</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Diliが2026年7月30日、シリーズA1,500万ドルを含む累計2,170万ドルの調達を発表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主導投資家はKhosla Ventures</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Y CombinatorのGarry Tan氏らも参加</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発表は着手日の5日前</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TechCrunch(2026-07-30)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2,170万ドル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シリーズA1,500万ドルを含む(2026年7月30日発表)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TechCrunch(2026-07-30)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調達概要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企業名</a:t>
                      </a:r>
                    </a:p>
                  </a:txBody>
                  <a:tcPr>
                    <a:solidFill>
                      <a:srgbClr val="FFFFFF"/>
                    </a:solidFill>
                  </a:tcPr>
                </a:tc>
                <a:tc>
                  <a:txBody>
                    <a:bodyPr/>
                    <a:lstStyle/>
                    <a:p>
                      <a:pPr>
                        <a:defRPr sz="1200">
                          <a:solidFill>
                            <a:srgbClr val="20261F"/>
                          </a:solidFill>
                          <a:latin typeface="Yu Gothic"/>
                        </a:defRPr>
                      </a:pPr>
                      <a:r>
                        <a:t>Dili</a:t>
                      </a:r>
                    </a:p>
                  </a:txBody>
                  <a:tcPr>
                    <a:solidFill>
                      <a:srgbClr val="FFFFFF"/>
                    </a:solidFill>
                  </a:tcPr>
                </a:tc>
              </a:tr>
              <a:tr h="502920">
                <a:tc>
                  <a:txBody>
                    <a:bodyPr/>
                    <a:lstStyle/>
                    <a:p>
                      <a:pPr>
                        <a:defRPr sz="1200">
                          <a:solidFill>
                            <a:srgbClr val="20261F"/>
                          </a:solidFill>
                          <a:latin typeface="Yu Gothic"/>
                        </a:defRPr>
                      </a:pPr>
                      <a:r>
                        <a:t>シリーズA調達額</a:t>
                      </a:r>
                    </a:p>
                  </a:txBody>
                  <a:tcPr>
                    <a:solidFill>
                      <a:srgbClr val="F4F1E6"/>
                    </a:solidFill>
                  </a:tcPr>
                </a:tc>
                <a:tc>
                  <a:txBody>
                    <a:bodyPr/>
                    <a:lstStyle/>
                    <a:p>
                      <a:pPr>
                        <a:defRPr sz="1200">
                          <a:solidFill>
                            <a:srgbClr val="20261F"/>
                          </a:solidFill>
                          <a:latin typeface="Yu Gothic"/>
                        </a:defRPr>
                      </a:pPr>
                      <a:r>
                        <a:t>1,500万ドル</a:t>
                      </a:r>
                    </a:p>
                  </a:txBody>
                  <a:tcPr>
                    <a:solidFill>
                      <a:srgbClr val="F4F1E6"/>
                    </a:solidFill>
                  </a:tcPr>
                </a:tc>
              </a:tr>
              <a:tr h="502920">
                <a:tc>
                  <a:txBody>
                    <a:bodyPr/>
                    <a:lstStyle/>
                    <a:p>
                      <a:pPr>
                        <a:defRPr sz="1200">
                          <a:solidFill>
                            <a:srgbClr val="20261F"/>
                          </a:solidFill>
                          <a:latin typeface="Yu Gothic"/>
                        </a:defRPr>
                      </a:pPr>
                      <a:r>
                        <a:t>累計調達額</a:t>
                      </a:r>
                    </a:p>
                  </a:txBody>
                  <a:tcPr>
                    <a:solidFill>
                      <a:srgbClr val="FFFFFF"/>
                    </a:solidFill>
                  </a:tcPr>
                </a:tc>
                <a:tc>
                  <a:txBody>
                    <a:bodyPr/>
                    <a:lstStyle/>
                    <a:p>
                      <a:pPr>
                        <a:defRPr sz="1200">
                          <a:solidFill>
                            <a:srgbClr val="20261F"/>
                          </a:solidFill>
                          <a:latin typeface="Yu Gothic"/>
                        </a:defRPr>
                      </a:pPr>
                      <a:r>
                        <a:t>2,170万ドル</a:t>
                      </a:r>
                    </a:p>
                  </a:txBody>
                  <a:tcPr>
                    <a:solidFill>
                      <a:srgbClr val="FFFFFF"/>
                    </a:solidFill>
                  </a:tcPr>
                </a:tc>
              </a:tr>
              <a:tr h="502920">
                <a:tc>
                  <a:txBody>
                    <a:bodyPr/>
                    <a:lstStyle/>
                    <a:p>
                      <a:pPr>
                        <a:defRPr sz="1200">
                          <a:solidFill>
                            <a:srgbClr val="20261F"/>
                          </a:solidFill>
                          <a:latin typeface="Yu Gothic"/>
                        </a:defRPr>
                      </a:pPr>
                      <a:r>
                        <a:t>主導投資家</a:t>
                      </a:r>
                    </a:p>
                  </a:txBody>
                  <a:tcPr>
                    <a:solidFill>
                      <a:srgbClr val="F4F1E6"/>
                    </a:solidFill>
                  </a:tcPr>
                </a:tc>
                <a:tc>
                  <a:txBody>
                    <a:bodyPr/>
                    <a:lstStyle/>
                    <a:p>
                      <a:pPr>
                        <a:defRPr sz="1200">
                          <a:solidFill>
                            <a:srgbClr val="20261F"/>
                          </a:solidFill>
                          <a:latin typeface="Yu Gothic"/>
                        </a:defRPr>
                      </a:pPr>
                      <a:r>
                        <a:t>Khosla Ventures</a:t>
                      </a:r>
                    </a:p>
                  </a:txBody>
                  <a:tcPr>
                    <a:solidFill>
                      <a:srgbClr val="F4F1E6"/>
                    </a:solidFill>
                  </a:tcPr>
                </a:tc>
              </a:tr>
              <a:tr h="502920">
                <a:tc>
                  <a:txBody>
                    <a:bodyPr/>
                    <a:lstStyle/>
                    <a:p>
                      <a:pPr>
                        <a:defRPr sz="1200">
                          <a:solidFill>
                            <a:srgbClr val="20261F"/>
                          </a:solidFill>
                          <a:latin typeface="Yu Gothic"/>
                        </a:defRPr>
                      </a:pPr>
                      <a:r>
                        <a:t>発表日</a:t>
                      </a:r>
                    </a:p>
                  </a:txBody>
                  <a:tcPr>
                    <a:solidFill>
                      <a:srgbClr val="FFFFFF"/>
                    </a:solidFill>
                  </a:tcPr>
                </a:tc>
                <a:tc>
                  <a:txBody>
                    <a:bodyPr/>
                    <a:lstStyle/>
                    <a:p>
                      <a:pPr>
                        <a:defRPr sz="1200">
                          <a:solidFill>
                            <a:srgbClr val="20261F"/>
                          </a:solidFill>
                          <a:latin typeface="Yu Gothic"/>
                        </a:defRPr>
                      </a:pPr>
                      <a:r>
                        <a:t>2026年7月30日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Diliとはどんな会社?</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創業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2023年、Anand Chaturvedi氏・Brian Fernandez氏がニューヨークで創業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事業内容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建設・インフラ・エネルギー業界向けのAIコンプライアンス自動化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対象領域</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プレバイリング賃金監視、見習い制度遵守、給与監査</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Diliの監査プロセス(概要)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データ取得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プロジェクトの給与・労務データを取得</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AI継続チェック</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100%のデータをリアルタイムで確認</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監査レポート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監査対応可能なレポートを自動生成</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Diliが解決する課題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従来の監査</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サンプリング方式で一部のみ確認</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Diliのアプローチ</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AIでプロジェクトデータの100%を確認</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目指す姿</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コンプライアンス違反の見落とし防止</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プレバイリング賃金・Davis-Bacon法とは(初心者向け)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公共インフラ工事等で定められた最低賃金基準に関する制度とされる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違反すると罰則や契約解除のリスクがあるとされる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監査業務の負荷が高いことが課題とされる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シリーズA調達額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1,500万ドル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Khosla Ventures主導(2026年7月30日発表)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TechCrunch(2026-07-30)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創業チーム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Anand Chaturvedi氏</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共同創業者</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Brian Fernandez氏</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共同創業者</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参加した著名投資家</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Khosla Ventures(主導投資家)</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Y CombinatorのGarry Tan氏</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Brick &amp; Mortar VenturesのDarren Bechtel氏、Rebel Fund</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TechCrunch(2026-07-30)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Diliの対象業界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建設業界</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現場の給与・労務コンプライアンス</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インフラ業界</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大型プロジェクトの監査業務</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エネルギー業界</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同様のコンプライアンス課題</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なぜ今、建設業界向けAIコンプライアンスなのか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アメリカでインフラ投資ブームが続いているとされる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工事現場が増えるほど監査対象も増えるとされる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人手による監査には限界があるとされる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資金の使途(推測)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製品開発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AI監査モデルの精度向上に活用される可能性</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事業拡大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新規顧客獲得に活用される可能性</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人材採用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エンジニア・営業体制強化に活用される可能性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創業年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2023年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Anand Chaturvedi氏・Brian Fernandez氏が共同創業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GlobeNewswire(2026-07-30)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Diliの特徴(公表情報より)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監査カバー率</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プロジェクトデータの100%をリアルタイムでチェック</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提携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保険会社Allianzとの提携も報じられている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拠点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ニューヨーク</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24523F"/>
                    </a:solidFill>
                  </a:tcPr>
                </a:tc>
                <a:tc>
                  <a:txBody>
                    <a:bodyPr/>
                    <a:lstStyle/>
                    <a:p>
                      <a:pPr>
                        <a:defRPr sz="1300" b="1">
                          <a:solidFill>
                            <a:srgbClr val="FFFFFF"/>
                          </a:solidFill>
                          <a:latin typeface="Yu Gothic"/>
                        </a:defRPr>
                      </a:pPr>
                      <a:r>
                        <a:t>日付</a:t>
                      </a:r>
                    </a:p>
                  </a:txBody>
                  <a:tcPr>
                    <a:solidFill>
                      <a:srgbClr val="24523F"/>
                    </a:solidFill>
                  </a:tcPr>
                </a:tc>
              </a:tr>
              <a:tr h="502920">
                <a:tc>
                  <a:txBody>
                    <a:bodyPr/>
                    <a:lstStyle/>
                    <a:p>
                      <a:pPr>
                        <a:defRPr sz="1200">
                          <a:solidFill>
                            <a:srgbClr val="20261F"/>
                          </a:solidFill>
                          <a:latin typeface="Yu Gothic"/>
                        </a:defRPr>
                      </a:pPr>
                      <a:r>
                        <a:t>TechCrunch</a:t>
                      </a:r>
                    </a:p>
                  </a:txBody>
                  <a:tcPr>
                    <a:solidFill>
                      <a:srgbClr val="FFFFFF"/>
                    </a:solidFill>
                  </a:tcPr>
                </a:tc>
                <a:tc>
                  <a:txBody>
                    <a:bodyPr/>
                    <a:lstStyle/>
                    <a:p>
                      <a:pPr>
                        <a:defRPr sz="1200">
                          <a:solidFill>
                            <a:srgbClr val="20261F"/>
                          </a:solidFill>
                          <a:latin typeface="Yu Gothic"/>
                        </a:defRPr>
                      </a:pPr>
                      <a:r>
                        <a:t>2026-07-30</a:t>
                      </a:r>
                    </a:p>
                  </a:txBody>
                  <a:tcPr>
                    <a:solidFill>
                      <a:srgbClr val="FFFFFF"/>
                    </a:solidFill>
                  </a:tcPr>
                </a:tc>
              </a:tr>
              <a:tr h="502920">
                <a:tc>
                  <a:txBody>
                    <a:bodyPr/>
                    <a:lstStyle/>
                    <a:p>
                      <a:pPr>
                        <a:defRPr sz="1200">
                          <a:solidFill>
                            <a:srgbClr val="20261F"/>
                          </a:solidFill>
                          <a:latin typeface="Yu Gothic"/>
                        </a:defRPr>
                      </a:pPr>
                      <a:r>
                        <a:t>GlobeNewswire</a:t>
                      </a:r>
                    </a:p>
                  </a:txBody>
                  <a:tcPr>
                    <a:solidFill>
                      <a:srgbClr val="F4F1E6"/>
                    </a:solidFill>
                  </a:tcPr>
                </a:tc>
                <a:tc>
                  <a:txBody>
                    <a:bodyPr/>
                    <a:lstStyle/>
                    <a:p>
                      <a:pPr>
                        <a:defRPr sz="1200">
                          <a:solidFill>
                            <a:srgbClr val="20261F"/>
                          </a:solidFill>
                          <a:latin typeface="Yu Gothic"/>
                        </a:defRPr>
                      </a:pPr>
                      <a:r>
                        <a:t>2026-07-30</a:t>
                      </a:r>
                    </a:p>
                  </a:txBody>
                  <a:tcPr>
                    <a:solidFill>
                      <a:srgbClr val="F4F1E6"/>
                    </a:solidFill>
                  </a:tcPr>
                </a:tc>
              </a:tr>
              <a:tr h="502920">
                <a:tc>
                  <a:txBody>
                    <a:bodyPr/>
                    <a:lstStyle/>
                    <a:p>
                      <a:pPr>
                        <a:defRPr sz="1200">
                          <a:solidFill>
                            <a:srgbClr val="20261F"/>
                          </a:solidFill>
                          <a:latin typeface="Yu Gothic"/>
                        </a:defRPr>
                      </a:pPr>
                      <a:r>
                        <a:t>Yahoo Finance</a:t>
                      </a:r>
                    </a:p>
                  </a:txBody>
                  <a:tcPr>
                    <a:solidFill>
                      <a:srgbClr val="FFFFFF"/>
                    </a:solidFill>
                  </a:tcPr>
                </a:tc>
                <a:tc>
                  <a:txBody>
                    <a:bodyPr/>
                    <a:lstStyle/>
                    <a:p>
                      <a:pPr>
                        <a:defRPr sz="1200">
                          <a:solidFill>
                            <a:srgbClr val="20261F"/>
                          </a:solidFill>
                          <a:latin typeface="Yu Gothic"/>
                        </a:defRPr>
                      </a:pPr>
                      <a:r>
                        <a:t>2026-07-30</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正直な開示: 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本ラウンドの企業評価額は確認できていない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具体的な導入プロジェクト数は確認できていない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AIモデルの検知精度の詳細は確認できていない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監査カバー率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プロジェクトデータをリアルタイムでチェック(Dili公表)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TechCrunch(2026-07-30)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AIコンプライアンス分野の広がり(概観)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従来型監査</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サンプリングによる部分的な確認</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デジタル化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データのデジタル管理が進む</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AI継続監視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Diliのようなアプローチが台頭</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この分野で意識すべきリスク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誤検知リスク</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AIによる誤判定が生じる可能性は一般論として存在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データ取り扱い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給与・労務データの取り扱いには配慮が必要</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投資判断は自己責任で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特定企業への投資推奨ではない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建設・インフラ業界向けAIコンプライアンスという切り口は本テーマが初めて</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重複するテーマは既存assetsに確認されなかった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鮮度の比較(候補1・Baselayerとの比較)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候補1(123本目・Baselayer)</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発表は着手日の前日</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鮮度基準を満たす</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候補2(124本目・Dili)</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発表は着手日の5日前</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鮮度基準をわずかに外れる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今後注目すべきポイント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導入拡大</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顧客企業数の推移に注目</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保険業界との連携</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Allianzとの提携の広がりに注目</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次の資金調達</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今後のラウンドの有無に注目</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視聴者への問いかけ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AIによるコンプライアンス監査、皆さんはどう思いますか?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インフラ投資ブームとAIの関係、一緒に考えてみましょう</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出典の明記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TechCrunch等、複数の情報源を明示</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正直な開示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鮮度がやや基準を外れる点も含め、確認できなかった点を隠さず記載</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中立性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特定企業への投資推奨はしていない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調達段階</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シリーズA</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本格的な事業拡大に向けた段階</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AIが支える、次のインフラ投資ブーム</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Dili、Khosla Ventures主導で2,170万ドルを調達(2026年7月30日)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Diliがシリーズ Aを含む累計2,170万ドルを調達</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建設・インフラ業界向けAIコンプライアンスという切り口が今後も注目される可能性</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次回もAI業界の動きをお届けします</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TechCrunch(2026-07-30)ほか｜定期実行124本目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