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最終得点</c:v>
                </c:pt>
              </c:strCache>
            </c:strRef>
          </c:tx>
          <c:spPr>
            <a:solidFill>
              <a:srgbClr val="7A1F2B"/>
            </a:solidFill>
          </c:spPr>
          <c:cat>
            <c:strRef>
              <c:f>Sheet1!$A$2:$A$3</c:f>
              <c:strCache>
                <c:ptCount val="2"/>
                <c:pt idx="0">
                  <c:v>智弁和歌山</c:v>
                </c:pt>
                <c:pt idx="1">
                  <c:v>仙台育英</c:v>
                </c:pt>
              </c:strCache>
            </c:strRef>
          </c:cat>
          <c:val>
            <c:numRef>
              <c:f>Sheet1!$B$2:$B$3</c:f>
              <c:numCache>
                <c:formatCode>General</c:formatCode>
                <c:ptCount val="2"/>
                <c:pt idx="0">
                  <c:v>8</c:v>
                </c:pt>
                <c:pt idx="1">
                  <c:v>1</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夏の甲子園(第108回全国高校野球選手権大会)準々決勝第2試合が甲子園球場で行われ、智弁和歌山(和歌山)が仙台育英(宮城)を8-1で下しました。初回に一挙5点を挙げたことが試合を大きく左右しました。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結論から確認します。智弁和歌山が仙台育英を8-1で下し、ベスト4進出を決めました。試合を大きく動かしたのは初回の一挙5点です。ここから数字と経過を1つずつ出典付きで見ていきます。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初回の得点経過から、智弁和歌山・仙台育英それぞれの結果、確認できていないことまで、出典付きで正確に整理します。未成年の選手・敗れた仙台育英側の結果という2つの点に配慮し、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このテーマを扱う理由です。試合当日という新しさに加え、初回一挙5点から8-1で圧倒するという明快な展開があります。先頭打者の三塁打から始まる得点経過も、複数のメディアが一致して報じています。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甲子園は夏の全国高校野球選手権大会の通称で、準々決勝はベスト8が対戦しベスト4進出をかけて戦う試合です。振り逃げは、三振の投球を捕手が捕球できなかった場合などに打者が出塁できる野球用語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智弁和歌山・仙台育英それぞれの背景を確認します。両校の対戦は2007年の甲子園以来2回目とされますが、あくまで背景情報として触れるにとどめます。選手は未成年のため、本テーマでは個人の私生活ではなくチーム・学校の物語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の流れを、判明している範囲で整理しました。長友選手の三塁打で始まり、荒井選手が振り逃げで出塁する間に1点が入り、楠本選手の犠牲フライ等が続いて、この回一挙5点となりました。これ以上の個々の打者の具体的な結果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の得点経過を、判明している範囲で一覧にしました。長友選手の三塁打から始まり、荒井選手の振り逃げで1点、楠本選手の犠牲フライ等が続き、この回で5点を挙げています。これ以外の個々の打者の具体的な結果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初回の得点を確認します。智弁和歌山は長友選手の三塁打を皮切りに、荒井選手の振り逃げ・楠本選手の犠牲フライ等が続き、この回一挙5点を挙げました。試合の主導権を早々に握る立ち上がりでした。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の得点プロセスを図にしました。長友選手の三塁打で始まり、荒井選手が振り逃げで出塁する間に1点が入り、楠本選手の犠牲フライ等が続いて5点となりました。このイニングで試合の主導権が大きく傾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初回を数字で振り返ります。長友選手の三塁打で始まり、荒井選手の振り逃げで1点、楠本選手の犠牲フライ等が続き、合わせて5点を挙げました。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最終スコアです。智弁和歌山は仙台育英を8-1で下し、ベスト4進出を決めました。初回の一挙5点が試合の大勢を決めた立ち上がりでした。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最終スコアをグラフにしました。智弁和歌山が8点、仙台育英が1点です。初回だけで智弁和歌山が5点を挙げており、序盤の得点差がそのまま最終スコアにも大きく反映されています。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初回に智弁和歌山が5点、最終スコアが8-1という結果は複数媒体で一致していますが、2回以降の具体的な得点経過は本調査の範囲では確認できていません。推測では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仙台育英の投手交代についても正直にお伝えします。投手交代の有無や経緯、初回に5点を失った後の対応については、本調査の範囲では確認できていません。推測では補いません。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智弁和歌山の4強進出を数字で確認します。初回に一挙5点を挙げて主導権を握り、最終的に8-1で仙台育英を下してベスト4進出を決めました。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智弁和歌山の躍進を初回とその後で比べます。初回は長友選手の三塁打を皮切りに一挙5点を挙げました。最終スコアは8-1ですが、2回以降の具体的な得点経過は本調査の範囲では確認できていません。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仙台育英の結果を確認します。この準々決勝で智弁和歌山に1-8で敗れ、ベスト4進出はなりませんでした。初回に一挙5点を先制されるという厳しい立ち上がりでした。どのように1点を挙げたかの具体的な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仙台育英の結果を確認します。準々決勝で智弁和歌山に1-8で敗れ、ベスト4進出を逃しました。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仙台育英の結果を正確に伝えます。1-8で敗れたという結果と、1点を挙げたことは事実として確認できています。どのように得点したかの詳細、投手交代の経緯は確認できていません。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敗戦を正直に伝える方針です。仙台育英の1-8という結果はそのまま正直に伝えつつ、過度に悲劇的な演出も、智弁和歌山の圧勝を過度に煽り立てることもしません。スピンをかけず、淡々とした事実の報道姿勢を徹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情報を1つだけ補足します。両校の対戦は2007年の甲子園以来2回目とされますが、2007年の対戦の詳細は本調査の範囲では独自に検証しておらず、本成果物では扱いません。あくまで本テーマの主題は2026年8月18日の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事実確認の状況を一覧にしました。最終スコアと初回の得点経過、智弁和歌山の4強進出は複数媒体で確認できていますが、2回以降の展開と仙台育英の投手交代の経緯は未確認です。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選手への配慮方針です。出場選手は未成年のため、個人の私生活を扇情的に扱わずチーム・学校の物語として構成しました。氏名は公表済みの範囲でテキストとしてのみ扱い、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視聴者にとっての実践的な示唆をまとめました。高校野球ファンとして、勝敗両方の結果を見る立場として、情報を発信する立場として、それぞれで意識したい点です。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智弁和歌山の4強進出は大会通算の記録として位置づけられます。結果とその要因は別物であり、確認できていない要因を推測で埋めない視点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この先の展開を確認します。智弁和歌山はベスト4(準決勝)に進出しました。準決勝の日程・対戦相手については、本調査の範囲では確認できていません。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初回の得点経過・智弁和歌山の4強進出はすべて出典で確認できた事実です。推測はほぼ用いておらず、2回以降の展開や投手交代の経緯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智弁和歌山が夏の甲子園準々決勝で仙台育英を8-1で下し、ベスト4進出を決めた件をお伝えしました。初回の一挙5点という試合を決定づけた立ち上がりを軸に、仙台育英の1-8という結果も正確に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智弁和歌山、初回5得点で仙台育英を圧倒。</a:t>
            </a:r>
          </a:p>
          <a:p>
            <a:pPr algn="l">
              <a:lnSpc>
                <a:spcPct val="115000"/>
              </a:lnSpc>
            </a:pPr>
            <a:r>
              <a:rPr sz="4200" b="1">
                <a:solidFill>
                  <a:srgbClr val="FFFFFF"/>
                </a:solidFill>
                <a:latin typeface="Yu Gothic"/>
              </a:rPr>
              <a:t>夏の甲子園準々決勝、8-1で4強進出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2026年8月18日、甲子園球場――初回一挙5点が試合を決めた。出典付きで正確に整理してお届けします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Yahoo!ニュース(速報)・Yahoo!スポーツナビ(バーチャル高校野球)・ベースボールチャンネル(2026年8月18日時点)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8-1で4強進出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智弁和歌山(和歌山)が仙台育英(宮城)を8-1で下し、ベスト4進出を決めた(2026年8月18日、準々決勝第2試合)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Yahoo!ニュース(速報、2026-08-18)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甲子園・準々決勝の基礎知識(初心者向け)</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智弁和歌山・仙台育英それぞれの背景</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初回の一挙5点を数字で深掘りする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智弁和歌山の4強進出、仙台育英の結果を正確に扱う</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確認できていないこと・センシティブな配慮・出典一覧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準々決勝(2026年8月18日開催)は着手日(同日)当日という、最も新しい形で鮮度基準を満たす</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初回に一挙5点を先制し、8-1で圧倒するという、試合を決定づけた明快な展開である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先頭打者の三塁打から始まる初回の得点経過が、複数の独立したメディアで一致して報じられている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Yahoo!ニュース(速報)・Yahoo!スポーツナビ(バーチャル高校野球)(2026-08-18)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甲子園・準々決勝とは(初心者向け)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『甲子園』は夏に行われる全国高校野球選手権大会(今大会で第108回)の通称。都道府県代表校が出場するトーナメント方式の大会である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『準々決勝』はベスト8の8校が対戦し、勝てばベスト4(準決勝進出)となる試合。今大会で上位にあたる成績である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『振り逃げ』は、三振と同じ投球でも捕手が捕球できなかった等の場合に、打者が走者として一塁へ進める野球用語である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智弁和歌山・仙台育英それぞれの背景(初心者向け)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智弁和歌山高校(和歌山県)・仙台育英高校(宮城県)は、いずれも甲子園の常連校として知られる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両校の対戦は、2007年の甲子園での対戦以来2回目とされる(背景情報。詳細は本調査の範囲では未検証で、本テーマの主題ではない)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選手は未成年であるため、本テーマでは個人の私生活ではなく、チーム・学校の物語として扱う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初回の流れ(判明している範囲)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先頭打者</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長友選手の三塁打で初回の攻撃が始まる</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1点先制</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荒井選手が出塁(振り逃げ)する間に1点が入る</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追加点が続く</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楠本選手の犠牲フライ等が続く</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初回終了</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智弁和歌山が一挙5点を挙げる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初回得点経過サマリー(判明している範囲)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局面</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先頭打者</a:t>
                      </a:r>
                    </a:p>
                  </a:txBody>
                  <a:tcPr>
                    <a:solidFill>
                      <a:srgbClr val="FFFFFF"/>
                    </a:solidFill>
                  </a:tcPr>
                </a:tc>
                <a:tc>
                  <a:txBody>
                    <a:bodyPr/>
                    <a:lstStyle/>
                    <a:p>
                      <a:pPr>
                        <a:defRPr sz="1200">
                          <a:solidFill>
                            <a:srgbClr val="2A1712"/>
                          </a:solidFill>
                          <a:latin typeface="Yu Gothic"/>
                        </a:defRPr>
                      </a:pPr>
                      <a:r>
                        <a:t>長友選手の三塁打で出塁</a:t>
                      </a:r>
                    </a:p>
                  </a:txBody>
                  <a:tcPr>
                    <a:solidFill>
                      <a:srgbClr val="FFFFFF"/>
                    </a:solidFill>
                  </a:tcPr>
                </a:tc>
              </a:tr>
              <a:tr h="502920">
                <a:tc>
                  <a:txBody>
                    <a:bodyPr/>
                    <a:lstStyle/>
                    <a:p>
                      <a:pPr>
                        <a:defRPr sz="1200">
                          <a:solidFill>
                            <a:srgbClr val="2A1712"/>
                          </a:solidFill>
                          <a:latin typeface="Yu Gothic"/>
                        </a:defRPr>
                      </a:pPr>
                      <a:r>
                        <a:t>1点先制</a:t>
                      </a:r>
                    </a:p>
                  </a:txBody>
                  <a:tcPr>
                    <a:solidFill>
                      <a:srgbClr val="FBF3E6"/>
                    </a:solidFill>
                  </a:tcPr>
                </a:tc>
                <a:tc>
                  <a:txBody>
                    <a:bodyPr/>
                    <a:lstStyle/>
                    <a:p>
                      <a:pPr>
                        <a:defRPr sz="1200">
                          <a:solidFill>
                            <a:srgbClr val="2A1712"/>
                          </a:solidFill>
                          <a:latin typeface="Yu Gothic"/>
                        </a:defRPr>
                      </a:pPr>
                      <a:r>
                        <a:t>荒井選手が出塁(振り逃げ)する間に1点</a:t>
                      </a:r>
                    </a:p>
                  </a:txBody>
                  <a:tcPr>
                    <a:solidFill>
                      <a:srgbClr val="FBF3E6"/>
                    </a:solidFill>
                  </a:tcPr>
                </a:tc>
              </a:tr>
              <a:tr h="502920">
                <a:tc>
                  <a:txBody>
                    <a:bodyPr/>
                    <a:lstStyle/>
                    <a:p>
                      <a:pPr>
                        <a:defRPr sz="1200">
                          <a:solidFill>
                            <a:srgbClr val="2A1712"/>
                          </a:solidFill>
                          <a:latin typeface="Yu Gothic"/>
                        </a:defRPr>
                      </a:pPr>
                      <a:r>
                        <a:t>追加点</a:t>
                      </a:r>
                    </a:p>
                  </a:txBody>
                  <a:tcPr>
                    <a:solidFill>
                      <a:srgbClr val="FFFFFF"/>
                    </a:solidFill>
                  </a:tcPr>
                </a:tc>
                <a:tc>
                  <a:txBody>
                    <a:bodyPr/>
                    <a:lstStyle/>
                    <a:p>
                      <a:pPr>
                        <a:defRPr sz="1200">
                          <a:solidFill>
                            <a:srgbClr val="2A1712"/>
                          </a:solidFill>
                          <a:latin typeface="Yu Gothic"/>
                        </a:defRPr>
                      </a:pPr>
                      <a:r>
                        <a:t>楠本選手の犠牲フライ等が続く</a:t>
                      </a:r>
                    </a:p>
                  </a:txBody>
                  <a:tcPr>
                    <a:solidFill>
                      <a:srgbClr val="FFFFFF"/>
                    </a:solidFill>
                  </a:tcPr>
                </a:tc>
              </a:tr>
              <a:tr h="502920">
                <a:tc>
                  <a:txBody>
                    <a:bodyPr/>
                    <a:lstStyle/>
                    <a:p>
                      <a:pPr>
                        <a:defRPr sz="1200">
                          <a:solidFill>
                            <a:srgbClr val="2A1712"/>
                          </a:solidFill>
                          <a:latin typeface="Yu Gothic"/>
                        </a:defRPr>
                      </a:pPr>
                      <a:r>
                        <a:t>初回終了</a:t>
                      </a:r>
                    </a:p>
                  </a:txBody>
                  <a:tcPr>
                    <a:solidFill>
                      <a:srgbClr val="FBF3E6"/>
                    </a:solidFill>
                  </a:tcPr>
                </a:tc>
                <a:tc>
                  <a:txBody>
                    <a:bodyPr/>
                    <a:lstStyle/>
                    <a:p>
                      <a:pPr>
                        <a:defRPr sz="1200">
                          <a:solidFill>
                            <a:srgbClr val="2A1712"/>
                          </a:solidFill>
                          <a:latin typeface="Yu Gothic"/>
                        </a:defRPr>
                      </a:pPr>
                      <a:r>
                        <a:t>智弁和歌山が一挙5点を挙げる</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Yahoo!ニュース(速報)・Yahoo!スポーツナビ(バーチャル高校野球)・ベースボールチャンネル(2026-08-18)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初回の得点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一挙5点先制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智弁和歌山は初回、長友選手の三塁打を皮切りに一挙5点を挙げた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Yahoo!スポーツナビ(バーチャル高校野球、2026-08-18)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初回の得点プロセス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長友選手の三塁打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先頭打者が出塁、好スタート</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荒井選手が振り逃げで出塁</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その間に1点が入り先制</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楠本選手の犠牲フライ等</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追加点が続き、初回に5点</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初回だけで5点。試合の主導権を早々に握るイニングだった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Yahoo!ニュース(速報)・Yahoo!スポーツナビ(バーチャル高校野球)(2026-08-18)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初回を数字で振り返る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長友</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先頭打者三塁打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初回の攻撃の口火を切った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荒井</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振り逃げで出塁</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その間に1点が先制点となった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楠本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犠牲フライ</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その後の追加点に貢献した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8-1で圧倒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智弁和歌山が仙台育英を8-1で下し、ベスト4進出を決めた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Yahoo!ニュース(速報、2026-08-18)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最終スコアを数字で見る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確認できていないこと(2回以降の展開)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『初回に智弁和歌山が5点』『最終スコア8-1』という結果は複数媒体で一致しているが、2回以降の具体的な得点経過は本調査の範囲では確認できていない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智弁和歌山の残り3点、仙台育英の1点がそれぞれ何回にどのように入ったかは本調査の範囲では確認できていない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確認できた初回の経過と最終スコアのみを事実として扱い、2回以降の展開を推測で補わない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確認できていないこと(仙台育英の投手交代)</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こちらも正直にお伝えします。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仙台育英側の投手交代の有無・経緯は、本調査の範囲では確認できていない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初回に5点を失った後の仙台育英側の対応についても、本調査の範囲では確認できていない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投手起用に関する具体的な情報を推測で創作せず、『不明』として扱う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智弁和歌山の4強進出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8-1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最終スコア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仙台育英を下しベスト4進出を決めた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5点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初回の先制点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初回に一挙5点を挙げ試合の主導権を握った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準々決勝第2試合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対戦の位置づけ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2026年8月18日、甲子園球場で行われた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Yahoo!ニュース(速報)・Yahoo!スポーツナビ(バーチャル高校野球)(2026-08-18)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智弁和歌山の躍進、初回とその後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初回</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長友選手の三塁打を皮切りに一挙5点</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先制点は荒井選手が振り逃げで出塁する間に生まれた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2回以降(最終的に8-1)</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最終スコアは8-1</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2回以降の具体的な得点経過は本調査の範囲では確認できていない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仙台育英の1-8という結果</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敗れた側の結果も、正確にお伝えします。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仙台育英(宮城)はこの準々決勝で智弁和歌山に1-8で敗れ、ベスト4進出はならなかった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初回に智弁和歌山に一挙5点を先制されるという厳しい立ち上がりとなった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仙台育英がどのように1点を挙げたか、具体的な経過は本調査の範囲では確認できていない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仙台育英の結果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1-8で敗退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仙台育英(宮城)は智弁和歌山に1-8で敗れ、準々決勝でベスト4進出を逃した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Yahoo!ニュース(速報、2026-08-18)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仙台育英の結果を正確に伝える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この試合の結果</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準々決勝で智弁和歌山に1-8で敗退</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ベスト4進出はならなかった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確認できていること</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1点を挙げたことは確認できている</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どのように得点したかの詳細は本調査の範囲では確認できていない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敗戦を正直に伝える方針(本テーマ固有)</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本テーマで大切にしている点です。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仙台育英が1-8で敗れたという結果は、隠さず・ごまかさず、事実として正直に伝える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敗戦を過度に悲劇的に演出せず、また智弁和歌山の圧勝を過度に煽り立てもしない、淡々とした事実の報道姿勢を徹底する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仙台育英側の投手交代の経緯・2回以降の反撃の詳細は、出典に明記がないため一切推測しない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2007年の対戦、背景としての位置づけ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参考情報として、背景を1つだけ補足します。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智弁和歌山と仙台育英の対戦は、2007年の甲子園での対戦以来2回目とされる(背景情報として補足するにとどめる)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2007年の対戦の詳細な結果・経過は、本調査の範囲では独自に検証しておらず、本成果物では扱わない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本テーマの主題はあくまで2026年8月18日の準々決勝の結果であり、過去の対戦を主軸にはしない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事実確認の一覧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状態</a:t>
                      </a:r>
                    </a:p>
                  </a:txBody>
                  <a:tcPr>
                    <a:solidFill>
                      <a:srgbClr val="7A1F2B"/>
                    </a:solidFill>
                  </a:tcPr>
                </a:tc>
              </a:tr>
              <a:tr h="502920">
                <a:tc>
                  <a:txBody>
                    <a:bodyPr/>
                    <a:lstStyle/>
                    <a:p>
                      <a:pPr>
                        <a:defRPr sz="1200">
                          <a:solidFill>
                            <a:srgbClr val="2A1712"/>
                          </a:solidFill>
                          <a:latin typeface="Yu Gothic"/>
                        </a:defRPr>
                      </a:pPr>
                      <a:r>
                        <a:t>最終スコア(8-1)</a:t>
                      </a:r>
                    </a:p>
                  </a:txBody>
                  <a:tcPr>
                    <a:solidFill>
                      <a:srgbClr val="FFFFFF"/>
                    </a:solidFill>
                  </a:tcPr>
                </a:tc>
                <a:tc>
                  <a:txBody>
                    <a:bodyPr/>
                    <a:lstStyle/>
                    <a:p>
                      <a:pPr>
                        <a:defRPr sz="1200">
                          <a:solidFill>
                            <a:srgbClr val="2A1712"/>
                          </a:solidFill>
                          <a:latin typeface="Yu Gothic"/>
                        </a:defRPr>
                      </a:pPr>
                      <a:r>
                        <a:t>確認済み(複数媒体一致)</a:t>
                      </a:r>
                    </a:p>
                  </a:txBody>
                  <a:tcPr>
                    <a:solidFill>
                      <a:srgbClr val="FFFFFF"/>
                    </a:solidFill>
                  </a:tcPr>
                </a:tc>
              </a:tr>
              <a:tr h="502920">
                <a:tc>
                  <a:txBody>
                    <a:bodyPr/>
                    <a:lstStyle/>
                    <a:p>
                      <a:pPr>
                        <a:defRPr sz="1200">
                          <a:solidFill>
                            <a:srgbClr val="2A1712"/>
                          </a:solidFill>
                          <a:latin typeface="Yu Gothic"/>
                        </a:defRPr>
                      </a:pPr>
                      <a:r>
                        <a:t>初回の得点経過(長友の三塁打・荒井の振り逃げ・楠本の犠牲フライ等・5点)</a:t>
                      </a:r>
                    </a:p>
                  </a:txBody>
                  <a:tcPr>
                    <a:solidFill>
                      <a:srgbClr val="FBF3E6"/>
                    </a:solidFill>
                  </a:tcPr>
                </a:tc>
                <a:tc>
                  <a:txBody>
                    <a:bodyPr/>
                    <a:lstStyle/>
                    <a:p>
                      <a:pPr>
                        <a:defRPr sz="1200">
                          <a:solidFill>
                            <a:srgbClr val="2A1712"/>
                          </a:solidFill>
                          <a:latin typeface="Yu Gothic"/>
                        </a:defRPr>
                      </a:pPr>
                      <a:r>
                        <a:t>確認済み(複数媒体一致)</a:t>
                      </a:r>
                    </a:p>
                  </a:txBody>
                  <a:tcPr>
                    <a:solidFill>
                      <a:srgbClr val="FBF3E6"/>
                    </a:solidFill>
                  </a:tcPr>
                </a:tc>
              </a:tr>
              <a:tr h="502920">
                <a:tc>
                  <a:txBody>
                    <a:bodyPr/>
                    <a:lstStyle/>
                    <a:p>
                      <a:pPr>
                        <a:defRPr sz="1200">
                          <a:solidFill>
                            <a:srgbClr val="2A1712"/>
                          </a:solidFill>
                          <a:latin typeface="Yu Gothic"/>
                        </a:defRPr>
                      </a:pPr>
                      <a:r>
                        <a:t>智弁和歌山の4強進出</a:t>
                      </a:r>
                    </a:p>
                  </a:txBody>
                  <a:tcPr>
                    <a:solidFill>
                      <a:srgbClr val="FFFFFF"/>
                    </a:solidFill>
                  </a:tcPr>
                </a:tc>
                <a:tc>
                  <a:txBody>
                    <a:bodyPr/>
                    <a:lstStyle/>
                    <a:p>
                      <a:pPr>
                        <a:defRPr sz="1200">
                          <a:solidFill>
                            <a:srgbClr val="2A1712"/>
                          </a:solidFill>
                          <a:latin typeface="Yu Gothic"/>
                        </a:defRPr>
                      </a:pPr>
                      <a:r>
                        <a:t>確認済み</a:t>
                      </a:r>
                    </a:p>
                  </a:txBody>
                  <a:tcPr>
                    <a:solidFill>
                      <a:srgbClr val="FFFFFF"/>
                    </a:solidFill>
                  </a:tcPr>
                </a:tc>
              </a:tr>
              <a:tr h="502920">
                <a:tc>
                  <a:txBody>
                    <a:bodyPr/>
                    <a:lstStyle/>
                    <a:p>
                      <a:pPr>
                        <a:defRPr sz="1200">
                          <a:solidFill>
                            <a:srgbClr val="2A1712"/>
                          </a:solidFill>
                          <a:latin typeface="Yu Gothic"/>
                        </a:defRPr>
                      </a:pPr>
                      <a:r>
                        <a:t>2回以降の試合展開の詳細</a:t>
                      </a:r>
                    </a:p>
                  </a:txBody>
                  <a:tcPr>
                    <a:solidFill>
                      <a:srgbClr val="FBF3E6"/>
                    </a:solidFill>
                  </a:tcPr>
                </a:tc>
                <a:tc>
                  <a:txBody>
                    <a:bodyPr/>
                    <a:lstStyle/>
                    <a:p>
                      <a:pPr>
                        <a:defRPr sz="1200">
                          <a:solidFill>
                            <a:srgbClr val="2A1712"/>
                          </a:solidFill>
                          <a:latin typeface="Yu Gothic"/>
                        </a:defRPr>
                      </a:pPr>
                      <a:r>
                        <a:t>未確認</a:t>
                      </a:r>
                    </a:p>
                  </a:txBody>
                  <a:tcPr>
                    <a:solidFill>
                      <a:srgbClr val="FBF3E6"/>
                    </a:solidFill>
                  </a:tcPr>
                </a:tc>
              </a:tr>
              <a:tr h="502920">
                <a:tc>
                  <a:txBody>
                    <a:bodyPr/>
                    <a:lstStyle/>
                    <a:p>
                      <a:pPr>
                        <a:defRPr sz="1200">
                          <a:solidFill>
                            <a:srgbClr val="2A1712"/>
                          </a:solidFill>
                          <a:latin typeface="Yu Gothic"/>
                        </a:defRPr>
                      </a:pPr>
                      <a:r>
                        <a:t>仙台育英の投手交代の経緯</a:t>
                      </a:r>
                    </a:p>
                  </a:txBody>
                  <a:tcPr>
                    <a:solidFill>
                      <a:srgbClr val="FFFFFF"/>
                    </a:solidFill>
                  </a:tcPr>
                </a:tc>
                <a:tc>
                  <a:txBody>
                    <a:bodyPr/>
                    <a:lstStyle/>
                    <a:p>
                      <a:pPr>
                        <a:defRPr sz="1200">
                          <a:solidFill>
                            <a:srgbClr val="2A1712"/>
                          </a:solidFill>
                          <a:latin typeface="Yu Gothic"/>
                        </a:defRPr>
                      </a:pPr>
                      <a:r>
                        <a:t>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Yahoo!ニュース(速報)・Yahoo!スポーツナビ(バーチャル高校野球)・ベースボールチャンネル(2026-08-18)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未成年選手への配慮方針</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本テーマ固有の配慮です。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出場選手は未成年であるため、個人の私生活を扇情的に扱わず、チーム・学校の物語として構成する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実在選手の氏名は公表済みの範囲(長友選手・荒井選手・楠本選手など)でテキストとしてのみ扱い、写真・肖像は使用しない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個々の選手への過度な注目・断定的な将来評価は避ける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初回の攻防を、確認できた範囲の事実で正確に追うと理解が深まる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勝敗両方の結果を見る立場として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圧勝した側だけでなく、敗れた側の結果も同じ重みで受け止める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未確認の詳細(2回以降の展開・投手交代)を推測で補わず、正確に伝える姿勢が信頼につながる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智弁和歌山の4強進出は、大会通算の記録として位置づけられる(断定的な評価は避ける)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初回に大量得点した結果と、なぜそうなったかという要因(投手交代の経緯等)は別物であり、確認できていない要因を推測で埋めない視点が役立つ</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準決勝の日程・対戦相手は本調査の範囲では確認できていない(本調査時点の情報)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準決勝進出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智弁和歌山はベスト4に進出した。準決勝の日程・対戦相手は本調査の範囲では確認できていない(本調査時点の情報)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Yahoo!ニュース(速報、2026-08-18)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最終スコア8-1・智弁和歌山の初回5点(長友の三塁打・荒井の振り逃げ・楠本の犠牲フライ等)・智弁和歌山の4強進出</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不明: 2回以降の試合展開の詳細、仙台育英の投手交代の経緯、準決勝の日程・対戦相手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Yahoo!ニュース(速報)</a:t>
                      </a:r>
                    </a:p>
                  </a:txBody>
                  <a:tcPr>
                    <a:solidFill>
                      <a:srgbClr val="FFFFFF"/>
                    </a:solidFill>
                  </a:tcPr>
                </a:tc>
                <a:tc>
                  <a:txBody>
                    <a:bodyPr/>
                    <a:lstStyle/>
                    <a:p>
                      <a:pPr>
                        <a:defRPr sz="1200">
                          <a:solidFill>
                            <a:srgbClr val="2A1712"/>
                          </a:solidFill>
                          <a:latin typeface="Yu Gothic"/>
                        </a:defRPr>
                      </a:pPr>
                      <a:r>
                        <a:t>試合結果の速報(2026-08-18)</a:t>
                      </a:r>
                    </a:p>
                  </a:txBody>
                  <a:tcPr>
                    <a:solidFill>
                      <a:srgbClr val="FFFFFF"/>
                    </a:solidFill>
                  </a:tcPr>
                </a:tc>
              </a:tr>
              <a:tr h="502920">
                <a:tc>
                  <a:txBody>
                    <a:bodyPr/>
                    <a:lstStyle/>
                    <a:p>
                      <a:pPr>
                        <a:defRPr sz="1200">
                          <a:solidFill>
                            <a:srgbClr val="2A1712"/>
                          </a:solidFill>
                          <a:latin typeface="Yu Gothic"/>
                        </a:defRPr>
                      </a:pPr>
                      <a:r>
                        <a:t>Yahoo!スポーツナビ(バーチャル高校野球)</a:t>
                      </a:r>
                    </a:p>
                  </a:txBody>
                  <a:tcPr>
                    <a:solidFill>
                      <a:srgbClr val="FBF3E6"/>
                    </a:solidFill>
                  </a:tcPr>
                </a:tc>
                <a:tc>
                  <a:txBody>
                    <a:bodyPr/>
                    <a:lstStyle/>
                    <a:p>
                      <a:pPr>
                        <a:defRPr sz="1200">
                          <a:solidFill>
                            <a:srgbClr val="2A1712"/>
                          </a:solidFill>
                          <a:latin typeface="Yu Gothic"/>
                        </a:defRPr>
                      </a:pPr>
                      <a:r>
                        <a:t>試合結果・得点経過(2026-08-18)</a:t>
                      </a:r>
                    </a:p>
                  </a:txBody>
                  <a:tcPr>
                    <a:solidFill>
                      <a:srgbClr val="FBF3E6"/>
                    </a:solidFill>
                  </a:tcPr>
                </a:tc>
              </a:tr>
              <a:tr h="502920">
                <a:tc>
                  <a:txBody>
                    <a:bodyPr/>
                    <a:lstStyle/>
                    <a:p>
                      <a:pPr>
                        <a:defRPr sz="1200">
                          <a:solidFill>
                            <a:srgbClr val="2A1712"/>
                          </a:solidFill>
                          <a:latin typeface="Yu Gothic"/>
                        </a:defRPr>
                      </a:pPr>
                      <a:r>
                        <a:t>ベースボールチャンネル</a:t>
                      </a:r>
                    </a:p>
                  </a:txBody>
                  <a:tcPr>
                    <a:solidFill>
                      <a:srgbClr val="FFFFFF"/>
                    </a:solidFill>
                  </a:tcPr>
                </a:tc>
                <a:tc>
                  <a:txBody>
                    <a:bodyPr/>
                    <a:lstStyle/>
                    <a:p>
                      <a:pPr>
                        <a:defRPr sz="1200">
                          <a:solidFill>
                            <a:srgbClr val="2A1712"/>
                          </a:solidFill>
                          <a:latin typeface="Yu Gothic"/>
                        </a:defRPr>
                      </a:pPr>
                      <a:r>
                        <a:t>得点経過の確認(2026-08-18)</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Yahoo!ニュース(速報)・Yahoo!スポーツナビ(バーチャル高校野球)・ベースボールチャンネル(2026年8月18日時点)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初回5点の先制で4強へ。智弁和歌山の快勝を正確に整理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8-1という結果と、初回に集中した5得点の経過を、それぞれ正確に出典付きで整理してお届けしました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