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クラブの争奪戦に決着がつきました。日本代表DF冨安健洋選手のクリスタル・パレス加入が、2026年8月7日に正式発表されました。背番号は17、そしてクラブには既に鎌田大地選手が所属しています。今日はこの決着の中身を、確認できたこと・できなかったことを分け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冨安選手とクリスタル・パレスについて、前身テーマからの経緯、プレミア復帰と鎌田選手との共闘、鮮度基準の例外運用についての開示、そして確認できたこと・できなかっ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クリスタル・パレスが2026年8月7日、冨安健洋選手の加入を正式発表しました。アーセナル退団から2年ぶりのプレミア復帰で、背番号は17です。クラブには既に鎌田大地選手が所属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発表概要を表にまとめました。選手名は冨安健洋、移籍元はアヤックス、移籍先はクリスタル・パレス、発表日は2026年8月7日、背番号は17です。クラブには既に鎌田大地選手が所属しています。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冨安選手の新しい背番号は17です。クリスタル・パレスの正式発表で明らかになりました。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冨安健洋選手を紹介します。ポジションはDF、日本代表歴があります。直近はアヤックス所属でしたが退団し、フリーエージェントとなっていました。かつてはアーセナルに所属し、2025年に退団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クリスタル・パレスを説明します。イングランド・プレミアリーグのクラブで、本拠地はロンドン南部です。鎌田大地選手が既に所属しており、冨安選手の加入で日本人選手が2人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鎌田大地選手について紹介します。MFで日本代表歴があり、クリスタル・パレスに既に所属しています。今回、冨安選手とクラブメイトとして共闘する形になりました。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身テーマからの経緯を図で示します。7月28日に練習参加が判明し5クラブが争奪戦を報じられましたが、8月3日時点では正式な交渉は行われていませんでした。それが8月7日、正式契約・加入発表という形で決着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前身テーマとの比較です。8月3日時点では5クラブが関心を示す練習生段階で、正式交渉はまだでした。8月7日、クリスタル・パレスが正式に加入を発表し、背番号17が決まりました。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経緯タイムラインです。アヤックス退団後フリーエージェントとなり、7月28日に練習参加が判明、5クラブの争奪戦と報じられ、最終的に8月7日に正式契約・発表となりました。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プレミアリーグ復帰は2年ぶりです。2025年のアーセナル退団以来、冨安選手にとって久しぶりのプレミア復帰となります。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ーセナル時代とクリスタル・パレス加入後を比較します。アーセナルは2025年に退団し、その後アヤックスに所属しました。今回の加入で2年ぶりのプレミア復帰となり、鎌田選手とクラブメイト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クリスタル・パレスの日本人選手2人体制です。鎌田大地選手はMFで以前から所属、冨安健洋選手はDFで2026年8月7日に正式加入が発表されました。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なぜこの決着がフックになるのか整理します。前身テーマで開示していた不確実性に決着がつくこと、プレミア復帰と鎌田選手との共闘という著名性、争奪戦を経て加入に至った物語性がポイントです。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クラブ争奪戦だった段階を振り返ります。前身テーマでは、5クラブが争奪していると報じられ、クリスタル・パレスとの正式交渉はまだと開示していました。本テーマはその後の正式発表という進展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前身テーマ時点では、5クラブが冨安選手に関心を示していたと報じられていました。クリスタル・パレスもその1つでしたが、当時は正式交渉には至っていませんでした。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出典一覧です。サッカーキング、Yahoo!ニュース(FOOTBALL ZONE配信)、ライブドアニュース、サッカーダイジェストWebという複数の独立した媒体が、いずれも8月7日前後に報じています。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の正直な開示です。本テーマは着手日から3日前の発表で、通常の2日以内基準を満たしていません。12件前後のクエリを試しても代替候補が見つからず、例外的最終手段の規定に基づき採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鮮度基準の例外運用の詳細です。3日前の発表であること、通常基準は2日以内であること、例外運用の根拠、round94での探索状況、5ラウンド連続の例外運用であることを正直に記録しています。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確認できたこと・できなかったことを整理します。正式発表・背番号・プレミア復帰・鎌田選手との共闘は確認できました。契約年数、移籍金、出場時期、本人コメントは確認できていません。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未確認事項を一覧にしました。契約年数、移籍金の詳細、具体的な出場時期・起用法、本人のコメント、いずれも本調査の範囲では確認できていません。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正式発表後、公式戦デビューまでの一般的な流れを図で示します。正式契約・加入発表の後、トレーニング合流を経て公式戦登録・出場となりますが、冨安選手の具体的な出場時期は確認できていません。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これで何が変わるか・どう見ればいいかを整理します。今後の公式戦での起用時期・ポジションが焦点で、鎌田選手との共演にも注目です。未確認の点は公式発表・試合結果を都度確認することを勧めます。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既存テーマとの関係を確認しました。前身テーマは正式交渉なしの段階を扱い、本テーマはその後の正式発表という進展を扱うため重複ではありません。他の日本人選手移籍テーマとも対象が異なります。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公平性・配慮について開示します。実在の選手名・クラブ名はテキストのみで扱い、心境についての推測は行っていません。特定クラブや選手への過度な評価も避け、政治的論評もありません。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出典について整理します。複数の独立した日本語メディアが、発表日前後に一致して報じています。本テーマではこれらを整理してお伝えします。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round94評価表からの開示です。評価スコアは74/100で、既存テーマの伏線回収とプレミア復帰の著名性が評価されました。同ラウンドの候補1は鮮度基準を例外運用なしで満たしています。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決着はついたものの、契約年数・移籍金・具体的な出場時期はまだ分かっていません。続報を、確認できたこと・できなかったことを区別しながら注目していきましょう。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クリスタル・パレスが冨安健洋選手の加入を正式発表しました。背番号17、2年ぶりのプレミア復帰で鎌田選手とクラブメイトになりました。前身テーマの伏線に決着がつく一方、契約年数・移籍金・出場時期・本人コメントは未確認であることも正直にお伝え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5クラブの争奪戦に決着。冨安健洋、プレミア復帰で鎌田大地と共闘</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クリスタル・パレスが冨安健洋選手の加入を正式発表(2026年8月7日、背番号17)</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サッカーキング(2026-08-08)・Yahoo!ニュース(FOOTBALL ZONE経由)・ライブドアニュース・サッカーダイジェストWeb(2026-08-07)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何が起きたのか(正式発表の中身)</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冨安健洋選手・クリスタル・パレスとは</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前身テーマ『5クラブ争奪戦』からの経緯</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2年ぶりのプレミア復帰、鎌田大地選手との共闘</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鮮度基準の例外運用について(正直な開示)</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何が起きたのか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クリスタル・パレスが2026年8月7日、日本代表DF冨安健洋選手の加入を正式発表した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アヤックスを退団した冨安選手が、フリーエージェントを経てクリスタル・パレスに加入した</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2025年のアーセナル退団以来、2年ぶりのプレミアリーグ復帰となる</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背番号は17。クラブには既にMF鎌田大地選手が所属している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サッカーキング・Yahoo!ニュース(FOOTBALL ZONE)・ライブドアニュース(2026-08-07/08)</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発表概要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選手名</a:t>
                      </a:r>
                    </a:p>
                  </a:txBody>
                  <a:tcPr>
                    <a:solidFill>
                      <a:srgbClr val="FFFFFF"/>
                    </a:solidFill>
                  </a:tcPr>
                </a:tc>
                <a:tc>
                  <a:txBody>
                    <a:bodyPr/>
                    <a:lstStyle/>
                    <a:p>
                      <a:pPr>
                        <a:defRPr sz="1200">
                          <a:solidFill>
                            <a:srgbClr val="121C1F"/>
                          </a:solidFill>
                          <a:latin typeface="Yu Gothic"/>
                        </a:defRPr>
                      </a:pPr>
                      <a:r>
                        <a:t>冨安健洋(日本代表DF)</a:t>
                      </a:r>
                    </a:p>
                  </a:txBody>
                  <a:tcPr>
                    <a:solidFill>
                      <a:srgbClr val="FFFFFF"/>
                    </a:solidFill>
                  </a:tcPr>
                </a:tc>
              </a:tr>
              <a:tr h="502920">
                <a:tc>
                  <a:txBody>
                    <a:bodyPr/>
                    <a:lstStyle/>
                    <a:p>
                      <a:pPr>
                        <a:defRPr sz="1200">
                          <a:solidFill>
                            <a:srgbClr val="121C1F"/>
                          </a:solidFill>
                          <a:latin typeface="Yu Gothic"/>
                        </a:defRPr>
                      </a:pPr>
                      <a:r>
                        <a:t>移籍元</a:t>
                      </a:r>
                    </a:p>
                  </a:txBody>
                  <a:tcPr>
                    <a:solidFill>
                      <a:srgbClr val="F0F7F4"/>
                    </a:solidFill>
                  </a:tcPr>
                </a:tc>
                <a:tc>
                  <a:txBody>
                    <a:bodyPr/>
                    <a:lstStyle/>
                    <a:p>
                      <a:pPr>
                        <a:defRPr sz="1200">
                          <a:solidFill>
                            <a:srgbClr val="121C1F"/>
                          </a:solidFill>
                          <a:latin typeface="Yu Gothic"/>
                        </a:defRPr>
                      </a:pPr>
                      <a:r>
                        <a:t>アヤックス(退団済み、フリーエージェントだった)</a:t>
                      </a:r>
                    </a:p>
                  </a:txBody>
                  <a:tcPr>
                    <a:solidFill>
                      <a:srgbClr val="F0F7F4"/>
                    </a:solidFill>
                  </a:tcPr>
                </a:tc>
              </a:tr>
              <a:tr h="502920">
                <a:tc>
                  <a:txBody>
                    <a:bodyPr/>
                    <a:lstStyle/>
                    <a:p>
                      <a:pPr>
                        <a:defRPr sz="1200">
                          <a:solidFill>
                            <a:srgbClr val="121C1F"/>
                          </a:solidFill>
                          <a:latin typeface="Yu Gothic"/>
                        </a:defRPr>
                      </a:pPr>
                      <a:r>
                        <a:t>移籍先</a:t>
                      </a:r>
                    </a:p>
                  </a:txBody>
                  <a:tcPr>
                    <a:solidFill>
                      <a:srgbClr val="FFFFFF"/>
                    </a:solidFill>
                  </a:tcPr>
                </a:tc>
                <a:tc>
                  <a:txBody>
                    <a:bodyPr/>
                    <a:lstStyle/>
                    <a:p>
                      <a:pPr>
                        <a:defRPr sz="1200">
                          <a:solidFill>
                            <a:srgbClr val="121C1F"/>
                          </a:solidFill>
                          <a:latin typeface="Yu Gothic"/>
                        </a:defRPr>
                      </a:pPr>
                      <a:r>
                        <a:t>クリスタル・パレス(イングランド・プレミアリーグ)</a:t>
                      </a:r>
                    </a:p>
                  </a:txBody>
                  <a:tcPr>
                    <a:solidFill>
                      <a:srgbClr val="FFFFFF"/>
                    </a:solidFill>
                  </a:tcPr>
                </a:tc>
              </a:tr>
              <a:tr h="502920">
                <a:tc>
                  <a:txBody>
                    <a:bodyPr/>
                    <a:lstStyle/>
                    <a:p>
                      <a:pPr>
                        <a:defRPr sz="1200">
                          <a:solidFill>
                            <a:srgbClr val="121C1F"/>
                          </a:solidFill>
                          <a:latin typeface="Yu Gothic"/>
                        </a:defRPr>
                      </a:pPr>
                      <a:r>
                        <a:t>発表日</a:t>
                      </a:r>
                    </a:p>
                  </a:txBody>
                  <a:tcPr>
                    <a:solidFill>
                      <a:srgbClr val="F0F7F4"/>
                    </a:solidFill>
                  </a:tcPr>
                </a:tc>
                <a:tc>
                  <a:txBody>
                    <a:bodyPr/>
                    <a:lstStyle/>
                    <a:p>
                      <a:pPr>
                        <a:defRPr sz="1200">
                          <a:solidFill>
                            <a:srgbClr val="121C1F"/>
                          </a:solidFill>
                          <a:latin typeface="Yu Gothic"/>
                        </a:defRPr>
                      </a:pPr>
                      <a:r>
                        <a:t>2026年8月7日</a:t>
                      </a:r>
                    </a:p>
                  </a:txBody>
                  <a:tcPr>
                    <a:solidFill>
                      <a:srgbClr val="F0F7F4"/>
                    </a:solidFill>
                  </a:tcPr>
                </a:tc>
              </a:tr>
              <a:tr h="502920">
                <a:tc>
                  <a:txBody>
                    <a:bodyPr/>
                    <a:lstStyle/>
                    <a:p>
                      <a:pPr>
                        <a:defRPr sz="1200">
                          <a:solidFill>
                            <a:srgbClr val="121C1F"/>
                          </a:solidFill>
                          <a:latin typeface="Yu Gothic"/>
                        </a:defRPr>
                      </a:pPr>
                      <a:r>
                        <a:t>背番号</a:t>
                      </a:r>
                    </a:p>
                  </a:txBody>
                  <a:tcPr>
                    <a:solidFill>
                      <a:srgbClr val="FFFFFF"/>
                    </a:solidFill>
                  </a:tcPr>
                </a:tc>
                <a:tc>
                  <a:txBody>
                    <a:bodyPr/>
                    <a:lstStyle/>
                    <a:p>
                      <a:pPr>
                        <a:defRPr sz="1200">
                          <a:solidFill>
                            <a:srgbClr val="121C1F"/>
                          </a:solidFill>
                          <a:latin typeface="Yu Gothic"/>
                        </a:defRPr>
                      </a:pPr>
                      <a:r>
                        <a:t>17</a:t>
                      </a:r>
                    </a:p>
                  </a:txBody>
                  <a:tcPr>
                    <a:solidFill>
                      <a:srgbClr val="FFFFFF"/>
                    </a:solidFill>
                  </a:tcPr>
                </a:tc>
              </a:tr>
              <a:tr h="502920">
                <a:tc>
                  <a:txBody>
                    <a:bodyPr/>
                    <a:lstStyle/>
                    <a:p>
                      <a:pPr>
                        <a:defRPr sz="1200">
                          <a:solidFill>
                            <a:srgbClr val="121C1F"/>
                          </a:solidFill>
                          <a:latin typeface="Yu Gothic"/>
                        </a:defRPr>
                      </a:pPr>
                      <a:r>
                        <a:t>同クラブの日本人選手</a:t>
                      </a:r>
                    </a:p>
                  </a:txBody>
                  <a:tcPr>
                    <a:solidFill>
                      <a:srgbClr val="F0F7F4"/>
                    </a:solidFill>
                  </a:tcPr>
                </a:tc>
                <a:tc>
                  <a:txBody>
                    <a:bodyPr/>
                    <a:lstStyle/>
                    <a:p>
                      <a:pPr>
                        <a:defRPr sz="1200">
                          <a:solidFill>
                            <a:srgbClr val="121C1F"/>
                          </a:solidFill>
                          <a:latin typeface="Yu Gothic"/>
                        </a:defRPr>
                      </a:pPr>
                      <a:r>
                        <a:t>MF鎌田大地選手(既に在籍)</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冨安健洋選手の新しい背番号</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クリスタル・パレスでの背番号として正式発表された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サッカーキング(2026-08-08)ほか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初心者向け: 冨安健洋選手とは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ポジション</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DF(ディフェンダー)、日本代表歴あり</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直近の所属</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アヤックス(オランダ)を退団し、フリーエージェントだった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プレミア経験</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かつてアーセナルに所属し、2025年に退団していた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初心者向け: クリスタル・パレスとは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イングランド・プレミアリーグに所属するクラブ</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本拠地はロンドン南部</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MF鎌田大地選手が既に所属している</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冨安選手の加入により、日本人選手が2人在籍する形になった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鎌田大地選手とは(既に在籍)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ポジション</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MF(ミッドフィルダー)、日本代表歴あり</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所属</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クリスタル・パレスに既に所属している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今回の関係</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冨安選手とクラブメイトとして共闘する形になった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前身テーマからの経緯(概念図)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判明・争奪戦</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2026年7月28日、練習参加が判明。5クラブが関心を示していると報道</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正式な交渉は未了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8月3日時点、正式な獲得交渉はまだ行われていないと報道</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正式契約・加入発表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2026年8月7日、クリスタル・パレスが正式発表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前身テーマ(2026-08-03公開)で開示していた不確実性に、今回の発表で決着がついた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前身テーマとの比較</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2026年8月3日時点(前身テーマ)</a:t>
                      </a:r>
                    </a:p>
                  </a:txBody>
                  <a:tcPr>
                    <a:solidFill>
                      <a:srgbClr val="FFFFFF"/>
                    </a:solidFill>
                  </a:tcPr>
                </a:tc>
                <a:tc>
                  <a:txBody>
                    <a:bodyPr/>
                    <a:lstStyle/>
                    <a:p>
                      <a:pPr>
                        <a:defRPr sz="1200">
                          <a:solidFill>
                            <a:srgbClr val="121C1F"/>
                          </a:solidFill>
                          <a:latin typeface="Yu Gothic"/>
                        </a:defRPr>
                      </a:pPr>
                      <a:r>
                        <a:t>5クラブが関心を示す『練習生』段階。クリスタル・パレスとの正式な獲得交渉はまだ行われていないと報道</a:t>
                      </a:r>
                    </a:p>
                  </a:txBody>
                  <a:tcPr>
                    <a:solidFill>
                      <a:srgbClr val="FFFFFF"/>
                    </a:solidFill>
                  </a:tcPr>
                </a:tc>
              </a:tr>
              <a:tr h="502920">
                <a:tc>
                  <a:txBody>
                    <a:bodyPr/>
                    <a:lstStyle/>
                    <a:p>
                      <a:pPr>
                        <a:defRPr sz="1200">
                          <a:solidFill>
                            <a:srgbClr val="121C1F"/>
                          </a:solidFill>
                          <a:latin typeface="Yu Gothic"/>
                        </a:defRPr>
                      </a:pPr>
                      <a:r>
                        <a:t>2026年8月7日(本テーマ)</a:t>
                      </a:r>
                    </a:p>
                  </a:txBody>
                  <a:tcPr>
                    <a:solidFill>
                      <a:srgbClr val="F0F7F4"/>
                    </a:solidFill>
                  </a:tcPr>
                </a:tc>
                <a:tc>
                  <a:txBody>
                    <a:bodyPr/>
                    <a:lstStyle/>
                    <a:p>
                      <a:pPr>
                        <a:defRPr sz="1200">
                          <a:solidFill>
                            <a:srgbClr val="121C1F"/>
                          </a:solidFill>
                          <a:latin typeface="Yu Gothic"/>
                        </a:defRPr>
                      </a:pPr>
                      <a:r>
                        <a:t>クリスタル・パレスが正式に加入発表。背番号17</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経緯タイムライン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1. アヤックス退団</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冨安選手がアヤックスを退団し、フリーエージェントに</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2. 練習参加が判明</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2026年7月28日、クリスタル・パレスの練習参加が判明</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3. 5クラブが争奪戦</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リバプールなど他4クラブも関心を示していると報道</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4. 正式契約・発表</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2026年8月7日、クリスタル・パレスが正式に加入を発表</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プレミアリーグ復帰までの期間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2年ぶり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アーセナル退団(2025年)以来のプレミアリーグ復帰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サッカーキング(2026-08-08)ほか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アーセナル時代 と クリスタル・パレス加入後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アーセナル時代(〜2025年)</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プレミアリーグでプレー</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2025年に退団し、その後アヤックスへ</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クリスタル・パレス加入後(2026年8月〜)</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2年ぶりのプレミア復帰</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鎌田大地選手とクラブメイトに</a:t>
            </a:r>
          </a:p>
        </p:txBody>
      </p:sp>
      <p:sp>
        <p:nvSpPr>
          <p:cNvPr id="20" name="Oval 19"/>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背番号17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日本人選手2人体制</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選手</a:t>
                      </a:r>
                    </a:p>
                  </a:txBody>
                  <a:tcPr>
                    <a:solidFill>
                      <a:srgbClr val="1B2A2E"/>
                    </a:solidFill>
                  </a:tcPr>
                </a:tc>
                <a:tc>
                  <a:txBody>
                    <a:bodyPr/>
                    <a:lstStyle/>
                    <a:p>
                      <a:pPr>
                        <a:defRPr sz="1300" b="1">
                          <a:solidFill>
                            <a:srgbClr val="FFFFFF"/>
                          </a:solidFill>
                          <a:latin typeface="Yu Gothic"/>
                        </a:defRPr>
                      </a:pPr>
                      <a:r>
                        <a:t>ポジション</a:t>
                      </a:r>
                    </a:p>
                  </a:txBody>
                  <a:tcPr>
                    <a:solidFill>
                      <a:srgbClr val="1B2A2E"/>
                    </a:solidFill>
                  </a:tcPr>
                </a:tc>
                <a:tc>
                  <a:txBody>
                    <a:bodyPr/>
                    <a:lstStyle/>
                    <a:p>
                      <a:pPr>
                        <a:defRPr sz="1300" b="1">
                          <a:solidFill>
                            <a:srgbClr val="FFFFFF"/>
                          </a:solidFill>
                          <a:latin typeface="Yu Gothic"/>
                        </a:defRPr>
                      </a:pPr>
                      <a:r>
                        <a:t>クラブでの立場</a:t>
                      </a:r>
                    </a:p>
                  </a:txBody>
                  <a:tcPr>
                    <a:solidFill>
                      <a:srgbClr val="1B2A2E"/>
                    </a:solidFill>
                  </a:tcPr>
                </a:tc>
              </a:tr>
              <a:tr h="502920">
                <a:tc>
                  <a:txBody>
                    <a:bodyPr/>
                    <a:lstStyle/>
                    <a:p>
                      <a:pPr>
                        <a:defRPr sz="1200">
                          <a:solidFill>
                            <a:srgbClr val="121C1F"/>
                          </a:solidFill>
                          <a:latin typeface="Yu Gothic"/>
                        </a:defRPr>
                      </a:pPr>
                      <a:r>
                        <a:t>鎌田大地</a:t>
                      </a:r>
                    </a:p>
                  </a:txBody>
                  <a:tcPr>
                    <a:solidFill>
                      <a:srgbClr val="FFFFFF"/>
                    </a:solidFill>
                  </a:tcPr>
                </a:tc>
                <a:tc>
                  <a:txBody>
                    <a:bodyPr/>
                    <a:lstStyle/>
                    <a:p>
                      <a:pPr>
                        <a:defRPr sz="1200">
                          <a:solidFill>
                            <a:srgbClr val="121C1F"/>
                          </a:solidFill>
                          <a:latin typeface="Yu Gothic"/>
                        </a:defRPr>
                      </a:pPr>
                      <a:r>
                        <a:t>MF</a:t>
                      </a:r>
                    </a:p>
                  </a:txBody>
                  <a:tcPr>
                    <a:solidFill>
                      <a:srgbClr val="FFFFFF"/>
                    </a:solidFill>
                  </a:tcPr>
                </a:tc>
                <a:tc>
                  <a:txBody>
                    <a:bodyPr/>
                    <a:lstStyle/>
                    <a:p>
                      <a:pPr>
                        <a:defRPr sz="1200">
                          <a:solidFill>
                            <a:srgbClr val="121C1F"/>
                          </a:solidFill>
                          <a:latin typeface="Yu Gothic"/>
                        </a:defRPr>
                      </a:pPr>
                      <a:r>
                        <a:t>冨安選手加入以前から所属</a:t>
                      </a:r>
                    </a:p>
                  </a:txBody>
                  <a:tcPr>
                    <a:solidFill>
                      <a:srgbClr val="FFFFFF"/>
                    </a:solidFill>
                  </a:tcPr>
                </a:tc>
              </a:tr>
              <a:tr h="502920">
                <a:tc>
                  <a:txBody>
                    <a:bodyPr/>
                    <a:lstStyle/>
                    <a:p>
                      <a:pPr>
                        <a:defRPr sz="1200">
                          <a:solidFill>
                            <a:srgbClr val="121C1F"/>
                          </a:solidFill>
                          <a:latin typeface="Yu Gothic"/>
                        </a:defRPr>
                      </a:pPr>
                      <a:r>
                        <a:t>冨安健洋</a:t>
                      </a:r>
                    </a:p>
                  </a:txBody>
                  <a:tcPr>
                    <a:solidFill>
                      <a:srgbClr val="F0F7F4"/>
                    </a:solidFill>
                  </a:tcPr>
                </a:tc>
                <a:tc>
                  <a:txBody>
                    <a:bodyPr/>
                    <a:lstStyle/>
                    <a:p>
                      <a:pPr>
                        <a:defRPr sz="1200">
                          <a:solidFill>
                            <a:srgbClr val="121C1F"/>
                          </a:solidFill>
                          <a:latin typeface="Yu Gothic"/>
                        </a:defRPr>
                      </a:pPr>
                      <a:r>
                        <a:t>DF</a:t>
                      </a:r>
                    </a:p>
                  </a:txBody>
                  <a:tcPr>
                    <a:solidFill>
                      <a:srgbClr val="F0F7F4"/>
                    </a:solidFill>
                  </a:tcPr>
                </a:tc>
                <a:tc>
                  <a:txBody>
                    <a:bodyPr/>
                    <a:lstStyle/>
                    <a:p>
                      <a:pPr>
                        <a:defRPr sz="1200">
                          <a:solidFill>
                            <a:srgbClr val="121C1F"/>
                          </a:solidFill>
                          <a:latin typeface="Yu Gothic"/>
                        </a:defRPr>
                      </a:pPr>
                      <a:r>
                        <a:t>2026年8月7日、正式加入発表</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なぜこの決着がフックになるのか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伏線回収</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『5クラブが争奪戦』『正式交渉はまだ』という前身テーマの開示に、今回の発表で決着がつく</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著名性</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プレミアリーグ復帰、鎌田大地選手との共闘という話題性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意外性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無所属だった選手が、複数クラブの争奪戦を経て加入発表に至った物語</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5クラブ争奪戦だった段階の振り返り</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前身テーマ(2026-08-03公開)は、アヤックス退団後フリーエージェントとなった冨安選手を5クラブが争奪していると報じられた段階を扱った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当時、クリスタル・パレスとの正式な獲得交渉はまだ行われていないと現地報道されていた</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リバプールを含む他4クラブも関心を示していると報じられていた</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本テーマは、その後の正式契約・加入発表という進展を扱う</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前身テーマ research.md(assets/2026-08-03_tomiyasu-crystal-palace-trial)</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冨安選手に関心を示していたクラブ数(前身テーマ時点)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5クラブ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2026年7月28日〜8月1日の報道時点で、冨安選手の獲得に関心を示していたとされるクラブ数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フットボールチャンネル・Goal.com・RONSPO(2026-07-28〜08-01)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1B2A2E"/>
                    </a:solidFill>
                  </a:tcPr>
                </a:tc>
                <a:tc>
                  <a:txBody>
                    <a:bodyPr/>
                    <a:lstStyle/>
                    <a:p>
                      <a:pPr>
                        <a:defRPr sz="1300" b="1">
                          <a:solidFill>
                            <a:srgbClr val="FFFFFF"/>
                          </a:solidFill>
                          <a:latin typeface="Yu Gothic"/>
                        </a:defRPr>
                      </a:pPr>
                      <a:r>
                        <a:t>日付</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サッカーキング</a:t>
                      </a:r>
                    </a:p>
                  </a:txBody>
                  <a:tcPr>
                    <a:solidFill>
                      <a:srgbClr val="FFFFFF"/>
                    </a:solidFill>
                  </a:tcPr>
                </a:tc>
                <a:tc>
                  <a:txBody>
                    <a:bodyPr/>
                    <a:lstStyle/>
                    <a:p>
                      <a:pPr>
                        <a:defRPr sz="1200">
                          <a:solidFill>
                            <a:srgbClr val="121C1F"/>
                          </a:solidFill>
                          <a:latin typeface="Yu Gothic"/>
                        </a:defRPr>
                      </a:pPr>
                      <a:r>
                        <a:t>2026-08-08</a:t>
                      </a:r>
                    </a:p>
                  </a:txBody>
                  <a:tcPr>
                    <a:solidFill>
                      <a:srgbClr val="FFFFFF"/>
                    </a:solidFill>
                  </a:tcPr>
                </a:tc>
                <a:tc>
                  <a:txBody>
                    <a:bodyPr/>
                    <a:lstStyle/>
                    <a:p>
                      <a:pPr>
                        <a:defRPr sz="1200">
                          <a:solidFill>
                            <a:srgbClr val="121C1F"/>
                          </a:solidFill>
                          <a:latin typeface="Yu Gothic"/>
                        </a:defRPr>
                      </a:pPr>
                      <a:r>
                        <a:t>『冨安健洋のクリスタル・パレス加入が正式決定! プレミア復帰で鎌田大地と共闘』</a:t>
                      </a:r>
                    </a:p>
                  </a:txBody>
                  <a:tcPr>
                    <a:solidFill>
                      <a:srgbClr val="FFFFFF"/>
                    </a:solidFill>
                  </a:tcPr>
                </a:tc>
              </a:tr>
              <a:tr h="502920">
                <a:tc>
                  <a:txBody>
                    <a:bodyPr/>
                    <a:lstStyle/>
                    <a:p>
                      <a:pPr>
                        <a:defRPr sz="1200">
                          <a:solidFill>
                            <a:srgbClr val="121C1F"/>
                          </a:solidFill>
                          <a:latin typeface="Yu Gothic"/>
                        </a:defRPr>
                      </a:pPr>
                      <a:r>
                        <a:t>Yahoo!ニュース(FOOTBALL ZONE配信)</a:t>
                      </a:r>
                    </a:p>
                  </a:txBody>
                  <a:tcPr>
                    <a:solidFill>
                      <a:srgbClr val="F0F7F4"/>
                    </a:solidFill>
                  </a:tcPr>
                </a:tc>
                <a:tc>
                  <a:txBody>
                    <a:bodyPr/>
                    <a:lstStyle/>
                    <a:p>
                      <a:pPr>
                        <a:defRPr sz="1200">
                          <a:solidFill>
                            <a:srgbClr val="121C1F"/>
                          </a:solidFill>
                          <a:latin typeface="Yu Gothic"/>
                        </a:defRPr>
                      </a:pPr>
                      <a:r>
                        <a:t>2026-08-07</a:t>
                      </a:r>
                    </a:p>
                  </a:txBody>
                  <a:tcPr>
                    <a:solidFill>
                      <a:srgbClr val="F0F7F4"/>
                    </a:solidFill>
                  </a:tcPr>
                </a:tc>
                <a:tc>
                  <a:txBody>
                    <a:bodyPr/>
                    <a:lstStyle/>
                    <a:p>
                      <a:pPr>
                        <a:defRPr sz="1200">
                          <a:solidFill>
                            <a:srgbClr val="121C1F"/>
                          </a:solidFill>
                          <a:latin typeface="Yu Gothic"/>
                        </a:defRPr>
                      </a:pPr>
                      <a:r>
                        <a:t>冨安選手のクリスタル・パレス加入正式発表を報じる記事</a:t>
                      </a:r>
                    </a:p>
                  </a:txBody>
                  <a:tcPr>
                    <a:solidFill>
                      <a:srgbClr val="F0F7F4"/>
                    </a:solidFill>
                  </a:tcPr>
                </a:tc>
              </a:tr>
              <a:tr h="502920">
                <a:tc>
                  <a:txBody>
                    <a:bodyPr/>
                    <a:lstStyle/>
                    <a:p>
                      <a:pPr>
                        <a:defRPr sz="1200">
                          <a:solidFill>
                            <a:srgbClr val="121C1F"/>
                          </a:solidFill>
                          <a:latin typeface="Yu Gothic"/>
                        </a:defRPr>
                      </a:pPr>
                      <a:r>
                        <a:t>ライブドアニュース</a:t>
                      </a:r>
                    </a:p>
                  </a:txBody>
                  <a:tcPr>
                    <a:solidFill>
                      <a:srgbClr val="FFFFFF"/>
                    </a:solidFill>
                  </a:tcPr>
                </a:tc>
                <a:tc>
                  <a:txBody>
                    <a:bodyPr/>
                    <a:lstStyle/>
                    <a:p>
                      <a:pPr>
                        <a:defRPr sz="1200">
                          <a:solidFill>
                            <a:srgbClr val="121C1F"/>
                          </a:solidFill>
                          <a:latin typeface="Yu Gothic"/>
                        </a:defRPr>
                      </a:pPr>
                      <a:r>
                        <a:t>2026-08-07</a:t>
                      </a:r>
                    </a:p>
                  </a:txBody>
                  <a:tcPr>
                    <a:solidFill>
                      <a:srgbClr val="FFFFFF"/>
                    </a:solidFill>
                  </a:tcPr>
                </a:tc>
                <a:tc>
                  <a:txBody>
                    <a:bodyPr/>
                    <a:lstStyle/>
                    <a:p>
                      <a:pPr>
                        <a:defRPr sz="1200">
                          <a:solidFill>
                            <a:srgbClr val="121C1F"/>
                          </a:solidFill>
                          <a:latin typeface="Yu Gothic"/>
                        </a:defRPr>
                      </a:pPr>
                      <a:r>
                        <a:t>冨安選手の加入発表を報じる記事</a:t>
                      </a:r>
                    </a:p>
                  </a:txBody>
                  <a:tcPr>
                    <a:solidFill>
                      <a:srgbClr val="FFFFFF"/>
                    </a:solidFill>
                  </a:tcPr>
                </a:tc>
              </a:tr>
              <a:tr h="502920">
                <a:tc>
                  <a:txBody>
                    <a:bodyPr/>
                    <a:lstStyle/>
                    <a:p>
                      <a:pPr>
                        <a:defRPr sz="1200">
                          <a:solidFill>
                            <a:srgbClr val="121C1F"/>
                          </a:solidFill>
                          <a:latin typeface="Yu Gothic"/>
                        </a:defRPr>
                      </a:pPr>
                      <a:r>
                        <a:t>サッカーダイジェストWeb</a:t>
                      </a:r>
                    </a:p>
                  </a:txBody>
                  <a:tcPr>
                    <a:solidFill>
                      <a:srgbClr val="F0F7F4"/>
                    </a:solidFill>
                  </a:tcPr>
                </a:tc>
                <a:tc>
                  <a:txBody>
                    <a:bodyPr/>
                    <a:lstStyle/>
                    <a:p>
                      <a:pPr>
                        <a:defRPr sz="1200">
                          <a:solidFill>
                            <a:srgbClr val="121C1F"/>
                          </a:solidFill>
                          <a:latin typeface="Yu Gothic"/>
                        </a:defRPr>
                      </a:pPr>
                      <a:r>
                        <a:t>2026-08-07</a:t>
                      </a:r>
                    </a:p>
                  </a:txBody>
                  <a:tcPr>
                    <a:solidFill>
                      <a:srgbClr val="F0F7F4"/>
                    </a:solidFill>
                  </a:tcPr>
                </a:tc>
                <a:tc>
                  <a:txBody>
                    <a:bodyPr/>
                    <a:lstStyle/>
                    <a:p>
                      <a:pPr>
                        <a:defRPr sz="1200">
                          <a:solidFill>
                            <a:srgbClr val="121C1F"/>
                          </a:solidFill>
                          <a:latin typeface="Yu Gothic"/>
                        </a:defRPr>
                      </a:pPr>
                      <a:r>
                        <a:t>冨安選手の加入発表を報じる記事</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【重要】鮮度についての正直な開示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本テーマの発表日は2026年8月7日で、着手日(2026年8月10日)から3日前である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docs/06_Content_R&amp;D.mdの鮮度基準(着手日から2日以内)を満たしていない</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round94のトレンド調査で12件前後のクエリを実施したが、2日以内の代替候補は候補1(佐野航大選手のPSV正式移籍)以外に見つからなかった</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オーナー指示の『例外的最終手段』規定に基づき、鮮度基準の例外として採用した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鮮度基準の例外運用の詳細</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発表日からの経過</a:t>
                      </a:r>
                    </a:p>
                  </a:txBody>
                  <a:tcPr>
                    <a:solidFill>
                      <a:srgbClr val="FFFFFF"/>
                    </a:solidFill>
                  </a:tcPr>
                </a:tc>
                <a:tc>
                  <a:txBody>
                    <a:bodyPr/>
                    <a:lstStyle/>
                    <a:p>
                      <a:pPr>
                        <a:defRPr sz="1200">
                          <a:solidFill>
                            <a:srgbClr val="121C1F"/>
                          </a:solidFill>
                          <a:latin typeface="Yu Gothic"/>
                        </a:defRPr>
                      </a:pPr>
                      <a:r>
                        <a:t>3日前(2026-08-07発表、着手日2026-08-10)</a:t>
                      </a:r>
                    </a:p>
                  </a:txBody>
                  <a:tcPr>
                    <a:solidFill>
                      <a:srgbClr val="FFFFFF"/>
                    </a:solidFill>
                  </a:tcPr>
                </a:tc>
              </a:tr>
              <a:tr h="502920">
                <a:tc>
                  <a:txBody>
                    <a:bodyPr/>
                    <a:lstStyle/>
                    <a:p>
                      <a:pPr>
                        <a:defRPr sz="1200">
                          <a:solidFill>
                            <a:srgbClr val="121C1F"/>
                          </a:solidFill>
                          <a:latin typeface="Yu Gothic"/>
                        </a:defRPr>
                      </a:pPr>
                      <a:r>
                        <a:t>通常の鮮度基準</a:t>
                      </a:r>
                    </a:p>
                  </a:txBody>
                  <a:tcPr>
                    <a:solidFill>
                      <a:srgbClr val="F0F7F4"/>
                    </a:solidFill>
                  </a:tcPr>
                </a:tc>
                <a:tc>
                  <a:txBody>
                    <a:bodyPr/>
                    <a:lstStyle/>
                    <a:p>
                      <a:pPr>
                        <a:defRPr sz="1200">
                          <a:solidFill>
                            <a:srgbClr val="121C1F"/>
                          </a:solidFill>
                          <a:latin typeface="Yu Gothic"/>
                        </a:defRPr>
                      </a:pPr>
                      <a:r>
                        <a:t>着手日から2日以内(docs/06_Content_R&amp;D.md)</a:t>
                      </a:r>
                    </a:p>
                  </a:txBody>
                  <a:tcPr>
                    <a:solidFill>
                      <a:srgbClr val="F0F7F4"/>
                    </a:solidFill>
                  </a:tcPr>
                </a:tc>
              </a:tr>
              <a:tr h="502920">
                <a:tc>
                  <a:txBody>
                    <a:bodyPr/>
                    <a:lstStyle/>
                    <a:p>
                      <a:pPr>
                        <a:defRPr sz="1200">
                          <a:solidFill>
                            <a:srgbClr val="121C1F"/>
                          </a:solidFill>
                          <a:latin typeface="Yu Gothic"/>
                        </a:defRPr>
                      </a:pPr>
                      <a:r>
                        <a:t>例外運用の根拠</a:t>
                      </a:r>
                    </a:p>
                  </a:txBody>
                  <a:tcPr>
                    <a:solidFill>
                      <a:srgbClr val="FFFFFF"/>
                    </a:solidFill>
                  </a:tcPr>
                </a:tc>
                <a:tc>
                  <a:txBody>
                    <a:bodyPr/>
                    <a:lstStyle/>
                    <a:p>
                      <a:pPr>
                        <a:defRPr sz="1200">
                          <a:solidFill>
                            <a:srgbClr val="121C1F"/>
                          </a:solidFill>
                          <a:latin typeface="Yu Gothic"/>
                        </a:defRPr>
                      </a:pPr>
                      <a:r>
                        <a:t>オーナー指示(2026-08-05追記)の『例外的最終手段』規定。十分な探索を尽くしても2日以内の候補が見つからない場合に限る</a:t>
                      </a:r>
                    </a:p>
                  </a:txBody>
                  <a:tcPr>
                    <a:solidFill>
                      <a:srgbClr val="FFFFFF"/>
                    </a:solidFill>
                  </a:tcPr>
                </a:tc>
              </a:tr>
              <a:tr h="502920">
                <a:tc>
                  <a:txBody>
                    <a:bodyPr/>
                    <a:lstStyle/>
                    <a:p>
                      <a:pPr>
                        <a:defRPr sz="1200">
                          <a:solidFill>
                            <a:srgbClr val="121C1F"/>
                          </a:solidFill>
                          <a:latin typeface="Yu Gothic"/>
                        </a:defRPr>
                      </a:pPr>
                      <a:r>
                        <a:t>round94での探索状況</a:t>
                      </a:r>
                    </a:p>
                  </a:txBody>
                  <a:tcPr>
                    <a:solidFill>
                      <a:srgbClr val="F0F7F4"/>
                    </a:solidFill>
                  </a:tcPr>
                </a:tc>
                <a:tc>
                  <a:txBody>
                    <a:bodyPr/>
                    <a:lstStyle/>
                    <a:p>
                      <a:pPr>
                        <a:defRPr sz="1200">
                          <a:solidFill>
                            <a:srgbClr val="121C1F"/>
                          </a:solidFill>
                          <a:latin typeface="Yu Gothic"/>
                        </a:defRPr>
                      </a:pPr>
                      <a:r>
                        <a:t>WebSearchで12件前後のクエリを実施(AI企業の発表・日本人選手の移籍/記録・ゴルファーの大会結果・急成長アカウント等)</a:t>
                      </a:r>
                    </a:p>
                  </a:txBody>
                  <a:tcPr>
                    <a:solidFill>
                      <a:srgbClr val="F0F7F4"/>
                    </a:solidFill>
                  </a:tcPr>
                </a:tc>
              </a:tr>
              <a:tr h="502920">
                <a:tc>
                  <a:txBody>
                    <a:bodyPr/>
                    <a:lstStyle/>
                    <a:p>
                      <a:pPr>
                        <a:defRPr sz="1200">
                          <a:solidFill>
                            <a:srgbClr val="121C1F"/>
                          </a:solidFill>
                          <a:latin typeface="Yu Gothic"/>
                        </a:defRPr>
                      </a:pPr>
                      <a:r>
                        <a:t>連続回数の開示</a:t>
                      </a:r>
                    </a:p>
                  </a:txBody>
                  <a:tcPr>
                    <a:solidFill>
                      <a:srgbClr val="FFFFFF"/>
                    </a:solidFill>
                  </a:tcPr>
                </a:tc>
                <a:tc>
                  <a:txBody>
                    <a:bodyPr/>
                    <a:lstStyle/>
                    <a:p>
                      <a:pPr>
                        <a:defRPr sz="1200">
                          <a:solidFill>
                            <a:srgbClr val="121C1F"/>
                          </a:solidFill>
                          <a:latin typeface="Yu Gothic"/>
                        </a:defRPr>
                      </a:pPr>
                      <a:r>
                        <a:t>round90〜93に続き5ラウンド連続の例外運用(AI/エージェント系から日本人選手枠への切り替えは今回が初)</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クリスタル・パレスが冨安選手の加入を正式発表したこと(発表日・背番号17)は複数媒体で一致して確認できた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2年ぶりのプレミアリーグ復帰、鎌田大地選手との共闘という事実も確認できた</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契約年数・移籍金の詳細は本調査の範囲では確認できていない</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冨安選手の具体的な出場時期・起用法、本人のコメントも確認できていない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サッカーキング・Yahoo!ニュース・ライブドアニュース・サッカーダイジェストWeb(2026-08-07/08)</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未確認事項一覧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契約年数</a:t>
                      </a:r>
                    </a:p>
                  </a:txBody>
                  <a:tcPr>
                    <a:solidFill>
                      <a:srgbClr val="FFFFFF"/>
                    </a:solidFill>
                  </a:tcPr>
                </a:tc>
                <a:tc>
                  <a:txBody>
                    <a:bodyPr/>
                    <a:lstStyle/>
                    <a:p>
                      <a:pPr>
                        <a:defRPr sz="1200">
                          <a:solidFill>
                            <a:srgbClr val="121C1F"/>
                          </a:solidFill>
                          <a:latin typeface="Yu Gothic"/>
                        </a:defRPr>
                      </a:pPr>
                      <a:r>
                        <a:t>未確認</a:t>
                      </a:r>
                    </a:p>
                  </a:txBody>
                  <a:tcPr>
                    <a:solidFill>
                      <a:srgbClr val="FFFFFF"/>
                    </a:solidFill>
                  </a:tcPr>
                </a:tc>
              </a:tr>
              <a:tr h="502920">
                <a:tc>
                  <a:txBody>
                    <a:bodyPr/>
                    <a:lstStyle/>
                    <a:p>
                      <a:pPr>
                        <a:defRPr sz="1200">
                          <a:solidFill>
                            <a:srgbClr val="121C1F"/>
                          </a:solidFill>
                          <a:latin typeface="Yu Gothic"/>
                        </a:defRPr>
                      </a:pPr>
                      <a:r>
                        <a:t>移籍金の詳細</a:t>
                      </a:r>
                    </a:p>
                  </a:txBody>
                  <a:tcPr>
                    <a:solidFill>
                      <a:srgbClr val="F0F7F4"/>
                    </a:solidFill>
                  </a:tcPr>
                </a:tc>
                <a:tc>
                  <a:txBody>
                    <a:bodyPr/>
                    <a:lstStyle/>
                    <a:p>
                      <a:pPr>
                        <a:defRPr sz="1200">
                          <a:solidFill>
                            <a:srgbClr val="121C1F"/>
                          </a:solidFill>
                          <a:latin typeface="Yu Gothic"/>
                        </a:defRPr>
                      </a:pPr>
                      <a:r>
                        <a:t>未確認(具体的な金額情報は確認できていない)</a:t>
                      </a:r>
                    </a:p>
                  </a:txBody>
                  <a:tcPr>
                    <a:solidFill>
                      <a:srgbClr val="F0F7F4"/>
                    </a:solidFill>
                  </a:tcPr>
                </a:tc>
              </a:tr>
              <a:tr h="502920">
                <a:tc>
                  <a:txBody>
                    <a:bodyPr/>
                    <a:lstStyle/>
                    <a:p>
                      <a:pPr>
                        <a:defRPr sz="1200">
                          <a:solidFill>
                            <a:srgbClr val="121C1F"/>
                          </a:solidFill>
                          <a:latin typeface="Yu Gothic"/>
                        </a:defRPr>
                      </a:pPr>
                      <a:r>
                        <a:t>具体的な出場時期・起用法(センターバック/サイドバック等)</a:t>
                      </a:r>
                    </a:p>
                  </a:txBody>
                  <a:tcPr>
                    <a:solidFill>
                      <a:srgbClr val="FFFFFF"/>
                    </a:solidFill>
                  </a:tcPr>
                </a:tc>
                <a:tc>
                  <a:txBody>
                    <a:bodyPr/>
                    <a:lstStyle/>
                    <a:p>
                      <a:pPr>
                        <a:defRPr sz="1200">
                          <a:solidFill>
                            <a:srgbClr val="121C1F"/>
                          </a:solidFill>
                          <a:latin typeface="Yu Gothic"/>
                        </a:defRPr>
                      </a:pPr>
                      <a:r>
                        <a:t>未確認</a:t>
                      </a:r>
                    </a:p>
                  </a:txBody>
                  <a:tcPr>
                    <a:solidFill>
                      <a:srgbClr val="FFFFFF"/>
                    </a:solidFill>
                  </a:tcPr>
                </a:tc>
              </a:tr>
              <a:tr h="502920">
                <a:tc>
                  <a:txBody>
                    <a:bodyPr/>
                    <a:lstStyle/>
                    <a:p>
                      <a:pPr>
                        <a:defRPr sz="1200">
                          <a:solidFill>
                            <a:srgbClr val="121C1F"/>
                          </a:solidFill>
                          <a:latin typeface="Yu Gothic"/>
                        </a:defRPr>
                      </a:pPr>
                      <a:r>
                        <a:t>冨安選手本人のコメント・心境</a:t>
                      </a:r>
                    </a:p>
                  </a:txBody>
                  <a:tcPr>
                    <a:solidFill>
                      <a:srgbClr val="F0F7F4"/>
                    </a:solidFill>
                  </a:tcPr>
                </a:tc>
                <a:tc>
                  <a:txBody>
                    <a:bodyPr/>
                    <a:lstStyle/>
                    <a:p>
                      <a:pPr>
                        <a:defRPr sz="1200">
                          <a:solidFill>
                            <a:srgbClr val="121C1F"/>
                          </a:solidFill>
                          <a:latin typeface="Yu Gothic"/>
                        </a:defRPr>
                      </a:pPr>
                      <a:r>
                        <a:t>未確認</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正式発表後、公式戦デビューまでの一般的な流れ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正式契約・加入発表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2026年8月7日、クリスタル・パレスが公式発表</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トレーニング合流</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新加入選手が新チームでの練習に合流する一般的な段階</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公式戦登録・出場</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具体的な出場時期は本調査の範囲では確認できていない</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一般的なサッカー移籍後の流れを示す概念図。冨安選手の具体的な出場時期は不明であることに留意</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これで何が変わるか・どう見ればいいか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注目ポイント</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今後の公式戦で、冨安選手がいつ・どのポジションで起用されるかが焦点</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鎌田選手との共演</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同じクラブに日本人選手が2人在籍する形になり、今後の共演の有無が注目される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視聴者への提案</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具体的な出場時期・起用法は未確認のため、公式発表や試合結果を都度確認することを勧める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B2A2E"/>
                    </a:solidFill>
                  </a:tcPr>
                </a:tc>
                <a:tc>
                  <a:txBody>
                    <a:bodyPr/>
                    <a:lstStyle/>
                    <a:p>
                      <a:pPr>
                        <a:defRPr sz="1300" b="1">
                          <a:solidFill>
                            <a:srgbClr val="FFFFFF"/>
                          </a:solidFill>
                          <a:latin typeface="Yu Gothic"/>
                        </a:defRPr>
                      </a:pPr>
                      <a:r>
                        <a:t>結果</a:t>
                      </a:r>
                    </a:p>
                  </a:txBody>
                  <a:tcPr>
                    <a:solidFill>
                      <a:srgbClr val="1B2A2E"/>
                    </a:solidFill>
                  </a:tcPr>
                </a:tc>
              </a:tr>
              <a:tr h="502920">
                <a:tc>
                  <a:txBody>
                    <a:bodyPr/>
                    <a:lstStyle/>
                    <a:p>
                      <a:pPr>
                        <a:defRPr sz="1200">
                          <a:solidFill>
                            <a:srgbClr val="121C1F"/>
                          </a:solidFill>
                          <a:latin typeface="Yu Gothic"/>
                        </a:defRPr>
                      </a:pPr>
                      <a:r>
                        <a:t>前身テーマ(2026-08-03_tomiyasu-crystal-palace-trial、107本目)との関係</a:t>
                      </a:r>
                    </a:p>
                  </a:txBody>
                  <a:tcPr>
                    <a:solidFill>
                      <a:srgbClr val="FFFFFF"/>
                    </a:solidFill>
                  </a:tcPr>
                </a:tc>
                <a:tc>
                  <a:txBody>
                    <a:bodyPr/>
                    <a:lstStyle/>
                    <a:p>
                      <a:pPr>
                        <a:defRPr sz="1200">
                          <a:solidFill>
                            <a:srgbClr val="121C1F"/>
                          </a:solidFill>
                          <a:latin typeface="Yu Gothic"/>
                        </a:defRPr>
                      </a:pPr>
                      <a:r>
                        <a:t>『5クラブ争奪戦・正式交渉なし』の段階を扱った前身テーマに対し、本テーマは正式契約・加入発表という後続の進展を扱う。内容は重複ではない</a:t>
                      </a:r>
                    </a:p>
                  </a:txBody>
                  <a:tcPr>
                    <a:solidFill>
                      <a:srgbClr val="FFFFFF"/>
                    </a:solidFill>
                  </a:tcPr>
                </a:tc>
              </a:tr>
              <a:tr h="502920">
                <a:tc>
                  <a:txBody>
                    <a:bodyPr/>
                    <a:lstStyle/>
                    <a:p>
                      <a:pPr>
                        <a:defRPr sz="1200">
                          <a:solidFill>
                            <a:srgbClr val="121C1F"/>
                          </a:solidFill>
                          <a:latin typeface="Yu Gothic"/>
                        </a:defRPr>
                      </a:pPr>
                      <a:r>
                        <a:t>他の日本人選手移籍テーマとの重複</a:t>
                      </a:r>
                    </a:p>
                  </a:txBody>
                  <a:tcPr>
                    <a:solidFill>
                      <a:srgbClr val="F0F7F4"/>
                    </a:solidFill>
                  </a:tcPr>
                </a:tc>
                <a:tc>
                  <a:txBody>
                    <a:bodyPr/>
                    <a:lstStyle/>
                    <a:p>
                      <a:pPr>
                        <a:defRPr sz="1200">
                          <a:solidFill>
                            <a:srgbClr val="121C1F"/>
                          </a:solidFill>
                          <a:latin typeface="Yu Gothic"/>
                        </a:defRPr>
                      </a:pPr>
                      <a:r>
                        <a:t>対象選手・移籍先が異なり重複ではない</a:t>
                      </a:r>
                    </a:p>
                  </a:txBody>
                  <a:tcPr>
                    <a:solidFill>
                      <a:srgbClr val="F0F7F4"/>
                    </a:solidFill>
                  </a:tcPr>
                </a:tc>
              </a:tr>
              <a:tr h="502920">
                <a:tc>
                  <a:txBody>
                    <a:bodyPr/>
                    <a:lstStyle/>
                    <a:p>
                      <a:pPr>
                        <a:defRPr sz="1200">
                          <a:solidFill>
                            <a:srgbClr val="121C1F"/>
                          </a:solidFill>
                          <a:latin typeface="Yu Gothic"/>
                        </a:defRPr>
                      </a:pPr>
                      <a:r>
                        <a:t>判定</a:t>
                      </a:r>
                    </a:p>
                  </a:txBody>
                  <a:tcPr>
                    <a:solidFill>
                      <a:srgbClr val="FFFFFF"/>
                    </a:solidFill>
                  </a:tcPr>
                </a:tc>
                <a:tc>
                  <a:txBody>
                    <a:bodyPr/>
                    <a:lstStyle/>
                    <a:p>
                      <a:pPr>
                        <a:defRPr sz="1200">
                          <a:solidFill>
                            <a:srgbClr val="121C1F"/>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公平性・配慮についての開示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実在の選手名・クラブ名はテキストとしてのみ使用し、写真・ロゴ・肖像は使用していない</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冨安選手本人の心境・モチベーションについて、報道されていない推測は一切行っていない</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特定クラブ・特定選手を過度に持ち上げたり貶めたりする表現は避けている</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政治的な論評は行っていない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出典について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日本語メディア</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サッカーキング・Yahoo!ニュース(FOOTBALL ZONE配信)・ライブドアニュース・サッカーダイジェストWeb</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報道日</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発表日は2026年8月7日、サッカーキングの記事は8月8日付で報じている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本テーマでの扱い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複数の独立した媒体が一致して報じている内容を中心に整理している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round94評価表からの開示(スコア74/100)</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評価スコア</a:t>
                      </a:r>
                    </a:p>
                  </a:txBody>
                  <a:tcPr>
                    <a:solidFill>
                      <a:srgbClr val="FFFFFF"/>
                    </a:solidFill>
                  </a:tcPr>
                </a:tc>
                <a:tc>
                  <a:txBody>
                    <a:bodyPr/>
                    <a:lstStyle/>
                    <a:p>
                      <a:pPr>
                        <a:defRPr sz="1200">
                          <a:solidFill>
                            <a:srgbClr val="121C1F"/>
                          </a:solidFill>
                          <a:latin typeface="Yu Gothic"/>
                        </a:defRPr>
                      </a:pPr>
                      <a:r>
                        <a:t>74/100(round94評価表、バズ路線採点)</a:t>
                      </a:r>
                    </a:p>
                  </a:txBody>
                  <a:tcPr>
                    <a:solidFill>
                      <a:srgbClr val="FFFFFF"/>
                    </a:solidFill>
                  </a:tcPr>
                </a:tc>
              </a:tr>
              <a:tr h="502920">
                <a:tc>
                  <a:txBody>
                    <a:bodyPr/>
                    <a:lstStyle/>
                    <a:p>
                      <a:pPr>
                        <a:defRPr sz="1200">
                          <a:solidFill>
                            <a:srgbClr val="121C1F"/>
                          </a:solidFill>
                          <a:latin typeface="Yu Gothic"/>
                        </a:defRPr>
                      </a:pPr>
                      <a:r>
                        <a:t>採用理由</a:t>
                      </a:r>
                    </a:p>
                  </a:txBody>
                  <a:tcPr>
                    <a:solidFill>
                      <a:srgbClr val="F0F7F4"/>
                    </a:solidFill>
                  </a:tcPr>
                </a:tc>
                <a:tc>
                  <a:txBody>
                    <a:bodyPr/>
                    <a:lstStyle/>
                    <a:p>
                      <a:pPr>
                        <a:defRPr sz="1200">
                          <a:solidFill>
                            <a:srgbClr val="121C1F"/>
                          </a:solidFill>
                          <a:latin typeface="Yu Gothic"/>
                        </a:defRPr>
                      </a:pPr>
                      <a:r>
                        <a:t>既存テーマで開示していた不確実性への決着、プレミアリーグ復帰・鎌田大地選手との共闘という著名性</a:t>
                      </a:r>
                    </a:p>
                  </a:txBody>
                  <a:tcPr>
                    <a:solidFill>
                      <a:srgbClr val="F0F7F4"/>
                    </a:solidFill>
                  </a:tcPr>
                </a:tc>
              </a:tr>
              <a:tr h="502920">
                <a:tc>
                  <a:txBody>
                    <a:bodyPr/>
                    <a:lstStyle/>
                    <a:p>
                      <a:pPr>
                        <a:defRPr sz="1200">
                          <a:solidFill>
                            <a:srgbClr val="121C1F"/>
                          </a:solidFill>
                          <a:latin typeface="Yu Gothic"/>
                        </a:defRPr>
                      </a:pPr>
                      <a:r>
                        <a:t>同ラウンドの候補</a:t>
                      </a:r>
                    </a:p>
                  </a:txBody>
                  <a:tcPr>
                    <a:solidFill>
                      <a:srgbClr val="FFFFFF"/>
                    </a:solidFill>
                  </a:tcPr>
                </a:tc>
                <a:tc>
                  <a:txBody>
                    <a:bodyPr/>
                    <a:lstStyle/>
                    <a:p>
                      <a:pPr>
                        <a:defRPr sz="1200">
                          <a:solidFill>
                            <a:srgbClr val="121C1F"/>
                          </a:solidFill>
                          <a:latin typeface="Yu Gothic"/>
                        </a:defRPr>
                      </a:pPr>
                      <a:r>
                        <a:t>候補1(159本目、佐野航大選手のPSV正式移籍)はスコア76/100で先に採用済み、鮮度基準を例外運用なしで満たす</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決着はついたが、まだ分からないことも多い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契約年数・移籍金・具体的な出場時期は未確認。続報を、確認できたこと・できなかったことを区別しながら注目していきましょう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クリスタル・パレスが2026年8月7日、日本代表DF冨安健洋選手の加入を正式発表した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背番号は17、2年ぶりのプレミアリーグ復帰で、鎌田大地選手とクラブメイトになった</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前身テーマで開示していた『5クラブ争奪戦・正式交渉なし』の段階に、今回の発表で決着がついた</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契約年数・移籍金の詳細、具体的な出場時期・起用法、本人のコメントは未確認のまま正直に開示した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サッカーキング・Yahoo!ニュース(FOOTBALL ZONE)・ライブドアニュース・サッカーダイジェストWeb(2026-08-07/08)ほか｜定期実行160本目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