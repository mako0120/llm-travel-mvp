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スティローダー・カンパニーズが2026年8月19日、2026年度第4四半期決算を発表しました。純損失は前年同期から5分の1以下に縮小し、売上高・EPSともに市場予想を上回りました。今日はこの立て直し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結論から確認します。純損失は前年同期の5億4,600万ドルから1億1,600万ドルへ、5分の1以下に縮小しました。売上高・EPSともに市場予想を上回っています。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今日は6つの流れでお伝えします。決算の主要指標から、製品カテゴリー別の状況、通期見通しまで、正確に数字を引用しながら整理します。誇張せず、確認できなかったことは正直にお伝えします。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このテーマを扱う理由です。着手日当日という高い鮮度に加え、純損失の大幅縮小という具体的な数字、カテゴリー別の明暗に注目しました。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エスティローダーは米国の化粧品大手で、スキンケア・メイクアップ・フレグランス・ヘアケアの4カテゴリーを展開しています。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2026年度Q4の主要指標です。売上高・EPSともに市場予想を上回り、純損失も大幅に縮小しました。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純損失は5分の1以下に縮小しましたが、依然として赤字です。縮小の具体的な要因までは確認できていません。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純損失は前年同期から約5分の1以下に縮小しました。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売上高・EPSともに市場予想を上回りました。オーガニック売上高成長率もQ4で5%、通期で3%とプラス成長です。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実績と市場予想を対比しました。売上高・EPSともに市場予想を上回る結果でした。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製品カテゴリー別の状況です。スキンケア・フレグランスが好調な一方、ヘアケアはわずかに減収でした。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スキンケアは最大カテゴリーとして8.7%増、フレグランスは最も高い10%増を記録し、全体の増収を牽引しました。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フレグランスは前年比10%増と、全カテゴリーの中で最も高い伸び率を記録しました。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ヘアケアは唯一の減収カテゴリーでしたが、全体に占める割合は小さく、他カテゴリーの好調が相殺しました。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今回の決算の流れを図にしました。スキンケア・フレグランスの牽引から、市場予想超えの実績、そして純損失の大幅縮小という流れです。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今回の決算を3ステップで総括しました。売上高の伸び、純損失の大幅縮小、そして通期利益率ガイダンスの引き上げという流れです。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通期の売上高成長率は据え置きですが、利益率ガイダンスは引き上げられており、コスト構造の改善が見込まれていることがうかがえます。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通期の調整後営業利益率ガイダンスは12.7%〜13.5%へ引き上げられました。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AI活用に関する過去の取り組みはありますが、今回の決算発表とは異なる時点の情報です。今回の業績への定量的な寄与は確認できていません。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好調カテゴリーと不振カテゴリーを対比しました。スキンケア・フレグランスの好調が、ヘアケアの不振を相殺しました。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今回の決算の要点をまとめました。売上高の伸び、純損失の縮小、最も好調なカテゴリー、そして通期ガイダンスという4点です。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大手化粧品企業の立て直しの進捗を示す事例として注目されますが、業界全体のトレンドとの一致や他社比較は確認していません。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オーガニック売上高成長率はQ4で5%、通期で3%とプラス成長でした。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純損失の前年同期比較です。いずれも報道で確認できた公式数値であり、推測による数字は含まれていません。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8月19日は化粧品・半導体等、業種の異なる複数企業の決算発表が集中する日程でした。各社の決算内容は独立しており、本テーマではエスティローダー固有の数字のみを扱います。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確認できなかったことを正直にお伝えします。純損失縮小の要因、AI活用の定量的な寄与、牽引ブランドの詳細は確認できていません。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今回の実績と通期見通しを対比しました。売上高成長率は据え置きですが、利益率ガイダンスは引き上げられています。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このニュースが読者にとって意味することをまとめました。決算分析に関心がある立場、美容・化粧品業界の動向を追う立場、投資を検討する立場、それぞれで意識したい視点です。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まとめです。市場予想超えの実績と純損失の大幅縮小、そして依然として残る赤字を正直にお伝えしました。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エスティローダーの2026年度Q4決算について、立て直しの中身と依然として残る赤字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赤字が</a:t>
            </a:r>
          </a:p>
          <a:p>
            <a:pPr algn="l">
              <a:lnSpc>
                <a:spcPct val="115000"/>
              </a:lnSpc>
            </a:pPr>
            <a:r>
              <a:rPr sz="4200" b="1">
                <a:solidFill>
                  <a:srgbClr val="FFFFFF"/>
                </a:solidFill>
                <a:latin typeface="Yu Gothic"/>
              </a:rPr>
              <a:t>まさかの5分の1以下に。</a:t>
            </a:r>
          </a:p>
          <a:p>
            <a:pPr algn="l">
              <a:lnSpc>
                <a:spcPct val="115000"/>
              </a:lnSpc>
            </a:pPr>
            <a:r>
              <a:rPr sz="4200" b="1">
                <a:solidFill>
                  <a:srgbClr val="FFFFFF"/>
                </a:solidFill>
                <a:latin typeface="Yu Gothic"/>
              </a:rPr>
              <a:t>化粧品大手の立て直し劇</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2026年8月19日発表——エスティローダー、予想超えの決算で反発</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MarketScreener・MoneyCheck・SEC(2026年8月19日)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純損失が5億4,600万ドル→1億1,600万ドルへ縮小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売上高36億3,000万ドル(+6.3%)、調整後EPS0.39ドルで市場予想超え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MoneyCheck・MarketScreener(2026-08-19)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エスティローダーとは・基礎知識</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製品カテゴリー別の状況を確認する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通期見通し・AI活用の状況を確認する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純損失が5分の1以下に縮小するという、立て直しの具体的な数字である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スキンケア・フレグランスの好調とヘアケアの不振という、カテゴリー別の明暗がある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複数の独立した情報源(MarketScreener・MoneyCheck・SEC等)で確認できる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MoneyCheck・MarketScreener(2026-08-19)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エスティローダーとは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米国の化粧品大手企業(NYSE: EL)</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スキンケア・メイクアップ・フレグランス・ヘアケアの4カテゴリーを展開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Jo Malone London等、複数のブランドを傘下に持つ</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近年は業務効率化・デジタル化に向けた取り組みを進めている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SEC・複数報道(2026-08-19)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2026年度Q4 主要指標</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1E2761"/>
                    </a:solidFill>
                  </a:tcPr>
                </a:tc>
                <a:tc>
                  <a:txBody>
                    <a:bodyPr/>
                    <a:lstStyle/>
                    <a:p>
                      <a:pPr>
                        <a:defRPr sz="1300" b="1">
                          <a:solidFill>
                            <a:srgbClr val="FFFFFF"/>
                          </a:solidFill>
                          <a:latin typeface="Yu Gothic"/>
                        </a:defRPr>
                      </a:pPr>
                      <a:r>
                        <a:t>2026年度Q4(前年同期比・市場予想比)</a:t>
                      </a:r>
                    </a:p>
                  </a:txBody>
                  <a:tcPr>
                    <a:solidFill>
                      <a:srgbClr val="1E2761"/>
                    </a:solidFill>
                  </a:tcPr>
                </a:tc>
              </a:tr>
              <a:tr h="502920">
                <a:tc>
                  <a:txBody>
                    <a:bodyPr/>
                    <a:lstStyle/>
                    <a:p>
                      <a:pPr>
                        <a:defRPr sz="1200">
                          <a:solidFill>
                            <a:srgbClr val="1A1A2E"/>
                          </a:solidFill>
                          <a:latin typeface="Yu Gothic"/>
                        </a:defRPr>
                      </a:pPr>
                      <a:r>
                        <a:t>売上高</a:t>
                      </a:r>
                    </a:p>
                  </a:txBody>
                  <a:tcPr>
                    <a:solidFill>
                      <a:srgbClr val="FFFFFF"/>
                    </a:solidFill>
                  </a:tcPr>
                </a:tc>
                <a:tc>
                  <a:txBody>
                    <a:bodyPr/>
                    <a:lstStyle/>
                    <a:p>
                      <a:pPr>
                        <a:defRPr sz="1200">
                          <a:solidFill>
                            <a:srgbClr val="1A1A2E"/>
                          </a:solidFill>
                          <a:latin typeface="Yu Gothic"/>
                        </a:defRPr>
                      </a:pPr>
                      <a:r>
                        <a:t>36億3,000万ドル、+6.3%(市場予想35億5,000万ドルを上回る)</a:t>
                      </a:r>
                    </a:p>
                  </a:txBody>
                  <a:tcPr>
                    <a:solidFill>
                      <a:srgbClr val="FFFFFF"/>
                    </a:solidFill>
                  </a:tcPr>
                </a:tc>
              </a:tr>
              <a:tr h="502920">
                <a:tc>
                  <a:txBody>
                    <a:bodyPr/>
                    <a:lstStyle/>
                    <a:p>
                      <a:pPr>
                        <a:defRPr sz="1200">
                          <a:solidFill>
                            <a:srgbClr val="1A1A2E"/>
                          </a:solidFill>
                          <a:latin typeface="Yu Gothic"/>
                        </a:defRPr>
                      </a:pPr>
                      <a:r>
                        <a:t>調整後EPS</a:t>
                      </a:r>
                    </a:p>
                  </a:txBody>
                  <a:tcPr>
                    <a:solidFill>
                      <a:srgbClr val="F3F6FC"/>
                    </a:solidFill>
                  </a:tcPr>
                </a:tc>
                <a:tc>
                  <a:txBody>
                    <a:bodyPr/>
                    <a:lstStyle/>
                    <a:p>
                      <a:pPr>
                        <a:defRPr sz="1200">
                          <a:solidFill>
                            <a:srgbClr val="1A1A2E"/>
                          </a:solidFill>
                          <a:latin typeface="Yu Gothic"/>
                        </a:defRPr>
                      </a:pPr>
                      <a:r>
                        <a:t>0.39ドル(市場予想0.32ドルを上回る)</a:t>
                      </a:r>
                    </a:p>
                  </a:txBody>
                  <a:tcPr>
                    <a:solidFill>
                      <a:srgbClr val="F3F6FC"/>
                    </a:solidFill>
                  </a:tcPr>
                </a:tc>
              </a:tr>
              <a:tr h="502920">
                <a:tc>
                  <a:txBody>
                    <a:bodyPr/>
                    <a:lstStyle/>
                    <a:p>
                      <a:pPr>
                        <a:defRPr sz="1200">
                          <a:solidFill>
                            <a:srgbClr val="1A1A2E"/>
                          </a:solidFill>
                          <a:latin typeface="Yu Gothic"/>
                        </a:defRPr>
                      </a:pPr>
                      <a:r>
                        <a:t>純損失</a:t>
                      </a:r>
                    </a:p>
                  </a:txBody>
                  <a:tcPr>
                    <a:solidFill>
                      <a:srgbClr val="FFFFFF"/>
                    </a:solidFill>
                  </a:tcPr>
                </a:tc>
                <a:tc>
                  <a:txBody>
                    <a:bodyPr/>
                    <a:lstStyle/>
                    <a:p>
                      <a:pPr>
                        <a:defRPr sz="1200">
                          <a:solidFill>
                            <a:srgbClr val="1A1A2E"/>
                          </a:solidFill>
                          <a:latin typeface="Yu Gothic"/>
                        </a:defRPr>
                      </a:pPr>
                      <a:r>
                        <a:t>1億1,600万ドル(前年同期は5億4,600万ドルの純損失)</a:t>
                      </a:r>
                    </a:p>
                  </a:txBody>
                  <a:tcPr>
                    <a:solidFill>
                      <a:srgbClr val="FFFFFF"/>
                    </a:solidFill>
                  </a:tcPr>
                </a:tc>
              </a:tr>
              <a:tr h="502920">
                <a:tc>
                  <a:txBody>
                    <a:bodyPr/>
                    <a:lstStyle/>
                    <a:p>
                      <a:pPr>
                        <a:defRPr sz="1200">
                          <a:solidFill>
                            <a:srgbClr val="1A1A2E"/>
                          </a:solidFill>
                          <a:latin typeface="Yu Gothic"/>
                        </a:defRPr>
                      </a:pPr>
                      <a:r>
                        <a:t>オーガニック売上高成長率(Q4)</a:t>
                      </a:r>
                    </a:p>
                  </a:txBody>
                  <a:tcPr>
                    <a:solidFill>
                      <a:srgbClr val="F3F6FC"/>
                    </a:solidFill>
                  </a:tcPr>
                </a:tc>
                <a:tc>
                  <a:txBody>
                    <a:bodyPr/>
                    <a:lstStyle/>
                    <a:p>
                      <a:pPr>
                        <a:defRPr sz="1200">
                          <a:solidFill>
                            <a:srgbClr val="1A1A2E"/>
                          </a:solidFill>
                          <a:latin typeface="Yu Gothic"/>
                        </a:defRPr>
                      </a:pPr>
                      <a:r>
                        <a:t>+5%</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MoneyCheck・MarketScreener(2026-08-19)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純損失縮小の内容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赤字幅の変化です。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純損失は前年同期の5億4,600万ドルから1億1,600万ドルへ、約5分の1以下に縮小</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縮小の具体的な要因(コスト構造改革の効果・一時的な特別損失の減少等の内訳)は本調査の範囲では確認できていない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純損失自体はまだ解消されていない(黒字化していない)点は正直に開示する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大幅な縮小は前向きな材料だが、断定的に『黒字化間近』とは扱わない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純損失の縮小幅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5億4,600万ドル→1億1,600万ドル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前年同期から約5分の1以下に縮小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MoneyCheck(2026-08-19)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売上高・EPSの状況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好調な数字の内容です。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売上高は36億3,000万ドルで前年比6.3%増、市場予想35億5,000万ドルを上回る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調整後EPSは0.39ドルで、市場予想0.32ドルを上回る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オーガニック売上高成長率はQ4で+5%、通期で+3%</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売上高・EPSともに市場予想を上回ったことが、株価上昇の要因の一つとされる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MoneyCheck・MarketScreener(2026-08-19)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実績 vs 市場予想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実績</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売上高36億3,000万ドル</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調整後EPS0.39ドル</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いずれも市場予想を上回る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市場予想</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売上高35億5,000万ドル</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調整後EPS0.32ドル</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実績がいずれも上回る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製品カテゴリー別の状況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カテゴリー</a:t>
                      </a:r>
                    </a:p>
                  </a:txBody>
                  <a:tcPr>
                    <a:solidFill>
                      <a:srgbClr val="1E2761"/>
                    </a:solidFill>
                  </a:tcPr>
                </a:tc>
                <a:tc>
                  <a:txBody>
                    <a:bodyPr/>
                    <a:lstStyle/>
                    <a:p>
                      <a:pPr>
                        <a:defRPr sz="1300" b="1">
                          <a:solidFill>
                            <a:srgbClr val="FFFFFF"/>
                          </a:solidFill>
                          <a:latin typeface="Yu Gothic"/>
                        </a:defRPr>
                      </a:pPr>
                      <a:r>
                        <a:t>売上高(前年同期比)</a:t>
                      </a:r>
                    </a:p>
                  </a:txBody>
                  <a:tcPr>
                    <a:solidFill>
                      <a:srgbClr val="1E2761"/>
                    </a:solidFill>
                  </a:tcPr>
                </a:tc>
              </a:tr>
              <a:tr h="502920">
                <a:tc>
                  <a:txBody>
                    <a:bodyPr/>
                    <a:lstStyle/>
                    <a:p>
                      <a:pPr>
                        <a:defRPr sz="1200">
                          <a:solidFill>
                            <a:srgbClr val="1A1A2E"/>
                          </a:solidFill>
                          <a:latin typeface="Yu Gothic"/>
                        </a:defRPr>
                      </a:pPr>
                      <a:r>
                        <a:t>スキンケア</a:t>
                      </a:r>
                    </a:p>
                  </a:txBody>
                  <a:tcPr>
                    <a:solidFill>
                      <a:srgbClr val="FFFFFF"/>
                    </a:solidFill>
                  </a:tcPr>
                </a:tc>
                <a:tc>
                  <a:txBody>
                    <a:bodyPr/>
                    <a:lstStyle/>
                    <a:p>
                      <a:pPr>
                        <a:defRPr sz="1200">
                          <a:solidFill>
                            <a:srgbClr val="1A1A2E"/>
                          </a:solidFill>
                          <a:latin typeface="Yu Gothic"/>
                        </a:defRPr>
                      </a:pPr>
                      <a:r>
                        <a:t>18億5,000万ドル(+8.7%)</a:t>
                      </a:r>
                    </a:p>
                  </a:txBody>
                  <a:tcPr>
                    <a:solidFill>
                      <a:srgbClr val="FFFFFF"/>
                    </a:solidFill>
                  </a:tcPr>
                </a:tc>
              </a:tr>
              <a:tr h="502920">
                <a:tc>
                  <a:txBody>
                    <a:bodyPr/>
                    <a:lstStyle/>
                    <a:p>
                      <a:pPr>
                        <a:defRPr sz="1200">
                          <a:solidFill>
                            <a:srgbClr val="1A1A2E"/>
                          </a:solidFill>
                          <a:latin typeface="Yu Gothic"/>
                        </a:defRPr>
                      </a:pPr>
                      <a:r>
                        <a:t>フレグランス</a:t>
                      </a:r>
                    </a:p>
                  </a:txBody>
                  <a:tcPr>
                    <a:solidFill>
                      <a:srgbClr val="F3F6FC"/>
                    </a:solidFill>
                  </a:tcPr>
                </a:tc>
                <a:tc>
                  <a:txBody>
                    <a:bodyPr/>
                    <a:lstStyle/>
                    <a:p>
                      <a:pPr>
                        <a:defRPr sz="1200">
                          <a:solidFill>
                            <a:srgbClr val="1A1A2E"/>
                          </a:solidFill>
                          <a:latin typeface="Yu Gothic"/>
                        </a:defRPr>
                      </a:pPr>
                      <a:r>
                        <a:t>6億1,800万ドル(+10%)</a:t>
                      </a:r>
                    </a:p>
                  </a:txBody>
                  <a:tcPr>
                    <a:solidFill>
                      <a:srgbClr val="F3F6FC"/>
                    </a:solidFill>
                  </a:tcPr>
                </a:tc>
              </a:tr>
              <a:tr h="502920">
                <a:tc>
                  <a:txBody>
                    <a:bodyPr/>
                    <a:lstStyle/>
                    <a:p>
                      <a:pPr>
                        <a:defRPr sz="1200">
                          <a:solidFill>
                            <a:srgbClr val="1A1A2E"/>
                          </a:solidFill>
                          <a:latin typeface="Yu Gothic"/>
                        </a:defRPr>
                      </a:pPr>
                      <a:r>
                        <a:t>メイクアップ</a:t>
                      </a:r>
                    </a:p>
                  </a:txBody>
                  <a:tcPr>
                    <a:solidFill>
                      <a:srgbClr val="FFFFFF"/>
                    </a:solidFill>
                  </a:tcPr>
                </a:tc>
                <a:tc>
                  <a:txBody>
                    <a:bodyPr/>
                    <a:lstStyle/>
                    <a:p>
                      <a:pPr>
                        <a:defRPr sz="1200">
                          <a:solidFill>
                            <a:srgbClr val="1A1A2E"/>
                          </a:solidFill>
                          <a:latin typeface="Yu Gothic"/>
                        </a:defRPr>
                      </a:pPr>
                      <a:r>
                        <a:t>10億1,000万ドル(+2.9%)</a:t>
                      </a:r>
                    </a:p>
                  </a:txBody>
                  <a:tcPr>
                    <a:solidFill>
                      <a:srgbClr val="FFFFFF"/>
                    </a:solidFill>
                  </a:tcPr>
                </a:tc>
              </a:tr>
              <a:tr h="502920">
                <a:tc>
                  <a:txBody>
                    <a:bodyPr/>
                    <a:lstStyle/>
                    <a:p>
                      <a:pPr>
                        <a:defRPr sz="1200">
                          <a:solidFill>
                            <a:srgbClr val="1A1A2E"/>
                          </a:solidFill>
                          <a:latin typeface="Yu Gothic"/>
                        </a:defRPr>
                      </a:pPr>
                      <a:r>
                        <a:t>ヘアケア</a:t>
                      </a:r>
                    </a:p>
                  </a:txBody>
                  <a:tcPr>
                    <a:solidFill>
                      <a:srgbClr val="F3F6FC"/>
                    </a:solidFill>
                  </a:tcPr>
                </a:tc>
                <a:tc>
                  <a:txBody>
                    <a:bodyPr/>
                    <a:lstStyle/>
                    <a:p>
                      <a:pPr>
                        <a:defRPr sz="1200">
                          <a:solidFill>
                            <a:srgbClr val="1A1A2E"/>
                          </a:solidFill>
                          <a:latin typeface="Yu Gothic"/>
                        </a:defRPr>
                      </a:pPr>
                      <a:r>
                        <a:t>1億4,000万ドル(▲0.7%)</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スキンケア・フレグランスの好調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好調なカテゴリーの内容です。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スキンケアは18億5,000万ドルで前年比8.7%増と、最大カテゴリーとして好調</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フレグランスは6億1,800万ドルで前年比10%増と、最も高い伸び率を記録</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両カテゴリーが全体の増収を牽引した構図がうかがえる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具体的な牽引ブランド・商品名の詳細は本調査の範囲では確認できていない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フレグランスの伸び率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前年比+10%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全カテゴリーの中で最も高い伸び率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MoneyCheck(2026-08-19)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ヘアケアの不振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不振だったカテゴリーの内容です。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ヘアケアは1億4,000万ドルで前年比0.7%減と、唯一の減収カテゴリー</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全体に占める割合は他カテゴリーより小さい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減収の具体的な要因は本調査の範囲では確認できていない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他カテゴリーの好調が、ヘアケアの不振を相殺する形で全体は増収となった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今回の決算の流れ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スキンケア・フレグランスが牽引</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それぞれ+8.7%・+10%</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売上高・EPSともに市場予想超え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36億3,000万ドル、0.39ドル</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純損失が5分の1以下に縮小</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5.46億ドル→1.16億ドル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好調カテゴリーの牽引から純損失縮小までの流れ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MoneyCheck・MarketScreener(2026-08-19)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今回の決算の3ステップ総括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売上高+6.3%</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市場予想を上回る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純損失が5分の1以下に縮小</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依然として赤字は残る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通期利益率ガイダンス引き上げ</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12.7%〜13.5%へ</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通期(2027年度)見通し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来年度の見通しです。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オーガニック売上高成長率は+3%〜+5%を据え置き</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調整後営業利益率のガイダンスは12.7%〜13.5%へ引き上げ</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利益率の引き上げは、コスト構造の改善が見込まれていることを示唆する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具体的なコスト削減施策の内訳は本調査の範囲では確認できていない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通期利益率ガイダンス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12.7%〜13.5%へ引き上げ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オーガニック売上高成長率は+3%〜+5%を据え置き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MoneyCheck(2026-08-19)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AI・デジタル技術の活用について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AI関連の情報です(留保つき)。</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過去の報道では、傘下ブランドの一つが会話型のパーソナライズド提案ツールを導入したことが報じられている(外部の生成AI技術を活用)</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業務プロセスの標準化・効率化を目的とした外部パートナーとの協業も過去に報じられている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これらはいずれも過去(2025年10〜11月)の発表であり、今回の決算発表とは異なる時点の情報として区別して扱う</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今回の決算発表・決算コールでAI活用が業績にどの程度寄与したかの定量的な言及は確認できていない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好調カテゴリー vs 不振カテゴリー</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好調(スキンケア・フレグランス)</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スキンケア+8.7%</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フレグランス+10%</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全体の増収を牽引</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不振(ヘアケア)</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ヘアケア▲0.7%</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唯一の減収カテゴリー</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全体に占める割合は小さい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今回の決算の要点まとめ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売上高</a:t>
                      </a:r>
                    </a:p>
                  </a:txBody>
                  <a:tcPr>
                    <a:solidFill>
                      <a:srgbClr val="FFFFFF"/>
                    </a:solidFill>
                  </a:tcPr>
                </a:tc>
                <a:tc>
                  <a:txBody>
                    <a:bodyPr/>
                    <a:lstStyle/>
                    <a:p>
                      <a:pPr>
                        <a:defRPr sz="1200">
                          <a:solidFill>
                            <a:srgbClr val="1A1A2E"/>
                          </a:solidFill>
                          <a:latin typeface="Yu Gothic"/>
                        </a:defRPr>
                      </a:pPr>
                      <a:r>
                        <a:t>36億3,000万ドル(+6.3%、市場予想超え)</a:t>
                      </a:r>
                    </a:p>
                  </a:txBody>
                  <a:tcPr>
                    <a:solidFill>
                      <a:srgbClr val="FFFFFF"/>
                    </a:solidFill>
                  </a:tcPr>
                </a:tc>
              </a:tr>
              <a:tr h="502920">
                <a:tc>
                  <a:txBody>
                    <a:bodyPr/>
                    <a:lstStyle/>
                    <a:p>
                      <a:pPr>
                        <a:defRPr sz="1200">
                          <a:solidFill>
                            <a:srgbClr val="1A1A2E"/>
                          </a:solidFill>
                          <a:latin typeface="Yu Gothic"/>
                        </a:defRPr>
                      </a:pPr>
                      <a:r>
                        <a:t>純損失</a:t>
                      </a:r>
                    </a:p>
                  </a:txBody>
                  <a:tcPr>
                    <a:solidFill>
                      <a:srgbClr val="F3F6FC"/>
                    </a:solidFill>
                  </a:tcPr>
                </a:tc>
                <a:tc>
                  <a:txBody>
                    <a:bodyPr/>
                    <a:lstStyle/>
                    <a:p>
                      <a:pPr>
                        <a:defRPr sz="1200">
                          <a:solidFill>
                            <a:srgbClr val="1A1A2E"/>
                          </a:solidFill>
                          <a:latin typeface="Yu Gothic"/>
                        </a:defRPr>
                      </a:pPr>
                      <a:r>
                        <a:t>1億1,600万ドル(前年5.46億ドルから縮小)</a:t>
                      </a:r>
                    </a:p>
                  </a:txBody>
                  <a:tcPr>
                    <a:solidFill>
                      <a:srgbClr val="F3F6FC"/>
                    </a:solidFill>
                  </a:tcPr>
                </a:tc>
              </a:tr>
              <a:tr h="502920">
                <a:tc>
                  <a:txBody>
                    <a:bodyPr/>
                    <a:lstStyle/>
                    <a:p>
                      <a:pPr>
                        <a:defRPr sz="1200">
                          <a:solidFill>
                            <a:srgbClr val="1A1A2E"/>
                          </a:solidFill>
                          <a:latin typeface="Yu Gothic"/>
                        </a:defRPr>
                      </a:pPr>
                      <a:r>
                        <a:t>最も好調なカテゴリー</a:t>
                      </a:r>
                    </a:p>
                  </a:txBody>
                  <a:tcPr>
                    <a:solidFill>
                      <a:srgbClr val="FFFFFF"/>
                    </a:solidFill>
                  </a:tcPr>
                </a:tc>
                <a:tc>
                  <a:txBody>
                    <a:bodyPr/>
                    <a:lstStyle/>
                    <a:p>
                      <a:pPr>
                        <a:defRPr sz="1200">
                          <a:solidFill>
                            <a:srgbClr val="1A1A2E"/>
                          </a:solidFill>
                          <a:latin typeface="Yu Gothic"/>
                        </a:defRPr>
                      </a:pPr>
                      <a:r>
                        <a:t>フレグランス(+10%)</a:t>
                      </a:r>
                    </a:p>
                  </a:txBody>
                  <a:tcPr>
                    <a:solidFill>
                      <a:srgbClr val="FFFFFF"/>
                    </a:solidFill>
                  </a:tcPr>
                </a:tc>
              </a:tr>
              <a:tr h="502920">
                <a:tc>
                  <a:txBody>
                    <a:bodyPr/>
                    <a:lstStyle/>
                    <a:p>
                      <a:pPr>
                        <a:defRPr sz="1200">
                          <a:solidFill>
                            <a:srgbClr val="1A1A2E"/>
                          </a:solidFill>
                          <a:latin typeface="Yu Gothic"/>
                        </a:defRPr>
                      </a:pPr>
                      <a:r>
                        <a:t>通期利益率ガイダンス</a:t>
                      </a:r>
                    </a:p>
                  </a:txBody>
                  <a:tcPr>
                    <a:solidFill>
                      <a:srgbClr val="F3F6FC"/>
                    </a:solidFill>
                  </a:tcPr>
                </a:tc>
                <a:tc>
                  <a:txBody>
                    <a:bodyPr/>
                    <a:lstStyle/>
                    <a:p>
                      <a:pPr>
                        <a:defRPr sz="1200">
                          <a:solidFill>
                            <a:srgbClr val="1A1A2E"/>
                          </a:solidFill>
                          <a:latin typeface="Yu Gothic"/>
                        </a:defRPr>
                      </a:pPr>
                      <a:r>
                        <a:t>12.7%〜13.5%へ引き上げ</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MoneyCheck・MarketScreener(2026-08-19)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化粧品業界における位置づけ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業界内での本決算の意味です。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大手化粧品企業の立て直しの進捗を示す事例として業界内で注目される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スキンケア・フレグランスへの需要の強さが、業界全体のトレンドと一致するかは本調査の範囲では確認できていない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他の化粧品大手との具体的な業績比較は行っていない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赤字幅の縮小という段階的な変化を、過度に楽観視せず正確に伝える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オーガニック売上高成長率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Q4で+5%、通期で+3%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為替変動等を除いた実質的な成長率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MoneyCheck(2026-08-19)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純損失の前年同期比較(確認できる公式数値)</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1E2761"/>
                    </a:solidFill>
                  </a:tcPr>
                </a:tc>
                <a:tc>
                  <a:txBody>
                    <a:bodyPr/>
                    <a:lstStyle/>
                    <a:p>
                      <a:pPr>
                        <a:defRPr sz="1300" b="1">
                          <a:solidFill>
                            <a:srgbClr val="FFFFFF"/>
                          </a:solidFill>
                          <a:latin typeface="Yu Gothic"/>
                        </a:defRPr>
                      </a:pPr>
                      <a:r>
                        <a:t>純損失</a:t>
                      </a:r>
                    </a:p>
                  </a:txBody>
                  <a:tcPr>
                    <a:solidFill>
                      <a:srgbClr val="1E2761"/>
                    </a:solidFill>
                  </a:tcPr>
                </a:tc>
              </a:tr>
              <a:tr h="502920">
                <a:tc>
                  <a:txBody>
                    <a:bodyPr/>
                    <a:lstStyle/>
                    <a:p>
                      <a:pPr>
                        <a:defRPr sz="1200">
                          <a:solidFill>
                            <a:srgbClr val="1A1A2E"/>
                          </a:solidFill>
                          <a:latin typeface="Yu Gothic"/>
                        </a:defRPr>
                      </a:pPr>
                      <a:r>
                        <a:t>2025年度Q4(前年同期)</a:t>
                      </a:r>
                    </a:p>
                  </a:txBody>
                  <a:tcPr>
                    <a:solidFill>
                      <a:srgbClr val="FFFFFF"/>
                    </a:solidFill>
                  </a:tcPr>
                </a:tc>
                <a:tc>
                  <a:txBody>
                    <a:bodyPr/>
                    <a:lstStyle/>
                    <a:p>
                      <a:pPr>
                        <a:defRPr sz="1200">
                          <a:solidFill>
                            <a:srgbClr val="1A1A2E"/>
                          </a:solidFill>
                          <a:latin typeface="Yu Gothic"/>
                        </a:defRPr>
                      </a:pPr>
                      <a:r>
                        <a:t>5億4,600万ドル</a:t>
                      </a:r>
                    </a:p>
                  </a:txBody>
                  <a:tcPr>
                    <a:solidFill>
                      <a:srgbClr val="FFFFFF"/>
                    </a:solidFill>
                  </a:tcPr>
                </a:tc>
              </a:tr>
              <a:tr h="502920">
                <a:tc>
                  <a:txBody>
                    <a:bodyPr/>
                    <a:lstStyle/>
                    <a:p>
                      <a:pPr>
                        <a:defRPr sz="1200">
                          <a:solidFill>
                            <a:srgbClr val="1A1A2E"/>
                          </a:solidFill>
                          <a:latin typeface="Yu Gothic"/>
                        </a:defRPr>
                      </a:pPr>
                      <a:r>
                        <a:t>2026年度Q4(今回)</a:t>
                      </a:r>
                    </a:p>
                  </a:txBody>
                  <a:tcPr>
                    <a:solidFill>
                      <a:srgbClr val="F3F6FC"/>
                    </a:solidFill>
                  </a:tcPr>
                </a:tc>
                <a:tc>
                  <a:txBody>
                    <a:bodyPr/>
                    <a:lstStyle/>
                    <a:p>
                      <a:pPr>
                        <a:defRPr sz="1200">
                          <a:solidFill>
                            <a:srgbClr val="1A1A2E"/>
                          </a:solidFill>
                          <a:latin typeface="Yu Gothic"/>
                        </a:defRPr>
                      </a:pPr>
                      <a:r>
                        <a:t>1億1,600万ドル</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MoneyCheck(2026-08-19)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決算発表のタイミング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同日に複数業種の決算が集中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半導体大手Analog Devices等も同じ8月19日に決算を発表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本リサーチ(2026-08-19時点)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純損失縮小の具体的な要因(コスト構造改革の効果・特別損失の減少等の内訳)</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AI活用が今期の業績にどの程度具体的に寄与したかの定量的な言及</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スキンケア・フレグランスを牽引した具体的なブランド・商品名</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本テーマは特定企業(エスティローダー)の株式購入・投資を推奨するものではなく、報じられた経営指標の紹介にとどめる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今回(Q4)の実績 vs 通期(2027年度)見通し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今回(Q4)の実績</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売上高36億3,000万ドル(+6.3%)</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純損失1億1,600万ドル</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市場予想を上回る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通期(2027年度)見通し</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オーガニック成長率+3%〜+5%(据え置き)</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調整後営業利益率12.7%〜13.5%(引き上げ)</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利益率改善が見込まれる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決算・企業分析に関心がある立場として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純損失の縮小幅と、まだ黒字化していない事実を両方確認する視点が役立つ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美容・化粧品業界の動向を追う立場として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スキンケア・フレグランス好調とヘアケア不振という明暗を把握する視点が参考になる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利益率ガイダンスの引き上げと、純損失縮小の具体的要因が未確認である点を区別して見る必要がある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エスティローダーの2026年度Q4決算は、売上高・EPSともに市場予想を上回り、純損失も前年から5分の1以下に縮小した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スキンケア・フレグランスが好調な一方、ヘアケアは唯一の減収カテゴリーだった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純損失自体はまだ解消されておらず、依然として赤字である点は正直に開示した</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通期の調整後営業利益率ガイダンスは引き上げられ、コスト構造の改善が見込まれている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MarketScreener・MoneyCheck・SEC(2026-08-19)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赤字は残る。でも、立て直しは本物だった。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エスティローダーの2026年度Q4決算は、売上高・EPSともに市場予想を上回り、純損失も前年から5分の1以下に縮小しました。スキンケア・フレグランスの好調から、依然として残る赤字まで、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