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は、シリコンバレーに一度も飛びませんでした。1億ドルの資金調達を「主導」したのは、自社のAIエージェントだったのです。企業向けAIエージェントを開発するLyzrが、自社のAIエージェント「SivaClaw」に資金調達プロセスの大きな部分を任せ、シリーズBで1億ドルを調達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Lyzrとはどんな会社か、AIエージェント「SivaClaw」が具体的に何をしたのか、従来の資金調達プロセスとの違い、確認できたこと・できなかったこと、そして鮮度についての正直な開示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Lyzrが2026年7月9日、シリーズBで1億ドルの資金調達を発表しました。評価額は約5億ドルと報じられています。特徴的なのは、自社開発のAIエージェント「SivaClaw」が資金調達プロセスの大きな部分を主導したという点で、創業者はシリコンバレーへ飛ぶ従来型のロードショーをし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調達額はこちら、1億ドルです。評価額約5億ドルでのシリーズBとして発表されました。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Lyzr、事業は企業向けAIエージェントの開発です。シリーズBで1億ドル、評価額は約5億ドル、2026年7月9日の発表です。最大の特徴は、自社のAIエージェント「SivaClaw」が調達プロセスを主導し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yzrとはどんな会社か紹介します。企業向けのAIエージェントを開発する会社で、今回シリーズBで1億ドル、評価額は約5億ドルと報じられています。話題の中心は、自社製品「SivaClaw」を自社の資金調達そのものに活用した点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評価額を確認します。約5億ドルと報じられています。今回のシリーズBで1億ドルを調達した後の評価額です。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SivaClaw」とは何かを紹介します。Lyzr自身が開発したAIエージェント製品で、今回は自社の資金調達プロセスの大きな部分を主導したと報じられています。いわば「自社製品を自社の重要業務に使う」という実演のような事例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SivaClawが行ったと報じられている業務を整理します。130社を超える投資家からの質問への対応、投資メモの作成、そして投資家がどのスライドに時間をかけて注目したかの追跡です。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ロードショーと、今回SivaClawが主導したプロセスを比較します。従来は創業者がシリコンバレー等へ実際に飛び、投資家一社ずつに口頭で説明していました。今回は創業者が飛ぶことなく、SivaClawが130社超の質問対応・メモ作成・関心追跡を担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対応した投資家数はこちら、130社を超えています。SivaClawがこれらの投資家からの質問に対応したと報じられています。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SivaClawの役割を3つのタスクに整理します。130社を超える投資家からの質問対応、投資メモの作成、そして投資家がどのスライドに時間をかけたかの追跡です。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集まった投資家の関心はこちら、4億ドル相当と報じられています。シリコンバレー・中東・金融セクターの投資家から、この規模の関心が集まったとされています。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関心を寄せた投資家の地域です。シリコンバレー、中東、金融セクターの投資家から関心が集まったと報じられています。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例が話題になった理由を整理します。AIエージェント製品を自社の資金調達という重要業務に使った意外性、130社超への対応・4億ドル相当の関心という具体的な数字、そして創業者がシリコンバレーへ飛ばずに済んだという象徴的な変化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AIエージェントとは何かを説明します。指示を受けて自律的にタスクを遂行するAIプログラムのことで、質問への回答・文書の作成・進捗の追跡など複数のタスクをこなせる点が特徴です。Lyzrはこうした企業向けAIエージェントを開発・提供している会社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間の役割について正直に整理します。報道が伝えるのは、130社超への質問対応・メモ作成・閲覧追跡という具体的なタスクです。ただし、資金調達プロセス全体を人間の関与ゼロで完結させたとは、いずれの出典も明言していません。SivaClawと人間の正確な分担比率は確認できていないため、自律性を誇張して伝える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プロセスの流れを概要で示します。投資家との接点ではSivaClawが130社超の質問に対応し、資料の準備では投資メモを作成しました。その結果として、1億ドルのシリーズB、評価額約5億ドルという調達が成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評価額・SivaClawの3つのタスクは複数媒体で一致していますが、リード投資家の社名やLyzrの顧客数・売上高、130社超の投資家の内訳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未確認事項を一覧にしました。リード投資家の社名、Lyzrの顧客数・売上高、人間とAIの正確な分担比率、130社超の投資家の内訳、SivaClawの技術的な仕組み、いずれも本調査の範囲では確認できていません。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26日前であり、鮮度基準を満たしていません。round80の評価では、意外性の高いフックと複数媒体の裏付けを踏まえ、鮮度未達を正直に開示した上で採用したという経緯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round80の評価表からの開示です。評価スコアは76/100で、通常の採用基準70点は上回りますが鮮度基準は満たしていません。同ラウンドで同時に採用されたVolta AI Infra Holdings(135本目)は着手日当日の発表でしたが、本テーマは26日前の発表です。それでも、意外性の高いフックと複数媒体の裏付けを踏まえて採用しました。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出典を紹介します。TechCrunch、Bloomberg、SiliconANGLE、Pulse2という、複数の独立した主要媒体が2026年7月9日にこの話題を報じています。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出典一覧です。TechCrunch、Bloomberg、SiliconANGLEが2026年7月9日、Pulse2が2026年7月に報じています。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既存テーマとの関係を確認しました。Lyzr・SivaClawを主題として扱った既存テーマはなく、重複ではありません。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本テーマでは資金調達・SivaClawの機能に関する事実を淡々と報告しており、AIエージェントの是非についての一方的な論評は行っていません。特定企業・特定製品の利用を強く推奨する結論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エージェントが企業の重要な意思決定プロセスに関わる事例は今後も増える可能性があります。資金調達のような対人折衝が中心の業務でも、AIエージェントが一部の作業を担う流れが広がるかもしれません。一方で、人間とAIの正確な役割分担が今後どう語られるかは、引き続き注視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の位置づけを整理します。強みは複数の独立した主要媒体による裏付けと高い意外性、弱みは発表から26日経過し鮮度基準が未達であること、未確認事項が複数あることです。両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皆さんは、自社製品を自社の一番大事な仕事に使うというこの事例をどう見ますか。Lyzrの今後の展開を、確認できたこと・できなかったことを区別しながら注目していきましょう。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Lyzrが2026年7月9日、シリーズBで1億ドル、評価額約5億ドルの資金調達を発表しました。自社のAIエージェント「SivaClaw」が130社超の質問対応・メモ作成・関心追跡を担い、創業者はシリコンバレーへ飛ばずに4億ドル相当の投資家の関心を集めたと報じられています。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創業者はシリコンバレーに一度も飛ばなかった。1億ドルの資金調達を「主導」したのは、自社のAIエージェントだった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8E2"/>
                </a:solidFill>
                <a:latin typeface="Yu Gothic"/>
              </a:rPr>
              <a:t>Lyzr、自社のAIエージェント「SivaClaw」にシリーズB1億ドルの資金調達を主導させる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4B8"/>
                </a:solidFill>
                <a:latin typeface="Yu Gothic"/>
              </a:rPr>
              <a:t>出典: TechCrunch・Bloomberg ほか(2026-07-09)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8E2"/>
                </a:solidFill>
                <a:latin typeface="Yu Gothic"/>
              </a:rPr>
              <a:t>何が起きたのか</a:t>
            </a:r>
          </a:p>
        </p:txBody>
      </p:sp>
      <p:sp>
        <p:nvSpPr>
          <p:cNvPr id="7" name="Oval 6"/>
          <p:cNvSpPr/>
          <p:nvPr/>
        </p:nvSpPr>
        <p:spPr>
          <a:xfrm>
            <a:off x="548640" y="269748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8E2"/>
                </a:solidFill>
                <a:latin typeface="Yu Gothic"/>
              </a:rPr>
              <a:t>Lyzrとはどんな会社か</a:t>
            </a:r>
          </a:p>
        </p:txBody>
      </p:sp>
      <p:sp>
        <p:nvSpPr>
          <p:cNvPr id="9" name="Oval 8"/>
          <p:cNvSpPr/>
          <p:nvPr/>
        </p:nvSpPr>
        <p:spPr>
          <a:xfrm>
            <a:off x="548640" y="347472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8E2"/>
                </a:solidFill>
                <a:latin typeface="Yu Gothic"/>
              </a:rPr>
              <a:t>AIエージェント「SivaClaw」が具体的に何をしたのか</a:t>
            </a:r>
          </a:p>
        </p:txBody>
      </p:sp>
      <p:sp>
        <p:nvSpPr>
          <p:cNvPr id="11" name="Oval 10"/>
          <p:cNvSpPr/>
          <p:nvPr/>
        </p:nvSpPr>
        <p:spPr>
          <a:xfrm>
            <a:off x="548640" y="425196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8E2"/>
                </a:solidFill>
                <a:latin typeface="Yu Gothic"/>
              </a:rPr>
              <a:t>従来の資金調達プロセスとの違い</a:t>
            </a:r>
          </a:p>
        </p:txBody>
      </p:sp>
      <p:sp>
        <p:nvSpPr>
          <p:cNvPr id="13" name="Oval 12"/>
          <p:cNvSpPr/>
          <p:nvPr/>
        </p:nvSpPr>
        <p:spPr>
          <a:xfrm>
            <a:off x="548640" y="502920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8E2"/>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8E2"/>
                </a:solidFill>
                <a:latin typeface="Yu Gothic"/>
              </a:rPr>
              <a:t>鮮度についての正直な開示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何が起きたのか</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Lyzrが2026年7月9日、シリーズBで1億ドルの資金調達を発表</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評価額は約5億ドルと報じられている</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自社開発のAIエージェント「SivaClaw」が資金調達プロセスの大きな部分を主導</a:t>
            </a:r>
          </a:p>
        </p:txBody>
      </p:sp>
      <p:sp>
        <p:nvSpPr>
          <p:cNvPr id="12" name="Oval 11"/>
          <p:cNvSpPr/>
          <p:nvPr/>
        </p:nvSpPr>
        <p:spPr>
          <a:xfrm>
            <a:off x="457200" y="381304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創業者はシリコンバレーへ飛ぶ従来型のロードショーをしなかった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C6B66"/>
                </a:solidFill>
                <a:latin typeface="Yu Gothic"/>
              </a:rPr>
              <a:t>出典: TechCrunch・Bloomberg(2026-07-09)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8E2"/>
                </a:solidFill>
                <a:latin typeface="Yu Gothic"/>
              </a:rPr>
              <a:t>シリーズB調達額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AE7A"/>
                </a:solidFill>
                <a:latin typeface="Yu Gothic"/>
              </a:rPr>
              <a:t>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評価額約5億ドルでのシリーズB(2026年7月9日発表)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4B8"/>
                </a:solidFill>
                <a:latin typeface="Yu Gothic"/>
              </a:rPr>
              <a:t>出典: TechCrunch・Bloomberg(2026-07-09)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調達概要</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C1F26"/>
                    </a:solidFill>
                  </a:tcPr>
                </a:tc>
                <a:tc>
                  <a:txBody>
                    <a:bodyPr/>
                    <a:lstStyle/>
                    <a:p>
                      <a:pPr>
                        <a:defRPr sz="1300" b="1">
                          <a:solidFill>
                            <a:srgbClr val="FFFFFF"/>
                          </a:solidFill>
                          <a:latin typeface="Yu Gothic"/>
                        </a:defRPr>
                      </a:pPr>
                      <a:r>
                        <a:t>内容</a:t>
                      </a:r>
                    </a:p>
                  </a:txBody>
                  <a:tcPr>
                    <a:solidFill>
                      <a:srgbClr val="1C1F26"/>
                    </a:solidFill>
                  </a:tcPr>
                </a:tc>
              </a:tr>
              <a:tr h="502920">
                <a:tc>
                  <a:txBody>
                    <a:bodyPr/>
                    <a:lstStyle/>
                    <a:p>
                      <a:pPr>
                        <a:defRPr sz="1200">
                          <a:solidFill>
                            <a:srgbClr val="14171C"/>
                          </a:solidFill>
                          <a:latin typeface="Yu Gothic"/>
                        </a:defRPr>
                      </a:pPr>
                      <a:r>
                        <a:t>企業名</a:t>
                      </a:r>
                    </a:p>
                  </a:txBody>
                  <a:tcPr>
                    <a:solidFill>
                      <a:srgbClr val="FFFFFF"/>
                    </a:solidFill>
                  </a:tcPr>
                </a:tc>
                <a:tc>
                  <a:txBody>
                    <a:bodyPr/>
                    <a:lstStyle/>
                    <a:p>
                      <a:pPr>
                        <a:defRPr sz="1200">
                          <a:solidFill>
                            <a:srgbClr val="14171C"/>
                          </a:solidFill>
                          <a:latin typeface="Yu Gothic"/>
                        </a:defRPr>
                      </a:pPr>
                      <a:r>
                        <a:t>Lyzr</a:t>
                      </a:r>
                    </a:p>
                  </a:txBody>
                  <a:tcPr>
                    <a:solidFill>
                      <a:srgbClr val="FFFFFF"/>
                    </a:solidFill>
                  </a:tcPr>
                </a:tc>
              </a:tr>
              <a:tr h="502920">
                <a:tc>
                  <a:txBody>
                    <a:bodyPr/>
                    <a:lstStyle/>
                    <a:p>
                      <a:pPr>
                        <a:defRPr sz="1200">
                          <a:solidFill>
                            <a:srgbClr val="14171C"/>
                          </a:solidFill>
                          <a:latin typeface="Yu Gothic"/>
                        </a:defRPr>
                      </a:pPr>
                      <a:r>
                        <a:t>事業内容</a:t>
                      </a:r>
                    </a:p>
                  </a:txBody>
                  <a:tcPr>
                    <a:solidFill>
                      <a:srgbClr val="F2F7F4"/>
                    </a:solidFill>
                  </a:tcPr>
                </a:tc>
                <a:tc>
                  <a:txBody>
                    <a:bodyPr/>
                    <a:lstStyle/>
                    <a:p>
                      <a:pPr>
                        <a:defRPr sz="1200">
                          <a:solidFill>
                            <a:srgbClr val="14171C"/>
                          </a:solidFill>
                          <a:latin typeface="Yu Gothic"/>
                        </a:defRPr>
                      </a:pPr>
                      <a:r>
                        <a:t>企業向けAIエージェントの開発</a:t>
                      </a:r>
                    </a:p>
                  </a:txBody>
                  <a:tcPr>
                    <a:solidFill>
                      <a:srgbClr val="F2F7F4"/>
                    </a:solidFill>
                  </a:tcPr>
                </a:tc>
              </a:tr>
              <a:tr h="502920">
                <a:tc>
                  <a:txBody>
                    <a:bodyPr/>
                    <a:lstStyle/>
                    <a:p>
                      <a:pPr>
                        <a:defRPr sz="1200">
                          <a:solidFill>
                            <a:srgbClr val="14171C"/>
                          </a:solidFill>
                          <a:latin typeface="Yu Gothic"/>
                        </a:defRPr>
                      </a:pPr>
                      <a:r>
                        <a:t>調達ラウンド</a:t>
                      </a:r>
                    </a:p>
                  </a:txBody>
                  <a:tcPr>
                    <a:solidFill>
                      <a:srgbClr val="FFFFFF"/>
                    </a:solidFill>
                  </a:tcPr>
                </a:tc>
                <a:tc>
                  <a:txBody>
                    <a:bodyPr/>
                    <a:lstStyle/>
                    <a:p>
                      <a:pPr>
                        <a:defRPr sz="1200">
                          <a:solidFill>
                            <a:srgbClr val="14171C"/>
                          </a:solidFill>
                          <a:latin typeface="Yu Gothic"/>
                        </a:defRPr>
                      </a:pPr>
                      <a:r>
                        <a:t>シリーズB</a:t>
                      </a:r>
                    </a:p>
                  </a:txBody>
                  <a:tcPr>
                    <a:solidFill>
                      <a:srgbClr val="FFFFFF"/>
                    </a:solidFill>
                  </a:tcPr>
                </a:tc>
              </a:tr>
              <a:tr h="502920">
                <a:tc>
                  <a:txBody>
                    <a:bodyPr/>
                    <a:lstStyle/>
                    <a:p>
                      <a:pPr>
                        <a:defRPr sz="1200">
                          <a:solidFill>
                            <a:srgbClr val="14171C"/>
                          </a:solidFill>
                          <a:latin typeface="Yu Gothic"/>
                        </a:defRPr>
                      </a:pPr>
                      <a:r>
                        <a:t>調達額</a:t>
                      </a:r>
                    </a:p>
                  </a:txBody>
                  <a:tcPr>
                    <a:solidFill>
                      <a:srgbClr val="F2F7F4"/>
                    </a:solidFill>
                  </a:tcPr>
                </a:tc>
                <a:tc>
                  <a:txBody>
                    <a:bodyPr/>
                    <a:lstStyle/>
                    <a:p>
                      <a:pPr>
                        <a:defRPr sz="1200">
                          <a:solidFill>
                            <a:srgbClr val="14171C"/>
                          </a:solidFill>
                          <a:latin typeface="Yu Gothic"/>
                        </a:defRPr>
                      </a:pPr>
                      <a:r>
                        <a:t>1億ドル</a:t>
                      </a:r>
                    </a:p>
                  </a:txBody>
                  <a:tcPr>
                    <a:solidFill>
                      <a:srgbClr val="F2F7F4"/>
                    </a:solidFill>
                  </a:tcPr>
                </a:tc>
              </a:tr>
              <a:tr h="502920">
                <a:tc>
                  <a:txBody>
                    <a:bodyPr/>
                    <a:lstStyle/>
                    <a:p>
                      <a:pPr>
                        <a:defRPr sz="1200">
                          <a:solidFill>
                            <a:srgbClr val="14171C"/>
                          </a:solidFill>
                          <a:latin typeface="Yu Gothic"/>
                        </a:defRPr>
                      </a:pPr>
                      <a:r>
                        <a:t>評価額</a:t>
                      </a:r>
                    </a:p>
                  </a:txBody>
                  <a:tcPr>
                    <a:solidFill>
                      <a:srgbClr val="FFFFFF"/>
                    </a:solidFill>
                  </a:tcPr>
                </a:tc>
                <a:tc>
                  <a:txBody>
                    <a:bodyPr/>
                    <a:lstStyle/>
                    <a:p>
                      <a:pPr>
                        <a:defRPr sz="1200">
                          <a:solidFill>
                            <a:srgbClr val="14171C"/>
                          </a:solidFill>
                          <a:latin typeface="Yu Gothic"/>
                        </a:defRPr>
                      </a:pPr>
                      <a:r>
                        <a:t>約5億ドル</a:t>
                      </a:r>
                    </a:p>
                  </a:txBody>
                  <a:tcPr>
                    <a:solidFill>
                      <a:srgbClr val="FFFFFF"/>
                    </a:solidFill>
                  </a:tcPr>
                </a:tc>
              </a:tr>
              <a:tr h="502920">
                <a:tc>
                  <a:txBody>
                    <a:bodyPr/>
                    <a:lstStyle/>
                    <a:p>
                      <a:pPr>
                        <a:defRPr sz="1200">
                          <a:solidFill>
                            <a:srgbClr val="14171C"/>
                          </a:solidFill>
                          <a:latin typeface="Yu Gothic"/>
                        </a:defRPr>
                      </a:pPr>
                      <a:r>
                        <a:t>発表日</a:t>
                      </a:r>
                    </a:p>
                  </a:txBody>
                  <a:tcPr>
                    <a:solidFill>
                      <a:srgbClr val="F2F7F4"/>
                    </a:solidFill>
                  </a:tcPr>
                </a:tc>
                <a:tc>
                  <a:txBody>
                    <a:bodyPr/>
                    <a:lstStyle/>
                    <a:p>
                      <a:pPr>
                        <a:defRPr sz="1200">
                          <a:solidFill>
                            <a:srgbClr val="14171C"/>
                          </a:solidFill>
                          <a:latin typeface="Yu Gothic"/>
                        </a:defRPr>
                      </a:pPr>
                      <a:r>
                        <a:t>2026年7月9日</a:t>
                      </a:r>
                    </a:p>
                  </a:txBody>
                  <a:tcPr>
                    <a:solidFill>
                      <a:srgbClr val="F2F7F4"/>
                    </a:solidFill>
                  </a:tcPr>
                </a:tc>
              </a:tr>
              <a:tr h="502920">
                <a:tc>
                  <a:txBody>
                    <a:bodyPr/>
                    <a:lstStyle/>
                    <a:p>
                      <a:pPr>
                        <a:defRPr sz="1200">
                          <a:solidFill>
                            <a:srgbClr val="14171C"/>
                          </a:solidFill>
                          <a:latin typeface="Yu Gothic"/>
                        </a:defRPr>
                      </a:pPr>
                      <a:r>
                        <a:t>特徴</a:t>
                      </a:r>
                    </a:p>
                  </a:txBody>
                  <a:tcPr>
                    <a:solidFill>
                      <a:srgbClr val="FFFFFF"/>
                    </a:solidFill>
                  </a:tcPr>
                </a:tc>
                <a:tc>
                  <a:txBody>
                    <a:bodyPr/>
                    <a:lstStyle/>
                    <a:p>
                      <a:pPr>
                        <a:defRPr sz="1200">
                          <a:solidFill>
                            <a:srgbClr val="14171C"/>
                          </a:solidFill>
                          <a:latin typeface="Yu Gothic"/>
                        </a:defRPr>
                      </a:pPr>
                      <a:r>
                        <a:t>自社のAIエージェント「SivaClaw」が調達プロセスを主導</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Lyzrとは</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事業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企業向けのAIエージェントを開発する会社</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今回の調達</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シリーズBで1億ドル、評価額は約5億ドルと報じられている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話題の中心</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自社製品「SivaClaw」を自社の資金調達に活用した点</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8E2"/>
                </a:solidFill>
                <a:latin typeface="Yu Gothic"/>
              </a:rPr>
              <a:t>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AE7A"/>
                </a:solidFill>
                <a:latin typeface="Yu Gothic"/>
              </a:rPr>
              <a:t>約5億ドル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シリーズB(1億ドル)実施後の評価額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4B8"/>
                </a:solidFill>
                <a:latin typeface="Yu Gothic"/>
              </a:rPr>
              <a:t>出典: SiliconANGLE(2026-07-09)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AIエージェント「SivaClaw」とは</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開発元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Lyzr自身が開発したAIエージェント製品</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今回の役割</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自社の資金調達プロセスの大きな部分を主導したと報じられている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「自社製品を自社の重要業務に使う」という実演のような事例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SivaClawが行ったこと(報道による)</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投資家からの質問対応</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130社を超える投資家からの質問にSivaClawが対応</a:t>
            </a:r>
          </a:p>
        </p:txBody>
      </p:sp>
      <p:sp>
        <p:nvSpPr>
          <p:cNvPr id="10" name="Right Arrow 9"/>
          <p:cNvSpPr/>
          <p:nvPr/>
        </p:nvSpPr>
        <p:spPr>
          <a:xfrm>
            <a:off x="4157319" y="3108959"/>
            <a:ext cx="676656" cy="365760"/>
          </a:xfrm>
          <a:prstGeom prst="rightArrow">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投資メモの作成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投資家向けの投資メモ(investment memo)を作成</a:t>
            </a:r>
          </a:p>
        </p:txBody>
      </p:sp>
      <p:sp>
        <p:nvSpPr>
          <p:cNvPr id="15" name="Right Arrow 14"/>
          <p:cNvSpPr/>
          <p:nvPr/>
        </p:nvSpPr>
        <p:spPr>
          <a:xfrm>
            <a:off x="7357719" y="3108959"/>
            <a:ext cx="676656" cy="365760"/>
          </a:xfrm>
          <a:prstGeom prst="rightArrow">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スライド閲覧の追跡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投資家がどのスライドに時間をかけて注目したかを追跡</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従来のロードショー vs SivaClawが主導したプロセス</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C1F26"/>
                </a:solidFill>
                <a:latin typeface="Yu Gothic"/>
              </a:rPr>
              <a:t>従来型のロードショー</a:t>
            </a:r>
          </a:p>
        </p:txBody>
      </p:sp>
      <p:sp>
        <p:nvSpPr>
          <p:cNvPr id="9" name="Oval 8"/>
          <p:cNvSpPr/>
          <p:nvPr/>
        </p:nvSpPr>
        <p:spPr>
          <a:xfrm>
            <a:off x="777240" y="253288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創業者がシリコンバレー等へ実際に飛ぶ</a:t>
            </a:r>
          </a:p>
        </p:txBody>
      </p:sp>
      <p:sp>
        <p:nvSpPr>
          <p:cNvPr id="11" name="Oval 10"/>
          <p:cNvSpPr/>
          <p:nvPr/>
        </p:nvSpPr>
        <p:spPr>
          <a:xfrm>
            <a:off x="777240" y="308152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投資家一社ずつに口頭で説明・質疑応答</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C1F26"/>
                </a:solidFill>
                <a:latin typeface="Yu Gothic"/>
              </a:rPr>
              <a:t>Lyzrのプロセス(報道による)</a:t>
            </a:r>
          </a:p>
        </p:txBody>
      </p:sp>
      <p:sp>
        <p:nvSpPr>
          <p:cNvPr id="16" name="Oval 15"/>
          <p:cNvSpPr/>
          <p:nvPr/>
        </p:nvSpPr>
        <p:spPr>
          <a:xfrm>
            <a:off x="6598767" y="253288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創業者はシリコンバレーへ飛ばなかった</a:t>
            </a:r>
          </a:p>
        </p:txBody>
      </p:sp>
      <p:sp>
        <p:nvSpPr>
          <p:cNvPr id="18" name="Oval 17"/>
          <p:cNvSpPr/>
          <p:nvPr/>
        </p:nvSpPr>
        <p:spPr>
          <a:xfrm>
            <a:off x="6598767" y="308152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SivaClawが130社超の質問対応・メモ作成・関心追跡を担った</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8E2"/>
                </a:solidFill>
                <a:latin typeface="Yu Gothic"/>
              </a:rPr>
              <a:t>対応した投資家数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AE7A"/>
                </a:solidFill>
                <a:latin typeface="Yu Gothic"/>
              </a:rPr>
              <a:t>130社超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SivaClawが質問に対応した投資家の数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4B8"/>
                </a:solidFill>
                <a:latin typeface="Yu Gothic"/>
              </a:rPr>
              <a:t>出典: Pulse2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SivaClawの役割(3つのタスク)</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C1F26"/>
                </a:solidFill>
                <a:latin typeface="Yu Gothic"/>
              </a:rPr>
              <a:t>1. 質問対応</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C6B66"/>
                </a:solidFill>
                <a:latin typeface="Yu Gothic"/>
              </a:rPr>
              <a:t>130社を超える投資家からの質問に対応</a:t>
            </a:r>
          </a:p>
        </p:txBody>
      </p:sp>
      <p:sp>
        <p:nvSpPr>
          <p:cNvPr id="11" name="Chevron 10"/>
          <p:cNvSpPr/>
          <p:nvPr/>
        </p:nvSpPr>
        <p:spPr>
          <a:xfrm>
            <a:off x="4038295" y="3200400"/>
            <a:ext cx="234086" cy="365760"/>
          </a:xfrm>
          <a:prstGeom prst="chevron">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C1F26"/>
                </a:solidFill>
                <a:latin typeface="Yu Gothic"/>
              </a:rPr>
              <a:t>2. 投資メモの作成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C6B66"/>
                </a:solidFill>
                <a:latin typeface="Yu Gothic"/>
              </a:rPr>
              <a:t>投資家向けの投資メモを作成</a:t>
            </a:r>
          </a:p>
        </p:txBody>
      </p:sp>
      <p:sp>
        <p:nvSpPr>
          <p:cNvPr id="17" name="Chevron 16"/>
          <p:cNvSpPr/>
          <p:nvPr/>
        </p:nvSpPr>
        <p:spPr>
          <a:xfrm>
            <a:off x="7919313" y="3200400"/>
            <a:ext cx="234086" cy="365760"/>
          </a:xfrm>
          <a:prstGeom prst="chevron">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C1F26"/>
                </a:solidFill>
                <a:latin typeface="Yu Gothic"/>
              </a:rPr>
              <a:t>3. 関心度の追跡</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C6B66"/>
                </a:solidFill>
                <a:latin typeface="Yu Gothic"/>
              </a:rPr>
              <a:t>投資家がどのスライドに時間をかけたかを追跡</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8E2"/>
                </a:solidFill>
                <a:latin typeface="Yu Gothic"/>
              </a:rPr>
              <a:t>集まった投資家の関心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AE7A"/>
                </a:solidFill>
                <a:latin typeface="Yu Gothic"/>
              </a:rPr>
              <a:t>4億ドル相当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シリコンバレー・中東・金融セクターの投資家から集まった関心の規模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4B8"/>
                </a:solidFill>
                <a:latin typeface="Yu Gothic"/>
              </a:rPr>
              <a:t>出典: Pulse2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関心を寄せた投資家の地域</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地域</a:t>
                      </a:r>
                    </a:p>
                  </a:txBody>
                  <a:tcPr>
                    <a:solidFill>
                      <a:srgbClr val="1C1F26"/>
                    </a:solidFill>
                  </a:tcPr>
                </a:tc>
                <a:tc>
                  <a:txBody>
                    <a:bodyPr/>
                    <a:lstStyle/>
                    <a:p>
                      <a:pPr>
                        <a:defRPr sz="1300" b="1">
                          <a:solidFill>
                            <a:srgbClr val="FFFFFF"/>
                          </a:solidFill>
                          <a:latin typeface="Yu Gothic"/>
                        </a:defRPr>
                      </a:pPr>
                      <a:r>
                        <a:t>備考</a:t>
                      </a:r>
                    </a:p>
                  </a:txBody>
                  <a:tcPr>
                    <a:solidFill>
                      <a:srgbClr val="1C1F26"/>
                    </a:solidFill>
                  </a:tcPr>
                </a:tc>
              </a:tr>
              <a:tr h="502920">
                <a:tc>
                  <a:txBody>
                    <a:bodyPr/>
                    <a:lstStyle/>
                    <a:p>
                      <a:pPr>
                        <a:defRPr sz="1200">
                          <a:solidFill>
                            <a:srgbClr val="14171C"/>
                          </a:solidFill>
                          <a:latin typeface="Yu Gothic"/>
                        </a:defRPr>
                      </a:pPr>
                      <a:r>
                        <a:t>シリコンバレー</a:t>
                      </a:r>
                    </a:p>
                  </a:txBody>
                  <a:tcPr>
                    <a:solidFill>
                      <a:srgbClr val="FFFFFF"/>
                    </a:solidFill>
                  </a:tcPr>
                </a:tc>
                <a:tc>
                  <a:txBody>
                    <a:bodyPr/>
                    <a:lstStyle/>
                    <a:p>
                      <a:pPr>
                        <a:defRPr sz="1200">
                          <a:solidFill>
                            <a:srgbClr val="14171C"/>
                          </a:solidFill>
                          <a:latin typeface="Yu Gothic"/>
                        </a:defRPr>
                      </a:pPr>
                      <a:r>
                        <a:t>米国の主要投資拠点</a:t>
                      </a:r>
                    </a:p>
                  </a:txBody>
                  <a:tcPr>
                    <a:solidFill>
                      <a:srgbClr val="FFFFFF"/>
                    </a:solidFill>
                  </a:tcPr>
                </a:tc>
              </a:tr>
              <a:tr h="502920">
                <a:tc>
                  <a:txBody>
                    <a:bodyPr/>
                    <a:lstStyle/>
                    <a:p>
                      <a:pPr>
                        <a:defRPr sz="1200">
                          <a:solidFill>
                            <a:srgbClr val="14171C"/>
                          </a:solidFill>
                          <a:latin typeface="Yu Gothic"/>
                        </a:defRPr>
                      </a:pPr>
                      <a:r>
                        <a:t>中東</a:t>
                      </a:r>
                    </a:p>
                  </a:txBody>
                  <a:tcPr>
                    <a:solidFill>
                      <a:srgbClr val="F2F7F4"/>
                    </a:solidFill>
                  </a:tcPr>
                </a:tc>
                <a:tc>
                  <a:txBody>
                    <a:bodyPr/>
                    <a:lstStyle/>
                    <a:p>
                      <a:pPr>
                        <a:defRPr sz="1200">
                          <a:solidFill>
                            <a:srgbClr val="14171C"/>
                          </a:solidFill>
                          <a:latin typeface="Yu Gothic"/>
                        </a:defRPr>
                      </a:pPr>
                      <a:r>
                        <a:t>近年、AI関連投資が活発化している地域として報じられている</a:t>
                      </a:r>
                    </a:p>
                  </a:txBody>
                  <a:tcPr>
                    <a:solidFill>
                      <a:srgbClr val="F2F7F4"/>
                    </a:solidFill>
                  </a:tcPr>
                </a:tc>
              </a:tr>
              <a:tr h="502920">
                <a:tc>
                  <a:txBody>
                    <a:bodyPr/>
                    <a:lstStyle/>
                    <a:p>
                      <a:pPr>
                        <a:defRPr sz="1200">
                          <a:solidFill>
                            <a:srgbClr val="14171C"/>
                          </a:solidFill>
                          <a:latin typeface="Yu Gothic"/>
                        </a:defRPr>
                      </a:pPr>
                      <a:r>
                        <a:t>金融セクター</a:t>
                      </a:r>
                    </a:p>
                  </a:txBody>
                  <a:tcPr>
                    <a:solidFill>
                      <a:srgbClr val="FFFFFF"/>
                    </a:solidFill>
                  </a:tcPr>
                </a:tc>
                <a:tc>
                  <a:txBody>
                    <a:bodyPr/>
                    <a:lstStyle/>
                    <a:p>
                      <a:pPr>
                        <a:defRPr sz="1200">
                          <a:solidFill>
                            <a:srgbClr val="14171C"/>
                          </a:solidFill>
                          <a:latin typeface="Yu Gothic"/>
                        </a:defRPr>
                      </a:pPr>
                      <a:r>
                        <a:t>業種としての金融関係の投資家</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この事例が話題になった理由</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意外性</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AIエージェント製品を、自社の資金調達という重要業務に使った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規模感</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130社超への対応、4億ドル相当の関心という具体的な数字</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働き方の変化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創業者がシリコンバレーへ飛ばずに済んだという象徴的な変化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初心者向け: AIエージェントとは</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AIエージェントとは、指示を受けて自律的にタスクを遂行するAIプログラムのこと</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質問への回答、文書の作成、進捗の追跡など複数のタスクをこなせる点が特徴</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Lyzrはこうした企業向けAIエージェントを開発・提供している会社</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人間の役割はどうだったのか(正直な整理)</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報道が伝えるのは「130社超への質問対応」「メモ作成」「閲覧追跡」という具体的なタスク</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資金調達プロセス全体を人間の関与ゼロで完結させたとは、いずれの出典も明言していない</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SivaClawが担った範囲と、人間(創業者・チーム)が担った範囲の正確な分担比率は確認できていない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C6B66"/>
                </a:solidFill>
                <a:latin typeface="Yu Gothic"/>
              </a:rPr>
              <a:t>出典: TechCrunch・Bloomberg・SiliconANGLE・Pulse2</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資金調達プロセスの流れ(概要)</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投資家との接点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SivaClawが130社超の質問に対応</a:t>
            </a:r>
          </a:p>
        </p:txBody>
      </p:sp>
      <p:sp>
        <p:nvSpPr>
          <p:cNvPr id="10" name="Right Arrow 9"/>
          <p:cNvSpPr/>
          <p:nvPr/>
        </p:nvSpPr>
        <p:spPr>
          <a:xfrm>
            <a:off x="4157319" y="3108959"/>
            <a:ext cx="676656" cy="365760"/>
          </a:xfrm>
          <a:prstGeom prst="rightArrow">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資料の準備</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SivaClawが投資メモを作成</a:t>
            </a:r>
          </a:p>
        </p:txBody>
      </p:sp>
      <p:sp>
        <p:nvSpPr>
          <p:cNvPr id="15" name="Right Arrow 14"/>
          <p:cNvSpPr/>
          <p:nvPr/>
        </p:nvSpPr>
        <p:spPr>
          <a:xfrm>
            <a:off x="7357719" y="3108959"/>
            <a:ext cx="676656" cy="365760"/>
          </a:xfrm>
          <a:prstGeom prst="rightArrow">
            <a:avLst/>
          </a:prstGeom>
          <a:solidFill>
            <a:srgbClr val="1FA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C1F26"/>
                </a:solidFill>
                <a:latin typeface="Yu Gothic"/>
              </a:rPr>
              <a:t>調達の成立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C6B66"/>
                </a:solidFill>
                <a:latin typeface="Yu Gothic"/>
              </a:rPr>
              <a:t>1億ドルのシリーズB、評価額約5億ドル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調達額(1億ドル)・評価額(約5億ドル)・SivaClawの3つのタスクは複数媒体で一致</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本ラウンドを主導した投資家(リード投資家)の社名は確認できていない</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Lyzrの現在の顧客数・売上高等の経営指標は確認できていない</a:t>
            </a:r>
          </a:p>
        </p:txBody>
      </p:sp>
      <p:sp>
        <p:nvSpPr>
          <p:cNvPr id="12" name="Oval 11"/>
          <p:cNvSpPr/>
          <p:nvPr/>
        </p:nvSpPr>
        <p:spPr>
          <a:xfrm>
            <a:off x="457200" y="381304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130社超の投資家の具体的な社名・内訳は確認できていない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C6B66"/>
                </a:solidFill>
                <a:latin typeface="Yu Gothic"/>
              </a:rPr>
              <a:t>出典: TechCrunch・Bloomberg・SiliconANGLE・Pulse2(2026-07-09)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未確認事項一覧</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C1F26"/>
                    </a:solidFill>
                  </a:tcPr>
                </a:tc>
                <a:tc>
                  <a:txBody>
                    <a:bodyPr/>
                    <a:lstStyle/>
                    <a:p>
                      <a:pPr>
                        <a:defRPr sz="1300" b="1">
                          <a:solidFill>
                            <a:srgbClr val="FFFFFF"/>
                          </a:solidFill>
                          <a:latin typeface="Yu Gothic"/>
                        </a:defRPr>
                      </a:pPr>
                      <a:r>
                        <a:t>状況</a:t>
                      </a:r>
                    </a:p>
                  </a:txBody>
                  <a:tcPr>
                    <a:solidFill>
                      <a:srgbClr val="1C1F26"/>
                    </a:solidFill>
                  </a:tcPr>
                </a:tc>
              </a:tr>
              <a:tr h="502920">
                <a:tc>
                  <a:txBody>
                    <a:bodyPr/>
                    <a:lstStyle/>
                    <a:p>
                      <a:pPr>
                        <a:defRPr sz="1200">
                          <a:solidFill>
                            <a:srgbClr val="14171C"/>
                          </a:solidFill>
                          <a:latin typeface="Yu Gothic"/>
                        </a:defRPr>
                      </a:pPr>
                      <a:r>
                        <a:t>リード投資家の社名</a:t>
                      </a:r>
                    </a:p>
                  </a:txBody>
                  <a:tcPr>
                    <a:solidFill>
                      <a:srgbClr val="FFFFFF"/>
                    </a:solidFill>
                  </a:tcPr>
                </a:tc>
                <a:tc>
                  <a:txBody>
                    <a:bodyPr/>
                    <a:lstStyle/>
                    <a:p>
                      <a:pPr>
                        <a:defRPr sz="1200">
                          <a:solidFill>
                            <a:srgbClr val="14171C"/>
                          </a:solidFill>
                          <a:latin typeface="Yu Gothic"/>
                        </a:defRPr>
                      </a:pPr>
                      <a:r>
                        <a:t>未確認</a:t>
                      </a:r>
                    </a:p>
                  </a:txBody>
                  <a:tcPr>
                    <a:solidFill>
                      <a:srgbClr val="FFFFFF"/>
                    </a:solidFill>
                  </a:tcPr>
                </a:tc>
              </a:tr>
              <a:tr h="502920">
                <a:tc>
                  <a:txBody>
                    <a:bodyPr/>
                    <a:lstStyle/>
                    <a:p>
                      <a:pPr>
                        <a:defRPr sz="1200">
                          <a:solidFill>
                            <a:srgbClr val="14171C"/>
                          </a:solidFill>
                          <a:latin typeface="Yu Gothic"/>
                        </a:defRPr>
                      </a:pPr>
                      <a:r>
                        <a:t>Lyzrの顧客数・売上高</a:t>
                      </a:r>
                    </a:p>
                  </a:txBody>
                  <a:tcPr>
                    <a:solidFill>
                      <a:srgbClr val="F2F7F4"/>
                    </a:solidFill>
                  </a:tcPr>
                </a:tc>
                <a:tc>
                  <a:txBody>
                    <a:bodyPr/>
                    <a:lstStyle/>
                    <a:p>
                      <a:pPr>
                        <a:defRPr sz="1200">
                          <a:solidFill>
                            <a:srgbClr val="14171C"/>
                          </a:solidFill>
                          <a:latin typeface="Yu Gothic"/>
                        </a:defRPr>
                      </a:pPr>
                      <a:r>
                        <a:t>未確認</a:t>
                      </a:r>
                    </a:p>
                  </a:txBody>
                  <a:tcPr>
                    <a:solidFill>
                      <a:srgbClr val="F2F7F4"/>
                    </a:solidFill>
                  </a:tcPr>
                </a:tc>
              </a:tr>
              <a:tr h="502920">
                <a:tc>
                  <a:txBody>
                    <a:bodyPr/>
                    <a:lstStyle/>
                    <a:p>
                      <a:pPr>
                        <a:defRPr sz="1200">
                          <a:solidFill>
                            <a:srgbClr val="14171C"/>
                          </a:solidFill>
                          <a:latin typeface="Yu Gothic"/>
                        </a:defRPr>
                      </a:pPr>
                      <a:r>
                        <a:t>人間とAIの正確な分担比率</a:t>
                      </a:r>
                    </a:p>
                  </a:txBody>
                  <a:tcPr>
                    <a:solidFill>
                      <a:srgbClr val="FFFFFF"/>
                    </a:solidFill>
                  </a:tcPr>
                </a:tc>
                <a:tc>
                  <a:txBody>
                    <a:bodyPr/>
                    <a:lstStyle/>
                    <a:p>
                      <a:pPr>
                        <a:defRPr sz="1200">
                          <a:solidFill>
                            <a:srgbClr val="14171C"/>
                          </a:solidFill>
                          <a:latin typeface="Yu Gothic"/>
                        </a:defRPr>
                      </a:pPr>
                      <a:r>
                        <a:t>未確認(具体的タスクのみ報道)</a:t>
                      </a:r>
                    </a:p>
                  </a:txBody>
                  <a:tcPr>
                    <a:solidFill>
                      <a:srgbClr val="FFFFFF"/>
                    </a:solidFill>
                  </a:tcPr>
                </a:tc>
              </a:tr>
              <a:tr h="502920">
                <a:tc>
                  <a:txBody>
                    <a:bodyPr/>
                    <a:lstStyle/>
                    <a:p>
                      <a:pPr>
                        <a:defRPr sz="1200">
                          <a:solidFill>
                            <a:srgbClr val="14171C"/>
                          </a:solidFill>
                          <a:latin typeface="Yu Gothic"/>
                        </a:defRPr>
                      </a:pPr>
                      <a:r>
                        <a:t>130社超の投資家の内訳</a:t>
                      </a:r>
                    </a:p>
                  </a:txBody>
                  <a:tcPr>
                    <a:solidFill>
                      <a:srgbClr val="F2F7F4"/>
                    </a:solidFill>
                  </a:tcPr>
                </a:tc>
                <a:tc>
                  <a:txBody>
                    <a:bodyPr/>
                    <a:lstStyle/>
                    <a:p>
                      <a:pPr>
                        <a:defRPr sz="1200">
                          <a:solidFill>
                            <a:srgbClr val="14171C"/>
                          </a:solidFill>
                          <a:latin typeface="Yu Gothic"/>
                        </a:defRPr>
                      </a:pPr>
                      <a:r>
                        <a:t>未確認</a:t>
                      </a:r>
                    </a:p>
                  </a:txBody>
                  <a:tcPr>
                    <a:solidFill>
                      <a:srgbClr val="F2F7F4"/>
                    </a:solidFill>
                  </a:tcPr>
                </a:tc>
              </a:tr>
              <a:tr h="502920">
                <a:tc>
                  <a:txBody>
                    <a:bodyPr/>
                    <a:lstStyle/>
                    <a:p>
                      <a:pPr>
                        <a:defRPr sz="1200">
                          <a:solidFill>
                            <a:srgbClr val="14171C"/>
                          </a:solidFill>
                          <a:latin typeface="Yu Gothic"/>
                        </a:defRPr>
                      </a:pPr>
                      <a:r>
                        <a:t>SivaClawの技術的な仕組み</a:t>
                      </a:r>
                    </a:p>
                  </a:txBody>
                  <a:tcPr>
                    <a:solidFill>
                      <a:srgbClr val="FFFFFF"/>
                    </a:solidFill>
                  </a:tcPr>
                </a:tc>
                <a:tc>
                  <a:txBody>
                    <a:bodyPr/>
                    <a:lstStyle/>
                    <a:p>
                      <a:pPr>
                        <a:defRPr sz="1200">
                          <a:solidFill>
                            <a:srgbClr val="14171C"/>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本発表は2026年7月9日、着手日(2026年8月4日)の26日前である</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`docs/06_Content_R&amp;D.md`の鮮度基準(着手日の前日以内)を満たしていない</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round80の評価では意外性の高いフックと複数媒体の裏付けを踏まえ、鮮度未達を開示した上で採用した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round80評価表からの開示(スコア76/100)</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C1F26"/>
                    </a:solidFill>
                  </a:tcPr>
                </a:tc>
                <a:tc>
                  <a:txBody>
                    <a:bodyPr/>
                    <a:lstStyle/>
                    <a:p>
                      <a:pPr>
                        <a:defRPr sz="1300" b="1">
                          <a:solidFill>
                            <a:srgbClr val="FFFFFF"/>
                          </a:solidFill>
                          <a:latin typeface="Yu Gothic"/>
                        </a:defRPr>
                      </a:pPr>
                      <a:r>
                        <a:t>内容</a:t>
                      </a:r>
                    </a:p>
                  </a:txBody>
                  <a:tcPr>
                    <a:solidFill>
                      <a:srgbClr val="1C1F26"/>
                    </a:solidFill>
                  </a:tcPr>
                </a:tc>
              </a:tr>
              <a:tr h="502920">
                <a:tc>
                  <a:txBody>
                    <a:bodyPr/>
                    <a:lstStyle/>
                    <a:p>
                      <a:pPr>
                        <a:defRPr sz="1200">
                          <a:solidFill>
                            <a:srgbClr val="14171C"/>
                          </a:solidFill>
                          <a:latin typeface="Yu Gothic"/>
                        </a:defRPr>
                      </a:pPr>
                      <a:r>
                        <a:t>評価スコア</a:t>
                      </a:r>
                    </a:p>
                  </a:txBody>
                  <a:tcPr>
                    <a:solidFill>
                      <a:srgbClr val="FFFFFF"/>
                    </a:solidFill>
                  </a:tcPr>
                </a:tc>
                <a:tc>
                  <a:txBody>
                    <a:bodyPr/>
                    <a:lstStyle/>
                    <a:p>
                      <a:pPr>
                        <a:defRPr sz="1200">
                          <a:solidFill>
                            <a:srgbClr val="14171C"/>
                          </a:solidFill>
                          <a:latin typeface="Yu Gothic"/>
                        </a:defRPr>
                      </a:pPr>
                      <a:r>
                        <a:t>76/100(通常の採用基準70点は上回るが、鮮度基準は未達)</a:t>
                      </a:r>
                    </a:p>
                  </a:txBody>
                  <a:tcPr>
                    <a:solidFill>
                      <a:srgbClr val="FFFFFF"/>
                    </a:solidFill>
                  </a:tcPr>
                </a:tc>
              </a:tr>
              <a:tr h="502920">
                <a:tc>
                  <a:txBody>
                    <a:bodyPr/>
                    <a:lstStyle/>
                    <a:p>
                      <a:pPr>
                        <a:defRPr sz="1200">
                          <a:solidFill>
                            <a:srgbClr val="14171C"/>
                          </a:solidFill>
                          <a:latin typeface="Yu Gothic"/>
                        </a:defRPr>
                      </a:pPr>
                      <a:r>
                        <a:t>同時採用の候補</a:t>
                      </a:r>
                    </a:p>
                  </a:txBody>
                  <a:tcPr>
                    <a:solidFill>
                      <a:srgbClr val="F2F7F4"/>
                    </a:solidFill>
                  </a:tcPr>
                </a:tc>
                <a:tc>
                  <a:txBody>
                    <a:bodyPr/>
                    <a:lstStyle/>
                    <a:p>
                      <a:pPr>
                        <a:defRPr sz="1200">
                          <a:solidFill>
                            <a:srgbClr val="14171C"/>
                          </a:solidFill>
                          <a:latin typeface="Yu Gothic"/>
                        </a:defRPr>
                      </a:pPr>
                      <a:r>
                        <a:t>Volta AI Infra Holdings(135本目、スコア85/100、着手日当日の発表)</a:t>
                      </a:r>
                    </a:p>
                  </a:txBody>
                  <a:tcPr>
                    <a:solidFill>
                      <a:srgbClr val="F2F7F4"/>
                    </a:solidFill>
                  </a:tcPr>
                </a:tc>
              </a:tr>
              <a:tr h="502920">
                <a:tc>
                  <a:txBody>
                    <a:bodyPr/>
                    <a:lstStyle/>
                    <a:p>
                      <a:pPr>
                        <a:defRPr sz="1200">
                          <a:solidFill>
                            <a:srgbClr val="14171C"/>
                          </a:solidFill>
                          <a:latin typeface="Yu Gothic"/>
                        </a:defRPr>
                      </a:pPr>
                      <a:r>
                        <a:t>採用理由</a:t>
                      </a:r>
                    </a:p>
                  </a:txBody>
                  <a:tcPr>
                    <a:solidFill>
                      <a:srgbClr val="FFFFFF"/>
                    </a:solidFill>
                  </a:tcPr>
                </a:tc>
                <a:tc>
                  <a:txBody>
                    <a:bodyPr/>
                    <a:lstStyle/>
                    <a:p>
                      <a:pPr>
                        <a:defRPr sz="1200">
                          <a:solidFill>
                            <a:srgbClr val="14171C"/>
                          </a:solidFill>
                          <a:latin typeface="Yu Gothic"/>
                        </a:defRPr>
                      </a:pPr>
                      <a:r>
                        <a:t>「AIエージェントが自分自身の資金調達を主導する」という意外性の高いフックと、複数の独立した主要媒体による裏付け</a:t>
                      </a:r>
                    </a:p>
                  </a:txBody>
                  <a:tcPr>
                    <a:solidFill>
                      <a:srgbClr val="FFFFFF"/>
                    </a:solidFill>
                  </a:tcPr>
                </a:tc>
              </a:tr>
              <a:tr h="502920">
                <a:tc>
                  <a:txBody>
                    <a:bodyPr/>
                    <a:lstStyle/>
                    <a:p>
                      <a:pPr>
                        <a:defRPr sz="1200">
                          <a:solidFill>
                            <a:srgbClr val="14171C"/>
                          </a:solidFill>
                          <a:latin typeface="Yu Gothic"/>
                        </a:defRPr>
                      </a:pPr>
                      <a:r>
                        <a:t>鮮度</a:t>
                      </a:r>
                    </a:p>
                  </a:txBody>
                  <a:tcPr>
                    <a:solidFill>
                      <a:srgbClr val="F2F7F4"/>
                    </a:solidFill>
                  </a:tcPr>
                </a:tc>
                <a:tc>
                  <a:txBody>
                    <a:bodyPr/>
                    <a:lstStyle/>
                    <a:p>
                      <a:pPr>
                        <a:defRPr sz="1200">
                          <a:solidFill>
                            <a:srgbClr val="14171C"/>
                          </a:solidFill>
                          <a:latin typeface="Yu Gothic"/>
                        </a:defRPr>
                      </a:pPr>
                      <a:r>
                        <a:t>発表から26日経過、基準未達</a:t>
                      </a:r>
                    </a:p>
                  </a:txBody>
                  <a:tcPr>
                    <a:solidFill>
                      <a:srgbClr val="F2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出典(複数の独立した主要媒体)</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TechCrunch</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"An AI agent startup just let its agent run its $100 million fundraise"</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Bloomberg</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"A Startup That Builds AI Agents Used One to Raise $100 Million"</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C1F26"/>
                </a:solidFill>
                <a:latin typeface="Yu Gothic"/>
              </a:rPr>
              <a:t>SiliconANGLE・Pulse2</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C6B66"/>
                </a:solidFill>
                <a:latin typeface="Yu Gothic"/>
              </a:rPr>
              <a:t>評価額・SivaClawの具体的な役割を報道</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出典一覧</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C1F26"/>
                    </a:solidFill>
                  </a:tcPr>
                </a:tc>
                <a:tc>
                  <a:txBody>
                    <a:bodyPr/>
                    <a:lstStyle/>
                    <a:p>
                      <a:pPr>
                        <a:defRPr sz="1300" b="1">
                          <a:solidFill>
                            <a:srgbClr val="FFFFFF"/>
                          </a:solidFill>
                          <a:latin typeface="Yu Gothic"/>
                        </a:defRPr>
                      </a:pPr>
                      <a:r>
                        <a:t>日付</a:t>
                      </a:r>
                    </a:p>
                  </a:txBody>
                  <a:tcPr>
                    <a:solidFill>
                      <a:srgbClr val="1C1F26"/>
                    </a:solidFill>
                  </a:tcPr>
                </a:tc>
              </a:tr>
              <a:tr h="502920">
                <a:tc>
                  <a:txBody>
                    <a:bodyPr/>
                    <a:lstStyle/>
                    <a:p>
                      <a:pPr>
                        <a:defRPr sz="1200">
                          <a:solidFill>
                            <a:srgbClr val="14171C"/>
                          </a:solidFill>
                          <a:latin typeface="Yu Gothic"/>
                        </a:defRPr>
                      </a:pPr>
                      <a:r>
                        <a:t>TechCrunch</a:t>
                      </a:r>
                    </a:p>
                  </a:txBody>
                  <a:tcPr>
                    <a:solidFill>
                      <a:srgbClr val="FFFFFF"/>
                    </a:solidFill>
                  </a:tcPr>
                </a:tc>
                <a:tc>
                  <a:txBody>
                    <a:bodyPr/>
                    <a:lstStyle/>
                    <a:p>
                      <a:pPr>
                        <a:defRPr sz="1200">
                          <a:solidFill>
                            <a:srgbClr val="14171C"/>
                          </a:solidFill>
                          <a:latin typeface="Yu Gothic"/>
                        </a:defRPr>
                      </a:pPr>
                      <a:r>
                        <a:t>2026-07-09</a:t>
                      </a:r>
                    </a:p>
                  </a:txBody>
                  <a:tcPr>
                    <a:solidFill>
                      <a:srgbClr val="FFFFFF"/>
                    </a:solidFill>
                  </a:tcPr>
                </a:tc>
              </a:tr>
              <a:tr h="502920">
                <a:tc>
                  <a:txBody>
                    <a:bodyPr/>
                    <a:lstStyle/>
                    <a:p>
                      <a:pPr>
                        <a:defRPr sz="1200">
                          <a:solidFill>
                            <a:srgbClr val="14171C"/>
                          </a:solidFill>
                          <a:latin typeface="Yu Gothic"/>
                        </a:defRPr>
                      </a:pPr>
                      <a:r>
                        <a:t>Bloomberg</a:t>
                      </a:r>
                    </a:p>
                  </a:txBody>
                  <a:tcPr>
                    <a:solidFill>
                      <a:srgbClr val="F2F7F4"/>
                    </a:solidFill>
                  </a:tcPr>
                </a:tc>
                <a:tc>
                  <a:txBody>
                    <a:bodyPr/>
                    <a:lstStyle/>
                    <a:p>
                      <a:pPr>
                        <a:defRPr sz="1200">
                          <a:solidFill>
                            <a:srgbClr val="14171C"/>
                          </a:solidFill>
                          <a:latin typeface="Yu Gothic"/>
                        </a:defRPr>
                      </a:pPr>
                      <a:r>
                        <a:t>2026-07-09</a:t>
                      </a:r>
                    </a:p>
                  </a:txBody>
                  <a:tcPr>
                    <a:solidFill>
                      <a:srgbClr val="F2F7F4"/>
                    </a:solidFill>
                  </a:tcPr>
                </a:tc>
              </a:tr>
              <a:tr h="502920">
                <a:tc>
                  <a:txBody>
                    <a:bodyPr/>
                    <a:lstStyle/>
                    <a:p>
                      <a:pPr>
                        <a:defRPr sz="1200">
                          <a:solidFill>
                            <a:srgbClr val="14171C"/>
                          </a:solidFill>
                          <a:latin typeface="Yu Gothic"/>
                        </a:defRPr>
                      </a:pPr>
                      <a:r>
                        <a:t>SiliconANGLE</a:t>
                      </a:r>
                    </a:p>
                  </a:txBody>
                  <a:tcPr>
                    <a:solidFill>
                      <a:srgbClr val="FFFFFF"/>
                    </a:solidFill>
                  </a:tcPr>
                </a:tc>
                <a:tc>
                  <a:txBody>
                    <a:bodyPr/>
                    <a:lstStyle/>
                    <a:p>
                      <a:pPr>
                        <a:defRPr sz="1200">
                          <a:solidFill>
                            <a:srgbClr val="14171C"/>
                          </a:solidFill>
                          <a:latin typeface="Yu Gothic"/>
                        </a:defRPr>
                      </a:pPr>
                      <a:r>
                        <a:t>2026-07-09</a:t>
                      </a:r>
                    </a:p>
                  </a:txBody>
                  <a:tcPr>
                    <a:solidFill>
                      <a:srgbClr val="FFFFFF"/>
                    </a:solidFill>
                  </a:tcPr>
                </a:tc>
              </a:tr>
              <a:tr h="502920">
                <a:tc>
                  <a:txBody>
                    <a:bodyPr/>
                    <a:lstStyle/>
                    <a:p>
                      <a:pPr>
                        <a:defRPr sz="1200">
                          <a:solidFill>
                            <a:srgbClr val="14171C"/>
                          </a:solidFill>
                          <a:latin typeface="Yu Gothic"/>
                        </a:defRPr>
                      </a:pPr>
                      <a:r>
                        <a:t>Pulse2</a:t>
                      </a:r>
                    </a:p>
                  </a:txBody>
                  <a:tcPr>
                    <a:solidFill>
                      <a:srgbClr val="F2F7F4"/>
                    </a:solidFill>
                  </a:tcPr>
                </a:tc>
                <a:tc>
                  <a:txBody>
                    <a:bodyPr/>
                    <a:lstStyle/>
                    <a:p>
                      <a:pPr>
                        <a:defRPr sz="1200">
                          <a:solidFill>
                            <a:srgbClr val="14171C"/>
                          </a:solidFill>
                          <a:latin typeface="Yu Gothic"/>
                        </a:defRPr>
                      </a:pPr>
                      <a:r>
                        <a:t>2026年7月(日付詳細未確認)</a:t>
                      </a:r>
                    </a:p>
                  </a:txBody>
                  <a:tcPr>
                    <a:solidFill>
                      <a:srgbClr val="F2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C1F26"/>
                    </a:solidFill>
                  </a:tcPr>
                </a:tc>
                <a:tc>
                  <a:txBody>
                    <a:bodyPr/>
                    <a:lstStyle/>
                    <a:p>
                      <a:pPr>
                        <a:defRPr sz="1300" b="1">
                          <a:solidFill>
                            <a:srgbClr val="FFFFFF"/>
                          </a:solidFill>
                          <a:latin typeface="Yu Gothic"/>
                        </a:defRPr>
                      </a:pPr>
                      <a:r>
                        <a:t>結果</a:t>
                      </a:r>
                    </a:p>
                  </a:txBody>
                  <a:tcPr>
                    <a:solidFill>
                      <a:srgbClr val="1C1F26"/>
                    </a:solidFill>
                  </a:tcPr>
                </a:tc>
              </a:tr>
              <a:tr h="502920">
                <a:tc>
                  <a:txBody>
                    <a:bodyPr/>
                    <a:lstStyle/>
                    <a:p>
                      <a:pPr>
                        <a:defRPr sz="1200">
                          <a:solidFill>
                            <a:srgbClr val="14171C"/>
                          </a:solidFill>
                          <a:latin typeface="Yu Gothic"/>
                        </a:defRPr>
                      </a:pPr>
                      <a:r>
                        <a:t>Lyzr・SivaClawを主題としたテーマ</a:t>
                      </a:r>
                    </a:p>
                  </a:txBody>
                  <a:tcPr>
                    <a:solidFill>
                      <a:srgbClr val="FFFFFF"/>
                    </a:solidFill>
                  </a:tcPr>
                </a:tc>
                <a:tc>
                  <a:txBody>
                    <a:bodyPr/>
                    <a:lstStyle/>
                    <a:p>
                      <a:pPr>
                        <a:defRPr sz="1200">
                          <a:solidFill>
                            <a:srgbClr val="14171C"/>
                          </a:solidFill>
                          <a:latin typeface="Yu Gothic"/>
                        </a:defRPr>
                      </a:pPr>
                      <a:r>
                        <a:t>既存テーマになし</a:t>
                      </a:r>
                    </a:p>
                  </a:txBody>
                  <a:tcPr>
                    <a:solidFill>
                      <a:srgbClr val="FFFFFF"/>
                    </a:solidFill>
                  </a:tcPr>
                </a:tc>
              </a:tr>
              <a:tr h="502920">
                <a:tc>
                  <a:txBody>
                    <a:bodyPr/>
                    <a:lstStyle/>
                    <a:p>
                      <a:pPr>
                        <a:defRPr sz="1200">
                          <a:solidFill>
                            <a:srgbClr val="14171C"/>
                          </a:solidFill>
                          <a:latin typeface="Yu Gothic"/>
                        </a:defRPr>
                      </a:pPr>
                      <a:r>
                        <a:t>判定</a:t>
                      </a:r>
                    </a:p>
                  </a:txBody>
                  <a:tcPr>
                    <a:solidFill>
                      <a:srgbClr val="F2F7F4"/>
                    </a:solidFill>
                  </a:tcPr>
                </a:tc>
                <a:tc>
                  <a:txBody>
                    <a:bodyPr/>
                    <a:lstStyle/>
                    <a:p>
                      <a:pPr>
                        <a:defRPr sz="1200">
                          <a:solidFill>
                            <a:srgbClr val="14171C"/>
                          </a:solidFill>
                          <a:latin typeface="Yu Gothic"/>
                        </a:defRPr>
                      </a:pPr>
                      <a:r>
                        <a:t>重複ではない</a:t>
                      </a:r>
                    </a:p>
                  </a:txBody>
                  <a:tcPr>
                    <a:solidFill>
                      <a:srgbClr val="F2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本テーマでは資金調達・SivaClawの機能に関する事実を淡々と報告している</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AIエージェントの是非についての一方的な論評(過度な礼賛・過度な懸念の煽り)は行っていない</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特定企業・特定製品の利用を強く推奨する結論にはしていない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ここからは推測ですが、AIエージェントが企業の重要な意思決定プロセスに関わる事例は今後も増える可能性がある</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資金調達のような対人折衝が中心の業務でも、AIエージェントが一部の作業を担う流れが広がるかもしれない</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一方で、人間とAIの正確な役割分担が今後どう語られるかは、引き続き注視が必要と考えられる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話題性 vs 鮮度(このテーマの位置づけ)</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C1F26"/>
                </a:solidFill>
                <a:latin typeface="Yu Gothic"/>
              </a:rPr>
              <a:t>強み</a:t>
            </a:r>
          </a:p>
        </p:txBody>
      </p:sp>
      <p:sp>
        <p:nvSpPr>
          <p:cNvPr id="9" name="Oval 8"/>
          <p:cNvSpPr/>
          <p:nvPr/>
        </p:nvSpPr>
        <p:spPr>
          <a:xfrm>
            <a:off x="777240" y="253288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複数の独立した主要媒体による裏付け</a:t>
            </a:r>
          </a:p>
        </p:txBody>
      </p:sp>
      <p:sp>
        <p:nvSpPr>
          <p:cNvPr id="11" name="Oval 10"/>
          <p:cNvSpPr/>
          <p:nvPr/>
        </p:nvSpPr>
        <p:spPr>
          <a:xfrm>
            <a:off x="777240" y="308152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「AIが自分の資金調達を主導した」という高い意外性</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C1F26"/>
                </a:solidFill>
                <a:latin typeface="Yu Gothic"/>
              </a:rPr>
              <a:t>弱み(正直な開示)</a:t>
            </a:r>
          </a:p>
        </p:txBody>
      </p:sp>
      <p:sp>
        <p:nvSpPr>
          <p:cNvPr id="16" name="Oval 15"/>
          <p:cNvSpPr/>
          <p:nvPr/>
        </p:nvSpPr>
        <p:spPr>
          <a:xfrm>
            <a:off x="6598767" y="253288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発表から26日経過し鮮度基準は未達</a:t>
            </a:r>
          </a:p>
        </p:txBody>
      </p:sp>
      <p:sp>
        <p:nvSpPr>
          <p:cNvPr id="18" name="Oval 17"/>
          <p:cNvSpPr/>
          <p:nvPr/>
        </p:nvSpPr>
        <p:spPr>
          <a:xfrm>
            <a:off x="6598767" y="3081528"/>
            <a:ext cx="274320" cy="27432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4171C"/>
                </a:solidFill>
                <a:latin typeface="Yu Gothic"/>
              </a:rPr>
              <a:t>リード投資家名・分担比率など未確認事項が複数ある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自社製品を、自社の一番大事な仕事に使う。あなたはどう見ますか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8E2"/>
                </a:solidFill>
                <a:latin typeface="Yu Gothic"/>
              </a:rPr>
              <a:t>Lyzrの今後の展開を、確認できたこと・できなかったことを区別しながら注目していきましょう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C1F26"/>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C1F26"/>
                </a:solidFill>
                <a:latin typeface="Yu Gothic"/>
              </a:rPr>
              <a:t>まとめ</a:t>
            </a:r>
          </a:p>
        </p:txBody>
      </p:sp>
      <p:sp>
        <p:nvSpPr>
          <p:cNvPr id="5" name="Rectangle 4"/>
          <p:cNvSpPr/>
          <p:nvPr/>
        </p:nvSpPr>
        <p:spPr>
          <a:xfrm>
            <a:off x="457200" y="1188720"/>
            <a:ext cx="502920" cy="54864"/>
          </a:xfrm>
          <a:prstGeom prst="rect">
            <a:avLst/>
          </a:prstGeom>
          <a:solidFill>
            <a:srgbClr val="1FA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Lyzrが2026年7月9日、シリーズBで1億ドル(評価額約5億ドル)の資金調達を発表</a:t>
            </a:r>
          </a:p>
        </p:txBody>
      </p:sp>
      <p:sp>
        <p:nvSpPr>
          <p:cNvPr id="8" name="Oval 7"/>
          <p:cNvSpPr/>
          <p:nvPr/>
        </p:nvSpPr>
        <p:spPr>
          <a:xfrm>
            <a:off x="457200" y="225856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自社のAIエージェント「SivaClaw」が130社超の質問対応・メモ作成・関心追跡を担った</a:t>
            </a:r>
          </a:p>
        </p:txBody>
      </p:sp>
      <p:sp>
        <p:nvSpPr>
          <p:cNvPr id="10" name="Oval 9"/>
          <p:cNvSpPr/>
          <p:nvPr/>
        </p:nvSpPr>
        <p:spPr>
          <a:xfrm>
            <a:off x="457200" y="303580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創業者はシリコンバレーへ飛ばずに、4億ドル相当の投資家の関心を集めたと報じられている</a:t>
            </a:r>
          </a:p>
        </p:txBody>
      </p:sp>
      <p:sp>
        <p:nvSpPr>
          <p:cNvPr id="12" name="Oval 11"/>
          <p:cNvSpPr/>
          <p:nvPr/>
        </p:nvSpPr>
        <p:spPr>
          <a:xfrm>
            <a:off x="457200" y="3813048"/>
            <a:ext cx="320040" cy="32004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4171C"/>
                </a:solidFill>
                <a:latin typeface="Yu Gothic"/>
              </a:rPr>
              <a:t>リード投資家名・顧客数・正確な自律性の比率等は確認できていない点を正直に開示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C6B66"/>
                </a:solidFill>
                <a:latin typeface="Yu Gothic"/>
              </a:rPr>
              <a:t>AI Company OS｜出典: TechCrunch・Bloomberg・SiliconANGLE ほか(2026-07-09)｜定期実行136本目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C6B66"/>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