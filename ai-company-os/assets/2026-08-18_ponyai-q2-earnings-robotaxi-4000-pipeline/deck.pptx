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国の自動運転企業Pony.ai、ポニーAIが、2026年8月18日に第2四半期決算を発表しました。ロボタクシーサービス売上はまさかの前年比691.2%増。海外展開パイプラインは4000台超に到達しています。今日はこの決算の数字を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Pony.aiの2026年第2四半期は、総売上高が前年比68.8%増の3620万ドル、ロボタクシー売上は691.2%増の1210万ドルに達しました。海外展開パイプラインも4000台超に到達しています。ここから数字を1つずつ出典付きで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今日は6つの流れでお伝えします。決算の数字から車両保有台数、海外展開パイプラインの中身まで、正確に数字を引用しながら整理します。誇張せず、確認できなかったことは正直にお伝えします。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発表翌日という新しさに加えて、ロボタクシー売上691.2%増という際立った伸び率、そして海外展開パイプライン4000台超という規模があります。複数の媒体が数字を一致させて報じ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に入る前に、Pony.aiという企業の前提を確認します。運転手を必要としない自動運転車両を使ったロボタクシーサービスを開発・運営する中国の自動運転企業で、近年は海外パートナーとの提携による国際展開を進めています。本編は決算・事業展開の事実紹介であり、利用・投資を勧める内容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のキーワードを確認します。ロボタクシーは運転手不要の自動運転タクシーサービス、有償運行は実際に運賃を徴収する運行形態です。展開パイプラインは契約済みの計画車両数で、稼働開始には許認可が別途必要な点がポイント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総売上高を確認します。2026年第2四半期の総売上高は前年同期比68.8%増の3620万ドルでした。次に、この伸びを牽引したロボタクシー売上を確認します。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ロボタクシーサービス売上です。前年同期比691.2%増の1210万ドルに達しました。総売上高の伸び(68.8%増)を大きく上回るペースで成長しています。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決算の概要を一覧にしました。総売上高3620万ドル、ロボタクシー売上1210万ドル、有償運行売上は800%超の増加、保有台数は1975台です。次に、それぞれの数字を1つずつ深掘りします。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有償運行による売上です。前年比800%超の増加を記録しました。実証実験段階から、実際に運賃を得るサービスへの移行が進んでいることを示す数字です。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決算数字をまとめました。総売上高は68.8%増、ロボタクシー売上は691.2%増、有償運行売上は800%超増。いずれも前年同期比の伸び率です。次に、車両保有台数を確認します。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車両保有台数です。2026年6月30日時点で、グローバルのロボタクシー保有台数は1975台でした。次に、年内の見込みを確認します。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年内の見込みです。Pony.aiは年内にグローバル保有台数が3500台超に到達すると見込んでいると発表しています。これは確定した実績ではなく、企業側の見通しである点に注意してください。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ここで一度整理します。保有台数1975台は現時点の実績、これから紹介する海外展開パイプライン4000台超は契約済みの計画車両数です。この2つは別の指標なので、混同せずに見ていきましょう。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海外展開パイプラインです。Uber・Bolt・ComfortDelGroなど海外パートナーとの契約に基づき、4000台超の展開パイプラインに到達しました。契約済みの車両ですが、稼働開始時期は各拠点の許認可・規制対応の進捗次第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海外パートナーを一覧にしました。Uberとは欧州5都市で2000台超の展開を計画、Boltとはルクセンブルクでステランティスとともに協業、ComfortDelGroとはシンガポールで一般向けサービスを開始しています。次に、それぞれを1つずつ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欧州展開です。Uberとの提携拡大により、欧州5都市で2000台超のロボタクシー展開が計画されています。具体的な各都市の稼働開始日は本調査の範囲では確認できていません。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ルクセンブルクでの取り組みです。配車プラットフォームのBolt、自動車メーカーのStellantisとともに協業しています。ただし具体的な稼働開始日や投入台数の詳細は、本調査の範囲では確認できていません。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シンガポールでの取り組みです。ComfortDelGroの配車アプリ『Zig』を通じて、一般向けロボタクシーサービスをすでに開始しています。海外展開パイプランの中でも実際にサービス提供まで進んだ先行事例です。ただし稼働台数・利用実績の詳細な数値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海外展開パイプラインの構造を図にしました。契約済みの4000台超のパイプラインから、各拠点での許認可・規制対応を経て、実際の稼働に至ります。シンガポールはすでに一般向けサービスを開始済みですが、欧州はまだ計画段階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出しの印象と実際に確認できている内容にはギャップが生まれがちです。4000台超は契約済みの計画台数であり、実際の稼働台数は1975台です。稼働開始時期や採算性については確認できていない点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各都市の稼働開始予定日について正直にお伝えします。欧州5都市やルクセンブルクなど、具体的な稼働開始予定日は本調査の範囲では確認できていません。契約済みの台数と稼働開始時期は別の情報であり、推測で埋め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許認可取得の進捗状況について正直にお伝えします。各拠点でどこまで規制対応が進んでいるかの詳細は、本調査の範囲では確認できていません。稼働開始時期を左右する重要な要素ですが、進捗度合いは推測せず不明として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台あたりの採算性について正直にお伝えします。単価・稼働率・損益分岐点の詳細は本調査の範囲では確認できていません。売上高の伸び率は判明していますが、コスト構造や利益率については確認できた情報に含まれていないため、推測しません。</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このニュースが読者にとって意味することをまとめました。自動運転・AI業界の動向を追う立場、モビリティ・海外展開を検討する立場、投資・事業性を検討する立場、それぞれで意識したい視点です。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に情報を確認・活用する際のチェックポイントです。伸び率は大きくても母数はまだ大きくない点、パイプラインの台数と稼働開始時期は別である点、収益構造の詳細が非公表である点に留意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の展開についても正直にお伝えします。欧州各都市での具体的な稼働拡大スケジュールは確認できていません。年内3500台超という見込みも企業側の見通しであり、確定値ではない点にご注意ください。将来の展開について推測・断定は行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本テーマの鮮度を数字で確認します。決算発表は着手日の前日にあたる2026年8月18日でした。当社の鮮度基準(着手日を含めて2日以内)を満たしています。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本編で使った主な出典を一覧にしました。GlobeNewswire・Quartz・BigGo Finance・Yahoo Finance・Automotive World・Manila Timesという複数の独立した媒体が数字を一致させて報じていることを確認しています。詳細はresearch.mdをご確認ください。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Pony.aiの2026年第2四半期決算で、ロボタクシー売上が前年比691.2%増となったことと、海外展開パイプラインが4000台超に到達したことを、正確に整理してお伝えしました。数字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まさかの691%増。</a:t>
            </a:r>
          </a:p>
          <a:p>
            <a:pPr algn="l">
              <a:lnSpc>
                <a:spcPct val="115000"/>
              </a:lnSpc>
            </a:pPr>
            <a:r>
              <a:rPr sz="4200" b="1">
                <a:solidFill>
                  <a:srgbClr val="FFFFFF"/>
                </a:solidFill>
                <a:latin typeface="Yu Gothic"/>
              </a:rPr>
              <a:t>自動運転Pony.aiの</a:t>
            </a:r>
          </a:p>
          <a:p>
            <a:pPr algn="l">
              <a:lnSpc>
                <a:spcPct val="115000"/>
              </a:lnSpc>
            </a:pPr>
            <a:r>
              <a:rPr sz="4200" b="1">
                <a:solidFill>
                  <a:srgbClr val="FFFFFF"/>
                </a:solidFill>
                <a:latin typeface="Yu Gothic"/>
              </a:rPr>
              <a:t>ロボタクシー売上が急拡大</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F5D9A8"/>
                </a:solidFill>
                <a:latin typeface="Yu Gothic"/>
              </a:rPr>
              <a:t>2026年8月18日発表の第2四半期決算――海外展開パイプラインは4000台超に到達</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D9A857"/>
                </a:solidFill>
                <a:latin typeface="Yu Gothic"/>
              </a:rPr>
              <a:t>出典: GlobeNewswire・Quartz・BigGo Finance・Yahoo Finance・Automotive World・Manila Times(2026年8月18日)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ロボタクシー売上 前年比691.2%増</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総売上高は前年比68.8%増の3620万ドル。うちロボタクシー売上は691.2%増の1210万ドルに達し、海外展開パイプラインは4000台超に到達した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GlobeNewswire・Quartz(2026-08-18)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F5D9A8"/>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F5D9A8"/>
                </a:solidFill>
                <a:latin typeface="Yu Gothic"/>
              </a:rPr>
              <a:t>Pony.aiとは・基礎知識</a:t>
            </a:r>
          </a:p>
        </p:txBody>
      </p:sp>
      <p:sp>
        <p:nvSpPr>
          <p:cNvPr id="9" name="Oval 8"/>
          <p:cNvSpPr/>
          <p:nvPr/>
        </p:nvSpPr>
        <p:spPr>
          <a:xfrm>
            <a:off x="548640" y="347472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F5D9A8"/>
                </a:solidFill>
                <a:latin typeface="Yu Gothic"/>
              </a:rPr>
              <a:t>決算の数字(総売上高・ロボタクシー売上)を確認する</a:t>
            </a:r>
          </a:p>
        </p:txBody>
      </p:sp>
      <p:sp>
        <p:nvSpPr>
          <p:cNvPr id="11" name="Oval 10"/>
          <p:cNvSpPr/>
          <p:nvPr/>
        </p:nvSpPr>
        <p:spPr>
          <a:xfrm>
            <a:off x="548640" y="425196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F5D9A8"/>
                </a:solidFill>
                <a:latin typeface="Yu Gothic"/>
              </a:rPr>
              <a:t>車両保有台数と年内見込みを深掘りする</a:t>
            </a:r>
          </a:p>
        </p:txBody>
      </p:sp>
      <p:sp>
        <p:nvSpPr>
          <p:cNvPr id="13" name="Oval 12"/>
          <p:cNvSpPr/>
          <p:nvPr/>
        </p:nvSpPr>
        <p:spPr>
          <a:xfrm>
            <a:off x="548640" y="502920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F5D9A8"/>
                </a:solidFill>
                <a:latin typeface="Yu Gothic"/>
              </a:rPr>
              <a:t>海外展開パイプライン4000台超の中身(Uber・Bolt・ComfortDelGro)</a:t>
            </a:r>
          </a:p>
        </p:txBody>
      </p:sp>
      <p:sp>
        <p:nvSpPr>
          <p:cNvPr id="15" name="Oval 14"/>
          <p:cNvSpPr/>
          <p:nvPr/>
        </p:nvSpPr>
        <p:spPr>
          <a:xfrm>
            <a:off x="548640" y="580644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F5D9A8"/>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発表翌日(2026年8月19日着手)という鮮度の高い話題である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ロボタクシー売上691.2%増という、自動運転分野での際立った伸び率が確認できる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海外展開パイプラインが4000台超に到達し、複数の海外大手と提携している</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複数の独立した媒体(GlobeNewswire・Quartz・Automotive World等)が数字を一致させて報じている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GlobeNewswire・Quartz・Automotive World(2026-08-18)</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GlobeNewswire・Quartz・BigGo Finance・Yahoo Finance・Automotive World・Manila Times(2026-08-18)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Pony.aiとは(初心者向け)</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本題に入る前に、企業の前提を確認します。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Pony.aiは、運転手を必要としない自動運転車両を使ったロボタクシーサービスを開発・運営する中国の自動運転企業である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車両開発からサービス運営までを自社で手がけ、近年は海外パートナーとの提携による国際展開を進めている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本編ではPony.aiという特定企業の決算・事業展開の事実を中立的に紹介する(利用・投資を推奨する内容ではない)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GlobeNewswire・Quartz・BigGo Finance・Yahoo Finance・Automotive World・Manila Times(2026-08-18)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用語解説:ロボタクシー・有償運行・展開パイプラインとは(初心者向け)</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本題のキーワードを確認します。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『ロボタクシー』とは、運転手を必要としない自動運転車両を使ったタクシー(配車)サービスを指す</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『有償運行(fare-charging)』とは、無料の試乗・実証実験ではなく、実際に乗客から運賃を徴収してサービスを提供する運行形態を指す</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『展開パイプライン』とは、契約が成立し将来投入される予定の車両台数を指す。契約済みでも実際の稼働開始には現地の許認可・規制対応が別途必要である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GlobeNewswire・Quartz・BigGo Finance・Yahoo Finance・Automotive World・Manila Times(2026-08-18)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総売上高</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3620万ドル(前年比68.8%増)</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2026年第2四半期の総売上高。前年同期比68.8%増を記録した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GlobeNewswire・Quartz・BigGo Finance・Yahoo Finance(2026-08-18)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ロボタクシーサービス売上</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1210万ドル(前年比691.2%増)</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ロボタクシーサービス売上は前年同期比691.2%増の1210万ドルに達した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GlobeNewswire・Quartz・BigGo Finance・Yahoo Finance・Automotive World(2026-08-18)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2026年第2四半期決算の概要</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3A4750"/>
                    </a:solidFill>
                  </a:tcPr>
                </a:tc>
                <a:tc>
                  <a:txBody>
                    <a:bodyPr/>
                    <a:lstStyle/>
                    <a:p>
                      <a:pPr>
                        <a:defRPr sz="1300" b="1">
                          <a:solidFill>
                            <a:srgbClr val="FFFFFF"/>
                          </a:solidFill>
                          <a:latin typeface="Yu Gothic"/>
                        </a:defRPr>
                      </a:pPr>
                      <a:r>
                        <a:t>内容</a:t>
                      </a:r>
                    </a:p>
                  </a:txBody>
                  <a:tcPr>
                    <a:solidFill>
                      <a:srgbClr val="3A4750"/>
                    </a:solidFill>
                  </a:tcPr>
                </a:tc>
              </a:tr>
              <a:tr h="502920">
                <a:tc>
                  <a:txBody>
                    <a:bodyPr/>
                    <a:lstStyle/>
                    <a:p>
                      <a:pPr>
                        <a:defRPr sz="1200">
                          <a:solidFill>
                            <a:srgbClr val="1E2124"/>
                          </a:solidFill>
                          <a:latin typeface="Yu Gothic"/>
                        </a:defRPr>
                      </a:pPr>
                      <a:r>
                        <a:t>発表日</a:t>
                      </a:r>
                    </a:p>
                  </a:txBody>
                  <a:tcPr>
                    <a:solidFill>
                      <a:srgbClr val="FFFFFF"/>
                    </a:solidFill>
                  </a:tcPr>
                </a:tc>
                <a:tc>
                  <a:txBody>
                    <a:bodyPr/>
                    <a:lstStyle/>
                    <a:p>
                      <a:pPr>
                        <a:defRPr sz="1200">
                          <a:solidFill>
                            <a:srgbClr val="1E2124"/>
                          </a:solidFill>
                          <a:latin typeface="Yu Gothic"/>
                        </a:defRPr>
                      </a:pPr>
                      <a:r>
                        <a:t>2026年8月18日</a:t>
                      </a:r>
                    </a:p>
                  </a:txBody>
                  <a:tcPr>
                    <a:solidFill>
                      <a:srgbClr val="FFFFFF"/>
                    </a:solidFill>
                  </a:tcPr>
                </a:tc>
              </a:tr>
              <a:tr h="502920">
                <a:tc>
                  <a:txBody>
                    <a:bodyPr/>
                    <a:lstStyle/>
                    <a:p>
                      <a:pPr>
                        <a:defRPr sz="1200">
                          <a:solidFill>
                            <a:srgbClr val="1E2124"/>
                          </a:solidFill>
                          <a:latin typeface="Yu Gothic"/>
                        </a:defRPr>
                      </a:pPr>
                      <a:r>
                        <a:t>総売上高</a:t>
                      </a:r>
                    </a:p>
                  </a:txBody>
                  <a:tcPr>
                    <a:solidFill>
                      <a:srgbClr val="F7F4EF"/>
                    </a:solidFill>
                  </a:tcPr>
                </a:tc>
                <a:tc>
                  <a:txBody>
                    <a:bodyPr/>
                    <a:lstStyle/>
                    <a:p>
                      <a:pPr>
                        <a:defRPr sz="1200">
                          <a:solidFill>
                            <a:srgbClr val="1E2124"/>
                          </a:solidFill>
                          <a:latin typeface="Yu Gothic"/>
                        </a:defRPr>
                      </a:pPr>
                      <a:r>
                        <a:t>3620万ドル(前年比68.8%増)</a:t>
                      </a:r>
                    </a:p>
                  </a:txBody>
                  <a:tcPr>
                    <a:solidFill>
                      <a:srgbClr val="F7F4EF"/>
                    </a:solidFill>
                  </a:tcPr>
                </a:tc>
              </a:tr>
              <a:tr h="502920">
                <a:tc>
                  <a:txBody>
                    <a:bodyPr/>
                    <a:lstStyle/>
                    <a:p>
                      <a:pPr>
                        <a:defRPr sz="1200">
                          <a:solidFill>
                            <a:srgbClr val="1E2124"/>
                          </a:solidFill>
                          <a:latin typeface="Yu Gothic"/>
                        </a:defRPr>
                      </a:pPr>
                      <a:r>
                        <a:t>ロボタクシー売上</a:t>
                      </a:r>
                    </a:p>
                  </a:txBody>
                  <a:tcPr>
                    <a:solidFill>
                      <a:srgbClr val="FFFFFF"/>
                    </a:solidFill>
                  </a:tcPr>
                </a:tc>
                <a:tc>
                  <a:txBody>
                    <a:bodyPr/>
                    <a:lstStyle/>
                    <a:p>
                      <a:pPr>
                        <a:defRPr sz="1200">
                          <a:solidFill>
                            <a:srgbClr val="1E2124"/>
                          </a:solidFill>
                          <a:latin typeface="Yu Gothic"/>
                        </a:defRPr>
                      </a:pPr>
                      <a:r>
                        <a:t>1210万ドル(前年比691.2%増)</a:t>
                      </a:r>
                    </a:p>
                  </a:txBody>
                  <a:tcPr>
                    <a:solidFill>
                      <a:srgbClr val="FFFFFF"/>
                    </a:solidFill>
                  </a:tcPr>
                </a:tc>
              </a:tr>
              <a:tr h="502920">
                <a:tc>
                  <a:txBody>
                    <a:bodyPr/>
                    <a:lstStyle/>
                    <a:p>
                      <a:pPr>
                        <a:defRPr sz="1200">
                          <a:solidFill>
                            <a:srgbClr val="1E2124"/>
                          </a:solidFill>
                          <a:latin typeface="Yu Gothic"/>
                        </a:defRPr>
                      </a:pPr>
                      <a:r>
                        <a:t>有償運行売上</a:t>
                      </a:r>
                    </a:p>
                  </a:txBody>
                  <a:tcPr>
                    <a:solidFill>
                      <a:srgbClr val="F7F4EF"/>
                    </a:solidFill>
                  </a:tcPr>
                </a:tc>
                <a:tc>
                  <a:txBody>
                    <a:bodyPr/>
                    <a:lstStyle/>
                    <a:p>
                      <a:pPr>
                        <a:defRPr sz="1200">
                          <a:solidFill>
                            <a:srgbClr val="1E2124"/>
                          </a:solidFill>
                          <a:latin typeface="Yu Gothic"/>
                        </a:defRPr>
                      </a:pPr>
                      <a:r>
                        <a:t>前年比800%超増</a:t>
                      </a:r>
                    </a:p>
                  </a:txBody>
                  <a:tcPr>
                    <a:solidFill>
                      <a:srgbClr val="F7F4EF"/>
                    </a:solidFill>
                  </a:tcPr>
                </a:tc>
              </a:tr>
              <a:tr h="502920">
                <a:tc>
                  <a:txBody>
                    <a:bodyPr/>
                    <a:lstStyle/>
                    <a:p>
                      <a:pPr>
                        <a:defRPr sz="1200">
                          <a:solidFill>
                            <a:srgbClr val="1E2124"/>
                          </a:solidFill>
                          <a:latin typeface="Yu Gothic"/>
                        </a:defRPr>
                      </a:pPr>
                      <a:r>
                        <a:t>保有台数(2026年6月30日時点)</a:t>
                      </a:r>
                    </a:p>
                  </a:txBody>
                  <a:tcPr>
                    <a:solidFill>
                      <a:srgbClr val="FFFFFF"/>
                    </a:solidFill>
                  </a:tcPr>
                </a:tc>
                <a:tc>
                  <a:txBody>
                    <a:bodyPr/>
                    <a:lstStyle/>
                    <a:p>
                      <a:pPr>
                        <a:defRPr sz="1200">
                          <a:solidFill>
                            <a:srgbClr val="1E2124"/>
                          </a:solidFill>
                          <a:latin typeface="Yu Gothic"/>
                        </a:defRPr>
                      </a:pPr>
                      <a:r>
                        <a:t>1975台</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GlobeNewswire・Quartz・BigGo Finance(2026-08-18)</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GlobeNewswire・Quartz・BigGo Finance・Yahoo Finance・Automotive World・Manila Times(2026-08-18)</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有償運行(fare-charging)による売上</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前年比800%超増</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無料の試乗ではなく、実際に乗客から運賃を徴収する有償運行による売上が800%超増加した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GlobeNewswire・Quartz・BigGo Finance(2026-08-18)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決算数字まとめ</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68.8%増</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総売上高(3620万ドル)</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2026年第2四半期の総売上高は前年同期比68.8%増</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691.2%増</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ロボタクシー売上(1210万ドル)</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ロボタクシーサービス売上は前年同期比691.2%増</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800%超増</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有償運行売上</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実際に運賃を徴収する有償運行による売上が800%超増加</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GlobeNewswire・Quartz・BigGo Finance・Yahoo Finance・Automotive World・Manila Times(2026-08-18)</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グローバル・ロボタクシー保有台数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1975台</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2026年6月30日時点のグローバル・ロボタクシー保有台数</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GlobeNewswire・Quartz・Automotive World(2026-08-18)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年内見込み</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3500台超へ</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Pony.aiは年内に保有台数が3500台超に到達すると見込んでいると発表している(確定した実績ではなく企業側の見通し)</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GlobeNewswire・Quartz・Automotive World(2026-08-18)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『保有台数』と『展開パイプライン』は別の数字(正直な開示)</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この点は正確に区別してお伝えします。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『グローバル・ロボタクシー保有台数(1975台)』は2026年6月30日時点の実際の車両数を指す実績値である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一方、これから登場する『海外展開パイプライン(4000台超)』は、契約済みだがまだ稼働していない計画車両数を指す</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この2つの数字を混同せず、それぞれ別の指標として扱う</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GlobeNewswire・Quartz・BigGo Finance・Yahoo Finance・Automotive World・Manila Times(2026-08-18)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海外展開パイプライン</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4000台超</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Uber・Bolt・ComfortDelGroなど海外パートナーとの契約に基づく海外ロボタクシー展開パイプラインが4000台超に到達した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GlobeNewswire・Quartz・BigGo Finance・Automotive World・Manila Times(2026-08-18)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海外パートナー一覧</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パートナー</a:t>
                      </a:r>
                    </a:p>
                  </a:txBody>
                  <a:tcPr>
                    <a:solidFill>
                      <a:srgbClr val="3A4750"/>
                    </a:solidFill>
                  </a:tcPr>
                </a:tc>
                <a:tc>
                  <a:txBody>
                    <a:bodyPr/>
                    <a:lstStyle/>
                    <a:p>
                      <a:pPr>
                        <a:defRPr sz="1300" b="1">
                          <a:solidFill>
                            <a:srgbClr val="FFFFFF"/>
                          </a:solidFill>
                          <a:latin typeface="Yu Gothic"/>
                        </a:defRPr>
                      </a:pPr>
                      <a:r>
                        <a:t>提携内容</a:t>
                      </a:r>
                    </a:p>
                  </a:txBody>
                  <a:tcPr>
                    <a:solidFill>
                      <a:srgbClr val="3A4750"/>
                    </a:solidFill>
                  </a:tcPr>
                </a:tc>
              </a:tr>
              <a:tr h="502920">
                <a:tc>
                  <a:txBody>
                    <a:bodyPr/>
                    <a:lstStyle/>
                    <a:p>
                      <a:pPr>
                        <a:defRPr sz="1200">
                          <a:solidFill>
                            <a:srgbClr val="1E2124"/>
                          </a:solidFill>
                          <a:latin typeface="Yu Gothic"/>
                        </a:defRPr>
                      </a:pPr>
                      <a:r>
                        <a:t>Uber</a:t>
                      </a:r>
                    </a:p>
                  </a:txBody>
                  <a:tcPr>
                    <a:solidFill>
                      <a:srgbClr val="FFFFFF"/>
                    </a:solidFill>
                  </a:tcPr>
                </a:tc>
                <a:tc>
                  <a:txBody>
                    <a:bodyPr/>
                    <a:lstStyle/>
                    <a:p>
                      <a:pPr>
                        <a:defRPr sz="1200">
                          <a:solidFill>
                            <a:srgbClr val="1E2124"/>
                          </a:solidFill>
                          <a:latin typeface="Yu Gothic"/>
                        </a:defRPr>
                      </a:pPr>
                      <a:r>
                        <a:t>提携拡大により欧州5都市で2000台超の展開を計画</a:t>
                      </a:r>
                    </a:p>
                  </a:txBody>
                  <a:tcPr>
                    <a:solidFill>
                      <a:srgbClr val="FFFFFF"/>
                    </a:solidFill>
                  </a:tcPr>
                </a:tc>
              </a:tr>
              <a:tr h="502920">
                <a:tc>
                  <a:txBody>
                    <a:bodyPr/>
                    <a:lstStyle/>
                    <a:p>
                      <a:pPr>
                        <a:defRPr sz="1200">
                          <a:solidFill>
                            <a:srgbClr val="1E2124"/>
                          </a:solidFill>
                          <a:latin typeface="Yu Gothic"/>
                        </a:defRPr>
                      </a:pPr>
                      <a:r>
                        <a:t>Bolt</a:t>
                      </a:r>
                    </a:p>
                  </a:txBody>
                  <a:tcPr>
                    <a:solidFill>
                      <a:srgbClr val="F7F4EF"/>
                    </a:solidFill>
                  </a:tcPr>
                </a:tc>
                <a:tc>
                  <a:txBody>
                    <a:bodyPr/>
                    <a:lstStyle/>
                    <a:p>
                      <a:pPr>
                        <a:defRPr sz="1200">
                          <a:solidFill>
                            <a:srgbClr val="1E2124"/>
                          </a:solidFill>
                          <a:latin typeface="Yu Gothic"/>
                        </a:defRPr>
                      </a:pPr>
                      <a:r>
                        <a:t>ルクセンブルクでStellantisとともに協業</a:t>
                      </a:r>
                    </a:p>
                  </a:txBody>
                  <a:tcPr>
                    <a:solidFill>
                      <a:srgbClr val="F7F4EF"/>
                    </a:solidFill>
                  </a:tcPr>
                </a:tc>
              </a:tr>
              <a:tr h="502920">
                <a:tc>
                  <a:txBody>
                    <a:bodyPr/>
                    <a:lstStyle/>
                    <a:p>
                      <a:pPr>
                        <a:defRPr sz="1200">
                          <a:solidFill>
                            <a:srgbClr val="1E2124"/>
                          </a:solidFill>
                          <a:latin typeface="Yu Gothic"/>
                        </a:defRPr>
                      </a:pPr>
                      <a:r>
                        <a:t>ComfortDelGro</a:t>
                      </a:r>
                    </a:p>
                  </a:txBody>
                  <a:tcPr>
                    <a:solidFill>
                      <a:srgbClr val="FFFFFF"/>
                    </a:solidFill>
                  </a:tcPr>
                </a:tc>
                <a:tc>
                  <a:txBody>
                    <a:bodyPr/>
                    <a:lstStyle/>
                    <a:p>
                      <a:pPr>
                        <a:defRPr sz="1200">
                          <a:solidFill>
                            <a:srgbClr val="1E2124"/>
                          </a:solidFill>
                          <a:latin typeface="Yu Gothic"/>
                        </a:defRPr>
                      </a:pPr>
                      <a:r>
                        <a:t>シンガポールで『Zig』アプリを通じた一般向けサービスを開始</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GlobeNewswire・Automotive World・Manila Times(2026-08-18)</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GlobeNewswire・Quartz・BigGo Finance・Yahoo Finance・Automotive World・Manila Times(2026-08-18)</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欧州展開(Uber提携拡大)</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5都市・2000台超</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Uberとの提携拡大により、欧州5都市で2000台超のロボタクシー展開が計画されている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GlobeNewswire・Quartz・Automotive World(2026-08-18)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ルクセンブルク:Bolt・Stellantisと協業</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ルクセンブルクでの取り組みです。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ルクセンブルクでは配車プラットフォームのBolt、自動車メーカーのStellantisとともに協業している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車両供給・配車プラットフォームの両面で連携する体制を構築しているとみられる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具体的な稼働開始日・車両投入台数の詳細は本調査の範囲では確認できていない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GlobeNewswire・Quartz・BigGo Finance・Yahoo Finance・Automotive World・Manila Times(2026-08-18)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シンガポール:ComfortDelGroの『Zig』で一般向けサービス開始</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シンガポールでの取り組みです。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シンガポールでは、ComfortDelGroの配車アプリ『Zig』を通じて一般向けロボタクシーサービスをすでに開始している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海外展開パイプラインの中でも、実際に一般向けサービスの提供まで進んでいる先行事例である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具体的な稼働車両台数・利用実績の詳細な数値は本調査の範囲では確認できていない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GlobeNewswire・Quartz・BigGo Finance・Yahoo Finance・Automotive World・Manila Times(2026-08-18)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海外展開パイプラインの構造</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契約済みパイプライン</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Uber・Bolt・ComfortDelGroとの契約で4000台超</a:t>
            </a:r>
          </a:p>
        </p:txBody>
      </p:sp>
      <p:sp>
        <p:nvSpPr>
          <p:cNvPr id="10" name="Right Arrow 9"/>
          <p:cNvSpPr/>
          <p:nvPr/>
        </p:nvSpPr>
        <p:spPr>
          <a:xfrm>
            <a:off x="41573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許認可・規制対応</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各拠点で進捗が異なり、稼働開始時期を左右する</a:t>
            </a:r>
          </a:p>
        </p:txBody>
      </p:sp>
      <p:sp>
        <p:nvSpPr>
          <p:cNvPr id="15" name="Right Arrow 14"/>
          <p:cNvSpPr/>
          <p:nvPr/>
        </p:nvSpPr>
        <p:spPr>
          <a:xfrm>
            <a:off x="73577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実際の稼働</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シンガポールは一般向けサービス開始済み、欧州は計画段階</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6B7280"/>
                </a:solidFill>
                <a:latin typeface="Yu Gothic"/>
              </a:rPr>
              <a:t>契約済みの台数がそのまま即座に稼働するわけではなく、許認可・規制対応の進捗を経て実際の稼働に至る</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GlobeNewswire・Automotive World(2026-08-18)</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GlobeNewswire・Quartz・BigGo Finance・Yahoo Finance・Automotive World・Manila Times(2026-08-18)</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見出しの印象 / 実際に確認できている内容</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見出しから受けがちな印象</a:t>
            </a:r>
          </a:p>
        </p:txBody>
      </p:sp>
      <p:sp>
        <p:nvSpPr>
          <p:cNvPr id="9" name="Oval 8"/>
          <p:cNvSpPr/>
          <p:nvPr/>
        </p:nvSpPr>
        <p:spPr>
          <a:xfrm>
            <a:off x="777240"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4000台超がすでに稼働している</a:t>
            </a:r>
          </a:p>
        </p:txBody>
      </p:sp>
      <p:sp>
        <p:nvSpPr>
          <p:cNvPr id="11" name="Oval 10"/>
          <p:cNvSpPr/>
          <p:nvPr/>
        </p:nvSpPr>
        <p:spPr>
          <a:xfrm>
            <a:off x="777240"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各都市で近く一斉にサービスが始まるはず</a:t>
            </a:r>
          </a:p>
        </p:txBody>
      </p:sp>
      <p:sp>
        <p:nvSpPr>
          <p:cNvPr id="13" name="Oval 12"/>
          <p:cNvSpPr/>
          <p:nvPr/>
        </p:nvSpPr>
        <p:spPr>
          <a:xfrm>
            <a:off x="777240" y="363016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ロボタクシー事業はすでに黒字化しているはず</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実際に確認できている内容</a:t>
            </a:r>
          </a:p>
        </p:txBody>
      </p:sp>
      <p:sp>
        <p:nvSpPr>
          <p:cNvPr id="18" name="Oval 17"/>
          <p:cNvSpPr/>
          <p:nvPr/>
        </p:nvSpPr>
        <p:spPr>
          <a:xfrm>
            <a:off x="6598767"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4000台超は契約済みの計画台数であり、現時点の実績は1975台</a:t>
            </a:r>
          </a:p>
        </p:txBody>
      </p:sp>
      <p:sp>
        <p:nvSpPr>
          <p:cNvPr id="20" name="Oval 19"/>
          <p:cNvSpPr/>
          <p:nvPr/>
        </p:nvSpPr>
        <p:spPr>
          <a:xfrm>
            <a:off x="6598767"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稼働開始時期は許認可・規制対応の進捗次第で都市ごとに異なる</a:t>
            </a:r>
          </a:p>
        </p:txBody>
      </p:sp>
      <p:sp>
        <p:nvSpPr>
          <p:cNvPr id="22" name="Oval 21"/>
          <p:cNvSpPr/>
          <p:nvPr/>
        </p:nvSpPr>
        <p:spPr>
          <a:xfrm>
            <a:off x="6598767" y="363016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1台あたりの採算性・利益率は本調査の範囲では確認できていない</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GlobeNewswire・Quartz・BigGo Finance・Yahoo Finance・Automotive World・Manila Times(2026-08-18)</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各都市の稼働開始予定日は不明(正直な開示)</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この点は正直にお伝えします。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欧州5都市・ルクセンブルクなど、各拠点での具体的な稼働開始予定日は本調査の範囲では確認できていない</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海外展開パイプライン(4000台超)は契約済みの車両数であり、稼働開始時期そのものではない</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本成果物では、確認できていない稼働開始日を推測で埋めない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GlobeNewswire・Quartz・BigGo Finance・Yahoo Finance・Automotive World・Manila Times(2026-08-18)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許認可取得の進捗状況は不明(正直な開示)</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この点も正直にお伝えします。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各拠点でどこまで許認可・規制対応が進んでいるかの詳細は本調査の範囲では確認できていない</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稼働開始時期は許認可・規制対応の進捗次第とされているが、進捗度合いの具体的な指標は公表されていない</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本成果物では許認可の進捗状況を推測で断定しない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GlobeNewswire・Quartz・BigGo Finance・Yahoo Finance・Automotive World・Manila Times(2026-08-18)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1台あたりの採算性は不明(正直な開示)</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この点も正直にお伝えします。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ロボタクシー1台あたりの採算性(単価・稼働率・損益分岐点等)の詳細は本調査の範囲では確認できていない</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売上高の伸び率(前年比691.2%増等)は判明しているが、コスト構造・利益率についての言及は確認した情報に含まれていない</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本成果物では収益性を推測で断定せず、確認できた売上高の数字のみを扱う</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GlobeNewswire・Quartz・BigGo Finance・Yahoo Finance・Automotive World・Manila Times(2026-08-18)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自動運転・AI業界の動向を追う立場として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ロボタクシー売上の急成長ペースと、有償運行への移行が進んでいる度合いを継続して確認する視点が役立つ</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モビリティ・海外展開を検討する立場として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パイプラインの台数と実際の稼働台数は別の指標であり、稼働開始時期は各拠点の許認可次第である点に注意する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投資・事業性を検討する立場として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1台あたりの採算性など収益構造の詳細が非公表である点を踏まえ、断定的な情報に注意する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GlobeNewswire・Quartz・BigGo Finance・Yahoo Finance・Automotive World・Manila Times(2026-08-18)</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確認・検討する際のチェックポイント</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実際に情報を確認・活用する場合のポイントです。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売上高の伸び率(691.2%増等)は大きな数字だが、母数(1210万ドル)自体はまだ大きくない点に留意する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海外展開パイプラインの台数は契約済みの計画値であり、稼働開始時期・許認可の進捗は個別に確認する必要がある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1台あたりの採算性など収益構造の詳細は非公表であり、本成果物の紹介にとどまらず自身で最新の公式情報を確認することが望ましい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GlobeNewswire・Quartz・BigGo Finance・Yahoo Finance・Automotive World・Manila Times(2026-08-18)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今後の展開予定は不明な部分が多い(正直な開示)</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今後の展開についても正直にお伝えします。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欧州5都市・ルクセンブルクなどでの具体的な稼働拡大スケジュールは、本調査の範囲では確認できていない</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年内の保有台数見込み(3500台超)は企業側の見通しであり、確定した数値ではない</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本成果物では今後の展開について推測・断定を行わない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GlobeNewswire・Quartz・BigGo Finance・Yahoo Finance・Automotive World・Manila Times(2026-08-18)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本テーマの鮮度</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発表翌日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決算発表(2026年8月18日)は着手日(2026年8月19日)の前日。着手日を含めて2日以内という基準を満たす</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docs/06_Content_R&amp;D.md基準</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主な出典一覧</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52044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媒体</a:t>
                      </a:r>
                    </a:p>
                  </a:txBody>
                  <a:tcPr>
                    <a:solidFill>
                      <a:srgbClr val="3A4750"/>
                    </a:solidFill>
                  </a:tcPr>
                </a:tc>
                <a:tc>
                  <a:txBody>
                    <a:bodyPr/>
                    <a:lstStyle/>
                    <a:p>
                      <a:pPr>
                        <a:defRPr sz="1300" b="1">
                          <a:solidFill>
                            <a:srgbClr val="FFFFFF"/>
                          </a:solidFill>
                          <a:latin typeface="Yu Gothic"/>
                        </a:defRPr>
                      </a:pPr>
                      <a:r>
                        <a:t>内容</a:t>
                      </a:r>
                    </a:p>
                  </a:txBody>
                  <a:tcPr>
                    <a:solidFill>
                      <a:srgbClr val="3A4750"/>
                    </a:solidFill>
                  </a:tcPr>
                </a:tc>
              </a:tr>
              <a:tr h="502920">
                <a:tc>
                  <a:txBody>
                    <a:bodyPr/>
                    <a:lstStyle/>
                    <a:p>
                      <a:pPr>
                        <a:defRPr sz="1200">
                          <a:solidFill>
                            <a:srgbClr val="1E2124"/>
                          </a:solidFill>
                          <a:latin typeface="Yu Gothic"/>
                        </a:defRPr>
                      </a:pPr>
                      <a:r>
                        <a:t>GlobeNewswire</a:t>
                      </a:r>
                    </a:p>
                  </a:txBody>
                  <a:tcPr>
                    <a:solidFill>
                      <a:srgbClr val="FFFFFF"/>
                    </a:solidFill>
                  </a:tcPr>
                </a:tc>
                <a:tc>
                  <a:txBody>
                    <a:bodyPr/>
                    <a:lstStyle/>
                    <a:p>
                      <a:pPr>
                        <a:defRPr sz="1200">
                          <a:solidFill>
                            <a:srgbClr val="1E2124"/>
                          </a:solidFill>
                          <a:latin typeface="Yu Gothic"/>
                        </a:defRPr>
                      </a:pPr>
                      <a:r>
                        <a:t>Pony.ai公式決算発表(2026年8月18日)</a:t>
                      </a:r>
                    </a:p>
                  </a:txBody>
                  <a:tcPr>
                    <a:solidFill>
                      <a:srgbClr val="FFFFFF"/>
                    </a:solidFill>
                  </a:tcPr>
                </a:tc>
              </a:tr>
              <a:tr h="502920">
                <a:tc>
                  <a:txBody>
                    <a:bodyPr/>
                    <a:lstStyle/>
                    <a:p>
                      <a:pPr>
                        <a:defRPr sz="1200">
                          <a:solidFill>
                            <a:srgbClr val="1E2124"/>
                          </a:solidFill>
                          <a:latin typeface="Yu Gothic"/>
                        </a:defRPr>
                      </a:pPr>
                      <a:r>
                        <a:t>Quartz</a:t>
                      </a:r>
                    </a:p>
                  </a:txBody>
                  <a:tcPr>
                    <a:solidFill>
                      <a:srgbClr val="F7F4EF"/>
                    </a:solidFill>
                  </a:tcPr>
                </a:tc>
                <a:tc>
                  <a:txBody>
                    <a:bodyPr/>
                    <a:lstStyle/>
                    <a:p>
                      <a:pPr>
                        <a:defRPr sz="1200">
                          <a:solidFill>
                            <a:srgbClr val="1E2124"/>
                          </a:solidFill>
                          <a:latin typeface="Yu Gothic"/>
                        </a:defRPr>
                      </a:pPr>
                      <a:r>
                        <a:t>決算・海外展開の報道</a:t>
                      </a:r>
                    </a:p>
                  </a:txBody>
                  <a:tcPr>
                    <a:solidFill>
                      <a:srgbClr val="F7F4EF"/>
                    </a:solidFill>
                  </a:tcPr>
                </a:tc>
              </a:tr>
              <a:tr h="502920">
                <a:tc>
                  <a:txBody>
                    <a:bodyPr/>
                    <a:lstStyle/>
                    <a:p>
                      <a:pPr>
                        <a:defRPr sz="1200">
                          <a:solidFill>
                            <a:srgbClr val="1E2124"/>
                          </a:solidFill>
                          <a:latin typeface="Yu Gothic"/>
                        </a:defRPr>
                      </a:pPr>
                      <a:r>
                        <a:t>BigGo Finance</a:t>
                      </a:r>
                    </a:p>
                  </a:txBody>
                  <a:tcPr>
                    <a:solidFill>
                      <a:srgbClr val="FFFFFF"/>
                    </a:solidFill>
                  </a:tcPr>
                </a:tc>
                <a:tc>
                  <a:txBody>
                    <a:bodyPr/>
                    <a:lstStyle/>
                    <a:p>
                      <a:pPr>
                        <a:defRPr sz="1200">
                          <a:solidFill>
                            <a:srgbClr val="1E2124"/>
                          </a:solidFill>
                          <a:latin typeface="Yu Gothic"/>
                        </a:defRPr>
                      </a:pPr>
                      <a:r>
                        <a:t>決算数値の報道</a:t>
                      </a:r>
                    </a:p>
                  </a:txBody>
                  <a:tcPr>
                    <a:solidFill>
                      <a:srgbClr val="FFFFFF"/>
                    </a:solidFill>
                  </a:tcPr>
                </a:tc>
              </a:tr>
              <a:tr h="502920">
                <a:tc>
                  <a:txBody>
                    <a:bodyPr/>
                    <a:lstStyle/>
                    <a:p>
                      <a:pPr>
                        <a:defRPr sz="1200">
                          <a:solidFill>
                            <a:srgbClr val="1E2124"/>
                          </a:solidFill>
                          <a:latin typeface="Yu Gothic"/>
                        </a:defRPr>
                      </a:pPr>
                      <a:r>
                        <a:t>Yahoo Finance</a:t>
                      </a:r>
                    </a:p>
                  </a:txBody>
                  <a:tcPr>
                    <a:solidFill>
                      <a:srgbClr val="F7F4EF"/>
                    </a:solidFill>
                  </a:tcPr>
                </a:tc>
                <a:tc>
                  <a:txBody>
                    <a:bodyPr/>
                    <a:lstStyle/>
                    <a:p>
                      <a:pPr>
                        <a:defRPr sz="1200">
                          <a:solidFill>
                            <a:srgbClr val="1E2124"/>
                          </a:solidFill>
                          <a:latin typeface="Yu Gothic"/>
                        </a:defRPr>
                      </a:pPr>
                      <a:r>
                        <a:t>決算数値の報道</a:t>
                      </a:r>
                    </a:p>
                  </a:txBody>
                  <a:tcPr>
                    <a:solidFill>
                      <a:srgbClr val="F7F4EF"/>
                    </a:solidFill>
                  </a:tcPr>
                </a:tc>
              </a:tr>
              <a:tr h="502920">
                <a:tc>
                  <a:txBody>
                    <a:bodyPr/>
                    <a:lstStyle/>
                    <a:p>
                      <a:pPr>
                        <a:defRPr sz="1200">
                          <a:solidFill>
                            <a:srgbClr val="1E2124"/>
                          </a:solidFill>
                          <a:latin typeface="Yu Gothic"/>
                        </a:defRPr>
                      </a:pPr>
                      <a:r>
                        <a:t>Automotive World</a:t>
                      </a:r>
                    </a:p>
                  </a:txBody>
                  <a:tcPr>
                    <a:solidFill>
                      <a:srgbClr val="FFFFFF"/>
                    </a:solidFill>
                  </a:tcPr>
                </a:tc>
                <a:tc>
                  <a:txBody>
                    <a:bodyPr/>
                    <a:lstStyle/>
                    <a:p>
                      <a:pPr>
                        <a:defRPr sz="1200">
                          <a:solidFill>
                            <a:srgbClr val="1E2124"/>
                          </a:solidFill>
                          <a:latin typeface="Yu Gothic"/>
                        </a:defRPr>
                      </a:pPr>
                      <a:r>
                        <a:t>海外展開パイプライン・パートナー提携の報道</a:t>
                      </a:r>
                    </a:p>
                  </a:txBody>
                  <a:tcPr>
                    <a:solidFill>
                      <a:srgbClr val="FFFFFF"/>
                    </a:solidFill>
                  </a:tcPr>
                </a:tc>
              </a:tr>
              <a:tr h="502920">
                <a:tc>
                  <a:txBody>
                    <a:bodyPr/>
                    <a:lstStyle/>
                    <a:p>
                      <a:pPr>
                        <a:defRPr sz="1200">
                          <a:solidFill>
                            <a:srgbClr val="1E2124"/>
                          </a:solidFill>
                          <a:latin typeface="Yu Gothic"/>
                        </a:defRPr>
                      </a:pPr>
                      <a:r>
                        <a:t>Manila Times</a:t>
                      </a:r>
                    </a:p>
                  </a:txBody>
                  <a:tcPr>
                    <a:solidFill>
                      <a:srgbClr val="F7F4EF"/>
                    </a:solidFill>
                  </a:tcPr>
                </a:tc>
                <a:tc>
                  <a:txBody>
                    <a:bodyPr/>
                    <a:lstStyle/>
                    <a:p>
                      <a:pPr>
                        <a:defRPr sz="1200">
                          <a:solidFill>
                            <a:srgbClr val="1E2124"/>
                          </a:solidFill>
                          <a:latin typeface="Yu Gothic"/>
                        </a:defRPr>
                      </a:pPr>
                      <a:r>
                        <a:t>配信記事(決算・海外展開)</a:t>
                      </a:r>
                    </a:p>
                  </a:txBody>
                  <a:tcPr>
                    <a:solidFill>
                      <a:srgbClr val="F7F4E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GlobeNewswire・Quartz・BigGo Finance・Yahoo Finance・Automotive World・Manila Times(2026-08-18)</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ロボタクシー売上691.2%増。事実だけを、出典付きで。</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F5D9A8"/>
                </a:solidFill>
                <a:latin typeface="Yu Gothic"/>
              </a:rPr>
              <a:t>Pony.aiの第2四半期決算――ロボタクシー売上の急成長と海外展開パイプライン4000台超の中身を出典付きで整理してお届けしました。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3A4750"/>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