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詐欺対策に24億ドル。Visaが賭けたのは『行動』で見抜くAIでした。決済大手Visaが、AI行動生体認証企業BioCatchを買収すると発表しました。今日はこの話題をお届けします。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今日わかることは6つです。何が起きたのか、BioCatchとはどんな会社か、買収の規模と条件、AI詐欺対策の背景、確認できたこと・できなかったこと、そして今後の見通しです。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何が起きたのか整理します。Visaが2026年8月3日、BioCatchを24億ドルの現金で買収すると発表しました。買収完了は2027年度第2四半期末までを見込んでいます。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買収額はこちら、24億ドルです。すべて現金での買収と報じられています。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買収概要を表にまとめました。買収企業はVisa、被買収企業はBioCatch、買収額は24億ドルの現金です。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BioCatchとはどんな会社か。行動シグナルをAIで分析する技術を持ち、約7.6億人のユーザー・約350の銀行を保護しているとされています。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行動生体認証AIの仕組みを概要で紹介します。収集、分析、判定という3ステップで、正規ユーザーと詐欺師・ボットをリアルタイムで見分けます。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保護する規模を見ていきます。約7.6億人のユーザー、約350の銀行、月間190億セッションという規模で運用されているとされています。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詐欺検知の流れを概要で示します。ログイン試行から行動シグナル収集、AI分析、判定という流れです。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業界の被害規模です。Visaは、詐欺・アカウント乗っ取りが世界経済に年間1兆ドル超の損害を与えていると推計しています。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改めて数字を確認します。詐欺・アカウント乗っ取りによる世界経済への年間損害は1兆ドル超とVisaは推計しています。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Visaの狙いを報道から整理します。不正対策事業の拡大、AI詐欺への対応強化、銀行との関係強化が挙げられています。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ここで確認できたこと・できなかったことを正直に整理します。数字は複数媒体で一致していますが、統合計画の詳細や技術的優位性の第三者評価は確認できていません。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買収完了までの流れです。発表から規制当局の審査を経て、2027年度第2四半期末までの完了を見込んでいます。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規制承認のプロセスについてです。本買収は規制当局の承認が完了の条件となっており、承認見通しの詳細は確認できていません。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処理データ量を改めて確認します。BioCatchは月間190億セッションを分析しているとされます。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詐欺対策技術の進化を概要で紹介します。ルールベースから機械学習、そして行動生体認証へと進化してきたとされています。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初心者向けに行動生体認証を説明します。パスワードのような『知っているもの』ではなく、タイピングの癖のような『その人らしい動き』で本人確認をする技術です。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出典一覧です。CNBC・Bloomberg・SecurityWeek・Benzinga・Yahoo Financeという、独立した複数の報道・金融専門メディアです。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M&amp;A概要を再確認します。決済大手Visaが、イスラエル発のAI行動生体認証企業BioCatchを24億ドルの現金で買収します。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既存テーマとの関係を確認しました。VisaまたはBioCatchを主題として扱った既存テーマはなく、重複ではありません。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ここからは推測です。決済業界全体でのAI不正対策投資の加速や、行動生体認証技術への注目の高まりが予想されます。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保護する銀行数を確認します。BioCatchは現在、約350の銀行を保護しているとされています。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Visaの不正対策投資を、これまでと今回とで比較します。行動生体認証技術と大規模な顧客基盤の取り込みが見込まれています。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AI詐欺と対策AIの関係を概要で示します。詐欺の高度化と対策の高度化が、互いに進化していく構図にあるとされています。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リスクと課題を正直に開示します。買収完了は規制当局の承認が条件であり、確定した将来ではありません。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本テーマで大切にしたことを紹介します。出典の明記、正直な開示、中立性の3点です。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買収完了見込みを改めて確認します。Visaの2027年度第2四半期末までの完了を見込んでおり、規制当局の承認が条件です。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皆さんはこの買収、どう見ますか。AI詐欺対策への投資、今後も注目していきましょう。続報が入り次第、改めてお届けします。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まとめです。Visaが2026年8月3日、BioCatchを24億ドルで買収すると発表しました。今回もご視聴ありがとうございました。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詐欺対策に24億ドル。Visaが賭けた「行動」で見抜くAI</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決済大手Visa、AI行動生体認証企業BioCatchを買収(2026年8月3日)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CNBC・Bloomberg・SecurityWeek ほか(2026-08-03)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何が起きたのか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BioCatchとはどんな会社か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買収の規模と条件</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AI詐欺対策の背景</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確認できたこと・できなかったこと</a:t>
            </a:r>
          </a:p>
        </p:txBody>
      </p:sp>
      <p:sp>
        <p:nvSpPr>
          <p:cNvPr id="15" name="Oval 14"/>
          <p:cNvSpPr/>
          <p:nvPr/>
        </p:nvSpPr>
        <p:spPr>
          <a:xfrm>
            <a:off x="548640" y="58064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7DCC2"/>
                </a:solidFill>
                <a:latin typeface="Yu Gothic"/>
              </a:rPr>
              <a:t>今後の見通し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何が起きたのか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Visaが2026年8月3日、BioCatchを24億ドル(現金)で買収すると発表</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BioCatchはイスラエル発のAI行動生体認証企業</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キーストロークやタッチ操作などの行動シグナルをAIで分析する技術を持つ</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買収完了は2027年度第2四半期末までを見込む(規制当局承認が条件)</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CNBC(2026-08-03)</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買収額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24億ドル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現金での買収(Visa発表、2026年8月3日)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Bloomberg(2026-08-03)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買収概要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買収企業</a:t>
                      </a:r>
                    </a:p>
                  </a:txBody>
                  <a:tcPr>
                    <a:solidFill>
                      <a:srgbClr val="FFFFFF"/>
                    </a:solidFill>
                  </a:tcPr>
                </a:tc>
                <a:tc>
                  <a:txBody>
                    <a:bodyPr/>
                    <a:lstStyle/>
                    <a:p>
                      <a:pPr>
                        <a:defRPr sz="1200">
                          <a:solidFill>
                            <a:srgbClr val="20261F"/>
                          </a:solidFill>
                          <a:latin typeface="Yu Gothic"/>
                        </a:defRPr>
                      </a:pPr>
                      <a:r>
                        <a:t>Visa</a:t>
                      </a:r>
                    </a:p>
                  </a:txBody>
                  <a:tcPr>
                    <a:solidFill>
                      <a:srgbClr val="FFFFFF"/>
                    </a:solidFill>
                  </a:tcPr>
                </a:tc>
              </a:tr>
              <a:tr h="502920">
                <a:tc>
                  <a:txBody>
                    <a:bodyPr/>
                    <a:lstStyle/>
                    <a:p>
                      <a:pPr>
                        <a:defRPr sz="1200">
                          <a:solidFill>
                            <a:srgbClr val="20261F"/>
                          </a:solidFill>
                          <a:latin typeface="Yu Gothic"/>
                        </a:defRPr>
                      </a:pPr>
                      <a:r>
                        <a:t>被買収企業</a:t>
                      </a:r>
                    </a:p>
                  </a:txBody>
                  <a:tcPr>
                    <a:solidFill>
                      <a:srgbClr val="F4F1E6"/>
                    </a:solidFill>
                  </a:tcPr>
                </a:tc>
                <a:tc>
                  <a:txBody>
                    <a:bodyPr/>
                    <a:lstStyle/>
                    <a:p>
                      <a:pPr>
                        <a:defRPr sz="1200">
                          <a:solidFill>
                            <a:srgbClr val="20261F"/>
                          </a:solidFill>
                          <a:latin typeface="Yu Gothic"/>
                        </a:defRPr>
                      </a:pPr>
                      <a:r>
                        <a:t>BioCatch(イスラエル発)</a:t>
                      </a:r>
                    </a:p>
                  </a:txBody>
                  <a:tcPr>
                    <a:solidFill>
                      <a:srgbClr val="F4F1E6"/>
                    </a:solidFill>
                  </a:tcPr>
                </a:tc>
              </a:tr>
              <a:tr h="502920">
                <a:tc>
                  <a:txBody>
                    <a:bodyPr/>
                    <a:lstStyle/>
                    <a:p>
                      <a:pPr>
                        <a:defRPr sz="1200">
                          <a:solidFill>
                            <a:srgbClr val="20261F"/>
                          </a:solidFill>
                          <a:latin typeface="Yu Gothic"/>
                        </a:defRPr>
                      </a:pPr>
                      <a:r>
                        <a:t>買収額</a:t>
                      </a:r>
                    </a:p>
                  </a:txBody>
                  <a:tcPr>
                    <a:solidFill>
                      <a:srgbClr val="FFFFFF"/>
                    </a:solidFill>
                  </a:tcPr>
                </a:tc>
                <a:tc>
                  <a:txBody>
                    <a:bodyPr/>
                    <a:lstStyle/>
                    <a:p>
                      <a:pPr>
                        <a:defRPr sz="1200">
                          <a:solidFill>
                            <a:srgbClr val="20261F"/>
                          </a:solidFill>
                          <a:latin typeface="Yu Gothic"/>
                        </a:defRPr>
                      </a:pPr>
                      <a:r>
                        <a:t>24億ドル(現金)</a:t>
                      </a:r>
                    </a:p>
                  </a:txBody>
                  <a:tcPr>
                    <a:solidFill>
                      <a:srgbClr val="FFFFFF"/>
                    </a:solidFill>
                  </a:tcPr>
                </a:tc>
              </a:tr>
              <a:tr h="502920">
                <a:tc>
                  <a:txBody>
                    <a:bodyPr/>
                    <a:lstStyle/>
                    <a:p>
                      <a:pPr>
                        <a:defRPr sz="1200">
                          <a:solidFill>
                            <a:srgbClr val="20261F"/>
                          </a:solidFill>
                          <a:latin typeface="Yu Gothic"/>
                        </a:defRPr>
                      </a:pPr>
                      <a:r>
                        <a:t>発表日</a:t>
                      </a:r>
                    </a:p>
                  </a:txBody>
                  <a:tcPr>
                    <a:solidFill>
                      <a:srgbClr val="F4F1E6"/>
                    </a:solidFill>
                  </a:tcPr>
                </a:tc>
                <a:tc>
                  <a:txBody>
                    <a:bodyPr/>
                    <a:lstStyle/>
                    <a:p>
                      <a:pPr>
                        <a:defRPr sz="1200">
                          <a:solidFill>
                            <a:srgbClr val="20261F"/>
                          </a:solidFill>
                          <a:latin typeface="Yu Gothic"/>
                        </a:defRPr>
                      </a:pPr>
                      <a:r>
                        <a:t>2026年8月3日</a:t>
                      </a:r>
                    </a:p>
                  </a:txBody>
                  <a:tcPr>
                    <a:solidFill>
                      <a:srgbClr val="F4F1E6"/>
                    </a:solidFill>
                  </a:tcPr>
                </a:tc>
              </a:tr>
              <a:tr h="502920">
                <a:tc>
                  <a:txBody>
                    <a:bodyPr/>
                    <a:lstStyle/>
                    <a:p>
                      <a:pPr>
                        <a:defRPr sz="1200">
                          <a:solidFill>
                            <a:srgbClr val="20261F"/>
                          </a:solidFill>
                          <a:latin typeface="Yu Gothic"/>
                        </a:defRPr>
                      </a:pPr>
                      <a:r>
                        <a:t>完了見込み</a:t>
                      </a:r>
                    </a:p>
                  </a:txBody>
                  <a:tcPr>
                    <a:solidFill>
                      <a:srgbClr val="FFFFFF"/>
                    </a:solidFill>
                  </a:tcPr>
                </a:tc>
                <a:tc>
                  <a:txBody>
                    <a:bodyPr/>
                    <a:lstStyle/>
                    <a:p>
                      <a:pPr>
                        <a:defRPr sz="1200">
                          <a:solidFill>
                            <a:srgbClr val="20261F"/>
                          </a:solidFill>
                          <a:latin typeface="Yu Gothic"/>
                        </a:defRPr>
                      </a:pPr>
                      <a:r>
                        <a:t>2027年度第2四半期末まで</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BioCatchとは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技術</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キーストロークやタッチ操作圧力などの行動シグナルをAI・機械学習で分析</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実績</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約7.6億人のユーザー・約350の銀行を保護しているとされる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処理規模</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1セッションあたり3,000超のデータポイント、月間190億セッションを分析</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行動生体認証AIの仕組み(概要)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 収集</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キーストローク・タッチ操作・デバイス情報などのシグナルを収集</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 分析</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AI・機械学習モデルが行動パターンを分析</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 判定</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正規ユーザーか、詐欺師・ボットかをリアルタイムで判定</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保護する規模</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約7.6億人のユーザーを保護しているとされる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約350の銀行が導入しているとされる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月間190億セッションを分析しているとされる</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1セッションあたり3,000超の匿名化データポイントを収集</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techtimes.com(2026-08-03)</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詐欺検知の流れ(概要)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ログイン試行</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ユーザーがサービスにアクセス</a:t>
            </a:r>
          </a:p>
        </p:txBody>
      </p:sp>
      <p:sp>
        <p:nvSpPr>
          <p:cNvPr id="10" name="Right Arrow 9"/>
          <p:cNvSpPr/>
          <p:nvPr/>
        </p:nvSpPr>
        <p:spPr>
          <a:xfrm>
            <a:off x="25571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行動シグナル収集</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キーストローク・タッチ操作等</a:t>
            </a:r>
          </a:p>
        </p:txBody>
      </p:sp>
      <p:sp>
        <p:nvSpPr>
          <p:cNvPr id="15" name="Right Arrow 14"/>
          <p:cNvSpPr/>
          <p:nvPr/>
        </p:nvSpPr>
        <p:spPr>
          <a:xfrm>
            <a:off x="57575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AI分析</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行動パターンをリアルタイム分析</a:t>
            </a:r>
          </a:p>
        </p:txBody>
      </p:sp>
      <p:sp>
        <p:nvSpPr>
          <p:cNvPr id="20" name="Right Arrow 19"/>
          <p:cNvSpPr/>
          <p:nvPr/>
        </p:nvSpPr>
        <p:spPr>
          <a:xfrm>
            <a:off x="89579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判定</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正規ユーザー/詐欺師・ボットを判定</a:t>
            </a:r>
          </a:p>
        </p:txBody>
      </p:sp>
      <p:sp>
        <p:nvSpPr>
          <p:cNvPr id="25" name="TextBox 2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26" name="TextBox 2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業界の被害規模(Visa推計)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推計</a:t>
                      </a:r>
                    </a:p>
                  </a:txBody>
                  <a:tcPr>
                    <a:solidFill>
                      <a:srgbClr val="24523F"/>
                    </a:solidFill>
                  </a:tcPr>
                </a:tc>
              </a:tr>
              <a:tr h="502920">
                <a:tc>
                  <a:txBody>
                    <a:bodyPr/>
                    <a:lstStyle/>
                    <a:p>
                      <a:pPr>
                        <a:defRPr sz="1200">
                          <a:solidFill>
                            <a:srgbClr val="20261F"/>
                          </a:solidFill>
                          <a:latin typeface="Yu Gothic"/>
                        </a:defRPr>
                      </a:pPr>
                      <a:r>
                        <a:t>詐欺・アカウント乗っ取りの年間損害</a:t>
                      </a:r>
                    </a:p>
                  </a:txBody>
                  <a:tcPr>
                    <a:solidFill>
                      <a:srgbClr val="FFFFFF"/>
                    </a:solidFill>
                  </a:tcPr>
                </a:tc>
                <a:tc>
                  <a:txBody>
                    <a:bodyPr/>
                    <a:lstStyle/>
                    <a:p>
                      <a:pPr>
                        <a:defRPr sz="1200">
                          <a:solidFill>
                            <a:srgbClr val="20261F"/>
                          </a:solidFill>
                          <a:latin typeface="Yu Gothic"/>
                        </a:defRPr>
                      </a:pPr>
                      <a:r>
                        <a:t>世界経済に1兆ドル超(Visa推計)</a:t>
                      </a:r>
                    </a:p>
                  </a:txBody>
                  <a:tcPr>
                    <a:solidFill>
                      <a:srgbClr val="FFFFFF"/>
                    </a:solidFill>
                  </a:tcPr>
                </a:tc>
              </a:tr>
              <a:tr h="502920">
                <a:tc>
                  <a:txBody>
                    <a:bodyPr/>
                    <a:lstStyle/>
                    <a:p>
                      <a:pPr>
                        <a:defRPr sz="1200">
                          <a:solidFill>
                            <a:srgbClr val="20261F"/>
                          </a:solidFill>
                          <a:latin typeface="Yu Gothic"/>
                        </a:defRPr>
                      </a:pPr>
                      <a:r>
                        <a:t>BioCatchの月間分析セッション数</a:t>
                      </a:r>
                    </a:p>
                  </a:txBody>
                  <a:tcPr>
                    <a:solidFill>
                      <a:srgbClr val="F4F1E6"/>
                    </a:solidFill>
                  </a:tcPr>
                </a:tc>
                <a:tc>
                  <a:txBody>
                    <a:bodyPr/>
                    <a:lstStyle/>
                    <a:p>
                      <a:pPr>
                        <a:defRPr sz="1200">
                          <a:solidFill>
                            <a:srgbClr val="20261F"/>
                          </a:solidFill>
                          <a:latin typeface="Yu Gothic"/>
                        </a:defRPr>
                      </a:pPr>
                      <a:r>
                        <a:t>190億セッション</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詐欺被害額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1兆ドル超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詐欺・アカウント乗っ取りによる世界経済への年間損害(Visa推計)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CNBC(2026-08-03)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Visaの狙い(報道からの整理)</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事業拡大</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不正対策・サイバーセキュリティ・分析ソフトウェアの付加価値サービス事業を拡大</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AI詐欺への対応</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AIを使った詐欺の高度化に対応する技術を強化</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銀行との関係強化</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既に約350行が導入するBioCatchの顧客基盤を取り込む</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買収額・完了見込み時期・BioCatchの規模に関する数字は複数媒体で一致</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BioCatchの技術的優位性についての第三者評価は確認できていない</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買収後の具体的な統合計画の詳細は確認できていない</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両社公式プレスリリース原文全体までは確認できていない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買収完了までの流れ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発表</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2026年8月3日</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規制当局の審査</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承認が買収完了の条件</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買収完了(見込み)</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2027年度第2四半期末まで</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規制承認のプロセスについて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本買収は規制当局の承認が完了の条件となっている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承認見通しの詳細は本調査の範囲では確認できていない</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完了までは2027年度第2四半期末までの見込みとされる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処理データ量</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190億セッション/月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BioCatchが分析するとされる月間セッション数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techtimes.com(2026-08-03)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詐欺対策技術の進化(概要)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 ルールベース</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既知の不正パターンに基づく従来型の検知</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 機械学習</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取引データのパターンから不正を検知</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 行動生体認証</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キーストローク等の行動シグナルでリアルタイム判定</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初心者向け: 行動生体認証とは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従来の認証</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パスワードやワンタイムコードなど『知っているもの』で本人確認</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行動生体認証</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タイピングの癖やタッチ操作など『その人らしい動き』で本人確認</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利点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パスワードが漏れても、行動パターンまでは真似しにくいとされる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4523F"/>
                    </a:solidFill>
                  </a:tcPr>
                </a:tc>
                <a:tc>
                  <a:txBody>
                    <a:bodyPr/>
                    <a:lstStyle/>
                    <a:p>
                      <a:pPr>
                        <a:defRPr sz="1300" b="1">
                          <a:solidFill>
                            <a:srgbClr val="FFFFFF"/>
                          </a:solidFill>
                          <a:latin typeface="Yu Gothic"/>
                        </a:defRPr>
                      </a:pPr>
                      <a:r>
                        <a:t>日付</a:t>
                      </a:r>
                    </a:p>
                  </a:txBody>
                  <a:tcPr>
                    <a:solidFill>
                      <a:srgbClr val="24523F"/>
                    </a:solidFill>
                  </a:tcPr>
                </a:tc>
              </a:tr>
              <a:tr h="502920">
                <a:tc>
                  <a:txBody>
                    <a:bodyPr/>
                    <a:lstStyle/>
                    <a:p>
                      <a:pPr>
                        <a:defRPr sz="1200">
                          <a:solidFill>
                            <a:srgbClr val="20261F"/>
                          </a:solidFill>
                          <a:latin typeface="Yu Gothic"/>
                        </a:defRPr>
                      </a:pPr>
                      <a:r>
                        <a:t>CNBC</a:t>
                      </a:r>
                    </a:p>
                  </a:txBody>
                  <a:tcPr>
                    <a:solidFill>
                      <a:srgbClr val="FFFFFF"/>
                    </a:solidFill>
                  </a:tcPr>
                </a:tc>
                <a:tc>
                  <a:txBody>
                    <a:bodyPr/>
                    <a:lstStyle/>
                    <a:p>
                      <a:pPr>
                        <a:defRPr sz="1200">
                          <a:solidFill>
                            <a:srgbClr val="20261F"/>
                          </a:solidFill>
                          <a:latin typeface="Yu Gothic"/>
                        </a:defRPr>
                      </a:pPr>
                      <a:r>
                        <a:t>2026-08-03</a:t>
                      </a:r>
                    </a:p>
                  </a:txBody>
                  <a:tcPr>
                    <a:solidFill>
                      <a:srgbClr val="FFFFFF"/>
                    </a:solidFill>
                  </a:tcPr>
                </a:tc>
              </a:tr>
              <a:tr h="502920">
                <a:tc>
                  <a:txBody>
                    <a:bodyPr/>
                    <a:lstStyle/>
                    <a:p>
                      <a:pPr>
                        <a:defRPr sz="1200">
                          <a:solidFill>
                            <a:srgbClr val="20261F"/>
                          </a:solidFill>
                          <a:latin typeface="Yu Gothic"/>
                        </a:defRPr>
                      </a:pPr>
                      <a:r>
                        <a:t>Bloomberg</a:t>
                      </a:r>
                    </a:p>
                  </a:txBody>
                  <a:tcPr>
                    <a:solidFill>
                      <a:srgbClr val="F4F1E6"/>
                    </a:solidFill>
                  </a:tcPr>
                </a:tc>
                <a:tc>
                  <a:txBody>
                    <a:bodyPr/>
                    <a:lstStyle/>
                    <a:p>
                      <a:pPr>
                        <a:defRPr sz="1200">
                          <a:solidFill>
                            <a:srgbClr val="20261F"/>
                          </a:solidFill>
                          <a:latin typeface="Yu Gothic"/>
                        </a:defRPr>
                      </a:pPr>
                      <a:r>
                        <a:t>2026-08-03</a:t>
                      </a:r>
                    </a:p>
                  </a:txBody>
                  <a:tcPr>
                    <a:solidFill>
                      <a:srgbClr val="F4F1E6"/>
                    </a:solidFill>
                  </a:tcPr>
                </a:tc>
              </a:tr>
              <a:tr h="502920">
                <a:tc>
                  <a:txBody>
                    <a:bodyPr/>
                    <a:lstStyle/>
                    <a:p>
                      <a:pPr>
                        <a:defRPr sz="1200">
                          <a:solidFill>
                            <a:srgbClr val="20261F"/>
                          </a:solidFill>
                          <a:latin typeface="Yu Gothic"/>
                        </a:defRPr>
                      </a:pPr>
                      <a:r>
                        <a:t>SecurityWeek</a:t>
                      </a:r>
                    </a:p>
                  </a:txBody>
                  <a:tcPr>
                    <a:solidFill>
                      <a:srgbClr val="FFFFFF"/>
                    </a:solidFill>
                  </a:tcPr>
                </a:tc>
                <a:tc>
                  <a:txBody>
                    <a:bodyPr/>
                    <a:lstStyle/>
                    <a:p>
                      <a:pPr>
                        <a:defRPr sz="1200">
                          <a:solidFill>
                            <a:srgbClr val="20261F"/>
                          </a:solidFill>
                          <a:latin typeface="Yu Gothic"/>
                        </a:defRPr>
                      </a:pPr>
                      <a:r>
                        <a:t>2026-08-03</a:t>
                      </a:r>
                    </a:p>
                  </a:txBody>
                  <a:tcPr>
                    <a:solidFill>
                      <a:srgbClr val="FFFFFF"/>
                    </a:solidFill>
                  </a:tcPr>
                </a:tc>
              </a:tr>
              <a:tr h="502920">
                <a:tc>
                  <a:txBody>
                    <a:bodyPr/>
                    <a:lstStyle/>
                    <a:p>
                      <a:pPr>
                        <a:defRPr sz="1200">
                          <a:solidFill>
                            <a:srgbClr val="20261F"/>
                          </a:solidFill>
                          <a:latin typeface="Yu Gothic"/>
                        </a:defRPr>
                      </a:pPr>
                      <a:r>
                        <a:t>Benzinga</a:t>
                      </a:r>
                    </a:p>
                  </a:txBody>
                  <a:tcPr>
                    <a:solidFill>
                      <a:srgbClr val="F4F1E6"/>
                    </a:solidFill>
                  </a:tcPr>
                </a:tc>
                <a:tc>
                  <a:txBody>
                    <a:bodyPr/>
                    <a:lstStyle/>
                    <a:p>
                      <a:pPr>
                        <a:defRPr sz="1200">
                          <a:solidFill>
                            <a:srgbClr val="20261F"/>
                          </a:solidFill>
                          <a:latin typeface="Yu Gothic"/>
                        </a:defRPr>
                      </a:pPr>
                      <a:r>
                        <a:t>2026-08-03</a:t>
                      </a:r>
                    </a:p>
                  </a:txBody>
                  <a:tcPr>
                    <a:solidFill>
                      <a:srgbClr val="F4F1E6"/>
                    </a:solidFill>
                  </a:tcPr>
                </a:tc>
              </a:tr>
              <a:tr h="502920">
                <a:tc>
                  <a:txBody>
                    <a:bodyPr/>
                    <a:lstStyle/>
                    <a:p>
                      <a:pPr>
                        <a:defRPr sz="1200">
                          <a:solidFill>
                            <a:srgbClr val="20261F"/>
                          </a:solidFill>
                          <a:latin typeface="Yu Gothic"/>
                        </a:defRPr>
                      </a:pPr>
                      <a:r>
                        <a:t>Yahoo Finance</a:t>
                      </a:r>
                    </a:p>
                  </a:txBody>
                  <a:tcPr>
                    <a:solidFill>
                      <a:srgbClr val="FFFFFF"/>
                    </a:solidFill>
                  </a:tcPr>
                </a:tc>
                <a:tc>
                  <a:txBody>
                    <a:bodyPr/>
                    <a:lstStyle/>
                    <a:p>
                      <a:pPr>
                        <a:defRPr sz="1200">
                          <a:solidFill>
                            <a:srgbClr val="20261F"/>
                          </a:solidFill>
                          <a:latin typeface="Yu Gothic"/>
                        </a:defRPr>
                      </a:pPr>
                      <a:r>
                        <a:t>2026-08-03</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M&amp;A概要の再確認</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買収企業: Visa(決済大手)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被買収企業: BioCatch(イスラエル発のAI行動生体認証企業)</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買収額: 24億ドル(現金)</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発表日: 2026年8月3日(着手日の前日)</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24523F"/>
                    </a:solidFill>
                  </a:tcPr>
                </a:tc>
                <a:tc>
                  <a:txBody>
                    <a:bodyPr/>
                    <a:lstStyle/>
                    <a:p>
                      <a:pPr>
                        <a:defRPr sz="1300" b="1">
                          <a:solidFill>
                            <a:srgbClr val="FFFFFF"/>
                          </a:solidFill>
                          <a:latin typeface="Yu Gothic"/>
                        </a:defRPr>
                      </a:pPr>
                      <a:r>
                        <a:t>結果</a:t>
                      </a:r>
                    </a:p>
                  </a:txBody>
                  <a:tcPr>
                    <a:solidFill>
                      <a:srgbClr val="24523F"/>
                    </a:solidFill>
                  </a:tcPr>
                </a:tc>
              </a:tr>
              <a:tr h="502920">
                <a:tc>
                  <a:txBody>
                    <a:bodyPr/>
                    <a:lstStyle/>
                    <a:p>
                      <a:pPr>
                        <a:defRPr sz="1200">
                          <a:solidFill>
                            <a:srgbClr val="20261F"/>
                          </a:solidFill>
                          <a:latin typeface="Yu Gothic"/>
                        </a:defRPr>
                      </a:pPr>
                      <a:r>
                        <a:t>Visaを主題としたテーマ</a:t>
                      </a:r>
                    </a:p>
                  </a:txBody>
                  <a:tcPr>
                    <a:solidFill>
                      <a:srgbClr val="FFFFFF"/>
                    </a:solidFill>
                  </a:tcPr>
                </a:tc>
                <a:tc>
                  <a:txBody>
                    <a:bodyPr/>
                    <a:lstStyle/>
                    <a:p>
                      <a:pPr>
                        <a:defRPr sz="1200">
                          <a:solidFill>
                            <a:srgbClr val="20261F"/>
                          </a:solidFill>
                          <a:latin typeface="Yu Gothic"/>
                        </a:defRPr>
                      </a:pPr>
                      <a:r>
                        <a:t>既存114テーマになし</a:t>
                      </a:r>
                    </a:p>
                  </a:txBody>
                  <a:tcPr>
                    <a:solidFill>
                      <a:srgbClr val="FFFFFF"/>
                    </a:solidFill>
                  </a:tcPr>
                </a:tc>
              </a:tr>
              <a:tr h="502920">
                <a:tc>
                  <a:txBody>
                    <a:bodyPr/>
                    <a:lstStyle/>
                    <a:p>
                      <a:pPr>
                        <a:defRPr sz="1200">
                          <a:solidFill>
                            <a:srgbClr val="20261F"/>
                          </a:solidFill>
                          <a:latin typeface="Yu Gothic"/>
                        </a:defRPr>
                      </a:pPr>
                      <a:r>
                        <a:t>BioCatchを主題としたテーマ</a:t>
                      </a:r>
                    </a:p>
                  </a:txBody>
                  <a:tcPr>
                    <a:solidFill>
                      <a:srgbClr val="F4F1E6"/>
                    </a:solidFill>
                  </a:tcPr>
                </a:tc>
                <a:tc>
                  <a:txBody>
                    <a:bodyPr/>
                    <a:lstStyle/>
                    <a:p>
                      <a:pPr>
                        <a:defRPr sz="1200">
                          <a:solidFill>
                            <a:srgbClr val="20261F"/>
                          </a:solidFill>
                          <a:latin typeface="Yu Gothic"/>
                        </a:defRPr>
                      </a:pPr>
                      <a:r>
                        <a:t>既存114テーマになし</a:t>
                      </a:r>
                    </a:p>
                  </a:txBody>
                  <a:tcPr>
                    <a:solidFill>
                      <a:srgbClr val="F4F1E6"/>
                    </a:solidFill>
                  </a:tcPr>
                </a:tc>
              </a:tr>
              <a:tr h="502920">
                <a:tc>
                  <a:txBody>
                    <a:bodyPr/>
                    <a:lstStyle/>
                    <a:p>
                      <a:pPr>
                        <a:defRPr sz="1200">
                          <a:solidFill>
                            <a:srgbClr val="20261F"/>
                          </a:solidFill>
                          <a:latin typeface="Yu Gothic"/>
                        </a:defRPr>
                      </a:pPr>
                      <a:r>
                        <a:t>判定</a:t>
                      </a:r>
                    </a:p>
                  </a:txBody>
                  <a:tcPr>
                    <a:solidFill>
                      <a:srgbClr val="FFFFFF"/>
                    </a:solidFill>
                  </a:tcPr>
                </a:tc>
                <a:tc>
                  <a:txBody>
                    <a:bodyPr/>
                    <a:lstStyle/>
                    <a:p>
                      <a:pPr>
                        <a:defRPr sz="1200">
                          <a:solidFill>
                            <a:srgbClr val="20261F"/>
                          </a:solidFill>
                          <a:latin typeface="Yu Gothic"/>
                        </a:defRPr>
                      </a:pPr>
                      <a:r>
                        <a:t>重複ではない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業界への影響(ここからは推測)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ここからは推測ですが、決済業界全体でのAI不正対策投資の加速が予想される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行動生体認証技術への注目がさらに高まる可能性がある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AIを使った詐欺の高度化と対策AIの競争が続くと見られる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保護する銀行数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約350行</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BioCatchが現在保護するとされる銀行数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CNBC(2026-08-03)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Visaの不正対策投資: これまでと今回</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これまで</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不正対策・サイバーセキュリティ・分析ソフトウェアの提供</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自社および買収済み技術による対策</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BioCatch買収後(見込み)</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行動生体認証技術の取り込み</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約7.6億人・約350行分の顧客基盤を統合(規制当局の承認が条件)</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AI詐欺と対策AIの関係(概要)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AIによる詐欺の高度化</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生成AI等の悪用による巧妙化</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対策AIの高度化</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行動生体認証などの技術強化</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競争が継続</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双方の技術が互いに進化していく構図</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リスクと課題(正直な開示)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買収完了は規制当局の承認が条件で、確定した将来ではない</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買収後の統合が計画通りに進むかは未確認</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行動生体認証技術自体のプライバシーへの配慮も論点となり得る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本テーマで大切にしたこと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出典の明記</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複数の独立した報道・金融専門メディアの数字のみを使用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正直な開示</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確認できなかったことは明記し、創作しない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中立性</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特定企業・特定製品の利用を強く推奨する結論にはしていない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買収完了見込み</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2027年度Q2末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Visaの2027年度第2四半期末までの完了見込み(規制当局承認が条件)</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SecurityWeek(2026-08-03)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あなたはこの買収、どう見ますか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AI詐欺対策への投資、今後も注目していきましょう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Visaが2026年8月3日、BioCatchを24億ドルで買収すると発表</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BioCatchは約7.6億人・約350行を保護するAI行動生体認証企業</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詐欺・アカウント乗っ取りの年間損害は1兆ドル超とVisaは推計</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買収完了は2027年度第2四半期末までを見込む(規制当局承認が条件)</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CNBC・Bloomberg・SecurityWeek ほか(2026-08-03)｜定期実行115本目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