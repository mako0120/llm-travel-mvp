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高専発の事業持株会社プロッセルホールディングスが、千葉道場ファンドをリード投資家とするシード資金調達を発表しました。何が起きたのか、出典付きで正確に整理してお届けします。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結論から確認します。プロッセルホールディングスは、千葉道場ファンドをリード投資家とするシード資金調達を実施し、グループ累計調達額はデットを含め2.5億円となりました。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本日の流れです。今回の調達から企業概要、事業モデル、そして確認できなかったことまで整理します。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着手日当日に発表された、独自性の高い事業モデルの資金調達です。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今回のラウンドは、起業家コミュニティによる投資ファンドである千葉道場ファンドがリード投資家となりました。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今回の調達は第三者割当増資により実施され、千葉道場ファンドと個人投資家1名が引き受けました。</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今回のラウンド概要です。今回分単体の金額は非公開で、累計額のみが公表されています。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プロッセルホールディングスは、高専発の事業持株会社として2025年に設立されました。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プロッセルホールディングスは、2025年11月5日付で株式移転により新たに設立されました。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3社が完全子会社としてグループ化し、キャリア・製造・ソフトウェアの3領域を掛け合わせています。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グループ3社は、それぞれキャリア支援・製造・ソフトウェア開発を担っています。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「ロールアップ」戦略により、事業承継課題を抱える町工場をグループに迎え入れる取り組みを進めています。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町工場のロールアップと、設計データを活用したAI開発を両輪で推進しています。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設立から今回の調達発表までの展開を整理します。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高専は実践的な技術者教育を行う教育機関で、ものづくり分野の人材輩出で知られています。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確定していることと、まだ確認できていないことを整理します。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これらの項目は本調査の範囲では確認できておらず、推測で埋めていません。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今回の発表は着手日当日で、鮮度の高い話題です。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従来の事業承継と比べ、高専人材ネットワークを介した独自の受け皿を用意している点が特徴です。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千葉道場ファンドは、起業家コミュニティによる投資ファンドとして知られています。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いずれも企業公式のPR TIMES発表を出典としています。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今回単体の調達額と、設立以降の累計調達額は、異なる種類の数字として区別する必要があります。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プロッセルホールディングスの代表取締役CEOは、横山和輝氏です。</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今回の調達の注目ポイントを3つにまとめました。</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本テーマは、高専発スタートアップによる事業承継課題への取り組み事例として整理しています。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設立から今回の発表までのタイムラインです。</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今後、グループ入りする町工場の推移やAI開発の進捗が注目されます。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プロッセルホールディングスは、千葉道場ファンドのリードのもと、グループ累計調達額2.5億円に到達しました。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グループを構成する企業と、それぞれの位置づけを整理しました。</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本日はプロッセルホールディングスの資金調達についてお届けしました。確認できなかったことは正直に開示しています。次回もお楽しみに。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高専発・町工場</a:t>
            </a:r>
          </a:p>
          <a:p>
            <a:pPr algn="l">
              <a:lnSpc>
                <a:spcPct val="115000"/>
              </a:lnSpc>
            </a:pPr>
            <a:r>
              <a:rPr sz="4200" b="1">
                <a:solidFill>
                  <a:srgbClr val="FFFFFF"/>
                </a:solidFill>
                <a:latin typeface="Yu Gothic"/>
              </a:rPr>
              <a:t>×AIロールアップ</a:t>
            </a:r>
          </a:p>
          <a:p>
            <a:pPr algn="l">
              <a:lnSpc>
                <a:spcPct val="115000"/>
              </a:lnSpc>
            </a:pPr>
            <a:r>
              <a:rPr sz="4200" b="1">
                <a:solidFill>
                  <a:srgbClr val="FFFFFF"/>
                </a:solidFill>
                <a:latin typeface="Yu Gothic"/>
              </a:rPr>
              <a:t>プロッセルHDが調達</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FE8DE"/>
                </a:solidFill>
                <a:latin typeface="Yu Gothic"/>
              </a:rPr>
              <a:t>千葉道場ファンドがリード投資家に——出典付きで整理する</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C2AE"/>
                </a:solidFill>
                <a:latin typeface="Yu Gothic"/>
              </a:rPr>
              <a:t>出典: PR TIMES(株式会社プロッセルホールディングス 2026年8月25日)</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まず結論から</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グループ累計調達2.5億円に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千葉道場ファンドがリード投資家(デット含む)</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PR TIMES(2026-08-25)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本日のアジェンダ</a:t>
            </a:r>
          </a:p>
        </p:txBody>
      </p:sp>
      <p:sp>
        <p:nvSpPr>
          <p:cNvPr id="5" name="Oval 4"/>
          <p:cNvSpPr/>
          <p:nvPr/>
        </p:nvSpPr>
        <p:spPr>
          <a:xfrm>
            <a:off x="548640" y="192024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FE8DE"/>
                </a:solidFill>
                <a:latin typeface="Yu Gothic"/>
              </a:rPr>
              <a:t>なぜ今このテーマを扱うのか</a:t>
            </a:r>
          </a:p>
        </p:txBody>
      </p:sp>
      <p:sp>
        <p:nvSpPr>
          <p:cNvPr id="7" name="Oval 6"/>
          <p:cNvSpPr/>
          <p:nvPr/>
        </p:nvSpPr>
        <p:spPr>
          <a:xfrm>
            <a:off x="548640" y="269748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FE8DE"/>
                </a:solidFill>
                <a:latin typeface="Yu Gothic"/>
              </a:rPr>
              <a:t>今回の調達を確認する</a:t>
            </a:r>
          </a:p>
        </p:txBody>
      </p:sp>
      <p:sp>
        <p:nvSpPr>
          <p:cNvPr id="9" name="Oval 8"/>
          <p:cNvSpPr/>
          <p:nvPr/>
        </p:nvSpPr>
        <p:spPr>
          <a:xfrm>
            <a:off x="548640" y="347472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FE8DE"/>
                </a:solidFill>
                <a:latin typeface="Yu Gothic"/>
              </a:rPr>
              <a:t>プロッセルホールディングスという企業を確認する</a:t>
            </a:r>
          </a:p>
        </p:txBody>
      </p:sp>
      <p:sp>
        <p:nvSpPr>
          <p:cNvPr id="11" name="Oval 10"/>
          <p:cNvSpPr/>
          <p:nvPr/>
        </p:nvSpPr>
        <p:spPr>
          <a:xfrm>
            <a:off x="548640" y="425196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FE8DE"/>
                </a:solidFill>
                <a:latin typeface="Yu Gothic"/>
              </a:rPr>
              <a:t>「ロールアップ」戦略とAI活用を確認する</a:t>
            </a:r>
          </a:p>
        </p:txBody>
      </p:sp>
      <p:sp>
        <p:nvSpPr>
          <p:cNvPr id="13" name="Oval 12"/>
          <p:cNvSpPr/>
          <p:nvPr/>
        </p:nvSpPr>
        <p:spPr>
          <a:xfrm>
            <a:off x="548640" y="5029200"/>
            <a:ext cx="548640" cy="5486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FE8DE"/>
                </a:solidFill>
                <a:latin typeface="Yu Gothic"/>
              </a:rPr>
              <a:t>確認できなかったこと</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なぜ今このテーマを扱うのか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着手日当日(2026年8月25日)にPR TIMESで発表された話題</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高専人材・AI・ハードウェアを掛け合わせる独自の事業モデル</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事業承継課題を抱える町工場への解決策として注目される取り組み</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PR TIMES(2026-08-25)</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TIMES(株式会社プロッセルホールディングス 2026-08-25)</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4 / 30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リード投資家</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千葉道場ファンド</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起業家コミュニティによる投資ファンド</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PR TIMES(2026-08-25)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今回の調達の内容</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2026年8月25日、シードラウンドの資金調達を発表</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第三者割当増資により、千葉道場ファンドと個人投資家1名が引受</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グループ累計資金調達額はデットを含め2.5億円に到達</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PR TIMES(2026-08-25)</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TIMES(株式会社プロッセルホールディングス 2026-08-25)</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今回のラウンド概要</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調達手法</a:t>
                      </a:r>
                    </a:p>
                  </a:txBody>
                  <a:tcPr>
                    <a:solidFill>
                      <a:srgbClr val="FFFFFF"/>
                    </a:solidFill>
                  </a:tcPr>
                </a:tc>
                <a:tc>
                  <a:txBody>
                    <a:bodyPr/>
                    <a:lstStyle/>
                    <a:p>
                      <a:pPr>
                        <a:defRPr sz="1200">
                          <a:solidFill>
                            <a:srgbClr val="121C1F"/>
                          </a:solidFill>
                          <a:latin typeface="Yu Gothic"/>
                        </a:defRPr>
                      </a:pPr>
                      <a:r>
                        <a:t>第三者割当増資</a:t>
                      </a:r>
                    </a:p>
                  </a:txBody>
                  <a:tcPr>
                    <a:solidFill>
                      <a:srgbClr val="FFFFFF"/>
                    </a:solidFill>
                  </a:tcPr>
                </a:tc>
              </a:tr>
              <a:tr h="502920">
                <a:tc>
                  <a:txBody>
                    <a:bodyPr/>
                    <a:lstStyle/>
                    <a:p>
                      <a:pPr>
                        <a:defRPr sz="1200">
                          <a:solidFill>
                            <a:srgbClr val="121C1F"/>
                          </a:solidFill>
                          <a:latin typeface="Yu Gothic"/>
                        </a:defRPr>
                      </a:pPr>
                      <a:r>
                        <a:t>引受先</a:t>
                      </a:r>
                    </a:p>
                  </a:txBody>
                  <a:tcPr>
                    <a:solidFill>
                      <a:srgbClr val="F0F7F4"/>
                    </a:solidFill>
                  </a:tcPr>
                </a:tc>
                <a:tc>
                  <a:txBody>
                    <a:bodyPr/>
                    <a:lstStyle/>
                    <a:p>
                      <a:pPr>
                        <a:defRPr sz="1200">
                          <a:solidFill>
                            <a:srgbClr val="121C1F"/>
                          </a:solidFill>
                          <a:latin typeface="Yu Gothic"/>
                        </a:defRPr>
                      </a:pPr>
                      <a:r>
                        <a:t>千葉道場ファンド(リード)・個人投資家1名</a:t>
                      </a:r>
                    </a:p>
                  </a:txBody>
                  <a:tcPr>
                    <a:solidFill>
                      <a:srgbClr val="F0F7F4"/>
                    </a:solidFill>
                  </a:tcPr>
                </a:tc>
              </a:tr>
              <a:tr h="502920">
                <a:tc>
                  <a:txBody>
                    <a:bodyPr/>
                    <a:lstStyle/>
                    <a:p>
                      <a:pPr>
                        <a:defRPr sz="1200">
                          <a:solidFill>
                            <a:srgbClr val="121C1F"/>
                          </a:solidFill>
                          <a:latin typeface="Yu Gothic"/>
                        </a:defRPr>
                      </a:pPr>
                      <a:r>
                        <a:t>グループ累計調達額</a:t>
                      </a:r>
                    </a:p>
                  </a:txBody>
                  <a:tcPr>
                    <a:solidFill>
                      <a:srgbClr val="FFFFFF"/>
                    </a:solidFill>
                  </a:tcPr>
                </a:tc>
                <a:tc>
                  <a:txBody>
                    <a:bodyPr/>
                    <a:lstStyle/>
                    <a:p>
                      <a:pPr>
                        <a:defRPr sz="1200">
                          <a:solidFill>
                            <a:srgbClr val="121C1F"/>
                          </a:solidFill>
                          <a:latin typeface="Yu Gothic"/>
                        </a:defRPr>
                      </a:pPr>
                      <a:r>
                        <a:t>デット含め2.5億円</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PR TIMES(2026-08-25)</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TIMES(株式会社プロッセルホールディングス 2026-08-25)</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プロッセルホールディングスという企業</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高専(高等専門学校)発の事業持株会社</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本社は新潟県新潟市</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代表取締役CEOは横山和輝氏</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PR TIMES(2026-08-25)</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TIMES(株式会社プロッセルホールディングス 2026-08-25)</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グループ設立時期</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2025年11月5日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株式移転により3社がグループ化</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PR TIMES(2025-11-14)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グループ構造(概念図)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株式会社プロッセル</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高専人向けキャリアパートナー事業</a:t>
            </a:r>
          </a:p>
        </p:txBody>
      </p:sp>
      <p:sp>
        <p:nvSpPr>
          <p:cNvPr id="10" name="Right Arrow 9"/>
          <p:cNvSpPr/>
          <p:nvPr/>
        </p:nvSpPr>
        <p:spPr>
          <a:xfrm>
            <a:off x="41573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株式会社越後鐡工所</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オーダーメイドFA製造事業</a:t>
            </a:r>
          </a:p>
        </p:txBody>
      </p:sp>
      <p:sp>
        <p:nvSpPr>
          <p:cNvPr id="15" name="Right Arrow 14"/>
          <p:cNvSpPr/>
          <p:nvPr/>
        </p:nvSpPr>
        <p:spPr>
          <a:xfrm>
            <a:off x="7357719" y="3108959"/>
            <a:ext cx="676656" cy="365760"/>
          </a:xfrm>
          <a:prstGeom prst="rightArrow">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B2A2E"/>
                </a:solidFill>
                <a:latin typeface="Yu Gothic"/>
              </a:rPr>
              <a:t>株式会社プロッセルテクノロジーズ</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7168"/>
                </a:solidFill>
                <a:latin typeface="Yu Gothic"/>
              </a:rPr>
              <a:t>ソフトウェア開発事業</a:t>
            </a:r>
          </a:p>
        </p:txBody>
      </p:sp>
      <p:sp>
        <p:nvSpPr>
          <p:cNvPr id="20" name="TextBox 19"/>
          <p:cNvSpPr txBox="1"/>
          <p:nvPr/>
        </p:nvSpPr>
        <p:spPr>
          <a:xfrm>
            <a:off x="548640" y="4480560"/>
            <a:ext cx="11094415" cy="731520"/>
          </a:xfrm>
          <a:prstGeom prst="rect">
            <a:avLst/>
          </a:prstGeom>
          <a:noFill/>
        </p:spPr>
        <p:txBody>
          <a:bodyPr wrap="square" anchor="t" lIns="0" rIns="0" tIns="0" bIns="0">
            <a:spAutoFit/>
          </a:bodyPr>
          <a:lstStyle/>
          <a:p>
            <a:pPr algn="ctr">
              <a:lnSpc>
                <a:spcPct val="120000"/>
              </a:lnSpc>
            </a:pPr>
            <a:r>
              <a:rPr sz="1400" b="0">
                <a:solidFill>
                  <a:srgbClr val="5B7168"/>
                </a:solidFill>
                <a:latin typeface="Yu Gothic"/>
              </a:rPr>
              <a:t>3社がプロッセルホールディングスの完全子会社として株式移転によりグループ化</a:t>
            </a:r>
          </a:p>
        </p:txBody>
      </p:sp>
      <p:sp>
        <p:nvSpPr>
          <p:cNvPr id="21" name="TextBox 20"/>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TIMES(株式会社プロッセルホールディングス 2026-08-25)</a:t>
            </a:r>
          </a:p>
        </p:txBody>
      </p:sp>
      <p:sp>
        <p:nvSpPr>
          <p:cNvPr id="22" name="TextBox 21"/>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グループ3社の事業内容</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会社名</a:t>
                      </a:r>
                    </a:p>
                  </a:txBody>
                  <a:tcPr>
                    <a:solidFill>
                      <a:srgbClr val="1B2A2E"/>
                    </a:solidFill>
                  </a:tcPr>
                </a:tc>
                <a:tc>
                  <a:txBody>
                    <a:bodyPr/>
                    <a:lstStyle/>
                    <a:p>
                      <a:pPr>
                        <a:defRPr sz="1300" b="1">
                          <a:solidFill>
                            <a:srgbClr val="FFFFFF"/>
                          </a:solidFill>
                          <a:latin typeface="Yu Gothic"/>
                        </a:defRPr>
                      </a:pPr>
                      <a:r>
                        <a:t>事業内容</a:t>
                      </a:r>
                    </a:p>
                  </a:txBody>
                  <a:tcPr>
                    <a:solidFill>
                      <a:srgbClr val="1B2A2E"/>
                    </a:solidFill>
                  </a:tcPr>
                </a:tc>
              </a:tr>
              <a:tr h="502920">
                <a:tc>
                  <a:txBody>
                    <a:bodyPr/>
                    <a:lstStyle/>
                    <a:p>
                      <a:pPr>
                        <a:defRPr sz="1200">
                          <a:solidFill>
                            <a:srgbClr val="121C1F"/>
                          </a:solidFill>
                          <a:latin typeface="Yu Gothic"/>
                        </a:defRPr>
                      </a:pPr>
                      <a:r>
                        <a:t>株式会社プロッセル</a:t>
                      </a:r>
                    </a:p>
                  </a:txBody>
                  <a:tcPr>
                    <a:solidFill>
                      <a:srgbClr val="FFFFFF"/>
                    </a:solidFill>
                  </a:tcPr>
                </a:tc>
                <a:tc>
                  <a:txBody>
                    <a:bodyPr/>
                    <a:lstStyle/>
                    <a:p>
                      <a:pPr>
                        <a:defRPr sz="1200">
                          <a:solidFill>
                            <a:srgbClr val="121C1F"/>
                          </a:solidFill>
                          <a:latin typeface="Yu Gothic"/>
                        </a:defRPr>
                      </a:pPr>
                      <a:r>
                        <a:t>高専人向けキャリアパートナー事業</a:t>
                      </a:r>
                    </a:p>
                  </a:txBody>
                  <a:tcPr>
                    <a:solidFill>
                      <a:srgbClr val="FFFFFF"/>
                    </a:solidFill>
                  </a:tcPr>
                </a:tc>
              </a:tr>
              <a:tr h="502920">
                <a:tc>
                  <a:txBody>
                    <a:bodyPr/>
                    <a:lstStyle/>
                    <a:p>
                      <a:pPr>
                        <a:defRPr sz="1200">
                          <a:solidFill>
                            <a:srgbClr val="121C1F"/>
                          </a:solidFill>
                          <a:latin typeface="Yu Gothic"/>
                        </a:defRPr>
                      </a:pPr>
                      <a:r>
                        <a:t>株式会社越後鐡工所</a:t>
                      </a:r>
                    </a:p>
                  </a:txBody>
                  <a:tcPr>
                    <a:solidFill>
                      <a:srgbClr val="F0F7F4"/>
                    </a:solidFill>
                  </a:tcPr>
                </a:tc>
                <a:tc>
                  <a:txBody>
                    <a:bodyPr/>
                    <a:lstStyle/>
                    <a:p>
                      <a:pPr>
                        <a:defRPr sz="1200">
                          <a:solidFill>
                            <a:srgbClr val="121C1F"/>
                          </a:solidFill>
                          <a:latin typeface="Yu Gothic"/>
                        </a:defRPr>
                      </a:pPr>
                      <a:r>
                        <a:t>オーダーメイドFA製造事業</a:t>
                      </a:r>
                    </a:p>
                  </a:txBody>
                  <a:tcPr>
                    <a:solidFill>
                      <a:srgbClr val="F0F7F4"/>
                    </a:solidFill>
                  </a:tcPr>
                </a:tc>
              </a:tr>
              <a:tr h="502920">
                <a:tc>
                  <a:txBody>
                    <a:bodyPr/>
                    <a:lstStyle/>
                    <a:p>
                      <a:pPr>
                        <a:defRPr sz="1200">
                          <a:solidFill>
                            <a:srgbClr val="121C1F"/>
                          </a:solidFill>
                          <a:latin typeface="Yu Gothic"/>
                        </a:defRPr>
                      </a:pPr>
                      <a:r>
                        <a:t>株式会社プロッセルテクノロジーズ</a:t>
                      </a:r>
                    </a:p>
                  </a:txBody>
                  <a:tcPr>
                    <a:solidFill>
                      <a:srgbClr val="FFFFFF"/>
                    </a:solidFill>
                  </a:tcPr>
                </a:tc>
                <a:tc>
                  <a:txBody>
                    <a:bodyPr/>
                    <a:lstStyle/>
                    <a:p>
                      <a:pPr>
                        <a:defRPr sz="1200">
                          <a:solidFill>
                            <a:srgbClr val="121C1F"/>
                          </a:solidFill>
                          <a:latin typeface="Yu Gothic"/>
                        </a:defRPr>
                      </a:pPr>
                      <a:r>
                        <a:t>ソフトウェア開発事業</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PR TIMES(2025-11-14)</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TIMES(株式会社プロッセルホールディングス 2026-08-25)</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11 / 30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「ロールアップ」戦略とは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事業承継に課題を抱える町工場をグループに迎え入れる戦略</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高専人材ネットワークとAI開発力・ハードウェア開発力を掛け合わせる</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各社が保有する設計データを活用したAI開発を両輪で推進</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PR TIMES(2026-08-25)</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TIMES(株式会社プロッセルホールディングス 2026-08-25)</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推進する二本柱</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ロールアップ×設計データ活用AI</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町工場の承継課題とAI開発を両輪で推進</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PR TIMES(2026-08-25)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設立から今回の調達までの展開</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2025年11月5日</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株式移転により3社がグループ化、プロッセルHD設立</a:t>
            </a:r>
          </a:p>
        </p:txBody>
      </p:sp>
      <p:sp>
        <p:nvSpPr>
          <p:cNvPr id="11" name="Chevron 10"/>
          <p:cNvSpPr/>
          <p:nvPr/>
        </p:nvSpPr>
        <p:spPr>
          <a:xfrm>
            <a:off x="4038295"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設立後</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高専人材ネットワーク・AI開発・ハードウェア開発を推進</a:t>
            </a:r>
          </a:p>
        </p:txBody>
      </p:sp>
      <p:sp>
        <p:nvSpPr>
          <p:cNvPr id="17" name="Chevron 16"/>
          <p:cNvSpPr/>
          <p:nvPr/>
        </p:nvSpPr>
        <p:spPr>
          <a:xfrm>
            <a:off x="7919313" y="3200400"/>
            <a:ext cx="234086" cy="365760"/>
          </a:xfrm>
          <a:prstGeom prst="chevron">
            <a:avLst/>
          </a:prstGeom>
          <a:solidFill>
            <a:srgbClr val="00D2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B2A2E"/>
                </a:solidFill>
                <a:latin typeface="Yu Gothic"/>
              </a:rPr>
              <a:t>2026年8月25日</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7168"/>
                </a:solidFill>
                <a:latin typeface="Yu Gothic"/>
              </a:rPr>
              <a:t>千葉道場ファンドをリードとするシード調達を発表</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TIMES(株式会社プロッセルホールディングス 2026-08-25)</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高専(高等専門学校)とは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実践的な技術者教育を行う5年制の高等教育機関</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製造業・ものづくり分野に強い人材を輩出することで知られる</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本テーマでは、その高専人材ネットワークが事業の核となっている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TIMES(株式会社プロッセルホールディングス 2026-08-25)</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確定していること・確認できなかったこと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区分</a:t>
                      </a:r>
                    </a:p>
                  </a:txBody>
                  <a:tcPr>
                    <a:solidFill>
                      <a:srgbClr val="1B2A2E"/>
                    </a:solidFill>
                  </a:tcPr>
                </a:tc>
                <a:tc>
                  <a:txBody>
                    <a:bodyPr/>
                    <a:lstStyle/>
                    <a:p>
                      <a:pPr>
                        <a:defRPr sz="1300" b="1">
                          <a:solidFill>
                            <a:srgbClr val="FFFFFF"/>
                          </a:solidFill>
                          <a:latin typeface="Yu Gothic"/>
                        </a:defRPr>
                      </a:pPr>
                      <a:r>
                        <a:t>内容</a:t>
                      </a:r>
                    </a:p>
                  </a:txBody>
                  <a:tcPr>
                    <a:solidFill>
                      <a:srgbClr val="1B2A2E"/>
                    </a:solidFill>
                  </a:tcPr>
                </a:tc>
              </a:tr>
              <a:tr h="502920">
                <a:tc>
                  <a:txBody>
                    <a:bodyPr/>
                    <a:lstStyle/>
                    <a:p>
                      <a:pPr>
                        <a:defRPr sz="1200">
                          <a:solidFill>
                            <a:srgbClr val="121C1F"/>
                          </a:solidFill>
                          <a:latin typeface="Yu Gothic"/>
                        </a:defRPr>
                      </a:pPr>
                      <a:r>
                        <a:t>確定</a:t>
                      </a:r>
                    </a:p>
                  </a:txBody>
                  <a:tcPr>
                    <a:solidFill>
                      <a:srgbClr val="FFFFFF"/>
                    </a:solidFill>
                  </a:tcPr>
                </a:tc>
                <a:tc>
                  <a:txBody>
                    <a:bodyPr/>
                    <a:lstStyle/>
                    <a:p>
                      <a:pPr>
                        <a:defRPr sz="1200">
                          <a:solidFill>
                            <a:srgbClr val="121C1F"/>
                          </a:solidFill>
                          <a:latin typeface="Yu Gothic"/>
                        </a:defRPr>
                      </a:pPr>
                      <a:r>
                        <a:t>リード投資家・グループ設立時期・グループ3社の事業内容</a:t>
                      </a:r>
                    </a:p>
                  </a:txBody>
                  <a:tcPr>
                    <a:solidFill>
                      <a:srgbClr val="FFFFFF"/>
                    </a:solidFill>
                  </a:tcPr>
                </a:tc>
              </a:tr>
              <a:tr h="502920">
                <a:tc>
                  <a:txBody>
                    <a:bodyPr/>
                    <a:lstStyle/>
                    <a:p>
                      <a:pPr>
                        <a:defRPr sz="1200">
                          <a:solidFill>
                            <a:srgbClr val="121C1F"/>
                          </a:solidFill>
                          <a:latin typeface="Yu Gothic"/>
                        </a:defRPr>
                      </a:pPr>
                      <a:r>
                        <a:t>確定</a:t>
                      </a:r>
                    </a:p>
                  </a:txBody>
                  <a:tcPr>
                    <a:solidFill>
                      <a:srgbClr val="F0F7F4"/>
                    </a:solidFill>
                  </a:tcPr>
                </a:tc>
                <a:tc>
                  <a:txBody>
                    <a:bodyPr/>
                    <a:lstStyle/>
                    <a:p>
                      <a:pPr>
                        <a:defRPr sz="1200">
                          <a:solidFill>
                            <a:srgbClr val="121C1F"/>
                          </a:solidFill>
                          <a:latin typeface="Yu Gothic"/>
                        </a:defRPr>
                      </a:pPr>
                      <a:r>
                        <a:t>グループ累計調達額(デット含め2.5億円)</a:t>
                      </a:r>
                    </a:p>
                  </a:txBody>
                  <a:tcPr>
                    <a:solidFill>
                      <a:srgbClr val="F0F7F4"/>
                    </a:solidFill>
                  </a:tcPr>
                </a:tc>
              </a:tr>
              <a:tr h="502920">
                <a:tc>
                  <a:txBody>
                    <a:bodyPr/>
                    <a:lstStyle/>
                    <a:p>
                      <a:pPr>
                        <a:defRPr sz="1200">
                          <a:solidFill>
                            <a:srgbClr val="121C1F"/>
                          </a:solidFill>
                          <a:latin typeface="Yu Gothic"/>
                        </a:defRPr>
                      </a:pPr>
                      <a:r>
                        <a:t>未確認</a:t>
                      </a:r>
                    </a:p>
                  </a:txBody>
                  <a:tcPr>
                    <a:solidFill>
                      <a:srgbClr val="FFFFFF"/>
                    </a:solidFill>
                  </a:tcPr>
                </a:tc>
                <a:tc>
                  <a:txBody>
                    <a:bodyPr/>
                    <a:lstStyle/>
                    <a:p>
                      <a:pPr>
                        <a:defRPr sz="1200">
                          <a:solidFill>
                            <a:srgbClr val="121C1F"/>
                          </a:solidFill>
                          <a:latin typeface="Yu Gothic"/>
                        </a:defRPr>
                      </a:pPr>
                      <a:r>
                        <a:t>今回のシードラウンド単体の調達金額・企業評価額</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research.md参照</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TIMES(株式会社プロッセルホールディングス 2026-08-25)</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16 / 30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確認できなかったこと</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今回のシードラウンド単体での具体的な調達金額</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今回の資金調達による企業評価額</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「設計データを活用したAI開発」の具体的な技術内容・製品名</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TIMES(株式会社プロッセルホールディングス 2026-08-25)</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発表日</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2026年8月25日</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着手日当日の発表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PR TIMES(2026-08-25)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従来の事業承継 vs プロッセルのロールアップ</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従来の一般的な事業承継</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後継者不在で廃業に至るケースもある</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プロッセルのロールアップ</a:t>
            </a:r>
          </a:p>
        </p:txBody>
      </p:sp>
      <p:sp>
        <p:nvSpPr>
          <p:cNvPr id="14" name="Oval 13"/>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高専人材ネットワークを介してグループに迎え入れる</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TIMES(株式会社プロッセルホールディングス 2026-08-25)</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千葉道場ファンドとは</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起業家コミュニティによる、起業家のための投資ファンド</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主にシード・アーリーまたはレイターステージのスタートアップに投資</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特定ファンドへの出資や取引を推奨する意図はない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TIMES(株式会社プロッセルホールディングス 2026-08-25)</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主要出典の一覧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情報源</a:t>
                      </a:r>
                    </a:p>
                  </a:txBody>
                  <a:tcPr>
                    <a:solidFill>
                      <a:srgbClr val="1B2A2E"/>
                    </a:solidFill>
                  </a:tcPr>
                </a:tc>
                <a:tc>
                  <a:txBody>
                    <a:bodyPr/>
                    <a:lstStyle/>
                    <a:p>
                      <a:pPr>
                        <a:defRPr sz="1300" b="1">
                          <a:solidFill>
                            <a:srgbClr val="FFFFFF"/>
                          </a:solidFill>
                          <a:latin typeface="Yu Gothic"/>
                        </a:defRPr>
                      </a:pPr>
                      <a:r>
                        <a:t>発表日</a:t>
                      </a:r>
                    </a:p>
                  </a:txBody>
                  <a:tcPr>
                    <a:solidFill>
                      <a:srgbClr val="1B2A2E"/>
                    </a:solidFill>
                  </a:tcPr>
                </a:tc>
              </a:tr>
              <a:tr h="502920">
                <a:tc>
                  <a:txBody>
                    <a:bodyPr/>
                    <a:lstStyle/>
                    <a:p>
                      <a:pPr>
                        <a:defRPr sz="1200">
                          <a:solidFill>
                            <a:srgbClr val="121C1F"/>
                          </a:solidFill>
                          <a:latin typeface="Yu Gothic"/>
                        </a:defRPr>
                      </a:pPr>
                      <a:r>
                        <a:t>PR TIMES(プロッセルホールディングス公式)</a:t>
                      </a:r>
                    </a:p>
                  </a:txBody>
                  <a:tcPr>
                    <a:solidFill>
                      <a:srgbClr val="FFFFFF"/>
                    </a:solidFill>
                  </a:tcPr>
                </a:tc>
                <a:tc>
                  <a:txBody>
                    <a:bodyPr/>
                    <a:lstStyle/>
                    <a:p>
                      <a:pPr>
                        <a:defRPr sz="1200">
                          <a:solidFill>
                            <a:srgbClr val="121C1F"/>
                          </a:solidFill>
                          <a:latin typeface="Yu Gothic"/>
                        </a:defRPr>
                      </a:pPr>
                      <a:r>
                        <a:t>2026年8月25日</a:t>
                      </a:r>
                    </a:p>
                  </a:txBody>
                  <a:tcPr>
                    <a:solidFill>
                      <a:srgbClr val="FFFFFF"/>
                    </a:solidFill>
                  </a:tcPr>
                </a:tc>
              </a:tr>
              <a:tr h="502920">
                <a:tc>
                  <a:txBody>
                    <a:bodyPr/>
                    <a:lstStyle/>
                    <a:p>
                      <a:pPr>
                        <a:defRPr sz="1200">
                          <a:solidFill>
                            <a:srgbClr val="121C1F"/>
                          </a:solidFill>
                          <a:latin typeface="Yu Gothic"/>
                        </a:defRPr>
                      </a:pPr>
                      <a:r>
                        <a:t>PR TIMES(プロッセルホールディングス公式、設立発表)</a:t>
                      </a:r>
                    </a:p>
                  </a:txBody>
                  <a:tcPr>
                    <a:solidFill>
                      <a:srgbClr val="F0F7F4"/>
                    </a:solidFill>
                  </a:tcPr>
                </a:tc>
                <a:tc>
                  <a:txBody>
                    <a:bodyPr/>
                    <a:lstStyle/>
                    <a:p>
                      <a:pPr>
                        <a:defRPr sz="1200">
                          <a:solidFill>
                            <a:srgbClr val="121C1F"/>
                          </a:solidFill>
                          <a:latin typeface="Yu Gothic"/>
                        </a:defRPr>
                      </a:pPr>
                      <a:r>
                        <a:t>2025年11月14日</a:t>
                      </a:r>
                    </a:p>
                  </a:txBody>
                  <a:tcPr>
                    <a:solidFill>
                      <a:srgbClr val="F0F7F4"/>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TIMES(株式会社プロッセルホールディングス 2026-08-25)</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今回のシード調達 vs グループ累計調達</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今回のシードラウンド</a:t>
            </a:r>
          </a:p>
        </p:txBody>
      </p:sp>
      <p:sp>
        <p:nvSpPr>
          <p:cNvPr id="9" name="Oval 8"/>
          <p:cNvSpPr/>
          <p:nvPr/>
        </p:nvSpPr>
        <p:spPr>
          <a:xfrm>
            <a:off x="777240"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単体の調達額は非公開</a:t>
            </a:r>
          </a:p>
        </p:txBody>
      </p:sp>
      <p:sp>
        <p:nvSpPr>
          <p:cNvPr id="11" name="Rounded Rectangle 10"/>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278727" y="1554480"/>
            <a:ext cx="5455767" cy="42062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B2A2E"/>
                </a:solidFill>
                <a:latin typeface="Yu Gothic"/>
              </a:rPr>
              <a:t>グループ累計調達額</a:t>
            </a:r>
          </a:p>
        </p:txBody>
      </p:sp>
      <p:sp>
        <p:nvSpPr>
          <p:cNvPr id="14" name="Oval 13"/>
          <p:cNvSpPr/>
          <p:nvPr/>
        </p:nvSpPr>
        <p:spPr>
          <a:xfrm>
            <a:off x="6598767" y="2532888"/>
            <a:ext cx="274320" cy="27432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5" name="TextBox 14"/>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21C1F"/>
                </a:solidFill>
                <a:latin typeface="Yu Gothic"/>
              </a:rPr>
              <a:t>デット含め2.5億円(2025年11月の設立以降)</a:t>
            </a:r>
          </a:p>
        </p:txBody>
      </p:sp>
      <p:sp>
        <p:nvSpPr>
          <p:cNvPr id="16" name="TextBox 15"/>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TIMES(株式会社プロッセルホールディングス 2026-08-25)</a:t>
            </a:r>
          </a:p>
        </p:txBody>
      </p:sp>
      <p:sp>
        <p:nvSpPr>
          <p:cNvPr id="17" name="TextBox 16"/>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代表者</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横山和輝氏</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代表取締役CEO</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PR TIMES(2025-11-14)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今回の資金調達の3つの注目ポイント</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01</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起業家コミュニティ発の投資ファンドがリード</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02</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高専人材×AI×ハードウェアという独自モデル</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B2A2E"/>
                </a:solidFill>
                <a:latin typeface="Yu Gothic"/>
              </a:rPr>
              <a:t>03</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7168"/>
                </a:solidFill>
                <a:latin typeface="Yu Gothic"/>
              </a:rPr>
              <a:t>事業承継課題を抱える町工場への解決策</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TIMES(株式会社プロッセルホールディングス 2026-08-25)</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視聴者にとっての意味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製造業の事業承継・地方創生に関心がある層に関係する情報</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高専発スタートアップの成長事例としての価値</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特定企業への投資や製品利用を強く推奨する意図はない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TIMES(株式会社プロッセルホールディングス 2026-08-25)</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タイムライン</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時期</a:t>
                      </a:r>
                    </a:p>
                  </a:txBody>
                  <a:tcPr>
                    <a:solidFill>
                      <a:srgbClr val="1B2A2E"/>
                    </a:solidFill>
                  </a:tcPr>
                </a:tc>
                <a:tc>
                  <a:txBody>
                    <a:bodyPr/>
                    <a:lstStyle/>
                    <a:p>
                      <a:pPr>
                        <a:defRPr sz="1300" b="1">
                          <a:solidFill>
                            <a:srgbClr val="FFFFFF"/>
                          </a:solidFill>
                          <a:latin typeface="Yu Gothic"/>
                        </a:defRPr>
                      </a:pPr>
                      <a:r>
                        <a:t>できごと</a:t>
                      </a:r>
                    </a:p>
                  </a:txBody>
                  <a:tcPr>
                    <a:solidFill>
                      <a:srgbClr val="1B2A2E"/>
                    </a:solidFill>
                  </a:tcPr>
                </a:tc>
              </a:tr>
              <a:tr h="502920">
                <a:tc>
                  <a:txBody>
                    <a:bodyPr/>
                    <a:lstStyle/>
                    <a:p>
                      <a:pPr>
                        <a:defRPr sz="1200">
                          <a:solidFill>
                            <a:srgbClr val="121C1F"/>
                          </a:solidFill>
                          <a:latin typeface="Yu Gothic"/>
                        </a:defRPr>
                      </a:pPr>
                      <a:r>
                        <a:t>2025年11月5日</a:t>
                      </a:r>
                    </a:p>
                  </a:txBody>
                  <a:tcPr>
                    <a:solidFill>
                      <a:srgbClr val="FFFFFF"/>
                    </a:solidFill>
                  </a:tcPr>
                </a:tc>
                <a:tc>
                  <a:txBody>
                    <a:bodyPr/>
                    <a:lstStyle/>
                    <a:p>
                      <a:pPr>
                        <a:defRPr sz="1200">
                          <a:solidFill>
                            <a:srgbClr val="121C1F"/>
                          </a:solidFill>
                          <a:latin typeface="Yu Gothic"/>
                        </a:defRPr>
                      </a:pPr>
                      <a:r>
                        <a:t>株式移転により3社がグループ化、プロッセルHD設立</a:t>
                      </a:r>
                    </a:p>
                  </a:txBody>
                  <a:tcPr>
                    <a:solidFill>
                      <a:srgbClr val="FFFFFF"/>
                    </a:solidFill>
                  </a:tcPr>
                </a:tc>
              </a:tr>
              <a:tr h="502920">
                <a:tc>
                  <a:txBody>
                    <a:bodyPr/>
                    <a:lstStyle/>
                    <a:p>
                      <a:pPr>
                        <a:defRPr sz="1200">
                          <a:solidFill>
                            <a:srgbClr val="121C1F"/>
                          </a:solidFill>
                          <a:latin typeface="Yu Gothic"/>
                        </a:defRPr>
                      </a:pPr>
                      <a:r>
                        <a:t>設立後</a:t>
                      </a:r>
                    </a:p>
                  </a:txBody>
                  <a:tcPr>
                    <a:solidFill>
                      <a:srgbClr val="F0F7F4"/>
                    </a:solidFill>
                  </a:tcPr>
                </a:tc>
                <a:tc>
                  <a:txBody>
                    <a:bodyPr/>
                    <a:lstStyle/>
                    <a:p>
                      <a:pPr>
                        <a:defRPr sz="1200">
                          <a:solidFill>
                            <a:srgbClr val="121C1F"/>
                          </a:solidFill>
                          <a:latin typeface="Yu Gothic"/>
                        </a:defRPr>
                      </a:pPr>
                      <a:r>
                        <a:t>高専人材ネットワーク・AI開発・ハードウェア開発を推進</a:t>
                      </a:r>
                    </a:p>
                  </a:txBody>
                  <a:tcPr>
                    <a:solidFill>
                      <a:srgbClr val="F0F7F4"/>
                    </a:solidFill>
                  </a:tcPr>
                </a:tc>
              </a:tr>
              <a:tr h="502920">
                <a:tc>
                  <a:txBody>
                    <a:bodyPr/>
                    <a:lstStyle/>
                    <a:p>
                      <a:pPr>
                        <a:defRPr sz="1200">
                          <a:solidFill>
                            <a:srgbClr val="121C1F"/>
                          </a:solidFill>
                          <a:latin typeface="Yu Gothic"/>
                        </a:defRPr>
                      </a:pPr>
                      <a:r>
                        <a:t>2026年8月25日</a:t>
                      </a:r>
                    </a:p>
                  </a:txBody>
                  <a:tcPr>
                    <a:solidFill>
                      <a:srgbClr val="FFFFFF"/>
                    </a:solidFill>
                  </a:tcPr>
                </a:tc>
                <a:tc>
                  <a:txBody>
                    <a:bodyPr/>
                    <a:lstStyle/>
                    <a:p>
                      <a:pPr>
                        <a:defRPr sz="1200">
                          <a:solidFill>
                            <a:srgbClr val="121C1F"/>
                          </a:solidFill>
                          <a:latin typeface="Yu Gothic"/>
                        </a:defRPr>
                      </a:pPr>
                      <a:r>
                        <a:t>千葉道場ファンドをリードとするシード調達を発表</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TIMES(株式会社プロッセルホールディングス 2026-08-25)</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今後注目される点</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「ロールアップ」によりグループ入りする町工場の今後の推移</a:t>
            </a:r>
          </a:p>
        </p:txBody>
      </p:sp>
      <p:sp>
        <p:nvSpPr>
          <p:cNvPr id="8" name="Oval 7"/>
          <p:cNvSpPr/>
          <p:nvPr/>
        </p:nvSpPr>
        <p:spPr>
          <a:xfrm>
            <a:off x="457200" y="225856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設計データを活用したAI開発の具体的な進捗</a:t>
            </a:r>
          </a:p>
        </p:txBody>
      </p:sp>
      <p:sp>
        <p:nvSpPr>
          <p:cNvPr id="10" name="Oval 9"/>
          <p:cNvSpPr/>
          <p:nvPr/>
        </p:nvSpPr>
        <p:spPr>
          <a:xfrm>
            <a:off x="457200" y="3035808"/>
            <a:ext cx="320040" cy="320040"/>
          </a:xfrm>
          <a:prstGeom prst="ellipse">
            <a:avLst/>
          </a:prstGeom>
          <a:solidFill>
            <a:srgbClr val="1B2A2E"/>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21C1F"/>
                </a:solidFill>
                <a:latin typeface="Yu Gothic"/>
              </a:rPr>
              <a:t>現時点では未確認の情報として今後の続報を待つ必要がある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TIMES(株式会社プロッセルホールディングス 2026-08-25)</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FE8DE"/>
                </a:solidFill>
                <a:latin typeface="Yu Gothic"/>
              </a:rPr>
              <a:t>今日のまとめの数字</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00D2A0"/>
                </a:solidFill>
                <a:latin typeface="Yu Gothic"/>
              </a:rPr>
              <a:t>グループ累計調達2.5億円</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千葉道場ファンドがリード(2026年8月25日発表)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C2AE"/>
                </a:solidFill>
                <a:latin typeface="Yu Gothic"/>
              </a:rPr>
              <a:t>出典: PR TIMES(2026-08-25)</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B2A2E"/>
                </a:solidFill>
                <a:latin typeface="Yu Gothic"/>
              </a:rPr>
              <a:t>グループ企業一覧</a:t>
            </a:r>
          </a:p>
        </p:txBody>
      </p:sp>
      <p:sp>
        <p:nvSpPr>
          <p:cNvPr id="5" name="Rectangle 4"/>
          <p:cNvSpPr/>
          <p:nvPr/>
        </p:nvSpPr>
        <p:spPr>
          <a:xfrm>
            <a:off x="457200" y="1188720"/>
            <a:ext cx="502920" cy="54864"/>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会社名</a:t>
                      </a:r>
                    </a:p>
                  </a:txBody>
                  <a:tcPr>
                    <a:solidFill>
                      <a:srgbClr val="1B2A2E"/>
                    </a:solidFill>
                  </a:tcPr>
                </a:tc>
                <a:tc>
                  <a:txBody>
                    <a:bodyPr/>
                    <a:lstStyle/>
                    <a:p>
                      <a:pPr>
                        <a:defRPr sz="1300" b="1">
                          <a:solidFill>
                            <a:srgbClr val="FFFFFF"/>
                          </a:solidFill>
                          <a:latin typeface="Yu Gothic"/>
                        </a:defRPr>
                      </a:pPr>
                      <a:r>
                        <a:t>位置づけ</a:t>
                      </a:r>
                    </a:p>
                  </a:txBody>
                  <a:tcPr>
                    <a:solidFill>
                      <a:srgbClr val="1B2A2E"/>
                    </a:solidFill>
                  </a:tcPr>
                </a:tc>
              </a:tr>
              <a:tr h="502920">
                <a:tc>
                  <a:txBody>
                    <a:bodyPr/>
                    <a:lstStyle/>
                    <a:p>
                      <a:pPr>
                        <a:defRPr sz="1200">
                          <a:solidFill>
                            <a:srgbClr val="121C1F"/>
                          </a:solidFill>
                          <a:latin typeface="Yu Gothic"/>
                        </a:defRPr>
                      </a:pPr>
                      <a:r>
                        <a:t>株式会社プロッセルホールディングス</a:t>
                      </a:r>
                    </a:p>
                  </a:txBody>
                  <a:tcPr>
                    <a:solidFill>
                      <a:srgbClr val="FFFFFF"/>
                    </a:solidFill>
                  </a:tcPr>
                </a:tc>
                <a:tc>
                  <a:txBody>
                    <a:bodyPr/>
                    <a:lstStyle/>
                    <a:p>
                      <a:pPr>
                        <a:defRPr sz="1200">
                          <a:solidFill>
                            <a:srgbClr val="121C1F"/>
                          </a:solidFill>
                          <a:latin typeface="Yu Gothic"/>
                        </a:defRPr>
                      </a:pPr>
                      <a:r>
                        <a:t>事業持株会社(2025年11月設立)</a:t>
                      </a:r>
                    </a:p>
                  </a:txBody>
                  <a:tcPr>
                    <a:solidFill>
                      <a:srgbClr val="FFFFFF"/>
                    </a:solidFill>
                  </a:tcPr>
                </a:tc>
              </a:tr>
              <a:tr h="502920">
                <a:tc>
                  <a:txBody>
                    <a:bodyPr/>
                    <a:lstStyle/>
                    <a:p>
                      <a:pPr>
                        <a:defRPr sz="1200">
                          <a:solidFill>
                            <a:srgbClr val="121C1F"/>
                          </a:solidFill>
                          <a:latin typeface="Yu Gothic"/>
                        </a:defRPr>
                      </a:pPr>
                      <a:r>
                        <a:t>株式会社プロッセル</a:t>
                      </a:r>
                    </a:p>
                  </a:txBody>
                  <a:tcPr>
                    <a:solidFill>
                      <a:srgbClr val="F0F7F4"/>
                    </a:solidFill>
                  </a:tcPr>
                </a:tc>
                <a:tc>
                  <a:txBody>
                    <a:bodyPr/>
                    <a:lstStyle/>
                    <a:p>
                      <a:pPr>
                        <a:defRPr sz="1200">
                          <a:solidFill>
                            <a:srgbClr val="121C1F"/>
                          </a:solidFill>
                          <a:latin typeface="Yu Gothic"/>
                        </a:defRPr>
                      </a:pPr>
                      <a:r>
                        <a:t>高専人向けキャリアパートナー事業</a:t>
                      </a:r>
                    </a:p>
                  </a:txBody>
                  <a:tcPr>
                    <a:solidFill>
                      <a:srgbClr val="F0F7F4"/>
                    </a:solidFill>
                  </a:tcPr>
                </a:tc>
              </a:tr>
              <a:tr h="502920">
                <a:tc>
                  <a:txBody>
                    <a:bodyPr/>
                    <a:lstStyle/>
                    <a:p>
                      <a:pPr>
                        <a:defRPr sz="1200">
                          <a:solidFill>
                            <a:srgbClr val="121C1F"/>
                          </a:solidFill>
                          <a:latin typeface="Yu Gothic"/>
                        </a:defRPr>
                      </a:pPr>
                      <a:r>
                        <a:t>株式会社越後鐡工所・プロッセルテクノロジーズ</a:t>
                      </a:r>
                    </a:p>
                  </a:txBody>
                  <a:tcPr>
                    <a:solidFill>
                      <a:srgbClr val="FFFFFF"/>
                    </a:solidFill>
                  </a:tcPr>
                </a:tc>
                <a:tc>
                  <a:txBody>
                    <a:bodyPr/>
                    <a:lstStyle/>
                    <a:p>
                      <a:pPr>
                        <a:defRPr sz="1200">
                          <a:solidFill>
                            <a:srgbClr val="121C1F"/>
                          </a:solidFill>
                          <a:latin typeface="Yu Gothic"/>
                        </a:defRPr>
                      </a:pPr>
                      <a:r>
                        <a:t>製造・ソフトウェア開発を担う子会社</a:t>
                      </a:r>
                    </a:p>
                  </a:txBody>
                  <a:tcPr>
                    <a:solidFill>
                      <a:srgbClr val="FFFFFF"/>
                    </a:solidFill>
                  </a:tcPr>
                </a:tc>
              </a:tr>
            </a:tbl>
          </a:graphicData>
        </a:graphic>
      </p:graphicFrame>
      <p:sp>
        <p:nvSpPr>
          <p:cNvPr id="7" name="TextBox 6"/>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7168"/>
                </a:solidFill>
                <a:latin typeface="Yu Gothic"/>
              </a:rPr>
              <a:t>出典: PR TIMES</a:t>
            </a:r>
          </a:p>
        </p:txBody>
      </p:sp>
      <p:sp>
        <p:nvSpPr>
          <p:cNvPr id="8" name="TextBox 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7168"/>
                </a:solidFill>
                <a:latin typeface="Yu Gothic"/>
              </a:rPr>
              <a:t>AI Company OS｜出典: PR TIMES(株式会社プロッセルホールディングス 2026-08-25)</a:t>
            </a:r>
          </a:p>
        </p:txBody>
      </p:sp>
      <p:sp>
        <p:nvSpPr>
          <p:cNvPr id="9" name="TextBox 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7168"/>
                </a:solidFill>
                <a:latin typeface="Yu Gothic"/>
              </a:rPr>
              <a:t>29 / 30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F1B1E"/>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C2A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00D2A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出典付きで、正確に。</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FE8DE"/>
                </a:solidFill>
                <a:latin typeface="Yu Gothic"/>
              </a:rPr>
              <a:t>AI Company OSは、確認できた事実だけをお届けします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0F7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B2A2E"/>
                </a:solidFill>
                <a:latin typeface="Yu Gothic"/>
              </a:rPr>
              <a:t>次回もお楽しみに</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