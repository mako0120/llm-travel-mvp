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6月の成績</c:v>
                </c:pt>
              </c:strCache>
            </c:strRef>
          </c:tx>
          <c:spPr>
            <a:solidFill>
              <a:srgbClr val="55D7FF"/>
            </a:solidFill>
            <a:effectLst/>
          </c:spPr>
          <c:invertIfNegative val="0"/>
          <c:dLbls>
            <c:numFmt formatCode="0.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打率</c:v>
                  </c:pt>
                  <c:pt idx="1">
                    <c:v>OPS</c:v>
                  </c:pt>
                </c:lvl>
              </c:multiLvlStrCache>
            </c:multiLvlStrRef>
          </c:cat>
          <c:val>
            <c:numRef>
              <c:f>Sheet1!$B$2:$B$3</c:f>
              <c:numCache>
                <c:formatCode>General</c:formatCode>
                <c:ptCount val="2"/>
                <c:pt idx="0">
                  <c:v>0.286</c:v>
                </c:pt>
                <c:pt idx="1">
                  <c:v>0.916</c:v>
                </c:pt>
              </c:numCache>
            </c:numRef>
          </c:val>
        </c:ser>
        <c:dLbls>
          <c:numFmt formatCode="0.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36506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9D6E4"/>
                </a:solidFill>
                <a:latin typeface="Arial"/>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いきなり結論です。日本人打者がまたMLBの月間最優秀新人に選ばれました。今回は岡本和真選手の6月を、数字で分かりやすく見ていきます。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この動画では、まず何が起きたか、次に6月の数字、そして日本人選手の連続受賞の意味、最後に注意点まで整理します。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難しい用語は2つだけです。月間最優秀新人賞は、その月に最も目立ったルーキーへの賞。OPSは、打者の総合力を見る代表的な指標です。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今回のニュースはシンプルです。MLBが7月3日に発表し、岡本和真選手が6月のア・リーグ月間最優秀新人に選ばれました。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この受賞は日本人選手として通算10人目という節目です。単なる一つのニュースではなく、MLBで日本人選手が積み上げてきた流れの中にあります。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6月の主な成績は、25試合で打率2割8分6厘、本塁打7本、20打点、OPSは.916です。特に本塁打とOPSが目を引きます。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一番分かりやすい数字は本塁打7本です。6月のア・リーグ新人トップで、長打力が評価されたことが分かります。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打率は.286ですが、OPSは.916。OPSは出塁力と長打力を合わせた指標なので、打者としての総合力が見えます。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OPSは出塁率と長打率を足したものです。つまり、塁に出る力と長打力をまとめて見るため、打率だけでは分からない価値が見えます。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さらに面白いのは、5月度が村上宗隆選手、6月度が岡本和真選手という、2か月連続の日本人打者受賞になったことです。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5月の村上選手、6月の岡本選手。このように並べると、日本人打者の活躍が単発ではなく、連続したニュースとして見えてきます。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岡本選手はブルージェイズ所属の内野手です。受賞については「凄くうれしい」とコメントしています。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この動画では、複数の情報源で一致した内容を中心に扱います。発表日、主な成績、通算10人目という点を確認しています。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ここは重要です。7月以降の成績や今後の表彰可能性、チーム成績との因果関係は、この動画では断定しません。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日本人野手の活躍が目立つ理由は、選手層の充実や適応の早さなどが考えられます。ただし、2か月連続という短期の傾向だけで断定はできません。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今後を見るなら、7月以降も長打が続くか、OPSが高水準を維持するか、起用が安定するか。この3つがポイントです。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この受賞が意味するのは、日本人選手の活躍が一時的な話題で終わらないかもしれないということです。MLBを追う理由が増えています。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ファンにとっては、月間表彰という区切りで成績を追うと、シーズンの流れが見えやすくなります。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応援するなら、まず所属チーム、ポジション、そして本塁打やOPSなどの長打力に関する数字を見れば入りやすいです。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追い方はシンプルです。まずチームの日程を見て、次に成績の推移を見て、節目のニュースを追う。これだけで流れが分かります。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MLBの日本人選手の活躍は、野球ファン以外にも届きやすい話題です。会話のきっかけとしても使いやすいニュースです。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注意点として、7月以降の成績や今後の表彰可能性は未確定です。チーム成績との関連も、ここでは断定しません。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この動画は事実紹介に徹し、選手本人の写真や肖像は使わず、推測は推測として明示します。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この改良版では、見出しを大きくし、1スライド1メッセージに寄せ、ナレーションしやすいように整えています。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出典はNHK、日本経済新聞、時事通信、そしてYahoo!ニュース掲載のスポーツ媒体です。数値は確認できた範囲だけを使っています。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結論です。5月度は村上選手、6月度は岡本選手。2か月連続の快挙として、今後の成績も数字で追う価値があります。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次回も、MLBで活躍する日本人選手のニュースを、公式発表や主要報道をもとに数字で整理していきます。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最後までご視聴ありがとうございました。出典は各スライドに記載しています。質問やフィードバックがあれば、ぜひコメントしてください。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補足です。過去にはイチロー選手や大谷翔平選手なども受賞してきました。今回で通算10人目という節目です。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【YouTubeナレーション案】
この動画は、スポーツニュースでも出典に基づいて事実を整理する方針です。推測は推測として明示します。
【編集メモ】1スライド5〜8秒目安。テロップは大きく、読み上げは短く。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8-1.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914"/>
        </a:solidFill>
      </p:bgPr>
    </p:bg>
    <p:spTree>
      <p:nvGrpSpPr>
        <p:cNvPr id="1" name=""/>
        <p:cNvGrpSpPr/>
        <p:nvPr/>
      </p:nvGrpSpPr>
      <p:grpSpPr>
        <a:xfrm>
          <a:off x="0" y="0"/>
          <a:ext cx="0" cy="0"/>
          <a:chOff x="0" y="0"/>
          <a:chExt cx="0" cy="0"/>
        </a:xfrm>
      </p:grpSpPr>
      <p:pic>
        <p:nvPicPr>
          <p:cNvPr id="2" name="Image 0" descr="/mnt/data/a_dramatic_high_energy_sports_stadium_scene_ultr_batch_1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66928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MLB NEWS / ROOKIE OF THE MONTH</a:t>
            </a:r>
            <a:endParaRPr lang="en-US" sz="1300" dirty="0"/>
          </a:p>
        </p:txBody>
      </p:sp>
      <p:sp>
        <p:nvSpPr>
          <p:cNvPr id="4" name="Text 1"/>
          <p:cNvSpPr/>
          <p:nvPr/>
        </p:nvSpPr>
        <p:spPr>
          <a:xfrm>
            <a:off x="658368" y="1051560"/>
            <a:ext cx="6858000" cy="2011680"/>
          </a:xfrm>
          <a:prstGeom prst="rect">
            <a:avLst/>
          </a:prstGeom>
          <a:noFill/>
          <a:ln/>
        </p:spPr>
        <p:txBody>
          <a:bodyPr wrap="square" lIns="508" tIns="508" rIns="508" bIns="508" rtlCol="0" anchor="ctr">
            <a:normAutofit/>
          </a:bodyPr>
          <a:lstStyle/>
          <a:p>
            <a:pPr indent="0" marL="0">
              <a:buNone/>
            </a:pPr>
            <a:r>
              <a:rPr lang="en-US" sz="4800" b="1" dirty="0">
                <a:solidFill>
                  <a:srgbClr val="FFFFFF"/>
                </a:solidFill>
                <a:latin typeface="Yu Gothic" pitchFamily="34" charset="0"/>
                <a:ea typeface="Yu Gothic" pitchFamily="34" charset="-122"/>
                <a:cs typeface="Yu Gothic" pitchFamily="34" charset="-120"/>
              </a:rPr>
              <a:t>日本人打者が、</a:t>
            </a:r>
            <a:endParaRPr lang="en-US" sz="4800" dirty="0"/>
          </a:p>
          <a:p>
            <a:pPr indent="0" marL="0">
              <a:buNone/>
            </a:pPr>
            <a:r>
              <a:rPr lang="en-US" sz="4800" b="1" dirty="0">
                <a:solidFill>
                  <a:srgbClr val="FFFFFF"/>
                </a:solidFill>
                <a:latin typeface="Yu Gothic" pitchFamily="34" charset="0"/>
                <a:ea typeface="Yu Gothic" pitchFamily="34" charset="-122"/>
                <a:cs typeface="Yu Gothic" pitchFamily="34" charset="-120"/>
              </a:rPr>
              <a:t>また月間新人賞</a:t>
            </a:r>
            <a:endParaRPr lang="en-US" sz="4800" dirty="0"/>
          </a:p>
        </p:txBody>
      </p:sp>
      <p:sp>
        <p:nvSpPr>
          <p:cNvPr id="5" name="Text 2"/>
          <p:cNvSpPr/>
          <p:nvPr/>
        </p:nvSpPr>
        <p:spPr>
          <a:xfrm>
            <a:off x="713232" y="4370832"/>
            <a:ext cx="2926080" cy="411480"/>
          </a:xfrm>
          <a:prstGeom prst="rect">
            <a:avLst/>
          </a:prstGeom>
          <a:solidFill>
            <a:srgbClr val="000000">
              <a:alpha val="78000"/>
            </a:srgbClr>
          </a:solidFill>
          <a:ln/>
        </p:spPr>
        <p:txBody>
          <a:bodyPr wrap="square" lIns="508" tIns="508" rIns="508" bIns="508" rtlCol="0" anchor="ctr"/>
          <a:lstStyle/>
          <a:p>
            <a:pPr indent="0" marL="0">
              <a:buNone/>
            </a:pPr>
            <a:r>
              <a:rPr lang="en-US" sz="1600" b="1" dirty="0">
                <a:solidFill>
                  <a:srgbClr val="FFCF4A"/>
                </a:solidFill>
              </a:rPr>
              <a:t>2026年7月3日発表</a:t>
            </a:r>
            <a:endParaRPr lang="en-US" sz="1600" dirty="0"/>
          </a:p>
        </p:txBody>
      </p:sp>
      <p:sp>
        <p:nvSpPr>
          <p:cNvPr id="7" name="Text 3"/>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1 / 30</a:t>
            </a:r>
            <a:endParaRPr lang="en-US" sz="850" dirty="0"/>
          </a:p>
        </p:txBody>
      </p:sp>
      <p:sp>
        <p:nvSpPr>
          <p:cNvPr id="8" name="Text 4"/>
          <p:cNvSpPr/>
          <p:nvPr/>
        </p:nvSpPr>
        <p:spPr>
          <a:xfrm>
            <a:off x="548640" y="6419088"/>
            <a:ext cx="9875520" cy="228600"/>
          </a:xfrm>
          <a:prstGeom prst="rect">
            <a:avLst/>
          </a:prstGeom>
          <a:noFill/>
          <a:ln/>
        </p:spPr>
        <p:txBody>
          <a:bodyPr wrap="square" lIns="0" tIns="0" rIns="0" bIns="0" rtlCol="0" anchor="ctr"/>
          <a:lstStyle/>
          <a:p>
            <a:pPr indent="0" marL="0">
              <a:buNone/>
            </a:pPr>
            <a:r>
              <a:rPr lang="en-US" sz="830" dirty="0">
                <a:solidFill>
                  <a:srgbClr val="A9B7C7"/>
                </a:solidFill>
                <a:latin typeface="Yu Gothic" pitchFamily="34" charset="0"/>
                <a:ea typeface="Yu Gothic" pitchFamily="34" charset="-122"/>
                <a:cs typeface="Yu Gothic" pitchFamily="34" charset="-120"/>
              </a:rPr>
              <a:t>出典: NHK, 日本経済新聞, 時事通信, ベースボールキング（2026-07-03）</a:t>
            </a:r>
            <a:endParaRPr lang="en-US" sz="8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914"/>
        </a:solidFill>
      </p:bgPr>
    </p:bg>
    <p:spTree>
      <p:nvGrpSpPr>
        <p:cNvPr id="1" name=""/>
        <p:cNvGrpSpPr/>
        <p:nvPr/>
      </p:nvGrpSpPr>
      <p:grpSpPr>
        <a:xfrm>
          <a:off x="0" y="0"/>
          <a:ext cx="0" cy="0"/>
          <a:chOff x="0" y="0"/>
          <a:chExt cx="0" cy="0"/>
        </a:xfrm>
      </p:grpSpPr>
      <p:pic>
        <p:nvPicPr>
          <p:cNvPr id="2" name="Image 0" descr="/mnt/data/wide_dramatic_sports_stadium_scene_a_baseball_fie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TODAY'S STORY</a:t>
            </a:r>
            <a:endParaRPr lang="en-US" sz="1300" dirty="0"/>
          </a:p>
        </p:txBody>
      </p:sp>
      <p:sp>
        <p:nvSpPr>
          <p:cNvPr id="4" name="Text 1"/>
          <p:cNvSpPr/>
          <p:nvPr/>
        </p:nvSpPr>
        <p:spPr>
          <a:xfrm>
            <a:off x="658368" y="1051560"/>
            <a:ext cx="6858000" cy="960120"/>
          </a:xfrm>
          <a:prstGeom prst="rect">
            <a:avLst/>
          </a:prstGeom>
          <a:noFill/>
          <a:ln/>
        </p:spPr>
        <p:txBody>
          <a:bodyPr wrap="square" lIns="508" tIns="508" rIns="508" bIns="508" rtlCol="0" anchor="ctr">
            <a:normAutofit/>
          </a:bodyPr>
          <a:lstStyle/>
          <a:p>
            <a:pPr indent="0" marL="0">
              <a:buNone/>
            </a:pPr>
            <a:r>
              <a:rPr lang="en-US" sz="4200" b="1" dirty="0">
                <a:solidFill>
                  <a:srgbClr val="FFFFFF"/>
                </a:solidFill>
                <a:latin typeface="Yu Gothic" pitchFamily="34" charset="0"/>
                <a:ea typeface="Yu Gothic" pitchFamily="34" charset="-122"/>
                <a:cs typeface="Yu Gothic" pitchFamily="34" charset="-120"/>
              </a:rPr>
              <a:t>今日話すこと</a:t>
            </a:r>
            <a:endParaRPr lang="en-US" sz="4200" dirty="0"/>
          </a:p>
        </p:txBody>
      </p:sp>
      <p:sp>
        <p:nvSpPr>
          <p:cNvPr id="5" name="Text 2"/>
          <p:cNvSpPr/>
          <p:nvPr/>
        </p:nvSpPr>
        <p:spPr>
          <a:xfrm>
            <a:off x="777240" y="2423160"/>
            <a:ext cx="594360" cy="594360"/>
          </a:xfrm>
          <a:prstGeom prst="rect">
            <a:avLst/>
          </a:prstGeom>
          <a:solidFill>
            <a:srgbClr val="000000">
              <a:alpha val="75000"/>
            </a:srgbClr>
          </a:solidFill>
          <a:ln w="15240">
            <a:solidFill>
              <a:srgbClr val="55D7FF"/>
            </a:solidFill>
          </a:ln>
        </p:spPr>
        <p:txBody>
          <a:bodyPr wrap="square" lIns="254" tIns="254" rIns="254" bIns="254" rtlCol="0" anchor="ctr"/>
          <a:lstStyle/>
          <a:p>
            <a:pPr algn="ctr" indent="0" marL="0">
              <a:buNone/>
            </a:pPr>
            <a:r>
              <a:rPr lang="en-US" sz="2600" b="1" dirty="0">
                <a:solidFill>
                  <a:srgbClr val="55D7FF"/>
                </a:solidFill>
                <a:latin typeface="Aptos Display" pitchFamily="34" charset="0"/>
                <a:ea typeface="Aptos Display" pitchFamily="34" charset="-122"/>
                <a:cs typeface="Aptos Display" pitchFamily="34" charset="-120"/>
              </a:rPr>
              <a:t>1</a:t>
            </a:r>
            <a:endParaRPr lang="en-US" sz="2600" dirty="0"/>
          </a:p>
        </p:txBody>
      </p:sp>
      <p:sp>
        <p:nvSpPr>
          <p:cNvPr id="6" name="Text 3"/>
          <p:cNvSpPr/>
          <p:nvPr/>
        </p:nvSpPr>
        <p:spPr>
          <a:xfrm>
            <a:off x="1527048" y="2496312"/>
            <a:ext cx="5303520" cy="457200"/>
          </a:xfrm>
          <a:prstGeom prst="rect">
            <a:avLst/>
          </a:prstGeom>
          <a:noFill/>
          <a:ln/>
        </p:spPr>
        <p:txBody>
          <a:bodyPr wrap="square" lIns="127" tIns="127" rIns="127" bIns="127" rtlCol="0" anchor="ctr">
            <a:normAutofit/>
          </a:bodyPr>
          <a:lstStyle/>
          <a:p>
            <a:pPr indent="0" marL="0">
              <a:buNone/>
            </a:pPr>
            <a:r>
              <a:rPr lang="en-US" sz="1700" b="1" dirty="0">
                <a:solidFill>
                  <a:srgbClr val="FFFFFF"/>
                </a:solidFill>
                <a:latin typeface="Yu Gothic" pitchFamily="34" charset="0"/>
                <a:ea typeface="Yu Gothic" pitchFamily="34" charset="-122"/>
                <a:cs typeface="Yu Gothic" pitchFamily="34" charset="-120"/>
              </a:rPr>
              <a:t>起：何が起きたか</a:t>
            </a:r>
            <a:endParaRPr lang="en-US" sz="1700" dirty="0"/>
          </a:p>
        </p:txBody>
      </p:sp>
      <p:sp>
        <p:nvSpPr>
          <p:cNvPr id="7" name="Text 4"/>
          <p:cNvSpPr/>
          <p:nvPr/>
        </p:nvSpPr>
        <p:spPr>
          <a:xfrm>
            <a:off x="777240" y="3246120"/>
            <a:ext cx="594360" cy="594360"/>
          </a:xfrm>
          <a:prstGeom prst="rect">
            <a:avLst/>
          </a:prstGeom>
          <a:solidFill>
            <a:srgbClr val="000000">
              <a:alpha val="75000"/>
            </a:srgbClr>
          </a:solidFill>
          <a:ln w="15240">
            <a:solidFill>
              <a:srgbClr val="FFCF4A"/>
            </a:solidFill>
          </a:ln>
        </p:spPr>
        <p:txBody>
          <a:bodyPr wrap="square" lIns="254" tIns="254" rIns="254" bIns="254" rtlCol="0" anchor="ctr"/>
          <a:lstStyle/>
          <a:p>
            <a:pPr algn="ctr" indent="0" marL="0">
              <a:buNone/>
            </a:pPr>
            <a:r>
              <a:rPr lang="en-US" sz="2600" b="1" dirty="0">
                <a:solidFill>
                  <a:srgbClr val="FFCF4A"/>
                </a:solidFill>
                <a:latin typeface="Aptos Display" pitchFamily="34" charset="0"/>
                <a:ea typeface="Aptos Display" pitchFamily="34" charset="-122"/>
                <a:cs typeface="Aptos Display" pitchFamily="34" charset="-120"/>
              </a:rPr>
              <a:t>2</a:t>
            </a:r>
            <a:endParaRPr lang="en-US" sz="2600" dirty="0"/>
          </a:p>
        </p:txBody>
      </p:sp>
      <p:sp>
        <p:nvSpPr>
          <p:cNvPr id="8" name="Text 5"/>
          <p:cNvSpPr/>
          <p:nvPr/>
        </p:nvSpPr>
        <p:spPr>
          <a:xfrm>
            <a:off x="1527048" y="3319272"/>
            <a:ext cx="5303520" cy="457200"/>
          </a:xfrm>
          <a:prstGeom prst="rect">
            <a:avLst/>
          </a:prstGeom>
          <a:noFill/>
          <a:ln/>
        </p:spPr>
        <p:txBody>
          <a:bodyPr wrap="square" lIns="127" tIns="127" rIns="127" bIns="127" rtlCol="0" anchor="ctr">
            <a:normAutofit/>
          </a:bodyPr>
          <a:lstStyle/>
          <a:p>
            <a:pPr indent="0" marL="0">
              <a:buNone/>
            </a:pPr>
            <a:r>
              <a:rPr lang="en-US" sz="1700" b="1" dirty="0">
                <a:solidFill>
                  <a:srgbClr val="FFFFFF"/>
                </a:solidFill>
                <a:latin typeface="Yu Gothic" pitchFamily="34" charset="0"/>
                <a:ea typeface="Yu Gothic" pitchFamily="34" charset="-122"/>
                <a:cs typeface="Yu Gothic" pitchFamily="34" charset="-120"/>
              </a:rPr>
              <a:t>承：6月の成績を数字で見る</a:t>
            </a:r>
            <a:endParaRPr lang="en-US" sz="1700" dirty="0"/>
          </a:p>
        </p:txBody>
      </p:sp>
      <p:sp>
        <p:nvSpPr>
          <p:cNvPr id="9" name="Text 6"/>
          <p:cNvSpPr/>
          <p:nvPr/>
        </p:nvSpPr>
        <p:spPr>
          <a:xfrm>
            <a:off x="777240" y="4069080"/>
            <a:ext cx="594360" cy="594360"/>
          </a:xfrm>
          <a:prstGeom prst="rect">
            <a:avLst/>
          </a:prstGeom>
          <a:solidFill>
            <a:srgbClr val="000000">
              <a:alpha val="75000"/>
            </a:srgbClr>
          </a:solidFill>
          <a:ln w="15240">
            <a:solidFill>
              <a:srgbClr val="FF8A1F"/>
            </a:solidFill>
          </a:ln>
        </p:spPr>
        <p:txBody>
          <a:bodyPr wrap="square" lIns="254" tIns="254" rIns="254" bIns="254" rtlCol="0" anchor="ctr"/>
          <a:lstStyle/>
          <a:p>
            <a:pPr algn="ctr" indent="0" marL="0">
              <a:buNone/>
            </a:pPr>
            <a:r>
              <a:rPr lang="en-US" sz="2600" b="1" dirty="0">
                <a:solidFill>
                  <a:srgbClr val="FF8A1F"/>
                </a:solidFill>
                <a:latin typeface="Aptos Display" pitchFamily="34" charset="0"/>
                <a:ea typeface="Aptos Display" pitchFamily="34" charset="-122"/>
                <a:cs typeface="Aptos Display" pitchFamily="34" charset="-120"/>
              </a:rPr>
              <a:t>3</a:t>
            </a:r>
            <a:endParaRPr lang="en-US" sz="2600" dirty="0"/>
          </a:p>
        </p:txBody>
      </p:sp>
      <p:sp>
        <p:nvSpPr>
          <p:cNvPr id="10" name="Text 7"/>
          <p:cNvSpPr/>
          <p:nvPr/>
        </p:nvSpPr>
        <p:spPr>
          <a:xfrm>
            <a:off x="1527048" y="4142232"/>
            <a:ext cx="5303520" cy="457200"/>
          </a:xfrm>
          <a:prstGeom prst="rect">
            <a:avLst/>
          </a:prstGeom>
          <a:noFill/>
          <a:ln/>
        </p:spPr>
        <p:txBody>
          <a:bodyPr wrap="square" lIns="127" tIns="127" rIns="127" bIns="127" rtlCol="0" anchor="ctr">
            <a:normAutofit/>
          </a:bodyPr>
          <a:lstStyle/>
          <a:p>
            <a:pPr indent="0" marL="0">
              <a:buNone/>
            </a:pPr>
            <a:r>
              <a:rPr lang="en-US" sz="1700" b="1" dirty="0">
                <a:solidFill>
                  <a:srgbClr val="FFFFFF"/>
                </a:solidFill>
                <a:latin typeface="Yu Gothic" pitchFamily="34" charset="0"/>
                <a:ea typeface="Yu Gothic" pitchFamily="34" charset="-122"/>
                <a:cs typeface="Yu Gothic" pitchFamily="34" charset="-120"/>
              </a:rPr>
              <a:t>転：日本人選手の連続受賞が意味すること</a:t>
            </a:r>
            <a:endParaRPr lang="en-US" sz="1700" dirty="0"/>
          </a:p>
        </p:txBody>
      </p:sp>
      <p:sp>
        <p:nvSpPr>
          <p:cNvPr id="11" name="Text 8"/>
          <p:cNvSpPr/>
          <p:nvPr/>
        </p:nvSpPr>
        <p:spPr>
          <a:xfrm>
            <a:off x="777240" y="4892040"/>
            <a:ext cx="594360" cy="594360"/>
          </a:xfrm>
          <a:prstGeom prst="rect">
            <a:avLst/>
          </a:prstGeom>
          <a:solidFill>
            <a:srgbClr val="000000">
              <a:alpha val="75000"/>
            </a:srgbClr>
          </a:solidFill>
          <a:ln w="15240">
            <a:solidFill>
              <a:srgbClr val="8AE080"/>
            </a:solidFill>
          </a:ln>
        </p:spPr>
        <p:txBody>
          <a:bodyPr wrap="square" lIns="254" tIns="254" rIns="254" bIns="254" rtlCol="0" anchor="ctr"/>
          <a:lstStyle/>
          <a:p>
            <a:pPr algn="ctr" indent="0" marL="0">
              <a:buNone/>
            </a:pPr>
            <a:r>
              <a:rPr lang="en-US" sz="2600" b="1" dirty="0">
                <a:solidFill>
                  <a:srgbClr val="8AE080"/>
                </a:solidFill>
                <a:latin typeface="Aptos Display" pitchFamily="34" charset="0"/>
                <a:ea typeface="Aptos Display" pitchFamily="34" charset="-122"/>
                <a:cs typeface="Aptos Display" pitchFamily="34" charset="-120"/>
              </a:rPr>
              <a:t>4</a:t>
            </a:r>
            <a:endParaRPr lang="en-US" sz="2600" dirty="0"/>
          </a:p>
        </p:txBody>
      </p:sp>
      <p:sp>
        <p:nvSpPr>
          <p:cNvPr id="12" name="Text 9"/>
          <p:cNvSpPr/>
          <p:nvPr/>
        </p:nvSpPr>
        <p:spPr>
          <a:xfrm>
            <a:off x="1527048" y="4965192"/>
            <a:ext cx="5303520" cy="457200"/>
          </a:xfrm>
          <a:prstGeom prst="rect">
            <a:avLst/>
          </a:prstGeom>
          <a:noFill/>
          <a:ln/>
        </p:spPr>
        <p:txBody>
          <a:bodyPr wrap="square" lIns="127" tIns="127" rIns="127" bIns="127" rtlCol="0" anchor="ctr">
            <a:normAutofit/>
          </a:bodyPr>
          <a:lstStyle/>
          <a:p>
            <a:pPr indent="0" marL="0">
              <a:buNone/>
            </a:pPr>
            <a:r>
              <a:rPr lang="en-US" sz="1700" b="1" dirty="0">
                <a:solidFill>
                  <a:srgbClr val="FFFFFF"/>
                </a:solidFill>
                <a:latin typeface="Yu Gothic" pitchFamily="34" charset="0"/>
                <a:ea typeface="Yu Gothic" pitchFamily="34" charset="-122"/>
                <a:cs typeface="Yu Gothic" pitchFamily="34" charset="-120"/>
              </a:rPr>
              <a:t>結：不明点・リスク配慮・まとめ</a:t>
            </a:r>
            <a:endParaRPr lang="en-US" sz="1700" dirty="0"/>
          </a:p>
        </p:txBody>
      </p:sp>
      <p:sp>
        <p:nvSpPr>
          <p:cNvPr id="14" name="Text 10"/>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2 / 30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914"/>
        </a:solidFill>
      </p:bgPr>
    </p:bg>
    <p:spTree>
      <p:nvGrpSpPr>
        <p:cNvPr id="1" name=""/>
        <p:cNvGrpSpPr/>
        <p:nvPr/>
      </p:nvGrpSpPr>
      <p:grpSpPr>
        <a:xfrm>
          <a:off x="0" y="0"/>
          <a:ext cx="0" cy="0"/>
          <a:chOff x="0" y="0"/>
          <a:chExt cx="0" cy="0"/>
        </a:xfrm>
      </p:grpSpPr>
      <p:pic>
        <p:nvPicPr>
          <p:cNvPr id="2" name="Image 0" descr="/mnt/data/a_high_tech_sports_broadcast_data_visualization_batch_3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BASEBALL BASICS</a:t>
            </a:r>
            <a:endParaRPr lang="en-US" sz="1300" dirty="0"/>
          </a:p>
        </p:txBody>
      </p:sp>
      <p:sp>
        <p:nvSpPr>
          <p:cNvPr id="4" name="Text 1"/>
          <p:cNvSpPr/>
          <p:nvPr/>
        </p:nvSpPr>
        <p:spPr>
          <a:xfrm>
            <a:off x="658368" y="1051560"/>
            <a:ext cx="6583680" cy="822960"/>
          </a:xfrm>
          <a:prstGeom prst="rect">
            <a:avLst/>
          </a:prstGeom>
          <a:noFill/>
          <a:ln/>
        </p:spPr>
        <p:txBody>
          <a:bodyPr wrap="square" lIns="508" tIns="508" rIns="508" bIns="508" rtlCol="0" anchor="ctr">
            <a:normAutofit/>
          </a:bodyPr>
          <a:lstStyle/>
          <a:p>
            <a:pPr indent="0" marL="0">
              <a:buNone/>
            </a:pPr>
            <a:r>
              <a:rPr lang="en-US" sz="3800" b="1" dirty="0">
                <a:solidFill>
                  <a:srgbClr val="FFFFFF"/>
                </a:solidFill>
                <a:latin typeface="Yu Gothic" pitchFamily="34" charset="0"/>
                <a:ea typeface="Yu Gothic" pitchFamily="34" charset="-122"/>
                <a:cs typeface="Yu Gothic" pitchFamily="34" charset="-120"/>
              </a:rPr>
              <a:t>まず2つだけ覚える</a:t>
            </a:r>
            <a:endParaRPr lang="en-US" sz="3800" dirty="0"/>
          </a:p>
        </p:txBody>
      </p:sp>
      <p:sp>
        <p:nvSpPr>
          <p:cNvPr id="5" name="Text 2"/>
          <p:cNvSpPr/>
          <p:nvPr/>
        </p:nvSpPr>
        <p:spPr>
          <a:xfrm>
            <a:off x="713232" y="2148840"/>
            <a:ext cx="4846320" cy="502920"/>
          </a:xfrm>
          <a:prstGeom prst="rect">
            <a:avLst/>
          </a:prstGeom>
          <a:solidFill>
            <a:srgbClr val="071B33">
              <a:alpha val="82000"/>
            </a:srgbClr>
          </a:solidFill>
          <a:ln w="12700">
            <a:solidFill>
              <a:srgbClr val="FFCF4A">
                <a:alpha val="85000"/>
              </a:srgbClr>
            </a:solidFill>
          </a:ln>
        </p:spPr>
        <p:txBody>
          <a:bodyPr wrap="square" lIns="1016" tIns="1016" rIns="1016" bIns="1016" rtlCol="0" anchor="ctr">
            <a:normAutofit/>
          </a:bodyPr>
          <a:lstStyle/>
          <a:p>
            <a:pPr indent="0" marL="0">
              <a:buNone/>
            </a:pPr>
            <a:r>
              <a:rPr lang="en-US" sz="2000" b="1" dirty="0">
                <a:solidFill>
                  <a:srgbClr val="FFCF4A"/>
                </a:solidFill>
                <a:latin typeface="Yu Gothic" pitchFamily="34" charset="0"/>
                <a:ea typeface="Yu Gothic" pitchFamily="34" charset="-122"/>
                <a:cs typeface="Yu Gothic" pitchFamily="34" charset="-120"/>
              </a:rPr>
              <a:t>月間最優秀新人賞</a:t>
            </a:r>
            <a:endParaRPr lang="en-US" sz="2000" dirty="0"/>
          </a:p>
        </p:txBody>
      </p:sp>
      <p:sp>
        <p:nvSpPr>
          <p:cNvPr id="6" name="Text 3"/>
          <p:cNvSpPr/>
          <p:nvPr/>
        </p:nvSpPr>
        <p:spPr>
          <a:xfrm>
            <a:off x="713232" y="2715768"/>
            <a:ext cx="4846320" cy="1170432"/>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600" dirty="0">
                <a:solidFill>
                  <a:srgbClr val="DCE9F7"/>
                </a:solidFill>
                <a:latin typeface="Yu Gothic" pitchFamily="34" charset="0"/>
                <a:ea typeface="Yu Gothic" pitchFamily="34" charset="-122"/>
                <a:cs typeface="Yu Gothic" pitchFamily="34" charset="-120"/>
              </a:rPr>
              <a:t>その月に最も活躍したルーキーにMLBが贈る賞。</a:t>
            </a:r>
            <a:endParaRPr lang="en-US" sz="1600" dirty="0"/>
          </a:p>
          <a:p>
            <a:pPr indent="0" marL="0">
              <a:buNone/>
            </a:pPr>
            <a:r>
              <a:rPr lang="en-US" sz="1600" dirty="0">
                <a:solidFill>
                  <a:srgbClr val="DCE9F7"/>
                </a:solidFill>
                <a:latin typeface="Yu Gothic" pitchFamily="34" charset="0"/>
                <a:ea typeface="Yu Gothic" pitchFamily="34" charset="-122"/>
                <a:cs typeface="Yu Gothic" pitchFamily="34" charset="-120"/>
              </a:rPr>
              <a:t>「新人の月間MVP」に近いイメージ。</a:t>
            </a:r>
            <a:endParaRPr lang="en-US" sz="1600" dirty="0"/>
          </a:p>
        </p:txBody>
      </p:sp>
      <p:sp>
        <p:nvSpPr>
          <p:cNvPr id="7" name="Text 4"/>
          <p:cNvSpPr/>
          <p:nvPr/>
        </p:nvSpPr>
        <p:spPr>
          <a:xfrm>
            <a:off x="5897880" y="2148840"/>
            <a:ext cx="5349240" cy="502920"/>
          </a:xfrm>
          <a:prstGeom prst="rect">
            <a:avLst/>
          </a:prstGeom>
          <a:solidFill>
            <a:srgbClr val="071B33">
              <a:alpha val="82000"/>
            </a:srgbClr>
          </a:solidFill>
          <a:ln w="12700">
            <a:solidFill>
              <a:srgbClr val="55D7FF">
                <a:alpha val="85000"/>
              </a:srgbClr>
            </a:solidFill>
          </a:ln>
        </p:spPr>
        <p:txBody>
          <a:bodyPr wrap="square" lIns="1016" tIns="1016" rIns="1016" bIns="1016" rtlCol="0" anchor="ctr">
            <a:normAutofit/>
          </a:bodyPr>
          <a:lstStyle/>
          <a:p>
            <a:pPr indent="0" marL="0">
              <a:buNone/>
            </a:pPr>
            <a:r>
              <a:rPr lang="en-US" sz="2000" b="1" dirty="0">
                <a:solidFill>
                  <a:srgbClr val="55D7FF"/>
                </a:solidFill>
                <a:latin typeface="Yu Gothic" pitchFamily="34" charset="0"/>
                <a:ea typeface="Yu Gothic" pitchFamily="34" charset="-122"/>
                <a:cs typeface="Yu Gothic" pitchFamily="34" charset="-120"/>
              </a:rPr>
              <a:t>OPS</a:t>
            </a:r>
            <a:endParaRPr lang="en-US" sz="2000" dirty="0"/>
          </a:p>
        </p:txBody>
      </p:sp>
      <p:sp>
        <p:nvSpPr>
          <p:cNvPr id="8" name="Text 5"/>
          <p:cNvSpPr/>
          <p:nvPr/>
        </p:nvSpPr>
        <p:spPr>
          <a:xfrm>
            <a:off x="5897880" y="2715768"/>
            <a:ext cx="5349240" cy="1170432"/>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600" dirty="0">
                <a:solidFill>
                  <a:srgbClr val="DCE9F7"/>
                </a:solidFill>
                <a:latin typeface="Yu Gothic" pitchFamily="34" charset="0"/>
                <a:ea typeface="Yu Gothic" pitchFamily="34" charset="-122"/>
                <a:cs typeface="Yu Gothic" pitchFamily="34" charset="-120"/>
              </a:rPr>
              <a:t>出塁率 + 長打率。</a:t>
            </a:r>
            <a:endParaRPr lang="en-US" sz="1600" dirty="0"/>
          </a:p>
          <a:p>
            <a:pPr indent="0" marL="0">
              <a:buNone/>
            </a:pPr>
            <a:r>
              <a:rPr lang="en-US" sz="1600" dirty="0">
                <a:solidFill>
                  <a:srgbClr val="DCE9F7"/>
                </a:solidFill>
                <a:latin typeface="Yu Gothic" pitchFamily="34" charset="0"/>
                <a:ea typeface="Yu Gothic" pitchFamily="34" charset="-122"/>
                <a:cs typeface="Yu Gothic" pitchFamily="34" charset="-120"/>
              </a:rPr>
              <a:t>ただ打つだけでなく「塁に出る力」と「長打力」をまとめて見る指標。</a:t>
            </a:r>
            <a:endParaRPr lang="en-US" sz="1600" dirty="0"/>
          </a:p>
        </p:txBody>
      </p:sp>
      <p:sp>
        <p:nvSpPr>
          <p:cNvPr id="10" name="Text 6"/>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3 / 30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914"/>
        </a:solidFill>
      </p:bgPr>
    </p:bg>
    <p:spTree>
      <p:nvGrpSpPr>
        <p:cNvPr id="1" name=""/>
        <p:cNvGrpSpPr/>
        <p:nvPr/>
      </p:nvGrpSpPr>
      <p:grpSpPr>
        <a:xfrm>
          <a:off x="0" y="0"/>
          <a:ext cx="0" cy="0"/>
          <a:chOff x="0" y="0"/>
          <a:chExt cx="0" cy="0"/>
        </a:xfrm>
      </p:grpSpPr>
      <p:pic>
        <p:nvPicPr>
          <p:cNvPr id="2" name="Image 0" descr="/mnt/data/a_wide_cinematic_sports_news_studio_set_scene_no_batch_7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WHAT HAPPENED?</a:t>
            </a:r>
            <a:endParaRPr lang="en-US" sz="1300" dirty="0"/>
          </a:p>
        </p:txBody>
      </p:sp>
      <p:sp>
        <p:nvSpPr>
          <p:cNvPr id="4" name="Text 1"/>
          <p:cNvSpPr/>
          <p:nvPr/>
        </p:nvSpPr>
        <p:spPr>
          <a:xfrm>
            <a:off x="658368" y="1051560"/>
            <a:ext cx="6583680" cy="1051560"/>
          </a:xfrm>
          <a:prstGeom prst="rect">
            <a:avLst/>
          </a:prstGeom>
          <a:noFill/>
          <a:ln/>
        </p:spPr>
        <p:txBody>
          <a:bodyPr wrap="square" lIns="508" tIns="508" rIns="508" bIns="508" rtlCol="0" anchor="ctr">
            <a:normAutofit/>
          </a:bodyPr>
          <a:lstStyle/>
          <a:p>
            <a:pPr indent="0" marL="0">
              <a:buNone/>
            </a:pPr>
            <a:r>
              <a:rPr lang="en-US" sz="4000" b="1" dirty="0">
                <a:solidFill>
                  <a:srgbClr val="FFFFFF"/>
                </a:solidFill>
                <a:latin typeface="Yu Gothic" pitchFamily="34" charset="0"/>
                <a:ea typeface="Yu Gothic" pitchFamily="34" charset="-122"/>
                <a:cs typeface="Yu Gothic" pitchFamily="34" charset="-120"/>
              </a:rPr>
              <a:t>何が起きたか</a:t>
            </a:r>
            <a:endParaRPr lang="en-US" sz="4000" dirty="0"/>
          </a:p>
        </p:txBody>
      </p:sp>
      <p:sp>
        <p:nvSpPr>
          <p:cNvPr id="5" name="Text 2"/>
          <p:cNvSpPr/>
          <p:nvPr/>
        </p:nvSpPr>
        <p:spPr>
          <a:xfrm>
            <a:off x="804672" y="2148840"/>
            <a:ext cx="1600200" cy="411480"/>
          </a:xfrm>
          <a:prstGeom prst="rect">
            <a:avLst/>
          </a:prstGeom>
          <a:solidFill>
            <a:srgbClr val="000000">
              <a:alpha val="80000"/>
            </a:srgbClr>
          </a:solidFill>
          <a:ln/>
        </p:spPr>
        <p:txBody>
          <a:bodyPr wrap="square" lIns="508" tIns="508" rIns="508" bIns="508" rtlCol="0" anchor="ctr"/>
          <a:lstStyle/>
          <a:p>
            <a:pPr indent="0" marL="0">
              <a:buNone/>
            </a:pPr>
            <a:r>
              <a:rPr lang="en-US" sz="1500" b="1" dirty="0">
                <a:solidFill>
                  <a:srgbClr val="FFCF4A"/>
                </a:solidFill>
                <a:latin typeface="Yu Gothic" pitchFamily="34" charset="0"/>
                <a:ea typeface="Yu Gothic" pitchFamily="34" charset="-122"/>
                <a:cs typeface="Yu Gothic" pitchFamily="34" charset="-120"/>
              </a:rPr>
              <a:t>発表元</a:t>
            </a:r>
            <a:endParaRPr lang="en-US" sz="1500" dirty="0"/>
          </a:p>
        </p:txBody>
      </p:sp>
      <p:sp>
        <p:nvSpPr>
          <p:cNvPr id="6" name="Text 3"/>
          <p:cNvSpPr/>
          <p:nvPr/>
        </p:nvSpPr>
        <p:spPr>
          <a:xfrm>
            <a:off x="2542032" y="2148840"/>
            <a:ext cx="5166360" cy="411480"/>
          </a:xfrm>
          <a:prstGeom prst="rect">
            <a:avLst/>
          </a:prstGeom>
          <a:solidFill>
            <a:srgbClr val="071427">
              <a:alpha val="80000"/>
            </a:srgbClr>
          </a:solidFill>
          <a:ln/>
        </p:spPr>
        <p:txBody>
          <a:bodyPr wrap="square" lIns="508" tIns="508" rIns="508" bIns="508"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米大リーグ機構（MLB）</a:t>
            </a:r>
            <a:endParaRPr lang="en-US" sz="1800" dirty="0"/>
          </a:p>
        </p:txBody>
      </p:sp>
      <p:sp>
        <p:nvSpPr>
          <p:cNvPr id="7" name="Text 4"/>
          <p:cNvSpPr/>
          <p:nvPr/>
        </p:nvSpPr>
        <p:spPr>
          <a:xfrm>
            <a:off x="804672" y="2807208"/>
            <a:ext cx="1600200" cy="411480"/>
          </a:xfrm>
          <a:prstGeom prst="rect">
            <a:avLst/>
          </a:prstGeom>
          <a:solidFill>
            <a:srgbClr val="000000">
              <a:alpha val="80000"/>
            </a:srgbClr>
          </a:solidFill>
          <a:ln/>
        </p:spPr>
        <p:txBody>
          <a:bodyPr wrap="square" lIns="508" tIns="508" rIns="508" bIns="508" rtlCol="0" anchor="ctr"/>
          <a:lstStyle/>
          <a:p>
            <a:pPr indent="0" marL="0">
              <a:buNone/>
            </a:pPr>
            <a:r>
              <a:rPr lang="en-US" sz="1500" b="1" dirty="0">
                <a:solidFill>
                  <a:srgbClr val="FFCF4A"/>
                </a:solidFill>
                <a:latin typeface="Yu Gothic" pitchFamily="34" charset="0"/>
                <a:ea typeface="Yu Gothic" pitchFamily="34" charset="-122"/>
                <a:cs typeface="Yu Gothic" pitchFamily="34" charset="-120"/>
              </a:rPr>
              <a:t>発表日</a:t>
            </a:r>
            <a:endParaRPr lang="en-US" sz="1500" dirty="0"/>
          </a:p>
        </p:txBody>
      </p:sp>
      <p:sp>
        <p:nvSpPr>
          <p:cNvPr id="8" name="Text 5"/>
          <p:cNvSpPr/>
          <p:nvPr/>
        </p:nvSpPr>
        <p:spPr>
          <a:xfrm>
            <a:off x="2542032" y="2807208"/>
            <a:ext cx="5166360" cy="411480"/>
          </a:xfrm>
          <a:prstGeom prst="rect">
            <a:avLst/>
          </a:prstGeom>
          <a:solidFill>
            <a:srgbClr val="071427">
              <a:alpha val="80000"/>
            </a:srgbClr>
          </a:solidFill>
          <a:ln/>
        </p:spPr>
        <p:txBody>
          <a:bodyPr wrap="square" lIns="508" tIns="508" rIns="508" bIns="508"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2026年7月3日</a:t>
            </a:r>
            <a:endParaRPr lang="en-US" sz="1800" dirty="0"/>
          </a:p>
        </p:txBody>
      </p:sp>
      <p:sp>
        <p:nvSpPr>
          <p:cNvPr id="9" name="Text 6"/>
          <p:cNvSpPr/>
          <p:nvPr/>
        </p:nvSpPr>
        <p:spPr>
          <a:xfrm>
            <a:off x="804672" y="3465576"/>
            <a:ext cx="1600200" cy="411480"/>
          </a:xfrm>
          <a:prstGeom prst="rect">
            <a:avLst/>
          </a:prstGeom>
          <a:solidFill>
            <a:srgbClr val="000000">
              <a:alpha val="80000"/>
            </a:srgbClr>
          </a:solidFill>
          <a:ln/>
        </p:spPr>
        <p:txBody>
          <a:bodyPr wrap="square" lIns="508" tIns="508" rIns="508" bIns="508" rtlCol="0" anchor="ctr"/>
          <a:lstStyle/>
          <a:p>
            <a:pPr indent="0" marL="0">
              <a:buNone/>
            </a:pPr>
            <a:r>
              <a:rPr lang="en-US" sz="1500" b="1" dirty="0">
                <a:solidFill>
                  <a:srgbClr val="FFCF4A"/>
                </a:solidFill>
                <a:latin typeface="Yu Gothic" pitchFamily="34" charset="0"/>
                <a:ea typeface="Yu Gothic" pitchFamily="34" charset="-122"/>
                <a:cs typeface="Yu Gothic" pitchFamily="34" charset="-120"/>
              </a:rPr>
              <a:t>対象</a:t>
            </a:r>
            <a:endParaRPr lang="en-US" sz="1500" dirty="0"/>
          </a:p>
        </p:txBody>
      </p:sp>
      <p:sp>
        <p:nvSpPr>
          <p:cNvPr id="10" name="Text 7"/>
          <p:cNvSpPr/>
          <p:nvPr/>
        </p:nvSpPr>
        <p:spPr>
          <a:xfrm>
            <a:off x="2542032" y="3465576"/>
            <a:ext cx="5166360" cy="411480"/>
          </a:xfrm>
          <a:prstGeom prst="rect">
            <a:avLst/>
          </a:prstGeom>
          <a:solidFill>
            <a:srgbClr val="071427">
              <a:alpha val="80000"/>
            </a:srgbClr>
          </a:solidFill>
          <a:ln/>
        </p:spPr>
        <p:txBody>
          <a:bodyPr wrap="square" lIns="508" tIns="508" rIns="508" bIns="508"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2026年6月 アメリカンリーグ</a:t>
            </a:r>
            <a:endParaRPr lang="en-US" sz="1800" dirty="0"/>
          </a:p>
        </p:txBody>
      </p:sp>
      <p:sp>
        <p:nvSpPr>
          <p:cNvPr id="11" name="Text 8"/>
          <p:cNvSpPr/>
          <p:nvPr/>
        </p:nvSpPr>
        <p:spPr>
          <a:xfrm>
            <a:off x="804672" y="4123944"/>
            <a:ext cx="1600200" cy="411480"/>
          </a:xfrm>
          <a:prstGeom prst="rect">
            <a:avLst/>
          </a:prstGeom>
          <a:solidFill>
            <a:srgbClr val="000000">
              <a:alpha val="80000"/>
            </a:srgbClr>
          </a:solidFill>
          <a:ln/>
        </p:spPr>
        <p:txBody>
          <a:bodyPr wrap="square" lIns="508" tIns="508" rIns="508" bIns="508" rtlCol="0" anchor="ctr"/>
          <a:lstStyle/>
          <a:p>
            <a:pPr indent="0" marL="0">
              <a:buNone/>
            </a:pPr>
            <a:r>
              <a:rPr lang="en-US" sz="1500" b="1" dirty="0">
                <a:solidFill>
                  <a:srgbClr val="FFCF4A"/>
                </a:solidFill>
                <a:latin typeface="Yu Gothic" pitchFamily="34" charset="0"/>
                <a:ea typeface="Yu Gothic" pitchFamily="34" charset="-122"/>
                <a:cs typeface="Yu Gothic" pitchFamily="34" charset="-120"/>
              </a:rPr>
              <a:t>選手</a:t>
            </a:r>
            <a:endParaRPr lang="en-US" sz="1500" dirty="0"/>
          </a:p>
        </p:txBody>
      </p:sp>
      <p:sp>
        <p:nvSpPr>
          <p:cNvPr id="12" name="Text 9"/>
          <p:cNvSpPr/>
          <p:nvPr/>
        </p:nvSpPr>
        <p:spPr>
          <a:xfrm>
            <a:off x="2542032" y="4123944"/>
            <a:ext cx="5166360" cy="411480"/>
          </a:xfrm>
          <a:prstGeom prst="rect">
            <a:avLst/>
          </a:prstGeom>
          <a:solidFill>
            <a:srgbClr val="071427">
              <a:alpha val="80000"/>
            </a:srgbClr>
          </a:solidFill>
          <a:ln/>
        </p:spPr>
        <p:txBody>
          <a:bodyPr wrap="square" lIns="508" tIns="508" rIns="508" bIns="508"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岡本和真 内野手（ブルージェイズ）</a:t>
            </a:r>
            <a:endParaRPr lang="en-US" sz="1800" dirty="0"/>
          </a:p>
        </p:txBody>
      </p:sp>
      <p:sp>
        <p:nvSpPr>
          <p:cNvPr id="14" name="Text 10"/>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4 / 30</a:t>
            </a:r>
            <a:endParaRPr lang="en-US" sz="850" dirty="0"/>
          </a:p>
        </p:txBody>
      </p:sp>
      <p:sp>
        <p:nvSpPr>
          <p:cNvPr id="15" name="Text 11"/>
          <p:cNvSpPr/>
          <p:nvPr/>
        </p:nvSpPr>
        <p:spPr>
          <a:xfrm>
            <a:off x="548640" y="6419088"/>
            <a:ext cx="9875520" cy="228600"/>
          </a:xfrm>
          <a:prstGeom prst="rect">
            <a:avLst/>
          </a:prstGeom>
          <a:noFill/>
          <a:ln/>
        </p:spPr>
        <p:txBody>
          <a:bodyPr wrap="square" lIns="0" tIns="0" rIns="0" bIns="0" rtlCol="0" anchor="ctr"/>
          <a:lstStyle/>
          <a:p>
            <a:pPr indent="0" marL="0">
              <a:buNone/>
            </a:pPr>
            <a:r>
              <a:rPr lang="en-US" sz="830" dirty="0">
                <a:solidFill>
                  <a:srgbClr val="A9B7C7"/>
                </a:solidFill>
                <a:latin typeface="Yu Gothic" pitchFamily="34" charset="0"/>
                <a:ea typeface="Yu Gothic" pitchFamily="34" charset="-122"/>
                <a:cs typeface="Yu Gothic" pitchFamily="34" charset="-120"/>
              </a:rPr>
              <a:t>出典: 時事通信 / Yahoo!ニュース（2026-07-03）</a:t>
            </a:r>
            <a:endParaRPr lang="en-US" sz="8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914"/>
        </a:solidFill>
      </p:bgPr>
    </p:bg>
    <p:spTree>
      <p:nvGrpSpPr>
        <p:cNvPr id="1" name=""/>
        <p:cNvGrpSpPr/>
        <p:nvPr/>
      </p:nvGrpSpPr>
      <p:grpSpPr>
        <a:xfrm>
          <a:off x="0" y="0"/>
          <a:ext cx="0" cy="0"/>
          <a:chOff x="0" y="0"/>
          <a:chExt cx="0" cy="0"/>
        </a:xfrm>
      </p:grpSpPr>
      <p:pic>
        <p:nvPicPr>
          <p:cNvPr id="2" name="Image 0" descr="/mnt/data/a_dramatic_cinematic_sports_scene_overall_a_clos_batch_6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WHY IT MATTERS</a:t>
            </a:r>
            <a:endParaRPr lang="en-US" sz="1300" dirty="0"/>
          </a:p>
        </p:txBody>
      </p:sp>
      <p:sp>
        <p:nvSpPr>
          <p:cNvPr id="4" name="Text 1"/>
          <p:cNvSpPr/>
          <p:nvPr/>
        </p:nvSpPr>
        <p:spPr>
          <a:xfrm>
            <a:off x="6355080" y="868680"/>
            <a:ext cx="1371600" cy="548640"/>
          </a:xfrm>
          <a:prstGeom prst="rect">
            <a:avLst/>
          </a:prstGeom>
          <a:noFill/>
          <a:ln/>
        </p:spPr>
        <p:txBody>
          <a:bodyPr wrap="square" lIns="0" tIns="0" rIns="0" bIns="0" rtlCol="0" anchor="ctr"/>
          <a:lstStyle/>
          <a:p>
            <a:pPr indent="0" marL="0">
              <a:buNone/>
            </a:pPr>
            <a:r>
              <a:rPr lang="en-US" sz="2300" b="1" dirty="0">
                <a:solidFill>
                  <a:srgbClr val="DCE9F7"/>
                </a:solidFill>
              </a:rPr>
              <a:t>通算</a:t>
            </a:r>
            <a:endParaRPr lang="en-US" sz="2300" dirty="0"/>
          </a:p>
        </p:txBody>
      </p:sp>
      <p:sp>
        <p:nvSpPr>
          <p:cNvPr id="5" name="Text 2"/>
          <p:cNvSpPr/>
          <p:nvPr/>
        </p:nvSpPr>
        <p:spPr>
          <a:xfrm>
            <a:off x="6263640" y="1691640"/>
            <a:ext cx="2057400" cy="1325880"/>
          </a:xfrm>
          <a:prstGeom prst="rect">
            <a:avLst/>
          </a:prstGeom>
          <a:noFill/>
          <a:ln/>
        </p:spPr>
        <p:txBody>
          <a:bodyPr wrap="square" lIns="0" tIns="0" rIns="0" bIns="0" rtlCol="0" anchor="ctr"/>
          <a:lstStyle/>
          <a:p>
            <a:pPr indent="0" marL="0">
              <a:buNone/>
            </a:pPr>
            <a:r>
              <a:rPr lang="en-US" sz="8200" b="1" dirty="0">
                <a:solidFill>
                  <a:srgbClr val="FFCF4A"/>
                </a:solidFill>
                <a:latin typeface="Aptos Display" pitchFamily="34" charset="0"/>
                <a:ea typeface="Aptos Display" pitchFamily="34" charset="-122"/>
                <a:cs typeface="Aptos Display" pitchFamily="34" charset="-120"/>
              </a:rPr>
              <a:t>10</a:t>
            </a:r>
            <a:endParaRPr lang="en-US" sz="8200" dirty="0"/>
          </a:p>
        </p:txBody>
      </p:sp>
      <p:sp>
        <p:nvSpPr>
          <p:cNvPr id="6" name="Text 3"/>
          <p:cNvSpPr/>
          <p:nvPr/>
        </p:nvSpPr>
        <p:spPr>
          <a:xfrm>
            <a:off x="8549640" y="2212848"/>
            <a:ext cx="1280160" cy="731520"/>
          </a:xfrm>
          <a:prstGeom prst="rect">
            <a:avLst/>
          </a:prstGeom>
          <a:noFill/>
          <a:ln/>
        </p:spPr>
        <p:txBody>
          <a:bodyPr wrap="square" lIns="0" tIns="0" rIns="0" bIns="0" rtlCol="0" anchor="ctr"/>
          <a:lstStyle/>
          <a:p>
            <a:pPr indent="0" marL="0">
              <a:buNone/>
            </a:pPr>
            <a:r>
              <a:rPr lang="en-US" sz="3000" b="1" dirty="0">
                <a:solidFill>
                  <a:srgbClr val="FFFFFF"/>
                </a:solidFill>
              </a:rPr>
              <a:t>人目</a:t>
            </a:r>
            <a:endParaRPr lang="en-US" sz="3000" dirty="0"/>
          </a:p>
        </p:txBody>
      </p:sp>
      <p:sp>
        <p:nvSpPr>
          <p:cNvPr id="7" name="Text 4"/>
          <p:cNvSpPr/>
          <p:nvPr/>
        </p:nvSpPr>
        <p:spPr>
          <a:xfrm>
            <a:off x="6355080" y="3291840"/>
            <a:ext cx="4480560" cy="1005840"/>
          </a:xfrm>
          <a:prstGeom prst="rect">
            <a:avLst/>
          </a:prstGeom>
          <a:noFill/>
          <a:ln/>
        </p:spPr>
        <p:txBody>
          <a:bodyPr wrap="square" lIns="254" tIns="254" rIns="254" bIns="254" rtlCol="0" anchor="ctr">
            <a:normAutofit/>
          </a:bodyPr>
          <a:lstStyle/>
          <a:p>
            <a:pPr indent="0" marL="0">
              <a:buNone/>
            </a:pPr>
            <a:r>
              <a:rPr lang="en-US" sz="2500" b="1" dirty="0">
                <a:solidFill>
                  <a:srgbClr val="FFFFFF"/>
                </a:solidFill>
              </a:rPr>
              <a:t>MLB月間最優秀新人賞</a:t>
            </a:r>
            <a:endParaRPr lang="en-US" sz="2500" dirty="0"/>
          </a:p>
          <a:p>
            <a:pPr indent="0" marL="0">
              <a:buNone/>
            </a:pPr>
            <a:r>
              <a:rPr lang="en-US" sz="2500" b="1" dirty="0">
                <a:solidFill>
                  <a:srgbClr val="FFFFFF"/>
                </a:solidFill>
              </a:rPr>
              <a:t>日本人選手の受賞者数</a:t>
            </a:r>
            <a:endParaRPr lang="en-US" sz="2500" dirty="0"/>
          </a:p>
        </p:txBody>
      </p:sp>
      <p:sp>
        <p:nvSpPr>
          <p:cNvPr id="8" name="Text 5"/>
          <p:cNvSpPr/>
          <p:nvPr/>
        </p:nvSpPr>
        <p:spPr>
          <a:xfrm>
            <a:off x="6355080" y="4572000"/>
            <a:ext cx="4480560" cy="594360"/>
          </a:xfrm>
          <a:prstGeom prst="rect">
            <a:avLst/>
          </a:prstGeom>
          <a:noFill/>
          <a:ln/>
        </p:spPr>
        <p:txBody>
          <a:bodyPr wrap="square" lIns="254" tIns="254" rIns="254" bIns="254" rtlCol="0" anchor="ctr">
            <a:normAutofit/>
          </a:bodyPr>
          <a:lstStyle/>
          <a:p>
            <a:pPr indent="0" marL="0">
              <a:buNone/>
            </a:pPr>
            <a:r>
              <a:rPr lang="en-US" sz="1700" dirty="0">
                <a:solidFill>
                  <a:srgbClr val="DCE9F7"/>
                </a:solidFill>
              </a:rPr>
              <a:t>「またすごい」ではなく、歴史の節目として見られるニュースです。</a:t>
            </a:r>
            <a:endParaRPr lang="en-US" sz="1700" dirty="0"/>
          </a:p>
        </p:txBody>
      </p:sp>
      <p:sp>
        <p:nvSpPr>
          <p:cNvPr id="10" name="Text 6"/>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5 / 30</a:t>
            </a:r>
            <a:endParaRPr lang="en-US" sz="850" dirty="0"/>
          </a:p>
        </p:txBody>
      </p:sp>
      <p:sp>
        <p:nvSpPr>
          <p:cNvPr id="11" name="Text 7"/>
          <p:cNvSpPr/>
          <p:nvPr/>
        </p:nvSpPr>
        <p:spPr>
          <a:xfrm>
            <a:off x="548640" y="6419088"/>
            <a:ext cx="9875520" cy="228600"/>
          </a:xfrm>
          <a:prstGeom prst="rect">
            <a:avLst/>
          </a:prstGeom>
          <a:noFill/>
          <a:ln/>
        </p:spPr>
        <p:txBody>
          <a:bodyPr wrap="square" lIns="0" tIns="0" rIns="0" bIns="0" rtlCol="0" anchor="ctr"/>
          <a:lstStyle/>
          <a:p>
            <a:pPr indent="0" marL="0">
              <a:buNone/>
            </a:pPr>
            <a:r>
              <a:rPr lang="en-US" sz="830" dirty="0">
                <a:solidFill>
                  <a:srgbClr val="A9B7C7"/>
                </a:solidFill>
                <a:latin typeface="Yu Gothic" pitchFamily="34" charset="0"/>
                <a:ea typeface="Yu Gothic" pitchFamily="34" charset="-122"/>
                <a:cs typeface="Yu Gothic" pitchFamily="34" charset="-120"/>
              </a:rPr>
              <a:t>出典: 日本経済新聞（2026-07-03）</a:t>
            </a:r>
            <a:endParaRPr lang="en-US" sz="8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914"/>
        </a:solidFill>
      </p:bgPr>
    </p:bg>
    <p:spTree>
      <p:nvGrpSpPr>
        <p:cNvPr id="1" name=""/>
        <p:cNvGrpSpPr/>
        <p:nvPr/>
      </p:nvGrpSpPr>
      <p:grpSpPr>
        <a:xfrm>
          <a:off x="0" y="0"/>
          <a:ext cx="0" cy="0"/>
          <a:chOff x="0" y="0"/>
          <a:chExt cx="0" cy="0"/>
        </a:xfrm>
      </p:grpSpPr>
      <p:pic>
        <p:nvPicPr>
          <p:cNvPr id="2" name="Image 0" descr="/mnt/data/a_dramatic_sports_scene_in_a_dark_blue_lit_basebal_batch_2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JUNE STATS</a:t>
            </a:r>
            <a:endParaRPr lang="en-US" sz="1300" dirty="0"/>
          </a:p>
        </p:txBody>
      </p:sp>
      <p:sp>
        <p:nvSpPr>
          <p:cNvPr id="4" name="Text 1"/>
          <p:cNvSpPr/>
          <p:nvPr/>
        </p:nvSpPr>
        <p:spPr>
          <a:xfrm>
            <a:off x="658368" y="1051560"/>
            <a:ext cx="6400800" cy="1005840"/>
          </a:xfrm>
          <a:prstGeom prst="rect">
            <a:avLst/>
          </a:prstGeom>
          <a:noFill/>
          <a:ln/>
        </p:spPr>
        <p:txBody>
          <a:bodyPr wrap="square" lIns="508" tIns="508" rIns="508" bIns="508" rtlCol="0" anchor="ctr">
            <a:normAutofit/>
          </a:bodyPr>
          <a:lstStyle/>
          <a:p>
            <a:pPr indent="0" marL="0">
              <a:buNone/>
            </a:pPr>
            <a:r>
              <a:rPr lang="en-US" sz="4000" b="1" dirty="0">
                <a:solidFill>
                  <a:srgbClr val="FFFFFF"/>
                </a:solidFill>
                <a:latin typeface="Yu Gothic" pitchFamily="34" charset="0"/>
                <a:ea typeface="Yu Gothic" pitchFamily="34" charset="-122"/>
                <a:cs typeface="Yu Gothic" pitchFamily="34" charset="-120"/>
              </a:rPr>
              <a:t>岡本選手の6月</a:t>
            </a:r>
            <a:endParaRPr lang="en-US" sz="4000" dirty="0"/>
          </a:p>
        </p:txBody>
      </p:sp>
      <p:sp>
        <p:nvSpPr>
          <p:cNvPr id="5" name="Text 2"/>
          <p:cNvSpPr/>
          <p:nvPr/>
        </p:nvSpPr>
        <p:spPr>
          <a:xfrm>
            <a:off x="685800" y="2240280"/>
            <a:ext cx="1828800" cy="822960"/>
          </a:xfrm>
          <a:prstGeom prst="rect">
            <a:avLst/>
          </a:prstGeom>
          <a:noFill/>
          <a:ln/>
        </p:spPr>
        <p:txBody>
          <a:bodyPr wrap="square" lIns="0" tIns="0" rIns="0" bIns="0" rtlCol="0" anchor="ctr"/>
          <a:lstStyle/>
          <a:p>
            <a:pPr algn="ctr" indent="0" marL="0">
              <a:buNone/>
            </a:pPr>
            <a:r>
              <a:rPr lang="en-US" sz="4800" b="1" dirty="0">
                <a:solidFill>
                  <a:srgbClr val="55D7FF"/>
                </a:solidFill>
                <a:latin typeface="Aptos Display" pitchFamily="34" charset="0"/>
                <a:ea typeface="Aptos Display" pitchFamily="34" charset="-122"/>
                <a:cs typeface="Aptos Display" pitchFamily="34" charset="-120"/>
              </a:rPr>
              <a:t>25</a:t>
            </a:r>
            <a:endParaRPr lang="en-US" sz="4800" dirty="0"/>
          </a:p>
        </p:txBody>
      </p:sp>
      <p:sp>
        <p:nvSpPr>
          <p:cNvPr id="6" name="Text 3"/>
          <p:cNvSpPr/>
          <p:nvPr/>
        </p:nvSpPr>
        <p:spPr>
          <a:xfrm>
            <a:off x="685800" y="3063240"/>
            <a:ext cx="1828800" cy="384048"/>
          </a:xfrm>
          <a:prstGeom prst="rect">
            <a:avLst/>
          </a:prstGeom>
          <a:noFill/>
          <a:ln/>
        </p:spPr>
        <p:txBody>
          <a:bodyPr wrap="square" lIns="254" tIns="254" rIns="254" bIns="254" rtlCol="0" anchor="ctr">
            <a:norm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出場試合</a:t>
            </a:r>
            <a:endParaRPr lang="en-US" sz="1400" dirty="0"/>
          </a:p>
        </p:txBody>
      </p:sp>
      <p:sp>
        <p:nvSpPr>
          <p:cNvPr id="7" name="Text 4"/>
          <p:cNvSpPr/>
          <p:nvPr/>
        </p:nvSpPr>
        <p:spPr>
          <a:xfrm>
            <a:off x="2788920" y="2240280"/>
            <a:ext cx="1828800" cy="822960"/>
          </a:xfrm>
          <a:prstGeom prst="rect">
            <a:avLst/>
          </a:prstGeom>
          <a:noFill/>
          <a:ln/>
        </p:spPr>
        <p:txBody>
          <a:bodyPr wrap="square" lIns="0" tIns="0" rIns="0" bIns="0" rtlCol="0" anchor="ctr"/>
          <a:lstStyle/>
          <a:p>
            <a:pPr algn="ctr" indent="0" marL="0">
              <a:buNone/>
            </a:pPr>
            <a:r>
              <a:rPr lang="en-US" sz="4800" b="1" dirty="0">
                <a:solidFill>
                  <a:srgbClr val="FFCF4A"/>
                </a:solidFill>
                <a:latin typeface="Aptos Display" pitchFamily="34" charset="0"/>
                <a:ea typeface="Aptos Display" pitchFamily="34" charset="-122"/>
                <a:cs typeface="Aptos Display" pitchFamily="34" charset="-120"/>
              </a:rPr>
              <a:t>.286</a:t>
            </a:r>
            <a:endParaRPr lang="en-US" sz="4800" dirty="0"/>
          </a:p>
        </p:txBody>
      </p:sp>
      <p:sp>
        <p:nvSpPr>
          <p:cNvPr id="8" name="Text 5"/>
          <p:cNvSpPr/>
          <p:nvPr/>
        </p:nvSpPr>
        <p:spPr>
          <a:xfrm>
            <a:off x="2788920" y="3063240"/>
            <a:ext cx="1828800" cy="384048"/>
          </a:xfrm>
          <a:prstGeom prst="rect">
            <a:avLst/>
          </a:prstGeom>
          <a:noFill/>
          <a:ln/>
        </p:spPr>
        <p:txBody>
          <a:bodyPr wrap="square" lIns="254" tIns="254" rIns="254" bIns="254" rtlCol="0" anchor="ctr">
            <a:norm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打率</a:t>
            </a:r>
            <a:endParaRPr lang="en-US" sz="1400" dirty="0"/>
          </a:p>
        </p:txBody>
      </p:sp>
      <p:sp>
        <p:nvSpPr>
          <p:cNvPr id="9" name="Text 6"/>
          <p:cNvSpPr/>
          <p:nvPr/>
        </p:nvSpPr>
        <p:spPr>
          <a:xfrm>
            <a:off x="4892040" y="2240280"/>
            <a:ext cx="1828800" cy="822960"/>
          </a:xfrm>
          <a:prstGeom prst="rect">
            <a:avLst/>
          </a:prstGeom>
          <a:noFill/>
          <a:ln/>
        </p:spPr>
        <p:txBody>
          <a:bodyPr wrap="square" lIns="0" tIns="0" rIns="0" bIns="0" rtlCol="0" anchor="ctr"/>
          <a:lstStyle/>
          <a:p>
            <a:pPr algn="ctr" indent="0" marL="0">
              <a:buNone/>
            </a:pPr>
            <a:r>
              <a:rPr lang="en-US" sz="4800" b="1" dirty="0">
                <a:solidFill>
                  <a:srgbClr val="FF3B4F"/>
                </a:solidFill>
                <a:latin typeface="Aptos Display" pitchFamily="34" charset="0"/>
                <a:ea typeface="Aptos Display" pitchFamily="34" charset="-122"/>
                <a:cs typeface="Aptos Display" pitchFamily="34" charset="-120"/>
              </a:rPr>
              <a:t>7</a:t>
            </a:r>
            <a:endParaRPr lang="en-US" sz="4800" dirty="0"/>
          </a:p>
        </p:txBody>
      </p:sp>
      <p:sp>
        <p:nvSpPr>
          <p:cNvPr id="10" name="Text 7"/>
          <p:cNvSpPr/>
          <p:nvPr/>
        </p:nvSpPr>
        <p:spPr>
          <a:xfrm>
            <a:off x="4892040" y="3063240"/>
            <a:ext cx="1828800" cy="384048"/>
          </a:xfrm>
          <a:prstGeom prst="rect">
            <a:avLst/>
          </a:prstGeom>
          <a:noFill/>
          <a:ln/>
        </p:spPr>
        <p:txBody>
          <a:bodyPr wrap="square" lIns="254" tIns="254" rIns="254" bIns="254" rtlCol="0" anchor="ctr">
            <a:norm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本塁打</a:t>
            </a:r>
            <a:endParaRPr lang="en-US" sz="1400" dirty="0"/>
          </a:p>
        </p:txBody>
      </p:sp>
      <p:sp>
        <p:nvSpPr>
          <p:cNvPr id="11" name="Text 8"/>
          <p:cNvSpPr/>
          <p:nvPr/>
        </p:nvSpPr>
        <p:spPr>
          <a:xfrm>
            <a:off x="4892040" y="3456432"/>
            <a:ext cx="1828800" cy="310896"/>
          </a:xfrm>
          <a:prstGeom prst="rect">
            <a:avLst/>
          </a:prstGeom>
          <a:noFill/>
          <a:ln/>
        </p:spPr>
        <p:txBody>
          <a:bodyPr wrap="square" lIns="127" tIns="127" rIns="127" bIns="127" rtlCol="0" anchor="ctr"/>
          <a:lstStyle/>
          <a:p>
            <a:pPr algn="ctr" indent="0" marL="0">
              <a:buNone/>
            </a:pPr>
            <a:r>
              <a:rPr lang="en-US" sz="1050" dirty="0">
                <a:solidFill>
                  <a:srgbClr val="B8C7D9"/>
                </a:solidFill>
                <a:latin typeface="Yu Gothic" pitchFamily="34" charset="0"/>
                <a:ea typeface="Yu Gothic" pitchFamily="34" charset="-122"/>
                <a:cs typeface="Yu Gothic" pitchFamily="34" charset="-120"/>
              </a:rPr>
              <a:t>新人トップ</a:t>
            </a:r>
            <a:endParaRPr lang="en-US" sz="1050" dirty="0"/>
          </a:p>
        </p:txBody>
      </p:sp>
      <p:sp>
        <p:nvSpPr>
          <p:cNvPr id="12" name="Text 9"/>
          <p:cNvSpPr/>
          <p:nvPr/>
        </p:nvSpPr>
        <p:spPr>
          <a:xfrm>
            <a:off x="6995160" y="2240280"/>
            <a:ext cx="1828800" cy="822960"/>
          </a:xfrm>
          <a:prstGeom prst="rect">
            <a:avLst/>
          </a:prstGeom>
          <a:noFill/>
          <a:ln/>
        </p:spPr>
        <p:txBody>
          <a:bodyPr wrap="square" lIns="0" tIns="0" rIns="0" bIns="0" rtlCol="0" anchor="ctr"/>
          <a:lstStyle/>
          <a:p>
            <a:pPr algn="ctr" indent="0" marL="0">
              <a:buNone/>
            </a:pPr>
            <a:r>
              <a:rPr lang="en-US" sz="4800" b="1" dirty="0">
                <a:solidFill>
                  <a:srgbClr val="FF8A1F"/>
                </a:solidFill>
                <a:latin typeface="Aptos Display" pitchFamily="34" charset="0"/>
                <a:ea typeface="Aptos Display" pitchFamily="34" charset="-122"/>
                <a:cs typeface="Aptos Display" pitchFamily="34" charset="-120"/>
              </a:rPr>
              <a:t>20</a:t>
            </a:r>
            <a:endParaRPr lang="en-US" sz="4800" dirty="0"/>
          </a:p>
        </p:txBody>
      </p:sp>
      <p:sp>
        <p:nvSpPr>
          <p:cNvPr id="13" name="Text 10"/>
          <p:cNvSpPr/>
          <p:nvPr/>
        </p:nvSpPr>
        <p:spPr>
          <a:xfrm>
            <a:off x="6995160" y="3063240"/>
            <a:ext cx="1828800" cy="384048"/>
          </a:xfrm>
          <a:prstGeom prst="rect">
            <a:avLst/>
          </a:prstGeom>
          <a:noFill/>
          <a:ln/>
        </p:spPr>
        <p:txBody>
          <a:bodyPr wrap="square" lIns="254" tIns="254" rIns="254" bIns="254" rtlCol="0" anchor="ctr">
            <a:norm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打点</a:t>
            </a:r>
            <a:endParaRPr lang="en-US" sz="1400" dirty="0"/>
          </a:p>
        </p:txBody>
      </p:sp>
      <p:sp>
        <p:nvSpPr>
          <p:cNvPr id="14" name="Text 11"/>
          <p:cNvSpPr/>
          <p:nvPr/>
        </p:nvSpPr>
        <p:spPr>
          <a:xfrm>
            <a:off x="9098280" y="2240280"/>
            <a:ext cx="1828800" cy="822960"/>
          </a:xfrm>
          <a:prstGeom prst="rect">
            <a:avLst/>
          </a:prstGeom>
          <a:noFill/>
          <a:ln/>
        </p:spPr>
        <p:txBody>
          <a:bodyPr wrap="square" lIns="0" tIns="0" rIns="0" bIns="0" rtlCol="0" anchor="ctr"/>
          <a:lstStyle/>
          <a:p>
            <a:pPr algn="ctr" indent="0" marL="0">
              <a:buNone/>
            </a:pPr>
            <a:r>
              <a:rPr lang="en-US" sz="4800" b="1" dirty="0">
                <a:solidFill>
                  <a:srgbClr val="8AE080"/>
                </a:solidFill>
                <a:latin typeface="Aptos Display" pitchFamily="34" charset="0"/>
                <a:ea typeface="Aptos Display" pitchFamily="34" charset="-122"/>
                <a:cs typeface="Aptos Display" pitchFamily="34" charset="-120"/>
              </a:rPr>
              <a:t>.916</a:t>
            </a:r>
            <a:endParaRPr lang="en-US" sz="4800" dirty="0"/>
          </a:p>
        </p:txBody>
      </p:sp>
      <p:sp>
        <p:nvSpPr>
          <p:cNvPr id="15" name="Text 12"/>
          <p:cNvSpPr/>
          <p:nvPr/>
        </p:nvSpPr>
        <p:spPr>
          <a:xfrm>
            <a:off x="9098280" y="3063240"/>
            <a:ext cx="1828800" cy="384048"/>
          </a:xfrm>
          <a:prstGeom prst="rect">
            <a:avLst/>
          </a:prstGeom>
          <a:noFill/>
          <a:ln/>
        </p:spPr>
        <p:txBody>
          <a:bodyPr wrap="square" lIns="254" tIns="254" rIns="254" bIns="254" rtlCol="0" anchor="ctr">
            <a:norm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OPS</a:t>
            </a:r>
            <a:endParaRPr lang="en-US" sz="1400" dirty="0"/>
          </a:p>
        </p:txBody>
      </p:sp>
      <p:sp>
        <p:nvSpPr>
          <p:cNvPr id="17" name="Text 13"/>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6 / 30</a:t>
            </a:r>
            <a:endParaRPr lang="en-US" sz="850" dirty="0"/>
          </a:p>
        </p:txBody>
      </p:sp>
      <p:sp>
        <p:nvSpPr>
          <p:cNvPr id="18" name="Text 14"/>
          <p:cNvSpPr/>
          <p:nvPr/>
        </p:nvSpPr>
        <p:spPr>
          <a:xfrm>
            <a:off x="548640" y="6419088"/>
            <a:ext cx="9875520" cy="228600"/>
          </a:xfrm>
          <a:prstGeom prst="rect">
            <a:avLst/>
          </a:prstGeom>
          <a:noFill/>
          <a:ln/>
        </p:spPr>
        <p:txBody>
          <a:bodyPr wrap="square" lIns="0" tIns="0" rIns="0" bIns="0" rtlCol="0" anchor="ctr"/>
          <a:lstStyle/>
          <a:p>
            <a:pPr indent="0" marL="0">
              <a:buNone/>
            </a:pPr>
            <a:r>
              <a:rPr lang="en-US" sz="830" dirty="0">
                <a:solidFill>
                  <a:srgbClr val="A9B7C7"/>
                </a:solidFill>
                <a:latin typeface="Yu Gothic" pitchFamily="34" charset="0"/>
                <a:ea typeface="Yu Gothic" pitchFamily="34" charset="-122"/>
                <a:cs typeface="Yu Gothic" pitchFamily="34" charset="-120"/>
              </a:rPr>
              <a:t>出典: ベースボールキング / Yahoo!ニュース（2026-07-03）</a:t>
            </a:r>
            <a:endParaRPr lang="en-US" sz="83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914"/>
        </a:solidFill>
      </p:bgPr>
    </p:bg>
    <p:spTree>
      <p:nvGrpSpPr>
        <p:cNvPr id="1" name=""/>
        <p:cNvGrpSpPr/>
        <p:nvPr/>
      </p:nvGrpSpPr>
      <p:grpSpPr>
        <a:xfrm>
          <a:off x="0" y="0"/>
          <a:ext cx="0" cy="0"/>
          <a:chOff x="0" y="0"/>
          <a:chExt cx="0" cy="0"/>
        </a:xfrm>
      </p:grpSpPr>
      <p:pic>
        <p:nvPicPr>
          <p:cNvPr id="2" name="Image 0" descr="/mnt/data/a_dramatic_high_energy_sports_stadium_scene_ultr_batch_1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POWER POINT</a:t>
            </a:r>
            <a:endParaRPr lang="en-US" sz="1300" dirty="0"/>
          </a:p>
        </p:txBody>
      </p:sp>
      <p:sp>
        <p:nvSpPr>
          <p:cNvPr id="4" name="Text 1"/>
          <p:cNvSpPr/>
          <p:nvPr/>
        </p:nvSpPr>
        <p:spPr>
          <a:xfrm>
            <a:off x="713232" y="1005840"/>
            <a:ext cx="2103120" cy="1371600"/>
          </a:xfrm>
          <a:prstGeom prst="rect">
            <a:avLst/>
          </a:prstGeom>
          <a:noFill/>
          <a:ln/>
        </p:spPr>
        <p:txBody>
          <a:bodyPr wrap="square" lIns="0" tIns="0" rIns="0" bIns="0" rtlCol="0" anchor="ctr"/>
          <a:lstStyle/>
          <a:p>
            <a:pPr indent="0" marL="0">
              <a:buNone/>
            </a:pPr>
            <a:r>
              <a:rPr lang="en-US" sz="10000" b="1" dirty="0">
                <a:solidFill>
                  <a:srgbClr val="FF3B4F"/>
                </a:solidFill>
                <a:latin typeface="Aptos Display" pitchFamily="34" charset="0"/>
                <a:ea typeface="Aptos Display" pitchFamily="34" charset="-122"/>
                <a:cs typeface="Aptos Display" pitchFamily="34" charset="-120"/>
              </a:rPr>
              <a:t>7</a:t>
            </a:r>
            <a:endParaRPr lang="en-US" sz="10000" dirty="0"/>
          </a:p>
        </p:txBody>
      </p:sp>
      <p:sp>
        <p:nvSpPr>
          <p:cNvPr id="5" name="Text 2"/>
          <p:cNvSpPr/>
          <p:nvPr/>
        </p:nvSpPr>
        <p:spPr>
          <a:xfrm>
            <a:off x="3017520" y="1417320"/>
            <a:ext cx="2194560" cy="731520"/>
          </a:xfrm>
          <a:prstGeom prst="rect">
            <a:avLst/>
          </a:prstGeom>
          <a:noFill/>
          <a:ln/>
        </p:spPr>
        <p:txBody>
          <a:bodyPr wrap="square" lIns="0" tIns="0" rIns="0" bIns="0" rtlCol="0" anchor="ctr"/>
          <a:lstStyle/>
          <a:p>
            <a:pPr indent="0" marL="0">
              <a:buNone/>
            </a:pPr>
            <a:r>
              <a:rPr lang="en-US" sz="3400" b="1" dirty="0">
                <a:solidFill>
                  <a:srgbClr val="FFFFFF"/>
                </a:solidFill>
                <a:latin typeface="Yu Gothic" pitchFamily="34" charset="0"/>
                <a:ea typeface="Yu Gothic" pitchFamily="34" charset="-122"/>
                <a:cs typeface="Yu Gothic" pitchFamily="34" charset="-120"/>
              </a:rPr>
              <a:t>本塁打</a:t>
            </a:r>
            <a:endParaRPr lang="en-US" sz="3400" dirty="0"/>
          </a:p>
        </p:txBody>
      </p:sp>
      <p:sp>
        <p:nvSpPr>
          <p:cNvPr id="6" name="Text 3"/>
          <p:cNvSpPr/>
          <p:nvPr/>
        </p:nvSpPr>
        <p:spPr>
          <a:xfrm>
            <a:off x="777240" y="2788920"/>
            <a:ext cx="5760720" cy="621792"/>
          </a:xfrm>
          <a:prstGeom prst="rect">
            <a:avLst/>
          </a:prstGeom>
          <a:solidFill>
            <a:srgbClr val="000000">
              <a:alpha val="82000"/>
            </a:srgbClr>
          </a:solidFill>
          <a:ln/>
        </p:spPr>
        <p:txBody>
          <a:bodyPr wrap="square" lIns="381" tIns="381" rIns="381" bIns="381" rtlCol="0" anchor="ctr"/>
          <a:lstStyle/>
          <a:p>
            <a:pPr indent="0" marL="0">
              <a:buNone/>
            </a:pPr>
            <a:r>
              <a:rPr lang="en-US" sz="2600" b="1" dirty="0">
                <a:solidFill>
                  <a:srgbClr val="FFCF4A"/>
                </a:solidFill>
                <a:latin typeface="Yu Gothic" pitchFamily="34" charset="0"/>
                <a:ea typeface="Yu Gothic" pitchFamily="34" charset="-122"/>
                <a:cs typeface="Yu Gothic" pitchFamily="34" charset="-120"/>
              </a:rPr>
              <a:t>6月度・ア・リーグ新人トップ</a:t>
            </a:r>
            <a:endParaRPr lang="en-US" sz="2600" dirty="0"/>
          </a:p>
        </p:txBody>
      </p:sp>
      <p:sp>
        <p:nvSpPr>
          <p:cNvPr id="7" name="Text 4"/>
          <p:cNvSpPr/>
          <p:nvPr/>
        </p:nvSpPr>
        <p:spPr>
          <a:xfrm>
            <a:off x="822960" y="3840480"/>
            <a:ext cx="5120640" cy="1097280"/>
          </a:xfrm>
          <a:prstGeom prst="rect">
            <a:avLst/>
          </a:prstGeom>
          <a:noFill/>
          <a:ln/>
        </p:spPr>
        <p:txBody>
          <a:bodyPr wrap="square" lIns="381" tIns="381" rIns="381" bIns="381" rtlCol="0" anchor="ctr">
            <a:normAutofit/>
          </a:bodyPr>
          <a:lstStyle/>
          <a:p>
            <a:pPr indent="0" marL="0">
              <a:buNone/>
            </a:pPr>
            <a:r>
              <a:rPr lang="en-US" sz="2500" b="1" dirty="0">
                <a:solidFill>
                  <a:srgbClr val="FFFFFF"/>
                </a:solidFill>
              </a:rPr>
              <a:t>受賞理由を一言でいうなら、</a:t>
            </a:r>
            <a:endParaRPr lang="en-US" sz="2500" dirty="0"/>
          </a:p>
          <a:p>
            <a:pPr indent="0" marL="0">
              <a:buNone/>
            </a:pPr>
            <a:r>
              <a:rPr lang="en-US" sz="2500" b="1" dirty="0">
                <a:solidFill>
                  <a:srgbClr val="FFFFFF"/>
                </a:solidFill>
              </a:rPr>
              <a:t>「長打力で目立った月」でした。</a:t>
            </a:r>
            <a:endParaRPr lang="en-US" sz="2500" dirty="0"/>
          </a:p>
        </p:txBody>
      </p:sp>
      <p:sp>
        <p:nvSpPr>
          <p:cNvPr id="9" name="Text 5"/>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7 / 30</a:t>
            </a:r>
            <a:endParaRPr lang="en-US" sz="850" dirty="0"/>
          </a:p>
        </p:txBody>
      </p:sp>
      <p:sp>
        <p:nvSpPr>
          <p:cNvPr id="10" name="Text 6"/>
          <p:cNvSpPr/>
          <p:nvPr/>
        </p:nvSpPr>
        <p:spPr>
          <a:xfrm>
            <a:off x="548640" y="6419088"/>
            <a:ext cx="9875520" cy="228600"/>
          </a:xfrm>
          <a:prstGeom prst="rect">
            <a:avLst/>
          </a:prstGeom>
          <a:noFill/>
          <a:ln/>
        </p:spPr>
        <p:txBody>
          <a:bodyPr wrap="square" lIns="0" tIns="0" rIns="0" bIns="0" rtlCol="0" anchor="ctr"/>
          <a:lstStyle/>
          <a:p>
            <a:pPr indent="0" marL="0">
              <a:buNone/>
            </a:pPr>
            <a:r>
              <a:rPr lang="en-US" sz="830" dirty="0">
                <a:solidFill>
                  <a:srgbClr val="A9B7C7"/>
                </a:solidFill>
                <a:latin typeface="Yu Gothic" pitchFamily="34" charset="0"/>
                <a:ea typeface="Yu Gothic" pitchFamily="34" charset="-122"/>
                <a:cs typeface="Yu Gothic" pitchFamily="34" charset="-120"/>
              </a:rPr>
              <a:t>出典: ベースボールキング / Yahoo!ニュース（2026-07-03）</a:t>
            </a:r>
            <a:endParaRPr lang="en-US" sz="8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914"/>
        </a:solidFill>
      </p:bgPr>
    </p:bg>
    <p:spTree>
      <p:nvGrpSpPr>
        <p:cNvPr id="1" name=""/>
        <p:cNvGrpSpPr/>
        <p:nvPr/>
      </p:nvGrpSpPr>
      <p:grpSpPr>
        <a:xfrm>
          <a:off x="0" y="0"/>
          <a:ext cx="0" cy="0"/>
          <a:chOff x="0" y="0"/>
          <a:chExt cx="0" cy="0"/>
        </a:xfrm>
      </p:grpSpPr>
      <p:pic>
        <p:nvPicPr>
          <p:cNvPr id="2" name="Image 0" descr="/mnt/data/a_high_tech_sports_broadcast_data_visualization_batch_3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AVG vs OPS</a:t>
            </a:r>
            <a:endParaRPr lang="en-US" sz="1300" dirty="0"/>
          </a:p>
        </p:txBody>
      </p:sp>
      <p:sp>
        <p:nvSpPr>
          <p:cNvPr id="4" name="Text 1"/>
          <p:cNvSpPr/>
          <p:nvPr/>
        </p:nvSpPr>
        <p:spPr>
          <a:xfrm>
            <a:off x="658368" y="1051560"/>
            <a:ext cx="6583680" cy="914400"/>
          </a:xfrm>
          <a:prstGeom prst="rect">
            <a:avLst/>
          </a:prstGeom>
          <a:noFill/>
          <a:ln/>
        </p:spPr>
        <p:txBody>
          <a:bodyPr wrap="square" lIns="508" tIns="508" rIns="508" bIns="508" rtlCol="0" anchor="ctr">
            <a:normAutofit/>
          </a:bodyPr>
          <a:lstStyle/>
          <a:p>
            <a:pPr indent="0" marL="0">
              <a:buNone/>
            </a:pPr>
            <a:r>
              <a:rPr lang="en-US" sz="3900" b="1" dirty="0">
                <a:solidFill>
                  <a:srgbClr val="FFFFFF"/>
                </a:solidFill>
                <a:latin typeface="Yu Gothic" pitchFamily="34" charset="0"/>
                <a:ea typeface="Yu Gothic" pitchFamily="34" charset="-122"/>
                <a:cs typeface="Yu Gothic" pitchFamily="34" charset="-120"/>
              </a:rPr>
              <a:t>打率とOPSの比較</a:t>
            </a:r>
            <a:endParaRPr lang="en-US" sz="3900" dirty="0"/>
          </a:p>
        </p:txBody>
      </p:sp>
      <p:graphicFrame>
        <p:nvGraphicFramePr>
          <p:cNvPr id="5" name="Chart 0" descr=""/>
          <p:cNvGraphicFramePr/>
          <p:nvPr/>
        </p:nvGraphicFramePr>
        <p:xfrm>
          <a:off x="868680" y="2057400"/>
          <a:ext cx="6309360" cy="2926080"/>
        </p:xfrm>
        <a:graphic xmlns:a="http://schemas.openxmlformats.org/drawingml/2006/main">
          <a:graphicData uri="http://schemas.openxmlformats.org/drawingml/2006/chart">
            <c:chart xmlns:c="http://schemas.openxmlformats.org/drawingml/2006/chart" r:id="rId2"/>
          </a:graphicData>
        </a:graphic>
      </p:graphicFrame>
      <p:sp>
        <p:nvSpPr>
          <p:cNvPr id="6" name="Text 2"/>
          <p:cNvSpPr/>
          <p:nvPr/>
        </p:nvSpPr>
        <p:spPr>
          <a:xfrm>
            <a:off x="7818120" y="2468880"/>
            <a:ext cx="2743200" cy="822960"/>
          </a:xfrm>
          <a:prstGeom prst="rect">
            <a:avLst/>
          </a:prstGeom>
          <a:noFill/>
          <a:ln/>
        </p:spPr>
        <p:txBody>
          <a:bodyPr wrap="square" lIns="0" tIns="0" rIns="0" bIns="0" rtlCol="0" anchor="ctr"/>
          <a:lstStyle/>
          <a:p>
            <a:pPr indent="0" marL="0">
              <a:buNone/>
            </a:pPr>
            <a:r>
              <a:rPr lang="en-US" sz="4000" b="1" dirty="0">
                <a:solidFill>
                  <a:srgbClr val="FFCF4A"/>
                </a:solidFill>
              </a:rPr>
              <a:t>OPS .916</a:t>
            </a:r>
            <a:endParaRPr lang="en-US" sz="4000" dirty="0"/>
          </a:p>
        </p:txBody>
      </p:sp>
      <p:sp>
        <p:nvSpPr>
          <p:cNvPr id="7" name="Text 3"/>
          <p:cNvSpPr/>
          <p:nvPr/>
        </p:nvSpPr>
        <p:spPr>
          <a:xfrm>
            <a:off x="7818120" y="3337560"/>
            <a:ext cx="2880360" cy="1051560"/>
          </a:xfrm>
          <a:prstGeom prst="rect">
            <a:avLst/>
          </a:prstGeom>
          <a:noFill/>
          <a:ln/>
        </p:spPr>
        <p:txBody>
          <a:bodyPr wrap="square" lIns="254" tIns="254" rIns="254" bIns="254" rtlCol="0" anchor="ctr">
            <a:normAutofit/>
          </a:bodyPr>
          <a:lstStyle/>
          <a:p>
            <a:pPr indent="0" marL="0">
              <a:buNone/>
            </a:pPr>
            <a:r>
              <a:rPr lang="en-US" sz="2200" b="1" dirty="0">
                <a:solidFill>
                  <a:srgbClr val="FFFFFF"/>
                </a:solidFill>
              </a:rPr>
              <a:t>出塁力と長打力を</a:t>
            </a:r>
            <a:endParaRPr lang="en-US" sz="2200" dirty="0"/>
          </a:p>
          <a:p>
            <a:pPr indent="0" marL="0">
              <a:buNone/>
            </a:pPr>
            <a:r>
              <a:rPr lang="en-US" sz="2200" b="1" dirty="0">
                <a:solidFill>
                  <a:srgbClr val="FFFFFF"/>
                </a:solidFill>
              </a:rPr>
              <a:t>合わせて高水準</a:t>
            </a:r>
            <a:endParaRPr lang="en-US" sz="2200" dirty="0"/>
          </a:p>
        </p:txBody>
      </p:sp>
      <p:sp>
        <p:nvSpPr>
          <p:cNvPr id="9" name="Text 4"/>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8 / 30</a:t>
            </a:r>
            <a:endParaRPr lang="en-US" sz="850" dirty="0"/>
          </a:p>
        </p:txBody>
      </p:sp>
      <p:sp>
        <p:nvSpPr>
          <p:cNvPr id="10" name="Text 5"/>
          <p:cNvSpPr/>
          <p:nvPr/>
        </p:nvSpPr>
        <p:spPr>
          <a:xfrm>
            <a:off x="548640" y="6419088"/>
            <a:ext cx="9875520" cy="228600"/>
          </a:xfrm>
          <a:prstGeom prst="rect">
            <a:avLst/>
          </a:prstGeom>
          <a:noFill/>
          <a:ln/>
        </p:spPr>
        <p:txBody>
          <a:bodyPr wrap="square" lIns="0" tIns="0" rIns="0" bIns="0" rtlCol="0" anchor="ctr"/>
          <a:lstStyle/>
          <a:p>
            <a:pPr indent="0" marL="0">
              <a:buNone/>
            </a:pPr>
            <a:r>
              <a:rPr lang="en-US" sz="830" dirty="0">
                <a:solidFill>
                  <a:srgbClr val="A9B7C7"/>
                </a:solidFill>
                <a:latin typeface="Yu Gothic" pitchFamily="34" charset="0"/>
                <a:ea typeface="Yu Gothic" pitchFamily="34" charset="-122"/>
                <a:cs typeface="Yu Gothic" pitchFamily="34" charset="-120"/>
              </a:rPr>
              <a:t>出典: ベースボールキング / Yahoo!ニュース（2026-07-03）</a:t>
            </a:r>
            <a:endParaRPr lang="en-US" sz="83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914"/>
        </a:solidFill>
      </p:bgPr>
    </p:bg>
    <p:spTree>
      <p:nvGrpSpPr>
        <p:cNvPr id="1" name=""/>
        <p:cNvGrpSpPr/>
        <p:nvPr/>
      </p:nvGrpSpPr>
      <p:grpSpPr>
        <a:xfrm>
          <a:off x="0" y="0"/>
          <a:ext cx="0" cy="0"/>
          <a:chOff x="0" y="0"/>
          <a:chExt cx="0" cy="0"/>
        </a:xfrm>
      </p:grpSpPr>
      <p:pic>
        <p:nvPicPr>
          <p:cNvPr id="2" name="Image 0" descr="/mnt/data/a_high_tech_sports_broadcast_data_visualization_batch_3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OPS EXPLAINED</a:t>
            </a:r>
            <a:endParaRPr lang="en-US" sz="1300" dirty="0"/>
          </a:p>
        </p:txBody>
      </p:sp>
      <p:sp>
        <p:nvSpPr>
          <p:cNvPr id="4" name="Text 1"/>
          <p:cNvSpPr/>
          <p:nvPr/>
        </p:nvSpPr>
        <p:spPr>
          <a:xfrm>
            <a:off x="658368" y="1051560"/>
            <a:ext cx="7132320" cy="914400"/>
          </a:xfrm>
          <a:prstGeom prst="rect">
            <a:avLst/>
          </a:prstGeom>
          <a:noFill/>
          <a:ln/>
        </p:spPr>
        <p:txBody>
          <a:bodyPr wrap="square" lIns="508" tIns="508" rIns="508" bIns="508" rtlCol="0" anchor="ctr">
            <a:normAutofit/>
          </a:bodyPr>
          <a:lstStyle/>
          <a:p>
            <a:pPr indent="0" marL="0">
              <a:buNone/>
            </a:pPr>
            <a:r>
              <a:rPr lang="en-US" sz="3800" b="1" dirty="0">
                <a:solidFill>
                  <a:srgbClr val="FFFFFF"/>
                </a:solidFill>
                <a:latin typeface="Yu Gothic" pitchFamily="34" charset="0"/>
                <a:ea typeface="Yu Gothic" pitchFamily="34" charset="-122"/>
                <a:cs typeface="Yu Gothic" pitchFamily="34" charset="-120"/>
              </a:rPr>
              <a:t>OPS .916 が意味すること</a:t>
            </a:r>
            <a:endParaRPr lang="en-US" sz="3800" dirty="0"/>
          </a:p>
        </p:txBody>
      </p:sp>
      <p:sp>
        <p:nvSpPr>
          <p:cNvPr id="5" name="Text 2"/>
          <p:cNvSpPr/>
          <p:nvPr/>
        </p:nvSpPr>
        <p:spPr>
          <a:xfrm>
            <a:off x="777240" y="2240280"/>
            <a:ext cx="3291840" cy="496062"/>
          </a:xfrm>
          <a:prstGeom prst="rect">
            <a:avLst/>
          </a:prstGeom>
          <a:solidFill>
            <a:srgbClr val="071B33">
              <a:alpha val="82000"/>
            </a:srgbClr>
          </a:solidFill>
          <a:ln w="12700">
            <a:solidFill>
              <a:srgbClr val="55D7FF">
                <a:alpha val="85000"/>
              </a:srgbClr>
            </a:solidFill>
          </a:ln>
        </p:spPr>
        <p:txBody>
          <a:bodyPr wrap="square" lIns="1016" tIns="1016" rIns="1016" bIns="1016" rtlCol="0" anchor="ctr">
            <a:normAutofit/>
          </a:bodyPr>
          <a:lstStyle/>
          <a:p>
            <a:pPr indent="0" marL="0">
              <a:buNone/>
            </a:pPr>
            <a:r>
              <a:rPr lang="en-US" sz="2000" b="1" dirty="0">
                <a:solidFill>
                  <a:srgbClr val="55D7FF"/>
                </a:solidFill>
                <a:latin typeface="Yu Gothic" pitchFamily="34" charset="0"/>
                <a:ea typeface="Yu Gothic" pitchFamily="34" charset="-122"/>
                <a:cs typeface="Yu Gothic" pitchFamily="34" charset="-120"/>
              </a:rPr>
              <a:t>出塁率</a:t>
            </a:r>
            <a:endParaRPr lang="en-US" sz="2000" dirty="0"/>
          </a:p>
        </p:txBody>
      </p:sp>
      <p:sp>
        <p:nvSpPr>
          <p:cNvPr id="6" name="Text 3"/>
          <p:cNvSpPr/>
          <p:nvPr/>
        </p:nvSpPr>
        <p:spPr>
          <a:xfrm>
            <a:off x="777240" y="2778862"/>
            <a:ext cx="3291840" cy="793699"/>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600" dirty="0">
                <a:solidFill>
                  <a:srgbClr val="DCE9F7"/>
                </a:solidFill>
                <a:latin typeface="Yu Gothic" pitchFamily="34" charset="0"/>
                <a:ea typeface="Yu Gothic" pitchFamily="34" charset="-122"/>
                <a:cs typeface="Yu Gothic" pitchFamily="34" charset="-120"/>
              </a:rPr>
              <a:t>ヒットや四球などで</a:t>
            </a:r>
            <a:endParaRPr lang="en-US" sz="1600" dirty="0"/>
          </a:p>
          <a:p>
            <a:pPr indent="0" marL="0">
              <a:buNone/>
            </a:pPr>
            <a:r>
              <a:rPr lang="en-US" sz="1600" dirty="0">
                <a:solidFill>
                  <a:srgbClr val="DCE9F7"/>
                </a:solidFill>
                <a:latin typeface="Yu Gothic" pitchFamily="34" charset="0"/>
                <a:ea typeface="Yu Gothic" pitchFamily="34" charset="-122"/>
                <a:cs typeface="Yu Gothic" pitchFamily="34" charset="-120"/>
              </a:rPr>
              <a:t>どれだけ塁に出たか</a:t>
            </a:r>
            <a:endParaRPr lang="en-US" sz="1600" dirty="0"/>
          </a:p>
        </p:txBody>
      </p:sp>
      <p:sp>
        <p:nvSpPr>
          <p:cNvPr id="7" name="Text 4"/>
          <p:cNvSpPr/>
          <p:nvPr/>
        </p:nvSpPr>
        <p:spPr>
          <a:xfrm>
            <a:off x="4434840" y="2240280"/>
            <a:ext cx="3474720" cy="496062"/>
          </a:xfrm>
          <a:prstGeom prst="rect">
            <a:avLst/>
          </a:prstGeom>
          <a:solidFill>
            <a:srgbClr val="071B33">
              <a:alpha val="82000"/>
            </a:srgbClr>
          </a:solidFill>
          <a:ln w="12700">
            <a:solidFill>
              <a:srgbClr val="FFCF4A">
                <a:alpha val="85000"/>
              </a:srgbClr>
            </a:solidFill>
          </a:ln>
        </p:spPr>
        <p:txBody>
          <a:bodyPr wrap="square" lIns="1016" tIns="1016" rIns="1016" bIns="1016" rtlCol="0" anchor="ctr">
            <a:normAutofit/>
          </a:bodyPr>
          <a:lstStyle/>
          <a:p>
            <a:pPr indent="0" marL="0">
              <a:buNone/>
            </a:pPr>
            <a:r>
              <a:rPr lang="en-US" sz="2000" b="1" dirty="0">
                <a:solidFill>
                  <a:srgbClr val="FFCF4A"/>
                </a:solidFill>
                <a:latin typeface="Yu Gothic" pitchFamily="34" charset="0"/>
                <a:ea typeface="Yu Gothic" pitchFamily="34" charset="-122"/>
                <a:cs typeface="Yu Gothic" pitchFamily="34" charset="-120"/>
              </a:rPr>
              <a:t>長打率</a:t>
            </a:r>
            <a:endParaRPr lang="en-US" sz="2000" dirty="0"/>
          </a:p>
        </p:txBody>
      </p:sp>
      <p:sp>
        <p:nvSpPr>
          <p:cNvPr id="8" name="Text 5"/>
          <p:cNvSpPr/>
          <p:nvPr/>
        </p:nvSpPr>
        <p:spPr>
          <a:xfrm>
            <a:off x="4434840" y="2778862"/>
            <a:ext cx="3474720" cy="793699"/>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600" dirty="0">
                <a:solidFill>
                  <a:srgbClr val="DCE9F7"/>
                </a:solidFill>
                <a:latin typeface="Yu Gothic" pitchFamily="34" charset="0"/>
                <a:ea typeface="Yu Gothic" pitchFamily="34" charset="-122"/>
                <a:cs typeface="Yu Gothic" pitchFamily="34" charset="-120"/>
              </a:rPr>
              <a:t>単打だけでなく</a:t>
            </a:r>
            <a:endParaRPr lang="en-US" sz="1600" dirty="0"/>
          </a:p>
          <a:p>
            <a:pPr indent="0" marL="0">
              <a:buNone/>
            </a:pPr>
            <a:r>
              <a:rPr lang="en-US" sz="1600" dirty="0">
                <a:solidFill>
                  <a:srgbClr val="DCE9F7"/>
                </a:solidFill>
                <a:latin typeface="Yu Gothic" pitchFamily="34" charset="0"/>
                <a:ea typeface="Yu Gothic" pitchFamily="34" charset="-122"/>
                <a:cs typeface="Yu Gothic" pitchFamily="34" charset="-120"/>
              </a:rPr>
              <a:t>二塁打・本塁打の価値も反映</a:t>
            </a:r>
            <a:endParaRPr lang="en-US" sz="1600" dirty="0"/>
          </a:p>
        </p:txBody>
      </p:sp>
      <p:sp>
        <p:nvSpPr>
          <p:cNvPr id="9" name="Text 6"/>
          <p:cNvSpPr/>
          <p:nvPr/>
        </p:nvSpPr>
        <p:spPr>
          <a:xfrm>
            <a:off x="8275320" y="2240280"/>
            <a:ext cx="2651760" cy="496062"/>
          </a:xfrm>
          <a:prstGeom prst="rect">
            <a:avLst/>
          </a:prstGeom>
          <a:solidFill>
            <a:srgbClr val="071B33">
              <a:alpha val="82000"/>
            </a:srgbClr>
          </a:solidFill>
          <a:ln w="12700">
            <a:solidFill>
              <a:srgbClr val="8AE080">
                <a:alpha val="85000"/>
              </a:srgbClr>
            </a:solidFill>
          </a:ln>
        </p:spPr>
        <p:txBody>
          <a:bodyPr wrap="square" lIns="1016" tIns="1016" rIns="1016" bIns="1016" rtlCol="0" anchor="ctr">
            <a:normAutofit/>
          </a:bodyPr>
          <a:lstStyle/>
          <a:p>
            <a:pPr indent="0" marL="0">
              <a:buNone/>
            </a:pPr>
            <a:r>
              <a:rPr lang="en-US" sz="2000" b="1" dirty="0">
                <a:solidFill>
                  <a:srgbClr val="8AE080"/>
                </a:solidFill>
                <a:latin typeface="Yu Gothic" pitchFamily="34" charset="0"/>
                <a:ea typeface="Yu Gothic" pitchFamily="34" charset="-122"/>
                <a:cs typeface="Yu Gothic" pitchFamily="34" charset="-120"/>
              </a:rPr>
              <a:t>OPS</a:t>
            </a:r>
            <a:endParaRPr lang="en-US" sz="2000" dirty="0"/>
          </a:p>
        </p:txBody>
      </p:sp>
      <p:sp>
        <p:nvSpPr>
          <p:cNvPr id="10" name="Text 7"/>
          <p:cNvSpPr/>
          <p:nvPr/>
        </p:nvSpPr>
        <p:spPr>
          <a:xfrm>
            <a:off x="8275320" y="2778862"/>
            <a:ext cx="2651760" cy="793699"/>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600" dirty="0">
                <a:solidFill>
                  <a:srgbClr val="DCE9F7"/>
                </a:solidFill>
                <a:latin typeface="Yu Gothic" pitchFamily="34" charset="0"/>
                <a:ea typeface="Yu Gothic" pitchFamily="34" charset="-122"/>
                <a:cs typeface="Yu Gothic" pitchFamily="34" charset="-120"/>
              </a:rPr>
              <a:t>2つを足した</a:t>
            </a:r>
            <a:endParaRPr lang="en-US" sz="1600" dirty="0"/>
          </a:p>
          <a:p>
            <a:pPr indent="0" marL="0">
              <a:buNone/>
            </a:pPr>
            <a:r>
              <a:rPr lang="en-US" sz="1600" dirty="0">
                <a:solidFill>
                  <a:srgbClr val="DCE9F7"/>
                </a:solidFill>
                <a:latin typeface="Yu Gothic" pitchFamily="34" charset="0"/>
                <a:ea typeface="Yu Gothic" pitchFamily="34" charset="-122"/>
                <a:cs typeface="Yu Gothic" pitchFamily="34" charset="-120"/>
              </a:rPr>
              <a:t>打者の総合指標</a:t>
            </a:r>
            <a:endParaRPr lang="en-US" sz="1600" dirty="0"/>
          </a:p>
        </p:txBody>
      </p:sp>
      <p:sp>
        <p:nvSpPr>
          <p:cNvPr id="11" name="Text 8"/>
          <p:cNvSpPr/>
          <p:nvPr/>
        </p:nvSpPr>
        <p:spPr>
          <a:xfrm>
            <a:off x="914400" y="4892040"/>
            <a:ext cx="8138160" cy="548640"/>
          </a:xfrm>
          <a:prstGeom prst="rect">
            <a:avLst/>
          </a:prstGeom>
          <a:solidFill>
            <a:srgbClr val="000000">
              <a:alpha val="80000"/>
            </a:srgbClr>
          </a:solidFill>
          <a:ln/>
        </p:spPr>
        <p:txBody>
          <a:bodyPr wrap="square" lIns="254" tIns="254" rIns="254" bIns="254" rtlCol="0" anchor="ctr"/>
          <a:lstStyle/>
          <a:p>
            <a:pPr indent="0" marL="0">
              <a:buNone/>
            </a:pPr>
            <a:r>
              <a:rPr lang="en-US" sz="2400" b="1" dirty="0">
                <a:solidFill>
                  <a:srgbClr val="FFFFFF"/>
                </a:solidFill>
              </a:rPr>
              <a:t>だから「打率だけ」より、活躍の見え方が変わります。</a:t>
            </a:r>
            <a:endParaRPr lang="en-US" sz="2400" dirty="0"/>
          </a:p>
        </p:txBody>
      </p:sp>
      <p:sp>
        <p:nvSpPr>
          <p:cNvPr id="13" name="Text 9"/>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9 / 30</a:t>
            </a:r>
            <a:endParaRPr lang="en-US" sz="850" dirty="0"/>
          </a:p>
        </p:txBody>
      </p:sp>
      <p:sp>
        <p:nvSpPr>
          <p:cNvPr id="14" name="Text 10"/>
          <p:cNvSpPr/>
          <p:nvPr/>
        </p:nvSpPr>
        <p:spPr>
          <a:xfrm>
            <a:off x="548640" y="6419088"/>
            <a:ext cx="9875520" cy="228600"/>
          </a:xfrm>
          <a:prstGeom prst="rect">
            <a:avLst/>
          </a:prstGeom>
          <a:noFill/>
          <a:ln/>
        </p:spPr>
        <p:txBody>
          <a:bodyPr wrap="square" lIns="0" tIns="0" rIns="0" bIns="0" rtlCol="0" anchor="ctr"/>
          <a:lstStyle/>
          <a:p>
            <a:pPr indent="0" marL="0">
              <a:buNone/>
            </a:pPr>
            <a:r>
              <a:rPr lang="en-US" sz="830" dirty="0">
                <a:solidFill>
                  <a:srgbClr val="A9B7C7"/>
                </a:solidFill>
                <a:latin typeface="Yu Gothic" pitchFamily="34" charset="0"/>
                <a:ea typeface="Yu Gothic" pitchFamily="34" charset="-122"/>
                <a:cs typeface="Yu Gothic" pitchFamily="34" charset="-120"/>
              </a:rPr>
              <a:t>出典: ベースボールキング / Yahoo!ニュース（2026-07-03）</a:t>
            </a:r>
            <a:endParaRPr lang="en-US" sz="8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914"/>
        </a:solidFill>
      </p:bgPr>
    </p:bg>
    <p:spTree>
      <p:nvGrpSpPr>
        <p:cNvPr id="1" name=""/>
        <p:cNvGrpSpPr/>
        <p:nvPr/>
      </p:nvGrpSpPr>
      <p:grpSpPr>
        <a:xfrm>
          <a:off x="0" y="0"/>
          <a:ext cx="0" cy="0"/>
          <a:chOff x="0" y="0"/>
          <a:chExt cx="0" cy="0"/>
        </a:xfrm>
      </p:grpSpPr>
      <p:pic>
        <p:nvPicPr>
          <p:cNvPr id="2" name="Image 0" descr="/mnt/data/a_cinematic_high_detail_3d_cg_style_illustration_batch_8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BACK TO BACK</a:t>
            </a:r>
            <a:endParaRPr lang="en-US" sz="1300" dirty="0"/>
          </a:p>
        </p:txBody>
      </p:sp>
      <p:sp>
        <p:nvSpPr>
          <p:cNvPr id="4" name="Text 1"/>
          <p:cNvSpPr/>
          <p:nvPr/>
        </p:nvSpPr>
        <p:spPr>
          <a:xfrm>
            <a:off x="658368" y="1051560"/>
            <a:ext cx="6949440" cy="1554480"/>
          </a:xfrm>
          <a:prstGeom prst="rect">
            <a:avLst/>
          </a:prstGeom>
          <a:noFill/>
          <a:ln/>
        </p:spPr>
        <p:txBody>
          <a:bodyPr wrap="square" lIns="508" tIns="508" rIns="508" bIns="508" rtlCol="0" anchor="ctr">
            <a:normAutofit/>
          </a:bodyPr>
          <a:lstStyle/>
          <a:p>
            <a:pPr indent="0" marL="0">
              <a:buNone/>
            </a:pPr>
            <a:r>
              <a:rPr lang="en-US" sz="4200" b="1" dirty="0">
                <a:solidFill>
                  <a:srgbClr val="FFFFFF"/>
                </a:solidFill>
                <a:latin typeface="Yu Gothic" pitchFamily="34" charset="0"/>
                <a:ea typeface="Yu Gothic" pitchFamily="34" charset="-122"/>
                <a:cs typeface="Yu Gothic" pitchFamily="34" charset="-120"/>
              </a:rPr>
              <a:t>2か月連続で</a:t>
            </a:r>
            <a:endParaRPr lang="en-US" sz="4200" dirty="0"/>
          </a:p>
          <a:p>
            <a:pPr indent="0" marL="0">
              <a:buNone/>
            </a:pPr>
            <a:r>
              <a:rPr lang="en-US" sz="4200" b="1" dirty="0">
                <a:solidFill>
                  <a:srgbClr val="FFFFFF"/>
                </a:solidFill>
                <a:latin typeface="Yu Gothic" pitchFamily="34" charset="0"/>
                <a:ea typeface="Yu Gothic" pitchFamily="34" charset="-122"/>
                <a:cs typeface="Yu Gothic" pitchFamily="34" charset="-120"/>
              </a:rPr>
              <a:t>日本人打者が受賞</a:t>
            </a:r>
            <a:endParaRPr lang="en-US" sz="4200" dirty="0"/>
          </a:p>
        </p:txBody>
      </p:sp>
      <p:sp>
        <p:nvSpPr>
          <p:cNvPr id="5" name="Text 2"/>
          <p:cNvSpPr/>
          <p:nvPr/>
        </p:nvSpPr>
        <p:spPr>
          <a:xfrm>
            <a:off x="868680" y="3977640"/>
            <a:ext cx="1920240" cy="411480"/>
          </a:xfrm>
          <a:prstGeom prst="rect">
            <a:avLst/>
          </a:prstGeom>
          <a:noFill/>
          <a:ln/>
        </p:spPr>
        <p:txBody>
          <a:bodyPr wrap="square" lIns="254" tIns="254" rIns="254" bIns="254" rtlCol="0" anchor="ctr"/>
          <a:lstStyle/>
          <a:p>
            <a:pPr indent="0" marL="0">
              <a:buNone/>
            </a:pPr>
            <a:r>
              <a:rPr lang="en-US" sz="1800" b="1" dirty="0">
                <a:solidFill>
                  <a:srgbClr val="55D7FF"/>
                </a:solidFill>
              </a:rPr>
              <a:t>5月度</a:t>
            </a:r>
            <a:endParaRPr lang="en-US" sz="1800" dirty="0"/>
          </a:p>
        </p:txBody>
      </p:sp>
      <p:sp>
        <p:nvSpPr>
          <p:cNvPr id="6" name="Text 3"/>
          <p:cNvSpPr/>
          <p:nvPr/>
        </p:nvSpPr>
        <p:spPr>
          <a:xfrm>
            <a:off x="868680" y="4434840"/>
            <a:ext cx="3108960" cy="731520"/>
          </a:xfrm>
          <a:prstGeom prst="rect">
            <a:avLst/>
          </a:prstGeom>
          <a:noFill/>
          <a:ln/>
        </p:spPr>
        <p:txBody>
          <a:bodyPr wrap="square" lIns="254" tIns="254" rIns="254" bIns="254" rtlCol="0" anchor="ctr">
            <a:normAutofit/>
          </a:bodyPr>
          <a:lstStyle/>
          <a:p>
            <a:pPr indent="0" marL="0">
              <a:buNone/>
            </a:pPr>
            <a:r>
              <a:rPr lang="en-US" sz="2000" b="1" dirty="0">
                <a:solidFill>
                  <a:srgbClr val="FFFFFF"/>
                </a:solidFill>
              </a:rPr>
              <a:t>村上宗隆選手</a:t>
            </a:r>
            <a:endParaRPr lang="en-US" sz="2000" dirty="0"/>
          </a:p>
          <a:p>
            <a:pPr indent="0" marL="0">
              <a:buNone/>
            </a:pPr>
            <a:r>
              <a:rPr lang="en-US" sz="2000" b="1" dirty="0">
                <a:solidFill>
                  <a:srgbClr val="FFFFFF"/>
                </a:solidFill>
              </a:rPr>
              <a:t>ホワイトソックス</a:t>
            </a:r>
            <a:endParaRPr lang="en-US" sz="2000" dirty="0"/>
          </a:p>
        </p:txBody>
      </p:sp>
      <p:sp>
        <p:nvSpPr>
          <p:cNvPr id="7" name="Text 4"/>
          <p:cNvSpPr/>
          <p:nvPr/>
        </p:nvSpPr>
        <p:spPr>
          <a:xfrm>
            <a:off x="4160520" y="4407408"/>
            <a:ext cx="822960" cy="502920"/>
          </a:xfrm>
          <a:prstGeom prst="rect">
            <a:avLst/>
          </a:prstGeom>
          <a:noFill/>
          <a:ln/>
        </p:spPr>
        <p:txBody>
          <a:bodyPr wrap="square" lIns="127" tIns="127" rIns="127" bIns="127" rtlCol="0" anchor="ctr"/>
          <a:lstStyle/>
          <a:p>
            <a:pPr algn="ctr" indent="0" marL="0">
              <a:buNone/>
            </a:pPr>
            <a:r>
              <a:rPr lang="en-US" sz="3400" b="1" dirty="0">
                <a:solidFill>
                  <a:srgbClr val="FFCF4A"/>
                </a:solidFill>
              </a:rPr>
              <a:t>→</a:t>
            </a:r>
            <a:endParaRPr lang="en-US" sz="3400" dirty="0"/>
          </a:p>
        </p:txBody>
      </p:sp>
      <p:sp>
        <p:nvSpPr>
          <p:cNvPr id="8" name="Text 5"/>
          <p:cNvSpPr/>
          <p:nvPr/>
        </p:nvSpPr>
        <p:spPr>
          <a:xfrm>
            <a:off x="5257800" y="3977640"/>
            <a:ext cx="1920240" cy="411480"/>
          </a:xfrm>
          <a:prstGeom prst="rect">
            <a:avLst/>
          </a:prstGeom>
          <a:noFill/>
          <a:ln/>
        </p:spPr>
        <p:txBody>
          <a:bodyPr wrap="square" lIns="254" tIns="254" rIns="254" bIns="254" rtlCol="0" anchor="ctr"/>
          <a:lstStyle/>
          <a:p>
            <a:pPr indent="0" marL="0">
              <a:buNone/>
            </a:pPr>
            <a:r>
              <a:rPr lang="en-US" sz="1800" b="1" dirty="0">
                <a:solidFill>
                  <a:srgbClr val="FF8A1F"/>
                </a:solidFill>
              </a:rPr>
              <a:t>6月度</a:t>
            </a:r>
            <a:endParaRPr lang="en-US" sz="1800" dirty="0"/>
          </a:p>
        </p:txBody>
      </p:sp>
      <p:sp>
        <p:nvSpPr>
          <p:cNvPr id="9" name="Text 6"/>
          <p:cNvSpPr/>
          <p:nvPr/>
        </p:nvSpPr>
        <p:spPr>
          <a:xfrm>
            <a:off x="5257800" y="4434840"/>
            <a:ext cx="3108960" cy="731520"/>
          </a:xfrm>
          <a:prstGeom prst="rect">
            <a:avLst/>
          </a:prstGeom>
          <a:noFill/>
          <a:ln/>
        </p:spPr>
        <p:txBody>
          <a:bodyPr wrap="square" lIns="254" tIns="254" rIns="254" bIns="254" rtlCol="0" anchor="ctr">
            <a:normAutofit/>
          </a:bodyPr>
          <a:lstStyle/>
          <a:p>
            <a:pPr indent="0" marL="0">
              <a:buNone/>
            </a:pPr>
            <a:r>
              <a:rPr lang="en-US" sz="2000" b="1" dirty="0">
                <a:solidFill>
                  <a:srgbClr val="FFFFFF"/>
                </a:solidFill>
              </a:rPr>
              <a:t>岡本和真選手</a:t>
            </a:r>
            <a:endParaRPr lang="en-US" sz="2000" dirty="0"/>
          </a:p>
          <a:p>
            <a:pPr indent="0" marL="0">
              <a:buNone/>
            </a:pPr>
            <a:r>
              <a:rPr lang="en-US" sz="2000" b="1" dirty="0">
                <a:solidFill>
                  <a:srgbClr val="FFFFFF"/>
                </a:solidFill>
              </a:rPr>
              <a:t>ブルージェイズ</a:t>
            </a:r>
            <a:endParaRPr lang="en-US" sz="2000" dirty="0"/>
          </a:p>
        </p:txBody>
      </p:sp>
      <p:sp>
        <p:nvSpPr>
          <p:cNvPr id="11" name="Text 7"/>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10 / 30</a:t>
            </a:r>
            <a:endParaRPr lang="en-US" sz="850" dirty="0"/>
          </a:p>
        </p:txBody>
      </p:sp>
      <p:sp>
        <p:nvSpPr>
          <p:cNvPr id="12" name="Text 8"/>
          <p:cNvSpPr/>
          <p:nvPr/>
        </p:nvSpPr>
        <p:spPr>
          <a:xfrm>
            <a:off x="548640" y="6419088"/>
            <a:ext cx="9875520" cy="228600"/>
          </a:xfrm>
          <a:prstGeom prst="rect">
            <a:avLst/>
          </a:prstGeom>
          <a:noFill/>
          <a:ln/>
        </p:spPr>
        <p:txBody>
          <a:bodyPr wrap="square" lIns="0" tIns="0" rIns="0" bIns="0" rtlCol="0" anchor="ctr"/>
          <a:lstStyle/>
          <a:p>
            <a:pPr indent="0" marL="0">
              <a:buNone/>
            </a:pPr>
            <a:r>
              <a:rPr lang="en-US" sz="830" dirty="0">
                <a:solidFill>
                  <a:srgbClr val="A9B7C7"/>
                </a:solidFill>
                <a:latin typeface="Yu Gothic" pitchFamily="34" charset="0"/>
                <a:ea typeface="Yu Gothic" pitchFamily="34" charset="-122"/>
                <a:cs typeface="Yu Gothic" pitchFamily="34" charset="-120"/>
              </a:rPr>
              <a:t>出典: ベースボールキング / Yahoo!ニュース（2026-07-03）</a:t>
            </a:r>
            <a:endParaRPr lang="en-US" sz="8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914"/>
        </a:solidFill>
      </p:bgPr>
    </p:bg>
    <p:spTree>
      <p:nvGrpSpPr>
        <p:cNvPr id="1" name=""/>
        <p:cNvGrpSpPr/>
        <p:nvPr/>
      </p:nvGrpSpPr>
      <p:grpSpPr>
        <a:xfrm>
          <a:off x="0" y="0"/>
          <a:ext cx="0" cy="0"/>
          <a:chOff x="0" y="0"/>
          <a:chExt cx="0" cy="0"/>
        </a:xfrm>
      </p:grpSpPr>
      <p:pic>
        <p:nvPicPr>
          <p:cNvPr id="2" name="Image 0" descr="/mnt/data/a_wide_cinematic_night_time_sports_themed_citysc_batch_4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MAY / JUNE COMPARISON</a:t>
            </a:r>
            <a:endParaRPr lang="en-US" sz="1300" dirty="0"/>
          </a:p>
        </p:txBody>
      </p:sp>
      <p:sp>
        <p:nvSpPr>
          <p:cNvPr id="4" name="Text 1"/>
          <p:cNvSpPr/>
          <p:nvPr/>
        </p:nvSpPr>
        <p:spPr>
          <a:xfrm>
            <a:off x="658368" y="1051560"/>
            <a:ext cx="6766560" cy="914400"/>
          </a:xfrm>
          <a:prstGeom prst="rect">
            <a:avLst/>
          </a:prstGeom>
          <a:noFill/>
          <a:ln/>
        </p:spPr>
        <p:txBody>
          <a:bodyPr wrap="square" lIns="508" tIns="508" rIns="508" bIns="508" rtlCol="0" anchor="ctr">
            <a:normAutofit/>
          </a:bodyPr>
          <a:lstStyle/>
          <a:p>
            <a:pPr indent="0" marL="0">
              <a:buNone/>
            </a:pPr>
            <a:r>
              <a:rPr lang="en-US" sz="3900" b="1" dirty="0">
                <a:solidFill>
                  <a:srgbClr val="FFFFFF"/>
                </a:solidFill>
                <a:latin typeface="Yu Gothic" pitchFamily="34" charset="0"/>
                <a:ea typeface="Yu Gothic" pitchFamily="34" charset="-122"/>
                <a:cs typeface="Yu Gothic" pitchFamily="34" charset="-120"/>
              </a:rPr>
              <a:t>5月度・6月度受賞者</a:t>
            </a:r>
            <a:endParaRPr lang="en-US" sz="3900" dirty="0"/>
          </a:p>
        </p:txBody>
      </p:sp>
      <p:sp>
        <p:nvSpPr>
          <p:cNvPr id="5" name="Text 2"/>
          <p:cNvSpPr/>
          <p:nvPr/>
        </p:nvSpPr>
        <p:spPr>
          <a:xfrm>
            <a:off x="822960" y="2148840"/>
            <a:ext cx="4389120" cy="502920"/>
          </a:xfrm>
          <a:prstGeom prst="rect">
            <a:avLst/>
          </a:prstGeom>
          <a:solidFill>
            <a:srgbClr val="071B33">
              <a:alpha val="82000"/>
            </a:srgbClr>
          </a:solidFill>
          <a:ln w="12700">
            <a:solidFill>
              <a:srgbClr val="55D7FF">
                <a:alpha val="85000"/>
              </a:srgbClr>
            </a:solidFill>
          </a:ln>
        </p:spPr>
        <p:txBody>
          <a:bodyPr wrap="square" lIns="1016" tIns="1016" rIns="1016" bIns="1016" rtlCol="0" anchor="ctr">
            <a:normAutofit/>
          </a:bodyPr>
          <a:lstStyle/>
          <a:p>
            <a:pPr indent="0" marL="0">
              <a:buNone/>
            </a:pPr>
            <a:r>
              <a:rPr lang="en-US" sz="2200" b="1" dirty="0">
                <a:solidFill>
                  <a:srgbClr val="55D7FF"/>
                </a:solidFill>
                <a:latin typeface="Yu Gothic" pitchFamily="34" charset="0"/>
                <a:ea typeface="Yu Gothic" pitchFamily="34" charset="-122"/>
                <a:cs typeface="Yu Gothic" pitchFamily="34" charset="-120"/>
              </a:rPr>
              <a:t>村上宗隆選手</a:t>
            </a:r>
            <a:endParaRPr lang="en-US" sz="2200" dirty="0"/>
          </a:p>
        </p:txBody>
      </p:sp>
      <p:sp>
        <p:nvSpPr>
          <p:cNvPr id="6" name="Text 3"/>
          <p:cNvSpPr/>
          <p:nvPr/>
        </p:nvSpPr>
        <p:spPr>
          <a:xfrm>
            <a:off x="822960" y="2715768"/>
            <a:ext cx="4389120" cy="1353312"/>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700" dirty="0">
                <a:solidFill>
                  <a:srgbClr val="DCE9F7"/>
                </a:solidFill>
                <a:latin typeface="Yu Gothic" pitchFamily="34" charset="0"/>
                <a:ea typeface="Yu Gothic" pitchFamily="34" charset="-122"/>
                <a:cs typeface="Yu Gothic" pitchFamily="34" charset="-120"/>
              </a:rPr>
              <a:t>5月度受賞</a:t>
            </a:r>
            <a:endParaRPr lang="en-US" sz="1700" dirty="0"/>
          </a:p>
          <a:p>
            <a:pPr indent="0" marL="0">
              <a:buNone/>
            </a:pPr>
            <a:r>
              <a:rPr lang="en-US" sz="1700" dirty="0">
                <a:solidFill>
                  <a:srgbClr val="DCE9F7"/>
                </a:solidFill>
                <a:latin typeface="Yu Gothic" pitchFamily="34" charset="0"/>
                <a:ea typeface="Yu Gothic" pitchFamily="34" charset="-122"/>
                <a:cs typeface="Yu Gothic" pitchFamily="34" charset="-120"/>
              </a:rPr>
              <a:t>所属: ホワイトソックス</a:t>
            </a:r>
            <a:endParaRPr lang="en-US" sz="1700" dirty="0"/>
          </a:p>
          <a:p>
            <a:pPr indent="0" marL="0">
              <a:buNone/>
            </a:pPr>
            <a:r>
              <a:rPr lang="en-US" sz="1700" dirty="0">
                <a:solidFill>
                  <a:srgbClr val="DCE9F7"/>
                </a:solidFill>
                <a:latin typeface="Yu Gothic" pitchFamily="34" charset="0"/>
                <a:ea typeface="Yu Gothic" pitchFamily="34" charset="-122"/>
                <a:cs typeface="Yu Gothic" pitchFamily="34" charset="-120"/>
              </a:rPr>
              <a:t>日本人打者の流れをつくった受賞</a:t>
            </a:r>
            <a:endParaRPr lang="en-US" sz="1700" dirty="0"/>
          </a:p>
        </p:txBody>
      </p:sp>
      <p:sp>
        <p:nvSpPr>
          <p:cNvPr id="7" name="Text 4"/>
          <p:cNvSpPr/>
          <p:nvPr/>
        </p:nvSpPr>
        <p:spPr>
          <a:xfrm>
            <a:off x="5806440" y="2148840"/>
            <a:ext cx="4389120" cy="502920"/>
          </a:xfrm>
          <a:prstGeom prst="rect">
            <a:avLst/>
          </a:prstGeom>
          <a:solidFill>
            <a:srgbClr val="071B33">
              <a:alpha val="82000"/>
            </a:srgbClr>
          </a:solidFill>
          <a:ln w="12700">
            <a:solidFill>
              <a:srgbClr val="FFCF4A">
                <a:alpha val="85000"/>
              </a:srgbClr>
            </a:solidFill>
          </a:ln>
        </p:spPr>
        <p:txBody>
          <a:bodyPr wrap="square" lIns="1016" tIns="1016" rIns="1016" bIns="1016" rtlCol="0" anchor="ctr">
            <a:normAutofit/>
          </a:bodyPr>
          <a:lstStyle/>
          <a:p>
            <a:pPr indent="0" marL="0">
              <a:buNone/>
            </a:pPr>
            <a:r>
              <a:rPr lang="en-US" sz="2200" b="1" dirty="0">
                <a:solidFill>
                  <a:srgbClr val="FFCF4A"/>
                </a:solidFill>
                <a:latin typeface="Yu Gothic" pitchFamily="34" charset="0"/>
                <a:ea typeface="Yu Gothic" pitchFamily="34" charset="-122"/>
                <a:cs typeface="Yu Gothic" pitchFamily="34" charset="-120"/>
              </a:rPr>
              <a:t>岡本和真選手</a:t>
            </a:r>
            <a:endParaRPr lang="en-US" sz="2200" dirty="0"/>
          </a:p>
        </p:txBody>
      </p:sp>
      <p:sp>
        <p:nvSpPr>
          <p:cNvPr id="8" name="Text 5"/>
          <p:cNvSpPr/>
          <p:nvPr/>
        </p:nvSpPr>
        <p:spPr>
          <a:xfrm>
            <a:off x="5806440" y="2715768"/>
            <a:ext cx="4389120" cy="1353312"/>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700" dirty="0">
                <a:solidFill>
                  <a:srgbClr val="DCE9F7"/>
                </a:solidFill>
                <a:latin typeface="Yu Gothic" pitchFamily="34" charset="0"/>
                <a:ea typeface="Yu Gothic" pitchFamily="34" charset="-122"/>
                <a:cs typeface="Yu Gothic" pitchFamily="34" charset="-120"/>
              </a:rPr>
              <a:t>6月度受賞</a:t>
            </a:r>
            <a:endParaRPr lang="en-US" sz="1700" dirty="0"/>
          </a:p>
          <a:p>
            <a:pPr indent="0" marL="0">
              <a:buNone/>
            </a:pPr>
            <a:r>
              <a:rPr lang="en-US" sz="1700" dirty="0">
                <a:solidFill>
                  <a:srgbClr val="DCE9F7"/>
                </a:solidFill>
                <a:latin typeface="Yu Gothic" pitchFamily="34" charset="0"/>
                <a:ea typeface="Yu Gothic" pitchFamily="34" charset="-122"/>
                <a:cs typeface="Yu Gothic" pitchFamily="34" charset="-120"/>
              </a:rPr>
              <a:t>所属: ブルージェイズ</a:t>
            </a:r>
            <a:endParaRPr lang="en-US" sz="1700" dirty="0"/>
          </a:p>
          <a:p>
            <a:pPr indent="0" marL="0">
              <a:buNone/>
            </a:pPr>
            <a:r>
              <a:rPr lang="en-US" sz="1700" dirty="0">
                <a:solidFill>
                  <a:srgbClr val="DCE9F7"/>
                </a:solidFill>
                <a:latin typeface="Yu Gothic" pitchFamily="34" charset="0"/>
                <a:ea typeface="Yu Gothic" pitchFamily="34" charset="-122"/>
                <a:cs typeface="Yu Gothic" pitchFamily="34" charset="-120"/>
              </a:rPr>
              <a:t>6月に本塁打7本を記録</a:t>
            </a:r>
            <a:endParaRPr lang="en-US" sz="1700" dirty="0"/>
          </a:p>
        </p:txBody>
      </p:sp>
      <p:sp>
        <p:nvSpPr>
          <p:cNvPr id="9" name="Text 6"/>
          <p:cNvSpPr/>
          <p:nvPr/>
        </p:nvSpPr>
        <p:spPr>
          <a:xfrm>
            <a:off x="868680" y="5074920"/>
            <a:ext cx="8412480" cy="475488"/>
          </a:xfrm>
          <a:prstGeom prst="rect">
            <a:avLst/>
          </a:prstGeom>
          <a:solidFill>
            <a:srgbClr val="000000">
              <a:alpha val="82000"/>
            </a:srgbClr>
          </a:solidFill>
          <a:ln/>
        </p:spPr>
        <p:txBody>
          <a:bodyPr wrap="square" lIns="254" tIns="254" rIns="254" bIns="254" rtlCol="0" anchor="ctr"/>
          <a:lstStyle/>
          <a:p>
            <a:pPr indent="0" marL="0">
              <a:buNone/>
            </a:pPr>
            <a:r>
              <a:rPr lang="en-US" sz="1900" b="1" dirty="0">
                <a:solidFill>
                  <a:srgbClr val="FFFFFF"/>
                </a:solidFill>
              </a:rPr>
              <a:t>“点”ではなく“連続した話題”として追うと、MLB観戦が一気に面白くなります。</a:t>
            </a:r>
            <a:endParaRPr lang="en-US" sz="1900" dirty="0"/>
          </a:p>
        </p:txBody>
      </p:sp>
      <p:sp>
        <p:nvSpPr>
          <p:cNvPr id="11" name="Text 7"/>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11 / 30</a:t>
            </a:r>
            <a:endParaRPr lang="en-US" sz="850" dirty="0"/>
          </a:p>
        </p:txBody>
      </p:sp>
      <p:sp>
        <p:nvSpPr>
          <p:cNvPr id="12" name="Text 8"/>
          <p:cNvSpPr/>
          <p:nvPr/>
        </p:nvSpPr>
        <p:spPr>
          <a:xfrm>
            <a:off x="548640" y="6419088"/>
            <a:ext cx="9875520" cy="228600"/>
          </a:xfrm>
          <a:prstGeom prst="rect">
            <a:avLst/>
          </a:prstGeom>
          <a:noFill/>
          <a:ln/>
        </p:spPr>
        <p:txBody>
          <a:bodyPr wrap="square" lIns="0" tIns="0" rIns="0" bIns="0" rtlCol="0" anchor="ctr"/>
          <a:lstStyle/>
          <a:p>
            <a:pPr indent="0" marL="0">
              <a:buNone/>
            </a:pPr>
            <a:r>
              <a:rPr lang="en-US" sz="830" dirty="0">
                <a:solidFill>
                  <a:srgbClr val="A9B7C7"/>
                </a:solidFill>
                <a:latin typeface="Yu Gothic" pitchFamily="34" charset="0"/>
                <a:ea typeface="Yu Gothic" pitchFamily="34" charset="-122"/>
                <a:cs typeface="Yu Gothic" pitchFamily="34" charset="-120"/>
              </a:rPr>
              <a:t>出典: ベースボールキング / Yahoo!ニュース（2026-07-03）</a:t>
            </a:r>
            <a:endParaRPr lang="en-US" sz="8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914"/>
        </a:solidFill>
      </p:bgPr>
    </p:bg>
    <p:spTree>
      <p:nvGrpSpPr>
        <p:cNvPr id="1" name=""/>
        <p:cNvGrpSpPr/>
        <p:nvPr/>
      </p:nvGrpSpPr>
      <p:grpSpPr>
        <a:xfrm>
          <a:off x="0" y="0"/>
          <a:ext cx="0" cy="0"/>
          <a:chOff x="0" y="0"/>
          <a:chExt cx="0" cy="0"/>
        </a:xfrm>
      </p:grpSpPr>
      <p:pic>
        <p:nvPicPr>
          <p:cNvPr id="2" name="Image 0" descr="/mnt/data/a_wide_cinematic_night_time_sports_themed_citysc_batch_4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PLAYER PROFILE</a:t>
            </a:r>
            <a:endParaRPr lang="en-US" sz="1300" dirty="0"/>
          </a:p>
        </p:txBody>
      </p:sp>
      <p:sp>
        <p:nvSpPr>
          <p:cNvPr id="4" name="Text 1"/>
          <p:cNvSpPr/>
          <p:nvPr/>
        </p:nvSpPr>
        <p:spPr>
          <a:xfrm>
            <a:off x="658368" y="1051560"/>
            <a:ext cx="6492240" cy="1371600"/>
          </a:xfrm>
          <a:prstGeom prst="rect">
            <a:avLst/>
          </a:prstGeom>
          <a:noFill/>
          <a:ln/>
        </p:spPr>
        <p:txBody>
          <a:bodyPr wrap="square" lIns="508" tIns="508" rIns="508" bIns="508" rtlCol="0" anchor="ctr">
            <a:normAutofit/>
          </a:bodyPr>
          <a:lstStyle/>
          <a:p>
            <a:pPr indent="0" marL="0">
              <a:buNone/>
            </a:pPr>
            <a:r>
              <a:rPr lang="en-US" sz="4000" b="1" dirty="0">
                <a:solidFill>
                  <a:srgbClr val="FFFFFF"/>
                </a:solidFill>
                <a:latin typeface="Yu Gothic" pitchFamily="34" charset="0"/>
                <a:ea typeface="Yu Gothic" pitchFamily="34" charset="-122"/>
                <a:cs typeface="Yu Gothic" pitchFamily="34" charset="-120"/>
              </a:rPr>
              <a:t>岡本選手を</a:t>
            </a:r>
            <a:endParaRPr lang="en-US" sz="4000" dirty="0"/>
          </a:p>
          <a:p>
            <a:pPr indent="0" marL="0">
              <a:buNone/>
            </a:pPr>
            <a:r>
              <a:rPr lang="en-US" sz="4000" b="1" dirty="0">
                <a:solidFill>
                  <a:srgbClr val="FFFFFF"/>
                </a:solidFill>
                <a:latin typeface="Yu Gothic" pitchFamily="34" charset="0"/>
                <a:ea typeface="Yu Gothic" pitchFamily="34" charset="-122"/>
                <a:cs typeface="Yu Gothic" pitchFamily="34" charset="-120"/>
              </a:rPr>
              <a:t>初心者向けに整理</a:t>
            </a:r>
            <a:endParaRPr lang="en-US" sz="4000" dirty="0"/>
          </a:p>
        </p:txBody>
      </p:sp>
      <p:sp>
        <p:nvSpPr>
          <p:cNvPr id="5" name="Text 2"/>
          <p:cNvSpPr/>
          <p:nvPr/>
        </p:nvSpPr>
        <p:spPr>
          <a:xfrm>
            <a:off x="822960" y="2788920"/>
            <a:ext cx="2743200" cy="400050"/>
          </a:xfrm>
          <a:prstGeom prst="rect">
            <a:avLst/>
          </a:prstGeom>
          <a:solidFill>
            <a:srgbClr val="071B33">
              <a:alpha val="82000"/>
            </a:srgbClr>
          </a:solidFill>
          <a:ln w="12700">
            <a:solidFill>
              <a:srgbClr val="55D7FF">
                <a:alpha val="85000"/>
              </a:srgbClr>
            </a:solidFill>
          </a:ln>
        </p:spPr>
        <p:txBody>
          <a:bodyPr wrap="square" lIns="1016" tIns="1016" rIns="1016" bIns="1016" rtlCol="0" anchor="ctr">
            <a:normAutofit/>
          </a:bodyPr>
          <a:lstStyle/>
          <a:p>
            <a:pPr indent="0" marL="0">
              <a:buNone/>
            </a:pPr>
            <a:r>
              <a:rPr lang="en-US" sz="1800" b="1" dirty="0">
                <a:solidFill>
                  <a:srgbClr val="55D7FF"/>
                </a:solidFill>
                <a:latin typeface="Yu Gothic" pitchFamily="34" charset="0"/>
                <a:ea typeface="Yu Gothic" pitchFamily="34" charset="-122"/>
                <a:cs typeface="Yu Gothic" pitchFamily="34" charset="-120"/>
              </a:rPr>
              <a:t>ポジション</a:t>
            </a:r>
            <a:endParaRPr lang="en-US" sz="1800" dirty="0"/>
          </a:p>
        </p:txBody>
      </p:sp>
      <p:sp>
        <p:nvSpPr>
          <p:cNvPr id="6" name="Text 3"/>
          <p:cNvSpPr/>
          <p:nvPr/>
        </p:nvSpPr>
        <p:spPr>
          <a:xfrm>
            <a:off x="822960" y="3223260"/>
            <a:ext cx="2743200" cy="640080"/>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2000" dirty="0">
                <a:solidFill>
                  <a:srgbClr val="DCE9F7"/>
                </a:solidFill>
                <a:latin typeface="Yu Gothic" pitchFamily="34" charset="0"/>
                <a:ea typeface="Yu Gothic" pitchFamily="34" charset="-122"/>
                <a:cs typeface="Yu Gothic" pitchFamily="34" charset="-120"/>
              </a:rPr>
              <a:t>内野手</a:t>
            </a:r>
            <a:endParaRPr lang="en-US" sz="2000" dirty="0"/>
          </a:p>
        </p:txBody>
      </p:sp>
      <p:sp>
        <p:nvSpPr>
          <p:cNvPr id="7" name="Text 4"/>
          <p:cNvSpPr/>
          <p:nvPr/>
        </p:nvSpPr>
        <p:spPr>
          <a:xfrm>
            <a:off x="3840480" y="2788920"/>
            <a:ext cx="3017520" cy="400050"/>
          </a:xfrm>
          <a:prstGeom prst="rect">
            <a:avLst/>
          </a:prstGeom>
          <a:solidFill>
            <a:srgbClr val="071B33">
              <a:alpha val="82000"/>
            </a:srgbClr>
          </a:solidFill>
          <a:ln w="12700">
            <a:solidFill>
              <a:srgbClr val="FFCF4A">
                <a:alpha val="85000"/>
              </a:srgbClr>
            </a:solidFill>
          </a:ln>
        </p:spPr>
        <p:txBody>
          <a:bodyPr wrap="square" lIns="1016" tIns="1016" rIns="1016" bIns="1016" rtlCol="0" anchor="ctr">
            <a:normAutofit/>
          </a:bodyPr>
          <a:lstStyle/>
          <a:p>
            <a:pPr indent="0" marL="0">
              <a:buNone/>
            </a:pPr>
            <a:r>
              <a:rPr lang="en-US" sz="1800" b="1" dirty="0">
                <a:solidFill>
                  <a:srgbClr val="FFCF4A"/>
                </a:solidFill>
                <a:latin typeface="Yu Gothic" pitchFamily="34" charset="0"/>
                <a:ea typeface="Yu Gothic" pitchFamily="34" charset="-122"/>
                <a:cs typeface="Yu Gothic" pitchFamily="34" charset="-120"/>
              </a:rPr>
              <a:t>所属球団</a:t>
            </a:r>
            <a:endParaRPr lang="en-US" sz="1800" dirty="0"/>
          </a:p>
        </p:txBody>
      </p:sp>
      <p:sp>
        <p:nvSpPr>
          <p:cNvPr id="8" name="Text 5"/>
          <p:cNvSpPr/>
          <p:nvPr/>
        </p:nvSpPr>
        <p:spPr>
          <a:xfrm>
            <a:off x="3840480" y="3223260"/>
            <a:ext cx="3017520" cy="640080"/>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900" dirty="0">
                <a:solidFill>
                  <a:srgbClr val="DCE9F7"/>
                </a:solidFill>
                <a:latin typeface="Yu Gothic" pitchFamily="34" charset="0"/>
                <a:ea typeface="Yu Gothic" pitchFamily="34" charset="-122"/>
                <a:cs typeface="Yu Gothic" pitchFamily="34" charset="-120"/>
              </a:rPr>
              <a:t>トロント・</a:t>
            </a:r>
            <a:endParaRPr lang="en-US" sz="1900" dirty="0"/>
          </a:p>
          <a:p>
            <a:pPr indent="0" marL="0">
              <a:buNone/>
            </a:pPr>
            <a:r>
              <a:rPr lang="en-US" sz="1900" dirty="0">
                <a:solidFill>
                  <a:srgbClr val="DCE9F7"/>
                </a:solidFill>
                <a:latin typeface="Yu Gothic" pitchFamily="34" charset="0"/>
                <a:ea typeface="Yu Gothic" pitchFamily="34" charset="-122"/>
                <a:cs typeface="Yu Gothic" pitchFamily="34" charset="-120"/>
              </a:rPr>
              <a:t>ブルージェイズ</a:t>
            </a:r>
            <a:endParaRPr lang="en-US" sz="1900" dirty="0"/>
          </a:p>
        </p:txBody>
      </p:sp>
      <p:sp>
        <p:nvSpPr>
          <p:cNvPr id="9" name="Text 6"/>
          <p:cNvSpPr/>
          <p:nvPr/>
        </p:nvSpPr>
        <p:spPr>
          <a:xfrm>
            <a:off x="7178040" y="2788920"/>
            <a:ext cx="2926080" cy="400050"/>
          </a:xfrm>
          <a:prstGeom prst="rect">
            <a:avLst/>
          </a:prstGeom>
          <a:solidFill>
            <a:srgbClr val="071B33">
              <a:alpha val="82000"/>
            </a:srgbClr>
          </a:solidFill>
          <a:ln w="12700">
            <a:solidFill>
              <a:srgbClr val="8AE080">
                <a:alpha val="85000"/>
              </a:srgbClr>
            </a:solidFill>
          </a:ln>
        </p:spPr>
        <p:txBody>
          <a:bodyPr wrap="square" lIns="1016" tIns="1016" rIns="1016" bIns="1016" rtlCol="0" anchor="ctr">
            <a:normAutofit/>
          </a:bodyPr>
          <a:lstStyle/>
          <a:p>
            <a:pPr indent="0" marL="0">
              <a:buNone/>
            </a:pPr>
            <a:r>
              <a:rPr lang="en-US" sz="1800" b="1" dirty="0">
                <a:solidFill>
                  <a:srgbClr val="8AE080"/>
                </a:solidFill>
                <a:latin typeface="Yu Gothic" pitchFamily="34" charset="0"/>
                <a:ea typeface="Yu Gothic" pitchFamily="34" charset="-122"/>
                <a:cs typeface="Yu Gothic" pitchFamily="34" charset="-120"/>
              </a:rPr>
              <a:t>コメント</a:t>
            </a:r>
            <a:endParaRPr lang="en-US" sz="1800" dirty="0"/>
          </a:p>
        </p:txBody>
      </p:sp>
      <p:sp>
        <p:nvSpPr>
          <p:cNvPr id="10" name="Text 7"/>
          <p:cNvSpPr/>
          <p:nvPr/>
        </p:nvSpPr>
        <p:spPr>
          <a:xfrm>
            <a:off x="7178040" y="3223260"/>
            <a:ext cx="2926080" cy="640080"/>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800" dirty="0">
                <a:solidFill>
                  <a:srgbClr val="DCE9F7"/>
                </a:solidFill>
                <a:latin typeface="Yu Gothic" pitchFamily="34" charset="0"/>
                <a:ea typeface="Yu Gothic" pitchFamily="34" charset="-122"/>
                <a:cs typeface="Yu Gothic" pitchFamily="34" charset="-120"/>
              </a:rPr>
              <a:t>「凄くうれしい」</a:t>
            </a:r>
            <a:endParaRPr lang="en-US" sz="1800" dirty="0"/>
          </a:p>
          <a:p>
            <a:pPr indent="0" marL="0">
              <a:buNone/>
            </a:pPr>
            <a:r>
              <a:rPr lang="en-US" sz="1800" dirty="0">
                <a:solidFill>
                  <a:srgbClr val="DCE9F7"/>
                </a:solidFill>
                <a:latin typeface="Yu Gothic" pitchFamily="34" charset="0"/>
                <a:ea typeface="Yu Gothic" pitchFamily="34" charset="-122"/>
                <a:cs typeface="Yu Gothic" pitchFamily="34" charset="-120"/>
              </a:rPr>
              <a:t>と語った</a:t>
            </a:r>
            <a:endParaRPr lang="en-US" sz="1800" dirty="0"/>
          </a:p>
        </p:txBody>
      </p:sp>
      <p:sp>
        <p:nvSpPr>
          <p:cNvPr id="12" name="Text 8"/>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12 / 30</a:t>
            </a:r>
            <a:endParaRPr lang="en-US" sz="850" dirty="0"/>
          </a:p>
        </p:txBody>
      </p:sp>
      <p:sp>
        <p:nvSpPr>
          <p:cNvPr id="13" name="Text 9"/>
          <p:cNvSpPr/>
          <p:nvPr/>
        </p:nvSpPr>
        <p:spPr>
          <a:xfrm>
            <a:off x="548640" y="6419088"/>
            <a:ext cx="9875520" cy="228600"/>
          </a:xfrm>
          <a:prstGeom prst="rect">
            <a:avLst/>
          </a:prstGeom>
          <a:noFill/>
          <a:ln/>
        </p:spPr>
        <p:txBody>
          <a:bodyPr wrap="square" lIns="0" tIns="0" rIns="0" bIns="0" rtlCol="0" anchor="ctr"/>
          <a:lstStyle/>
          <a:p>
            <a:pPr indent="0" marL="0">
              <a:buNone/>
            </a:pPr>
            <a:r>
              <a:rPr lang="en-US" sz="830" dirty="0">
                <a:solidFill>
                  <a:srgbClr val="A9B7C7"/>
                </a:solidFill>
                <a:latin typeface="Yu Gothic" pitchFamily="34" charset="0"/>
                <a:ea typeface="Yu Gothic" pitchFamily="34" charset="-122"/>
                <a:cs typeface="Yu Gothic" pitchFamily="34" charset="-120"/>
              </a:rPr>
              <a:t>出典: スポニチアネックス / Yahoo!ニュース（2026-07-03）</a:t>
            </a:r>
            <a:endParaRPr lang="en-US" sz="8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0914"/>
        </a:solidFill>
      </p:bgPr>
    </p:bg>
    <p:spTree>
      <p:nvGrpSpPr>
        <p:cNvPr id="1" name=""/>
        <p:cNvGrpSpPr/>
        <p:nvPr/>
      </p:nvGrpSpPr>
      <p:grpSpPr>
        <a:xfrm>
          <a:off x="0" y="0"/>
          <a:ext cx="0" cy="0"/>
          <a:chOff x="0" y="0"/>
          <a:chExt cx="0" cy="0"/>
        </a:xfrm>
      </p:grpSpPr>
      <p:pic>
        <p:nvPicPr>
          <p:cNvPr id="2" name="Image 0" descr="/mnt/data/a_wide_cinematic_sports_news_studio_set_scene_no_batch_7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FACT CHECK</a:t>
            </a:r>
            <a:endParaRPr lang="en-US" sz="1300" dirty="0"/>
          </a:p>
        </p:txBody>
      </p:sp>
      <p:sp>
        <p:nvSpPr>
          <p:cNvPr id="4" name="Text 1"/>
          <p:cNvSpPr/>
          <p:nvPr/>
        </p:nvSpPr>
        <p:spPr>
          <a:xfrm>
            <a:off x="658368" y="1051560"/>
            <a:ext cx="7223760" cy="914400"/>
          </a:xfrm>
          <a:prstGeom prst="rect">
            <a:avLst/>
          </a:prstGeom>
          <a:noFill/>
          <a:ln/>
        </p:spPr>
        <p:txBody>
          <a:bodyPr wrap="square" lIns="508" tIns="508" rIns="508" bIns="508" rtlCol="0" anchor="ctr">
            <a:normAutofit/>
          </a:bodyPr>
          <a:lstStyle/>
          <a:p>
            <a:pPr indent="0" marL="0">
              <a:buNone/>
            </a:pPr>
            <a:r>
              <a:rPr lang="en-US" sz="3800" b="1" dirty="0">
                <a:solidFill>
                  <a:srgbClr val="FFFFFF"/>
                </a:solidFill>
                <a:latin typeface="Yu Gothic" pitchFamily="34" charset="0"/>
                <a:ea typeface="Yu Gothic" pitchFamily="34" charset="-122"/>
                <a:cs typeface="Yu Gothic" pitchFamily="34" charset="-120"/>
              </a:rPr>
              <a:t>この情報、どこまで確か？</a:t>
            </a:r>
            <a:endParaRPr lang="en-US" sz="3800" dirty="0"/>
          </a:p>
        </p:txBody>
      </p:sp>
      <p:sp>
        <p:nvSpPr>
          <p:cNvPr id="5" name="Text 2"/>
          <p:cNvSpPr/>
          <p:nvPr/>
        </p:nvSpPr>
        <p:spPr>
          <a:xfrm>
            <a:off x="822960" y="2240280"/>
            <a:ext cx="3063240" cy="432054"/>
          </a:xfrm>
          <a:prstGeom prst="rect">
            <a:avLst/>
          </a:prstGeom>
          <a:solidFill>
            <a:srgbClr val="071B33">
              <a:alpha val="82000"/>
            </a:srgbClr>
          </a:solidFill>
          <a:ln w="12700">
            <a:solidFill>
              <a:srgbClr val="55D7FF">
                <a:alpha val="85000"/>
              </a:srgbClr>
            </a:solidFill>
          </a:ln>
        </p:spPr>
        <p:txBody>
          <a:bodyPr wrap="square" lIns="1016" tIns="1016" rIns="1016" bIns="1016" rtlCol="0" anchor="ctr">
            <a:normAutofit/>
          </a:bodyPr>
          <a:lstStyle/>
          <a:p>
            <a:pPr indent="0" marL="0">
              <a:buNone/>
            </a:pPr>
            <a:r>
              <a:rPr lang="en-US" sz="1800" b="1" dirty="0">
                <a:solidFill>
                  <a:srgbClr val="55D7FF"/>
                </a:solidFill>
                <a:latin typeface="Yu Gothic" pitchFamily="34" charset="0"/>
                <a:ea typeface="Yu Gothic" pitchFamily="34" charset="-122"/>
                <a:cs typeface="Yu Gothic" pitchFamily="34" charset="-120"/>
              </a:rPr>
              <a:t>一致① 発表日</a:t>
            </a:r>
            <a:endParaRPr lang="en-US" sz="1800" dirty="0"/>
          </a:p>
        </p:txBody>
      </p:sp>
      <p:sp>
        <p:nvSpPr>
          <p:cNvPr id="6" name="Text 3"/>
          <p:cNvSpPr/>
          <p:nvPr/>
        </p:nvSpPr>
        <p:spPr>
          <a:xfrm>
            <a:off x="822960" y="2709367"/>
            <a:ext cx="3063240" cy="691286"/>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600" dirty="0">
                <a:solidFill>
                  <a:srgbClr val="DCE9F7"/>
                </a:solidFill>
                <a:latin typeface="Yu Gothic" pitchFamily="34" charset="0"/>
                <a:ea typeface="Yu Gothic" pitchFamily="34" charset="-122"/>
                <a:cs typeface="Yu Gothic" pitchFamily="34" charset="-120"/>
              </a:rPr>
              <a:t>2026年7月3日で一致</a:t>
            </a:r>
            <a:endParaRPr lang="en-US" sz="1600" dirty="0"/>
          </a:p>
        </p:txBody>
      </p:sp>
      <p:sp>
        <p:nvSpPr>
          <p:cNvPr id="7" name="Text 4"/>
          <p:cNvSpPr/>
          <p:nvPr/>
        </p:nvSpPr>
        <p:spPr>
          <a:xfrm>
            <a:off x="4160520" y="2240280"/>
            <a:ext cx="3383280" cy="432054"/>
          </a:xfrm>
          <a:prstGeom prst="rect">
            <a:avLst/>
          </a:prstGeom>
          <a:solidFill>
            <a:srgbClr val="071B33">
              <a:alpha val="82000"/>
            </a:srgbClr>
          </a:solidFill>
          <a:ln w="12700">
            <a:solidFill>
              <a:srgbClr val="FFCF4A">
                <a:alpha val="85000"/>
              </a:srgbClr>
            </a:solidFill>
          </a:ln>
        </p:spPr>
        <p:txBody>
          <a:bodyPr wrap="square" lIns="1016" tIns="1016" rIns="1016" bIns="1016" rtlCol="0" anchor="ctr">
            <a:normAutofit/>
          </a:bodyPr>
          <a:lstStyle/>
          <a:p>
            <a:pPr indent="0" marL="0">
              <a:buNone/>
            </a:pPr>
            <a:r>
              <a:rPr lang="en-US" sz="1800" b="1" dirty="0">
                <a:solidFill>
                  <a:srgbClr val="FFCF4A"/>
                </a:solidFill>
                <a:latin typeface="Yu Gothic" pitchFamily="34" charset="0"/>
                <a:ea typeface="Yu Gothic" pitchFamily="34" charset="-122"/>
                <a:cs typeface="Yu Gothic" pitchFamily="34" charset="-120"/>
              </a:rPr>
              <a:t>一致② 成績数値</a:t>
            </a:r>
            <a:endParaRPr lang="en-US" sz="1800" dirty="0"/>
          </a:p>
        </p:txBody>
      </p:sp>
      <p:sp>
        <p:nvSpPr>
          <p:cNvPr id="8" name="Text 5"/>
          <p:cNvSpPr/>
          <p:nvPr/>
        </p:nvSpPr>
        <p:spPr>
          <a:xfrm>
            <a:off x="4160520" y="2709367"/>
            <a:ext cx="3383280" cy="691286"/>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500" dirty="0">
                <a:solidFill>
                  <a:srgbClr val="DCE9F7"/>
                </a:solidFill>
                <a:latin typeface="Yu Gothic" pitchFamily="34" charset="0"/>
                <a:ea typeface="Yu Gothic" pitchFamily="34" charset="-122"/>
                <a:cs typeface="Yu Gothic" pitchFamily="34" charset="-120"/>
              </a:rPr>
              <a:t>打率・本塁打・OPSなどが複数情報源で一致</a:t>
            </a:r>
            <a:endParaRPr lang="en-US" sz="1500" dirty="0"/>
          </a:p>
        </p:txBody>
      </p:sp>
      <p:sp>
        <p:nvSpPr>
          <p:cNvPr id="9" name="Text 6"/>
          <p:cNvSpPr/>
          <p:nvPr/>
        </p:nvSpPr>
        <p:spPr>
          <a:xfrm>
            <a:off x="7818120" y="2240280"/>
            <a:ext cx="2743200" cy="432054"/>
          </a:xfrm>
          <a:prstGeom prst="rect">
            <a:avLst/>
          </a:prstGeom>
          <a:solidFill>
            <a:srgbClr val="071B33">
              <a:alpha val="82000"/>
            </a:srgbClr>
          </a:solidFill>
          <a:ln w="12700">
            <a:solidFill>
              <a:srgbClr val="8AE080">
                <a:alpha val="85000"/>
              </a:srgbClr>
            </a:solidFill>
          </a:ln>
        </p:spPr>
        <p:txBody>
          <a:bodyPr wrap="square" lIns="1016" tIns="1016" rIns="1016" bIns="1016" rtlCol="0" anchor="ctr">
            <a:normAutofit/>
          </a:bodyPr>
          <a:lstStyle/>
          <a:p>
            <a:pPr indent="0" marL="0">
              <a:buNone/>
            </a:pPr>
            <a:r>
              <a:rPr lang="en-US" sz="1800" b="1" dirty="0">
                <a:solidFill>
                  <a:srgbClr val="8AE080"/>
                </a:solidFill>
                <a:latin typeface="Yu Gothic" pitchFamily="34" charset="0"/>
                <a:ea typeface="Yu Gothic" pitchFamily="34" charset="-122"/>
                <a:cs typeface="Yu Gothic" pitchFamily="34" charset="-120"/>
              </a:rPr>
              <a:t>確認③ 通算10人目</a:t>
            </a:r>
            <a:endParaRPr lang="en-US" sz="1800" dirty="0"/>
          </a:p>
        </p:txBody>
      </p:sp>
      <p:sp>
        <p:nvSpPr>
          <p:cNvPr id="10" name="Text 7"/>
          <p:cNvSpPr/>
          <p:nvPr/>
        </p:nvSpPr>
        <p:spPr>
          <a:xfrm>
            <a:off x="7818120" y="2709367"/>
            <a:ext cx="2743200" cy="691286"/>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600" dirty="0">
                <a:solidFill>
                  <a:srgbClr val="DCE9F7"/>
                </a:solidFill>
                <a:latin typeface="Yu Gothic" pitchFamily="34" charset="0"/>
                <a:ea typeface="Yu Gothic" pitchFamily="34" charset="-122"/>
                <a:cs typeface="Yu Gothic" pitchFamily="34" charset="-120"/>
              </a:rPr>
              <a:t>日本経済新聞で確認</a:t>
            </a:r>
            <a:endParaRPr lang="en-US" sz="1600" dirty="0"/>
          </a:p>
        </p:txBody>
      </p:sp>
      <p:sp>
        <p:nvSpPr>
          <p:cNvPr id="11" name="Text 8"/>
          <p:cNvSpPr/>
          <p:nvPr/>
        </p:nvSpPr>
        <p:spPr>
          <a:xfrm>
            <a:off x="868680" y="4800600"/>
            <a:ext cx="7498080" cy="502920"/>
          </a:xfrm>
          <a:prstGeom prst="rect">
            <a:avLst/>
          </a:prstGeom>
          <a:solidFill>
            <a:srgbClr val="000000">
              <a:alpha val="82000"/>
            </a:srgbClr>
          </a:solidFill>
          <a:ln/>
        </p:spPr>
        <p:txBody>
          <a:bodyPr wrap="square" lIns="254" tIns="254" rIns="254" bIns="254" rtlCol="0" anchor="ctr"/>
          <a:lstStyle/>
          <a:p>
            <a:pPr indent="0" marL="0">
              <a:buNone/>
            </a:pPr>
            <a:r>
              <a:rPr lang="en-US" sz="2200" b="1" dirty="0">
                <a:solidFill>
                  <a:srgbClr val="FFFFFF"/>
                </a:solidFill>
              </a:rPr>
              <a:t>動画で強く言うのは、確認できた事実だけ。ここ大事です。</a:t>
            </a:r>
            <a:endParaRPr lang="en-US" sz="2200" dirty="0"/>
          </a:p>
        </p:txBody>
      </p:sp>
      <p:sp>
        <p:nvSpPr>
          <p:cNvPr id="13" name="Text 9"/>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13 / 30</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0914"/>
        </a:solidFill>
      </p:bgPr>
    </p:bg>
    <p:spTree>
      <p:nvGrpSpPr>
        <p:cNvPr id="1" name=""/>
        <p:cNvGrpSpPr/>
        <p:nvPr/>
      </p:nvGrpSpPr>
      <p:grpSpPr>
        <a:xfrm>
          <a:off x="0" y="0"/>
          <a:ext cx="0" cy="0"/>
          <a:chOff x="0" y="0"/>
          <a:chExt cx="0" cy="0"/>
        </a:xfrm>
      </p:grpSpPr>
      <p:pic>
        <p:nvPicPr>
          <p:cNvPr id="2" name="Image 0" descr="/mnt/data/wide_dramatic_sports_stadium_scene_a_baseball_fie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SCOPE</a:t>
            </a:r>
            <a:endParaRPr lang="en-US" sz="1300" dirty="0"/>
          </a:p>
        </p:txBody>
      </p:sp>
      <p:sp>
        <p:nvSpPr>
          <p:cNvPr id="4" name="Text 1"/>
          <p:cNvSpPr/>
          <p:nvPr/>
        </p:nvSpPr>
        <p:spPr>
          <a:xfrm>
            <a:off x="658368" y="1051560"/>
            <a:ext cx="6858000" cy="914400"/>
          </a:xfrm>
          <a:prstGeom prst="rect">
            <a:avLst/>
          </a:prstGeom>
          <a:noFill/>
          <a:ln/>
        </p:spPr>
        <p:txBody>
          <a:bodyPr wrap="square" lIns="508" tIns="508" rIns="508" bIns="508" rtlCol="0" anchor="ctr">
            <a:normAutofit/>
          </a:bodyPr>
          <a:lstStyle/>
          <a:p>
            <a:pPr indent="0" marL="0">
              <a:buNone/>
            </a:pPr>
            <a:r>
              <a:rPr lang="en-US" sz="3800" b="1" dirty="0">
                <a:solidFill>
                  <a:srgbClr val="FFFFFF"/>
                </a:solidFill>
                <a:latin typeface="Yu Gothic" pitchFamily="34" charset="0"/>
                <a:ea typeface="Yu Gothic" pitchFamily="34" charset="-122"/>
                <a:cs typeface="Yu Gothic" pitchFamily="34" charset="-120"/>
              </a:rPr>
              <a:t>今回、あえて扱わないこと</a:t>
            </a:r>
            <a:endParaRPr lang="en-US" sz="3800" dirty="0"/>
          </a:p>
        </p:txBody>
      </p:sp>
      <p:sp>
        <p:nvSpPr>
          <p:cNvPr id="5" name="Text 2"/>
          <p:cNvSpPr/>
          <p:nvPr/>
        </p:nvSpPr>
        <p:spPr>
          <a:xfrm>
            <a:off x="822960" y="2148840"/>
            <a:ext cx="4572000" cy="502920"/>
          </a:xfrm>
          <a:prstGeom prst="rect">
            <a:avLst/>
          </a:prstGeom>
          <a:solidFill>
            <a:srgbClr val="071B33">
              <a:alpha val="82000"/>
            </a:srgbClr>
          </a:solidFill>
          <a:ln w="12700">
            <a:solidFill>
              <a:srgbClr val="FF8A1F">
                <a:alpha val="85000"/>
              </a:srgbClr>
            </a:solidFill>
          </a:ln>
        </p:spPr>
        <p:txBody>
          <a:bodyPr wrap="square" lIns="1016" tIns="1016" rIns="1016" bIns="1016" rtlCol="0" anchor="ctr">
            <a:normAutofit/>
          </a:bodyPr>
          <a:lstStyle/>
          <a:p>
            <a:pPr indent="0" marL="0">
              <a:buNone/>
            </a:pPr>
            <a:r>
              <a:rPr lang="en-US" sz="2000" b="1" dirty="0">
                <a:solidFill>
                  <a:srgbClr val="FF8A1F"/>
                </a:solidFill>
                <a:latin typeface="Yu Gothic" pitchFamily="34" charset="0"/>
                <a:ea typeface="Yu Gothic" pitchFamily="34" charset="-122"/>
                <a:cs typeface="Yu Gothic" pitchFamily="34" charset="-120"/>
              </a:rPr>
              <a:t>7月以降の成績</a:t>
            </a:r>
            <a:endParaRPr lang="en-US" sz="2000" dirty="0"/>
          </a:p>
        </p:txBody>
      </p:sp>
      <p:sp>
        <p:nvSpPr>
          <p:cNvPr id="6" name="Text 3"/>
          <p:cNvSpPr/>
          <p:nvPr/>
        </p:nvSpPr>
        <p:spPr>
          <a:xfrm>
            <a:off x="822960" y="2704795"/>
            <a:ext cx="4572000" cy="819302"/>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600" dirty="0">
                <a:solidFill>
                  <a:srgbClr val="DCE9F7"/>
                </a:solidFill>
                <a:latin typeface="Yu Gothic" pitchFamily="34" charset="0"/>
                <a:ea typeface="Yu Gothic" pitchFamily="34" charset="-122"/>
                <a:cs typeface="Yu Gothic" pitchFamily="34" charset="-120"/>
              </a:rPr>
              <a:t>今後の月間表彰の可能性は、本資料の調査時点では不明。</a:t>
            </a:r>
            <a:endParaRPr lang="en-US" sz="1600" dirty="0"/>
          </a:p>
        </p:txBody>
      </p:sp>
      <p:sp>
        <p:nvSpPr>
          <p:cNvPr id="7" name="Text 4"/>
          <p:cNvSpPr/>
          <p:nvPr/>
        </p:nvSpPr>
        <p:spPr>
          <a:xfrm>
            <a:off x="5806440" y="2148840"/>
            <a:ext cx="4572000" cy="502920"/>
          </a:xfrm>
          <a:prstGeom prst="rect">
            <a:avLst/>
          </a:prstGeom>
          <a:solidFill>
            <a:srgbClr val="071B33">
              <a:alpha val="82000"/>
            </a:srgbClr>
          </a:solidFill>
          <a:ln w="12700">
            <a:solidFill>
              <a:srgbClr val="FF3B4F">
                <a:alpha val="85000"/>
              </a:srgbClr>
            </a:solidFill>
          </a:ln>
        </p:spPr>
        <p:txBody>
          <a:bodyPr wrap="square" lIns="1016" tIns="1016" rIns="1016" bIns="1016" rtlCol="0" anchor="ctr">
            <a:normAutofit/>
          </a:bodyPr>
          <a:lstStyle/>
          <a:p>
            <a:pPr indent="0" marL="0">
              <a:buNone/>
            </a:pPr>
            <a:r>
              <a:rPr lang="en-US" sz="2000" b="1" dirty="0">
                <a:solidFill>
                  <a:srgbClr val="FF3B4F"/>
                </a:solidFill>
                <a:latin typeface="Yu Gothic" pitchFamily="34" charset="0"/>
                <a:ea typeface="Yu Gothic" pitchFamily="34" charset="-122"/>
                <a:cs typeface="Yu Gothic" pitchFamily="34" charset="-120"/>
              </a:rPr>
              <a:t>チーム成績との因果</a:t>
            </a:r>
            <a:endParaRPr lang="en-US" sz="2000" dirty="0"/>
          </a:p>
        </p:txBody>
      </p:sp>
      <p:sp>
        <p:nvSpPr>
          <p:cNvPr id="8" name="Text 5"/>
          <p:cNvSpPr/>
          <p:nvPr/>
        </p:nvSpPr>
        <p:spPr>
          <a:xfrm>
            <a:off x="5806440" y="2704795"/>
            <a:ext cx="4572000" cy="819302"/>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600" dirty="0">
                <a:solidFill>
                  <a:srgbClr val="DCE9F7"/>
                </a:solidFill>
                <a:latin typeface="Yu Gothic" pitchFamily="34" charset="0"/>
                <a:ea typeface="Yu Gothic" pitchFamily="34" charset="-122"/>
                <a:cs typeface="Yu Gothic" pitchFamily="34" charset="-120"/>
              </a:rPr>
              <a:t>ブルージェイズの最終成績との関連は、この動画では扱わない。</a:t>
            </a:r>
            <a:endParaRPr lang="en-US" sz="1600" dirty="0"/>
          </a:p>
        </p:txBody>
      </p:sp>
      <p:sp>
        <p:nvSpPr>
          <p:cNvPr id="9" name="Text 6"/>
          <p:cNvSpPr/>
          <p:nvPr/>
        </p:nvSpPr>
        <p:spPr>
          <a:xfrm>
            <a:off x="868680" y="4736592"/>
            <a:ext cx="7498080" cy="502920"/>
          </a:xfrm>
          <a:prstGeom prst="rect">
            <a:avLst/>
          </a:prstGeom>
          <a:solidFill>
            <a:srgbClr val="000000">
              <a:alpha val="82000"/>
            </a:srgbClr>
          </a:solidFill>
          <a:ln/>
        </p:spPr>
        <p:txBody>
          <a:bodyPr wrap="square" lIns="254" tIns="254" rIns="254" bIns="254" rtlCol="0" anchor="ctr"/>
          <a:lstStyle/>
          <a:p>
            <a:pPr indent="0" marL="0">
              <a:buNone/>
            </a:pPr>
            <a:r>
              <a:rPr lang="en-US" sz="2000" b="1" dirty="0">
                <a:solidFill>
                  <a:srgbClr val="FFCF4A"/>
                </a:solidFill>
              </a:rPr>
              <a:t>盛りすぎると、ニュースではなく妄想フルスイングになります。</a:t>
            </a:r>
            <a:endParaRPr lang="en-US" sz="2000" dirty="0"/>
          </a:p>
        </p:txBody>
      </p:sp>
      <p:sp>
        <p:nvSpPr>
          <p:cNvPr id="11" name="Text 7"/>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14 / 30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50914"/>
        </a:solidFill>
      </p:bgPr>
    </p:bg>
    <p:spTree>
      <p:nvGrpSpPr>
        <p:cNvPr id="1" name=""/>
        <p:cNvGrpSpPr/>
        <p:nvPr/>
      </p:nvGrpSpPr>
      <p:grpSpPr>
        <a:xfrm>
          <a:off x="0" y="0"/>
          <a:ext cx="0" cy="0"/>
          <a:chOff x="0" y="0"/>
          <a:chExt cx="0" cy="0"/>
        </a:xfrm>
      </p:grpSpPr>
      <p:pic>
        <p:nvPicPr>
          <p:cNvPr id="2" name="Image 0" descr="/mnt/data/a_cinematic_high_detail_3d_cg_style_illustration_batch_8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HYPOTHESIS</a:t>
            </a:r>
            <a:endParaRPr lang="en-US" sz="1300" dirty="0"/>
          </a:p>
        </p:txBody>
      </p:sp>
      <p:sp>
        <p:nvSpPr>
          <p:cNvPr id="4" name="Text 1"/>
          <p:cNvSpPr/>
          <p:nvPr/>
        </p:nvSpPr>
        <p:spPr>
          <a:xfrm>
            <a:off x="658368" y="1051560"/>
            <a:ext cx="6766560" cy="1325880"/>
          </a:xfrm>
          <a:prstGeom prst="rect">
            <a:avLst/>
          </a:prstGeom>
          <a:noFill/>
          <a:ln/>
        </p:spPr>
        <p:txBody>
          <a:bodyPr wrap="square" lIns="508" tIns="508" rIns="508" bIns="508" rtlCol="0" anchor="ctr">
            <a:normAutofit/>
          </a:bodyPr>
          <a:lstStyle/>
          <a:p>
            <a:pPr indent="0" marL="0">
              <a:buNone/>
            </a:pPr>
            <a:r>
              <a:rPr lang="en-US" sz="3900" b="1" dirty="0">
                <a:solidFill>
                  <a:srgbClr val="FFFFFF"/>
                </a:solidFill>
                <a:latin typeface="Yu Gothic" pitchFamily="34" charset="0"/>
                <a:ea typeface="Yu Gothic" pitchFamily="34" charset="-122"/>
                <a:cs typeface="Yu Gothic" pitchFamily="34" charset="-120"/>
              </a:rPr>
              <a:t>なぜ日本人野手の</a:t>
            </a:r>
            <a:endParaRPr lang="en-US" sz="3900" dirty="0"/>
          </a:p>
          <a:p>
            <a:pPr indent="0" marL="0">
              <a:buNone/>
            </a:pPr>
            <a:r>
              <a:rPr lang="en-US" sz="3900" b="1" dirty="0">
                <a:solidFill>
                  <a:srgbClr val="FFFFFF"/>
                </a:solidFill>
                <a:latin typeface="Yu Gothic" pitchFamily="34" charset="0"/>
                <a:ea typeface="Yu Gothic" pitchFamily="34" charset="-122"/>
                <a:cs typeface="Yu Gothic" pitchFamily="34" charset="-120"/>
              </a:rPr>
              <a:t>活躍が目立つのか</a:t>
            </a:r>
            <a:endParaRPr lang="en-US" sz="3900" dirty="0"/>
          </a:p>
        </p:txBody>
      </p:sp>
      <p:sp>
        <p:nvSpPr>
          <p:cNvPr id="5" name="Text 2"/>
          <p:cNvSpPr/>
          <p:nvPr/>
        </p:nvSpPr>
        <p:spPr>
          <a:xfrm>
            <a:off x="777240" y="2743200"/>
            <a:ext cx="3154680" cy="432054"/>
          </a:xfrm>
          <a:prstGeom prst="rect">
            <a:avLst/>
          </a:prstGeom>
          <a:solidFill>
            <a:srgbClr val="071B33">
              <a:alpha val="82000"/>
            </a:srgbClr>
          </a:solidFill>
          <a:ln w="12700">
            <a:solidFill>
              <a:srgbClr val="55D7FF">
                <a:alpha val="85000"/>
              </a:srgbClr>
            </a:solidFill>
          </a:ln>
        </p:spPr>
        <p:txBody>
          <a:bodyPr wrap="square" lIns="1016" tIns="1016" rIns="1016" bIns="1016" rtlCol="0" anchor="ctr">
            <a:normAutofit/>
          </a:bodyPr>
          <a:lstStyle/>
          <a:p>
            <a:pPr indent="0" marL="0">
              <a:buNone/>
            </a:pPr>
            <a:r>
              <a:rPr lang="en-US" sz="1800" b="1" dirty="0">
                <a:solidFill>
                  <a:srgbClr val="55D7FF"/>
                </a:solidFill>
                <a:latin typeface="Yu Gothic" pitchFamily="34" charset="0"/>
                <a:ea typeface="Yu Gothic" pitchFamily="34" charset="-122"/>
                <a:cs typeface="Yu Gothic" pitchFamily="34" charset="-120"/>
              </a:rPr>
              <a:t>選手層の充実</a:t>
            </a:r>
            <a:endParaRPr lang="en-US" sz="1800" dirty="0"/>
          </a:p>
        </p:txBody>
      </p:sp>
      <p:sp>
        <p:nvSpPr>
          <p:cNvPr id="6" name="Text 3"/>
          <p:cNvSpPr/>
          <p:nvPr/>
        </p:nvSpPr>
        <p:spPr>
          <a:xfrm>
            <a:off x="777240" y="3212287"/>
            <a:ext cx="3154680" cy="691286"/>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500" dirty="0">
                <a:solidFill>
                  <a:srgbClr val="DCE9F7"/>
                </a:solidFill>
                <a:latin typeface="Yu Gothic" pitchFamily="34" charset="0"/>
                <a:ea typeface="Yu Gothic" pitchFamily="34" charset="-122"/>
                <a:cs typeface="Yu Gothic" pitchFamily="34" charset="-120"/>
              </a:rPr>
              <a:t>MLBに挑戦する日本人野手の数が増えている可能性。</a:t>
            </a:r>
            <a:endParaRPr lang="en-US" sz="1500" dirty="0"/>
          </a:p>
        </p:txBody>
      </p:sp>
      <p:sp>
        <p:nvSpPr>
          <p:cNvPr id="7" name="Text 4"/>
          <p:cNvSpPr/>
          <p:nvPr/>
        </p:nvSpPr>
        <p:spPr>
          <a:xfrm>
            <a:off x="4206240" y="2743200"/>
            <a:ext cx="3154680" cy="432054"/>
          </a:xfrm>
          <a:prstGeom prst="rect">
            <a:avLst/>
          </a:prstGeom>
          <a:solidFill>
            <a:srgbClr val="071B33">
              <a:alpha val="82000"/>
            </a:srgbClr>
          </a:solidFill>
          <a:ln w="12700">
            <a:solidFill>
              <a:srgbClr val="FFCF4A">
                <a:alpha val="85000"/>
              </a:srgbClr>
            </a:solidFill>
          </a:ln>
        </p:spPr>
        <p:txBody>
          <a:bodyPr wrap="square" lIns="1016" tIns="1016" rIns="1016" bIns="1016" rtlCol="0" anchor="ctr">
            <a:normAutofit/>
          </a:bodyPr>
          <a:lstStyle/>
          <a:p>
            <a:pPr indent="0" marL="0">
              <a:buNone/>
            </a:pPr>
            <a:r>
              <a:rPr lang="en-US" sz="1800" b="1" dirty="0">
                <a:solidFill>
                  <a:srgbClr val="FFCF4A"/>
                </a:solidFill>
                <a:latin typeface="Yu Gothic" pitchFamily="34" charset="0"/>
                <a:ea typeface="Yu Gothic" pitchFamily="34" charset="-122"/>
                <a:cs typeface="Yu Gothic" pitchFamily="34" charset="-120"/>
              </a:rPr>
              <a:t>適応の早さ</a:t>
            </a:r>
            <a:endParaRPr lang="en-US" sz="1800" dirty="0"/>
          </a:p>
        </p:txBody>
      </p:sp>
      <p:sp>
        <p:nvSpPr>
          <p:cNvPr id="8" name="Text 5"/>
          <p:cNvSpPr/>
          <p:nvPr/>
        </p:nvSpPr>
        <p:spPr>
          <a:xfrm>
            <a:off x="4206240" y="3212287"/>
            <a:ext cx="3154680" cy="691286"/>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500" dirty="0">
                <a:solidFill>
                  <a:srgbClr val="DCE9F7"/>
                </a:solidFill>
                <a:latin typeface="Yu Gothic" pitchFamily="34" charset="0"/>
                <a:ea typeface="Yu Gothic" pitchFamily="34" charset="-122"/>
                <a:cs typeface="Yu Gothic" pitchFamily="34" charset="-120"/>
              </a:rPr>
              <a:t>早い段階でメジャーの投手に対応できている可能性。</a:t>
            </a:r>
            <a:endParaRPr lang="en-US" sz="1500" dirty="0"/>
          </a:p>
        </p:txBody>
      </p:sp>
      <p:sp>
        <p:nvSpPr>
          <p:cNvPr id="9" name="Text 6"/>
          <p:cNvSpPr/>
          <p:nvPr/>
        </p:nvSpPr>
        <p:spPr>
          <a:xfrm>
            <a:off x="7635240" y="2743200"/>
            <a:ext cx="3154680" cy="432054"/>
          </a:xfrm>
          <a:prstGeom prst="rect">
            <a:avLst/>
          </a:prstGeom>
          <a:solidFill>
            <a:srgbClr val="071B33">
              <a:alpha val="82000"/>
            </a:srgbClr>
          </a:solidFill>
          <a:ln w="12700">
            <a:solidFill>
              <a:srgbClr val="FF8A1F">
                <a:alpha val="85000"/>
              </a:srgbClr>
            </a:solidFill>
          </a:ln>
        </p:spPr>
        <p:txBody>
          <a:bodyPr wrap="square" lIns="1016" tIns="1016" rIns="1016" bIns="1016" rtlCol="0" anchor="ctr">
            <a:normAutofit/>
          </a:bodyPr>
          <a:lstStyle/>
          <a:p>
            <a:pPr indent="0" marL="0">
              <a:buNone/>
            </a:pPr>
            <a:r>
              <a:rPr lang="en-US" sz="1800" b="1" dirty="0">
                <a:solidFill>
                  <a:srgbClr val="FF8A1F"/>
                </a:solidFill>
                <a:latin typeface="Yu Gothic" pitchFamily="34" charset="0"/>
                <a:ea typeface="Yu Gothic" pitchFamily="34" charset="-122"/>
                <a:cs typeface="Yu Gothic" pitchFamily="34" charset="-120"/>
              </a:rPr>
              <a:t>短期トレンド</a:t>
            </a:r>
            <a:endParaRPr lang="en-US" sz="1800" dirty="0"/>
          </a:p>
        </p:txBody>
      </p:sp>
      <p:sp>
        <p:nvSpPr>
          <p:cNvPr id="10" name="Text 7"/>
          <p:cNvSpPr/>
          <p:nvPr/>
        </p:nvSpPr>
        <p:spPr>
          <a:xfrm>
            <a:off x="7635240" y="3212287"/>
            <a:ext cx="3154680" cy="691286"/>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500" dirty="0">
                <a:solidFill>
                  <a:srgbClr val="DCE9F7"/>
                </a:solidFill>
                <a:latin typeface="Yu Gothic" pitchFamily="34" charset="0"/>
                <a:ea typeface="Yu Gothic" pitchFamily="34" charset="-122"/>
                <a:cs typeface="Yu Gothic" pitchFamily="34" charset="-120"/>
              </a:rPr>
              <a:t>2か月連続はすごいが、まだ短期間。断定は危険。</a:t>
            </a:r>
            <a:endParaRPr lang="en-US" sz="1500" dirty="0"/>
          </a:p>
        </p:txBody>
      </p:sp>
      <p:sp>
        <p:nvSpPr>
          <p:cNvPr id="12" name="Text 8"/>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15 / 30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50914"/>
        </a:solidFill>
      </p:bgPr>
    </p:bg>
    <p:spTree>
      <p:nvGrpSpPr>
        <p:cNvPr id="1" name=""/>
        <p:cNvGrpSpPr/>
        <p:nvPr/>
      </p:nvGrpSpPr>
      <p:grpSpPr>
        <a:xfrm>
          <a:off x="0" y="0"/>
          <a:ext cx="0" cy="0"/>
          <a:chOff x="0" y="0"/>
          <a:chExt cx="0" cy="0"/>
        </a:xfrm>
      </p:grpSpPr>
      <p:pic>
        <p:nvPicPr>
          <p:cNvPr id="2" name="Image 0" descr="/mnt/data/a_dramatic_sports_scene_in_a_dark_blue_lit_basebal_batch_2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TURNING POINT</a:t>
            </a:r>
            <a:endParaRPr lang="en-US" sz="1300" dirty="0"/>
          </a:p>
        </p:txBody>
      </p:sp>
      <p:sp>
        <p:nvSpPr>
          <p:cNvPr id="4" name="Text 1"/>
          <p:cNvSpPr/>
          <p:nvPr/>
        </p:nvSpPr>
        <p:spPr>
          <a:xfrm>
            <a:off x="658368" y="1051560"/>
            <a:ext cx="6675120" cy="1417320"/>
          </a:xfrm>
          <a:prstGeom prst="rect">
            <a:avLst/>
          </a:prstGeom>
          <a:noFill/>
          <a:ln/>
        </p:spPr>
        <p:txBody>
          <a:bodyPr wrap="square" lIns="508" tIns="508" rIns="508" bIns="508" rtlCol="0" anchor="ctr">
            <a:normAutofit/>
          </a:bodyPr>
          <a:lstStyle/>
          <a:p>
            <a:pPr indent="0" marL="0">
              <a:buNone/>
            </a:pPr>
            <a:r>
              <a:rPr lang="en-US" sz="4000" b="1" dirty="0">
                <a:solidFill>
                  <a:srgbClr val="FFFFFF"/>
                </a:solidFill>
                <a:latin typeface="Yu Gothic" pitchFamily="34" charset="0"/>
                <a:ea typeface="Yu Gothic" pitchFamily="34" charset="-122"/>
                <a:cs typeface="Yu Gothic" pitchFamily="34" charset="-120"/>
              </a:rPr>
              <a:t>短期の快挙か、</a:t>
            </a:r>
            <a:endParaRPr lang="en-US" sz="4000" dirty="0"/>
          </a:p>
          <a:p>
            <a:pPr indent="0" marL="0">
              <a:buNone/>
            </a:pPr>
            <a:r>
              <a:rPr lang="en-US" sz="4000" b="1" dirty="0">
                <a:solidFill>
                  <a:srgbClr val="FFFFFF"/>
                </a:solidFill>
                <a:latin typeface="Yu Gothic" pitchFamily="34" charset="0"/>
                <a:ea typeface="Yu Gothic" pitchFamily="34" charset="-122"/>
                <a:cs typeface="Yu Gothic" pitchFamily="34" charset="-120"/>
              </a:rPr>
              <a:t>流れの変化か</a:t>
            </a:r>
            <a:endParaRPr lang="en-US" sz="4000" dirty="0"/>
          </a:p>
        </p:txBody>
      </p:sp>
      <p:sp>
        <p:nvSpPr>
          <p:cNvPr id="5" name="Text 2"/>
          <p:cNvSpPr/>
          <p:nvPr/>
        </p:nvSpPr>
        <p:spPr>
          <a:xfrm>
            <a:off x="822960" y="2743200"/>
            <a:ext cx="2926080" cy="411480"/>
          </a:xfrm>
          <a:prstGeom prst="rect">
            <a:avLst/>
          </a:prstGeom>
          <a:noFill/>
          <a:ln/>
        </p:spPr>
        <p:txBody>
          <a:bodyPr wrap="square" lIns="254" tIns="254" rIns="254" bIns="254" rtlCol="0" anchor="ctr"/>
          <a:lstStyle/>
          <a:p>
            <a:pPr indent="0" marL="0">
              <a:buNone/>
            </a:pPr>
            <a:r>
              <a:rPr lang="en-US" sz="1900" b="1" dirty="0">
                <a:solidFill>
                  <a:srgbClr val="FFCF4A"/>
                </a:solidFill>
              </a:rPr>
              <a:t>見るべきポイント</a:t>
            </a:r>
            <a:endParaRPr lang="en-US" sz="1900" dirty="0"/>
          </a:p>
        </p:txBody>
      </p:sp>
      <p:sp>
        <p:nvSpPr>
          <p:cNvPr id="6" name="Text 3"/>
          <p:cNvSpPr/>
          <p:nvPr/>
        </p:nvSpPr>
        <p:spPr>
          <a:xfrm>
            <a:off x="868680" y="3337560"/>
            <a:ext cx="5303520" cy="1234440"/>
          </a:xfrm>
          <a:prstGeom prst="rect">
            <a:avLst/>
          </a:prstGeom>
          <a:solidFill>
            <a:srgbClr val="000000">
              <a:alpha val="80000"/>
            </a:srgbClr>
          </a:solidFill>
          <a:ln/>
        </p:spPr>
        <p:txBody>
          <a:bodyPr wrap="square" lIns="381" tIns="381" rIns="381" bIns="381" rtlCol="0" anchor="ctr">
            <a:normAutofit/>
          </a:bodyPr>
          <a:lstStyle/>
          <a:p>
            <a:pPr indent="0" marL="0">
              <a:buNone/>
            </a:pPr>
            <a:r>
              <a:rPr lang="en-US" sz="2200" b="1" dirty="0">
                <a:solidFill>
                  <a:srgbClr val="FFFFFF"/>
                </a:solidFill>
              </a:rPr>
              <a:t>1. 7月以降も長打が続くか</a:t>
            </a:r>
            <a:endParaRPr lang="en-US" sz="2200" dirty="0"/>
          </a:p>
          <a:p>
            <a:pPr indent="0" marL="0">
              <a:buNone/>
            </a:pPr>
            <a:r>
              <a:rPr lang="en-US" sz="2200" b="1" dirty="0">
                <a:solidFill>
                  <a:srgbClr val="FFFFFF"/>
                </a:solidFill>
              </a:rPr>
              <a:t>2. OPSが高水準を維持するか</a:t>
            </a:r>
            <a:endParaRPr lang="en-US" sz="2200" dirty="0"/>
          </a:p>
          <a:p>
            <a:pPr indent="0" marL="0">
              <a:buNone/>
            </a:pPr>
            <a:r>
              <a:rPr lang="en-US" sz="2200" b="1" dirty="0">
                <a:solidFill>
                  <a:srgbClr val="FFFFFF"/>
                </a:solidFill>
              </a:rPr>
              <a:t>3. チーム内での起用が安定するか</a:t>
            </a:r>
            <a:endParaRPr lang="en-US" sz="2200" dirty="0"/>
          </a:p>
        </p:txBody>
      </p:sp>
      <p:sp>
        <p:nvSpPr>
          <p:cNvPr id="8" name="Text 4"/>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16 / 30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50914"/>
        </a:solidFill>
      </p:bgPr>
    </p:bg>
    <p:spTree>
      <p:nvGrpSpPr>
        <p:cNvPr id="1" name=""/>
        <p:cNvGrpSpPr/>
        <p:nvPr/>
      </p:nvGrpSpPr>
      <p:grpSpPr>
        <a:xfrm>
          <a:off x="0" y="0"/>
          <a:ext cx="0" cy="0"/>
          <a:chOff x="0" y="0"/>
          <a:chExt cx="0" cy="0"/>
        </a:xfrm>
      </p:grpSpPr>
      <p:pic>
        <p:nvPicPr>
          <p:cNvPr id="2" name="Image 0" descr="/mnt/data/a_dramatic_cinematic_sports_scene_overall_a_clos_batch_6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MEANING 1</a:t>
            </a:r>
            <a:endParaRPr lang="en-US" sz="1300" dirty="0"/>
          </a:p>
        </p:txBody>
      </p:sp>
      <p:sp>
        <p:nvSpPr>
          <p:cNvPr id="4" name="Text 1"/>
          <p:cNvSpPr/>
          <p:nvPr/>
        </p:nvSpPr>
        <p:spPr>
          <a:xfrm>
            <a:off x="5989320" y="1097280"/>
            <a:ext cx="4846320" cy="914400"/>
          </a:xfrm>
          <a:prstGeom prst="rect">
            <a:avLst/>
          </a:prstGeom>
          <a:noFill/>
          <a:ln/>
        </p:spPr>
        <p:txBody>
          <a:bodyPr wrap="square" lIns="508" tIns="508" rIns="508" bIns="508" rtlCol="0" anchor="ctr">
            <a:normAutofit/>
          </a:bodyPr>
          <a:lstStyle/>
          <a:p>
            <a:pPr indent="0" marL="0">
              <a:buNone/>
            </a:pPr>
            <a:r>
              <a:rPr lang="en-US" sz="3800" b="1" dirty="0">
                <a:solidFill>
                  <a:srgbClr val="FFFFFF"/>
                </a:solidFill>
                <a:latin typeface="Yu Gothic" pitchFamily="34" charset="0"/>
                <a:ea typeface="Yu Gothic" pitchFamily="34" charset="-122"/>
                <a:cs typeface="Yu Gothic" pitchFamily="34" charset="-120"/>
              </a:rPr>
              <a:t>これが意味すること</a:t>
            </a:r>
            <a:endParaRPr lang="en-US" sz="3800" dirty="0"/>
          </a:p>
        </p:txBody>
      </p:sp>
      <p:sp>
        <p:nvSpPr>
          <p:cNvPr id="5" name="Text 2"/>
          <p:cNvSpPr/>
          <p:nvPr/>
        </p:nvSpPr>
        <p:spPr>
          <a:xfrm>
            <a:off x="6080760" y="2423160"/>
            <a:ext cx="4206240" cy="368046"/>
          </a:xfrm>
          <a:prstGeom prst="rect">
            <a:avLst/>
          </a:prstGeom>
          <a:solidFill>
            <a:srgbClr val="071B33">
              <a:alpha val="82000"/>
            </a:srgbClr>
          </a:solidFill>
          <a:ln w="12700">
            <a:solidFill>
              <a:srgbClr val="FFCF4A">
                <a:alpha val="85000"/>
              </a:srgbClr>
            </a:solidFill>
          </a:ln>
        </p:spPr>
        <p:txBody>
          <a:bodyPr wrap="square" lIns="1016" tIns="1016" rIns="1016" bIns="1016" rtlCol="0" anchor="ctr">
            <a:normAutofit/>
          </a:bodyPr>
          <a:lstStyle/>
          <a:p>
            <a:pPr indent="0" marL="0">
              <a:buNone/>
            </a:pPr>
            <a:r>
              <a:rPr lang="en-US" sz="1800" b="1" dirty="0">
                <a:solidFill>
                  <a:srgbClr val="FFCF4A"/>
                </a:solidFill>
                <a:latin typeface="Yu Gothic" pitchFamily="34" charset="0"/>
                <a:ea typeface="Yu Gothic" pitchFamily="34" charset="-122"/>
                <a:cs typeface="Yu Gothic" pitchFamily="34" charset="-120"/>
              </a:rPr>
              <a:t>継続的な活躍</a:t>
            </a:r>
            <a:endParaRPr lang="en-US" sz="1800" dirty="0"/>
          </a:p>
        </p:txBody>
      </p:sp>
      <p:sp>
        <p:nvSpPr>
          <p:cNvPr id="6" name="Text 3"/>
          <p:cNvSpPr/>
          <p:nvPr/>
        </p:nvSpPr>
        <p:spPr>
          <a:xfrm>
            <a:off x="6080760" y="2822753"/>
            <a:ext cx="4206240" cy="588874"/>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500" dirty="0">
                <a:solidFill>
                  <a:srgbClr val="DCE9F7"/>
                </a:solidFill>
                <a:latin typeface="Yu Gothic" pitchFamily="34" charset="0"/>
                <a:ea typeface="Yu Gothic" pitchFamily="34" charset="-122"/>
                <a:cs typeface="Yu Gothic" pitchFamily="34" charset="-120"/>
              </a:rPr>
              <a:t>月間表彰は、その月だけの偶然では取りにくい。</a:t>
            </a:r>
            <a:endParaRPr lang="en-US" sz="1500" dirty="0"/>
          </a:p>
        </p:txBody>
      </p:sp>
      <p:sp>
        <p:nvSpPr>
          <p:cNvPr id="7" name="Text 4"/>
          <p:cNvSpPr/>
          <p:nvPr/>
        </p:nvSpPr>
        <p:spPr>
          <a:xfrm>
            <a:off x="6080760" y="3703320"/>
            <a:ext cx="4206240" cy="368046"/>
          </a:xfrm>
          <a:prstGeom prst="rect">
            <a:avLst/>
          </a:prstGeom>
          <a:solidFill>
            <a:srgbClr val="071B33">
              <a:alpha val="82000"/>
            </a:srgbClr>
          </a:solidFill>
          <a:ln w="12700">
            <a:solidFill>
              <a:srgbClr val="55D7FF">
                <a:alpha val="85000"/>
              </a:srgbClr>
            </a:solidFill>
          </a:ln>
        </p:spPr>
        <p:txBody>
          <a:bodyPr wrap="square" lIns="1016" tIns="1016" rIns="1016" bIns="1016" rtlCol="0" anchor="ctr">
            <a:normAutofit/>
          </a:bodyPr>
          <a:lstStyle/>
          <a:p>
            <a:pPr indent="0" marL="0">
              <a:buNone/>
            </a:pPr>
            <a:r>
              <a:rPr lang="en-US" sz="1800" b="1" dirty="0">
                <a:solidFill>
                  <a:srgbClr val="55D7FF"/>
                </a:solidFill>
                <a:latin typeface="Yu Gothic" pitchFamily="34" charset="0"/>
                <a:ea typeface="Yu Gothic" pitchFamily="34" charset="-122"/>
                <a:cs typeface="Yu Gothic" pitchFamily="34" charset="-120"/>
              </a:rPr>
              <a:t>注目選手の増加</a:t>
            </a:r>
            <a:endParaRPr lang="en-US" sz="1800" dirty="0"/>
          </a:p>
        </p:txBody>
      </p:sp>
      <p:sp>
        <p:nvSpPr>
          <p:cNvPr id="8" name="Text 5"/>
          <p:cNvSpPr/>
          <p:nvPr/>
        </p:nvSpPr>
        <p:spPr>
          <a:xfrm>
            <a:off x="6080760" y="4102913"/>
            <a:ext cx="4206240" cy="588874"/>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500" dirty="0">
                <a:solidFill>
                  <a:srgbClr val="DCE9F7"/>
                </a:solidFill>
                <a:latin typeface="Yu Gothic" pitchFamily="34" charset="0"/>
                <a:ea typeface="Yu Gothic" pitchFamily="34" charset="-122"/>
                <a:cs typeface="Yu Gothic" pitchFamily="34" charset="-120"/>
              </a:rPr>
              <a:t>MLBでの日本人選手への関心がさらに高まる。</a:t>
            </a:r>
            <a:endParaRPr lang="en-US" sz="1500" dirty="0"/>
          </a:p>
        </p:txBody>
      </p:sp>
      <p:sp>
        <p:nvSpPr>
          <p:cNvPr id="10" name="Text 6"/>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17 / 30</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50914"/>
        </a:solidFill>
      </p:bgPr>
    </p:bg>
    <p:spTree>
      <p:nvGrpSpPr>
        <p:cNvPr id="1" name=""/>
        <p:cNvGrpSpPr/>
        <p:nvPr/>
      </p:nvGrpSpPr>
      <p:grpSpPr>
        <a:xfrm>
          <a:off x="0" y="0"/>
          <a:ext cx="0" cy="0"/>
          <a:chOff x="0" y="0"/>
          <a:chExt cx="0" cy="0"/>
        </a:xfrm>
      </p:grpSpPr>
      <p:pic>
        <p:nvPicPr>
          <p:cNvPr id="2" name="Image 0" descr="/mnt/data/a_wide_cinematic_indoor_scene_of_a_dark_viewing_r_batch_5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FOR FANS</a:t>
            </a:r>
            <a:endParaRPr lang="en-US" sz="1300" dirty="0"/>
          </a:p>
        </p:txBody>
      </p:sp>
      <p:sp>
        <p:nvSpPr>
          <p:cNvPr id="4" name="Text 1"/>
          <p:cNvSpPr/>
          <p:nvPr/>
        </p:nvSpPr>
        <p:spPr>
          <a:xfrm>
            <a:off x="658368" y="1051560"/>
            <a:ext cx="6949440" cy="914400"/>
          </a:xfrm>
          <a:prstGeom prst="rect">
            <a:avLst/>
          </a:prstGeom>
          <a:noFill/>
          <a:ln/>
        </p:spPr>
        <p:txBody>
          <a:bodyPr wrap="square" lIns="508" tIns="508" rIns="508" bIns="508" rtlCol="0" anchor="ctr">
            <a:normAutofit/>
          </a:bodyPr>
          <a:lstStyle/>
          <a:p>
            <a:pPr indent="0" marL="0">
              <a:buNone/>
            </a:pPr>
            <a:r>
              <a:rPr lang="en-US" sz="3800" b="1" dirty="0">
                <a:solidFill>
                  <a:srgbClr val="FFFFFF"/>
                </a:solidFill>
                <a:latin typeface="Yu Gothic" pitchFamily="34" charset="0"/>
                <a:ea typeface="Yu Gothic" pitchFamily="34" charset="-122"/>
                <a:cs typeface="Yu Gothic" pitchFamily="34" charset="-120"/>
              </a:rPr>
              <a:t>ファンにとっての意味</a:t>
            </a:r>
            <a:endParaRPr lang="en-US" sz="3800" dirty="0"/>
          </a:p>
        </p:txBody>
      </p:sp>
      <p:sp>
        <p:nvSpPr>
          <p:cNvPr id="5" name="Text 2"/>
          <p:cNvSpPr/>
          <p:nvPr/>
        </p:nvSpPr>
        <p:spPr>
          <a:xfrm>
            <a:off x="868680" y="2468880"/>
            <a:ext cx="6400800" cy="1508760"/>
          </a:xfrm>
          <a:prstGeom prst="rect">
            <a:avLst/>
          </a:prstGeom>
          <a:solidFill>
            <a:srgbClr val="000000">
              <a:alpha val="78000"/>
            </a:srgbClr>
          </a:solidFill>
          <a:ln/>
        </p:spPr>
        <p:txBody>
          <a:bodyPr wrap="square" lIns="635" tIns="635" rIns="635" bIns="635" rtlCol="0" anchor="ctr">
            <a:normAutofit/>
          </a:bodyPr>
          <a:lstStyle/>
          <a:p>
            <a:pPr indent="0" marL="0">
              <a:buNone/>
            </a:pPr>
            <a:r>
              <a:rPr lang="en-US" sz="2400" b="1" dirty="0">
                <a:solidFill>
                  <a:srgbClr val="FFFFFF"/>
                </a:solidFill>
              </a:rPr>
              <a:t>・日本人選手の活躍を追う楽しみが増える</a:t>
            </a:r>
            <a:endParaRPr lang="en-US" sz="2400" dirty="0"/>
          </a:p>
          <a:p>
            <a:pPr indent="0" marL="0">
              <a:buNone/>
            </a:pPr>
            <a:r>
              <a:rPr lang="en-US" sz="2400" b="1" dirty="0">
                <a:solidFill>
                  <a:srgbClr val="FFFFFF"/>
                </a:solidFill>
              </a:rPr>
              <a:t>・月ごとの成績で、調子の波が分かりやすい</a:t>
            </a:r>
            <a:endParaRPr lang="en-US" sz="2400" dirty="0"/>
          </a:p>
          <a:p>
            <a:pPr indent="0" marL="0">
              <a:buNone/>
            </a:pPr>
            <a:r>
              <a:rPr lang="en-US" sz="2400" b="1" dirty="0">
                <a:solidFill>
                  <a:srgbClr val="FFFFFF"/>
                </a:solidFill>
              </a:rPr>
              <a:t>・ニュースの節目として話題にしやすい</a:t>
            </a:r>
            <a:endParaRPr lang="en-US" sz="2400" dirty="0"/>
          </a:p>
        </p:txBody>
      </p:sp>
      <p:sp>
        <p:nvSpPr>
          <p:cNvPr id="7" name="Text 3"/>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18 / 30</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50914"/>
        </a:solidFill>
      </p:bgPr>
    </p:bg>
    <p:spTree>
      <p:nvGrpSpPr>
        <p:cNvPr id="1" name=""/>
        <p:cNvGrpSpPr/>
        <p:nvPr/>
      </p:nvGrpSpPr>
      <p:grpSpPr>
        <a:xfrm>
          <a:off x="0" y="0"/>
          <a:ext cx="0" cy="0"/>
          <a:chOff x="0" y="0"/>
          <a:chExt cx="0" cy="0"/>
        </a:xfrm>
      </p:grpSpPr>
      <p:pic>
        <p:nvPicPr>
          <p:cNvPr id="2" name="Image 0" descr="/mnt/data/a_wide_cinematic_night_time_sports_themed_citysc_batch_4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WATCH GUIDE</a:t>
            </a:r>
            <a:endParaRPr lang="en-US" sz="1300" dirty="0"/>
          </a:p>
        </p:txBody>
      </p:sp>
      <p:sp>
        <p:nvSpPr>
          <p:cNvPr id="4" name="Text 1"/>
          <p:cNvSpPr/>
          <p:nvPr/>
        </p:nvSpPr>
        <p:spPr>
          <a:xfrm>
            <a:off x="658368" y="1051560"/>
            <a:ext cx="6675120" cy="1325880"/>
          </a:xfrm>
          <a:prstGeom prst="rect">
            <a:avLst/>
          </a:prstGeom>
          <a:noFill/>
          <a:ln/>
        </p:spPr>
        <p:txBody>
          <a:bodyPr wrap="square" lIns="508" tIns="508" rIns="508" bIns="508" rtlCol="0" anchor="ctr">
            <a:normAutofit/>
          </a:bodyPr>
          <a:lstStyle/>
          <a:p>
            <a:pPr indent="0" marL="0">
              <a:buNone/>
            </a:pPr>
            <a:r>
              <a:rPr lang="en-US" sz="3800" b="1" dirty="0">
                <a:solidFill>
                  <a:srgbClr val="FFFFFF"/>
                </a:solidFill>
                <a:latin typeface="Yu Gothic" pitchFamily="34" charset="0"/>
                <a:ea typeface="Yu Gothic" pitchFamily="34" charset="-122"/>
                <a:cs typeface="Yu Gothic" pitchFamily="34" charset="-120"/>
              </a:rPr>
              <a:t>試しに応援するなら</a:t>
            </a:r>
            <a:endParaRPr lang="en-US" sz="3800" dirty="0"/>
          </a:p>
          <a:p>
            <a:pPr indent="0" marL="0">
              <a:buNone/>
            </a:pPr>
            <a:r>
              <a:rPr lang="en-US" sz="3800" b="1" dirty="0">
                <a:solidFill>
                  <a:srgbClr val="FFFFFF"/>
                </a:solidFill>
                <a:latin typeface="Yu Gothic" pitchFamily="34" charset="0"/>
                <a:ea typeface="Yu Gothic" pitchFamily="34" charset="-122"/>
                <a:cs typeface="Yu Gothic" pitchFamily="34" charset="-120"/>
              </a:rPr>
              <a:t>知っておきたいこと</a:t>
            </a:r>
            <a:endParaRPr lang="en-US" sz="3800" dirty="0"/>
          </a:p>
        </p:txBody>
      </p:sp>
      <p:sp>
        <p:nvSpPr>
          <p:cNvPr id="5" name="Text 2"/>
          <p:cNvSpPr/>
          <p:nvPr/>
        </p:nvSpPr>
        <p:spPr>
          <a:xfrm>
            <a:off x="822960" y="2880360"/>
            <a:ext cx="3063240" cy="464058"/>
          </a:xfrm>
          <a:prstGeom prst="rect">
            <a:avLst/>
          </a:prstGeom>
          <a:solidFill>
            <a:srgbClr val="071B33">
              <a:alpha val="82000"/>
            </a:srgbClr>
          </a:solidFill>
          <a:ln w="12700">
            <a:solidFill>
              <a:srgbClr val="55D7FF">
                <a:alpha val="85000"/>
              </a:srgbClr>
            </a:solidFill>
          </a:ln>
        </p:spPr>
        <p:txBody>
          <a:bodyPr wrap="square" lIns="1016" tIns="1016" rIns="1016" bIns="1016" rtlCol="0" anchor="ctr">
            <a:normAutofit/>
          </a:bodyPr>
          <a:lstStyle/>
          <a:p>
            <a:pPr indent="0" marL="0">
              <a:buNone/>
            </a:pPr>
            <a:r>
              <a:rPr lang="en-US" sz="1800" b="1" dirty="0">
                <a:solidFill>
                  <a:srgbClr val="55D7FF"/>
                </a:solidFill>
                <a:latin typeface="Yu Gothic" pitchFamily="34" charset="0"/>
                <a:ea typeface="Yu Gothic" pitchFamily="34" charset="-122"/>
                <a:cs typeface="Yu Gothic" pitchFamily="34" charset="-120"/>
              </a:rPr>
              <a:t>所属チーム</a:t>
            </a:r>
            <a:endParaRPr lang="en-US" sz="1800" dirty="0"/>
          </a:p>
        </p:txBody>
      </p:sp>
      <p:sp>
        <p:nvSpPr>
          <p:cNvPr id="6" name="Text 3"/>
          <p:cNvSpPr/>
          <p:nvPr/>
        </p:nvSpPr>
        <p:spPr>
          <a:xfrm>
            <a:off x="822960" y="3384194"/>
            <a:ext cx="3063240" cy="742493"/>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600" dirty="0">
                <a:solidFill>
                  <a:srgbClr val="DCE9F7"/>
                </a:solidFill>
                <a:latin typeface="Yu Gothic" pitchFamily="34" charset="0"/>
                <a:ea typeface="Yu Gothic" pitchFamily="34" charset="-122"/>
                <a:cs typeface="Yu Gothic" pitchFamily="34" charset="-120"/>
              </a:rPr>
              <a:t>トロント・ブルージェイズ</a:t>
            </a:r>
            <a:endParaRPr lang="en-US" sz="1600" dirty="0"/>
          </a:p>
          <a:p>
            <a:pPr indent="0" marL="0">
              <a:buNone/>
            </a:pPr>
            <a:r>
              <a:rPr lang="en-US" sz="1600" dirty="0">
                <a:solidFill>
                  <a:srgbClr val="DCE9F7"/>
                </a:solidFill>
                <a:latin typeface="Yu Gothic" pitchFamily="34" charset="0"/>
                <a:ea typeface="Yu Gothic" pitchFamily="34" charset="-122"/>
                <a:cs typeface="Yu Gothic" pitchFamily="34" charset="-120"/>
              </a:rPr>
              <a:t>ア・リーグ東地区</a:t>
            </a:r>
            <a:endParaRPr lang="en-US" sz="1600" dirty="0"/>
          </a:p>
        </p:txBody>
      </p:sp>
      <p:sp>
        <p:nvSpPr>
          <p:cNvPr id="7" name="Text 4"/>
          <p:cNvSpPr/>
          <p:nvPr/>
        </p:nvSpPr>
        <p:spPr>
          <a:xfrm>
            <a:off x="4160520" y="2880360"/>
            <a:ext cx="2743200" cy="464058"/>
          </a:xfrm>
          <a:prstGeom prst="rect">
            <a:avLst/>
          </a:prstGeom>
          <a:solidFill>
            <a:srgbClr val="071B33">
              <a:alpha val="82000"/>
            </a:srgbClr>
          </a:solidFill>
          <a:ln w="12700">
            <a:solidFill>
              <a:srgbClr val="FFCF4A">
                <a:alpha val="85000"/>
              </a:srgbClr>
            </a:solidFill>
          </a:ln>
        </p:spPr>
        <p:txBody>
          <a:bodyPr wrap="square" lIns="1016" tIns="1016" rIns="1016" bIns="1016" rtlCol="0" anchor="ctr">
            <a:normAutofit/>
          </a:bodyPr>
          <a:lstStyle/>
          <a:p>
            <a:pPr indent="0" marL="0">
              <a:buNone/>
            </a:pPr>
            <a:r>
              <a:rPr lang="en-US" sz="1800" b="1" dirty="0">
                <a:solidFill>
                  <a:srgbClr val="FFCF4A"/>
                </a:solidFill>
                <a:latin typeface="Yu Gothic" pitchFamily="34" charset="0"/>
                <a:ea typeface="Yu Gothic" pitchFamily="34" charset="-122"/>
                <a:cs typeface="Yu Gothic" pitchFamily="34" charset="-120"/>
              </a:rPr>
              <a:t>ポジション</a:t>
            </a:r>
            <a:endParaRPr lang="en-US" sz="1800" dirty="0"/>
          </a:p>
        </p:txBody>
      </p:sp>
      <p:sp>
        <p:nvSpPr>
          <p:cNvPr id="8" name="Text 5"/>
          <p:cNvSpPr/>
          <p:nvPr/>
        </p:nvSpPr>
        <p:spPr>
          <a:xfrm>
            <a:off x="4160520" y="3384194"/>
            <a:ext cx="2743200" cy="742493"/>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700" dirty="0">
                <a:solidFill>
                  <a:srgbClr val="DCE9F7"/>
                </a:solidFill>
                <a:latin typeface="Yu Gothic" pitchFamily="34" charset="0"/>
                <a:ea typeface="Yu Gothic" pitchFamily="34" charset="-122"/>
                <a:cs typeface="Yu Gothic" pitchFamily="34" charset="-120"/>
              </a:rPr>
              <a:t>内野手として起用</a:t>
            </a:r>
            <a:endParaRPr lang="en-US" sz="1700" dirty="0"/>
          </a:p>
        </p:txBody>
      </p:sp>
      <p:sp>
        <p:nvSpPr>
          <p:cNvPr id="9" name="Text 6"/>
          <p:cNvSpPr/>
          <p:nvPr/>
        </p:nvSpPr>
        <p:spPr>
          <a:xfrm>
            <a:off x="7223760" y="2880360"/>
            <a:ext cx="3291840" cy="464058"/>
          </a:xfrm>
          <a:prstGeom prst="rect">
            <a:avLst/>
          </a:prstGeom>
          <a:solidFill>
            <a:srgbClr val="071B33">
              <a:alpha val="82000"/>
            </a:srgbClr>
          </a:solidFill>
          <a:ln w="12700">
            <a:solidFill>
              <a:srgbClr val="8AE080">
                <a:alpha val="85000"/>
              </a:srgbClr>
            </a:solidFill>
          </a:ln>
        </p:spPr>
        <p:txBody>
          <a:bodyPr wrap="square" lIns="1016" tIns="1016" rIns="1016" bIns="1016" rtlCol="0" anchor="ctr">
            <a:normAutofit/>
          </a:bodyPr>
          <a:lstStyle/>
          <a:p>
            <a:pPr indent="0" marL="0">
              <a:buNone/>
            </a:pPr>
            <a:r>
              <a:rPr lang="en-US" sz="1800" b="1" dirty="0">
                <a:solidFill>
                  <a:srgbClr val="8AE080"/>
                </a:solidFill>
                <a:latin typeface="Yu Gothic" pitchFamily="34" charset="0"/>
                <a:ea typeface="Yu Gothic" pitchFamily="34" charset="-122"/>
                <a:cs typeface="Yu Gothic" pitchFamily="34" charset="-120"/>
              </a:rPr>
              <a:t>注目ポイント</a:t>
            </a:r>
            <a:endParaRPr lang="en-US" sz="1800" dirty="0"/>
          </a:p>
        </p:txBody>
      </p:sp>
      <p:sp>
        <p:nvSpPr>
          <p:cNvPr id="10" name="Text 7"/>
          <p:cNvSpPr/>
          <p:nvPr/>
        </p:nvSpPr>
        <p:spPr>
          <a:xfrm>
            <a:off x="7223760" y="3384194"/>
            <a:ext cx="3291840" cy="742493"/>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600" dirty="0">
                <a:solidFill>
                  <a:srgbClr val="DCE9F7"/>
                </a:solidFill>
                <a:latin typeface="Yu Gothic" pitchFamily="34" charset="0"/>
                <a:ea typeface="Yu Gothic" pitchFamily="34" charset="-122"/>
                <a:cs typeface="Yu Gothic" pitchFamily="34" charset="-120"/>
              </a:rPr>
              <a:t>本塁打・OPSなど</a:t>
            </a:r>
            <a:endParaRPr lang="en-US" sz="1600" dirty="0"/>
          </a:p>
          <a:p>
            <a:pPr indent="0" marL="0">
              <a:buNone/>
            </a:pPr>
            <a:r>
              <a:rPr lang="en-US" sz="1600" dirty="0">
                <a:solidFill>
                  <a:srgbClr val="DCE9F7"/>
                </a:solidFill>
                <a:latin typeface="Yu Gothic" pitchFamily="34" charset="0"/>
                <a:ea typeface="Yu Gothic" pitchFamily="34" charset="-122"/>
                <a:cs typeface="Yu Gothic" pitchFamily="34" charset="-120"/>
              </a:rPr>
              <a:t>長打力の数字</a:t>
            </a:r>
            <a:endParaRPr lang="en-US" sz="1600" dirty="0"/>
          </a:p>
        </p:txBody>
      </p:sp>
      <p:sp>
        <p:nvSpPr>
          <p:cNvPr id="12" name="Text 8"/>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19 / 30</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50914"/>
        </a:solidFill>
      </p:bgPr>
    </p:bg>
    <p:spTree>
      <p:nvGrpSpPr>
        <p:cNvPr id="1" name=""/>
        <p:cNvGrpSpPr/>
        <p:nvPr/>
      </p:nvGrpSpPr>
      <p:grpSpPr>
        <a:xfrm>
          <a:off x="0" y="0"/>
          <a:ext cx="0" cy="0"/>
          <a:chOff x="0" y="0"/>
          <a:chExt cx="0" cy="0"/>
        </a:xfrm>
      </p:grpSpPr>
      <p:pic>
        <p:nvPicPr>
          <p:cNvPr id="2" name="Image 0" descr="/mnt/data/wide_dramatic_sports_stadium_scene_a_baseball_fie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HOW TO FOLLOW</a:t>
            </a:r>
            <a:endParaRPr lang="en-US" sz="1300" dirty="0"/>
          </a:p>
        </p:txBody>
      </p:sp>
      <p:sp>
        <p:nvSpPr>
          <p:cNvPr id="4" name="Text 1"/>
          <p:cNvSpPr/>
          <p:nvPr/>
        </p:nvSpPr>
        <p:spPr>
          <a:xfrm>
            <a:off x="658368" y="1051560"/>
            <a:ext cx="6858000" cy="914400"/>
          </a:xfrm>
          <a:prstGeom prst="rect">
            <a:avLst/>
          </a:prstGeom>
          <a:noFill/>
          <a:ln/>
        </p:spPr>
        <p:txBody>
          <a:bodyPr wrap="square" lIns="508" tIns="508" rIns="508" bIns="508" rtlCol="0" anchor="ctr">
            <a:normAutofit/>
          </a:bodyPr>
          <a:lstStyle/>
          <a:p>
            <a:pPr indent="0" marL="0">
              <a:buNone/>
            </a:pPr>
            <a:r>
              <a:rPr lang="en-US" sz="3800" b="1" dirty="0">
                <a:solidFill>
                  <a:srgbClr val="FFFFFF"/>
                </a:solidFill>
                <a:latin typeface="Yu Gothic" pitchFamily="34" charset="0"/>
                <a:ea typeface="Yu Gothic" pitchFamily="34" charset="-122"/>
                <a:cs typeface="Yu Gothic" pitchFamily="34" charset="-120"/>
              </a:rPr>
              <a:t>試合を追ってみる進め方</a:t>
            </a:r>
            <a:endParaRPr lang="en-US" sz="3800" dirty="0"/>
          </a:p>
        </p:txBody>
      </p:sp>
      <p:sp>
        <p:nvSpPr>
          <p:cNvPr id="5" name="Text 2"/>
          <p:cNvSpPr/>
          <p:nvPr/>
        </p:nvSpPr>
        <p:spPr>
          <a:xfrm>
            <a:off x="822960" y="2331720"/>
            <a:ext cx="594360" cy="594360"/>
          </a:xfrm>
          <a:prstGeom prst="rect">
            <a:avLst/>
          </a:prstGeom>
          <a:solidFill>
            <a:srgbClr val="000000">
              <a:alpha val="75000"/>
            </a:srgbClr>
          </a:solidFill>
          <a:ln w="15240">
            <a:solidFill>
              <a:srgbClr val="55D7FF"/>
            </a:solidFill>
          </a:ln>
        </p:spPr>
        <p:txBody>
          <a:bodyPr wrap="square" lIns="254" tIns="254" rIns="254" bIns="254" rtlCol="0" anchor="ctr"/>
          <a:lstStyle/>
          <a:p>
            <a:pPr algn="ctr" indent="0" marL="0">
              <a:buNone/>
            </a:pPr>
            <a:r>
              <a:rPr lang="en-US" sz="2600" b="1" dirty="0">
                <a:solidFill>
                  <a:srgbClr val="55D7FF"/>
                </a:solidFill>
                <a:latin typeface="Aptos Display" pitchFamily="34" charset="0"/>
                <a:ea typeface="Aptos Display" pitchFamily="34" charset="-122"/>
                <a:cs typeface="Aptos Display" pitchFamily="34" charset="-120"/>
              </a:rPr>
              <a:t>1</a:t>
            </a:r>
            <a:endParaRPr lang="en-US" sz="2600" dirty="0"/>
          </a:p>
        </p:txBody>
      </p:sp>
      <p:sp>
        <p:nvSpPr>
          <p:cNvPr id="6" name="Text 3"/>
          <p:cNvSpPr/>
          <p:nvPr/>
        </p:nvSpPr>
        <p:spPr>
          <a:xfrm>
            <a:off x="1572768" y="2404872"/>
            <a:ext cx="5303520" cy="457200"/>
          </a:xfrm>
          <a:prstGeom prst="rect">
            <a:avLst/>
          </a:prstGeom>
          <a:noFill/>
          <a:ln/>
        </p:spPr>
        <p:txBody>
          <a:bodyPr wrap="square" lIns="127" tIns="127" rIns="127" bIns="127" rtlCol="0" anchor="ctr">
            <a:normAutofit/>
          </a:bodyPr>
          <a:lstStyle/>
          <a:p>
            <a:pPr indent="0" marL="0">
              <a:buNone/>
            </a:pPr>
            <a:r>
              <a:rPr lang="en-US" sz="1700" b="1" dirty="0">
                <a:solidFill>
                  <a:srgbClr val="FFFFFF"/>
                </a:solidFill>
                <a:latin typeface="Yu Gothic" pitchFamily="34" charset="0"/>
                <a:ea typeface="Yu Gothic" pitchFamily="34" charset="-122"/>
                <a:cs typeface="Yu Gothic" pitchFamily="34" charset="-120"/>
              </a:rPr>
              <a:t>チームを知る：ブルージェイズの試合日程を見る</a:t>
            </a:r>
            <a:endParaRPr lang="en-US" sz="1700" dirty="0"/>
          </a:p>
        </p:txBody>
      </p:sp>
      <p:sp>
        <p:nvSpPr>
          <p:cNvPr id="7" name="Text 4"/>
          <p:cNvSpPr/>
          <p:nvPr/>
        </p:nvSpPr>
        <p:spPr>
          <a:xfrm>
            <a:off x="822960" y="3291840"/>
            <a:ext cx="594360" cy="594360"/>
          </a:xfrm>
          <a:prstGeom prst="rect">
            <a:avLst/>
          </a:prstGeom>
          <a:solidFill>
            <a:srgbClr val="000000">
              <a:alpha val="75000"/>
            </a:srgbClr>
          </a:solidFill>
          <a:ln w="15240">
            <a:solidFill>
              <a:srgbClr val="FFCF4A"/>
            </a:solidFill>
          </a:ln>
        </p:spPr>
        <p:txBody>
          <a:bodyPr wrap="square" lIns="254" tIns="254" rIns="254" bIns="254" rtlCol="0" anchor="ctr"/>
          <a:lstStyle/>
          <a:p>
            <a:pPr algn="ctr" indent="0" marL="0">
              <a:buNone/>
            </a:pPr>
            <a:r>
              <a:rPr lang="en-US" sz="2600" b="1" dirty="0">
                <a:solidFill>
                  <a:srgbClr val="FFCF4A"/>
                </a:solidFill>
                <a:latin typeface="Aptos Display" pitchFamily="34" charset="0"/>
                <a:ea typeface="Aptos Display" pitchFamily="34" charset="-122"/>
                <a:cs typeface="Aptos Display" pitchFamily="34" charset="-120"/>
              </a:rPr>
              <a:t>2</a:t>
            </a:r>
            <a:endParaRPr lang="en-US" sz="2600" dirty="0"/>
          </a:p>
        </p:txBody>
      </p:sp>
      <p:sp>
        <p:nvSpPr>
          <p:cNvPr id="8" name="Text 5"/>
          <p:cNvSpPr/>
          <p:nvPr/>
        </p:nvSpPr>
        <p:spPr>
          <a:xfrm>
            <a:off x="1572768" y="3364992"/>
            <a:ext cx="5303520" cy="457200"/>
          </a:xfrm>
          <a:prstGeom prst="rect">
            <a:avLst/>
          </a:prstGeom>
          <a:noFill/>
          <a:ln/>
        </p:spPr>
        <p:txBody>
          <a:bodyPr wrap="square" lIns="127" tIns="127" rIns="127" bIns="127" rtlCol="0" anchor="ctr">
            <a:normAutofit/>
          </a:bodyPr>
          <a:lstStyle/>
          <a:p>
            <a:pPr indent="0" marL="0">
              <a:buNone/>
            </a:pPr>
            <a:r>
              <a:rPr lang="en-US" sz="1700" b="1" dirty="0">
                <a:solidFill>
                  <a:srgbClr val="FFFFFF"/>
                </a:solidFill>
                <a:latin typeface="Yu Gothic" pitchFamily="34" charset="0"/>
                <a:ea typeface="Yu Gothic" pitchFamily="34" charset="-122"/>
                <a:cs typeface="Yu Gothic" pitchFamily="34" charset="-120"/>
              </a:rPr>
              <a:t>成績を追う：月間・シーズン成績の推移を見る</a:t>
            </a:r>
            <a:endParaRPr lang="en-US" sz="1700" dirty="0"/>
          </a:p>
        </p:txBody>
      </p:sp>
      <p:sp>
        <p:nvSpPr>
          <p:cNvPr id="9" name="Text 6"/>
          <p:cNvSpPr/>
          <p:nvPr/>
        </p:nvSpPr>
        <p:spPr>
          <a:xfrm>
            <a:off x="822960" y="4251960"/>
            <a:ext cx="594360" cy="594360"/>
          </a:xfrm>
          <a:prstGeom prst="rect">
            <a:avLst/>
          </a:prstGeom>
          <a:solidFill>
            <a:srgbClr val="000000">
              <a:alpha val="75000"/>
            </a:srgbClr>
          </a:solidFill>
          <a:ln w="15240">
            <a:solidFill>
              <a:srgbClr val="FF8A1F"/>
            </a:solidFill>
          </a:ln>
        </p:spPr>
        <p:txBody>
          <a:bodyPr wrap="square" lIns="254" tIns="254" rIns="254" bIns="254" rtlCol="0" anchor="ctr"/>
          <a:lstStyle/>
          <a:p>
            <a:pPr algn="ctr" indent="0" marL="0">
              <a:buNone/>
            </a:pPr>
            <a:r>
              <a:rPr lang="en-US" sz="2600" b="1" dirty="0">
                <a:solidFill>
                  <a:srgbClr val="FF8A1F"/>
                </a:solidFill>
                <a:latin typeface="Aptos Display" pitchFamily="34" charset="0"/>
                <a:ea typeface="Aptos Display" pitchFamily="34" charset="-122"/>
                <a:cs typeface="Aptos Display" pitchFamily="34" charset="-120"/>
              </a:rPr>
              <a:t>3</a:t>
            </a:r>
            <a:endParaRPr lang="en-US" sz="2600" dirty="0"/>
          </a:p>
        </p:txBody>
      </p:sp>
      <p:sp>
        <p:nvSpPr>
          <p:cNvPr id="10" name="Text 7"/>
          <p:cNvSpPr/>
          <p:nvPr/>
        </p:nvSpPr>
        <p:spPr>
          <a:xfrm>
            <a:off x="1572768" y="4325112"/>
            <a:ext cx="5303520" cy="457200"/>
          </a:xfrm>
          <a:prstGeom prst="rect">
            <a:avLst/>
          </a:prstGeom>
          <a:noFill/>
          <a:ln/>
        </p:spPr>
        <p:txBody>
          <a:bodyPr wrap="square" lIns="127" tIns="127" rIns="127" bIns="127" rtlCol="0" anchor="ctr">
            <a:normAutofit/>
          </a:bodyPr>
          <a:lstStyle/>
          <a:p>
            <a:pPr indent="0" marL="0">
              <a:buNone/>
            </a:pPr>
            <a:r>
              <a:rPr lang="en-US" sz="1700" b="1" dirty="0">
                <a:solidFill>
                  <a:srgbClr val="FFFFFF"/>
                </a:solidFill>
                <a:latin typeface="Yu Gothic" pitchFamily="34" charset="0"/>
                <a:ea typeface="Yu Gothic" pitchFamily="34" charset="-122"/>
                <a:cs typeface="Yu Gothic" pitchFamily="34" charset="-120"/>
              </a:rPr>
              <a:t>ニュースを追う：月間表彰などの節目をチェック</a:t>
            </a:r>
            <a:endParaRPr lang="en-US" sz="1700" dirty="0"/>
          </a:p>
        </p:txBody>
      </p:sp>
      <p:sp>
        <p:nvSpPr>
          <p:cNvPr id="12" name="Text 8"/>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20 / 30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50914"/>
        </a:solidFill>
      </p:bgPr>
    </p:bg>
    <p:spTree>
      <p:nvGrpSpPr>
        <p:cNvPr id="1" name=""/>
        <p:cNvGrpSpPr/>
        <p:nvPr/>
      </p:nvGrpSpPr>
      <p:grpSpPr>
        <a:xfrm>
          <a:off x="0" y="0"/>
          <a:ext cx="0" cy="0"/>
          <a:chOff x="0" y="0"/>
          <a:chExt cx="0" cy="0"/>
        </a:xfrm>
      </p:grpSpPr>
      <p:pic>
        <p:nvPicPr>
          <p:cNvPr id="2" name="Image 0" descr="/mnt/data/a_wide_cinematic_indoor_scene_of_a_dark_viewing_r_batch_5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CONVERSATION VALUE</a:t>
            </a:r>
            <a:endParaRPr lang="en-US" sz="1300" dirty="0"/>
          </a:p>
        </p:txBody>
      </p:sp>
      <p:sp>
        <p:nvSpPr>
          <p:cNvPr id="4" name="Text 1"/>
          <p:cNvSpPr/>
          <p:nvPr/>
        </p:nvSpPr>
        <p:spPr>
          <a:xfrm>
            <a:off x="658368" y="1051560"/>
            <a:ext cx="7040880" cy="1417320"/>
          </a:xfrm>
          <a:prstGeom prst="rect">
            <a:avLst/>
          </a:prstGeom>
          <a:noFill/>
          <a:ln/>
        </p:spPr>
        <p:txBody>
          <a:bodyPr wrap="square" lIns="508" tIns="508" rIns="508" bIns="508" rtlCol="0" anchor="ctr">
            <a:normAutofit/>
          </a:bodyPr>
          <a:lstStyle/>
          <a:p>
            <a:pPr indent="0" marL="0">
              <a:buNone/>
            </a:pPr>
            <a:r>
              <a:rPr lang="en-US" sz="3800" b="1" dirty="0">
                <a:solidFill>
                  <a:srgbClr val="FFFFFF"/>
                </a:solidFill>
                <a:latin typeface="Yu Gothic" pitchFamily="34" charset="0"/>
                <a:ea typeface="Yu Gothic" pitchFamily="34" charset="-122"/>
                <a:cs typeface="Yu Gothic" pitchFamily="34" charset="-120"/>
              </a:rPr>
              <a:t>野球に詳しくなくても</a:t>
            </a:r>
            <a:endParaRPr lang="en-US" sz="3800" dirty="0"/>
          </a:p>
          <a:p>
            <a:pPr indent="0" marL="0">
              <a:buNone/>
            </a:pPr>
            <a:r>
              <a:rPr lang="en-US" sz="3800" b="1" dirty="0">
                <a:solidFill>
                  <a:srgbClr val="FFFFFF"/>
                </a:solidFill>
                <a:latin typeface="Yu Gothic" pitchFamily="34" charset="0"/>
                <a:ea typeface="Yu Gothic" pitchFamily="34" charset="-122"/>
                <a:cs typeface="Yu Gothic" pitchFamily="34" charset="-120"/>
              </a:rPr>
              <a:t>話題にできる理由</a:t>
            </a:r>
            <a:endParaRPr lang="en-US" sz="3800" dirty="0"/>
          </a:p>
        </p:txBody>
      </p:sp>
      <p:sp>
        <p:nvSpPr>
          <p:cNvPr id="5" name="Text 2"/>
          <p:cNvSpPr/>
          <p:nvPr/>
        </p:nvSpPr>
        <p:spPr>
          <a:xfrm>
            <a:off x="868680" y="2743200"/>
            <a:ext cx="6400800" cy="1645920"/>
          </a:xfrm>
          <a:prstGeom prst="rect">
            <a:avLst/>
          </a:prstGeom>
          <a:solidFill>
            <a:srgbClr val="000000">
              <a:alpha val="78000"/>
            </a:srgbClr>
          </a:solidFill>
          <a:ln/>
        </p:spPr>
        <p:txBody>
          <a:bodyPr wrap="square" lIns="508" tIns="508" rIns="508" bIns="508" rtlCol="0" anchor="ctr">
            <a:normAutofit/>
          </a:bodyPr>
          <a:lstStyle/>
          <a:p>
            <a:pPr indent="0" marL="0">
              <a:buNone/>
            </a:pPr>
            <a:r>
              <a:rPr lang="en-US" sz="2400" b="1" dirty="0">
                <a:solidFill>
                  <a:srgbClr val="FFFFFF"/>
                </a:solidFill>
              </a:rPr>
              <a:t>MLBの日本人選手ニュースは、</a:t>
            </a:r>
            <a:endParaRPr lang="en-US" sz="2400" dirty="0"/>
          </a:p>
          <a:p>
            <a:pPr indent="0" marL="0">
              <a:buNone/>
            </a:pPr>
            <a:r>
              <a:rPr lang="en-US" sz="2400" b="1" dirty="0">
                <a:solidFill>
                  <a:srgbClr val="FFFFFF"/>
                </a:solidFill>
              </a:rPr>
              <a:t>スポーツ好き以外にも届きやすい話題。</a:t>
            </a:r>
            <a:endParaRPr lang="en-US" sz="2400" dirty="0"/>
          </a:p>
          <a:p>
            <a:pPr indent="0" marL="0">
              <a:buNone/>
            </a:pPr>
            <a:endParaRPr lang="en-US" sz="2400" dirty="0"/>
          </a:p>
          <a:p>
            <a:pPr indent="0" marL="0">
              <a:buNone/>
            </a:pPr>
            <a:r>
              <a:rPr lang="en-US" sz="2400" b="1" dirty="0">
                <a:solidFill>
                  <a:srgbClr val="FFFFFF"/>
                </a:solidFill>
              </a:rPr>
              <a:t>「今、誰が活躍してる？」の答えとして使いやすい。</a:t>
            </a:r>
            <a:endParaRPr lang="en-US" sz="2400" dirty="0"/>
          </a:p>
        </p:txBody>
      </p:sp>
      <p:sp>
        <p:nvSpPr>
          <p:cNvPr id="7" name="Text 3"/>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21 / 30</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50914"/>
        </a:solidFill>
      </p:bgPr>
    </p:bg>
    <p:spTree>
      <p:nvGrpSpPr>
        <p:cNvPr id="1" name=""/>
        <p:cNvGrpSpPr/>
        <p:nvPr/>
      </p:nvGrpSpPr>
      <p:grpSpPr>
        <a:xfrm>
          <a:off x="0" y="0"/>
          <a:ext cx="0" cy="0"/>
          <a:chOff x="0" y="0"/>
          <a:chExt cx="0" cy="0"/>
        </a:xfrm>
      </p:grpSpPr>
      <p:pic>
        <p:nvPicPr>
          <p:cNvPr id="2" name="Image 0" descr="/mnt/data/a_wide_cinematic_sports_news_studio_set_scene_no_batch_7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CAUTION</a:t>
            </a:r>
            <a:endParaRPr lang="en-US" sz="1300" dirty="0"/>
          </a:p>
        </p:txBody>
      </p:sp>
      <p:sp>
        <p:nvSpPr>
          <p:cNvPr id="4" name="Text 1"/>
          <p:cNvSpPr/>
          <p:nvPr/>
        </p:nvSpPr>
        <p:spPr>
          <a:xfrm>
            <a:off x="658368" y="1051560"/>
            <a:ext cx="7589520" cy="914400"/>
          </a:xfrm>
          <a:prstGeom prst="rect">
            <a:avLst/>
          </a:prstGeom>
          <a:noFill/>
          <a:ln/>
        </p:spPr>
        <p:txBody>
          <a:bodyPr wrap="square" lIns="508" tIns="508" rIns="508" bIns="508" rtlCol="0" anchor="ctr">
            <a:normAutofit/>
          </a:bodyPr>
          <a:lstStyle/>
          <a:p>
            <a:pPr indent="0" marL="0">
              <a:buNone/>
            </a:pPr>
            <a:r>
              <a:rPr lang="en-US" sz="3700" b="1" dirty="0">
                <a:solidFill>
                  <a:srgbClr val="FFFFFF"/>
                </a:solidFill>
                <a:latin typeface="Yu Gothic" pitchFamily="34" charset="0"/>
                <a:ea typeface="Yu Gothic" pitchFamily="34" charset="-122"/>
                <a:cs typeface="Yu Gothic" pitchFamily="34" charset="-120"/>
              </a:rPr>
              <a:t>不明点・注意点</a:t>
            </a:r>
            <a:endParaRPr lang="en-US" sz="3700" dirty="0"/>
          </a:p>
        </p:txBody>
      </p:sp>
      <p:sp>
        <p:nvSpPr>
          <p:cNvPr id="5" name="Text 2"/>
          <p:cNvSpPr/>
          <p:nvPr/>
        </p:nvSpPr>
        <p:spPr>
          <a:xfrm>
            <a:off x="868680" y="2331720"/>
            <a:ext cx="4480560" cy="502920"/>
          </a:xfrm>
          <a:prstGeom prst="rect">
            <a:avLst/>
          </a:prstGeom>
          <a:solidFill>
            <a:srgbClr val="071B33">
              <a:alpha val="82000"/>
            </a:srgbClr>
          </a:solidFill>
          <a:ln w="12700">
            <a:solidFill>
              <a:srgbClr val="FF3B4F">
                <a:alpha val="85000"/>
              </a:srgbClr>
            </a:solidFill>
          </a:ln>
        </p:spPr>
        <p:txBody>
          <a:bodyPr wrap="square" lIns="1016" tIns="1016" rIns="1016" bIns="1016" rtlCol="0" anchor="ctr">
            <a:normAutofit/>
          </a:bodyPr>
          <a:lstStyle/>
          <a:p>
            <a:pPr indent="0" marL="0">
              <a:buNone/>
            </a:pPr>
            <a:r>
              <a:rPr lang="en-US" sz="2000" b="1" dirty="0">
                <a:solidFill>
                  <a:srgbClr val="FF3B4F"/>
                </a:solidFill>
                <a:latin typeface="Yu Gothic" pitchFamily="34" charset="0"/>
                <a:ea typeface="Yu Gothic" pitchFamily="34" charset="-122"/>
                <a:cs typeface="Yu Gothic" pitchFamily="34" charset="-120"/>
              </a:rPr>
              <a:t>未確定</a:t>
            </a:r>
            <a:endParaRPr lang="en-US" sz="2000" dirty="0"/>
          </a:p>
        </p:txBody>
      </p:sp>
      <p:sp>
        <p:nvSpPr>
          <p:cNvPr id="6" name="Text 3"/>
          <p:cNvSpPr/>
          <p:nvPr/>
        </p:nvSpPr>
        <p:spPr>
          <a:xfrm>
            <a:off x="868680" y="2887675"/>
            <a:ext cx="4480560" cy="819302"/>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600" dirty="0">
                <a:solidFill>
                  <a:srgbClr val="DCE9F7"/>
                </a:solidFill>
                <a:latin typeface="Yu Gothic" pitchFamily="34" charset="0"/>
                <a:ea typeface="Yu Gothic" pitchFamily="34" charset="-122"/>
                <a:cs typeface="Yu Gothic" pitchFamily="34" charset="-120"/>
              </a:rPr>
              <a:t>岡本選手の7月以降の成績・今後の表彰可能性</a:t>
            </a:r>
            <a:endParaRPr lang="en-US" sz="1600" dirty="0"/>
          </a:p>
        </p:txBody>
      </p:sp>
      <p:sp>
        <p:nvSpPr>
          <p:cNvPr id="7" name="Text 4"/>
          <p:cNvSpPr/>
          <p:nvPr/>
        </p:nvSpPr>
        <p:spPr>
          <a:xfrm>
            <a:off x="5806440" y="2331720"/>
            <a:ext cx="4251960" cy="502920"/>
          </a:xfrm>
          <a:prstGeom prst="rect">
            <a:avLst/>
          </a:prstGeom>
          <a:solidFill>
            <a:srgbClr val="071B33">
              <a:alpha val="82000"/>
            </a:srgbClr>
          </a:solidFill>
          <a:ln w="12700">
            <a:solidFill>
              <a:srgbClr val="FF8A1F">
                <a:alpha val="85000"/>
              </a:srgbClr>
            </a:solidFill>
          </a:ln>
        </p:spPr>
        <p:txBody>
          <a:bodyPr wrap="square" lIns="1016" tIns="1016" rIns="1016" bIns="1016" rtlCol="0" anchor="ctr">
            <a:normAutofit/>
          </a:bodyPr>
          <a:lstStyle/>
          <a:p>
            <a:pPr indent="0" marL="0">
              <a:buNone/>
            </a:pPr>
            <a:r>
              <a:rPr lang="en-US" sz="2000" b="1" dirty="0">
                <a:solidFill>
                  <a:srgbClr val="FF8A1F"/>
                </a:solidFill>
                <a:latin typeface="Yu Gothic" pitchFamily="34" charset="0"/>
                <a:ea typeface="Yu Gothic" pitchFamily="34" charset="-122"/>
                <a:cs typeface="Yu Gothic" pitchFamily="34" charset="-120"/>
              </a:rPr>
              <a:t>未分析</a:t>
            </a:r>
            <a:endParaRPr lang="en-US" sz="2000" dirty="0"/>
          </a:p>
        </p:txBody>
      </p:sp>
      <p:sp>
        <p:nvSpPr>
          <p:cNvPr id="8" name="Text 5"/>
          <p:cNvSpPr/>
          <p:nvPr/>
        </p:nvSpPr>
        <p:spPr>
          <a:xfrm>
            <a:off x="5806440" y="2887675"/>
            <a:ext cx="4251960" cy="819302"/>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600" dirty="0">
                <a:solidFill>
                  <a:srgbClr val="DCE9F7"/>
                </a:solidFill>
                <a:latin typeface="Yu Gothic" pitchFamily="34" charset="0"/>
                <a:ea typeface="Yu Gothic" pitchFamily="34" charset="-122"/>
                <a:cs typeface="Yu Gothic" pitchFamily="34" charset="-120"/>
              </a:rPr>
              <a:t>チームの今シーズン最終成績との関連</a:t>
            </a:r>
            <a:endParaRPr lang="en-US" sz="1600" dirty="0"/>
          </a:p>
        </p:txBody>
      </p:sp>
      <p:sp>
        <p:nvSpPr>
          <p:cNvPr id="9" name="Text 6"/>
          <p:cNvSpPr/>
          <p:nvPr/>
        </p:nvSpPr>
        <p:spPr>
          <a:xfrm>
            <a:off x="868680" y="4800600"/>
            <a:ext cx="4114800" cy="548640"/>
          </a:xfrm>
          <a:prstGeom prst="rect">
            <a:avLst/>
          </a:prstGeom>
          <a:noFill/>
          <a:ln/>
        </p:spPr>
        <p:txBody>
          <a:bodyPr wrap="square" lIns="254" tIns="254" rIns="254" bIns="254" rtlCol="0" anchor="ctr"/>
          <a:lstStyle/>
          <a:p>
            <a:pPr indent="0" marL="0">
              <a:buNone/>
            </a:pPr>
            <a:r>
              <a:rPr lang="en-US" sz="2400" b="1" dirty="0">
                <a:solidFill>
                  <a:srgbClr val="FFCF4A"/>
                </a:solidFill>
              </a:rPr>
              <a:t>強い言葉ほど、根拠も強く。</a:t>
            </a:r>
            <a:endParaRPr lang="en-US" sz="2400" dirty="0"/>
          </a:p>
        </p:txBody>
      </p:sp>
      <p:sp>
        <p:nvSpPr>
          <p:cNvPr id="11" name="Text 7"/>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22 / 30</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50914"/>
        </a:solidFill>
      </p:bgPr>
    </p:bg>
    <p:spTree>
      <p:nvGrpSpPr>
        <p:cNvPr id="1" name=""/>
        <p:cNvGrpSpPr/>
        <p:nvPr/>
      </p:nvGrpSpPr>
      <p:grpSpPr>
        <a:xfrm>
          <a:off x="0" y="0"/>
          <a:ext cx="0" cy="0"/>
          <a:chOff x="0" y="0"/>
          <a:chExt cx="0" cy="0"/>
        </a:xfrm>
      </p:grpSpPr>
      <p:pic>
        <p:nvPicPr>
          <p:cNvPr id="2" name="Image 0" descr="/mnt/data/a_high_tech_sports_broadcast_data_visualization_batch_3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CONTENT SAFETY</a:t>
            </a:r>
            <a:endParaRPr lang="en-US" sz="1300" dirty="0"/>
          </a:p>
        </p:txBody>
      </p:sp>
      <p:sp>
        <p:nvSpPr>
          <p:cNvPr id="4" name="Text 1"/>
          <p:cNvSpPr/>
          <p:nvPr/>
        </p:nvSpPr>
        <p:spPr>
          <a:xfrm>
            <a:off x="658368" y="1051560"/>
            <a:ext cx="7315200" cy="914400"/>
          </a:xfrm>
          <a:prstGeom prst="rect">
            <a:avLst/>
          </a:prstGeom>
          <a:noFill/>
          <a:ln/>
        </p:spPr>
        <p:txBody>
          <a:bodyPr wrap="square" lIns="508" tIns="508" rIns="508" bIns="508" rtlCol="0" anchor="ctr">
            <a:normAutofit/>
          </a:bodyPr>
          <a:lstStyle/>
          <a:p>
            <a:pPr indent="0" marL="0">
              <a:buNone/>
            </a:pPr>
            <a:r>
              <a:rPr lang="en-US" sz="3800" b="1" dirty="0">
                <a:solidFill>
                  <a:srgbClr val="FFFFFF"/>
                </a:solidFill>
                <a:latin typeface="Yu Gothic" pitchFamily="34" charset="0"/>
                <a:ea typeface="Yu Gothic" pitchFamily="34" charset="-122"/>
                <a:cs typeface="Yu Gothic" pitchFamily="34" charset="-120"/>
              </a:rPr>
              <a:t>動画制作上のリスク配慮</a:t>
            </a:r>
            <a:endParaRPr lang="en-US" sz="3800" dirty="0"/>
          </a:p>
        </p:txBody>
      </p:sp>
      <p:sp>
        <p:nvSpPr>
          <p:cNvPr id="5" name="Text 2"/>
          <p:cNvSpPr/>
          <p:nvPr/>
        </p:nvSpPr>
        <p:spPr>
          <a:xfrm>
            <a:off x="777240" y="2148840"/>
            <a:ext cx="3291840" cy="496062"/>
          </a:xfrm>
          <a:prstGeom prst="rect">
            <a:avLst/>
          </a:prstGeom>
          <a:solidFill>
            <a:srgbClr val="071B33">
              <a:alpha val="82000"/>
            </a:srgbClr>
          </a:solidFill>
          <a:ln w="12700">
            <a:solidFill>
              <a:srgbClr val="55D7FF">
                <a:alpha val="85000"/>
              </a:srgbClr>
            </a:solidFill>
          </a:ln>
        </p:spPr>
        <p:txBody>
          <a:bodyPr wrap="square" lIns="1016" tIns="1016" rIns="1016" bIns="1016" rtlCol="0" anchor="ctr">
            <a:normAutofit/>
          </a:bodyPr>
          <a:lstStyle/>
          <a:p>
            <a:pPr indent="0" marL="0">
              <a:buNone/>
            </a:pPr>
            <a:r>
              <a:rPr lang="en-US" sz="1800" b="1" dirty="0">
                <a:solidFill>
                  <a:srgbClr val="55D7FF"/>
                </a:solidFill>
                <a:latin typeface="Yu Gothic" pitchFamily="34" charset="0"/>
                <a:ea typeface="Yu Gothic" pitchFamily="34" charset="-122"/>
                <a:cs typeface="Yu Gothic" pitchFamily="34" charset="-120"/>
              </a:rPr>
              <a:t>事実紹介に徹する</a:t>
            </a:r>
            <a:endParaRPr lang="en-US" sz="1800" dirty="0"/>
          </a:p>
        </p:txBody>
      </p:sp>
      <p:sp>
        <p:nvSpPr>
          <p:cNvPr id="6" name="Text 3"/>
          <p:cNvSpPr/>
          <p:nvPr/>
        </p:nvSpPr>
        <p:spPr>
          <a:xfrm>
            <a:off x="777240" y="2687422"/>
            <a:ext cx="3291840" cy="793699"/>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500" dirty="0">
                <a:solidFill>
                  <a:srgbClr val="DCE9F7"/>
                </a:solidFill>
                <a:latin typeface="Yu Gothic" pitchFamily="34" charset="0"/>
                <a:ea typeface="Yu Gothic" pitchFamily="34" charset="-122"/>
                <a:cs typeface="Yu Gothic" pitchFamily="34" charset="-120"/>
              </a:rPr>
              <a:t>公式発表・複数報道機関の事実を中心に紹介。</a:t>
            </a:r>
            <a:endParaRPr lang="en-US" sz="1500" dirty="0"/>
          </a:p>
        </p:txBody>
      </p:sp>
      <p:sp>
        <p:nvSpPr>
          <p:cNvPr id="7" name="Text 4"/>
          <p:cNvSpPr/>
          <p:nvPr/>
        </p:nvSpPr>
        <p:spPr>
          <a:xfrm>
            <a:off x="4343400" y="2148840"/>
            <a:ext cx="3154680" cy="496062"/>
          </a:xfrm>
          <a:prstGeom prst="rect">
            <a:avLst/>
          </a:prstGeom>
          <a:solidFill>
            <a:srgbClr val="071B33">
              <a:alpha val="82000"/>
            </a:srgbClr>
          </a:solidFill>
          <a:ln w="12700">
            <a:solidFill>
              <a:srgbClr val="FFCF4A">
                <a:alpha val="85000"/>
              </a:srgbClr>
            </a:solidFill>
          </a:ln>
        </p:spPr>
        <p:txBody>
          <a:bodyPr wrap="square" lIns="1016" tIns="1016" rIns="1016" bIns="1016" rtlCol="0" anchor="ctr">
            <a:normAutofit/>
          </a:bodyPr>
          <a:lstStyle/>
          <a:p>
            <a:pPr indent="0" marL="0">
              <a:buNone/>
            </a:pPr>
            <a:r>
              <a:rPr lang="en-US" sz="1800" b="1" dirty="0">
                <a:solidFill>
                  <a:srgbClr val="FFCF4A"/>
                </a:solidFill>
                <a:latin typeface="Yu Gothic" pitchFamily="34" charset="0"/>
                <a:ea typeface="Yu Gothic" pitchFamily="34" charset="-122"/>
                <a:cs typeface="Yu Gothic" pitchFamily="34" charset="-120"/>
              </a:rPr>
              <a:t>肖像は使わない</a:t>
            </a:r>
            <a:endParaRPr lang="en-US" sz="1800" dirty="0"/>
          </a:p>
        </p:txBody>
      </p:sp>
      <p:sp>
        <p:nvSpPr>
          <p:cNvPr id="8" name="Text 5"/>
          <p:cNvSpPr/>
          <p:nvPr/>
        </p:nvSpPr>
        <p:spPr>
          <a:xfrm>
            <a:off x="4343400" y="2687422"/>
            <a:ext cx="3154680" cy="793699"/>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500" dirty="0">
                <a:solidFill>
                  <a:srgbClr val="DCE9F7"/>
                </a:solidFill>
                <a:latin typeface="Yu Gothic" pitchFamily="34" charset="0"/>
                <a:ea typeface="Yu Gothic" pitchFamily="34" charset="-122"/>
                <a:cs typeface="Yu Gothic" pitchFamily="34" charset="-120"/>
              </a:rPr>
              <a:t>選手本人の写真・肖像は使用しない設計。</a:t>
            </a:r>
            <a:endParaRPr lang="en-US" sz="1500" dirty="0"/>
          </a:p>
        </p:txBody>
      </p:sp>
      <p:sp>
        <p:nvSpPr>
          <p:cNvPr id="9" name="Text 6"/>
          <p:cNvSpPr/>
          <p:nvPr/>
        </p:nvSpPr>
        <p:spPr>
          <a:xfrm>
            <a:off x="7772400" y="2148840"/>
            <a:ext cx="3017520" cy="496062"/>
          </a:xfrm>
          <a:prstGeom prst="rect">
            <a:avLst/>
          </a:prstGeom>
          <a:solidFill>
            <a:srgbClr val="071B33">
              <a:alpha val="82000"/>
            </a:srgbClr>
          </a:solidFill>
          <a:ln w="12700">
            <a:solidFill>
              <a:srgbClr val="8AE080">
                <a:alpha val="85000"/>
              </a:srgbClr>
            </a:solidFill>
          </a:ln>
        </p:spPr>
        <p:txBody>
          <a:bodyPr wrap="square" lIns="1016" tIns="1016" rIns="1016" bIns="1016" rtlCol="0" anchor="ctr">
            <a:normAutofit/>
          </a:bodyPr>
          <a:lstStyle/>
          <a:p>
            <a:pPr indent="0" marL="0">
              <a:buNone/>
            </a:pPr>
            <a:r>
              <a:rPr lang="en-US" sz="1800" b="1" dirty="0">
                <a:solidFill>
                  <a:srgbClr val="8AE080"/>
                </a:solidFill>
                <a:latin typeface="Yu Gothic" pitchFamily="34" charset="0"/>
                <a:ea typeface="Yu Gothic" pitchFamily="34" charset="-122"/>
                <a:cs typeface="Yu Gothic" pitchFamily="34" charset="-120"/>
              </a:rPr>
              <a:t>推測は明示</a:t>
            </a:r>
            <a:endParaRPr lang="en-US" sz="1800" dirty="0"/>
          </a:p>
        </p:txBody>
      </p:sp>
      <p:sp>
        <p:nvSpPr>
          <p:cNvPr id="10" name="Text 7"/>
          <p:cNvSpPr/>
          <p:nvPr/>
        </p:nvSpPr>
        <p:spPr>
          <a:xfrm>
            <a:off x="7772400" y="2687422"/>
            <a:ext cx="3017520" cy="793699"/>
          </a:xfrm>
          <a:prstGeom prst="rect">
            <a:avLst/>
          </a:prstGeom>
          <a:solidFill>
            <a:srgbClr val="051021">
              <a:alpha val="80000"/>
            </a:srgbClr>
          </a:solidFill>
          <a:ln w="12700">
            <a:solidFill>
              <a:srgbClr val="0D2744">
                <a:alpha val="65000"/>
              </a:srgbClr>
            </a:solidFill>
          </a:ln>
        </p:spPr>
        <p:txBody>
          <a:bodyPr wrap="square" lIns="1524" tIns="1524" rIns="1524" bIns="1524" rtlCol="0" anchor="ctr">
            <a:normAutofit/>
          </a:bodyPr>
          <a:lstStyle/>
          <a:p>
            <a:pPr indent="0" marL="0">
              <a:buNone/>
            </a:pPr>
            <a:r>
              <a:rPr lang="en-US" sz="1500" dirty="0">
                <a:solidFill>
                  <a:srgbClr val="DCE9F7"/>
                </a:solidFill>
                <a:latin typeface="Yu Gothic" pitchFamily="34" charset="0"/>
                <a:ea typeface="Yu Gothic" pitchFamily="34" charset="-122"/>
                <a:cs typeface="Yu Gothic" pitchFamily="34" charset="-120"/>
              </a:rPr>
              <a:t>「可能性」「推測」と分けて話す。</a:t>
            </a:r>
            <a:endParaRPr lang="en-US" sz="1500" dirty="0"/>
          </a:p>
        </p:txBody>
      </p:sp>
      <p:sp>
        <p:nvSpPr>
          <p:cNvPr id="12" name="Text 8"/>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23 / 30</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50914"/>
        </a:solidFill>
      </p:bgPr>
    </p:bg>
    <p:spTree>
      <p:nvGrpSpPr>
        <p:cNvPr id="1" name=""/>
        <p:cNvGrpSpPr/>
        <p:nvPr/>
      </p:nvGrpSpPr>
      <p:grpSpPr>
        <a:xfrm>
          <a:off x="0" y="0"/>
          <a:ext cx="0" cy="0"/>
          <a:chOff x="0" y="0"/>
          <a:chExt cx="0" cy="0"/>
        </a:xfrm>
      </p:grpSpPr>
      <p:pic>
        <p:nvPicPr>
          <p:cNvPr id="2" name="Image 0" descr="/mnt/data/a_wide_cinematic_sports_news_studio_set_scene_no_batch_7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YOUTUBE READY CHECK</a:t>
            </a:r>
            <a:endParaRPr lang="en-US" sz="1300" dirty="0"/>
          </a:p>
        </p:txBody>
      </p:sp>
      <p:sp>
        <p:nvSpPr>
          <p:cNvPr id="4" name="Text 1"/>
          <p:cNvSpPr/>
          <p:nvPr/>
        </p:nvSpPr>
        <p:spPr>
          <a:xfrm>
            <a:off x="658368" y="1051560"/>
            <a:ext cx="7498080" cy="1417320"/>
          </a:xfrm>
          <a:prstGeom prst="rect">
            <a:avLst/>
          </a:prstGeom>
          <a:noFill/>
          <a:ln/>
        </p:spPr>
        <p:txBody>
          <a:bodyPr wrap="square" lIns="508" tIns="508" rIns="508" bIns="508" rtlCol="0" anchor="ctr">
            <a:normAutofit/>
          </a:bodyPr>
          <a:lstStyle/>
          <a:p>
            <a:pPr indent="0" marL="0">
              <a:buNone/>
            </a:pPr>
            <a:r>
              <a:rPr lang="en-US" sz="3700" b="1" dirty="0">
                <a:solidFill>
                  <a:srgbClr val="FFFFFF"/>
                </a:solidFill>
                <a:latin typeface="Yu Gothic" pitchFamily="34" charset="0"/>
                <a:ea typeface="Yu Gothic" pitchFamily="34" charset="-122"/>
                <a:cs typeface="Yu Gothic" pitchFamily="34" charset="-120"/>
              </a:rPr>
              <a:t>YouTubeで流しやすいように</a:t>
            </a:r>
            <a:endParaRPr lang="en-US" sz="3700" dirty="0"/>
          </a:p>
          <a:p>
            <a:pPr indent="0" marL="0">
              <a:buNone/>
            </a:pPr>
            <a:r>
              <a:rPr lang="en-US" sz="3700" b="1" dirty="0">
                <a:solidFill>
                  <a:srgbClr val="FFFFFF"/>
                </a:solidFill>
                <a:latin typeface="Yu Gothic" pitchFamily="34" charset="0"/>
                <a:ea typeface="Yu Gothic" pitchFamily="34" charset="-122"/>
                <a:cs typeface="Yu Gothic" pitchFamily="34" charset="-120"/>
              </a:rPr>
              <a:t>改良した点</a:t>
            </a:r>
            <a:endParaRPr lang="en-US" sz="3700" dirty="0"/>
          </a:p>
        </p:txBody>
      </p:sp>
      <p:sp>
        <p:nvSpPr>
          <p:cNvPr id="5" name="Text 2"/>
          <p:cNvSpPr/>
          <p:nvPr/>
        </p:nvSpPr>
        <p:spPr>
          <a:xfrm>
            <a:off x="868680" y="2788920"/>
            <a:ext cx="6217920" cy="1737360"/>
          </a:xfrm>
          <a:prstGeom prst="rect">
            <a:avLst/>
          </a:prstGeom>
          <a:solidFill>
            <a:srgbClr val="000000">
              <a:alpha val="80000"/>
            </a:srgbClr>
          </a:solidFill>
          <a:ln/>
        </p:spPr>
        <p:txBody>
          <a:bodyPr wrap="square" lIns="508" tIns="508" rIns="508" bIns="508" rtlCol="0" anchor="ctr">
            <a:normAutofit/>
          </a:bodyPr>
          <a:lstStyle/>
          <a:p>
            <a:pPr indent="0" marL="0">
              <a:buNone/>
            </a:pPr>
            <a:r>
              <a:rPr lang="en-US" sz="2300" b="1" dirty="0">
                <a:solidFill>
                  <a:srgbClr val="FFFFFF"/>
                </a:solidFill>
              </a:rPr>
              <a:t>✓ 大きな見出し</a:t>
            </a:r>
            <a:endParaRPr lang="en-US" sz="2300" dirty="0"/>
          </a:p>
          <a:p>
            <a:pPr indent="0" marL="0">
              <a:buNone/>
            </a:pPr>
            <a:r>
              <a:rPr lang="en-US" sz="2300" b="1" dirty="0">
                <a:solidFill>
                  <a:srgbClr val="FFFFFF"/>
                </a:solidFill>
              </a:rPr>
              <a:t>✓ 1枚1メッセージ</a:t>
            </a:r>
            <a:endParaRPr lang="en-US" sz="2300" dirty="0"/>
          </a:p>
          <a:p>
            <a:pPr indent="0" marL="0">
              <a:buNone/>
            </a:pPr>
            <a:r>
              <a:rPr lang="en-US" sz="2300" b="1" dirty="0">
                <a:solidFill>
                  <a:srgbClr val="FFFFFF"/>
                </a:solidFill>
              </a:rPr>
              <a:t>✓ 背景はスポーツ番組風</a:t>
            </a:r>
            <a:endParaRPr lang="en-US" sz="2300" dirty="0"/>
          </a:p>
          <a:p>
            <a:pPr indent="0" marL="0">
              <a:buNone/>
            </a:pPr>
            <a:r>
              <a:rPr lang="en-US" sz="2300" b="1" dirty="0">
                <a:solidFill>
                  <a:srgbClr val="FFFFFF"/>
                </a:solidFill>
              </a:rPr>
              <a:t>✓ 表は最小限、数字は大きく</a:t>
            </a:r>
            <a:endParaRPr lang="en-US" sz="2300" dirty="0"/>
          </a:p>
          <a:p>
            <a:pPr indent="0" marL="0">
              <a:buNone/>
            </a:pPr>
            <a:r>
              <a:rPr lang="en-US" sz="2300" b="1" dirty="0">
                <a:solidFill>
                  <a:srgbClr val="FFFFFF"/>
                </a:solidFill>
              </a:rPr>
              <a:t>✓ 全スライドにナレーションノート</a:t>
            </a:r>
            <a:endParaRPr lang="en-US" sz="2300" dirty="0"/>
          </a:p>
        </p:txBody>
      </p:sp>
      <p:sp>
        <p:nvSpPr>
          <p:cNvPr id="7" name="Text 3"/>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24 / 30</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50914"/>
        </a:solidFill>
      </p:bgPr>
    </p:bg>
    <p:spTree>
      <p:nvGrpSpPr>
        <p:cNvPr id="1" name=""/>
        <p:cNvGrpSpPr/>
        <p:nvPr/>
      </p:nvGrpSpPr>
      <p:grpSpPr>
        <a:xfrm>
          <a:off x="0" y="0"/>
          <a:ext cx="0" cy="0"/>
          <a:chOff x="0" y="0"/>
          <a:chExt cx="0" cy="0"/>
        </a:xfrm>
      </p:grpSpPr>
      <p:pic>
        <p:nvPicPr>
          <p:cNvPr id="2" name="Image 0" descr="/mnt/data/a_wide_cinematic_sports_news_studio_set_scene_no_batch_7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SOURCES</a:t>
            </a:r>
            <a:endParaRPr lang="en-US" sz="1300" dirty="0"/>
          </a:p>
        </p:txBody>
      </p:sp>
      <p:sp>
        <p:nvSpPr>
          <p:cNvPr id="4" name="Text 1"/>
          <p:cNvSpPr/>
          <p:nvPr/>
        </p:nvSpPr>
        <p:spPr>
          <a:xfrm>
            <a:off x="658368" y="1051560"/>
            <a:ext cx="6766560" cy="914400"/>
          </a:xfrm>
          <a:prstGeom prst="rect">
            <a:avLst/>
          </a:prstGeom>
          <a:noFill/>
          <a:ln/>
        </p:spPr>
        <p:txBody>
          <a:bodyPr wrap="square" lIns="508" tIns="508" rIns="508" bIns="508" rtlCol="0" anchor="ctr">
            <a:normAutofit/>
          </a:bodyPr>
          <a:lstStyle/>
          <a:p>
            <a:pPr indent="0" marL="0">
              <a:buNone/>
            </a:pPr>
            <a:r>
              <a:rPr lang="en-US" sz="3900" b="1" dirty="0">
                <a:solidFill>
                  <a:srgbClr val="FFFFFF"/>
                </a:solidFill>
                <a:latin typeface="Yu Gothic" pitchFamily="34" charset="0"/>
                <a:ea typeface="Yu Gothic" pitchFamily="34" charset="-122"/>
                <a:cs typeface="Yu Gothic" pitchFamily="34" charset="-120"/>
              </a:rPr>
              <a:t>出典一覧</a:t>
            </a:r>
            <a:endParaRPr lang="en-US" sz="3900" dirty="0"/>
          </a:p>
        </p:txBody>
      </p:sp>
      <p:sp>
        <p:nvSpPr>
          <p:cNvPr id="5" name="Text 2"/>
          <p:cNvSpPr/>
          <p:nvPr/>
        </p:nvSpPr>
        <p:spPr>
          <a:xfrm>
            <a:off x="868680" y="2514600"/>
            <a:ext cx="7040880" cy="1325880"/>
          </a:xfrm>
          <a:prstGeom prst="rect">
            <a:avLst/>
          </a:prstGeom>
          <a:solidFill>
            <a:srgbClr val="000000">
              <a:alpha val="78000"/>
            </a:srgbClr>
          </a:solidFill>
          <a:ln/>
        </p:spPr>
        <p:txBody>
          <a:bodyPr wrap="square" lIns="508" tIns="508" rIns="508" bIns="508" rtlCol="0" anchor="ctr">
            <a:normAutofit/>
          </a:bodyPr>
          <a:lstStyle/>
          <a:p>
            <a:pPr indent="0" marL="0">
              <a:buNone/>
            </a:pPr>
            <a:r>
              <a:rPr lang="en-US" sz="2400" b="1" dirty="0">
                <a:solidFill>
                  <a:srgbClr val="FFFFFF"/>
                </a:solidFill>
              </a:rPr>
              <a:t>NHK / 日本経済新聞 / 時事通信</a:t>
            </a:r>
            <a:endParaRPr lang="en-US" sz="2400" dirty="0"/>
          </a:p>
          <a:p>
            <a:pPr indent="0" marL="0">
              <a:buNone/>
            </a:pPr>
            <a:r>
              <a:rPr lang="en-US" sz="2400" b="1" dirty="0">
                <a:solidFill>
                  <a:srgbClr val="FFFFFF"/>
                </a:solidFill>
              </a:rPr>
              <a:t>Yahoo!ニュース掲載媒体</a:t>
            </a:r>
            <a:endParaRPr lang="en-US" sz="2400" dirty="0"/>
          </a:p>
          <a:p>
            <a:pPr indent="0" marL="0">
              <a:buNone/>
            </a:pPr>
            <a:r>
              <a:rPr lang="en-US" sz="2400" b="1" dirty="0">
                <a:solidFill>
                  <a:srgbClr val="FFFFFF"/>
                </a:solidFill>
              </a:rPr>
              <a:t>スポニチアネックス / サンケイスポーツ / ベースボールキング</a:t>
            </a:r>
            <a:endParaRPr lang="en-US" sz="2400" dirty="0"/>
          </a:p>
        </p:txBody>
      </p:sp>
      <p:sp>
        <p:nvSpPr>
          <p:cNvPr id="6" name="Text 3"/>
          <p:cNvSpPr/>
          <p:nvPr/>
        </p:nvSpPr>
        <p:spPr>
          <a:xfrm>
            <a:off x="868680" y="4434840"/>
            <a:ext cx="5943600" cy="438912"/>
          </a:xfrm>
          <a:prstGeom prst="rect">
            <a:avLst/>
          </a:prstGeom>
          <a:noFill/>
          <a:ln/>
        </p:spPr>
        <p:txBody>
          <a:bodyPr wrap="square" lIns="254" tIns="254" rIns="254" bIns="254" rtlCol="0" anchor="ctr"/>
          <a:lstStyle/>
          <a:p>
            <a:pPr indent="0" marL="0">
              <a:buNone/>
            </a:pPr>
            <a:r>
              <a:rPr lang="en-US" sz="1700" dirty="0">
                <a:solidFill>
                  <a:srgbClr val="B8C7D9"/>
                </a:solidFill>
              </a:rPr>
              <a:t>※数値を新しく創作せず、確認できた範囲だけを使用。</a:t>
            </a:r>
            <a:endParaRPr lang="en-US" sz="1700" dirty="0"/>
          </a:p>
        </p:txBody>
      </p:sp>
      <p:sp>
        <p:nvSpPr>
          <p:cNvPr id="8" name="Text 4"/>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25 / 30</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50914"/>
        </a:solidFill>
      </p:bgPr>
    </p:bg>
    <p:spTree>
      <p:nvGrpSpPr>
        <p:cNvPr id="1" name=""/>
        <p:cNvGrpSpPr/>
        <p:nvPr/>
      </p:nvGrpSpPr>
      <p:grpSpPr>
        <a:xfrm>
          <a:off x="0" y="0"/>
          <a:ext cx="0" cy="0"/>
          <a:chOff x="0" y="0"/>
          <a:chExt cx="0" cy="0"/>
        </a:xfrm>
      </p:grpSpPr>
      <p:pic>
        <p:nvPicPr>
          <p:cNvPr id="2" name="Image 0" descr="/mnt/data/a_dramatic_cinematic_sports_scene_overall_a_clos_batch_6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5989320" y="685800"/>
            <a:ext cx="457200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FINAL MESSAGE</a:t>
            </a:r>
            <a:endParaRPr lang="en-US" sz="1300" dirty="0"/>
          </a:p>
        </p:txBody>
      </p:sp>
      <p:sp>
        <p:nvSpPr>
          <p:cNvPr id="4" name="Text 1"/>
          <p:cNvSpPr/>
          <p:nvPr/>
        </p:nvSpPr>
        <p:spPr>
          <a:xfrm>
            <a:off x="5989320" y="1325880"/>
            <a:ext cx="4937760" cy="1234440"/>
          </a:xfrm>
          <a:prstGeom prst="rect">
            <a:avLst/>
          </a:prstGeom>
          <a:noFill/>
          <a:ln/>
        </p:spPr>
        <p:txBody>
          <a:bodyPr wrap="square" lIns="508" tIns="508" rIns="508" bIns="508" rtlCol="0" anchor="ctr">
            <a:normAutofit/>
          </a:bodyPr>
          <a:lstStyle/>
          <a:p>
            <a:pPr indent="0" marL="0">
              <a:buNone/>
            </a:pPr>
            <a:r>
              <a:rPr lang="en-US" sz="3900" b="1" dirty="0">
                <a:solidFill>
                  <a:srgbClr val="FFFFFF"/>
                </a:solidFill>
                <a:latin typeface="Yu Gothic" pitchFamily="34" charset="0"/>
                <a:ea typeface="Yu Gothic" pitchFamily="34" charset="-122"/>
                <a:cs typeface="Yu Gothic" pitchFamily="34" charset="-120"/>
              </a:rPr>
              <a:t>2か月連続の快挙</a:t>
            </a:r>
            <a:endParaRPr lang="en-US" sz="3900" dirty="0"/>
          </a:p>
        </p:txBody>
      </p:sp>
      <p:sp>
        <p:nvSpPr>
          <p:cNvPr id="5" name="Text 2"/>
          <p:cNvSpPr/>
          <p:nvPr/>
        </p:nvSpPr>
        <p:spPr>
          <a:xfrm>
            <a:off x="6053328" y="3154680"/>
            <a:ext cx="4297680" cy="868680"/>
          </a:xfrm>
          <a:prstGeom prst="rect">
            <a:avLst/>
          </a:prstGeom>
          <a:solidFill>
            <a:srgbClr val="000000">
              <a:alpha val="82000"/>
            </a:srgbClr>
          </a:solidFill>
          <a:ln/>
        </p:spPr>
        <p:txBody>
          <a:bodyPr wrap="square" lIns="254" tIns="254" rIns="254" bIns="254" rtlCol="0" anchor="ctr"/>
          <a:lstStyle/>
          <a:p>
            <a:pPr indent="0" marL="0">
              <a:buNone/>
            </a:pPr>
            <a:r>
              <a:rPr lang="en-US" sz="2500" b="1" dirty="0">
                <a:solidFill>
                  <a:srgbClr val="FFFFFF"/>
                </a:solidFill>
              </a:rPr>
              <a:t>5月度：村上宗隆選手</a:t>
            </a:r>
            <a:endParaRPr lang="en-US" sz="2500" dirty="0"/>
          </a:p>
          <a:p>
            <a:pPr indent="0" marL="0">
              <a:buNone/>
            </a:pPr>
            <a:r>
              <a:rPr lang="en-US" sz="2500" b="1" dirty="0">
                <a:solidFill>
                  <a:srgbClr val="FFFFFF"/>
                </a:solidFill>
              </a:rPr>
              <a:t>6月度：岡本和真選手</a:t>
            </a:r>
            <a:endParaRPr lang="en-US" sz="2500" dirty="0"/>
          </a:p>
        </p:txBody>
      </p:sp>
      <p:sp>
        <p:nvSpPr>
          <p:cNvPr id="6" name="Text 3"/>
          <p:cNvSpPr/>
          <p:nvPr/>
        </p:nvSpPr>
        <p:spPr>
          <a:xfrm>
            <a:off x="6053328" y="4617720"/>
            <a:ext cx="4297680" cy="475488"/>
          </a:xfrm>
          <a:prstGeom prst="rect">
            <a:avLst/>
          </a:prstGeom>
          <a:noFill/>
          <a:ln/>
        </p:spPr>
        <p:txBody>
          <a:bodyPr wrap="square" lIns="254" tIns="254" rIns="254" bIns="254" rtlCol="0" anchor="ctr"/>
          <a:lstStyle/>
          <a:p>
            <a:pPr indent="0" marL="0">
              <a:buNone/>
            </a:pPr>
            <a:r>
              <a:rPr lang="en-US" sz="1800" b="1" dirty="0">
                <a:solidFill>
                  <a:srgbClr val="FFCF4A"/>
                </a:solidFill>
              </a:rPr>
              <a:t>今後の成績も、数字で追うと面白い。</a:t>
            </a:r>
            <a:endParaRPr lang="en-US" sz="1800" dirty="0"/>
          </a:p>
        </p:txBody>
      </p:sp>
      <p:sp>
        <p:nvSpPr>
          <p:cNvPr id="8" name="Text 4"/>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26 / 30</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50914"/>
        </a:solidFill>
      </p:bgPr>
    </p:bg>
    <p:spTree>
      <p:nvGrpSpPr>
        <p:cNvPr id="1" name=""/>
        <p:cNvGrpSpPr/>
        <p:nvPr/>
      </p:nvGrpSpPr>
      <p:grpSpPr>
        <a:xfrm>
          <a:off x="0" y="0"/>
          <a:ext cx="0" cy="0"/>
          <a:chOff x="0" y="0"/>
          <a:chExt cx="0" cy="0"/>
        </a:xfrm>
      </p:grpSpPr>
      <p:pic>
        <p:nvPicPr>
          <p:cNvPr id="2" name="Image 0" descr="/mnt/data/a_wide_cinematic_indoor_scene_of_a_dark_viewing_r_batch_5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NEXT EPISODE</a:t>
            </a:r>
            <a:endParaRPr lang="en-US" sz="1300" dirty="0"/>
          </a:p>
        </p:txBody>
      </p:sp>
      <p:sp>
        <p:nvSpPr>
          <p:cNvPr id="4" name="Text 1"/>
          <p:cNvSpPr/>
          <p:nvPr/>
        </p:nvSpPr>
        <p:spPr>
          <a:xfrm>
            <a:off x="658368" y="1051560"/>
            <a:ext cx="7955280" cy="914400"/>
          </a:xfrm>
          <a:prstGeom prst="rect">
            <a:avLst/>
          </a:prstGeom>
          <a:noFill/>
          <a:ln/>
        </p:spPr>
        <p:txBody>
          <a:bodyPr wrap="square" lIns="508" tIns="508" rIns="508" bIns="508" rtlCol="0" anchor="ctr">
            <a:normAutofit/>
          </a:bodyPr>
          <a:lstStyle/>
          <a:p>
            <a:pPr indent="0" marL="0">
              <a:buNone/>
            </a:pPr>
            <a:r>
              <a:rPr lang="en-US" sz="3800" b="1" dirty="0">
                <a:solidFill>
                  <a:srgbClr val="FFFFFF"/>
                </a:solidFill>
                <a:latin typeface="Yu Gothic" pitchFamily="34" charset="0"/>
                <a:ea typeface="Yu Gothic" pitchFamily="34" charset="-122"/>
                <a:cs typeface="Yu Gothic" pitchFamily="34" charset="-120"/>
              </a:rPr>
              <a:t>次回予告</a:t>
            </a:r>
            <a:endParaRPr lang="en-US" sz="3800" dirty="0"/>
          </a:p>
        </p:txBody>
      </p:sp>
      <p:sp>
        <p:nvSpPr>
          <p:cNvPr id="5" name="Text 2"/>
          <p:cNvSpPr/>
          <p:nvPr/>
        </p:nvSpPr>
        <p:spPr>
          <a:xfrm>
            <a:off x="868680" y="2560320"/>
            <a:ext cx="6675120" cy="1417320"/>
          </a:xfrm>
          <a:prstGeom prst="rect">
            <a:avLst/>
          </a:prstGeom>
          <a:solidFill>
            <a:srgbClr val="000000">
              <a:alpha val="78000"/>
            </a:srgbClr>
          </a:solidFill>
          <a:ln/>
        </p:spPr>
        <p:txBody>
          <a:bodyPr wrap="square" lIns="508" tIns="508" rIns="508" bIns="508" rtlCol="0" anchor="ctr">
            <a:normAutofit/>
          </a:bodyPr>
          <a:lstStyle/>
          <a:p>
            <a:pPr indent="0" marL="0">
              <a:buNone/>
            </a:pPr>
            <a:r>
              <a:rPr lang="en-US" sz="2300" b="1" dirty="0">
                <a:solidFill>
                  <a:srgbClr val="FFFFFF"/>
                </a:solidFill>
              </a:rPr>
              <a:t>・次回も公式発表と主要報道をベースに紹介</a:t>
            </a:r>
            <a:endParaRPr lang="en-US" sz="2300" dirty="0"/>
          </a:p>
          <a:p>
            <a:pPr indent="0" marL="0">
              <a:buNone/>
            </a:pPr>
            <a:r>
              <a:rPr lang="en-US" sz="2300" b="1" dirty="0">
                <a:solidFill>
                  <a:srgbClr val="FFFFFF"/>
                </a:solidFill>
              </a:rPr>
              <a:t>・数字で見ると、選手の調子が分かりやすい</a:t>
            </a:r>
            <a:endParaRPr lang="en-US" sz="2300" dirty="0"/>
          </a:p>
          <a:p>
            <a:pPr indent="0" marL="0">
              <a:buNone/>
            </a:pPr>
            <a:r>
              <a:rPr lang="en-US" sz="2300" b="1" dirty="0">
                <a:solidFill>
                  <a:srgbClr val="FFFFFF"/>
                </a:solidFill>
              </a:rPr>
              <a:t>・気になる選手は月ごとの成績で追う</a:t>
            </a:r>
            <a:endParaRPr lang="en-US" sz="2300" dirty="0"/>
          </a:p>
        </p:txBody>
      </p:sp>
      <p:sp>
        <p:nvSpPr>
          <p:cNvPr id="7" name="Text 3"/>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27 / 30</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50914"/>
        </a:solidFill>
      </p:bgPr>
    </p:bg>
    <p:spTree>
      <p:nvGrpSpPr>
        <p:cNvPr id="1" name=""/>
        <p:cNvGrpSpPr/>
        <p:nvPr/>
      </p:nvGrpSpPr>
      <p:grpSpPr>
        <a:xfrm>
          <a:off x="0" y="0"/>
          <a:ext cx="0" cy="0"/>
          <a:chOff x="0" y="0"/>
          <a:chExt cx="0" cy="0"/>
        </a:xfrm>
      </p:grpSpPr>
      <p:pic>
        <p:nvPicPr>
          <p:cNvPr id="2" name="Image 0" descr="/mnt/data/a_dramatic_high_energy_sports_stadium_scene_ultr_batch_1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THANK YOU</a:t>
            </a:r>
            <a:endParaRPr lang="en-US" sz="1300" dirty="0"/>
          </a:p>
        </p:txBody>
      </p:sp>
      <p:sp>
        <p:nvSpPr>
          <p:cNvPr id="4" name="Text 1"/>
          <p:cNvSpPr/>
          <p:nvPr/>
        </p:nvSpPr>
        <p:spPr>
          <a:xfrm>
            <a:off x="658368" y="1051560"/>
            <a:ext cx="7498080" cy="1005840"/>
          </a:xfrm>
          <a:prstGeom prst="rect">
            <a:avLst/>
          </a:prstGeom>
          <a:noFill/>
          <a:ln/>
        </p:spPr>
        <p:txBody>
          <a:bodyPr wrap="square" lIns="508" tIns="508" rIns="508" bIns="508" rtlCol="0" anchor="ctr">
            <a:normAutofit/>
          </a:bodyPr>
          <a:lstStyle/>
          <a:p>
            <a:pPr indent="0" marL="0">
              <a:buNone/>
            </a:pPr>
            <a:r>
              <a:rPr lang="en-US" sz="4000" b="1" dirty="0">
                <a:solidFill>
                  <a:srgbClr val="FFFFFF"/>
                </a:solidFill>
                <a:latin typeface="Yu Gothic" pitchFamily="34" charset="0"/>
                <a:ea typeface="Yu Gothic" pitchFamily="34" charset="-122"/>
                <a:cs typeface="Yu Gothic" pitchFamily="34" charset="-120"/>
              </a:rPr>
              <a:t>ご視聴ありがとうございました</a:t>
            </a:r>
            <a:endParaRPr lang="en-US" sz="4000" dirty="0"/>
          </a:p>
        </p:txBody>
      </p:sp>
      <p:sp>
        <p:nvSpPr>
          <p:cNvPr id="5" name="Text 2"/>
          <p:cNvSpPr/>
          <p:nvPr/>
        </p:nvSpPr>
        <p:spPr>
          <a:xfrm>
            <a:off x="777240" y="2971800"/>
            <a:ext cx="6035040" cy="502920"/>
          </a:xfrm>
          <a:prstGeom prst="rect">
            <a:avLst/>
          </a:prstGeom>
          <a:solidFill>
            <a:srgbClr val="000000">
              <a:alpha val="80000"/>
            </a:srgbClr>
          </a:solidFill>
          <a:ln/>
        </p:spPr>
        <p:txBody>
          <a:bodyPr wrap="square" lIns="254" tIns="254" rIns="254" bIns="254" rtlCol="0" anchor="ctr"/>
          <a:lstStyle/>
          <a:p>
            <a:pPr indent="0" marL="0">
              <a:buNone/>
            </a:pPr>
            <a:r>
              <a:rPr lang="en-US" sz="2200" b="1" dirty="0">
                <a:solidFill>
                  <a:srgbClr val="FFCF4A"/>
                </a:solidFill>
              </a:rPr>
              <a:t>質問・フィードバックはいつでもどうぞ</a:t>
            </a:r>
            <a:endParaRPr lang="en-US" sz="2200" dirty="0"/>
          </a:p>
        </p:txBody>
      </p:sp>
      <p:sp>
        <p:nvSpPr>
          <p:cNvPr id="7" name="Text 3"/>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28 / 30</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50914"/>
        </a:solidFill>
      </p:bgPr>
    </p:bg>
    <p:spTree>
      <p:nvGrpSpPr>
        <p:cNvPr id="1" name=""/>
        <p:cNvGrpSpPr/>
        <p:nvPr/>
      </p:nvGrpSpPr>
      <p:grpSpPr>
        <a:xfrm>
          <a:off x="0" y="0"/>
          <a:ext cx="0" cy="0"/>
          <a:chOff x="0" y="0"/>
          <a:chExt cx="0" cy="0"/>
        </a:xfrm>
      </p:grpSpPr>
      <p:pic>
        <p:nvPicPr>
          <p:cNvPr id="2" name="Image 0" descr="/mnt/data/a_cinematic_high_detail_3d_cg_style_illustration_batch_8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APPENDIX</a:t>
            </a:r>
            <a:endParaRPr lang="en-US" sz="1300" dirty="0"/>
          </a:p>
        </p:txBody>
      </p:sp>
      <p:sp>
        <p:nvSpPr>
          <p:cNvPr id="4" name="Text 1"/>
          <p:cNvSpPr/>
          <p:nvPr/>
        </p:nvSpPr>
        <p:spPr>
          <a:xfrm>
            <a:off x="658368" y="1051560"/>
            <a:ext cx="7589520" cy="914400"/>
          </a:xfrm>
          <a:prstGeom prst="rect">
            <a:avLst/>
          </a:prstGeom>
          <a:noFill/>
          <a:ln/>
        </p:spPr>
        <p:txBody>
          <a:bodyPr wrap="square" lIns="508" tIns="508" rIns="508" bIns="508" rtlCol="0" anchor="ctr">
            <a:normAutofit/>
          </a:bodyPr>
          <a:lstStyle/>
          <a:p>
            <a:pPr indent="0" marL="0">
              <a:buNone/>
            </a:pPr>
            <a:r>
              <a:rPr lang="en-US" sz="3700" b="1" dirty="0">
                <a:solidFill>
                  <a:srgbClr val="FFFFFF"/>
                </a:solidFill>
                <a:latin typeface="Yu Gothic" pitchFamily="34" charset="0"/>
                <a:ea typeface="Yu Gothic" pitchFamily="34" charset="-122"/>
                <a:cs typeface="Yu Gothic" pitchFamily="34" charset="-120"/>
              </a:rPr>
              <a:t>補足：日本人受賞者の歴史</a:t>
            </a:r>
            <a:endParaRPr lang="en-US" sz="3700" dirty="0"/>
          </a:p>
        </p:txBody>
      </p:sp>
      <p:sp>
        <p:nvSpPr>
          <p:cNvPr id="5" name="Text 2"/>
          <p:cNvSpPr/>
          <p:nvPr/>
        </p:nvSpPr>
        <p:spPr>
          <a:xfrm>
            <a:off x="868680" y="2468880"/>
            <a:ext cx="7040880" cy="1645920"/>
          </a:xfrm>
          <a:prstGeom prst="rect">
            <a:avLst/>
          </a:prstGeom>
          <a:solidFill>
            <a:srgbClr val="000000">
              <a:alpha val="78000"/>
            </a:srgbClr>
          </a:solidFill>
          <a:ln/>
        </p:spPr>
        <p:txBody>
          <a:bodyPr wrap="square" lIns="508" tIns="508" rIns="508" bIns="508" rtlCol="0" anchor="ctr">
            <a:normAutofit/>
          </a:bodyPr>
          <a:lstStyle/>
          <a:p>
            <a:pPr indent="0" marL="0">
              <a:buNone/>
            </a:pPr>
            <a:r>
              <a:rPr lang="en-US" sz="2300" b="1" dirty="0">
                <a:solidFill>
                  <a:srgbClr val="FFFFFF"/>
                </a:solidFill>
              </a:rPr>
              <a:t>今回で通算10人目の受賞という節目。</a:t>
            </a:r>
            <a:endParaRPr lang="en-US" sz="2300" dirty="0"/>
          </a:p>
          <a:p>
            <a:pPr indent="0" marL="0">
              <a:buNone/>
            </a:pPr>
            <a:endParaRPr lang="en-US" sz="2300" dirty="0"/>
          </a:p>
          <a:p>
            <a:pPr indent="0" marL="0">
              <a:buNone/>
            </a:pPr>
            <a:r>
              <a:rPr lang="en-US" sz="2300" b="1" dirty="0">
                <a:solidFill>
                  <a:srgbClr val="FFFFFF"/>
                </a:solidFill>
              </a:rPr>
              <a:t>過去の受賞者と並べると、</a:t>
            </a:r>
            <a:endParaRPr lang="en-US" sz="2300" dirty="0"/>
          </a:p>
          <a:p>
            <a:pPr indent="0" marL="0">
              <a:buNone/>
            </a:pPr>
            <a:r>
              <a:rPr lang="en-US" sz="2300" b="1" dirty="0">
                <a:solidFill>
                  <a:srgbClr val="FFFFFF"/>
                </a:solidFill>
              </a:rPr>
              <a:t>日本人選手がMLBで築いてきた流れが見えてきます。</a:t>
            </a:r>
            <a:endParaRPr lang="en-US" sz="2300" dirty="0"/>
          </a:p>
        </p:txBody>
      </p:sp>
      <p:sp>
        <p:nvSpPr>
          <p:cNvPr id="7" name="Text 3"/>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29 / 30</a:t>
            </a:r>
            <a:endParaRPr lang="en-US" sz="850" dirty="0"/>
          </a:p>
        </p:txBody>
      </p:sp>
      <p:sp>
        <p:nvSpPr>
          <p:cNvPr id="8" name="Text 4"/>
          <p:cNvSpPr/>
          <p:nvPr/>
        </p:nvSpPr>
        <p:spPr>
          <a:xfrm>
            <a:off x="548640" y="6419088"/>
            <a:ext cx="9875520" cy="228600"/>
          </a:xfrm>
          <a:prstGeom prst="rect">
            <a:avLst/>
          </a:prstGeom>
          <a:noFill/>
          <a:ln/>
        </p:spPr>
        <p:txBody>
          <a:bodyPr wrap="square" lIns="0" tIns="0" rIns="0" bIns="0" rtlCol="0" anchor="ctr"/>
          <a:lstStyle/>
          <a:p>
            <a:pPr indent="0" marL="0">
              <a:buNone/>
            </a:pPr>
            <a:r>
              <a:rPr lang="en-US" sz="830" dirty="0">
                <a:solidFill>
                  <a:srgbClr val="A9B7C7"/>
                </a:solidFill>
                <a:latin typeface="Yu Gothic" pitchFamily="34" charset="0"/>
                <a:ea typeface="Yu Gothic" pitchFamily="34" charset="-122"/>
                <a:cs typeface="Yu Gothic" pitchFamily="34" charset="-120"/>
              </a:rPr>
              <a:t>出典: 日本経済新聞（2026-07-03）</a:t>
            </a:r>
            <a:endParaRPr lang="en-US" sz="83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50914"/>
        </a:solidFill>
      </p:bgPr>
    </p:bg>
    <p:spTree>
      <p:nvGrpSpPr>
        <p:cNvPr id="1" name=""/>
        <p:cNvGrpSpPr/>
        <p:nvPr/>
      </p:nvGrpSpPr>
      <p:grpSpPr>
        <a:xfrm>
          <a:off x="0" y="0"/>
          <a:ext cx="0" cy="0"/>
          <a:chOff x="0" y="0"/>
          <a:chExt cx="0" cy="0"/>
        </a:xfrm>
      </p:grpSpPr>
      <p:pic>
        <p:nvPicPr>
          <p:cNvPr id="2" name="Image 0" descr="/mnt/data/wide_dramatic_sports_stadium_scene_a_baseball_fie_dim.jp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502920"/>
            <a:ext cx="5120640" cy="320040"/>
          </a:xfrm>
          <a:prstGeom prst="rect">
            <a:avLst/>
          </a:prstGeom>
          <a:noFill/>
          <a:ln/>
        </p:spPr>
        <p:txBody>
          <a:bodyPr wrap="square" lIns="254" tIns="254" rIns="254" bIns="254" rtlCol="0" anchor="ctr"/>
          <a:lstStyle/>
          <a:p>
            <a:pPr indent="0" marL="0">
              <a:buNone/>
            </a:pPr>
            <a:r>
              <a:rPr lang="en-US" sz="1300" b="1" dirty="0">
                <a:solidFill>
                  <a:srgbClr val="55D7FF"/>
                </a:solidFill>
                <a:latin typeface="Yu Gothic" pitchFamily="34" charset="0"/>
                <a:ea typeface="Yu Gothic" pitchFamily="34" charset="-122"/>
                <a:cs typeface="Yu Gothic" pitchFamily="34" charset="-120"/>
              </a:rPr>
              <a:t>APPENDIX / PRODUCTION NOTE</a:t>
            </a:r>
            <a:endParaRPr lang="en-US" sz="1300" dirty="0"/>
          </a:p>
        </p:txBody>
      </p:sp>
      <p:sp>
        <p:nvSpPr>
          <p:cNvPr id="4" name="Text 1"/>
          <p:cNvSpPr/>
          <p:nvPr/>
        </p:nvSpPr>
        <p:spPr>
          <a:xfrm>
            <a:off x="658368" y="1051560"/>
            <a:ext cx="7863840" cy="914400"/>
          </a:xfrm>
          <a:prstGeom prst="rect">
            <a:avLst/>
          </a:prstGeom>
          <a:noFill/>
          <a:ln/>
        </p:spPr>
        <p:txBody>
          <a:bodyPr wrap="square" lIns="508" tIns="508" rIns="508" bIns="508" rtlCol="0" anchor="ctr">
            <a:normAutofit/>
          </a:bodyPr>
          <a:lstStyle/>
          <a:p>
            <a:pPr indent="0" marL="0">
              <a:buNone/>
            </a:pPr>
            <a:r>
              <a:rPr lang="en-US" sz="3700" b="1" dirty="0">
                <a:solidFill>
                  <a:srgbClr val="FFFFFF"/>
                </a:solidFill>
                <a:latin typeface="Yu Gothic" pitchFamily="34" charset="0"/>
                <a:ea typeface="Yu Gothic" pitchFamily="34" charset="-122"/>
                <a:cs typeface="Yu Gothic" pitchFamily="34" charset="-120"/>
              </a:rPr>
              <a:t>補足：この動画の制作方針</a:t>
            </a:r>
            <a:endParaRPr lang="en-US" sz="3700" dirty="0"/>
          </a:p>
        </p:txBody>
      </p:sp>
      <p:sp>
        <p:nvSpPr>
          <p:cNvPr id="5" name="Text 2"/>
          <p:cNvSpPr/>
          <p:nvPr/>
        </p:nvSpPr>
        <p:spPr>
          <a:xfrm>
            <a:off x="868680" y="2560320"/>
            <a:ext cx="6400800" cy="1325880"/>
          </a:xfrm>
          <a:prstGeom prst="rect">
            <a:avLst/>
          </a:prstGeom>
          <a:solidFill>
            <a:srgbClr val="000000">
              <a:alpha val="78000"/>
            </a:srgbClr>
          </a:solidFill>
          <a:ln/>
        </p:spPr>
        <p:txBody>
          <a:bodyPr wrap="square" lIns="508" tIns="508" rIns="508" bIns="508" rtlCol="0" anchor="ctr">
            <a:normAutofit/>
          </a:bodyPr>
          <a:lstStyle/>
          <a:p>
            <a:pPr indent="0" marL="0">
              <a:buNone/>
            </a:pPr>
            <a:r>
              <a:rPr lang="en-US" sz="2300" b="1" dirty="0">
                <a:solidFill>
                  <a:srgbClr val="FFFFFF"/>
                </a:solidFill>
              </a:rPr>
              <a:t>・AI系テーマが続いたため、ジャンルの幅を広げる</a:t>
            </a:r>
            <a:endParaRPr lang="en-US" sz="2300" dirty="0"/>
          </a:p>
          <a:p>
            <a:pPr indent="0" marL="0">
              <a:buNone/>
            </a:pPr>
            <a:r>
              <a:rPr lang="en-US" sz="2300" b="1" dirty="0">
                <a:solidFill>
                  <a:srgbClr val="FFFFFF"/>
                </a:solidFill>
              </a:rPr>
              <a:t>・スポーツニュースでも数字と出典を重視</a:t>
            </a:r>
            <a:endParaRPr lang="en-US" sz="2300" dirty="0"/>
          </a:p>
          <a:p>
            <a:pPr indent="0" marL="0">
              <a:buNone/>
            </a:pPr>
            <a:r>
              <a:rPr lang="en-US" sz="2300" b="1" dirty="0">
                <a:solidFill>
                  <a:srgbClr val="FFFFFF"/>
                </a:solidFill>
              </a:rPr>
              <a:t>・推測は推測として切り分ける</a:t>
            </a:r>
            <a:endParaRPr lang="en-US" sz="2300" dirty="0"/>
          </a:p>
        </p:txBody>
      </p:sp>
      <p:sp>
        <p:nvSpPr>
          <p:cNvPr id="6" name="Text 3"/>
          <p:cNvSpPr/>
          <p:nvPr/>
        </p:nvSpPr>
        <p:spPr>
          <a:xfrm>
            <a:off x="868680" y="4800600"/>
            <a:ext cx="6949440" cy="438912"/>
          </a:xfrm>
          <a:prstGeom prst="rect">
            <a:avLst/>
          </a:prstGeom>
          <a:noFill/>
          <a:ln/>
        </p:spPr>
        <p:txBody>
          <a:bodyPr wrap="square" lIns="254" tIns="254" rIns="254" bIns="254" rtlCol="0" anchor="ctr"/>
          <a:lstStyle/>
          <a:p>
            <a:pPr indent="0" marL="0">
              <a:buNone/>
            </a:pPr>
            <a:r>
              <a:rPr lang="en-US" sz="1800" b="1" dirty="0">
                <a:solidFill>
                  <a:srgbClr val="FFCF4A"/>
                </a:solidFill>
              </a:rPr>
              <a:t>次は、もっと見ていてワクワクする数字の見せ方にできます。</a:t>
            </a:r>
            <a:endParaRPr lang="en-US" sz="1800" dirty="0"/>
          </a:p>
        </p:txBody>
      </p:sp>
      <p:sp>
        <p:nvSpPr>
          <p:cNvPr id="8" name="Text 4"/>
          <p:cNvSpPr/>
          <p:nvPr/>
        </p:nvSpPr>
        <p:spPr>
          <a:xfrm>
            <a:off x="10744200" y="6419088"/>
            <a:ext cx="868680" cy="201168"/>
          </a:xfrm>
          <a:prstGeom prst="rect">
            <a:avLst/>
          </a:prstGeom>
          <a:noFill/>
          <a:ln/>
        </p:spPr>
        <p:txBody>
          <a:bodyPr wrap="square" lIns="0" tIns="0" rIns="0" bIns="0" rtlCol="0" anchor="ctr"/>
          <a:lstStyle/>
          <a:p>
            <a:pPr algn="r" indent="0" marL="0">
              <a:buNone/>
            </a:pPr>
            <a:r>
              <a:rPr lang="en-US" sz="850" dirty="0">
                <a:solidFill>
                  <a:srgbClr val="9EB2C8"/>
                </a:solidFill>
                <a:latin typeface="Yu Gothic" pitchFamily="34" charset="0"/>
                <a:ea typeface="Yu Gothic" pitchFamily="34" charset="-122"/>
                <a:cs typeface="Yu Gothic" pitchFamily="34" charset="-120"/>
              </a:rPr>
              <a:t>30 / 30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岡本和真選手 月間最優秀新人 YouTube改良版</dc:title>
  <dc:subject>YouTube-ready MLB Japanese rookie award explainer deck</dc:subject>
  <dc:creator>OpenAI</dc:creator>
  <cp:lastModifiedBy>OpenAI</cp:lastModifiedBy>
  <cp:revision>1</cp:revision>
  <dcterms:created xsi:type="dcterms:W3CDTF">2026-07-24T13:19:38Z</dcterms:created>
  <dcterms:modified xsi:type="dcterms:W3CDTF">2026-07-24T13:19:38Z</dcterms:modified>
</cp:coreProperties>
</file>