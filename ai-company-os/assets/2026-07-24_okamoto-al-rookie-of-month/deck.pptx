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6月の成績</c:v>
                </c:pt>
              </c:strCache>
            </c:strRef>
          </c:tx>
          <c:spPr>
            <a:solidFill>
              <a:srgbClr val="2B3A55"/>
            </a:solidFill>
          </c:spPr>
          <c:cat>
            <c:strRef>
              <c:f>Sheet1!$A$2:$A$3</c:f>
              <c:strCache>
                <c:ptCount val="2"/>
                <c:pt idx="0">
                  <c:v>打率</c:v>
                </c:pt>
                <c:pt idx="1">
                  <c:v>OPS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0.286</c:v>
                </c:pt>
                <c:pt idx="1">
                  <c:v>0.916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 b="1">
                  <a:solidFill>
                    <a:srgbClr val="2B3A55"/>
                  </a:solidFill>
                  <a:latin typeface="Yu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フックとして事実を端的に伝える。挨拶ではなく核心から入る。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起承転結を予告する。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専門用語を最初に整理する。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発表の概要を表で整理する。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月間最優秀新人の受賞が日本人選手として何人目かを数字で示す。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6月の成績を表で整理する。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ア・リーグの新人の中で最多の本塁打数だったことを示す。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打率とOPSをグラフで並べ、総合力の高さを視覚的に見せる。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出塁率と長打率を合わせた総合指標が高水準だったことを示す。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5月・6月と連続で日本人打者が受賞した流れを図で示す。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2ヶ月連続受賞となった2選手を対比で見せる。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初心者向けに選手の基本情報を整理する。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複数情報源での事実確認結果を表で示す、正直さを重視する構成。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正直に、扱わなかった範囲も伝える。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ここからは推測であることを明言する。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見送った候補も具体的に共有する。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転換パート。ここから実践的な話に入る。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出来事の紹介だけで終わらせず、読み手にとっての意味を扱う。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実際に応援・観戦する前のチェックリストとして提示する。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実践につながる進め方をステップで見せる。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個人視点も扱う。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不明点を正直に「不明」と明言する。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政治・対立を煽らないという制作方針を明確に伝える。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検品結果を表でまとめる。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出典を短く再掲する。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結のキーメッセージ。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オープンループで次回への引き。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最終スライド。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歴史的文脈を補足する。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制作方針の透明性を伝える補足スライド。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FFFFF"/>
                </a:solidFill>
                <a:latin typeface="Yu Gothic"/>
              </a:rPr>
              <a:t>日本人打者が、また月間最優秀新人に選ばれました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D3E4F5"/>
                </a:solidFill>
                <a:latin typeface="Yu Gothic"/>
              </a:rPr>
              <a:t>ブルージェイズ・岡本和真選手、6月度ア・リーグ月間最優秀新人に選出(2026年7月3日発表)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CB8D6"/>
                </a:solidFill>
                <a:latin typeface="Yu Gothic"/>
              </a:rPr>
              <a:t>出典: NHK, 日本経済新聞, 時事通信, ベースボールキング(2026-07-03)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12779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Yu Gothic"/>
              </a:rPr>
              <a:t>今日話すこと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20240"/>
            <a:ext cx="548640" cy="5486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93852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D3E4F5"/>
                </a:solidFill>
                <a:latin typeface="Yu Gothic"/>
              </a:rPr>
              <a:t>起: 前提知識 + 何が起きたか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80"/>
            <a:ext cx="548640" cy="5486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71576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D3E4F5"/>
                </a:solidFill>
                <a:latin typeface="Yu Gothic"/>
              </a:rPr>
              <a:t>承: 6月の成績を数字で見る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49300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D3E4F5"/>
                </a:solidFill>
                <a:latin typeface="Yu Gothic"/>
              </a:rPr>
              <a:t>転: 日本人選手の連続受賞が意味すること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251960"/>
            <a:ext cx="548640" cy="5486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270248"/>
            <a:ext cx="9601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D3E4F5"/>
                </a:solidFill>
                <a:latin typeface="Yu Gothic"/>
              </a:rPr>
              <a:t>結: 不明点・リスク配慮・まとめ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まず言葉の整理(初心者向け)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9299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月間最優秀新人賞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49299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その月に最も活躍したルーキー(新人選手)にMLBが贈る賞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1609344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5867" y="1554480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0187" y="1828800"/>
            <a:ext cx="49299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514600"/>
            <a:ext cx="49299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出塁率+長打率。打者の総合力を示す代表的な指標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25559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何が起きたか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2B3A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米大リーグ機構(MLB)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2026年7月3日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2026年6月のアメリカンリーグ月間最優秀新人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選出選手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岡本和真内野手(ブルージェイズ)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出典: 時事通信/Yahoo!ニュース(2026-07-03)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D3E4F5"/>
                </a:solidFill>
                <a:latin typeface="Yu Gothic"/>
              </a:rPr>
              <a:t>日本人選手として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1F8FD6"/>
                </a:solidFill>
                <a:latin typeface="Yu Gothic"/>
              </a:rPr>
              <a:t>通算10人目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MLB月間最優秀新人賞、日本人選手の受賞者数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9CB8D6"/>
                </a:solidFill>
                <a:latin typeface="Yu Gothic"/>
              </a:rPr>
              <a:t>出典: 日本経済新聞(2026-07-03)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339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岡本選手の6月の成績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数値</a:t>
                      </a:r>
                    </a:p>
                  </a:txBody>
                  <a:tcPr>
                    <a:solidFill>
                      <a:srgbClr val="2B3A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出場試合数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25試合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打率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.286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本塁打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7本(ア・リーグ新人トップ)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打点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.916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出典: ベースボールキング/Yahoo!ニュース(2026-07-03)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844728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D3E4F5"/>
                </a:solidFill>
                <a:latin typeface="Yu Gothic"/>
              </a:rPr>
              <a:t>本塁打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1F8FD6"/>
                </a:solidFill>
                <a:latin typeface="Yu Gothic"/>
              </a:rPr>
              <a:t>7本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6月度・ア・リーグ新人トップ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9CB8D6"/>
                </a:solidFill>
                <a:latin typeface="Yu Gothic"/>
              </a:rPr>
              <a:t>出典: ベースボールキング/Yahoo!ニュース(2026-07-03)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51118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打率とOPSの比較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63040"/>
          <a:ext cx="108813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出典: ベースボールキング/Yahoo!ニュース(2026-07-03)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508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D3E4F5"/>
                </a:solidFill>
                <a:latin typeface="Yu Gothic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642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1F8FD6"/>
                </a:solidFill>
                <a:latin typeface="Yu Gothic"/>
              </a:rPr>
              <a:t>.916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FFFFFF"/>
                </a:solidFill>
                <a:latin typeface="Yu Gothic"/>
              </a:rPr>
              <a:t>6月度成績、打者の総合力を示す代表的な指標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9CB8D6"/>
                </a:solidFill>
                <a:latin typeface="Yu Gothic"/>
              </a:rPr>
              <a:t>出典: ベースボールキング/Yahoo!ニュース(2026-07-03)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2ヶ月連続で日本人打者が受賞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526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069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B3A55"/>
                </a:solidFill>
                <a:latin typeface="Yu Gothic"/>
              </a:rPr>
              <a:t>5月度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98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A6474"/>
                </a:solidFill>
                <a:latin typeface="Yu Gothic"/>
              </a:rPr>
              <a:t>村上宗隆選手(ホワイトソックス)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57519" y="3108959"/>
            <a:ext cx="676656" cy="365760"/>
          </a:xfrm>
          <a:prstGeom prst="rightArrow">
            <a:avLst/>
          </a:prstGeom>
          <a:solidFill>
            <a:srgbClr val="1F8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530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073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02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B3A55"/>
                </a:solidFill>
                <a:latin typeface="Yu Gothic"/>
              </a:rPr>
              <a:t>6月度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02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A6474"/>
                </a:solidFill>
                <a:latin typeface="Yu Gothic"/>
              </a:rPr>
              <a:t>岡本和真選手(ブルージェイズ)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出典: ベースボールキング/Yahoo!ニュース(2026-07-03)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70288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5月度・6月度受賞者の比較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8156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3A55"/>
                </a:solidFill>
                <a:latin typeface="Yu Gothic"/>
              </a:rPr>
              <a:t>村上宗隆選手(5月度)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532888"/>
            <a:ext cx="274320" cy="27432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51460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C2230"/>
                </a:solidFill>
                <a:latin typeface="Yu Gothic"/>
              </a:rPr>
              <a:t>所属: ホワイトソックス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081528"/>
            <a:ext cx="274320" cy="27432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C2230"/>
                </a:solidFill>
                <a:latin typeface="Yu Gothic"/>
              </a:rPr>
              <a:t>月間最優秀新人(5月)受賞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609344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78727" y="1554480"/>
            <a:ext cx="5455767" cy="42062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8767" y="1828800"/>
            <a:ext cx="48156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3A55"/>
                </a:solidFill>
                <a:latin typeface="Yu Gothic"/>
              </a:rPr>
              <a:t>岡本和真選手(6月度)</a:t>
            </a:r>
          </a:p>
        </p:txBody>
      </p:sp>
      <p:sp>
        <p:nvSpPr>
          <p:cNvPr id="16" name="Oval 15"/>
          <p:cNvSpPr/>
          <p:nvPr/>
        </p:nvSpPr>
        <p:spPr>
          <a:xfrm>
            <a:off x="6598767" y="2532888"/>
            <a:ext cx="274320" cy="27432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247" y="251460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C2230"/>
                </a:solidFill>
                <a:latin typeface="Yu Gothic"/>
              </a:rPr>
              <a:t>所属: ブルージェイズ</a:t>
            </a:r>
          </a:p>
        </p:txBody>
      </p:sp>
      <p:sp>
        <p:nvSpPr>
          <p:cNvPr id="18" name="Oval 17"/>
          <p:cNvSpPr/>
          <p:nvPr/>
        </p:nvSpPr>
        <p:spPr>
          <a:xfrm>
            <a:off x="6598767" y="3081528"/>
            <a:ext cx="274320" cy="27432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3063240"/>
            <a:ext cx="4404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C2230"/>
                </a:solidFill>
                <a:latin typeface="Yu Gothic"/>
              </a:rPr>
              <a:t>月間最優秀新人(6月)受賞、本塁打7本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876678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岡本選手のプロフィール(初心者向け)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ポジション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内野手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2978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298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所属球団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トロント・ブルージェイズ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4476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8756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3076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受賞へのコメント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「凄くうれしい」と語った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出典: スポニチアネックス/Yahoo!ニュース(2026-07-03)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283067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検証: 情報源の一致確認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確認項目</a:t>
                      </a:r>
                    </a:p>
                  </a:txBody>
                  <a:tcPr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結果</a:t>
                      </a:r>
                    </a:p>
                  </a:txBody>
                  <a:tcPr>
                    <a:solidFill>
                      <a:srgbClr val="2B3A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全情報源で2026年7月3日と一致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成績数値(打率・本塁打・OPS等)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複数情報源で一致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「通算10人目」という記述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日本経済新聞で確認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689457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今回含まれなかったもの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岡本選手の7月以降の成績・今後の月間表彰の可能性は本調査時点では不明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ブルージェイズの今シーズンのチーム成績との関連は本資料では扱わない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なぜ今年は日本人野手の活躍が目立つのか(推測)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選手層の充実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MLB挑戦する日本人野手の数自体が増えている可能性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2978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298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適応の早さ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早い段階でメジャーの投手に適応できている可能性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4476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8756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3076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一時的な傾向の可能性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2ヶ月連続はまだ短期間で、断定はできない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502237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見送った候補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9299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ElevenLabsのElevenMusicアップデート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49299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ジャンル配分のバランス上、次回以降に持ち越し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1609344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5867" y="1554480"/>
            <a:ext cx="5478627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0187" y="1828800"/>
            <a:ext cx="492998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Netchex「Mesh」(AI HR)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514600"/>
            <a:ext cx="49299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日本での知名度が低いため見送り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908627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これが意味すること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524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067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96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B3A55"/>
                </a:solidFill>
                <a:latin typeface="Yu Gothic"/>
              </a:rPr>
              <a:t>継続的な活躍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96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A6474"/>
                </a:solidFill>
                <a:latin typeface="Yu Gothic"/>
              </a:rPr>
              <a:t>一時的な話題で終わらない可能性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57319" y="3108959"/>
            <a:ext cx="676656" cy="365760"/>
          </a:xfrm>
          <a:prstGeom prst="rightArrow">
            <a:avLst/>
          </a:prstGeom>
          <a:solidFill>
            <a:srgbClr val="1F8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528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071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00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B3A55"/>
                </a:solidFill>
                <a:latin typeface="Yu Gothic"/>
              </a:rPr>
              <a:t>注目選手の増加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00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A6474"/>
                </a:solidFill>
                <a:latin typeface="Yu Gothic"/>
              </a:rPr>
              <a:t>MLBでの日本人選手への関心が高まる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57719" y="3108959"/>
            <a:ext cx="676656" cy="365760"/>
          </a:xfrm>
          <a:prstGeom prst="rightArrow">
            <a:avLst/>
          </a:prstGeom>
          <a:solidFill>
            <a:srgbClr val="1F8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53247" y="2615184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7527" y="2560320"/>
            <a:ext cx="2377440" cy="14630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407" y="2743200"/>
            <a:ext cx="2011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B3A55"/>
                </a:solidFill>
                <a:latin typeface="Yu Gothic"/>
              </a:rPr>
              <a:t>今後の動向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407" y="3383279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A6474"/>
                </a:solidFill>
                <a:latin typeface="Yu Gothic"/>
              </a:rPr>
              <a:t>7月以降の成績にも注目が集まる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017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これは何を意味するのか(ファンにとって)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MLBで日本人選手の活躍を追う楽しみが増えている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月間表彰という区切りで成績を追うと、シーズンの流れが分かりやすい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21406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試しに応援するなら知っておきたいこと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所属チーム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トロント・ブルージェイズ(ア・リーグ東地区)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2978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298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ポジション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内野手として起用されている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4476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8756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3076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注目ポイント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本塁打・OPS等の長打力に関する数字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試合を追ってみる進め方(目安)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792224"/>
            <a:ext cx="3515258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515258" cy="32918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①チームを知る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296661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474"/>
                </a:solidFill>
                <a:latin typeface="Yu Gothic"/>
              </a:rPr>
              <a:t>ブルージェイズの試合日程を確認</a:t>
            </a:r>
          </a:p>
        </p:txBody>
      </p:sp>
      <p:sp>
        <p:nvSpPr>
          <p:cNvPr id="11" name="Chevron 10"/>
          <p:cNvSpPr/>
          <p:nvPr/>
        </p:nvSpPr>
        <p:spPr>
          <a:xfrm>
            <a:off x="4038295" y="3200400"/>
            <a:ext cx="234086" cy="365760"/>
          </a:xfrm>
          <a:prstGeom prst="chevron">
            <a:avLst/>
          </a:prstGeom>
          <a:solidFill>
            <a:srgbClr val="1F8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3938" y="1792224"/>
            <a:ext cx="3515258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8218" y="1737360"/>
            <a:ext cx="3515258" cy="32918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2538" y="2011680"/>
            <a:ext cx="640080" cy="64008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2538" y="2926080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②成績を追う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2538" y="3566160"/>
            <a:ext cx="296661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474"/>
                </a:solidFill>
                <a:latin typeface="Yu Gothic"/>
              </a:rPr>
              <a:t>月間・シーズン成績の推移を見る</a:t>
            </a:r>
          </a:p>
        </p:txBody>
      </p:sp>
      <p:sp>
        <p:nvSpPr>
          <p:cNvPr id="17" name="Chevron 16"/>
          <p:cNvSpPr/>
          <p:nvPr/>
        </p:nvSpPr>
        <p:spPr>
          <a:xfrm>
            <a:off x="7919313" y="3200400"/>
            <a:ext cx="234086" cy="365760"/>
          </a:xfrm>
          <a:prstGeom prst="chevron">
            <a:avLst/>
          </a:prstGeom>
          <a:solidFill>
            <a:srgbClr val="1F8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64956" y="1792224"/>
            <a:ext cx="3515258" cy="3291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19236" y="1737360"/>
            <a:ext cx="3515258" cy="32918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93556" y="2011680"/>
            <a:ext cx="640080" cy="64008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2926080"/>
            <a:ext cx="29666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③ニュースを追う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3556" y="3566160"/>
            <a:ext cx="296661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474"/>
                </a:solidFill>
                <a:latin typeface="Yu Gothic"/>
              </a:rPr>
              <a:t>月間表彰等の節目でニュースをチェック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534186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個人にとっての影響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MLBの日本人選手の活躍がニュースで取り上げられる機会が増えている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野球ファンでなくても、話題として知っておくと会話のきっかけになる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940576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不明点・注意点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岡本選手の7月以降の成績・今後の表彰の可能性は非公開・未確定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チームの今シーズンの最終成績との関連は現時点では不明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346966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リスク配慮のポイント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事実紹介に徹する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公式発表・複数報道機関の事実を淡々と紹介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2978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7298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肖像は使用しない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選手本人の写真・肖像は使用しない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4476" y="1609344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88756" y="1554480"/>
            <a:ext cx="3545738" cy="393192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3076" y="1828800"/>
            <a:ext cx="299709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B3A55"/>
                </a:solidFill>
                <a:latin typeface="Yu Gothic"/>
              </a:rPr>
              <a:t>推測は明示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2514600"/>
            <a:ext cx="2997098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4"/>
                </a:solidFill>
                <a:latin typeface="Yu Gothic"/>
              </a:rPr>
              <a:t>推測部分は「推測」と明言している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753356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検品結果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5029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2B3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結果</a:t>
                      </a:r>
                    </a:p>
                  </a:txBody>
                  <a:tcPr>
                    <a:solidFill>
                      <a:srgbClr val="2B3A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verify_pptx.py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同一レイアウト連続チェック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bullets比率チェック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対話原稿スライド数整合性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0"/>
                          </a:solidFill>
                          <a:latin typeface="Yu Gothic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F1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出典一覧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NHK / 日本経済新聞 / 時事通信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Yahoo!ニュース(スポニチアネックス、サンケイスポーツ、ベースボールキング)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566135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Yu Gothic"/>
              </a:rPr>
              <a:t>2ヶ月連続の快挙 — 日本人野手のMLBでの活躍が続いている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D3E4F5"/>
                </a:solidFill>
                <a:latin typeface="Yu Gothic"/>
              </a:rPr>
              <a:t>5月度・村上宗隆選手、6月度・岡本和真選手と連続受賞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4626864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28032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3A55"/>
                </a:solidFill>
                <a:latin typeface="Yu Gothic"/>
              </a:rPr>
              <a:t>興味があれば、今後の成績もぜひ追ってみてください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525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次回予告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MLBでの日本人選手の活躍は継続して追いたいテーマ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次回も独立系メディア・公式発表の報道をもとに紹介する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378915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Yu Gothic"/>
              </a:rPr>
              <a:t>ご視聴ありがとうございました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D3E4F5"/>
                </a:solidFill>
                <a:latin typeface="Yu Gothic"/>
              </a:rPr>
              <a:t>出典・詳細はresearch.mdと各スライドの出典表記を参照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4626864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DD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7315200" cy="1005840"/>
          </a:xfrm>
          <a:prstGeom prst="roundRect">
            <a:avLst>
              <a:gd name="adj" fmla="val 6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28032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3A55"/>
                </a:solidFill>
                <a:latin typeface="Yu Gothic"/>
              </a:rPr>
              <a:t>質問・フィードバックはいつでもどうぞ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785305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補足: 月間最優秀新人賞の日本人受賞者(一部)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過去にはイチロー選手・大谷翔平選手等、多数の日本人選手が受賞してきた歴史がある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今回で通算10人目の受賞という節目になる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出典: 日本経済新聞(2026-07-03)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CB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77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2B3A55"/>
                </a:solidFill>
                <a:latin typeface="Yu Gothic"/>
              </a:rPr>
              <a:t>補足: なぜこの話題を取り上げたか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02920" cy="54864"/>
          </a:xfrm>
          <a:prstGeom prst="rect">
            <a:avLst/>
          </a:prstGeom>
          <a:solidFill>
            <a:srgbClr val="1F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8132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630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AI/エージェント系のテーマが続いたため、ジャンル配分のバランスを取る目的もある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58568"/>
            <a:ext cx="320040" cy="320040"/>
          </a:xfrm>
          <a:prstGeom prst="ellipse">
            <a:avLst/>
          </a:prstGeom>
          <a:solidFill>
            <a:srgbClr val="2B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1C2230"/>
                </a:solidFill>
                <a:latin typeface="Yu Gothic"/>
              </a:rPr>
              <a:t>スポーツというジャンルでも、出典に基づいた事実整理型の紹介を継続する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4"/>
                </a:solidFill>
                <a:latin typeface="Yu Gothic"/>
              </a:rPr>
              <a:t>AI Company OS - 定期実行27本目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4"/>
                </a:solidFill>
                <a:latin typeface="Yu Gothic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