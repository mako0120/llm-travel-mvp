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が2026年8月19日、2026年度第2四半期決算を発表しました。純利益は前年同期比でほぼ倍増しましたが、その大部分は9億9,400万ドルの一時的な関税還付によるものです。今日はこの見出しの裏側を、出典付きで正直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純利益は前年同期の9億3,500万ドルから18億7,000万ドルへほぼ倍増しましたが、このうち1株あたり1.65ドル分は関税還付によるものです。還付を除いてもEPSは前年比20%増と、実態としても好調で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今日は6つの流れでお伝えします。決算の主要指標から、関税還付の内容、非商品売上高の状況まで、正確に数字を引用しながら整理します。誇張せず、確認できなかったことは正直にお伝えします。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このテーマを扱う理由です。着手日当日という最も高い鮮度に加え、利益倍増の見出しと関税還付という一時的要因、そして還付を除いても好調だった実態、両面を正直に伝える価値に注目しました。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Targetは米国大手の総合小売チェーンです。実店舗・デジタルの両チャネルに加え、広告事業『Roundel』や会員制サービス『Target Circle 360』等の非商品事業も展開しています。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2026年Q2の主要指標です。純利益はほぼ倍増、純売上高は5.3%増、既存店売上高は3.8%増と、いずれも好調な数字が並びます。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利益ほぼ倍増の背景には、税引前9億9,400万ドルの関税還付があります。EPSベースで1.65ドル分に相当しますが、還付を除いてもEPSは前年比20%増と好調です。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関税還付の規模は税引前で9億9,400万ドルです。純利益への押し上げ効果は7億5,200万ドル、EPSベースで1株あたり1.65ドルに相当します。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関税還付を除いてもEPSは20%増と好調で、既存店売上高・デジタル売上高ともに伸びています。見出しの数字だけでなく、実態も好調だった点を正直にお伝えします。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見出しの数字と、一時的要因を除いた実態を対比しました。関税還付という一時的要因を除いても、実態として好調な四半期だったことが分かります。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客数・売上高の内訳です。既存店売上高の伸びは主に客数の増加によるもので、デジタル・即日配送はさらに高い伸びを示しています。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非商品売上高は20%超の伸びを記録しました。Roundel広告事業、Target Circle 360会員収入、Target+マーケットプレイスが牽引役とされています。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非商品売上高は前年比20%超の伸びを記録し、商品販売以外の事業が成長を牽引しています。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非商品売上高の伸びを構成する3つの事業を図にしました。広告・会員制サービス・マーケットプレイスがそれぞれ寄与しています。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今回の決算を3ステップで総括しました。利益倍増の見出し、それを除いた実態、そして非商品事業の伸びという流れです。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AIパーソナライゼーションについては、基盤のアップグレードといった言及はありますが、具体的な内容・成果は確認できていません。誇張せず正直にお伝えします。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AIパーソナライゼーションの具体的な内容・成果は、本調査の範囲では確認できていません。断定的な表現は避けます。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通期売上高成長率は約5%へ上方修正され、還付を除いたEPSレンジも引き上げられています。実態としての見通し改善もうかがえます。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通期ガイダンスの変更内容です。関税還付込みのEPSレンジに加え、還付を除いたレンジも引き上げられています。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AP通信は今四半期を『カムバック四半期』と表現しており、新商品投入と客数増加が牽引役として報じられています。経営陣の詳細な発言全文までは確認できていません。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実店舗とデジタルチャネルの伸びを対比しました。デジタルチャネルの方が実店舗を上回るペースで成長しています。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今回の関税還付は一時的な要因であり、次四半期以降も続くとは限りません。見出しだけで今後の業績を予測しないよう注意が必要です。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即日配送は前年比25%超の伸びを記録し、デジタルチャネルの成長を牽引しています。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通期ガイダンスの従来と更新後を比較しました。関税還付を除いたEPSレンジも引き上げられており、実態としての見通し改善がうかがえます。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既存店客数は前年比3.6%増加し、既存店売上高全体の伸びを牽引しました。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確認できなかったことを正直にお伝えします。非商品売上高の内訳、AI活用の具体的な成果、関税還付の今後の見込みは確認できていません。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今回の決算の要点をまとめました。見出しの利益倍増、還付を除いた実態のEPS成長率、既存店売上高、そして非商品売上高という4点です。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このニュースが読者にとって意味することをまとめました。決算分析に関心がある立場、小売・DX動向を追う立場、投資を検討する立場、それぞれで意識したい視点です。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まとめです。利益倍増の見出しと、一時的要因を除いた実態、そして非商品事業の成長という3つの軸を正直にお伝えしました。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Targetの2026年Q2決算について、利益倍増の見出しと一時的要因を除いた実態まで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利益、まさかの倍増。</a:t>
            </a:r>
          </a:p>
          <a:p>
            <a:pPr algn="l">
              <a:lnSpc>
                <a:spcPct val="115000"/>
              </a:lnSpc>
            </a:pPr>
            <a:r>
              <a:rPr sz="4200" b="1">
                <a:solidFill>
                  <a:srgbClr val="FFFFFF"/>
                </a:solidFill>
                <a:latin typeface="Yu Gothic"/>
              </a:rPr>
              <a:t>でもその裏には</a:t>
            </a:r>
          </a:p>
          <a:p>
            <a:pPr algn="l">
              <a:lnSpc>
                <a:spcPct val="115000"/>
              </a:lnSpc>
            </a:pPr>
            <a:r>
              <a:rPr sz="4200" b="1">
                <a:solidFill>
                  <a:srgbClr val="FFFFFF"/>
                </a:solidFill>
                <a:latin typeface="Yu Gothic"/>
              </a:rPr>
              <a:t>9.9億ドルの関税還付があった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6D9F5"/>
                </a:solidFill>
                <a:latin typeface="Yu Gothic"/>
              </a:rPr>
              <a:t>2026年8月19日発表——Target Q2決算、見出しの裏側を正直に暴く</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AEE0"/>
                </a:solidFill>
                <a:latin typeface="Yu Gothic"/>
              </a:rPr>
              <a:t>出典: CNBC・StockTitan・AP通信(2026年8月19日)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純利益ほぼ倍増、うち1.65ドル分は関税還付</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純利益18.7億ドル(1株4.11ドル)、還付除いてもEPSは前年比+20%</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CNBC・StockTitan(2026-08-19)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6D9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6D9F5"/>
                </a:solidFill>
                <a:latin typeface="Yu Gothic"/>
              </a:rPr>
              <a:t>Targetとは・基礎知識</a:t>
            </a:r>
          </a:p>
        </p:txBody>
      </p:sp>
      <p:sp>
        <p:nvSpPr>
          <p:cNvPr id="9" name="Oval 8"/>
          <p:cNvSpPr/>
          <p:nvPr/>
        </p:nvSpPr>
        <p:spPr>
          <a:xfrm>
            <a:off x="548640" y="347472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6D9F5"/>
                </a:solidFill>
                <a:latin typeface="Yu Gothic"/>
              </a:rPr>
              <a:t>決算の主要指標を確認する</a:t>
            </a:r>
          </a:p>
        </p:txBody>
      </p:sp>
      <p:sp>
        <p:nvSpPr>
          <p:cNvPr id="11" name="Oval 10"/>
          <p:cNvSpPr/>
          <p:nvPr/>
        </p:nvSpPr>
        <p:spPr>
          <a:xfrm>
            <a:off x="548640" y="425196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6D9F5"/>
                </a:solidFill>
                <a:latin typeface="Yu Gothic"/>
              </a:rPr>
              <a:t>関税還付の内容を確認する</a:t>
            </a:r>
          </a:p>
        </p:txBody>
      </p:sp>
      <p:sp>
        <p:nvSpPr>
          <p:cNvPr id="13" name="Oval 12"/>
          <p:cNvSpPr/>
          <p:nvPr/>
        </p:nvSpPr>
        <p:spPr>
          <a:xfrm>
            <a:off x="548640" y="502920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6D9F5"/>
                </a:solidFill>
                <a:latin typeface="Yu Gothic"/>
              </a:rPr>
              <a:t>非商品売上高・成長事業の状況を確認する</a:t>
            </a:r>
          </a:p>
        </p:txBody>
      </p:sp>
      <p:sp>
        <p:nvSpPr>
          <p:cNvPr id="15" name="Oval 14"/>
          <p:cNvSpPr/>
          <p:nvPr/>
        </p:nvSpPr>
        <p:spPr>
          <a:xfrm>
            <a:off x="548640" y="58064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6D9F5"/>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着手日当日(2026年8月19日)発表という最も高い鮮度の話題である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『利益ほぼ倍増』という見出しの裏に、9億9,400万ドルの一時的な関税還付という具体的な事情がある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還付を除いても実態としてEPSは20%増という、両面を正直に伝える価値がある</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複数の独立した情報源(CNBC・StockTitan・AP通信等)で確認できる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CNBC・StockTitan(2026-08-19)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CNBC・StockTitan・AP通信(2026-08-19)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Targetとは</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基礎知識を簡単に整理します。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米国大手の総合小売チェーン</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ニューヨーク証券取引所上場(銘柄コードTGT)</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実店舗・デジタルの両チャネルで商品を販売</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広告事業『Roundel』や会員制サービス『Target Circle 360』等の非商品事業も展開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CNBC・PR Newswire(2026-08-19)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CNBC・StockTitan・AP通信(2026-08-19)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2026年Q2 主要指標</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指標</a:t>
                      </a:r>
                    </a:p>
                  </a:txBody>
                  <a:tcPr>
                    <a:solidFill>
                      <a:srgbClr val="2E2A72"/>
                    </a:solidFill>
                  </a:tcPr>
                </a:tc>
                <a:tc>
                  <a:txBody>
                    <a:bodyPr/>
                    <a:lstStyle/>
                    <a:p>
                      <a:pPr>
                        <a:defRPr sz="1300" b="1">
                          <a:solidFill>
                            <a:srgbClr val="FFFFFF"/>
                          </a:solidFill>
                          <a:latin typeface="Yu Gothic"/>
                        </a:defRPr>
                      </a:pPr>
                      <a:r>
                        <a:t>2026年Q2(前年同期比)</a:t>
                      </a:r>
                    </a:p>
                  </a:txBody>
                  <a:tcPr>
                    <a:solidFill>
                      <a:srgbClr val="2E2A72"/>
                    </a:solidFill>
                  </a:tcPr>
                </a:tc>
              </a:tr>
              <a:tr h="502920">
                <a:tc>
                  <a:txBody>
                    <a:bodyPr/>
                    <a:lstStyle/>
                    <a:p>
                      <a:pPr>
                        <a:defRPr sz="1200">
                          <a:solidFill>
                            <a:srgbClr val="1C1B33"/>
                          </a:solidFill>
                          <a:latin typeface="Yu Gothic"/>
                        </a:defRPr>
                      </a:pPr>
                      <a:r>
                        <a:t>純利益</a:t>
                      </a:r>
                    </a:p>
                  </a:txBody>
                  <a:tcPr>
                    <a:solidFill>
                      <a:srgbClr val="FFFFFF"/>
                    </a:solidFill>
                  </a:tcPr>
                </a:tc>
                <a:tc>
                  <a:txBody>
                    <a:bodyPr/>
                    <a:lstStyle/>
                    <a:p>
                      <a:pPr>
                        <a:defRPr sz="1200">
                          <a:solidFill>
                            <a:srgbClr val="1C1B33"/>
                          </a:solidFill>
                          <a:latin typeface="Yu Gothic"/>
                        </a:defRPr>
                      </a:pPr>
                      <a:r>
                        <a:t>18億7,000万ドル(1株4.11ドル)、前年9.35億ドル(1株2.05ドル)からほぼ倍増</a:t>
                      </a:r>
                    </a:p>
                  </a:txBody>
                  <a:tcPr>
                    <a:solidFill>
                      <a:srgbClr val="FFFFFF"/>
                    </a:solidFill>
                  </a:tcPr>
                </a:tc>
              </a:tr>
              <a:tr h="502920">
                <a:tc>
                  <a:txBody>
                    <a:bodyPr/>
                    <a:lstStyle/>
                    <a:p>
                      <a:pPr>
                        <a:defRPr sz="1200">
                          <a:solidFill>
                            <a:srgbClr val="1C1B33"/>
                          </a:solidFill>
                          <a:latin typeface="Yu Gothic"/>
                        </a:defRPr>
                      </a:pPr>
                      <a:r>
                        <a:t>純売上高</a:t>
                      </a:r>
                    </a:p>
                  </a:txBody>
                  <a:tcPr>
                    <a:solidFill>
                      <a:srgbClr val="F4F3FC"/>
                    </a:solidFill>
                  </a:tcPr>
                </a:tc>
                <a:tc>
                  <a:txBody>
                    <a:bodyPr/>
                    <a:lstStyle/>
                    <a:p>
                      <a:pPr>
                        <a:defRPr sz="1200">
                          <a:solidFill>
                            <a:srgbClr val="1C1B33"/>
                          </a:solidFill>
                          <a:latin typeface="Yu Gothic"/>
                        </a:defRPr>
                      </a:pPr>
                      <a:r>
                        <a:t>265億4,000万ドル、+5.3%</a:t>
                      </a:r>
                    </a:p>
                  </a:txBody>
                  <a:tcPr>
                    <a:solidFill>
                      <a:srgbClr val="F4F3FC"/>
                    </a:solidFill>
                  </a:tcPr>
                </a:tc>
              </a:tr>
              <a:tr h="502920">
                <a:tc>
                  <a:txBody>
                    <a:bodyPr/>
                    <a:lstStyle/>
                    <a:p>
                      <a:pPr>
                        <a:defRPr sz="1200">
                          <a:solidFill>
                            <a:srgbClr val="1C1B33"/>
                          </a:solidFill>
                          <a:latin typeface="Yu Gothic"/>
                        </a:defRPr>
                      </a:pPr>
                      <a:r>
                        <a:t>既存店売上高</a:t>
                      </a:r>
                    </a:p>
                  </a:txBody>
                  <a:tcPr>
                    <a:solidFill>
                      <a:srgbClr val="FFFFFF"/>
                    </a:solidFill>
                  </a:tcPr>
                </a:tc>
                <a:tc>
                  <a:txBody>
                    <a:bodyPr/>
                    <a:lstStyle/>
                    <a:p>
                      <a:pPr>
                        <a:defRPr sz="1200">
                          <a:solidFill>
                            <a:srgbClr val="1C1B33"/>
                          </a:solidFill>
                          <a:latin typeface="Yu Gothic"/>
                        </a:defRPr>
                      </a:pPr>
                      <a:r>
                        <a:t>+3.8%(客数3.6%増が牽引)</a:t>
                      </a:r>
                    </a:p>
                  </a:txBody>
                  <a:tcPr>
                    <a:solidFill>
                      <a:srgbClr val="FFFFFF"/>
                    </a:solidFill>
                  </a:tcPr>
                </a:tc>
              </a:tr>
              <a:tr h="502920">
                <a:tc>
                  <a:txBody>
                    <a:bodyPr/>
                    <a:lstStyle/>
                    <a:p>
                      <a:pPr>
                        <a:defRPr sz="1200">
                          <a:solidFill>
                            <a:srgbClr val="1C1B33"/>
                          </a:solidFill>
                          <a:latin typeface="Yu Gothic"/>
                        </a:defRPr>
                      </a:pPr>
                      <a:r>
                        <a:t>デジタル既存店売上高</a:t>
                      </a:r>
                    </a:p>
                  </a:txBody>
                  <a:tcPr>
                    <a:solidFill>
                      <a:srgbClr val="F4F3FC"/>
                    </a:solidFill>
                  </a:tcPr>
                </a:tc>
                <a:tc>
                  <a:txBody>
                    <a:bodyPr/>
                    <a:lstStyle/>
                    <a:p>
                      <a:pPr>
                        <a:defRPr sz="1200">
                          <a:solidFill>
                            <a:srgbClr val="1C1B33"/>
                          </a:solidFill>
                          <a:latin typeface="Yu Gothic"/>
                        </a:defRPr>
                      </a:pPr>
                      <a:r>
                        <a:t>+8.7%</a:t>
                      </a:r>
                    </a:p>
                  </a:txBody>
                  <a:tcPr>
                    <a:solidFill>
                      <a:srgbClr val="F4F3FC"/>
                    </a:solidFill>
                  </a:tcPr>
                </a:tc>
              </a:tr>
              <a:tr h="502920">
                <a:tc>
                  <a:txBody>
                    <a:bodyPr/>
                    <a:lstStyle/>
                    <a:p>
                      <a:pPr>
                        <a:defRPr sz="1200">
                          <a:solidFill>
                            <a:srgbClr val="1C1B33"/>
                          </a:solidFill>
                          <a:latin typeface="Yu Gothic"/>
                        </a:defRPr>
                      </a:pPr>
                      <a:r>
                        <a:t>即日配送</a:t>
                      </a:r>
                    </a:p>
                  </a:txBody>
                  <a:tcPr>
                    <a:solidFill>
                      <a:srgbClr val="FFFFFF"/>
                    </a:solidFill>
                  </a:tcPr>
                </a:tc>
                <a:tc>
                  <a:txBody>
                    <a:bodyPr/>
                    <a:lstStyle/>
                    <a:p>
                      <a:pPr>
                        <a:defRPr sz="1200">
                          <a:solidFill>
                            <a:srgbClr val="1C1B33"/>
                          </a:solidFill>
                          <a:latin typeface="Yu Gothic"/>
                        </a:defRPr>
                      </a:pPr>
                      <a:r>
                        <a:t>+25%超</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CNBC・StockTitan・AP通信(2026-08-19)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CNBC・StockTitan・AP通信(2026-08-19)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『利益ほぼ倍増』の中身</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利益倍増の要因です。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純利益は前年同期の9億3,500万ドルから18億7,000万ドルへ、ほぼ倍増</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この利益には税引前9億9,400万ドルの関税還付が含まれている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関税還付による純利益への押し上げ効果は7億5,200万ドル、EPSベースで1株あたり1.65ドル</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還付を除いた場合でも、EPSは前年同期比で20%増加している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StockTitan・CNBC(2026-08-19)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CNBC・StockTitan・AP通信(2026-08-19)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関税還付の規模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税引前9億9,400万ドル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純利益への押し上げ効果は7億5,200万ドル(EPSで1.65ドル)</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StockTitan(2026-08-19)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関税還付を除いた実態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一時的要因を除いた実態です。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関税還付を除いた場合でも、EPSは前年同期比で20%増加している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既存店売上高も3.8%増、客数も3.6%増と、実店舗への来店も回復傾向にある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デジタル既存店売上高は8.7%増、即日配送は25%超の伸び</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『見出しの数字だけでなく、一時的要因を除いた実態も好調』という、両方の事実を正直に伝える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CNBC・StockTitan(2026-08-19)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CNBC・StockTitan・AP通信(2026-08-19)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見出しの数字 vs 一時的要因を除いた実態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見出しの数字</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純利益は前年比でほぼ倍増</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EPSは1株4.11ドル(前年2.05ドル)</a:t>
            </a:r>
          </a:p>
        </p:txBody>
      </p:sp>
      <p:sp>
        <p:nvSpPr>
          <p:cNvPr id="13" name="Oval 12"/>
          <p:cNvSpPr/>
          <p:nvPr/>
        </p:nvSpPr>
        <p:spPr>
          <a:xfrm>
            <a:off x="777240"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9億9,400万ドルの関税還付を含む</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一時的要因を除いた実態</a:t>
            </a:r>
          </a:p>
        </p:txBody>
      </p:sp>
      <p:sp>
        <p:nvSpPr>
          <p:cNvPr id="18" name="Oval 17"/>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EPSは前年比+20%</a:t>
            </a:r>
          </a:p>
        </p:txBody>
      </p:sp>
      <p:sp>
        <p:nvSpPr>
          <p:cNvPr id="20" name="Oval 19"/>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既存店売上高+3.8%、客数+3.6%</a:t>
            </a:r>
          </a:p>
        </p:txBody>
      </p:sp>
      <p:sp>
        <p:nvSpPr>
          <p:cNvPr id="22" name="Oval 21"/>
          <p:cNvSpPr/>
          <p:nvPr/>
        </p:nvSpPr>
        <p:spPr>
          <a:xfrm>
            <a:off x="6598767"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デジタル既存店売上高+8.7%</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CNBC・StockTitan・AP通信(2026-08-19)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客数・売上高の内訳</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指標</a:t>
                      </a:r>
                    </a:p>
                  </a:txBody>
                  <a:tcPr>
                    <a:solidFill>
                      <a:srgbClr val="2E2A72"/>
                    </a:solidFill>
                  </a:tcPr>
                </a:tc>
                <a:tc>
                  <a:txBody>
                    <a:bodyPr/>
                    <a:lstStyle/>
                    <a:p>
                      <a:pPr>
                        <a:defRPr sz="1300" b="1">
                          <a:solidFill>
                            <a:srgbClr val="FFFFFF"/>
                          </a:solidFill>
                          <a:latin typeface="Yu Gothic"/>
                        </a:defRPr>
                      </a:pPr>
                      <a:r>
                        <a:t>数値</a:t>
                      </a:r>
                    </a:p>
                  </a:txBody>
                  <a:tcPr>
                    <a:solidFill>
                      <a:srgbClr val="2E2A72"/>
                    </a:solidFill>
                  </a:tcPr>
                </a:tc>
              </a:tr>
              <a:tr h="502920">
                <a:tc>
                  <a:txBody>
                    <a:bodyPr/>
                    <a:lstStyle/>
                    <a:p>
                      <a:pPr>
                        <a:defRPr sz="1200">
                          <a:solidFill>
                            <a:srgbClr val="1C1B33"/>
                          </a:solidFill>
                          <a:latin typeface="Yu Gothic"/>
                        </a:defRPr>
                      </a:pPr>
                      <a:r>
                        <a:t>既存店売上高</a:t>
                      </a:r>
                    </a:p>
                  </a:txBody>
                  <a:tcPr>
                    <a:solidFill>
                      <a:srgbClr val="FFFFFF"/>
                    </a:solidFill>
                  </a:tcPr>
                </a:tc>
                <a:tc>
                  <a:txBody>
                    <a:bodyPr/>
                    <a:lstStyle/>
                    <a:p>
                      <a:pPr>
                        <a:defRPr sz="1200">
                          <a:solidFill>
                            <a:srgbClr val="1C1B33"/>
                          </a:solidFill>
                          <a:latin typeface="Yu Gothic"/>
                        </a:defRPr>
                      </a:pPr>
                      <a:r>
                        <a:t>+3.8%</a:t>
                      </a:r>
                    </a:p>
                  </a:txBody>
                  <a:tcPr>
                    <a:solidFill>
                      <a:srgbClr val="FFFFFF"/>
                    </a:solidFill>
                  </a:tcPr>
                </a:tc>
              </a:tr>
              <a:tr h="502920">
                <a:tc>
                  <a:txBody>
                    <a:bodyPr/>
                    <a:lstStyle/>
                    <a:p>
                      <a:pPr>
                        <a:defRPr sz="1200">
                          <a:solidFill>
                            <a:srgbClr val="1C1B33"/>
                          </a:solidFill>
                          <a:latin typeface="Yu Gothic"/>
                        </a:defRPr>
                      </a:pPr>
                      <a:r>
                        <a:t>既存店客数</a:t>
                      </a:r>
                    </a:p>
                  </a:txBody>
                  <a:tcPr>
                    <a:solidFill>
                      <a:srgbClr val="F4F3FC"/>
                    </a:solidFill>
                  </a:tcPr>
                </a:tc>
                <a:tc>
                  <a:txBody>
                    <a:bodyPr/>
                    <a:lstStyle/>
                    <a:p>
                      <a:pPr>
                        <a:defRPr sz="1200">
                          <a:solidFill>
                            <a:srgbClr val="1C1B33"/>
                          </a:solidFill>
                          <a:latin typeface="Yu Gothic"/>
                        </a:defRPr>
                      </a:pPr>
                      <a:r>
                        <a:t>+3.6%</a:t>
                      </a:r>
                    </a:p>
                  </a:txBody>
                  <a:tcPr>
                    <a:solidFill>
                      <a:srgbClr val="F4F3FC"/>
                    </a:solidFill>
                  </a:tcPr>
                </a:tc>
              </a:tr>
              <a:tr h="502920">
                <a:tc>
                  <a:txBody>
                    <a:bodyPr/>
                    <a:lstStyle/>
                    <a:p>
                      <a:pPr>
                        <a:defRPr sz="1200">
                          <a:solidFill>
                            <a:srgbClr val="1C1B33"/>
                          </a:solidFill>
                          <a:latin typeface="Yu Gothic"/>
                        </a:defRPr>
                      </a:pPr>
                      <a:r>
                        <a:t>デジタル既存店売上高</a:t>
                      </a:r>
                    </a:p>
                  </a:txBody>
                  <a:tcPr>
                    <a:solidFill>
                      <a:srgbClr val="FFFFFF"/>
                    </a:solidFill>
                  </a:tcPr>
                </a:tc>
                <a:tc>
                  <a:txBody>
                    <a:bodyPr/>
                    <a:lstStyle/>
                    <a:p>
                      <a:pPr>
                        <a:defRPr sz="1200">
                          <a:solidFill>
                            <a:srgbClr val="1C1B33"/>
                          </a:solidFill>
                          <a:latin typeface="Yu Gothic"/>
                        </a:defRPr>
                      </a:pPr>
                      <a:r>
                        <a:t>+8.7%</a:t>
                      </a:r>
                    </a:p>
                  </a:txBody>
                  <a:tcPr>
                    <a:solidFill>
                      <a:srgbClr val="FFFFFF"/>
                    </a:solidFill>
                  </a:tcPr>
                </a:tc>
              </a:tr>
              <a:tr h="502920">
                <a:tc>
                  <a:txBody>
                    <a:bodyPr/>
                    <a:lstStyle/>
                    <a:p>
                      <a:pPr>
                        <a:defRPr sz="1200">
                          <a:solidFill>
                            <a:srgbClr val="1C1B33"/>
                          </a:solidFill>
                          <a:latin typeface="Yu Gothic"/>
                        </a:defRPr>
                      </a:pPr>
                      <a:r>
                        <a:t>即日配送</a:t>
                      </a:r>
                    </a:p>
                  </a:txBody>
                  <a:tcPr>
                    <a:solidFill>
                      <a:srgbClr val="F4F3FC"/>
                    </a:solidFill>
                  </a:tcPr>
                </a:tc>
                <a:tc>
                  <a:txBody>
                    <a:bodyPr/>
                    <a:lstStyle/>
                    <a:p>
                      <a:pPr>
                        <a:defRPr sz="1200">
                          <a:solidFill>
                            <a:srgbClr val="1C1B33"/>
                          </a:solidFill>
                          <a:latin typeface="Yu Gothic"/>
                        </a:defRPr>
                      </a:pPr>
                      <a:r>
                        <a:t>+25%超</a:t>
                      </a:r>
                    </a:p>
                  </a:txBody>
                  <a:tcPr>
                    <a:solidFill>
                      <a:srgbClr val="F4F3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CNBC・AP通信(2026-08-19)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CNBC・StockTitan・AP通信(2026-08-19)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非商品売上高(Roundel等)の伸び</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商品販売以外の事業の状況です。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非商品売上高(non-merchandise sales)は20%超の伸びを記録</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広告事業『Roundel』の広告収入が牽引役の一つとされる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会員制サービス『Target Circle 360』の会員収入も伸びに寄与</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マーケットプレイス『Target+』も成長要因の一つ</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PR Newswire・CNBC(2026-08-19)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CNBC・StockTitan・AP通信(2026-08-19)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非商品売上高の伸び</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前年比+20%超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Roundel広告・Target Circle 360・Target+が牽引</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PR Newswire(2026-08-19)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非商品事業の構成</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Roundel(広告事業)</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広告収入が伸びに寄与</a:t>
            </a:r>
          </a:p>
        </p:txBody>
      </p:sp>
      <p:sp>
        <p:nvSpPr>
          <p:cNvPr id="10" name="Right Arrow 9"/>
          <p:cNvSpPr/>
          <p:nvPr/>
        </p:nvSpPr>
        <p:spPr>
          <a:xfrm>
            <a:off x="41573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Target Circle 360(会員制)</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会員収入が伸びに寄与</a:t>
            </a:r>
          </a:p>
        </p:txBody>
      </p:sp>
      <p:sp>
        <p:nvSpPr>
          <p:cNvPr id="15" name="Right Arrow 14"/>
          <p:cNvSpPr/>
          <p:nvPr/>
        </p:nvSpPr>
        <p:spPr>
          <a:xfrm>
            <a:off x="73577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Target+(マーケットプレイス)</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取扱高の拡大が伸びに寄与</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3628C"/>
                </a:solidFill>
                <a:latin typeface="Yu Gothic"/>
              </a:rPr>
              <a:t>非商品売上高20%超の伸びを構成する3つの事業</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PR Newswire・CNBC(2026-08-19)</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CNBC・StockTitan・AP通信(2026-08-19)</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今回の決算の3ステップ総括</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1. 純利益はほぼ倍増</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うち1.65ドル分は一時的な関税還付</a:t>
            </a:r>
          </a:p>
        </p:txBody>
      </p:sp>
      <p:sp>
        <p:nvSpPr>
          <p:cNvPr id="11" name="Chevron 10"/>
          <p:cNvSpPr/>
          <p:nvPr/>
        </p:nvSpPr>
        <p:spPr>
          <a:xfrm>
            <a:off x="4038295"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2. 還付除いてもEPS+20%</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実態としても好調な四半期</a:t>
            </a:r>
          </a:p>
        </p:txBody>
      </p:sp>
      <p:sp>
        <p:nvSpPr>
          <p:cNvPr id="17" name="Chevron 16"/>
          <p:cNvSpPr/>
          <p:nvPr/>
        </p:nvSpPr>
        <p:spPr>
          <a:xfrm>
            <a:off x="7919313"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3. 非商品売上高+20%超</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Roundel等の新規事業が成長を牽引</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CNBC・StockTitan・AP通信(2026-08-19)</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AIパーソナライゼーションについて</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AI関連の報道内容です。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報道では『パーソナライゼーション基盤のアップグレード』『カテゴリ別特典の拡充』といった言及がある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AI活用の具体的な内容・成果指標については、本調査時点で入手できた情報源の範囲では詳細が確認できていない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決算コールの全文トランスクリプトまでは確認しておらず、AI関連の経営陣発言の詳細は『不明』として扱う</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誇張せず、確認できた範囲の情報のみを紹介する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CNBC・StockTitan・AP通信(2026-08-19)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AI関連情報の確認状況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詳細は『不明』として扱う</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決算コール全文は未確認、断定的な表現は避ける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本リサーチ(2026-08-19時点)</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通期ガイダンスの更新</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通期見通しの変更内容です。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通期売上高成長率のガイダンスを約5%へ上方修正(従来から1ポイント上方修正)</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通期EPS(関税還付込み)は9.90〜10.90ドルの範囲を見込む</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還付を除いた場合のEPSレンジは、従来の7.50〜8.50ドルから8.25〜9.25ドルへ引き上げ</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還付を除いたレンジも引き上げられており、実態としての見通し改善もうかがえる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CNBC・StockTitan(2026-08-19)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CNBC・StockTitan・AP通信(2026-08-19)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通期ガイダンスの変更</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指標</a:t>
                      </a:r>
                    </a:p>
                  </a:txBody>
                  <a:tcPr>
                    <a:solidFill>
                      <a:srgbClr val="2E2A72"/>
                    </a:solidFill>
                  </a:tcPr>
                </a:tc>
                <a:tc>
                  <a:txBody>
                    <a:bodyPr/>
                    <a:lstStyle/>
                    <a:p>
                      <a:pPr>
                        <a:defRPr sz="1300" b="1">
                          <a:solidFill>
                            <a:srgbClr val="FFFFFF"/>
                          </a:solidFill>
                          <a:latin typeface="Yu Gothic"/>
                        </a:defRPr>
                      </a:pPr>
                      <a:r>
                        <a:t>変更内容</a:t>
                      </a:r>
                    </a:p>
                  </a:txBody>
                  <a:tcPr>
                    <a:solidFill>
                      <a:srgbClr val="2E2A72"/>
                    </a:solidFill>
                  </a:tcPr>
                </a:tc>
              </a:tr>
              <a:tr h="502920">
                <a:tc>
                  <a:txBody>
                    <a:bodyPr/>
                    <a:lstStyle/>
                    <a:p>
                      <a:pPr>
                        <a:defRPr sz="1200">
                          <a:solidFill>
                            <a:srgbClr val="1C1B33"/>
                          </a:solidFill>
                          <a:latin typeface="Yu Gothic"/>
                        </a:defRPr>
                      </a:pPr>
                      <a:r>
                        <a:t>通期売上高成長率</a:t>
                      </a:r>
                    </a:p>
                  </a:txBody>
                  <a:tcPr>
                    <a:solidFill>
                      <a:srgbClr val="FFFFFF"/>
                    </a:solidFill>
                  </a:tcPr>
                </a:tc>
                <a:tc>
                  <a:txBody>
                    <a:bodyPr/>
                    <a:lstStyle/>
                    <a:p>
                      <a:pPr>
                        <a:defRPr sz="1200">
                          <a:solidFill>
                            <a:srgbClr val="1C1B33"/>
                          </a:solidFill>
                          <a:latin typeface="Yu Gothic"/>
                        </a:defRPr>
                      </a:pPr>
                      <a:r>
                        <a:t>約5%(従来比+1ポイント)</a:t>
                      </a:r>
                    </a:p>
                  </a:txBody>
                  <a:tcPr>
                    <a:solidFill>
                      <a:srgbClr val="FFFFFF"/>
                    </a:solidFill>
                  </a:tcPr>
                </a:tc>
              </a:tr>
              <a:tr h="502920">
                <a:tc>
                  <a:txBody>
                    <a:bodyPr/>
                    <a:lstStyle/>
                    <a:p>
                      <a:pPr>
                        <a:defRPr sz="1200">
                          <a:solidFill>
                            <a:srgbClr val="1C1B33"/>
                          </a:solidFill>
                          <a:latin typeface="Yu Gothic"/>
                        </a:defRPr>
                      </a:pPr>
                      <a:r>
                        <a:t>通期EPS(関税還付込み)</a:t>
                      </a:r>
                    </a:p>
                  </a:txBody>
                  <a:tcPr>
                    <a:solidFill>
                      <a:srgbClr val="F4F3FC"/>
                    </a:solidFill>
                  </a:tcPr>
                </a:tc>
                <a:tc>
                  <a:txBody>
                    <a:bodyPr/>
                    <a:lstStyle/>
                    <a:p>
                      <a:pPr>
                        <a:defRPr sz="1200">
                          <a:solidFill>
                            <a:srgbClr val="1C1B33"/>
                          </a:solidFill>
                          <a:latin typeface="Yu Gothic"/>
                        </a:defRPr>
                      </a:pPr>
                      <a:r>
                        <a:t>9.90〜10.90ドル</a:t>
                      </a:r>
                    </a:p>
                  </a:txBody>
                  <a:tcPr>
                    <a:solidFill>
                      <a:srgbClr val="F4F3FC"/>
                    </a:solidFill>
                  </a:tcPr>
                </a:tc>
              </a:tr>
              <a:tr h="502920">
                <a:tc>
                  <a:txBody>
                    <a:bodyPr/>
                    <a:lstStyle/>
                    <a:p>
                      <a:pPr>
                        <a:defRPr sz="1200">
                          <a:solidFill>
                            <a:srgbClr val="1C1B33"/>
                          </a:solidFill>
                          <a:latin typeface="Yu Gothic"/>
                        </a:defRPr>
                      </a:pPr>
                      <a:r>
                        <a:t>通期EPS(還付除く)</a:t>
                      </a:r>
                    </a:p>
                  </a:txBody>
                  <a:tcPr>
                    <a:solidFill>
                      <a:srgbClr val="FFFFFF"/>
                    </a:solidFill>
                  </a:tcPr>
                </a:tc>
                <a:tc>
                  <a:txBody>
                    <a:bodyPr/>
                    <a:lstStyle/>
                    <a:p>
                      <a:pPr>
                        <a:defRPr sz="1200">
                          <a:solidFill>
                            <a:srgbClr val="1C1B33"/>
                          </a:solidFill>
                          <a:latin typeface="Yu Gothic"/>
                        </a:defRPr>
                      </a:pPr>
                      <a:r>
                        <a:t>8.25〜9.25ドル(従来7.50〜8.50ドルから引き上げ)</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CNBC・StockTitan(2026-08-19)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CNBC・StockTitan・AP通信(2026-08-19)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決算発表時の会社側の説明</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報じられている会社側のコメントです。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新商品(new merchandise)の投入と来店客数の増加が『カムバック四半期』として報じられている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客数の増加(+3.6%)が既存店売上高の伸びを牽引したと説明されている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デジタルチャネル・即日配送の伸びも、顧客体験改善の成果として位置づけられている</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経営陣の詳細な発言全文までは、本調査の範囲では確認できていない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AP通信(2026-08-19)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CNBC・StockTitan・AP通信(2026-08-19)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実店舗 vs デジタルチャネルの伸び</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実店舗(既存店)</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既存店売上高+3.8%</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客数+3.6%</a:t>
            </a:r>
          </a:p>
        </p:txBody>
      </p:sp>
      <p:sp>
        <p:nvSpPr>
          <p:cNvPr id="13" name="Oval 12"/>
          <p:cNvSpPr/>
          <p:nvPr/>
        </p:nvSpPr>
        <p:spPr>
          <a:xfrm>
            <a:off x="777240"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新商品投入が牽引役とされる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デジタルチャネル</a:t>
            </a:r>
          </a:p>
        </p:txBody>
      </p:sp>
      <p:sp>
        <p:nvSpPr>
          <p:cNvPr id="18" name="Oval 17"/>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デジタル既存店売上高+8.7%</a:t>
            </a:r>
          </a:p>
        </p:txBody>
      </p:sp>
      <p:sp>
        <p:nvSpPr>
          <p:cNvPr id="20" name="Oval 19"/>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即日配送+25%超</a:t>
            </a:r>
          </a:p>
        </p:txBody>
      </p:sp>
      <p:sp>
        <p:nvSpPr>
          <p:cNvPr id="22" name="Oval 21"/>
          <p:cNvSpPr/>
          <p:nvPr/>
        </p:nvSpPr>
        <p:spPr>
          <a:xfrm>
            <a:off x="6598767"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実店舗を上回るペースで成長</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CNBC・StockTitan・AP通信(2026-08-19)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関税還付が今後の決算に与える影響</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留意すべき点です。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今回の9億9,400万ドルの関税還付は一時的な要因であり、次四半期以降も同規模の押し上げが続くとは限らない</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通期ガイダンスは還付込み・還付除きの両方が示されており、投資家はこの区別を意識する必要がある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還付の会計処理・今後の還付見込みの詳細は、本調査の範囲では確認できていない</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『利益ほぼ倍増』という見出しだけで今後の業績を予測しないよう注意が必要</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CNBC・StockTitan・AP通信(2026-08-19)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即日配送の伸び</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前年比+25%超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デジタル既存店売上高は+8.7%</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CNBC(2026-08-19)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通期ガイダンス:従来 vs 更新後</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従来のガイダンス</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還付除くEPS: 7.50〜8.50ドル</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売上高成長率: 更新前の水準</a:t>
            </a:r>
          </a:p>
        </p:txBody>
      </p:sp>
      <p:sp>
        <p:nvSpPr>
          <p:cNvPr id="13" name="Oval 12"/>
          <p:cNvSpPr/>
          <p:nvPr/>
        </p:nvSpPr>
        <p:spPr>
          <a:xfrm>
            <a:off x="777240"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第1四半期時点の見通し</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更新後のガイダンス</a:t>
            </a:r>
          </a:p>
        </p:txBody>
      </p:sp>
      <p:sp>
        <p:nvSpPr>
          <p:cNvPr id="18" name="Oval 17"/>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還付除くEPS: 8.25〜9.25ドル</a:t>
            </a:r>
          </a:p>
        </p:txBody>
      </p:sp>
      <p:sp>
        <p:nvSpPr>
          <p:cNvPr id="20" name="Oval 19"/>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売上高成長率: 約5%(+1ポイント)</a:t>
            </a:r>
          </a:p>
        </p:txBody>
      </p:sp>
      <p:sp>
        <p:nvSpPr>
          <p:cNvPr id="22" name="Oval 21"/>
          <p:cNvSpPr/>
          <p:nvPr/>
        </p:nvSpPr>
        <p:spPr>
          <a:xfrm>
            <a:off x="6598767"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Q2決算を受けた上方修正</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CNBC・StockTitan・AP通信(2026-08-19)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客数の伸び</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既存店客数+3.6%</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既存店売上高+3.8%を牽引した主要因</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CNBC・AP通信(2026-08-19)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正直にお伝えする留保事項です。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非商品売上高の内訳(広告収入単体の金額等)</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AIパーソナライゼーションの具体的な内容・成果指標</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関税還付の会計処理・今後の還付見込みの詳細</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本テーマはTarget株式の購入・投資を推奨するものではなく、報じられた経営指標の紹介にとどめる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CNBC・StockTitan・AP通信(2026-08-19)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今回の決算の要点まとめ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純利益</a:t>
                      </a:r>
                    </a:p>
                  </a:txBody>
                  <a:tcPr>
                    <a:solidFill>
                      <a:srgbClr val="FFFFFF"/>
                    </a:solidFill>
                  </a:tcPr>
                </a:tc>
                <a:tc>
                  <a:txBody>
                    <a:bodyPr/>
                    <a:lstStyle/>
                    <a:p>
                      <a:pPr>
                        <a:defRPr sz="1200">
                          <a:solidFill>
                            <a:srgbClr val="1C1B33"/>
                          </a:solidFill>
                          <a:latin typeface="Yu Gothic"/>
                        </a:defRPr>
                      </a:pPr>
                      <a:r>
                        <a:t>18.7億ドル(前年比ほぼ倍増、うち関税還付が1.65ドル/株)</a:t>
                      </a:r>
                    </a:p>
                  </a:txBody>
                  <a:tcPr>
                    <a:solidFill>
                      <a:srgbClr val="FFFFFF"/>
                    </a:solidFill>
                  </a:tcPr>
                </a:tc>
              </a:tr>
              <a:tr h="502920">
                <a:tc>
                  <a:txBody>
                    <a:bodyPr/>
                    <a:lstStyle/>
                    <a:p>
                      <a:pPr>
                        <a:defRPr sz="1200">
                          <a:solidFill>
                            <a:srgbClr val="1C1B33"/>
                          </a:solidFill>
                          <a:latin typeface="Yu Gothic"/>
                        </a:defRPr>
                      </a:pPr>
                      <a:r>
                        <a:t>還付除くEPS成長率</a:t>
                      </a:r>
                    </a:p>
                  </a:txBody>
                  <a:tcPr>
                    <a:solidFill>
                      <a:srgbClr val="F4F3FC"/>
                    </a:solidFill>
                  </a:tcPr>
                </a:tc>
                <a:tc>
                  <a:txBody>
                    <a:bodyPr/>
                    <a:lstStyle/>
                    <a:p>
                      <a:pPr>
                        <a:defRPr sz="1200">
                          <a:solidFill>
                            <a:srgbClr val="1C1B33"/>
                          </a:solidFill>
                          <a:latin typeface="Yu Gothic"/>
                        </a:defRPr>
                      </a:pPr>
                      <a:r>
                        <a:t>+20%</a:t>
                      </a:r>
                    </a:p>
                  </a:txBody>
                  <a:tcPr>
                    <a:solidFill>
                      <a:srgbClr val="F4F3FC"/>
                    </a:solidFill>
                  </a:tcPr>
                </a:tc>
              </a:tr>
              <a:tr h="502920">
                <a:tc>
                  <a:txBody>
                    <a:bodyPr/>
                    <a:lstStyle/>
                    <a:p>
                      <a:pPr>
                        <a:defRPr sz="1200">
                          <a:solidFill>
                            <a:srgbClr val="1C1B33"/>
                          </a:solidFill>
                          <a:latin typeface="Yu Gothic"/>
                        </a:defRPr>
                      </a:pPr>
                      <a:r>
                        <a:t>既存店売上高</a:t>
                      </a:r>
                    </a:p>
                  </a:txBody>
                  <a:tcPr>
                    <a:solidFill>
                      <a:srgbClr val="FFFFFF"/>
                    </a:solidFill>
                  </a:tcPr>
                </a:tc>
                <a:tc>
                  <a:txBody>
                    <a:bodyPr/>
                    <a:lstStyle/>
                    <a:p>
                      <a:pPr>
                        <a:defRPr sz="1200">
                          <a:solidFill>
                            <a:srgbClr val="1C1B33"/>
                          </a:solidFill>
                          <a:latin typeface="Yu Gothic"/>
                        </a:defRPr>
                      </a:pPr>
                      <a:r>
                        <a:t>+3.8%</a:t>
                      </a:r>
                    </a:p>
                  </a:txBody>
                  <a:tcPr>
                    <a:solidFill>
                      <a:srgbClr val="FFFFFF"/>
                    </a:solidFill>
                  </a:tcPr>
                </a:tc>
              </a:tr>
              <a:tr h="502920">
                <a:tc>
                  <a:txBody>
                    <a:bodyPr/>
                    <a:lstStyle/>
                    <a:p>
                      <a:pPr>
                        <a:defRPr sz="1200">
                          <a:solidFill>
                            <a:srgbClr val="1C1B33"/>
                          </a:solidFill>
                          <a:latin typeface="Yu Gothic"/>
                        </a:defRPr>
                      </a:pPr>
                      <a:r>
                        <a:t>非商品売上高</a:t>
                      </a:r>
                    </a:p>
                  </a:txBody>
                  <a:tcPr>
                    <a:solidFill>
                      <a:srgbClr val="F4F3FC"/>
                    </a:solidFill>
                  </a:tcPr>
                </a:tc>
                <a:tc>
                  <a:txBody>
                    <a:bodyPr/>
                    <a:lstStyle/>
                    <a:p>
                      <a:pPr>
                        <a:defRPr sz="1200">
                          <a:solidFill>
                            <a:srgbClr val="1C1B33"/>
                          </a:solidFill>
                          <a:latin typeface="Yu Gothic"/>
                        </a:defRPr>
                      </a:pPr>
                      <a:r>
                        <a:t>+20%超</a:t>
                      </a:r>
                    </a:p>
                  </a:txBody>
                  <a:tcPr>
                    <a:solidFill>
                      <a:srgbClr val="F4F3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CNBC・StockTitan・PR Newswire(2026-08-19)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CNBC・StockTitan・AP通信(2026-08-19)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決算・企業分析に関心がある立場として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見出しの数字だけでなく、一時的要因を除いた実態まで確認する視点が役立つ</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小売・DX動向を追う立場として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非商品売上高(広告・会員制サービス)の伸びという新しい収益源の事例として参考になる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投資を検討する立場として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関税還付が一時的要因であることを踏まえ、今後の業績を安易に予測しない必要がある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CNBC・StockTitan・AP通信(2026-08-19)</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まとめ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本編のまとめです。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Targetの2026年Q2純利益は前年比でほぼ倍増したが、うち1株あたり1.65ドル分は一時的な関税還付によるもの</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還付を除いてもEPSは前年比20%増と、実態としても好調な四半期だった</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非商品売上高(Roundel等)は20%超の伸びを記録し、新しい収益源として成長している</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AIパーソナライゼーションの具体的な内容は確認できておらず、正直に『不明』として扱った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CNBC・StockTitan・AP通信(2026-08-19)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利益倍増の見出し、その裏にあった9.9億ドルの真実。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6D9F5"/>
                </a:solidFill>
                <a:latin typeface="Yu Gothic"/>
              </a:rPr>
              <a:t>Targetの2026年Q2決算は純利益がほぼ倍増しましたが、うち1株あたり1.65ドル分は一時的な関税還付によるものでした。還付を除いた実態のEPS+20%まで、出典付きで正直に整理してお届けしました。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E2A72"/>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