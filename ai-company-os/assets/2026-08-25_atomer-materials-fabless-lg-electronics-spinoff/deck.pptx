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LG電子発のスピンオフ企業「アトマー」が、シード投資を獲得しました。何が起きたのか、出典付きで正確に整理してお届けします。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結論から確認します。機能性素材スタートアップ「アトマー」が、LG電子とブルーポイントパートナーズからシード投資を獲得しました。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本日の流れです。今回の投資からスピンオフの背景、事業モデル、そして確認できなかったことまで整理します。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着手日前日に報じられた、鮮度の高い話題です。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アトマーは、2026年8月24日にシード投資獲得を発表しました。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今回の投資は、LG電子とディープテック・アクセラレーターのブルーポイントパートナーズから受けたものです。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投資規模・企業評価額は非公開とされています。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アトマーは、LG電子とブルーポイントの共同プログラム「スタジオ341」を通じて独立法人として分社しました。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アトマーのチームは、2025年7月、約12倍の競争率を突破して選抜されました。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社内ベンチャーとして選抜されてから、独立法人としてスピンオフするまでの流れです。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スタジオ341は、LG電子の前身・金星社の創業精神を継承する社内ベンチャー発掘プログラムです。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アトマーは、半導体業界の設計専門「ファブレス」方式を素材産業に応用した事業モデルを採っています。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アトマーの最初の製品は、電池火災を制御するための超薄型・耐熱塗料です。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自社での設計から専門パートナーとの協力による生産・検証、そして製品化という流れです。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選抜された社内ベンチャーは、最大4億ウォンの初期投資支援を受けられる仕組みです。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スタジオ341プログラムは2023年に開始されました。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従来型の垂直統合とは異なり、設計に特化するファブレス方式を採用しています。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電池の安全性への関心の高まりを背景に、関連する新素材への注目が集まっています。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複数の独立した韓国語メディアが同一の投資内容を報じており、内容としての一貫性を確認しています。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半導体業界で確立されたファブレスの発想を、素材産業に応用しているのが特徴です。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アトマーのチームは、約12倍という高い競争率を突破して選抜されました。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今回の投資の注目ポイントを3つにまとめました。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本テーマは、大手企業発のスピンオフ企業の資金調達動向として整理しています。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プログラム開始からチーム選抜、そして今回のスピンオフ発表までのタイムラインです。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今後、製品の商用化時期や投資金額の開示が注目されます。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アトマーは、LG電子とブルーポイントパートナーズからシード投資を獲得し、独立法人として新たなスタートを切りました。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LG電子とディープテック・アクセラレーターのブルーポイントパートナーズが、それぞれの役割で今回の投資に参加しました。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本日はアトマーのスピンオフ・シード投資獲得についてお届けしました。確認できなかったことは正直に開示しています。次回もお楽しみに。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工場を持たずに</a:t>
            </a:r>
          </a:p>
          <a:p>
            <a:pPr algn="l">
              <a:lnSpc>
                <a:spcPct val="115000"/>
              </a:lnSpc>
            </a:pPr>
            <a:r>
              <a:rPr sz="4200" b="1">
                <a:solidFill>
                  <a:srgbClr val="FFFFFF"/>
                </a:solidFill>
                <a:latin typeface="Yu Gothic"/>
              </a:rPr>
              <a:t>素材をつくる</a:t>
            </a:r>
          </a:p>
          <a:p>
            <a:pPr algn="l">
              <a:lnSpc>
                <a:spcPct val="115000"/>
              </a:lnSpc>
            </a:pPr>
            <a:r>
              <a:rPr sz="4200" b="1">
                <a:solidFill>
                  <a:srgbClr val="FFFFFF"/>
                </a:solidFill>
                <a:latin typeface="Yu Gothic"/>
              </a:rPr>
              <a:t>アトマー、シード獲得</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半導体の発想を素材産業へ——出典付きで整理する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マネートゥデイ(2026年8月24日)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LG電子・ブルーポイントからシード投資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「素材版ファブレス」を掲げるアトマー</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マネートゥデイ(2026-08-24)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今回の投資の内容を確認する</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スピンオフの背景を確認する</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事業モデルを確認する</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着手日前日に複数の韓国語メディアが一斉報道</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大手電機メーカー発のスピンオフという話題性</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半導体の発想を素材産業に応用するユニークなモデル</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マネートゥデイ(2026-08-24)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発表日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2026年8月24日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シード投資獲得を発表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マネートゥデイ(2026-08-24)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今回の投資の内容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機能性素材スタートアップ「アトマー」が発表</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LG電子とブルーポイントパートナーズからシード投資を獲得</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投資規模・企業評価額は非公開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マネートゥデイ(2026-08-24)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今回の投資概要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投資元</a:t>
                      </a:r>
                    </a:p>
                  </a:txBody>
                  <a:tcPr>
                    <a:solidFill>
                      <a:srgbClr val="FFFFFF"/>
                    </a:solidFill>
                  </a:tcPr>
                </a:tc>
                <a:tc>
                  <a:txBody>
                    <a:bodyPr/>
                    <a:lstStyle/>
                    <a:p>
                      <a:pPr>
                        <a:defRPr sz="1200">
                          <a:solidFill>
                            <a:srgbClr val="1E2124"/>
                          </a:solidFill>
                          <a:latin typeface="Yu Gothic"/>
                        </a:defRPr>
                      </a:pPr>
                      <a:r>
                        <a:t>LG電子・ブルーポイントパートナーズ</a:t>
                      </a:r>
                    </a:p>
                  </a:txBody>
                  <a:tcPr>
                    <a:solidFill>
                      <a:srgbClr val="FFFFFF"/>
                    </a:solidFill>
                  </a:tcPr>
                </a:tc>
              </a:tr>
              <a:tr h="502920">
                <a:tc>
                  <a:txBody>
                    <a:bodyPr/>
                    <a:lstStyle/>
                    <a:p>
                      <a:pPr>
                        <a:defRPr sz="1200">
                          <a:solidFill>
                            <a:srgbClr val="1E2124"/>
                          </a:solidFill>
                          <a:latin typeface="Yu Gothic"/>
                        </a:defRPr>
                      </a:pPr>
                      <a:r>
                        <a:t>投資規模</a:t>
                      </a:r>
                    </a:p>
                  </a:txBody>
                  <a:tcPr>
                    <a:solidFill>
                      <a:srgbClr val="F7F4EF"/>
                    </a:solidFill>
                  </a:tcPr>
                </a:tc>
                <a:tc>
                  <a:txBody>
                    <a:bodyPr/>
                    <a:lstStyle/>
                    <a:p>
                      <a:pPr>
                        <a:defRPr sz="1200">
                          <a:solidFill>
                            <a:srgbClr val="1E2124"/>
                          </a:solidFill>
                          <a:latin typeface="Yu Gothic"/>
                        </a:defRPr>
                      </a:pPr>
                      <a:r>
                        <a:t>非公開</a:t>
                      </a:r>
                    </a:p>
                  </a:txBody>
                  <a:tcPr>
                    <a:solidFill>
                      <a:srgbClr val="F7F4EF"/>
                    </a:solidFill>
                  </a:tcPr>
                </a:tc>
              </a:tr>
              <a:tr h="502920">
                <a:tc>
                  <a:txBody>
                    <a:bodyPr/>
                    <a:lstStyle/>
                    <a:p>
                      <a:pPr>
                        <a:defRPr sz="1200">
                          <a:solidFill>
                            <a:srgbClr val="1E2124"/>
                          </a:solidFill>
                          <a:latin typeface="Yu Gothic"/>
                        </a:defRPr>
                      </a:pPr>
                      <a:r>
                        <a:t>発表日</a:t>
                      </a:r>
                    </a:p>
                  </a:txBody>
                  <a:tcPr>
                    <a:solidFill>
                      <a:srgbClr val="FFFFFF"/>
                    </a:solidFill>
                  </a:tcPr>
                </a:tc>
                <a:tc>
                  <a:txBody>
                    <a:bodyPr/>
                    <a:lstStyle/>
                    <a:p>
                      <a:pPr>
                        <a:defRPr sz="1200">
                          <a:solidFill>
                            <a:srgbClr val="1E2124"/>
                          </a:solidFill>
                          <a:latin typeface="Yu Gothic"/>
                        </a:defRPr>
                      </a:pPr>
                      <a:r>
                        <a:t>2026年8月24日</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マネートゥデイ(2026-08-24)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スピンオフの背景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LG電子とブルーポイントの共同社内ベンチャープログラム「スタジオ341」を通じて分社</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前年(2025年)7月、約12倍の競争率を突破して選抜</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外部専門家の育成・評価を経て最終的なスピンオフ資格を獲得</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マネートゥデイ(2026-08-24)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選抜時の競争率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約12倍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2025年7月の選抜時</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マネートゥデイ(2026-08-24)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スタジオ341からのスピンオフの流れ(概念図)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社内ベンチャー選抜(2025年7月)</a:t>
            </a:r>
          </a:p>
        </p:txBody>
      </p:sp>
      <p:sp>
        <p:nvSpPr>
          <p:cNvPr id="9" name="Right Arrow 8"/>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外部専門家による育成・評価</a:t>
            </a:r>
          </a:p>
        </p:txBody>
      </p:sp>
      <p:sp>
        <p:nvSpPr>
          <p:cNvPr id="13" name="Right Arrow 12"/>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独立法人としてスピンオフ(2026年)</a:t>
            </a:r>
          </a:p>
        </p:txBody>
      </p:sp>
      <p:sp>
        <p:nvSpPr>
          <p:cNvPr id="17" name="TextBox 16"/>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選抜からスピンオフまでの流れ</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スタジオ341プログラムについて</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開始年</a:t>
                      </a:r>
                    </a:p>
                  </a:txBody>
                  <a:tcPr>
                    <a:solidFill>
                      <a:srgbClr val="FFFFFF"/>
                    </a:solidFill>
                  </a:tcPr>
                </a:tc>
                <a:tc>
                  <a:txBody>
                    <a:bodyPr/>
                    <a:lstStyle/>
                    <a:p>
                      <a:pPr>
                        <a:defRPr sz="1200">
                          <a:solidFill>
                            <a:srgbClr val="1E2124"/>
                          </a:solidFill>
                          <a:latin typeface="Yu Gothic"/>
                        </a:defRPr>
                      </a:pPr>
                      <a:r>
                        <a:t>2023年</a:t>
                      </a:r>
                    </a:p>
                  </a:txBody>
                  <a:tcPr>
                    <a:solidFill>
                      <a:srgbClr val="FFFFFF"/>
                    </a:solidFill>
                  </a:tcPr>
                </a:tc>
              </a:tr>
              <a:tr h="502920">
                <a:tc>
                  <a:txBody>
                    <a:bodyPr/>
                    <a:lstStyle/>
                    <a:p>
                      <a:pPr>
                        <a:defRPr sz="1200">
                          <a:solidFill>
                            <a:srgbClr val="1E2124"/>
                          </a:solidFill>
                          <a:latin typeface="Yu Gothic"/>
                        </a:defRPr>
                      </a:pPr>
                      <a:r>
                        <a:t>目的</a:t>
                      </a:r>
                    </a:p>
                  </a:txBody>
                  <a:tcPr>
                    <a:solidFill>
                      <a:srgbClr val="F7F4EF"/>
                    </a:solidFill>
                  </a:tcPr>
                </a:tc>
                <a:tc>
                  <a:txBody>
                    <a:bodyPr/>
                    <a:lstStyle/>
                    <a:p>
                      <a:pPr>
                        <a:defRPr sz="1200">
                          <a:solidFill>
                            <a:srgbClr val="1E2124"/>
                          </a:solidFill>
                          <a:latin typeface="Yu Gothic"/>
                        </a:defRPr>
                      </a:pPr>
                      <a:r>
                        <a:t>金星社創業時の挑戦・革新精神の継承</a:t>
                      </a:r>
                    </a:p>
                  </a:txBody>
                  <a:tcPr>
                    <a:solidFill>
                      <a:srgbClr val="F7F4EF"/>
                    </a:solidFill>
                  </a:tcPr>
                </a:tc>
              </a:tr>
              <a:tr h="502920">
                <a:tc>
                  <a:txBody>
                    <a:bodyPr/>
                    <a:lstStyle/>
                    <a:p>
                      <a:pPr>
                        <a:defRPr sz="1200">
                          <a:solidFill>
                            <a:srgbClr val="1E2124"/>
                          </a:solidFill>
                          <a:latin typeface="Yu Gothic"/>
                        </a:defRPr>
                      </a:pPr>
                      <a:r>
                        <a:t>支援内容</a:t>
                      </a:r>
                    </a:p>
                  </a:txBody>
                  <a:tcPr>
                    <a:solidFill>
                      <a:srgbClr val="FFFFFF"/>
                    </a:solidFill>
                  </a:tcPr>
                </a:tc>
                <a:tc>
                  <a:txBody>
                    <a:bodyPr/>
                    <a:lstStyle/>
                    <a:p>
                      <a:pPr>
                        <a:defRPr sz="1200">
                          <a:solidFill>
                            <a:srgbClr val="1E2124"/>
                          </a:solidFill>
                          <a:latin typeface="Yu Gothic"/>
                        </a:defRPr>
                      </a:pPr>
                      <a:r>
                        <a:t>選抜チームに最大4億ウォンの初期投資支援</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マネートゥデイ(2026-08-24)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アトマーの事業モデル</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半導体産業の「ファブレス(設計専門)」方式を素材産業に導入</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中核となる素材設計は自社で実施</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生産・技術検証は専門パートナーと協力</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マネートゥデイ(2026-08-24)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最初の製品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電池火災制御用の超薄型耐熱塗料</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アトマーの第一弾製品</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マネートゥデイ(2026-08-24)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事業モデルの流れ</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素材設計</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自社で中核設計を担当</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生産・検証</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専門パートナーと協力</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製品化</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電池火災制御用耐熱塗料を第一弾製品に</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選抜チームへの支援</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選抜された社内ベンチャーには最大4億ウォンの初期投資</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外部専門家による集中的な育成・評価</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スピンオフに至るまでの伴走支援体制</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マネートゥデイ(2026-08-24)</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確定</a:t>
                      </a:r>
                    </a:p>
                  </a:txBody>
                  <a:tcPr>
                    <a:solidFill>
                      <a:srgbClr val="FFFFFF"/>
                    </a:solidFill>
                  </a:tcPr>
                </a:tc>
                <a:tc>
                  <a:txBody>
                    <a:bodyPr/>
                    <a:lstStyle/>
                    <a:p>
                      <a:pPr>
                        <a:defRPr sz="1200">
                          <a:solidFill>
                            <a:srgbClr val="1E2124"/>
                          </a:solidFill>
                          <a:latin typeface="Yu Gothic"/>
                        </a:defRPr>
                      </a:pPr>
                      <a:r>
                        <a:t>投資元・スピンオフの経緯・事業モデル</a:t>
                      </a:r>
                    </a:p>
                  </a:txBody>
                  <a:tcPr>
                    <a:solidFill>
                      <a:srgbClr val="FFFFFF"/>
                    </a:solidFill>
                  </a:tcPr>
                </a:tc>
              </a:tr>
              <a:tr h="502920">
                <a:tc>
                  <a:txBody>
                    <a:bodyPr/>
                    <a:lstStyle/>
                    <a:p>
                      <a:pPr>
                        <a:defRPr sz="1200">
                          <a:solidFill>
                            <a:srgbClr val="1E2124"/>
                          </a:solidFill>
                          <a:latin typeface="Yu Gothic"/>
                        </a:defRPr>
                      </a:pPr>
                      <a:r>
                        <a:t>確定</a:t>
                      </a:r>
                    </a:p>
                  </a:txBody>
                  <a:tcPr>
                    <a:solidFill>
                      <a:srgbClr val="F7F4EF"/>
                    </a:solidFill>
                  </a:tcPr>
                </a:tc>
                <a:tc>
                  <a:txBody>
                    <a:bodyPr/>
                    <a:lstStyle/>
                    <a:p>
                      <a:pPr>
                        <a:defRPr sz="1200">
                          <a:solidFill>
                            <a:srgbClr val="1E2124"/>
                          </a:solidFill>
                          <a:latin typeface="Yu Gothic"/>
                        </a:defRPr>
                      </a:pPr>
                      <a:r>
                        <a:t>第一弾製品の内容</a:t>
                      </a:r>
                    </a:p>
                  </a:txBody>
                  <a:tcPr>
                    <a:solidFill>
                      <a:srgbClr val="F7F4EF"/>
                    </a:solidFill>
                  </a:tcPr>
                </a:tc>
              </a:tr>
              <a:tr h="502920">
                <a:tc>
                  <a:txBody>
                    <a:bodyPr/>
                    <a:lstStyle/>
                    <a:p>
                      <a:pPr>
                        <a:defRPr sz="1200">
                          <a:solidFill>
                            <a:srgbClr val="1E2124"/>
                          </a:solidFill>
                          <a:latin typeface="Yu Gothic"/>
                        </a:defRPr>
                      </a:pPr>
                      <a:r>
                        <a:t>未確認</a:t>
                      </a:r>
                    </a:p>
                  </a:txBody>
                  <a:tcPr>
                    <a:solidFill>
                      <a:srgbClr val="FFFFFF"/>
                    </a:solidFill>
                  </a:tcPr>
                </a:tc>
                <a:tc>
                  <a:txBody>
                    <a:bodyPr/>
                    <a:lstStyle/>
                    <a:p>
                      <a:pPr>
                        <a:defRPr sz="1200">
                          <a:solidFill>
                            <a:srgbClr val="1E2124"/>
                          </a:solidFill>
                          <a:latin typeface="Yu Gothic"/>
                        </a:defRPr>
                      </a:pPr>
                      <a:r>
                        <a:t>今回のシード投資の具体的な金額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確認できなかったこと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今回のシード投資の具体的な金額・企業評価額</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「超薄型・耐熱塗料」製品の具体的な性能数値・商用化時期</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アトマーの現在の従業員数・チーム構成の詳細</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スタジオ341開始年</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2023年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LG電子とブルーポイントの共同プログラム</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マネートゥデイ(2026-08-24)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従来型の素材産業 vs アトマーのファブレス方式</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従来型の素材産業</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設計から生産まで自社で一貫実施</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アトマーのファブレス方式</a:t>
            </a:r>
          </a:p>
        </p:txBody>
      </p:sp>
      <p:sp>
        <p:nvSpPr>
          <p:cNvPr id="14" name="Oval 13"/>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設計は自社、生産は専門パートナーと協力</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素材産業の背景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電池関連の安全性への関心が世界的に高まっている</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大手電機メーカーの社内ベンチャー制度への注目</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特定企業の製品利用を強く推奨する意図はない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主要出典の一覧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3A4750"/>
                    </a:solidFill>
                  </a:tcPr>
                </a:tc>
                <a:tc>
                  <a:txBody>
                    <a:bodyPr/>
                    <a:lstStyle/>
                    <a:p>
                      <a:pPr>
                        <a:defRPr sz="1300" b="1">
                          <a:solidFill>
                            <a:srgbClr val="FFFFFF"/>
                          </a:solidFill>
                          <a:latin typeface="Yu Gothic"/>
                        </a:defRPr>
                      </a:pPr>
                      <a:r>
                        <a:t>報道日</a:t>
                      </a:r>
                    </a:p>
                  </a:txBody>
                  <a:tcPr>
                    <a:solidFill>
                      <a:srgbClr val="3A4750"/>
                    </a:solidFill>
                  </a:tcPr>
                </a:tc>
              </a:tr>
              <a:tr h="502920">
                <a:tc>
                  <a:txBody>
                    <a:bodyPr/>
                    <a:lstStyle/>
                    <a:p>
                      <a:pPr>
                        <a:defRPr sz="1200">
                          <a:solidFill>
                            <a:srgbClr val="1E2124"/>
                          </a:solidFill>
                          <a:latin typeface="Yu Gothic"/>
                        </a:defRPr>
                      </a:pPr>
                      <a:r>
                        <a:t>マネートゥデイ</a:t>
                      </a:r>
                    </a:p>
                  </a:txBody>
                  <a:tcPr>
                    <a:solidFill>
                      <a:srgbClr val="FFFFFF"/>
                    </a:solidFill>
                  </a:tcPr>
                </a:tc>
                <a:tc>
                  <a:txBody>
                    <a:bodyPr/>
                    <a:lstStyle/>
                    <a:p>
                      <a:pPr>
                        <a:defRPr sz="1200">
                          <a:solidFill>
                            <a:srgbClr val="1E2124"/>
                          </a:solidFill>
                          <a:latin typeface="Yu Gothic"/>
                        </a:defRPr>
                      </a:pPr>
                      <a:r>
                        <a:t>2026年8月24日</a:t>
                      </a:r>
                    </a:p>
                  </a:txBody>
                  <a:tcPr>
                    <a:solidFill>
                      <a:srgbClr val="FFFFFF"/>
                    </a:solidFill>
                  </a:tcPr>
                </a:tc>
              </a:tr>
              <a:tr h="502920">
                <a:tc>
                  <a:txBody>
                    <a:bodyPr/>
                    <a:lstStyle/>
                    <a:p>
                      <a:pPr>
                        <a:defRPr sz="1200">
                          <a:solidFill>
                            <a:srgbClr val="1E2124"/>
                          </a:solidFill>
                          <a:latin typeface="Yu Gothic"/>
                        </a:defRPr>
                      </a:pPr>
                      <a:r>
                        <a:t>와우테일/wowtale</a:t>
                      </a:r>
                    </a:p>
                  </a:txBody>
                  <a:tcPr>
                    <a:solidFill>
                      <a:srgbClr val="F7F4EF"/>
                    </a:solidFill>
                  </a:tcPr>
                </a:tc>
                <a:tc>
                  <a:txBody>
                    <a:bodyPr/>
                    <a:lstStyle/>
                    <a:p>
                      <a:pPr>
                        <a:defRPr sz="1200">
                          <a:solidFill>
                            <a:srgbClr val="1E2124"/>
                          </a:solidFill>
                          <a:latin typeface="Yu Gothic"/>
                        </a:defRPr>
                      </a:pPr>
                      <a:r>
                        <a:t>2026年8月24日</a:t>
                      </a:r>
                    </a:p>
                  </a:txBody>
                  <a:tcPr>
                    <a:solidFill>
                      <a:srgbClr val="F7F4EF"/>
                    </a:solidFill>
                  </a:tcPr>
                </a:tc>
              </a:tr>
              <a:tr h="502920">
                <a:tc>
                  <a:txBody>
                    <a:bodyPr/>
                    <a:lstStyle/>
                    <a:p>
                      <a:pPr>
                        <a:defRPr sz="1200">
                          <a:solidFill>
                            <a:srgbClr val="1E2124"/>
                          </a:solidFill>
                          <a:latin typeface="Yu Gothic"/>
                        </a:defRPr>
                      </a:pPr>
                      <a:r>
                        <a:t>ベンチャースクエア</a:t>
                      </a:r>
                    </a:p>
                  </a:txBody>
                  <a:tcPr>
                    <a:solidFill>
                      <a:srgbClr val="FFFFFF"/>
                    </a:solidFill>
                  </a:tcPr>
                </a:tc>
                <a:tc>
                  <a:txBody>
                    <a:bodyPr/>
                    <a:lstStyle/>
                    <a:p>
                      <a:pPr>
                        <a:defRPr sz="1200">
                          <a:solidFill>
                            <a:srgbClr val="1E2124"/>
                          </a:solidFill>
                          <a:latin typeface="Yu Gothic"/>
                        </a:defRPr>
                      </a:pPr>
                      <a:r>
                        <a:t>2026年8月24日</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半導体ファブレス vs 素材ファブレス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半導体ファブレス(既存の概念)</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設計に特化し生産は外部に委託</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アトマーの素材ファブレス</a:t>
            </a:r>
          </a:p>
        </p:txBody>
      </p:sp>
      <p:sp>
        <p:nvSpPr>
          <p:cNvPr id="14" name="Oval 13"/>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同様の発想を素材産業に応用</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選抜プロセスの厳しさ</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約12倍の競争率</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2025年7月の社内ベンチャー選抜時</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マネートゥデイ(2026-08-24)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今回の投資の3つの注目ポイント</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大手電機メーカー発のスピンオフ</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半導体の発想を応用した素材ファブレス</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3A4750"/>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電池火災制御用の第一弾製品</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視聴者にとっての意味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新素材・ディープテック分野に関心がある層に関係する情報</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大手企業の社内ベンチャー制度の成功事例としての価値</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特定企業の製品利用を強く推奨する意図はない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タイムライン</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3A4750"/>
                    </a:solidFill>
                  </a:tcPr>
                </a:tc>
                <a:tc>
                  <a:txBody>
                    <a:bodyPr/>
                    <a:lstStyle/>
                    <a:p>
                      <a:pPr>
                        <a:defRPr sz="1300" b="1">
                          <a:solidFill>
                            <a:srgbClr val="FFFFFF"/>
                          </a:solidFill>
                          <a:latin typeface="Yu Gothic"/>
                        </a:defRPr>
                      </a:pPr>
                      <a:r>
                        <a:t>できごと</a:t>
                      </a:r>
                    </a:p>
                  </a:txBody>
                  <a:tcPr>
                    <a:solidFill>
                      <a:srgbClr val="3A4750"/>
                    </a:solidFill>
                  </a:tcPr>
                </a:tc>
              </a:tr>
              <a:tr h="502920">
                <a:tc>
                  <a:txBody>
                    <a:bodyPr/>
                    <a:lstStyle/>
                    <a:p>
                      <a:pPr>
                        <a:defRPr sz="1200">
                          <a:solidFill>
                            <a:srgbClr val="1E2124"/>
                          </a:solidFill>
                          <a:latin typeface="Yu Gothic"/>
                        </a:defRPr>
                      </a:pPr>
                      <a:r>
                        <a:t>2023年</a:t>
                      </a:r>
                    </a:p>
                  </a:txBody>
                  <a:tcPr>
                    <a:solidFill>
                      <a:srgbClr val="FFFFFF"/>
                    </a:solidFill>
                  </a:tcPr>
                </a:tc>
                <a:tc>
                  <a:txBody>
                    <a:bodyPr/>
                    <a:lstStyle/>
                    <a:p>
                      <a:pPr>
                        <a:defRPr sz="1200">
                          <a:solidFill>
                            <a:srgbClr val="1E2124"/>
                          </a:solidFill>
                          <a:latin typeface="Yu Gothic"/>
                        </a:defRPr>
                      </a:pPr>
                      <a:r>
                        <a:t>スタジオ341プログラム開始</a:t>
                      </a:r>
                    </a:p>
                  </a:txBody>
                  <a:tcPr>
                    <a:solidFill>
                      <a:srgbClr val="FFFFFF"/>
                    </a:solidFill>
                  </a:tcPr>
                </a:tc>
              </a:tr>
              <a:tr h="502920">
                <a:tc>
                  <a:txBody>
                    <a:bodyPr/>
                    <a:lstStyle/>
                    <a:p>
                      <a:pPr>
                        <a:defRPr sz="1200">
                          <a:solidFill>
                            <a:srgbClr val="1E2124"/>
                          </a:solidFill>
                          <a:latin typeface="Yu Gothic"/>
                        </a:defRPr>
                      </a:pPr>
                      <a:r>
                        <a:t>2025年7月</a:t>
                      </a:r>
                    </a:p>
                  </a:txBody>
                  <a:tcPr>
                    <a:solidFill>
                      <a:srgbClr val="F7F4EF"/>
                    </a:solidFill>
                  </a:tcPr>
                </a:tc>
                <a:tc>
                  <a:txBody>
                    <a:bodyPr/>
                    <a:lstStyle/>
                    <a:p>
                      <a:pPr>
                        <a:defRPr sz="1200">
                          <a:solidFill>
                            <a:srgbClr val="1E2124"/>
                          </a:solidFill>
                          <a:latin typeface="Yu Gothic"/>
                        </a:defRPr>
                      </a:pPr>
                      <a:r>
                        <a:t>アトマーチームが約12倍の競争率を突破し選抜</a:t>
                      </a:r>
                    </a:p>
                  </a:txBody>
                  <a:tcPr>
                    <a:solidFill>
                      <a:srgbClr val="F7F4EF"/>
                    </a:solidFill>
                  </a:tcPr>
                </a:tc>
              </a:tr>
              <a:tr h="502920">
                <a:tc>
                  <a:txBody>
                    <a:bodyPr/>
                    <a:lstStyle/>
                    <a:p>
                      <a:pPr>
                        <a:defRPr sz="1200">
                          <a:solidFill>
                            <a:srgbClr val="1E2124"/>
                          </a:solidFill>
                          <a:latin typeface="Yu Gothic"/>
                        </a:defRPr>
                      </a:pPr>
                      <a:r>
                        <a:t>2026年8月24日</a:t>
                      </a:r>
                    </a:p>
                  </a:txBody>
                  <a:tcPr>
                    <a:solidFill>
                      <a:srgbClr val="FFFFFF"/>
                    </a:solidFill>
                  </a:tcPr>
                </a:tc>
                <a:tc>
                  <a:txBody>
                    <a:bodyPr/>
                    <a:lstStyle/>
                    <a:p>
                      <a:pPr>
                        <a:defRPr sz="1200">
                          <a:solidFill>
                            <a:srgbClr val="1E2124"/>
                          </a:solidFill>
                          <a:latin typeface="Yu Gothic"/>
                        </a:defRPr>
                      </a:pPr>
                      <a:r>
                        <a:t>スピンオフ・シード投資獲得を発表</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今後注目される点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「超薄型・耐熱塗料」製品の商用化時期</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今回のシード投資の具体的な金額の今後の開示</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現時点では未確認の情報として今後の続報を待つ必要がある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LG電子・ブルーポイントから投資獲得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アトマー、スタジオ341からスピンオフ(2026年8月24日)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マネートゥデイ(2026-08-24)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投資元の役割分担</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投資元</a:t>
                      </a:r>
                    </a:p>
                  </a:txBody>
                  <a:tcPr>
                    <a:solidFill>
                      <a:srgbClr val="3A4750"/>
                    </a:solidFill>
                  </a:tcPr>
                </a:tc>
                <a:tc>
                  <a:txBody>
                    <a:bodyPr/>
                    <a:lstStyle/>
                    <a:p>
                      <a:pPr>
                        <a:defRPr sz="1300" b="1">
                          <a:solidFill>
                            <a:srgbClr val="FFFFFF"/>
                          </a:solidFill>
                          <a:latin typeface="Yu Gothic"/>
                        </a:defRPr>
                      </a:pPr>
                      <a:r>
                        <a:t>役割</a:t>
                      </a:r>
                    </a:p>
                  </a:txBody>
                  <a:tcPr>
                    <a:solidFill>
                      <a:srgbClr val="3A4750"/>
                    </a:solidFill>
                  </a:tcPr>
                </a:tc>
              </a:tr>
              <a:tr h="502920">
                <a:tc>
                  <a:txBody>
                    <a:bodyPr/>
                    <a:lstStyle/>
                    <a:p>
                      <a:pPr>
                        <a:defRPr sz="1200">
                          <a:solidFill>
                            <a:srgbClr val="1E2124"/>
                          </a:solidFill>
                          <a:latin typeface="Yu Gothic"/>
                        </a:defRPr>
                      </a:pPr>
                      <a:r>
                        <a:t>LG電子</a:t>
                      </a:r>
                    </a:p>
                  </a:txBody>
                  <a:tcPr>
                    <a:solidFill>
                      <a:srgbClr val="FFFFFF"/>
                    </a:solidFill>
                  </a:tcPr>
                </a:tc>
                <a:tc>
                  <a:txBody>
                    <a:bodyPr/>
                    <a:lstStyle/>
                    <a:p>
                      <a:pPr>
                        <a:defRPr sz="1200">
                          <a:solidFill>
                            <a:srgbClr val="1E2124"/>
                          </a:solidFill>
                          <a:latin typeface="Yu Gothic"/>
                        </a:defRPr>
                      </a:pPr>
                      <a:r>
                        <a:t>スタジオ341プログラムの運営元</a:t>
                      </a:r>
                    </a:p>
                  </a:txBody>
                  <a:tcPr>
                    <a:solidFill>
                      <a:srgbClr val="FFFFFF"/>
                    </a:solidFill>
                  </a:tcPr>
                </a:tc>
              </a:tr>
              <a:tr h="502920">
                <a:tc>
                  <a:txBody>
                    <a:bodyPr/>
                    <a:lstStyle/>
                    <a:p>
                      <a:pPr>
                        <a:defRPr sz="1200">
                          <a:solidFill>
                            <a:srgbClr val="1E2124"/>
                          </a:solidFill>
                          <a:latin typeface="Yu Gothic"/>
                        </a:defRPr>
                      </a:pPr>
                      <a:r>
                        <a:t>ブルーポイントパートナーズ</a:t>
                      </a:r>
                    </a:p>
                  </a:txBody>
                  <a:tcPr>
                    <a:solidFill>
                      <a:srgbClr val="F7F4EF"/>
                    </a:solidFill>
                  </a:tcPr>
                </a:tc>
                <a:tc>
                  <a:txBody>
                    <a:bodyPr/>
                    <a:lstStyle/>
                    <a:p>
                      <a:pPr>
                        <a:defRPr sz="1200">
                          <a:solidFill>
                            <a:srgbClr val="1E2124"/>
                          </a:solidFill>
                          <a:latin typeface="Yu Gothic"/>
                        </a:defRPr>
                      </a:pPr>
                      <a:r>
                        <a:t>ディープテック・アクセラレーター</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マネートゥデイ(2026-08-24)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マネートゥデイ等(2026-08-24)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