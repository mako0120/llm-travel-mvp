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NPB(オリックス)とMLB(ドジャース)を合わせた通算勝利数が節目の100に到達した。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通算100勝の内訳を表で整理する。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節目の試合の投球内容を表で示す。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キャリアの歩みを図で示す。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メジャーでの年度別成績を表で示す。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節目の数字を紹介する。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両時代の実績を対比で見せる。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初心者向けに人物・コメントを整理する。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情報の確からしさを正直に伝える。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扱わないことを明確にする。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快挙の性質を整理する。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ファン目線での意味を整理する。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応援の入り口となる情報を整理する。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幅広い視聴者への訴求ポイントを伝える。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日米通算100勝。10年かけて積み上げた数字</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ドジャース・山本由伸投手、2026年7月26日(現地25日)にメッツ戦で達成</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デイリースポーツ, スポニチアネックス, 日テレNEWS NNN(2026-07)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承: 節目の数字とキャリアを詳しく見る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転: これは何を意味するか、どう楽しむか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NPB</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日本プロ野球。山本投手はオリックス・バファローズで7年間プレーした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MLB</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米大リーグ。山本投手は2024年からドジャースでプレーしている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選手</a:t>
                      </a:r>
                    </a:p>
                  </a:txBody>
                  <a:tcPr>
                    <a:solidFill>
                      <a:srgbClr val="FFFFFF"/>
                    </a:solidFill>
                  </a:tcPr>
                </a:tc>
                <a:tc>
                  <a:txBody>
                    <a:bodyPr/>
                    <a:lstStyle/>
                    <a:p>
                      <a:pPr>
                        <a:defRPr sz="1200">
                          <a:solidFill>
                            <a:srgbClr val="1C2230"/>
                          </a:solidFill>
                          <a:latin typeface="Yu Gothic"/>
                        </a:defRPr>
                      </a:pPr>
                      <a:r>
                        <a:t>山本由伸投手(ドジャース)</a:t>
                      </a:r>
                    </a:p>
                  </a:txBody>
                  <a:tcPr>
                    <a:solidFill>
                      <a:srgbClr val="FFFFFF"/>
                    </a:solidFill>
                  </a:tcPr>
                </a:tc>
              </a:tr>
              <a:tr h="502920">
                <a:tc>
                  <a:txBody>
                    <a:bodyPr/>
                    <a:lstStyle/>
                    <a:p>
                      <a:pPr>
                        <a:defRPr sz="1200">
                          <a:solidFill>
                            <a:srgbClr val="1C2230"/>
                          </a:solidFill>
                          <a:latin typeface="Yu Gothic"/>
                        </a:defRPr>
                      </a:pPr>
                      <a:r>
                        <a:t>対戦</a:t>
                      </a:r>
                    </a:p>
                  </a:txBody>
                  <a:tcPr>
                    <a:solidFill>
                      <a:srgbClr val="F1F5FA"/>
                    </a:solidFill>
                  </a:tcPr>
                </a:tc>
                <a:tc>
                  <a:txBody>
                    <a:bodyPr/>
                    <a:lstStyle/>
                    <a:p>
                      <a:pPr>
                        <a:defRPr sz="1200">
                          <a:solidFill>
                            <a:srgbClr val="1C2230"/>
                          </a:solidFill>
                          <a:latin typeface="Yu Gothic"/>
                        </a:defRPr>
                      </a:pPr>
                      <a:r>
                        <a:t>ニューヨーク・メッツ戦</a:t>
                      </a:r>
                    </a:p>
                  </a:txBody>
                  <a:tcPr>
                    <a:solidFill>
                      <a:srgbClr val="F1F5FA"/>
                    </a:solidFill>
                  </a:tcPr>
                </a:tc>
              </a:tr>
              <a:tr h="502920">
                <a:tc>
                  <a:txBody>
                    <a:bodyPr/>
                    <a:lstStyle/>
                    <a:p>
                      <a:pPr>
                        <a:defRPr sz="1200">
                          <a:solidFill>
                            <a:srgbClr val="1C2230"/>
                          </a:solidFill>
                          <a:latin typeface="Yu Gothic"/>
                        </a:defRPr>
                      </a:pPr>
                      <a:r>
                        <a:t>日付</a:t>
                      </a:r>
                    </a:p>
                  </a:txBody>
                  <a:tcPr>
                    <a:solidFill>
                      <a:srgbClr val="FFFFFF"/>
                    </a:solidFill>
                  </a:tcPr>
                </a:tc>
                <a:tc>
                  <a:txBody>
                    <a:bodyPr/>
                    <a:lstStyle/>
                    <a:p>
                      <a:pPr>
                        <a:defRPr sz="1200">
                          <a:solidFill>
                            <a:srgbClr val="1C2230"/>
                          </a:solidFill>
                          <a:latin typeface="Yu Gothic"/>
                        </a:defRPr>
                      </a:pPr>
                      <a:r>
                        <a:t>2026年7月25日(現地)/26日(日本時間)</a:t>
                      </a:r>
                    </a:p>
                  </a:txBody>
                  <a:tcPr>
                    <a:solidFill>
                      <a:srgbClr val="FFFFFF"/>
                    </a:solidFill>
                  </a:tcPr>
                </a:tc>
              </a:tr>
              <a:tr h="502920">
                <a:tc>
                  <a:txBody>
                    <a:bodyPr/>
                    <a:lstStyle/>
                    <a:p>
                      <a:pPr>
                        <a:defRPr sz="1200">
                          <a:solidFill>
                            <a:srgbClr val="1C2230"/>
                          </a:solidFill>
                          <a:latin typeface="Yu Gothic"/>
                        </a:defRPr>
                      </a:pPr>
                      <a:r>
                        <a:t>結果</a:t>
                      </a:r>
                    </a:p>
                  </a:txBody>
                  <a:tcPr>
                    <a:solidFill>
                      <a:srgbClr val="F1F5FA"/>
                    </a:solidFill>
                  </a:tcPr>
                </a:tc>
                <a:tc>
                  <a:txBody>
                    <a:bodyPr/>
                    <a:lstStyle/>
                    <a:p>
                      <a:pPr>
                        <a:defRPr sz="1200">
                          <a:solidFill>
                            <a:srgbClr val="1C2230"/>
                          </a:solidFill>
                          <a:latin typeface="Yu Gothic"/>
                        </a:defRPr>
                      </a:pPr>
                      <a:r>
                        <a:t>今季11勝目、日米通算100勝を達成</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デイリースポーツonline(2026-07-27)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日米通算勝利数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100勝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デイリースポーツ・スポニチアネックスの報道による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スポニチアネックス、Yahoo!ニュース配信(2026-07-26)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通算100勝の内訳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リーグ</a:t>
                      </a:r>
                    </a:p>
                  </a:txBody>
                  <a:tcPr>
                    <a:solidFill>
                      <a:srgbClr val="2B3A55"/>
                    </a:solidFill>
                  </a:tcPr>
                </a:tc>
                <a:tc>
                  <a:txBody>
                    <a:bodyPr/>
                    <a:lstStyle/>
                    <a:p>
                      <a:pPr>
                        <a:defRPr sz="1300" b="1">
                          <a:solidFill>
                            <a:srgbClr val="FFFFFF"/>
                          </a:solidFill>
                          <a:latin typeface="Yu Gothic"/>
                        </a:defRPr>
                      </a:pPr>
                      <a:r>
                        <a:t>勝利数</a:t>
                      </a:r>
                    </a:p>
                  </a:txBody>
                  <a:tcPr>
                    <a:solidFill>
                      <a:srgbClr val="2B3A55"/>
                    </a:solidFill>
                  </a:tcPr>
                </a:tc>
              </a:tr>
              <a:tr h="502920">
                <a:tc>
                  <a:txBody>
                    <a:bodyPr/>
                    <a:lstStyle/>
                    <a:p>
                      <a:pPr>
                        <a:defRPr sz="1200">
                          <a:solidFill>
                            <a:srgbClr val="1C2230"/>
                          </a:solidFill>
                          <a:latin typeface="Yu Gothic"/>
                        </a:defRPr>
                      </a:pPr>
                      <a:r>
                        <a:t>NPB(オリックス・バファローズ)</a:t>
                      </a:r>
                    </a:p>
                  </a:txBody>
                  <a:tcPr>
                    <a:solidFill>
                      <a:srgbClr val="FFFFFF"/>
                    </a:solidFill>
                  </a:tcPr>
                </a:tc>
                <a:tc>
                  <a:txBody>
                    <a:bodyPr/>
                    <a:lstStyle/>
                    <a:p>
                      <a:pPr>
                        <a:defRPr sz="1200">
                          <a:solidFill>
                            <a:srgbClr val="1C2230"/>
                          </a:solidFill>
                          <a:latin typeface="Yu Gothic"/>
                        </a:defRPr>
                      </a:pPr>
                      <a:r>
                        <a:t>70勝</a:t>
                      </a:r>
                    </a:p>
                  </a:txBody>
                  <a:tcPr>
                    <a:solidFill>
                      <a:srgbClr val="FFFFFF"/>
                    </a:solidFill>
                  </a:tcPr>
                </a:tc>
              </a:tr>
              <a:tr h="502920">
                <a:tc>
                  <a:txBody>
                    <a:bodyPr/>
                    <a:lstStyle/>
                    <a:p>
                      <a:pPr>
                        <a:defRPr sz="1200">
                          <a:solidFill>
                            <a:srgbClr val="1C2230"/>
                          </a:solidFill>
                          <a:latin typeface="Yu Gothic"/>
                        </a:defRPr>
                      </a:pPr>
                      <a:r>
                        <a:t>MLB(ドジャース)</a:t>
                      </a:r>
                    </a:p>
                  </a:txBody>
                  <a:tcPr>
                    <a:solidFill>
                      <a:srgbClr val="F1F5FA"/>
                    </a:solidFill>
                  </a:tcPr>
                </a:tc>
                <a:tc>
                  <a:txBody>
                    <a:bodyPr/>
                    <a:lstStyle/>
                    <a:p>
                      <a:pPr>
                        <a:defRPr sz="1200">
                          <a:solidFill>
                            <a:srgbClr val="1C2230"/>
                          </a:solidFill>
                          <a:latin typeface="Yu Gothic"/>
                        </a:defRPr>
                      </a:pPr>
                      <a:r>
                        <a:t>30勝</a:t>
                      </a:r>
                    </a:p>
                  </a:txBody>
                  <a:tcPr>
                    <a:solidFill>
                      <a:srgbClr val="F1F5FA"/>
                    </a:solidFill>
                  </a:tcPr>
                </a:tc>
              </a:tr>
              <a:tr h="502920">
                <a:tc>
                  <a:txBody>
                    <a:bodyPr/>
                    <a:lstStyle/>
                    <a:p>
                      <a:pPr>
                        <a:defRPr sz="1200">
                          <a:solidFill>
                            <a:srgbClr val="1C2230"/>
                          </a:solidFill>
                          <a:latin typeface="Yu Gothic"/>
                        </a:defRPr>
                      </a:pPr>
                      <a:r>
                        <a:t>合計</a:t>
                      </a:r>
                    </a:p>
                  </a:txBody>
                  <a:tcPr>
                    <a:solidFill>
                      <a:srgbClr val="FFFFFF"/>
                    </a:solidFill>
                  </a:tcPr>
                </a:tc>
                <a:tc>
                  <a:txBody>
                    <a:bodyPr/>
                    <a:lstStyle/>
                    <a:p>
                      <a:pPr>
                        <a:defRPr sz="1200">
                          <a:solidFill>
                            <a:srgbClr val="1C2230"/>
                          </a:solidFill>
                          <a:latin typeface="Yu Gothic"/>
                        </a:defRPr>
                      </a:pPr>
                      <a:r>
                        <a:t>100勝</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デイリースポーツonline(2026-07-27)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この試合の投球内容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投球回</a:t>
                      </a:r>
                    </a:p>
                  </a:txBody>
                  <a:tcPr>
                    <a:solidFill>
                      <a:srgbClr val="FFFFFF"/>
                    </a:solidFill>
                  </a:tcPr>
                </a:tc>
                <a:tc>
                  <a:txBody>
                    <a:bodyPr/>
                    <a:lstStyle/>
                    <a:p>
                      <a:pPr>
                        <a:defRPr sz="1200">
                          <a:solidFill>
                            <a:srgbClr val="1C2230"/>
                          </a:solidFill>
                          <a:latin typeface="Yu Gothic"/>
                        </a:defRPr>
                      </a:pPr>
                      <a:r>
                        <a:t>6回</a:t>
                      </a:r>
                    </a:p>
                  </a:txBody>
                  <a:tcPr>
                    <a:solidFill>
                      <a:srgbClr val="FFFFFF"/>
                    </a:solidFill>
                  </a:tcPr>
                </a:tc>
              </a:tr>
              <a:tr h="502920">
                <a:tc>
                  <a:txBody>
                    <a:bodyPr/>
                    <a:lstStyle/>
                    <a:p>
                      <a:pPr>
                        <a:defRPr sz="1200">
                          <a:solidFill>
                            <a:srgbClr val="1C2230"/>
                          </a:solidFill>
                          <a:latin typeface="Yu Gothic"/>
                        </a:defRPr>
                      </a:pPr>
                      <a:r>
                        <a:t>球数</a:t>
                      </a:r>
                    </a:p>
                  </a:txBody>
                  <a:tcPr>
                    <a:solidFill>
                      <a:srgbClr val="F1F5FA"/>
                    </a:solidFill>
                  </a:tcPr>
                </a:tc>
                <a:tc>
                  <a:txBody>
                    <a:bodyPr/>
                    <a:lstStyle/>
                    <a:p>
                      <a:pPr>
                        <a:defRPr sz="1200">
                          <a:solidFill>
                            <a:srgbClr val="1C2230"/>
                          </a:solidFill>
                          <a:latin typeface="Yu Gothic"/>
                        </a:defRPr>
                      </a:pPr>
                      <a:r>
                        <a:t>100球</a:t>
                      </a:r>
                    </a:p>
                  </a:txBody>
                  <a:tcPr>
                    <a:solidFill>
                      <a:srgbClr val="F1F5FA"/>
                    </a:solidFill>
                  </a:tcPr>
                </a:tc>
              </a:tr>
              <a:tr h="502920">
                <a:tc>
                  <a:txBody>
                    <a:bodyPr/>
                    <a:lstStyle/>
                    <a:p>
                      <a:pPr>
                        <a:defRPr sz="1200">
                          <a:solidFill>
                            <a:srgbClr val="1C2230"/>
                          </a:solidFill>
                          <a:latin typeface="Yu Gothic"/>
                        </a:defRPr>
                      </a:pPr>
                      <a:r>
                        <a:t>被安打</a:t>
                      </a:r>
                    </a:p>
                  </a:txBody>
                  <a:tcPr>
                    <a:solidFill>
                      <a:srgbClr val="FFFFFF"/>
                    </a:solidFill>
                  </a:tcPr>
                </a:tc>
                <a:tc>
                  <a:txBody>
                    <a:bodyPr/>
                    <a:lstStyle/>
                    <a:p>
                      <a:pPr>
                        <a:defRPr sz="1200">
                          <a:solidFill>
                            <a:srgbClr val="1C2230"/>
                          </a:solidFill>
                          <a:latin typeface="Yu Gothic"/>
                        </a:defRPr>
                      </a:pPr>
                      <a:r>
                        <a:t>5安打</a:t>
                      </a:r>
                    </a:p>
                  </a:txBody>
                  <a:tcPr>
                    <a:solidFill>
                      <a:srgbClr val="FFFFFF"/>
                    </a:solidFill>
                  </a:tcPr>
                </a:tc>
              </a:tr>
              <a:tr h="502920">
                <a:tc>
                  <a:txBody>
                    <a:bodyPr/>
                    <a:lstStyle/>
                    <a:p>
                      <a:pPr>
                        <a:defRPr sz="1200">
                          <a:solidFill>
                            <a:srgbClr val="1C2230"/>
                          </a:solidFill>
                          <a:latin typeface="Yu Gothic"/>
                        </a:defRPr>
                      </a:pPr>
                      <a:r>
                        <a:t>与四球・奪三振</a:t>
                      </a:r>
                    </a:p>
                  </a:txBody>
                  <a:tcPr>
                    <a:solidFill>
                      <a:srgbClr val="F1F5FA"/>
                    </a:solidFill>
                  </a:tcPr>
                </a:tc>
                <a:tc>
                  <a:txBody>
                    <a:bodyPr/>
                    <a:lstStyle/>
                    <a:p>
                      <a:pPr>
                        <a:defRPr sz="1200">
                          <a:solidFill>
                            <a:srgbClr val="1C2230"/>
                          </a:solidFill>
                          <a:latin typeface="Yu Gothic"/>
                        </a:defRPr>
                      </a:pPr>
                      <a:r>
                        <a:t>3四球・5三振</a:t>
                      </a:r>
                    </a:p>
                  </a:txBody>
                  <a:tcPr>
                    <a:solidFill>
                      <a:srgbClr val="F1F5FA"/>
                    </a:solidFill>
                  </a:tcPr>
                </a:tc>
              </a:tr>
              <a:tr h="502920">
                <a:tc>
                  <a:txBody>
                    <a:bodyPr/>
                    <a:lstStyle/>
                    <a:p>
                      <a:pPr>
                        <a:defRPr sz="1200">
                          <a:solidFill>
                            <a:srgbClr val="1C2230"/>
                          </a:solidFill>
                          <a:latin typeface="Yu Gothic"/>
                        </a:defRPr>
                      </a:pPr>
                      <a:r>
                        <a:t>失点</a:t>
                      </a:r>
                    </a:p>
                  </a:txBody>
                  <a:tcPr>
                    <a:solidFill>
                      <a:srgbClr val="FFFFFF"/>
                    </a:solidFill>
                  </a:tcPr>
                </a:tc>
                <a:tc>
                  <a:txBody>
                    <a:bodyPr/>
                    <a:lstStyle/>
                    <a:p>
                      <a:pPr>
                        <a:defRPr sz="1200">
                          <a:solidFill>
                            <a:srgbClr val="1C2230"/>
                          </a:solidFill>
                          <a:latin typeface="Yu Gothic"/>
                        </a:defRPr>
                      </a:pPr>
                      <a:r>
                        <a:t>1失点</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デイリースポーツonline(2026-07-27)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キャリアの歩み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2016年</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ドラフト4位でオリックス入団</a:t>
            </a:r>
          </a:p>
        </p:txBody>
      </p:sp>
      <p:sp>
        <p:nvSpPr>
          <p:cNvPr id="10" name="Right Arrow 9"/>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2017〜2023年</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NPB(オリックス)で7年間プレー、通算70勝</a:t>
            </a:r>
          </a:p>
        </p:txBody>
      </p:sp>
      <p:sp>
        <p:nvSpPr>
          <p:cNvPr id="15" name="Right Arrow 14"/>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2024年〜</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MLB(ドジャース)へ移籍</a:t>
            </a:r>
          </a:p>
        </p:txBody>
      </p:sp>
      <p:sp>
        <p:nvSpPr>
          <p:cNvPr id="20" name="Right Arrow 19"/>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2026年7月26日</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日米通算100勝を達成</a:t>
            </a:r>
          </a:p>
        </p:txBody>
      </p:sp>
      <p:sp>
        <p:nvSpPr>
          <p:cNvPr id="25" name="TextBox 2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日テレNEWS NNN、Yahoo!ニュース配信(2026-07-26)</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メジャー年度別勝利数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年度</a:t>
                      </a:r>
                    </a:p>
                  </a:txBody>
                  <a:tcPr>
                    <a:solidFill>
                      <a:srgbClr val="2B3A55"/>
                    </a:solidFill>
                  </a:tcPr>
                </a:tc>
                <a:tc>
                  <a:txBody>
                    <a:bodyPr/>
                    <a:lstStyle/>
                    <a:p>
                      <a:pPr>
                        <a:defRPr sz="1300" b="1">
                          <a:solidFill>
                            <a:srgbClr val="FFFFFF"/>
                          </a:solidFill>
                          <a:latin typeface="Yu Gothic"/>
                        </a:defRPr>
                      </a:pPr>
                      <a:r>
                        <a:t>勝利数</a:t>
                      </a:r>
                    </a:p>
                  </a:txBody>
                  <a:tcPr>
                    <a:solidFill>
                      <a:srgbClr val="2B3A55"/>
                    </a:solidFill>
                  </a:tcPr>
                </a:tc>
              </a:tr>
              <a:tr h="502920">
                <a:tc>
                  <a:txBody>
                    <a:bodyPr/>
                    <a:lstStyle/>
                    <a:p>
                      <a:pPr>
                        <a:defRPr sz="1200">
                          <a:solidFill>
                            <a:srgbClr val="1C2230"/>
                          </a:solidFill>
                          <a:latin typeface="Yu Gothic"/>
                        </a:defRPr>
                      </a:pPr>
                      <a:r>
                        <a:t>2024年(1年目)</a:t>
                      </a:r>
                    </a:p>
                  </a:txBody>
                  <a:tcPr>
                    <a:solidFill>
                      <a:srgbClr val="FFFFFF"/>
                    </a:solidFill>
                  </a:tcPr>
                </a:tc>
                <a:tc>
                  <a:txBody>
                    <a:bodyPr/>
                    <a:lstStyle/>
                    <a:p>
                      <a:pPr>
                        <a:defRPr sz="1200">
                          <a:solidFill>
                            <a:srgbClr val="1C2230"/>
                          </a:solidFill>
                          <a:latin typeface="Yu Gothic"/>
                        </a:defRPr>
                      </a:pPr>
                      <a:r>
                        <a:t>7勝</a:t>
                      </a:r>
                    </a:p>
                  </a:txBody>
                  <a:tcPr>
                    <a:solidFill>
                      <a:srgbClr val="FFFFFF"/>
                    </a:solidFill>
                  </a:tcPr>
                </a:tc>
              </a:tr>
              <a:tr h="502920">
                <a:tc>
                  <a:txBody>
                    <a:bodyPr/>
                    <a:lstStyle/>
                    <a:p>
                      <a:pPr>
                        <a:defRPr sz="1200">
                          <a:solidFill>
                            <a:srgbClr val="1C2230"/>
                          </a:solidFill>
                          <a:latin typeface="Yu Gothic"/>
                        </a:defRPr>
                      </a:pPr>
                      <a:r>
                        <a:t>2025年(2年目)</a:t>
                      </a:r>
                    </a:p>
                  </a:txBody>
                  <a:tcPr>
                    <a:solidFill>
                      <a:srgbClr val="F1F5FA"/>
                    </a:solidFill>
                  </a:tcPr>
                </a:tc>
                <a:tc>
                  <a:txBody>
                    <a:bodyPr/>
                    <a:lstStyle/>
                    <a:p>
                      <a:pPr>
                        <a:defRPr sz="1200">
                          <a:solidFill>
                            <a:srgbClr val="1C2230"/>
                          </a:solidFill>
                          <a:latin typeface="Yu Gothic"/>
                        </a:defRPr>
                      </a:pPr>
                      <a:r>
                        <a:t>12勝</a:t>
                      </a:r>
                    </a:p>
                  </a:txBody>
                  <a:tcPr>
                    <a:solidFill>
                      <a:srgbClr val="F1F5FA"/>
                    </a:solidFill>
                  </a:tcPr>
                </a:tc>
              </a:tr>
              <a:tr h="502920">
                <a:tc>
                  <a:txBody>
                    <a:bodyPr/>
                    <a:lstStyle/>
                    <a:p>
                      <a:pPr>
                        <a:defRPr sz="1200">
                          <a:solidFill>
                            <a:srgbClr val="1C2230"/>
                          </a:solidFill>
                          <a:latin typeface="Yu Gothic"/>
                        </a:defRPr>
                      </a:pPr>
                      <a:r>
                        <a:t>2026年(3年目、7月時点)</a:t>
                      </a:r>
                    </a:p>
                  </a:txBody>
                  <a:tcPr>
                    <a:solidFill>
                      <a:srgbClr val="FFFFFF"/>
                    </a:solidFill>
                  </a:tcPr>
                </a:tc>
                <a:tc>
                  <a:txBody>
                    <a:bodyPr/>
                    <a:lstStyle/>
                    <a:p>
                      <a:pPr>
                        <a:defRPr sz="1200">
                          <a:solidFill>
                            <a:srgbClr val="1C2230"/>
                          </a:solidFill>
                          <a:latin typeface="Yu Gothic"/>
                        </a:defRPr>
                      </a:pPr>
                      <a:r>
                        <a:t>11勝</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日テレNEWS NNN、Yahoo!ニュース配信(2026-07-26)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節目の数字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239試合目での到達</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2017年のNPBデビューから通算239試合目(NPB172試合、MLB67試合)で日米通算100勝に到達した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デビューから約10年</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2016年のドラフト指名から10年での節目となった</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日テレNEWS NNN、Yahoo!ニュース配信(2026-07-26)</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NPB時代とMLB時代の違い(参考)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NPB(オリックス、2017〜2023年)</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7年間で70勝を積み上げた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国内リーグでの実績</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MLB(ドジャース、2024年〜)</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3年目途中で30勝に到達</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米大リーグでの実績</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山本投手を初心者向けに整理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所属</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ドジャース所属の投手(先発)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今回のコメント</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J SPORTSの報道によると、本人は今回の勝利を『成長を感じた節目』とコメントしたとされる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スポニチアネックス、Yahoo!ニュース配信(2026-07-26)</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この情報、どこまで確か?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複数メディアで一致</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通算100勝・内訳(70勝+30勝)・試合日は複数の独立系メディアで報道が一致している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確認できた範囲のみ扱う</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本調査の範囲外の詳細成績(防御率等)は扱わない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今回あえて扱わないこと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今シーズン残りの登板予定や今後の目標成績など、公式に発表されていない今後の見通しは断定しない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NPB時代の防御率・奪三振数など、通算100勝の内訳以外の詳細成績は今回の調査範囲では網羅していない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なぜ日本人投手の活躍が目立つのか(推測)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育成環境の充実</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NPBでの実績を積んでからMLBに移る選手が増えていることが背景にあると考えられる(推測)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適応の早さ</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移籍後短期間で結果を残す選手が続いていることも要因の一つと考えられる(推測)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短期の快挙か、積み重ねの結果か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今回は積み重ねの結果</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10年間・239試合をかけて到達した数字であり、単発の快挙ではない</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今後の焦点</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今季の残り登板でどこまで勝利を伸ばすかが一つの見どころになる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これが意味すること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継続的な実績の証明</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NPB・MLBの両方で長期間にわたり結果を残してきたことの証明</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日本人投手の活躍の継続</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MLBで活躍する日本人投手の存在感がさらに高まっている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今後への注目</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今後どこまで勝利数を積み上げるかへの関心につながる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これは何を意味するのか(ファンにとって)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10年間の積み重ねという文脈で見ると、今回の100勝はより大きな意味を持つ</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今後の登板を追う際の一つの節目・目安として活用できる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ファンにとっての意味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節目の記録として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シーズンの流れを追う一つの指標になる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キャリアの物語として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NPBからMLBへという10年間のキャリアを振り返るきっかけになる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試しに応援するなら知っておきたいこと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所属チーム</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ドジャース(MLB)</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ポジション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投手(先発)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今季の勝利数</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7月時点で11勝(通算100勝の一部)</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試合を追ってみる進め方(目安)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①登板日程を確認</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ドジャースの先発ローテーションを確認する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②成績の推移を見る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今季の勝敗・防御率の推移を見る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③節目のニュースを追う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勝利数などの節目のニュースを追う</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野球に詳しくなくても話題にできる理由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『日米通算100勝』という具体的な数字は、野球に詳しくなくても伝わりやすい</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10年間のキャリアという分かりやすい文脈があり、会話のきっかけにしやすい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不明点・注意点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今シーズン残りの登板予定・今後の見通しは公式に発表されておらず不明</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NPB時代の詳細な投球成績(防御率等)は今回の調査範囲では網羅していない</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動画制作上のリスク配慮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選手個人の記録達成という事実を淡々と紹介する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推測は明示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推測部分は「推測」と明示している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写真・肖像は使用しない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実在選手の写真・肖像は使用しない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見送った候補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NAVER・NVIDIAのAIファクトリー拡大</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B2Bインフラの話題で訴求力・実用性が低いため見送り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B3A55"/>
                </a:solidFill>
                <a:latin typeface="Yu Gothic"/>
              </a:rPr>
              <a:t>急成長アカウント枠</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具体的な一次情報を確認できず該当なしとして見送り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検品結果</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結果</a:t>
                      </a:r>
                    </a:p>
                  </a:txBody>
                  <a:tcPr>
                    <a:solidFill>
                      <a:srgbClr val="2B3A55"/>
                    </a:solidFill>
                  </a:tcPr>
                </a:tc>
              </a:tr>
              <a:tr h="502920">
                <a:tc>
                  <a:txBody>
                    <a:bodyPr/>
                    <a:lstStyle/>
                    <a:p>
                      <a:pPr>
                        <a:defRPr sz="1200">
                          <a:solidFill>
                            <a:srgbClr val="1C2230"/>
                          </a:solidFill>
                          <a:latin typeface="Yu Gothic"/>
                        </a:defRPr>
                      </a:pPr>
                      <a:r>
                        <a:t>verify_pptx.py</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同一レイアウト連続チェック</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r h="502920">
                <a:tc>
                  <a:txBody>
                    <a:bodyPr/>
                    <a:lstStyle/>
                    <a:p>
                      <a:pPr>
                        <a:defRPr sz="1200">
                          <a:solidFill>
                            <a:srgbClr val="1C2230"/>
                          </a:solidFill>
                          <a:latin typeface="Yu Gothic"/>
                        </a:defRPr>
                      </a:pPr>
                      <a:r>
                        <a:t>bullets比率チェック</a:t>
                      </a:r>
                    </a:p>
                  </a:txBody>
                  <a:tcPr>
                    <a:solidFill>
                      <a:srgbClr val="FFFFFF"/>
                    </a:solidFill>
                  </a:tcPr>
                </a:tc>
                <a:tc>
                  <a:txBody>
                    <a:bodyPr/>
                    <a:lstStyle/>
                    <a:p>
                      <a:pPr>
                        <a:defRPr sz="1200">
                          <a:solidFill>
                            <a:srgbClr val="1C2230"/>
                          </a:solidFill>
                          <a:latin typeface="Yu Gothic"/>
                        </a:defRPr>
                      </a:pPr>
                      <a:r>
                        <a:t>合格</a:t>
                      </a:r>
                    </a:p>
                  </a:txBody>
                  <a:tcPr>
                    <a:solidFill>
                      <a:srgbClr val="FFFFFF"/>
                    </a:solidFill>
                  </a:tcPr>
                </a:tc>
              </a:tr>
              <a:tr h="502920">
                <a:tc>
                  <a:txBody>
                    <a:bodyPr/>
                    <a:lstStyle/>
                    <a:p>
                      <a:pPr>
                        <a:defRPr sz="1200">
                          <a:solidFill>
                            <a:srgbClr val="1C2230"/>
                          </a:solidFill>
                          <a:latin typeface="Yu Gothic"/>
                        </a:defRPr>
                      </a:pPr>
                      <a:r>
                        <a:t>対話原稿スライド数整合性</a:t>
                      </a:r>
                    </a:p>
                  </a:txBody>
                  <a:tcPr>
                    <a:solidFill>
                      <a:srgbClr val="F1F5FA"/>
                    </a:solidFill>
                  </a:tcPr>
                </a:tc>
                <a:tc>
                  <a:txBody>
                    <a:bodyPr/>
                    <a:lstStyle/>
                    <a:p>
                      <a:pPr>
                        <a:defRPr sz="1200">
                          <a:solidFill>
                            <a:srgbClr val="1C2230"/>
                          </a:solidFill>
                          <a:latin typeface="Yu Gothic"/>
                        </a:defRPr>
                      </a:pPr>
                      <a:r>
                        <a:t>合格</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デイリースポーツonline / スポニチアネックス(Yahoo!ニュース配信)</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J SPORTS・日テレNEWS NNN(いずれもYahoo!ニュース配信)</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10年かけて積み上げた、日米通算100勝</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NPB70勝+MLB30勝。今後どこまで積み上げるかにも注目</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興味があれば、今後の登板成績も追ってみる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次回予告</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MLBで活躍する日本人選手のニュースは今後も続くテーマ</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次回も公式発表や主要報道をもとに数字で整理して紹介する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 - 定期実行43本目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