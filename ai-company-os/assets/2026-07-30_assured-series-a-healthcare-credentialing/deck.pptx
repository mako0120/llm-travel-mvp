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30日に発表されたAIエージェント企業Assuredの資金調達です。医療従事者の資格認定という、地味だけれど医療現場に直結する業務を自動化するAIエージェントです。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まず結論からです。AssuredはシリーズAで1,900万ドルを調達し、Insight Partnersが主導しました。AIエージェントが2,000を超える一次情報源と照合してプロバイダーデータを検証し、すでに100を超えるヘルスケア事業者に導入されています。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この動画を見ると、発表の概要、資格認定という業務がなぜ課題なのか、Assuredが実際に何をする会社なのか、報じられている効果数値、そして確認できなかったことまで分かります。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この話がどれくらい確かなのかにも触れておきます。GlobeNewswireの一次発表に加えて、MobiHealthNews、Fierce Healthcare、MedCity Newsという独立した複数のヘルスケア専門媒体が同じ発表を報じています。なお、資金調達のクローズ日と公表日にずれがあるとの情報もあり、本編で正直にお伝えします。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今日はこの5つの流れで話します。まず前提として、なぜ医療従事者の資格認定が課題なのかを整理し、次に発表の中身、Assuredの仕組み、効果数値、最後に確認できなかったことについて話します。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資格認定とは、医療従事者が保険会社のネットワークに加入するための審査手続きです。州や保険会社ごとに異なる要件を人手で確認・申請する必要があり、手続きが遅れると、医師が働き始められる時期や患者がケアを受けられる時期そのものが遅れてしま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改めて数字を見てみましょう。Assuredのシリーズ A調達額は1,900万ドルです。Insight Partnersが主導し、既存投資家のFirst Round CapitalとKindred Venturesが継続して参加しています。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投資家の顔ぶれを整理するとこうなります。Insight Partnersが主導投資家で、First Round CapitalとKindred Venturesが継続して参加しています。これでAssuredの累計調達額は2,500万ドルになります。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シリーズAとして1,900万ドルを調達し、資金は資格認定・保険会社登録に続く、提供者バックオフィス業務全般への対応拡大に使われる見込みです。GlobeNewswireの公式発表に加えて、MobiHealthNewsやFierce Healthcareといった媒体がこの発表を報じています。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創業からの軌跡を整理するとこうなります。2024年初頭にVarun Krishnamurthy氏とRahul Shivkumar氏が共同でAssuredを創業し、NCQAのCVO公式認証を取得しました。そして今回、シリーズAで1,900万ドルを調達し、累計調達額は2,500万ドルになっています。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redが処理する業務を整理すると、まずプロバイダーのデータを2,000以上の一次情報源と照合し、誤りや不備を提出前に検出します。そのうえで州・保険会社ごとに異なる要件に合わせた申請書類を準備し、手続きを最後まで実行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仕組みを図で見てみます。プロバイダーデータを収集し、2,000以上の一次情報源と照合して誤りや不備を検出します。そのうえで州・保険会社ごとの要件に合わせた書類を自動作成し、資格認定・登録の手続きをAIエージェントが最後まで実行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redが行う作業を3ステップで見てみます。まずプロバイダーデータを2,000以上の情報源と照合して検証し、州・保険会社ごとの要件に合わせた申請書類を作成し、最後に資格認定・登録の手続きを実行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報じられた導入企業を整理すると、大規模医療システムのHouston Methodistに加え、Tono Health、Blossom Health、Birches Healthといったデジタルヘルス企業が名前に挙がっています。合計で100を超えるヘルスケア事業者に導入されているとのことです。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1つ目の効果数値です。顧客報告によれば、保険ネットワークへの加入が従来より30%速くなったといいます。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もう一つの数字です。AIエージェントは2,000を超える一次情報源とプロバイダーデータを照合し、誤りや不備をリアルタイムで検出します。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従来は担当者が情報源を個別に確認し、州や保険会社ごとの要件を手作業で反映していたため、資格認定の完了までに時間がかかっていました。それに対してAssuredのアプローチは、AIエージェントが2,000以上の情報源と自動照合し、州・保険会社別の書類も自動生成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共同創業者でCEOのVarun Krishnamurthy氏はこう述べています。提供者はより早くオンボーディングされ、組織はより早く拡大し、ケアもより早く提供されるようになる、というコメントです。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共同創業者でPresidentのRahul Shivkumar氏はこう述べています。提供者業務は、ヘルスケアにおいて最も見過ごされているインフラ課題の一つだ、遅く、手作業で、コストがかかり、それが静かに成長を制約し、ケアを遅らせている、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QA認証についても触れておきます。NCQAは全米医療品質保証委員会のことで、AssuredはそのCVO、つまり資格認定検証機関としての公式認証を取得しています。これにより、保険会社との代理資格認定契約を結ぶヘルスケア事業者を支援できる立場を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一次発表であるGlobeNewswireのプレスリリース日付は2026年7月30日ですが、資金調達自体は7月22日にクローズしていたとの情報もあります。本資料では、一次発表(公表)の日付を基準に鮮度基準を適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州・保険会社ごとの要件という仕組みは米国特有の医療保険制度に基づくもので、日本国内での展開は今回の調査では確認できませんでした。ただし、医療従事者の資格認定という課題自体は、日本にも当てはまる一般論として展開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企業評価額、導入企業の具体的な内訳、各投資家の出資比率、シリーズA以前の調達履歴の詳細、そして一次発表の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見過ごされているインフラ課題に注目するという視点は、他業界の課題発見にも応用できますし、手続きの遅れが本業の遅れに直結するという構造は、多くの業界に共通します。単に追跡するだけでなく業務そのものを遂行するAIという打ち出し方も、他分野に広がりつつある考え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1,900万ドル・累計2,500万ドルという調達規模を把握し、次に2,000以上の情報源・30%速いという顧客報告値を確認し、最後に企業評価額や導入企業の内訳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資格認定の迅速化が医療従事者不足の緩和に一部寄与する可能性がありますし、資格認定・登録に続いて提供者バックオフィス業務全般への展開が進むかもしれません。同様のヘルスケアバックオフィス自動化への投資が他社にも広がる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効果数値が顧客報告値であり第三者による検証結果ではないこと。2つ目は、企業評価額や導入企業ごとの契約規模の詳細が公表されていないこと。3つ目は、資金調達のクローズ日と公表日にずれがあるとの情報があり、正確な時系列は完全には確認できていな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ヘルスケアバックオフィス自動化の広がり方を図にすると、資格認定・登録の自動化という現在のフェーズから、提供者バックオフィス業務全般への拡大、その先の業界標準化という流れが見えてきます。ただし、この先の広がり方はあくまで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今日の要点を3つにまとめます。シリーズA調達額は1,900万ドルでInsight Partnersが主導し、累計2,500万ドルになりました。AIエージェントは2,000を超える一次情報源と照合し、顧客報告では保険ネットワーク加入が30%速くなったとされています。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今日は、Assuredのシリーズ A調達について、調達額・仕組み・効果数値という3つの軸で確認してきました。AIエージェントのニュースを見るときは、今日紹介したような視点で顧客報告値と第三者の検証を区別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2,000以上の情報源と照合。</a:t>
            </a:r>
          </a:p>
          <a:p>
            <a:pPr algn="l">
              <a:lnSpc>
                <a:spcPct val="115000"/>
              </a:lnSpc>
            </a:pPr>
            <a:r>
              <a:rPr sz="4200" b="1">
                <a:solidFill>
                  <a:srgbClr val="FFFFFF"/>
                </a:solidFill>
                <a:latin typeface="Yu Gothic"/>
              </a:rPr>
              <a:t>医師の資格確認をAIが担う</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2026年7月30日発表「Assured シリーズA調達」から読み解く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AI Company OS 定期実行63本目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1,900万ドル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Insight Partnersが主導、累計調達額2,500万ドル</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2,000超の情報源</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照合する一次情報源の数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プロバイダーデータをリアルタイムで検証</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100超の事業者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導入実績</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医療システム・デジタルヘルス企業等に導入</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 / MobiHealthNews(2026-07-30)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何が発表されたのか、調達額・投資家・累計調達額が分かる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「資格認定(クレデンシャリング)」とは何か、なぜ課題なのかが分かる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Assuredが具体的に何をするAIエージェントなのかが分かる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報じられている効果数値の中身が分かる</a:t>
            </a:r>
          </a:p>
        </p:txBody>
      </p:sp>
      <p:sp>
        <p:nvSpPr>
          <p:cNvPr id="14" name="Oval 13"/>
          <p:cNvSpPr/>
          <p:nvPr/>
        </p:nvSpPr>
        <p:spPr>
          <a:xfrm>
            <a:off x="457200" y="459028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GlobeNewswireの一次発表(プレスリリース)を確認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MobiHealthNews・Fierce Healthcare・MedCity Newsが同じ発表を報道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正直な注記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資金調達のクローズ日と公表日にずれがあるとの情報があり、一次発表日を基準に扱います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前提: なぜ医療従事者の資格認定が課題なのか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発表の中身: 調達額・投資家・創業からの軌跡</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仕組み: Assuredが何を自動化するか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報じられている効果数値と、発表日についての正直な注記</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確認できなかったことと、このニュースの読み方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 なぜ資格認定(クレデンシャリング)が課題か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資格認定とは</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医療従事者が保険会社のネットワークに加入するための審査手続き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手作業が中心</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州・保険会社ごとに異なる要件を人手で確認・申請する必要がある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遅れが与える影響</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手続きが遅れると、医師が働き始められる時期・患者がケアを受けられる時期が遅れる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MedCity News / 複数媒体経由の要約(2026-07-30)</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1,900万ドル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Insight Partnersが主導、First Round Capital・Kindred Venturesが継続参加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GlobeNewswire(2026-07-30)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投資家の顔ぶれ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投資家名</a:t>
                      </a:r>
                    </a:p>
                  </a:txBody>
                  <a:tcPr>
                    <a:solidFill>
                      <a:srgbClr val="2B3A55"/>
                    </a:solidFill>
                  </a:tcPr>
                </a:tc>
              </a:tr>
              <a:tr h="502920">
                <a:tc>
                  <a:txBody>
                    <a:bodyPr/>
                    <a:lstStyle/>
                    <a:p>
                      <a:pPr>
                        <a:defRPr sz="1200">
                          <a:solidFill>
                            <a:srgbClr val="1C2230"/>
                          </a:solidFill>
                          <a:latin typeface="Yu Gothic"/>
                        </a:defRPr>
                      </a:pPr>
                      <a:r>
                        <a:t>主導投資家</a:t>
                      </a:r>
                    </a:p>
                  </a:txBody>
                  <a:tcPr>
                    <a:solidFill>
                      <a:srgbClr val="FFFFFF"/>
                    </a:solidFill>
                  </a:tcPr>
                </a:tc>
                <a:tc>
                  <a:txBody>
                    <a:bodyPr/>
                    <a:lstStyle/>
                    <a:p>
                      <a:pPr>
                        <a:defRPr sz="1200">
                          <a:solidFill>
                            <a:srgbClr val="1C2230"/>
                          </a:solidFill>
                          <a:latin typeface="Yu Gothic"/>
                        </a:defRPr>
                      </a:pPr>
                      <a:r>
                        <a:t>Insight Partners</a:t>
                      </a:r>
                    </a:p>
                  </a:txBody>
                  <a:tcPr>
                    <a:solidFill>
                      <a:srgbClr val="FFFFFF"/>
                    </a:solidFill>
                  </a:tcPr>
                </a:tc>
              </a:tr>
              <a:tr h="502920">
                <a:tc>
                  <a:txBody>
                    <a:bodyPr/>
                    <a:lstStyle/>
                    <a:p>
                      <a:pPr>
                        <a:defRPr sz="1200">
                          <a:solidFill>
                            <a:srgbClr val="1C2230"/>
                          </a:solidFill>
                          <a:latin typeface="Yu Gothic"/>
                        </a:defRPr>
                      </a:pPr>
                      <a:r>
                        <a:t>参加投資家(継続)</a:t>
                      </a:r>
                    </a:p>
                  </a:txBody>
                  <a:tcPr>
                    <a:solidFill>
                      <a:srgbClr val="F1F5FA"/>
                    </a:solidFill>
                  </a:tcPr>
                </a:tc>
                <a:tc>
                  <a:txBody>
                    <a:bodyPr/>
                    <a:lstStyle/>
                    <a:p>
                      <a:pPr>
                        <a:defRPr sz="1200">
                          <a:solidFill>
                            <a:srgbClr val="1C2230"/>
                          </a:solidFill>
                          <a:latin typeface="Yu Gothic"/>
                        </a:defRPr>
                      </a:pPr>
                      <a:r>
                        <a:t>First Round Capital・Kindred Ventures</a:t>
                      </a:r>
                    </a:p>
                  </a:txBody>
                  <a:tcPr>
                    <a:solidFill>
                      <a:srgbClr val="F1F5FA"/>
                    </a:solidFill>
                  </a:tcPr>
                </a:tc>
              </a:tr>
              <a:tr h="502920">
                <a:tc>
                  <a:txBody>
                    <a:bodyPr/>
                    <a:lstStyle/>
                    <a:p>
                      <a:pPr>
                        <a:defRPr sz="1200">
                          <a:solidFill>
                            <a:srgbClr val="1C2230"/>
                          </a:solidFill>
                          <a:latin typeface="Yu Gothic"/>
                        </a:defRPr>
                      </a:pPr>
                      <a:r>
                        <a:t>累計調達額</a:t>
                      </a:r>
                    </a:p>
                  </a:txBody>
                  <a:tcPr>
                    <a:solidFill>
                      <a:srgbClr val="FFFFFF"/>
                    </a:solidFill>
                  </a:tcPr>
                </a:tc>
                <a:tc>
                  <a:txBody>
                    <a:bodyPr/>
                    <a:lstStyle/>
                    <a:p>
                      <a:pPr>
                        <a:defRPr sz="1200">
                          <a:solidFill>
                            <a:srgbClr val="1C2230"/>
                          </a:solidFill>
                          <a:latin typeface="Yu Gothic"/>
                        </a:defRPr>
                      </a:pPr>
                      <a:r>
                        <a:t>2,500万ドル(シリーズA1,900万ドルを含む)</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 / MedCity News(2026-07-30)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何が発表されたか(2026年7月30日)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発表内容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シリーズAとして1,900万ドルを調達</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資金使途</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資格認定・保険会社登録に続く、提供者バックオフィス業務全般への対応拡大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GlobeNewswire公式に加えMobiHealthNews・Fierce Healthcareなどが報道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 / MobiHealthNews(いずれも2026-07-30)</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創業からの軌跡</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2024年初頭</a:t>
                      </a:r>
                    </a:p>
                  </a:txBody>
                  <a:tcPr>
                    <a:solidFill>
                      <a:srgbClr val="FFFFFF"/>
                    </a:solidFill>
                  </a:tcPr>
                </a:tc>
                <a:tc>
                  <a:txBody>
                    <a:bodyPr/>
                    <a:lstStyle/>
                    <a:p>
                      <a:pPr>
                        <a:defRPr sz="1200">
                          <a:solidFill>
                            <a:srgbClr val="1C2230"/>
                          </a:solidFill>
                          <a:latin typeface="Yu Gothic"/>
                        </a:defRPr>
                      </a:pPr>
                      <a:r>
                        <a:t>Varun Krishnamurthy氏・Rahul Shivkumar氏が共同でAssuredを創業</a:t>
                      </a:r>
                    </a:p>
                  </a:txBody>
                  <a:tcPr>
                    <a:solidFill>
                      <a:srgbClr val="FFFFFF"/>
                    </a:solidFill>
                  </a:tcPr>
                </a:tc>
              </a:tr>
              <a:tr h="502920">
                <a:tc>
                  <a:txBody>
                    <a:bodyPr/>
                    <a:lstStyle/>
                    <a:p>
                      <a:pPr>
                        <a:defRPr sz="1200">
                          <a:solidFill>
                            <a:srgbClr val="1C2230"/>
                          </a:solidFill>
                          <a:latin typeface="Yu Gothic"/>
                        </a:defRPr>
                      </a:pPr>
                      <a:r>
                        <a:t>創業後</a:t>
                      </a:r>
                    </a:p>
                  </a:txBody>
                  <a:tcPr>
                    <a:solidFill>
                      <a:srgbClr val="F1F5FA"/>
                    </a:solidFill>
                  </a:tcPr>
                </a:tc>
                <a:tc>
                  <a:txBody>
                    <a:bodyPr/>
                    <a:lstStyle/>
                    <a:p>
                      <a:pPr>
                        <a:defRPr sz="1200">
                          <a:solidFill>
                            <a:srgbClr val="1C2230"/>
                          </a:solidFill>
                          <a:latin typeface="Yu Gothic"/>
                        </a:defRPr>
                      </a:pPr>
                      <a:r>
                        <a:t>NCQA(全米医療品質保証委員会)のCVO公式認証を取得</a:t>
                      </a:r>
                    </a:p>
                  </a:txBody>
                  <a:tcPr>
                    <a:solidFill>
                      <a:srgbClr val="F1F5FA"/>
                    </a:solidFill>
                  </a:tcPr>
                </a:tc>
              </a:tr>
              <a:tr h="502920">
                <a:tc>
                  <a:txBody>
                    <a:bodyPr/>
                    <a:lstStyle/>
                    <a:p>
                      <a:pPr>
                        <a:defRPr sz="1200">
                          <a:solidFill>
                            <a:srgbClr val="1C2230"/>
                          </a:solidFill>
                          <a:latin typeface="Yu Gothic"/>
                        </a:defRPr>
                      </a:pPr>
                      <a:r>
                        <a:t>2026年7月30日</a:t>
                      </a:r>
                    </a:p>
                  </a:txBody>
                  <a:tcPr>
                    <a:solidFill>
                      <a:srgbClr val="FFFFFF"/>
                    </a:solidFill>
                  </a:tcPr>
                </a:tc>
                <a:tc>
                  <a:txBody>
                    <a:bodyPr/>
                    <a:lstStyle/>
                    <a:p>
                      <a:pPr>
                        <a:defRPr sz="1200">
                          <a:solidFill>
                            <a:srgbClr val="1C2230"/>
                          </a:solidFill>
                          <a:latin typeface="Yu Gothic"/>
                        </a:defRPr>
                      </a:pPr>
                      <a:r>
                        <a:t>シリーズAで1,900万ドルを調達、累計2,500万ドルに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Assuredが処理する業務</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プロバイダー(医療従事者)のデータを2,000以上の一次情報源と照合する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データの誤り・不備を提出前に検出する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州・保険会社ごとに異なる要件に合わせた申請書類を準備する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資格認定・保険会社登録の手続きを最後まで実行する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Assuredの仕組みの全体像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プロバイダーデータの収集</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医療従事者の資格情報を取り込む</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2,000以上の一次情報源と照合</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誤り・不備をリアルタイムで検出</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州・保険会社別の書類を自動作成</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要件に合わせて申請書類を準備</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資格認定・登録の手続きを実行</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AIエージェントが最後まで担う</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データ収集から申請実行まで、AIエージェントが一貫して担う構造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MobiHealthNews / Fierce Healthcare(2026-07-30)</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Assuredが行う3つのステップ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検証</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プロバイダーデータを2,000以上の情報源と照合する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作成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州・保険会社ごとの要件に合わせた申請書類を作成する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実行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資格認定・保険会社登録の手続きを最後まで担う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報じられた導入企業と業種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企業名</a:t>
                      </a:r>
                    </a:p>
                  </a:txBody>
                  <a:tcPr>
                    <a:solidFill>
                      <a:srgbClr val="2B3A55"/>
                    </a:solidFill>
                  </a:tcPr>
                </a:tc>
                <a:tc>
                  <a:txBody>
                    <a:bodyPr/>
                    <a:lstStyle/>
                    <a:p>
                      <a:pPr>
                        <a:defRPr sz="1300" b="1">
                          <a:solidFill>
                            <a:srgbClr val="FFFFFF"/>
                          </a:solidFill>
                          <a:latin typeface="Yu Gothic"/>
                        </a:defRPr>
                      </a:pPr>
                      <a:r>
                        <a:t>業種</a:t>
                      </a:r>
                    </a:p>
                  </a:txBody>
                  <a:tcPr>
                    <a:solidFill>
                      <a:srgbClr val="2B3A55"/>
                    </a:solidFill>
                  </a:tcPr>
                </a:tc>
              </a:tr>
              <a:tr h="502920">
                <a:tc>
                  <a:txBody>
                    <a:bodyPr/>
                    <a:lstStyle/>
                    <a:p>
                      <a:pPr>
                        <a:defRPr sz="1200">
                          <a:solidFill>
                            <a:srgbClr val="1C2230"/>
                          </a:solidFill>
                          <a:latin typeface="Yu Gothic"/>
                        </a:defRPr>
                      </a:pPr>
                      <a:r>
                        <a:t>Houston Methodist</a:t>
                      </a:r>
                    </a:p>
                  </a:txBody>
                  <a:tcPr>
                    <a:solidFill>
                      <a:srgbClr val="FFFFFF"/>
                    </a:solidFill>
                  </a:tcPr>
                </a:tc>
                <a:tc>
                  <a:txBody>
                    <a:bodyPr/>
                    <a:lstStyle/>
                    <a:p>
                      <a:pPr>
                        <a:defRPr sz="1200">
                          <a:solidFill>
                            <a:srgbClr val="1C2230"/>
                          </a:solidFill>
                          <a:latin typeface="Yu Gothic"/>
                        </a:defRPr>
                      </a:pPr>
                      <a:r>
                        <a:t>大規模医療システム</a:t>
                      </a:r>
                    </a:p>
                  </a:txBody>
                  <a:tcPr>
                    <a:solidFill>
                      <a:srgbClr val="FFFFFF"/>
                    </a:solidFill>
                  </a:tcPr>
                </a:tc>
              </a:tr>
              <a:tr h="502920">
                <a:tc>
                  <a:txBody>
                    <a:bodyPr/>
                    <a:lstStyle/>
                    <a:p>
                      <a:pPr>
                        <a:defRPr sz="1200">
                          <a:solidFill>
                            <a:srgbClr val="1C2230"/>
                          </a:solidFill>
                          <a:latin typeface="Yu Gothic"/>
                        </a:defRPr>
                      </a:pPr>
                      <a:r>
                        <a:t>Tono Health</a:t>
                      </a:r>
                    </a:p>
                  </a:txBody>
                  <a:tcPr>
                    <a:solidFill>
                      <a:srgbClr val="F1F5FA"/>
                    </a:solidFill>
                  </a:tcPr>
                </a:tc>
                <a:tc>
                  <a:txBody>
                    <a:bodyPr/>
                    <a:lstStyle/>
                    <a:p>
                      <a:pPr>
                        <a:defRPr sz="1200">
                          <a:solidFill>
                            <a:srgbClr val="1C2230"/>
                          </a:solidFill>
                          <a:latin typeface="Yu Gothic"/>
                        </a:defRPr>
                      </a:pPr>
                      <a:r>
                        <a:t>デジタルヘルス</a:t>
                      </a:r>
                    </a:p>
                  </a:txBody>
                  <a:tcPr>
                    <a:solidFill>
                      <a:srgbClr val="F1F5FA"/>
                    </a:solidFill>
                  </a:tcPr>
                </a:tc>
              </a:tr>
              <a:tr h="502920">
                <a:tc>
                  <a:txBody>
                    <a:bodyPr/>
                    <a:lstStyle/>
                    <a:p>
                      <a:pPr>
                        <a:defRPr sz="1200">
                          <a:solidFill>
                            <a:srgbClr val="1C2230"/>
                          </a:solidFill>
                          <a:latin typeface="Yu Gothic"/>
                        </a:defRPr>
                      </a:pPr>
                      <a:r>
                        <a:t>Blossom Health</a:t>
                      </a:r>
                    </a:p>
                  </a:txBody>
                  <a:tcPr>
                    <a:solidFill>
                      <a:srgbClr val="FFFFFF"/>
                    </a:solidFill>
                  </a:tcPr>
                </a:tc>
                <a:tc>
                  <a:txBody>
                    <a:bodyPr/>
                    <a:lstStyle/>
                    <a:p>
                      <a:pPr>
                        <a:defRPr sz="1200">
                          <a:solidFill>
                            <a:srgbClr val="1C2230"/>
                          </a:solidFill>
                          <a:latin typeface="Yu Gothic"/>
                        </a:defRPr>
                      </a:pPr>
                      <a:r>
                        <a:t>デジタルヘルス</a:t>
                      </a:r>
                    </a:p>
                  </a:txBody>
                  <a:tcPr>
                    <a:solidFill>
                      <a:srgbClr val="FFFFFF"/>
                    </a:solidFill>
                  </a:tcPr>
                </a:tc>
              </a:tr>
              <a:tr h="502920">
                <a:tc>
                  <a:txBody>
                    <a:bodyPr/>
                    <a:lstStyle/>
                    <a:p>
                      <a:pPr>
                        <a:defRPr sz="1200">
                          <a:solidFill>
                            <a:srgbClr val="1C2230"/>
                          </a:solidFill>
                          <a:latin typeface="Yu Gothic"/>
                        </a:defRPr>
                      </a:pPr>
                      <a:r>
                        <a:t>Birches Health</a:t>
                      </a:r>
                    </a:p>
                  </a:txBody>
                  <a:tcPr>
                    <a:solidFill>
                      <a:srgbClr val="F1F5FA"/>
                    </a:solidFill>
                  </a:tcPr>
                </a:tc>
                <a:tc>
                  <a:txBody>
                    <a:bodyPr/>
                    <a:lstStyle/>
                    <a:p>
                      <a:pPr>
                        <a:defRPr sz="1200">
                          <a:solidFill>
                            <a:srgbClr val="1C2230"/>
                          </a:solidFill>
                          <a:latin typeface="Yu Gothic"/>
                        </a:defRPr>
                      </a:pPr>
                      <a:r>
                        <a:t>デジタルヘルス</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Fierce Healthcare(検索結果経由の要約)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保険ネットワーク加入が速くなる割合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30%速い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顧客報告値。資格認定完了から保険ネットワーク加入までの期間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GlobeNewswire / MobiHealthNews(2026-07-30)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照合する一次情報源の数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2,000超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プロバイダーデータをリアルタイムで検証する一次情報源の数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MobiHealthNews / Fierce Healthcare(2026-07-30)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従来の手作業と、Assuredのアプローチ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従来の手作業中心の運用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担当者が情報源を個別に確認</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州・保険会社ごとの要件を手作業で反映</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資格認定の完了までに時間がかかる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Assuredのアプローチ</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AIエージェントが2,000以上の情報源と自動照合</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州・保険会社別の書類を自動生成</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顧客報告では保険ネットワーク加入が30%速い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“提供者はより早くオンボーディングされ、組織はより早く拡大し、ケアもより早く提供されるようになる”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Assured共同創業者兼CEO Varun Krishnamurthy氏(複数媒体経由の引用)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“提供者業務は、ヘルスケアにおいて最も見過ごされているインフラ課題の一つだ。遅く、手作業で、コストがかかり、それが静かに成長を制約し、ケアを遅らせている”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Assured共同創業者兼President Rahul Shivkumar氏(複数媒体経由の引用)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NCQA認証について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NCQAとは</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全米医療品質保証委員会(National Committee for Quality Assurance)</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CVO認証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資格認定検証機関(Credentials Verification Organization)としての公式認証</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認証の意味</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保険会社との代理資格認定契約を結ぶヘルスケア事業者を支援できる立場を得ている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正直な報告: 発表日についての注記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一次発表(GlobeNewswire)の日付</a:t>
                      </a:r>
                    </a:p>
                  </a:txBody>
                  <a:tcPr>
                    <a:solidFill>
                      <a:srgbClr val="FFFFFF"/>
                    </a:solidFill>
                  </a:tcPr>
                </a:tc>
                <a:tc>
                  <a:txBody>
                    <a:bodyPr/>
                    <a:lstStyle/>
                    <a:p>
                      <a:pPr>
                        <a:defRPr sz="1200">
                          <a:solidFill>
                            <a:srgbClr val="1C2230"/>
                          </a:solidFill>
                          <a:latin typeface="Yu Gothic"/>
                        </a:defRPr>
                      </a:pPr>
                      <a:r>
                        <a:t>2026年7月30日</a:t>
                      </a:r>
                    </a:p>
                  </a:txBody>
                  <a:tcPr>
                    <a:solidFill>
                      <a:srgbClr val="FFFFFF"/>
                    </a:solidFill>
                  </a:tcPr>
                </a:tc>
              </a:tr>
              <a:tr h="502920">
                <a:tc>
                  <a:txBody>
                    <a:bodyPr/>
                    <a:lstStyle/>
                    <a:p>
                      <a:pPr>
                        <a:defRPr sz="1200">
                          <a:solidFill>
                            <a:srgbClr val="1C2230"/>
                          </a:solidFill>
                          <a:latin typeface="Yu Gothic"/>
                        </a:defRPr>
                      </a:pPr>
                      <a:r>
                        <a:t>資金調達のクローズ日に関する情報</a:t>
                      </a:r>
                    </a:p>
                  </a:txBody>
                  <a:tcPr>
                    <a:solidFill>
                      <a:srgbClr val="F1F5FA"/>
                    </a:solidFill>
                  </a:tcPr>
                </a:tc>
                <a:tc>
                  <a:txBody>
                    <a:bodyPr/>
                    <a:lstStyle/>
                    <a:p>
                      <a:pPr>
                        <a:defRPr sz="1200">
                          <a:solidFill>
                            <a:srgbClr val="1C2230"/>
                          </a:solidFill>
                          <a:latin typeface="Yu Gothic"/>
                        </a:defRPr>
                      </a:pPr>
                      <a:r>
                        <a:t>2026年7月22日にクローズしたとの記述もあり</a:t>
                      </a:r>
                    </a:p>
                  </a:txBody>
                  <a:tcPr>
                    <a:solidFill>
                      <a:srgbClr val="F1F5FA"/>
                    </a:solidFill>
                  </a:tcPr>
                </a:tc>
              </a:tr>
              <a:tr h="502920">
                <a:tc>
                  <a:txBody>
                    <a:bodyPr/>
                    <a:lstStyle/>
                    <a:p>
                      <a:pPr>
                        <a:defRPr sz="1200">
                          <a:solidFill>
                            <a:srgbClr val="1C2230"/>
                          </a:solidFill>
                          <a:latin typeface="Yu Gothic"/>
                        </a:defRPr>
                      </a:pPr>
                      <a:r>
                        <a:t>本資料の扱い</a:t>
                      </a:r>
                    </a:p>
                  </a:txBody>
                  <a:tcPr>
                    <a:solidFill>
                      <a:srgbClr val="FFFFFF"/>
                    </a:solidFill>
                  </a:tcPr>
                </a:tc>
                <a:tc>
                  <a:txBody>
                    <a:bodyPr/>
                    <a:lstStyle/>
                    <a:p>
                      <a:pPr>
                        <a:defRPr sz="1200">
                          <a:solidFill>
                            <a:srgbClr val="1C2230"/>
                          </a:solidFill>
                          <a:latin typeface="Yu Gothic"/>
                        </a:defRPr>
                      </a:pPr>
                      <a:r>
                        <a:t>一次発表(公表)日である7月30日を基準に鮮度基準を適用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対象は米国の医療制度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州・保険会社ごとの要件という仕組みは米国特有の医療保険制度に基づく</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日本国内の展開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医療従事者の資格認定という課題自体は日本にも当てはまる一般論として展開可能</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Assuredの企業評価額(バリュエーション)</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導入企業100超の具体的な内訳・契約規模</a:t>
                      </a:r>
                    </a:p>
                  </a:txBody>
                  <a:tcPr>
                    <a:solidFill>
                      <a:srgbClr val="F1F5FA"/>
                    </a:solidFill>
                  </a:tcPr>
                </a:tc>
                <a:tc>
                  <a:txBody>
                    <a:bodyPr/>
                    <a:lstStyle/>
                    <a:p>
                      <a:pPr>
                        <a:defRPr sz="1200">
                          <a:solidFill>
                            <a:srgbClr val="1C2230"/>
                          </a:solidFill>
                          <a:latin typeface="Yu Gothic"/>
                        </a:defRPr>
                      </a:pPr>
                      <a:r>
                        <a:t>一次情報では確認できず</a:t>
                      </a:r>
                    </a:p>
                  </a:txBody>
                  <a:tcPr>
                    <a:solidFill>
                      <a:srgbClr val="F1F5FA"/>
                    </a:solidFill>
                  </a:tcPr>
                </a:tc>
              </a:tr>
              <a:tr h="502920">
                <a:tc>
                  <a:txBody>
                    <a:bodyPr/>
                    <a:lstStyle/>
                    <a:p>
                      <a:pPr>
                        <a:defRPr sz="1200">
                          <a:solidFill>
                            <a:srgbClr val="1C2230"/>
                          </a:solidFill>
                          <a:latin typeface="Yu Gothic"/>
                        </a:defRPr>
                      </a:pPr>
                      <a:r>
                        <a:t>各投資家の出資比率・出資額の内訳</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シリーズA以前の調達履歴の詳細</a:t>
                      </a:r>
                    </a:p>
                  </a:txBody>
                  <a:tcPr>
                    <a:solidFill>
                      <a:srgbClr val="F1F5FA"/>
                    </a:solidFill>
                  </a:tcPr>
                </a:tc>
                <a:tc>
                  <a:txBody>
                    <a:bodyPr/>
                    <a:lstStyle/>
                    <a:p>
                      <a:pPr>
                        <a:defRPr sz="1200">
                          <a:solidFill>
                            <a:srgbClr val="1C2230"/>
                          </a:solidFill>
                          <a:latin typeface="Yu Gothic"/>
                        </a:defRPr>
                      </a:pPr>
                      <a:r>
                        <a:t>累計2,500万ドルのうちシリーズA分以外の内訳は不明</a:t>
                      </a:r>
                    </a:p>
                  </a:txBody>
                  <a:tcPr>
                    <a:solidFill>
                      <a:srgbClr val="F1F5FA"/>
                    </a:solidFill>
                  </a:tcPr>
                </a:tc>
              </a:tr>
              <a:tr h="502920">
                <a:tc>
                  <a:txBody>
                    <a:bodyPr/>
                    <a:lstStyle/>
                    <a:p>
                      <a:pPr>
                        <a:defRPr sz="1200">
                          <a:solidFill>
                            <a:srgbClr val="1C2230"/>
                          </a:solidFill>
                          <a:latin typeface="Yu Gothic"/>
                        </a:defRPr>
                      </a:pPr>
                      <a:r>
                        <a:t>GlobeNewswire・公式ブログの本文全体</a:t>
                      </a:r>
                    </a:p>
                  </a:txBody>
                  <a:tcPr>
                    <a:solidFill>
                      <a:srgbClr val="FFFFFF"/>
                    </a:solidFill>
                  </a:tcPr>
                </a:tc>
                <a:tc>
                  <a:txBody>
                    <a:bodyPr/>
                    <a:lstStyle/>
                    <a:p>
                      <a:pPr>
                        <a:defRPr sz="1200">
                          <a:solidFill>
                            <a:srgbClr val="1C2230"/>
                          </a:solidFill>
                          <a:latin typeface="Yu Gothic"/>
                        </a:defRPr>
                      </a:pPr>
                      <a:r>
                        <a:t>WebFetchのアクセス制限により複数媒体要約経由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「見過ごされているインフラ課題」に注目するという視点は、他業界の課題発見にも応用できる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手続きの遅れが本業の遅れに直結するという構造は、多くの業界に共通する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「単に追跡するだけでなく、業務そのものを遂行するAI」という打ち出し方は他分野にも広がりつつある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顧客報告値と一次情報を区別して伝える姿勢は情報を読み解くうえで参考になる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1,900万ドル・累計2,500万ドルという調達規模をまず把握する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効果数値を見る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2,000以上の情報源・30%速いという顧客報告値を確認する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企業評価額や導入企業の内訳など、まだ分からない点を押さえる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医療人材不足への対応</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業界への影響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資格認定の迅速化が医療従事者不足の緩和に一部寄与する可能性がある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対応業務の拡大</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Assuredへの影響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資格認定・登録に続き、提供者バックオフィス業務全般への展開が進む可能性がある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他社の追随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市場への影響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同様のヘルスケアバックオフィス自動化への投資が他社にも広がる可能性がある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冷静に見る点、3つ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効果数値(30%速い等)は顧客報告値であり、第三者による検証結果ではない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企業評価額や導入企業ごとの契約規模の詳細は公表されていない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資金調達のクローズ日と公表日にずれがあるとの情報があり、正確な時系列は完全には確認できていない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ヘルスケアバックオフィス自動化の広がり方(推測)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資格認定・登録の自動化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現在のフェーズ(今回の発表)</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提供者バックオフィス業務全般へ拡大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Assured自身が言及している展開方針</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業界標準へ(推測)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同様の自動化が他のヘルスケア業務にも広がる可能性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現在のフェーズから先の広がり方は推測であり、今回の発表から確認できる範囲ではない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GlobeNewswire(2026-07-30、一部推測を含む)</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今日の要点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1,900万ドル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Insight Partnersが主導、累計2,500万ドル</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2,000超の情報源</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照合する一次情報源の数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プロバイダーデータをリアルタイムで検証</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30%速い</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保険ネットワーク加入(顧客報告値)</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100超のヘルスケア事業者に導入</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「顧客報告値」と「第三者の検証」を区別して見る習慣を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AIエージェントのニュースを見るときは、調達額・効果数値の出所・発表日の正確さを分けて確認しましょう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ヘルスケア・バックオフィス業務に関わる方は、資格認定のような手続き業務がAIエージェントでどこまで自動化できるかを一度確認してみてください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