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本日はPalantirの好決算と、CEOによるAI業界への挑発的な発言という話題をお届けします。</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今日は、何が起きたのか、決算の詳細、カープ氏の発言の内容、事実と意見の切り分けをお伝えします。</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Palantirが好決算を発表し、その後CEOがAI業界を批判する発言をしたと報じられました。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その売上高がこちら、19億ドルで前年同期比93%増です。</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決算概要をまとめると、この表の通りです。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Palantirはデータ分析企業で、CEOのカープ氏は哲学と社会理論を専攻したことで知られます。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決算のポイントは、大幅な増収増益、自社株買いの発表、業績見通しの上方修正です。</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カープ氏は株主向け書簡で、大規模言語モデルを開発する企業についてこのような表現を用いたと報じられています。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発言の対象を図で見ると、OpenAI・Anthropicなどを念頭に置いた発言と報じられています。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カープ氏の主張は、以前から繰り返されている立場だとされています。</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決算と同時に、10億ドル規模の自社株買いも発表されました。</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報じたメディアは、TechCrunch、CNBC、Benzinga、techbuzz.aiです。</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ここで大事な点です。決算数字は事実として扱いますが、カープ氏の発言は同氏個人の見解として紹介し、当否の評価は行いません。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決算発表から発言、そして報道までの流れを図にすると、このようになります。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ここで大事な点を確認します。本パイプライン自体もAnthropicの技術を利用しているため、カープ氏の発言を自社の見解として提示せず、批判の妥当性についても特定の立場を取りません。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ここまでを総括します。好決算と、業界への挑発的な発言が同時に話題になったことが今回の核心です。</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ここからは推測です。AIラボ側の反応、業界内の議論、株価への影響が焦点になりそうです。</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想定される影響としては、データガバナンスをめぐる議論の活発化、企業向け信頼性の議論が挙げられます。</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既存テーマにはPalantirを主題として扱ったものはなく、重複ではありません。</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本テーマでは数字の創作をせず、特定企業・特定研究所への支持や批判も行っていません。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出典はこの表の通り、独立した複数の報道・金融専門メディアです。</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確認できたことと確認できなかったことを正直に整理します。OpenAI・Anthropic側からの公式な反応はまだ確認できていません。</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改めて確認します。Palantirの好決算と、CEOの発言が同時に話題になりました。</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決算の事実とカープ氏の発言を分けて整理すると、この表の通りです。</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決算発表から発言の報道、そして本日の話題化までの流れを図にすると、このようになります。</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皆さんは、企業向けAIの信頼性についてどう考えますか。</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数字で見ると、売上高19億ドル、利益11億ドル、自社株買いは10億ドル規模です。</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改めて総括します。好決算と、業界への一石が同時に投じられた、その一つの節目でした。</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AIラボ側の反応、そして企業向けAIをめぐる議論の行方に注目していきましょう。</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今回もありがとうございました。Palantirの好決算とCEOの発言の話題をお届けしました。次回もお楽しみに。</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2011680"/>
            <a:ext cx="11064240" cy="2103120"/>
          </a:xfrm>
          <a:prstGeom prst="rect">
            <a:avLst/>
          </a:prstGeom>
          <a:noFill/>
        </p:spPr>
        <p:txBody>
          <a:bodyPr wrap="square" anchor="t" lIns="0" rIns="0" tIns="0" bIns="0">
            <a:spAutoFit/>
          </a:bodyPr>
          <a:lstStyle/>
          <a:p>
            <a:pPr algn="l">
              <a:lnSpc>
                <a:spcPct val="115000"/>
              </a:lnSpc>
            </a:pPr>
            <a:r>
              <a:rPr sz="4200" b="1">
                <a:solidFill>
                  <a:srgbClr val="FFFFFF"/>
                </a:solidFill>
                <a:latin typeface="Yu Gothic"/>
              </a:rPr>
              <a:t>好決算の裏で、CEOがAI業界に「マルクス主義」と言い放った</a:t>
            </a:r>
          </a:p>
        </p:txBody>
      </p:sp>
      <p:sp>
        <p:nvSpPr>
          <p:cNvPr id="5" name="TextBox 4"/>
          <p:cNvSpPr txBox="1"/>
          <p:nvPr/>
        </p:nvSpPr>
        <p:spPr>
          <a:xfrm>
            <a:off x="548640" y="4206240"/>
            <a:ext cx="10515600" cy="548640"/>
          </a:xfrm>
          <a:prstGeom prst="rect">
            <a:avLst/>
          </a:prstGeom>
          <a:noFill/>
        </p:spPr>
        <p:txBody>
          <a:bodyPr wrap="square" anchor="t" lIns="0" rIns="0" tIns="0" bIns="0">
            <a:spAutoFit/>
          </a:bodyPr>
          <a:lstStyle/>
          <a:p>
            <a:pPr algn="l"/>
            <a:r>
              <a:rPr sz="2000" b="0">
                <a:solidFill>
                  <a:srgbClr val="D3E4F5"/>
                </a:solidFill>
                <a:latin typeface="Yu Gothic"/>
              </a:rPr>
              <a:t>Palantir、好決算後にCEOがAIフロンティア研究所を批判</a:t>
            </a:r>
          </a:p>
        </p:txBody>
      </p:sp>
      <p:sp>
        <p:nvSpPr>
          <p:cNvPr id="6" name="TextBox 5"/>
          <p:cNvSpPr txBox="1"/>
          <p:nvPr/>
        </p:nvSpPr>
        <p:spPr>
          <a:xfrm>
            <a:off x="548640" y="5943600"/>
            <a:ext cx="10515600" cy="365760"/>
          </a:xfrm>
          <a:prstGeom prst="rect">
            <a:avLst/>
          </a:prstGeom>
          <a:noFill/>
        </p:spPr>
        <p:txBody>
          <a:bodyPr wrap="square" anchor="t" lIns="0" rIns="0" tIns="0" bIns="0">
            <a:spAutoFit/>
          </a:bodyPr>
          <a:lstStyle/>
          <a:p>
            <a:pPr algn="l"/>
            <a:r>
              <a:rPr sz="1200" b="0">
                <a:solidFill>
                  <a:srgbClr val="9CB8D6"/>
                </a:solidFill>
                <a:latin typeface="Yu Gothic"/>
              </a:rPr>
              <a:t>出典: TechCrunch・CNBC・Benzinga ほか(2026-08-03) ※発言はカープ氏個人の見解として紹介します</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640080"/>
            <a:ext cx="11064240" cy="914400"/>
          </a:xfrm>
          <a:prstGeom prst="rect">
            <a:avLst/>
          </a:prstGeom>
          <a:noFill/>
        </p:spPr>
        <p:txBody>
          <a:bodyPr wrap="square" anchor="t" lIns="0" rIns="0" tIns="0" bIns="0">
            <a:spAutoFit/>
          </a:bodyPr>
          <a:lstStyle/>
          <a:p>
            <a:pPr algn="l"/>
            <a:r>
              <a:rPr sz="3200" b="1">
                <a:solidFill>
                  <a:srgbClr val="FFFFFF"/>
                </a:solidFill>
                <a:latin typeface="Yu Gothic"/>
              </a:rPr>
              <a:t>今日わかること</a:t>
            </a:r>
          </a:p>
        </p:txBody>
      </p:sp>
      <p:sp>
        <p:nvSpPr>
          <p:cNvPr id="5" name="Oval 4"/>
          <p:cNvSpPr/>
          <p:nvPr/>
        </p:nvSpPr>
        <p:spPr>
          <a:xfrm>
            <a:off x="548640" y="192024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1</a:t>
            </a:r>
          </a:p>
        </p:txBody>
      </p:sp>
      <p:sp>
        <p:nvSpPr>
          <p:cNvPr id="6" name="TextBox 5"/>
          <p:cNvSpPr txBox="1"/>
          <p:nvPr/>
        </p:nvSpPr>
        <p:spPr>
          <a:xfrm>
            <a:off x="1325880" y="1938528"/>
            <a:ext cx="9601200" cy="548640"/>
          </a:xfrm>
          <a:prstGeom prst="rect">
            <a:avLst/>
          </a:prstGeom>
          <a:noFill/>
        </p:spPr>
        <p:txBody>
          <a:bodyPr wrap="square" anchor="ctr" lIns="0" rIns="0" tIns="0" bIns="0">
            <a:spAutoFit/>
          </a:bodyPr>
          <a:lstStyle/>
          <a:p>
            <a:pPr algn="l"/>
            <a:r>
              <a:rPr sz="2000" b="0">
                <a:solidFill>
                  <a:srgbClr val="D3E4F5"/>
                </a:solidFill>
                <a:latin typeface="Yu Gothic"/>
              </a:rPr>
              <a:t>何が起きたのか</a:t>
            </a:r>
          </a:p>
        </p:txBody>
      </p:sp>
      <p:sp>
        <p:nvSpPr>
          <p:cNvPr id="7" name="Oval 6"/>
          <p:cNvSpPr/>
          <p:nvPr/>
        </p:nvSpPr>
        <p:spPr>
          <a:xfrm>
            <a:off x="548640" y="269748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2</a:t>
            </a:r>
          </a:p>
        </p:txBody>
      </p:sp>
      <p:sp>
        <p:nvSpPr>
          <p:cNvPr id="8" name="TextBox 7"/>
          <p:cNvSpPr txBox="1"/>
          <p:nvPr/>
        </p:nvSpPr>
        <p:spPr>
          <a:xfrm>
            <a:off x="1325880" y="2715768"/>
            <a:ext cx="9601200" cy="548640"/>
          </a:xfrm>
          <a:prstGeom prst="rect">
            <a:avLst/>
          </a:prstGeom>
          <a:noFill/>
        </p:spPr>
        <p:txBody>
          <a:bodyPr wrap="square" anchor="ctr" lIns="0" rIns="0" tIns="0" bIns="0">
            <a:spAutoFit/>
          </a:bodyPr>
          <a:lstStyle/>
          <a:p>
            <a:pPr algn="l"/>
            <a:r>
              <a:rPr sz="2000" b="0">
                <a:solidFill>
                  <a:srgbClr val="D3E4F5"/>
                </a:solidFill>
                <a:latin typeface="Yu Gothic"/>
              </a:rPr>
              <a:t>決算の詳細</a:t>
            </a:r>
          </a:p>
        </p:txBody>
      </p:sp>
      <p:sp>
        <p:nvSpPr>
          <p:cNvPr id="9" name="Oval 8"/>
          <p:cNvSpPr/>
          <p:nvPr/>
        </p:nvSpPr>
        <p:spPr>
          <a:xfrm>
            <a:off x="548640" y="347472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3</a:t>
            </a:r>
          </a:p>
        </p:txBody>
      </p:sp>
      <p:sp>
        <p:nvSpPr>
          <p:cNvPr id="10" name="TextBox 9"/>
          <p:cNvSpPr txBox="1"/>
          <p:nvPr/>
        </p:nvSpPr>
        <p:spPr>
          <a:xfrm>
            <a:off x="1325880" y="3493008"/>
            <a:ext cx="9601200" cy="548640"/>
          </a:xfrm>
          <a:prstGeom prst="rect">
            <a:avLst/>
          </a:prstGeom>
          <a:noFill/>
        </p:spPr>
        <p:txBody>
          <a:bodyPr wrap="square" anchor="ctr" lIns="0" rIns="0" tIns="0" bIns="0">
            <a:spAutoFit/>
          </a:bodyPr>
          <a:lstStyle/>
          <a:p>
            <a:pPr algn="l"/>
            <a:r>
              <a:rPr sz="2000" b="0">
                <a:solidFill>
                  <a:srgbClr val="D3E4F5"/>
                </a:solidFill>
                <a:latin typeface="Yu Gothic"/>
              </a:rPr>
              <a:t>カープ氏の発言の内容</a:t>
            </a:r>
          </a:p>
        </p:txBody>
      </p:sp>
      <p:sp>
        <p:nvSpPr>
          <p:cNvPr id="11" name="Oval 10"/>
          <p:cNvSpPr/>
          <p:nvPr/>
        </p:nvSpPr>
        <p:spPr>
          <a:xfrm>
            <a:off x="548640" y="425196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4</a:t>
            </a:r>
          </a:p>
        </p:txBody>
      </p:sp>
      <p:sp>
        <p:nvSpPr>
          <p:cNvPr id="12" name="TextBox 11"/>
          <p:cNvSpPr txBox="1"/>
          <p:nvPr/>
        </p:nvSpPr>
        <p:spPr>
          <a:xfrm>
            <a:off x="1325880" y="4270248"/>
            <a:ext cx="9601200" cy="548640"/>
          </a:xfrm>
          <a:prstGeom prst="rect">
            <a:avLst/>
          </a:prstGeom>
          <a:noFill/>
        </p:spPr>
        <p:txBody>
          <a:bodyPr wrap="square" anchor="ctr" lIns="0" rIns="0" tIns="0" bIns="0">
            <a:spAutoFit/>
          </a:bodyPr>
          <a:lstStyle/>
          <a:p>
            <a:pPr algn="l"/>
            <a:r>
              <a:rPr sz="2000" b="0">
                <a:solidFill>
                  <a:srgbClr val="D3E4F5"/>
                </a:solidFill>
                <a:latin typeface="Yu Gothic"/>
              </a:rPr>
              <a:t>事実と意見の切り分け</a:t>
            </a:r>
          </a:p>
        </p:txBody>
      </p:sp>
      <p:sp>
        <p:nvSpPr>
          <p:cNvPr id="13" name="Oval 12"/>
          <p:cNvSpPr/>
          <p:nvPr/>
        </p:nvSpPr>
        <p:spPr>
          <a:xfrm>
            <a:off x="548640" y="5029200"/>
            <a:ext cx="548640" cy="5486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800" b="1">
                <a:solidFill>
                  <a:srgbClr val="FFFFFF"/>
                </a:solidFill>
                <a:latin typeface="Yu Gothic"/>
              </a:rPr>
              <a:t>5</a:t>
            </a:r>
          </a:p>
        </p:txBody>
      </p:sp>
      <p:sp>
        <p:nvSpPr>
          <p:cNvPr id="14" name="TextBox 13"/>
          <p:cNvSpPr txBox="1"/>
          <p:nvPr/>
        </p:nvSpPr>
        <p:spPr>
          <a:xfrm>
            <a:off x="1325880" y="5047488"/>
            <a:ext cx="9601200" cy="548640"/>
          </a:xfrm>
          <a:prstGeom prst="rect">
            <a:avLst/>
          </a:prstGeom>
          <a:noFill/>
        </p:spPr>
        <p:txBody>
          <a:bodyPr wrap="square" anchor="ctr" lIns="0" rIns="0" tIns="0" bIns="0">
            <a:spAutoFit/>
          </a:bodyPr>
          <a:lstStyle/>
          <a:p>
            <a:pPr algn="l"/>
            <a:r>
              <a:rPr sz="2000" b="0">
                <a:solidFill>
                  <a:srgbClr val="D3E4F5"/>
                </a:solidFill>
                <a:latin typeface="Yu Gothic"/>
              </a:rPr>
              <a:t>公平性についての開示</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何が起きたのか</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データ分析企業Palantirが第2四半期決算を発表</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決算発表を受けCEOがAI業界を批判する発言</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発表日は2026年8月3日、着手日の前日</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TechCrunch(2026-08-03)</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 / 30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2555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売上高</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19億ドル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前年同期比93%増</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Benzinga</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03194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決算概要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51460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企業</a:t>
                      </a:r>
                    </a:p>
                  </a:txBody>
                  <a:tcPr>
                    <a:solidFill>
                      <a:srgbClr val="FFFFFF"/>
                    </a:solidFill>
                  </a:tcPr>
                </a:tc>
                <a:tc>
                  <a:txBody>
                    <a:bodyPr/>
                    <a:lstStyle/>
                    <a:p>
                      <a:pPr>
                        <a:defRPr sz="1200">
                          <a:solidFill>
                            <a:srgbClr val="1C2230"/>
                          </a:solidFill>
                          <a:latin typeface="Yu Gothic"/>
                        </a:defRPr>
                      </a:pPr>
                      <a:r>
                        <a:t>Palantir</a:t>
                      </a:r>
                    </a:p>
                  </a:txBody>
                  <a:tcPr>
                    <a:solidFill>
                      <a:srgbClr val="FFFFFF"/>
                    </a:solidFill>
                  </a:tcPr>
                </a:tc>
              </a:tr>
              <a:tr h="502920">
                <a:tc>
                  <a:txBody>
                    <a:bodyPr/>
                    <a:lstStyle/>
                    <a:p>
                      <a:pPr>
                        <a:defRPr sz="1200">
                          <a:solidFill>
                            <a:srgbClr val="1C2230"/>
                          </a:solidFill>
                          <a:latin typeface="Yu Gothic"/>
                        </a:defRPr>
                      </a:pPr>
                      <a:r>
                        <a:t>発表日</a:t>
                      </a:r>
                    </a:p>
                  </a:txBody>
                  <a:tcPr>
                    <a:solidFill>
                      <a:srgbClr val="F1F5FA"/>
                    </a:solidFill>
                  </a:tcPr>
                </a:tc>
                <a:tc>
                  <a:txBody>
                    <a:bodyPr/>
                    <a:lstStyle/>
                    <a:p>
                      <a:pPr>
                        <a:defRPr sz="1200">
                          <a:solidFill>
                            <a:srgbClr val="1C2230"/>
                          </a:solidFill>
                          <a:latin typeface="Yu Gothic"/>
                        </a:defRPr>
                      </a:pPr>
                      <a:r>
                        <a:t>2026年8月3日</a:t>
                      </a:r>
                    </a:p>
                  </a:txBody>
                  <a:tcPr>
                    <a:solidFill>
                      <a:srgbClr val="F1F5FA"/>
                    </a:solidFill>
                  </a:tcPr>
                </a:tc>
              </a:tr>
              <a:tr h="502920">
                <a:tc>
                  <a:txBody>
                    <a:bodyPr/>
                    <a:lstStyle/>
                    <a:p>
                      <a:pPr>
                        <a:defRPr sz="1200">
                          <a:solidFill>
                            <a:srgbClr val="1C2230"/>
                          </a:solidFill>
                          <a:latin typeface="Yu Gothic"/>
                        </a:defRPr>
                      </a:pPr>
                      <a:r>
                        <a:t>売上高</a:t>
                      </a:r>
                    </a:p>
                  </a:txBody>
                  <a:tcPr>
                    <a:solidFill>
                      <a:srgbClr val="FFFFFF"/>
                    </a:solidFill>
                  </a:tcPr>
                </a:tc>
                <a:tc>
                  <a:txBody>
                    <a:bodyPr/>
                    <a:lstStyle/>
                    <a:p>
                      <a:pPr>
                        <a:defRPr sz="1200">
                          <a:solidFill>
                            <a:srgbClr val="1C2230"/>
                          </a:solidFill>
                          <a:latin typeface="Yu Gothic"/>
                        </a:defRPr>
                      </a:pPr>
                      <a:r>
                        <a:t>19億ドル(前年同期比93%増)</a:t>
                      </a:r>
                    </a:p>
                  </a:txBody>
                  <a:tcPr>
                    <a:solidFill>
                      <a:srgbClr val="FFFFFF"/>
                    </a:solidFill>
                  </a:tcPr>
                </a:tc>
              </a:tr>
              <a:tr h="502920">
                <a:tc>
                  <a:txBody>
                    <a:bodyPr/>
                    <a:lstStyle/>
                    <a:p>
                      <a:pPr>
                        <a:defRPr sz="1200">
                          <a:solidFill>
                            <a:srgbClr val="1C2230"/>
                          </a:solidFill>
                          <a:latin typeface="Yu Gothic"/>
                        </a:defRPr>
                      </a:pPr>
                      <a:r>
                        <a:t>利益</a:t>
                      </a:r>
                    </a:p>
                  </a:txBody>
                  <a:tcPr>
                    <a:solidFill>
                      <a:srgbClr val="F1F5FA"/>
                    </a:solidFill>
                  </a:tcPr>
                </a:tc>
                <a:tc>
                  <a:txBody>
                    <a:bodyPr/>
                    <a:lstStyle/>
                    <a:p>
                      <a:pPr>
                        <a:defRPr sz="1200">
                          <a:solidFill>
                            <a:srgbClr val="1C2230"/>
                          </a:solidFill>
                          <a:latin typeface="Yu Gothic"/>
                        </a:defRPr>
                      </a:pPr>
                      <a:r>
                        <a:t>11億ドル</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5 / 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438339"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Palantirとは</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事業領域</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データ分析</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CEO</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アレックス・カープ氏</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特徴</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哲学専攻・社会理論の博士号を持つ</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6 / 30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284472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決算のポイント</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売上高</a:t>
            </a:r>
          </a:p>
        </p:txBody>
      </p:sp>
      <p:sp>
        <p:nvSpPr>
          <p:cNvPr id="10" name="TextBox 9"/>
          <p:cNvSpPr txBox="1"/>
          <p:nvPr/>
        </p:nvSpPr>
        <p:spPr>
          <a:xfrm>
            <a:off x="731520"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19億ドル、前年同期比93%増</a:t>
            </a:r>
          </a:p>
        </p:txBody>
      </p:sp>
      <p:sp>
        <p:nvSpPr>
          <p:cNvPr id="11" name="Chevron 10"/>
          <p:cNvSpPr/>
          <p:nvPr/>
        </p:nvSpPr>
        <p:spPr>
          <a:xfrm>
            <a:off x="3068040"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413683"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67963"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3642283"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3642283"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利益</a:t>
            </a:r>
          </a:p>
        </p:txBody>
      </p:sp>
      <p:sp>
        <p:nvSpPr>
          <p:cNvPr id="16" name="TextBox 15"/>
          <p:cNvSpPr txBox="1"/>
          <p:nvPr/>
        </p:nvSpPr>
        <p:spPr>
          <a:xfrm>
            <a:off x="3642283"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11億ドル</a:t>
            </a:r>
          </a:p>
        </p:txBody>
      </p:sp>
      <p:sp>
        <p:nvSpPr>
          <p:cNvPr id="17" name="Chevron 16"/>
          <p:cNvSpPr/>
          <p:nvPr/>
        </p:nvSpPr>
        <p:spPr>
          <a:xfrm>
            <a:off x="5978804"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324447"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278727"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6553047"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6553047"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自社株買い</a:t>
            </a:r>
          </a:p>
        </p:txBody>
      </p:sp>
      <p:sp>
        <p:nvSpPr>
          <p:cNvPr id="22" name="TextBox 21"/>
          <p:cNvSpPr txBox="1"/>
          <p:nvPr/>
        </p:nvSpPr>
        <p:spPr>
          <a:xfrm>
            <a:off x="6553047"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10億ドル規模を発表</a:t>
            </a:r>
          </a:p>
        </p:txBody>
      </p:sp>
      <p:sp>
        <p:nvSpPr>
          <p:cNvPr id="23" name="Chevron 22"/>
          <p:cNvSpPr/>
          <p:nvPr/>
        </p:nvSpPr>
        <p:spPr>
          <a:xfrm>
            <a:off x="8889568"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235211" y="1792224"/>
            <a:ext cx="2545003"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189491" y="1737360"/>
            <a:ext cx="2545003"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9463811"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4</a:t>
            </a:r>
          </a:p>
        </p:txBody>
      </p:sp>
      <p:sp>
        <p:nvSpPr>
          <p:cNvPr id="27" name="TextBox 26"/>
          <p:cNvSpPr txBox="1"/>
          <p:nvPr/>
        </p:nvSpPr>
        <p:spPr>
          <a:xfrm>
            <a:off x="9463811" y="2926080"/>
            <a:ext cx="1996363" cy="548640"/>
          </a:xfrm>
          <a:prstGeom prst="rect">
            <a:avLst/>
          </a:prstGeom>
          <a:noFill/>
        </p:spPr>
        <p:txBody>
          <a:bodyPr wrap="square" anchor="t" lIns="0" rIns="0" tIns="0" bIns="0">
            <a:spAutoFit/>
          </a:bodyPr>
          <a:lstStyle/>
          <a:p>
            <a:pPr algn="l"/>
            <a:r>
              <a:rPr sz="1600" b="1">
                <a:solidFill>
                  <a:srgbClr val="2B3A55"/>
                </a:solidFill>
                <a:latin typeface="Yu Gothic"/>
              </a:rPr>
              <a:t>業績見通し</a:t>
            </a:r>
          </a:p>
        </p:txBody>
      </p:sp>
      <p:sp>
        <p:nvSpPr>
          <p:cNvPr id="28" name="TextBox 27"/>
          <p:cNvSpPr txBox="1"/>
          <p:nvPr/>
        </p:nvSpPr>
        <p:spPr>
          <a:xfrm>
            <a:off x="9463811" y="3566160"/>
            <a:ext cx="1996363"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上方修正</a:t>
            </a:r>
          </a:p>
        </p:txBody>
      </p:sp>
      <p:sp>
        <p:nvSpPr>
          <p:cNvPr id="29" name="TextBox 28"/>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30" name="TextBox 29"/>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7 / 30</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25111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カープ氏の発言の内容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大規模言語モデルを開発する企業について言及</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『我々のビジネスにはマルクス主義的な含意がある』という趣旨の表現</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協業先の『生産手段を奪おうとしている』という趣旨の表現も</a:t>
            </a:r>
          </a:p>
        </p:txBody>
      </p:sp>
      <p:sp>
        <p:nvSpPr>
          <p:cNvPr id="12" name="TextBox 11"/>
          <p:cNvSpPr txBox="1"/>
          <p:nvPr/>
        </p:nvSpPr>
        <p:spPr>
          <a:xfrm>
            <a:off x="457200" y="6035040"/>
            <a:ext cx="11277295" cy="320040"/>
          </a:xfrm>
          <a:prstGeom prst="rect">
            <a:avLst/>
          </a:prstGeom>
          <a:noFill/>
        </p:spPr>
        <p:txBody>
          <a:bodyPr wrap="square" anchor="t" lIns="0" rIns="0" tIns="0" bIns="0">
            <a:spAutoFit/>
          </a:bodyPr>
          <a:lstStyle/>
          <a:p>
            <a:pPr algn="l"/>
            <a:r>
              <a:rPr sz="1000" b="0">
                <a:solidFill>
                  <a:srgbClr val="5A6474"/>
                </a:solidFill>
                <a:latin typeface="Yu Gothic"/>
              </a:rPr>
              <a:t>出典: TechCrunch</a:t>
            </a:r>
          </a:p>
        </p:txBody>
      </p:sp>
      <p:sp>
        <p:nvSpPr>
          <p:cNvPr id="13" name="TextBox 1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4" name="TextBox 1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8 / 30</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365750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発言の対象(概念)</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AIフロンティア研究所</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OpenAI・Anthropicなどが含まれると報じられている</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カープ氏の主張</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企業顧客にとって『信頼できなさすぎる』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繰り返しの立場表明</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以前から同様の主張を継続</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9 / 30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06389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カープ氏のこれまでの立場</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50876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項目</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主張</a:t>
                      </a:r>
                    </a:p>
                  </a:txBody>
                  <a:tcPr>
                    <a:solidFill>
                      <a:srgbClr val="FFFFFF"/>
                    </a:solidFill>
                  </a:tcPr>
                </a:tc>
                <a:tc>
                  <a:txBody>
                    <a:bodyPr/>
                    <a:lstStyle/>
                    <a:p>
                      <a:pPr>
                        <a:defRPr sz="1200">
                          <a:solidFill>
                            <a:srgbClr val="1C2230"/>
                          </a:solidFill>
                          <a:latin typeface="Yu Gothic"/>
                        </a:defRPr>
                      </a:pPr>
                      <a:r>
                        <a:t>AIフロンティア研究所は企業顧客にとって信頼できなさすぎる</a:t>
                      </a:r>
                    </a:p>
                  </a:txBody>
                  <a:tcPr>
                    <a:solidFill>
                      <a:srgbClr val="FFFFFF"/>
                    </a:solidFill>
                  </a:tcPr>
                </a:tc>
              </a:tr>
              <a:tr h="502920">
                <a:tc>
                  <a:txBody>
                    <a:bodyPr/>
                    <a:lstStyle/>
                    <a:p>
                      <a:pPr>
                        <a:defRPr sz="1200">
                          <a:solidFill>
                            <a:srgbClr val="1C2230"/>
                          </a:solidFill>
                          <a:latin typeface="Yu Gothic"/>
                        </a:defRPr>
                      </a:pPr>
                      <a:r>
                        <a:t>繰り返し</a:t>
                      </a:r>
                    </a:p>
                  </a:txBody>
                  <a:tcPr>
                    <a:solidFill>
                      <a:srgbClr val="F1F5FA"/>
                    </a:solidFill>
                  </a:tcPr>
                </a:tc>
                <a:tc>
                  <a:txBody>
                    <a:bodyPr/>
                    <a:lstStyle/>
                    <a:p>
                      <a:pPr>
                        <a:defRPr sz="1200">
                          <a:solidFill>
                            <a:srgbClr val="1C2230"/>
                          </a:solidFill>
                          <a:latin typeface="Yu Gothic"/>
                        </a:defRPr>
                      </a:pPr>
                      <a:r>
                        <a:t>以前から同様の主張を継続しているとされる</a:t>
                      </a:r>
                    </a:p>
                  </a:txBody>
                  <a:tcPr>
                    <a:solidFill>
                      <a:srgbClr val="F1F5FA"/>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10 / 30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47028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自社株買い</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10億ドル規模</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決算と同時に発表</a:t>
            </a:r>
          </a:p>
        </p:txBody>
      </p:sp>
      <p:sp>
        <p:nvSpPr>
          <p:cNvPr id="7" name="TextBox 6"/>
          <p:cNvSpPr txBox="1"/>
          <p:nvPr/>
        </p:nvSpPr>
        <p:spPr>
          <a:xfrm>
            <a:off x="548640" y="6035040"/>
            <a:ext cx="11064240" cy="365760"/>
          </a:xfrm>
          <a:prstGeom prst="rect">
            <a:avLst/>
          </a:prstGeom>
          <a:noFill/>
        </p:spPr>
        <p:txBody>
          <a:bodyPr wrap="square" anchor="t" lIns="0" rIns="0" tIns="0" bIns="0">
            <a:spAutoFit/>
          </a:bodyPr>
          <a:lstStyle/>
          <a:p>
            <a:pPr algn="ctr"/>
            <a:r>
              <a:rPr sz="1100" b="0">
                <a:solidFill>
                  <a:srgbClr val="9CB8D6"/>
                </a:solidFill>
                <a:latin typeface="Yu Gothic"/>
              </a:rPr>
              <a:t>出典: Benzinga</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4876678"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報じたメディア</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TechCrunch / CNBC</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発言の内容を報道</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Benzinga</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決算内容を報道</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techbuzz.ai</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発言の背景を解説</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12 / 30</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28306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【重要】事実と意見の切り分け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決算数字(売上高・利益等)は確認された事実として扱う</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カープ氏の発言は同氏個人の見解・レトリックとして紹介する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発言の当否についてAI Company OS独自の評価・断定は行わない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13 / 30</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568945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決算発表から発言までの流れ(概念)</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第2四半期決算発表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2026年8月3日</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株主向け書簡</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AI業界への言及</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複数媒体が報道</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発言の内容が広く伝わる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14 / 30</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09584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【重要】本テーマの公平性についての開示</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カープ氏の発言はAnthropicを含むAIフロンティア研究所に言及している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AI Company OSのパイプライン自体もAnthropicの技術を利用している</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発言をAI Company OS自身の見解として提示しない</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批判の妥当性について特定の立場を取らない</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15 / 30</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50223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ここまでの総括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好決算と、業界への挑発的な発言が同時に話題に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Palantir、2026年8月3日発表</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690862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今後の見通し(ここからは推測)</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Oval 7"/>
          <p:cNvSpPr/>
          <p:nvPr/>
        </p:nvSpPr>
        <p:spPr>
          <a:xfrm>
            <a:off x="731520"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1</a:t>
            </a:r>
          </a:p>
        </p:txBody>
      </p:sp>
      <p:sp>
        <p:nvSpPr>
          <p:cNvPr id="9" name="TextBox 8"/>
          <p:cNvSpPr txBox="1"/>
          <p:nvPr/>
        </p:nvSpPr>
        <p:spPr>
          <a:xfrm>
            <a:off x="731520"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AIラボ側の反応</a:t>
            </a:r>
          </a:p>
        </p:txBody>
      </p:sp>
      <p:sp>
        <p:nvSpPr>
          <p:cNvPr id="10" name="TextBox 9"/>
          <p:cNvSpPr txBox="1"/>
          <p:nvPr/>
        </p:nvSpPr>
        <p:spPr>
          <a:xfrm>
            <a:off x="731520"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OpenAI・Anthropic等からの反応があるか</a:t>
            </a:r>
          </a:p>
        </p:txBody>
      </p:sp>
      <p:sp>
        <p:nvSpPr>
          <p:cNvPr id="11" name="Chevron 10"/>
          <p:cNvSpPr/>
          <p:nvPr/>
        </p:nvSpPr>
        <p:spPr>
          <a:xfrm>
            <a:off x="4038295"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383938"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4338218"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4612538"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2</a:t>
            </a:r>
          </a:p>
        </p:txBody>
      </p:sp>
      <p:sp>
        <p:nvSpPr>
          <p:cNvPr id="15" name="TextBox 14"/>
          <p:cNvSpPr txBox="1"/>
          <p:nvPr/>
        </p:nvSpPr>
        <p:spPr>
          <a:xfrm>
            <a:off x="4612538"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業界内の議論</a:t>
            </a:r>
          </a:p>
        </p:txBody>
      </p:sp>
      <p:sp>
        <p:nvSpPr>
          <p:cNvPr id="16" name="TextBox 15"/>
          <p:cNvSpPr txBox="1"/>
          <p:nvPr/>
        </p:nvSpPr>
        <p:spPr>
          <a:xfrm>
            <a:off x="4612538"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エンタープライズAIのあり方をめぐる議論が続く可能性</a:t>
            </a:r>
          </a:p>
        </p:txBody>
      </p:sp>
      <p:sp>
        <p:nvSpPr>
          <p:cNvPr id="17" name="Chevron 16"/>
          <p:cNvSpPr/>
          <p:nvPr/>
        </p:nvSpPr>
        <p:spPr>
          <a:xfrm>
            <a:off x="7919313" y="3200400"/>
            <a:ext cx="234086" cy="365760"/>
          </a:xfrm>
          <a:prstGeom prst="chevron">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8264956" y="1792224"/>
            <a:ext cx="3515258" cy="3291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8219236" y="1737360"/>
            <a:ext cx="3515258" cy="3291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val 19"/>
          <p:cNvSpPr/>
          <p:nvPr/>
        </p:nvSpPr>
        <p:spPr>
          <a:xfrm>
            <a:off x="8493556" y="2011680"/>
            <a:ext cx="640080" cy="64008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2000" b="1">
                <a:solidFill>
                  <a:srgbClr val="FFFFFF"/>
                </a:solidFill>
                <a:latin typeface="Yu Gothic"/>
              </a:rPr>
              <a:t>3</a:t>
            </a:r>
          </a:p>
        </p:txBody>
      </p:sp>
      <p:sp>
        <p:nvSpPr>
          <p:cNvPr id="21" name="TextBox 20"/>
          <p:cNvSpPr txBox="1"/>
          <p:nvPr/>
        </p:nvSpPr>
        <p:spPr>
          <a:xfrm>
            <a:off x="8493556" y="2926080"/>
            <a:ext cx="2966618" cy="548640"/>
          </a:xfrm>
          <a:prstGeom prst="rect">
            <a:avLst/>
          </a:prstGeom>
          <a:noFill/>
        </p:spPr>
        <p:txBody>
          <a:bodyPr wrap="square" anchor="t" lIns="0" rIns="0" tIns="0" bIns="0">
            <a:spAutoFit/>
          </a:bodyPr>
          <a:lstStyle/>
          <a:p>
            <a:pPr algn="l"/>
            <a:r>
              <a:rPr sz="1600" b="1">
                <a:solidFill>
                  <a:srgbClr val="2B3A55"/>
                </a:solidFill>
                <a:latin typeface="Yu Gothic"/>
              </a:rPr>
              <a:t>株価への影響</a:t>
            </a:r>
          </a:p>
        </p:txBody>
      </p:sp>
      <p:sp>
        <p:nvSpPr>
          <p:cNvPr id="22" name="TextBox 21"/>
          <p:cNvSpPr txBox="1"/>
          <p:nvPr/>
        </p:nvSpPr>
        <p:spPr>
          <a:xfrm>
            <a:off x="8493556" y="3566160"/>
            <a:ext cx="2966618" cy="1280160"/>
          </a:xfrm>
          <a:prstGeom prst="rect">
            <a:avLst/>
          </a:prstGeom>
          <a:noFill/>
        </p:spPr>
        <p:txBody>
          <a:bodyPr wrap="square" anchor="t" lIns="0" rIns="0" tIns="0" bIns="0">
            <a:spAutoFit/>
          </a:bodyPr>
          <a:lstStyle/>
          <a:p>
            <a:pPr algn="l">
              <a:lnSpc>
                <a:spcPct val="115000"/>
              </a:lnSpc>
            </a:pPr>
            <a:r>
              <a:rPr sz="1200" b="0">
                <a:solidFill>
                  <a:srgbClr val="5A6474"/>
                </a:solidFill>
                <a:latin typeface="Yu Gothic"/>
              </a:rPr>
              <a:t>好決算を受けた株価の動向が注目される可能性</a:t>
            </a:r>
          </a:p>
        </p:txBody>
      </p:sp>
      <p:sp>
        <p:nvSpPr>
          <p:cNvPr id="23" name="TextBox 22"/>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24" name="TextBox 23"/>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17 / 30</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017"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想定される影響</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エンタープライズAI業界</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データガバナンスをめぐる議論の活発化</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AIフロンティア研究所</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企業向け信頼性についての議論</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投資家</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Palantirの企業向けAI戦略への注目</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18 / 30</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72140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似たテーマとの違い(重複でないことの確認)</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100584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既存テーマ</a:t>
                      </a:r>
                    </a:p>
                  </a:txBody>
                  <a:tcPr>
                    <a:solidFill>
                      <a:srgbClr val="2B3A55"/>
                    </a:solidFill>
                  </a:tcPr>
                </a:tc>
                <a:tc>
                  <a:txBody>
                    <a:bodyPr/>
                    <a:lstStyle/>
                    <a:p>
                      <a:pPr>
                        <a:defRPr sz="1300" b="1">
                          <a:solidFill>
                            <a:srgbClr val="FFFFFF"/>
                          </a:solidFill>
                          <a:latin typeface="Yu Gothic"/>
                        </a:defRPr>
                      </a:pPr>
                      <a:r>
                        <a:t>違い</a:t>
                      </a:r>
                    </a:p>
                  </a:txBody>
                  <a:tcPr>
                    <a:solidFill>
                      <a:srgbClr val="2B3A55"/>
                    </a:solidFill>
                  </a:tcPr>
                </a:tc>
              </a:tr>
              <a:tr h="502920">
                <a:tc>
                  <a:txBody>
                    <a:bodyPr/>
                    <a:lstStyle/>
                    <a:p>
                      <a:pPr>
                        <a:defRPr sz="1200">
                          <a:solidFill>
                            <a:srgbClr val="1C2230"/>
                          </a:solidFill>
                          <a:latin typeface="Yu Gothic"/>
                        </a:defRPr>
                      </a:pPr>
                      <a:r>
                        <a:t>既存のAI企業関連テーマ</a:t>
                      </a:r>
                    </a:p>
                  </a:txBody>
                  <a:tcPr>
                    <a:solidFill>
                      <a:srgbClr val="FFFFFF"/>
                    </a:solidFill>
                  </a:tcPr>
                </a:tc>
                <a:tc>
                  <a:txBody>
                    <a:bodyPr/>
                    <a:lstStyle/>
                    <a:p>
                      <a:pPr>
                        <a:defRPr sz="1200">
                          <a:solidFill>
                            <a:srgbClr val="1C2230"/>
                          </a:solidFill>
                          <a:latin typeface="Yu Gothic"/>
                        </a:defRPr>
                      </a:pPr>
                      <a:r>
                        <a:t>Palantirまたはカープ氏を主題として扱ったテーマはこれまでにない</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19 / 30</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12779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リスク・配慮事項</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数字の創作はせず、報道された内容のみを扱う</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カープ氏の発言をAI Company OS自身の見解として提示しない</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特定企業・特定研究所への支持や批判は行わない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20 / 30</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53418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出典一覧</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6" name="Table 5"/>
          <p:cNvGraphicFramePr>
            <a:graphicFrameLocks noGrp="1"/>
          </p:cNvGraphicFramePr>
          <p:nvPr/>
        </p:nvGraphicFramePr>
        <p:xfrm>
          <a:off x="457200" y="1554480"/>
          <a:ext cx="11277295" cy="2011680"/>
        </p:xfrm>
        <a:graphic>
          <a:graphicData uri="http://schemas.openxmlformats.org/drawingml/2006/table">
            <a:tbl>
              <a:tblPr firstRow="1" bandRow="1">
                <a:tableStyleId>{5C22544A-7EE6-4342-B048-85BDC9FD1C3A}</a:tableStyleId>
              </a:tblPr>
              <a:tblGrid>
                <a:gridCol w="5638647"/>
                <a:gridCol w="5638648"/>
              </a:tblGrid>
              <a:tr h="502920">
                <a:tc>
                  <a:txBody>
                    <a:bodyPr/>
                    <a:lstStyle/>
                    <a:p>
                      <a:pPr>
                        <a:defRPr sz="1300" b="1">
                          <a:solidFill>
                            <a:srgbClr val="FFFFFF"/>
                          </a:solidFill>
                          <a:latin typeface="Yu Gothic"/>
                        </a:defRPr>
                      </a:pPr>
                      <a:r>
                        <a:t>媒体</a:t>
                      </a:r>
                    </a:p>
                  </a:txBody>
                  <a:tcPr>
                    <a:solidFill>
                      <a:srgbClr val="2B3A55"/>
                    </a:solidFill>
                  </a:tcPr>
                </a:tc>
                <a:tc>
                  <a:txBody>
                    <a:bodyPr/>
                    <a:lstStyle/>
                    <a:p>
                      <a:pPr>
                        <a:defRPr sz="1300" b="1">
                          <a:solidFill>
                            <a:srgbClr val="FFFFFF"/>
                          </a:solidFill>
                          <a:latin typeface="Yu Gothic"/>
                        </a:defRPr>
                      </a:pPr>
                      <a:r>
                        <a:t>内容</a:t>
                      </a:r>
                    </a:p>
                  </a:txBody>
                  <a:tcPr>
                    <a:solidFill>
                      <a:srgbClr val="2B3A55"/>
                    </a:solidFill>
                  </a:tcPr>
                </a:tc>
              </a:tr>
              <a:tr h="502920">
                <a:tc>
                  <a:txBody>
                    <a:bodyPr/>
                    <a:lstStyle/>
                    <a:p>
                      <a:pPr>
                        <a:defRPr sz="1200">
                          <a:solidFill>
                            <a:srgbClr val="1C2230"/>
                          </a:solidFill>
                          <a:latin typeface="Yu Gothic"/>
                        </a:defRPr>
                      </a:pPr>
                      <a:r>
                        <a:t>TechCrunch / CNBC</a:t>
                      </a:r>
                    </a:p>
                  </a:txBody>
                  <a:tcPr>
                    <a:solidFill>
                      <a:srgbClr val="FFFFFF"/>
                    </a:solidFill>
                  </a:tcPr>
                </a:tc>
                <a:tc>
                  <a:txBody>
                    <a:bodyPr/>
                    <a:lstStyle/>
                    <a:p>
                      <a:pPr>
                        <a:defRPr sz="1200">
                          <a:solidFill>
                            <a:srgbClr val="1C2230"/>
                          </a:solidFill>
                          <a:latin typeface="Yu Gothic"/>
                        </a:defRPr>
                      </a:pPr>
                      <a:r>
                        <a:t>発言の内容を報道</a:t>
                      </a:r>
                    </a:p>
                  </a:txBody>
                  <a:tcPr>
                    <a:solidFill>
                      <a:srgbClr val="FFFFFF"/>
                    </a:solidFill>
                  </a:tcPr>
                </a:tc>
              </a:tr>
              <a:tr h="502920">
                <a:tc>
                  <a:txBody>
                    <a:bodyPr/>
                    <a:lstStyle/>
                    <a:p>
                      <a:pPr>
                        <a:defRPr sz="1200">
                          <a:solidFill>
                            <a:srgbClr val="1C2230"/>
                          </a:solidFill>
                          <a:latin typeface="Yu Gothic"/>
                        </a:defRPr>
                      </a:pPr>
                      <a:r>
                        <a:t>Benzinga</a:t>
                      </a:r>
                    </a:p>
                  </a:txBody>
                  <a:tcPr>
                    <a:solidFill>
                      <a:srgbClr val="F1F5FA"/>
                    </a:solidFill>
                  </a:tcPr>
                </a:tc>
                <a:tc>
                  <a:txBody>
                    <a:bodyPr/>
                    <a:lstStyle/>
                    <a:p>
                      <a:pPr>
                        <a:defRPr sz="1200">
                          <a:solidFill>
                            <a:srgbClr val="1C2230"/>
                          </a:solidFill>
                          <a:latin typeface="Yu Gothic"/>
                        </a:defRPr>
                      </a:pPr>
                      <a:r>
                        <a:t>決算内容を報道</a:t>
                      </a:r>
                    </a:p>
                  </a:txBody>
                  <a:tcPr>
                    <a:solidFill>
                      <a:srgbClr val="F1F5FA"/>
                    </a:solidFill>
                  </a:tcPr>
                </a:tc>
              </a:tr>
              <a:tr h="502920">
                <a:tc>
                  <a:txBody>
                    <a:bodyPr/>
                    <a:lstStyle/>
                    <a:p>
                      <a:pPr>
                        <a:defRPr sz="1200">
                          <a:solidFill>
                            <a:srgbClr val="1C2230"/>
                          </a:solidFill>
                          <a:latin typeface="Yu Gothic"/>
                        </a:defRPr>
                      </a:pPr>
                      <a:r>
                        <a:t>techbuzz.ai</a:t>
                      </a:r>
                    </a:p>
                  </a:txBody>
                  <a:tcPr>
                    <a:solidFill>
                      <a:srgbClr val="FFFFFF"/>
                    </a:solidFill>
                  </a:tcPr>
                </a:tc>
                <a:tc>
                  <a:txBody>
                    <a:bodyPr/>
                    <a:lstStyle/>
                    <a:p>
                      <a:pPr>
                        <a:defRPr sz="1200">
                          <a:solidFill>
                            <a:srgbClr val="1C2230"/>
                          </a:solidFill>
                          <a:latin typeface="Yu Gothic"/>
                        </a:defRPr>
                      </a:pPr>
                      <a:r>
                        <a:t>発言の背景を解説</a:t>
                      </a:r>
                    </a:p>
                  </a:txBody>
                  <a:tcPr>
                    <a:solidFill>
                      <a:srgbClr val="FFFFFF"/>
                    </a:solidFill>
                  </a:tcPr>
                </a:tc>
              </a:tr>
            </a:tbl>
          </a:graphicData>
        </a:graphic>
      </p:graphicFrame>
      <p:sp>
        <p:nvSpPr>
          <p:cNvPr id="7" name="TextBox 6"/>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8" name="TextBox 7"/>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21 / 30</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894057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確認できたこと・できなかったこと</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確認済み: 決算数字・カープ氏の発言の要旨(複数媒体の要約報道)</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株主書簡の正確な原文全文</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OpenAI・Anthropic側からの公式な反応</a:t>
            </a:r>
          </a:p>
        </p:txBody>
      </p:sp>
      <p:sp>
        <p:nvSpPr>
          <p:cNvPr id="12" name="Oval 11"/>
          <p:cNvSpPr/>
          <p:nvPr/>
        </p:nvSpPr>
        <p:spPr>
          <a:xfrm>
            <a:off x="457200" y="381304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3" name="TextBox 12"/>
          <p:cNvSpPr txBox="1"/>
          <p:nvPr/>
        </p:nvSpPr>
        <p:spPr>
          <a:xfrm>
            <a:off x="960120" y="379476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未確認: 発言の技術的・経営的な妥当性についての第三者評価</a:t>
            </a:r>
          </a:p>
        </p:txBody>
      </p:sp>
      <p:sp>
        <p:nvSpPr>
          <p:cNvPr id="14" name="TextBox 13"/>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5" name="TextBox 14"/>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22 / 30</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34696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Palantir</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好決算とCEOの発言が同時に話題に</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2026年8月3日発表</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975335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決算の事実とカープ氏の発言</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決算の事実</a:t>
            </a:r>
          </a:p>
        </p:txBody>
      </p:sp>
      <p:sp>
        <p:nvSpPr>
          <p:cNvPr id="9" name="Oval 8"/>
          <p:cNvSpPr/>
          <p:nvPr/>
        </p:nvSpPr>
        <p:spPr>
          <a:xfrm>
            <a:off x="777240"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0" name="TextBox 9"/>
          <p:cNvSpPr txBox="1"/>
          <p:nvPr/>
        </p:nvSpPr>
        <p:spPr>
          <a:xfrm>
            <a:off x="1188720"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売上高19億ドル(前年比93%増)</a:t>
            </a:r>
          </a:p>
        </p:txBody>
      </p:sp>
      <p:sp>
        <p:nvSpPr>
          <p:cNvPr id="11" name="Oval 10"/>
          <p:cNvSpPr/>
          <p:nvPr/>
        </p:nvSpPr>
        <p:spPr>
          <a:xfrm>
            <a:off x="777240"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2" name="TextBox 11"/>
          <p:cNvSpPr txBox="1"/>
          <p:nvPr/>
        </p:nvSpPr>
        <p:spPr>
          <a:xfrm>
            <a:off x="1188720"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利益11億ドル</a:t>
            </a:r>
          </a:p>
        </p:txBody>
      </p:sp>
      <p:sp>
        <p:nvSpPr>
          <p:cNvPr id="13" name="Rounded Rectangle 12"/>
          <p:cNvSpPr/>
          <p:nvPr/>
        </p:nvSpPr>
        <p:spPr>
          <a:xfrm>
            <a:off x="6324447" y="1609344"/>
            <a:ext cx="5455767" cy="42062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6278727" y="1554480"/>
            <a:ext cx="5455767" cy="42062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598767" y="1828800"/>
            <a:ext cx="4815687" cy="548640"/>
          </a:xfrm>
          <a:prstGeom prst="rect">
            <a:avLst/>
          </a:prstGeom>
          <a:noFill/>
        </p:spPr>
        <p:txBody>
          <a:bodyPr wrap="square" anchor="t" lIns="0" rIns="0" tIns="0" bIns="0">
            <a:spAutoFit/>
          </a:bodyPr>
          <a:lstStyle/>
          <a:p>
            <a:pPr algn="l"/>
            <a:r>
              <a:rPr sz="1800" b="1">
                <a:solidFill>
                  <a:srgbClr val="2B3A55"/>
                </a:solidFill>
                <a:latin typeface="Yu Gothic"/>
              </a:rPr>
              <a:t>カープ氏の発言(個人の見解)</a:t>
            </a:r>
          </a:p>
        </p:txBody>
      </p:sp>
      <p:sp>
        <p:nvSpPr>
          <p:cNvPr id="16" name="Oval 15"/>
          <p:cNvSpPr/>
          <p:nvPr/>
        </p:nvSpPr>
        <p:spPr>
          <a:xfrm>
            <a:off x="6598767" y="253288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7" name="TextBox 16"/>
          <p:cNvSpPr txBox="1"/>
          <p:nvPr/>
        </p:nvSpPr>
        <p:spPr>
          <a:xfrm>
            <a:off x="7010247" y="251460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AIフロンティア研究所への批判</a:t>
            </a:r>
          </a:p>
        </p:txBody>
      </p:sp>
      <p:sp>
        <p:nvSpPr>
          <p:cNvPr id="18" name="Oval 17"/>
          <p:cNvSpPr/>
          <p:nvPr/>
        </p:nvSpPr>
        <p:spPr>
          <a:xfrm>
            <a:off x="6598767" y="3081528"/>
            <a:ext cx="274320" cy="27432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100" b="1">
                <a:solidFill>
                  <a:srgbClr val="FFFFFF"/>
                </a:solidFill>
                <a:latin typeface="Yu Gothic"/>
              </a:rPr>
              <a:t>・</a:t>
            </a:r>
          </a:p>
        </p:txBody>
      </p:sp>
      <p:sp>
        <p:nvSpPr>
          <p:cNvPr id="19" name="TextBox 18"/>
          <p:cNvSpPr txBox="1"/>
          <p:nvPr/>
        </p:nvSpPr>
        <p:spPr>
          <a:xfrm>
            <a:off x="7010247" y="3063240"/>
            <a:ext cx="4404207" cy="548640"/>
          </a:xfrm>
          <a:prstGeom prst="rect">
            <a:avLst/>
          </a:prstGeom>
          <a:noFill/>
        </p:spPr>
        <p:txBody>
          <a:bodyPr wrap="square" anchor="t" lIns="0" rIns="0" tIns="0" bIns="0">
            <a:spAutoFit/>
          </a:bodyPr>
          <a:lstStyle/>
          <a:p>
            <a:pPr algn="l">
              <a:lnSpc>
                <a:spcPct val="110000"/>
              </a:lnSpc>
            </a:pPr>
            <a:r>
              <a:rPr sz="1400" b="0">
                <a:solidFill>
                  <a:srgbClr val="1C2230"/>
                </a:solidFill>
                <a:latin typeface="Yu Gothic"/>
              </a:rPr>
              <a:t>『マルクス主義的』という表現</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24 / 30</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159746"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この話題の広がり方</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17524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17067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8896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決算発表</a:t>
            </a:r>
          </a:p>
        </p:txBody>
      </p:sp>
      <p:sp>
        <p:nvSpPr>
          <p:cNvPr id="9" name="TextBox 8"/>
          <p:cNvSpPr txBox="1"/>
          <p:nvPr/>
        </p:nvSpPr>
        <p:spPr>
          <a:xfrm>
            <a:off x="18896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2026年8月3日</a:t>
            </a:r>
          </a:p>
        </p:txBody>
      </p:sp>
      <p:sp>
        <p:nvSpPr>
          <p:cNvPr id="10" name="Right Arrow 9"/>
          <p:cNvSpPr/>
          <p:nvPr/>
        </p:nvSpPr>
        <p:spPr>
          <a:xfrm>
            <a:off x="41573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9528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9071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900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発言が報道される</a:t>
            </a:r>
          </a:p>
        </p:txBody>
      </p:sp>
      <p:sp>
        <p:nvSpPr>
          <p:cNvPr id="14" name="TextBox 13"/>
          <p:cNvSpPr txBox="1"/>
          <p:nvPr/>
        </p:nvSpPr>
        <p:spPr>
          <a:xfrm>
            <a:off x="50900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複数媒体が取り上げる</a:t>
            </a:r>
          </a:p>
        </p:txBody>
      </p:sp>
      <p:sp>
        <p:nvSpPr>
          <p:cNvPr id="15" name="Right Arrow 14"/>
          <p:cNvSpPr/>
          <p:nvPr/>
        </p:nvSpPr>
        <p:spPr>
          <a:xfrm>
            <a:off x="7357719" y="3108959"/>
            <a:ext cx="676656" cy="365760"/>
          </a:xfrm>
          <a:prstGeom prst="rightArrow">
            <a:avLst/>
          </a:prstGeom>
          <a:solidFill>
            <a:srgbClr val="1F8FD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153247" y="2615184"/>
            <a:ext cx="2377440" cy="14630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8107527" y="2560320"/>
            <a:ext cx="2377440" cy="14630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90407" y="2743200"/>
            <a:ext cx="2011680" cy="640080"/>
          </a:xfrm>
          <a:prstGeom prst="rect">
            <a:avLst/>
          </a:prstGeom>
          <a:noFill/>
        </p:spPr>
        <p:txBody>
          <a:bodyPr wrap="square" anchor="ctr" lIns="0" rIns="0" tIns="0" bIns="0">
            <a:spAutoFit/>
          </a:bodyPr>
          <a:lstStyle/>
          <a:p>
            <a:pPr algn="ctr"/>
            <a:r>
              <a:rPr sz="1700" b="1">
                <a:solidFill>
                  <a:srgbClr val="2B3A55"/>
                </a:solidFill>
                <a:latin typeface="Yu Gothic"/>
              </a:rPr>
              <a:t>着手日に話題化</a:t>
            </a:r>
          </a:p>
        </p:txBody>
      </p:sp>
      <p:sp>
        <p:nvSpPr>
          <p:cNvPr id="19" name="TextBox 18"/>
          <p:cNvSpPr txBox="1"/>
          <p:nvPr/>
        </p:nvSpPr>
        <p:spPr>
          <a:xfrm>
            <a:off x="8290407" y="3383279"/>
            <a:ext cx="2011680" cy="548640"/>
          </a:xfrm>
          <a:prstGeom prst="rect">
            <a:avLst/>
          </a:prstGeom>
          <a:noFill/>
        </p:spPr>
        <p:txBody>
          <a:bodyPr wrap="square" anchor="t" lIns="0" rIns="0" tIns="0" bIns="0">
            <a:spAutoFit/>
          </a:bodyPr>
          <a:lstStyle/>
          <a:p>
            <a:pPr algn="ctr">
              <a:lnSpc>
                <a:spcPct val="110000"/>
              </a:lnSpc>
            </a:pPr>
            <a:r>
              <a:rPr sz="1200" b="0">
                <a:solidFill>
                  <a:srgbClr val="5A6474"/>
                </a:solidFill>
                <a:latin typeface="Yu Gothic"/>
              </a:rPr>
              <a:t>本日、注目を集める</a:t>
            </a:r>
          </a:p>
        </p:txBody>
      </p:sp>
      <p:sp>
        <p:nvSpPr>
          <p:cNvPr id="20" name="TextBox 1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21" name="TextBox 2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25 / 30</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56613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視聴者への問いかけ</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企業向けAIの信頼性、どう考えますか</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経営者の挑発的な発言、どう受け止めますか</a:t>
            </a:r>
          </a:p>
        </p:txBody>
      </p:sp>
      <p:sp>
        <p:nvSpPr>
          <p:cNvPr id="10" name="TextBox 9"/>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1" name="TextBox 10"/>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26 / 30</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097252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数字で見る今回の決算</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502920"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457200"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売上高</a:t>
            </a:r>
          </a:p>
        </p:txBody>
      </p:sp>
      <p:sp>
        <p:nvSpPr>
          <p:cNvPr id="9" name="TextBox 8"/>
          <p:cNvSpPr txBox="1"/>
          <p:nvPr/>
        </p:nvSpPr>
        <p:spPr>
          <a:xfrm>
            <a:off x="731520"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19億ドル(前年比93%増)</a:t>
            </a:r>
          </a:p>
        </p:txBody>
      </p:sp>
      <p:sp>
        <p:nvSpPr>
          <p:cNvPr id="10" name="Rounded Rectangle 9"/>
          <p:cNvSpPr/>
          <p:nvPr/>
        </p:nvSpPr>
        <p:spPr>
          <a:xfrm>
            <a:off x="4368698"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322978"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97298"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利益</a:t>
            </a:r>
          </a:p>
        </p:txBody>
      </p:sp>
      <p:sp>
        <p:nvSpPr>
          <p:cNvPr id="13" name="TextBox 12"/>
          <p:cNvSpPr txBox="1"/>
          <p:nvPr/>
        </p:nvSpPr>
        <p:spPr>
          <a:xfrm>
            <a:off x="4597298"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11億ドル</a:t>
            </a:r>
          </a:p>
        </p:txBody>
      </p:sp>
      <p:sp>
        <p:nvSpPr>
          <p:cNvPr id="14" name="Rounded Rectangle 13"/>
          <p:cNvSpPr/>
          <p:nvPr/>
        </p:nvSpPr>
        <p:spPr>
          <a:xfrm>
            <a:off x="8234476" y="1609344"/>
            <a:ext cx="3545738" cy="393192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8188756" y="1554480"/>
            <a:ext cx="3545738" cy="393192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63076" y="1828800"/>
            <a:ext cx="2997098" cy="548640"/>
          </a:xfrm>
          <a:prstGeom prst="rect">
            <a:avLst/>
          </a:prstGeom>
          <a:noFill/>
        </p:spPr>
        <p:txBody>
          <a:bodyPr wrap="square" anchor="t" lIns="0" rIns="0" tIns="0" bIns="0">
            <a:spAutoFit/>
          </a:bodyPr>
          <a:lstStyle/>
          <a:p>
            <a:pPr algn="l"/>
            <a:r>
              <a:rPr sz="1600" b="1">
                <a:solidFill>
                  <a:srgbClr val="2B3A55"/>
                </a:solidFill>
                <a:latin typeface="Yu Gothic"/>
              </a:rPr>
              <a:t>自社株買い</a:t>
            </a:r>
          </a:p>
        </p:txBody>
      </p:sp>
      <p:sp>
        <p:nvSpPr>
          <p:cNvPr id="17" name="TextBox 16"/>
          <p:cNvSpPr txBox="1"/>
          <p:nvPr/>
        </p:nvSpPr>
        <p:spPr>
          <a:xfrm>
            <a:off x="8463076" y="2514600"/>
            <a:ext cx="2997098" cy="1828800"/>
          </a:xfrm>
          <a:prstGeom prst="rect">
            <a:avLst/>
          </a:prstGeom>
          <a:noFill/>
        </p:spPr>
        <p:txBody>
          <a:bodyPr wrap="square" anchor="t" lIns="0" rIns="0" tIns="0" bIns="0">
            <a:spAutoFit/>
          </a:bodyPr>
          <a:lstStyle/>
          <a:p>
            <a:pPr algn="l">
              <a:lnSpc>
                <a:spcPct val="115000"/>
              </a:lnSpc>
            </a:pPr>
            <a:r>
              <a:rPr sz="1300" b="0">
                <a:solidFill>
                  <a:srgbClr val="5A6474"/>
                </a:solidFill>
                <a:latin typeface="Yu Gothic"/>
              </a:rPr>
              <a:t>10億ドル規模</a:t>
            </a:r>
          </a:p>
        </p:txBody>
      </p:sp>
      <p:sp>
        <p:nvSpPr>
          <p:cNvPr id="18" name="TextBox 17"/>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9" name="TextBox 18"/>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27 / 30</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37891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548640"/>
            <a:ext cx="11064240" cy="640080"/>
          </a:xfrm>
          <a:prstGeom prst="rect">
            <a:avLst/>
          </a:prstGeom>
          <a:noFill/>
        </p:spPr>
        <p:txBody>
          <a:bodyPr wrap="square" anchor="t" lIns="0" rIns="0" tIns="0" bIns="0">
            <a:spAutoFit/>
          </a:bodyPr>
          <a:lstStyle/>
          <a:p>
            <a:pPr algn="l"/>
            <a:r>
              <a:rPr sz="2200" b="1">
                <a:solidFill>
                  <a:srgbClr val="D3E4F5"/>
                </a:solidFill>
                <a:latin typeface="Yu Gothic"/>
              </a:rPr>
              <a:t>本テーマの総括</a:t>
            </a:r>
          </a:p>
        </p:txBody>
      </p:sp>
      <p:sp>
        <p:nvSpPr>
          <p:cNvPr id="5" name="TextBox 4"/>
          <p:cNvSpPr txBox="1"/>
          <p:nvPr/>
        </p:nvSpPr>
        <p:spPr>
          <a:xfrm>
            <a:off x="548640" y="1828800"/>
            <a:ext cx="11064240" cy="2011680"/>
          </a:xfrm>
          <a:prstGeom prst="rect">
            <a:avLst/>
          </a:prstGeom>
          <a:noFill/>
        </p:spPr>
        <p:txBody>
          <a:bodyPr wrap="square" anchor="ctr" lIns="0" rIns="0" tIns="0" bIns="0">
            <a:spAutoFit/>
          </a:bodyPr>
          <a:lstStyle/>
          <a:p>
            <a:pPr algn="ctr"/>
            <a:r>
              <a:rPr sz="8800" b="1">
                <a:solidFill>
                  <a:srgbClr val="1F8FD6"/>
                </a:solidFill>
                <a:latin typeface="Yu Gothic"/>
              </a:rPr>
              <a:t>好決算と、業界への一石</a:t>
            </a:r>
          </a:p>
        </p:txBody>
      </p:sp>
      <p:sp>
        <p:nvSpPr>
          <p:cNvPr id="6" name="TextBox 5"/>
          <p:cNvSpPr txBox="1"/>
          <p:nvPr/>
        </p:nvSpPr>
        <p:spPr>
          <a:xfrm>
            <a:off x="1097280" y="4023360"/>
            <a:ext cx="9966960" cy="731520"/>
          </a:xfrm>
          <a:prstGeom prst="rect">
            <a:avLst/>
          </a:prstGeom>
          <a:noFill/>
        </p:spPr>
        <p:txBody>
          <a:bodyPr wrap="square" anchor="t" lIns="0" rIns="0" tIns="0" bIns="0">
            <a:spAutoFit/>
          </a:bodyPr>
          <a:lstStyle/>
          <a:p>
            <a:pPr algn="ctr">
              <a:lnSpc>
                <a:spcPct val="120000"/>
              </a:lnSpc>
            </a:pPr>
            <a:r>
              <a:rPr sz="2000" b="0">
                <a:solidFill>
                  <a:srgbClr val="FFFFFF"/>
                </a:solidFill>
                <a:latin typeface="Yu Gothic"/>
              </a:rPr>
              <a:t>Palantir、2026年8月3日発表</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1B2537"/>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178530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48640" y="1645920"/>
            <a:ext cx="11064240" cy="1463040"/>
          </a:xfrm>
          <a:prstGeom prst="rect">
            <a:avLst/>
          </a:prstGeom>
          <a:noFill/>
        </p:spPr>
        <p:txBody>
          <a:bodyPr wrap="square" anchor="t" lIns="0" rIns="0" tIns="0" bIns="0">
            <a:spAutoFit/>
          </a:bodyPr>
          <a:lstStyle/>
          <a:p>
            <a:pPr algn="l">
              <a:lnSpc>
                <a:spcPct val="115000"/>
              </a:lnSpc>
            </a:pPr>
            <a:r>
              <a:rPr sz="3600" b="1">
                <a:solidFill>
                  <a:srgbClr val="FFFFFF"/>
                </a:solidFill>
                <a:latin typeface="Yu Gothic"/>
              </a:rPr>
              <a:t>続報にも注目です</a:t>
            </a:r>
          </a:p>
        </p:txBody>
      </p:sp>
      <p:sp>
        <p:nvSpPr>
          <p:cNvPr id="5" name="TextBox 4"/>
          <p:cNvSpPr txBox="1"/>
          <p:nvPr/>
        </p:nvSpPr>
        <p:spPr>
          <a:xfrm>
            <a:off x="548640" y="3291840"/>
            <a:ext cx="10515600" cy="914400"/>
          </a:xfrm>
          <a:prstGeom prst="rect">
            <a:avLst/>
          </a:prstGeom>
          <a:noFill/>
        </p:spPr>
        <p:txBody>
          <a:bodyPr wrap="square" anchor="t" lIns="0" rIns="0" tIns="0" bIns="0">
            <a:spAutoFit/>
          </a:bodyPr>
          <a:lstStyle/>
          <a:p>
            <a:pPr algn="l">
              <a:lnSpc>
                <a:spcPct val="120000"/>
              </a:lnSpc>
            </a:pPr>
            <a:r>
              <a:rPr sz="1800" b="0">
                <a:solidFill>
                  <a:srgbClr val="D3E4F5"/>
                </a:solidFill>
                <a:latin typeface="Yu Gothic"/>
              </a:rPr>
              <a:t>AIラボ側の反応、企業向けAIをめぐる議論の行方に注目していきます</a:t>
            </a:r>
          </a:p>
        </p:txBody>
      </p:sp>
      <p:sp>
        <p:nvSpPr>
          <p:cNvPr id="6" name="Rounded Rectangle 5"/>
          <p:cNvSpPr/>
          <p:nvPr/>
        </p:nvSpPr>
        <p:spPr>
          <a:xfrm>
            <a:off x="594360" y="4626864"/>
            <a:ext cx="7315200" cy="1005840"/>
          </a:xfrm>
          <a:prstGeom prst="roundRect">
            <a:avLst>
              <a:gd name="adj" fmla="val 6000"/>
            </a:avLst>
          </a:prstGeom>
          <a:solidFill>
            <a:srgbClr val="DDDDE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548640" y="4572000"/>
            <a:ext cx="7315200" cy="1005840"/>
          </a:xfrm>
          <a:prstGeom prst="roundRect">
            <a:avLst>
              <a:gd name="adj" fmla="val 6000"/>
            </a:avLst>
          </a:prstGeom>
          <a:solidFill>
            <a:srgbClr val="F1F5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68680" y="4828032"/>
            <a:ext cx="6766560" cy="548640"/>
          </a:xfrm>
          <a:prstGeom prst="rect">
            <a:avLst/>
          </a:prstGeom>
          <a:noFill/>
        </p:spPr>
        <p:txBody>
          <a:bodyPr wrap="square" anchor="t" lIns="0" rIns="0" tIns="0" bIns="0">
            <a:spAutoFit/>
          </a:bodyPr>
          <a:lstStyle/>
          <a:p>
            <a:pPr algn="l"/>
            <a:r>
              <a:rPr sz="1800" b="1">
                <a:solidFill>
                  <a:srgbClr val="2B3A55"/>
                </a:solidFill>
                <a:latin typeface="Yu Gothic"/>
              </a:rPr>
              <a:t>続報をお楽しみに</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45720"/>
          </a:xfrm>
          <a:prstGeom prst="rect">
            <a:avLst/>
          </a:prstGeom>
          <a:solidFill>
            <a:srgbClr val="9CB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45720"/>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411480"/>
            <a:ext cx="11277295" cy="731520"/>
          </a:xfrm>
          <a:prstGeom prst="rect">
            <a:avLst/>
          </a:prstGeom>
          <a:noFill/>
        </p:spPr>
        <p:txBody>
          <a:bodyPr wrap="square" anchor="t" lIns="0" rIns="0" tIns="0" bIns="0">
            <a:spAutoFit/>
          </a:bodyPr>
          <a:lstStyle/>
          <a:p>
            <a:pPr algn="l"/>
            <a:r>
              <a:rPr sz="3000" b="1">
                <a:solidFill>
                  <a:srgbClr val="2B3A55"/>
                </a:solidFill>
                <a:latin typeface="Yu Gothic"/>
              </a:rPr>
              <a:t>まとめ</a:t>
            </a:r>
          </a:p>
        </p:txBody>
      </p:sp>
      <p:sp>
        <p:nvSpPr>
          <p:cNvPr id="5" name="Rectangle 4"/>
          <p:cNvSpPr/>
          <p:nvPr/>
        </p:nvSpPr>
        <p:spPr>
          <a:xfrm>
            <a:off x="457200" y="1188720"/>
            <a:ext cx="502920" cy="54864"/>
          </a:xfrm>
          <a:prstGeom prst="rect">
            <a:avLst/>
          </a:prstGeom>
          <a:solidFill>
            <a:srgbClr val="1F8F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457200" y="148132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7" name="TextBox 6"/>
          <p:cNvSpPr txBox="1"/>
          <p:nvPr/>
        </p:nvSpPr>
        <p:spPr>
          <a:xfrm>
            <a:off x="960120" y="146304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Palantir、好決算を発表(2026年8月3日、売上高19億ドル)</a:t>
            </a:r>
          </a:p>
        </p:txBody>
      </p:sp>
      <p:sp>
        <p:nvSpPr>
          <p:cNvPr id="8" name="Oval 7"/>
          <p:cNvSpPr/>
          <p:nvPr/>
        </p:nvSpPr>
        <p:spPr>
          <a:xfrm>
            <a:off x="457200" y="225856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9" name="TextBox 8"/>
          <p:cNvSpPr txBox="1"/>
          <p:nvPr/>
        </p:nvSpPr>
        <p:spPr>
          <a:xfrm>
            <a:off x="960120" y="224028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CEOがAIフロンティア研究所を『マルクス主義的』と表現</a:t>
            </a:r>
          </a:p>
        </p:txBody>
      </p:sp>
      <p:sp>
        <p:nvSpPr>
          <p:cNvPr id="10" name="Oval 9"/>
          <p:cNvSpPr/>
          <p:nvPr/>
        </p:nvSpPr>
        <p:spPr>
          <a:xfrm>
            <a:off x="457200" y="3035808"/>
            <a:ext cx="320040" cy="320040"/>
          </a:xfrm>
          <a:prstGeom prst="ellipse">
            <a:avLst/>
          </a:prstGeom>
          <a:solidFill>
            <a:srgbClr val="2B3A55"/>
          </a:solidFill>
          <a:ln>
            <a:noFill/>
          </a:ln>
        </p:spPr>
        <p:style>
          <a:lnRef idx="1">
            <a:schemeClr val="accent1"/>
          </a:lnRef>
          <a:fillRef idx="3">
            <a:schemeClr val="accent1"/>
          </a:fillRef>
          <a:effectRef idx="2">
            <a:schemeClr val="accent1"/>
          </a:effectRef>
          <a:fontRef idx="minor">
            <a:schemeClr val="lt1"/>
          </a:fontRef>
        </p:style>
        <p:txBody>
          <a:bodyPr rtlCol="0" anchor="ctr" wrap="none" lIns="0" rIns="0" tIns="0" bIns="0"/>
          <a:lstStyle/>
          <a:p>
            <a:pPr algn="ctr"/>
            <a:r>
              <a:rPr sz="1200" b="1">
                <a:solidFill>
                  <a:srgbClr val="FFFFFF"/>
                </a:solidFill>
                <a:latin typeface="Yu Gothic"/>
              </a:rPr>
              <a:t>・</a:t>
            </a:r>
          </a:p>
        </p:txBody>
      </p:sp>
      <p:sp>
        <p:nvSpPr>
          <p:cNvPr id="11" name="TextBox 10"/>
          <p:cNvSpPr txBox="1"/>
          <p:nvPr/>
        </p:nvSpPr>
        <p:spPr>
          <a:xfrm>
            <a:off x="960120" y="3017520"/>
            <a:ext cx="10728655" cy="640080"/>
          </a:xfrm>
          <a:prstGeom prst="rect">
            <a:avLst/>
          </a:prstGeom>
          <a:noFill/>
        </p:spPr>
        <p:txBody>
          <a:bodyPr wrap="square" anchor="t" lIns="0" rIns="0" tIns="0" bIns="0">
            <a:spAutoFit/>
          </a:bodyPr>
          <a:lstStyle/>
          <a:p>
            <a:pPr algn="l">
              <a:lnSpc>
                <a:spcPct val="110000"/>
              </a:lnSpc>
            </a:pPr>
            <a:r>
              <a:rPr sz="1800" b="0">
                <a:solidFill>
                  <a:srgbClr val="1C2230"/>
                </a:solidFill>
                <a:latin typeface="Yu Gothic"/>
              </a:rPr>
              <a:t>発言は同氏個人の見解として紹介し、当否の評価は行っていない</a:t>
            </a:r>
          </a:p>
        </p:txBody>
      </p:sp>
      <p:sp>
        <p:nvSpPr>
          <p:cNvPr id="12" name="TextBox 11"/>
          <p:cNvSpPr txBox="1"/>
          <p:nvPr/>
        </p:nvSpPr>
        <p:spPr>
          <a:xfrm>
            <a:off x="457200" y="6446520"/>
            <a:ext cx="7315200" cy="320040"/>
          </a:xfrm>
          <a:prstGeom prst="rect">
            <a:avLst/>
          </a:prstGeom>
          <a:noFill/>
        </p:spPr>
        <p:txBody>
          <a:bodyPr wrap="square" anchor="t" lIns="0" rIns="0" tIns="0" bIns="0">
            <a:spAutoFit/>
          </a:bodyPr>
          <a:lstStyle/>
          <a:p>
            <a:pPr algn="l"/>
            <a:r>
              <a:rPr sz="1000" b="0">
                <a:solidFill>
                  <a:srgbClr val="5A6474"/>
                </a:solidFill>
                <a:latin typeface="Yu Gothic"/>
              </a:rPr>
              <a:t>AI Company OS｜出典: TechCrunch・CNBC・Benzinga ほか(2026-08-03)｜定期実行114本目</a:t>
            </a:r>
          </a:p>
        </p:txBody>
      </p:sp>
      <p:sp>
        <p:nvSpPr>
          <p:cNvPr id="13" name="TextBox 12"/>
          <p:cNvSpPr txBox="1"/>
          <p:nvPr/>
        </p:nvSpPr>
        <p:spPr>
          <a:xfrm>
            <a:off x="10820095" y="6446520"/>
            <a:ext cx="914400" cy="320040"/>
          </a:xfrm>
          <a:prstGeom prst="rect">
            <a:avLst/>
          </a:prstGeom>
          <a:noFill/>
        </p:spPr>
        <p:txBody>
          <a:bodyPr wrap="square" anchor="t" lIns="0" rIns="0" tIns="0" bIns="0">
            <a:spAutoFit/>
          </a:bodyPr>
          <a:lstStyle/>
          <a:p>
            <a:pPr algn="r"/>
            <a:r>
              <a:rPr sz="1000" b="0">
                <a:solidFill>
                  <a:srgbClr val="5A6474"/>
                </a:solidFill>
                <a:latin typeface="Yu Gothic"/>
              </a:rPr>
              <a:t>30 /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