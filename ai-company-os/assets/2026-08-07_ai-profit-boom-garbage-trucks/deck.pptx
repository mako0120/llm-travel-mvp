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2026年8月7日、BloombergがS&amp;P500企業のAI利益率効果に関する報道をしました。舞台は最先端のAIスタートアップではなく、廃棄物処理業界です。今日はこの発表を出典付きで整理します。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まず結論です。22V Research LLCという調査会社の分析によれば、S&amp;P500の企業のうちおよそ25社が、AIによる利益率への効果を具体的な数値で開示しているといいます。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なぜ今このニュースを扱うのか。2日前という新しい発表であること、そして『地味な業界にまでAI効果が届いている』という意外性のあるフックが理由です。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何が起きたのか整理します。BloombergがS&amp;P500企業のAI利益率効果についてまとめ、具体例としてWaste Connections社の価格設定ツールを取り上げました。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この話を報じているメディアです。Bloombergが主要な出典で、Yahoo Finance・Futunnが同内容を補強しています。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具体的な数字を見てみましょう。Waste ConnectionsのAI価格設定ツールは、年間換算でおよそ2,000万ドルのEBITDA改善効果を生んでいるとされています。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ここで用語を整理します。EBITDAは本業の収益力を測る利益指標、ベーシスポイントは1bp=0.01%という利益率変化の単位です。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Waste Connections社は、北米の廃棄物処理・リサイクル大手です。AI企業ではなく、ゴミ収集トラックを扱う現場産業である点が、今回の話のポイントです。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AI価格設定ツールの効果を整理します。対象は価格設定プロセス、効果は年間約2,000万ドルのEBITDA改善で、すでに実現している効果として報じられています。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2つの数字を並べるとこうなります。全体の平均は180bp、AI単独の効果に絞ると150bpに縮小します。企業の開示方法の違いによるものと考えられます。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AI価格設定ツールがEBITDAを押し上げる大まかな流れです。価格設定の最適化が収益性の改善につながり、それが年間2,000万ドルという効果として現れています。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Waste Connectionsが並行して取り組んでいるのが、AIによるルート最適化です。狙いは走行距離の削減、人員配置の効率化、収集作業の生産性向上の3つです。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重要な注意点です。ルート最適化はまだテスト段階として報じられており、価格設定ツールのように効果が確定した実績ではありません。ここは正確に区別します。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ここまでに出てきた数字をまとめます。25社、180bp、150bp、そして約2,000万ドル。それぞれ意味が異なる数字なので、混同しないよう整理しました。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ここで一度、確認できなかったことを一覧にします。22V Researchの方法論、25社の内訳、測定期間、ルート最適化の進捗、いずれも報道内では確認できていません。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Waste Connectionsの取り組みを時系列的に整理すると、価格設定ツールの導入、EBITDA効果の実現、そして現在進行中のルート最適化のテストという流れです。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この話が意外性を持つ理由を整理します。AI活用の話題はテック企業中心になりがちですが、日常的で身近なゴミ収集の現場にまで、定量的な効果が出ているという点が注目ポイントです。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分析の出所である22V Research LLCについて、分かっていることと分かっていないことを分けて整理します。分析結果の中身は分かる一方、方法論や組織自体の詳細は確認できていません。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ここからは実践的な視点です。投資家にとっては、AI効果の定量開示が業種を問わず広がりつつあること、そして算出方法によって数字が変わりうることが参考になります。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企業のAI導入担当にとっては、地味な業務プロセスこそ効果を測りやすいこと、実現済みと試験中を区別して語ること、測定の仕組みづくりが前提になることが参考になります。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実践的な視点として、区別した測定の仕組み、実現済みと試験中の区別、定型業務からの着手、開示時の算出方法の明確化、この4点の確認をおすすめします。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従来のイメージと今回の報道が示す実態を並べるとこうなります。最先端テック企業中心の議論から、伝統的産業の現場業務にも効果が広がっている実態が見えてきます。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ここで一度、本テーマの扱い方についてお伝えします。見出しは注目を集める表現ですが、本文はWaste Connections1社の事例として扱い、投資推奨や特定企業の推奨はしていません。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この図はあくまで推測です。他の伝統的産業の企業にも定量開示が広がったり、決算報告の標準項目になったりする可能性がありますが、公式な見通しは確認できていません。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最後にもう一度確認します。2026年8月7日、BloombergはS&amp;P500の25社がAIの利益率効果を定量開示していると報じました。Waste Connectionsの事例は具体的ですが、それ以外の詳細は非公表です。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本編は以上です。今回はS&amp;P500の25社がAIの利益率効果を定量開示していること、その具体例としてWaste Connections社を紹介しました。非公開の情報は不明として扱い、推測部分は推測と明記しています。次回もまた出典付きでお届けします。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AIの恩恵は、最先端テック企業だけじゃなかった。</a:t>
            </a:r>
          </a:p>
          <a:p>
            <a:pPr algn="l">
              <a:lnSpc>
                <a:spcPct val="115000"/>
              </a:lnSpc>
            </a:pPr>
            <a:r>
              <a:rPr sz="4200" b="1">
                <a:solidFill>
                  <a:srgbClr val="FFFFFF"/>
                </a:solidFill>
                <a:latin typeface="Yu Gothic"/>
              </a:rPr>
              <a:t>ゴミ収集トラック業界にも、年間2,000万ドルの効果。</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S&amp;P500の25社がAIによる利益率改善を数値で開示。廃棄物処理大手Waste Connections社のAI価格設定ツールは、年間約2,000万ドルのEBITDA改善効果を生んでいる(2026年8月7日 Bloomberg報道)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Bloomberg(2026-08-07)ほか。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S&amp;P500の25社が、AIの利益率効果を数値で開示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調査会社22V Research LLCの分析。平均180ベーシスポイント(他の生産性向上策と区別すると150ベーシスポイント)の利益率向上効果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Bloomberg(2026-08-07)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何が報じられたのか(概要と出典)</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基礎知識: EBITDA・ベーシスポイントとは何か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Waste Connections社の具体的な事例(価格設定ツール・ルート最適化)</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180bpsと150bpsという2つの数字の違い</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確認できなかったこと、読み解く上での注意点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発表は2026年8月7日。着手日(2026年8月9日)から見て2日前の、鮮度の高いニュース</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「AIの恩恵は最先端テック企業だけ」という先入観を覆す、意外性のある組み合わせ</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2,000万ドル・25社・180/150ベーシスポイントという、複数の検証可能な具体的数字がある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出典はBloombergという信頼できる経済メディアで、Yahoo Finance等が同内容を補強している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Bloomberg(2026-08-07)ほか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何が起きたのか(概要)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まず起きたことを整理します。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Bloombergが2026年8月7日、S&amp;P500企業のAI利益率効果に関する報道を行った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調査会社22V Research LLCの分析として、約25社がAIの利益率効果を数値で開示していると紹介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具体例として、廃棄物処理大手Waste Connections社のAI価格設定ツールを取り上げた</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同社は年間約2,000万ドルのEBITDA改善効果をすでに得ているという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確認できる内容</a:t>
                      </a:r>
                    </a:p>
                  </a:txBody>
                  <a:tcPr>
                    <a:solidFill>
                      <a:srgbClr val="1B2A2E"/>
                    </a:solidFill>
                  </a:tcPr>
                </a:tc>
              </a:tr>
              <a:tr h="502920">
                <a:tc>
                  <a:txBody>
                    <a:bodyPr/>
                    <a:lstStyle/>
                    <a:p>
                      <a:pPr>
                        <a:defRPr sz="1200">
                          <a:solidFill>
                            <a:srgbClr val="121C1F"/>
                          </a:solidFill>
                          <a:latin typeface="Yu Gothic"/>
                        </a:defRPr>
                      </a:pPr>
                      <a:r>
                        <a:t>Bloomberg(2026-08-07)</a:t>
                      </a:r>
                    </a:p>
                  </a:txBody>
                  <a:tcPr>
                    <a:solidFill>
                      <a:srgbClr val="FFFFFF"/>
                    </a:solidFill>
                  </a:tcPr>
                </a:tc>
                <a:tc>
                  <a:txBody>
                    <a:bodyPr/>
                    <a:lstStyle/>
                    <a:p>
                      <a:pPr>
                        <a:defRPr sz="1200">
                          <a:solidFill>
                            <a:srgbClr val="121C1F"/>
                          </a:solidFill>
                          <a:latin typeface="Yu Gothic"/>
                        </a:defRPr>
                      </a:pPr>
                      <a:r>
                        <a:t>S&amp;P500企業のAI利益率効果・22V Research分析を報じる記事(主要出典)</a:t>
                      </a:r>
                    </a:p>
                  </a:txBody>
                  <a:tcPr>
                    <a:solidFill>
                      <a:srgbClr val="FFFFFF"/>
                    </a:solidFill>
                  </a:tcPr>
                </a:tc>
              </a:tr>
              <a:tr h="502920">
                <a:tc>
                  <a:txBody>
                    <a:bodyPr/>
                    <a:lstStyle/>
                    <a:p>
                      <a:pPr>
                        <a:defRPr sz="1200">
                          <a:solidFill>
                            <a:srgbClr val="121C1F"/>
                          </a:solidFill>
                          <a:latin typeface="Yu Gothic"/>
                        </a:defRPr>
                      </a:pPr>
                      <a:r>
                        <a:t>Yahoo Finance</a:t>
                      </a:r>
                    </a:p>
                  </a:txBody>
                  <a:tcPr>
                    <a:solidFill>
                      <a:srgbClr val="F0F7F4"/>
                    </a:solidFill>
                  </a:tcPr>
                </a:tc>
                <a:tc>
                  <a:txBody>
                    <a:bodyPr/>
                    <a:lstStyle/>
                    <a:p>
                      <a:pPr>
                        <a:defRPr sz="1200">
                          <a:solidFill>
                            <a:srgbClr val="121C1F"/>
                          </a:solidFill>
                          <a:latin typeface="Yu Gothic"/>
                        </a:defRPr>
                      </a:pPr>
                      <a:r>
                        <a:t>Waste ConnectionsのAI活用に特化した補足記事</a:t>
                      </a:r>
                    </a:p>
                  </a:txBody>
                  <a:tcPr>
                    <a:solidFill>
                      <a:srgbClr val="F0F7F4"/>
                    </a:solidFill>
                  </a:tcPr>
                </a:tc>
              </a:tr>
              <a:tr h="502920">
                <a:tc>
                  <a:txBody>
                    <a:bodyPr/>
                    <a:lstStyle/>
                    <a:p>
                      <a:pPr>
                        <a:defRPr sz="1200">
                          <a:solidFill>
                            <a:srgbClr val="121C1F"/>
                          </a:solidFill>
                          <a:latin typeface="Yu Gothic"/>
                        </a:defRPr>
                      </a:pPr>
                      <a:r>
                        <a:t>Futunn News</a:t>
                      </a:r>
                    </a:p>
                  </a:txBody>
                  <a:tcPr>
                    <a:solidFill>
                      <a:srgbClr val="FFFFFF"/>
                    </a:solidFill>
                  </a:tcPr>
                </a:tc>
                <a:tc>
                  <a:txBody>
                    <a:bodyPr/>
                    <a:lstStyle/>
                    <a:p>
                      <a:pPr>
                        <a:defRPr sz="1200">
                          <a:solidFill>
                            <a:srgbClr val="121C1F"/>
                          </a:solidFill>
                          <a:latin typeface="Yu Gothic"/>
                        </a:defRPr>
                      </a:pPr>
                      <a:r>
                        <a:t>Bloomberg報道の要約・アグリゲーション記事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Waste Connections社の具体的な数字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年間 約2,000万ドル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AI駆動の価格設定ツールが生み出した、annualized(年間換算)のEBITDA改善効果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Bloomberg(2026-08-07)、Yahoo Finance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用語解説1: EBITDA・ベーシスポイントとは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EBITDA: 利払い・税金・償却費を差し引く前の利益。企業の本業の収益力を測る指標の一つ</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「EBITDA改善効果」とは、その利益指標をどれだけ押し上げたかを表す</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ベーシスポイント(bp): 1bp=0.01%。利益率の変化を語る際によく使われる単位</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「180ベーシスポイントの利益率向上」は、利益率が1.8ポイント上がったことを意味する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用語解説2: Waste Connections社とは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登場する企業について整理します。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北米で事業を展開する廃棄物処理・リサイクル大手企業</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ゴミ収集トラックによる収集運搬サービスなどを主力事業とする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AI・先端テック企業ではなく、いわゆる「伝統的な現場産業」に分類される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今回、その同社がAI活用による具体的な利益効果を示した点が注目されている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Bloomberg(2026-08-07)、Yahoo Finance</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AI価格設定ツールが生んだ効果(整理)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対象</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廃棄物処理・収集サービスの価格設定プロセス</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効果</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年間約2,000万ドルのEBITDA改善(annualized)</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位置づけ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すでに実現している効果として報じられている(テスト段階ではない)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Bloomberg(2026-08-07)、Yahoo Finance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180ベーシスポイント / 150ベーシスポイント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180bp(全体の平均)</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AIによる利益率向上効果の平均値</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他の一般的な生産性向上策と区別せずに算出</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S&amp;P500のうち約25社が対象</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150bp(AI単独の効果)</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AIを他の生産性向上策と切り分けて算出</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AI固有の寄与分だけを抜き出した数字</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全体平均よりやや小さい値になる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AI価格設定ツールがEBITDAを押し上げる仕組み(概念図)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価格設定の最適化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AIが需要・コスト等のデータをもとに、より適切な価格設定を支援</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収益性の改善</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サービスごとの利益率が改善する</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EBITDA改善効果</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年間約2,000万ドルの効果として計上される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報道内容から読み取れる概略の流れ。詳細な算出プロセスは非公開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Bloomberg(2026-08-07)、Yahoo Finance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AIルート最適化が狙う3つのこと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走行距離の削減</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不要な走行を減らし、燃料・時間のコストを抑える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人員配置の効率化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労働時間をサービス需要により適切に合わせる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収集作業の生産性向上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1台・1人あたりの収集効率を高める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Bloomberg(2026-08-07)、Yahoo Finance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ルート最適化は「テスト段階」——正確に扱う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誇張しないための注意点です。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報道では、ルート最適化技術は「テスト(試験導入)を進めている」段階として紹介されている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価格設定ツールのように「すでに実現した効果」として数値化されているわけではない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全社的な本格導入が完了しているとは、本調査の範囲では確認できていない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本テーマでは「テスト中」という報道表現をそのまま用い、導入済みであるかのように書かない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登場する数字のまとめ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数字</a:t>
                      </a:r>
                    </a:p>
                  </a:txBody>
                  <a:tcPr>
                    <a:solidFill>
                      <a:srgbClr val="1B2A2E"/>
                    </a:solidFill>
                  </a:tcPr>
                </a:tc>
                <a:tc>
                  <a:txBody>
                    <a:bodyPr/>
                    <a:lstStyle/>
                    <a:p>
                      <a:pPr>
                        <a:defRPr sz="1300" b="1">
                          <a:solidFill>
                            <a:srgbClr val="FFFFFF"/>
                          </a:solidFill>
                          <a:latin typeface="Yu Gothic"/>
                        </a:defRPr>
                      </a:pPr>
                      <a:r>
                        <a:t>意味</a:t>
                      </a:r>
                    </a:p>
                  </a:txBody>
                  <a:tcPr>
                    <a:solidFill>
                      <a:srgbClr val="1B2A2E"/>
                    </a:solidFill>
                  </a:tcPr>
                </a:tc>
              </a:tr>
              <a:tr h="502920">
                <a:tc>
                  <a:txBody>
                    <a:bodyPr/>
                    <a:lstStyle/>
                    <a:p>
                      <a:pPr>
                        <a:defRPr sz="1200">
                          <a:solidFill>
                            <a:srgbClr val="121C1F"/>
                          </a:solidFill>
                          <a:latin typeface="Yu Gothic"/>
                        </a:defRPr>
                      </a:pPr>
                      <a:r>
                        <a:t>25社</a:t>
                      </a:r>
                    </a:p>
                  </a:txBody>
                  <a:tcPr>
                    <a:solidFill>
                      <a:srgbClr val="FFFFFF"/>
                    </a:solidFill>
                  </a:tcPr>
                </a:tc>
                <a:tc>
                  <a:txBody>
                    <a:bodyPr/>
                    <a:lstStyle/>
                    <a:p>
                      <a:pPr>
                        <a:defRPr sz="1200">
                          <a:solidFill>
                            <a:srgbClr val="121C1F"/>
                          </a:solidFill>
                          <a:latin typeface="Yu Gothic"/>
                        </a:defRPr>
                      </a:pPr>
                      <a:r>
                        <a:t>S&amp;P500構成企業のうち、AIの利益率効果を数値で開示している企業数(22V Research分析)</a:t>
                      </a:r>
                    </a:p>
                  </a:txBody>
                  <a:tcPr>
                    <a:solidFill>
                      <a:srgbClr val="FFFFFF"/>
                    </a:solidFill>
                  </a:tcPr>
                </a:tc>
              </a:tr>
              <a:tr h="502920">
                <a:tc>
                  <a:txBody>
                    <a:bodyPr/>
                    <a:lstStyle/>
                    <a:p>
                      <a:pPr>
                        <a:defRPr sz="1200">
                          <a:solidFill>
                            <a:srgbClr val="121C1F"/>
                          </a:solidFill>
                          <a:latin typeface="Yu Gothic"/>
                        </a:defRPr>
                      </a:pPr>
                      <a:r>
                        <a:t>180bp</a:t>
                      </a:r>
                    </a:p>
                  </a:txBody>
                  <a:tcPr>
                    <a:solidFill>
                      <a:srgbClr val="F0F7F4"/>
                    </a:solidFill>
                  </a:tcPr>
                </a:tc>
                <a:tc>
                  <a:txBody>
                    <a:bodyPr/>
                    <a:lstStyle/>
                    <a:p>
                      <a:pPr>
                        <a:defRPr sz="1200">
                          <a:solidFill>
                            <a:srgbClr val="121C1F"/>
                          </a:solidFill>
                          <a:latin typeface="Yu Gothic"/>
                        </a:defRPr>
                      </a:pPr>
                      <a:r>
                        <a:t>AIによる利益率向上効果の平均(他の生産性向上策と区別しない場合)</a:t>
                      </a:r>
                    </a:p>
                  </a:txBody>
                  <a:tcPr>
                    <a:solidFill>
                      <a:srgbClr val="F0F7F4"/>
                    </a:solidFill>
                  </a:tcPr>
                </a:tc>
              </a:tr>
              <a:tr h="502920">
                <a:tc>
                  <a:txBody>
                    <a:bodyPr/>
                    <a:lstStyle/>
                    <a:p>
                      <a:pPr>
                        <a:defRPr sz="1200">
                          <a:solidFill>
                            <a:srgbClr val="121C1F"/>
                          </a:solidFill>
                          <a:latin typeface="Yu Gothic"/>
                        </a:defRPr>
                      </a:pPr>
                      <a:r>
                        <a:t>150bp</a:t>
                      </a:r>
                    </a:p>
                  </a:txBody>
                  <a:tcPr>
                    <a:solidFill>
                      <a:srgbClr val="FFFFFF"/>
                    </a:solidFill>
                  </a:tcPr>
                </a:tc>
                <a:tc>
                  <a:txBody>
                    <a:bodyPr/>
                    <a:lstStyle/>
                    <a:p>
                      <a:pPr>
                        <a:defRPr sz="1200">
                          <a:solidFill>
                            <a:srgbClr val="121C1F"/>
                          </a:solidFill>
                          <a:latin typeface="Yu Gothic"/>
                        </a:defRPr>
                      </a:pPr>
                      <a:r>
                        <a:t>AI単独の寄与分に絞った利益率向上効果の平均</a:t>
                      </a:r>
                    </a:p>
                  </a:txBody>
                  <a:tcPr>
                    <a:solidFill>
                      <a:srgbClr val="FFFFFF"/>
                    </a:solidFill>
                  </a:tcPr>
                </a:tc>
              </a:tr>
              <a:tr h="502920">
                <a:tc>
                  <a:txBody>
                    <a:bodyPr/>
                    <a:lstStyle/>
                    <a:p>
                      <a:pPr>
                        <a:defRPr sz="1200">
                          <a:solidFill>
                            <a:srgbClr val="121C1F"/>
                          </a:solidFill>
                          <a:latin typeface="Yu Gothic"/>
                        </a:defRPr>
                      </a:pPr>
                      <a:r>
                        <a:t>約2,000万ドル</a:t>
                      </a:r>
                    </a:p>
                  </a:txBody>
                  <a:tcPr>
                    <a:solidFill>
                      <a:srgbClr val="F0F7F4"/>
                    </a:solidFill>
                  </a:tcPr>
                </a:tc>
                <a:tc>
                  <a:txBody>
                    <a:bodyPr/>
                    <a:lstStyle/>
                    <a:p>
                      <a:pPr>
                        <a:defRPr sz="1200">
                          <a:solidFill>
                            <a:srgbClr val="121C1F"/>
                          </a:solidFill>
                          <a:latin typeface="Yu Gothic"/>
                        </a:defRPr>
                      </a:pPr>
                      <a:r>
                        <a:t>Waste Connections社のAI価格設定ツールによる年間EBITDA改善効果</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22V Research LLCの分析の完全な方法論(サンプル企業の選定基準・算出方法の詳細)</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AIの利益率効果を開示した25社の完全なリスト(Waste Connections以外の企業名・数字)</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2,000万ドルのEBITDA改善効果が、具体的にどの期間を対象に測定された数字か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AIルート最適化の現時点での進捗(全社的なテストか、一部地域のみか)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Waste Connectionsの取り組みの流れ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AI価格設定ツール導入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価格設定プロセスにAIを活用</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EBITDA効果の実現</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年間約2,000万ドルの改善効果として報告</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ルート最適化のテスト</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走行距離・人員配置の効率化を試験導入中</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なぜ「地味な業界」という切り口が意外性を持つのか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AI活用の話題はテック企業中心になりがち</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生成AI・データセンター等、最先端分野の話題が注目されやすい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ゴミ収集は日常的で身近な業務</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多くの人にとって具体的にイメージしやすい現場作業</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その現場にまで定量的な効果が出ている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AI活用の裾野の広がりを示す具体例として報じられた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22V Research LLCについて分かっていること・分かっていないこと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分析の出所を整理します。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分かっていること: S&amp;P500企業の中でAI利益率効果を分析した調査会社として、Bloomberg記事内で紹介されている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分かっていること: 「25社」「平均180bp」「AI単独では150bp」という分析結果を示している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分かっていないこと: 同社の設立時期・規模・実績など、組織自体の詳細</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分かっていないこと: 分析の元データ・算出方法の詳細な方法論</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これは投資家にとって何を意味するか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AI効果の「定量開示」が広がりつつある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決算等でAIの利益率への寄与を具体的な数値で語る企業が増えている可能性</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業種を問わず注目に値する動き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テック企業に限らず、伝統的産業のAI活用効果も比較検討の対象になりうる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開示方法の違いに注意</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180bpと150bpのように、算出方法次第で数字が変わる点を踏まえて読む必要がある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これは企業のAI導入担当にとって何を意味するか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「地味な業務」こそ効果を測りやすい対象になりうる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価格設定のような定型的な業務プロセスは、AI活用の効果を数値化しやすい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実現済みの効果と試験中の取り組みを分けて語る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Waste Connectionsも価格設定(実現済み)とルート最適化(テスト中)を区別して報告している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定量的な効果測定の仕組みが前提になる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EBITDA等の指標でAI効果を語るには、測定・開示の仕組みづくりが必要</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実践: 自社のAI効果測定を検討する際に確認したいこと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自分の職場に当てはめて考えるための整理です。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AIの効果を、他の生産性向上策と区別して測定できる仕組みがあるかを確認する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「すでに実現した効果」と「試験導入中の取り組み」を分けて記録・報告する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定型的な業務プロセス(価格設定・ルート計画等)から効果測定を始められないか検討する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対外的に数字を開示する際は、算出方法・対象期間を明確にする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AI活用議論の従来のイメージ / 今回の報道が示す実態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従来のイメージ</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生成AI・データセンター等の最先端分野が中心</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テック企業の話題として語られがち</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現場作業への効果は語られにくい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今回の報道が示す実態</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廃棄物処理という伝統的産業にも効果</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S&amp;P500の25社が定量的な効果を開示</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価格設定・ルート計画という現場業務が対象</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誇張回避・特定企業推奨に関する注記</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本テーマの扱い方についてです。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タイトル・冒頭の見出しは注目を集める表現を使っているが、本文の内容自体は誇張していない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「AIの利益効果がゴミ収集トラック業界にも」という切り口はBloomberg報道の内容に基づく事実であり、数字の水増しはしていない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Waste Connections1社の事例であり、S&amp;P500企業全体・業界全体を代表する結論として扱わない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本テーマはWaste Connectionsへの言及を含むが、同社株式・製品の利用を推奨する結論にはしていない</a:t>
            </a:r>
          </a:p>
        </p:txBody>
      </p:sp>
      <p:sp>
        <p:nvSpPr>
          <p:cNvPr id="15" name="Oval 14"/>
          <p:cNvSpPr/>
          <p:nvPr/>
        </p:nvSpPr>
        <p:spPr>
          <a:xfrm>
            <a:off x="457200" y="523036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確認できていない数値(25社の内訳・方法論等)は創作せず、不明として明記している</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今後の展開(推測、概念図)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現在(2026年8月〜)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S&amp;P500の25社がAI利益率効果を定量開示。Waste Connectionsが具体例として報じられる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今後(推測)</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他の伝統的産業の企業も、同様の定量開示を増やす可能性</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将来像(推測)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AI効果の定量開示が決算報告の標準的な項目の一つになる可能性</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この図は当社の推測であり、Bloombergや22V Researchの公式な見通しそのものではない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25社の内訳の開示</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Waste Connections以外の企業名・数字が今後明らかになるかどうか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ルート最適化の本格導入</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テスト段階から本格導入へ進み、追加の効果が数値化されるかどうか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開示基準の標準化</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180bp/150bpのような算出方法の違いが、業界共通の基準に収れんするかどうか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25社の内訳</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Waste Connections以外の企業名・数字が公表されるかどうか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ルート最適化の進捗</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テスト段階から本格導入への移行状況</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決算での言及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各社の決算発表でAI効果への言及が今後増えるかどうか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2026/8/7 Bloomberg報道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S&amp;P500の25社がAIの利益率効果(平均180bp、AI単独では150bp)を定量開示。Waste Connections社のAI価格設定ツールは年間約2,000万ドルのEBITDA改善効果。ルート最適化はテスト段階。25社の内訳・詳細な方法論は非公表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Bloomberg(2026-08-07)ほか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Bloomberg(2026-08-07)</a:t>
                      </a:r>
                    </a:p>
                  </a:txBody>
                  <a:tcPr>
                    <a:solidFill>
                      <a:srgbClr val="FFFFFF"/>
                    </a:solidFill>
                  </a:tcPr>
                </a:tc>
                <a:tc>
                  <a:txBody>
                    <a:bodyPr/>
                    <a:lstStyle/>
                    <a:p>
                      <a:pPr>
                        <a:defRPr sz="1200">
                          <a:solidFill>
                            <a:srgbClr val="121C1F"/>
                          </a:solidFill>
                          <a:latin typeface="Yu Gothic"/>
                        </a:defRPr>
                      </a:pPr>
                      <a:r>
                        <a:t>S&amp;P500企業のAI利益率効果・22V Research分析を報じる記事(主要出典)</a:t>
                      </a:r>
                    </a:p>
                  </a:txBody>
                  <a:tcPr>
                    <a:solidFill>
                      <a:srgbClr val="FFFFFF"/>
                    </a:solidFill>
                  </a:tcPr>
                </a:tc>
              </a:tr>
              <a:tr h="502920">
                <a:tc>
                  <a:txBody>
                    <a:bodyPr/>
                    <a:lstStyle/>
                    <a:p>
                      <a:pPr>
                        <a:defRPr sz="1200">
                          <a:solidFill>
                            <a:srgbClr val="121C1F"/>
                          </a:solidFill>
                          <a:latin typeface="Yu Gothic"/>
                        </a:defRPr>
                      </a:pPr>
                      <a:r>
                        <a:t>Yahoo Finance</a:t>
                      </a:r>
                    </a:p>
                  </a:txBody>
                  <a:tcPr>
                    <a:solidFill>
                      <a:srgbClr val="F0F7F4"/>
                    </a:solidFill>
                  </a:tcPr>
                </a:tc>
                <a:tc>
                  <a:txBody>
                    <a:bodyPr/>
                    <a:lstStyle/>
                    <a:p>
                      <a:pPr>
                        <a:defRPr sz="1200">
                          <a:solidFill>
                            <a:srgbClr val="121C1F"/>
                          </a:solidFill>
                          <a:latin typeface="Yu Gothic"/>
                        </a:defRPr>
                      </a:pPr>
                      <a:r>
                        <a:t>Waste ConnectionsのAI活用に特化した補足記事</a:t>
                      </a:r>
                    </a:p>
                  </a:txBody>
                  <a:tcPr>
                    <a:solidFill>
                      <a:srgbClr val="F0F7F4"/>
                    </a:solidFill>
                  </a:tcPr>
                </a:tc>
              </a:tr>
              <a:tr h="502920">
                <a:tc>
                  <a:txBody>
                    <a:bodyPr/>
                    <a:lstStyle/>
                    <a:p>
                      <a:pPr>
                        <a:defRPr sz="1200">
                          <a:solidFill>
                            <a:srgbClr val="121C1F"/>
                          </a:solidFill>
                          <a:latin typeface="Yu Gothic"/>
                        </a:defRPr>
                      </a:pPr>
                      <a:r>
                        <a:t>Futunn News</a:t>
                      </a:r>
                    </a:p>
                  </a:txBody>
                  <a:tcPr>
                    <a:solidFill>
                      <a:srgbClr val="FFFFFF"/>
                    </a:solidFill>
                  </a:tcPr>
                </a:tc>
                <a:tc>
                  <a:txBody>
                    <a:bodyPr/>
                    <a:lstStyle/>
                    <a:p>
                      <a:pPr>
                        <a:defRPr sz="1200">
                          <a:solidFill>
                            <a:srgbClr val="121C1F"/>
                          </a:solidFill>
                          <a:latin typeface="Yu Gothic"/>
                        </a:defRPr>
                      </a:pPr>
                      <a:r>
                        <a:t>Bloomberg報道の要約・アグリゲーション記事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Bloomberg(2026-08-07)ほか｜151本目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AIの恩恵は、最先端テック企業だけの話じゃなかった。次は、あなたの業界かもしれない。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25社の内訳やルート最適化の進捗が明らかになれば、続報として出典付きでお届けします。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