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2,500社以上、43万4,000件のCI/CDパイプライン。この数字だけ聞くと、今まさに起きている大事件のように聞こえるかもしれません。でも実は、攻撃そのものは5カ月も前に起きていました。今日はセキュリティ企業CloudSEKが2026年8月11日に公開した、この攻撃の真の規模を暴くレポート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結論から言います。AIプロキシツール「LiteLLM」を狙ったサプライチェーン攻撃で、2,500社以上が影響を受けた可能性があると、セキュリティ企業CloudSEKが高確度で特定しました。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要点を5つにまとめました。ポイントは、攻撃が起きたタイミングと、それが発覚したタイミングが違うということです。詳しくは次のスライドで説明します。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日いちばん大事な整理です。攻撃そのものが起きたのは2026年3月、実に5カ月前です。でも、その攻撃が2,500社以上・43万4,000パイプラインに影響したという真の規模が明らかになったのは、2026年8月11日、つまりつい2日前なんです。この2つの日付を混同しない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今日はこの5つの流れでお伝えします。専門用語もかみ砕いて説明するので、セキュリティに詳しくない方でも大丈夫です。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見るとこうなります。攻撃は3月、公開はわずか40分。でも自動化されたCI/CDシステムが次々に取り込んでしまい、20日間も気づかれない状態が続きました。そして規模が明らかになったのは8月11日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LiteLLMは、いろんなAIモデルをまとめて扱えるようにする、いわばAIの交通整理役のようなツールです。多くの企業がビルドの仕組みに組み込んでいたため、被害が広がりやすかったとされています。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経緯を図にするとこうです。侵害されたパッケージを、皮肉にもセキュリティスキャナーであるTrivyが取り込んでしまい、そこから自動化されたパイプラインを通じて一気に広がったとされています。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サプライチェーン攻撃とは、みんなが使う部品を狙う手法です。直接1社を攻撃するより、部品を汚染すれば多数の組織に一度に影響が及びます。今回はまさにその典型例とされています。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攻撃の主体は「Team PCP」という脅威アクターとされています。侵害されたのは2つのバージョン、公開されていたのはわずか40分ほどでした。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当初は短時間の公開で済んだという見方もできましたが、CloudSEKのレポートによって、実際にはずっと大きな規模に広がっていたことが分かりました。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次の数字です。CI/CDパイプラインへの影響は43万4,000件にのぼるとされています。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パッケージの公開自体は40分でしたが、それを取り込んでしまった環境では、約20日間も侵害状態が続いていたとされています。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これがすべての起点です。侵害されたパッケージが公開されていたのは、わずか約40分間でした。それでもこれだけの規模に広がったのが今回の特徴です。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CloudSEKが高確度で影響を受けた可能性があると特定した組織の一部です。誰もが知る大企業が並んでいますが、いずれも可能性があるという位置づけである点は、後ほど改めて説明します。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ここまでの事実を3つのカードに整理しました。攻撃発生・侵入経路・レポート公開日、この3つの日付・経路を混同しないことが大切です。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CloudSEKのレポートは、このような趣旨でまとめられています。あくまで趣旨の紹介であり、原文そのものの引用ではありません。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FBIは2026年7月、盗まれた認証情報が今後悪用される可能性があると警告するアドバイザリーを出していました。これはCloudSEKのレポートより前のタイミングです。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このタイミングも重要です。FBIの警告はCloudSEKのレポートより前、2026年7月に出されています。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拡大の流れを改めて整理するとこうなります。短時間の公開が、自動化の仕組みによって大きな規模に広がった、という構図です。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実際に検討する場合の視点です。自社の環境でLiteLLMや関連ツールを使っているなら、バージョンや認証情報の見直しを検討する価値があります。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ここは特に慎重にお伝えしたい点です。2,500社以上はあくまで可能性のリストであり、実際に被害が出たという確定情報ではありません。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確認できていることと、まだ確認できていないことを分けて整理しました。特に右側は、断定せずに不明として扱うべき点です。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レポートを鵜呑みにせず、留意しておきたい点もあります。CloudSEK自身の分析であり、第三者による独立検証はまだ確認できていません。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今後注目したい点を3つ挙げました。いずれも当社の推測であり、断定はしていません。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今後の展開について3つ挙げましたが、いずれも当社の推測です。断定的な予測ではありません。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最後にもう一度確認します。2,500社以上、43万4,000件のCI/CDパイプライン。これがCloudSEKが2026年8月11日に開示した規模です。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今日お伝えしたかったことを、この一文に集約しました。攻撃発生日とレポート公開日、この2つを区別することが何より大切です。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本編は以上です。今回はLiteLLMサプライチェーン攻撃の規模を暴いたCloudSEKレポートを題材に、攻撃発生日と開示日を明確に区別しながら、出典付きでお伝えしました。次回もまた出典付きでお届けします。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2,500社以上、43万4,000のCI/CDパイプライン。</a:t>
            </a:r>
          </a:p>
          <a:p>
            <a:pPr algn="l">
              <a:lnSpc>
                <a:spcPct val="115000"/>
              </a:lnSpc>
            </a:pPr>
            <a:r>
              <a:rPr sz="4200" b="1">
                <a:solidFill>
                  <a:srgbClr val="FFFFFF"/>
                </a:solidFill>
                <a:latin typeface="Yu Gothic"/>
              </a:rPr>
              <a:t>静かな侵入は、5カ月前からそこにあった。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AIプロキシ「LiteLLM」サプライチェーン攻撃の"真の規模"を暴いたCloudSEKレポート(2026年8月11日公開)を、出典付きで振り返る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CloudSEK公式ブログ・SecurityWeek・The Hacker News・PRNewswire ほか。攻撃発生は2026年3月、規模を明かすレポート公開は2026年8月11日(着手日の2日前)。両者は別の日付であり、本編で明確に区別する。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今回の結論、まず数字から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2,500社以上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CloudSEKが高確度で影響を受けた可能性があると特定した組織数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CloudSEK公式ブログ(2026-08-11)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今回の結論</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この動画の要点を先にまとめます。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セキュリティ企業CloudSEKが2026年8月11日、LiteLLMサプライチェーン攻撃の新規レポートを公開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影響を受けた可能性がある組織は2,500社以上、CI/CDパイプラインは43万4,000件</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攻撃自体は2026年3月に発生、脅威アクター「Team PCP」がPyPIパッケージを侵害</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NVIDIA・AWS・Cisco等、高確度で影響の可能性があるとされた組織に大企業も含まれる</a:t>
            </a:r>
          </a:p>
        </p:txBody>
      </p:sp>
      <p:sp>
        <p:nvSpPr>
          <p:cNvPr id="15" name="Oval 14"/>
          <p:cNvSpPr/>
          <p:nvPr/>
        </p:nvSpPr>
        <p:spPr>
          <a:xfrm>
            <a:off x="457200" y="523036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FBIは2026年7月、盗まれた認証情報の悪用リスクを警告するアドバイザリーを発行済み</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CloudSEK / SecurityWeek / The Hacker News(2026-08-11)</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なぜ今扱うのか——「攻撃発生日」と「開示日」を区別する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攻撃そのもの(2026年3月)</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脅威アクター「Team PCP」がLiteLLMのPyPIパッケージを侵害</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侵害されたパッケージが公開されていたのは約40分間</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5カ月前の出来事であり、単体では鮮度基準を満たさない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規模を暴いたレポート(2026年8月11日)</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CloudSEKが2,500社以上・43万4,000パイプラインという規模を新規開示</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着手日(2026-08-13)の2日前に公開された新しい情報</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本テーマが鮮度基準を満たすのは、このレポート公開日が根拠</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この動画でわかること</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LiteLLMとは何か、サプライチェーン攻撃とは何か(基礎知識)</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攻撃の時系列と侵入経路</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影響を受けた可能性がある組織・規模</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確認されていること・されていないこと</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個人・企業が今チェックすべきこと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時系列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2026年3月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脅威アクター「Team PCP」がLiteLLMのPyPIパッケージ(v1.82.7/1.82.8)を侵害</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約40分間</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侵害されたパッケージがPyPI上で公開状態に。自動化CI/CDが取り込み拡散</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約20日間</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ビルドパイプライン内のTrivyスキャナーが侵入経路となり、侵害状態が継続</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2026年8月11日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CloudSEKが規模(2,500社以上・43万4,000パイプライン)を開示するレポートを公開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そもそも「LiteLLM」とは何か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LiteLLMは、複数のAIモデル(OpenAI・Anthropic等)へのAPI呼び出しを統一的に扱えるオープンソースの「AIプロキシ」ツール</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開発者がコードを大きく変えずに複数のAIモデルを切り替えて使えるようにする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多くの企業がAI開発のビルドパイプライン(CI/CD)に組み込んで利用している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PyPI(Python Package Index)を通じて配布されており、今回はこの配布経路が狙われた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CloudSEK / The Hacker News</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侵入経路(概念図)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LiteLLMのPyPIパッケージ</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v1.82.7/1.82.8が侵害される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ビルドパイプライン内のTrivy</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セキュリティスキャナーが侵入経路に</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CI/CDパイプラインへ拡散</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自動化システムが取り込み、43万4,000件規模に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自動化されたCI/CDシステムが、意図せず侵害を拡大させたとされる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「サプライチェーン攻撃」とは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もう一つ、重要な用語を確認します。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ソフトウェアの部品(ライブラリ・パッケージ)を狙い、それを使う多数の組織へ間接的に被害を広げる攻撃手法</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直接の標的を1社ずつ攻撃するより、効率的に広範囲へ影響を及ぼせる特徴がある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今回はAI開発で広く使われるLiteLLMというパッケージが標的になった</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自動化されたCI/CDが普及した現在、被害が加速度的に拡大しやすいとされる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CloudSEK / SecurityWeek</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攻撃の主体・手口の要点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Team PCP</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脅威アクター名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LiteLLMのPyPIパッケージを侵害したとされる主体</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v1.82.7/1.82.8</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侵害されたバージョン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この2バージョンが侵害されたと報じられている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約40分</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パッケージ公開時間</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侵害パッケージがPyPI上で公開されていた時間</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CloudSEK公式ブログ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以前の認識 vs 現在の認識</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攻撃発生当初(2026年3月〜)の認識</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侵害されたパッケージバージョンが存在したことは把握されていた</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公開時間は約40分と短く、影響は限定的とみられていた可能性</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規模の全体像はまだ明らかになっていなかった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CloudSEKレポート後(2026年8月11日〜)の認識</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2,500社以上・43万4,000パイプラインという規模が新たに判明</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約20日間、侵害状態が続いていたことが明らかに</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自動化CI/CDによる拡散の実態が具体的に示された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CI/CDパイプラインへの影響規模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43万4,000件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CloudSEKが影響を受けた可能性があると分析したCI/CDパイプラインの数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CloudSEK公式ブログ(2026-08-11)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侵害状態が続いた期間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約20日間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ビルドパイプライン内のTrivyスキャナーを通じて侵害状態が継続していたとされる期間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CloudSEK / SecurityWeek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侵害パッケージが公開されていた時間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約40分間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侵害されたLiteLLMパッケージがPyPI上で公開されていた時間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CloudSEK公式ブログ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高確度で影響の可能性があるとされた主な組織</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組織名</a:t>
                      </a:r>
                    </a:p>
                  </a:txBody>
                  <a:tcPr>
                    <a:solidFill>
                      <a:srgbClr val="1B2A2E"/>
                    </a:solidFill>
                  </a:tcPr>
                </a:tc>
                <a:tc>
                  <a:txBody>
                    <a:bodyPr/>
                    <a:lstStyle/>
                    <a:p>
                      <a:pPr>
                        <a:defRPr sz="1300" b="1">
                          <a:solidFill>
                            <a:srgbClr val="FFFFFF"/>
                          </a:solidFill>
                          <a:latin typeface="Yu Gothic"/>
                        </a:defRPr>
                      </a:pPr>
                      <a:r>
                        <a:t>分野</a:t>
                      </a:r>
                    </a:p>
                  </a:txBody>
                  <a:tcPr>
                    <a:solidFill>
                      <a:srgbClr val="1B2A2E"/>
                    </a:solidFill>
                  </a:tcPr>
                </a:tc>
              </a:tr>
              <a:tr h="502920">
                <a:tc>
                  <a:txBody>
                    <a:bodyPr/>
                    <a:lstStyle/>
                    <a:p>
                      <a:pPr>
                        <a:defRPr sz="1200">
                          <a:solidFill>
                            <a:srgbClr val="121C1F"/>
                          </a:solidFill>
                          <a:latin typeface="Yu Gothic"/>
                        </a:defRPr>
                      </a:pPr>
                      <a:r>
                        <a:t>NVIDIA</a:t>
                      </a:r>
                    </a:p>
                  </a:txBody>
                  <a:tcPr>
                    <a:solidFill>
                      <a:srgbClr val="FFFFFF"/>
                    </a:solidFill>
                  </a:tcPr>
                </a:tc>
                <a:tc>
                  <a:txBody>
                    <a:bodyPr/>
                    <a:lstStyle/>
                    <a:p>
                      <a:pPr>
                        <a:defRPr sz="1200">
                          <a:solidFill>
                            <a:srgbClr val="121C1F"/>
                          </a:solidFill>
                          <a:latin typeface="Yu Gothic"/>
                        </a:defRPr>
                      </a:pPr>
                      <a:r>
                        <a:t>半導体・AIインフラ</a:t>
                      </a:r>
                    </a:p>
                  </a:txBody>
                  <a:tcPr>
                    <a:solidFill>
                      <a:srgbClr val="FFFFFF"/>
                    </a:solidFill>
                  </a:tcPr>
                </a:tc>
              </a:tr>
              <a:tr h="502920">
                <a:tc>
                  <a:txBody>
                    <a:bodyPr/>
                    <a:lstStyle/>
                    <a:p>
                      <a:pPr>
                        <a:defRPr sz="1200">
                          <a:solidFill>
                            <a:srgbClr val="121C1F"/>
                          </a:solidFill>
                          <a:latin typeface="Yu Gothic"/>
                        </a:defRPr>
                      </a:pPr>
                      <a:r>
                        <a:t>AWS(Amazon Web Services)</a:t>
                      </a:r>
                    </a:p>
                  </a:txBody>
                  <a:tcPr>
                    <a:solidFill>
                      <a:srgbClr val="F0F7F4"/>
                    </a:solidFill>
                  </a:tcPr>
                </a:tc>
                <a:tc>
                  <a:txBody>
                    <a:bodyPr/>
                    <a:lstStyle/>
                    <a:p>
                      <a:pPr>
                        <a:defRPr sz="1200">
                          <a:solidFill>
                            <a:srgbClr val="121C1F"/>
                          </a:solidFill>
                          <a:latin typeface="Yu Gothic"/>
                        </a:defRPr>
                      </a:pPr>
                      <a:r>
                        <a:t>クラウドインフラ</a:t>
                      </a:r>
                    </a:p>
                  </a:txBody>
                  <a:tcPr>
                    <a:solidFill>
                      <a:srgbClr val="F0F7F4"/>
                    </a:solidFill>
                  </a:tcPr>
                </a:tc>
              </a:tr>
              <a:tr h="502920">
                <a:tc>
                  <a:txBody>
                    <a:bodyPr/>
                    <a:lstStyle/>
                    <a:p>
                      <a:pPr>
                        <a:defRPr sz="1200">
                          <a:solidFill>
                            <a:srgbClr val="121C1F"/>
                          </a:solidFill>
                          <a:latin typeface="Yu Gothic"/>
                        </a:defRPr>
                      </a:pPr>
                      <a:r>
                        <a:t>Cisco Systems</a:t>
                      </a:r>
                    </a:p>
                  </a:txBody>
                  <a:tcPr>
                    <a:solidFill>
                      <a:srgbClr val="FFFFFF"/>
                    </a:solidFill>
                  </a:tcPr>
                </a:tc>
                <a:tc>
                  <a:txBody>
                    <a:bodyPr/>
                    <a:lstStyle/>
                    <a:p>
                      <a:pPr>
                        <a:defRPr sz="1200">
                          <a:solidFill>
                            <a:srgbClr val="121C1F"/>
                          </a:solidFill>
                          <a:latin typeface="Yu Gothic"/>
                        </a:defRPr>
                      </a:pPr>
                      <a:r>
                        <a:t>ネットワーク機器</a:t>
                      </a:r>
                    </a:p>
                  </a:txBody>
                  <a:tcPr>
                    <a:solidFill>
                      <a:srgbClr val="FFFFFF"/>
                    </a:solidFill>
                  </a:tcPr>
                </a:tc>
              </a:tr>
              <a:tr h="502920">
                <a:tc>
                  <a:txBody>
                    <a:bodyPr/>
                    <a:lstStyle/>
                    <a:p>
                      <a:pPr>
                        <a:defRPr sz="1200">
                          <a:solidFill>
                            <a:srgbClr val="121C1F"/>
                          </a:solidFill>
                          <a:latin typeface="Yu Gothic"/>
                        </a:defRPr>
                      </a:pPr>
                      <a:r>
                        <a:t>Salesforce</a:t>
                      </a:r>
                    </a:p>
                  </a:txBody>
                  <a:tcPr>
                    <a:solidFill>
                      <a:srgbClr val="F0F7F4"/>
                    </a:solidFill>
                  </a:tcPr>
                </a:tc>
                <a:tc>
                  <a:txBody>
                    <a:bodyPr/>
                    <a:lstStyle/>
                    <a:p>
                      <a:pPr>
                        <a:defRPr sz="1200">
                          <a:solidFill>
                            <a:srgbClr val="121C1F"/>
                          </a:solidFill>
                          <a:latin typeface="Yu Gothic"/>
                        </a:defRPr>
                      </a:pPr>
                      <a:r>
                        <a:t>クラウドソフトウェア</a:t>
                      </a:r>
                    </a:p>
                  </a:txBody>
                  <a:tcPr>
                    <a:solidFill>
                      <a:srgbClr val="F0F7F4"/>
                    </a:solidFill>
                  </a:tcPr>
                </a:tc>
              </a:tr>
              <a:tr h="502920">
                <a:tc>
                  <a:txBody>
                    <a:bodyPr/>
                    <a:lstStyle/>
                    <a:p>
                      <a:pPr>
                        <a:defRPr sz="1200">
                          <a:solidFill>
                            <a:srgbClr val="121C1F"/>
                          </a:solidFill>
                          <a:latin typeface="Yu Gothic"/>
                        </a:defRPr>
                      </a:pPr>
                      <a:r>
                        <a:t>Siemens AG</a:t>
                      </a:r>
                    </a:p>
                  </a:txBody>
                  <a:tcPr>
                    <a:solidFill>
                      <a:srgbClr val="FFFFFF"/>
                    </a:solidFill>
                  </a:tcPr>
                </a:tc>
                <a:tc>
                  <a:txBody>
                    <a:bodyPr/>
                    <a:lstStyle/>
                    <a:p>
                      <a:pPr>
                        <a:defRPr sz="1200">
                          <a:solidFill>
                            <a:srgbClr val="121C1F"/>
                          </a:solidFill>
                          <a:latin typeface="Yu Gothic"/>
                        </a:defRPr>
                      </a:pPr>
                      <a:r>
                        <a:t>産業機器</a:t>
                      </a:r>
                    </a:p>
                  </a:txBody>
                  <a:tcPr>
                    <a:solidFill>
                      <a:srgbClr val="FFFFFF"/>
                    </a:solidFill>
                  </a:tcPr>
                </a:tc>
              </a:tr>
              <a:tr h="502920">
                <a:tc>
                  <a:txBody>
                    <a:bodyPr/>
                    <a:lstStyle/>
                    <a:p>
                      <a:pPr>
                        <a:defRPr sz="1200">
                          <a:solidFill>
                            <a:srgbClr val="121C1F"/>
                          </a:solidFill>
                          <a:latin typeface="Yu Gothic"/>
                        </a:defRPr>
                      </a:pPr>
                      <a:r>
                        <a:t>X Corp</a:t>
                      </a:r>
                    </a:p>
                  </a:txBody>
                  <a:tcPr>
                    <a:solidFill>
                      <a:srgbClr val="F0F7F4"/>
                    </a:solidFill>
                  </a:tcPr>
                </a:tc>
                <a:tc>
                  <a:txBody>
                    <a:bodyPr/>
                    <a:lstStyle/>
                    <a:p>
                      <a:pPr>
                        <a:defRPr sz="1200">
                          <a:solidFill>
                            <a:srgbClr val="121C1F"/>
                          </a:solidFill>
                          <a:latin typeface="Yu Gothic"/>
                        </a:defRPr>
                      </a:pPr>
                      <a:r>
                        <a:t>SNSプラットフォーム</a:t>
                      </a:r>
                    </a:p>
                  </a:txBody>
                  <a:tcPr>
                    <a:solidFill>
                      <a:srgbClr val="F0F7F4"/>
                    </a:solidFill>
                  </a:tcPr>
                </a:tc>
              </a:tr>
              <a:tr h="502920">
                <a:tc>
                  <a:txBody>
                    <a:bodyPr/>
                    <a:lstStyle/>
                    <a:p>
                      <a:pPr>
                        <a:defRPr sz="1200">
                          <a:solidFill>
                            <a:srgbClr val="121C1F"/>
                          </a:solidFill>
                          <a:latin typeface="Yu Gothic"/>
                        </a:defRPr>
                      </a:pPr>
                      <a:r>
                        <a:t>Orange S.A.</a:t>
                      </a:r>
                    </a:p>
                  </a:txBody>
                  <a:tcPr>
                    <a:solidFill>
                      <a:srgbClr val="FFFFFF"/>
                    </a:solidFill>
                  </a:tcPr>
                </a:tc>
                <a:tc>
                  <a:txBody>
                    <a:bodyPr/>
                    <a:lstStyle/>
                    <a:p>
                      <a:pPr>
                        <a:defRPr sz="1200">
                          <a:solidFill>
                            <a:srgbClr val="121C1F"/>
                          </a:solidFill>
                          <a:latin typeface="Yu Gothic"/>
                        </a:defRPr>
                      </a:pPr>
                      <a:r>
                        <a:t>通信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CloudSEK公式ブログ(2026-08-11)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攻撃の主要事実</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2026年3月</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攻撃発生月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PyPIパッケージが侵害された時期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Trivy</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侵入経路</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ビルドパイプライン内のセキュリティスキャナーが経路に</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2026-08-11</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レポート公開日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規模を明かすCloudSEKレポートの公開日</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“2,500社以上、43万4,000件のCI/CDパイプラインが、2026年最大級のAIサプライチェーン侵害にさらされた。”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FE8DE"/>
                </a:solidFill>
                <a:latin typeface="Yu Gothic"/>
              </a:rPr>
              <a:t>— CloudSEKレポートの趣旨(複数媒体経由、意訳)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FBIによる警告</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この件をめぐっては、FBIも動いています。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FBIは2026年7月、FLASHアドバイザリーを発行</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盗まれた認証情報が、今後の攻撃に悪用される可能性があると警告</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アドバイザリーの発行はCloudSEKレポートの公開(8月11日)より前の2026年7月</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法執行機関はレポート公開前から一定のリスクを把握していたとみられる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FBI FLASHアドバイザリー(2026年7月)経由の報道</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FBIアドバイザリーの発行時期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2026年7月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FBIが盗まれた認証情報の悪用リスクを警告するFLASHアドバイザリーを発行した時期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複数媒体経由の報道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被害はどう拡大したのか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侵害パッケージが公開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PyPI上でわずか約40分間、侵害バージョンが公開状態に</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自動化CI/CDが取り込み</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多数のビルドパイプラインが自動的にパッケージを取得</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Trivy経由で侵入が継続</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セキュリティスキャナー自体が侵入経路となり約20日間継続</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規模が判明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2026年8月11日、CloudSEKが2,500社以上への影響を開示</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これで何が変わるか、どう使えるか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視聴者・企業が具体的に検討すべきことです。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自社がLiteLLMのバージョン1.82.7・1.82.8を利用していないか確認する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ビルドパイプライン内のセキュリティスキャナー(Trivy等)の設定・利用状況を点検する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CI/CDで使われる認証情報(トークン等)のローテーション・見直しを検討する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FBIのFLASHアドバイザリーなど公式情報を確認し、自社の対応方針を検討する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このニュースを見る上での注意点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断定せずに受け止めたい点を整理します。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「2,500社以上」は影響を受けた可能性がある組織のリストであり、実害の確定情報ではない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名指しされた企業からの公式コメント・反応は確認できていない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攻撃発生(3月)とレポート公開(8月11日)の日付を混同しないよう注意する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複数の独立した媒体が一致して報じているが、レポート原文の全文精査までは行っていない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確認されていること vs されていないこと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確認されていること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攻撃発生時期(2026年3月)・侵害バージョン(v1.82.7/1.82.8)</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CloudSEKレポートの公開日(2026年8月11日)</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FBIによるFLASHアドバイザリーの発行(2026年7月)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確認されていないこと</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各企業が実際に被害を受けたかどうかの確定情報</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名指しされた企業からの公式コメント・反応</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影響を受けた組織の完全なリスト・業界別内訳</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各企業の実害の有無</a:t>
                      </a:r>
                    </a:p>
                  </a:txBody>
                  <a:tcPr>
                    <a:solidFill>
                      <a:srgbClr val="FFFFFF"/>
                    </a:solidFill>
                  </a:tcPr>
                </a:tc>
                <a:tc>
                  <a:txBody>
                    <a:bodyPr/>
                    <a:lstStyle/>
                    <a:p>
                      <a:pPr>
                        <a:defRPr sz="1200">
                          <a:solidFill>
                            <a:srgbClr val="121C1F"/>
                          </a:solidFill>
                          <a:latin typeface="Yu Gothic"/>
                        </a:defRPr>
                      </a:pPr>
                      <a:r>
                        <a:t>非公表・未確認(潜在的に影響を受けた可能性がある組織リストにとどまる)</a:t>
                      </a:r>
                    </a:p>
                  </a:txBody>
                  <a:tcPr>
                    <a:solidFill>
                      <a:srgbClr val="FFFFFF"/>
                    </a:solidFill>
                  </a:tcPr>
                </a:tc>
              </a:tr>
              <a:tr h="502920">
                <a:tc>
                  <a:txBody>
                    <a:bodyPr/>
                    <a:lstStyle/>
                    <a:p>
                      <a:pPr>
                        <a:defRPr sz="1200">
                          <a:solidFill>
                            <a:srgbClr val="121C1F"/>
                          </a:solidFill>
                          <a:latin typeface="Yu Gothic"/>
                        </a:defRPr>
                      </a:pPr>
                      <a:r>
                        <a:t>名指しされた企業の公式コメント</a:t>
                      </a:r>
                    </a:p>
                  </a:txBody>
                  <a:tcPr>
                    <a:solidFill>
                      <a:srgbClr val="F0F7F4"/>
                    </a:solidFill>
                  </a:tcPr>
                </a:tc>
                <a:tc>
                  <a:txBody>
                    <a:bodyPr/>
                    <a:lstStyle/>
                    <a:p>
                      <a:pPr>
                        <a:defRPr sz="1200">
                          <a:solidFill>
                            <a:srgbClr val="121C1F"/>
                          </a:solidFill>
                          <a:latin typeface="Yu Gothic"/>
                        </a:defRPr>
                      </a:pPr>
                      <a:r>
                        <a:t>本調査時点では確認できず</a:t>
                      </a:r>
                    </a:p>
                  </a:txBody>
                  <a:tcPr>
                    <a:solidFill>
                      <a:srgbClr val="F0F7F4"/>
                    </a:solidFill>
                  </a:tcPr>
                </a:tc>
              </a:tr>
              <a:tr h="502920">
                <a:tc>
                  <a:txBody>
                    <a:bodyPr/>
                    <a:lstStyle/>
                    <a:p>
                      <a:pPr>
                        <a:defRPr sz="1200">
                          <a:solidFill>
                            <a:srgbClr val="121C1F"/>
                          </a:solidFill>
                          <a:latin typeface="Yu Gothic"/>
                        </a:defRPr>
                      </a:pPr>
                      <a:r>
                        <a:t>影響組織の完全なリスト・業界別内訳</a:t>
                      </a:r>
                    </a:p>
                  </a:txBody>
                  <a:tcPr>
                    <a:solidFill>
                      <a:srgbClr val="FFFFFF"/>
                    </a:solidFill>
                  </a:tcPr>
                </a:tc>
                <a:tc>
                  <a:txBody>
                    <a:bodyPr/>
                    <a:lstStyle/>
                    <a:p>
                      <a:pPr>
                        <a:defRPr sz="1200">
                          <a:solidFill>
                            <a:srgbClr val="121C1F"/>
                          </a:solidFill>
                          <a:latin typeface="Yu Gothic"/>
                        </a:defRPr>
                      </a:pPr>
                      <a:r>
                        <a:t>非公表・未確認</a:t>
                      </a:r>
                    </a:p>
                  </a:txBody>
                  <a:tcPr>
                    <a:solidFill>
                      <a:srgbClr val="FFFFFF"/>
                    </a:solidFill>
                  </a:tcPr>
                </a:tc>
              </a:tr>
              <a:tr h="502920">
                <a:tc>
                  <a:txBody>
                    <a:bodyPr/>
                    <a:lstStyle/>
                    <a:p>
                      <a:pPr>
                        <a:defRPr sz="1200">
                          <a:solidFill>
                            <a:srgbClr val="121C1F"/>
                          </a:solidFill>
                          <a:latin typeface="Yu Gothic"/>
                        </a:defRPr>
                      </a:pPr>
                      <a:r>
                        <a:t>今後の対応・パッチ適用状況</a:t>
                      </a:r>
                    </a:p>
                  </a:txBody>
                  <a:tcPr>
                    <a:solidFill>
                      <a:srgbClr val="F0F7F4"/>
                    </a:solidFill>
                  </a:tcPr>
                </a:tc>
                <a:tc>
                  <a:txBody>
                    <a:bodyPr/>
                    <a:lstStyle/>
                    <a:p>
                      <a:pPr>
                        <a:defRPr sz="1200">
                          <a:solidFill>
                            <a:srgbClr val="121C1F"/>
                          </a:solidFill>
                          <a:latin typeface="Yu Gothic"/>
                        </a:defRPr>
                      </a:pPr>
                      <a:r>
                        <a:t>非公表・未確認</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慎重な見方・留意しておきたい視点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一方的な受け止めにならないよう、留意点も挙げます。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CloudSEKは民間セキュリティ企業であり、レポートの手法・精度は第三者による独立検証を経ていない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「高確度で影響の可能性がある」という表現は、確定的な侵害の証明ではない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自動化ツールによる推定であり、実際のログ・被害調査に基づく確認とは性質が異なる可能性がある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報道各社は同じCloudSEKレポートを引用元としており、独立取材による裏付けとは限らない点に留意</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名指し企業の反応</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NVIDIA・AWS等からの公式コメントが出るか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パッチ・対応状況</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LiteLLM側・利用企業側の対応が明らかになるか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被害の実態調査</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実際の被害範囲が今後の調査で判明するか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今後の展開(推測)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追加コメントの可能性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名指しされた企業から公式な見解が出る可能性がある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業界的な点検の広がり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他社もCI/CDのセキュリティスキャナー利用を点検する可能性がある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規制・監督の議論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AI開発サプライチェーンのセキュリティ基準の議論が進む可能性がある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CloudSEK公式ブログ・SecurityWeek・The Hacker News ほか(攻撃発生2026年3月・規模開示2026年8月11日)｜定期実行192本目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2,500社以上 / 43万4,000件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LiteLLMサプライチェーン攻撃で影響を受けた可能性がある組織数とCI/CDパイプライン数(CloudSEK、2026-08-11開示)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CloudSEK公式ブログ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“攻撃が起きたのは3月。でも、その本当の大きさが分かったのは、つい2日前だった。”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FE8DE"/>
                </a:solidFill>
                <a:latin typeface="Yu Gothic"/>
              </a:rPr>
              <a:t>—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似た「発覚型」ニュースほど、発生日と開示日を区別する。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「いつ起きたか」と「いつ分かったか」を分けて捉える姿勢を、次に似た話題を見るときも持ってみてください。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