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杯の悲劇から54日、ついに帰ってきました。日本代表MF久保建英選手が、レアル・ソシエダのプレシーズンマッチで実戦復帰を果たしたと、2026年8月9日、複数のメディアが報じました。W杯オランダ戦での左膝負傷から54日ぶりの復帰で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久保選手・レアル・ソシエダ・ラ・リーガとは何か、負傷から復帰までの時系列、復帰戦での様子、確認できたこと・できなかったこと、そして本テーマが鮮度基準の例外運用であることについて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久保建英選手が、ケルンとのプレシーズンマッチで実戦復帰を果たしました。左膝にテーピングを巻いて61分から出場し、約30分間プレーしました。W杯オランダ戦での負傷から54日ぶりの復帰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復帰概要を表にまとめました。対戦相手はケルン、61分から途中出場して約30分間プレーしました。左膝にテーピングを巻いての出場で、負傷から54日ぶりの復帰です。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久保建英選手とはどんな選手か紹介します。スペイン・ラ・リーガのレアル・ソシエダに所属するMFで、日本代表の主力選手です。今回はW杯での負傷からの復帰が話題になっています。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初心者向けに説明します。ラ・リーガはスペインの1部リーグで、レアル・ソシエダはそこに所属するクラブです。久保選手はこのクラブの主力選手として活躍してきました。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プレシーズンマッチについて説明します。公式戦開幕前の練習試合で、コンディションや戦術を確認する場です。今回、久保選手が実戦復帰する場として使われました。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負傷から復帰までの時系列を示します。6月15日のW杯オランダ戦で左膝を負傷し、大会中は出場しませんでした。8月8日、ケルンとのプレシーズンマッチで実戦復帰を果たしました。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負傷から復帰までの日数は54日です。W杯オランダ戦での負傷から、ケルン戦での実戦復帰まで、この期間がかかったと報じられています。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W杯オランダ戦での負傷について整理します。初戦でタックルを受けて左膝を負傷し、大会中はそのままピッチに立つことなく終えていたと報じられています。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オランダ戦での負傷とその後の影響について説明します。大会中は出場することなくW杯を終えていました。負傷の詳細な診断名は確認できていないため、報道された範囲の事実のみを扱います。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復帰戦では61分から途中出場しました。左膝にテーピングを巻いての出場で、約30分間プレーしたと報じられています。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復帰戦での様子を紹介します。61分から途中出場し、約30分間プレーしました。左膝にはテーピングが巻かれていました。スペインの大手紙が高評価を報じたとされています。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スペイン紙の評価について慎重に扱います。局面を打開するプレーを披露したと高評価されたと報じられていますが、紙名は情報源により表記が異なる可能性があるため、断定的な引用は避けます。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確定事実をまとめました。ケルン戦で61分から途中出場し約30分間プレー、左膝にテーピングを巻いての出場、負傷から54日での復帰です。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初心者向けに、サッカー選手の負傷からの復帰の一般的な流れを説明します。負傷、リハビリ、実戦復帰、公式戦復帰の順に進みます。久保選手は現在、実戦復帰の段階です。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W杯オランダ戦と復帰戦を比較します。オランダ戦では負傷し大会中の出場はありませんでしたが、ケルン戦では61分から途中出場し約30分間プレーしました。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テーピングの目的について、予防目的なのか、完治前の保護目的なのか、明確な公式見解は本調査の範囲では確認できていません。推測で断定せず、不明として扱います。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今後の公式戦復帰時期について、今回はあくまでプレシーズンマッチでの出場であり、ラ・リーガ等の公式戦への復帰時期の見通しは確認できていません。推測での言及は行いません。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久保選手本人のコメント・心境については、本調査の範囲では確認できていません。架空の発言や心境の推測は一切作成せず、不明として扱います。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確認できたこと・できなかったことを一覧にしました。実戦復帰の事実や54日という日数は複数媒体で確認できていますが、テーピングの目的・公式戦復帰時期・本人のコメントは未確認です。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今回最も重要な開示です。本テーマの発表は着手日から3日前であり、通常の鮮度基準を満たしていません。7件前後のクエリを試みても2日以内の候補が見つからなかったため、例外的最終手段として正直に開示した上で採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round97評価表からの開示です。評価スコアは71/100で、物語構造と著名性が評価されました。同ラウンドの候補1は鮮度基準を満たして先に採用されており、本テーマは例外運用であることを明記します。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既存テーマとの関係を確認しました。久保建英選手を主題とした既存テーマはなく、他の日本人選手を扱ったテーマとも対象選手が異なるため重複ではありません。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公平性・配慮について開示します。実在の選手名・クラブ名はテキストのみで扱い、心境についての推測は行っていません。負傷という繊細な話題のため、重さの誇張・矮小化のいずれも避けています。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出典一覧です。ライブドアニュース、スポーツ報知、サッカーダイジェストWeb、Yahoo!ニュースという複数の情報源で報じられています。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復帰戦でのプレー時間は約30分間でした。61分から途中出場し、試合終了までプレーしたと報じられています。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これで何が変わるか整理します。実戦復帰そのものは確認できましたが、公式戦復帰の時期はまだわかりません。次の練習試合や公式戦での出場有無、続報に注目です。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久保建英選手は、公式戦にいつ戻ってくるのでしょうか。確認できたこと・できなかったことを区別しながら、続報を注目していきましょう。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久保建英選手がケルンとのプレシーズンマッチで実戦復帰を果たしたと報じられました。W杯オランダ戦での負傷から54日ぶりの復帰です。本テーマが鮮度基準の例外運用であることも正直にお伝えしました。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W杯の悲劇から54日、ついに帰ってきた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久保建英選手(レアル・ソシエダ)、W杯オランダ戦での左膝負傷から54日ぶりに実戦復帰</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ライブドアニュース・スポーツ報知・サッカーダイジェストWeb・Yahoo!ニュース(2026-08-09)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何が起きたのか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久保建英選手・レアル・ソシエダ・ラ・リーガとは</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W杯オランダ戦での負傷から復帰までの時系列</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復帰戦での様子(テーピング・プレー内容)</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確認できたこと・できなかったこと</a:t>
            </a:r>
          </a:p>
        </p:txBody>
      </p:sp>
      <p:sp>
        <p:nvSpPr>
          <p:cNvPr id="15" name="Oval 14"/>
          <p:cNvSpPr/>
          <p:nvPr/>
        </p:nvSpPr>
        <p:spPr>
          <a:xfrm>
            <a:off x="548640" y="58064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3E3C9"/>
                </a:solidFill>
                <a:latin typeface="Yu Gothic"/>
              </a:rPr>
              <a:t>本テーマが鮮度基準の例外運用であることについて</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何が起きたのか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レアル・ソシエダの日本代表MF久保建英選手が、ケルンとのプレシーズンマッチで実戦復帰を果たした</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左膝にテーピングを巻いて61分から途中出場し、約30分間プレーした</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久保選手は北中米W杯初戦のオランダ戦(6月15日)で左膝を負傷し、大会中は出場しなかった</a:t>
            </a:r>
          </a:p>
        </p:txBody>
      </p:sp>
      <p:sp>
        <p:nvSpPr>
          <p:cNvPr id="12" name="Oval 11"/>
          <p:cNvSpPr/>
          <p:nvPr/>
        </p:nvSpPr>
        <p:spPr>
          <a:xfrm>
            <a:off x="457200" y="38130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負傷から54日ぶりの実戦復帰となった</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ライブドアニュース・スポーツ報知(2026-08-09)</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復帰概要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選手名</a:t>
                      </a:r>
                    </a:p>
                  </a:txBody>
                  <a:tcPr>
                    <a:solidFill>
                      <a:srgbClr val="FFFFFF"/>
                    </a:solidFill>
                  </a:tcPr>
                </a:tc>
                <a:tc>
                  <a:txBody>
                    <a:bodyPr/>
                    <a:lstStyle/>
                    <a:p>
                      <a:pPr>
                        <a:defRPr sz="1200">
                          <a:solidFill>
                            <a:srgbClr val="2A1712"/>
                          </a:solidFill>
                          <a:latin typeface="Yu Gothic"/>
                        </a:defRPr>
                      </a:pPr>
                      <a:r>
                        <a:t>久保建英(日本代表MF、レアル・ソシエダ所属)</a:t>
                      </a:r>
                    </a:p>
                  </a:txBody>
                  <a:tcPr>
                    <a:solidFill>
                      <a:srgbClr val="FFFFFF"/>
                    </a:solidFill>
                  </a:tcPr>
                </a:tc>
              </a:tr>
              <a:tr h="502920">
                <a:tc>
                  <a:txBody>
                    <a:bodyPr/>
                    <a:lstStyle/>
                    <a:p>
                      <a:pPr>
                        <a:defRPr sz="1200">
                          <a:solidFill>
                            <a:srgbClr val="2A1712"/>
                          </a:solidFill>
                          <a:latin typeface="Yu Gothic"/>
                        </a:defRPr>
                      </a:pPr>
                      <a:r>
                        <a:t>対戦相手</a:t>
                      </a:r>
                    </a:p>
                  </a:txBody>
                  <a:tcPr>
                    <a:solidFill>
                      <a:srgbClr val="FBF3E6"/>
                    </a:solidFill>
                  </a:tcPr>
                </a:tc>
                <a:tc>
                  <a:txBody>
                    <a:bodyPr/>
                    <a:lstStyle/>
                    <a:p>
                      <a:pPr>
                        <a:defRPr sz="1200">
                          <a:solidFill>
                            <a:srgbClr val="2A1712"/>
                          </a:solidFill>
                          <a:latin typeface="Yu Gothic"/>
                        </a:defRPr>
                      </a:pPr>
                      <a:r>
                        <a:t>ケルン(プレシーズンマッチ)</a:t>
                      </a:r>
                    </a:p>
                  </a:txBody>
                  <a:tcPr>
                    <a:solidFill>
                      <a:srgbClr val="FBF3E6"/>
                    </a:solidFill>
                  </a:tcPr>
                </a:tc>
              </a:tr>
              <a:tr h="502920">
                <a:tc>
                  <a:txBody>
                    <a:bodyPr/>
                    <a:lstStyle/>
                    <a:p>
                      <a:pPr>
                        <a:defRPr sz="1200">
                          <a:solidFill>
                            <a:srgbClr val="2A1712"/>
                          </a:solidFill>
                          <a:latin typeface="Yu Gothic"/>
                        </a:defRPr>
                      </a:pPr>
                      <a:r>
                        <a:t>出場時間</a:t>
                      </a:r>
                    </a:p>
                  </a:txBody>
                  <a:tcPr>
                    <a:solidFill>
                      <a:srgbClr val="FFFFFF"/>
                    </a:solidFill>
                  </a:tcPr>
                </a:tc>
                <a:tc>
                  <a:txBody>
                    <a:bodyPr/>
                    <a:lstStyle/>
                    <a:p>
                      <a:pPr>
                        <a:defRPr sz="1200">
                          <a:solidFill>
                            <a:srgbClr val="2A1712"/>
                          </a:solidFill>
                          <a:latin typeface="Yu Gothic"/>
                        </a:defRPr>
                      </a:pPr>
                      <a:r>
                        <a:t>61分から途中出場、約30分間プレー</a:t>
                      </a:r>
                    </a:p>
                  </a:txBody>
                  <a:tcPr>
                    <a:solidFill>
                      <a:srgbClr val="FFFFFF"/>
                    </a:solidFill>
                  </a:tcPr>
                </a:tc>
              </a:tr>
              <a:tr h="502920">
                <a:tc>
                  <a:txBody>
                    <a:bodyPr/>
                    <a:lstStyle/>
                    <a:p>
                      <a:pPr>
                        <a:defRPr sz="1200">
                          <a:solidFill>
                            <a:srgbClr val="2A1712"/>
                          </a:solidFill>
                          <a:latin typeface="Yu Gothic"/>
                        </a:defRPr>
                      </a:pPr>
                      <a:r>
                        <a:t>負傷部位・状態</a:t>
                      </a:r>
                    </a:p>
                  </a:txBody>
                  <a:tcPr>
                    <a:solidFill>
                      <a:srgbClr val="FBF3E6"/>
                    </a:solidFill>
                  </a:tcPr>
                </a:tc>
                <a:tc>
                  <a:txBody>
                    <a:bodyPr/>
                    <a:lstStyle/>
                    <a:p>
                      <a:pPr>
                        <a:defRPr sz="1200">
                          <a:solidFill>
                            <a:srgbClr val="2A1712"/>
                          </a:solidFill>
                          <a:latin typeface="Yu Gothic"/>
                        </a:defRPr>
                      </a:pPr>
                      <a:r>
                        <a:t>左膝(テーピングを巻いて出場)</a:t>
                      </a:r>
                    </a:p>
                  </a:txBody>
                  <a:tcPr>
                    <a:solidFill>
                      <a:srgbClr val="FBF3E6"/>
                    </a:solidFill>
                  </a:tcPr>
                </a:tc>
              </a:tr>
              <a:tr h="502920">
                <a:tc>
                  <a:txBody>
                    <a:bodyPr/>
                    <a:lstStyle/>
                    <a:p>
                      <a:pPr>
                        <a:defRPr sz="1200">
                          <a:solidFill>
                            <a:srgbClr val="2A1712"/>
                          </a:solidFill>
                          <a:latin typeface="Yu Gothic"/>
                        </a:defRPr>
                      </a:pPr>
                      <a:r>
                        <a:t>負傷から復帰までの日数</a:t>
                      </a:r>
                    </a:p>
                  </a:txBody>
                  <a:tcPr>
                    <a:solidFill>
                      <a:srgbClr val="FFFFFF"/>
                    </a:solidFill>
                  </a:tcPr>
                </a:tc>
                <a:tc>
                  <a:txBody>
                    <a:bodyPr/>
                    <a:lstStyle/>
                    <a:p>
                      <a:pPr>
                        <a:defRPr sz="1200">
                          <a:solidFill>
                            <a:srgbClr val="2A1712"/>
                          </a:solidFill>
                          <a:latin typeface="Yu Gothic"/>
                        </a:defRPr>
                      </a:pPr>
                      <a:r>
                        <a:t>54日</a:t>
                      </a:r>
                    </a:p>
                  </a:txBody>
                  <a:tcPr>
                    <a:solidFill>
                      <a:srgbClr val="FFFFFF"/>
                    </a:solidFill>
                  </a:tcPr>
                </a:tc>
              </a:tr>
              <a:tr h="502920">
                <a:tc>
                  <a:txBody>
                    <a:bodyPr/>
                    <a:lstStyle/>
                    <a:p>
                      <a:pPr>
                        <a:defRPr sz="1200">
                          <a:solidFill>
                            <a:srgbClr val="2A1712"/>
                          </a:solidFill>
                          <a:latin typeface="Yu Gothic"/>
                        </a:defRPr>
                      </a:pPr>
                      <a:r>
                        <a:t>発表日(試合日)</a:t>
                      </a:r>
                    </a:p>
                  </a:txBody>
                  <a:tcPr>
                    <a:solidFill>
                      <a:srgbClr val="FBF3E6"/>
                    </a:solidFill>
                  </a:tcPr>
                </a:tc>
                <a:tc>
                  <a:txBody>
                    <a:bodyPr/>
                    <a:lstStyle/>
                    <a:p>
                      <a:pPr>
                        <a:defRPr sz="1200">
                          <a:solidFill>
                            <a:srgbClr val="2A1712"/>
                          </a:solidFill>
                          <a:latin typeface="Yu Gothic"/>
                        </a:defRPr>
                      </a:pPr>
                      <a:r>
                        <a:t>2026年8月8日</a:t>
                      </a:r>
                    </a:p>
                  </a:txBody>
                  <a:tcPr>
                    <a:solidFill>
                      <a:srgbClr val="FBF3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久保建英選手とは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所属クラブ</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レアル・ソシエダ(スペイン・ラ・リーガ)</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ポジション</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MF(ミッドフィルダー)、日本代表の主力選手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直近の話題</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北中米W杯オランダ戦での左膝負傷からの復帰</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初心者向け: レアル・ソシエダ・ラ・リーガとは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ラ・リーガは、スペインの1部プロサッカーリーグ</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レアル・ソシエダは同リーグに所属するクラブで、久保選手が所属している</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久保選手は同クラブの主力選手として、リーグ戦・カップ戦で出場を重ねてきた</a:t>
            </a:r>
          </a:p>
        </p:txBody>
      </p:sp>
      <p:sp>
        <p:nvSpPr>
          <p:cNvPr id="12" name="Oval 11"/>
          <p:cNvSpPr/>
          <p:nvPr/>
        </p:nvSpPr>
        <p:spPr>
          <a:xfrm>
            <a:off x="457200" y="38130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本テーマでは、あくまで久保選手個別の負傷からの復帰という切り口で扱う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初心者向け: プレシーズンマッチとは何か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位置づけ</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公式戦(リーグ戦)開幕前に行う練習試合</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目的</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コンディション確認・戦術確認・実戦感覚の調整</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今回の位置づけ</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久保選手が負傷から実戦復帰する場として使われた</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負傷から復帰までの時系列</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6月15日: W杯オランダ戦で負傷</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初戦でタックルを受け、左膝を負傷したと報じられている</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W杯期間中: 出場なし</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大会中はそのままピッチに立つことなく終えていた</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8月8日: プレシーズンマッチで復帰</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ケルン戦で61分から途中出場、約30分間プレー</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負傷から復帰までの日数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54日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W杯オランダ戦(6月15日)での負傷から、実戦復帰(8月8日)までの日数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ライブドアニュース(2026-08-09)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W杯オランダ戦での負傷について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試合</a:t>
                      </a:r>
                    </a:p>
                  </a:txBody>
                  <a:tcPr>
                    <a:solidFill>
                      <a:srgbClr val="FFFFFF"/>
                    </a:solidFill>
                  </a:tcPr>
                </a:tc>
                <a:tc>
                  <a:txBody>
                    <a:bodyPr/>
                    <a:lstStyle/>
                    <a:p>
                      <a:pPr>
                        <a:defRPr sz="1200">
                          <a:solidFill>
                            <a:srgbClr val="2A1712"/>
                          </a:solidFill>
                          <a:latin typeface="Yu Gothic"/>
                        </a:defRPr>
                      </a:pPr>
                      <a:r>
                        <a:t>北中米W杯・グループステージ初戦、対オランダ</a:t>
                      </a:r>
                    </a:p>
                  </a:txBody>
                  <a:tcPr>
                    <a:solidFill>
                      <a:srgbClr val="FFFFFF"/>
                    </a:solidFill>
                  </a:tcPr>
                </a:tc>
              </a:tr>
              <a:tr h="502920">
                <a:tc>
                  <a:txBody>
                    <a:bodyPr/>
                    <a:lstStyle/>
                    <a:p>
                      <a:pPr>
                        <a:defRPr sz="1200">
                          <a:solidFill>
                            <a:srgbClr val="2A1712"/>
                          </a:solidFill>
                          <a:latin typeface="Yu Gothic"/>
                        </a:defRPr>
                      </a:pPr>
                      <a:r>
                        <a:t>日付</a:t>
                      </a:r>
                    </a:p>
                  </a:txBody>
                  <a:tcPr>
                    <a:solidFill>
                      <a:srgbClr val="FBF3E6"/>
                    </a:solidFill>
                  </a:tcPr>
                </a:tc>
                <a:tc>
                  <a:txBody>
                    <a:bodyPr/>
                    <a:lstStyle/>
                    <a:p>
                      <a:pPr>
                        <a:defRPr sz="1200">
                          <a:solidFill>
                            <a:srgbClr val="2A1712"/>
                          </a:solidFill>
                          <a:latin typeface="Yu Gothic"/>
                        </a:defRPr>
                      </a:pPr>
                      <a:r>
                        <a:t>2026年6月15日</a:t>
                      </a:r>
                    </a:p>
                  </a:txBody>
                  <a:tcPr>
                    <a:solidFill>
                      <a:srgbClr val="FBF3E6"/>
                    </a:solidFill>
                  </a:tcPr>
                </a:tc>
              </a:tr>
              <a:tr h="502920">
                <a:tc>
                  <a:txBody>
                    <a:bodyPr/>
                    <a:lstStyle/>
                    <a:p>
                      <a:pPr>
                        <a:defRPr sz="1200">
                          <a:solidFill>
                            <a:srgbClr val="2A1712"/>
                          </a:solidFill>
                          <a:latin typeface="Yu Gothic"/>
                        </a:defRPr>
                      </a:pPr>
                      <a:r>
                        <a:t>負傷の経緯</a:t>
                      </a:r>
                    </a:p>
                  </a:txBody>
                  <a:tcPr>
                    <a:solidFill>
                      <a:srgbClr val="FFFFFF"/>
                    </a:solidFill>
                  </a:tcPr>
                </a:tc>
                <a:tc>
                  <a:txBody>
                    <a:bodyPr/>
                    <a:lstStyle/>
                    <a:p>
                      <a:pPr>
                        <a:defRPr sz="1200">
                          <a:solidFill>
                            <a:srgbClr val="2A1712"/>
                          </a:solidFill>
                          <a:latin typeface="Yu Gothic"/>
                        </a:defRPr>
                      </a:pPr>
                      <a:r>
                        <a:t>タックルを受けて左膝を負傷したと報じられている</a:t>
                      </a:r>
                    </a:p>
                  </a:txBody>
                  <a:tcPr>
                    <a:solidFill>
                      <a:srgbClr val="FFFFFF"/>
                    </a:solidFill>
                  </a:tcPr>
                </a:tc>
              </a:tr>
              <a:tr h="502920">
                <a:tc>
                  <a:txBody>
                    <a:bodyPr/>
                    <a:lstStyle/>
                    <a:p>
                      <a:pPr>
                        <a:defRPr sz="1200">
                          <a:solidFill>
                            <a:srgbClr val="2A1712"/>
                          </a:solidFill>
                          <a:latin typeface="Yu Gothic"/>
                        </a:defRPr>
                      </a:pPr>
                      <a:r>
                        <a:t>その後の出場</a:t>
                      </a:r>
                    </a:p>
                  </a:txBody>
                  <a:tcPr>
                    <a:solidFill>
                      <a:srgbClr val="FBF3E6"/>
                    </a:solidFill>
                  </a:tcPr>
                </a:tc>
                <a:tc>
                  <a:txBody>
                    <a:bodyPr/>
                    <a:lstStyle/>
                    <a:p>
                      <a:pPr>
                        <a:defRPr sz="1200">
                          <a:solidFill>
                            <a:srgbClr val="2A1712"/>
                          </a:solidFill>
                          <a:latin typeface="Yu Gothic"/>
                        </a:defRPr>
                      </a:pPr>
                      <a:r>
                        <a:t>大会中はそのままピッチに立つことなく終えていた</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ライブドアニュース・スポーツ報知(2026-08-09)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オランダ戦での負傷、その後の影響</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久保選手はW杯初戦のオランダ戦でタックルを受け、左膝を負傷したと報じられている</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大会中はそのままピッチに立つことなく、W杯を終えていた</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負傷の詳細な診断名・程度についての公式見解は、本調査の範囲では確認できていない</a:t>
            </a:r>
          </a:p>
        </p:txBody>
      </p:sp>
      <p:sp>
        <p:nvSpPr>
          <p:cNvPr id="12" name="Oval 11"/>
          <p:cNvSpPr/>
          <p:nvPr/>
        </p:nvSpPr>
        <p:spPr>
          <a:xfrm>
            <a:off x="457200" y="38130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本テーマでは、負傷の重さを誇張も矮小化もせず、報道された範囲の事実のみを扱う</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ライブドアニュース(2026-08-09)</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復帰戦での途中出場時間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61分から</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左膝にテーピングを巻いて途中出場し、約30分間プレーした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ライブドアニュース・スポーツ報知(2026-08-09)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復帰戦での様子</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出場形態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61分から途中出場、約30分間プレー</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負傷部位のケア</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左膝にテーピングを巻いての出場</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現地の評価</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スペインの大手紙が高評価を報じたとされる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スペイン紙の評価について(慎重な扱い)</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スペインの大手紙が『局面を打開するプレーを披露』と高評価したと報じられている</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具体的な紙名・記事の詳細は情報源により表記が異なる可能性がある</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本テーマでは特定の紙名を断定的に示さず『スペイン大手紙』という表現にとどめる</a:t>
            </a:r>
          </a:p>
        </p:txBody>
      </p:sp>
      <p:sp>
        <p:nvSpPr>
          <p:cNvPr id="12" name="Oval 11"/>
          <p:cNvSpPr/>
          <p:nvPr/>
        </p:nvSpPr>
        <p:spPr>
          <a:xfrm>
            <a:off x="457200" y="38130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評価内容そのものについて、本テーマ側からの誇張・脚色は行わない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ライブドアニュース・サッカーダイジェストWeb(2026-08-09)</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確定事実まとめ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復帰した試合</a:t>
                      </a:r>
                    </a:p>
                  </a:txBody>
                  <a:tcPr>
                    <a:solidFill>
                      <a:srgbClr val="FFFFFF"/>
                    </a:solidFill>
                  </a:tcPr>
                </a:tc>
                <a:tc>
                  <a:txBody>
                    <a:bodyPr/>
                    <a:lstStyle/>
                    <a:p>
                      <a:pPr>
                        <a:defRPr sz="1200">
                          <a:solidFill>
                            <a:srgbClr val="2A1712"/>
                          </a:solidFill>
                          <a:latin typeface="Yu Gothic"/>
                        </a:defRPr>
                      </a:pPr>
                      <a:r>
                        <a:t>ケルンとのプレシーズンマッチ</a:t>
                      </a:r>
                    </a:p>
                  </a:txBody>
                  <a:tcPr>
                    <a:solidFill>
                      <a:srgbClr val="FFFFFF"/>
                    </a:solidFill>
                  </a:tcPr>
                </a:tc>
              </a:tr>
              <a:tr h="502920">
                <a:tc>
                  <a:txBody>
                    <a:bodyPr/>
                    <a:lstStyle/>
                    <a:p>
                      <a:pPr>
                        <a:defRPr sz="1200">
                          <a:solidFill>
                            <a:srgbClr val="2A1712"/>
                          </a:solidFill>
                          <a:latin typeface="Yu Gothic"/>
                        </a:defRPr>
                      </a:pPr>
                      <a:r>
                        <a:t>出場時間</a:t>
                      </a:r>
                    </a:p>
                  </a:txBody>
                  <a:tcPr>
                    <a:solidFill>
                      <a:srgbClr val="FBF3E6"/>
                    </a:solidFill>
                  </a:tcPr>
                </a:tc>
                <a:tc>
                  <a:txBody>
                    <a:bodyPr/>
                    <a:lstStyle/>
                    <a:p>
                      <a:pPr>
                        <a:defRPr sz="1200">
                          <a:solidFill>
                            <a:srgbClr val="2A1712"/>
                          </a:solidFill>
                          <a:latin typeface="Yu Gothic"/>
                        </a:defRPr>
                      </a:pPr>
                      <a:r>
                        <a:t>61分から途中出場、約30分間</a:t>
                      </a:r>
                    </a:p>
                  </a:txBody>
                  <a:tcPr>
                    <a:solidFill>
                      <a:srgbClr val="FBF3E6"/>
                    </a:solidFill>
                  </a:tcPr>
                </a:tc>
              </a:tr>
              <a:tr h="502920">
                <a:tc>
                  <a:txBody>
                    <a:bodyPr/>
                    <a:lstStyle/>
                    <a:p>
                      <a:pPr>
                        <a:defRPr sz="1200">
                          <a:solidFill>
                            <a:srgbClr val="2A1712"/>
                          </a:solidFill>
                          <a:latin typeface="Yu Gothic"/>
                        </a:defRPr>
                      </a:pPr>
                      <a:r>
                        <a:t>負傷部位のケア</a:t>
                      </a:r>
                    </a:p>
                  </a:txBody>
                  <a:tcPr>
                    <a:solidFill>
                      <a:srgbClr val="FFFFFF"/>
                    </a:solidFill>
                  </a:tcPr>
                </a:tc>
                <a:tc>
                  <a:txBody>
                    <a:bodyPr/>
                    <a:lstStyle/>
                    <a:p>
                      <a:pPr>
                        <a:defRPr sz="1200">
                          <a:solidFill>
                            <a:srgbClr val="2A1712"/>
                          </a:solidFill>
                          <a:latin typeface="Yu Gothic"/>
                        </a:defRPr>
                      </a:pPr>
                      <a:r>
                        <a:t>左膝にテーピング</a:t>
                      </a:r>
                    </a:p>
                  </a:txBody>
                  <a:tcPr>
                    <a:solidFill>
                      <a:srgbClr val="FFFFFF"/>
                    </a:solidFill>
                  </a:tcPr>
                </a:tc>
              </a:tr>
              <a:tr h="502920">
                <a:tc>
                  <a:txBody>
                    <a:bodyPr/>
                    <a:lstStyle/>
                    <a:p>
                      <a:pPr>
                        <a:defRPr sz="1200">
                          <a:solidFill>
                            <a:srgbClr val="2A1712"/>
                          </a:solidFill>
                          <a:latin typeface="Yu Gothic"/>
                        </a:defRPr>
                      </a:pPr>
                      <a:r>
                        <a:t>負傷からの経過日数</a:t>
                      </a:r>
                    </a:p>
                  </a:txBody>
                  <a:tcPr>
                    <a:solidFill>
                      <a:srgbClr val="FBF3E6"/>
                    </a:solidFill>
                  </a:tcPr>
                </a:tc>
                <a:tc>
                  <a:txBody>
                    <a:bodyPr/>
                    <a:lstStyle/>
                    <a:p>
                      <a:pPr>
                        <a:defRPr sz="1200">
                          <a:solidFill>
                            <a:srgbClr val="2A1712"/>
                          </a:solidFill>
                          <a:latin typeface="Yu Gothic"/>
                        </a:defRPr>
                      </a:pPr>
                      <a:r>
                        <a:t>54日</a:t>
                      </a:r>
                    </a:p>
                  </a:txBody>
                  <a:tcPr>
                    <a:solidFill>
                      <a:srgbClr val="FBF3E6"/>
                    </a:solidFill>
                  </a:tcPr>
                </a:tc>
              </a:tr>
              <a:tr h="502920">
                <a:tc>
                  <a:txBody>
                    <a:bodyPr/>
                    <a:lstStyle/>
                    <a:p>
                      <a:pPr>
                        <a:defRPr sz="1200">
                          <a:solidFill>
                            <a:srgbClr val="2A1712"/>
                          </a:solidFill>
                          <a:latin typeface="Yu Gothic"/>
                        </a:defRPr>
                      </a:pPr>
                      <a:r>
                        <a:t>負傷した試合</a:t>
                      </a:r>
                    </a:p>
                  </a:txBody>
                  <a:tcPr>
                    <a:solidFill>
                      <a:srgbClr val="FFFFFF"/>
                    </a:solidFill>
                  </a:tcPr>
                </a:tc>
                <a:tc>
                  <a:txBody>
                    <a:bodyPr/>
                    <a:lstStyle/>
                    <a:p>
                      <a:pPr>
                        <a:defRPr sz="1200">
                          <a:solidFill>
                            <a:srgbClr val="2A1712"/>
                          </a:solidFill>
                          <a:latin typeface="Yu Gothic"/>
                        </a:defRPr>
                      </a:pPr>
                      <a:r>
                        <a:t>W杯オランダ戦(6月15日)</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初心者向け: 負傷からの復帰の一般的な流れ</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負傷</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試合中の接触プレー等で負傷する段階</a:t>
            </a:r>
          </a:p>
        </p:txBody>
      </p:sp>
      <p:sp>
        <p:nvSpPr>
          <p:cNvPr id="10" name="Right Arrow 9"/>
          <p:cNvSpPr/>
          <p:nvPr/>
        </p:nvSpPr>
        <p:spPr>
          <a:xfrm>
            <a:off x="25571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リハビリ・治療期間</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医療スタッフのもとでリハビリ・治療を行う段階</a:t>
            </a:r>
          </a:p>
        </p:txBody>
      </p:sp>
      <p:sp>
        <p:nvSpPr>
          <p:cNvPr id="15" name="Right Arrow 14"/>
          <p:cNvSpPr/>
          <p:nvPr/>
        </p:nvSpPr>
        <p:spPr>
          <a:xfrm>
            <a:off x="57575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実戦復帰(練習試合等)</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プレシーズンマッチ等、負荷の低い実戦で復帰を試みる段階</a:t>
            </a:r>
          </a:p>
        </p:txBody>
      </p:sp>
      <p:sp>
        <p:nvSpPr>
          <p:cNvPr id="20" name="Right Arrow 19"/>
          <p:cNvSpPr/>
          <p:nvPr/>
        </p:nvSpPr>
        <p:spPr>
          <a:xfrm>
            <a:off x="89579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公式戦復帰</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リーグ戦等の公式戦に出場する段階(今回はまだこの段階に至っていない)</a:t>
            </a:r>
          </a:p>
        </p:txBody>
      </p:sp>
      <p:sp>
        <p:nvSpPr>
          <p:cNvPr id="25" name="TextBox 2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26" name="TextBox 2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W杯オランダ戦(負傷時) と 復帰戦・ケルン戦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W杯オランダ戦(6月15日)</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タックルを受けて左膝を負傷</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大会中は出場することなく終えた</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復帰戦・ケルン戦(8月8日)</a:t>
            </a:r>
          </a:p>
        </p:txBody>
      </p:sp>
      <p:sp>
        <p:nvSpPr>
          <p:cNvPr id="16" name="Oval 15"/>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61分から途中出場、約30分間プレー</a:t>
            </a:r>
          </a:p>
        </p:txBody>
      </p:sp>
      <p:sp>
        <p:nvSpPr>
          <p:cNvPr id="18" name="Oval 17"/>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左膝にテーピングを巻いての出場</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【不明点】テーピングの目的</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確認できている事実</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左膝にテーピングを巻いて出場したと報じられている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不明な点</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予防目的か、完治前の保護目的かの明確な公式見解は確認できていない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本テーマでの扱い</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推測で目的を断定せず『不明』として扱う</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【不明点】今後の公式戦復帰時期</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今回の復帰はあくまでプレシーズンマッチでの出場である</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ラ・リーガ等の公式戦への復帰時期の見通しは、本調査の範囲では確認できていない</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クラブからの公式な復帰スケジュール発表の有無も確認できていない</a:t>
            </a:r>
          </a:p>
        </p:txBody>
      </p:sp>
      <p:sp>
        <p:nvSpPr>
          <p:cNvPr id="12" name="Oval 11"/>
          <p:cNvSpPr/>
          <p:nvPr/>
        </p:nvSpPr>
        <p:spPr>
          <a:xfrm>
            <a:off x="457200" y="38130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本テーマでは、公式戦復帰時期について推測での言及は行わない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ライブドアニュース・スポーツ報知(2026-08-09)</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【不明点】久保選手本人のコメント</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確認できている事実</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実戦復帰の事実自体は複数媒体で報じられている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不明な点</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久保選手本人の直接のコメント・心境は本調査の範囲では確認できていない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本テーマでの扱い</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架空の発言・心境の推測は一切作成しない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確認できたこと・できなかったこと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状況</a:t>
                      </a:r>
                    </a:p>
                  </a:txBody>
                  <a:tcPr>
                    <a:solidFill>
                      <a:srgbClr val="7A1F2B"/>
                    </a:solidFill>
                  </a:tcPr>
                </a:tc>
              </a:tr>
              <a:tr h="502920">
                <a:tc>
                  <a:txBody>
                    <a:bodyPr/>
                    <a:lstStyle/>
                    <a:p>
                      <a:pPr>
                        <a:defRPr sz="1200">
                          <a:solidFill>
                            <a:srgbClr val="2A1712"/>
                          </a:solidFill>
                          <a:latin typeface="Yu Gothic"/>
                        </a:defRPr>
                      </a:pPr>
                      <a:r>
                        <a:t>実戦復帰の事実(日時・対戦相手・出場時間)</a:t>
                      </a:r>
                    </a:p>
                  </a:txBody>
                  <a:tcPr>
                    <a:solidFill>
                      <a:srgbClr val="FFFFFF"/>
                    </a:solidFill>
                  </a:tcPr>
                </a:tc>
                <a:tc>
                  <a:txBody>
                    <a:bodyPr/>
                    <a:lstStyle/>
                    <a:p>
                      <a:pPr>
                        <a:defRPr sz="1200">
                          <a:solidFill>
                            <a:srgbClr val="2A1712"/>
                          </a:solidFill>
                          <a:latin typeface="Yu Gothic"/>
                        </a:defRPr>
                      </a:pPr>
                      <a:r>
                        <a:t>確認済み(複数媒体で一致)</a:t>
                      </a:r>
                    </a:p>
                  </a:txBody>
                  <a:tcPr>
                    <a:solidFill>
                      <a:srgbClr val="FFFFFF"/>
                    </a:solidFill>
                  </a:tcPr>
                </a:tc>
              </a:tr>
              <a:tr h="502920">
                <a:tc>
                  <a:txBody>
                    <a:bodyPr/>
                    <a:lstStyle/>
                    <a:p>
                      <a:pPr>
                        <a:defRPr sz="1200">
                          <a:solidFill>
                            <a:srgbClr val="2A1712"/>
                          </a:solidFill>
                          <a:latin typeface="Yu Gothic"/>
                        </a:defRPr>
                      </a:pPr>
                      <a:r>
                        <a:t>負傷から復帰までの日数(54日)</a:t>
                      </a:r>
                    </a:p>
                  </a:txBody>
                  <a:tcPr>
                    <a:solidFill>
                      <a:srgbClr val="FBF3E6"/>
                    </a:solidFill>
                  </a:tcPr>
                </a:tc>
                <a:tc>
                  <a:txBody>
                    <a:bodyPr/>
                    <a:lstStyle/>
                    <a:p>
                      <a:pPr>
                        <a:defRPr sz="1200">
                          <a:solidFill>
                            <a:srgbClr val="2A1712"/>
                          </a:solidFill>
                          <a:latin typeface="Yu Gothic"/>
                        </a:defRPr>
                      </a:pPr>
                      <a:r>
                        <a:t>確認済み</a:t>
                      </a:r>
                    </a:p>
                  </a:txBody>
                  <a:tcPr>
                    <a:solidFill>
                      <a:srgbClr val="FBF3E6"/>
                    </a:solidFill>
                  </a:tcPr>
                </a:tc>
              </a:tr>
              <a:tr h="502920">
                <a:tc>
                  <a:txBody>
                    <a:bodyPr/>
                    <a:lstStyle/>
                    <a:p>
                      <a:pPr>
                        <a:defRPr sz="1200">
                          <a:solidFill>
                            <a:srgbClr val="2A1712"/>
                          </a:solidFill>
                          <a:latin typeface="Yu Gothic"/>
                        </a:defRPr>
                      </a:pPr>
                      <a:r>
                        <a:t>テーピングの目的(予防か保護か)</a:t>
                      </a:r>
                    </a:p>
                  </a:txBody>
                  <a:tcPr>
                    <a:solidFill>
                      <a:srgbClr val="FFFFFF"/>
                    </a:solidFill>
                  </a:tcPr>
                </a:tc>
                <a:tc>
                  <a:txBody>
                    <a:bodyPr/>
                    <a:lstStyle/>
                    <a:p>
                      <a:pPr>
                        <a:defRPr sz="1200">
                          <a:solidFill>
                            <a:srgbClr val="2A1712"/>
                          </a:solidFill>
                          <a:latin typeface="Yu Gothic"/>
                        </a:defRPr>
                      </a:pPr>
                      <a:r>
                        <a:t>未確認</a:t>
                      </a:r>
                    </a:p>
                  </a:txBody>
                  <a:tcPr>
                    <a:solidFill>
                      <a:srgbClr val="FFFFFF"/>
                    </a:solidFill>
                  </a:tcPr>
                </a:tc>
              </a:tr>
              <a:tr h="502920">
                <a:tc>
                  <a:txBody>
                    <a:bodyPr/>
                    <a:lstStyle/>
                    <a:p>
                      <a:pPr>
                        <a:defRPr sz="1200">
                          <a:solidFill>
                            <a:srgbClr val="2A1712"/>
                          </a:solidFill>
                          <a:latin typeface="Yu Gothic"/>
                        </a:defRPr>
                      </a:pPr>
                      <a:r>
                        <a:t>今後の公式戦復帰時期</a:t>
                      </a:r>
                    </a:p>
                  </a:txBody>
                  <a:tcPr>
                    <a:solidFill>
                      <a:srgbClr val="FBF3E6"/>
                    </a:solidFill>
                  </a:tcPr>
                </a:tc>
                <a:tc>
                  <a:txBody>
                    <a:bodyPr/>
                    <a:lstStyle/>
                    <a:p>
                      <a:pPr>
                        <a:defRPr sz="1200">
                          <a:solidFill>
                            <a:srgbClr val="2A1712"/>
                          </a:solidFill>
                          <a:latin typeface="Yu Gothic"/>
                        </a:defRPr>
                      </a:pPr>
                      <a:r>
                        <a:t>未確認</a:t>
                      </a:r>
                    </a:p>
                  </a:txBody>
                  <a:tcPr>
                    <a:solidFill>
                      <a:srgbClr val="FBF3E6"/>
                    </a:solidFill>
                  </a:tcPr>
                </a:tc>
              </a:tr>
              <a:tr h="502920">
                <a:tc>
                  <a:txBody>
                    <a:bodyPr/>
                    <a:lstStyle/>
                    <a:p>
                      <a:pPr>
                        <a:defRPr sz="1200">
                          <a:solidFill>
                            <a:srgbClr val="2A1712"/>
                          </a:solidFill>
                          <a:latin typeface="Yu Gothic"/>
                        </a:defRPr>
                      </a:pPr>
                      <a:r>
                        <a:t>久保選手本人のコメント</a:t>
                      </a:r>
                    </a:p>
                  </a:txBody>
                  <a:tcPr>
                    <a:solidFill>
                      <a:srgbClr val="FFFFFF"/>
                    </a:solidFill>
                  </a:tcPr>
                </a:tc>
                <a:tc>
                  <a:txBody>
                    <a:bodyPr/>
                    <a:lstStyle/>
                    <a:p>
                      <a:pPr>
                        <a:defRPr sz="1200">
                          <a:solidFill>
                            <a:srgbClr val="2A1712"/>
                          </a:solidFill>
                          <a:latin typeface="Yu Gothic"/>
                        </a:defRPr>
                      </a:pPr>
                      <a:r>
                        <a:t>未確認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【最重要】鮮度基準の例外運用についての開示</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本テーマの発表日は2026年8月8日、着手日(8月11日)から3日前である</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docs/06_Content_R&amp;D.mdの通常の鮮度基準(着手日から2日以内)を満たしていない</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round97の調査で7件前後のクエリを実施したが、2日以内の代替候補が見つからなかった</a:t>
            </a:r>
          </a:p>
        </p:txBody>
      </p:sp>
      <p:sp>
        <p:nvSpPr>
          <p:cNvPr id="12" name="Oval 11"/>
          <p:cNvSpPr/>
          <p:nvPr/>
        </p:nvSpPr>
        <p:spPr>
          <a:xfrm>
            <a:off x="457200" y="38130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オーナー指示の『例外的最終手段』規定に基づき、正直に開示した上で採用した</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research/2026-08-11_theme-evaluation-round97.md</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round97評価表からの開示</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評価スコア</a:t>
                      </a:r>
                    </a:p>
                  </a:txBody>
                  <a:tcPr>
                    <a:solidFill>
                      <a:srgbClr val="FFFFFF"/>
                    </a:solidFill>
                  </a:tcPr>
                </a:tc>
                <a:tc>
                  <a:txBody>
                    <a:bodyPr/>
                    <a:lstStyle/>
                    <a:p>
                      <a:pPr>
                        <a:defRPr sz="1200">
                          <a:solidFill>
                            <a:srgbClr val="2A1712"/>
                          </a:solidFill>
                          <a:latin typeface="Yu Gothic"/>
                        </a:defRPr>
                      </a:pPr>
                      <a:r>
                        <a:t>71/100(round97評価表、バズ路線スコア)</a:t>
                      </a:r>
                    </a:p>
                  </a:txBody>
                  <a:tcPr>
                    <a:solidFill>
                      <a:srgbClr val="FFFFFF"/>
                    </a:solidFill>
                  </a:tcPr>
                </a:tc>
              </a:tr>
              <a:tr h="502920">
                <a:tc>
                  <a:txBody>
                    <a:bodyPr/>
                    <a:lstStyle/>
                    <a:p>
                      <a:pPr>
                        <a:defRPr sz="1200">
                          <a:solidFill>
                            <a:srgbClr val="2A1712"/>
                          </a:solidFill>
                          <a:latin typeface="Yu Gothic"/>
                        </a:defRPr>
                      </a:pPr>
                      <a:r>
                        <a:t>採用理由</a:t>
                      </a:r>
                    </a:p>
                  </a:txBody>
                  <a:tcPr>
                    <a:solidFill>
                      <a:srgbClr val="FBF3E6"/>
                    </a:solidFill>
                  </a:tcPr>
                </a:tc>
                <a:tc>
                  <a:txBody>
                    <a:bodyPr/>
                    <a:lstStyle/>
                    <a:p>
                      <a:pPr>
                        <a:defRPr sz="1200">
                          <a:solidFill>
                            <a:srgbClr val="2A1712"/>
                          </a:solidFill>
                          <a:latin typeface="Yu Gothic"/>
                        </a:defRPr>
                      </a:pPr>
                      <a:r>
                        <a:t>『W杯の悲劇から54日、待望の復帰』という物語構造、日本代表・海外主要リーグでの活躍という著名性</a:t>
                      </a:r>
                    </a:p>
                  </a:txBody>
                  <a:tcPr>
                    <a:solidFill>
                      <a:srgbClr val="FBF3E6"/>
                    </a:solidFill>
                  </a:tcPr>
                </a:tc>
              </a:tr>
              <a:tr h="502920">
                <a:tc>
                  <a:txBody>
                    <a:bodyPr/>
                    <a:lstStyle/>
                    <a:p>
                      <a:pPr>
                        <a:defRPr sz="1200">
                          <a:solidFill>
                            <a:srgbClr val="2A1712"/>
                          </a:solidFill>
                          <a:latin typeface="Yu Gothic"/>
                        </a:defRPr>
                      </a:pPr>
                      <a:r>
                        <a:t>同ラウンドの候補</a:t>
                      </a:r>
                    </a:p>
                  </a:txBody>
                  <a:tcPr>
                    <a:solidFill>
                      <a:srgbClr val="FFFFFF"/>
                    </a:solidFill>
                  </a:tcPr>
                </a:tc>
                <a:tc>
                  <a:txBody>
                    <a:bodyPr/>
                    <a:lstStyle/>
                    <a:p>
                      <a:pPr>
                        <a:defRPr sz="1200">
                          <a:solidFill>
                            <a:srgbClr val="2A1712"/>
                          </a:solidFill>
                          <a:latin typeface="Yu Gothic"/>
                        </a:defRPr>
                      </a:pPr>
                      <a:r>
                        <a:t>候補1(163本目、Meta Muse Glimmer)は1日前発表・鮮度基準を満たし先に採用済み</a:t>
                      </a:r>
                    </a:p>
                  </a:txBody>
                  <a:tcPr>
                    <a:solidFill>
                      <a:srgbClr val="FFFFFF"/>
                    </a:solidFill>
                  </a:tcPr>
                </a:tc>
              </a:tr>
              <a:tr h="502920">
                <a:tc>
                  <a:txBody>
                    <a:bodyPr/>
                    <a:lstStyle/>
                    <a:p>
                      <a:pPr>
                        <a:defRPr sz="1200">
                          <a:solidFill>
                            <a:srgbClr val="2A1712"/>
                          </a:solidFill>
                          <a:latin typeface="Yu Gothic"/>
                        </a:defRPr>
                      </a:pPr>
                      <a:r>
                        <a:t>鮮度についての位置づけ</a:t>
                      </a:r>
                    </a:p>
                  </a:txBody>
                  <a:tcPr>
                    <a:solidFill>
                      <a:srgbClr val="FBF3E6"/>
                    </a:solidFill>
                  </a:tcPr>
                </a:tc>
                <a:tc>
                  <a:txBody>
                    <a:bodyPr/>
                    <a:lstStyle/>
                    <a:p>
                      <a:pPr>
                        <a:defRPr sz="1200">
                          <a:solidFill>
                            <a:srgbClr val="2A1712"/>
                          </a:solidFill>
                          <a:latin typeface="Yu Gothic"/>
                        </a:defRPr>
                      </a:pPr>
                      <a:r>
                        <a:t>本テーマは鮮度基準の例外運用(3日前発表)であることを明記</a:t>
                      </a:r>
                    </a:p>
                  </a:txBody>
                  <a:tcPr>
                    <a:solidFill>
                      <a:srgbClr val="FBF3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確認方法</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assets/配下を確認し、久保建英選手を主題とした既存テーマがないことを確認した</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類似テーマ</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佐野航大選手・冨安健洋選手・橋岡大樹選手等の移籍テーマは存在するが対象選手が異なる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判定</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重複ではない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公平性・配慮についての開示</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実在の選手名・クラブ名はテキストとしてのみ使用し、写真・ロゴ・肖像は使用しない</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久保選手の心境について、報道されていない推測は一切行っていない</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負傷という選手にとってデリケートな話題のため、重さの誇張・矮小化はいずれも避けている</a:t>
            </a:r>
          </a:p>
        </p:txBody>
      </p:sp>
      <p:sp>
        <p:nvSpPr>
          <p:cNvPr id="12" name="Oval 11"/>
          <p:cNvSpPr/>
          <p:nvPr/>
        </p:nvSpPr>
        <p:spPr>
          <a:xfrm>
            <a:off x="457200" y="38130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政治的な論評は行っておらず、特定クラブ・特定選手への過度な持ち上げ・貶めもしていない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出典一覧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媒体</a:t>
                      </a:r>
                    </a:p>
                  </a:txBody>
                  <a:tcPr>
                    <a:solidFill>
                      <a:srgbClr val="7A1F2B"/>
                    </a:solidFill>
                  </a:tcPr>
                </a:tc>
                <a:tc>
                  <a:txBody>
                    <a:bodyPr/>
                    <a:lstStyle/>
                    <a:p>
                      <a:pPr>
                        <a:defRPr sz="1300" b="1">
                          <a:solidFill>
                            <a:srgbClr val="FFFFFF"/>
                          </a:solidFill>
                          <a:latin typeface="Yu Gothic"/>
                        </a:defRPr>
                      </a:pPr>
                      <a:r>
                        <a:t>日付</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ライブドアニュース</a:t>
                      </a:r>
                    </a:p>
                  </a:txBody>
                  <a:tcPr>
                    <a:solidFill>
                      <a:srgbClr val="FFFFFF"/>
                    </a:solidFill>
                  </a:tcPr>
                </a:tc>
                <a:tc>
                  <a:txBody>
                    <a:bodyPr/>
                    <a:lstStyle/>
                    <a:p>
                      <a:pPr>
                        <a:defRPr sz="1200">
                          <a:solidFill>
                            <a:srgbClr val="2A1712"/>
                          </a:solidFill>
                          <a:latin typeface="Yu Gothic"/>
                        </a:defRPr>
                      </a:pPr>
                      <a:r>
                        <a:t>2026-08-09</a:t>
                      </a:r>
                    </a:p>
                  </a:txBody>
                  <a:tcPr>
                    <a:solidFill>
                      <a:srgbClr val="FFFFFF"/>
                    </a:solidFill>
                  </a:tcPr>
                </a:tc>
                <a:tc>
                  <a:txBody>
                    <a:bodyPr/>
                    <a:lstStyle/>
                    <a:p>
                      <a:pPr>
                        <a:defRPr sz="1200">
                          <a:solidFill>
                            <a:srgbClr val="2A1712"/>
                          </a:solidFill>
                          <a:latin typeface="Yu Gothic"/>
                        </a:defRPr>
                      </a:pPr>
                      <a:r>
                        <a:t>『久保建英が実戦復帰 Ｗ杯オランダ戦での負傷を経てＲソシエダードのプレシーズンマッチに約30分出場』</a:t>
                      </a:r>
                    </a:p>
                  </a:txBody>
                  <a:tcPr>
                    <a:solidFill>
                      <a:srgbClr val="FFFFFF"/>
                    </a:solidFill>
                  </a:tcPr>
                </a:tc>
              </a:tr>
              <a:tr h="502920">
                <a:tc>
                  <a:txBody>
                    <a:bodyPr/>
                    <a:lstStyle/>
                    <a:p>
                      <a:pPr>
                        <a:defRPr sz="1200">
                          <a:solidFill>
                            <a:srgbClr val="2A1712"/>
                          </a:solidFill>
                          <a:latin typeface="Yu Gothic"/>
                        </a:defRPr>
                      </a:pPr>
                      <a:r>
                        <a:t>スポーツ報知</a:t>
                      </a:r>
                    </a:p>
                  </a:txBody>
                  <a:tcPr>
                    <a:solidFill>
                      <a:srgbClr val="FBF3E6"/>
                    </a:solidFill>
                  </a:tcPr>
                </a:tc>
                <a:tc>
                  <a:txBody>
                    <a:bodyPr/>
                    <a:lstStyle/>
                    <a:p>
                      <a:pPr>
                        <a:defRPr sz="1200">
                          <a:solidFill>
                            <a:srgbClr val="2A1712"/>
                          </a:solidFill>
                          <a:latin typeface="Yu Gothic"/>
                        </a:defRPr>
                      </a:pPr>
                      <a:r>
                        <a:t>2026-08-09</a:t>
                      </a:r>
                    </a:p>
                  </a:txBody>
                  <a:tcPr>
                    <a:solidFill>
                      <a:srgbClr val="FBF3E6"/>
                    </a:solidFill>
                  </a:tcPr>
                </a:tc>
                <a:tc>
                  <a:txBody>
                    <a:bodyPr/>
                    <a:lstStyle/>
                    <a:p>
                      <a:pPr>
                        <a:defRPr sz="1200">
                          <a:solidFill>
                            <a:srgbClr val="2A1712"/>
                          </a:solidFill>
                          <a:latin typeface="Yu Gothic"/>
                        </a:defRPr>
                      </a:pPr>
                      <a:r>
                        <a:t>実戦復帰・出場時間についての報道</a:t>
                      </a:r>
                    </a:p>
                  </a:txBody>
                  <a:tcPr>
                    <a:solidFill>
                      <a:srgbClr val="FBF3E6"/>
                    </a:solidFill>
                  </a:tcPr>
                </a:tc>
              </a:tr>
              <a:tr h="502920">
                <a:tc>
                  <a:txBody>
                    <a:bodyPr/>
                    <a:lstStyle/>
                    <a:p>
                      <a:pPr>
                        <a:defRPr sz="1200">
                          <a:solidFill>
                            <a:srgbClr val="2A1712"/>
                          </a:solidFill>
                          <a:latin typeface="Yu Gothic"/>
                        </a:defRPr>
                      </a:pPr>
                      <a:r>
                        <a:t>サッカーダイジェストWeb</a:t>
                      </a:r>
                    </a:p>
                  </a:txBody>
                  <a:tcPr>
                    <a:solidFill>
                      <a:srgbClr val="FFFFFF"/>
                    </a:solidFill>
                  </a:tcPr>
                </a:tc>
                <a:tc>
                  <a:txBody>
                    <a:bodyPr/>
                    <a:lstStyle/>
                    <a:p>
                      <a:pPr>
                        <a:defRPr sz="1200">
                          <a:solidFill>
                            <a:srgbClr val="2A1712"/>
                          </a:solidFill>
                          <a:latin typeface="Yu Gothic"/>
                        </a:defRPr>
                      </a:pPr>
                      <a:r>
                        <a:t>-</a:t>
                      </a:r>
                    </a:p>
                  </a:txBody>
                  <a:tcPr>
                    <a:solidFill>
                      <a:srgbClr val="FFFFFF"/>
                    </a:solidFill>
                  </a:tcPr>
                </a:tc>
                <a:tc>
                  <a:txBody>
                    <a:bodyPr/>
                    <a:lstStyle/>
                    <a:p>
                      <a:pPr>
                        <a:defRPr sz="1200">
                          <a:solidFill>
                            <a:srgbClr val="2A1712"/>
                          </a:solidFill>
                          <a:latin typeface="Yu Gothic"/>
                        </a:defRPr>
                      </a:pPr>
                      <a:r>
                        <a:t>復帰戦の様子・現地評価についての報道</a:t>
                      </a:r>
                    </a:p>
                  </a:txBody>
                  <a:tcPr>
                    <a:solidFill>
                      <a:srgbClr val="FFFFFF"/>
                    </a:solidFill>
                  </a:tcPr>
                </a:tc>
              </a:tr>
              <a:tr h="502920">
                <a:tc>
                  <a:txBody>
                    <a:bodyPr/>
                    <a:lstStyle/>
                    <a:p>
                      <a:pPr>
                        <a:defRPr sz="1200">
                          <a:solidFill>
                            <a:srgbClr val="2A1712"/>
                          </a:solidFill>
                          <a:latin typeface="Yu Gothic"/>
                        </a:defRPr>
                      </a:pPr>
                      <a:r>
                        <a:t>Yahoo!ニュース</a:t>
                      </a:r>
                    </a:p>
                  </a:txBody>
                  <a:tcPr>
                    <a:solidFill>
                      <a:srgbClr val="FBF3E6"/>
                    </a:solidFill>
                  </a:tcPr>
                </a:tc>
                <a:tc>
                  <a:txBody>
                    <a:bodyPr/>
                    <a:lstStyle/>
                    <a:p>
                      <a:pPr>
                        <a:defRPr sz="1200">
                          <a:solidFill>
                            <a:srgbClr val="2A1712"/>
                          </a:solidFill>
                          <a:latin typeface="Yu Gothic"/>
                        </a:defRPr>
                      </a:pPr>
                      <a:r>
                        <a:t>-</a:t>
                      </a:r>
                    </a:p>
                  </a:txBody>
                  <a:tcPr>
                    <a:solidFill>
                      <a:srgbClr val="FBF3E6"/>
                    </a:solidFill>
                  </a:tcPr>
                </a:tc>
                <a:tc>
                  <a:txBody>
                    <a:bodyPr/>
                    <a:lstStyle/>
                    <a:p>
                      <a:pPr>
                        <a:defRPr sz="1200">
                          <a:solidFill>
                            <a:srgbClr val="2A1712"/>
                          </a:solidFill>
                          <a:latin typeface="Yu Gothic"/>
                        </a:defRPr>
                      </a:pPr>
                      <a:r>
                        <a:t>上記報道の配信</a:t>
                      </a:r>
                    </a:p>
                  </a:txBody>
                  <a:tcPr>
                    <a:solidFill>
                      <a:srgbClr val="FBF3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復帰戦でのプレー時間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約30分間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61分から途中出場し、試合終了までプレーしたとされる時間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ライブドアニュース・スポーツ報知(2026-08-09)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これで何が変わるか・今後の注目点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確認された事実</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実戦復帰そのものは果たしたことが複数媒体で確認できている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まだわからないこと</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公式戦復帰の時期・テーピングの意味づけは未確認のまま</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今後の注目点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次の練習試合・公式戦での出場有無、クラブ・選手からの続報</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久保建英選手は、公式戦にいつ戻ってくるのか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確認できたこと・できなかったことを区別しながら、続報を注目していきましょう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まとめ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久保建英選手が、ケルンとのプレシーズンマッチで実戦復帰を果たしたと2026年8月8日に報じられた</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左膝にテーピングを巻いて61分から途中出場し、約30分間プレーした</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W杯オランダ戦での負傷(6月15日)から54日ぶりの復帰である</a:t>
            </a:r>
          </a:p>
        </p:txBody>
      </p:sp>
      <p:sp>
        <p:nvSpPr>
          <p:cNvPr id="12" name="Oval 11"/>
          <p:cNvSpPr/>
          <p:nvPr/>
        </p:nvSpPr>
        <p:spPr>
          <a:xfrm>
            <a:off x="457200" y="38130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本テーマは通常の鮮度基準(2日以内)を満たさない例外運用での採用であることを正直に開示した</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ライブドアニュース・スポーツ報知・サッカーダイジェストWeb・Yahoo!ニュース(2026-08-09)</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ライブドアニュース・スポーツ報知・サッカーダイジェストWeb・Yahoo!ニュース(2026-08-09)｜定期実行164本目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