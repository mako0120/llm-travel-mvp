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中国のヒューマノイドロボット企業Unitree Roboticsが、2026年8月19日、上海証券取引所科創板に上場しました。初値は公開価格から629%も高騰したという、まさかの数字です。今日はこの上場の中身について、出典付きで正確に整理してお届けします。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結論から確認します。Unitree Roboticsの株価は、公開価格150.80元に対し初値1,100元と、629%も高騰しました。ここから上場の詳細を1つずつ出典付きで見ていきます。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今日は6つの流れでお伝えします。上場の数字から時価総額、IPOの詳細、上場後の値動きまで、正確に数字を引用しながら整理します。誇張せず、確認できなかったことは正直にお伝えします。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このテーマを扱う理由です。着手日当日の上場という最も高い鮮度に加えて、初値629%高騰・時価総額660億ドルという衝撃的な数字、中国発ヒューマノイドロボットという関心の高いテーマ性があります。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本題に入る前に、Unitree Roboticsという企業の前提を確認します。中国・杭州拠点のヒューマノイドロボット・四足歩行ロボット開発企業で、上海証券取引所科創板に上場しました。本編は上場の事実紹介であり、投資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本題のキーワードを確認します。STARマーケットは上海証券取引所のハイテク企業向け市場、ヒューマノイドロボットは人間に似た形状のロボット、初値は上場後に初めて成立した株価です。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公開価格です。IPO時点での価格は150.80元でした。次に、実際の初値を確認します。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初値です。上場当日、公開価格150.80元から629%上昇し、1,100元で初値が成立しました。次に、上場の概要を表で確認します。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上場の概要を一覧にしました。2026年8月19日、上海証券取引所科創板に上場。公開価格150.80元に対し初値1,100元、上場直後の時価総額は約445億元(約660億ドル)でした。次に、時価総額を詳しく確認します。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上場直後の時価総額です。約445億元、日本円換算で兆円規模、米ドルでは約660億ドルに達しました。次に、IPOの詳細を確認します。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IPOの詳細を確認します。拡大後の発行済み株式の10%にあたる4,045万株を売り出し、約61億元を調達しました。上場前の評価額は約610億元とされています。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個人投資家の申込倍率です。今回のIPOは8,000倍超の申込倍率に達し、STARマーケットの記録を更新したと報じられています。次に、この数字の算出基準について正直にお伝えします。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込倍率の算出基準について正直にお伝えします。個人投資家のみか機関投資家を含むかは確認できておらず、2026年8月10日時点の『5,526倍』とは異なる時点の数字である可能性が高いものの、同一基準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上場までの流れを図にしました。8月10日のIPO申込開始から、公開価格の決定を経て、8月19日に上場・初値が成立しました。次に、この流れを3ステップで整理します。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上場当日の流れを3ステップで整理しました。公開価格でのIPOから、初値629%高騰、そして時価総額約660億ドルへの到達という流れです。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上場後の値動きを確認します。初値急騰の後、寄り付き後の取引で株価が900元を下回る場面もあったとされています。上場後数日間の株価の安定性は、本調査時点では確認できていません。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公開価格から初値、そして寄り付き後までの株価の推移を整理しました。初値629%高騰の後、寄り付き後の取引では900元を下回る場面もあったと報じられています。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『629%』と『542%』の食い違いについて正直にお伝えします。複数媒体は629%と報じていますが、CNBCのみ542%と報じており、この食い違いの原因は本調査の範囲では特定できていません。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初値上昇率の報道の違いを整理しました。複数媒体が一致する629%と、CNBC単独が報じる542%があり、本成果物ではいずれか一方を断定せず、両方を出典とともに正直に提示します。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確認します。8月10日の申込開始時点を扱う既存テーマに対し、本テーマは実際の上場・取引開始というより後の段階を扱います。申込倍率の数字も異なる時点のものとして区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既存テーマとの違いを表で整理しました。段階・主な数字・時点のいずれも異なり、重複するテーマではありません。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資金の使途について正直にお伝えします。IPOで調達した約61億元の具体的な使途の詳細は、本調査の範囲では確認できていません。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株価の安定性について正直にお伝えします。上場後数日間の推移は本調査時点では確認できておらず、初値急騰後に900元を下回る場面があったことのみが確認できています。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見出しの印象と実際に確認できている内容にはギャップが生まれがちです。確認できているのは上場当日の初値・時価総額の情報のみであり、資金使途や株価の安定性など未確認の項目もあります。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このニュースが読者にとって意味することをまとめました。AI業界の動向を追う立場、投資を検討する立場、中国テック市場に関心がある立場、それぞれで意識したい視点です。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実際に情報を確認・活用する際のチェックポイントです。初値急騰は上場当日の数字であり、今後の株価動向を保証するものではありません。本成果物は投資判断を推奨する内容ではありません。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本テーマの鮮度を数字で確認します。上場・取引開始は着手日そのものである2026年8月19日でした。当社の鮮度基準を最も強い形で満たしています。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本編で使った主な出典を一覧にしました。South China Morning Post・Bloomberg・CNN・Caixin Global等、複数の独立した媒体が上場日・時価総額・調達額を一致させて報じていることを確認しています。詳細はresearch.mdをご確認ください。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本編は以上です。今回はUnitree Roboticsの上海証券取引所上場について、初値629%高騰・時価総額660億ドルという成果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まさかの初値629%高騰。</a:t>
            </a:r>
          </a:p>
          <a:p>
            <a:pPr algn="l">
              <a:lnSpc>
                <a:spcPct val="115000"/>
              </a:lnSpc>
            </a:pPr>
            <a:r>
              <a:rPr sz="4200" b="1">
                <a:solidFill>
                  <a:srgbClr val="FFFFFF"/>
                </a:solidFill>
                <a:latin typeface="Yu Gothic"/>
              </a:rPr>
              <a:t>中国Unitree Roboticsが</a:t>
            </a:r>
          </a:p>
          <a:p>
            <a:pPr algn="l">
              <a:lnSpc>
                <a:spcPct val="115000"/>
              </a:lnSpc>
            </a:pPr>
            <a:r>
              <a:rPr sz="4200" b="1">
                <a:solidFill>
                  <a:srgbClr val="FFFFFF"/>
                </a:solidFill>
                <a:latin typeface="Yu Gothic"/>
              </a:rPr>
              <a:t>上海証券取引所デビュー</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2026年8月19日上場――時価総額660億ドルの中身を出典付きで暴く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South China Morning Post・Bloomberg・CNN・Caixin Global(2026年8月19日)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初値629%高騰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公開価格150.80元に対し、初値は1,100元に到達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South China Morning Post・Bloomberg(2026-08-19)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Unitree Roboticsとは・基礎知識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上場の数字を確認する(公開価格・初値・時価総額)</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IPOの詳細を深掘りする(調達額・申込倍率)</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上場後の値動きと数字の食い違いを確認する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着手日当日(2026年8月19日)の上場という最も高い鮮度の話題である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「初値629%高騰」「時価総額660億ドル」という衝撃的な数字である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中国発ヒューマノイドロボットという関心の高いテーマである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複数の独立した主要メディア(SCMP・Bloomberg・CNN等)が内容を一致させて報じている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South China Morning Post・Bloomberg・CNN(2026-08-19)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Unitree Roboticsとは(初心者向け)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Unitree Roboticsは、中国・杭州拠点のヒューマノイドロボット・四足歩行ロボット開発企業である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上海証券取引所科創板(STARマーケット)に2026年8月19日に上場した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本編ではUnitree Roboticsという特定企業の上場・株価の事実を中立的に紹介する(投資を推奨する内容ではない)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用語解説:STARマーケット・ヒューマノイドロボット・初値とは(初心者向け)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『STARマーケット(科創板)』とは、上海証券取引所が2019年に開設したハイテク企業向けの株式市場である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『ヒューマノイドロボット』とは、人間に似た形状・動作を持つロボットを指す</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『初値』とは、上場後に初めて成立した株価を指し、公開価格との差が上場日の値動きの大きさを示す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公開価格(IPO価格)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150.80元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IPO時点で投資家が購入した価格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South China Morning Post(2026-08-19)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初値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1,100元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上場当日、公開価格から629%上昇して成立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South China Morning Post・Bloomberg・CNN・Caixin Global(2026-08-19)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上場の概要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上場日</a:t>
                      </a:r>
                    </a:p>
                  </a:txBody>
                  <a:tcPr>
                    <a:solidFill>
                      <a:srgbClr val="FFFFFF"/>
                    </a:solidFill>
                  </a:tcPr>
                </a:tc>
                <a:tc>
                  <a:txBody>
                    <a:bodyPr/>
                    <a:lstStyle/>
                    <a:p>
                      <a:pPr>
                        <a:defRPr sz="1200">
                          <a:solidFill>
                            <a:srgbClr val="1C1B33"/>
                          </a:solidFill>
                          <a:latin typeface="Yu Gothic"/>
                        </a:defRPr>
                      </a:pPr>
                      <a:r>
                        <a:t>2026年8月19日</a:t>
                      </a:r>
                    </a:p>
                  </a:txBody>
                  <a:tcPr>
                    <a:solidFill>
                      <a:srgbClr val="FFFFFF"/>
                    </a:solidFill>
                  </a:tcPr>
                </a:tc>
              </a:tr>
              <a:tr h="502920">
                <a:tc>
                  <a:txBody>
                    <a:bodyPr/>
                    <a:lstStyle/>
                    <a:p>
                      <a:pPr>
                        <a:defRPr sz="1200">
                          <a:solidFill>
                            <a:srgbClr val="1C1B33"/>
                          </a:solidFill>
                          <a:latin typeface="Yu Gothic"/>
                        </a:defRPr>
                      </a:pPr>
                      <a:r>
                        <a:t>上場先</a:t>
                      </a:r>
                    </a:p>
                  </a:txBody>
                  <a:tcPr>
                    <a:solidFill>
                      <a:srgbClr val="F4F3FC"/>
                    </a:solidFill>
                  </a:tcPr>
                </a:tc>
                <a:tc>
                  <a:txBody>
                    <a:bodyPr/>
                    <a:lstStyle/>
                    <a:p>
                      <a:pPr>
                        <a:defRPr sz="1200">
                          <a:solidFill>
                            <a:srgbClr val="1C1B33"/>
                          </a:solidFill>
                          <a:latin typeface="Yu Gothic"/>
                        </a:defRPr>
                      </a:pPr>
                      <a:r>
                        <a:t>上海証券取引所科創板(STARマーケット)</a:t>
                      </a:r>
                    </a:p>
                  </a:txBody>
                  <a:tcPr>
                    <a:solidFill>
                      <a:srgbClr val="F4F3FC"/>
                    </a:solidFill>
                  </a:tcPr>
                </a:tc>
              </a:tr>
              <a:tr h="502920">
                <a:tc>
                  <a:txBody>
                    <a:bodyPr/>
                    <a:lstStyle/>
                    <a:p>
                      <a:pPr>
                        <a:defRPr sz="1200">
                          <a:solidFill>
                            <a:srgbClr val="1C1B33"/>
                          </a:solidFill>
                          <a:latin typeface="Yu Gothic"/>
                        </a:defRPr>
                      </a:pPr>
                      <a:r>
                        <a:t>公開価格</a:t>
                      </a:r>
                    </a:p>
                  </a:txBody>
                  <a:tcPr>
                    <a:solidFill>
                      <a:srgbClr val="FFFFFF"/>
                    </a:solidFill>
                  </a:tcPr>
                </a:tc>
                <a:tc>
                  <a:txBody>
                    <a:bodyPr/>
                    <a:lstStyle/>
                    <a:p>
                      <a:pPr>
                        <a:defRPr sz="1200">
                          <a:solidFill>
                            <a:srgbClr val="1C1B33"/>
                          </a:solidFill>
                          <a:latin typeface="Yu Gothic"/>
                        </a:defRPr>
                      </a:pPr>
                      <a:r>
                        <a:t>150.80元</a:t>
                      </a:r>
                    </a:p>
                  </a:txBody>
                  <a:tcPr>
                    <a:solidFill>
                      <a:srgbClr val="FFFFFF"/>
                    </a:solidFill>
                  </a:tcPr>
                </a:tc>
              </a:tr>
              <a:tr h="502920">
                <a:tc>
                  <a:txBody>
                    <a:bodyPr/>
                    <a:lstStyle/>
                    <a:p>
                      <a:pPr>
                        <a:defRPr sz="1200">
                          <a:solidFill>
                            <a:srgbClr val="1C1B33"/>
                          </a:solidFill>
                          <a:latin typeface="Yu Gothic"/>
                        </a:defRPr>
                      </a:pPr>
                      <a:r>
                        <a:t>初値</a:t>
                      </a:r>
                    </a:p>
                  </a:txBody>
                  <a:tcPr>
                    <a:solidFill>
                      <a:srgbClr val="F4F3FC"/>
                    </a:solidFill>
                  </a:tcPr>
                </a:tc>
                <a:tc>
                  <a:txBody>
                    <a:bodyPr/>
                    <a:lstStyle/>
                    <a:p>
                      <a:pPr>
                        <a:defRPr sz="1200">
                          <a:solidFill>
                            <a:srgbClr val="1C1B33"/>
                          </a:solidFill>
                          <a:latin typeface="Yu Gothic"/>
                        </a:defRPr>
                      </a:pPr>
                      <a:r>
                        <a:t>1,100元(公開価格比629%上昇)</a:t>
                      </a:r>
                    </a:p>
                  </a:txBody>
                  <a:tcPr>
                    <a:solidFill>
                      <a:srgbClr val="F4F3FC"/>
                    </a:solidFill>
                  </a:tcPr>
                </a:tc>
              </a:tr>
              <a:tr h="502920">
                <a:tc>
                  <a:txBody>
                    <a:bodyPr/>
                    <a:lstStyle/>
                    <a:p>
                      <a:pPr>
                        <a:defRPr sz="1200">
                          <a:solidFill>
                            <a:srgbClr val="1C1B33"/>
                          </a:solidFill>
                          <a:latin typeface="Yu Gothic"/>
                        </a:defRPr>
                      </a:pPr>
                      <a:r>
                        <a:t>上場直後の時価総額</a:t>
                      </a:r>
                    </a:p>
                  </a:txBody>
                  <a:tcPr>
                    <a:solidFill>
                      <a:srgbClr val="FFFFFF"/>
                    </a:solidFill>
                  </a:tcPr>
                </a:tc>
                <a:tc>
                  <a:txBody>
                    <a:bodyPr/>
                    <a:lstStyle/>
                    <a:p>
                      <a:pPr>
                        <a:defRPr sz="1200">
                          <a:solidFill>
                            <a:srgbClr val="1C1B33"/>
                          </a:solidFill>
                          <a:latin typeface="Yu Gothic"/>
                        </a:defRPr>
                      </a:pPr>
                      <a:r>
                        <a:t>約445億元(約660億ドル)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South China Morning Post・Bloomberg(2026-08-19)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上場直後の時価総額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約660億ドル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約445億元。初値ベースでの評価額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South China Morning Post(2026-08-19)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IPOの詳細</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調達額・売り出し株式数を確認します。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拡大後の発行済み株式の10%にあたる4,045万株を売り出した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IPOによる調達額は約61億元だった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上場前の評価額は約610億元とされる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South China Morning Post(2026-08-19)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個人投資家の申込倍率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8,000倍超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STARマーケットの記録を更新したと報じられている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複数媒体(2026-08-19時点の報道)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申込倍率の算出基準は不明(正直な開示)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「8,000倍超」が個人投資家のみの数字か、機関投資家を含む全体の数字かは、本調査の範囲では確認できていない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既存テーマで扱った『リテール申込倍率5,526倍』(2026年8月10日申込開始時点)とは異なる、より後の時点の数字である可能性が高いが、同一の算出基準によるものかは確認できていない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本成果物では、確認できた数字のみを紹介し、算出基準を推測で補わない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上場までの流れ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IPO申込開始(8月10日)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リテール申込倍率5,526倍(既存テーマ)</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公開価格150.80元で決定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上場前評価額は約610億元</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上場・初値成立(8月19日)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初値1,100元、629%上昇</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申込開始から実際の上場までの流れ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South China Morning Post(2026-08-19)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上場当日の3ステップ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公開価格でIPO</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150.80元で株式を売り出し、約61億元を調達</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初値629%高騰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上場当日、初値は1,100元で成立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時価総額660億ドルに</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上場直後の時価総額は約445億元に到達</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上場後の値動き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初値急騰の後の動きを確認します。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初値急騰の後、寄り付き後の取引で株価が900元を下回る場面もあったとされる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この値下がりは初値急騰そのものを否定するものではなく、急騰後の値動きの一部として報じられている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上場後数日間の株価の安定性は、本調査時点(上場当日)では確認できていない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South China Morning Post(2026-08-19)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公開価格 / 初値 / 寄り付き後の株価</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公開価格→初値</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公開価格: 150.80元</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初値: 1,100元</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上昇率: 629%(複数媒体が一致)</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初値→寄り付き後</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寄り付き後、900元を下回る場面あり</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初値急騰後の値動きの一部として報道</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数日間の安定性は本調査時点で未確認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「629%」と「542%」の食い違い(正直な開示)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South China Morning Post・Bloomberg・CNN・Caixin Globalの複数媒体は初値上昇率を「629%」と報じている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一方でCNBCのみ「542%」と報じており、他媒体との食い違いがある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算出時点(公開価格に対する初値そのものか、取引開始後のある時点の株価か)の違いによる可能性が考えられるが、本調査の範囲では原因を特定できていない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初値上昇率の報道の違い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629%(複数媒体)</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South China Morning Post</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Bloomberg</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CNN</a:t>
            </a:r>
          </a:p>
        </p:txBody>
      </p:sp>
      <p:sp>
        <p:nvSpPr>
          <p:cNvPr id="15" name="Oval 14"/>
          <p:cNvSpPr/>
          <p:nvPr/>
        </p:nvSpPr>
        <p:spPr>
          <a:xfrm>
            <a:off x="777240" y="4178807"/>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Caixin Global</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542%(単独媒体)</a:t>
            </a:r>
          </a:p>
        </p:txBody>
      </p:sp>
      <p:sp>
        <p:nvSpPr>
          <p:cNvPr id="20" name="Oval 19"/>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CNBCのみがこの数字を報道</a:t>
            </a:r>
          </a:p>
        </p:txBody>
      </p:sp>
      <p:sp>
        <p:nvSpPr>
          <p:cNvPr id="22" name="Oval 21"/>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食い違いの原因は未確認</a:t>
            </a:r>
          </a:p>
        </p:txBody>
      </p:sp>
      <p:sp>
        <p:nvSpPr>
          <p:cNvPr id="24" name="Oval 23"/>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いずれか一方を断定しない</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既存テーマ(申込開始段階)との違い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同じUnitreeを扱う既存テーマとの関係を確認します。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2026年8月10日、IPO申込開始時点でのリテール申込倍率5,526倍を扱う既存テーマが既に存在する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本テーマは、その後の実際の上場・取引開始(2026年8月19日)という、より後の段階の事象を扱う</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『5,526倍』(申込開始時点)と『8,000倍超』(最終的な数字とされる)は異なる時点の数字であり、混同しない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既存テーマとの比較</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比較項目</a:t>
                      </a:r>
                    </a:p>
                  </a:txBody>
                  <a:tcPr>
                    <a:solidFill>
                      <a:srgbClr val="2E2A72"/>
                    </a:solidFill>
                  </a:tcPr>
                </a:tc>
                <a:tc>
                  <a:txBody>
                    <a:bodyPr/>
                    <a:lstStyle/>
                    <a:p>
                      <a:pPr>
                        <a:defRPr sz="1300" b="1">
                          <a:solidFill>
                            <a:srgbClr val="FFFFFF"/>
                          </a:solidFill>
                          <a:latin typeface="Yu Gothic"/>
                        </a:defRPr>
                      </a:pPr>
                      <a:r>
                        <a:t>既存テーマ(8/10申込開始)</a:t>
                      </a:r>
                    </a:p>
                  </a:txBody>
                  <a:tcPr>
                    <a:solidFill>
                      <a:srgbClr val="2E2A72"/>
                    </a:solidFill>
                  </a:tcPr>
                </a:tc>
                <a:tc>
                  <a:txBody>
                    <a:bodyPr/>
                    <a:lstStyle/>
                    <a:p>
                      <a:pPr>
                        <a:defRPr sz="1300" b="1">
                          <a:solidFill>
                            <a:srgbClr val="FFFFFF"/>
                          </a:solidFill>
                          <a:latin typeface="Yu Gothic"/>
                        </a:defRPr>
                      </a:pPr>
                      <a:r>
                        <a:t>本テーマ(8/19上場)</a:t>
                      </a:r>
                    </a:p>
                  </a:txBody>
                  <a:tcPr>
                    <a:solidFill>
                      <a:srgbClr val="2E2A72"/>
                    </a:solidFill>
                  </a:tcPr>
                </a:tc>
              </a:tr>
              <a:tr h="502920">
                <a:tc>
                  <a:txBody>
                    <a:bodyPr/>
                    <a:lstStyle/>
                    <a:p>
                      <a:pPr>
                        <a:defRPr sz="1200">
                          <a:solidFill>
                            <a:srgbClr val="1C1B33"/>
                          </a:solidFill>
                          <a:latin typeface="Yu Gothic"/>
                        </a:defRPr>
                      </a:pPr>
                      <a:r>
                        <a:t>段階</a:t>
                      </a:r>
                    </a:p>
                  </a:txBody>
                  <a:tcPr>
                    <a:solidFill>
                      <a:srgbClr val="FFFFFF"/>
                    </a:solidFill>
                  </a:tcPr>
                </a:tc>
                <a:tc>
                  <a:txBody>
                    <a:bodyPr/>
                    <a:lstStyle/>
                    <a:p>
                      <a:pPr>
                        <a:defRPr sz="1200">
                          <a:solidFill>
                            <a:srgbClr val="1C1B33"/>
                          </a:solidFill>
                          <a:latin typeface="Yu Gothic"/>
                        </a:defRPr>
                      </a:pPr>
                      <a:r>
                        <a:t>IPO申込開始</a:t>
                      </a:r>
                    </a:p>
                  </a:txBody>
                  <a:tcPr>
                    <a:solidFill>
                      <a:srgbClr val="FFFFFF"/>
                    </a:solidFill>
                  </a:tcPr>
                </a:tc>
                <a:tc>
                  <a:txBody>
                    <a:bodyPr/>
                    <a:lstStyle/>
                    <a:p>
                      <a:pPr>
                        <a:defRPr sz="1200">
                          <a:solidFill>
                            <a:srgbClr val="1C1B33"/>
                          </a:solidFill>
                          <a:latin typeface="Yu Gothic"/>
                        </a:defRPr>
                      </a:pPr>
                      <a:r>
                        <a:t>実際の上場・取引開始</a:t>
                      </a:r>
                    </a:p>
                  </a:txBody>
                  <a:tcPr>
                    <a:solidFill>
                      <a:srgbClr val="FFFFFF"/>
                    </a:solidFill>
                  </a:tcPr>
                </a:tc>
              </a:tr>
              <a:tr h="502920">
                <a:tc>
                  <a:txBody>
                    <a:bodyPr/>
                    <a:lstStyle/>
                    <a:p>
                      <a:pPr>
                        <a:defRPr sz="1200">
                          <a:solidFill>
                            <a:srgbClr val="1C1B33"/>
                          </a:solidFill>
                          <a:latin typeface="Yu Gothic"/>
                        </a:defRPr>
                      </a:pPr>
                      <a:r>
                        <a:t>主な数字</a:t>
                      </a:r>
                    </a:p>
                  </a:txBody>
                  <a:tcPr>
                    <a:solidFill>
                      <a:srgbClr val="F4F3FC"/>
                    </a:solidFill>
                  </a:tcPr>
                </a:tc>
                <a:tc>
                  <a:txBody>
                    <a:bodyPr/>
                    <a:lstStyle/>
                    <a:p>
                      <a:pPr>
                        <a:defRPr sz="1200">
                          <a:solidFill>
                            <a:srgbClr val="1C1B33"/>
                          </a:solidFill>
                          <a:latin typeface="Yu Gothic"/>
                        </a:defRPr>
                      </a:pPr>
                      <a:r>
                        <a:t>リテール申込倍率5,526倍</a:t>
                      </a:r>
                    </a:p>
                  </a:txBody>
                  <a:tcPr>
                    <a:solidFill>
                      <a:srgbClr val="F4F3FC"/>
                    </a:solidFill>
                  </a:tcPr>
                </a:tc>
                <a:tc>
                  <a:txBody>
                    <a:bodyPr/>
                    <a:lstStyle/>
                    <a:p>
                      <a:pPr>
                        <a:defRPr sz="1200">
                          <a:solidFill>
                            <a:srgbClr val="1C1B33"/>
                          </a:solidFill>
                          <a:latin typeface="Yu Gothic"/>
                        </a:defRPr>
                      </a:pPr>
                      <a:r>
                        <a:t>初値629%高騰・時価総額660億ドル</a:t>
                      </a:r>
                    </a:p>
                  </a:txBody>
                  <a:tcPr>
                    <a:solidFill>
                      <a:srgbClr val="F4F3FC"/>
                    </a:solidFill>
                  </a:tcPr>
                </a:tc>
              </a:tr>
              <a:tr h="502920">
                <a:tc>
                  <a:txBody>
                    <a:bodyPr/>
                    <a:lstStyle/>
                    <a:p>
                      <a:pPr>
                        <a:defRPr sz="1200">
                          <a:solidFill>
                            <a:srgbClr val="1C1B33"/>
                          </a:solidFill>
                          <a:latin typeface="Yu Gothic"/>
                        </a:defRPr>
                      </a:pPr>
                      <a:r>
                        <a:t>時点</a:t>
                      </a:r>
                    </a:p>
                  </a:txBody>
                  <a:tcPr>
                    <a:solidFill>
                      <a:srgbClr val="FFFFFF"/>
                    </a:solidFill>
                  </a:tcPr>
                </a:tc>
                <a:tc>
                  <a:txBody>
                    <a:bodyPr/>
                    <a:lstStyle/>
                    <a:p>
                      <a:pPr>
                        <a:defRPr sz="1200">
                          <a:solidFill>
                            <a:srgbClr val="1C1B33"/>
                          </a:solidFill>
                          <a:latin typeface="Yu Gothic"/>
                        </a:defRPr>
                      </a:pPr>
                      <a:r>
                        <a:t>2026年8月10日</a:t>
                      </a:r>
                    </a:p>
                  </a:txBody>
                  <a:tcPr>
                    <a:solidFill>
                      <a:srgbClr val="FFFFFF"/>
                    </a:solidFill>
                  </a:tcPr>
                </a:tc>
                <a:tc>
                  <a:txBody>
                    <a:bodyPr/>
                    <a:lstStyle/>
                    <a:p>
                      <a:pPr>
                        <a:defRPr sz="1200">
                          <a:solidFill>
                            <a:srgbClr val="1C1B33"/>
                          </a:solidFill>
                          <a:latin typeface="Yu Gothic"/>
                        </a:defRPr>
                      </a:pPr>
                      <a:r>
                        <a:t>2026年8月19日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資金の使途は不明(正直な開示)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IPOで調達した約61億元の具体的な使途の詳細は、本調査の範囲では確認できていない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研究開発・生産拡大等への充当が一般的に想定されるが、公式な内訳の発表は確認できていない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本成果物では、確認できた調達額のみを紹介し、使途を推測で補わない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株価の安定性は不明(正直な開示)</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上場後数日間の株価が安定的に推移するかどうかは、本調査時点(上場当日)では確認できていない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初値急騰後に株価が900元を下回る場面があったことのみが確認できている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本成果物では、確認できた上場当日の値動きのみを紹介し、将来の株価動向を推測で補わない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初値629%高騰=株価は今後も安定して上昇するはず</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8,000倍超の申込倍率=確実な投資対象のはず</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資金使途はすべて公表済みのはず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確認できているのは上場当日の初値・時価総額のみ</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寄り付き後に900元を下回る場面もあった</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資金使途の具体的な内訳は未確認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ヒューマノイドロボット関連銘柄への市場の関心の高さを示す事例として継続的に確認する視点が役立つ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投資を検討する立場として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初値急騰という事実は押さえつつ、上場後の株価安定性は別途自身で確認する必要がある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中国テック市場に関心がある立場として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STARマーケットでの記録的な申込倍率という動向として参考になる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初値629%高騰はあくまで上場当日の数字であり、今後の株価動向を保証するものではない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初値上昇率について629%と542%という異なる報道があることを踏まえ、複数の情報源を確認したうえで判断することが望ましい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本成果物は投資判断を推奨する内容ではない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投資を検討する場合は、本成果物の紹介にとどまらず、自身で最新の公式情報を確認することが望ましい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上場日・公開価格・初値・時価総額</a:t>
                      </a:r>
                    </a:p>
                  </a:txBody>
                  <a:tcPr>
                    <a:solidFill>
                      <a:srgbClr val="FFFFFF"/>
                    </a:solidFill>
                  </a:tcPr>
                </a:tc>
                <a:tc>
                  <a:txBody>
                    <a:bodyPr/>
                    <a:lstStyle/>
                    <a:p>
                      <a:pPr>
                        <a:defRPr sz="1200">
                          <a:solidFill>
                            <a:srgbClr val="1C1B33"/>
                          </a:solidFill>
                          <a:latin typeface="Yu Gothic"/>
                        </a:defRPr>
                      </a:pPr>
                      <a:r>
                        <a:t>複数媒体で確認済み</a:t>
                      </a:r>
                    </a:p>
                  </a:txBody>
                  <a:tcPr>
                    <a:solidFill>
                      <a:srgbClr val="FFFFFF"/>
                    </a:solidFill>
                  </a:tcPr>
                </a:tc>
              </a:tr>
              <a:tr h="502920">
                <a:tc>
                  <a:txBody>
                    <a:bodyPr/>
                    <a:lstStyle/>
                    <a:p>
                      <a:pPr>
                        <a:defRPr sz="1200">
                          <a:solidFill>
                            <a:srgbClr val="1C1B33"/>
                          </a:solidFill>
                          <a:latin typeface="Yu Gothic"/>
                        </a:defRPr>
                      </a:pPr>
                      <a:r>
                        <a:t>IPO調達額・売り出し株式数</a:t>
                      </a:r>
                    </a:p>
                  </a:txBody>
                  <a:tcPr>
                    <a:solidFill>
                      <a:srgbClr val="F4F3FC"/>
                    </a:solidFill>
                  </a:tcPr>
                </a:tc>
                <a:tc>
                  <a:txBody>
                    <a:bodyPr/>
                    <a:lstStyle/>
                    <a:p>
                      <a:pPr>
                        <a:defRPr sz="1200">
                          <a:solidFill>
                            <a:srgbClr val="1C1B33"/>
                          </a:solidFill>
                          <a:latin typeface="Yu Gothic"/>
                        </a:defRPr>
                      </a:pPr>
                      <a:r>
                        <a:t>複数媒体で確認済み</a:t>
                      </a:r>
                    </a:p>
                  </a:txBody>
                  <a:tcPr>
                    <a:solidFill>
                      <a:srgbClr val="F4F3FC"/>
                    </a:solidFill>
                  </a:tcPr>
                </a:tc>
              </a:tr>
              <a:tr h="502920">
                <a:tc>
                  <a:txBody>
                    <a:bodyPr/>
                    <a:lstStyle/>
                    <a:p>
                      <a:pPr>
                        <a:defRPr sz="1200">
                          <a:solidFill>
                            <a:srgbClr val="1C1B33"/>
                          </a:solidFill>
                          <a:latin typeface="Yu Gothic"/>
                        </a:defRPr>
                      </a:pPr>
                      <a:r>
                        <a:t>初値上昇率(629% vs 542%)の食い違いの原因</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上場後数日間の株価の安定性</a:t>
                      </a:r>
                    </a:p>
                  </a:txBody>
                  <a:tcPr>
                    <a:solidFill>
                      <a:srgbClr val="F4F3FC"/>
                    </a:solidFill>
                  </a:tcPr>
                </a:tc>
                <a:tc>
                  <a:txBody>
                    <a:bodyPr/>
                    <a:lstStyle/>
                    <a:p>
                      <a:pPr>
                        <a:defRPr sz="1200">
                          <a:solidFill>
                            <a:srgbClr val="1C1B33"/>
                          </a:solidFill>
                          <a:latin typeface="Yu Gothic"/>
                        </a:defRPr>
                      </a:pPr>
                      <a:r>
                        <a:t>本調査時点(上場当日)では確認できていない</a:t>
                      </a:r>
                    </a:p>
                  </a:txBody>
                  <a:tcPr>
                    <a:solidFill>
                      <a:srgbClr val="F4F3FC"/>
                    </a:solidFill>
                  </a:tcPr>
                </a:tc>
              </a:tr>
              <a:tr h="502920">
                <a:tc>
                  <a:txBody>
                    <a:bodyPr/>
                    <a:lstStyle/>
                    <a:p>
                      <a:pPr>
                        <a:defRPr sz="1200">
                          <a:solidFill>
                            <a:srgbClr val="1C1B33"/>
                          </a:solidFill>
                          <a:latin typeface="Yu Gothic"/>
                        </a:defRPr>
                      </a:pPr>
                      <a:r>
                        <a:t>資金使途の具体的な内訳</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着手日当日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上場・取引開始(2026年8月19日)は着手日そのもの。鮮度基準を最も強い形で満たす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South China Morning Post</a:t>
                      </a:r>
                    </a:p>
                  </a:txBody>
                  <a:tcPr>
                    <a:solidFill>
                      <a:srgbClr val="FFFFFF"/>
                    </a:solidFill>
                  </a:tcPr>
                </a:tc>
                <a:tc>
                  <a:txBody>
                    <a:bodyPr/>
                    <a:lstStyle/>
                    <a:p>
                      <a:pPr>
                        <a:defRPr sz="1200">
                          <a:solidFill>
                            <a:srgbClr val="1C1B33"/>
                          </a:solidFill>
                          <a:latin typeface="Yu Gothic"/>
                        </a:defRPr>
                      </a:pPr>
                      <a:r>
                        <a:t>上場・初値・時価総額の詳細報道(2026-08-19)</a:t>
                      </a:r>
                    </a:p>
                  </a:txBody>
                  <a:tcPr>
                    <a:solidFill>
                      <a:srgbClr val="FFFFFF"/>
                    </a:solidFill>
                  </a:tcPr>
                </a:tc>
              </a:tr>
              <a:tr h="502920">
                <a:tc>
                  <a:txBody>
                    <a:bodyPr/>
                    <a:lstStyle/>
                    <a:p>
                      <a:pPr>
                        <a:defRPr sz="1200">
                          <a:solidFill>
                            <a:srgbClr val="1C1B33"/>
                          </a:solidFill>
                          <a:latin typeface="Yu Gothic"/>
                        </a:defRPr>
                      </a:pPr>
                      <a:r>
                        <a:t>Bloomberg</a:t>
                      </a:r>
                    </a:p>
                  </a:txBody>
                  <a:tcPr>
                    <a:solidFill>
                      <a:srgbClr val="F4F3FC"/>
                    </a:solidFill>
                  </a:tcPr>
                </a:tc>
                <a:tc>
                  <a:txBody>
                    <a:bodyPr/>
                    <a:lstStyle/>
                    <a:p>
                      <a:pPr>
                        <a:defRPr sz="1200">
                          <a:solidFill>
                            <a:srgbClr val="1C1B33"/>
                          </a:solidFill>
                          <a:latin typeface="Yu Gothic"/>
                        </a:defRPr>
                      </a:pPr>
                      <a:r>
                        <a:t>上場の一次報道(2026-08-18〜19)</a:t>
                      </a:r>
                    </a:p>
                  </a:txBody>
                  <a:tcPr>
                    <a:solidFill>
                      <a:srgbClr val="F4F3FC"/>
                    </a:solidFill>
                  </a:tcPr>
                </a:tc>
              </a:tr>
              <a:tr h="502920">
                <a:tc>
                  <a:txBody>
                    <a:bodyPr/>
                    <a:lstStyle/>
                    <a:p>
                      <a:pPr>
                        <a:defRPr sz="1200">
                          <a:solidFill>
                            <a:srgbClr val="1C1B33"/>
                          </a:solidFill>
                          <a:latin typeface="Yu Gothic"/>
                        </a:defRPr>
                      </a:pPr>
                      <a:r>
                        <a:t>CNN・Caixin Global</a:t>
                      </a:r>
                    </a:p>
                  </a:txBody>
                  <a:tcPr>
                    <a:solidFill>
                      <a:srgbClr val="FFFFFF"/>
                    </a:solidFill>
                  </a:tcPr>
                </a:tc>
                <a:tc>
                  <a:txBody>
                    <a:bodyPr/>
                    <a:lstStyle/>
                    <a:p>
                      <a:pPr>
                        <a:defRPr sz="1200">
                          <a:solidFill>
                            <a:srgbClr val="1C1B33"/>
                          </a:solidFill>
                          <a:latin typeface="Yu Gothic"/>
                        </a:defRPr>
                      </a:pPr>
                      <a:r>
                        <a:t>上場・初値急騰の報道(2026-08-19)</a:t>
                      </a:r>
                    </a:p>
                  </a:txBody>
                  <a:tcPr>
                    <a:solidFill>
                      <a:srgbClr val="FFFFFF"/>
                    </a:solidFill>
                  </a:tcPr>
                </a:tc>
              </a:tr>
              <a:tr h="502920">
                <a:tc>
                  <a:txBody>
                    <a:bodyPr/>
                    <a:lstStyle/>
                    <a:p>
                      <a:pPr>
                        <a:defRPr sz="1200">
                          <a:solidFill>
                            <a:srgbClr val="1C1B33"/>
                          </a:solidFill>
                          <a:latin typeface="Yu Gothic"/>
                        </a:defRPr>
                      </a:pPr>
                      <a:r>
                        <a:t>CNBC</a:t>
                      </a:r>
                    </a:p>
                  </a:txBody>
                  <a:tcPr>
                    <a:solidFill>
                      <a:srgbClr val="F4F3FC"/>
                    </a:solidFill>
                  </a:tcPr>
                </a:tc>
                <a:tc>
                  <a:txBody>
                    <a:bodyPr/>
                    <a:lstStyle/>
                    <a:p>
                      <a:pPr>
                        <a:defRPr sz="1200">
                          <a:solidFill>
                            <a:srgbClr val="1C1B33"/>
                          </a:solidFill>
                          <a:latin typeface="Yu Gothic"/>
                        </a:defRPr>
                      </a:pPr>
                      <a:r>
                        <a:t>初値上昇率のみ他媒体と食い違いあり(2026-08-19)</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South China Morning Post・Bloomberg・CNN・Caixin Global(2026-08-19)</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初値629%高騰。事実だけを、出典付きで。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Unitree Roboticsが上海証券取引所に上場し、初値629%高騰・時価総額660億ドルという記録的な数字が報じられました。上場の詳細と、確認できなかったことまで出典付きで整理してお届けしました。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