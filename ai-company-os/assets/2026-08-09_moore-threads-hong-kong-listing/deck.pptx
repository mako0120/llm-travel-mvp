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純損失(百万元)</c:v>
                </c:pt>
              </c:strCache>
            </c:strRef>
          </c:tx>
          <c:spPr>
            <a:solidFill>
              <a:srgbClr val="7A1F2B"/>
            </a:solidFill>
          </c:spPr>
          <c:cat>
            <c:strRef>
              <c:f>Sheet1!$A$2:$A$3</c:f>
              <c:strCache>
                <c:ptCount val="2"/>
                <c:pt idx="0">
                  <c:v>2025年上半期</c:v>
                </c:pt>
                <c:pt idx="1">
                  <c:v>2026年上半期</c:v>
                </c:pt>
              </c:strCache>
            </c:strRef>
          </c:cat>
          <c:val>
            <c:numRef>
              <c:f>Sheet1!$B$2:$B$3</c:f>
              <c:numCache>
                <c:formatCode>General</c:formatCode>
                <c:ptCount val="2"/>
                <c:pt idx="0">
                  <c:v>270.9</c:v>
                </c:pt>
                <c:pt idx="1">
                  <c:v>11.6</c:v>
                </c:pt>
              </c:numCache>
            </c:numRef>
          </c:val>
        </c:ser>
        <c:dLbls>
          <c:numFmt formatCode="#,##0.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中国のAI半導体設計企業Moore Threadsが、香港上場を計画していると発表しました。上海市場への上場以来、株価は420%を超えて上昇しています。今日はこの発表を出典付きで整理します。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まず結論です。Moore Threadsは『適切なタイミング』で香港上場を計画していると報じられました。上海市場での株価急騰と、大幅に改善した財務実績が背景にあります。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なぜ今このニュースを扱うのか。1日前の発表で鮮度基準を満たし、複数の独立したメディアが同じ内容を報じています。財務データが具体的で検証できる点も採用理由です。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複数の独立したメディアが同じ内容を報じています。Bloombergの一次報道に加え、香港・国際メディアも同じ財務数値を確認しています。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の動きを確認します。2025年12月に上海市場へ上場して以来、株価は420%を超えて上昇しています。これはあくまで上場来の相対的な上昇率であり、現在の時価総額そのもの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Moore Threadsは北京拠点のAI半導体設計企業です。『中国版NVIDIA』はメディアの通称であり、技術的な性能が同等であることを意味する表現ではありません。この点は後ほど改めて整理します。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時系列を確認します。2025年12月に上海へ上場し、2026年上半期に業績を大きく改善させ、そして8月9日に香港上場の計画が報じられました。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上海上場時の調達額も確認しておきます。2025年12月の上場で80億元を調達したと報じられており、この上場を起点に株価が420%超上昇しました。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ここで用語を整理します。STARマーケットは上海のハイテク企業向け市場、H株は中国企業が香港に上場する際の株式です。今回計画されているのは香港メインボードへの上場です。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既存の上海上場と、計画されている香港上場を比べます。上海はすでに上場済みで大きく値上がりしていますが、香港側は取締役会承認の段階で、具体的な時期はまだ公表されていません。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財務実績を3つの数字でまとめました。売上は147%増、純損失は94%縮小、株価は420%超上昇と、いずれも大きな改善・上昇を示しています。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詳しい数字を表にまとめました。純損失は2億7,090万元から1,160万元へ大幅に縮小しています。2025年上半期の売上額そのものは本調査の範囲では確認できていません。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グラフにするとこうなります。純損失は270.9百万元から11.6百万元へ、1年でおよそ9割以上縮小しました。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売上高をもう一度確認します。2026年上半期の売上高は17.4億元で、前年同期比147%の増加です。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香港上場の狙いとして、会社側は国際化の深化と人材確保、ガバナンス強化を挙げています。ただし具体的な調達額や時期は公表されていません。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香港市場全体の動きも見ておきます。2026年、香港でのIPO調達額は420億ドルを超え、過去6年で最も高い水準です。Moore Threadsの計画は、この大きな流れの一例と位置づけられます。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『中国版NVIDIA』という呼び方について整理します。これはメディアが使う通称であり、NVIDIA製品と実際に性能が同等であることを示す技術的な比較結果ではありません。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ここで政治的中立性についての方針を明示します。本テーマはあくまでビジネス・財務・技術のニュースとして扱い、地政学的な論評や価値判断は行いません。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ここで確認できなかったことを一覧にします。上場時期、株式数、時価総額、NVIDIA製品との技術的な性能比較、いずれも本調査の範囲では確定できませんでした。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ここからは実践的な視点です。投資家にとっては、国際的なアクセスが広がる可能性がある一方、まだ黒字化前であること、時期が未確定であることに注意が必要です。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業界にとっての意味も見ておきます。香港IPO市場全体の活況の一例であり、資金調達手段の多様化、財務の透明性向上といった側面があります。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香港上場に向けた現在地を整理します。取締役会の承認は得ており、関係者との協議段階にありますが、正式な申請時期・上場時期は未確定です。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実践的な視点として、正式申請の有無、調達額の比較、財務実績の推移、そして最新情報を公式で確認することをおすすめします。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ここで一度、本テーマの扱い方についてお伝えします。見出しは注目を集める表現ですが、本文は事実に基づき、特定企業への投資推奨はしていません。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ここまでの内容を会社概要早見表としてまとめました。詳細はresearch.mdをご確認ください。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最後にもう一度確認します。株価420%超上昇、純損失94%縮小、売上147%増という実績を背景に、Moore Threadsは香港上場を計画していると報じられました。具体的な時期や調達額は不明であり、その旨を正直にお伝えしています。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本編は以上です。今回はMoore Threadsが計画する香港上場と、その背景にある財務実績をお伝えしました。非公開の情報は不明として扱い、推測部分は推測と明記しています。次回もまた出典付きでお届けします。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株価420%、赤字94%減——</a:t>
            </a:r>
          </a:p>
          <a:p>
            <a:pPr algn="l">
              <a:lnSpc>
                <a:spcPct val="115000"/>
              </a:lnSpc>
            </a:pPr>
            <a:r>
              <a:rPr sz="4200" b="1">
                <a:solidFill>
                  <a:srgbClr val="FFFFFF"/>
                </a:solidFill>
                <a:latin typeface="Yu Gothic"/>
              </a:rPr>
              <a:t>『中国版NVIDIA』が、</a:t>
            </a:r>
          </a:p>
          <a:p>
            <a:pPr algn="l">
              <a:lnSpc>
                <a:spcPct val="115000"/>
              </a:lnSpc>
            </a:pPr>
            <a:r>
              <a:rPr sz="4200" b="1">
                <a:solidFill>
                  <a:srgbClr val="FFFFFF"/>
                </a:solidFill>
                <a:latin typeface="Yu Gothic"/>
              </a:rPr>
              <a:t>香港上場を計画。</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中国のAI半導体設計企業Moore Threads Technologyが、上海STARマーケット上場(2025年12月)以来株価が420%超上昇したことを受け、『適切なタイミング』で香港上場を計画していると発表——2026年上半期は売上147%増・純損失94%縮小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Bloomberg(2026-08-09)ほか。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香港上場を計画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Moore Threads、2026年8月9日にBloombergが報道。株価は上海上場(2025年12月)以来420%超上昇。2026年上半期は売上147%増・純損失は前年同期比94%縮小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Bloomberg(2026-08-09)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何が起きたのか(香港上場計画の中身)</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Moore Threadsとは何か、『中国版NVIDIA』という呼び方の意味</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財務実績を数字で見る(株価・売上・純損失)</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香港上場の狙いと、香港IPO市場全体の動き</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政治的中立性への配慮、確認できなかったこと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2026年8月9日の発表で、着手日(8月10日)から1日前。鮮度基準(2日以内)を満たす</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Bloombergの一次報道に加え、South China Morning Post・TheNextWeb・CryptoBriefingなど複数メディアが同一の財務数値を報じている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株価420%上昇、売上147%増、純損失94%縮小という、検証可能で具体的な財務データが複数揃っている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AI半導体という関心の高い分野で、地理的にも米国中心だった直近テーマを補う多様性がある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research/2026-08-10_theme-evaluation-round92.md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確認できる内容</a:t>
                      </a:r>
                    </a:p>
                  </a:txBody>
                  <a:tcPr>
                    <a:solidFill>
                      <a:srgbClr val="7A1F2B"/>
                    </a:solidFill>
                  </a:tcPr>
                </a:tc>
              </a:tr>
              <a:tr h="502920">
                <a:tc>
                  <a:txBody>
                    <a:bodyPr/>
                    <a:lstStyle/>
                    <a:p>
                      <a:pPr>
                        <a:defRPr sz="1200">
                          <a:solidFill>
                            <a:srgbClr val="2A1712"/>
                          </a:solidFill>
                          <a:latin typeface="Yu Gothic"/>
                        </a:defRPr>
                      </a:pPr>
                      <a:r>
                        <a:t>Bloomberg(2026-08-09)</a:t>
                      </a:r>
                    </a:p>
                  </a:txBody>
                  <a:tcPr>
                    <a:solidFill>
                      <a:srgbClr val="FFFFFF"/>
                    </a:solidFill>
                  </a:tcPr>
                </a:tc>
                <a:tc>
                  <a:txBody>
                    <a:bodyPr/>
                    <a:lstStyle/>
                    <a:p>
                      <a:pPr>
                        <a:defRPr sz="1200">
                          <a:solidFill>
                            <a:srgbClr val="2A1712"/>
                          </a:solidFill>
                          <a:latin typeface="Yu Gothic"/>
                        </a:defRPr>
                      </a:pPr>
                      <a:r>
                        <a:t>香港上場計画・株価420%上昇・財務実績を報じる一次報道</a:t>
                      </a:r>
                    </a:p>
                  </a:txBody>
                  <a:tcPr>
                    <a:solidFill>
                      <a:srgbClr val="FFFFFF"/>
                    </a:solidFill>
                  </a:tcPr>
                </a:tc>
              </a:tr>
              <a:tr h="502920">
                <a:tc>
                  <a:txBody>
                    <a:bodyPr/>
                    <a:lstStyle/>
                    <a:p>
                      <a:pPr>
                        <a:defRPr sz="1200">
                          <a:solidFill>
                            <a:srgbClr val="2A1712"/>
                          </a:solidFill>
                          <a:latin typeface="Yu Gothic"/>
                        </a:defRPr>
                      </a:pPr>
                      <a:r>
                        <a:t>South China Morning Post</a:t>
                      </a:r>
                    </a:p>
                  </a:txBody>
                  <a:tcPr>
                    <a:solidFill>
                      <a:srgbClr val="FBF3E6"/>
                    </a:solidFill>
                  </a:tcPr>
                </a:tc>
                <a:tc>
                  <a:txBody>
                    <a:bodyPr/>
                    <a:lstStyle/>
                    <a:p>
                      <a:pPr>
                        <a:defRPr sz="1200">
                          <a:solidFill>
                            <a:srgbClr val="2A1712"/>
                          </a:solidFill>
                          <a:latin typeface="Yu Gothic"/>
                        </a:defRPr>
                      </a:pPr>
                      <a:r>
                        <a:t>取締役会承認・上場の狙いを含む続報を2本掲載</a:t>
                      </a:r>
                    </a:p>
                  </a:txBody>
                  <a:tcPr>
                    <a:solidFill>
                      <a:srgbClr val="FBF3E6"/>
                    </a:solidFill>
                  </a:tcPr>
                </a:tc>
              </a:tr>
              <a:tr h="502920">
                <a:tc>
                  <a:txBody>
                    <a:bodyPr/>
                    <a:lstStyle/>
                    <a:p>
                      <a:pPr>
                        <a:defRPr sz="1200">
                          <a:solidFill>
                            <a:srgbClr val="2A1712"/>
                          </a:solidFill>
                          <a:latin typeface="Yu Gothic"/>
                        </a:defRPr>
                      </a:pPr>
                      <a:r>
                        <a:t>TheNextWeb</a:t>
                      </a:r>
                    </a:p>
                  </a:txBody>
                  <a:tcPr>
                    <a:solidFill>
                      <a:srgbClr val="FFFFFF"/>
                    </a:solidFill>
                  </a:tcPr>
                </a:tc>
                <a:tc>
                  <a:txBody>
                    <a:bodyPr/>
                    <a:lstStyle/>
                    <a:p>
                      <a:pPr>
                        <a:defRPr sz="1200">
                          <a:solidFill>
                            <a:srgbClr val="2A1712"/>
                          </a:solidFill>
                          <a:latin typeface="Yu Gothic"/>
                        </a:defRPr>
                      </a:pPr>
                      <a:r>
                        <a:t>『中国版NVIDIA』という呼称を含め同内容を報道</a:t>
                      </a:r>
                    </a:p>
                  </a:txBody>
                  <a:tcPr>
                    <a:solidFill>
                      <a:srgbClr val="FFFFFF"/>
                    </a:solidFill>
                  </a:tcPr>
                </a:tc>
              </a:tr>
              <a:tr h="502920">
                <a:tc>
                  <a:txBody>
                    <a:bodyPr/>
                    <a:lstStyle/>
                    <a:p>
                      <a:pPr>
                        <a:defRPr sz="1200">
                          <a:solidFill>
                            <a:srgbClr val="2A1712"/>
                          </a:solidFill>
                          <a:latin typeface="Yu Gothic"/>
                        </a:defRPr>
                      </a:pPr>
                      <a:r>
                        <a:t>CryptoBriefing / Bamboo Works</a:t>
                      </a:r>
                    </a:p>
                  </a:txBody>
                  <a:tcPr>
                    <a:solidFill>
                      <a:srgbClr val="FBF3E6"/>
                    </a:solidFill>
                  </a:tcPr>
                </a:tc>
                <a:tc>
                  <a:txBody>
                    <a:bodyPr/>
                    <a:lstStyle/>
                    <a:p>
                      <a:pPr>
                        <a:defRPr sz="1200">
                          <a:solidFill>
                            <a:srgbClr val="2A1712"/>
                          </a:solidFill>
                          <a:latin typeface="Yu Gothic"/>
                        </a:defRPr>
                      </a:pPr>
                      <a:r>
                        <a:t>財務実績・株価上昇の裏付け報道</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上海上場後の株価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420%超上昇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2025年12月の上海証券取引所STARマーケット上場(デビュー)以来の上昇率(2026年8月9日時点)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Bloomberg(2026-08-09)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Moore Threadsとは何か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本題に入る前に、会社の概要を整理します。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北京拠点のAI半導体設計企業。GPU(画像処理・AI演算向け半導体)の設計を手がける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2025年12月、上海証券取引所STARマーケットへ新規株式公開(IPO)。80億元を調達したと報じられている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『中国版NVIDIA』はメディアが使う通称・市場ポジショニングの表現であり、NVIDIA製品との性能比較のベンチマーク結果に基づくものではない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香港上場が実現すれば、上海(A株)と香港(H株)の『二重上場』となる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South China Morning Post、TheNextWeb、Bamboo Works</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上海上場から香港上場計画発表までの時系列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2025年12月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上海証券取引所STARマーケットへ上場(80億元を調達したと報道)</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2026年上半期</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売上147%増・純損失94%縮小という財務実績を計上</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2026年8月9日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Bloombergが香港上場計画を報道。取締役会がH株発行・香港上場を承認</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上海上場から、財務実績の改善、香港上場計画発表までの流れ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Bloomberg(2026-08-09)、South China Morning Post</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上海上場時の調達額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80億元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2025年12月、上海証券取引所STARマーケットへの上場時に調達したとされる金額(応募超過の取引だったと報じられている)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South China Morning Post、Bamboo Works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用語解説: STARマーケット・H株・メインボードとは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『STARマーケット(科創板)』は、上海証券取引所にある、ハイテク・イノベーション企業向けの株式市場</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『H株』は、中国本土企業が香港証券取引所に上場する際に発行する株式の呼び方</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『メインボード』は香港証券取引所の主要市場区分で、大型企業の上場先として一般的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1つの企業が複数の証券取引所に上場することを『二重上場(デュアルリスティング)』と呼ぶ</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South China Morning Post経由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上海上場(既存) / 香港上場(計画)</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上海(STARマーケット、既存)</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2025年12月に上場済み</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A株として80億元を調達したと報道</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上場後、株価420%超上昇</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香港(メインボード、計画)</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取締役会がH株発行・上場を承認</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『適切なタイミング』で実施予定(時期は不明)</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国際化・人材確保が狙いとされる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財務実績サマリー(2026年上半期)</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147%増</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売上高</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前年同期比147%増の17.4億元</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94%減</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純損失の縮小</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前年同期の2億7,090万元から1,160万元へ縮小</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420%超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株価上昇</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上海上場(2025年12月)以来の上昇率</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Bloomberg(2026-08-09)、South China Morning Post</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財務実績の詳細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2025年上半期</a:t>
                      </a:r>
                    </a:p>
                  </a:txBody>
                  <a:tcPr>
                    <a:solidFill>
                      <a:srgbClr val="7A1F2B"/>
                    </a:solidFill>
                  </a:tcPr>
                </a:tc>
                <a:tc>
                  <a:txBody>
                    <a:bodyPr/>
                    <a:lstStyle/>
                    <a:p>
                      <a:pPr>
                        <a:defRPr sz="1300" b="1">
                          <a:solidFill>
                            <a:srgbClr val="FFFFFF"/>
                          </a:solidFill>
                          <a:latin typeface="Yu Gothic"/>
                        </a:defRPr>
                      </a:pPr>
                      <a:r>
                        <a:t>2026年上半期</a:t>
                      </a:r>
                    </a:p>
                  </a:txBody>
                  <a:tcPr>
                    <a:solidFill>
                      <a:srgbClr val="7A1F2B"/>
                    </a:solidFill>
                  </a:tcPr>
                </a:tc>
              </a:tr>
              <a:tr h="502920">
                <a:tc>
                  <a:txBody>
                    <a:bodyPr/>
                    <a:lstStyle/>
                    <a:p>
                      <a:pPr>
                        <a:defRPr sz="1200">
                          <a:solidFill>
                            <a:srgbClr val="2A1712"/>
                          </a:solidFill>
                          <a:latin typeface="Yu Gothic"/>
                        </a:defRPr>
                      </a:pPr>
                      <a:r>
                        <a:t>純損失</a:t>
                      </a:r>
                    </a:p>
                  </a:txBody>
                  <a:tcPr>
                    <a:solidFill>
                      <a:srgbClr val="FFFFFF"/>
                    </a:solidFill>
                  </a:tcPr>
                </a:tc>
                <a:tc>
                  <a:txBody>
                    <a:bodyPr/>
                    <a:lstStyle/>
                    <a:p>
                      <a:pPr>
                        <a:defRPr sz="1200">
                          <a:solidFill>
                            <a:srgbClr val="2A1712"/>
                          </a:solidFill>
                          <a:latin typeface="Yu Gothic"/>
                        </a:defRPr>
                      </a:pPr>
                      <a:r>
                        <a:t>2億7,090万元</a:t>
                      </a:r>
                    </a:p>
                  </a:txBody>
                  <a:tcPr>
                    <a:solidFill>
                      <a:srgbClr val="FFFFFF"/>
                    </a:solidFill>
                  </a:tcPr>
                </a:tc>
                <a:tc>
                  <a:txBody>
                    <a:bodyPr/>
                    <a:lstStyle/>
                    <a:p>
                      <a:pPr>
                        <a:defRPr sz="1200">
                          <a:solidFill>
                            <a:srgbClr val="2A1712"/>
                          </a:solidFill>
                          <a:latin typeface="Yu Gothic"/>
                        </a:defRPr>
                      </a:pPr>
                      <a:r>
                        <a:t>1,160万元(約172万米ドル)</a:t>
                      </a:r>
                    </a:p>
                  </a:txBody>
                  <a:tcPr>
                    <a:solidFill>
                      <a:srgbClr val="FFFFFF"/>
                    </a:solidFill>
                  </a:tcPr>
                </a:tc>
              </a:tr>
              <a:tr h="502920">
                <a:tc>
                  <a:txBody>
                    <a:bodyPr/>
                    <a:lstStyle/>
                    <a:p>
                      <a:pPr>
                        <a:defRPr sz="1200">
                          <a:solidFill>
                            <a:srgbClr val="2A1712"/>
                          </a:solidFill>
                          <a:latin typeface="Yu Gothic"/>
                        </a:defRPr>
                      </a:pPr>
                      <a:r>
                        <a:t>売上高</a:t>
                      </a:r>
                    </a:p>
                  </a:txBody>
                  <a:tcPr>
                    <a:solidFill>
                      <a:srgbClr val="FBF3E6"/>
                    </a:solidFill>
                  </a:tcPr>
                </a:tc>
                <a:tc>
                  <a:txBody>
                    <a:bodyPr/>
                    <a:lstStyle/>
                    <a:p>
                      <a:pPr>
                        <a:defRPr sz="1200">
                          <a:solidFill>
                            <a:srgbClr val="2A1712"/>
                          </a:solidFill>
                          <a:latin typeface="Yu Gothic"/>
                        </a:defRPr>
                      </a:pPr>
                      <a:r>
                        <a:t>(具体額は本調査の範囲では未確認)</a:t>
                      </a:r>
                    </a:p>
                  </a:txBody>
                  <a:tcPr>
                    <a:solidFill>
                      <a:srgbClr val="FBF3E6"/>
                    </a:solidFill>
                  </a:tcPr>
                </a:tc>
                <a:tc>
                  <a:txBody>
                    <a:bodyPr/>
                    <a:lstStyle/>
                    <a:p>
                      <a:pPr>
                        <a:defRPr sz="1200">
                          <a:solidFill>
                            <a:srgbClr val="2A1712"/>
                          </a:solidFill>
                          <a:latin typeface="Yu Gothic"/>
                        </a:defRPr>
                      </a:pPr>
                      <a:r>
                        <a:t>17.4億元(前年同期比147%増)</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Bloomberg(2026-08-09)、South China Morning Post</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純損失の推移(百万元)</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Bloomberg(2026-08-09)、South China Morning Post</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売上高の伸び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17.4億元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2026年上半期の売上高。前年同期比147%増(前年同期の具体額は本調査の範囲では未確認)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Bloomberg(2026-08-09)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香港上場の狙い(発表内容)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会社側が説明している狙いを整理します。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国際化戦略の深化(deepen the firm's internationalization)</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優秀な研究開発・経営人材の確保・維持</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コーポレートガバナンス・中核競争力の強化</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具体的な調達目標額・上場時期は本調査の範囲では公表されていない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South China Morning Post</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香港IPO市場全体の動き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420億ドル超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2026年、香港市場での新規株式公開(IPO)による調達額は420億ドルを超え、過去6年で最高水準に達している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Bloomberg(2026-08-09)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『中国版NVIDIA』という呼称について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呼称</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メディアの通称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市場ポジショニングに基づく通称であり、公式な社名・分類ではない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由来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AI/GPU設計での位置づけ</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中国国産のAI・グラフィック半導体設計企業として市場で語られていることに由来</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技術的性能の比較ではない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NVIDIA製品との直接的なベンチマーク比較は本調査の範囲では確認できていない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TheNextWeb、CryptoBriefing</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政治的中立性についての方針(本テーマの扱い方)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中国企業を扱うテーマのため、明示しておきます。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本テーマは、Moore Threadsの上場計画・財務実績というビジネス・財務・技術の話題として扱う</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地政学的な論評(米中対立の文脈での価値判断等)は一切行わない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中国のテック産業・政府に対する価値判断は行わない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特定企業(Moore Threads等)への投資・利用を強く推奨する結論にはしない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香港上場の具体的な時期</a:t>
                      </a:r>
                    </a:p>
                  </a:txBody>
                  <a:tcPr>
                    <a:solidFill>
                      <a:srgbClr val="FFFFFF"/>
                    </a:solidFill>
                  </a:tcPr>
                </a:tc>
                <a:tc>
                  <a:txBody>
                    <a:bodyPr/>
                    <a:lstStyle/>
                    <a:p>
                      <a:pPr>
                        <a:defRPr sz="1200">
                          <a:solidFill>
                            <a:srgbClr val="2A1712"/>
                          </a:solidFill>
                          <a:latin typeface="Yu Gothic"/>
                        </a:defRPr>
                      </a:pPr>
                      <a:r>
                        <a:t>『適切なタイミング』としか報じられておらず不明</a:t>
                      </a:r>
                    </a:p>
                  </a:txBody>
                  <a:tcPr>
                    <a:solidFill>
                      <a:srgbClr val="FFFFFF"/>
                    </a:solidFill>
                  </a:tcPr>
                </a:tc>
              </a:tr>
              <a:tr h="502920">
                <a:tc>
                  <a:txBody>
                    <a:bodyPr/>
                    <a:lstStyle/>
                    <a:p>
                      <a:pPr>
                        <a:defRPr sz="1200">
                          <a:solidFill>
                            <a:srgbClr val="2A1712"/>
                          </a:solidFill>
                          <a:latin typeface="Yu Gothic"/>
                        </a:defRPr>
                      </a:pPr>
                      <a:r>
                        <a:t>発行予定の株式数・調達目標額</a:t>
                      </a:r>
                    </a:p>
                  </a:txBody>
                  <a:tcPr>
                    <a:solidFill>
                      <a:srgbClr val="FBF3E6"/>
                    </a:solidFill>
                  </a:tcPr>
                </a:tc>
                <a:tc>
                  <a:txBody>
                    <a:bodyPr/>
                    <a:lstStyle/>
                    <a:p>
                      <a:pPr>
                        <a:defRPr sz="1200">
                          <a:solidFill>
                            <a:srgbClr val="2A1712"/>
                          </a:solidFill>
                          <a:latin typeface="Yu Gothic"/>
                        </a:defRPr>
                      </a:pPr>
                      <a:r>
                        <a:t>本調査の範囲では確認できていない</a:t>
                      </a:r>
                    </a:p>
                  </a:txBody>
                  <a:tcPr>
                    <a:solidFill>
                      <a:srgbClr val="FBF3E6"/>
                    </a:solidFill>
                  </a:tcPr>
                </a:tc>
              </a:tr>
              <a:tr h="502920">
                <a:tc>
                  <a:txBody>
                    <a:bodyPr/>
                    <a:lstStyle/>
                    <a:p>
                      <a:pPr>
                        <a:defRPr sz="1200">
                          <a:solidFill>
                            <a:srgbClr val="2A1712"/>
                          </a:solidFill>
                          <a:latin typeface="Yu Gothic"/>
                        </a:defRPr>
                      </a:pPr>
                      <a:r>
                        <a:t>Moore Threadsの現在の時価総額</a:t>
                      </a:r>
                    </a:p>
                  </a:txBody>
                  <a:tcPr>
                    <a:solidFill>
                      <a:srgbClr val="FFFFFF"/>
                    </a:solidFill>
                  </a:tcPr>
                </a:tc>
                <a:tc>
                  <a:txBody>
                    <a:bodyPr/>
                    <a:lstStyle/>
                    <a:p>
                      <a:pPr>
                        <a:defRPr sz="1200">
                          <a:solidFill>
                            <a:srgbClr val="2A1712"/>
                          </a:solidFill>
                          <a:latin typeface="Yu Gothic"/>
                        </a:defRPr>
                      </a:pPr>
                      <a:r>
                        <a:t>株価の上昇率(420%超)は分かるが、絶対額は不明</a:t>
                      </a:r>
                    </a:p>
                  </a:txBody>
                  <a:tcPr>
                    <a:solidFill>
                      <a:srgbClr val="FFFFFF"/>
                    </a:solidFill>
                  </a:tcPr>
                </a:tc>
              </a:tr>
              <a:tr h="502920">
                <a:tc>
                  <a:txBody>
                    <a:bodyPr/>
                    <a:lstStyle/>
                    <a:p>
                      <a:pPr>
                        <a:defRPr sz="1200">
                          <a:solidFill>
                            <a:srgbClr val="2A1712"/>
                          </a:solidFill>
                          <a:latin typeface="Yu Gothic"/>
                        </a:defRPr>
                      </a:pPr>
                      <a:r>
                        <a:t>NVIDIA製品との直接的な性能比較</a:t>
                      </a:r>
                    </a:p>
                  </a:txBody>
                  <a:tcPr>
                    <a:solidFill>
                      <a:srgbClr val="FBF3E6"/>
                    </a:solidFill>
                  </a:tcPr>
                </a:tc>
                <a:tc>
                  <a:txBody>
                    <a:bodyPr/>
                    <a:lstStyle/>
                    <a:p>
                      <a:pPr>
                        <a:defRPr sz="1200">
                          <a:solidFill>
                            <a:srgbClr val="2A1712"/>
                          </a:solidFill>
                          <a:latin typeface="Yu Gothic"/>
                        </a:defRPr>
                      </a:pPr>
                      <a:r>
                        <a:t>『中国版NVIDIA』は市場ポジショニングの通称であり、技術的な比較の一次情報は未確認</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これは投資家にとって何を意味するか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選択肢が増える可能性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香港上場が実現すれば、国際投資家がMoore Threads株にアクセスしやすくなる可能性がある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財務改善は継続中の途上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純損失は大幅縮小したが、2026年上半期時点でまだ黒字化には至っていない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上場時期は未確定</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『適切なタイミング』としか発表されておらず、具体的な投資判断には続報の確認が必要</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これは業界にとって何を意味するか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香港上場ラッシュの一例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2026年の香港IPO市場は過去6年で最高水準の調達額。中国系ハイテク企業の上場が相次いでいる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中国AI半導体企業の資金調達手段</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国内市場に加え、香港市場という国際的な資金調達の選択肢が広がる動きの一例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財務実績の透明性向上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上場企業として四半期・半期ごとの財務実績が開示される機会が増える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香港上場に向けた現在地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取締役会承認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H株発行・香港メインボード上場の計画を取締役会が承認</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関係者との協議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上場に向けて関係者と協議を継続中と報じられている</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正式申請・上場(未確定)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具体的な申請時期・上場時期は『適切なタイミング』としか発表されておらず不明</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実践: この動きを見るときに確認したいこと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実際にこの話題を追う場合の整理です。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香港取引所への正式な上場申請書類が提出されたかどうかを確認する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発表される調達目標額・発行株式数を、他の中国系ハイテク企業の香港上場と比較する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四半期・半期ごとの財務実績(売上・純損失)の推移を継続して確認する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最新情報はMoore Threads公式発表・香港証券取引所の開示情報で確認する(本記事の情報は2026年8月10日時点)</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誇張回避・特定企業推奨に関する注記</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見出し</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注目を集める表現だが誇張なし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冒頭の見出しは強めの表現だが、本文の内容自体は報道された数値の範囲にとどめている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不明点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推測で埋めない</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上場時期・調達額・時価総額・技術性能比較など、確認できていない数値は創作せず不明として明記している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推奨姿勢</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投資推奨ではない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本テーマはMoore Threads等への投資・利用を強く推奨する結論にはしていない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上場時期の具体化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『適切なタイミング』とされる香港上場が、いつ具体的な日程として発表されるか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調達規模の発表</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発行株式数・調達目標額が公表された際、上海上場時(80億元)と比べてどの規模になるか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他の中国AI半導体企業との比較</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同様に香港上場を模索する他の中国系GPU設計企業との資金調達競争がどう進展するか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会社概要早見表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本社所在地</a:t>
                      </a:r>
                    </a:p>
                  </a:txBody>
                  <a:tcPr>
                    <a:solidFill>
                      <a:srgbClr val="FFFFFF"/>
                    </a:solidFill>
                  </a:tcPr>
                </a:tc>
                <a:tc>
                  <a:txBody>
                    <a:bodyPr/>
                    <a:lstStyle/>
                    <a:p>
                      <a:pPr>
                        <a:defRPr sz="1200">
                          <a:solidFill>
                            <a:srgbClr val="2A1712"/>
                          </a:solidFill>
                          <a:latin typeface="Yu Gothic"/>
                        </a:defRPr>
                      </a:pPr>
                      <a:r>
                        <a:t>北京(中国)</a:t>
                      </a:r>
                    </a:p>
                  </a:txBody>
                  <a:tcPr>
                    <a:solidFill>
                      <a:srgbClr val="FFFFFF"/>
                    </a:solidFill>
                  </a:tcPr>
                </a:tc>
              </a:tr>
              <a:tr h="502920">
                <a:tc>
                  <a:txBody>
                    <a:bodyPr/>
                    <a:lstStyle/>
                    <a:p>
                      <a:pPr>
                        <a:defRPr sz="1200">
                          <a:solidFill>
                            <a:srgbClr val="2A1712"/>
                          </a:solidFill>
                          <a:latin typeface="Yu Gothic"/>
                        </a:defRPr>
                      </a:pPr>
                      <a:r>
                        <a:t>事業内容</a:t>
                      </a:r>
                    </a:p>
                  </a:txBody>
                  <a:tcPr>
                    <a:solidFill>
                      <a:srgbClr val="FBF3E6"/>
                    </a:solidFill>
                  </a:tcPr>
                </a:tc>
                <a:tc>
                  <a:txBody>
                    <a:bodyPr/>
                    <a:lstStyle/>
                    <a:p>
                      <a:pPr>
                        <a:defRPr sz="1200">
                          <a:solidFill>
                            <a:srgbClr val="2A1712"/>
                          </a:solidFill>
                          <a:latin typeface="Yu Gothic"/>
                        </a:defRPr>
                      </a:pPr>
                      <a:r>
                        <a:t>AI半導体(GPU)の設計</a:t>
                      </a:r>
                    </a:p>
                  </a:txBody>
                  <a:tcPr>
                    <a:solidFill>
                      <a:srgbClr val="FBF3E6"/>
                    </a:solidFill>
                  </a:tcPr>
                </a:tc>
              </a:tr>
              <a:tr h="502920">
                <a:tc>
                  <a:txBody>
                    <a:bodyPr/>
                    <a:lstStyle/>
                    <a:p>
                      <a:pPr>
                        <a:defRPr sz="1200">
                          <a:solidFill>
                            <a:srgbClr val="2A1712"/>
                          </a:solidFill>
                          <a:latin typeface="Yu Gothic"/>
                        </a:defRPr>
                      </a:pPr>
                      <a:r>
                        <a:t>上海上場</a:t>
                      </a:r>
                    </a:p>
                  </a:txBody>
                  <a:tcPr>
                    <a:solidFill>
                      <a:srgbClr val="FFFFFF"/>
                    </a:solidFill>
                  </a:tcPr>
                </a:tc>
                <a:tc>
                  <a:txBody>
                    <a:bodyPr/>
                    <a:lstStyle/>
                    <a:p>
                      <a:pPr>
                        <a:defRPr sz="1200">
                          <a:solidFill>
                            <a:srgbClr val="2A1712"/>
                          </a:solidFill>
                          <a:latin typeface="Yu Gothic"/>
                        </a:defRPr>
                      </a:pPr>
                      <a:r>
                        <a:t>2025年12月、STARマーケットへ上場(80億元調達と報道)</a:t>
                      </a:r>
                    </a:p>
                  </a:txBody>
                  <a:tcPr>
                    <a:solidFill>
                      <a:srgbClr val="FFFFFF"/>
                    </a:solidFill>
                  </a:tcPr>
                </a:tc>
              </a:tr>
              <a:tr h="502920">
                <a:tc>
                  <a:txBody>
                    <a:bodyPr/>
                    <a:lstStyle/>
                    <a:p>
                      <a:pPr>
                        <a:defRPr sz="1200">
                          <a:solidFill>
                            <a:srgbClr val="2A1712"/>
                          </a:solidFill>
                          <a:latin typeface="Yu Gothic"/>
                        </a:defRPr>
                      </a:pPr>
                      <a:r>
                        <a:t>2026年上半期実績</a:t>
                      </a:r>
                    </a:p>
                  </a:txBody>
                  <a:tcPr>
                    <a:solidFill>
                      <a:srgbClr val="FBF3E6"/>
                    </a:solidFill>
                  </a:tcPr>
                </a:tc>
                <a:tc>
                  <a:txBody>
                    <a:bodyPr/>
                    <a:lstStyle/>
                    <a:p>
                      <a:pPr>
                        <a:defRPr sz="1200">
                          <a:solidFill>
                            <a:srgbClr val="2A1712"/>
                          </a:solidFill>
                          <a:latin typeface="Yu Gothic"/>
                        </a:defRPr>
                      </a:pPr>
                      <a:r>
                        <a:t>売上17.4億元(前年比147%増)、純損失1,160万元(前年比94%減)</a:t>
                      </a:r>
                    </a:p>
                  </a:txBody>
                  <a:tcPr>
                    <a:solidFill>
                      <a:srgbClr val="FBF3E6"/>
                    </a:solidFill>
                  </a:tcPr>
                </a:tc>
              </a:tr>
              <a:tr h="502920">
                <a:tc>
                  <a:txBody>
                    <a:bodyPr/>
                    <a:lstStyle/>
                    <a:p>
                      <a:pPr>
                        <a:defRPr sz="1200">
                          <a:solidFill>
                            <a:srgbClr val="2A1712"/>
                          </a:solidFill>
                          <a:latin typeface="Yu Gothic"/>
                        </a:defRPr>
                      </a:pPr>
                      <a:r>
                        <a:t>香港上場計画</a:t>
                      </a:r>
                    </a:p>
                  </a:txBody>
                  <a:tcPr>
                    <a:solidFill>
                      <a:srgbClr val="FFFFFF"/>
                    </a:solidFill>
                  </a:tcPr>
                </a:tc>
                <a:tc>
                  <a:txBody>
                    <a:bodyPr/>
                    <a:lstStyle/>
                    <a:p>
                      <a:pPr>
                        <a:defRPr sz="1200">
                          <a:solidFill>
                            <a:srgbClr val="2A1712"/>
                          </a:solidFill>
                          <a:latin typeface="Yu Gothic"/>
                        </a:defRPr>
                      </a:pPr>
                      <a:r>
                        <a:t>2026年8月9日発表(Bloomberg)。時期は『適切なタイミング』としか未確定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Bloomberg(2026-08-09)、South China Morning Post、TheNextWeb</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420% × 香港上場計画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Moore Threadsは上海上場後に株価420%超上昇、2026年上半期は純損失94%縮小・売上147%増。この実績を背景に香港上場を計画していると2026年8月9日に報じられた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Bloomberg(2026-08-09)ほか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Bloomberg(2026-08-09)</a:t>
                      </a:r>
                    </a:p>
                  </a:txBody>
                  <a:tcPr>
                    <a:solidFill>
                      <a:srgbClr val="FFFFFF"/>
                    </a:solidFill>
                  </a:tcPr>
                </a:tc>
                <a:tc>
                  <a:txBody>
                    <a:bodyPr/>
                    <a:lstStyle/>
                    <a:p>
                      <a:pPr>
                        <a:defRPr sz="1200">
                          <a:solidFill>
                            <a:srgbClr val="2A1712"/>
                          </a:solidFill>
                          <a:latin typeface="Yu Gothic"/>
                        </a:defRPr>
                      </a:pPr>
                      <a:r>
                        <a:t>香港上場計画・株価420%上昇・財務実績を報じる一次報道</a:t>
                      </a:r>
                    </a:p>
                  </a:txBody>
                  <a:tcPr>
                    <a:solidFill>
                      <a:srgbClr val="FFFFFF"/>
                    </a:solidFill>
                  </a:tcPr>
                </a:tc>
              </a:tr>
              <a:tr h="502920">
                <a:tc>
                  <a:txBody>
                    <a:bodyPr/>
                    <a:lstStyle/>
                    <a:p>
                      <a:pPr>
                        <a:defRPr sz="1200">
                          <a:solidFill>
                            <a:srgbClr val="2A1712"/>
                          </a:solidFill>
                          <a:latin typeface="Yu Gothic"/>
                        </a:defRPr>
                      </a:pPr>
                      <a:r>
                        <a:t>South China Morning Post</a:t>
                      </a:r>
                    </a:p>
                  </a:txBody>
                  <a:tcPr>
                    <a:solidFill>
                      <a:srgbClr val="FBF3E6"/>
                    </a:solidFill>
                  </a:tcPr>
                </a:tc>
                <a:tc>
                  <a:txBody>
                    <a:bodyPr/>
                    <a:lstStyle/>
                    <a:p>
                      <a:pPr>
                        <a:defRPr sz="1200">
                          <a:solidFill>
                            <a:srgbClr val="2A1712"/>
                          </a:solidFill>
                          <a:latin typeface="Yu Gothic"/>
                        </a:defRPr>
                      </a:pPr>
                      <a:r>
                        <a:t>取締役会承認・上場の狙いを報じる続報(2本)</a:t>
                      </a:r>
                    </a:p>
                  </a:txBody>
                  <a:tcPr>
                    <a:solidFill>
                      <a:srgbClr val="FBF3E6"/>
                    </a:solidFill>
                  </a:tcPr>
                </a:tc>
              </a:tr>
              <a:tr h="502920">
                <a:tc>
                  <a:txBody>
                    <a:bodyPr/>
                    <a:lstStyle/>
                    <a:p>
                      <a:pPr>
                        <a:defRPr sz="1200">
                          <a:solidFill>
                            <a:srgbClr val="2A1712"/>
                          </a:solidFill>
                          <a:latin typeface="Yu Gothic"/>
                        </a:defRPr>
                      </a:pPr>
                      <a:r>
                        <a:t>TheNextWeb</a:t>
                      </a:r>
                    </a:p>
                  </a:txBody>
                  <a:tcPr>
                    <a:solidFill>
                      <a:srgbClr val="FFFFFF"/>
                    </a:solidFill>
                  </a:tcPr>
                </a:tc>
                <a:tc>
                  <a:txBody>
                    <a:bodyPr/>
                    <a:lstStyle/>
                    <a:p>
                      <a:pPr>
                        <a:defRPr sz="1200">
                          <a:solidFill>
                            <a:srgbClr val="2A1712"/>
                          </a:solidFill>
                          <a:latin typeface="Yu Gothic"/>
                        </a:defRPr>
                      </a:pPr>
                      <a:r>
                        <a:t>『中国版NVIDIA』という呼称を含めて報道</a:t>
                      </a:r>
                    </a:p>
                  </a:txBody>
                  <a:tcPr>
                    <a:solidFill>
                      <a:srgbClr val="FFFFFF"/>
                    </a:solidFill>
                  </a:tcPr>
                </a:tc>
              </a:tr>
              <a:tr h="502920">
                <a:tc>
                  <a:txBody>
                    <a:bodyPr/>
                    <a:lstStyle/>
                    <a:p>
                      <a:pPr>
                        <a:defRPr sz="1200">
                          <a:solidFill>
                            <a:srgbClr val="2A1712"/>
                          </a:solidFill>
                          <a:latin typeface="Yu Gothic"/>
                        </a:defRPr>
                      </a:pPr>
                      <a:r>
                        <a:t>CryptoBriefing / Bamboo Works</a:t>
                      </a:r>
                    </a:p>
                  </a:txBody>
                  <a:tcPr>
                    <a:solidFill>
                      <a:srgbClr val="FBF3E6"/>
                    </a:solidFill>
                  </a:tcPr>
                </a:tc>
                <a:tc>
                  <a:txBody>
                    <a:bodyPr/>
                    <a:lstStyle/>
                    <a:p>
                      <a:pPr>
                        <a:defRPr sz="1200">
                          <a:solidFill>
                            <a:srgbClr val="2A1712"/>
                          </a:solidFill>
                          <a:latin typeface="Yu Gothic"/>
                        </a:defRPr>
                      </a:pPr>
                      <a:r>
                        <a:t>財務実績・株価上昇の裏付け報道</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Bloomberg(2026-08-09)ほか｜155本目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『中国版NVIDIA』が、香港市場を目指している。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上場の具体的な時期・調達額が明らかになれば、続報として出典付きでお届けします。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