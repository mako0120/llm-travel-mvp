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2026年8月18日、OpenAIが13歳から17歳のユーザー向けに、より安全性を高めた専用版『ChatGPT for Teens』を、無料プランと有料個人プランの対象アカウントに向けてグローバルに展開開始しました。今日は出典付きで、何が変わったのかを正確に整理してお届けします。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結論から確認します。13歳から17歳向けの専用版『ChatGPT for Teens』が、本日2026年8月18日からグローバルに展開開始されました。年齢推定機能と保護者向けの管理機能がセットになった新しい体験です。ここから1つずつ、出典付きで見ていきます。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今日は6つの流れでお伝えします。まずChatGPT for Teensの全体像を初心者にもわかるように整理し、年齢推定の仕組み、未成年者向けの保護機能、保護者向け機能とプライバシー配慮まで確認します。最後に、保護者・ティーンそれぞれへの影響と、確認できていないことまで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世界最大級の生成AIサービスが、本日から未成年層向けの専用版を即日・グローバルに展開する、鮮度の高い変更であること。年齢推定という新しい仕組みが導入されたこと。そして保護者向け機能とティーン本人のプライバシー配慮が両立している点が、保護者・ティーン双方にとって有用な情報だから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初心者向けに整理します。ChatGPT for Teensは、13歳から17歳の未成年ユーザー向けに、より安全性を高めて設計された専用体験です。無料プラン・有料個人プランの対象アカウントに提供され、通常のChatGPTと同じアプリの中で、年齢に応じて体験が自動的に切り替わる仕組み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年齢推定の仕組みを図で整理します。ChatGPTはアカウントの利用者が18歳未満である可能性を推定する『age prediction』機能を使い、通常の体験と未成年者向けの体験を振り分けます。ポイントは、判定が不確実な場合でも、より安全な未成年者向け体験がデフォルトで適用される設計になっている点です。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年齢推定の重要なポイントです。18歳未満かどうかの判定が不確実な場合、ChatGPTはより安全な未成年者向け体験をデフォルトで適用します。つまり『わからない場合は安全側に倒す』という設計方針が採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通常版とChatGPT for Teensを比較します。ティーン版では自殺・自傷行為、恋愛や性的な会話が制限され、有害コンテンツへのガードが強化されます。あわせて保護者向けの管理機能も新たに利用できるようになります。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成年者向けの保護機能を表で正確に整理します。制限される会話は自殺・自傷行為、恋愛/性的な会話です。ガードが強化される有害コンテンツは、グラフィックな暴力表現・不健全なボディイメージ・危険なバイラルチャレンジ等です。いずれも判定が不確実な場合もデフォルトで適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未成年者向け保護機能を3つの柱でまとめます。会話の制限、有害コンテンツへのガード強化、そして判定が不確実でも安全側がデフォルトになる設計。この3つが今回のティーン版の中心的な保護機能です。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機能の1つ目です。未成年者向け体験では、自殺・自傷行為に関する会話が制限の対象になっています。具体的な手法等の詳細には立ち入らず、こうした会話そのものを制限する設計になっているという事実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保護機能の2つ目です。未成年者向け体験では、恋愛や性的な内容を含む会話が制限されます。通常版のChatGPTとの大きな違いの1つです。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機能の3つ目です。グラフィックな暴力表現・不健全なボディイメージ・危険なバイラルチャレンジ等、有害コンテンツへのガードが強化されています。いずれも出典が示す高いレベルの分類で、詳細な内容には立ち入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カウントが振り分けられるまでの流れです。まずChatGPTが利用者の年齢を推定します。18歳未満と推定される、または判定が不確実な場合はティーン向け体験へ振り分けられ、会話の制限や有害コンテンツへのガード強化が適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者向け機能の全体像です。利用制限時間帯や音声モード、画像生成へのアクセスなど複数の管理機能が用意されています。自傷行為の兆候等、高リスクな状況では保護者に通知が届く設計になっており、学習時間帯にチャットを学習モードで始める設定も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保護者向け機能を表で正確に整理します。Quiet Hoursでの利用制限、Voice Modeの無効化、画像生成へのアクセス管理、高リスク通知、そしてStudy Hoursでの学習モード設定。この5つが、公式に確認できている保護者向け機能です。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保護者向け機能の1つ目、Quiet Hoursです。指定した時間帯にティーンの利用を制限できる機能で、例えば就寝時間帯の利用を防ぎたい場合などに使えます。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保護者向け機能の2つ目、Study Hoursです。新規チャットを学習モードで開始する設定ができ、勉強に集中してほしい時間帯に活用できる機能です。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者向け機能の3つ目、高リスク状況での通知です。自傷行為の兆候等、高リスクな状況が検知された場合、保護者に通知が届く設計になっています。この機能は本テーマの中でも特に重要な安全機能の1つ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特に押さえておきたいポイントです。保護者向け機能が複数用意される一方で、保護者がティーンの会話内容そのものを読んだり監視したりすることはできない設計になっています。保護者が把握できるのは利用制限時間帯や機能のオンオフ、高リスク通知といった管理項目であり、会話の中身その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とプライバシーのバランスを整理します。保護者ができるのは、利用時間帯や機能アクセスの管理、高リスク時の通知受信です。一方で、ティーンの会話内容そのものを読んだり監視したりすることはできません。この線引きが今回の設計の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誤解しやすい点を整理します。年齢推定は、確実に18歳未満と証明された場合だけでなく、判定が不確実な場合も安全側の体験を適用する設計です。つまり成人ユーザーでも、一時的にティーン向け体験が適用される可能性があります。具体的な判定アルゴリズムや精度は確認できておらず、後ほど不明点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で何が変わるか、保護者の立場から整理します。利用時間帯や音声モード、画像生成の管理、高リスク通知の受信ができるようになります。まずは自分の子どものアカウントで、実際に何が設定できるかを確認す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ィーン本人の立場から整理します。自殺・自傷行為、恋愛/性的な会話が制限され、有害コンテンツへのガードが強化された体験を使うことになります。会話内容そのものは保護者に読まれたり監視されたりしないため、プライバシーは一定程度保たれますが、保護者の設定によって使える機能の範囲が変わる場合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立的な立場から懸念点も整理します。年齢推定の判定精度が公表されておらず、成人ユーザーが誤って振り分けられる可能性の大きさは分かりません。既存ユーザーへの移行スケジュールの詳細も確認できていません。会話内容を見られない設計は、保護者側から見ると『どこまで安全か分かりにくい』という受け止め方もあり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年齢推定の具体的な判定アルゴリズムや精度、既存ユーザーへの適用移行スケジュールの詳細、日本を含む各国での提供開始タイミングの差異は、いずれも本調査の範囲では確認できていません。推測で埋め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保護者が今すぐ確認したいことです。子どものアカウントが新体験に切り替わっているか確認し、Quiet HoursやStudy Hours、通知設定などを実際に設定してみることをおすすめします。会話内容そのものは見られない設計であることを理解した上で、家庭内での話し合いも続けることが大切です。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事実と推測を明確に分けて整理します。展開開始日、年齢推定機能、未成年者向け保護機能、保護者向け5機能、会話内容が見えない設計は確認された事実です。一方で導入背景や設計思想の詳細は推測にとどまります。本テーマはOpenAIの利用を強く推奨する内容ではなく、事実の整理と情報提供を目的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本テーマで扱った事実の出典一覧です。OpenAI公式ヘルプセンター・公式ブログを一次情報源とし、ABC News・CBS News・NBC Newsという独立した大手報道機関でも内容が一致することを確認しています。詳細はresearch.mdにも記録しています。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今日はOpenAIのChatGPT for Teensについて、出典付きで整理しました。年齢推定・未成年者向け保護機能・保護者向け機能が同時に導入された一方、会話内容そのものは保護者に見えない設計です。まずはご家庭で、お子さんのChatGPTアカウントの設定を確認してみ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まさかの本日から。</a:t>
            </a:r>
          </a:p>
          <a:p>
            <a:pPr algn="l">
              <a:lnSpc>
                <a:spcPct val="115000"/>
              </a:lnSpc>
            </a:pPr>
            <a:r>
              <a:rPr sz="4200" b="1">
                <a:solidFill>
                  <a:srgbClr val="FFFFFF"/>
                </a:solidFill>
                <a:latin typeface="Yu Gothic"/>
              </a:rPr>
              <a:t>ChatGPT、13〜17歳専用の「ティーン版」を世界展開開始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OpenAI公式ヘルプセンター・公式ブログで確認――年齢推定機能と保護者向け管理機能を備えた新体験が2026年8月18日にスタート</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OpenAI公式ヘルプセンター・公式ブログ(openai.com)、ABC News/CBS News/NBC News(2026-08-18時点)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13〜17歳向け専用版が本日世界展開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年齢推定機能・保護者向け管理機能を備えた「ChatGPT for Teens」が2026年8月18日にグローバルでスタートした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OpenAI公式ヘルプセンター・公式ブログ(openai.com)、ABC News/CBS News/NBC News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ChatGPT for Teensとは(初心者向け)</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年齢推定(age prediction)の仕組みを確認する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未成年者向けの保護機能を1つずつ確認する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保護者向け機能とプライバシー配慮を確認する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保護者・ティーンへの影響と、確認できていないこと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世界最大級の生成AIサービスが、13〜17歳という未成年層向けの専用版を本日から即日・グローバルに展開する、鮮度の高い変更である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「年齢推定」という新しい仕組みが導入され、判定が不確実な場合は自動的に安全側の体験が適用される設計になっている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保護者向け機能と、ティーン本人のプライバシー配慮(会話内容は保護者に見えない)が同時に用意されている点は、保護者・ティーン双方に有用な情報である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ChatGPT for Teensとは(初心者向け)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本題に入る前に、今回の専用版そのものを簡単に説明します。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13〜17歳の未成年ユーザー向けに、より安全性を高めて設計された「ChatGPT」の専用体験</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無料プラン・有料個人プランの対象アカウントに向けて提供される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通常のChatGPTと同じアプリ・サービスの中で、年齢に応じて体験が自動的に切り替わる仕組みである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年齢推定(age prediction)の仕組み</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069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通常のChatGPT体験</a:t>
            </a:r>
          </a:p>
        </p:txBody>
      </p:sp>
      <p:sp>
        <p:nvSpPr>
          <p:cNvPr id="9" name="TextBox 8"/>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18歳以上と推定されたアカウント</a:t>
            </a:r>
          </a:p>
        </p:txBody>
      </p:sp>
      <p:sp>
        <p:nvSpPr>
          <p:cNvPr id="10" name="Right Arrow 9"/>
          <p:cNvSpPr/>
          <p:nvPr/>
        </p:nvSpPr>
        <p:spPr>
          <a:xfrm>
            <a:off x="57575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073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ChatGPT for Teens体験</a:t>
            </a:r>
          </a:p>
        </p:txBody>
      </p:sp>
      <p:sp>
        <p:nvSpPr>
          <p:cNvPr id="14" name="TextBox 13"/>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18歳未満の可能性があると推定されたアカウント(判定不確実時もこちら)</a:t>
            </a:r>
          </a:p>
        </p:txBody>
      </p:sp>
      <p:sp>
        <p:nvSpPr>
          <p:cNvPr id="15" name="TextBox 1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ChatGPTがアカウントの利用者が18歳未満である可能性を推定する「age prediction」機能により、体験が自動的に振り分けられる</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年齢推定の重要ポイント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判定不確実なら、安全側がデフォルト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年齢の判定が不確実な場合、より安全な未成年者向け体験が自動的に適用される設計になっている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OpenAI公式ヘルプセンター・公式ブログ(openai.com)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通常版とChatGPT for Teensを比較する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通常のChatGPT</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恋愛・性的な会話を含め、成人向けの体験が提供される</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有害コンテンツへのガードは既存の標準的な基準</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保護者向けの管理機能はない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ChatGPT for Teens</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自殺・自傷行為、恋愛/性的な会話が制限される</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有害コンテンツへのガードが強化される</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保護者向けの管理機能(Quiet Hours等)が利用できる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未成年者向けの保護機能を正確に整理する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領域</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制限される会話</a:t>
                      </a:r>
                    </a:p>
                  </a:txBody>
                  <a:tcPr>
                    <a:solidFill>
                      <a:srgbClr val="FFFFFF"/>
                    </a:solidFill>
                  </a:tcPr>
                </a:tc>
                <a:tc>
                  <a:txBody>
                    <a:bodyPr/>
                    <a:lstStyle/>
                    <a:p>
                      <a:pPr>
                        <a:defRPr sz="1200">
                          <a:solidFill>
                            <a:srgbClr val="2A1712"/>
                          </a:solidFill>
                          <a:latin typeface="Yu Gothic"/>
                        </a:defRPr>
                      </a:pPr>
                      <a:r>
                        <a:t>自殺・自傷行為、恋愛/性的な会話</a:t>
                      </a:r>
                    </a:p>
                  </a:txBody>
                  <a:tcPr>
                    <a:solidFill>
                      <a:srgbClr val="FFFFFF"/>
                    </a:solidFill>
                  </a:tcPr>
                </a:tc>
              </a:tr>
              <a:tr h="502920">
                <a:tc>
                  <a:txBody>
                    <a:bodyPr/>
                    <a:lstStyle/>
                    <a:p>
                      <a:pPr>
                        <a:defRPr sz="1200">
                          <a:solidFill>
                            <a:srgbClr val="2A1712"/>
                          </a:solidFill>
                          <a:latin typeface="Yu Gothic"/>
                        </a:defRPr>
                      </a:pPr>
                      <a:r>
                        <a:t>ガードが強化される有害コンテンツ</a:t>
                      </a:r>
                    </a:p>
                  </a:txBody>
                  <a:tcPr>
                    <a:solidFill>
                      <a:srgbClr val="FBF3E6"/>
                    </a:solidFill>
                  </a:tcPr>
                </a:tc>
                <a:tc>
                  <a:txBody>
                    <a:bodyPr/>
                    <a:lstStyle/>
                    <a:p>
                      <a:pPr>
                        <a:defRPr sz="1200">
                          <a:solidFill>
                            <a:srgbClr val="2A1712"/>
                          </a:solidFill>
                          <a:latin typeface="Yu Gothic"/>
                        </a:defRPr>
                      </a:pPr>
                      <a:r>
                        <a:t>グラフィックな暴力表現・不健全なボディイメージ・危険なバイラルチャレンジ等</a:t>
                      </a:r>
                    </a:p>
                  </a:txBody>
                  <a:tcPr>
                    <a:solidFill>
                      <a:srgbClr val="FBF3E6"/>
                    </a:solidFill>
                  </a:tcPr>
                </a:tc>
              </a:tr>
              <a:tr h="502920">
                <a:tc>
                  <a:txBody>
                    <a:bodyPr/>
                    <a:lstStyle/>
                    <a:p>
                      <a:pPr>
                        <a:defRPr sz="1200">
                          <a:solidFill>
                            <a:srgbClr val="2A1712"/>
                          </a:solidFill>
                          <a:latin typeface="Yu Gothic"/>
                        </a:defRPr>
                      </a:pPr>
                      <a:r>
                        <a:t>適用のデフォルト</a:t>
                      </a:r>
                    </a:p>
                  </a:txBody>
                  <a:tcPr>
                    <a:solidFill>
                      <a:srgbClr val="FFFFFF"/>
                    </a:solidFill>
                  </a:tcPr>
                </a:tc>
                <a:tc>
                  <a:txBody>
                    <a:bodyPr/>
                    <a:lstStyle/>
                    <a:p>
                      <a:pPr>
                        <a:defRPr sz="1200">
                          <a:solidFill>
                            <a:srgbClr val="2A1712"/>
                          </a:solidFill>
                          <a:latin typeface="Yu Gothic"/>
                        </a:defRPr>
                      </a:pPr>
                      <a:r>
                        <a:t>年齢の判定が不確実な場合も、安全側の体験が自動適用される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未成年者向け保護機能、3つの柱</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会話の制限</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自殺・自傷行為、恋愛/性的な会話を制限する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有害コンテンツへのガード強化</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グラフィックな暴力表現・不健全なボディイメージ・危険なバイラルチャレンジ等への対応を強化する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安全側デフォルト</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年齢判定が不確実でも、安全な未成年者向け体験が自動適用される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保護機能 1</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自殺・自傷行為に関する会話を制限</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未成年者向け体験では、こうした会話が制限の対象になっている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OpenAI公式ヘルプセンター・公式ブログ(openai.com)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保護機能 2</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恋愛/性的な会話を制限</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未成年者向け体験では、恋愛・性的な内容を含む会話が制限される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OpenAI公式ヘルプセンター・公式ブログ(openai.com)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保護機能 3</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有害コンテンツへのガードを強化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グラフィックな暴力表現・不健全なボディイメージ・危険なバイラルチャレンジ等への対応を強化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OpenAI公式ヘルプセンター・公式ブログ(openai.com)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アカウントが振り分けられるまでの流れ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ChatGPTが利用者の年齢を推定する(age prediction)</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18歳未満と推定される、または判定が不確実な場合はティーン向け体験へ</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自殺・自傷/恋愛・性的な会話の制限、有害コンテンツへのガード強化が適用される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保護者向け機能の全体像</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ここからは保護者向けに用意された機能を確認します。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利用制限時間帯・音声モード・画像生成へのアクセスなど、複数の管理機能が用意されている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自傷行為の兆候等、高リスクな状況では保護者に通知が届く設計になっている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「Study Hours(学習時間)」機能で、新規チャットを学習モードで開始する設定もできる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保護者向け機能を正確に整理する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機能</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Quiet Hours(利用制限時間帯)</a:t>
                      </a:r>
                    </a:p>
                  </a:txBody>
                  <a:tcPr>
                    <a:solidFill>
                      <a:srgbClr val="FFFFFF"/>
                    </a:solidFill>
                  </a:tcPr>
                </a:tc>
                <a:tc>
                  <a:txBody>
                    <a:bodyPr/>
                    <a:lstStyle/>
                    <a:p>
                      <a:pPr>
                        <a:defRPr sz="1200">
                          <a:solidFill>
                            <a:srgbClr val="2A1712"/>
                          </a:solidFill>
                          <a:latin typeface="Yu Gothic"/>
                        </a:defRPr>
                      </a:pPr>
                      <a:r>
                        <a:t>指定した時間帯の利用を制限できる</a:t>
                      </a:r>
                    </a:p>
                  </a:txBody>
                  <a:tcPr>
                    <a:solidFill>
                      <a:srgbClr val="FFFFFF"/>
                    </a:solidFill>
                  </a:tcPr>
                </a:tc>
              </a:tr>
              <a:tr h="502920">
                <a:tc>
                  <a:txBody>
                    <a:bodyPr/>
                    <a:lstStyle/>
                    <a:p>
                      <a:pPr>
                        <a:defRPr sz="1200">
                          <a:solidFill>
                            <a:srgbClr val="2A1712"/>
                          </a:solidFill>
                          <a:latin typeface="Yu Gothic"/>
                        </a:defRPr>
                      </a:pPr>
                      <a:r>
                        <a:t>Voice Mode(音声モード)の無効化</a:t>
                      </a:r>
                    </a:p>
                  </a:txBody>
                  <a:tcPr>
                    <a:solidFill>
                      <a:srgbClr val="FBF3E6"/>
                    </a:solidFill>
                  </a:tcPr>
                </a:tc>
                <a:tc>
                  <a:txBody>
                    <a:bodyPr/>
                    <a:lstStyle/>
                    <a:p>
                      <a:pPr>
                        <a:defRPr sz="1200">
                          <a:solidFill>
                            <a:srgbClr val="2A1712"/>
                          </a:solidFill>
                          <a:latin typeface="Yu Gothic"/>
                        </a:defRPr>
                      </a:pPr>
                      <a:r>
                        <a:t>音声での会話機能を無効にできる</a:t>
                      </a:r>
                    </a:p>
                  </a:txBody>
                  <a:tcPr>
                    <a:solidFill>
                      <a:srgbClr val="FBF3E6"/>
                    </a:solidFill>
                  </a:tcPr>
                </a:tc>
              </a:tr>
              <a:tr h="502920">
                <a:tc>
                  <a:txBody>
                    <a:bodyPr/>
                    <a:lstStyle/>
                    <a:p>
                      <a:pPr>
                        <a:defRPr sz="1200">
                          <a:solidFill>
                            <a:srgbClr val="2A1712"/>
                          </a:solidFill>
                          <a:latin typeface="Yu Gothic"/>
                        </a:defRPr>
                      </a:pPr>
                      <a:r>
                        <a:t>画像生成へのアクセス管理</a:t>
                      </a:r>
                    </a:p>
                  </a:txBody>
                  <a:tcPr>
                    <a:solidFill>
                      <a:srgbClr val="FFFFFF"/>
                    </a:solidFill>
                  </a:tcPr>
                </a:tc>
                <a:tc>
                  <a:txBody>
                    <a:bodyPr/>
                    <a:lstStyle/>
                    <a:p>
                      <a:pPr>
                        <a:defRPr sz="1200">
                          <a:solidFill>
                            <a:srgbClr val="2A1712"/>
                          </a:solidFill>
                          <a:latin typeface="Yu Gothic"/>
                        </a:defRPr>
                      </a:pPr>
                      <a:r>
                        <a:t>画像生成機能へのアクセスを管理できる</a:t>
                      </a:r>
                    </a:p>
                  </a:txBody>
                  <a:tcPr>
                    <a:solidFill>
                      <a:srgbClr val="FFFFFF"/>
                    </a:solidFill>
                  </a:tcPr>
                </a:tc>
              </a:tr>
              <a:tr h="502920">
                <a:tc>
                  <a:txBody>
                    <a:bodyPr/>
                    <a:lstStyle/>
                    <a:p>
                      <a:pPr>
                        <a:defRPr sz="1200">
                          <a:solidFill>
                            <a:srgbClr val="2A1712"/>
                          </a:solidFill>
                          <a:latin typeface="Yu Gothic"/>
                        </a:defRPr>
                      </a:pPr>
                      <a:r>
                        <a:t>高リスク通知</a:t>
                      </a:r>
                    </a:p>
                  </a:txBody>
                  <a:tcPr>
                    <a:solidFill>
                      <a:srgbClr val="FBF3E6"/>
                    </a:solidFill>
                  </a:tcPr>
                </a:tc>
                <a:tc>
                  <a:txBody>
                    <a:bodyPr/>
                    <a:lstStyle/>
                    <a:p>
                      <a:pPr>
                        <a:defRPr sz="1200">
                          <a:solidFill>
                            <a:srgbClr val="2A1712"/>
                          </a:solidFill>
                          <a:latin typeface="Yu Gothic"/>
                        </a:defRPr>
                      </a:pPr>
                      <a:r>
                        <a:t>自傷行為の兆候等、高リスクな状況で通知を受け取れる</a:t>
                      </a:r>
                    </a:p>
                  </a:txBody>
                  <a:tcPr>
                    <a:solidFill>
                      <a:srgbClr val="FBF3E6"/>
                    </a:solidFill>
                  </a:tcPr>
                </a:tc>
              </a:tr>
              <a:tr h="502920">
                <a:tc>
                  <a:txBody>
                    <a:bodyPr/>
                    <a:lstStyle/>
                    <a:p>
                      <a:pPr>
                        <a:defRPr sz="1200">
                          <a:solidFill>
                            <a:srgbClr val="2A1712"/>
                          </a:solidFill>
                          <a:latin typeface="Yu Gothic"/>
                        </a:defRPr>
                      </a:pPr>
                      <a:r>
                        <a:t>Study Hours(学習時間)</a:t>
                      </a:r>
                    </a:p>
                  </a:txBody>
                  <a:tcPr>
                    <a:solidFill>
                      <a:srgbClr val="FFFFFF"/>
                    </a:solidFill>
                  </a:tcPr>
                </a:tc>
                <a:tc>
                  <a:txBody>
                    <a:bodyPr/>
                    <a:lstStyle/>
                    <a:p>
                      <a:pPr>
                        <a:defRPr sz="1200">
                          <a:solidFill>
                            <a:srgbClr val="2A1712"/>
                          </a:solidFill>
                          <a:latin typeface="Yu Gothic"/>
                        </a:defRPr>
                      </a:pPr>
                      <a:r>
                        <a:t>新規チャットを学習モードで開始する設定ができる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保護者向け機能 1</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Quiet Hours(利用制限時間帯)</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指定した時間帯にティーンの利用を制限できる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OpenAI公式ヘルプセンター・公式ブログ(openai.com)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保護者向け機能 2</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Study Hours(学習時間)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新規チャットを学習モードで開始する設定ができる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OpenAI公式ヘルプセンター・公式ブログ(openai.com)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保護者向け機能 3</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高リスク状況での通知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自傷行為の兆候等、高リスクな状況が検知された場合に保護者へ通知される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OpenAI公式ヘルプセンター・公式ブログ(openai.com)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見落とせない重要ポイント:会話内容は保護者に見えない</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本テーマで特に押さえておきたい設計上の特徴です。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保護者向け機能が複数用意される一方、保護者がティーンの会話内容そのものを読んだり監視したりすることはできない設計になっている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保護者が把握できるのは、利用制限時間帯の設定・機能のオンオフ・高リスク通知など、会話の中身以外の管理項目である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この設計は、ティーン本人のプライバシーを保ちながら、必要な安全確保(高リスク通知)を両立させる考え方に基づくと理解できる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保護とプライバシーのバランスを整理する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保護者ができること</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Quiet Hours・Study Hoursの時間帯設定</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Voice Mode・画像生成へのアクセス管理</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自傷行為の兆候等、高リスク時の通知受信</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保護者にできないこと</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ティーンの会話内容そのものを読むこと</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ティーンの会話内容そのものを監視すること</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誤解しないための整理:年齢推定について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ここまでの内容を正確に伝えるため、誤解しやすい点を整理します。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年齢推定は「確実に18歳未満と証明された場合」だけでなく、「不確実な場合」も安全側の体験を適用する設計である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つまり成人ユーザーであっても、判定が不確実であればティーン向け体験が一時的に適用される可能性がある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具体的な判定アルゴリズムや精度は公式情報の範囲では確認できておらず、本資料では不明点として扱う(下記スライドで詳述)</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これで何が変わるか:保護者にとって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7A1F2B"/>
                </a:solidFill>
                <a:latin typeface="Yu Gothic"/>
              </a:rPr>
              <a:t>できるようになること</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利用時間帯・音声モード・画像生成の管理、高リスク通知の受信ができる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7A1F2B"/>
                </a:solidFill>
                <a:latin typeface="Yu Gothic"/>
              </a:rPr>
              <a:t>確認しておきたいこと</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自分の子どものアカウントで、実際に何が設定できるかを確認する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これで何が変わるか:ティーンにとって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ティーン本人の立場から整理します。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自殺・自傷行為、恋愛/性的な会話が制限され、有害コンテンツへのガードが強化された体験を使うことになる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会話内容そのものは保護者に読まれたり監視されたりしない設計であり、プライバシーは一定程度保たれる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利用制限時間帯や画像生成へのアクセスなど、保護者の設定によって使える機能の範囲が変わる場合がある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中立的な視点からの懸念点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中立的な立場から、この変更の懸念点も整理します。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年齢推定の判定精度が公表されておらず、成人ユーザーが誤ってティーン向け体験に振り分けられる可能性の大きさが分からない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既存ユーザーがいつ・どのような手順で新体験に切り替わるのか、移行スケジュールの詳細が公式情報の範囲では確認できない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保護者が会話内容を見られない設計は、プライバシー保護である一方、保護者側から見ると『どこまで安全か分かりにくい』という受け止め方もあり得る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確認できていないこと(正直に)</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本調査の範囲で確認できなかった点を明記します。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年齢推定の具体的な判定アルゴリズム・精度</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既存ユーザーへの適用移行スケジュールの詳細</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日本を含む各国での提供開始タイミングの差異</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OpenAI公式ヘルプセンター・公式ブログ(openai.com)、ABC News/CBS News/NBC News</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保護者が今すぐ確認したいこと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子どものアカウントがChatGPT for Teens体験に切り替わっているか確認する</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Quiet Hours・Study Hours・通知設定など、保護者向け機能を実際に設定してみる</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会話内容そのものは見られない設計であることを理解した上で、家庭内での話し合いを続ける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最後に、事実と推測を明確に分けて整理します。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確定している事実: 展開開始日、年齢推定機能の存在、未成年者向け保護機能、保護者向け5機能、会話内容が保護者に見えない設計はOpenAI公式情報・複数の大手報道機関で確認されている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推測の域を出ないこと: 年齢推定導入の背景にある規制動向との関係、保護とプライバシーのバランスに関する設計思想の詳細</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本テーマは特定企業(OpenAI)の利用を強く推奨する内容ではなく、事実の整理と保護者・ティーン向けの情報提供を目的としている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OpenAI公式ヘルプセンター・公式ブログ(openai.com)、ABC News/CBS News/NBC News</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確認済み事実</a:t>
                      </a:r>
                    </a:p>
                  </a:txBody>
                  <a:tcPr>
                    <a:solidFill>
                      <a:srgbClr val="7A1F2B"/>
                    </a:solidFill>
                  </a:tcPr>
                </a:tc>
                <a:tc>
                  <a:txBody>
                    <a:bodyPr/>
                    <a:lstStyle/>
                    <a:p>
                      <a:pPr>
                        <a:defRPr sz="1300" b="1">
                          <a:solidFill>
                            <a:srgbClr val="FFFFFF"/>
                          </a:solidFill>
                          <a:latin typeface="Yu Gothic"/>
                        </a:defRPr>
                      </a:pPr>
                      <a:r>
                        <a:t>出典</a:t>
                      </a:r>
                    </a:p>
                  </a:txBody>
                  <a:tcPr>
                    <a:solidFill>
                      <a:srgbClr val="7A1F2B"/>
                    </a:solidFill>
                  </a:tcPr>
                </a:tc>
              </a:tr>
              <a:tr h="502920">
                <a:tc>
                  <a:txBody>
                    <a:bodyPr/>
                    <a:lstStyle/>
                    <a:p>
                      <a:pPr>
                        <a:defRPr sz="1200">
                          <a:solidFill>
                            <a:srgbClr val="2A1712"/>
                          </a:solidFill>
                          <a:latin typeface="Yu Gothic"/>
                        </a:defRPr>
                      </a:pPr>
                      <a:r>
                        <a:t>ChatGPT for Teensの展開開始(2026年8月18日、グローバル)</a:t>
                      </a:r>
                    </a:p>
                  </a:txBody>
                  <a:tcPr>
                    <a:solidFill>
                      <a:srgbClr val="FFFFFF"/>
                    </a:solidFill>
                  </a:tcPr>
                </a:tc>
                <a:tc>
                  <a:txBody>
                    <a:bodyPr/>
                    <a:lstStyle/>
                    <a:p>
                      <a:pPr>
                        <a:defRPr sz="1200">
                          <a:solidFill>
                            <a:srgbClr val="2A1712"/>
                          </a:solidFill>
                          <a:latin typeface="Yu Gothic"/>
                        </a:defRPr>
                      </a:pPr>
                      <a:r>
                        <a:t>OpenAI公式ヘルプセンター・公式ブログ(openai.com)</a:t>
                      </a:r>
                    </a:p>
                  </a:txBody>
                  <a:tcPr>
                    <a:solidFill>
                      <a:srgbClr val="FFFFFF"/>
                    </a:solidFill>
                  </a:tcPr>
                </a:tc>
              </a:tr>
              <a:tr h="502920">
                <a:tc>
                  <a:txBody>
                    <a:bodyPr/>
                    <a:lstStyle/>
                    <a:p>
                      <a:pPr>
                        <a:defRPr sz="1200">
                          <a:solidFill>
                            <a:srgbClr val="2A1712"/>
                          </a:solidFill>
                          <a:latin typeface="Yu Gothic"/>
                        </a:defRPr>
                      </a:pPr>
                      <a:r>
                        <a:t>年齢推定(age prediction)機能、判定不確実時の安全側デフォルト</a:t>
                      </a:r>
                    </a:p>
                  </a:txBody>
                  <a:tcPr>
                    <a:solidFill>
                      <a:srgbClr val="FBF3E6"/>
                    </a:solidFill>
                  </a:tcPr>
                </a:tc>
                <a:tc>
                  <a:txBody>
                    <a:bodyPr/>
                    <a:lstStyle/>
                    <a:p>
                      <a:pPr>
                        <a:defRPr sz="1200">
                          <a:solidFill>
                            <a:srgbClr val="2A1712"/>
                          </a:solidFill>
                          <a:latin typeface="Yu Gothic"/>
                        </a:defRPr>
                      </a:pPr>
                      <a:r>
                        <a:t>OpenAI公式ヘルプセンター・公式ブログ(openai.com)</a:t>
                      </a:r>
                    </a:p>
                  </a:txBody>
                  <a:tcPr>
                    <a:solidFill>
                      <a:srgbClr val="FBF3E6"/>
                    </a:solidFill>
                  </a:tcPr>
                </a:tc>
              </a:tr>
              <a:tr h="502920">
                <a:tc>
                  <a:txBody>
                    <a:bodyPr/>
                    <a:lstStyle/>
                    <a:p>
                      <a:pPr>
                        <a:defRPr sz="1200">
                          <a:solidFill>
                            <a:srgbClr val="2A1712"/>
                          </a:solidFill>
                          <a:latin typeface="Yu Gothic"/>
                        </a:defRPr>
                      </a:pPr>
                      <a:r>
                        <a:t>未成年者向け保護機能(会話制限・有害コンテンツガード強化)</a:t>
                      </a:r>
                    </a:p>
                  </a:txBody>
                  <a:tcPr>
                    <a:solidFill>
                      <a:srgbClr val="FFFFFF"/>
                    </a:solidFill>
                  </a:tcPr>
                </a:tc>
                <a:tc>
                  <a:txBody>
                    <a:bodyPr/>
                    <a:lstStyle/>
                    <a:p>
                      <a:pPr>
                        <a:defRPr sz="1200">
                          <a:solidFill>
                            <a:srgbClr val="2A1712"/>
                          </a:solidFill>
                          <a:latin typeface="Yu Gothic"/>
                        </a:defRPr>
                      </a:pPr>
                      <a:r>
                        <a:t>OpenAI公式ヘルプセンター・公式ブログ(openai.com)</a:t>
                      </a:r>
                    </a:p>
                  </a:txBody>
                  <a:tcPr>
                    <a:solidFill>
                      <a:srgbClr val="FFFFFF"/>
                    </a:solidFill>
                  </a:tcPr>
                </a:tc>
              </a:tr>
              <a:tr h="502920">
                <a:tc>
                  <a:txBody>
                    <a:bodyPr/>
                    <a:lstStyle/>
                    <a:p>
                      <a:pPr>
                        <a:defRPr sz="1200">
                          <a:solidFill>
                            <a:srgbClr val="2A1712"/>
                          </a:solidFill>
                          <a:latin typeface="Yu Gothic"/>
                        </a:defRPr>
                      </a:pPr>
                      <a:r>
                        <a:t>保護者向け機能5つ、会話内容は保護者に見えない設計</a:t>
                      </a:r>
                    </a:p>
                  </a:txBody>
                  <a:tcPr>
                    <a:solidFill>
                      <a:srgbClr val="FBF3E6"/>
                    </a:solidFill>
                  </a:tcPr>
                </a:tc>
                <a:tc>
                  <a:txBody>
                    <a:bodyPr/>
                    <a:lstStyle/>
                    <a:p>
                      <a:pPr>
                        <a:defRPr sz="1200">
                          <a:solidFill>
                            <a:srgbClr val="2A1712"/>
                          </a:solidFill>
                          <a:latin typeface="Yu Gothic"/>
                        </a:defRPr>
                      </a:pPr>
                      <a:r>
                        <a:t>OpenAI公式ヘルプセンター・公式ブログ(openai.com)</a:t>
                      </a:r>
                    </a:p>
                  </a:txBody>
                  <a:tcPr>
                    <a:solidFill>
                      <a:srgbClr val="FBF3E6"/>
                    </a:solidFill>
                  </a:tcPr>
                </a:tc>
              </a:tr>
              <a:tr h="502920">
                <a:tc>
                  <a:txBody>
                    <a:bodyPr/>
                    <a:lstStyle/>
                    <a:p>
                      <a:pPr>
                        <a:defRPr sz="1200">
                          <a:solidFill>
                            <a:srgbClr val="2A1712"/>
                          </a:solidFill>
                          <a:latin typeface="Yu Gothic"/>
                        </a:defRPr>
                      </a:pPr>
                      <a:r>
                        <a:t>上記内容の独立した報道による確認</a:t>
                      </a:r>
                    </a:p>
                  </a:txBody>
                  <a:tcPr>
                    <a:solidFill>
                      <a:srgbClr val="FFFFFF"/>
                    </a:solidFill>
                  </a:tcPr>
                </a:tc>
                <a:tc>
                  <a:txBody>
                    <a:bodyPr/>
                    <a:lstStyle/>
                    <a:p>
                      <a:pPr>
                        <a:defRPr sz="1200">
                          <a:solidFill>
                            <a:srgbClr val="2A1712"/>
                          </a:solidFill>
                          <a:latin typeface="Yu Gothic"/>
                        </a:defRPr>
                      </a:pPr>
                      <a:r>
                        <a:t>ABC News / CBS News / NBC News</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OpenAI公式ヘルプセンター・公式ブログ(openai.com)、ABC News/CBS News/NBC News(2026-08-18時点)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ChatGPT for Teens、本日から世界展開。まずは家庭のアカウント設定を確認しよう</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保護者向け機能は充実していますが、会話内容そのものは保護者に見えない設計です。詳細は出典のOpenAI公式情報でご確認ください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今すぐ子どものChatGPTアカウントで、保護者向け設定を確認する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