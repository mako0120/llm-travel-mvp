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公表値</c:v>
                </c:pt>
              </c:strCache>
            </c:strRef>
          </c:tx>
          <c:spPr>
            <a:solidFill>
              <a:srgbClr val="2B3A55"/>
            </a:solidFill>
          </c:spPr>
          <c:cat>
            <c:strRef>
              <c:f>Sheet1!$A$2:$A$3</c:f>
              <c:strCache>
                <c:ptCount val="2"/>
                <c:pt idx="0">
                  <c:v>登録ユーザー(万人)</c:v>
                </c:pt>
                <c:pt idx="1">
                  <c:v>作成モデル(百万件)</c:v>
                </c:pt>
              </c:strCache>
            </c:strRef>
          </c:cat>
          <c:val>
            <c:numRef>
              <c:f>Sheet1!$B$2:$B$3</c:f>
              <c:numCache>
                <c:formatCode>General</c:formatCode>
                <c:ptCount val="2"/>
                <c:pt idx="0">
                  <c:v>1200</c:v>
                </c:pt>
                <c:pt idx="1">
                  <c:v>100</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冒頭で具体的な数字(1,200万人・約4億ドル)を即座に提示し、挨拶・前置きを省く。金額だけでなくユーザー規模を先に置くことで「もう使われている」ことを伝える。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結論を先に提示する。日本の視聴者にとってなぜ関係あるのかも同時に示す。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情報の確度と、日本の視聴者への関係性の両方を示す。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専門用語を最初に整理する。3Dに馴染みのない視聴者でも本題が理解できるようにする。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3D制作の大変さを、経験のない視聴者にも伝わる粒度で説明する。ここが後半の「1分で」というインパクトの前提になる。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発表の骨子を表で整理する。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「nearly $400 million」という表現のため、正確な金額は非公表である点に注意する。スライドでも「約」を付けている。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既存株主が割当を超えて応募した点は、既に使っている投資家の評価が高いことを示す材料として紹介する。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単位が異なるため、棒の高さそのものの比較ではなく、それぞれの規模感を示すものとして扱う。ナレーションでも単位の違いに触れる。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調達額より先に「もう広く使われている」ことを印象づける数字。</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2つの入力方式を対比で見せる。手元に画像がある人と、言葉しかない人の両方に使い道があることを伝える。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従来は工程ごとに専門技能が要った部分を、AIがまとめて担おうとしていることを図で示す。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ここは企業側の主張であることを帰属で明確にする。断定しないという方針の実践箇所。次のスライドで扱いを補足する。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企業の宣伝文句をそのまま事実として流さない。何が確認できていないかを具体的に示す。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倍率は出ているが実額が無い、という状態を正直に示す。倍率だけでは規模が分からないことを伝える。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日本で3Dが使われている場面を4つ挙げ、視聴者が自分に近い領域を見つけられるようにする。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日本への関係性を語りつつ、国内実績を確認できていないことも同じスライドで正直に述べる。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起承転結の「転」。過度に持ち上げず、3行目で限界にも触れる。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一方的に推奨せず、向き・不向きを対比で示す。視聴者が自分で判断できる材料を出す。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実践手順に落とす。特に②の規約確認は、生成AIを仕事で使う場合に欠かせないため必ず入れる。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「これで何が変わるか」を個人・企業の両方の視点で示す(初心者にもわかる構成ルール)。</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制作者の仕事への影響に触れつつ、3行目で推測であることを明示する。断定を避ける。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生成AIの対象が2D→動画→3Dと広がってきた流れの中に位置づける。過去テーマとの関連づけではなく、分野の整理として扱う。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発表の熱量に流されず、数字の性質を冷静に整理する。誇張回避ルールに基づく。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正直に、確認できなかったことを列挙する。取得できない情報を推測で埋めない方針の実践。</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鮮度が7日前であることを隠さずスライドに明記する。出典の透明性を確保する。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本テーマ特有の学び(数字の出所を見分ける)を、視聴者が持ち帰れる教訓として締めに置く。次のアクションを1つに絞る。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登録1,200万人。AI 3D生成に、過去最大の約4億ドル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Meshyがシリーズビーで約4億ドルを調達、評価額15億ドル(2026年7月21日発表)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PR Newswire(公式), Yahoo Finance, 3D Printing Industry、2026-07-21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何が起きたか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3D生成AIのMeshyが、この分野として過去最大の約4億ドルを調達した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なぜ重要か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3D制作はゲーム・アニメなど日本の主要産業が抱える、時間とコストの大きな課題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テキストや写真から3Dモデルを作る技術が、今どこまで来ているか分かる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公表されている数字と、企業側の主張を区別して整理して知れる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自分で試すとしたら何を確認すればよいかが分かる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なぜ今、この話を扱うのか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一次情報がある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企業の公式プレスリリースが出ており、複数の独立系メディアが同じ数字で報じている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日本に直結する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ゲーム・アニメ・VTuber・メタバースなど、3Dを使う産業が日本には多い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数字で見る規模と中身</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これは何を意味するか・どう使えるか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慎重に見る点・不明点・まとめ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3Dアセット</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ゲームや映像で使う立体のデータ。形(メッシュ)と表面の見た目(テクスチャ)でできている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Text-to-3D</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「赤い椅子」のような文章から、そのまま3Dモデルを作る技術</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なぜ3D制作は大変なのか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形を作り、表面の質感を貼り、動かせるように整える、と工程が多い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工程ごとに専用ソフトと専門技能が要るため、担当者を揃えるのが難しい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ゲームや映像では大量のアセットが必要で、点数が増えるほど時間もコストも積み上がる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2026年7月21日</a:t>
                      </a:r>
                    </a:p>
                  </a:txBody>
                  <a:tcPr>
                    <a:solidFill>
                      <a:srgbClr val="FFFFFF"/>
                    </a:solidFill>
                  </a:tcPr>
                </a:tc>
              </a:tr>
              <a:tr h="502920">
                <a:tc>
                  <a:txBody>
                    <a:bodyPr/>
                    <a:lstStyle/>
                    <a:p>
                      <a:pPr>
                        <a:defRPr sz="1200">
                          <a:solidFill>
                            <a:srgbClr val="1C2230"/>
                          </a:solidFill>
                          <a:latin typeface="Yu Gothic"/>
                        </a:defRPr>
                      </a:pPr>
                      <a:r>
                        <a:t>企業</a:t>
                      </a:r>
                    </a:p>
                  </a:txBody>
                  <a:tcPr>
                    <a:solidFill>
                      <a:srgbClr val="F1F5FA"/>
                    </a:solidFill>
                  </a:tcPr>
                </a:tc>
                <a:tc>
                  <a:txBody>
                    <a:bodyPr/>
                    <a:lstStyle/>
                    <a:p>
                      <a:pPr>
                        <a:defRPr sz="1200">
                          <a:solidFill>
                            <a:srgbClr val="1C2230"/>
                          </a:solidFill>
                          <a:latin typeface="Yu Gothic"/>
                        </a:defRPr>
                      </a:pPr>
                      <a:r>
                        <a:t>Meshy(創業者: Ethan Hu氏、MIT博士)</a:t>
                      </a:r>
                    </a:p>
                  </a:txBody>
                  <a:tcPr>
                    <a:solidFill>
                      <a:srgbClr val="F1F5FA"/>
                    </a:solidFill>
                  </a:tcPr>
                </a:tc>
              </a:tr>
              <a:tr h="502920">
                <a:tc>
                  <a:txBody>
                    <a:bodyPr/>
                    <a:lstStyle/>
                    <a:p>
                      <a:pPr>
                        <a:defRPr sz="1200">
                          <a:solidFill>
                            <a:srgbClr val="1C2230"/>
                          </a:solidFill>
                          <a:latin typeface="Yu Gothic"/>
                        </a:defRPr>
                      </a:pPr>
                      <a:r>
                        <a:t>内容</a:t>
                      </a:r>
                    </a:p>
                  </a:txBody>
                  <a:tcPr>
                    <a:solidFill>
                      <a:srgbClr val="FFFFFF"/>
                    </a:solidFill>
                  </a:tcPr>
                </a:tc>
                <a:tc>
                  <a:txBody>
                    <a:bodyPr/>
                    <a:lstStyle/>
                    <a:p>
                      <a:pPr>
                        <a:defRPr sz="1200">
                          <a:solidFill>
                            <a:srgbClr val="1C2230"/>
                          </a:solidFill>
                          <a:latin typeface="Yu Gothic"/>
                        </a:defRPr>
                      </a:pPr>
                      <a:r>
                        <a:t>シリーズBで約4億ドルを調達</a:t>
                      </a:r>
                    </a:p>
                  </a:txBody>
                  <a:tcPr>
                    <a:solidFill>
                      <a:srgbClr val="FFFFFF"/>
                    </a:solidFill>
                  </a:tcPr>
                </a:tc>
              </a:tr>
              <a:tr h="502920">
                <a:tc>
                  <a:txBody>
                    <a:bodyPr/>
                    <a:lstStyle/>
                    <a:p>
                      <a:pPr>
                        <a:defRPr sz="1200">
                          <a:solidFill>
                            <a:srgbClr val="1C2230"/>
                          </a:solidFill>
                          <a:latin typeface="Yu Gothic"/>
                        </a:defRPr>
                      </a:pPr>
                      <a:r>
                        <a:t>評価額</a:t>
                      </a:r>
                    </a:p>
                  </a:txBody>
                  <a:tcPr>
                    <a:solidFill>
                      <a:srgbClr val="F1F5FA"/>
                    </a:solidFill>
                  </a:tcPr>
                </a:tc>
                <a:tc>
                  <a:txBody>
                    <a:bodyPr/>
                    <a:lstStyle/>
                    <a:p>
                      <a:pPr>
                        <a:defRPr sz="1200">
                          <a:solidFill>
                            <a:srgbClr val="1C2230"/>
                          </a:solidFill>
                          <a:latin typeface="Yu Gothic"/>
                        </a:defRPr>
                      </a:pPr>
                      <a:r>
                        <a:t>15億ドル(同社として初めて公表された評価額)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Newswire(公式), citybiz(2026-07-21)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 3D分野に特化した企業としては過去最大の調達ラウンドとされる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 Newswire(公式、2026-07-21)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誰が出資したのか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今回のラウンド</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IDG Capital / Matrix Partners China / Monolith Management</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既存株主も追加出資</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Granite Asia / Sequoia China / BAI Capital / Source Code Capital が割当を超過して応募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citybiz(2026-07-21)</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利用規模(公表値)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Newswire(公式、2026-07-21)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登録ユーザー数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1,200万人超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全世界の登録ユーザー。作成されたモデルは1億件を超えるとされる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PR Newswire(公式、2026-07-21)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2つの入り口: 文章から / 画像から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Text-to-3D</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自然言語のプロンプトから生成</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メッシュ・ジオメトリ・テクスチャを作る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Image-to-3D</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1枚の写真やコンセプトアートから生成</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多視点の写真から立体を起こすこともできる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3D制作の流れと、AIが担う部分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①形を作る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メッシュ(立体の形状)を作る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②質感を貼る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テクスチャで表面の見た目を与える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③使える形に</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ゲームや映像で扱える状態に整える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“3Dアセットの制作を、数週間から約1分に。1モデルあたり約1ドルで。”</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Meshy社の説明(報道より要約)。第三者による検証結果ではない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この数字の扱い方(重要)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誰の主張か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「数週間→1分」「約1ドル」はいずれもMeshy社側の説明であり、第三者検証ではない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確認できていないこと</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その1分・1ドルが、どの程度の複雑さ・品質のモデルを指すのかは不明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成長の指標(公表値)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公表されている内容</a:t>
                      </a:r>
                    </a:p>
                  </a:txBody>
                  <a:tcPr>
                    <a:solidFill>
                      <a:srgbClr val="2B3A55"/>
                    </a:solidFill>
                  </a:tcPr>
                </a:tc>
              </a:tr>
              <a:tr h="502920">
                <a:tc>
                  <a:txBody>
                    <a:bodyPr/>
                    <a:lstStyle/>
                    <a:p>
                      <a:pPr>
                        <a:defRPr sz="1200">
                          <a:solidFill>
                            <a:srgbClr val="1C2230"/>
                          </a:solidFill>
                          <a:latin typeface="Yu Gothic"/>
                        </a:defRPr>
                      </a:pPr>
                      <a:r>
                        <a:t>ARR(年間経常収益)</a:t>
                      </a:r>
                    </a:p>
                  </a:txBody>
                  <a:tcPr>
                    <a:solidFill>
                      <a:srgbClr val="FFFFFF"/>
                    </a:solidFill>
                  </a:tcPr>
                </a:tc>
                <a:tc>
                  <a:txBody>
                    <a:bodyPr/>
                    <a:lstStyle/>
                    <a:p>
                      <a:pPr>
                        <a:defRPr sz="1200">
                          <a:solidFill>
                            <a:srgbClr val="1C2230"/>
                          </a:solidFill>
                          <a:latin typeface="Yu Gothic"/>
                        </a:defRPr>
                      </a:pPr>
                      <a:r>
                        <a:t>前年比で約12倍に成長(2026年7月時点)</a:t>
                      </a:r>
                    </a:p>
                  </a:txBody>
                  <a:tcPr>
                    <a:solidFill>
                      <a:srgbClr val="FFFFFF"/>
                    </a:solidFill>
                  </a:tcPr>
                </a:tc>
              </a:tr>
              <a:tr h="502920">
                <a:tc>
                  <a:txBody>
                    <a:bodyPr/>
                    <a:lstStyle/>
                    <a:p>
                      <a:pPr>
                        <a:defRPr sz="1200">
                          <a:solidFill>
                            <a:srgbClr val="1C2230"/>
                          </a:solidFill>
                          <a:latin typeface="Yu Gothic"/>
                        </a:defRPr>
                      </a:pPr>
                      <a:r>
                        <a:t>評価額</a:t>
                      </a:r>
                    </a:p>
                  </a:txBody>
                  <a:tcPr>
                    <a:solidFill>
                      <a:srgbClr val="F1F5FA"/>
                    </a:solidFill>
                  </a:tcPr>
                </a:tc>
                <a:tc>
                  <a:txBody>
                    <a:bodyPr/>
                    <a:lstStyle/>
                    <a:p>
                      <a:pPr>
                        <a:defRPr sz="1200">
                          <a:solidFill>
                            <a:srgbClr val="1C2230"/>
                          </a:solidFill>
                          <a:latin typeface="Yu Gothic"/>
                        </a:defRPr>
                      </a:pPr>
                      <a:r>
                        <a:t>15億ドル(初公表)</a:t>
                      </a:r>
                    </a:p>
                  </a:txBody>
                  <a:tcPr>
                    <a:solidFill>
                      <a:srgbClr val="F1F5FA"/>
                    </a:solidFill>
                  </a:tcPr>
                </a:tc>
              </a:tr>
              <a:tr h="502920">
                <a:tc>
                  <a:txBody>
                    <a:bodyPr/>
                    <a:lstStyle/>
                    <a:p>
                      <a:pPr>
                        <a:defRPr sz="1200">
                          <a:solidFill>
                            <a:srgbClr val="1C2230"/>
                          </a:solidFill>
                          <a:latin typeface="Yu Gothic"/>
                        </a:defRPr>
                      </a:pPr>
                      <a:r>
                        <a:t>注意</a:t>
                      </a:r>
                    </a:p>
                  </a:txBody>
                  <a:tcPr>
                    <a:solidFill>
                      <a:srgbClr val="FFFFFF"/>
                    </a:solidFill>
                  </a:tcPr>
                </a:tc>
                <a:tc>
                  <a:txBody>
                    <a:bodyPr/>
                    <a:lstStyle/>
                    <a:p>
                      <a:pPr>
                        <a:defRPr sz="1200">
                          <a:solidFill>
                            <a:srgbClr val="1C2230"/>
                          </a:solidFill>
                          <a:latin typeface="Yu Gothic"/>
                        </a:defRPr>
                      </a:pPr>
                      <a:r>
                        <a:t>ARRの実額そのものは公表されていない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PR Newswire(公式、2026-07-21)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3D生成AIが効いてくる場所</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ゲーム開発</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大量の小物・背景アセット</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映像・アニメ</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背景美術や小道具の試作</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EC・製品紹介</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商品の3D表示</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個人制作</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VTuber・同人・試作品</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日本の産業との関係</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3Dを使う産業が多い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ゲーム・アニメ・VTuber・メタバースなど、日本には3Dアセットを大量に必要とする産業がある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ただし国内実績は未確認</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日本国内での利用者数や導入事例は、本調査では確認できていない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画像・動画に続いて、3Dにも大きな資金が入る段階に来ている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3D制作の「最初のたたき台を作る」部分は、専門技能がなくても触れる領域になりつつある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一方で、仕上げや調整の工程が不要になったとまでは言えない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向いている使い方 / 慎重に見るべき使い方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向いていそう</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アイデア段階の試作や量産前の検討</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大量の小物アセットのたたき台</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慎重に</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最終品質がそのまま求められる納品物</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権利関係の確認が必要な素材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試すとしたら、確認する順番(目安)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①小さく試す</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まず簡単な形で、出力の品質を自分の目で確かめる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②規約を読む</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生成物の商用利用の可否と権利の扱いを確認する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③工程に載せる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既存の制作フローのどこに挟めるかを見極める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 これで何が変わるか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3Dソフトを覚えていなくても、立体の試作に手が届くようになりつつある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3D制作の外注や内製の判断に、新しい選択肢が加わる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既存の制作者にとってはどうか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たたき台作りが速くなる分、仕上げや設計の判断に時間を回せる可能性がある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一方で、単純な量産作業の価値は下がっていく可能性がある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これは推測であり、実際にどう変わるかはまだ分からない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この分野の他の動き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画像生成</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本シリーズでも既に扱ってきた領域(2D)</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動画生成</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同じく既出。今回の3Dは、その次の層にあたる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慎重に見ておきたい点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「1分」「1ドル」は企業側の主張であり、第三者による検証結果ではない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評価額15億ドルは、実際の売上規模を示すものではない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調達額は「約4億ドル」とされ、正確な金額は公表されていない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公式プレスリリース本文(この調査環境からはアクセスできなかった)</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ARRの実額(倍率は公表されているが金額そのものは非公表)</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「1分・1ドル」がどの複雑さ・品質のモデルを指すのか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日本国内での利用者数・導入事例、資金の具体的な使途</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主な出典と鮮度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2026年7月21日(この動画の制作日から7日前)</a:t>
                      </a:r>
                    </a:p>
                  </a:txBody>
                  <a:tcPr>
                    <a:solidFill>
                      <a:srgbClr val="FFFFFF"/>
                    </a:solidFill>
                  </a:tcPr>
                </a:tc>
              </a:tr>
              <a:tr h="502920">
                <a:tc>
                  <a:txBody>
                    <a:bodyPr/>
                    <a:lstStyle/>
                    <a:p>
                      <a:pPr>
                        <a:defRPr sz="1200">
                          <a:solidFill>
                            <a:srgbClr val="1C2230"/>
                          </a:solidFill>
                          <a:latin typeface="Yu Gothic"/>
                        </a:defRPr>
                      </a:pPr>
                      <a:r>
                        <a:t>一次情報</a:t>
                      </a:r>
                    </a:p>
                  </a:txBody>
                  <a:tcPr>
                    <a:solidFill>
                      <a:srgbClr val="F1F5FA"/>
                    </a:solidFill>
                  </a:tcPr>
                </a:tc>
                <a:tc>
                  <a:txBody>
                    <a:bodyPr/>
                    <a:lstStyle/>
                    <a:p>
                      <a:pPr>
                        <a:defRPr sz="1200">
                          <a:solidFill>
                            <a:srgbClr val="1C2230"/>
                          </a:solidFill>
                          <a:latin typeface="Yu Gothic"/>
                        </a:defRPr>
                      </a:pPr>
                      <a:r>
                        <a:t>PR Newswireの公式プレスリリース</a:t>
                      </a:r>
                    </a:p>
                  </a:txBody>
                  <a:tcPr>
                    <a:solidFill>
                      <a:srgbClr val="F1F5FA"/>
                    </a:solidFill>
                  </a:tcPr>
                </a:tc>
              </a:tr>
              <a:tr h="502920">
                <a:tc>
                  <a:txBody>
                    <a:bodyPr/>
                    <a:lstStyle/>
                    <a:p>
                      <a:pPr>
                        <a:defRPr sz="1200">
                          <a:solidFill>
                            <a:srgbClr val="1C2230"/>
                          </a:solidFill>
                          <a:latin typeface="Yu Gothic"/>
                        </a:defRPr>
                      </a:pPr>
                      <a:r>
                        <a:t>追随報道</a:t>
                      </a:r>
                    </a:p>
                  </a:txBody>
                  <a:tcPr>
                    <a:solidFill>
                      <a:srgbClr val="FFFFFF"/>
                    </a:solidFill>
                  </a:tcPr>
                </a:tc>
                <a:tc>
                  <a:txBody>
                    <a:bodyPr/>
                    <a:lstStyle/>
                    <a:p>
                      <a:pPr>
                        <a:defRPr sz="1200">
                          <a:solidFill>
                            <a:srgbClr val="1C2230"/>
                          </a:solidFill>
                          <a:latin typeface="Yu Gothic"/>
                        </a:defRPr>
                      </a:pPr>
                      <a:r>
                        <a:t>Yahoo Finance / 3D Printing Industry / TechFundingNews / citybiz 等</a:t>
                      </a:r>
                    </a:p>
                  </a:txBody>
                  <a:tcPr>
                    <a:solidFill>
                      <a:srgbClr val="FFFFFF"/>
                    </a:solidFill>
                  </a:tcPr>
                </a:tc>
              </a:tr>
              <a:tr h="502920">
                <a:tc>
                  <a:txBody>
                    <a:bodyPr/>
                    <a:lstStyle/>
                    <a:p>
                      <a:pPr>
                        <a:defRPr sz="1200">
                          <a:solidFill>
                            <a:srgbClr val="1C2230"/>
                          </a:solidFill>
                          <a:latin typeface="Yu Gothic"/>
                        </a:defRPr>
                      </a:pPr>
                      <a:r>
                        <a:t>注意</a:t>
                      </a:r>
                    </a:p>
                  </a:txBody>
                  <a:tcPr>
                    <a:solidFill>
                      <a:srgbClr val="F1F5FA"/>
                    </a:solidFill>
                  </a:tcPr>
                </a:tc>
                <a:tc>
                  <a:txBody>
                    <a:bodyPr/>
                    <a:lstStyle/>
                    <a:p>
                      <a:pPr>
                        <a:defRPr sz="1200">
                          <a:solidFill>
                            <a:srgbClr val="1C2230"/>
                          </a:solidFill>
                          <a:latin typeface="Yu Gothic"/>
                        </a:defRPr>
                      </a:pPr>
                      <a:r>
                        <a:t>公式リリース本文は直接取得できず、要約経由での確認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詳細は research.md を参照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3Dの「最初の一歩」が、専門技能から外れ始めている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 3D分野に過去最大級の資金が入り、登録ユーザーは1,200万人を超えた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3Dに関わる仕事をしているなら、まず簡単な形で出力品質を試してみる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数字は、誰が言っているのかまで見る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今回も「1分」「1ドル」は企業側の主張、「1,200万人」は公式発表と、性質が違った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気になった方は、今回の出典元を実際に読み比べてみてください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