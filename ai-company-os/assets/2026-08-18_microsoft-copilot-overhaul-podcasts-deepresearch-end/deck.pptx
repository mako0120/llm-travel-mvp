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2026年8月18日、Microsoft CopilotアプリがWeb・デスクトップ・モバイルの全てで大きな刷新を開始しました。個人アカウントと仕事・学校アカウントの表示をより明確に分けると同時に、Podcasts・Deep Research・グループチャットの履歴という3つの機能が同日付で終了しています。今日は出典付きで正確に整理してお届けします。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結論から確認します。2026年8月18日付で、CopilotのPodcasts機能、コンシューマー向けDeep Research機能、そしてグループチャットのスレッド・メッセージ・画像等のコンテンツ引き継ぎという3つが終了しました。ここから1つずつ、出典付きで見ていきます。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まず今回の刷新の全体像を初心者にもわかるように整理し、終了する3つの機能を1つずつ確認します。そのうえで個人アカウント・仕事/学校アカウントそれぞれへの影響と注意点、確認できていないこと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このテーマを扱う理由です。今日から効力を持つ、鮮度の高い変更であること。Podcasts・Deep Researchという既存ユーザーが使っていたかもしれない機能が終了すること。そして何より、グループチャットのデータが引き継がれないという、注意喚起として重要な内容を含むためです。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今回の刷新の全体像です。Microsoft CopilotアプリがWeb・デスクトップ・モバイルの全てで、個人アカウントと仕事・学校アカウントの表示をこれまで以上に明確に区別する形に変わりました。あわせてアプリ名・アイコンが簡素化され、Web版のURLも新しいドメインへ移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初心者向けに整理します。Copilotには、個人のMicrosoftアカウントで使う『個人アカウント』と、会社や学校が管理するMicrosoft 365アカウントで使う『仕事・学校アカウント』の2種類があります。今回の刷新は、この2つの見た目・表示をこれまで以上にはっきり分ける変更です。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終了する3つの機能を簡単に説明します。Podcastsはポッドキャスト形式の音声コンテンツを扱う機能、Deep Researchは個人向けCopilotで複数の情報源を横断して深く調べ物をする機能、グループチャットは複数人で1つのチャットを共有する機能です。この3つが本日、終了・変更の対象になっています。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刷新の前後を比較します。これまでのWeb版URLはm365.cloud.microsoftでしたが、本日からcopilot.cloud.microsoftへ移行します。個人/仕事・学校の表示もより明確に区別され、Podcasts・Deep Researchは終了、グループチャットの履歴は引き継がれません。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時系列で整理します。本日8月18日に表示刷新が始まり、Podcasts・Deep Researchが終了、グループチャットの履歴も引き継がれなくなりました。今後は8月下旬にURLの自動リダイレクトが始まり、9月中旬には刷新版のデスクトップアプリが一般提供される予定です。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予定を表で正確に整理します。本日の変更に加え、8月下旬にはURLの自動リダイレクトが始まり、9月中旬には刷新版デスクトップアプリが一般提供される予定です。いずれもMicrosoft公式サポート文書に基づく、判明している範囲の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終了する機能の1つ目、Podcastsです。2026年8月18日以降、Copilotからこの機能を利用することはできなくなりました。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終了する機能の2つ目、コンシューマー向けDeep Researchです。個人向けCopilotで複数の情報源を横断して深く調べる機能で、2026年8月18日より提供が終了しました。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終了する機能の3つ目、グループチャットの引き継ぎです。スレッド・メッセージ・画像等のコンテンツは2026年8月18日以降引き継がれません。これは事実上のデータ消失に相当する、特に注意すべき変更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3つの終了をまとめて振り返ります。Podcasts、コンシューマー向けDeep Research、そしてグループチャットのスレッド・メッセージ・画像等の履歴。いずれも2026年8月18日付で終了・非引き継ぎとなりました。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で変わらない設計もあります。個人アカウントと仕事・学校アカウントの分離自体は今回の刷新後も維持されており、データがアカウントをまたいで混ざる設計にはなっていません。この点は公式文書でも明記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アプリの外観とURLの変化を表で整理します。アプリ名・アイコンが簡素化され、Web版のURLはm365.cloud.microsoftからcopilot.cloud.microsoftへ移行します。個人/仕事・学校の表示区別も、より明確になりました。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解を避けるため、変わらない点も整理します。個人/仕事・学校アカウントの分離という設計方針自体は維持され、データが混ざることもありません。旧URLも8月下旬から自動リダイレクトが始まる予定で、いきなり接続できなくな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裏付けについて明確にします。本テーマの内容はMicrosoft公式サポート文書を一次情報源としています。一方で、終了に至った理由や、事前のデータエクスポート手段の有無までは、公式文書の範囲では確認できていません。この点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個人アカウント利用者への影響です。Podcasts・Deep Researchを使っていた人は、本日以降これらの機能を利用できません。URLをブックマークしていた人も、8月下旬から自動リダイレクトが始まる予定です。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事・学校アカウント利用者への影響です。グループチャットを使っていたチームは、スレッド・メッセージ・画像等のコンテンツが本日以降引き継がれません。組織内での新URLの周知も必要にな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影響の大きさを比較します。個人アカウントでは主に機能終了(Podcasts・Deep Research)が影響しますが、仕事・学校アカウントではグループチャットの履歴という、既存のコンテンツそのものが引き継がれない点がより重い影響になり得ます。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最も注意喚起したい点です。グループチャットのスレッド・メッセージ・画像等は本日以降引き継がれず、事実上のデータ消失に相当します。チームで重要なやり取りをしていた場合、記録を確認する手段が失われている可能性があるため、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立的な立場から懸念点も整理します。即日の機能終了・非引き継ぎという形の発表で、準備期間が十分だったかは確認できません。事前のエクスポート手段の有無が不明な点、終了理由が説明されていない点も、利用者にとって懸念材料になり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終了に至った経営上の理由、グループチャットデータの事前エクスポート手段の有無、法人向けでの扱いは、いずれも本調査の範囲では確認できていません。推測で埋め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今すぐ確認したいことです。PodcastsやDeep Researchで進行中の作業がないか、重要なグループチャットの内容が他の手段で残っていないか、そしてブックマークのURLを新しいものに更新する。この3点を確認することをおすすめします。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これで何が変わるか・どう使えるかを整理します。個人利用者はPodcasts・Deep Researchに代わる情報収集手段を検討する必要が出てきます。チーム管理者にとっては、グループチャットに依存した情報共有フローを見直す機会にもなり得ます。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です。8月下旬にはURLの自動リダイレクトが始まり、9月中旬には刷新版のデスクトップアプリが一般提供される予定です。いずれも公式サポート文書で示されている、現時点で判明してい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事実と推測を明確に分けて整理します。刷新開始日・3機能の終了日・今後の予定日程は公式文書で確認された事実です。一方で終了理由や評価への影響は推測にとどまります。本テーマはMicrosoftの利用を強く推奨する内容ではなく、事実の整理と注意喚起を目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本テーマで扱った事実の出典一覧です。いずれもMicrosoft公式サポート文書(support.microsoft.com)を一次情報源としています。詳細は research.md にも記録しています。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今日はMicrosoft Copilotアプリの本日の大改修について、出典付きで整理しました。Podcasts・DeepResearch・グループチャット履歴という3つの機能が本日終了した一方、個人/仕事・学校アカウントの分離という設計自体は維持されています。まずはご自身のCopilotを開いて、影響がないか確認してみ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Copilotアプリ、まさかの本日大改修。</a:t>
            </a:r>
          </a:p>
          <a:p>
            <a:pPr algn="l">
              <a:lnSpc>
                <a:spcPct val="115000"/>
              </a:lnSpc>
            </a:pPr>
            <a:r>
              <a:rPr sz="4200" b="1">
                <a:solidFill>
                  <a:srgbClr val="FFFFFF"/>
                </a:solidFill>
                <a:latin typeface="Yu Gothic"/>
              </a:rPr>
              <a:t>Podcasts・Deep Research・グループチャット履歴が終了</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2026年8月18日、Microsoft公式サポート文書で確認――個人/仕事・学校アカウントの表示を刷新、3つの機能が同日で終了</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Microsoft公式サポート文書(support.microsoft.com、2026-08-18時点)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3機能が本日終了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Podcasts・Deep Research(コンシューマー向け)・グループチャットのコンテンツ引き継ぎが、2026年8月18日付で終了した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Microsoft公式サポート文書(support.microsoft.com、2026-08-18時点)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今回の刷新の全体像(初心者向け)</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終了する3つの機能を1つずつ確認する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刷新の前後・時系列を正確に整理する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個人/仕事・学校それぞれへの影響と注意点</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確認できていないこと・今後の予定・出典一覧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Microsoft Copilotアプリの刷新・機能終了が、まさに本日(2026年8月18日)から効力を持つ、鮮度の高い変更である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Podcasts・Deep Researchという、既存ユーザーが日常的に使っていた可能性のある機能が予告なく即日終了する形の発表である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グループチャットのコンテンツが引き継がれないという点は、事実上のデータ消失に相当し、注意喚起としての価値が高い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今回の刷新の全体像</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まず、何が起きているのかを整理します。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Microsoft Copilotアプリ(Web版・デスクトップ版・モバイル版)が2026年8月18日より刷新を開始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個人アカウントと仕事・学校アカウントの表示をこれまで以上に明確に区別する設計に変更</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アプリ名・アイコンが簡素化され、Web版URLも新しいドメインへ移行する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個人アカウントと仕事・学校アカウント(初心者向け)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個人アカウント</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個人のMicrosoftアカウントで使うCopilot</a:t>
            </a:r>
          </a:p>
        </p:txBody>
      </p:sp>
      <p:sp>
        <p:nvSpPr>
          <p:cNvPr id="10" name="Right Arrow 9"/>
          <p:cNvSpPr/>
          <p:nvPr/>
        </p:nvSpPr>
        <p:spPr>
          <a:xfrm>
            <a:off x="57575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仕事・学校アカウント</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組織のMicrosoft 365アカウントで使うCopilot</a:t>
            </a:r>
          </a:p>
        </p:txBody>
      </p:sp>
      <p:sp>
        <p:nvSpPr>
          <p:cNvPr id="15" name="TextBox 1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今回の刷新は、この2つの表示をこれまで以上に明確に分ける変更である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終了する3機能とは(初心者向け解説)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本題に入る前に、終了する機能そのものを簡単に説明します。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Podcasts: Copilot上でポッドキャスト形式の音声コンテンツを扱う機能</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Deep Research(コンシューマー向け): 個人向けCopilotで、複数の情報源を横断して深く調べ物をする機能</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グループチャット: 複数人で1つのCopilotチャットを共有し、スレッド・メッセージ・画像等をやり取りする機能</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刷新の前後を比較する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これまで(〜2026年8月17日)</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Web版URLは m365.cloud.microsoft</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個人/仕事・学校の表示区分は現行のまま</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Podcasts・Deep Research・グループチャット履歴が利用可能</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本日から(2026年8月18日〜)</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Web版URLは copilot.cloud.microsoft へ移行</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個人/仕事・学校の表示をより明確に区別</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Podcasts・Deep Research終了、グループチャット履歴は引き継がれない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今回の変更の時系列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本日 8/18</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表示刷新の開始。Podcasts・Deep Research終了、グループチャット非引き継ぎ</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8月下旬</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URL自動リダイレクトのロールアウトが開始される見込み</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9月中旬</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刷新版デスクトップアプリの一般提供(GA)が予定されている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今後の予定を正確に整理する(判明している範囲)</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2026年8月18日(本日)</a:t>
                      </a:r>
                    </a:p>
                  </a:txBody>
                  <a:tcPr>
                    <a:solidFill>
                      <a:srgbClr val="FFFFFF"/>
                    </a:solidFill>
                  </a:tcPr>
                </a:tc>
                <a:tc>
                  <a:txBody>
                    <a:bodyPr/>
                    <a:lstStyle/>
                    <a:p>
                      <a:pPr>
                        <a:defRPr sz="1200">
                          <a:solidFill>
                            <a:srgbClr val="16202E"/>
                          </a:solidFill>
                          <a:latin typeface="Yu Gothic"/>
                        </a:defRPr>
                      </a:pPr>
                      <a:r>
                        <a:t>個人/仕事・学校の表示刷新開始、Podcasts・Deep Research終了、グループチャット非引き継ぎ</a:t>
                      </a:r>
                    </a:p>
                  </a:txBody>
                  <a:tcPr>
                    <a:solidFill>
                      <a:srgbClr val="FFFFFF"/>
                    </a:solidFill>
                  </a:tcPr>
                </a:tc>
              </a:tr>
              <a:tr h="502920">
                <a:tc>
                  <a:txBody>
                    <a:bodyPr/>
                    <a:lstStyle/>
                    <a:p>
                      <a:pPr>
                        <a:defRPr sz="1200">
                          <a:solidFill>
                            <a:srgbClr val="16202E"/>
                          </a:solidFill>
                          <a:latin typeface="Yu Gothic"/>
                        </a:defRPr>
                      </a:pPr>
                      <a:r>
                        <a:t>2026年8月下旬</a:t>
                      </a:r>
                    </a:p>
                  </a:txBody>
                  <a:tcPr>
                    <a:solidFill>
                      <a:srgbClr val="F2F6FA"/>
                    </a:solidFill>
                  </a:tcPr>
                </a:tc>
                <a:tc>
                  <a:txBody>
                    <a:bodyPr/>
                    <a:lstStyle/>
                    <a:p>
                      <a:pPr>
                        <a:defRPr sz="1200">
                          <a:solidFill>
                            <a:srgbClr val="16202E"/>
                          </a:solidFill>
                          <a:latin typeface="Yu Gothic"/>
                        </a:defRPr>
                      </a:pPr>
                      <a:r>
                        <a:t>URL自動リダイレクトのロールアウト開始予定</a:t>
                      </a:r>
                    </a:p>
                  </a:txBody>
                  <a:tcPr>
                    <a:solidFill>
                      <a:srgbClr val="F2F6FA"/>
                    </a:solidFill>
                  </a:tcPr>
                </a:tc>
              </a:tr>
              <a:tr h="502920">
                <a:tc>
                  <a:txBody>
                    <a:bodyPr/>
                    <a:lstStyle/>
                    <a:p>
                      <a:pPr>
                        <a:defRPr sz="1200">
                          <a:solidFill>
                            <a:srgbClr val="16202E"/>
                          </a:solidFill>
                          <a:latin typeface="Yu Gothic"/>
                        </a:defRPr>
                      </a:pPr>
                      <a:r>
                        <a:t>2026年9月中旬</a:t>
                      </a:r>
                    </a:p>
                  </a:txBody>
                  <a:tcPr>
                    <a:solidFill>
                      <a:srgbClr val="FFFFFF"/>
                    </a:solidFill>
                  </a:tcPr>
                </a:tc>
                <a:tc>
                  <a:txBody>
                    <a:bodyPr/>
                    <a:lstStyle/>
                    <a:p>
                      <a:pPr>
                        <a:defRPr sz="1200">
                          <a:solidFill>
                            <a:srgbClr val="16202E"/>
                          </a:solidFill>
                          <a:latin typeface="Yu Gothic"/>
                        </a:defRPr>
                      </a:pPr>
                      <a:r>
                        <a:t>刷新版デスクトップアプリの一般提供(GA)予定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終了する機能 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Podcasts</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2026年8月18日以降、Copilotから利用できなくなった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Microsoft公式サポート文書(support.microsoft.com、2026-08-18時点)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終了する機能 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Deep Research(コンシューマー向け)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2026年8月18日より提供終了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Microsoft公式サポート文書(support.microsoft.com、2026-08-18時点)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終了する機能 3</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グループチャットの引き継ぎ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スレッド・メッセージ・画像等のコンテンツは本日以降引き継がれない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Microsoft公式サポート文書(support.microsoft.com、2026-08-18時点)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3つの終了をまとめて振り返る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Podcasts</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音声コンテンツ機能。本日以降Copilotから利用不可</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Deep Research</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コンシューマー向け調べ物機能。本日より提供終了</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グループチャット履歴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スレッド・メッセージ・画像等が本日以降引き継がれない</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変わらない設計もある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データはアカウントをまたがない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個人アカウントと仕事・学校アカウントの分離自体は維持され、データが混ざる設計にはなっていない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Microsoft公式サポート文書(support.microsoft.com、2026-08-18時点)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アプリの外観・URLの変化</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変更前</a:t>
                      </a:r>
                    </a:p>
                  </a:txBody>
                  <a:tcPr>
                    <a:solidFill>
                      <a:srgbClr val="1B3A5C"/>
                    </a:solidFill>
                  </a:tcPr>
                </a:tc>
                <a:tc>
                  <a:txBody>
                    <a:bodyPr/>
                    <a:lstStyle/>
                    <a:p>
                      <a:pPr>
                        <a:defRPr sz="1300" b="1">
                          <a:solidFill>
                            <a:srgbClr val="FFFFFF"/>
                          </a:solidFill>
                          <a:latin typeface="Yu Gothic"/>
                        </a:defRPr>
                      </a:pPr>
                      <a:r>
                        <a:t>変更後</a:t>
                      </a:r>
                    </a:p>
                  </a:txBody>
                  <a:tcPr>
                    <a:solidFill>
                      <a:srgbClr val="1B3A5C"/>
                    </a:solidFill>
                  </a:tcPr>
                </a:tc>
              </a:tr>
              <a:tr h="502920">
                <a:tc>
                  <a:txBody>
                    <a:bodyPr/>
                    <a:lstStyle/>
                    <a:p>
                      <a:pPr>
                        <a:defRPr sz="1200">
                          <a:solidFill>
                            <a:srgbClr val="16202E"/>
                          </a:solidFill>
                          <a:latin typeface="Yu Gothic"/>
                        </a:defRPr>
                      </a:pPr>
                      <a:r>
                        <a:t>アプリ名・アイコン</a:t>
                      </a:r>
                    </a:p>
                  </a:txBody>
                  <a:tcPr>
                    <a:solidFill>
                      <a:srgbClr val="FFFFFF"/>
                    </a:solidFill>
                  </a:tcPr>
                </a:tc>
                <a:tc>
                  <a:txBody>
                    <a:bodyPr/>
                    <a:lstStyle/>
                    <a:p>
                      <a:pPr>
                        <a:defRPr sz="1200">
                          <a:solidFill>
                            <a:srgbClr val="16202E"/>
                          </a:solidFill>
                          <a:latin typeface="Yu Gothic"/>
                        </a:defRPr>
                      </a:pPr>
                      <a:r>
                        <a:t>従来の名称・アイコン</a:t>
                      </a:r>
                    </a:p>
                  </a:txBody>
                  <a:tcPr>
                    <a:solidFill>
                      <a:srgbClr val="FFFFFF"/>
                    </a:solidFill>
                  </a:tcPr>
                </a:tc>
                <a:tc>
                  <a:txBody>
                    <a:bodyPr/>
                    <a:lstStyle/>
                    <a:p>
                      <a:pPr>
                        <a:defRPr sz="1200">
                          <a:solidFill>
                            <a:srgbClr val="16202E"/>
                          </a:solidFill>
                          <a:latin typeface="Yu Gothic"/>
                        </a:defRPr>
                      </a:pPr>
                      <a:r>
                        <a:t>簡素化された名称・アイコン</a:t>
                      </a:r>
                    </a:p>
                  </a:txBody>
                  <a:tcPr>
                    <a:solidFill>
                      <a:srgbClr val="FFFFFF"/>
                    </a:solidFill>
                  </a:tcPr>
                </a:tc>
              </a:tr>
              <a:tr h="502920">
                <a:tc>
                  <a:txBody>
                    <a:bodyPr/>
                    <a:lstStyle/>
                    <a:p>
                      <a:pPr>
                        <a:defRPr sz="1200">
                          <a:solidFill>
                            <a:srgbClr val="16202E"/>
                          </a:solidFill>
                          <a:latin typeface="Yu Gothic"/>
                        </a:defRPr>
                      </a:pPr>
                      <a:r>
                        <a:t>Web版URL</a:t>
                      </a:r>
                    </a:p>
                  </a:txBody>
                  <a:tcPr>
                    <a:solidFill>
                      <a:srgbClr val="F2F6FA"/>
                    </a:solidFill>
                  </a:tcPr>
                </a:tc>
                <a:tc>
                  <a:txBody>
                    <a:bodyPr/>
                    <a:lstStyle/>
                    <a:p>
                      <a:pPr>
                        <a:defRPr sz="1200">
                          <a:solidFill>
                            <a:srgbClr val="16202E"/>
                          </a:solidFill>
                          <a:latin typeface="Yu Gothic"/>
                        </a:defRPr>
                      </a:pPr>
                      <a:r>
                        <a:t>m365.cloud.microsoft</a:t>
                      </a:r>
                    </a:p>
                  </a:txBody>
                  <a:tcPr>
                    <a:solidFill>
                      <a:srgbClr val="F2F6FA"/>
                    </a:solidFill>
                  </a:tcPr>
                </a:tc>
                <a:tc>
                  <a:txBody>
                    <a:bodyPr/>
                    <a:lstStyle/>
                    <a:p>
                      <a:pPr>
                        <a:defRPr sz="1200">
                          <a:solidFill>
                            <a:srgbClr val="16202E"/>
                          </a:solidFill>
                          <a:latin typeface="Yu Gothic"/>
                        </a:defRPr>
                      </a:pPr>
                      <a:r>
                        <a:t>copilot.cloud.microsoft</a:t>
                      </a:r>
                    </a:p>
                  </a:txBody>
                  <a:tcPr>
                    <a:solidFill>
                      <a:srgbClr val="F2F6FA"/>
                    </a:solidFill>
                  </a:tcPr>
                </a:tc>
              </a:tr>
              <a:tr h="502920">
                <a:tc>
                  <a:txBody>
                    <a:bodyPr/>
                    <a:lstStyle/>
                    <a:p>
                      <a:pPr>
                        <a:defRPr sz="1200">
                          <a:solidFill>
                            <a:srgbClr val="16202E"/>
                          </a:solidFill>
                          <a:latin typeface="Yu Gothic"/>
                        </a:defRPr>
                      </a:pPr>
                      <a:r>
                        <a:t>個人/仕事・学校の表示区別</a:t>
                      </a:r>
                    </a:p>
                  </a:txBody>
                  <a:tcPr>
                    <a:solidFill>
                      <a:srgbClr val="FFFFFF"/>
                    </a:solidFill>
                  </a:tcPr>
                </a:tc>
                <a:tc>
                  <a:txBody>
                    <a:bodyPr/>
                    <a:lstStyle/>
                    <a:p>
                      <a:pPr>
                        <a:defRPr sz="1200">
                          <a:solidFill>
                            <a:srgbClr val="16202E"/>
                          </a:solidFill>
                          <a:latin typeface="Yu Gothic"/>
                        </a:defRPr>
                      </a:pPr>
                      <a:r>
                        <a:t>従来の区分</a:t>
                      </a:r>
                    </a:p>
                  </a:txBody>
                  <a:tcPr>
                    <a:solidFill>
                      <a:srgbClr val="FFFFFF"/>
                    </a:solidFill>
                  </a:tcPr>
                </a:tc>
                <a:tc>
                  <a:txBody>
                    <a:bodyPr/>
                    <a:lstStyle/>
                    <a:p>
                      <a:pPr>
                        <a:defRPr sz="1200">
                          <a:solidFill>
                            <a:srgbClr val="16202E"/>
                          </a:solidFill>
                          <a:latin typeface="Yu Gothic"/>
                        </a:defRPr>
                      </a:pPr>
                      <a:r>
                        <a:t>より明確に区別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誤解しないための整理:変わらない点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刷新内容を正確に伝えるため、変わらない点も明記します。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個人アカウントと仕事・学校アカウントが分離されているという設計方針自体は、今回の刷新後も維持される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データがアカウント間をまたいで混ざることのない設計である点も、公式サポート文書に明記されている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旧URL(m365.cloud.microsoft)は、8月下旬から自動リダイレクトが始まる予定で、急に接続不能になる形ではない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情報の裏付けについて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本テーマの情報源を明確にします。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本テーマの内容は、Microsoft公式サポート文書(support.microsoft.com)を一次情報源としている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刷新の開始日・機能終了日はいずれも2026年8月18日として公式文書で確認されている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終了に至った経営上・戦略上の理由や、事前のデータエクスポート手段の有無は、公式文書の範囲では確認できていない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個人アカウント利用者への影響</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Podcastsを使っていた人</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本日以降、Copilot上でこの機能を利用できない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Deep Researchを使っていた人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コンシューマー向けの提供が本日で終了している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URLをブックマークしていた人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8月下旬から自動リダイレクトが始まる見込み</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仕事・学校アカウント利用者への影響</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B3A5C"/>
                </a:solidFill>
                <a:latin typeface="Yu Gothic"/>
              </a:rPr>
              <a:t>グループチャットを使っていたチーム</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スレッド・メッセージ・画像等が本日以降引き継がれない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B3A5C"/>
                </a:solidFill>
                <a:latin typeface="Yu Gothic"/>
              </a:rPr>
              <a:t>組織全体のURL周知</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新URL(copilot.cloud.microsoft)への案内が必要になりうる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影響の大きさを比較する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個人アカウント</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Podcasts・Deep Researchが使えなくなる(機能終了)</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URLは自動リダイレクトで段階的に移行</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データがまたぐ心配はない設計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仕事・学校アカウント</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グループチャットの履歴が引き継がれない(データ消失に相当)</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組織内での周知・確認が必要になりうる</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データがまたぐ心配はない設計</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特に注意すべき点:グループチャットのデータ消失</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本テーマで最も注意喚起したい点です。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グループチャットのスレッド・メッセージ・画像等は、2026年8月18日以降引き継がれず、事実上のデータ消失に相当する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チームで重要な意思決定・情報共有をグループチャットで行っていた場合、その記録を確認・保存する手段が失われている可能性がある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本日時点でCopilotのグループチャットに重要な情報がなかったか、社内で確認しておくことが望ましい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この変更の弱点・懸念点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中立的な立場から、この変更の懸念点も整理します。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利用中の機能・データが即日終了・非引き継ぎとなる形の発表であり、利用者側の準備期間が十分だったかは公式文書の範囲では確認できない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グループチャットのデータについて、事前のエクスポート手段が提供されていたかどうかが不明である点は、利用者にとって重要な懸念材料になり得る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Podcasts・Deep Researchが終了した経営上の理由が説明されておらず、利用者が納得しづらい可能性がある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確認できていないこと(正直に)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本調査の範囲で確認できなかった点を明記します。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Podcasts・Deep Research(コンシューマー向け)が終了に至った経営上・戦略上の理由</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グループチャットのデータについて、終了前に事前のエクスポート手段が提供されていたかどうか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法人向け(仕事・学校アカウント)でDeep Research相当の機能がどう扱われるか(コンシューマー向けとの限定があるのみ)</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今すぐ確認したいこと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PodcastsやDeep Researchで進行中の作業・保存したい内容がないか確認する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重要なグループチャットの内容が、他の手段(メール等)で別途残っていないか確認する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ブックマークやリンク集のURLを copilot.cloud.microsoft に更新する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これで何が変わるか・どう使えるか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B3A5C"/>
                </a:solidFill>
                <a:latin typeface="Yu Gothic"/>
              </a:rPr>
              <a:t>個人利用者は</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Podcasts・Deep Researchに代わる情報収集手段を検討する必要がある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B3A5C"/>
                </a:solidFill>
                <a:latin typeface="Yu Gothic"/>
              </a:rPr>
              <a:t>チーム管理者は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グループチャットに依存した情報共有フローを見直す機会にできる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この先の展開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9月中旬に新デスクトップアプリGA</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8月下旬にはURL自動リダイレクトのロールアウトも始まる見込み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Microsoft公式サポート文書(support.microsoft.com、2026-08-18時点)</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最後に、事実と推測を明確に分けて整理します。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確定している事実: 刷新の開始日・3機能の終了日・今後の予定日程はMicrosoft公式サポート文書で確認されている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推測の域を出ないこと: 終了の経営上の理由、今回の変更がユーザーの評価にどう影響するか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本テーマは特定企業・製品の利用を強く推奨する内容ではなく、事実の整理と注意喚起を目的としている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Microsoft公式サポート文書(support.microsoft.com、2026-08-18時点)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確認済み事実</a:t>
                      </a:r>
                    </a:p>
                  </a:txBody>
                  <a:tcPr>
                    <a:solidFill>
                      <a:srgbClr val="1B3A5C"/>
                    </a:solidFill>
                  </a:tcPr>
                </a:tc>
                <a:tc>
                  <a:txBody>
                    <a:bodyPr/>
                    <a:lstStyle/>
                    <a:p>
                      <a:pPr>
                        <a:defRPr sz="1300" b="1">
                          <a:solidFill>
                            <a:srgbClr val="FFFFFF"/>
                          </a:solidFill>
                          <a:latin typeface="Yu Gothic"/>
                        </a:defRPr>
                      </a:pPr>
                      <a:r>
                        <a:t>出典</a:t>
                      </a:r>
                    </a:p>
                  </a:txBody>
                  <a:tcPr>
                    <a:solidFill>
                      <a:srgbClr val="1B3A5C"/>
                    </a:solidFill>
                  </a:tcPr>
                </a:tc>
              </a:tr>
              <a:tr h="502920">
                <a:tc>
                  <a:txBody>
                    <a:bodyPr/>
                    <a:lstStyle/>
                    <a:p>
                      <a:pPr>
                        <a:defRPr sz="1200">
                          <a:solidFill>
                            <a:srgbClr val="16202E"/>
                          </a:solidFill>
                          <a:latin typeface="Yu Gothic"/>
                        </a:defRPr>
                      </a:pPr>
                      <a:r>
                        <a:t>個人/仕事・学校表示の刷新、アプリ名・アイコン簡素化、URL移行</a:t>
                      </a:r>
                    </a:p>
                  </a:txBody>
                  <a:tcPr>
                    <a:solidFill>
                      <a:srgbClr val="FFFFFF"/>
                    </a:solidFill>
                  </a:tcPr>
                </a:tc>
                <a:tc>
                  <a:txBody>
                    <a:bodyPr/>
                    <a:lstStyle/>
                    <a:p>
                      <a:pPr>
                        <a:defRPr sz="1200">
                          <a:solidFill>
                            <a:srgbClr val="16202E"/>
                          </a:solidFill>
                          <a:latin typeface="Yu Gothic"/>
                        </a:defRPr>
                      </a:pPr>
                      <a:r>
                        <a:t>Microsoft公式サポート文書(support.microsoft.com、2026-08-18時点)</a:t>
                      </a:r>
                    </a:p>
                  </a:txBody>
                  <a:tcPr>
                    <a:solidFill>
                      <a:srgbClr val="FFFFFF"/>
                    </a:solidFill>
                  </a:tcPr>
                </a:tc>
              </a:tr>
              <a:tr h="502920">
                <a:tc>
                  <a:txBody>
                    <a:bodyPr/>
                    <a:lstStyle/>
                    <a:p>
                      <a:pPr>
                        <a:defRPr sz="1200">
                          <a:solidFill>
                            <a:srgbClr val="16202E"/>
                          </a:solidFill>
                          <a:latin typeface="Yu Gothic"/>
                        </a:defRPr>
                      </a:pPr>
                      <a:r>
                        <a:t>Podcasts機能の終了(2026年8月18日)</a:t>
                      </a:r>
                    </a:p>
                  </a:txBody>
                  <a:tcPr>
                    <a:solidFill>
                      <a:srgbClr val="F2F6FA"/>
                    </a:solidFill>
                  </a:tcPr>
                </a:tc>
                <a:tc>
                  <a:txBody>
                    <a:bodyPr/>
                    <a:lstStyle/>
                    <a:p>
                      <a:pPr>
                        <a:defRPr sz="1200">
                          <a:solidFill>
                            <a:srgbClr val="16202E"/>
                          </a:solidFill>
                          <a:latin typeface="Yu Gothic"/>
                        </a:defRPr>
                      </a:pPr>
                      <a:r>
                        <a:t>Microsoft公式サポート文書(support.microsoft.com、2026-08-18時点)</a:t>
                      </a:r>
                    </a:p>
                  </a:txBody>
                  <a:tcPr>
                    <a:solidFill>
                      <a:srgbClr val="F2F6FA"/>
                    </a:solidFill>
                  </a:tcPr>
                </a:tc>
              </a:tr>
              <a:tr h="502920">
                <a:tc>
                  <a:txBody>
                    <a:bodyPr/>
                    <a:lstStyle/>
                    <a:p>
                      <a:pPr>
                        <a:defRPr sz="1200">
                          <a:solidFill>
                            <a:srgbClr val="16202E"/>
                          </a:solidFill>
                          <a:latin typeface="Yu Gothic"/>
                        </a:defRPr>
                      </a:pPr>
                      <a:r>
                        <a:t>Deep Research(コンシューマー向け)の終了(2026年8月18日)</a:t>
                      </a:r>
                    </a:p>
                  </a:txBody>
                  <a:tcPr>
                    <a:solidFill>
                      <a:srgbClr val="FFFFFF"/>
                    </a:solidFill>
                  </a:tcPr>
                </a:tc>
                <a:tc>
                  <a:txBody>
                    <a:bodyPr/>
                    <a:lstStyle/>
                    <a:p>
                      <a:pPr>
                        <a:defRPr sz="1200">
                          <a:solidFill>
                            <a:srgbClr val="16202E"/>
                          </a:solidFill>
                          <a:latin typeface="Yu Gothic"/>
                        </a:defRPr>
                      </a:pPr>
                      <a:r>
                        <a:t>Microsoft公式サポート文書(support.microsoft.com、2026-08-18時点)</a:t>
                      </a:r>
                    </a:p>
                  </a:txBody>
                  <a:tcPr>
                    <a:solidFill>
                      <a:srgbClr val="FFFFFF"/>
                    </a:solidFill>
                  </a:tcPr>
                </a:tc>
              </a:tr>
              <a:tr h="502920">
                <a:tc>
                  <a:txBody>
                    <a:bodyPr/>
                    <a:lstStyle/>
                    <a:p>
                      <a:pPr>
                        <a:defRPr sz="1200">
                          <a:solidFill>
                            <a:srgbClr val="16202E"/>
                          </a:solidFill>
                          <a:latin typeface="Yu Gothic"/>
                        </a:defRPr>
                      </a:pPr>
                      <a:r>
                        <a:t>グループチャットコンテンツの非引き継ぎ(2026年8月18日)</a:t>
                      </a:r>
                    </a:p>
                  </a:txBody>
                  <a:tcPr>
                    <a:solidFill>
                      <a:srgbClr val="F2F6FA"/>
                    </a:solidFill>
                  </a:tcPr>
                </a:tc>
                <a:tc>
                  <a:txBody>
                    <a:bodyPr/>
                    <a:lstStyle/>
                    <a:p>
                      <a:pPr>
                        <a:defRPr sz="1200">
                          <a:solidFill>
                            <a:srgbClr val="16202E"/>
                          </a:solidFill>
                          <a:latin typeface="Yu Gothic"/>
                        </a:defRPr>
                      </a:pPr>
                      <a:r>
                        <a:t>Microsoft公式サポート文書(support.microsoft.com、2026-08-18時点)</a:t>
                      </a:r>
                    </a:p>
                  </a:txBody>
                  <a:tcPr>
                    <a:solidFill>
                      <a:srgbClr val="F2F6FA"/>
                    </a:solidFill>
                  </a:tcPr>
                </a:tc>
              </a:tr>
              <a:tr h="502920">
                <a:tc>
                  <a:txBody>
                    <a:bodyPr/>
                    <a:lstStyle/>
                    <a:p>
                      <a:pPr>
                        <a:defRPr sz="1200">
                          <a:solidFill>
                            <a:srgbClr val="16202E"/>
                          </a:solidFill>
                          <a:latin typeface="Yu Gothic"/>
                        </a:defRPr>
                      </a:pPr>
                      <a:r>
                        <a:t>今後の予定(8月下旬・9月中旬)</a:t>
                      </a:r>
                    </a:p>
                  </a:txBody>
                  <a:tcPr>
                    <a:solidFill>
                      <a:srgbClr val="FFFFFF"/>
                    </a:solidFill>
                  </a:tcPr>
                </a:tc>
                <a:tc>
                  <a:txBody>
                    <a:bodyPr/>
                    <a:lstStyle/>
                    <a:p>
                      <a:pPr>
                        <a:defRPr sz="1200">
                          <a:solidFill>
                            <a:srgbClr val="16202E"/>
                          </a:solidFill>
                          <a:latin typeface="Yu Gothic"/>
                        </a:defRPr>
                      </a:pPr>
                      <a:r>
                        <a:t>Microsoft公式サポート文書(support.microsoft.com、2026-08-18時点)</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Microsoft公式サポート文書(support.microsoft.com、2026-08-18時点)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Podcasts・Deep Research・グループチャット履歴、本日で終了。まず自分のCopilotを確認しよう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個人アカウントと仕事・学校アカウントの分離自体は維持されており、データがまたがる設計にはなっていません。詳細は出典のMicrosoft公式サポート文書でご確認ください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今すぐCopilotアプリを開いて、影響がないか確認する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