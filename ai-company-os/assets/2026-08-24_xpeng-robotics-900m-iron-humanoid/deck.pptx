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中国のXPengのロボティクス事業が、9億ドル超の資金調達を発表しました。何が発表されたのか、出典付きで正確に整理してお届けします。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結論から確認します。XPengのロボティクス事業が9億ドル超を調達し、評価額は63億ドル超になりました。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今日は6つの流れでお伝えします。資金調達の基本情報からIRONの仕様、今後のスケジュールまで、正確に事実を引用しながら整理します。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このテーマを扱う理由です。中国の身体性AI分野での過去最大級の資金調達という点に注目しました。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資金調達の基本情報です。中国の身体性AI分野で過去最大級の規模です。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身体性AIとは何かを確認します。ロボットにAIを搭載し、現実世界でタスクを遂行させる技術分野です。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調達後の評価額は63億ドル超となりました。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資金調達から量産・商用化までの流れを図にしました。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IRONの仕様です。76自由度・2,250TOPSという高い演算能力を持つロボットです。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IRONは最大2,250TOPSという高い演算能力を持ち、遠隔操作なしでタスクを実行できるとされています。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投資家の顔ぶれです。大手テック企業2社が戦略的投資家として参加しています。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テック動向を追う立場にとっての意味です。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「過去最大級」という位置づけについてです。XPeng側の発表に基づく評価である点を明記します。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量産開始予定と商用出荷予定、異なる時点の計画を対比しました。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IRONは全身76自由度という、高い可動性を備えています。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自動車メーカーによるロボティクス事業展開についてです。他社にも見られる傾向ですが、具体的な技術転用の詳細は確認できていません。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片手あたり21自由度という、精密な作業を可能にする設計です。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IRONの仕様をまとめました。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単一ラウンドで9億ドル超という、非常に大きな規模の調達です。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海外メディアの報道時期をまとめました。発表当日から幅広く報じられています。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量産開始後は、まずXPengの店舗・社内キャンパスでの導入から始まる計画です。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一般的なロボティクス資金調達の規模感と、今回のXPengを対比しました。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本編のまとめです。XPengロボティクスの資金調達について、出典付きで整理してお伝えしました。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XPengロボティクスの資金調達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9億ドル超調達。</a:t>
            </a:r>
          </a:p>
          <a:p>
            <a:pPr algn="l">
              <a:lnSpc>
                <a:spcPct val="115000"/>
              </a:lnSpc>
            </a:pPr>
            <a:r>
              <a:rPr sz="4200" b="1">
                <a:solidFill>
                  <a:srgbClr val="FFFFFF"/>
                </a:solidFill>
                <a:latin typeface="Yu Gothic"/>
              </a:rPr>
              <a:t>評価額63億ドル超</a:t>
            </a:r>
          </a:p>
          <a:p>
            <a:pPr algn="l">
              <a:lnSpc>
                <a:spcPct val="115000"/>
              </a:lnSpc>
            </a:pPr>
            <a:r>
              <a:rPr sz="4200" b="1">
                <a:solidFill>
                  <a:srgbClr val="FFFFFF"/>
                </a:solidFill>
                <a:latin typeface="Yu Gothic"/>
              </a:rPr>
              <a:t>XPengロボティクス</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PR Newswire・RoboticsTomorrow(2026年8月24日)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9億ドル超 XPengロボティクス事業が調達した金額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調達後評価額は63億ドル超。中国の身体性AI分野で過去最大級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PR Newswire(2026-08-24)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資金調達の基本情報を確認する</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ヒューマノイドロボット「IRON」の仕様を確認する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投資家の顔ぶれを確認する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今後の量産・商用化スケジュールを確認する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着手日当日(2026年8月24日)、海外の主要メディア・公式発表が一斉に報じた話題である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中国の身体性AI分野で過去最大級の民間資金調達という、数字のインパクトが大きい出来事である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Tencent・Alibabaという大手テック企業が戦略的投資家として参加している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複数の独立したメディアが同じ中心数値を報じており、情報の一貫性を確認できた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PR Newswire・RoboticsTomorrow(2026-08-24)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資金調達の基本情報</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調達企業</a:t>
                      </a:r>
                    </a:p>
                  </a:txBody>
                  <a:tcPr>
                    <a:solidFill>
                      <a:srgbClr val="FFFFFF"/>
                    </a:solidFill>
                  </a:tcPr>
                </a:tc>
                <a:tc>
                  <a:txBody>
                    <a:bodyPr/>
                    <a:lstStyle/>
                    <a:p>
                      <a:pPr>
                        <a:defRPr sz="1200">
                          <a:solidFill>
                            <a:srgbClr val="1C1B33"/>
                          </a:solidFill>
                          <a:latin typeface="Yu Gothic"/>
                        </a:defRPr>
                      </a:pPr>
                      <a:r>
                        <a:t>XPengロボティクス事業</a:t>
                      </a:r>
                    </a:p>
                  </a:txBody>
                  <a:tcPr>
                    <a:solidFill>
                      <a:srgbClr val="FFFFFF"/>
                    </a:solidFill>
                  </a:tcPr>
                </a:tc>
              </a:tr>
              <a:tr h="502920">
                <a:tc>
                  <a:txBody>
                    <a:bodyPr/>
                    <a:lstStyle/>
                    <a:p>
                      <a:pPr>
                        <a:defRPr sz="1200">
                          <a:solidFill>
                            <a:srgbClr val="1C1B33"/>
                          </a:solidFill>
                          <a:latin typeface="Yu Gothic"/>
                        </a:defRPr>
                      </a:pPr>
                      <a:r>
                        <a:t>調達額</a:t>
                      </a:r>
                    </a:p>
                  </a:txBody>
                  <a:tcPr>
                    <a:solidFill>
                      <a:srgbClr val="F4F3FC"/>
                    </a:solidFill>
                  </a:tcPr>
                </a:tc>
                <a:tc>
                  <a:txBody>
                    <a:bodyPr/>
                    <a:lstStyle/>
                    <a:p>
                      <a:pPr>
                        <a:defRPr sz="1200">
                          <a:solidFill>
                            <a:srgbClr val="1C1B33"/>
                          </a:solidFill>
                          <a:latin typeface="Yu Gothic"/>
                        </a:defRPr>
                      </a:pPr>
                      <a:r>
                        <a:t>9億ドル超</a:t>
                      </a:r>
                    </a:p>
                  </a:txBody>
                  <a:tcPr>
                    <a:solidFill>
                      <a:srgbClr val="F4F3FC"/>
                    </a:solidFill>
                  </a:tcPr>
                </a:tc>
              </a:tr>
              <a:tr h="502920">
                <a:tc>
                  <a:txBody>
                    <a:bodyPr/>
                    <a:lstStyle/>
                    <a:p>
                      <a:pPr>
                        <a:defRPr sz="1200">
                          <a:solidFill>
                            <a:srgbClr val="1C1B33"/>
                          </a:solidFill>
                          <a:latin typeface="Yu Gothic"/>
                        </a:defRPr>
                      </a:pPr>
                      <a:r>
                        <a:t>調達後評価額</a:t>
                      </a:r>
                    </a:p>
                  </a:txBody>
                  <a:tcPr>
                    <a:solidFill>
                      <a:srgbClr val="FFFFFF"/>
                    </a:solidFill>
                  </a:tcPr>
                </a:tc>
                <a:tc>
                  <a:txBody>
                    <a:bodyPr/>
                    <a:lstStyle/>
                    <a:p>
                      <a:pPr>
                        <a:defRPr sz="1200">
                          <a:solidFill>
                            <a:srgbClr val="1C1B33"/>
                          </a:solidFill>
                          <a:latin typeface="Yu Gothic"/>
                        </a:defRPr>
                      </a:pPr>
                      <a:r>
                        <a:t>63億ドル超</a:t>
                      </a:r>
                    </a:p>
                  </a:txBody>
                  <a:tcPr>
                    <a:solidFill>
                      <a:srgbClr val="FFFFFF"/>
                    </a:solidFill>
                  </a:tcPr>
                </a:tc>
              </a:tr>
              <a:tr h="502920">
                <a:tc>
                  <a:txBody>
                    <a:bodyPr/>
                    <a:lstStyle/>
                    <a:p>
                      <a:pPr>
                        <a:defRPr sz="1200">
                          <a:solidFill>
                            <a:srgbClr val="1C1B33"/>
                          </a:solidFill>
                          <a:latin typeface="Yu Gothic"/>
                        </a:defRPr>
                      </a:pPr>
                      <a:r>
                        <a:t>発表日</a:t>
                      </a:r>
                    </a:p>
                  </a:txBody>
                  <a:tcPr>
                    <a:solidFill>
                      <a:srgbClr val="F4F3FC"/>
                    </a:solidFill>
                  </a:tcPr>
                </a:tc>
                <a:tc>
                  <a:txBody>
                    <a:bodyPr/>
                    <a:lstStyle/>
                    <a:p>
                      <a:pPr>
                        <a:defRPr sz="1200">
                          <a:solidFill>
                            <a:srgbClr val="1C1B33"/>
                          </a:solidFill>
                          <a:latin typeface="Yu Gothic"/>
                        </a:defRPr>
                      </a:pPr>
                      <a:r>
                        <a:t>2026年8月24日</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PR Newswire(2026-08-24)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「身体性AI(エンボディドインテリジェンス)」とは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前提知識を確認します。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AIをロボットなど物理的な身体を持つ機器に搭載し、現実世界で自律的にタスクを遂行させる技術分野である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ヒューマノイドロボットはその代表的な応用例の一つである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近年、世界的に投資が拡大している分野として注目されている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調達後評価額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63億ドル超 XPengロボティクス事業の調達後評価額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9億ドル超の調達により実現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CnEVPost(2026-08-24)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資金調達から量産までの流れ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8月24日、9億ドル超の調達を発表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評価額は63億ドル超</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2026年内、量産開始予定</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まず店舗・社内キャンパスで導入</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2027年、商用出荷予定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中国国内・海外市場へ</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資金調達から量産・商用化までの流れ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PR Newswire・RoboticsTomorrow(2026-08-24)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今回の発表を3ステップで総括</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1. 株式引受契約を締結</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複数の投資家と合意</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 9億ドル超を調達</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評価額は63億ドル超に</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3. IRON量産に向け加速</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2026年内の量産開始を目指す</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ヒューマノイドロボット「IRON」の仕様</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IRONの仕様を確認します。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全身76自由度、両手は片手あたり21自由度を備える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「Turing AI」チップを3基搭載し、最大2,250TOPSの演算能力を持つ</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遠隔操作なしでタスクを実行できるとされている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RoboticsTomorrow(2026-08-24)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確定していること</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調達額(9億ドル超)・調達後評価額(63億ドル超)</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投資家の顔ぶれ(IDG Capital・Tencent・Alibaba等)</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IRONの技術仕様(自由度・演算能力)</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投資家ごとの具体的な出資比率</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IRONの具体的な販売価格・量産台数目標</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IRONの演算能力</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最大2,250TOPS 「Turing AI」チップ3基による演算能力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遠隔操作なしでのタスク実行を可能にする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RoboticsTomorrow(2026-08-24)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投資家の顔ぶれ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役割</a:t>
                      </a:r>
                    </a:p>
                  </a:txBody>
                  <a:tcPr>
                    <a:solidFill>
                      <a:srgbClr val="2E2A72"/>
                    </a:solidFill>
                  </a:tcPr>
                </a:tc>
                <a:tc>
                  <a:txBody>
                    <a:bodyPr/>
                    <a:lstStyle/>
                    <a:p>
                      <a:pPr>
                        <a:defRPr sz="1300" b="1">
                          <a:solidFill>
                            <a:srgbClr val="FFFFFF"/>
                          </a:solidFill>
                          <a:latin typeface="Yu Gothic"/>
                        </a:defRPr>
                      </a:pPr>
                      <a:r>
                        <a:t>投資家</a:t>
                      </a:r>
                    </a:p>
                  </a:txBody>
                  <a:tcPr>
                    <a:solidFill>
                      <a:srgbClr val="2E2A72"/>
                    </a:solidFill>
                  </a:tcPr>
                </a:tc>
              </a:tr>
              <a:tr h="502920">
                <a:tc>
                  <a:txBody>
                    <a:bodyPr/>
                    <a:lstStyle/>
                    <a:p>
                      <a:pPr>
                        <a:defRPr sz="1200">
                          <a:solidFill>
                            <a:srgbClr val="1C1B33"/>
                          </a:solidFill>
                          <a:latin typeface="Yu Gothic"/>
                        </a:defRPr>
                      </a:pPr>
                      <a:r>
                        <a:t>リード投資家</a:t>
                      </a:r>
                    </a:p>
                  </a:txBody>
                  <a:tcPr>
                    <a:solidFill>
                      <a:srgbClr val="FFFFFF"/>
                    </a:solidFill>
                  </a:tcPr>
                </a:tc>
                <a:tc>
                  <a:txBody>
                    <a:bodyPr/>
                    <a:lstStyle/>
                    <a:p>
                      <a:pPr>
                        <a:defRPr sz="1200">
                          <a:solidFill>
                            <a:srgbClr val="1C1B33"/>
                          </a:solidFill>
                          <a:latin typeface="Yu Gothic"/>
                        </a:defRPr>
                      </a:pPr>
                      <a:r>
                        <a:t>IDG Capital</a:t>
                      </a:r>
                    </a:p>
                  </a:txBody>
                  <a:tcPr>
                    <a:solidFill>
                      <a:srgbClr val="FFFFFF"/>
                    </a:solidFill>
                  </a:tcPr>
                </a:tc>
              </a:tr>
              <a:tr h="502920">
                <a:tc>
                  <a:txBody>
                    <a:bodyPr/>
                    <a:lstStyle/>
                    <a:p>
                      <a:pPr>
                        <a:defRPr sz="1200">
                          <a:solidFill>
                            <a:srgbClr val="1C1B33"/>
                          </a:solidFill>
                          <a:latin typeface="Yu Gothic"/>
                        </a:defRPr>
                      </a:pPr>
                      <a:r>
                        <a:t>参加投資家</a:t>
                      </a:r>
                    </a:p>
                  </a:txBody>
                  <a:tcPr>
                    <a:solidFill>
                      <a:srgbClr val="F4F3FC"/>
                    </a:solidFill>
                  </a:tcPr>
                </a:tc>
                <a:tc>
                  <a:txBody>
                    <a:bodyPr/>
                    <a:lstStyle/>
                    <a:p>
                      <a:pPr>
                        <a:defRPr sz="1200">
                          <a:solidFill>
                            <a:srgbClr val="1C1B33"/>
                          </a:solidFill>
                          <a:latin typeface="Yu Gothic"/>
                        </a:defRPr>
                      </a:pPr>
                      <a:r>
                        <a:t>Gaorong Ventures</a:t>
                      </a:r>
                    </a:p>
                  </a:txBody>
                  <a:tcPr>
                    <a:solidFill>
                      <a:srgbClr val="F4F3FC"/>
                    </a:solidFill>
                  </a:tcPr>
                </a:tc>
              </a:tr>
              <a:tr h="502920">
                <a:tc>
                  <a:txBody>
                    <a:bodyPr/>
                    <a:lstStyle/>
                    <a:p>
                      <a:pPr>
                        <a:defRPr sz="1200">
                          <a:solidFill>
                            <a:srgbClr val="1C1B33"/>
                          </a:solidFill>
                          <a:latin typeface="Yu Gothic"/>
                        </a:defRPr>
                      </a:pPr>
                      <a:r>
                        <a:t>戦略的投資家</a:t>
                      </a:r>
                    </a:p>
                  </a:txBody>
                  <a:tcPr>
                    <a:solidFill>
                      <a:srgbClr val="FFFFFF"/>
                    </a:solidFill>
                  </a:tcPr>
                </a:tc>
                <a:tc>
                  <a:txBody>
                    <a:bodyPr/>
                    <a:lstStyle/>
                    <a:p>
                      <a:pPr>
                        <a:defRPr sz="1200">
                          <a:solidFill>
                            <a:srgbClr val="1C1B33"/>
                          </a:solidFill>
                          <a:latin typeface="Yu Gothic"/>
                        </a:defRPr>
                      </a:pPr>
                      <a:r>
                        <a:t>Tencent</a:t>
                      </a:r>
                    </a:p>
                  </a:txBody>
                  <a:tcPr>
                    <a:solidFill>
                      <a:srgbClr val="FFFFFF"/>
                    </a:solidFill>
                  </a:tcPr>
                </a:tc>
              </a:tr>
              <a:tr h="502920">
                <a:tc>
                  <a:txBody>
                    <a:bodyPr/>
                    <a:lstStyle/>
                    <a:p>
                      <a:pPr>
                        <a:defRPr sz="1200">
                          <a:solidFill>
                            <a:srgbClr val="1C1B33"/>
                          </a:solidFill>
                          <a:latin typeface="Yu Gothic"/>
                        </a:defRPr>
                      </a:pPr>
                      <a:r>
                        <a:t>戦略的投資家</a:t>
                      </a:r>
                    </a:p>
                  </a:txBody>
                  <a:tcPr>
                    <a:solidFill>
                      <a:srgbClr val="F4F3FC"/>
                    </a:solidFill>
                  </a:tcPr>
                </a:tc>
                <a:tc>
                  <a:txBody>
                    <a:bodyPr/>
                    <a:lstStyle/>
                    <a:p>
                      <a:pPr>
                        <a:defRPr sz="1200">
                          <a:solidFill>
                            <a:srgbClr val="1C1B33"/>
                          </a:solidFill>
                          <a:latin typeface="Yu Gothic"/>
                        </a:defRPr>
                      </a:pPr>
                      <a:r>
                        <a:t>Alibaba</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PR Newswire(2026-08-24)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視聴者にとっての意味—テック動向を追う立場として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中国の身体性AI・ヒューマノイドロボット分野の投資動向を、具体的な数字とともに把握できる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自動車メーカーがロボティクス事業を切り出して資金調達する動きの一例として学べる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調達額と評価額を区別する視点が役立つ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「過去最大級」という位置づけについて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業界内での位置づけを確認します。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XPeng自身が、この資金調達を中国の身体性AI分野における単一の民間資金調達ラウンドとして過去最大と位置づけている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同業他社との詳細な比較データは本調査の範囲では確認できていない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「過去最大」という評価はXPeng側の発表に基づくものであり、第三者機関による検証は確認できていない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PR Newswire(2026-08-24)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量産開始予定 vs 商用出荷予定</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量産開始予定(2026年内)</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まずXPengの店舗・社内キャンパスで導入</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商用出荷予定(2027年)</a:t>
            </a:r>
          </a:p>
        </p:txBody>
      </p:sp>
      <p:sp>
        <p:nvSpPr>
          <p:cNvPr id="14" name="Oval 13"/>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中国国内・海外市場へ展開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調達に参加した投資家の具体的な出資比率・持株比率の詳細は確認できていない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IRONロボットの具体的な販売価格・量産台数の目標は確認できていない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日本を含むアジア他国への展開計画の有無は確認できていない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主な情報源</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報道内容</a:t>
                      </a:r>
                    </a:p>
                  </a:txBody>
                  <a:tcPr>
                    <a:solidFill>
                      <a:srgbClr val="2E2A72"/>
                    </a:solidFill>
                  </a:tcPr>
                </a:tc>
              </a:tr>
              <a:tr h="502920">
                <a:tc>
                  <a:txBody>
                    <a:bodyPr/>
                    <a:lstStyle/>
                    <a:p>
                      <a:pPr>
                        <a:defRPr sz="1200">
                          <a:solidFill>
                            <a:srgbClr val="1C1B33"/>
                          </a:solidFill>
                          <a:latin typeface="Yu Gothic"/>
                        </a:defRPr>
                      </a:pPr>
                      <a:r>
                        <a:t>PR Newswire(2026-08-24)</a:t>
                      </a:r>
                    </a:p>
                  </a:txBody>
                  <a:tcPr>
                    <a:solidFill>
                      <a:srgbClr val="FFFFFF"/>
                    </a:solidFill>
                  </a:tcPr>
                </a:tc>
                <a:tc>
                  <a:txBody>
                    <a:bodyPr/>
                    <a:lstStyle/>
                    <a:p>
                      <a:pPr>
                        <a:defRPr sz="1200">
                          <a:solidFill>
                            <a:srgbClr val="1C1B33"/>
                          </a:solidFill>
                          <a:latin typeface="Yu Gothic"/>
                        </a:defRPr>
                      </a:pPr>
                      <a:r>
                        <a:t>公式発表の詳細</a:t>
                      </a:r>
                    </a:p>
                  </a:txBody>
                  <a:tcPr>
                    <a:solidFill>
                      <a:srgbClr val="FFFFFF"/>
                    </a:solidFill>
                  </a:tcPr>
                </a:tc>
              </a:tr>
              <a:tr h="502920">
                <a:tc>
                  <a:txBody>
                    <a:bodyPr/>
                    <a:lstStyle/>
                    <a:p>
                      <a:pPr>
                        <a:defRPr sz="1200">
                          <a:solidFill>
                            <a:srgbClr val="1C1B33"/>
                          </a:solidFill>
                          <a:latin typeface="Yu Gothic"/>
                        </a:defRPr>
                      </a:pPr>
                      <a:r>
                        <a:t>RoboticsTomorrow(2026-08-24)</a:t>
                      </a:r>
                    </a:p>
                  </a:txBody>
                  <a:tcPr>
                    <a:solidFill>
                      <a:srgbClr val="F4F3FC"/>
                    </a:solidFill>
                  </a:tcPr>
                </a:tc>
                <a:tc>
                  <a:txBody>
                    <a:bodyPr/>
                    <a:lstStyle/>
                    <a:p>
                      <a:pPr>
                        <a:defRPr sz="1200">
                          <a:solidFill>
                            <a:srgbClr val="1C1B33"/>
                          </a:solidFill>
                          <a:latin typeface="Yu Gothic"/>
                        </a:defRPr>
                      </a:pPr>
                      <a:r>
                        <a:t>IRONの技術仕様</a:t>
                      </a:r>
                    </a:p>
                  </a:txBody>
                  <a:tcPr>
                    <a:solidFill>
                      <a:srgbClr val="F4F3FC"/>
                    </a:solidFill>
                  </a:tcPr>
                </a:tc>
              </a:tr>
              <a:tr h="502920">
                <a:tc>
                  <a:txBody>
                    <a:bodyPr/>
                    <a:lstStyle/>
                    <a:p>
                      <a:pPr>
                        <a:defRPr sz="1200">
                          <a:solidFill>
                            <a:srgbClr val="1C1B33"/>
                          </a:solidFill>
                          <a:latin typeface="Yu Gothic"/>
                        </a:defRPr>
                      </a:pPr>
                      <a:r>
                        <a:t>Electrek(2026-08-24)</a:t>
                      </a:r>
                    </a:p>
                  </a:txBody>
                  <a:tcPr>
                    <a:solidFill>
                      <a:srgbClr val="FFFFFF"/>
                    </a:solidFill>
                  </a:tcPr>
                </a:tc>
                <a:tc>
                  <a:txBody>
                    <a:bodyPr/>
                    <a:lstStyle/>
                    <a:p>
                      <a:pPr>
                        <a:defRPr sz="1200">
                          <a:solidFill>
                            <a:srgbClr val="1C1B33"/>
                          </a:solidFill>
                          <a:latin typeface="Yu Gothic"/>
                        </a:defRPr>
                      </a:pPr>
                      <a:r>
                        <a:t>評価額・投資家の詳細</a:t>
                      </a:r>
                    </a:p>
                  </a:txBody>
                  <a:tcPr>
                    <a:solidFill>
                      <a:srgbClr val="FFFFFF"/>
                    </a:solidFill>
                  </a:tcPr>
                </a:tc>
              </a:tr>
              <a:tr h="502920">
                <a:tc>
                  <a:txBody>
                    <a:bodyPr/>
                    <a:lstStyle/>
                    <a:p>
                      <a:pPr>
                        <a:defRPr sz="1200">
                          <a:solidFill>
                            <a:srgbClr val="1C1B33"/>
                          </a:solidFill>
                          <a:latin typeface="Yu Gothic"/>
                        </a:defRPr>
                      </a:pPr>
                      <a:r>
                        <a:t>CnEVPost(2026-08-24)</a:t>
                      </a:r>
                    </a:p>
                  </a:txBody>
                  <a:tcPr>
                    <a:solidFill>
                      <a:srgbClr val="F4F3FC"/>
                    </a:solidFill>
                  </a:tcPr>
                </a:tc>
                <a:tc>
                  <a:txBody>
                    <a:bodyPr/>
                    <a:lstStyle/>
                    <a:p>
                      <a:pPr>
                        <a:defRPr sz="1200">
                          <a:solidFill>
                            <a:srgbClr val="1C1B33"/>
                          </a:solidFill>
                          <a:latin typeface="Yu Gothic"/>
                        </a:defRPr>
                      </a:pPr>
                      <a:r>
                        <a:t>調達背景の分析</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テック動向を追う立場として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中国の身体性AI分野の投資動向を具体的な数字とともに把握できる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ロボティクスに関心がある立場として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IRONの技術仕様を実例を通じて学べる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調達額と評価額を区別する視点が役立つ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全身の自由度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76自由度 IRONの全身の関節可動範囲</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両手は片手あたり21自由度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RoboticsTomorrow(2026-08-24)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自動車メーカーによるロボティクス事業展開について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業界の動きを確認します。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電気自動車メーカーがヒューマノイドロボット開発に参入する動きは、他社でも見られる傾向である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自動運転技術や車両制御技術の知見がロボティクス開発に応用されていると考えられる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具体的な技術転用の詳細は本調査の範囲では確認できていない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両手の自由度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片手21自由度 IRONの手の関節可動範囲</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精密な作業を可能にする設計と報じられている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RoboticsTomorrow(2026-08-24)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IRON仕様まとめ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全身自由度</a:t>
                      </a:r>
                    </a:p>
                  </a:txBody>
                  <a:tcPr>
                    <a:solidFill>
                      <a:srgbClr val="FFFFFF"/>
                    </a:solidFill>
                  </a:tcPr>
                </a:tc>
                <a:tc>
                  <a:txBody>
                    <a:bodyPr/>
                    <a:lstStyle/>
                    <a:p>
                      <a:pPr>
                        <a:defRPr sz="1200">
                          <a:solidFill>
                            <a:srgbClr val="1C1B33"/>
                          </a:solidFill>
                          <a:latin typeface="Yu Gothic"/>
                        </a:defRPr>
                      </a:pPr>
                      <a:r>
                        <a:t>76</a:t>
                      </a:r>
                    </a:p>
                  </a:txBody>
                  <a:tcPr>
                    <a:solidFill>
                      <a:srgbClr val="FFFFFF"/>
                    </a:solidFill>
                  </a:tcPr>
                </a:tc>
              </a:tr>
              <a:tr h="502920">
                <a:tc>
                  <a:txBody>
                    <a:bodyPr/>
                    <a:lstStyle/>
                    <a:p>
                      <a:pPr>
                        <a:defRPr sz="1200">
                          <a:solidFill>
                            <a:srgbClr val="1C1B33"/>
                          </a:solidFill>
                          <a:latin typeface="Yu Gothic"/>
                        </a:defRPr>
                      </a:pPr>
                      <a:r>
                        <a:t>片手自由度</a:t>
                      </a:r>
                    </a:p>
                  </a:txBody>
                  <a:tcPr>
                    <a:solidFill>
                      <a:srgbClr val="F4F3FC"/>
                    </a:solidFill>
                  </a:tcPr>
                </a:tc>
                <a:tc>
                  <a:txBody>
                    <a:bodyPr/>
                    <a:lstStyle/>
                    <a:p>
                      <a:pPr>
                        <a:defRPr sz="1200">
                          <a:solidFill>
                            <a:srgbClr val="1C1B33"/>
                          </a:solidFill>
                          <a:latin typeface="Yu Gothic"/>
                        </a:defRPr>
                      </a:pPr>
                      <a:r>
                        <a:t>21</a:t>
                      </a:r>
                    </a:p>
                  </a:txBody>
                  <a:tcPr>
                    <a:solidFill>
                      <a:srgbClr val="F4F3FC"/>
                    </a:solidFill>
                  </a:tcPr>
                </a:tc>
              </a:tr>
              <a:tr h="502920">
                <a:tc>
                  <a:txBody>
                    <a:bodyPr/>
                    <a:lstStyle/>
                    <a:p>
                      <a:pPr>
                        <a:defRPr sz="1200">
                          <a:solidFill>
                            <a:srgbClr val="1C1B33"/>
                          </a:solidFill>
                          <a:latin typeface="Yu Gothic"/>
                        </a:defRPr>
                      </a:pPr>
                      <a:r>
                        <a:t>搭載チップ</a:t>
                      </a:r>
                    </a:p>
                  </a:txBody>
                  <a:tcPr>
                    <a:solidFill>
                      <a:srgbClr val="FFFFFF"/>
                    </a:solidFill>
                  </a:tcPr>
                </a:tc>
                <a:tc>
                  <a:txBody>
                    <a:bodyPr/>
                    <a:lstStyle/>
                    <a:p>
                      <a:pPr>
                        <a:defRPr sz="1200">
                          <a:solidFill>
                            <a:srgbClr val="1C1B33"/>
                          </a:solidFill>
                          <a:latin typeface="Yu Gothic"/>
                        </a:defRPr>
                      </a:pPr>
                      <a:r>
                        <a:t>Turing AIチップ×3基</a:t>
                      </a:r>
                    </a:p>
                  </a:txBody>
                  <a:tcPr>
                    <a:solidFill>
                      <a:srgbClr val="FFFFFF"/>
                    </a:solidFill>
                  </a:tcPr>
                </a:tc>
              </a:tr>
              <a:tr h="502920">
                <a:tc>
                  <a:txBody>
                    <a:bodyPr/>
                    <a:lstStyle/>
                    <a:p>
                      <a:pPr>
                        <a:defRPr sz="1200">
                          <a:solidFill>
                            <a:srgbClr val="1C1B33"/>
                          </a:solidFill>
                          <a:latin typeface="Yu Gothic"/>
                        </a:defRPr>
                      </a:pPr>
                      <a:r>
                        <a:t>演算能力</a:t>
                      </a:r>
                    </a:p>
                  </a:txBody>
                  <a:tcPr>
                    <a:solidFill>
                      <a:srgbClr val="F4F3FC"/>
                    </a:solidFill>
                  </a:tcPr>
                </a:tc>
                <a:tc>
                  <a:txBody>
                    <a:bodyPr/>
                    <a:lstStyle/>
                    <a:p>
                      <a:pPr>
                        <a:defRPr sz="1200">
                          <a:solidFill>
                            <a:srgbClr val="1C1B33"/>
                          </a:solidFill>
                          <a:latin typeface="Yu Gothic"/>
                        </a:defRPr>
                      </a:pPr>
                      <a:r>
                        <a:t>最大2,250TOPS</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調達額の規模感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9億ドル超 単一ラウンドでの調達額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中国の身体性AI分野における単一の民間資金調達として過去最大とXPengは位置づけている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PR Newswire(2026-08-24)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2E2A72"/>
                    </a:solidFill>
                  </a:tcPr>
                </a:tc>
                <a:tc>
                  <a:txBody>
                    <a:bodyPr/>
                    <a:lstStyle/>
                    <a:p>
                      <a:pPr>
                        <a:defRPr sz="1300" b="1">
                          <a:solidFill>
                            <a:srgbClr val="FFFFFF"/>
                          </a:solidFill>
                          <a:latin typeface="Yu Gothic"/>
                        </a:defRPr>
                      </a:pPr>
                      <a:r>
                        <a:t>メディア</a:t>
                      </a:r>
                    </a:p>
                  </a:txBody>
                  <a:tcPr>
                    <a:solidFill>
                      <a:srgbClr val="2E2A72"/>
                    </a:solidFill>
                  </a:tcPr>
                </a:tc>
              </a:tr>
              <a:tr h="502920">
                <a:tc>
                  <a:txBody>
                    <a:bodyPr/>
                    <a:lstStyle/>
                    <a:p>
                      <a:pPr>
                        <a:defRPr sz="1200">
                          <a:solidFill>
                            <a:srgbClr val="1C1B33"/>
                          </a:solidFill>
                          <a:latin typeface="Yu Gothic"/>
                        </a:defRPr>
                      </a:pPr>
                      <a:r>
                        <a:t>2026年8月24日</a:t>
                      </a:r>
                    </a:p>
                  </a:txBody>
                  <a:tcPr>
                    <a:solidFill>
                      <a:srgbClr val="FFFFFF"/>
                    </a:solidFill>
                  </a:tcPr>
                </a:tc>
                <a:tc>
                  <a:txBody>
                    <a:bodyPr/>
                    <a:lstStyle/>
                    <a:p>
                      <a:pPr>
                        <a:defRPr sz="1200">
                          <a:solidFill>
                            <a:srgbClr val="1C1B33"/>
                          </a:solidFill>
                          <a:latin typeface="Yu Gothic"/>
                        </a:defRPr>
                      </a:pPr>
                      <a:r>
                        <a:t>PR Newswire(公式発表)</a:t>
                      </a:r>
                    </a:p>
                  </a:txBody>
                  <a:tcPr>
                    <a:solidFill>
                      <a:srgbClr val="FFFFFF"/>
                    </a:solidFill>
                  </a:tcPr>
                </a:tc>
              </a:tr>
              <a:tr h="502920">
                <a:tc>
                  <a:txBody>
                    <a:bodyPr/>
                    <a:lstStyle/>
                    <a:p>
                      <a:pPr>
                        <a:defRPr sz="1200">
                          <a:solidFill>
                            <a:srgbClr val="1C1B33"/>
                          </a:solidFill>
                          <a:latin typeface="Yu Gothic"/>
                        </a:defRPr>
                      </a:pPr>
                      <a:r>
                        <a:t>2026年8月24日</a:t>
                      </a:r>
                    </a:p>
                  </a:txBody>
                  <a:tcPr>
                    <a:solidFill>
                      <a:srgbClr val="F4F3FC"/>
                    </a:solidFill>
                  </a:tcPr>
                </a:tc>
                <a:tc>
                  <a:txBody>
                    <a:bodyPr/>
                    <a:lstStyle/>
                    <a:p>
                      <a:pPr>
                        <a:defRPr sz="1200">
                          <a:solidFill>
                            <a:srgbClr val="1C1B33"/>
                          </a:solidFill>
                          <a:latin typeface="Yu Gothic"/>
                        </a:defRPr>
                      </a:pPr>
                      <a:r>
                        <a:t>RoboticsTomorrow・Electrek</a:t>
                      </a:r>
                    </a:p>
                  </a:txBody>
                  <a:tcPr>
                    <a:solidFill>
                      <a:srgbClr val="F4F3FC"/>
                    </a:solidFill>
                  </a:tcPr>
                </a:tc>
              </a:tr>
              <a:tr h="502920">
                <a:tc>
                  <a:txBody>
                    <a:bodyPr/>
                    <a:lstStyle/>
                    <a:p>
                      <a:pPr>
                        <a:defRPr sz="1200">
                          <a:solidFill>
                            <a:srgbClr val="1C1B33"/>
                          </a:solidFill>
                          <a:latin typeface="Yu Gothic"/>
                        </a:defRPr>
                      </a:pPr>
                      <a:r>
                        <a:t>2026年8月24日</a:t>
                      </a:r>
                    </a:p>
                  </a:txBody>
                  <a:tcPr>
                    <a:solidFill>
                      <a:srgbClr val="FFFFFF"/>
                    </a:solidFill>
                  </a:tcPr>
                </a:tc>
                <a:tc>
                  <a:txBody>
                    <a:bodyPr/>
                    <a:lstStyle/>
                    <a:p>
                      <a:pPr>
                        <a:defRPr sz="1200">
                          <a:solidFill>
                            <a:srgbClr val="1C1B33"/>
                          </a:solidFill>
                          <a:latin typeface="Yu Gothic"/>
                        </a:defRPr>
                      </a:pPr>
                      <a:r>
                        <a:t>CnEVPost・Investing.com</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初期導入先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店舗・社内キャンパス IRONの初期導入先として予定されている場所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量産開始後、まず社内での実運用から始める計画</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RoboticsTomorrow(2026-08-24)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一般的なロボティクス資金調達 vs 今回のXPeng</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一般的なロボティクス資金調達</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数千万〜数億ドル規模が多い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今回のXPeng</a:t>
            </a:r>
          </a:p>
        </p:txBody>
      </p:sp>
      <p:sp>
        <p:nvSpPr>
          <p:cNvPr id="14" name="Oval 13"/>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9億ドル超という大型調達</a:t>
            </a:r>
          </a:p>
        </p:txBody>
      </p:sp>
      <p:sp>
        <p:nvSpPr>
          <p:cNvPr id="16" name="Oval 15"/>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評価額63億ドル超</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今後注目される点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2026年内の量産開始が予定どおり実現するかどうかに注目が集まる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2027年の商用出荷開始後、実際の販売実績がどう推移するかも注目点である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具体的な今後の業績予測は本テーマの範囲では断定せず、確認できた事実にとどめる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本編のまとめです。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XPengのロボティクス事業が、2026年8月24日に9億ドル超の資金調達を発表した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調達後評価額は63億ドル超で、中国の身体性AI分野で過去最大級と位置づけられている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ヒューマノイドロボット「IRON」は全身76自由度・最大2,250TOPSの演算能力を持つ</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2026年内の量産開始、2027年の商用出荷を予定している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PR Newswire・RoboticsTomorrow等(2026-08-24)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XPengのロボティクス事業、9億ドル超調達。評価額63億ドル超。</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中国のXPengのロボティクス事業が、身体性AI分野で過去最大級の資金調達を実現しました。その中身を、出典付きで整理してお届けしました。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