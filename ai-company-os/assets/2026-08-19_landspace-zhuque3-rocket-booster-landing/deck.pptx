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民間宇宙企業LandSpaceが2026年8月19日、再使用型ロケット『朱雀三号』の第1段を着陸脚で陸上に垂直着陸させることに、中国として初めて成功しました。今日はこの快挙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結論から確認します。LandSpaceの朱雀三号ロケットが、着陸脚を用いた軌道級ロケット第1段の陸上回収に中国として初めて成功しました。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今回のミッションの内容から、着陸までの技術的な流れ、SpaceXとの比較まで、正確に事実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このテーマを扱う理由です。高い鮮度に加え、中国初の軌道級ロケット陸上回収という歴史的達成に注目しました。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LandSpaceは中国の民間宇宙企業で、液体酸素・メタン推進の再使用型ロケット『朱雀三号』を独自開発しています。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今回のミッションの概要です。甘粛省から打ち上げられ、洪湖03衛星を予定軌道に投入した後、第1段の回収が行われました。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衛星は予定の軌道に投入されました。ミッションの後半では、第1段ロケットの回収という新たな挑戦が行われています。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第1段と第2段は、打ち上げから137秒後に分離しました。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第1段は段分離後、姿勢調整・減速・滑空制御という複雑な一連の操作を経て、着陸脚で垂直着陸しました。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打ち上げ地点と着陸地点を対比しました。約390km離れた地点への着陸という高精度な誘導が行われました。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着陸の技術的詳細です。約390km離れた地点への高精度な着陸が実現しました。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今回は中国として初めての軌道級ロケット第1段の陸上回収成功です。1回目の試行の詳細までは確認できていません。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朱雀三号としては2回目の軌道打ち上げにあたり、今回初めて着陸に成功しました。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『SpaceXとの差を縮める』という報道表現を紹介していますが、詳細な比較検証は行っておらず、優劣の断定は避けています。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今回のミッションの流れを図にしました。打ち上げから段分離、そして着陸成功までの流れです。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今回の達成を3ステップで総括しました。衛星投入、精密な帰還プロセス、そして中国初の陸上回収成功という流れです。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再使用型ロケット技術は打ち上げコスト削減につながる技術として注目されますが、今後の商業運用計画の詳細までは確認できていません。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1回目と2回目(今回)を対比しました。今回初めて着陸にも成功しています。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今回の発表の要点をまとめました。ロケット名、達成内容、着陸地点、日時という4点です。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今後の見どころとして、実際の再利用や商業運用の時期が挙げられますが、いずれも現時点では確認できていません。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朱雀三号は液体酸素とメタンを推進剤とする新世代の再使用型ロケットです。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本テーマは、CGTN・SpaceNews・Space.com等、複数の独立したメディアが一致して報じている内容として整理しています。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洪湖03衛星は予定の軌道への投入に成功しており、今回のミッションの一次目的は達成されています。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空力滑空制御を含む一連の操作により、約390km先の着陸地点へ精密に誘導されました。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再使用型ロケットは打ち上げコスト削減が期待される技術です。実際のコスト削減効果の具体的な数値までは確認できていません。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確認できなかったことを正直にお伝えします。商業運用の具体的な計画、SpaceXとの詳細比較、1回目の試行結果は確認できていません。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このニュースが読者にとって意味することをまとめました。宇宙開発を追う立場、中国の商業宇宙産業を追う立場、投資・ビジネスに関心がある立場、それぞれで意識したい視点です。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まとめです。中国初の軌道級ロケット第1段陸上回収という歴史的達成と、確認できていない点を正直にお伝えしました。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LandSpaceのロケット第1段陸上回収成功について、その技術的な達成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垂直着陸、</a:t>
            </a:r>
          </a:p>
          <a:p>
            <a:pPr algn="l">
              <a:lnSpc>
                <a:spcPct val="115000"/>
              </a:lnSpc>
            </a:pPr>
            <a:r>
              <a:rPr sz="4200" b="1">
                <a:solidFill>
                  <a:srgbClr val="FFFFFF"/>
                </a:solidFill>
                <a:latin typeface="Yu Gothic"/>
              </a:rPr>
              <a:t>中国が初成功。</a:t>
            </a:r>
          </a:p>
          <a:p>
            <a:pPr algn="l">
              <a:lnSpc>
                <a:spcPct val="115000"/>
              </a:lnSpc>
            </a:pPr>
            <a:r>
              <a:rPr sz="4200" b="1">
                <a:solidFill>
                  <a:srgbClr val="FFFFFF"/>
                </a:solidFill>
                <a:latin typeface="Yu Gothic"/>
              </a:rPr>
              <a:t>SpaceXとの差が縮まった瞬間</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2026年8月19日——中国LandSpace、朱雀三号ロケット第1段の陸上回収に成功</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CGTN・SpaceNews(2026年8月19日)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着陸脚による軌道級ロケット第1段の陸上回収に中国初成功</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朱雀三号Y-2、甘粛省民勤県の着陸地点へ垂直着陸(2026年8月19日)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CGTN・SpaceNews(2026-08-19)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LandSpaceとは・基礎知識</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今回のミッションの内容を確認する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着陸までの技術的な流れを確認する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SpaceXとの比較・今後の展望を確認する</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着手日当日(2026年8月19日)発生という最も高い鮮度の話題である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『中国初の軌道級ロケット陸上回収』という歴史的な技術的達成である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SpaceXが先行してきた再使用ロケット技術における中国の進展を示す事例である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複数の独立した情報源(CGTN・SpaceNews・Space.com等)で確認できる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CGTN・SpaceNews(2026-08-19)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LandSpaceとは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中国の民間宇宙企業(藍箭航天)</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液体酸素・メタンを推進剤とする新世代再使用型ロケット『朱雀三号(Zhuque-3)』を独自開発</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中国の商業宇宙分野における主要プレイヤーの一つ</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今回が朱雀三号の2回目の軌道打ち上げとなる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CGTN・SpaceNews(2026-08-19)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今回のミッションの概要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ロケット</a:t>
                      </a:r>
                    </a:p>
                  </a:txBody>
                  <a:tcPr>
                    <a:solidFill>
                      <a:srgbClr val="FFFFFF"/>
                    </a:solidFill>
                  </a:tcPr>
                </a:tc>
                <a:tc>
                  <a:txBody>
                    <a:bodyPr/>
                    <a:lstStyle/>
                    <a:p>
                      <a:pPr>
                        <a:defRPr sz="1200">
                          <a:solidFill>
                            <a:srgbClr val="1E2124"/>
                          </a:solidFill>
                          <a:latin typeface="Yu Gothic"/>
                        </a:defRPr>
                      </a:pPr>
                      <a:r>
                        <a:t>朱雀三号(Zhuque-3)Y-2</a:t>
                      </a:r>
                    </a:p>
                  </a:txBody>
                  <a:tcPr>
                    <a:solidFill>
                      <a:srgbClr val="FFFFFF"/>
                    </a:solidFill>
                  </a:tcPr>
                </a:tc>
              </a:tr>
              <a:tr h="502920">
                <a:tc>
                  <a:txBody>
                    <a:bodyPr/>
                    <a:lstStyle/>
                    <a:p>
                      <a:pPr>
                        <a:defRPr sz="1200">
                          <a:solidFill>
                            <a:srgbClr val="1E2124"/>
                          </a:solidFill>
                          <a:latin typeface="Yu Gothic"/>
                        </a:defRPr>
                      </a:pPr>
                      <a:r>
                        <a:t>打ち上げ地点</a:t>
                      </a:r>
                    </a:p>
                  </a:txBody>
                  <a:tcPr>
                    <a:solidFill>
                      <a:srgbClr val="F7F4EF"/>
                    </a:solidFill>
                  </a:tcPr>
                </a:tc>
                <a:tc>
                  <a:txBody>
                    <a:bodyPr/>
                    <a:lstStyle/>
                    <a:p>
                      <a:pPr>
                        <a:defRPr sz="1200">
                          <a:solidFill>
                            <a:srgbClr val="1E2124"/>
                          </a:solidFill>
                          <a:latin typeface="Yu Gothic"/>
                        </a:defRPr>
                      </a:pPr>
                      <a:r>
                        <a:t>甘粛省・東風商業宇宙イノベーション試験区</a:t>
                      </a:r>
                    </a:p>
                  </a:txBody>
                  <a:tcPr>
                    <a:solidFill>
                      <a:srgbClr val="F7F4EF"/>
                    </a:solidFill>
                  </a:tcPr>
                </a:tc>
              </a:tr>
              <a:tr h="502920">
                <a:tc>
                  <a:txBody>
                    <a:bodyPr/>
                    <a:lstStyle/>
                    <a:p>
                      <a:pPr>
                        <a:defRPr sz="1200">
                          <a:solidFill>
                            <a:srgbClr val="1E2124"/>
                          </a:solidFill>
                          <a:latin typeface="Yu Gothic"/>
                        </a:defRPr>
                      </a:pPr>
                      <a:r>
                        <a:t>搭載物</a:t>
                      </a:r>
                    </a:p>
                  </a:txBody>
                  <a:tcPr>
                    <a:solidFill>
                      <a:srgbClr val="FFFFFF"/>
                    </a:solidFill>
                  </a:tcPr>
                </a:tc>
                <a:tc>
                  <a:txBody>
                    <a:bodyPr/>
                    <a:lstStyle/>
                    <a:p>
                      <a:pPr>
                        <a:defRPr sz="1200">
                          <a:solidFill>
                            <a:srgbClr val="1E2124"/>
                          </a:solidFill>
                          <a:latin typeface="Yu Gothic"/>
                        </a:defRPr>
                      </a:pPr>
                      <a:r>
                        <a:t>洪湖03衛星</a:t>
                      </a:r>
                    </a:p>
                  </a:txBody>
                  <a:tcPr>
                    <a:solidFill>
                      <a:srgbClr val="FFFFFF"/>
                    </a:solidFill>
                  </a:tcPr>
                </a:tc>
              </a:tr>
              <a:tr h="502920">
                <a:tc>
                  <a:txBody>
                    <a:bodyPr/>
                    <a:lstStyle/>
                    <a:p>
                      <a:pPr>
                        <a:defRPr sz="1200">
                          <a:solidFill>
                            <a:srgbClr val="1E2124"/>
                          </a:solidFill>
                          <a:latin typeface="Yu Gothic"/>
                        </a:defRPr>
                      </a:pPr>
                      <a:r>
                        <a:t>日時</a:t>
                      </a:r>
                    </a:p>
                  </a:txBody>
                  <a:tcPr>
                    <a:solidFill>
                      <a:srgbClr val="F7F4EF"/>
                    </a:solidFill>
                  </a:tcPr>
                </a:tc>
                <a:tc>
                  <a:txBody>
                    <a:bodyPr/>
                    <a:lstStyle/>
                    <a:p>
                      <a:pPr>
                        <a:defRPr sz="1200">
                          <a:solidFill>
                            <a:srgbClr val="1E2124"/>
                          </a:solidFill>
                          <a:latin typeface="Yu Gothic"/>
                        </a:defRPr>
                      </a:pPr>
                      <a:r>
                        <a:t>2026年8月19日(現地水曜日)朝</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CGTN・SpaceNews(2026-08-19)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衛星の軌道投入</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打ち上げの成果です。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朱雀三号Y-2ロケットが洪湖03衛星を予定の軌道に投入することに成功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衛星の具体的な用途・運用主体の詳細は本調査の範囲では確認できていない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打ち上げ自体は今回のミッションの前半部分にあたる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後半では第1段ロケットの回収という新たな挑戦が行われた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CGTN(2026-08-19)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段分離のタイミング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打ち上げから137秒後</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第1段・第2段の分離</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SpaceNews(2026-08-19)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第1段の帰還プロセス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着陸までの技術的な流れです。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段分離後、第1段は帰還フェーズに入る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高高度姿勢調整・再突入時の減速噴射・空力滑空制御を経る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着陸時の減速噴射に続き、着陸脚を展開してクッション着陸を行う</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一連の操作が正確に実行され、垂直着陸に成功した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SpaceNews・LandSpace公式(2026-08-19)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打ち上げ地点 vs 着陸地点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打ち上げ地点</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甘粛省・東風商業宇宙イノベーション試験区</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洪湖03衛星を搭載</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打ち上げは朝実施</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着陸地点</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甘粛省・民勤県</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打ち上げ地点から約390km</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米国東部時間19時43分に着陸完了</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着陸の技術的詳細</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着陸地点までの距離</a:t>
                      </a:r>
                    </a:p>
                  </a:txBody>
                  <a:tcPr>
                    <a:solidFill>
                      <a:srgbClr val="FFFFFF"/>
                    </a:solidFill>
                  </a:tcPr>
                </a:tc>
                <a:tc>
                  <a:txBody>
                    <a:bodyPr/>
                    <a:lstStyle/>
                    <a:p>
                      <a:pPr>
                        <a:defRPr sz="1200">
                          <a:solidFill>
                            <a:srgbClr val="1E2124"/>
                          </a:solidFill>
                          <a:latin typeface="Yu Gothic"/>
                        </a:defRPr>
                      </a:pPr>
                      <a:r>
                        <a:t>約390km(打ち上げ地点から)</a:t>
                      </a:r>
                    </a:p>
                  </a:txBody>
                  <a:tcPr>
                    <a:solidFill>
                      <a:srgbClr val="FFFFFF"/>
                    </a:solidFill>
                  </a:tcPr>
                </a:tc>
              </a:tr>
              <a:tr h="502920">
                <a:tc>
                  <a:txBody>
                    <a:bodyPr/>
                    <a:lstStyle/>
                    <a:p>
                      <a:pPr>
                        <a:defRPr sz="1200">
                          <a:solidFill>
                            <a:srgbClr val="1E2124"/>
                          </a:solidFill>
                          <a:latin typeface="Yu Gothic"/>
                        </a:defRPr>
                      </a:pPr>
                      <a:r>
                        <a:t>着陸完了時刻</a:t>
                      </a:r>
                    </a:p>
                  </a:txBody>
                  <a:tcPr>
                    <a:solidFill>
                      <a:srgbClr val="F7F4EF"/>
                    </a:solidFill>
                  </a:tcPr>
                </a:tc>
                <a:tc>
                  <a:txBody>
                    <a:bodyPr/>
                    <a:lstStyle/>
                    <a:p>
                      <a:pPr>
                        <a:defRPr sz="1200">
                          <a:solidFill>
                            <a:srgbClr val="1E2124"/>
                          </a:solidFill>
                          <a:latin typeface="Yu Gothic"/>
                        </a:defRPr>
                      </a:pPr>
                      <a:r>
                        <a:t>米国東部時間19時43分</a:t>
                      </a:r>
                    </a:p>
                  </a:txBody>
                  <a:tcPr>
                    <a:solidFill>
                      <a:srgbClr val="F7F4EF"/>
                    </a:solidFill>
                  </a:tcPr>
                </a:tc>
              </a:tr>
              <a:tr h="502920">
                <a:tc>
                  <a:txBody>
                    <a:bodyPr/>
                    <a:lstStyle/>
                    <a:p>
                      <a:pPr>
                        <a:defRPr sz="1200">
                          <a:solidFill>
                            <a:srgbClr val="1E2124"/>
                          </a:solidFill>
                          <a:latin typeface="Yu Gothic"/>
                        </a:defRPr>
                      </a:pPr>
                      <a:r>
                        <a:t>着陸方式</a:t>
                      </a:r>
                    </a:p>
                  </a:txBody>
                  <a:tcPr>
                    <a:solidFill>
                      <a:srgbClr val="FFFFFF"/>
                    </a:solidFill>
                  </a:tcPr>
                </a:tc>
                <a:tc>
                  <a:txBody>
                    <a:bodyPr/>
                    <a:lstStyle/>
                    <a:p>
                      <a:pPr>
                        <a:defRPr sz="1200">
                          <a:solidFill>
                            <a:srgbClr val="1E2124"/>
                          </a:solidFill>
                          <a:latin typeface="Yu Gothic"/>
                        </a:defRPr>
                      </a:pPr>
                      <a:r>
                        <a:t>着陸脚によるクッション着陸</a:t>
                      </a:r>
                    </a:p>
                  </a:txBody>
                  <a:tcPr>
                    <a:solidFill>
                      <a:srgbClr val="FFFFFF"/>
                    </a:solidFill>
                  </a:tcPr>
                </a:tc>
              </a:tr>
              <a:tr h="502920">
                <a:tc>
                  <a:txBody>
                    <a:bodyPr/>
                    <a:lstStyle/>
                    <a:p>
                      <a:pPr>
                        <a:defRPr sz="1200">
                          <a:solidFill>
                            <a:srgbClr val="1E2124"/>
                          </a:solidFill>
                          <a:latin typeface="Yu Gothic"/>
                        </a:defRPr>
                      </a:pPr>
                      <a:r>
                        <a:t>回収の種類</a:t>
                      </a:r>
                    </a:p>
                  </a:txBody>
                  <a:tcPr>
                    <a:solidFill>
                      <a:srgbClr val="F7F4EF"/>
                    </a:solidFill>
                  </a:tcPr>
                </a:tc>
                <a:tc>
                  <a:txBody>
                    <a:bodyPr/>
                    <a:lstStyle/>
                    <a:p>
                      <a:pPr>
                        <a:defRPr sz="1200">
                          <a:solidFill>
                            <a:srgbClr val="1E2124"/>
                          </a:solidFill>
                          <a:latin typeface="Yu Gothic"/>
                        </a:defRPr>
                      </a:pPr>
                      <a:r>
                        <a:t>軌道級ロケット第1段の陸上回収(中国初)</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SpaceNews(2026-08-19)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『中国初』の意味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今回の達成の位置づけです。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着陸脚を用いた軌道級打ち上げロケット第1段の回収として中国初の成功例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中国として初めての陸上でのブースター回収成功でもある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今回が朱雀三号の2回目の軌道打ち上げであり、1回目では着陸に至っていなかったとみられる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1回目の着陸試行の詳細な結果(失敗の有無・原因)は本調査の範囲では確認できていない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SpaceNews・Space.com(2026-08-19)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打ち上げ回数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朱雀三号として2回目の軌道打ち上げ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今回で着陸に成功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Space.com(2026-08-19)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SpaceXとの比較(留保つき)</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この比較についての正直な扱い方です。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一部報道では『SpaceXとの差を縮める』という表現で今回の成果を紹介している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SpaceXは再使用ロケット技術で先行してきた企業として知られる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本テーマでは、SpaceXとの詳細な技術面・コスト面の比較検証は行っていない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報道表現の紹介にとどめ、優劣についての断定的評価は行わない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 Startups(2026-08-19)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今回のミッションの流れ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打ち上げ・衛星の軌道投入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洪湖03衛星</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段分離・第1段の帰還フェーズ</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打ち上げから137秒後</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着陸脚で垂直着陸に成功</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約390km先の着陸地点</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打ち上げから着陸成功までの流れ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CGTN・SpaceNews(2026-08-19)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今回の達成の3ステップ総括</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1. 衛星の軌道投入に成功</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洪湖03衛星</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 第1段が精密な帰還プロセスを実行</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姿勢調整・減速・滑空制御</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 着陸脚で垂直着陸、中国初成功</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軌道級ロケット陸上回収</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商業宇宙分野における意味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再使用型ロケット技術は、打ち上げコストの削減につながる技術として注目される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中国の商業宇宙企業による技術的な進展を示す事例の一つと位置づけられる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今回の着陸成功が実際の商業運用(再利用・再打ち上げ)にどうつながるかの具体的な計画は確認できていない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他の中国系宇宙企業との比較検証は本調査では行っていない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1回目の打ち上げ vs 2回目(今回)</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1回目</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軌道投入は実施</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着陸は成功に至らなかったとみられる</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詳細な結果は未確認</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2回目(今回)</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軌道投入に成功</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着陸脚での垂直着陸にも成功</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中国初の達成</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ロケット</a:t>
                      </a:r>
                    </a:p>
                  </a:txBody>
                  <a:tcPr>
                    <a:solidFill>
                      <a:srgbClr val="FFFFFF"/>
                    </a:solidFill>
                  </a:tcPr>
                </a:tc>
                <a:tc>
                  <a:txBody>
                    <a:bodyPr/>
                    <a:lstStyle/>
                    <a:p>
                      <a:pPr>
                        <a:defRPr sz="1200">
                          <a:solidFill>
                            <a:srgbClr val="1E2124"/>
                          </a:solidFill>
                          <a:latin typeface="Yu Gothic"/>
                        </a:defRPr>
                      </a:pPr>
                      <a:r>
                        <a:t>朱雀三号Y-2(LandSpace開発)</a:t>
                      </a:r>
                    </a:p>
                  </a:txBody>
                  <a:tcPr>
                    <a:solidFill>
                      <a:srgbClr val="FFFFFF"/>
                    </a:solidFill>
                  </a:tcPr>
                </a:tc>
              </a:tr>
              <a:tr h="502920">
                <a:tc>
                  <a:txBody>
                    <a:bodyPr/>
                    <a:lstStyle/>
                    <a:p>
                      <a:pPr>
                        <a:defRPr sz="1200">
                          <a:solidFill>
                            <a:srgbClr val="1E2124"/>
                          </a:solidFill>
                          <a:latin typeface="Yu Gothic"/>
                        </a:defRPr>
                      </a:pPr>
                      <a:r>
                        <a:t>達成内容</a:t>
                      </a:r>
                    </a:p>
                  </a:txBody>
                  <a:tcPr>
                    <a:solidFill>
                      <a:srgbClr val="F7F4EF"/>
                    </a:solidFill>
                  </a:tcPr>
                </a:tc>
                <a:tc>
                  <a:txBody>
                    <a:bodyPr/>
                    <a:lstStyle/>
                    <a:p>
                      <a:pPr>
                        <a:defRPr sz="1200">
                          <a:solidFill>
                            <a:srgbClr val="1E2124"/>
                          </a:solidFill>
                          <a:latin typeface="Yu Gothic"/>
                        </a:defRPr>
                      </a:pPr>
                      <a:r>
                        <a:t>着陸脚による軌道級第1段の陸上回収(中国初)</a:t>
                      </a:r>
                    </a:p>
                  </a:txBody>
                  <a:tcPr>
                    <a:solidFill>
                      <a:srgbClr val="F7F4EF"/>
                    </a:solidFill>
                  </a:tcPr>
                </a:tc>
              </a:tr>
              <a:tr h="502920">
                <a:tc>
                  <a:txBody>
                    <a:bodyPr/>
                    <a:lstStyle/>
                    <a:p>
                      <a:pPr>
                        <a:defRPr sz="1200">
                          <a:solidFill>
                            <a:srgbClr val="1E2124"/>
                          </a:solidFill>
                          <a:latin typeface="Yu Gothic"/>
                        </a:defRPr>
                      </a:pPr>
                      <a:r>
                        <a:t>着陸地点</a:t>
                      </a:r>
                    </a:p>
                  </a:txBody>
                  <a:tcPr>
                    <a:solidFill>
                      <a:srgbClr val="FFFFFF"/>
                    </a:solidFill>
                  </a:tcPr>
                </a:tc>
                <a:tc>
                  <a:txBody>
                    <a:bodyPr/>
                    <a:lstStyle/>
                    <a:p>
                      <a:pPr>
                        <a:defRPr sz="1200">
                          <a:solidFill>
                            <a:srgbClr val="1E2124"/>
                          </a:solidFill>
                          <a:latin typeface="Yu Gothic"/>
                        </a:defRPr>
                      </a:pPr>
                      <a:r>
                        <a:t>甘粛省民勤県、打ち上げ地点から約390km</a:t>
                      </a:r>
                    </a:p>
                  </a:txBody>
                  <a:tcPr>
                    <a:solidFill>
                      <a:srgbClr val="FFFFFF"/>
                    </a:solidFill>
                  </a:tcPr>
                </a:tc>
              </a:tr>
              <a:tr h="502920">
                <a:tc>
                  <a:txBody>
                    <a:bodyPr/>
                    <a:lstStyle/>
                    <a:p>
                      <a:pPr>
                        <a:defRPr sz="1200">
                          <a:solidFill>
                            <a:srgbClr val="1E2124"/>
                          </a:solidFill>
                          <a:latin typeface="Yu Gothic"/>
                        </a:defRPr>
                      </a:pPr>
                      <a:r>
                        <a:t>日時</a:t>
                      </a:r>
                    </a:p>
                  </a:txBody>
                  <a:tcPr>
                    <a:solidFill>
                      <a:srgbClr val="F7F4EF"/>
                    </a:solidFill>
                  </a:tcPr>
                </a:tc>
                <a:tc>
                  <a:txBody>
                    <a:bodyPr/>
                    <a:lstStyle/>
                    <a:p>
                      <a:pPr>
                        <a:defRPr sz="1200">
                          <a:solidFill>
                            <a:srgbClr val="1E2124"/>
                          </a:solidFill>
                          <a:latin typeface="Yu Gothic"/>
                        </a:defRPr>
                      </a:pPr>
                      <a:r>
                        <a:t>2026年8月19日(現地水曜日)</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CGTN・SpaceNews(2026-08-19)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今後注目される点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今後の見どころです。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回収した第1段が実際に再利用され、再打ち上げが行われるかどうか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商業運用開始の具体的な時期・計画</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今後の打ち上げ頻度・成功率の推移</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今後の公式発表・追加打ち上げを継続して確認する必要がある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推進剤の種類</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液体酸素・メタン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新世代再使用型ロケットの推進方式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CGTN(2026-08-19)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主な情報源(独立した複数メディア)</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3A4750"/>
                    </a:solidFill>
                  </a:tcPr>
                </a:tc>
                <a:tc>
                  <a:txBody>
                    <a:bodyPr/>
                    <a:lstStyle/>
                    <a:p>
                      <a:pPr>
                        <a:defRPr sz="1300" b="1">
                          <a:solidFill>
                            <a:srgbClr val="FFFFFF"/>
                          </a:solidFill>
                          <a:latin typeface="Yu Gothic"/>
                        </a:defRPr>
                      </a:pPr>
                      <a:r>
                        <a:t>確認できた内容</a:t>
                      </a:r>
                    </a:p>
                  </a:txBody>
                  <a:tcPr>
                    <a:solidFill>
                      <a:srgbClr val="3A4750"/>
                    </a:solidFill>
                  </a:tcPr>
                </a:tc>
              </a:tr>
              <a:tr h="502920">
                <a:tc>
                  <a:txBody>
                    <a:bodyPr/>
                    <a:lstStyle/>
                    <a:p>
                      <a:pPr>
                        <a:defRPr sz="1200">
                          <a:solidFill>
                            <a:srgbClr val="1E2124"/>
                          </a:solidFill>
                          <a:latin typeface="Yu Gothic"/>
                        </a:defRPr>
                      </a:pPr>
                      <a:r>
                        <a:t>CGTN</a:t>
                      </a:r>
                    </a:p>
                  </a:txBody>
                  <a:tcPr>
                    <a:solidFill>
                      <a:srgbClr val="FFFFFF"/>
                    </a:solidFill>
                  </a:tcPr>
                </a:tc>
                <a:tc>
                  <a:txBody>
                    <a:bodyPr/>
                    <a:lstStyle/>
                    <a:p>
                      <a:pPr>
                        <a:defRPr sz="1200">
                          <a:solidFill>
                            <a:srgbClr val="1E2124"/>
                          </a:solidFill>
                          <a:latin typeface="Yu Gothic"/>
                        </a:defRPr>
                      </a:pPr>
                      <a:r>
                        <a:t>着陸完了・打ち上げ概要</a:t>
                      </a:r>
                    </a:p>
                  </a:txBody>
                  <a:tcPr>
                    <a:solidFill>
                      <a:srgbClr val="FFFFFF"/>
                    </a:solidFill>
                  </a:tcPr>
                </a:tc>
              </a:tr>
              <a:tr h="502920">
                <a:tc>
                  <a:txBody>
                    <a:bodyPr/>
                    <a:lstStyle/>
                    <a:p>
                      <a:pPr>
                        <a:defRPr sz="1200">
                          <a:solidFill>
                            <a:srgbClr val="1E2124"/>
                          </a:solidFill>
                          <a:latin typeface="Yu Gothic"/>
                        </a:defRPr>
                      </a:pPr>
                      <a:r>
                        <a:t>SpaceNews</a:t>
                      </a:r>
                    </a:p>
                  </a:txBody>
                  <a:tcPr>
                    <a:solidFill>
                      <a:srgbClr val="F7F4EF"/>
                    </a:solidFill>
                  </a:tcPr>
                </a:tc>
                <a:tc>
                  <a:txBody>
                    <a:bodyPr/>
                    <a:lstStyle/>
                    <a:p>
                      <a:pPr>
                        <a:defRPr sz="1200">
                          <a:solidFill>
                            <a:srgbClr val="1E2124"/>
                          </a:solidFill>
                          <a:latin typeface="Yu Gothic"/>
                        </a:defRPr>
                      </a:pPr>
                      <a:r>
                        <a:t>段分離タイミング・着陸地点の詳細</a:t>
                      </a:r>
                    </a:p>
                  </a:txBody>
                  <a:tcPr>
                    <a:solidFill>
                      <a:srgbClr val="F7F4EF"/>
                    </a:solidFill>
                  </a:tcPr>
                </a:tc>
              </a:tr>
              <a:tr h="502920">
                <a:tc>
                  <a:txBody>
                    <a:bodyPr/>
                    <a:lstStyle/>
                    <a:p>
                      <a:pPr>
                        <a:defRPr sz="1200">
                          <a:solidFill>
                            <a:srgbClr val="1E2124"/>
                          </a:solidFill>
                          <a:latin typeface="Yu Gothic"/>
                        </a:defRPr>
                      </a:pPr>
                      <a:r>
                        <a:t>Space.com</a:t>
                      </a:r>
                    </a:p>
                  </a:txBody>
                  <a:tcPr>
                    <a:solidFill>
                      <a:srgbClr val="FFFFFF"/>
                    </a:solidFill>
                  </a:tcPr>
                </a:tc>
                <a:tc>
                  <a:txBody>
                    <a:bodyPr/>
                    <a:lstStyle/>
                    <a:p>
                      <a:pPr>
                        <a:defRPr sz="1200">
                          <a:solidFill>
                            <a:srgbClr val="1E2124"/>
                          </a:solidFill>
                          <a:latin typeface="Yu Gothic"/>
                        </a:defRPr>
                      </a:pPr>
                      <a:r>
                        <a:t>2回目の打ち上げでの着陸成功という位置づけ</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本リサーチ(2026-08-19時点)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洪湖03衛星の投入結果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予定軌道への投入に成功</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打ち上げの一次目的を達成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CGTN(2026-08-19)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着陸方式の特徴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空力滑空制御を経た精密誘導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約390km先の着陸地点へ正確に誘導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SpaceNews(2026-08-19)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再使用型ロケットの意義</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この技術が注目される理由です。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第1段ロケットを使い捨てず回収・再利用することで、打ち上げコストの削減が期待される技術とされる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SpaceXが商業的な再使用ロケット運用で先行してきたことが広く知られている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中国の企業が同様の技術的達成に近づいていることを示す一例が今回の成功である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実際のコスト削減効果の具体的な数値は本調査の範囲では確認できていない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今回の着陸成功が商業運用にどうつながるか、具体的な計画・時期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SpaceXとの詳細な技術面・コスト面の比較</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1回目の打ち上げ時の着陸試行の詳細な結果</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本テーマは特定企業(LandSpace)への投資推奨や、他社との優劣断定を行うものではなく、報じられた技術的達成の紹介にとどめる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確認できている事実</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衛星の軌道投入成功</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第1段の陸上回収成功(中国初)</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着陸の技術的詳細</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今後の不確定要素</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実際の再利用・再打ち上げ</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商業運用開始時期</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SpaceXとの詳細比較</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宇宙開発・技術革新の動向に関心がある立場として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再使用ロケット技術における各国企業の進展を把握する視点が役立つ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中国の商業宇宙産業を追う立場として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今回の達成が実際の商業運用につながるかを継続して確認する視点が参考になる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宇宙関連の投資・ビジネスに関心がある立場として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技術的達成と、商業的な実用化の実現度合いを区別して見る視点が役立つ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本編のまとめです。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LandSpaceは2026年8月19日、朱雀三号ロケット第1段の陸上回収に中国として初めて成功した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着陸脚による軌道級ロケット第1段の陸上回収という歴史的な達成である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『SpaceXとの差を縮める』という報道もあるが、詳細な比較検証は行っていない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実際の再利用・商業運用の具体的な計画など、確認できていない点は正直に開示した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CGTN・SpaceNews(2026-08-19)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垂直着陸、中国が初成功。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LandSpaceは2026年8月19日、朱雀三号ロケット第1段の陸上回収に中国として初めて成功しました。この歴史的な達成の中身を、出典付きで正直に整理してお届けしました。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