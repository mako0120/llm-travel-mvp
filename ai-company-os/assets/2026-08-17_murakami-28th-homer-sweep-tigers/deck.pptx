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得点</c:v>
                </c:pt>
              </c:strCache>
            </c:strRef>
          </c:tx>
          <c:spPr>
            <a:solidFill>
              <a:srgbClr val="2E2A72"/>
            </a:solidFill>
          </c:spPr>
          <c:cat>
            <c:strRef>
              <c:f>Sheet1!$A$2:$A$3</c:f>
              <c:strCache>
                <c:ptCount val="2"/>
                <c:pt idx="0">
                  <c:v>ホワイトソックス</c:v>
                </c:pt>
                <c:pt idx="1">
                  <c:v>タイガース</c:v>
                </c:pt>
              </c:strCache>
            </c:strRef>
          </c:cat>
          <c:val>
            <c:numRef>
              <c:f>Sheet1!$B$2:$B$3</c:f>
              <c:numCache>
                <c:formatCode>General</c:formatCode>
                <c:ptCount val="2"/>
                <c:pt idx="0">
                  <c:v>7</c:v>
                </c:pt>
                <c:pt idx="1">
                  <c:v>5</c:v>
                </c:pt>
              </c:numCache>
            </c:numRef>
          </c:val>
        </c:ser>
        <c:dLbls>
          <c:numFmt formatCode="#,##0" sourceLinked="0"/>
          <c:txPr>
            <a:bodyPr/>
            <a:lstStyle/>
            <a:p>
              <a:pPr>
                <a:defRPr sz="1200" b="1">
                  <a:solidFill>
                    <a:srgbClr val="2E2A72"/>
                  </a:solidFill>
                  <a:latin typeface="Yu Gothic"/>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数字</c:v>
                </c:pt>
              </c:strCache>
            </c:strRef>
          </c:tx>
          <c:spPr>
            <a:solidFill>
              <a:srgbClr val="2E2A72"/>
            </a:solidFill>
          </c:spPr>
          <c:cat>
            <c:strRef>
              <c:f>Sheet1!$A$2:$A$5</c:f>
              <c:strCache>
                <c:ptCount val="4"/>
                <c:pt idx="0">
                  <c:v>打数</c:v>
                </c:pt>
                <c:pt idx="1">
                  <c:v>安打</c:v>
                </c:pt>
                <c:pt idx="2">
                  <c:v>打点</c:v>
                </c:pt>
                <c:pt idx="3">
                  <c:v>三振</c:v>
                </c:pt>
              </c:strCache>
            </c:strRef>
          </c:cat>
          <c:val>
            <c:numRef>
              <c:f>Sheet1!$B$2:$B$5</c:f>
              <c:numCache>
                <c:formatCode>General</c:formatCode>
                <c:ptCount val="4"/>
                <c:pt idx="0">
                  <c:v>5</c:v>
                </c:pt>
                <c:pt idx="1">
                  <c:v>1</c:v>
                </c:pt>
                <c:pt idx="2">
                  <c:v>2</c:v>
                </c:pt>
                <c:pt idx="3">
                  <c:v>2</c:v>
                </c:pt>
              </c:numCache>
            </c:numRef>
          </c:val>
        </c:ser>
        <c:dLbls>
          <c:numFmt formatCode="#,##0" sourceLinked="0"/>
          <c:txPr>
            <a:bodyPr/>
            <a:lstStyle/>
            <a:p>
              <a:pPr>
                <a:defRPr sz="1200" b="1">
                  <a:solidFill>
                    <a:srgbClr val="2E2A72"/>
                  </a:solidFill>
                  <a:latin typeface="Yu Gothic"/>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8月16日(日本時間8月17日)、シカゴ・ホワイトソックスがデトロイト・タイガースとの3連戦最終戦に7対5で勝利しました。村上宗隆選手が7回表に放った決勝の28号2ラン本塁打が、首位攻防と位置づけられた3連戦のスイープを決めました。今日はこの試合の数字を出典付きで正確に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ホワイトソックスはタイガースに7対5で勝利しました。村上宗隆選手が7回表に放った決勝の28号2ラン本塁打が、この試合、そして3連戦のスイープを決める一打になりました。ここから数字を1つずつ出典付きで見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今日は6つの流れでお伝えします。試合結果の数字から、決勝弾の深掘り、マジックナンバーの扱い方まで、正確に数字を引用しながら整理します。誇張せず、確認できなかったことは正直にお伝えします。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試合翌日という新しさに加えて、首位攻防の3連戦をスイープに導いた決勝弾、そして今季28号という積み上げの数字が見どころです。複数のメディアが数値を一致させて報じ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題に入る前に、村上宗隆選手の前提を確認します。シカゴ・ホワイトソックスに所属する内野手で、今回は2番・一塁でスタメン出場しフル出場しました。今回は経歴紹介ではなく、試合内容の整理に焦点を当て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題のキーワードを確認します。首位攻防とは上位争い同士の対戦、マジックナンバーとは優勝確定までの残り数を示す指標、スイープとはシリーズ全勝を指します。次に試合のタイムラインを見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試合のタイムラインです。村上選手が2番・一塁でスタメン出場し、7回表に決勝の28号2ランを放ちました。試合は7対5でホワイトソックスが勝利し、タイガースとの3連戦をスイープしました。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最終スコアをグラフにしました。ホワイトソックスが7点、タイガースが5点で、2点差の勝利でした。この試合の勝ち越し点を生んだのが、村上選手の決勝2ランです。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最終スコアです。ホワイトソックス7、タイガース5で、2点差の勝利でした。この2点差を生んだのが、村上選手の7回表の決勝2ランでした。</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村上選手のこの試合のスタッツです。5打数1安打2打点2三振。安打は1本でしたが、その1本が決勝の2ラン本塁打でした。次に数字をグラフで確認します。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村上選手のこの試合の内訳をグラフにしました。5打数のうち安打は1本でしたが、2打点を記録し、2三振も喫しています。数字の少なさではなく、その1本の価値が今回の焦点です。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決勝弾の状況を確認します。7回表、無死一塁の場面で、タイガースの救援左腕ホルトンが投げた真ん中のシンカーを捉えました。次にこの一打の結果を確認します。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この本塁打は村上選手の今季28本目でした。左中間スタンドへの2ラン本塁打で、この一打がそのまま試合の勝ち越し点になりました。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決勝弾の状況を図にしました。無死一塁の場面で、ホルトン投手の真ん中のシンカーを捉え、左中間スタンドへ。これが今季28号、そして試合を決める勝ち越し弾になりました。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3連戦の結果です。首位攻防と位置づけられたタイガースとの3連戦を、ホワイトソックスが全勝、つまりスイープで終えました。この最終戦を決めたのが村上選手の一打でした。</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村上選手のこの試合終了時点の今季通算成績です。打率.235、28本塁打、57打点、OPSは.911。次にこの数字をカードで確認します。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今季通算成績の内訳です。打率.235、本塁打28本、打点57、OPSは.911。いずれも複数のメディアが一致させて報じている数字です。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『マジックナンバー33』を正確に扱います。この数字自体は複数のメディアが一致させて報じている事実ですが、算出根拠は本調査の範囲では確認できていません。計算過程を推測で補うことはしません。</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『首位攻防』の意味を確認します。上位を争う2チーム同士の対戦という位置づけで、今回の3連戦もそのように報じられています。ただし具体的な順位表の勝敗数・ゲーム差までは確認できていません。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この試合1試合の数字と、シーズン通算の数字を並べて確認します。この試合は5打数1安打でしたが、その1本が決勝2ランでした。通算では打率.235、28本塁打、57打点、OPS.911です。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誇張を避けるための補足です。数字はすべて出典どおり正確に扱い、マジックナンバーの算出根拠や3連戦の1戦目・2戦目の個別スコアは確認できていないため断定しません。</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試合結果の主要数字を一覧にしました。ここまでの数字はすべて複数のメディアが一致させて報じている内容です。次に、このニュースが読者にとって何を意味するかを見ていきます。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このニュースが読者にとって何を意味するかを整理します。首位攻防の3連戦をスイープしたことは意味のある結果ですが、地区優勝の可否等の将来予測は確認できておらず、推測では述べません。</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視聴者にとっての実践的な示唆をまとめました。野球ファンとして、日本人メジャーリーガーを追う立場として、情報を発信する立場として、それぞれで意識したい点です。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事実と推測を分けます。最終スコアと村上選手のスタッツ、決勝弾の状況、通算成績は複数の情報源で確認できた事実です。地区優勝争いへの評価はあくまで一般的な推測であり、断定はし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ていないことを一覧にしました。マジックナンバーの算出根拠、3連戦の個別スコア、地区順位表の勝敗数、観客動員数や本人のコメントなど、数字や詳細を推測で埋めず、正直に不明として扱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今回の結果を支えた3つのポイントです。決勝28号2ラン、2点差の勝利、3連戦スイープ。いずれも出典どおりの数字で裏付けられています。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本編で使った主な出典を一覧にしました。詳細はresearch.mdをご確認ください。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改めて数字を確認します。村上選手の今季28号本塁打は、首位攻防と位置づけられた3連戦をスイープに導く決勝2ランでした。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ホワイトソックスがタイガースに7-5で勝利し、村上宗隆選手が決勝の28号2ランで3連戦スイープを導いた件をお伝えしました。数字は正確に引用し、確認できなかったことは正直に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決勝は28号2ラン。</a:t>
            </a:r>
          </a:p>
          <a:p>
            <a:pPr algn="l">
              <a:lnSpc>
                <a:spcPct val="115000"/>
              </a:lnSpc>
            </a:pPr>
            <a:r>
              <a:rPr sz="4200" b="1">
                <a:solidFill>
                  <a:srgbClr val="FFFFFF"/>
                </a:solidFill>
                <a:latin typeface="Yu Gothic"/>
              </a:rPr>
              <a:t>村上宗隆が、首位攻防3連戦をスイープに導いた</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6D9F5"/>
                </a:solidFill>
                <a:latin typeface="Yu Gothic"/>
              </a:rPr>
              <a:t>2026年8月16日、ホワイトソックス対タイガース――7回表の一振りを出典付きで正確に整理する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A9AEE0"/>
                </a:solidFill>
                <a:latin typeface="Yu Gothic"/>
              </a:rPr>
              <a:t>出典: Yahoo!ニュース(ベースボールキング配信)・マイナビニュース・BASEBALL KING・スポーツ報知(docomoニュース配信)(いずれも2026年8月16日)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7-5でホワイトソックス勝利</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村上宗隆選手が7回表に決勝の28号2ランを放ち、タイガースとの3連戦をスイープした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Yahoo!ニュース(ベースボールキング配信、2026-08-16)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6D9F5"/>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6D9F5"/>
                </a:solidFill>
                <a:latin typeface="Yu Gothic"/>
              </a:rPr>
              <a:t>村上宗隆選手・試合の基礎知識</a:t>
            </a:r>
          </a:p>
        </p:txBody>
      </p:sp>
      <p:sp>
        <p:nvSpPr>
          <p:cNvPr id="9" name="Oval 8"/>
          <p:cNvSpPr/>
          <p:nvPr/>
        </p:nvSpPr>
        <p:spPr>
          <a:xfrm>
            <a:off x="548640" y="347472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6D9F5"/>
                </a:solidFill>
                <a:latin typeface="Yu Gothic"/>
              </a:rPr>
              <a:t>試合結果を数字で確認する</a:t>
            </a:r>
          </a:p>
        </p:txBody>
      </p:sp>
      <p:sp>
        <p:nvSpPr>
          <p:cNvPr id="11" name="Oval 10"/>
          <p:cNvSpPr/>
          <p:nvPr/>
        </p:nvSpPr>
        <p:spPr>
          <a:xfrm>
            <a:off x="548640" y="425196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6D9F5"/>
                </a:solidFill>
                <a:latin typeface="Yu Gothic"/>
              </a:rPr>
              <a:t>決勝28号2ランを数字で深掘りする</a:t>
            </a:r>
          </a:p>
        </p:txBody>
      </p:sp>
      <p:sp>
        <p:nvSpPr>
          <p:cNvPr id="13" name="Oval 12"/>
          <p:cNvSpPr/>
          <p:nvPr/>
        </p:nvSpPr>
        <p:spPr>
          <a:xfrm>
            <a:off x="548640" y="502920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D6D9F5"/>
                </a:solidFill>
                <a:latin typeface="Yu Gothic"/>
              </a:rPr>
              <a:t>『マジックナンバー33』を正確に扱う</a:t>
            </a:r>
          </a:p>
        </p:txBody>
      </p:sp>
      <p:sp>
        <p:nvSpPr>
          <p:cNvPr id="15" name="Oval 14"/>
          <p:cNvSpPr/>
          <p:nvPr/>
        </p:nvSpPr>
        <p:spPr>
          <a:xfrm>
            <a:off x="548640" y="5806440"/>
            <a:ext cx="548640" cy="5486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D6D9F5"/>
                </a:solidFill>
                <a:latin typeface="Yu Gothic"/>
              </a:rPr>
              <a:t>確認できなかったこと・出典一覧</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試合翌日(2026年8月17日)という鮮度の高い話題である</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『首位攻防3連戦をスイープ』『今季28号』という積み上げの数字が明快なフックになる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複数の独立したメディアが数値を一致させて報じている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Yahoo!ニュース・マイナビニュース・BASEBALL KING・スポーツ報知(2026-08-16)</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Yahoo!ニュース(ベースボールキング配信)・マイナビニュース・BASEBALL KING・スポーツ報知(docomoニュース配信)(2026-08-16)</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村上宗隆選手とは(初心者向け)</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本題に入る前に、選手の前提を確認します。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村上宗隆選手は、シカゴ・ホワイトソックスに所属する内野手である</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今回の試合では『2番・一塁』でスタメン出場し、フル出場した</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選手の詳細な経歴(移籍の経緯等)は本リサーチの範囲では扱わず、今回の試合内容に焦点を当てる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Yahoo!ニュース(ベースボールキング配信)・マイナビニュース・BASEBALL KING・スポーツ報知(docomoニュース配信)(2026-08-16)</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野球の基礎用語(初心者向け)</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本題のキーワードを確認します。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『首位攻防』とは、地区で上位を争う2チーム同士の対戦を指す表現である</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『マジックナンバー』とは、地区優勝確定までに必要な勝敗数の残り数を示す指標である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『スイープ』とは、複数戦のシリーズ(今回は3連戦)を全勝することを指す</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Yahoo!ニュース(ベースボールキング配信)・マイナビニュース・BASEBALL KING・スポーツ報知(docomoニュース配信)(2026-08-16)</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試合のタイムライン</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2E2A72"/>
                </a:solidFill>
                <a:latin typeface="Yu Gothic"/>
              </a:rPr>
              <a:t>スタメン発表</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63628C"/>
                </a:solidFill>
                <a:latin typeface="Yu Gothic"/>
              </a:rPr>
              <a:t>村上選手が『2番・一塁』でスタメン出場した</a:t>
            </a:r>
          </a:p>
        </p:txBody>
      </p:sp>
      <p:sp>
        <p:nvSpPr>
          <p:cNvPr id="11" name="Chevron 10"/>
          <p:cNvSpPr/>
          <p:nvPr/>
        </p:nvSpPr>
        <p:spPr>
          <a:xfrm>
            <a:off x="3068040" y="3200400"/>
            <a:ext cx="234086" cy="365760"/>
          </a:xfrm>
          <a:prstGeom prst="chevron">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2E2A72"/>
                </a:solidFill>
                <a:latin typeface="Yu Gothic"/>
              </a:rPr>
              <a:t>7回表</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63628C"/>
                </a:solidFill>
                <a:latin typeface="Yu Gothic"/>
              </a:rPr>
              <a:t>無死一塁で左腕ホルトンの真ん中のシンカーを捉え、決勝28号2ランを放った</a:t>
            </a:r>
          </a:p>
        </p:txBody>
      </p:sp>
      <p:sp>
        <p:nvSpPr>
          <p:cNvPr id="17" name="Chevron 16"/>
          <p:cNvSpPr/>
          <p:nvPr/>
        </p:nvSpPr>
        <p:spPr>
          <a:xfrm>
            <a:off x="5978804" y="3200400"/>
            <a:ext cx="234086" cy="365760"/>
          </a:xfrm>
          <a:prstGeom prst="chevron">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2E2A72"/>
                </a:solidFill>
                <a:latin typeface="Yu Gothic"/>
              </a:rPr>
              <a:t>試合終了</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63628C"/>
                </a:solidFill>
                <a:latin typeface="Yu Gothic"/>
              </a:rPr>
              <a:t>ホワイトソックスが7-5でタイガースに勝利した</a:t>
            </a:r>
          </a:p>
        </p:txBody>
      </p:sp>
      <p:sp>
        <p:nvSpPr>
          <p:cNvPr id="23" name="Chevron 22"/>
          <p:cNvSpPr/>
          <p:nvPr/>
        </p:nvSpPr>
        <p:spPr>
          <a:xfrm>
            <a:off x="8889568" y="3200400"/>
            <a:ext cx="234086" cy="365760"/>
          </a:xfrm>
          <a:prstGeom prst="chevron">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2E2A72"/>
                </a:solidFill>
                <a:latin typeface="Yu Gothic"/>
              </a:rPr>
              <a:t>シリーズ確定</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63628C"/>
                </a:solidFill>
                <a:latin typeface="Yu Gothic"/>
              </a:rPr>
              <a:t>首位攻防と位置づけられた3連戦をスイープした</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Yahoo!ニュース(ベースボールキング配信)・マイナビニュース・BASEBALL KING・スポーツ報知(docomoニュース配信)(2026-08-16)</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最終スコア</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Chart 5"/>
          <p:cNvGraphicFramePr>
            <a:graphicFrameLocks noGrp="1"/>
          </p:cNvGraphicFramePr>
          <p:nvPr/>
        </p:nvGraphicFramePr>
        <p:xfrm>
          <a:off x="640080" y="1463040"/>
          <a:ext cx="10881360" cy="4297680"/>
        </p:xfrm>
        <a:graphic>
          <a:graphicData uri="http://schemas.openxmlformats.org/drawingml/2006/chart">
            <c:chart xmlns:c="http://schemas.openxmlformats.org/drawingml/2006/chart" r:id="rId2"/>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Yahoo!ニュース・マイナビニュース・BASEBALL KING・スポーツ報知(2026-08-16)</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Yahoo!ニュース(ベースボールキング配信)・マイナビニュース・BASEBALL KING・スポーツ報知(docomoニュース配信)(2026-08-16)</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最終スコア</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7-5</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ホワイトソックスがタイガースに2点差で勝利した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Yahoo!ニュース・マイナビニュース・BASEBALL KING・スポーツ報知(2026-08-16)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村上宗隆選手のこの試合のスタッツ</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E2A72"/>
                    </a:solidFill>
                  </a:tcPr>
                </a:tc>
                <a:tc>
                  <a:txBody>
                    <a:bodyPr/>
                    <a:lstStyle/>
                    <a:p>
                      <a:pPr>
                        <a:defRPr sz="1300" b="1">
                          <a:solidFill>
                            <a:srgbClr val="FFFFFF"/>
                          </a:solidFill>
                          <a:latin typeface="Yu Gothic"/>
                        </a:defRPr>
                      </a:pPr>
                      <a:r>
                        <a:t>数字</a:t>
                      </a:r>
                    </a:p>
                  </a:txBody>
                  <a:tcPr>
                    <a:solidFill>
                      <a:srgbClr val="2E2A72"/>
                    </a:solidFill>
                  </a:tcPr>
                </a:tc>
              </a:tr>
              <a:tr h="502920">
                <a:tc>
                  <a:txBody>
                    <a:bodyPr/>
                    <a:lstStyle/>
                    <a:p>
                      <a:pPr>
                        <a:defRPr sz="1200">
                          <a:solidFill>
                            <a:srgbClr val="1C1B33"/>
                          </a:solidFill>
                          <a:latin typeface="Yu Gothic"/>
                        </a:defRPr>
                      </a:pPr>
                      <a:r>
                        <a:t>打順・守備</a:t>
                      </a:r>
                    </a:p>
                  </a:txBody>
                  <a:tcPr>
                    <a:solidFill>
                      <a:srgbClr val="FFFFFF"/>
                    </a:solidFill>
                  </a:tcPr>
                </a:tc>
                <a:tc>
                  <a:txBody>
                    <a:bodyPr/>
                    <a:lstStyle/>
                    <a:p>
                      <a:pPr>
                        <a:defRPr sz="1200">
                          <a:solidFill>
                            <a:srgbClr val="1C1B33"/>
                          </a:solidFill>
                          <a:latin typeface="Yu Gothic"/>
                        </a:defRPr>
                      </a:pPr>
                      <a:r>
                        <a:t>2番・一塁(フル出場)</a:t>
                      </a:r>
                    </a:p>
                  </a:txBody>
                  <a:tcPr>
                    <a:solidFill>
                      <a:srgbClr val="FFFFFF"/>
                    </a:solidFill>
                  </a:tcPr>
                </a:tc>
              </a:tr>
              <a:tr h="502920">
                <a:tc>
                  <a:txBody>
                    <a:bodyPr/>
                    <a:lstStyle/>
                    <a:p>
                      <a:pPr>
                        <a:defRPr sz="1200">
                          <a:solidFill>
                            <a:srgbClr val="1C1B33"/>
                          </a:solidFill>
                          <a:latin typeface="Yu Gothic"/>
                        </a:defRPr>
                      </a:pPr>
                      <a:r>
                        <a:t>打数</a:t>
                      </a:r>
                    </a:p>
                  </a:txBody>
                  <a:tcPr>
                    <a:solidFill>
                      <a:srgbClr val="F4F3FC"/>
                    </a:solidFill>
                  </a:tcPr>
                </a:tc>
                <a:tc>
                  <a:txBody>
                    <a:bodyPr/>
                    <a:lstStyle/>
                    <a:p>
                      <a:pPr>
                        <a:defRPr sz="1200">
                          <a:solidFill>
                            <a:srgbClr val="1C1B33"/>
                          </a:solidFill>
                          <a:latin typeface="Yu Gothic"/>
                        </a:defRPr>
                      </a:pPr>
                      <a:r>
                        <a:t>5</a:t>
                      </a:r>
                    </a:p>
                  </a:txBody>
                  <a:tcPr>
                    <a:solidFill>
                      <a:srgbClr val="F4F3FC"/>
                    </a:solidFill>
                  </a:tcPr>
                </a:tc>
              </a:tr>
              <a:tr h="502920">
                <a:tc>
                  <a:txBody>
                    <a:bodyPr/>
                    <a:lstStyle/>
                    <a:p>
                      <a:pPr>
                        <a:defRPr sz="1200">
                          <a:solidFill>
                            <a:srgbClr val="1C1B33"/>
                          </a:solidFill>
                          <a:latin typeface="Yu Gothic"/>
                        </a:defRPr>
                      </a:pPr>
                      <a:r>
                        <a:t>安打</a:t>
                      </a:r>
                    </a:p>
                  </a:txBody>
                  <a:tcPr>
                    <a:solidFill>
                      <a:srgbClr val="FFFFFF"/>
                    </a:solidFill>
                  </a:tcPr>
                </a:tc>
                <a:tc>
                  <a:txBody>
                    <a:bodyPr/>
                    <a:lstStyle/>
                    <a:p>
                      <a:pPr>
                        <a:defRPr sz="1200">
                          <a:solidFill>
                            <a:srgbClr val="1C1B33"/>
                          </a:solidFill>
                          <a:latin typeface="Yu Gothic"/>
                        </a:defRPr>
                      </a:pPr>
                      <a:r>
                        <a:t>1</a:t>
                      </a:r>
                    </a:p>
                  </a:txBody>
                  <a:tcPr>
                    <a:solidFill>
                      <a:srgbClr val="FFFFFF"/>
                    </a:solidFill>
                  </a:tcPr>
                </a:tc>
              </a:tr>
              <a:tr h="502920">
                <a:tc>
                  <a:txBody>
                    <a:bodyPr/>
                    <a:lstStyle/>
                    <a:p>
                      <a:pPr>
                        <a:defRPr sz="1200">
                          <a:solidFill>
                            <a:srgbClr val="1C1B33"/>
                          </a:solidFill>
                          <a:latin typeface="Yu Gothic"/>
                        </a:defRPr>
                      </a:pPr>
                      <a:r>
                        <a:t>打点</a:t>
                      </a:r>
                    </a:p>
                  </a:txBody>
                  <a:tcPr>
                    <a:solidFill>
                      <a:srgbClr val="F4F3FC"/>
                    </a:solidFill>
                  </a:tcPr>
                </a:tc>
                <a:tc>
                  <a:txBody>
                    <a:bodyPr/>
                    <a:lstStyle/>
                    <a:p>
                      <a:pPr>
                        <a:defRPr sz="1200">
                          <a:solidFill>
                            <a:srgbClr val="1C1B33"/>
                          </a:solidFill>
                          <a:latin typeface="Yu Gothic"/>
                        </a:defRPr>
                      </a:pPr>
                      <a:r>
                        <a:t>2</a:t>
                      </a:r>
                    </a:p>
                  </a:txBody>
                  <a:tcPr>
                    <a:solidFill>
                      <a:srgbClr val="F4F3FC"/>
                    </a:solidFill>
                  </a:tcPr>
                </a:tc>
              </a:tr>
              <a:tr h="502920">
                <a:tc>
                  <a:txBody>
                    <a:bodyPr/>
                    <a:lstStyle/>
                    <a:p>
                      <a:pPr>
                        <a:defRPr sz="1200">
                          <a:solidFill>
                            <a:srgbClr val="1C1B33"/>
                          </a:solidFill>
                          <a:latin typeface="Yu Gothic"/>
                        </a:defRPr>
                      </a:pPr>
                      <a:r>
                        <a:t>三振</a:t>
                      </a:r>
                    </a:p>
                  </a:txBody>
                  <a:tcPr>
                    <a:solidFill>
                      <a:srgbClr val="FFFFFF"/>
                    </a:solidFill>
                  </a:tcPr>
                </a:tc>
                <a:tc>
                  <a:txBody>
                    <a:bodyPr/>
                    <a:lstStyle/>
                    <a:p>
                      <a:pPr>
                        <a:defRPr sz="1200">
                          <a:solidFill>
                            <a:srgbClr val="1C1B33"/>
                          </a:solidFill>
                          <a:latin typeface="Yu Gothic"/>
                        </a:defRPr>
                      </a:pPr>
                      <a:r>
                        <a:t>2</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Yahoo!ニュース・マイナビニュース・BASEBALL KING・スポーツ報知(2026-08-16)</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Yahoo!ニュース(ベースボールキング配信)・マイナビニュース・BASEBALL KING・スポーツ報知(docomoニュース配信)(2026-08-16)</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村上選手のこの試合の内訳</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Chart 5"/>
          <p:cNvGraphicFramePr>
            <a:graphicFrameLocks noGrp="1"/>
          </p:cNvGraphicFramePr>
          <p:nvPr/>
        </p:nvGraphicFramePr>
        <p:xfrm>
          <a:off x="640080" y="1463040"/>
          <a:ext cx="10881360" cy="4297680"/>
        </p:xfrm>
        <a:graphic>
          <a:graphicData uri="http://schemas.openxmlformats.org/drawingml/2006/chart">
            <c:chart xmlns:c="http://schemas.openxmlformats.org/drawingml/2006/chart" r:id="rId2"/>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Yahoo!ニュース・マイナビニュース・BASEBALL KING・スポーツ報知(2026-08-16)</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Yahoo!ニュース(ベースボールキング配信)・マイナビニュース・BASEBALL KING・スポーツ報知(docomoニュース配信)(2026-08-16)</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決勝弾の状況(1)</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2579293"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030653" cy="822960"/>
          </a:xfrm>
          <a:prstGeom prst="rect">
            <a:avLst/>
          </a:prstGeom>
          <a:noFill/>
        </p:spPr>
        <p:txBody>
          <a:bodyPr wrap="square" anchor="t" lIns="0" rIns="0" tIns="0" bIns="0">
            <a:spAutoFit/>
          </a:bodyPr>
          <a:lstStyle/>
          <a:p>
            <a:pPr algn="l"/>
            <a:r>
              <a:rPr sz="3400" b="1">
                <a:solidFill>
                  <a:srgbClr val="17C3B2"/>
                </a:solidFill>
                <a:latin typeface="Yu Gothic"/>
              </a:rPr>
              <a:t>7回表</a:t>
            </a:r>
          </a:p>
        </p:txBody>
      </p:sp>
      <p:sp>
        <p:nvSpPr>
          <p:cNvPr id="9" name="TextBox 8"/>
          <p:cNvSpPr txBox="1"/>
          <p:nvPr/>
        </p:nvSpPr>
        <p:spPr>
          <a:xfrm>
            <a:off x="731520" y="2834640"/>
            <a:ext cx="2030653" cy="548640"/>
          </a:xfrm>
          <a:prstGeom prst="rect">
            <a:avLst/>
          </a:prstGeom>
          <a:noFill/>
        </p:spPr>
        <p:txBody>
          <a:bodyPr wrap="square" anchor="t" lIns="0" rIns="0" tIns="0" bIns="0">
            <a:spAutoFit/>
          </a:bodyPr>
          <a:lstStyle/>
          <a:p>
            <a:pPr algn="l"/>
            <a:r>
              <a:rPr sz="1600" b="1">
                <a:solidFill>
                  <a:srgbClr val="2E2A72"/>
                </a:solidFill>
                <a:latin typeface="Yu Gothic"/>
              </a:rPr>
              <a:t>イニング</a:t>
            </a:r>
          </a:p>
        </p:txBody>
      </p:sp>
      <p:sp>
        <p:nvSpPr>
          <p:cNvPr id="10" name="TextBox 9"/>
          <p:cNvSpPr txBox="1"/>
          <p:nvPr/>
        </p:nvSpPr>
        <p:spPr>
          <a:xfrm>
            <a:off x="731520" y="3520440"/>
            <a:ext cx="2030653"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試合の主導権を決める終盤の場面だった</a:t>
            </a:r>
          </a:p>
        </p:txBody>
      </p:sp>
      <p:sp>
        <p:nvSpPr>
          <p:cNvPr id="11" name="Rounded Rectangle 10"/>
          <p:cNvSpPr/>
          <p:nvPr/>
        </p:nvSpPr>
        <p:spPr>
          <a:xfrm>
            <a:off x="3402253"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56533" y="1554480"/>
            <a:ext cx="2579293"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0853" y="1828800"/>
            <a:ext cx="2030653" cy="822960"/>
          </a:xfrm>
          <a:prstGeom prst="rect">
            <a:avLst/>
          </a:prstGeom>
          <a:noFill/>
        </p:spPr>
        <p:txBody>
          <a:bodyPr wrap="square" anchor="t" lIns="0" rIns="0" tIns="0" bIns="0">
            <a:spAutoFit/>
          </a:bodyPr>
          <a:lstStyle/>
          <a:p>
            <a:pPr algn="l"/>
            <a:r>
              <a:rPr sz="3400" b="1">
                <a:solidFill>
                  <a:srgbClr val="17C3B2"/>
                </a:solidFill>
                <a:latin typeface="Yu Gothic"/>
              </a:rPr>
              <a:t>無死一塁</a:t>
            </a:r>
          </a:p>
        </p:txBody>
      </p:sp>
      <p:sp>
        <p:nvSpPr>
          <p:cNvPr id="14" name="TextBox 13"/>
          <p:cNvSpPr txBox="1"/>
          <p:nvPr/>
        </p:nvSpPr>
        <p:spPr>
          <a:xfrm>
            <a:off x="3630853" y="2834640"/>
            <a:ext cx="2030653" cy="548640"/>
          </a:xfrm>
          <a:prstGeom prst="rect">
            <a:avLst/>
          </a:prstGeom>
          <a:noFill/>
        </p:spPr>
        <p:txBody>
          <a:bodyPr wrap="square" anchor="t" lIns="0" rIns="0" tIns="0" bIns="0">
            <a:spAutoFit/>
          </a:bodyPr>
          <a:lstStyle/>
          <a:p>
            <a:pPr algn="l"/>
            <a:r>
              <a:rPr sz="1600" b="1">
                <a:solidFill>
                  <a:srgbClr val="2E2A72"/>
                </a:solidFill>
                <a:latin typeface="Yu Gothic"/>
              </a:rPr>
              <a:t>アウトカウント・走者</a:t>
            </a:r>
          </a:p>
        </p:txBody>
      </p:sp>
      <p:sp>
        <p:nvSpPr>
          <p:cNvPr id="15" name="TextBox 14"/>
          <p:cNvSpPr txBox="1"/>
          <p:nvPr/>
        </p:nvSpPr>
        <p:spPr>
          <a:xfrm>
            <a:off x="3630853" y="3520440"/>
            <a:ext cx="2030653"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走者を置いた場面での一打だった</a:t>
            </a:r>
          </a:p>
        </p:txBody>
      </p:sp>
      <p:sp>
        <p:nvSpPr>
          <p:cNvPr id="16" name="Rounded Rectangle 15"/>
          <p:cNvSpPr/>
          <p:nvPr/>
        </p:nvSpPr>
        <p:spPr>
          <a:xfrm>
            <a:off x="6301587"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55867" y="1554480"/>
            <a:ext cx="2579293"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30187" y="1828800"/>
            <a:ext cx="2030653" cy="822960"/>
          </a:xfrm>
          <a:prstGeom prst="rect">
            <a:avLst/>
          </a:prstGeom>
          <a:noFill/>
        </p:spPr>
        <p:txBody>
          <a:bodyPr wrap="square" anchor="t" lIns="0" rIns="0" tIns="0" bIns="0">
            <a:spAutoFit/>
          </a:bodyPr>
          <a:lstStyle/>
          <a:p>
            <a:pPr algn="l"/>
            <a:r>
              <a:rPr sz="3400" b="1">
                <a:solidFill>
                  <a:srgbClr val="17C3B2"/>
                </a:solidFill>
                <a:latin typeface="Yu Gothic"/>
              </a:rPr>
              <a:t>ホルトン</a:t>
            </a:r>
          </a:p>
        </p:txBody>
      </p:sp>
      <p:sp>
        <p:nvSpPr>
          <p:cNvPr id="19" name="TextBox 18"/>
          <p:cNvSpPr txBox="1"/>
          <p:nvPr/>
        </p:nvSpPr>
        <p:spPr>
          <a:xfrm>
            <a:off x="6530187" y="2834640"/>
            <a:ext cx="2030653" cy="548640"/>
          </a:xfrm>
          <a:prstGeom prst="rect">
            <a:avLst/>
          </a:prstGeom>
          <a:noFill/>
        </p:spPr>
        <p:txBody>
          <a:bodyPr wrap="square" anchor="t" lIns="0" rIns="0" tIns="0" bIns="0">
            <a:spAutoFit/>
          </a:bodyPr>
          <a:lstStyle/>
          <a:p>
            <a:pPr algn="l"/>
            <a:r>
              <a:rPr sz="1600" b="1">
                <a:solidFill>
                  <a:srgbClr val="2E2A72"/>
                </a:solidFill>
                <a:latin typeface="Yu Gothic"/>
              </a:rPr>
              <a:t>投手(左腕)</a:t>
            </a:r>
          </a:p>
        </p:txBody>
      </p:sp>
      <p:sp>
        <p:nvSpPr>
          <p:cNvPr id="20" name="TextBox 19"/>
          <p:cNvSpPr txBox="1"/>
          <p:nvPr/>
        </p:nvSpPr>
        <p:spPr>
          <a:xfrm>
            <a:off x="6530187" y="3520440"/>
            <a:ext cx="2030653"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タイガースの救援左腕から放った</a:t>
            </a:r>
          </a:p>
        </p:txBody>
      </p:sp>
      <p:sp>
        <p:nvSpPr>
          <p:cNvPr id="21" name="Rounded Rectangle 20"/>
          <p:cNvSpPr/>
          <p:nvPr/>
        </p:nvSpPr>
        <p:spPr>
          <a:xfrm>
            <a:off x="9200921"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155201" y="1554480"/>
            <a:ext cx="2579293"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29521" y="1828800"/>
            <a:ext cx="2030653" cy="822960"/>
          </a:xfrm>
          <a:prstGeom prst="rect">
            <a:avLst/>
          </a:prstGeom>
          <a:noFill/>
        </p:spPr>
        <p:txBody>
          <a:bodyPr wrap="square" anchor="t" lIns="0" rIns="0" tIns="0" bIns="0">
            <a:spAutoFit/>
          </a:bodyPr>
          <a:lstStyle/>
          <a:p>
            <a:pPr algn="l"/>
            <a:r>
              <a:rPr sz="3400" b="1">
                <a:solidFill>
                  <a:srgbClr val="17C3B2"/>
                </a:solidFill>
                <a:latin typeface="Yu Gothic"/>
              </a:rPr>
              <a:t>シンカー</a:t>
            </a:r>
          </a:p>
        </p:txBody>
      </p:sp>
      <p:sp>
        <p:nvSpPr>
          <p:cNvPr id="24" name="TextBox 23"/>
          <p:cNvSpPr txBox="1"/>
          <p:nvPr/>
        </p:nvSpPr>
        <p:spPr>
          <a:xfrm>
            <a:off x="9429521" y="2834640"/>
            <a:ext cx="2030653" cy="548640"/>
          </a:xfrm>
          <a:prstGeom prst="rect">
            <a:avLst/>
          </a:prstGeom>
          <a:noFill/>
        </p:spPr>
        <p:txBody>
          <a:bodyPr wrap="square" anchor="t" lIns="0" rIns="0" tIns="0" bIns="0">
            <a:spAutoFit/>
          </a:bodyPr>
          <a:lstStyle/>
          <a:p>
            <a:pPr algn="l"/>
            <a:r>
              <a:rPr sz="1600" b="1">
                <a:solidFill>
                  <a:srgbClr val="2E2A72"/>
                </a:solidFill>
                <a:latin typeface="Yu Gothic"/>
              </a:rPr>
              <a:t>球種</a:t>
            </a:r>
          </a:p>
        </p:txBody>
      </p:sp>
      <p:sp>
        <p:nvSpPr>
          <p:cNvPr id="25" name="TextBox 24"/>
          <p:cNvSpPr txBox="1"/>
          <p:nvPr/>
        </p:nvSpPr>
        <p:spPr>
          <a:xfrm>
            <a:off x="9429521" y="3520440"/>
            <a:ext cx="2030653"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真ん中に来たシンカーを捉えた</a:t>
            </a:r>
          </a:p>
        </p:txBody>
      </p:sp>
      <p:sp>
        <p:nvSpPr>
          <p:cNvPr id="26" name="TextBox 2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Yahoo!ニュース(ベースボールキング配信)・マイナビニュース・BASEBALL KING・スポーツ報知(docomoニュース配信)(2026-08-16)</a:t>
            </a:r>
          </a:p>
        </p:txBody>
      </p:sp>
      <p:sp>
        <p:nvSpPr>
          <p:cNvPr id="27" name="TextBox 2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今季28号</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28号本塁打</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左中間スタンドへの2ラン本塁打。村上選手の今季28本目の本塁打だった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Yahoo!ニュース(ベースボールキング配信、2026-08-16)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決勝弾の状況(2・図解)</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無死一塁</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7回表、走者を置いた場面</a:t>
            </a:r>
          </a:p>
        </p:txBody>
      </p:sp>
      <p:sp>
        <p:nvSpPr>
          <p:cNvPr id="10" name="Right Arrow 9"/>
          <p:cNvSpPr/>
          <p:nvPr/>
        </p:nvSpPr>
        <p:spPr>
          <a:xfrm>
            <a:off x="4157319" y="3108959"/>
            <a:ext cx="676656" cy="365760"/>
          </a:xfrm>
          <a:prstGeom prst="rightArrow">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ホルトンのシンカー</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真ん中に来た球を捉えた</a:t>
            </a:r>
          </a:p>
        </p:txBody>
      </p:sp>
      <p:sp>
        <p:nvSpPr>
          <p:cNvPr id="15" name="Right Arrow 14"/>
          <p:cNvSpPr/>
          <p:nvPr/>
        </p:nvSpPr>
        <p:spPr>
          <a:xfrm>
            <a:off x="7357719" y="3108959"/>
            <a:ext cx="676656" cy="365760"/>
          </a:xfrm>
          <a:prstGeom prst="rightArrow">
            <a:avLst/>
          </a:prstGeom>
          <a:solidFill>
            <a:srgbClr val="17C3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E2A72"/>
                </a:solidFill>
                <a:latin typeface="Yu Gothic"/>
              </a:rPr>
              <a:t>左中間へ2ラン</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63628C"/>
                </a:solidFill>
                <a:latin typeface="Yu Gothic"/>
              </a:rPr>
              <a:t>今季28号、勝ち越し弾になった</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63628C"/>
                </a:solidFill>
                <a:latin typeface="Yu Gothic"/>
              </a:rPr>
              <a:t>無死一塁の場面で、真ん中のシンカーを捉えた一打がそのまま試合を決めた</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Yahoo!ニュース・マイナビニュース(2026-08-16)</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Yahoo!ニュース(ベースボールキング配信)・マイナビニュース・BASEBALL KING・スポーツ報知(docomoニュース配信)(2026-08-16)</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3連戦の結果</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3連戦スイープ</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首位攻防と位置づけられたタイガースとの3連戦を、ホワイトソックスが全勝で終えた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Yahoo!ニュース・マイナビニュース・BASEBALL KING・スポーツ報知(2026-08-16)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村上選手の今季通算成績</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E2A72"/>
                    </a:solidFill>
                  </a:tcPr>
                </a:tc>
                <a:tc>
                  <a:txBody>
                    <a:bodyPr/>
                    <a:lstStyle/>
                    <a:p>
                      <a:pPr>
                        <a:defRPr sz="1300" b="1">
                          <a:solidFill>
                            <a:srgbClr val="FFFFFF"/>
                          </a:solidFill>
                          <a:latin typeface="Yu Gothic"/>
                        </a:defRPr>
                      </a:pPr>
                      <a:r>
                        <a:t>数字</a:t>
                      </a:r>
                    </a:p>
                  </a:txBody>
                  <a:tcPr>
                    <a:solidFill>
                      <a:srgbClr val="2E2A72"/>
                    </a:solidFill>
                  </a:tcPr>
                </a:tc>
              </a:tr>
              <a:tr h="502920">
                <a:tc>
                  <a:txBody>
                    <a:bodyPr/>
                    <a:lstStyle/>
                    <a:p>
                      <a:pPr>
                        <a:defRPr sz="1200">
                          <a:solidFill>
                            <a:srgbClr val="1C1B33"/>
                          </a:solidFill>
                          <a:latin typeface="Yu Gothic"/>
                        </a:defRPr>
                      </a:pPr>
                      <a:r>
                        <a:t>打率</a:t>
                      </a:r>
                    </a:p>
                  </a:txBody>
                  <a:tcPr>
                    <a:solidFill>
                      <a:srgbClr val="FFFFFF"/>
                    </a:solidFill>
                  </a:tcPr>
                </a:tc>
                <a:tc>
                  <a:txBody>
                    <a:bodyPr/>
                    <a:lstStyle/>
                    <a:p>
                      <a:pPr>
                        <a:defRPr sz="1200">
                          <a:solidFill>
                            <a:srgbClr val="1C1B33"/>
                          </a:solidFill>
                          <a:latin typeface="Yu Gothic"/>
                        </a:defRPr>
                      </a:pPr>
                      <a:r>
                        <a:t>.235</a:t>
                      </a:r>
                    </a:p>
                  </a:txBody>
                  <a:tcPr>
                    <a:solidFill>
                      <a:srgbClr val="FFFFFF"/>
                    </a:solidFill>
                  </a:tcPr>
                </a:tc>
              </a:tr>
              <a:tr h="502920">
                <a:tc>
                  <a:txBody>
                    <a:bodyPr/>
                    <a:lstStyle/>
                    <a:p>
                      <a:pPr>
                        <a:defRPr sz="1200">
                          <a:solidFill>
                            <a:srgbClr val="1C1B33"/>
                          </a:solidFill>
                          <a:latin typeface="Yu Gothic"/>
                        </a:defRPr>
                      </a:pPr>
                      <a:r>
                        <a:t>本塁打</a:t>
                      </a:r>
                    </a:p>
                  </a:txBody>
                  <a:tcPr>
                    <a:solidFill>
                      <a:srgbClr val="F4F3FC"/>
                    </a:solidFill>
                  </a:tcPr>
                </a:tc>
                <a:tc>
                  <a:txBody>
                    <a:bodyPr/>
                    <a:lstStyle/>
                    <a:p>
                      <a:pPr>
                        <a:defRPr sz="1200">
                          <a:solidFill>
                            <a:srgbClr val="1C1B33"/>
                          </a:solidFill>
                          <a:latin typeface="Yu Gothic"/>
                        </a:defRPr>
                      </a:pPr>
                      <a:r>
                        <a:t>28本</a:t>
                      </a:r>
                    </a:p>
                  </a:txBody>
                  <a:tcPr>
                    <a:solidFill>
                      <a:srgbClr val="F4F3FC"/>
                    </a:solidFill>
                  </a:tcPr>
                </a:tc>
              </a:tr>
              <a:tr h="502920">
                <a:tc>
                  <a:txBody>
                    <a:bodyPr/>
                    <a:lstStyle/>
                    <a:p>
                      <a:pPr>
                        <a:defRPr sz="1200">
                          <a:solidFill>
                            <a:srgbClr val="1C1B33"/>
                          </a:solidFill>
                          <a:latin typeface="Yu Gothic"/>
                        </a:defRPr>
                      </a:pPr>
                      <a:r>
                        <a:t>打点</a:t>
                      </a:r>
                    </a:p>
                  </a:txBody>
                  <a:tcPr>
                    <a:solidFill>
                      <a:srgbClr val="FFFFFF"/>
                    </a:solidFill>
                  </a:tcPr>
                </a:tc>
                <a:tc>
                  <a:txBody>
                    <a:bodyPr/>
                    <a:lstStyle/>
                    <a:p>
                      <a:pPr>
                        <a:defRPr sz="1200">
                          <a:solidFill>
                            <a:srgbClr val="1C1B33"/>
                          </a:solidFill>
                          <a:latin typeface="Yu Gothic"/>
                        </a:defRPr>
                      </a:pPr>
                      <a:r>
                        <a:t>57</a:t>
                      </a:r>
                    </a:p>
                  </a:txBody>
                  <a:tcPr>
                    <a:solidFill>
                      <a:srgbClr val="FFFFFF"/>
                    </a:solidFill>
                  </a:tcPr>
                </a:tc>
              </a:tr>
              <a:tr h="502920">
                <a:tc>
                  <a:txBody>
                    <a:bodyPr/>
                    <a:lstStyle/>
                    <a:p>
                      <a:pPr>
                        <a:defRPr sz="1200">
                          <a:solidFill>
                            <a:srgbClr val="1C1B33"/>
                          </a:solidFill>
                          <a:latin typeface="Yu Gothic"/>
                        </a:defRPr>
                      </a:pPr>
                      <a:r>
                        <a:t>OPS</a:t>
                      </a:r>
                    </a:p>
                  </a:txBody>
                  <a:tcPr>
                    <a:solidFill>
                      <a:srgbClr val="F4F3FC"/>
                    </a:solidFill>
                  </a:tcPr>
                </a:tc>
                <a:tc>
                  <a:txBody>
                    <a:bodyPr/>
                    <a:lstStyle/>
                    <a:p>
                      <a:pPr>
                        <a:defRPr sz="1200">
                          <a:solidFill>
                            <a:srgbClr val="1C1B33"/>
                          </a:solidFill>
                          <a:latin typeface="Yu Gothic"/>
                        </a:defRPr>
                      </a:pPr>
                      <a:r>
                        <a:t>.911</a:t>
                      </a:r>
                    </a:p>
                  </a:txBody>
                  <a:tcPr>
                    <a:solidFill>
                      <a:srgbClr val="F4F3FC"/>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Yahoo!ニュース・マイナビニュース・BASEBALL KING・スポーツ報知(2026-08-16)</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Yahoo!ニュース(ベースボールキング配信)・マイナビニュース・BASEBALL KING・スポーツ報知(docomoニュース配信)(2026-08-16)</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今季通算成績の内訳</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.235</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打率</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この試合終了時点での今季通算打率</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28本・57打点</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長打力・勝負強さ</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本塁打28本、打点57はいずれも今季通算の数字</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.911</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OPS</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出塁率と長打率を足し合わせた指標。今季通算の数字</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Yahoo!ニュース(ベースボールキング配信)・マイナビニュース・BASEBALL KING・スポーツ報知(docomoニュース配信)(2026-08-16)</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『マジックナンバー33』を正確に扱う</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見出しになりやすい数字を確認します。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報道では、この勝利でホワイトソックスの地区優勝へのマジックナンバーが33になったとされている</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この33という数字自体は複数のメディアが一致させて報じている事実として扱う</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算出根拠(地区内の他球団の勝敗数・残り試合数等)は本調査の範囲では確認できておらず、本成果物内で計算過程を推測で補わない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Yahoo!ニュース(ベースボールキング配信)・マイナビニュース・BASEBALL KING・スポーツ報知(docomoニュース配信)(2026-08-16)</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『首位攻防』の意味</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見出しにある表現を確認します。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『首位攻防』とは、地区で上位を争う2チーム同士の対戦という位置づけを指す報道表現である</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今回のホワイトソックス対タイガースの3連戦は、そのように位置づけられて報じられている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具体的な地区順位表の勝敗数・ゲーム差は本調査の範囲では確認できていない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Yahoo!ニュース(ベースボールキング配信)・マイナビニュース・BASEBALL KING・スポーツ報知(docomoニュース配信)(2026-08-16)</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この1試合の数字 / シーズン通算の数字</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この試合(2026年8月16日)</a:t>
            </a:r>
          </a:p>
        </p:txBody>
      </p:sp>
      <p:sp>
        <p:nvSpPr>
          <p:cNvPr id="9" name="Oval 8"/>
          <p:cNvSpPr/>
          <p:nvPr/>
        </p:nvSpPr>
        <p:spPr>
          <a:xfrm>
            <a:off x="777240"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5打数1安打・2打点・2三振</a:t>
            </a:r>
          </a:p>
        </p:txBody>
      </p:sp>
      <p:sp>
        <p:nvSpPr>
          <p:cNvPr id="11" name="Oval 10"/>
          <p:cNvSpPr/>
          <p:nvPr/>
        </p:nvSpPr>
        <p:spPr>
          <a:xfrm>
            <a:off x="777240"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7回表に決勝28号2ラン</a:t>
            </a:r>
          </a:p>
        </p:txBody>
      </p:sp>
      <p:sp>
        <p:nvSpPr>
          <p:cNvPr id="13" name="Oval 12"/>
          <p:cNvSpPr/>
          <p:nvPr/>
        </p:nvSpPr>
        <p:spPr>
          <a:xfrm>
            <a:off x="777240" y="363016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チームは7-5で勝利し3連戦をスイープ</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E2A72"/>
                </a:solidFill>
                <a:latin typeface="Yu Gothic"/>
              </a:rPr>
              <a:t>シーズン通算(この試合終了時点)</a:t>
            </a:r>
          </a:p>
        </p:txBody>
      </p:sp>
      <p:sp>
        <p:nvSpPr>
          <p:cNvPr id="18" name="Oval 17"/>
          <p:cNvSpPr/>
          <p:nvPr/>
        </p:nvSpPr>
        <p:spPr>
          <a:xfrm>
            <a:off x="6598767" y="253288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打率.235</a:t>
            </a:r>
          </a:p>
        </p:txBody>
      </p:sp>
      <p:sp>
        <p:nvSpPr>
          <p:cNvPr id="20" name="Oval 19"/>
          <p:cNvSpPr/>
          <p:nvPr/>
        </p:nvSpPr>
        <p:spPr>
          <a:xfrm>
            <a:off x="6598767" y="308152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本塁打28本</a:t>
            </a:r>
          </a:p>
        </p:txBody>
      </p:sp>
      <p:sp>
        <p:nvSpPr>
          <p:cNvPr id="22" name="Oval 21"/>
          <p:cNvSpPr/>
          <p:nvPr/>
        </p:nvSpPr>
        <p:spPr>
          <a:xfrm>
            <a:off x="6598767" y="3630168"/>
            <a:ext cx="274320" cy="27432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C1B33"/>
                </a:solidFill>
                <a:latin typeface="Yu Gothic"/>
              </a:rPr>
              <a:t>打点57・OPS.911</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Yahoo!ニュース(ベースボールキング配信)・マイナビニュース・BASEBALL KING・スポーツ報知(docomoニュース配信)(2026-08-16)</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誇張回避のための補足</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本テーマを見る際にあらかじめお伝えしたい点です。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スコア・打撃成績・本塁打数・通算成績等の数字はすべて出典どおり正確に扱い、丸め・誇張・創作は行わない</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『マジックナンバー33』の算出根拠は本調査の範囲では確認できておらず、断定しない</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3連戦の1戦目・2戦目の個別スコアは本調査の範囲では確認できておらず、創作しない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Yahoo!ニュース(ベースボールキング配信)・マイナビニュース・BASEBALL KING・スポーツ報知(docomoニュース配信)(2026-08-16)</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試合結果の主要数字一覧</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40233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E2A72"/>
                    </a:solidFill>
                  </a:tcPr>
                </a:tc>
                <a:tc>
                  <a:txBody>
                    <a:bodyPr/>
                    <a:lstStyle/>
                    <a:p>
                      <a:pPr>
                        <a:defRPr sz="1300" b="1">
                          <a:solidFill>
                            <a:srgbClr val="FFFFFF"/>
                          </a:solidFill>
                          <a:latin typeface="Yu Gothic"/>
                        </a:defRPr>
                      </a:pPr>
                      <a:r>
                        <a:t>数字</a:t>
                      </a:r>
                    </a:p>
                  </a:txBody>
                  <a:tcPr>
                    <a:solidFill>
                      <a:srgbClr val="2E2A72"/>
                    </a:solidFill>
                  </a:tcPr>
                </a:tc>
              </a:tr>
              <a:tr h="502920">
                <a:tc>
                  <a:txBody>
                    <a:bodyPr/>
                    <a:lstStyle/>
                    <a:p>
                      <a:pPr>
                        <a:defRPr sz="1200">
                          <a:solidFill>
                            <a:srgbClr val="1C1B33"/>
                          </a:solidFill>
                          <a:latin typeface="Yu Gothic"/>
                        </a:defRPr>
                      </a:pPr>
                      <a:r>
                        <a:t>最終スコア</a:t>
                      </a:r>
                    </a:p>
                  </a:txBody>
                  <a:tcPr>
                    <a:solidFill>
                      <a:srgbClr val="FFFFFF"/>
                    </a:solidFill>
                  </a:tcPr>
                </a:tc>
                <a:tc>
                  <a:txBody>
                    <a:bodyPr/>
                    <a:lstStyle/>
                    <a:p>
                      <a:pPr>
                        <a:defRPr sz="1200">
                          <a:solidFill>
                            <a:srgbClr val="1C1B33"/>
                          </a:solidFill>
                          <a:latin typeface="Yu Gothic"/>
                        </a:defRPr>
                      </a:pPr>
                      <a:r>
                        <a:t>ホワイトソックス7-タイガース5</a:t>
                      </a:r>
                    </a:p>
                  </a:txBody>
                  <a:tcPr>
                    <a:solidFill>
                      <a:srgbClr val="FFFFFF"/>
                    </a:solidFill>
                  </a:tcPr>
                </a:tc>
              </a:tr>
              <a:tr h="502920">
                <a:tc>
                  <a:txBody>
                    <a:bodyPr/>
                    <a:lstStyle/>
                    <a:p>
                      <a:pPr>
                        <a:defRPr sz="1200">
                          <a:solidFill>
                            <a:srgbClr val="1C1B33"/>
                          </a:solidFill>
                          <a:latin typeface="Yu Gothic"/>
                        </a:defRPr>
                      </a:pPr>
                      <a:r>
                        <a:t>村上選手の打撃成績</a:t>
                      </a:r>
                    </a:p>
                  </a:txBody>
                  <a:tcPr>
                    <a:solidFill>
                      <a:srgbClr val="F4F3FC"/>
                    </a:solidFill>
                  </a:tcPr>
                </a:tc>
                <a:tc>
                  <a:txBody>
                    <a:bodyPr/>
                    <a:lstStyle/>
                    <a:p>
                      <a:pPr>
                        <a:defRPr sz="1200">
                          <a:solidFill>
                            <a:srgbClr val="1C1B33"/>
                          </a:solidFill>
                          <a:latin typeface="Yu Gothic"/>
                        </a:defRPr>
                      </a:pPr>
                      <a:r>
                        <a:t>5打数1安打・2打点・2三振</a:t>
                      </a:r>
                    </a:p>
                  </a:txBody>
                  <a:tcPr>
                    <a:solidFill>
                      <a:srgbClr val="F4F3FC"/>
                    </a:solidFill>
                  </a:tcPr>
                </a:tc>
              </a:tr>
              <a:tr h="502920">
                <a:tc>
                  <a:txBody>
                    <a:bodyPr/>
                    <a:lstStyle/>
                    <a:p>
                      <a:pPr>
                        <a:defRPr sz="1200">
                          <a:solidFill>
                            <a:srgbClr val="1C1B33"/>
                          </a:solidFill>
                          <a:latin typeface="Yu Gothic"/>
                        </a:defRPr>
                      </a:pPr>
                      <a:r>
                        <a:t>決勝弾の状況</a:t>
                      </a:r>
                    </a:p>
                  </a:txBody>
                  <a:tcPr>
                    <a:solidFill>
                      <a:srgbClr val="FFFFFF"/>
                    </a:solidFill>
                  </a:tcPr>
                </a:tc>
                <a:tc>
                  <a:txBody>
                    <a:bodyPr/>
                    <a:lstStyle/>
                    <a:p>
                      <a:pPr>
                        <a:defRPr sz="1200">
                          <a:solidFill>
                            <a:srgbClr val="1C1B33"/>
                          </a:solidFill>
                          <a:latin typeface="Yu Gothic"/>
                        </a:defRPr>
                      </a:pPr>
                      <a:r>
                        <a:t>7回表・無死一塁・左腕ホルトン・シンカー</a:t>
                      </a:r>
                    </a:p>
                  </a:txBody>
                  <a:tcPr>
                    <a:solidFill>
                      <a:srgbClr val="FFFFFF"/>
                    </a:solidFill>
                  </a:tcPr>
                </a:tc>
              </a:tr>
              <a:tr h="502920">
                <a:tc>
                  <a:txBody>
                    <a:bodyPr/>
                    <a:lstStyle/>
                    <a:p>
                      <a:pPr>
                        <a:defRPr sz="1200">
                          <a:solidFill>
                            <a:srgbClr val="1C1B33"/>
                          </a:solidFill>
                          <a:latin typeface="Yu Gothic"/>
                        </a:defRPr>
                      </a:pPr>
                      <a:r>
                        <a:t>決勝弾の通算</a:t>
                      </a:r>
                    </a:p>
                  </a:txBody>
                  <a:tcPr>
                    <a:solidFill>
                      <a:srgbClr val="F4F3FC"/>
                    </a:solidFill>
                  </a:tcPr>
                </a:tc>
                <a:tc>
                  <a:txBody>
                    <a:bodyPr/>
                    <a:lstStyle/>
                    <a:p>
                      <a:pPr>
                        <a:defRPr sz="1200">
                          <a:solidFill>
                            <a:srgbClr val="1C1B33"/>
                          </a:solidFill>
                          <a:latin typeface="Yu Gothic"/>
                        </a:defRPr>
                      </a:pPr>
                      <a:r>
                        <a:t>今季28号(左中間へ2ラン)</a:t>
                      </a:r>
                    </a:p>
                  </a:txBody>
                  <a:tcPr>
                    <a:solidFill>
                      <a:srgbClr val="F4F3FC"/>
                    </a:solidFill>
                  </a:tcPr>
                </a:tc>
              </a:tr>
              <a:tr h="502920">
                <a:tc>
                  <a:txBody>
                    <a:bodyPr/>
                    <a:lstStyle/>
                    <a:p>
                      <a:pPr>
                        <a:defRPr sz="1200">
                          <a:solidFill>
                            <a:srgbClr val="1C1B33"/>
                          </a:solidFill>
                          <a:latin typeface="Yu Gothic"/>
                        </a:defRPr>
                      </a:pPr>
                      <a:r>
                        <a:t>シリーズ結果</a:t>
                      </a:r>
                    </a:p>
                  </a:txBody>
                  <a:tcPr>
                    <a:solidFill>
                      <a:srgbClr val="FFFFFF"/>
                    </a:solidFill>
                  </a:tcPr>
                </a:tc>
                <a:tc>
                  <a:txBody>
                    <a:bodyPr/>
                    <a:lstStyle/>
                    <a:p>
                      <a:pPr>
                        <a:defRPr sz="1200">
                          <a:solidFill>
                            <a:srgbClr val="1C1B33"/>
                          </a:solidFill>
                          <a:latin typeface="Yu Gothic"/>
                        </a:defRPr>
                      </a:pPr>
                      <a:r>
                        <a:t>3連戦スイープ</a:t>
                      </a:r>
                    </a:p>
                  </a:txBody>
                  <a:tcPr>
                    <a:solidFill>
                      <a:srgbClr val="FFFFFF"/>
                    </a:solidFill>
                  </a:tcPr>
                </a:tc>
              </a:tr>
              <a:tr h="502920">
                <a:tc>
                  <a:txBody>
                    <a:bodyPr/>
                    <a:lstStyle/>
                    <a:p>
                      <a:pPr>
                        <a:defRPr sz="1200">
                          <a:solidFill>
                            <a:srgbClr val="1C1B33"/>
                          </a:solidFill>
                          <a:latin typeface="Yu Gothic"/>
                        </a:defRPr>
                      </a:pPr>
                      <a:r>
                        <a:t>報じられたマジックナンバー</a:t>
                      </a:r>
                    </a:p>
                  </a:txBody>
                  <a:tcPr>
                    <a:solidFill>
                      <a:srgbClr val="F4F3FC"/>
                    </a:solidFill>
                  </a:tcPr>
                </a:tc>
                <a:tc>
                  <a:txBody>
                    <a:bodyPr/>
                    <a:lstStyle/>
                    <a:p>
                      <a:pPr>
                        <a:defRPr sz="1200">
                          <a:solidFill>
                            <a:srgbClr val="1C1B33"/>
                          </a:solidFill>
                          <a:latin typeface="Yu Gothic"/>
                        </a:defRPr>
                      </a:pPr>
                      <a:r>
                        <a:t>33</a:t>
                      </a:r>
                    </a:p>
                  </a:txBody>
                  <a:tcPr>
                    <a:solidFill>
                      <a:srgbClr val="F4F3FC"/>
                    </a:solidFill>
                  </a:tcPr>
                </a:tc>
              </a:tr>
              <a:tr h="502920">
                <a:tc>
                  <a:txBody>
                    <a:bodyPr/>
                    <a:lstStyle/>
                    <a:p>
                      <a:pPr>
                        <a:defRPr sz="1200">
                          <a:solidFill>
                            <a:srgbClr val="1C1B33"/>
                          </a:solidFill>
                          <a:latin typeface="Yu Gothic"/>
                        </a:defRPr>
                      </a:pPr>
                      <a:r>
                        <a:t>今季通算成績</a:t>
                      </a:r>
                    </a:p>
                  </a:txBody>
                  <a:tcPr>
                    <a:solidFill>
                      <a:srgbClr val="FFFFFF"/>
                    </a:solidFill>
                  </a:tcPr>
                </a:tc>
                <a:tc>
                  <a:txBody>
                    <a:bodyPr/>
                    <a:lstStyle/>
                    <a:p>
                      <a:pPr>
                        <a:defRPr sz="1200">
                          <a:solidFill>
                            <a:srgbClr val="1C1B33"/>
                          </a:solidFill>
                          <a:latin typeface="Yu Gothic"/>
                        </a:defRPr>
                      </a:pPr>
                      <a:r>
                        <a:t>打率.235・28本・57打点・OPS.911</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Yahoo!ニュース・マイナビニュース・BASEBALL KING・スポーツ報知(2026-08-16)</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Yahoo!ニュース(ベースボールキング配信)・マイナビニュース・BASEBALL KING・スポーツ報知(docomoニュース配信)(2026-08-16)</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これで何が変わるか・読者への示唆</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このニュースが意味することを整理します。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首位攻防と位置づけられた3連戦をスイープしたことは、地区優勝争いにおいて意味のある結果として位置づけられる(断定的な評価は避ける)</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村上選手は2打点・2三振という内容ながら、決勝打という結果で試合を決めたことが今回の数字から確認できる</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地区優勝の可否・今後の順位は本リサーチの範囲では確認できていない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Yahoo!ニュース(ベースボールキング配信)・マイナビニュース・BASEBALL KING・スポーツ報知(docomoニュース配信)(2026-08-16)</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視聴者にとっての実践的な示唆</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野球ファンとして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得点だけでなくイニング・アウトカウント・投手といった状況まで確認すると理解が深まる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日本人メジャーリーガーを追う立場として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村上選手の今季通算成績(打率.235・28本・57打点・OPS.911)を継続して確認する視点が役立つ</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情報を発信する立場として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マジックナンバー等、算出根拠が未確認の数字を推測で補わず正確に伝える姿勢が信頼につながる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Yahoo!ニュース(ベースボールキング配信)・マイナビニュース・BASEBALL KING・スポーツ報知(docomoニュース配信)(2026-08-16)</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事実と推測を分けて整理する</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63628C"/>
                </a:solidFill>
                <a:latin typeface="Yu Gothic"/>
              </a:rPr>
              <a:t>報道内容を、事実と推測に分けます。</a:t>
            </a:r>
          </a:p>
        </p:txBody>
      </p:sp>
      <p:sp>
        <p:nvSpPr>
          <p:cNvPr id="7" name="Oval 6"/>
          <p:cNvSpPr/>
          <p:nvPr/>
        </p:nvSpPr>
        <p:spPr>
          <a:xfrm>
            <a:off x="457200" y="212140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事実: 最終スコア7-5・村上選手5打数1安打2打点2三振・7回表無死一塁での決勝28号2ラン・左腕ホルトンの真ん中のシンカー・3連戦スイープ・報じられたマジックナンバー33・今季通算打率.235/28本/57打点/OPS.911</a:t>
            </a:r>
          </a:p>
        </p:txBody>
      </p:sp>
      <p:sp>
        <p:nvSpPr>
          <p:cNvPr id="9" name="Oval 8"/>
          <p:cNvSpPr/>
          <p:nvPr/>
        </p:nvSpPr>
        <p:spPr>
          <a:xfrm>
            <a:off x="457200" y="2898648"/>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推測: 3連戦スイープを地区優勝争いにおいて意味のある結果と位置づける評価(具体的な順位への影響は断定しない)</a:t>
            </a:r>
          </a:p>
        </p:txBody>
      </p:sp>
      <p:sp>
        <p:nvSpPr>
          <p:cNvPr id="11" name="Oval 10"/>
          <p:cNvSpPr/>
          <p:nvPr/>
        </p:nvSpPr>
        <p:spPr>
          <a:xfrm>
            <a:off x="457200" y="3675887"/>
            <a:ext cx="320040" cy="320040"/>
          </a:xfrm>
          <a:prstGeom prst="ellipse">
            <a:avLst/>
          </a:prstGeom>
          <a:solidFill>
            <a:srgbClr val="2E2A72"/>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1B33"/>
                </a:solidFill>
                <a:latin typeface="Yu Gothic"/>
              </a:rPr>
              <a:t>不明: マジックナンバー33の算出根拠、3連戦の1戦目・2戦目の個別スコア、ホルトン投手の詳細プロフィール</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Yahoo!ニュース(ベースボールキング配信)・マイナビニュース・BASEBALL KING・スポーツ報知(docomoニュース配信)(2026-08-16)</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確認できていないこと(一覧)</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E2A72"/>
                    </a:solidFill>
                  </a:tcPr>
                </a:tc>
                <a:tc>
                  <a:txBody>
                    <a:bodyPr/>
                    <a:lstStyle/>
                    <a:p>
                      <a:pPr>
                        <a:defRPr sz="1300" b="1">
                          <a:solidFill>
                            <a:srgbClr val="FFFFFF"/>
                          </a:solidFill>
                          <a:latin typeface="Yu Gothic"/>
                        </a:defRPr>
                      </a:pPr>
                      <a:r>
                        <a:t>状況</a:t>
                      </a:r>
                    </a:p>
                  </a:txBody>
                  <a:tcPr>
                    <a:solidFill>
                      <a:srgbClr val="2E2A72"/>
                    </a:solidFill>
                  </a:tcPr>
                </a:tc>
              </a:tr>
              <a:tr h="502920">
                <a:tc>
                  <a:txBody>
                    <a:bodyPr/>
                    <a:lstStyle/>
                    <a:p>
                      <a:pPr>
                        <a:defRPr sz="1200">
                          <a:solidFill>
                            <a:srgbClr val="1C1B33"/>
                          </a:solidFill>
                          <a:latin typeface="Yu Gothic"/>
                        </a:defRPr>
                      </a:pPr>
                      <a:r>
                        <a:t>マジックナンバー33の算出根拠</a:t>
                      </a:r>
                    </a:p>
                  </a:txBody>
                  <a:tcPr>
                    <a:solidFill>
                      <a:srgbClr val="FFFFFF"/>
                    </a:solidFill>
                  </a:tcPr>
                </a:tc>
                <a:tc>
                  <a:txBody>
                    <a:bodyPr/>
                    <a:lstStyle/>
                    <a:p>
                      <a:pPr>
                        <a:defRPr sz="1200">
                          <a:solidFill>
                            <a:srgbClr val="1C1B33"/>
                          </a:solidFill>
                          <a:latin typeface="Yu Gothic"/>
                        </a:defRPr>
                      </a:pPr>
                      <a:r>
                        <a:t>本調査の範囲では確認できていない(推測で補わない)</a:t>
                      </a:r>
                    </a:p>
                  </a:txBody>
                  <a:tcPr>
                    <a:solidFill>
                      <a:srgbClr val="FFFFFF"/>
                    </a:solidFill>
                  </a:tcPr>
                </a:tc>
              </a:tr>
              <a:tr h="502920">
                <a:tc>
                  <a:txBody>
                    <a:bodyPr/>
                    <a:lstStyle/>
                    <a:p>
                      <a:pPr>
                        <a:defRPr sz="1200">
                          <a:solidFill>
                            <a:srgbClr val="1C1B33"/>
                          </a:solidFill>
                          <a:latin typeface="Yu Gothic"/>
                        </a:defRPr>
                      </a:pPr>
                      <a:r>
                        <a:t>3連戦の1戦目・2戦目の個別スコア</a:t>
                      </a:r>
                    </a:p>
                  </a:txBody>
                  <a:tcPr>
                    <a:solidFill>
                      <a:srgbClr val="F4F3FC"/>
                    </a:solidFill>
                  </a:tcPr>
                </a:tc>
                <a:tc>
                  <a:txBody>
                    <a:bodyPr/>
                    <a:lstStyle/>
                    <a:p>
                      <a:pPr>
                        <a:defRPr sz="1200">
                          <a:solidFill>
                            <a:srgbClr val="1C1B33"/>
                          </a:solidFill>
                          <a:latin typeface="Yu Gothic"/>
                        </a:defRPr>
                      </a:pPr>
                      <a:r>
                        <a:t>本調査の範囲では確認できていない</a:t>
                      </a:r>
                    </a:p>
                  </a:txBody>
                  <a:tcPr>
                    <a:solidFill>
                      <a:srgbClr val="F4F3FC"/>
                    </a:solidFill>
                  </a:tcPr>
                </a:tc>
              </a:tr>
              <a:tr h="502920">
                <a:tc>
                  <a:txBody>
                    <a:bodyPr/>
                    <a:lstStyle/>
                    <a:p>
                      <a:pPr>
                        <a:defRPr sz="1200">
                          <a:solidFill>
                            <a:srgbClr val="1C1B33"/>
                          </a:solidFill>
                          <a:latin typeface="Yu Gothic"/>
                        </a:defRPr>
                      </a:pPr>
                      <a:r>
                        <a:t>ホルトン投手の詳細プロフィール</a:t>
                      </a:r>
                    </a:p>
                  </a:txBody>
                  <a:tcPr>
                    <a:solidFill>
                      <a:srgbClr val="FFFFFF"/>
                    </a:solidFill>
                  </a:tcPr>
                </a:tc>
                <a:tc>
                  <a:txBody>
                    <a:bodyPr/>
                    <a:lstStyle/>
                    <a:p>
                      <a:pPr>
                        <a:defRPr sz="1200">
                          <a:solidFill>
                            <a:srgbClr val="1C1B33"/>
                          </a:solidFill>
                          <a:latin typeface="Yu Gothic"/>
                        </a:defRPr>
                      </a:pPr>
                      <a:r>
                        <a:t>『左腕の救援投手』という報道内容のみを扱う</a:t>
                      </a:r>
                    </a:p>
                  </a:txBody>
                  <a:tcPr>
                    <a:solidFill>
                      <a:srgbClr val="FFFFFF"/>
                    </a:solidFill>
                  </a:tcPr>
                </a:tc>
              </a:tr>
              <a:tr h="502920">
                <a:tc>
                  <a:txBody>
                    <a:bodyPr/>
                    <a:lstStyle/>
                    <a:p>
                      <a:pPr>
                        <a:defRPr sz="1200">
                          <a:solidFill>
                            <a:srgbClr val="1C1B33"/>
                          </a:solidFill>
                          <a:latin typeface="Yu Gothic"/>
                        </a:defRPr>
                      </a:pPr>
                      <a:r>
                        <a:t>地区順位表の勝敗数・ゲーム差</a:t>
                      </a:r>
                    </a:p>
                  </a:txBody>
                  <a:tcPr>
                    <a:solidFill>
                      <a:srgbClr val="F4F3FC"/>
                    </a:solidFill>
                  </a:tcPr>
                </a:tc>
                <a:tc>
                  <a:txBody>
                    <a:bodyPr/>
                    <a:lstStyle/>
                    <a:p>
                      <a:pPr>
                        <a:defRPr sz="1200">
                          <a:solidFill>
                            <a:srgbClr val="1C1B33"/>
                          </a:solidFill>
                          <a:latin typeface="Yu Gothic"/>
                        </a:defRPr>
                      </a:pPr>
                      <a:r>
                        <a:t>本調査の範囲では確認できていない</a:t>
                      </a:r>
                    </a:p>
                  </a:txBody>
                  <a:tcPr>
                    <a:solidFill>
                      <a:srgbClr val="F4F3FC"/>
                    </a:solidFill>
                  </a:tcPr>
                </a:tc>
              </a:tr>
              <a:tr h="502920">
                <a:tc>
                  <a:txBody>
                    <a:bodyPr/>
                    <a:lstStyle/>
                    <a:p>
                      <a:pPr>
                        <a:defRPr sz="1200">
                          <a:solidFill>
                            <a:srgbClr val="1C1B33"/>
                          </a:solidFill>
                          <a:latin typeface="Yu Gothic"/>
                        </a:defRPr>
                      </a:pPr>
                      <a:r>
                        <a:t>観客動員数・村上選手本人のコメント</a:t>
                      </a:r>
                    </a:p>
                  </a:txBody>
                  <a:tcPr>
                    <a:solidFill>
                      <a:srgbClr val="FFFFFF"/>
                    </a:solidFill>
                  </a:tcPr>
                </a:tc>
                <a:tc>
                  <a:txBody>
                    <a:bodyPr/>
                    <a:lstStyle/>
                    <a:p>
                      <a:pPr>
                        <a:defRPr sz="1200">
                          <a:solidFill>
                            <a:srgbClr val="1C1B33"/>
                          </a:solidFill>
                          <a:latin typeface="Yu Gothic"/>
                        </a:defRPr>
                      </a:pPr>
                      <a:r>
                        <a:t>本調査の範囲では確認できていない</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3628C"/>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Yahoo!ニュース(ベースボールキング配信)・マイナビニュース・BASEBALL KING・スポーツ報知(docomoニュース配信)(2026-08-16)</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今回の結果を支えた3つのポイント</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決勝28号2ラン</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7回表無死一塁、左腕ホルトンの真ん中のシンカーを左中間へ</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2点差の勝利</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ホワイトソックスが7-5でタイガースに勝利した</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17C3B2"/>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E2A72"/>
                </a:solidFill>
                <a:latin typeface="Yu Gothic"/>
              </a:rPr>
              <a:t>3連戦スイープ</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63628C"/>
                </a:solidFill>
                <a:latin typeface="Yu Gothic"/>
              </a:rPr>
              <a:t>首位攻防と位置づけられた3連戦を全勝で終えた</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Yahoo!ニュース(ベースボールキング配信)・マイナビニュース・BASEBALL KING・スポーツ報知(docomoニュース配信)(2026-08-16)</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E2A72"/>
                </a:solidFill>
                <a:latin typeface="Yu Gothic"/>
              </a:rPr>
              <a:t>主な出典一覧</a:t>
            </a:r>
          </a:p>
        </p:txBody>
      </p:sp>
      <p:sp>
        <p:nvSpPr>
          <p:cNvPr id="5" name="Rectangle 4"/>
          <p:cNvSpPr/>
          <p:nvPr/>
        </p:nvSpPr>
        <p:spPr>
          <a:xfrm>
            <a:off x="457200" y="1188720"/>
            <a:ext cx="502920" cy="54864"/>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2E2A72"/>
                    </a:solidFill>
                  </a:tcPr>
                </a:tc>
                <a:tc>
                  <a:txBody>
                    <a:bodyPr/>
                    <a:lstStyle/>
                    <a:p>
                      <a:pPr>
                        <a:defRPr sz="1300" b="1">
                          <a:solidFill>
                            <a:srgbClr val="FFFFFF"/>
                          </a:solidFill>
                          <a:latin typeface="Yu Gothic"/>
                        </a:defRPr>
                      </a:pPr>
                      <a:r>
                        <a:t>内容</a:t>
                      </a:r>
                    </a:p>
                  </a:txBody>
                  <a:tcPr>
                    <a:solidFill>
                      <a:srgbClr val="2E2A72"/>
                    </a:solidFill>
                  </a:tcPr>
                </a:tc>
              </a:tr>
              <a:tr h="502920">
                <a:tc>
                  <a:txBody>
                    <a:bodyPr/>
                    <a:lstStyle/>
                    <a:p>
                      <a:pPr>
                        <a:defRPr sz="1200">
                          <a:solidFill>
                            <a:srgbClr val="1C1B33"/>
                          </a:solidFill>
                          <a:latin typeface="Yu Gothic"/>
                        </a:defRPr>
                      </a:pPr>
                      <a:r>
                        <a:t>Yahoo!ニュース(ベースボールキング配信)</a:t>
                      </a:r>
                    </a:p>
                  </a:txBody>
                  <a:tcPr>
                    <a:solidFill>
                      <a:srgbClr val="FFFFFF"/>
                    </a:solidFill>
                  </a:tcPr>
                </a:tc>
                <a:tc>
                  <a:txBody>
                    <a:bodyPr/>
                    <a:lstStyle/>
                    <a:p>
                      <a:pPr>
                        <a:defRPr sz="1200">
                          <a:solidFill>
                            <a:srgbClr val="1C1B33"/>
                          </a:solidFill>
                          <a:latin typeface="Yu Gothic"/>
                        </a:defRPr>
                      </a:pPr>
                      <a:r>
                        <a:t>試合結果・決勝弾の詳細(2026-08-16)</a:t>
                      </a:r>
                    </a:p>
                  </a:txBody>
                  <a:tcPr>
                    <a:solidFill>
                      <a:srgbClr val="FFFFFF"/>
                    </a:solidFill>
                  </a:tcPr>
                </a:tc>
              </a:tr>
              <a:tr h="502920">
                <a:tc>
                  <a:txBody>
                    <a:bodyPr/>
                    <a:lstStyle/>
                    <a:p>
                      <a:pPr>
                        <a:defRPr sz="1200">
                          <a:solidFill>
                            <a:srgbClr val="1C1B33"/>
                          </a:solidFill>
                          <a:latin typeface="Yu Gothic"/>
                        </a:defRPr>
                      </a:pPr>
                      <a:r>
                        <a:t>マイナビニュース</a:t>
                      </a:r>
                    </a:p>
                  </a:txBody>
                  <a:tcPr>
                    <a:solidFill>
                      <a:srgbClr val="F4F3FC"/>
                    </a:solidFill>
                  </a:tcPr>
                </a:tc>
                <a:tc>
                  <a:txBody>
                    <a:bodyPr/>
                    <a:lstStyle/>
                    <a:p>
                      <a:pPr>
                        <a:defRPr sz="1200">
                          <a:solidFill>
                            <a:srgbClr val="1C1B33"/>
                          </a:solidFill>
                          <a:latin typeface="Yu Gothic"/>
                        </a:defRPr>
                      </a:pPr>
                      <a:r>
                        <a:t>試合結果・今季通算成績の確認(2026-08-16)</a:t>
                      </a:r>
                    </a:p>
                  </a:txBody>
                  <a:tcPr>
                    <a:solidFill>
                      <a:srgbClr val="F4F3FC"/>
                    </a:solidFill>
                  </a:tcPr>
                </a:tc>
              </a:tr>
              <a:tr h="502920">
                <a:tc>
                  <a:txBody>
                    <a:bodyPr/>
                    <a:lstStyle/>
                    <a:p>
                      <a:pPr>
                        <a:defRPr sz="1200">
                          <a:solidFill>
                            <a:srgbClr val="1C1B33"/>
                          </a:solidFill>
                          <a:latin typeface="Yu Gothic"/>
                        </a:defRPr>
                      </a:pPr>
                      <a:r>
                        <a:t>BASEBALL KING</a:t>
                      </a:r>
                    </a:p>
                  </a:txBody>
                  <a:tcPr>
                    <a:solidFill>
                      <a:srgbClr val="FFFFFF"/>
                    </a:solidFill>
                  </a:tcPr>
                </a:tc>
                <a:tc>
                  <a:txBody>
                    <a:bodyPr/>
                    <a:lstStyle/>
                    <a:p>
                      <a:pPr>
                        <a:defRPr sz="1200">
                          <a:solidFill>
                            <a:srgbClr val="1C1B33"/>
                          </a:solidFill>
                          <a:latin typeface="Yu Gothic"/>
                        </a:defRPr>
                      </a:pPr>
                      <a:r>
                        <a:t>決勝弾の状況・マジックナンバーの確認(2026-08-16)</a:t>
                      </a:r>
                    </a:p>
                  </a:txBody>
                  <a:tcPr>
                    <a:solidFill>
                      <a:srgbClr val="FFFFFF"/>
                    </a:solidFill>
                  </a:tcPr>
                </a:tc>
              </a:tr>
              <a:tr h="502920">
                <a:tc>
                  <a:txBody>
                    <a:bodyPr/>
                    <a:lstStyle/>
                    <a:p>
                      <a:pPr>
                        <a:defRPr sz="1200">
                          <a:solidFill>
                            <a:srgbClr val="1C1B33"/>
                          </a:solidFill>
                          <a:latin typeface="Yu Gothic"/>
                        </a:defRPr>
                      </a:pPr>
                      <a:r>
                        <a:t>スポーツ報知(docomoニュース配信)</a:t>
                      </a:r>
                    </a:p>
                  </a:txBody>
                  <a:tcPr>
                    <a:solidFill>
                      <a:srgbClr val="F4F3FC"/>
                    </a:solidFill>
                  </a:tcPr>
                </a:tc>
                <a:tc>
                  <a:txBody>
                    <a:bodyPr/>
                    <a:lstStyle/>
                    <a:p>
                      <a:pPr>
                        <a:defRPr sz="1200">
                          <a:solidFill>
                            <a:srgbClr val="1C1B33"/>
                          </a:solidFill>
                          <a:latin typeface="Yu Gothic"/>
                        </a:defRPr>
                      </a:pPr>
                      <a:r>
                        <a:t>試合結果・村上選手のスタッツ確認(2026-08-16)</a:t>
                      </a:r>
                    </a:p>
                  </a:txBody>
                  <a:tcPr>
                    <a:solidFill>
                      <a:srgbClr val="F4F3FC"/>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3628C"/>
                </a:solidFill>
                <a:latin typeface="Yu Gothic"/>
              </a:rPr>
              <a:t>AI Company OS｜出典: Yahoo!ニュース(ベースボールキング配信)・マイナビニュース・BASEBALL KING・スポーツ報知(docomoニュース配信)(2026-08-16)</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3628C"/>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6D9F5"/>
                </a:solidFill>
                <a:latin typeface="Yu Gothic"/>
              </a:rPr>
              <a:t>改めて、今季28号</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7C3B2"/>
                </a:solidFill>
                <a:latin typeface="Yu Gothic"/>
              </a:rPr>
              <a:t>28号本塁打</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首位攻防3連戦をスイープに導いた、村上宗隆選手の決勝2ラン</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A9AEE0"/>
                </a:solidFill>
                <a:latin typeface="Yu Gothic"/>
              </a:rPr>
              <a:t>出典: Yahoo!ニュース(ベースボールキング配信、2026-08-16)</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B1846"/>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A9AE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17C3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決勝は28号2ラン。村上宗隆が、3連戦をスイープに導いた。</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6D9F5"/>
                </a:solidFill>
                <a:latin typeface="Yu Gothic"/>
              </a:rPr>
              <a:t>7回表無死一塁、左腕ホルトンの真ん中のシンカーを左中間へ。7-5の勝利と3連戦スイープを、数字を正確に、出典付きで整理してお届けしました。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4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E2A72"/>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