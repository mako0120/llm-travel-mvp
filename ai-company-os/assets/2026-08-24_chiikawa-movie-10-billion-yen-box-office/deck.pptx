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2026年8月23日、『映画ちいかわ 人魚の島のひみつ』が興行収入100億円突破を公式Xで発表しました。何が起きたのか、出典付きで正確に整理してお届けします。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結論から確認します。『映画ちいかわ 人魚の島のひみつ』が公開30日間で興行収入100億円を突破しました。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今日は6つの流れでお伝えします。作品情報から興収推移、他作品との比較まで、正確に事実を引用しながら整理します。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このテーマを扱う理由です。高い鮮度と、日本発コンテンツの好調という明るい話題性に注目しました。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作品の基本情報です。『ちいかわ』にとって初めての劇場アニメーション作品です。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『ちいかわ』というIPについて確認します。SNS発の人気キャラクターです。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公開から100億円到達まで、わずか30日間というスピードでした。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公開から100億円到達までの流れを図にしました。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興収推移を3ステップで総括しました。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興行収入とは何かを確認します。到達までの期間の短さも重要な指標です。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初日興収の位置づけです。今シーズン3番目という好調なスタートでした。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初日3日間の興収は22.4億円で、今シーズン3番目の好スタートでした。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『名探偵コナン』との比較です。ほぼ同等のペースで興収を伸ばしています。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興収推移の比較です。日数・興収・観客動員数いずれもほぼ同等の水準です。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エンタメ動向を追う立場にとっての意味です。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24日間時点での観客動員数は645万人でした。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初日興収を『トイ・ストーリー5』と対比しました。僅差の成績です。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大ヒットの背景です。推測にとどまる部分は明確に区別してお伝えします。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映画業界における今回の意味です。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24日間時点での観客動員数は、『ちいかわ』が『コナン』をわずかに上回っています。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新規IPの劇場作品として、30日間での100億円到達は異例のスピードと言えます。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興収の主な区切りをまとめました。着実に数字を伸ばしています。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新規IP作品と既存の人気シリーズを対比しました。新規作品として異例のペースです。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今後の注目点です。ただし推測にとどまる部分は明確に区別してお伝えします。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本編のまとめです。『映画ちいかわ』の興収100億円突破について、出典付きで整理してお伝えしました。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映画ちいかわ』の興収100億円突破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映画『ちいかわ』、</a:t>
            </a:r>
          </a:p>
          <a:p>
            <a:pPr algn="l">
              <a:lnSpc>
                <a:spcPct val="115000"/>
              </a:lnSpc>
            </a:pPr>
            <a:r>
              <a:rPr sz="4200" b="1">
                <a:solidFill>
                  <a:srgbClr val="FFFFFF"/>
                </a:solidFill>
                <a:latin typeface="Yu Gothic"/>
              </a:rPr>
              <a:t>公開30日で</a:t>
            </a:r>
          </a:p>
          <a:p>
            <a:pPr algn="l">
              <a:lnSpc>
                <a:spcPct val="115000"/>
              </a:lnSpc>
            </a:pPr>
            <a:r>
              <a:rPr sz="4200" b="1">
                <a:solidFill>
                  <a:srgbClr val="FFFFFF"/>
                </a:solidFill>
                <a:latin typeface="Yu Gothic"/>
              </a:rPr>
              <a:t>興収100億円突破</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2026年8月24日報道——出典付きで整理する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オリコン・ENCOUNT(2026年8月24日)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興収100億円突破 公開30日間での大台到達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2026年8月23日、公式Xで発表(日本の主要メディアが2026年8月24日付で報道)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ENCOUNT・モデルプレス(2026-08-24)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作品の基本情報を確認する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興収の推移を確認する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『名探偵コナン』との比較を確認する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作品の背景を確認する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着手日当日(2026年8月24日)、日本の主要メディアが一斉に報じた話題である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公開30日間で興収100億円突破という、規模のインパクトが大きい出来事である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日本発コンテンツの好調を伝える明るいニュースである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複数の独立したメディアが同じ中心数値を報じており、情報の一貫性を確認できた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オリコン・ENCOUNT(2026-08-24)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作品の基本情報</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作品名</a:t>
                      </a:r>
                    </a:p>
                  </a:txBody>
                  <a:tcPr>
                    <a:solidFill>
                      <a:srgbClr val="FFFFFF"/>
                    </a:solidFill>
                  </a:tcPr>
                </a:tc>
                <a:tc>
                  <a:txBody>
                    <a:bodyPr/>
                    <a:lstStyle/>
                    <a:p>
                      <a:pPr>
                        <a:defRPr sz="1200">
                          <a:solidFill>
                            <a:srgbClr val="16202E"/>
                          </a:solidFill>
                          <a:latin typeface="Yu Gothic"/>
                        </a:defRPr>
                      </a:pPr>
                      <a:r>
                        <a:t>映画ちいかわ 人魚の島のひみつ</a:t>
                      </a:r>
                    </a:p>
                  </a:txBody>
                  <a:tcPr>
                    <a:solidFill>
                      <a:srgbClr val="FFFFFF"/>
                    </a:solidFill>
                  </a:tcPr>
                </a:tc>
              </a:tr>
              <a:tr h="502920">
                <a:tc>
                  <a:txBody>
                    <a:bodyPr/>
                    <a:lstStyle/>
                    <a:p>
                      <a:pPr>
                        <a:defRPr sz="1200">
                          <a:solidFill>
                            <a:srgbClr val="16202E"/>
                          </a:solidFill>
                          <a:latin typeface="Yu Gothic"/>
                        </a:defRPr>
                      </a:pPr>
                      <a:r>
                        <a:t>公開日</a:t>
                      </a:r>
                    </a:p>
                  </a:txBody>
                  <a:tcPr>
                    <a:solidFill>
                      <a:srgbClr val="F2F6FA"/>
                    </a:solidFill>
                  </a:tcPr>
                </a:tc>
                <a:tc>
                  <a:txBody>
                    <a:bodyPr/>
                    <a:lstStyle/>
                    <a:p>
                      <a:pPr>
                        <a:defRPr sz="1200">
                          <a:solidFill>
                            <a:srgbClr val="16202E"/>
                          </a:solidFill>
                          <a:latin typeface="Yu Gothic"/>
                        </a:defRPr>
                      </a:pPr>
                      <a:r>
                        <a:t>2026年7月24日</a:t>
                      </a:r>
                    </a:p>
                  </a:txBody>
                  <a:tcPr>
                    <a:solidFill>
                      <a:srgbClr val="F2F6FA"/>
                    </a:solidFill>
                  </a:tcPr>
                </a:tc>
              </a:tr>
              <a:tr h="502920">
                <a:tc>
                  <a:txBody>
                    <a:bodyPr/>
                    <a:lstStyle/>
                    <a:p>
                      <a:pPr>
                        <a:defRPr sz="1200">
                          <a:solidFill>
                            <a:srgbClr val="16202E"/>
                          </a:solidFill>
                          <a:latin typeface="Yu Gothic"/>
                        </a:defRPr>
                      </a:pPr>
                      <a:r>
                        <a:t>原作</a:t>
                      </a:r>
                    </a:p>
                  </a:txBody>
                  <a:tcPr>
                    <a:solidFill>
                      <a:srgbClr val="FFFFFF"/>
                    </a:solidFill>
                  </a:tcPr>
                </a:tc>
                <a:tc>
                  <a:txBody>
                    <a:bodyPr/>
                    <a:lstStyle/>
                    <a:p>
                      <a:pPr>
                        <a:defRPr sz="1200">
                          <a:solidFill>
                            <a:srgbClr val="16202E"/>
                          </a:solidFill>
                          <a:latin typeface="Yu Gothic"/>
                        </a:defRPr>
                      </a:pPr>
                      <a:r>
                        <a:t>ナガノ氏による漫画『ちいかわ』</a:t>
                      </a:r>
                    </a:p>
                  </a:txBody>
                  <a:tcPr>
                    <a:solidFill>
                      <a:srgbClr val="FFFFFF"/>
                    </a:solidFill>
                  </a:tcPr>
                </a:tc>
              </a:tr>
              <a:tr h="502920">
                <a:tc>
                  <a:txBody>
                    <a:bodyPr/>
                    <a:lstStyle/>
                    <a:p>
                      <a:pPr>
                        <a:defRPr sz="1200">
                          <a:solidFill>
                            <a:srgbClr val="16202E"/>
                          </a:solidFill>
                          <a:latin typeface="Yu Gothic"/>
                        </a:defRPr>
                      </a:pPr>
                      <a:r>
                        <a:t>位置づけ</a:t>
                      </a:r>
                    </a:p>
                  </a:txBody>
                  <a:tcPr>
                    <a:solidFill>
                      <a:srgbClr val="F2F6FA"/>
                    </a:solidFill>
                  </a:tcPr>
                </a:tc>
                <a:tc>
                  <a:txBody>
                    <a:bodyPr/>
                    <a:lstStyle/>
                    <a:p>
                      <a:pPr>
                        <a:defRPr sz="1200">
                          <a:solidFill>
                            <a:srgbClr val="16202E"/>
                          </a:solidFill>
                          <a:latin typeface="Yu Gothic"/>
                        </a:defRPr>
                      </a:pPr>
                      <a:r>
                        <a:t>『ちいかわ』にとって初の劇場アニメーション作品</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ENCOUNT・アニメ！アニメ！(2026-08-24)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『ちいかわ』というIPについて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前提知識を確認します。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漫画家ナガノ氏によるキャラクター『ちいかわ』は、SNS発の人気作品である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「なんか小さくてかわいいやつ」という愛称で知られている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グッズ展開等で広く知られており、今回が初めての劇場アニメーション作品にあたる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公開からの日数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30日間 興収100億円到達までの期間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2026年7月24日公開、8月23日に100億円突破を発表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ENCOUNT・モデルプレス(2026-08-24)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興収推移の流れ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7月24日、公開開始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初日3日間で興収22.4億円</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8月16日、公開24日間で92.8億円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観客動員645万人</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8月23日、興収100億円突破を発表</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公開30日間での到達</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公開から100億円到達までの流れ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MANTANWEB・オリコン(2026-08-24)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興収推移の3ステップ総括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好調な初日興収</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3日間で22.4億円、今シーズン3番目</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24日間で92.8億円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観客動員645万人</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30日間で100億円突破</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大台到達を公式発表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「興行収入(興収)」とは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前提知識を確認します。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映画館でのチケット販売による総売上額のことである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観客動員数とあわせて、映画のヒット規模を測る代表的な指標として使われる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同じ金額でも到達までの期間が短いほど、勢いのあるヒットとされる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確定していること</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公開30日間で興収100億円突破</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24日間時点での興収92.8億円・観客動員645万人</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初日3日間の興収22.4億円</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8月23日時点(100億円到達時点)での正確な観客動員数</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最終的な興行収入の着地見込み</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初日興収の位置づけ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初日の成績を確認します。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初日3日間の興行収入は22.4億円だった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今シーズン公開作品の中では、『名探偵コナン ハイウェイの堕天使』(35億円)、『トイ・ストーリー5』(24億1,000万円)に次ぐ3番目の成績だった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シリーズものではない新規IPの劇場作品としては、極めて好調なスタートと言える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初日3日間の興収</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22.4億円 今シーズン3番目の好スタート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『名探偵コナン』『トイ・ストーリー5』に次ぐ成績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本調査による整理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『名探偵コナン』との比較</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他の大ヒット作との比較を確認します。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『名探偵コナン ハイウェイの堕天使』は公開23日間で興収93.1億円・観客動員628万人を記録している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『ちいかわ』は公開24日間で興収92.8億円・観客動員645万人と、ほぼ同等のペースで推移した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この比較はあくまで興収推移のペースという客観的な数値の比較であり、作品の優劣を評価するものではない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オリコン(2026-08-24)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興収推移の比較</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作品</a:t>
                      </a:r>
                    </a:p>
                  </a:txBody>
                  <a:tcPr>
                    <a:solidFill>
                      <a:srgbClr val="1B3A5C"/>
                    </a:solidFill>
                  </a:tcPr>
                </a:tc>
                <a:tc>
                  <a:txBody>
                    <a:bodyPr/>
                    <a:lstStyle/>
                    <a:p>
                      <a:pPr>
                        <a:defRPr sz="1300" b="1">
                          <a:solidFill>
                            <a:srgbClr val="FFFFFF"/>
                          </a:solidFill>
                          <a:latin typeface="Yu Gothic"/>
                        </a:defRPr>
                      </a:pPr>
                      <a:r>
                        <a:t>日数</a:t>
                      </a:r>
                    </a:p>
                  </a:txBody>
                  <a:tcPr>
                    <a:solidFill>
                      <a:srgbClr val="1B3A5C"/>
                    </a:solidFill>
                  </a:tcPr>
                </a:tc>
                <a:tc>
                  <a:txBody>
                    <a:bodyPr/>
                    <a:lstStyle/>
                    <a:p>
                      <a:pPr>
                        <a:defRPr sz="1300" b="1">
                          <a:solidFill>
                            <a:srgbClr val="FFFFFF"/>
                          </a:solidFill>
                          <a:latin typeface="Yu Gothic"/>
                        </a:defRPr>
                      </a:pPr>
                      <a:r>
                        <a:t>興収</a:t>
                      </a:r>
                    </a:p>
                  </a:txBody>
                  <a:tcPr>
                    <a:solidFill>
                      <a:srgbClr val="1B3A5C"/>
                    </a:solidFill>
                  </a:tcPr>
                </a:tc>
                <a:tc>
                  <a:txBody>
                    <a:bodyPr/>
                    <a:lstStyle/>
                    <a:p>
                      <a:pPr>
                        <a:defRPr sz="1300" b="1">
                          <a:solidFill>
                            <a:srgbClr val="FFFFFF"/>
                          </a:solidFill>
                          <a:latin typeface="Yu Gothic"/>
                        </a:defRPr>
                      </a:pPr>
                      <a:r>
                        <a:t>観客動員</a:t>
                      </a:r>
                    </a:p>
                  </a:txBody>
                  <a:tcPr>
                    <a:solidFill>
                      <a:srgbClr val="1B3A5C"/>
                    </a:solidFill>
                  </a:tcPr>
                </a:tc>
              </a:tr>
              <a:tr h="502920">
                <a:tc>
                  <a:txBody>
                    <a:bodyPr/>
                    <a:lstStyle/>
                    <a:p>
                      <a:pPr>
                        <a:defRPr sz="1200">
                          <a:solidFill>
                            <a:srgbClr val="16202E"/>
                          </a:solidFill>
                          <a:latin typeface="Yu Gothic"/>
                        </a:defRPr>
                      </a:pPr>
                      <a:r>
                        <a:t>映画ちいかわ</a:t>
                      </a:r>
                    </a:p>
                  </a:txBody>
                  <a:tcPr>
                    <a:solidFill>
                      <a:srgbClr val="FFFFFF"/>
                    </a:solidFill>
                  </a:tcPr>
                </a:tc>
                <a:tc>
                  <a:txBody>
                    <a:bodyPr/>
                    <a:lstStyle/>
                    <a:p>
                      <a:pPr>
                        <a:defRPr sz="1200">
                          <a:solidFill>
                            <a:srgbClr val="16202E"/>
                          </a:solidFill>
                          <a:latin typeface="Yu Gothic"/>
                        </a:defRPr>
                      </a:pPr>
                      <a:r>
                        <a:t>24日間</a:t>
                      </a:r>
                    </a:p>
                  </a:txBody>
                  <a:tcPr>
                    <a:solidFill>
                      <a:srgbClr val="FFFFFF"/>
                    </a:solidFill>
                  </a:tcPr>
                </a:tc>
                <a:tc>
                  <a:txBody>
                    <a:bodyPr/>
                    <a:lstStyle/>
                    <a:p>
                      <a:pPr>
                        <a:defRPr sz="1200">
                          <a:solidFill>
                            <a:srgbClr val="16202E"/>
                          </a:solidFill>
                          <a:latin typeface="Yu Gothic"/>
                        </a:defRPr>
                      </a:pPr>
                      <a:r>
                        <a:t>92.8億円</a:t>
                      </a:r>
                    </a:p>
                  </a:txBody>
                  <a:tcPr>
                    <a:solidFill>
                      <a:srgbClr val="FFFFFF"/>
                    </a:solidFill>
                  </a:tcPr>
                </a:tc>
                <a:tc>
                  <a:txBody>
                    <a:bodyPr/>
                    <a:lstStyle/>
                    <a:p>
                      <a:pPr>
                        <a:defRPr sz="1200">
                          <a:solidFill>
                            <a:srgbClr val="16202E"/>
                          </a:solidFill>
                          <a:latin typeface="Yu Gothic"/>
                        </a:defRPr>
                      </a:pPr>
                      <a:r>
                        <a:t>645万人</a:t>
                      </a:r>
                    </a:p>
                  </a:txBody>
                  <a:tcPr>
                    <a:solidFill>
                      <a:srgbClr val="FFFFFF"/>
                    </a:solidFill>
                  </a:tcPr>
                </a:tc>
              </a:tr>
              <a:tr h="502920">
                <a:tc>
                  <a:txBody>
                    <a:bodyPr/>
                    <a:lstStyle/>
                    <a:p>
                      <a:pPr>
                        <a:defRPr sz="1200">
                          <a:solidFill>
                            <a:srgbClr val="16202E"/>
                          </a:solidFill>
                          <a:latin typeface="Yu Gothic"/>
                        </a:defRPr>
                      </a:pPr>
                      <a:r>
                        <a:t>名探偵コナン ハイウェイの堕天使</a:t>
                      </a:r>
                    </a:p>
                  </a:txBody>
                  <a:tcPr>
                    <a:solidFill>
                      <a:srgbClr val="F2F6FA"/>
                    </a:solidFill>
                  </a:tcPr>
                </a:tc>
                <a:tc>
                  <a:txBody>
                    <a:bodyPr/>
                    <a:lstStyle/>
                    <a:p>
                      <a:pPr>
                        <a:defRPr sz="1200">
                          <a:solidFill>
                            <a:srgbClr val="16202E"/>
                          </a:solidFill>
                          <a:latin typeface="Yu Gothic"/>
                        </a:defRPr>
                      </a:pPr>
                      <a:r>
                        <a:t>23日間</a:t>
                      </a:r>
                    </a:p>
                  </a:txBody>
                  <a:tcPr>
                    <a:solidFill>
                      <a:srgbClr val="F2F6FA"/>
                    </a:solidFill>
                  </a:tcPr>
                </a:tc>
                <a:tc>
                  <a:txBody>
                    <a:bodyPr/>
                    <a:lstStyle/>
                    <a:p>
                      <a:pPr>
                        <a:defRPr sz="1200">
                          <a:solidFill>
                            <a:srgbClr val="16202E"/>
                          </a:solidFill>
                          <a:latin typeface="Yu Gothic"/>
                        </a:defRPr>
                      </a:pPr>
                      <a:r>
                        <a:t>93.1億円</a:t>
                      </a:r>
                    </a:p>
                  </a:txBody>
                  <a:tcPr>
                    <a:solidFill>
                      <a:srgbClr val="F2F6FA"/>
                    </a:solidFill>
                  </a:tcPr>
                </a:tc>
                <a:tc>
                  <a:txBody>
                    <a:bodyPr/>
                    <a:lstStyle/>
                    <a:p>
                      <a:pPr>
                        <a:defRPr sz="1200">
                          <a:solidFill>
                            <a:srgbClr val="16202E"/>
                          </a:solidFill>
                          <a:latin typeface="Yu Gothic"/>
                        </a:defRPr>
                      </a:pPr>
                      <a:r>
                        <a:t>628万人</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オリコン(2026-08-24)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視聴者にとっての意味—エンタメ動向を追う立場として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日本発コンテンツが劇場アニメーション作品として大きな成功を収めた具体例として把握できる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『興行収入』『観客動員数』といった映画業界の指標を、実例を通じて学べる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確定した数値(興収・動員数)と、確認できていないこと(最終着地見込み等)を区別する視点が役立つ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24日間時点の観客動員数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645万人 8月16日までの観客動員数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興収92.8億円とあわせた指標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MANTANWEB(2026-08-24)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『ちいかわ』vs『トイ・ストーリー5』(初日興収)</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映画ちいかわ</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初日3日間で22.4億円</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トイ・ストーリー5</a:t>
            </a:r>
          </a:p>
        </p:txBody>
      </p:sp>
      <p:sp>
        <p:nvSpPr>
          <p:cNvPr id="14" name="Oval 13"/>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初日3日間で24億1,000万円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なぜ『ちいかわ』は大ヒットしたのか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背景を確認します(推測を含む)。</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SNS発の人気キャラクターとして、公開前から高い知名度を持っていたことが背景にあると考えられる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グッズ展開等で幅広い年代のファン層を獲得していたことも一因と考えられる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ただし具体的なマーケティング戦略の詳細は、本調査の範囲では確認できていない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映画業界における今回の意味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業界内での位置づけを確認します。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同時期に『名探偵コナン』『トイ・ストーリー5』という大型作品が公開される中での好成績である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新規の劇場アニメーション作品が既存の人気シリーズと肩を並べるペースで興収を伸ばした事例として注目される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日本発のオリジナルIPが劇場作品として成功を収めた一例と言える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24日間の観客動員差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約17万人差 『ちいかわ』と『コナン』の動員数の差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645万人(ちいかわ) vs 628万人(コナン)</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オリコン(2026-08-24)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8月23日時点(100億円到達時点)での正確な観客動員数は確認できていない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最終的な興行収入の着地見込みは確認できていない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本テーマは各情報源への直接アクセスではなく、検索結果の要約に基づいて調査している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主な情報源</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報道内容</a:t>
                      </a:r>
                    </a:p>
                  </a:txBody>
                  <a:tcPr>
                    <a:solidFill>
                      <a:srgbClr val="1B3A5C"/>
                    </a:solidFill>
                  </a:tcPr>
                </a:tc>
              </a:tr>
              <a:tr h="502920">
                <a:tc>
                  <a:txBody>
                    <a:bodyPr/>
                    <a:lstStyle/>
                    <a:p>
                      <a:pPr>
                        <a:defRPr sz="1200">
                          <a:solidFill>
                            <a:srgbClr val="16202E"/>
                          </a:solidFill>
                          <a:latin typeface="Yu Gothic"/>
                        </a:defRPr>
                      </a:pPr>
                      <a:r>
                        <a:t>オリコン(2026-08-24)</a:t>
                      </a:r>
                    </a:p>
                  </a:txBody>
                  <a:tcPr>
                    <a:solidFill>
                      <a:srgbClr val="FFFFFF"/>
                    </a:solidFill>
                  </a:tcPr>
                </a:tc>
                <a:tc>
                  <a:txBody>
                    <a:bodyPr/>
                    <a:lstStyle/>
                    <a:p>
                      <a:pPr>
                        <a:defRPr sz="1200">
                          <a:solidFill>
                            <a:srgbClr val="16202E"/>
                          </a:solidFill>
                          <a:latin typeface="Yu Gothic"/>
                        </a:defRPr>
                      </a:pPr>
                      <a:r>
                        <a:t>100億円突破・コナンとのペース比較</a:t>
                      </a:r>
                    </a:p>
                  </a:txBody>
                  <a:tcPr>
                    <a:solidFill>
                      <a:srgbClr val="FFFFFF"/>
                    </a:solidFill>
                  </a:tcPr>
                </a:tc>
              </a:tr>
              <a:tr h="502920">
                <a:tc>
                  <a:txBody>
                    <a:bodyPr/>
                    <a:lstStyle/>
                    <a:p>
                      <a:pPr>
                        <a:defRPr sz="1200">
                          <a:solidFill>
                            <a:srgbClr val="16202E"/>
                          </a:solidFill>
                          <a:latin typeface="Yu Gothic"/>
                        </a:defRPr>
                      </a:pPr>
                      <a:r>
                        <a:t>ENCOUNT・モデルプレス(2026-08-24)</a:t>
                      </a:r>
                    </a:p>
                  </a:txBody>
                  <a:tcPr>
                    <a:solidFill>
                      <a:srgbClr val="F2F6FA"/>
                    </a:solidFill>
                  </a:tcPr>
                </a:tc>
                <a:tc>
                  <a:txBody>
                    <a:bodyPr/>
                    <a:lstStyle/>
                    <a:p>
                      <a:pPr>
                        <a:defRPr sz="1200">
                          <a:solidFill>
                            <a:srgbClr val="16202E"/>
                          </a:solidFill>
                          <a:latin typeface="Yu Gothic"/>
                        </a:defRPr>
                      </a:pPr>
                      <a:r>
                        <a:t>100億円突破の発表内容</a:t>
                      </a:r>
                    </a:p>
                  </a:txBody>
                  <a:tcPr>
                    <a:solidFill>
                      <a:srgbClr val="F2F6FA"/>
                    </a:solidFill>
                  </a:tcPr>
                </a:tc>
              </a:tr>
              <a:tr h="502920">
                <a:tc>
                  <a:txBody>
                    <a:bodyPr/>
                    <a:lstStyle/>
                    <a:p>
                      <a:pPr>
                        <a:defRPr sz="1200">
                          <a:solidFill>
                            <a:srgbClr val="16202E"/>
                          </a:solidFill>
                          <a:latin typeface="Yu Gothic"/>
                        </a:defRPr>
                      </a:pPr>
                      <a:r>
                        <a:t>MANTANWEB(2026-08-24)</a:t>
                      </a:r>
                    </a:p>
                  </a:txBody>
                  <a:tcPr>
                    <a:solidFill>
                      <a:srgbClr val="FFFFFF"/>
                    </a:solidFill>
                  </a:tcPr>
                </a:tc>
                <a:tc>
                  <a:txBody>
                    <a:bodyPr/>
                    <a:lstStyle/>
                    <a:p>
                      <a:pPr>
                        <a:defRPr sz="1200">
                          <a:solidFill>
                            <a:srgbClr val="16202E"/>
                          </a:solidFill>
                          <a:latin typeface="Yu Gothic"/>
                        </a:defRPr>
                      </a:pPr>
                      <a:r>
                        <a:t>24日間時点の興収・動員数詳細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エンタメ動向を追う立場として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日本発コンテンツの劇場作品としての成功例を、具体的な数値とともに把握できる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『ちいかわ』ファンの立場として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作品の好調ぶりを客観的な興収データで確認できる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確定した興収データと、確認できていない最終着地見込み等を明確に区別する視点が役立つ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公開から到達までの短さ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30日間 100億円到達までの期間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新規IPの劇場アニメーション作品としては異例のスピード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本調査による整理</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興収の主な区切りまとめ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時点</a:t>
                      </a:r>
                    </a:p>
                  </a:txBody>
                  <a:tcPr>
                    <a:solidFill>
                      <a:srgbClr val="1B3A5C"/>
                    </a:solidFill>
                  </a:tcPr>
                </a:tc>
                <a:tc>
                  <a:txBody>
                    <a:bodyPr/>
                    <a:lstStyle/>
                    <a:p>
                      <a:pPr>
                        <a:defRPr sz="1300" b="1">
                          <a:solidFill>
                            <a:srgbClr val="FFFFFF"/>
                          </a:solidFill>
                          <a:latin typeface="Yu Gothic"/>
                        </a:defRPr>
                      </a:pPr>
                      <a:r>
                        <a:t>興収</a:t>
                      </a:r>
                    </a:p>
                  </a:txBody>
                  <a:tcPr>
                    <a:solidFill>
                      <a:srgbClr val="1B3A5C"/>
                    </a:solidFill>
                  </a:tcPr>
                </a:tc>
                <a:tc>
                  <a:txBody>
                    <a:bodyPr/>
                    <a:lstStyle/>
                    <a:p>
                      <a:pPr>
                        <a:defRPr sz="1300" b="1">
                          <a:solidFill>
                            <a:srgbClr val="FFFFFF"/>
                          </a:solidFill>
                          <a:latin typeface="Yu Gothic"/>
                        </a:defRPr>
                      </a:pPr>
                      <a:r>
                        <a:t>備考</a:t>
                      </a:r>
                    </a:p>
                  </a:txBody>
                  <a:tcPr>
                    <a:solidFill>
                      <a:srgbClr val="1B3A5C"/>
                    </a:solidFill>
                  </a:tcPr>
                </a:tc>
              </a:tr>
              <a:tr h="502920">
                <a:tc>
                  <a:txBody>
                    <a:bodyPr/>
                    <a:lstStyle/>
                    <a:p>
                      <a:pPr>
                        <a:defRPr sz="1200">
                          <a:solidFill>
                            <a:srgbClr val="16202E"/>
                          </a:solidFill>
                          <a:latin typeface="Yu Gothic"/>
                        </a:defRPr>
                      </a:pPr>
                      <a:r>
                        <a:t>公開3日間</a:t>
                      </a:r>
                    </a:p>
                  </a:txBody>
                  <a:tcPr>
                    <a:solidFill>
                      <a:srgbClr val="FFFFFF"/>
                    </a:solidFill>
                  </a:tcPr>
                </a:tc>
                <a:tc>
                  <a:txBody>
                    <a:bodyPr/>
                    <a:lstStyle/>
                    <a:p>
                      <a:pPr>
                        <a:defRPr sz="1200">
                          <a:solidFill>
                            <a:srgbClr val="16202E"/>
                          </a:solidFill>
                          <a:latin typeface="Yu Gothic"/>
                        </a:defRPr>
                      </a:pPr>
                      <a:r>
                        <a:t>22.4億円</a:t>
                      </a:r>
                    </a:p>
                  </a:txBody>
                  <a:tcPr>
                    <a:solidFill>
                      <a:srgbClr val="FFFFFF"/>
                    </a:solidFill>
                  </a:tcPr>
                </a:tc>
                <a:tc>
                  <a:txBody>
                    <a:bodyPr/>
                    <a:lstStyle/>
                    <a:p>
                      <a:pPr>
                        <a:defRPr sz="1200">
                          <a:solidFill>
                            <a:srgbClr val="16202E"/>
                          </a:solidFill>
                          <a:latin typeface="Yu Gothic"/>
                        </a:defRPr>
                      </a:pPr>
                      <a:r>
                        <a:t>今シーズン3番目の初動</a:t>
                      </a:r>
                    </a:p>
                  </a:txBody>
                  <a:tcPr>
                    <a:solidFill>
                      <a:srgbClr val="FFFFFF"/>
                    </a:solidFill>
                  </a:tcPr>
                </a:tc>
              </a:tr>
              <a:tr h="502920">
                <a:tc>
                  <a:txBody>
                    <a:bodyPr/>
                    <a:lstStyle/>
                    <a:p>
                      <a:pPr>
                        <a:defRPr sz="1200">
                          <a:solidFill>
                            <a:srgbClr val="16202E"/>
                          </a:solidFill>
                          <a:latin typeface="Yu Gothic"/>
                        </a:defRPr>
                      </a:pPr>
                      <a:r>
                        <a:t>公開24日間</a:t>
                      </a:r>
                    </a:p>
                  </a:txBody>
                  <a:tcPr>
                    <a:solidFill>
                      <a:srgbClr val="F2F6FA"/>
                    </a:solidFill>
                  </a:tcPr>
                </a:tc>
                <a:tc>
                  <a:txBody>
                    <a:bodyPr/>
                    <a:lstStyle/>
                    <a:p>
                      <a:pPr>
                        <a:defRPr sz="1200">
                          <a:solidFill>
                            <a:srgbClr val="16202E"/>
                          </a:solidFill>
                          <a:latin typeface="Yu Gothic"/>
                        </a:defRPr>
                      </a:pPr>
                      <a:r>
                        <a:t>92.8億円</a:t>
                      </a:r>
                    </a:p>
                  </a:txBody>
                  <a:tcPr>
                    <a:solidFill>
                      <a:srgbClr val="F2F6FA"/>
                    </a:solidFill>
                  </a:tcPr>
                </a:tc>
                <a:tc>
                  <a:txBody>
                    <a:bodyPr/>
                    <a:lstStyle/>
                    <a:p>
                      <a:pPr>
                        <a:defRPr sz="1200">
                          <a:solidFill>
                            <a:srgbClr val="16202E"/>
                          </a:solidFill>
                          <a:latin typeface="Yu Gothic"/>
                        </a:defRPr>
                      </a:pPr>
                      <a:r>
                        <a:t>観客動員645万人</a:t>
                      </a:r>
                    </a:p>
                  </a:txBody>
                  <a:tcPr>
                    <a:solidFill>
                      <a:srgbClr val="F2F6FA"/>
                    </a:solidFill>
                  </a:tcPr>
                </a:tc>
              </a:tr>
              <a:tr h="502920">
                <a:tc>
                  <a:txBody>
                    <a:bodyPr/>
                    <a:lstStyle/>
                    <a:p>
                      <a:pPr>
                        <a:defRPr sz="1200">
                          <a:solidFill>
                            <a:srgbClr val="16202E"/>
                          </a:solidFill>
                          <a:latin typeface="Yu Gothic"/>
                        </a:defRPr>
                      </a:pPr>
                      <a:r>
                        <a:t>公開30日間</a:t>
                      </a:r>
                    </a:p>
                  </a:txBody>
                  <a:tcPr>
                    <a:solidFill>
                      <a:srgbClr val="FFFFFF"/>
                    </a:solidFill>
                  </a:tcPr>
                </a:tc>
                <a:tc>
                  <a:txBody>
                    <a:bodyPr/>
                    <a:lstStyle/>
                    <a:p>
                      <a:pPr>
                        <a:defRPr sz="1200">
                          <a:solidFill>
                            <a:srgbClr val="16202E"/>
                          </a:solidFill>
                          <a:latin typeface="Yu Gothic"/>
                        </a:defRPr>
                      </a:pPr>
                      <a:r>
                        <a:t>100億円突破</a:t>
                      </a:r>
                    </a:p>
                  </a:txBody>
                  <a:tcPr>
                    <a:solidFill>
                      <a:srgbClr val="FFFFFF"/>
                    </a:solidFill>
                  </a:tcPr>
                </a:tc>
                <a:tc>
                  <a:txBody>
                    <a:bodyPr/>
                    <a:lstStyle/>
                    <a:p>
                      <a:pPr>
                        <a:defRPr sz="1200">
                          <a:solidFill>
                            <a:srgbClr val="16202E"/>
                          </a:solidFill>
                          <a:latin typeface="Yu Gothic"/>
                        </a:defRPr>
                      </a:pPr>
                      <a:r>
                        <a:t>公式Xで発表(8月23日)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新規IP作品 vs 既存人気シリーズ</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映画ちいかわ(新規IPの劇場作品)</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初の劇場アニメーション作品</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公開30日間で興収100億円到達</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名探偵コナン(既存の人気シリーズ)</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長年続くシリーズ作品</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『ちいかわ』とほぼ同等のペースで興収を伸ばす</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今後の注目点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興収がさらにどこまで伸びるか、最終的な着地見込みが注目される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『ちいかわ』の今後の映像化展開(続編等)にも関心が集まる可能性がある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ただし具体的な今後の予定は、本調査の範囲では確認できていない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本編のまとめです。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2026年8月23日、『映画ちいかわ 人魚の島のひみつ』が興収100億円突破を公式Xで発表した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2026年7月24日の公開から、わずか30日間での大台到達だった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24日間時点の興収推移は、『名探偵コナン ハイウェイの堕天使』とほぼ同等のペースだった</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初日3日間の興収22.4億円は、今シーズン3番目の好スタートだった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オリコン・ENCOUNT等(2026-08-24)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映画『ちいかわ』、公開30日で興収100億円突破。</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2026年8月23日、『映画ちいかわ 人魚の島のひみつ』が公開30日間での興収100億円突破を発表しました。日本発コンテンツの好調を、出典付きで整理してお届けしました。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