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Appleが開発中とされる初の折りたたみiPhoneについて、先行テスターの評価が報じられました。何が報じられたのか、出典付きで正確に整理してお届けします。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結論から確認します。Apple初の折りたたみiPhoneは、少数の先行テスターから好意的な評価を得ていると報じられました。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今日は6つの流れでお伝えします。報道の基本情報からテスターの評価、課題まで、正確に事実を引用しながら整理します。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このテーマを扱う理由です。Apple初の折りたたみ製品という注目度の高さに着目しました。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報道の基本情報です。少数の先行テスターの評価が報じられました。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折りたたみスマートフォンとは何かを確認します。Appleにとって初めての形態です。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折りたたみ製品で課題になりやすいヒンジ機構について、耐久性・使用感ともに好評と報じられています。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報道までの流れを図にしました。Bloombergの報道を各メディアが引用する形で広がりました。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テスター評価を3ステップで総括しました。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画面デザイン・カメラへの評価です。良い点と課題の両方が報じられています。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画面内蔵型のFace IDではなく、サイドボタンに統合したTouch IDを採用する可能性があるとされています。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テスター評価をまとめました。良い点と課題の両方をバランスよくお伝えします。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テック動向を追う立場にとっての意味です。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認証方式の変更についてです。具体的な採用理由は確認できておらず、推測で断定しません。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好評だった点と課題とされた点を対比しました。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複数の独立した海外主要メディアが同一の報道内容を伝えていることを確認しています。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発売時期は2026年9月と報じられていますが、具体的な日付は確認できていません。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折りたたみスマートフォン市場での位置づけです。市場全体への影響は確認できていません。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評価を行ったのは少数の先行テスターとされており、具体的な人数は明らかにされていません。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報道内容をまとめました。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情報源は、Apple関連報道で豊富な実績を持つとされるBloomberg記者です。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海外メディアの報道時期をまとめました。1日のうちに幅広く引用・報道されました。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Apple初の折りたたみ製品参入として、極めて高い注目度を集めています。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一般的な新製品リーク報道の傾向と、今回のiPhone Ultra報道を対比しました。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今後注目される点です。断定的な予測は行いません。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本編のまとめです。Apple初の折りたたみiPhoneのテスター評価について、出典付きで整理してお伝えしました。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pple初の折りたたみiPhoneのテスター評価について、その中身を正確に整理してお伝えしました。数字・事実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Apple初の折りたたみ</a:t>
            </a:r>
          </a:p>
          <a:p>
            <a:pPr algn="l">
              <a:lnSpc>
                <a:spcPct val="115000"/>
              </a:lnSpc>
            </a:pPr>
            <a:r>
              <a:rPr sz="4200" b="1">
                <a:solidFill>
                  <a:srgbClr val="FFFFFF"/>
                </a:solidFill>
                <a:latin typeface="Yu Gothic"/>
              </a:rPr>
              <a:t>「iPhone Ultra」</a:t>
            </a:r>
          </a:p>
          <a:p>
            <a:pPr algn="l">
              <a:lnSpc>
                <a:spcPct val="115000"/>
              </a:lnSpc>
            </a:pPr>
            <a:r>
              <a:rPr sz="4200" b="1">
                <a:solidFill>
                  <a:srgbClr val="FFFFFF"/>
                </a:solidFill>
                <a:latin typeface="Yu Gothic"/>
              </a:rPr>
              <a:t>テスター評価が判明</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2026年8月23〜24日報道——出典付きで整理する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Bloomberg・MacRumors(2026年8月23〜24日)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好意的な評価 折りたたみ「iPhone Ultra」への先行テスターの反応</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ヒンジ機構・ポケットへの収まりやすさが特に好評と報道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Bloomberg「Power On」(2026-08-23)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報道の基本情報を確認する</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テスターの評価内容を確認する</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課題とされている点を確認する</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発売時期の見通しを確認する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着手日前後(2026年8月23〜24日)、海外の主要メディアが一斉に報じた話題である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Apple初の折りたたみ製品という、注目度が極めて高い出来事である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発売を約1か月後に控えたタイミングでの報道という緊迫感がある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複数の独立したメディアが同じ報道内容を伝えており、報道内容としての一貫性を確認できた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Bloomberg・MacRumors(2026年8月23〜24日)</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報道の基本情報</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対象製品</a:t>
                      </a:r>
                    </a:p>
                  </a:txBody>
                  <a:tcPr>
                    <a:solidFill>
                      <a:srgbClr val="FFFFFF"/>
                    </a:solidFill>
                  </a:tcPr>
                </a:tc>
                <a:tc>
                  <a:txBody>
                    <a:bodyPr/>
                    <a:lstStyle/>
                    <a:p>
                      <a:pPr>
                        <a:defRPr sz="1200">
                          <a:solidFill>
                            <a:srgbClr val="16202E"/>
                          </a:solidFill>
                          <a:latin typeface="Yu Gothic"/>
                        </a:defRPr>
                      </a:pPr>
                      <a:r>
                        <a:t>iPhone Ultra(報道による呼称、折りたたみ式)</a:t>
                      </a:r>
                    </a:p>
                  </a:txBody>
                  <a:tcPr>
                    <a:solidFill>
                      <a:srgbClr val="FFFFFF"/>
                    </a:solidFill>
                  </a:tcPr>
                </a:tc>
              </a:tr>
              <a:tr h="502920">
                <a:tc>
                  <a:txBody>
                    <a:bodyPr/>
                    <a:lstStyle/>
                    <a:p>
                      <a:pPr>
                        <a:defRPr sz="1200">
                          <a:solidFill>
                            <a:srgbClr val="16202E"/>
                          </a:solidFill>
                          <a:latin typeface="Yu Gothic"/>
                        </a:defRPr>
                      </a:pPr>
                      <a:r>
                        <a:t>報じられている内容</a:t>
                      </a:r>
                    </a:p>
                  </a:txBody>
                  <a:tcPr>
                    <a:solidFill>
                      <a:srgbClr val="F2F6FA"/>
                    </a:solidFill>
                  </a:tcPr>
                </a:tc>
                <a:tc>
                  <a:txBody>
                    <a:bodyPr/>
                    <a:lstStyle/>
                    <a:p>
                      <a:pPr>
                        <a:defRPr sz="1200">
                          <a:solidFill>
                            <a:srgbClr val="16202E"/>
                          </a:solidFill>
                          <a:latin typeface="Yu Gothic"/>
                        </a:defRPr>
                      </a:pPr>
                      <a:r>
                        <a:t>先行テスターの評価</a:t>
                      </a:r>
                    </a:p>
                  </a:txBody>
                  <a:tcPr>
                    <a:solidFill>
                      <a:srgbClr val="F2F6FA"/>
                    </a:solidFill>
                  </a:tcPr>
                </a:tc>
              </a:tr>
              <a:tr h="502920">
                <a:tc>
                  <a:txBody>
                    <a:bodyPr/>
                    <a:lstStyle/>
                    <a:p>
                      <a:pPr>
                        <a:defRPr sz="1200">
                          <a:solidFill>
                            <a:srgbClr val="16202E"/>
                          </a:solidFill>
                          <a:latin typeface="Yu Gothic"/>
                        </a:defRPr>
                      </a:pPr>
                      <a:r>
                        <a:t>報道日</a:t>
                      </a:r>
                    </a:p>
                  </a:txBody>
                  <a:tcPr>
                    <a:solidFill>
                      <a:srgbClr val="FFFFFF"/>
                    </a:solidFill>
                  </a:tcPr>
                </a:tc>
                <a:tc>
                  <a:txBody>
                    <a:bodyPr/>
                    <a:lstStyle/>
                    <a:p>
                      <a:pPr>
                        <a:defRPr sz="1200">
                          <a:solidFill>
                            <a:srgbClr val="16202E"/>
                          </a:solidFill>
                          <a:latin typeface="Yu Gothic"/>
                        </a:defRPr>
                      </a:pPr>
                      <a:r>
                        <a:t>2026年8月23〜24日</a:t>
                      </a:r>
                    </a:p>
                  </a:txBody>
                  <a:tcPr>
                    <a:solidFill>
                      <a:srgbClr val="FFFFFF"/>
                    </a:solidFill>
                  </a:tcPr>
                </a:tc>
              </a:tr>
              <a:tr h="502920">
                <a:tc>
                  <a:txBody>
                    <a:bodyPr/>
                    <a:lstStyle/>
                    <a:p>
                      <a:pPr>
                        <a:defRPr sz="1200">
                          <a:solidFill>
                            <a:srgbClr val="16202E"/>
                          </a:solidFill>
                          <a:latin typeface="Yu Gothic"/>
                        </a:defRPr>
                      </a:pPr>
                      <a:r>
                        <a:t>情報源</a:t>
                      </a:r>
                    </a:p>
                  </a:txBody>
                  <a:tcPr>
                    <a:solidFill>
                      <a:srgbClr val="F2F6FA"/>
                    </a:solidFill>
                  </a:tcPr>
                </a:tc>
                <a:tc>
                  <a:txBody>
                    <a:bodyPr/>
                    <a:lstStyle/>
                    <a:p>
                      <a:pPr>
                        <a:defRPr sz="1200">
                          <a:solidFill>
                            <a:srgbClr val="16202E"/>
                          </a:solidFill>
                          <a:latin typeface="Yu Gothic"/>
                        </a:defRPr>
                      </a:pPr>
                      <a:r>
                        <a:t>Bloomberg記者マーク・ガーマン氏『Power On』</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MacRumors(2026-08-23)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「折りたたみスマートフォン」とは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前提知識を確認します。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画面を折りたたむことができ、持ち運び時はコンパクトに、使用時は大画面として活用できるスマートフォンの形態である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他社では既に複数の折りたたみモデルが発売されている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Appleにとっては初めての折りたたみ製品となる見込みである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好評だったヒンジ機構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耐久性・使用感ともに好評 ヒンジ(蝶番)機構への評価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折りたたみ製品特有の弱点とされやすい部分での評価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MacRumors(2026-08-23)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報道までの流れ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少数の先行テスターが試用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具体的な人数は非公表</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8月23日、Bloombergが評価内容を報道</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『Power On』ニュースレター</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8月24日、複数メディアが追随報道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MacRumors・Phandroid等</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報道までの流れ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Bloomberg・MacRumors(2026年8月)</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テスター評価を3ステップで総括</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1. 携帯性を評価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ポケットへの収まりやすさが好評</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 ヒンジ機構を評価</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耐久性・使用感ともに好評</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3. カメラの課題を指摘</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望遠レンズ非搭載の可能性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画面デザイン・カメラへの評価</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画面デザイン・カメラへの評価を確認します。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折りたたみを開いた際の大画面を活かした、iPad風のアプリレイアウトが好評とされている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カメラのビューファインダーとしての使用感も良好と報じられている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一方で、望遠レンズを搭載しない可能性が課題として挙げられている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MacRumors(2026-08-23)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確定していること(報道内容として)</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先行テスターの好意的な評価が報じられたこと</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ヒンジ機構・携帯性・アプリレイアウトへの評価内容</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望遠レンズ非搭載の可能性という課題</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具体的な販売価格</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正式な製品名・発売日の具体的な日付</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認証方式の変更点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サイドボタン式Touch ID 画面内蔵Face IDに代わる認証方式の見通し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折りたたみ構造上の技術的制約によるものと考えられる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MacRumors(2026-08-23)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テスター評価まとめ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評価項目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携帯性</a:t>
                      </a:r>
                    </a:p>
                  </a:txBody>
                  <a:tcPr>
                    <a:solidFill>
                      <a:srgbClr val="FFFFFF"/>
                    </a:solidFill>
                  </a:tcPr>
                </a:tc>
                <a:tc>
                  <a:txBody>
                    <a:bodyPr/>
                    <a:lstStyle/>
                    <a:p>
                      <a:pPr>
                        <a:defRPr sz="1200">
                          <a:solidFill>
                            <a:srgbClr val="16202E"/>
                          </a:solidFill>
                          <a:latin typeface="Yu Gothic"/>
                        </a:defRPr>
                      </a:pPr>
                      <a:r>
                        <a:t>ポケットへの収まりやすさが好評</a:t>
                      </a:r>
                    </a:p>
                  </a:txBody>
                  <a:tcPr>
                    <a:solidFill>
                      <a:srgbClr val="FFFFFF"/>
                    </a:solidFill>
                  </a:tcPr>
                </a:tc>
              </a:tr>
              <a:tr h="502920">
                <a:tc>
                  <a:txBody>
                    <a:bodyPr/>
                    <a:lstStyle/>
                    <a:p>
                      <a:pPr>
                        <a:defRPr sz="1200">
                          <a:solidFill>
                            <a:srgbClr val="16202E"/>
                          </a:solidFill>
                          <a:latin typeface="Yu Gothic"/>
                        </a:defRPr>
                      </a:pPr>
                      <a:r>
                        <a:t>ヒンジ機構</a:t>
                      </a:r>
                    </a:p>
                  </a:txBody>
                  <a:tcPr>
                    <a:solidFill>
                      <a:srgbClr val="F2F6FA"/>
                    </a:solidFill>
                  </a:tcPr>
                </a:tc>
                <a:tc>
                  <a:txBody>
                    <a:bodyPr/>
                    <a:lstStyle/>
                    <a:p>
                      <a:pPr>
                        <a:defRPr sz="1200">
                          <a:solidFill>
                            <a:srgbClr val="16202E"/>
                          </a:solidFill>
                          <a:latin typeface="Yu Gothic"/>
                        </a:defRPr>
                      </a:pPr>
                      <a:r>
                        <a:t>耐久性・使用感ともに好評</a:t>
                      </a:r>
                    </a:p>
                  </a:txBody>
                  <a:tcPr>
                    <a:solidFill>
                      <a:srgbClr val="F2F6FA"/>
                    </a:solidFill>
                  </a:tcPr>
                </a:tc>
              </a:tr>
              <a:tr h="502920">
                <a:tc>
                  <a:txBody>
                    <a:bodyPr/>
                    <a:lstStyle/>
                    <a:p>
                      <a:pPr>
                        <a:defRPr sz="1200">
                          <a:solidFill>
                            <a:srgbClr val="16202E"/>
                          </a:solidFill>
                          <a:latin typeface="Yu Gothic"/>
                        </a:defRPr>
                      </a:pPr>
                      <a:r>
                        <a:t>アプリレイアウト</a:t>
                      </a:r>
                    </a:p>
                  </a:txBody>
                  <a:tcPr>
                    <a:solidFill>
                      <a:srgbClr val="FFFFFF"/>
                    </a:solidFill>
                  </a:tcPr>
                </a:tc>
                <a:tc>
                  <a:txBody>
                    <a:bodyPr/>
                    <a:lstStyle/>
                    <a:p>
                      <a:pPr>
                        <a:defRPr sz="1200">
                          <a:solidFill>
                            <a:srgbClr val="16202E"/>
                          </a:solidFill>
                          <a:latin typeface="Yu Gothic"/>
                        </a:defRPr>
                      </a:pPr>
                      <a:r>
                        <a:t>iPad風の大画面活用が好評</a:t>
                      </a:r>
                    </a:p>
                  </a:txBody>
                  <a:tcPr>
                    <a:solidFill>
                      <a:srgbClr val="FFFFFF"/>
                    </a:solidFill>
                  </a:tcPr>
                </a:tc>
              </a:tr>
              <a:tr h="502920">
                <a:tc>
                  <a:txBody>
                    <a:bodyPr/>
                    <a:lstStyle/>
                    <a:p>
                      <a:pPr>
                        <a:defRPr sz="1200">
                          <a:solidFill>
                            <a:srgbClr val="16202E"/>
                          </a:solidFill>
                          <a:latin typeface="Yu Gothic"/>
                        </a:defRPr>
                      </a:pPr>
                      <a:r>
                        <a:t>カメラ</a:t>
                      </a:r>
                    </a:p>
                  </a:txBody>
                  <a:tcPr>
                    <a:solidFill>
                      <a:srgbClr val="F2F6FA"/>
                    </a:solidFill>
                  </a:tcPr>
                </a:tc>
                <a:tc>
                  <a:txBody>
                    <a:bodyPr/>
                    <a:lstStyle/>
                    <a:p>
                      <a:pPr>
                        <a:defRPr sz="1200">
                          <a:solidFill>
                            <a:srgbClr val="16202E"/>
                          </a:solidFill>
                          <a:latin typeface="Yu Gothic"/>
                        </a:defRPr>
                      </a:pPr>
                      <a:r>
                        <a:t>ビューファインダーは良好、望遠レンズ非搭載が課題</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視聴者にとっての意味—テック動向を追う立場として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Apple初の折りたたみ製品という大型ニュースを、具体的な評価内容とともに把握できる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他社の折りたたみ製品との比較の視点を得られる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報道段階の情報と正式発表を区別する視点が役立つ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認証方式の変更について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認証方式の変更について確認します。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近年のiPhoneでは画面内蔵型のFace IDが主流となっている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折りたたみ構造の場合、画面内蔵センサーの配置に技術的な制約があると考えられる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具体的な採用理由の公式な説明は、本調査の範囲では確認できていない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好評だった点 vs 課題とされた点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好評だった点</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携帯性・ヒンジ機構・アプリレイアウト</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課題とされた点</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望遠レンズ非搭載の可能性</a:t>
            </a:r>
          </a:p>
        </p:txBody>
      </p:sp>
      <p:sp>
        <p:nvSpPr>
          <p:cNvPr id="16" name="Oval 15"/>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画面内蔵Face IDの非採用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具体的な販売価格は確認できていない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正式な製品名は確認できていない(『iPhone Ultra』は報道による呼称)</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発売日の具体的な日付は確認できていない(『2026年9月』という時期のみ報道)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主な情報源</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報道内容</a:t>
                      </a:r>
                    </a:p>
                  </a:txBody>
                  <a:tcPr>
                    <a:solidFill>
                      <a:srgbClr val="1B3A5C"/>
                    </a:solidFill>
                  </a:tcPr>
                </a:tc>
              </a:tr>
              <a:tr h="502920">
                <a:tc>
                  <a:txBody>
                    <a:bodyPr/>
                    <a:lstStyle/>
                    <a:p>
                      <a:pPr>
                        <a:defRPr sz="1200">
                          <a:solidFill>
                            <a:srgbClr val="16202E"/>
                          </a:solidFill>
                          <a:latin typeface="Yu Gothic"/>
                        </a:defRPr>
                      </a:pPr>
                      <a:r>
                        <a:t>Bloomberg『Power On』(2026-08-23)</a:t>
                      </a:r>
                    </a:p>
                  </a:txBody>
                  <a:tcPr>
                    <a:solidFill>
                      <a:srgbClr val="FFFFFF"/>
                    </a:solidFill>
                  </a:tcPr>
                </a:tc>
                <a:tc>
                  <a:txBody>
                    <a:bodyPr/>
                    <a:lstStyle/>
                    <a:p>
                      <a:pPr>
                        <a:defRPr sz="1200">
                          <a:solidFill>
                            <a:srgbClr val="16202E"/>
                          </a:solidFill>
                          <a:latin typeface="Yu Gothic"/>
                        </a:defRPr>
                      </a:pPr>
                      <a:r>
                        <a:t>一次報道</a:t>
                      </a:r>
                    </a:p>
                  </a:txBody>
                  <a:tcPr>
                    <a:solidFill>
                      <a:srgbClr val="FFFFFF"/>
                    </a:solidFill>
                  </a:tcPr>
                </a:tc>
              </a:tr>
              <a:tr h="502920">
                <a:tc>
                  <a:txBody>
                    <a:bodyPr/>
                    <a:lstStyle/>
                    <a:p>
                      <a:pPr>
                        <a:defRPr sz="1200">
                          <a:solidFill>
                            <a:srgbClr val="16202E"/>
                          </a:solidFill>
                          <a:latin typeface="Yu Gothic"/>
                        </a:defRPr>
                      </a:pPr>
                      <a:r>
                        <a:t>MacRumors(2026-08-23)</a:t>
                      </a:r>
                    </a:p>
                  </a:txBody>
                  <a:tcPr>
                    <a:solidFill>
                      <a:srgbClr val="F2F6FA"/>
                    </a:solidFill>
                  </a:tcPr>
                </a:tc>
                <a:tc>
                  <a:txBody>
                    <a:bodyPr/>
                    <a:lstStyle/>
                    <a:p>
                      <a:pPr>
                        <a:defRPr sz="1200">
                          <a:solidFill>
                            <a:srgbClr val="16202E"/>
                          </a:solidFill>
                          <a:latin typeface="Yu Gothic"/>
                        </a:defRPr>
                      </a:pPr>
                      <a:r>
                        <a:t>評価内容の詳細</a:t>
                      </a:r>
                    </a:p>
                  </a:txBody>
                  <a:tcPr>
                    <a:solidFill>
                      <a:srgbClr val="F2F6FA"/>
                    </a:solidFill>
                  </a:tcPr>
                </a:tc>
              </a:tr>
              <a:tr h="502920">
                <a:tc>
                  <a:txBody>
                    <a:bodyPr/>
                    <a:lstStyle/>
                    <a:p>
                      <a:pPr>
                        <a:defRPr sz="1200">
                          <a:solidFill>
                            <a:srgbClr val="16202E"/>
                          </a:solidFill>
                          <a:latin typeface="Yu Gothic"/>
                        </a:defRPr>
                      </a:pPr>
                      <a:r>
                        <a:t>MacDailyNews(2026-08-24)</a:t>
                      </a:r>
                    </a:p>
                  </a:txBody>
                  <a:tcPr>
                    <a:solidFill>
                      <a:srgbClr val="FFFFFF"/>
                    </a:solidFill>
                  </a:tcPr>
                </a:tc>
                <a:tc>
                  <a:txBody>
                    <a:bodyPr/>
                    <a:lstStyle/>
                    <a:p>
                      <a:pPr>
                        <a:defRPr sz="1200">
                          <a:solidFill>
                            <a:srgbClr val="16202E"/>
                          </a:solidFill>
                          <a:latin typeface="Yu Gothic"/>
                        </a:defRPr>
                      </a:pPr>
                      <a:r>
                        <a:t>続報</a:t>
                      </a:r>
                    </a:p>
                  </a:txBody>
                  <a:tcPr>
                    <a:solidFill>
                      <a:srgbClr val="FFFFFF"/>
                    </a:solidFill>
                  </a:tcPr>
                </a:tc>
              </a:tr>
              <a:tr h="502920">
                <a:tc>
                  <a:txBody>
                    <a:bodyPr/>
                    <a:lstStyle/>
                    <a:p>
                      <a:pPr>
                        <a:defRPr sz="1200">
                          <a:solidFill>
                            <a:srgbClr val="16202E"/>
                          </a:solidFill>
                          <a:latin typeface="Yu Gothic"/>
                        </a:defRPr>
                      </a:pPr>
                      <a:r>
                        <a:t>Phandroid(2026-08-24)</a:t>
                      </a:r>
                    </a:p>
                  </a:txBody>
                  <a:tcPr>
                    <a:solidFill>
                      <a:srgbClr val="F2F6FA"/>
                    </a:solidFill>
                  </a:tcPr>
                </a:tc>
                <a:tc>
                  <a:txBody>
                    <a:bodyPr/>
                    <a:lstStyle/>
                    <a:p>
                      <a:pPr>
                        <a:defRPr sz="1200">
                          <a:solidFill>
                            <a:srgbClr val="16202E"/>
                          </a:solidFill>
                          <a:latin typeface="Yu Gothic"/>
                        </a:defRPr>
                      </a:pPr>
                      <a:r>
                        <a:t>業界内での位置づけ</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テック動向を追う立場として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Apple初の折りたたみ製品の評価を具体的な内容とともに把握できる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スマートフォンの買い替えを検討する立場として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折りたたみ製品の長所・課題を実例を通じて学べる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報道段階と正式発表を区別する視点が役立つ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発売予定時期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2026年9月 Apple初の折りたたみiPhone発表の見通し時期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具体的な発売日は本調査の範囲では確認できていない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MacRumors・Phandroid(2026年8月)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折りたたみスマートフォン市場での位置づけ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市場での位置づけを確認します。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他社では既に複数の折りたたみモデルが市場投入されている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Apple参入により、折りたたみスマートフォン市場全体への注目度が高まる可能性がある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具体的な市場シェアへの影響の予測は本調査の範囲では確認できていない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テスター評価の性質</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少数の先行テスター 評価を行った人数の規模感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具体的な人数は報道内容には示されていない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Bloomberg「Power On」(2026-08-23)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報道内容まとめ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好評だった点</a:t>
                      </a:r>
                    </a:p>
                  </a:txBody>
                  <a:tcPr>
                    <a:solidFill>
                      <a:srgbClr val="FFFFFF"/>
                    </a:solidFill>
                  </a:tcPr>
                </a:tc>
                <a:tc>
                  <a:txBody>
                    <a:bodyPr/>
                    <a:lstStyle/>
                    <a:p>
                      <a:pPr>
                        <a:defRPr sz="1200">
                          <a:solidFill>
                            <a:srgbClr val="16202E"/>
                          </a:solidFill>
                          <a:latin typeface="Yu Gothic"/>
                        </a:defRPr>
                      </a:pPr>
                      <a:r>
                        <a:t>携帯性・ヒンジ機構・アプリレイアウト</a:t>
                      </a:r>
                    </a:p>
                  </a:txBody>
                  <a:tcPr>
                    <a:solidFill>
                      <a:srgbClr val="FFFFFF"/>
                    </a:solidFill>
                  </a:tcPr>
                </a:tc>
              </a:tr>
              <a:tr h="502920">
                <a:tc>
                  <a:txBody>
                    <a:bodyPr/>
                    <a:lstStyle/>
                    <a:p>
                      <a:pPr>
                        <a:defRPr sz="1200">
                          <a:solidFill>
                            <a:srgbClr val="16202E"/>
                          </a:solidFill>
                          <a:latin typeface="Yu Gothic"/>
                        </a:defRPr>
                      </a:pPr>
                      <a:r>
                        <a:t>課題とされた点</a:t>
                      </a:r>
                    </a:p>
                  </a:txBody>
                  <a:tcPr>
                    <a:solidFill>
                      <a:srgbClr val="F2F6FA"/>
                    </a:solidFill>
                  </a:tcPr>
                </a:tc>
                <a:tc>
                  <a:txBody>
                    <a:bodyPr/>
                    <a:lstStyle/>
                    <a:p>
                      <a:pPr>
                        <a:defRPr sz="1200">
                          <a:solidFill>
                            <a:srgbClr val="16202E"/>
                          </a:solidFill>
                          <a:latin typeface="Yu Gothic"/>
                        </a:defRPr>
                      </a:pPr>
                      <a:r>
                        <a:t>望遠レンズ非搭載の可能性</a:t>
                      </a:r>
                    </a:p>
                  </a:txBody>
                  <a:tcPr>
                    <a:solidFill>
                      <a:srgbClr val="F2F6FA"/>
                    </a:solidFill>
                  </a:tcPr>
                </a:tc>
              </a:tr>
              <a:tr h="502920">
                <a:tc>
                  <a:txBody>
                    <a:bodyPr/>
                    <a:lstStyle/>
                    <a:p>
                      <a:pPr>
                        <a:defRPr sz="1200">
                          <a:solidFill>
                            <a:srgbClr val="16202E"/>
                          </a:solidFill>
                          <a:latin typeface="Yu Gothic"/>
                        </a:defRPr>
                      </a:pPr>
                      <a:r>
                        <a:t>認証方式</a:t>
                      </a:r>
                    </a:p>
                  </a:txBody>
                  <a:tcPr>
                    <a:solidFill>
                      <a:srgbClr val="FFFFFF"/>
                    </a:solidFill>
                  </a:tcPr>
                </a:tc>
                <a:tc>
                  <a:txBody>
                    <a:bodyPr/>
                    <a:lstStyle/>
                    <a:p>
                      <a:pPr>
                        <a:defRPr sz="1200">
                          <a:solidFill>
                            <a:srgbClr val="16202E"/>
                          </a:solidFill>
                          <a:latin typeface="Yu Gothic"/>
                        </a:defRPr>
                      </a:pPr>
                      <a:r>
                        <a:t>サイドボタン式Touch IDの可能性</a:t>
                      </a:r>
                    </a:p>
                  </a:txBody>
                  <a:tcPr>
                    <a:solidFill>
                      <a:srgbClr val="FFFFFF"/>
                    </a:solidFill>
                  </a:tcPr>
                </a:tc>
              </a:tr>
              <a:tr h="502920">
                <a:tc>
                  <a:txBody>
                    <a:bodyPr/>
                    <a:lstStyle/>
                    <a:p>
                      <a:pPr>
                        <a:defRPr sz="1200">
                          <a:solidFill>
                            <a:srgbClr val="16202E"/>
                          </a:solidFill>
                          <a:latin typeface="Yu Gothic"/>
                        </a:defRPr>
                      </a:pPr>
                      <a:r>
                        <a:t>発売時期の見通し</a:t>
                      </a:r>
                    </a:p>
                  </a:txBody>
                  <a:tcPr>
                    <a:solidFill>
                      <a:srgbClr val="F2F6FA"/>
                    </a:solidFill>
                  </a:tcPr>
                </a:tc>
                <a:tc>
                  <a:txBody>
                    <a:bodyPr/>
                    <a:lstStyle/>
                    <a:p>
                      <a:pPr>
                        <a:defRPr sz="1200">
                          <a:solidFill>
                            <a:srgbClr val="16202E"/>
                          </a:solidFill>
                          <a:latin typeface="Yu Gothic"/>
                        </a:defRPr>
                      </a:pPr>
                      <a:r>
                        <a:t>2026年9月</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情報源の性質</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Bloomberg記者による報道 業界内で信頼性が高いとされる情報源</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マーク・ガーマン氏はApple関連報道で豊富な実績を持つとされる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本調査による整理</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海外メディアの報道時期</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B3A5C"/>
                    </a:solidFill>
                  </a:tcPr>
                </a:tc>
                <a:tc>
                  <a:txBody>
                    <a:bodyPr/>
                    <a:lstStyle/>
                    <a:p>
                      <a:pPr>
                        <a:defRPr sz="1300" b="1">
                          <a:solidFill>
                            <a:srgbClr val="FFFFFF"/>
                          </a:solidFill>
                          <a:latin typeface="Yu Gothic"/>
                        </a:defRPr>
                      </a:pPr>
                      <a:r>
                        <a:t>メディア</a:t>
                      </a:r>
                    </a:p>
                  </a:txBody>
                  <a:tcPr>
                    <a:solidFill>
                      <a:srgbClr val="1B3A5C"/>
                    </a:solidFill>
                  </a:tcPr>
                </a:tc>
              </a:tr>
              <a:tr h="502920">
                <a:tc>
                  <a:txBody>
                    <a:bodyPr/>
                    <a:lstStyle/>
                    <a:p>
                      <a:pPr>
                        <a:defRPr sz="1200">
                          <a:solidFill>
                            <a:srgbClr val="16202E"/>
                          </a:solidFill>
                          <a:latin typeface="Yu Gothic"/>
                        </a:defRPr>
                      </a:pPr>
                      <a:r>
                        <a:t>2026年8月23日</a:t>
                      </a:r>
                    </a:p>
                  </a:txBody>
                  <a:tcPr>
                    <a:solidFill>
                      <a:srgbClr val="FFFFFF"/>
                    </a:solidFill>
                  </a:tcPr>
                </a:tc>
                <a:tc>
                  <a:txBody>
                    <a:bodyPr/>
                    <a:lstStyle/>
                    <a:p>
                      <a:pPr>
                        <a:defRPr sz="1200">
                          <a:solidFill>
                            <a:srgbClr val="16202E"/>
                          </a:solidFill>
                          <a:latin typeface="Yu Gothic"/>
                        </a:defRPr>
                      </a:pPr>
                      <a:r>
                        <a:t>Bloomberg『Power On』(一次報道)</a:t>
                      </a:r>
                    </a:p>
                  </a:txBody>
                  <a:tcPr>
                    <a:solidFill>
                      <a:srgbClr val="FFFFFF"/>
                    </a:solidFill>
                  </a:tcPr>
                </a:tc>
              </a:tr>
              <a:tr h="502920">
                <a:tc>
                  <a:txBody>
                    <a:bodyPr/>
                    <a:lstStyle/>
                    <a:p>
                      <a:pPr>
                        <a:defRPr sz="1200">
                          <a:solidFill>
                            <a:srgbClr val="16202E"/>
                          </a:solidFill>
                          <a:latin typeface="Yu Gothic"/>
                        </a:defRPr>
                      </a:pPr>
                      <a:r>
                        <a:t>2026年8月23日</a:t>
                      </a:r>
                    </a:p>
                  </a:txBody>
                  <a:tcPr>
                    <a:solidFill>
                      <a:srgbClr val="F2F6FA"/>
                    </a:solidFill>
                  </a:tcPr>
                </a:tc>
                <a:tc>
                  <a:txBody>
                    <a:bodyPr/>
                    <a:lstStyle/>
                    <a:p>
                      <a:pPr>
                        <a:defRPr sz="1200">
                          <a:solidFill>
                            <a:srgbClr val="16202E"/>
                          </a:solidFill>
                          <a:latin typeface="Yu Gothic"/>
                        </a:defRPr>
                      </a:pPr>
                      <a:r>
                        <a:t>MacRumors(引用報道)</a:t>
                      </a:r>
                    </a:p>
                  </a:txBody>
                  <a:tcPr>
                    <a:solidFill>
                      <a:srgbClr val="F2F6FA"/>
                    </a:solidFill>
                  </a:tcPr>
                </a:tc>
              </a:tr>
              <a:tr h="502920">
                <a:tc>
                  <a:txBody>
                    <a:bodyPr/>
                    <a:lstStyle/>
                    <a:p>
                      <a:pPr>
                        <a:defRPr sz="1200">
                          <a:solidFill>
                            <a:srgbClr val="16202E"/>
                          </a:solidFill>
                          <a:latin typeface="Yu Gothic"/>
                        </a:defRPr>
                      </a:pPr>
                      <a:r>
                        <a:t>2026年8月24日</a:t>
                      </a:r>
                    </a:p>
                  </a:txBody>
                  <a:tcPr>
                    <a:solidFill>
                      <a:srgbClr val="FFFFFF"/>
                    </a:solidFill>
                  </a:tcPr>
                </a:tc>
                <a:tc>
                  <a:txBody>
                    <a:bodyPr/>
                    <a:lstStyle/>
                    <a:p>
                      <a:pPr>
                        <a:defRPr sz="1200">
                          <a:solidFill>
                            <a:srgbClr val="16202E"/>
                          </a:solidFill>
                          <a:latin typeface="Yu Gothic"/>
                        </a:defRPr>
                      </a:pPr>
                      <a:r>
                        <a:t>MacDailyNews・Phandroid・Gizbot(引用報道)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折りたたみ市場での注目度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極めて高い注目度 Apple初参入という位置づけ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市場全体への影響度は今後の動向次第</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本調査による整理</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一般的な新製品リーク報道 vs 今回のiPhone Ultra</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一般的な新製品リーク報道</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仕様の噂が中心となることが多い</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今回のiPhone Ultra報道</a:t>
            </a:r>
          </a:p>
        </p:txBody>
      </p:sp>
      <p:sp>
        <p:nvSpPr>
          <p:cNvPr id="14" name="Oval 13"/>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実際の使用テスターの評価内容が報じられている</a:t>
            </a:r>
          </a:p>
        </p:txBody>
      </p:sp>
      <p:sp>
        <p:nvSpPr>
          <p:cNvPr id="16" name="Oval 15"/>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好評な点と課題の両方が具体的に示されている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今後注目される点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今後の展開について確認します。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2026年9月に予定される正式発表の具体的な内容に注目が集まる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望遠レンズ非搭載という課題が実際の製品でどう扱われるかも注目点である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具体的な発売後の評価予測は本テーマの範囲では断定せず、確認できた事実にとどめる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まとめ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本編のまとめです。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Apple初の折りたたみiPhone(報道呼称『iPhone Ultra』)の先行テスター評価が2026年8月23〜24日に報じられた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携帯性・ヒンジ機構・アプリレイアウトが好評とされる一方、望遠レンズ非搭載の可能性が課題とされている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画面内蔵Face IDに代わりサイドボタン式Touch IDを採用する可能性がある</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発売時期は2026年9月と報じられているが、具体的な価格・発売日等は確認できていない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Bloomberg・MacRumors等(2026-08-23〜24)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Apple初の折りたたみ「iPhone Ultra」、先行テスターの評価が判明。</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Apple初の折りたたみiPhoneについて、少数の先行テスターによる評価が報じられました。好評な点と課題の両方を、出典付きで整理してお届けしました。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