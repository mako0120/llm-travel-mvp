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があなたの代わりに買い物をするのは違法か。連邦控訴裁判所が出した答えが波紋を呼んでいます。PerplexityのAIエージェント「Comet」がAmazonのアカウントページに無断アクセスしたとされた裁判で、米第9巡回区控訴裁判所は2026年8月4日、Amazon側の差止命令を取り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Cometとはどんなエージェントか、CFAAとは何か、差止命令から判決までのタイムライン、判決の核心的な法解釈、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PerplexityのAIエージェント「Comet」を巡る訴訟で、第9巡回区控訴裁判所が2026年8月4日、Amazon側の差止命令を取り消しました。取り消されたのは3月9日に連邦地裁が出した仮差止命令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控訴裁判所が判決を下した日はこちら、2026年8月4日です。着手日の1日前という高い鮮度で、Amazonが得ていた差止命令を取り消す判断が下されました。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事件概要を表にまとめました。訴えた側はAmazon、対象はPerplexityの買い物AIエージェント「Comet」、主張された法律はCFAA、当初の差止命令は3月9日、そして控訴審判決が8月4日です。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登場人物・関係者を整理します。Perplexity AI、Amazon、差止命令を出したChesney判事、そして今回の判決を下した第9巡回区控訴裁判所です。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初心者向けに説明します。Cometは、ユーザーに代わってウェブサイト上で閲覧・購入等のタスクを実行するAIエージェントです。こうした代行行為は『エージェント型コマース』と呼ばれます。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Cometが買い物を代行する仕組みを概念図で示します。ユーザーが指示を出し、Cometが代わりにAmazonなどのサイトを操作し、ログイン後のアカウントページにアクセスします。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初心者向けに説明します。CFAAは米国でコンピュータへの無権限アクセスを規制する連邦法です。今回の争点は、AIエージェント経由の操作が誰による『アクセス』にあたるのか、という点でした。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なぜ『誰がアクセスしたか』が争点になるのかを示します。AIエージェントが操作する場合、CFAA上のアクセス主体が開発企業なのかユーザーなのかが、法的に大きな分かれ目になります。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Amazonの主張とPerplexityの立場を比較します。Amazonは無断アクセスによるCFAA違反を主張し、Perplexityは操作主体はユーザー自身であるという立場でした。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差止命令から判決までのタイムラインです。3月9日の差止命令、その後の執行停止、6月11日の口頭弁論、そして8月4日の判決取り消しという流れで進みました。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タイムラインを日付付きで整理しました。3月9日の差止命令発令、控訴審での執行停止、6月11日の口頭弁論、そして8月4日の判決です。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差止命令から判決取り消しまでの期間はこちら、約5か月です。3月9日の差止命令から8月4日の判決まで、控訴審を経て決着しました。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判決の核心ポイントです。差止命令は取り消され、サーバーにアクセスしているのはユーザー自身であるという法解釈が示されました。エージェント型コマースを巡る初期の重要な司法判断と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エージェント型コマースとは、AIエージェントがユーザーに代わって第三者のサイト上でタスクを行う仕組みです。サイト側の許可なくAIが操作してよいかが、今回の訴訟の背景にある大きな論点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判決の法的ロジックの概要です。ユーザーがCometに指示を出し、裁判所は実際にアクセスしているのはユーザー自身であると判断しました。その結果、開発企業であるPerplexityはCFAA上のアクセス主体にあたらない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差止命令があった時と判決後で何が変わったかを比較します。差止命令下ではアクセス・操作が禁じられていましたが、判決によりこの禁止の根拠がなくなりました。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この判決が意味することです。Perplexityにとっては法的な追い風、Amazonにとっては差止の根拠が認められなかった結果、業界全体にとっては初期の重要な判例として注目されています。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未確認事項を一覧にしました。Amazon側の今後の対応、Comet・Perplexityの利用者数、技術的な仕組みの詳細、損害賠償額、いずれも本調査の範囲では確認できていません。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確認できたこと・できなかったことを正直に整理します。タイムラインや判決の核心的な法解釈は確認できていますが、Amazon側の今後の対応や利用者数、技術的な詳細は確認できていません。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鮮度について開示します。判決は着手日の1日前であり、2026-08-05に厳格化された新基準を明確に満たしています。round81評価表ではスコア83/100で採用されました。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公平性・中立性について開示します。裁判所が認定した事実を中立的に報告し、判決の当否についての論評は行いません。実在企業名・人物名はテキストとしてのみ使用しています。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round81評価表からの開示です。評価スコアは83/100で、分かりやすい問いと社会的インパクト、着手日の1日前という高い鮮度が評価されました。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出典一覧です。Bloomberg Law、MarketScreener、GeekWire、Courthouse News Serviceという複数の独立した情報源で報じられています。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既存テーマとの関係を確認しました。Perplexity・Comet・CFAAを主題とした既存テーマはなく、Amazon関連の既存テーマとも対象が異なるため重複ではありません。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業界文脈です。ここからは推測になります。エージェント型コマースの広がりの中で、今回の判決は初期の重要な司法判断として注目されますが、他社への波及範囲は確認できていません。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今回のニュースの3つのポイントです。逆転勝訴、サーバーへのアクセス主体はユーザー自身という核心的な法解釈、そしてエージェント型コマースを占う初期の重要判例という位置づけです。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AIエージェントは誰の代わりに動いているのか、という問いはまだ終わっていません。Amazon側の今後の対応や他社への波及を、確認できたこと・できなかったことを区別しながら注目していきましょう。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PerplexityのAIエージェント『Comet』を巡る訴訟で、第9巡回区控訴裁判所が2026年8月4日、Amazonの差止命令を取り消しました。今後の展開が未確認であることも正直にお伝え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「AIがあなたの代わりに買い物をするのは違法か」— 連邦控訴裁判所が出した衝撃の答え</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Perplexityの買い物AIエージェント「Comet」、Amazonの差止命令を第9巡回区控訴裁判所が取り消し</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Bloomberg Law(2026-08-04)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何が起きたのか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初心者向け: 「Comet」とはどんなAIエージェントか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初心者向け: コンピュータ不正アクセス禁止法(CFAA)とは何か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差止命令から判決までのタイムライン</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判決の核心的な法解釈</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何が起きたのか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PerplexityのAIショッピングエージェント「Comet」を巡る訴訟で、米第9巡回区控訴裁判所が2026年8月4日、Amazon側の差止命令を取り消した</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Amazonは、CometがログインしたAmazonアカウントページに無断アクセスしているとして提訴していた</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取り消されたのは2026年3月9日に連邦地裁が発令した仮差止命令</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控訴裁判所の判断はPerplexity側の大きな勝訴と位置づけられている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Bloomberg Law(2026-08-04)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控訴裁判所が判決を下した日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2026年8月4日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第9巡回区控訴裁判所、Amazonの差止命令を取り消し(vacate)</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Bloomberg Law(2026-08-04)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事件概要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対象のAIエージェント</a:t>
                      </a:r>
                    </a:p>
                  </a:txBody>
                  <a:tcPr>
                    <a:solidFill>
                      <a:srgbClr val="FFFFFF"/>
                    </a:solidFill>
                  </a:tcPr>
                </a:tc>
                <a:tc>
                  <a:txBody>
                    <a:bodyPr/>
                    <a:lstStyle/>
                    <a:p>
                      <a:pPr>
                        <a:defRPr sz="1200">
                          <a:solidFill>
                            <a:srgbClr val="1E2124"/>
                          </a:solidFill>
                          <a:latin typeface="Yu Gothic"/>
                        </a:defRPr>
                      </a:pPr>
                      <a:r>
                        <a:t>Perplexity AIの「Comet」(買い物代行AIエージェント)</a:t>
                      </a:r>
                    </a:p>
                  </a:txBody>
                  <a:tcPr>
                    <a:solidFill>
                      <a:srgbClr val="FFFFFF"/>
                    </a:solidFill>
                  </a:tcPr>
                </a:tc>
              </a:tr>
              <a:tr h="502920">
                <a:tc>
                  <a:txBody>
                    <a:bodyPr/>
                    <a:lstStyle/>
                    <a:p>
                      <a:pPr>
                        <a:defRPr sz="1200">
                          <a:solidFill>
                            <a:srgbClr val="1E2124"/>
                          </a:solidFill>
                          <a:latin typeface="Yu Gothic"/>
                        </a:defRPr>
                      </a:pPr>
                      <a:r>
                        <a:t>訴えた側</a:t>
                      </a:r>
                    </a:p>
                  </a:txBody>
                  <a:tcPr>
                    <a:solidFill>
                      <a:srgbClr val="F7F4EF"/>
                    </a:solidFill>
                  </a:tcPr>
                </a:tc>
                <a:tc>
                  <a:txBody>
                    <a:bodyPr/>
                    <a:lstStyle/>
                    <a:p>
                      <a:pPr>
                        <a:defRPr sz="1200">
                          <a:solidFill>
                            <a:srgbClr val="1E2124"/>
                          </a:solidFill>
                          <a:latin typeface="Yu Gothic"/>
                        </a:defRPr>
                      </a:pPr>
                      <a:r>
                        <a:t>Amazon</a:t>
                      </a:r>
                    </a:p>
                  </a:txBody>
                  <a:tcPr>
                    <a:solidFill>
                      <a:srgbClr val="F7F4EF"/>
                    </a:solidFill>
                  </a:tcPr>
                </a:tc>
              </a:tr>
              <a:tr h="502920">
                <a:tc>
                  <a:txBody>
                    <a:bodyPr/>
                    <a:lstStyle/>
                    <a:p>
                      <a:pPr>
                        <a:defRPr sz="1200">
                          <a:solidFill>
                            <a:srgbClr val="1E2124"/>
                          </a:solidFill>
                          <a:latin typeface="Yu Gothic"/>
                        </a:defRPr>
                      </a:pPr>
                      <a:r>
                        <a:t>訴えの内容</a:t>
                      </a:r>
                    </a:p>
                  </a:txBody>
                  <a:tcPr>
                    <a:solidFill>
                      <a:srgbClr val="FFFFFF"/>
                    </a:solidFill>
                  </a:tcPr>
                </a:tc>
                <a:tc>
                  <a:txBody>
                    <a:bodyPr/>
                    <a:lstStyle/>
                    <a:p>
                      <a:pPr>
                        <a:defRPr sz="1200">
                          <a:solidFill>
                            <a:srgbClr val="1E2124"/>
                          </a:solidFill>
                          <a:latin typeface="Yu Gothic"/>
                        </a:defRPr>
                      </a:pPr>
                      <a:r>
                        <a:t>Cometがログイン後のAmazonアカウントページに無断アクセス</a:t>
                      </a:r>
                    </a:p>
                  </a:txBody>
                  <a:tcPr>
                    <a:solidFill>
                      <a:srgbClr val="FFFFFF"/>
                    </a:solidFill>
                  </a:tcPr>
                </a:tc>
              </a:tr>
              <a:tr h="502920">
                <a:tc>
                  <a:txBody>
                    <a:bodyPr/>
                    <a:lstStyle/>
                    <a:p>
                      <a:pPr>
                        <a:defRPr sz="1200">
                          <a:solidFill>
                            <a:srgbClr val="1E2124"/>
                          </a:solidFill>
                          <a:latin typeface="Yu Gothic"/>
                        </a:defRPr>
                      </a:pPr>
                      <a:r>
                        <a:t>主張された法律</a:t>
                      </a:r>
                    </a:p>
                  </a:txBody>
                  <a:tcPr>
                    <a:solidFill>
                      <a:srgbClr val="F7F4EF"/>
                    </a:solidFill>
                  </a:tcPr>
                </a:tc>
                <a:tc>
                  <a:txBody>
                    <a:bodyPr/>
                    <a:lstStyle/>
                    <a:p>
                      <a:pPr>
                        <a:defRPr sz="1200">
                          <a:solidFill>
                            <a:srgbClr val="1E2124"/>
                          </a:solidFill>
                          <a:latin typeface="Yu Gothic"/>
                        </a:defRPr>
                      </a:pPr>
                      <a:r>
                        <a:t>コンピュータ不正アクセス禁止法(CFAA)</a:t>
                      </a:r>
                    </a:p>
                  </a:txBody>
                  <a:tcPr>
                    <a:solidFill>
                      <a:srgbClr val="F7F4EF"/>
                    </a:solidFill>
                  </a:tcPr>
                </a:tc>
              </a:tr>
              <a:tr h="502920">
                <a:tc>
                  <a:txBody>
                    <a:bodyPr/>
                    <a:lstStyle/>
                    <a:p>
                      <a:pPr>
                        <a:defRPr sz="1200">
                          <a:solidFill>
                            <a:srgbClr val="1E2124"/>
                          </a:solidFill>
                          <a:latin typeface="Yu Gothic"/>
                        </a:defRPr>
                      </a:pPr>
                      <a:r>
                        <a:t>当初の差止命令</a:t>
                      </a:r>
                    </a:p>
                  </a:txBody>
                  <a:tcPr>
                    <a:solidFill>
                      <a:srgbClr val="FFFFFF"/>
                    </a:solidFill>
                  </a:tcPr>
                </a:tc>
                <a:tc>
                  <a:txBody>
                    <a:bodyPr/>
                    <a:lstStyle/>
                    <a:p>
                      <a:pPr>
                        <a:defRPr sz="1200">
                          <a:solidFill>
                            <a:srgbClr val="1E2124"/>
                          </a:solidFill>
                          <a:latin typeface="Yu Gothic"/>
                        </a:defRPr>
                      </a:pPr>
                      <a:r>
                        <a:t>2026年3月9日、連邦地裁(Maxine M. Chesney判事)が発令</a:t>
                      </a:r>
                    </a:p>
                  </a:txBody>
                  <a:tcPr>
                    <a:solidFill>
                      <a:srgbClr val="FFFFFF"/>
                    </a:solidFill>
                  </a:tcPr>
                </a:tc>
              </a:tr>
              <a:tr h="502920">
                <a:tc>
                  <a:txBody>
                    <a:bodyPr/>
                    <a:lstStyle/>
                    <a:p>
                      <a:pPr>
                        <a:defRPr sz="1200">
                          <a:solidFill>
                            <a:srgbClr val="1E2124"/>
                          </a:solidFill>
                          <a:latin typeface="Yu Gothic"/>
                        </a:defRPr>
                      </a:pPr>
                      <a:r>
                        <a:t>控訴審の判決</a:t>
                      </a:r>
                    </a:p>
                  </a:txBody>
                  <a:tcPr>
                    <a:solidFill>
                      <a:srgbClr val="F7F4EF"/>
                    </a:solidFill>
                  </a:tcPr>
                </a:tc>
                <a:tc>
                  <a:txBody>
                    <a:bodyPr/>
                    <a:lstStyle/>
                    <a:p>
                      <a:pPr>
                        <a:defRPr sz="1200">
                          <a:solidFill>
                            <a:srgbClr val="1E2124"/>
                          </a:solidFill>
                          <a:latin typeface="Yu Gothic"/>
                        </a:defRPr>
                      </a:pPr>
                      <a:r>
                        <a:t>2026年8月4日、第9巡回区控訴裁判所が差止命令を取り消し</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登場人物・関係者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3A4750"/>
                </a:solidFill>
                <a:latin typeface="Yu Gothic"/>
              </a:rPr>
              <a:t>Perplexity AI</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買い物代行AIエージェント「Comet」を開発。控訴審で勝訴した側</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3A4750"/>
                </a:solidFill>
                <a:latin typeface="Yu Gothic"/>
              </a:rPr>
              <a:t>Amazon</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Cometの無断アクセスを主張し、差止命令を得ていた側</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3A4750"/>
                </a:solidFill>
                <a:latin typeface="Yu Gothic"/>
              </a:rPr>
              <a:t>Maxine M. Chesney判事</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2026年3月9日に仮差止命令を発令した連邦地裁判事</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3A4750"/>
                </a:solidFill>
                <a:latin typeface="Yu Gothic"/>
              </a:rPr>
              <a:t>第9巡回区控訴裁判所</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2026年8月4日、差止命令を取り消す判決を下した控訴裁</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初心者向け: 「Comet」とはどんなAIエージェントか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PerplexityのAIエージェント「Comet」は、ユーザーに代わってウェブサイト上で閲覧・購入等のタスクを実行できるツール</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ユーザーが指示を出すと、Cometが代わりにサイトを操作して買い物などを進める仕組み</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こうしたAIエージェントによる代行行為は「エージェント型コマース(agentic commerce)」と呼ばれる</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Amazonは、この動作がAmazonのアカウントページへの無断アクセスにあたると主張していた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Cometが買い物を代行する仕組み(概念図)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ユーザーが指示</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「これを買っておいて」等をCometに依頼</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Cometが操作</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Amazon等のサイト上でユーザーに代わって閲覧・購入操作を行う</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Amazon側のサイト</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ログイン後のアカウントページにアクセスされる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初心者向け: コンピュータ不正アクセス禁止法(CFAA)とは何か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CFAA(Computer Fraud and Abuse Act)は、米国でコンピュータシステムへの無権限アクセスを規制する連邦法</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他人のサーバー・システムに許可なく「アクセス」する行為を違法とする枠組み</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今回の争点は「AIエージェント経由での操作は、誰による'アクセス'にあたるのか」という点</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開発企業(Perplexity)なのか、それとも指示を出したユーザー自身なのかが法的に問われた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なぜ「誰がアクセスしたか」が争点になるのか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AIエージェントが操作</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Cometがユーザーに代わってAmazonのページを操作する</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「アクセス」主体の特定</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CFAA上、誰が'アクセス'したとみなされるかが争点になる</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開発企業か、ユーザーか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Perplexity(開発企業)か、指示を出したユーザーか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Amazonの主張とPerplexityの主張</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Amazonの主張</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Cometがログイン後のアカウントページに無断アクセスしている</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この動作はCFAA違反にあたる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Perplexityの立場</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ページを操作しているのはユーザー自身であり、Perplexityが'アクセス'しているのではない</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エージェントはユーザーの指示を実行しているに過ぎない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差止命令から判決までのタイムライン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1. 差止命令</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2026年3月9日、連邦地裁がCometのAmazonアカウントページへのアクセスを禁じる仮差止命令を発令</a:t>
            </a:r>
          </a:p>
        </p:txBody>
      </p:sp>
      <p:sp>
        <p:nvSpPr>
          <p:cNvPr id="11" name="Chevron 10"/>
          <p:cNvSpPr/>
          <p:nvPr/>
        </p:nvSpPr>
        <p:spPr>
          <a:xfrm>
            <a:off x="3068040"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2. 執行停止</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第9巡回区控訴裁判所が、上訴審理中は差止命令の執行を一時停止(stay)</a:t>
            </a:r>
          </a:p>
        </p:txBody>
      </p:sp>
      <p:sp>
        <p:nvSpPr>
          <p:cNvPr id="17" name="Chevron 16"/>
          <p:cNvSpPr/>
          <p:nvPr/>
        </p:nvSpPr>
        <p:spPr>
          <a:xfrm>
            <a:off x="5978804"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3. 口頭弁論</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2026年6月11日、シアトルで控訴審の口頭弁論を実施</a:t>
            </a:r>
          </a:p>
        </p:txBody>
      </p:sp>
      <p:sp>
        <p:nvSpPr>
          <p:cNvPr id="23" name="Chevron 22"/>
          <p:cNvSpPr/>
          <p:nvPr/>
        </p:nvSpPr>
        <p:spPr>
          <a:xfrm>
            <a:off x="8889568"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4. 判決</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2026年8月4日、控訴裁判所が差止命令を取り消す判決を下す</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タイムライン詳細(日付一覧)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3A4750"/>
                    </a:solidFill>
                  </a:tcPr>
                </a:tc>
                <a:tc>
                  <a:txBody>
                    <a:bodyPr/>
                    <a:lstStyle/>
                    <a:p>
                      <a:pPr>
                        <a:defRPr sz="1300" b="1">
                          <a:solidFill>
                            <a:srgbClr val="FFFFFF"/>
                          </a:solidFill>
                          <a:latin typeface="Yu Gothic"/>
                        </a:defRPr>
                      </a:pPr>
                      <a:r>
                        <a:t>出来事</a:t>
                      </a:r>
                    </a:p>
                  </a:txBody>
                  <a:tcPr>
                    <a:solidFill>
                      <a:srgbClr val="3A4750"/>
                    </a:solidFill>
                  </a:tcPr>
                </a:tc>
              </a:tr>
              <a:tr h="502920">
                <a:tc>
                  <a:txBody>
                    <a:bodyPr/>
                    <a:lstStyle/>
                    <a:p>
                      <a:pPr>
                        <a:defRPr sz="1200">
                          <a:solidFill>
                            <a:srgbClr val="1E2124"/>
                          </a:solidFill>
                          <a:latin typeface="Yu Gothic"/>
                        </a:defRPr>
                      </a:pPr>
                      <a:r>
                        <a:t>2026年3月9日</a:t>
                      </a:r>
                    </a:p>
                  </a:txBody>
                  <a:tcPr>
                    <a:solidFill>
                      <a:srgbClr val="FFFFFF"/>
                    </a:solidFill>
                  </a:tcPr>
                </a:tc>
                <a:tc>
                  <a:txBody>
                    <a:bodyPr/>
                    <a:lstStyle/>
                    <a:p>
                      <a:pPr>
                        <a:defRPr sz="1200">
                          <a:solidFill>
                            <a:srgbClr val="1E2124"/>
                          </a:solidFill>
                          <a:latin typeface="Yu Gothic"/>
                        </a:defRPr>
                      </a:pPr>
                      <a:r>
                        <a:t>連邦地裁(Chesney判事)が仮差止命令を発令</a:t>
                      </a:r>
                    </a:p>
                  </a:txBody>
                  <a:tcPr>
                    <a:solidFill>
                      <a:srgbClr val="FFFFFF"/>
                    </a:solidFill>
                  </a:tcPr>
                </a:tc>
              </a:tr>
              <a:tr h="502920">
                <a:tc>
                  <a:txBody>
                    <a:bodyPr/>
                    <a:lstStyle/>
                    <a:p>
                      <a:pPr>
                        <a:defRPr sz="1200">
                          <a:solidFill>
                            <a:srgbClr val="1E2124"/>
                          </a:solidFill>
                          <a:latin typeface="Yu Gothic"/>
                        </a:defRPr>
                      </a:pPr>
                      <a:r>
                        <a:t>(発令後)</a:t>
                      </a:r>
                    </a:p>
                  </a:txBody>
                  <a:tcPr>
                    <a:solidFill>
                      <a:srgbClr val="F7F4EF"/>
                    </a:solidFill>
                  </a:tcPr>
                </a:tc>
                <a:tc>
                  <a:txBody>
                    <a:bodyPr/>
                    <a:lstStyle/>
                    <a:p>
                      <a:pPr>
                        <a:defRPr sz="1200">
                          <a:solidFill>
                            <a:srgbClr val="1E2124"/>
                          </a:solidFill>
                          <a:latin typeface="Yu Gothic"/>
                        </a:defRPr>
                      </a:pPr>
                      <a:r>
                        <a:t>第9巡回区控訴裁判所が差止命令の執行を一時停止</a:t>
                      </a:r>
                    </a:p>
                  </a:txBody>
                  <a:tcPr>
                    <a:solidFill>
                      <a:srgbClr val="F7F4EF"/>
                    </a:solidFill>
                  </a:tcPr>
                </a:tc>
              </a:tr>
              <a:tr h="502920">
                <a:tc>
                  <a:txBody>
                    <a:bodyPr/>
                    <a:lstStyle/>
                    <a:p>
                      <a:pPr>
                        <a:defRPr sz="1200">
                          <a:solidFill>
                            <a:srgbClr val="1E2124"/>
                          </a:solidFill>
                          <a:latin typeface="Yu Gothic"/>
                        </a:defRPr>
                      </a:pPr>
                      <a:r>
                        <a:t>2026年6月11日</a:t>
                      </a:r>
                    </a:p>
                  </a:txBody>
                  <a:tcPr>
                    <a:solidFill>
                      <a:srgbClr val="FFFFFF"/>
                    </a:solidFill>
                  </a:tcPr>
                </a:tc>
                <a:tc>
                  <a:txBody>
                    <a:bodyPr/>
                    <a:lstStyle/>
                    <a:p>
                      <a:pPr>
                        <a:defRPr sz="1200">
                          <a:solidFill>
                            <a:srgbClr val="1E2124"/>
                          </a:solidFill>
                          <a:latin typeface="Yu Gothic"/>
                        </a:defRPr>
                      </a:pPr>
                      <a:r>
                        <a:t>シアトルで控訴審の口頭弁論を実施</a:t>
                      </a:r>
                    </a:p>
                  </a:txBody>
                  <a:tcPr>
                    <a:solidFill>
                      <a:srgbClr val="FFFFFF"/>
                    </a:solidFill>
                  </a:tcPr>
                </a:tc>
              </a:tr>
              <a:tr h="502920">
                <a:tc>
                  <a:txBody>
                    <a:bodyPr/>
                    <a:lstStyle/>
                    <a:p>
                      <a:pPr>
                        <a:defRPr sz="1200">
                          <a:solidFill>
                            <a:srgbClr val="1E2124"/>
                          </a:solidFill>
                          <a:latin typeface="Yu Gothic"/>
                        </a:defRPr>
                      </a:pPr>
                      <a:r>
                        <a:t>2026年8月4日</a:t>
                      </a:r>
                    </a:p>
                  </a:txBody>
                  <a:tcPr>
                    <a:solidFill>
                      <a:srgbClr val="F7F4EF"/>
                    </a:solidFill>
                  </a:tcPr>
                </a:tc>
                <a:tc>
                  <a:txBody>
                    <a:bodyPr/>
                    <a:lstStyle/>
                    <a:p>
                      <a:pPr>
                        <a:defRPr sz="1200">
                          <a:solidFill>
                            <a:srgbClr val="1E2124"/>
                          </a:solidFill>
                          <a:latin typeface="Yu Gothic"/>
                        </a:defRPr>
                      </a:pPr>
                      <a:r>
                        <a:t>控訴裁判所が差止命令を取り消す判決</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差止命令から判決取り消しまでの期間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約5か月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2026年3月9日の差止命令から、2026年8月4日の判決取り消しまで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Bloomberg Law(2026-08-04)ほか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判決の核心ポイント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取り消された差止命令</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Amazonが得ていた差止命令は、控訴審で取り消された(vacate)</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核心的な法解釈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サーバーに'アクセス'しているのはユーザー自身であり、Perplexityではないという判断</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位置づけ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エージェント型コマースの適法性を問う、初期の重要な司法判断</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初心者向け: 「エージェント型コマース」とは何か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「エージェント型コマース(agentic commerce)」とは、AIエージェントがユーザーに代わって第三者のサイト上で買い物などのタスクを行う仕組み全般を指す言葉</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ユーザー自身が操作するのではなく、AIが自動でサイトを操作する点が特徴</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サイト運営企業(この場合Amazon)の許可を得ずにAIエージェントがアクセスしてよいのかが、今回の訴訟の背景にある大きな論点</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今回の判決は、この論点についての初期の重要な司法判断として注目されている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判決の法的ロジック(概要)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ユーザーがCometに指示</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買い物などのタスクをエージェントに依頼する</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エージェントが実行主体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裁判所は、実際に'アクセス'しているのはユーザー自身と判断</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Perplexityは非該当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開発企業であるPerplexity自身はCFAA上のアクセス主体にあたらない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差止命令があった時 vs 判決後、何が変わったか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差止命令があった時(2026年3月〜)</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Cometはログイン後のAmazonアカウントページにアクセス・操作することを禁じられていた</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Amazon側のCFAA違反の主張が地裁で認められていた状態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判決後(2026年8月4日〜)</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差止命令が取り消され、この禁止の根拠がなくなった</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Perplexity側にとってエージェント型コマースを巡る法的な追い風となる判断</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この判決が意味すること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Perplexityにとって</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Comet等のエージェント型コマース機能を継続する上での大きな法的な追い風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Amazonにとって</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AIエージェントの無断アクセスを止める法的根拠が、今回は認められなかった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業界全体にとって</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AIエージェントと既存法制度の関係を占う、初期の重要な判例として注目されている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【重要】未確認事項一覧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状況</a:t>
                      </a:r>
                    </a:p>
                  </a:txBody>
                  <a:tcPr>
                    <a:solidFill>
                      <a:srgbClr val="3A4750"/>
                    </a:solidFill>
                  </a:tcPr>
                </a:tc>
              </a:tr>
              <a:tr h="502920">
                <a:tc>
                  <a:txBody>
                    <a:bodyPr/>
                    <a:lstStyle/>
                    <a:p>
                      <a:pPr>
                        <a:defRPr sz="1200">
                          <a:solidFill>
                            <a:srgbClr val="1E2124"/>
                          </a:solidFill>
                          <a:latin typeface="Yu Gothic"/>
                        </a:defRPr>
                      </a:pPr>
                      <a:r>
                        <a:t>Amazon側の今後の対応(更なる上訴等)</a:t>
                      </a:r>
                    </a:p>
                  </a:txBody>
                  <a:tcPr>
                    <a:solidFill>
                      <a:srgbClr val="FFFFFF"/>
                    </a:solidFill>
                  </a:tcPr>
                </a:tc>
                <a:tc>
                  <a:txBody>
                    <a:bodyPr/>
                    <a:lstStyle/>
                    <a:p>
                      <a:pPr>
                        <a:defRPr sz="1200">
                          <a:solidFill>
                            <a:srgbClr val="1E2124"/>
                          </a:solidFill>
                          <a:latin typeface="Yu Gothic"/>
                        </a:defRPr>
                      </a:pPr>
                      <a:r>
                        <a:t>未確認</a:t>
                      </a:r>
                    </a:p>
                  </a:txBody>
                  <a:tcPr>
                    <a:solidFill>
                      <a:srgbClr val="FFFFFF"/>
                    </a:solidFill>
                  </a:tcPr>
                </a:tc>
              </a:tr>
              <a:tr h="502920">
                <a:tc>
                  <a:txBody>
                    <a:bodyPr/>
                    <a:lstStyle/>
                    <a:p>
                      <a:pPr>
                        <a:defRPr sz="1200">
                          <a:solidFill>
                            <a:srgbClr val="1E2124"/>
                          </a:solidFill>
                          <a:latin typeface="Yu Gothic"/>
                        </a:defRPr>
                      </a:pPr>
                      <a:r>
                        <a:t>Comet・Perplexityの現在の利用者数</a:t>
                      </a:r>
                    </a:p>
                  </a:txBody>
                  <a:tcPr>
                    <a:solidFill>
                      <a:srgbClr val="F7F4EF"/>
                    </a:solidFill>
                  </a:tcPr>
                </a:tc>
                <a:tc>
                  <a:txBody>
                    <a:bodyPr/>
                    <a:lstStyle/>
                    <a:p>
                      <a:pPr>
                        <a:defRPr sz="1200">
                          <a:solidFill>
                            <a:srgbClr val="1E2124"/>
                          </a:solidFill>
                          <a:latin typeface="Yu Gothic"/>
                        </a:defRPr>
                      </a:pPr>
                      <a:r>
                        <a:t>未確認</a:t>
                      </a:r>
                    </a:p>
                  </a:txBody>
                  <a:tcPr>
                    <a:solidFill>
                      <a:srgbClr val="F7F4EF"/>
                    </a:solidFill>
                  </a:tcPr>
                </a:tc>
              </a:tr>
              <a:tr h="502920">
                <a:tc>
                  <a:txBody>
                    <a:bodyPr/>
                    <a:lstStyle/>
                    <a:p>
                      <a:pPr>
                        <a:defRPr sz="1200">
                          <a:solidFill>
                            <a:srgbClr val="1E2124"/>
                          </a:solidFill>
                          <a:latin typeface="Yu Gothic"/>
                        </a:defRPr>
                      </a:pPr>
                      <a:r>
                        <a:t>Cometの技術的な仕組みの詳細</a:t>
                      </a:r>
                    </a:p>
                  </a:txBody>
                  <a:tcPr>
                    <a:solidFill>
                      <a:srgbClr val="FFFFFF"/>
                    </a:solidFill>
                  </a:tcPr>
                </a:tc>
                <a:tc>
                  <a:txBody>
                    <a:bodyPr/>
                    <a:lstStyle/>
                    <a:p>
                      <a:pPr>
                        <a:defRPr sz="1200">
                          <a:solidFill>
                            <a:srgbClr val="1E2124"/>
                          </a:solidFill>
                          <a:latin typeface="Yu Gothic"/>
                        </a:defRPr>
                      </a:pPr>
                      <a:r>
                        <a:t>未確認</a:t>
                      </a:r>
                    </a:p>
                  </a:txBody>
                  <a:tcPr>
                    <a:solidFill>
                      <a:srgbClr val="FFFFFF"/>
                    </a:solidFill>
                  </a:tcPr>
                </a:tc>
              </a:tr>
              <a:tr h="502920">
                <a:tc>
                  <a:txBody>
                    <a:bodyPr/>
                    <a:lstStyle/>
                    <a:p>
                      <a:pPr>
                        <a:defRPr sz="1200">
                          <a:solidFill>
                            <a:srgbClr val="1E2124"/>
                          </a:solidFill>
                          <a:latin typeface="Yu Gothic"/>
                        </a:defRPr>
                      </a:pPr>
                      <a:r>
                        <a:t>本訴訟に関連する損害賠償額等の金銭的な数字</a:t>
                      </a:r>
                    </a:p>
                  </a:txBody>
                  <a:tcPr>
                    <a:solidFill>
                      <a:srgbClr val="F7F4EF"/>
                    </a:solidFill>
                  </a:tcPr>
                </a:tc>
                <a:tc>
                  <a:txBody>
                    <a:bodyPr/>
                    <a:lstStyle/>
                    <a:p>
                      <a:pPr>
                        <a:defRPr sz="1200">
                          <a:solidFill>
                            <a:srgbClr val="1E2124"/>
                          </a:solidFill>
                          <a:latin typeface="Yu Gothic"/>
                        </a:defRPr>
                      </a:pPr>
                      <a:r>
                        <a:t>報じられておらず、本テーマでは扱わない</a:t>
                      </a:r>
                    </a:p>
                  </a:txBody>
                  <a:tcPr>
                    <a:solidFill>
                      <a:srgbClr val="F7F4EF"/>
                    </a:solidFill>
                  </a:tcPr>
                </a:tc>
              </a:tr>
              <a:tr h="502920">
                <a:tc>
                  <a:txBody>
                    <a:bodyPr/>
                    <a:lstStyle/>
                    <a:p>
                      <a:pPr>
                        <a:defRPr sz="1200">
                          <a:solidFill>
                            <a:srgbClr val="1E2124"/>
                          </a:solidFill>
                          <a:latin typeface="Yu Gothic"/>
                        </a:defRPr>
                      </a:pPr>
                      <a:r>
                        <a:t>Amazon側の技術的な対抗策(ボット検知強化等)の予定</a:t>
                      </a:r>
                    </a:p>
                  </a:txBody>
                  <a:tcPr>
                    <a:solidFill>
                      <a:srgbClr val="FFFFFF"/>
                    </a:solidFill>
                  </a:tcPr>
                </a:tc>
                <a:tc>
                  <a:txBody>
                    <a:bodyPr/>
                    <a:lstStyle/>
                    <a:p>
                      <a:pPr>
                        <a:defRPr sz="1200">
                          <a:solidFill>
                            <a:srgbClr val="1E2124"/>
                          </a:solidFill>
                          <a:latin typeface="Yu Gothic"/>
                        </a:defRPr>
                      </a:pPr>
                      <a:r>
                        <a:t>未確認</a:t>
                      </a:r>
                    </a:p>
                  </a:txBody>
                  <a:tcPr>
                    <a:solidFill>
                      <a:srgbClr val="FFFFFF"/>
                    </a:solidFill>
                  </a:tcPr>
                </a:tc>
              </a:tr>
              <a:tr h="502920">
                <a:tc>
                  <a:txBody>
                    <a:bodyPr/>
                    <a:lstStyle/>
                    <a:p>
                      <a:pPr>
                        <a:defRPr sz="1200">
                          <a:solidFill>
                            <a:srgbClr val="1E2124"/>
                          </a:solidFill>
                          <a:latin typeface="Yu Gothic"/>
                        </a:defRPr>
                      </a:pPr>
                      <a:r>
                        <a:t>他のAIエージェント企業への波及範囲</a:t>
                      </a:r>
                    </a:p>
                  </a:txBody>
                  <a:tcPr>
                    <a:solidFill>
                      <a:srgbClr val="F7F4EF"/>
                    </a:solidFill>
                  </a:tcPr>
                </a:tc>
                <a:tc>
                  <a:txBody>
                    <a:bodyPr/>
                    <a:lstStyle/>
                    <a:p>
                      <a:pPr>
                        <a:defRPr sz="1200">
                          <a:solidFill>
                            <a:srgbClr val="1E2124"/>
                          </a:solidFill>
                          <a:latin typeface="Yu Gothic"/>
                        </a:defRPr>
                      </a:pPr>
                      <a:r>
                        <a:t>本調査の範囲を超える推測であり確定情報ではない</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差止命令の発令日・執行停止・口頭弁論の日付・判決日・判決の核心的な法解釈は複数媒体の報道として確認できた</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Amazon側が更なる上訴を行うかどうかは確認できていない</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Comet・Perplexityの現在の利用者数、技術的な詳細は確認できていない</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本訴訟に関連する金銭的な数字は報じられておらず、本テーマでは一切扱わない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Bloomberg Law(2026-08-04)ほか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鮮度についての開示(着手日から2日以内の新基準を満たす)</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判決は2026年8月4日、着手日(2026年8月5日)の1日前である</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docs/06_Content_R&amp;D.mdの2026-08-05追記で厳格化された鮮度基準(着手日から2日以内)を明確に満たしている</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round81評価表(2026-08-05)ではスコア83/100で採用された</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ただし鮮度の高さは、Amazon側の今後の対応など確認できていない事項を補うものではない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本テーマは実在の連邦控訴裁判所の判断という法的な話題を扱い、裁判所が認定した事実を中立的に報告する</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判決が「正しい/間違っている」という当否の論評は行わない</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実在企業名・裁判所名・人物名はテキストとしてのみ使用し、ロゴ・写真は使用しない</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特定企業・特定製品(Comet等)の利用を強く推奨する結論にはしていない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round81評価表からの開示(スコア83/100)</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評価スコア</a:t>
                      </a:r>
                    </a:p>
                  </a:txBody>
                  <a:tcPr>
                    <a:solidFill>
                      <a:srgbClr val="FFFFFF"/>
                    </a:solidFill>
                  </a:tcPr>
                </a:tc>
                <a:tc>
                  <a:txBody>
                    <a:bodyPr/>
                    <a:lstStyle/>
                    <a:p>
                      <a:pPr>
                        <a:defRPr sz="1200">
                          <a:solidFill>
                            <a:srgbClr val="1E2124"/>
                          </a:solidFill>
                          <a:latin typeface="Yu Gothic"/>
                        </a:defRPr>
                      </a:pPr>
                      <a:r>
                        <a:t>83/100</a:t>
                      </a:r>
                    </a:p>
                  </a:txBody>
                  <a:tcPr>
                    <a:solidFill>
                      <a:srgbClr val="FFFFFF"/>
                    </a:solidFill>
                  </a:tcPr>
                </a:tc>
              </a:tr>
              <a:tr h="502920">
                <a:tc>
                  <a:txBody>
                    <a:bodyPr/>
                    <a:lstStyle/>
                    <a:p>
                      <a:pPr>
                        <a:defRPr sz="1200">
                          <a:solidFill>
                            <a:srgbClr val="1E2124"/>
                          </a:solidFill>
                          <a:latin typeface="Yu Gothic"/>
                        </a:defRPr>
                      </a:pPr>
                      <a:r>
                        <a:t>採用理由</a:t>
                      </a:r>
                    </a:p>
                  </a:txBody>
                  <a:tcPr>
                    <a:solidFill>
                      <a:srgbClr val="F7F4EF"/>
                    </a:solidFill>
                  </a:tcPr>
                </a:tc>
                <a:tc>
                  <a:txBody>
                    <a:bodyPr/>
                    <a:lstStyle/>
                    <a:p>
                      <a:pPr>
                        <a:defRPr sz="1200">
                          <a:solidFill>
                            <a:srgbClr val="1E2124"/>
                          </a:solidFill>
                          <a:latin typeface="Yu Gothic"/>
                        </a:defRPr>
                      </a:pPr>
                      <a:r>
                        <a:t>「AIが買い物を代行することは違法か」という分かりやすい問い、初の司法判断という社会的インパクト、着手日の1日前という高い鮮度</a:t>
                      </a:r>
                    </a:p>
                  </a:txBody>
                  <a:tcPr>
                    <a:solidFill>
                      <a:srgbClr val="F7F4EF"/>
                    </a:solidFill>
                  </a:tcPr>
                </a:tc>
              </a:tr>
              <a:tr h="502920">
                <a:tc>
                  <a:txBody>
                    <a:bodyPr/>
                    <a:lstStyle/>
                    <a:p>
                      <a:pPr>
                        <a:defRPr sz="1200">
                          <a:solidFill>
                            <a:srgbClr val="1E2124"/>
                          </a:solidFill>
                          <a:latin typeface="Yu Gothic"/>
                        </a:defRPr>
                      </a:pPr>
                      <a:r>
                        <a:t>新しい鮮度基準</a:t>
                      </a:r>
                    </a:p>
                  </a:txBody>
                  <a:tcPr>
                    <a:solidFill>
                      <a:srgbClr val="FFFFFF"/>
                    </a:solidFill>
                  </a:tcPr>
                </a:tc>
                <a:tc>
                  <a:txBody>
                    <a:bodyPr/>
                    <a:lstStyle/>
                    <a:p>
                      <a:pPr>
                        <a:defRPr sz="1200">
                          <a:solidFill>
                            <a:srgbClr val="1E2124"/>
                          </a:solidFill>
                          <a:latin typeface="Yu Gothic"/>
                        </a:defRPr>
                      </a:pPr>
                      <a:r>
                        <a:t>着手日から2日以内(2026-08-05に厳格化された基準を明確に満たす)</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3A4750"/>
                    </a:solidFill>
                  </a:tcPr>
                </a:tc>
                <a:tc>
                  <a:txBody>
                    <a:bodyPr/>
                    <a:lstStyle/>
                    <a:p>
                      <a:pPr>
                        <a:defRPr sz="1300" b="1">
                          <a:solidFill>
                            <a:srgbClr val="FFFFFF"/>
                          </a:solidFill>
                          <a:latin typeface="Yu Gothic"/>
                        </a:defRPr>
                      </a:pPr>
                      <a:r>
                        <a:t>日付</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Bloomberg Law</a:t>
                      </a:r>
                    </a:p>
                  </a:txBody>
                  <a:tcPr>
                    <a:solidFill>
                      <a:srgbClr val="FFFFFF"/>
                    </a:solidFill>
                  </a:tcPr>
                </a:tc>
                <a:tc>
                  <a:txBody>
                    <a:bodyPr/>
                    <a:lstStyle/>
                    <a:p>
                      <a:pPr>
                        <a:defRPr sz="1200">
                          <a:solidFill>
                            <a:srgbClr val="1E2124"/>
                          </a:solidFill>
                          <a:latin typeface="Yu Gothic"/>
                        </a:defRPr>
                      </a:pPr>
                      <a:r>
                        <a:t>2026-08-04</a:t>
                      </a:r>
                    </a:p>
                  </a:txBody>
                  <a:tcPr>
                    <a:solidFill>
                      <a:srgbClr val="FFFFFF"/>
                    </a:solidFill>
                  </a:tcPr>
                </a:tc>
                <a:tc>
                  <a:txBody>
                    <a:bodyPr/>
                    <a:lstStyle/>
                    <a:p>
                      <a:pPr>
                        <a:defRPr sz="1200">
                          <a:solidFill>
                            <a:srgbClr val="1E2124"/>
                          </a:solidFill>
                          <a:latin typeface="Yu Gothic"/>
                        </a:defRPr>
                      </a:pPr>
                      <a:r>
                        <a:t>判決の核心・判決日・法解釈</a:t>
                      </a:r>
                    </a:p>
                  </a:txBody>
                  <a:tcPr>
                    <a:solidFill>
                      <a:srgbClr val="FFFFFF"/>
                    </a:solidFill>
                  </a:tcPr>
                </a:tc>
              </a:tr>
              <a:tr h="502920">
                <a:tc>
                  <a:txBody>
                    <a:bodyPr/>
                    <a:lstStyle/>
                    <a:p>
                      <a:pPr>
                        <a:defRPr sz="1200">
                          <a:solidFill>
                            <a:srgbClr val="1E2124"/>
                          </a:solidFill>
                          <a:latin typeface="Yu Gothic"/>
                        </a:defRPr>
                      </a:pPr>
                      <a:r>
                        <a:t>MarketScreener</a:t>
                      </a:r>
                    </a:p>
                  </a:txBody>
                  <a:tcPr>
                    <a:solidFill>
                      <a:srgbClr val="F7F4EF"/>
                    </a:solidFill>
                  </a:tcPr>
                </a:tc>
                <a:tc>
                  <a:txBody>
                    <a:bodyPr/>
                    <a:lstStyle/>
                    <a:p>
                      <a:pPr>
                        <a:defRPr sz="1200">
                          <a:solidFill>
                            <a:srgbClr val="1E2124"/>
                          </a:solidFill>
                          <a:latin typeface="Yu Gothic"/>
                        </a:defRPr>
                      </a:pPr>
                      <a:r>
                        <a:t>2026-08-04</a:t>
                      </a:r>
                    </a:p>
                  </a:txBody>
                  <a:tcPr>
                    <a:solidFill>
                      <a:srgbClr val="F7F4EF"/>
                    </a:solidFill>
                  </a:tcPr>
                </a:tc>
                <a:tc>
                  <a:txBody>
                    <a:bodyPr/>
                    <a:lstStyle/>
                    <a:p>
                      <a:pPr>
                        <a:defRPr sz="1200">
                          <a:solidFill>
                            <a:srgbClr val="1E2124"/>
                          </a:solidFill>
                          <a:latin typeface="Yu Gothic"/>
                        </a:defRPr>
                      </a:pPr>
                      <a:r>
                        <a:t>同ニュースの報道</a:t>
                      </a:r>
                    </a:p>
                  </a:txBody>
                  <a:tcPr>
                    <a:solidFill>
                      <a:srgbClr val="F7F4EF"/>
                    </a:solidFill>
                  </a:tcPr>
                </a:tc>
              </a:tr>
              <a:tr h="502920">
                <a:tc>
                  <a:txBody>
                    <a:bodyPr/>
                    <a:lstStyle/>
                    <a:p>
                      <a:pPr>
                        <a:defRPr sz="1200">
                          <a:solidFill>
                            <a:srgbClr val="1E2124"/>
                          </a:solidFill>
                          <a:latin typeface="Yu Gothic"/>
                        </a:defRPr>
                      </a:pPr>
                      <a:r>
                        <a:t>GeekWire</a:t>
                      </a:r>
                    </a:p>
                  </a:txBody>
                  <a:tcPr>
                    <a:solidFill>
                      <a:srgbClr val="FFFFFF"/>
                    </a:solidFill>
                  </a:tcPr>
                </a:tc>
                <a:tc>
                  <a:txBody>
                    <a:bodyPr/>
                    <a:lstStyle/>
                    <a:p>
                      <a:pPr>
                        <a:defRPr sz="1200">
                          <a:solidFill>
                            <a:srgbClr val="1E2124"/>
                          </a:solidFill>
                          <a:latin typeface="Yu Gothic"/>
                        </a:defRPr>
                      </a:pPr>
                      <a:r>
                        <a:t>(背景報道)</a:t>
                      </a:r>
                    </a:p>
                  </a:txBody>
                  <a:tcPr>
                    <a:solidFill>
                      <a:srgbClr val="FFFFFF"/>
                    </a:solidFill>
                  </a:tcPr>
                </a:tc>
                <a:tc>
                  <a:txBody>
                    <a:bodyPr/>
                    <a:lstStyle/>
                    <a:p>
                      <a:pPr>
                        <a:defRPr sz="1200">
                          <a:solidFill>
                            <a:srgbClr val="1E2124"/>
                          </a:solidFill>
                          <a:latin typeface="Yu Gothic"/>
                        </a:defRPr>
                      </a:pPr>
                      <a:r>
                        <a:t>2026年3月9日の当初の差止命令についての背景報道</a:t>
                      </a:r>
                    </a:p>
                  </a:txBody>
                  <a:tcPr>
                    <a:solidFill>
                      <a:srgbClr val="FFFFFF"/>
                    </a:solidFill>
                  </a:tcPr>
                </a:tc>
              </a:tr>
              <a:tr h="502920">
                <a:tc>
                  <a:txBody>
                    <a:bodyPr/>
                    <a:lstStyle/>
                    <a:p>
                      <a:pPr>
                        <a:defRPr sz="1200">
                          <a:solidFill>
                            <a:srgbClr val="1E2124"/>
                          </a:solidFill>
                          <a:latin typeface="Yu Gothic"/>
                        </a:defRPr>
                      </a:pPr>
                      <a:r>
                        <a:t>Courthouse News Service</a:t>
                      </a:r>
                    </a:p>
                  </a:txBody>
                  <a:tcPr>
                    <a:solidFill>
                      <a:srgbClr val="F7F4EF"/>
                    </a:solidFill>
                  </a:tcPr>
                </a:tc>
                <a:tc>
                  <a:txBody>
                    <a:bodyPr/>
                    <a:lstStyle/>
                    <a:p>
                      <a:pPr>
                        <a:defRPr sz="1200">
                          <a:solidFill>
                            <a:srgbClr val="1E2124"/>
                          </a:solidFill>
                          <a:latin typeface="Yu Gothic"/>
                        </a:defRPr>
                      </a:pPr>
                      <a:r>
                        <a:t>(控訴審の経緯)</a:t>
                      </a:r>
                    </a:p>
                  </a:txBody>
                  <a:tcPr>
                    <a:solidFill>
                      <a:srgbClr val="F7F4EF"/>
                    </a:solidFill>
                  </a:tcPr>
                </a:tc>
                <a:tc>
                  <a:txBody>
                    <a:bodyPr/>
                    <a:lstStyle/>
                    <a:p>
                      <a:pPr>
                        <a:defRPr sz="1200">
                          <a:solidFill>
                            <a:srgbClr val="1E2124"/>
                          </a:solidFill>
                          <a:latin typeface="Yu Gothic"/>
                        </a:defRPr>
                      </a:pPr>
                      <a:r>
                        <a:t>控訴審の経緯についての報道</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3A4750"/>
                    </a:solidFill>
                  </a:tcPr>
                </a:tc>
                <a:tc>
                  <a:txBody>
                    <a:bodyPr/>
                    <a:lstStyle/>
                    <a:p>
                      <a:pPr>
                        <a:defRPr sz="1300" b="1">
                          <a:solidFill>
                            <a:srgbClr val="FFFFFF"/>
                          </a:solidFill>
                          <a:latin typeface="Yu Gothic"/>
                        </a:defRPr>
                      </a:pPr>
                      <a:r>
                        <a:t>結果</a:t>
                      </a:r>
                    </a:p>
                  </a:txBody>
                  <a:tcPr>
                    <a:solidFill>
                      <a:srgbClr val="3A4750"/>
                    </a:solidFill>
                  </a:tcPr>
                </a:tc>
              </a:tr>
              <a:tr h="502920">
                <a:tc>
                  <a:txBody>
                    <a:bodyPr/>
                    <a:lstStyle/>
                    <a:p>
                      <a:pPr>
                        <a:defRPr sz="1200">
                          <a:solidFill>
                            <a:srgbClr val="1E2124"/>
                          </a:solidFill>
                          <a:latin typeface="Yu Gothic"/>
                        </a:defRPr>
                      </a:pPr>
                      <a:r>
                        <a:t>Perplexity・Comet・CFAAを主題としたテーマ</a:t>
                      </a:r>
                    </a:p>
                  </a:txBody>
                  <a:tcPr>
                    <a:solidFill>
                      <a:srgbClr val="FFFFFF"/>
                    </a:solidFill>
                  </a:tcPr>
                </a:tc>
                <a:tc>
                  <a:txBody>
                    <a:bodyPr/>
                    <a:lstStyle/>
                    <a:p>
                      <a:pPr>
                        <a:defRPr sz="1200">
                          <a:solidFill>
                            <a:srgbClr val="1E2124"/>
                          </a:solidFill>
                          <a:latin typeface="Yu Gothic"/>
                        </a:defRPr>
                      </a:pPr>
                      <a:r>
                        <a:t>既存テーマになし</a:t>
                      </a:r>
                    </a:p>
                  </a:txBody>
                  <a:tcPr>
                    <a:solidFill>
                      <a:srgbClr val="FFFFFF"/>
                    </a:solidFill>
                  </a:tcPr>
                </a:tc>
              </a:tr>
              <a:tr h="502920">
                <a:tc>
                  <a:txBody>
                    <a:bodyPr/>
                    <a:lstStyle/>
                    <a:p>
                      <a:pPr>
                        <a:defRPr sz="1200">
                          <a:solidFill>
                            <a:srgbClr val="1E2124"/>
                          </a:solidFill>
                          <a:latin typeface="Yu Gothic"/>
                        </a:defRPr>
                      </a:pPr>
                      <a:r>
                        <a:t>Amazon関連の既存テーマ(時価総額・OpenAI投資等)との重複</a:t>
                      </a:r>
                    </a:p>
                  </a:txBody>
                  <a:tcPr>
                    <a:solidFill>
                      <a:srgbClr val="F7F4EF"/>
                    </a:solidFill>
                  </a:tcPr>
                </a:tc>
                <a:tc>
                  <a:txBody>
                    <a:bodyPr/>
                    <a:lstStyle/>
                    <a:p>
                      <a:pPr>
                        <a:defRPr sz="1200">
                          <a:solidFill>
                            <a:srgbClr val="1E2124"/>
                          </a:solidFill>
                          <a:latin typeface="Yu Gothic"/>
                        </a:defRPr>
                      </a:pPr>
                      <a:r>
                        <a:t>対象・事業内容(Cometを巡る訴訟・司法判断)が異なり重複ではない</a:t>
                      </a:r>
                    </a:p>
                  </a:txBody>
                  <a:tcPr>
                    <a:solidFill>
                      <a:srgbClr val="F7F4EF"/>
                    </a:solidFill>
                  </a:tcPr>
                </a:tc>
              </a:tr>
              <a:tr h="502920">
                <a:tc>
                  <a:txBody>
                    <a:bodyPr/>
                    <a:lstStyle/>
                    <a:p>
                      <a:pPr>
                        <a:defRPr sz="1200">
                          <a:solidFill>
                            <a:srgbClr val="1E2124"/>
                          </a:solidFill>
                          <a:latin typeface="Yu Gothic"/>
                        </a:defRPr>
                      </a:pPr>
                      <a:r>
                        <a:t>判定</a:t>
                      </a:r>
                    </a:p>
                  </a:txBody>
                  <a:tcPr>
                    <a:solidFill>
                      <a:srgbClr val="FFFFFF"/>
                    </a:solidFill>
                  </a:tcPr>
                </a:tc>
                <a:tc>
                  <a:txBody>
                    <a:bodyPr/>
                    <a:lstStyle/>
                    <a:p>
                      <a:pPr>
                        <a:defRPr sz="1200">
                          <a:solidFill>
                            <a:srgbClr val="1E2124"/>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業界文脈(ここからは一般的な推測、確定情報ではない)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AIエージェントが第三者サイト上でタスクを代行する動き自体は、今回の判決前から業界で広がりつつあった</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今回の判決は、こうしたエージェント型コマースと既存法制度の関係を占う初期の司法判断として注目される</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ただし他のAIエージェント企業や他のサイト運営企業に今回の判決がどこまで波及するかは、本調査の範囲では確認できていない</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ここからは一般的な業界文脈の推測であり、確定した情報ではない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今回のニュースの3つのポイント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1. 逆転勝訴</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Perplexityが第9巡回区控訴裁判所でAmazonの差止命令を覆した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2. 核心的な法解釈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サーバーにアクセスしているのはユーザー自身であるという判断</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3. 初期の重要判例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エージェント型コマースの適法性を占う初期の司法判断として注目</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「AIエージェントは誰の代わりに動いているのか」— この問いはまだ終わっていない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Amazon側の今後の対応や、他のサイト運営企業への波及を、確認できたこと・できなかったことを区別しながら注目していきましょう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PerplexityのAIエージェント「Comet」を巡る訴訟で、第9巡回区控訴裁判所が2026年8月4日、Amazonの差止命令を取り消した</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判決の核心は、サーバーにアクセスしているのはユーザー自身でありPerplexityではないという法解釈</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エージェント型コマースの適法性を占う初期の重要な司法判断として位置づけられる</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Amazon側の今後の対応や利用者数などは未確認であることを正直に開示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Bloomberg Law(2026-08-04)ほか｜定期実行137本目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