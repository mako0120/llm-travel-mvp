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人気科学系YouTuberが、自分の台本に隠れていた「AIの口癖」で大炎上しました。Hank Green氏が、AI台本使用への批判を受け謝罪し、活動を一時休止しています。今日はこの話題を出典付きでお伝えします。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今日わかることは6つです。何が起きたのか、疑惑となった一言、本人の反応、活動休止、広がる論点、そして確認できたこと・できなかったことです。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何が起きたのか整理します。Complexlyの動画内でGreen氏が使った一言が、ファンの間でAIチャットボットの受け答えに似ていると話題になりました。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話題の発端となった一言がこちらです。この言い回しが、生成AIチャットボットの典型的な受け答えに似ていると指摘されました。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誰が、いつ、何が起きたかを表にまとめました。Hank Green氏のComplexlyの動画が発端です。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Hank Green氏とComplexlyについて紹介します。科学教育系コンテンツで長年知られる著名なYouTuberです。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炎上までの流れを概念図で示します。動画公開から、視聴者の指摘、拡散、本人の反応まで短期間で進みました。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騒動の経緯を4段階で整理します。視聴者の小さな違和感が、大きな話題に発展しました。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なぜAIの一言だと疑われたのか説明します。丁寧すぎる相槌のような言い回しが、AIっぽさの手がかりとされました。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最初の報道日を確認します。2026年8月1日、TechCrunchが最初にこの話題を報じました。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報道の時系列です。8月1日から着手日当日の8月4日まで、続報が続いています。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本人の反応を整理します。AI使用は認めつつ、一部の指摘については異なる説明をしています。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動画制作の背景について、本人はこう説明しています。大きなプレッシャーの中での制作だったとのことです。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謝罪の言葉です。「愕然としている」という強い言葉で、本人は心境を語りました。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本人が否定した点・認めた点を分けて整理します。特定の指摘は否定しつつ、AIへの依存は認めています。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Redditでの謝罪投稿の内容です。より詳しい心境と、今後の方針が語られています。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自身のAI利用について、本人はこう評価しています。健全ではなかったと、率直に認めています。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謝罪から活動休止までの流れです。反省から、具体的な活動量の見直しにつながっています。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活動休止について整理します。複数の媒体が、AI利用への反省を理由とした休止として報じています。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批判側の見方と本人の説明を、両方省略せずに比較します。一致する点・食い違う点があります。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初心者向けに解説します。「AIの口癖」とは、生成AIがよく使う定型的な言い回しのことを指します。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ここから広がる論点を紹介します。AI活用そのものより、開示のあり方が焦点になっています。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クリエイターとAI活用の境界線を概念図で示します。どこまでがリサーチ支援で、どこからが未編集の読み上げか、が論点です。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確認できていないことを正直にお伝えします。再生回数や登録者数などの具体的な数字は確認できていません。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出典一覧です。テック系・カルチャー系の独立した複数の媒体が報じています。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鮮度について正直に開示します。着手日当日の報道まで含む、非常に鮮度の高い話題です。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本テーマで大切にしたことを紹介します。本人の言葉の尊重、公平な両論併記、人格への言及回避の3点です。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ここからは推測です。活動再開の形や、業界への波及について考えられる展開を紹介します。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皆さんは、クリエイターのAI活用、どこまでなら「あり」だと思いますか。続報が入り次第、改めてお届けします。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まとめです。Hank Green氏が、AI台本使用への批判を受け謝罪し、活動を一時休止しています。今回もご視聴ありがとうございました。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人気科学系YouTuberが、自分の台本に隠れていた「AIの口癖」で大炎上した日</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Hank Green氏、AI台本使用でファンの猛反発を受け謝罪・活動休止(2026年8月1日〜)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TechCrunch・Fortune・Northeast Times 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何が起きたのか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疑惑となった一言</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本人の反応・謝罪</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AI利用への反省と活動休止</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広がる論点(AIコンテンツと視聴者の信頼)</a:t>
            </a:r>
          </a:p>
        </p:txBody>
      </p:sp>
      <p:sp>
        <p:nvSpPr>
          <p:cNvPr id="15" name="Oval 14"/>
          <p:cNvSpPr/>
          <p:nvPr/>
        </p:nvSpPr>
        <p:spPr>
          <a:xfrm>
            <a:off x="548640" y="58064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確認できたこと・できなかったこと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何が起きたのか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科学教育系YouTuber Hank Green氏の動画内の一言が、ファンの間で話題になった</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その一言が、ChatGPTのような受け答えに酷似していると視聴者が指摘した</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AIチャットボットの返信がそのまま台本に紛れ込んだのではという疑惑がSNSで広がった</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2026年8月1日、TechCrunchが最初にこの話題を報じた</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TechCrunch(2026-08-01)</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“I appreciate the pushback”</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Complexlyの動画内でHank Green氏が使ったとされる一言(報道による)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誰が・いつ・何が起きたか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人物</a:t>
                      </a:r>
                    </a:p>
                  </a:txBody>
                  <a:tcPr>
                    <a:solidFill>
                      <a:srgbClr val="FFFFFF"/>
                    </a:solidFill>
                  </a:tcPr>
                </a:tc>
                <a:tc>
                  <a:txBody>
                    <a:bodyPr/>
                    <a:lstStyle/>
                    <a:p>
                      <a:pPr>
                        <a:defRPr sz="1200">
                          <a:solidFill>
                            <a:srgbClr val="20261F"/>
                          </a:solidFill>
                          <a:latin typeface="Yu Gothic"/>
                        </a:defRPr>
                      </a:pPr>
                      <a:r>
                        <a:t>Hank Green氏(科学教育系YouTuber)</a:t>
                      </a:r>
                    </a:p>
                  </a:txBody>
                  <a:tcPr>
                    <a:solidFill>
                      <a:srgbClr val="FFFFFF"/>
                    </a:solidFill>
                  </a:tcPr>
                </a:tc>
              </a:tr>
              <a:tr h="502920">
                <a:tc>
                  <a:txBody>
                    <a:bodyPr/>
                    <a:lstStyle/>
                    <a:p>
                      <a:pPr>
                        <a:defRPr sz="1200">
                          <a:solidFill>
                            <a:srgbClr val="20261F"/>
                          </a:solidFill>
                          <a:latin typeface="Yu Gothic"/>
                        </a:defRPr>
                      </a:pPr>
                      <a:r>
                        <a:t>チャンネル</a:t>
                      </a:r>
                    </a:p>
                  </a:txBody>
                  <a:tcPr>
                    <a:solidFill>
                      <a:srgbClr val="F4F1E6"/>
                    </a:solidFill>
                  </a:tcPr>
                </a:tc>
                <a:tc>
                  <a:txBody>
                    <a:bodyPr/>
                    <a:lstStyle/>
                    <a:p>
                      <a:pPr>
                        <a:defRPr sz="1200">
                          <a:solidFill>
                            <a:srgbClr val="20261F"/>
                          </a:solidFill>
                          <a:latin typeface="Yu Gothic"/>
                        </a:defRPr>
                      </a:pPr>
                      <a:r>
                        <a:t>Complexly(SciShow・Crash Course等のネットワーク)</a:t>
                      </a:r>
                    </a:p>
                  </a:txBody>
                  <a:tcPr>
                    <a:solidFill>
                      <a:srgbClr val="F4F1E6"/>
                    </a:solidFill>
                  </a:tcPr>
                </a:tc>
              </a:tr>
              <a:tr h="502920">
                <a:tc>
                  <a:txBody>
                    <a:bodyPr/>
                    <a:lstStyle/>
                    <a:p>
                      <a:pPr>
                        <a:defRPr sz="1200">
                          <a:solidFill>
                            <a:srgbClr val="20261F"/>
                          </a:solidFill>
                          <a:latin typeface="Yu Gothic"/>
                        </a:defRPr>
                      </a:pPr>
                      <a:r>
                        <a:t>問題となった一言</a:t>
                      </a:r>
                    </a:p>
                  </a:txBody>
                  <a:tcPr>
                    <a:solidFill>
                      <a:srgbClr val="FFFFFF"/>
                    </a:solidFill>
                  </a:tcPr>
                </a:tc>
                <a:tc>
                  <a:txBody>
                    <a:bodyPr/>
                    <a:lstStyle/>
                    <a:p>
                      <a:pPr>
                        <a:defRPr sz="1200">
                          <a:solidFill>
                            <a:srgbClr val="20261F"/>
                          </a:solidFill>
                          <a:latin typeface="Yu Gothic"/>
                        </a:defRPr>
                      </a:pPr>
                      <a:r>
                        <a:t>「I appreciate the pushback」</a:t>
                      </a:r>
                    </a:p>
                  </a:txBody>
                  <a:tcPr>
                    <a:solidFill>
                      <a:srgbClr val="FFFFFF"/>
                    </a:solidFill>
                  </a:tcPr>
                </a:tc>
              </a:tr>
              <a:tr h="502920">
                <a:tc>
                  <a:txBody>
                    <a:bodyPr/>
                    <a:lstStyle/>
                    <a:p>
                      <a:pPr>
                        <a:defRPr sz="1200">
                          <a:solidFill>
                            <a:srgbClr val="20261F"/>
                          </a:solidFill>
                          <a:latin typeface="Yu Gothic"/>
                        </a:defRPr>
                      </a:pPr>
                      <a:r>
                        <a:t>最初の報道</a:t>
                      </a:r>
                    </a:p>
                  </a:txBody>
                  <a:tcPr>
                    <a:solidFill>
                      <a:srgbClr val="F4F1E6"/>
                    </a:solidFill>
                  </a:tcPr>
                </a:tc>
                <a:tc>
                  <a:txBody>
                    <a:bodyPr/>
                    <a:lstStyle/>
                    <a:p>
                      <a:pPr>
                        <a:defRPr sz="1200">
                          <a:solidFill>
                            <a:srgbClr val="20261F"/>
                          </a:solidFill>
                          <a:latin typeface="Yu Gothic"/>
                        </a:defRPr>
                      </a:pPr>
                      <a:r>
                        <a:t>2026年8月1日(TechCrunch)</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Hank Green氏・Complexlyとは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Hank Green氏</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科学教育系YouTuber。SciShow・Crash Courseなどへの関与で知られる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Complexly</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Green氏が手がけるYouTubeチャンネルネットワーク</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VidCon</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兄John Green氏と共同で設立したYouTuberの祭典イベント</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炎上までの流れ(概念図)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動画が投稿される</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Complexlyのチャンネルで公開</a:t>
            </a:r>
          </a:p>
        </p:txBody>
      </p:sp>
      <p:sp>
        <p:nvSpPr>
          <p:cNvPr id="10" name="Right Arrow 9"/>
          <p:cNvSpPr/>
          <p:nvPr/>
        </p:nvSpPr>
        <p:spPr>
          <a:xfrm>
            <a:off x="25571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視聴者が違和感を指摘</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「AIっぽい言い回し」との声</a:t>
            </a:r>
          </a:p>
        </p:txBody>
      </p:sp>
      <p:sp>
        <p:nvSpPr>
          <p:cNvPr id="15" name="Right Arrow 14"/>
          <p:cNvSpPr/>
          <p:nvPr/>
        </p:nvSpPr>
        <p:spPr>
          <a:xfrm>
            <a:off x="57575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疑惑がSNSで拡散</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AI台本使用の疑いが広がる</a:t>
            </a:r>
          </a:p>
        </p:txBody>
      </p:sp>
      <p:sp>
        <p:nvSpPr>
          <p:cNvPr id="20" name="Right Arrow 19"/>
          <p:cNvSpPr/>
          <p:nvPr/>
        </p:nvSpPr>
        <p:spPr>
          <a:xfrm>
            <a:off x="89579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本人が反応・謝罪</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TechCrunch等が報道</a:t>
            </a:r>
          </a:p>
        </p:txBody>
      </p:sp>
      <p:sp>
        <p:nvSpPr>
          <p:cNvPr id="25" name="TextBox 2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26" name="TextBox 2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騒動の経緯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1. 動画公開</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Complexlyのチャンネルに動画が投稿される</a:t>
            </a:r>
          </a:p>
        </p:txBody>
      </p:sp>
      <p:sp>
        <p:nvSpPr>
          <p:cNvPr id="11" name="Chevron 10"/>
          <p:cNvSpPr/>
          <p:nvPr/>
        </p:nvSpPr>
        <p:spPr>
          <a:xfrm>
            <a:off x="3068040"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2. 視聴者が気づく</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「I appreciate the pushback」という一言に違和感</a:t>
            </a:r>
          </a:p>
        </p:txBody>
      </p:sp>
      <p:sp>
        <p:nvSpPr>
          <p:cNvPr id="17" name="Chevron 16"/>
          <p:cNvSpPr/>
          <p:nvPr/>
        </p:nvSpPr>
        <p:spPr>
          <a:xfrm>
            <a:off x="5978804"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3. 疑惑の拡散</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AIチャットボットの返信ではという指摘が広がる</a:t>
            </a:r>
          </a:p>
        </p:txBody>
      </p:sp>
      <p:sp>
        <p:nvSpPr>
          <p:cNvPr id="23" name="Chevron 22"/>
          <p:cNvSpPr/>
          <p:nvPr/>
        </p:nvSpPr>
        <p:spPr>
          <a:xfrm>
            <a:off x="8889568"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4. 本人が説明・謝罪</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Green氏が経緯を説明し謝罪した</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なぜ「AIの一言」だと疑われたのか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「I appreciate the pushback」という言い回しが、生成AIチャットボットの典型的な受け答えに似ていると指摘された</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視聴者やネット上の"探偵"的なファンが、AIの返信がそのまま台本・メモに残った可能性を指摘した</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台本がAI支援または一部AI作成であり、十分に編集されていない証拠ではという見方が広がった</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Gizmodo・Kotaku</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最初の報道日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2026年8月1日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TechCrunchが最初にこの話題を報じた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TechCrunch(2026-08-01)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報道の時系列</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24523F"/>
                    </a:solidFill>
                  </a:tcPr>
                </a:tc>
                <a:tc>
                  <a:txBody>
                    <a:bodyPr/>
                    <a:lstStyle/>
                    <a:p>
                      <a:pPr>
                        <a:defRPr sz="1300" b="1">
                          <a:solidFill>
                            <a:srgbClr val="FFFFFF"/>
                          </a:solidFill>
                          <a:latin typeface="Yu Gothic"/>
                        </a:defRPr>
                      </a:pPr>
                      <a:r>
                        <a:t>報道内容</a:t>
                      </a:r>
                    </a:p>
                  </a:txBody>
                  <a:tcPr>
                    <a:solidFill>
                      <a:srgbClr val="24523F"/>
                    </a:solidFill>
                  </a:tcPr>
                </a:tc>
              </a:tr>
              <a:tr h="502920">
                <a:tc>
                  <a:txBody>
                    <a:bodyPr/>
                    <a:lstStyle/>
                    <a:p>
                      <a:pPr>
                        <a:defRPr sz="1200">
                          <a:solidFill>
                            <a:srgbClr val="20261F"/>
                          </a:solidFill>
                          <a:latin typeface="Yu Gothic"/>
                        </a:defRPr>
                      </a:pPr>
                      <a:r>
                        <a:t>2026-08-01</a:t>
                      </a:r>
                    </a:p>
                  </a:txBody>
                  <a:tcPr>
                    <a:solidFill>
                      <a:srgbClr val="FFFFFF"/>
                    </a:solidFill>
                  </a:tcPr>
                </a:tc>
                <a:tc>
                  <a:txBody>
                    <a:bodyPr/>
                    <a:lstStyle/>
                    <a:p>
                      <a:pPr>
                        <a:defRPr sz="1200">
                          <a:solidFill>
                            <a:srgbClr val="20261F"/>
                          </a:solidFill>
                          <a:latin typeface="Yu Gothic"/>
                        </a:defRPr>
                      </a:pPr>
                      <a:r>
                        <a:t>TechCrunch: Green氏のAI使用は「健全ではない」と報道</a:t>
                      </a:r>
                    </a:p>
                  </a:txBody>
                  <a:tcPr>
                    <a:solidFill>
                      <a:srgbClr val="FFFFFF"/>
                    </a:solidFill>
                  </a:tcPr>
                </a:tc>
              </a:tr>
              <a:tr h="502920">
                <a:tc>
                  <a:txBody>
                    <a:bodyPr/>
                    <a:lstStyle/>
                    <a:p>
                      <a:pPr>
                        <a:defRPr sz="1200">
                          <a:solidFill>
                            <a:srgbClr val="20261F"/>
                          </a:solidFill>
                          <a:latin typeface="Yu Gothic"/>
                        </a:defRPr>
                      </a:pPr>
                      <a:r>
                        <a:t>2026-08-03</a:t>
                      </a:r>
                    </a:p>
                  </a:txBody>
                  <a:tcPr>
                    <a:solidFill>
                      <a:srgbClr val="F4F1E6"/>
                    </a:solidFill>
                  </a:tcPr>
                </a:tc>
                <a:tc>
                  <a:txBody>
                    <a:bodyPr/>
                    <a:lstStyle/>
                    <a:p>
                      <a:pPr>
                        <a:defRPr sz="1200">
                          <a:solidFill>
                            <a:srgbClr val="20261F"/>
                          </a:solidFill>
                          <a:latin typeface="Yu Gothic"/>
                        </a:defRPr>
                      </a:pPr>
                      <a:r>
                        <a:t>Northeast Times: 批判を受けYouTubeチャンネルを一時休止と報道</a:t>
                      </a:r>
                    </a:p>
                  </a:txBody>
                  <a:tcPr>
                    <a:solidFill>
                      <a:srgbClr val="F4F1E6"/>
                    </a:solidFill>
                  </a:tcPr>
                </a:tc>
              </a:tr>
              <a:tr h="502920">
                <a:tc>
                  <a:txBody>
                    <a:bodyPr/>
                    <a:lstStyle/>
                    <a:p>
                      <a:pPr>
                        <a:defRPr sz="1200">
                          <a:solidFill>
                            <a:srgbClr val="20261F"/>
                          </a:solidFill>
                          <a:latin typeface="Yu Gothic"/>
                        </a:defRPr>
                      </a:pPr>
                      <a:r>
                        <a:t>2026-08-04</a:t>
                      </a:r>
                    </a:p>
                  </a:txBody>
                  <a:tcPr>
                    <a:solidFill>
                      <a:srgbClr val="FFFFFF"/>
                    </a:solidFill>
                  </a:tcPr>
                </a:tc>
                <a:tc>
                  <a:txBody>
                    <a:bodyPr/>
                    <a:lstStyle/>
                    <a:p>
                      <a:pPr>
                        <a:defRPr sz="1200">
                          <a:solidFill>
                            <a:srgbClr val="20261F"/>
                          </a:solidFill>
                          <a:latin typeface="Yu Gothic"/>
                        </a:defRPr>
                      </a:pPr>
                      <a:r>
                        <a:t>Fortune: Green氏が「mortified」とChatGPT多用を謝罪と報道</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本人の反応(概要)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制作背景の説明</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「大きなプレッシャーの中」で動画を制作したと説明</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AI使用は認める</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台本のリサーチにChatGPTを使ったと認めた</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一部は否定</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「pushback」の一言はゲストへの返答だったと説明した</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“under a ton of pressure”</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Hank Green氏、動画制作の背景についての発言(報道による)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“I'm mortified”</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Hank Green氏の謝罪の言葉(Fortune, 2026-08-04)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本人が否定した点・認めた点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「pushback」の一言について、AIの返信がそのまま残ったものではなく、番組ゲストへの返答だったと説明した</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一方で、台本のリサーチにChatGPTを使っていたことは認めた</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AI生成のメモに頼りすぎていたことも認めた</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Fortune(2026-08-04)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Redditでの謝罪投稿</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心境</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「mortified(愕然としている)」と表現</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視聴者への思い</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「多くの人を失望させた」という趣旨を述べた</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今後の方針</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動画の制作本数を減らす方針を示した</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自身のAI利用への評価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not healthy</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LLMとのやり取りで得ていた高揚感について、自分にも世の中にも「健全ではない」と表現した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TechCrunch(2026-08-01)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謝罪から活動休止までの流れ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謝罪</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Reddit等で心境を説明</a:t>
            </a:r>
          </a:p>
        </p:txBody>
      </p:sp>
      <p:sp>
        <p:nvSpPr>
          <p:cNvPr id="10" name="Right Arrow 9"/>
          <p:cNvSpPr/>
          <p:nvPr/>
        </p:nvSpPr>
        <p:spPr>
          <a:xfrm>
            <a:off x="25571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AI利用への反省</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「不健全」だったと認める</a:t>
            </a:r>
          </a:p>
        </p:txBody>
      </p:sp>
      <p:sp>
        <p:nvSpPr>
          <p:cNvPr id="15" name="Right Arrow 14"/>
          <p:cNvSpPr/>
          <p:nvPr/>
        </p:nvSpPr>
        <p:spPr>
          <a:xfrm>
            <a:off x="57575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活動量の見直し</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動画本数を減らす方針</a:t>
            </a:r>
          </a:p>
        </p:txBody>
      </p:sp>
      <p:sp>
        <p:nvSpPr>
          <p:cNvPr id="20" name="Right Arrow 19"/>
          <p:cNvSpPr/>
          <p:nvPr/>
        </p:nvSpPr>
        <p:spPr>
          <a:xfrm>
            <a:off x="89579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チャンネル休止</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YouTubeチャンネルを一時休止</a:t>
            </a:r>
          </a:p>
        </p:txBody>
      </p:sp>
      <p:sp>
        <p:nvSpPr>
          <p:cNvPr id="25" name="TextBox 2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26" name="TextBox 2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活動休止について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批判を受け、Green氏はYouTubeチャンネルを一時休止したと報じられた</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2026年8月3日、Northeast Timesが休止を報じた</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Artvoice等も、「不健全なAI利用」を理由とした休止として報じている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Northeast Times(2026-08-03)・Artvoice</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批判側の見方 と 本人の説明</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批判側の見方</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台本にAIの返信がそのまま残っていたのではという疑い</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AI依存への懸念</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本人の説明</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「pushback」はゲストへの返答であり、AIの返信そのものではない</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ただしAIリサーチへの依存は認め反省している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初心者向け: 「AI台本」疑惑とは何か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AI生成テキストの"クセ"</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「I appreciate the pushback」のような、ChatGPTがよく使う定型的な言い回しのこと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なぜ問題になるのか</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台本にAIの返答がそのまま残っていると、台本がAI任せで書かれた可能性を示唆するため</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見分け方の一例</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人間の話し言葉としては不自然な、丁寧すぎる相槌表現などが手がかりとされる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広がる論点: AIコンテンツ制作と視聴者の信頼</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クリエイターがAIをリサーチ・構成に使うこと自体は広く行われている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視聴者が問題視したのは、AIの関与が開示されず「素の言葉」として受け取られていた点</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AI活用の是非よりも、透明性・開示のあり方が論点になっている</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本テーマでは特定の是非を断定せず、報道内容を中立的に紹介する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クリエイターとAI活用の境界線(概念)</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リサーチ支援</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情報収集・下調べにAIを使う</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構成・メモ作成</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台本の骨子をAIと一緒に作る</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そのまま読み上げ</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AIの出力を未編集で使う(今回疑われた点)</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確認できていないこと(正直な開示)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問題となった動画の具体的な再生回数は確認できていない</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チャンネル登録者数の増減など具体的な数字は確認できていない</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動画自体のタイトルや、ゲストが誰だったかの詳細は本調査の範囲では確認できていない</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広告収入への影響に関する数字も確認できていない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4523F"/>
                    </a:solidFill>
                  </a:tcPr>
                </a:tc>
                <a:tc>
                  <a:txBody>
                    <a:bodyPr/>
                    <a:lstStyle/>
                    <a:p>
                      <a:pPr>
                        <a:defRPr sz="1300" b="1">
                          <a:solidFill>
                            <a:srgbClr val="FFFFFF"/>
                          </a:solidFill>
                          <a:latin typeface="Yu Gothic"/>
                        </a:defRPr>
                      </a:pPr>
                      <a:r>
                        <a:t>日付</a:t>
                      </a:r>
                    </a:p>
                  </a:txBody>
                  <a:tcPr>
                    <a:solidFill>
                      <a:srgbClr val="24523F"/>
                    </a:solidFill>
                  </a:tcPr>
                </a:tc>
              </a:tr>
              <a:tr h="502920">
                <a:tc>
                  <a:txBody>
                    <a:bodyPr/>
                    <a:lstStyle/>
                    <a:p>
                      <a:pPr>
                        <a:defRPr sz="1200">
                          <a:solidFill>
                            <a:srgbClr val="20261F"/>
                          </a:solidFill>
                          <a:latin typeface="Yu Gothic"/>
                        </a:defRPr>
                      </a:pPr>
                      <a:r>
                        <a:t>TechCrunch</a:t>
                      </a:r>
                    </a:p>
                  </a:txBody>
                  <a:tcPr>
                    <a:solidFill>
                      <a:srgbClr val="FFFFFF"/>
                    </a:solidFill>
                  </a:tcPr>
                </a:tc>
                <a:tc>
                  <a:txBody>
                    <a:bodyPr/>
                    <a:lstStyle/>
                    <a:p>
                      <a:pPr>
                        <a:defRPr sz="1200">
                          <a:solidFill>
                            <a:srgbClr val="20261F"/>
                          </a:solidFill>
                          <a:latin typeface="Yu Gothic"/>
                        </a:defRPr>
                      </a:pPr>
                      <a:r>
                        <a:t>2026-08-01</a:t>
                      </a:r>
                    </a:p>
                  </a:txBody>
                  <a:tcPr>
                    <a:solidFill>
                      <a:srgbClr val="FFFFFF"/>
                    </a:solidFill>
                  </a:tcPr>
                </a:tc>
              </a:tr>
              <a:tr h="502920">
                <a:tc>
                  <a:txBody>
                    <a:bodyPr/>
                    <a:lstStyle/>
                    <a:p>
                      <a:pPr>
                        <a:defRPr sz="1200">
                          <a:solidFill>
                            <a:srgbClr val="20261F"/>
                          </a:solidFill>
                          <a:latin typeface="Yu Gothic"/>
                        </a:defRPr>
                      </a:pPr>
                      <a:r>
                        <a:t>Northeast Times</a:t>
                      </a:r>
                    </a:p>
                  </a:txBody>
                  <a:tcPr>
                    <a:solidFill>
                      <a:srgbClr val="F4F1E6"/>
                    </a:solidFill>
                  </a:tcPr>
                </a:tc>
                <a:tc>
                  <a:txBody>
                    <a:bodyPr/>
                    <a:lstStyle/>
                    <a:p>
                      <a:pPr>
                        <a:defRPr sz="1200">
                          <a:solidFill>
                            <a:srgbClr val="20261F"/>
                          </a:solidFill>
                          <a:latin typeface="Yu Gothic"/>
                        </a:defRPr>
                      </a:pPr>
                      <a:r>
                        <a:t>2026-08-03</a:t>
                      </a:r>
                    </a:p>
                  </a:txBody>
                  <a:tcPr>
                    <a:solidFill>
                      <a:srgbClr val="F4F1E6"/>
                    </a:solidFill>
                  </a:tcPr>
                </a:tc>
              </a:tr>
              <a:tr h="502920">
                <a:tc>
                  <a:txBody>
                    <a:bodyPr/>
                    <a:lstStyle/>
                    <a:p>
                      <a:pPr>
                        <a:defRPr sz="1200">
                          <a:solidFill>
                            <a:srgbClr val="20261F"/>
                          </a:solidFill>
                          <a:latin typeface="Yu Gothic"/>
                        </a:defRPr>
                      </a:pPr>
                      <a:r>
                        <a:t>Fortune</a:t>
                      </a:r>
                    </a:p>
                  </a:txBody>
                  <a:tcPr>
                    <a:solidFill>
                      <a:srgbClr val="FFFFFF"/>
                    </a:solidFill>
                  </a:tcPr>
                </a:tc>
                <a:tc>
                  <a:txBody>
                    <a:bodyPr/>
                    <a:lstStyle/>
                    <a:p>
                      <a:pPr>
                        <a:defRPr sz="1200">
                          <a:solidFill>
                            <a:srgbClr val="20261F"/>
                          </a:solidFill>
                          <a:latin typeface="Yu Gothic"/>
                        </a:defRPr>
                      </a:pPr>
                      <a:r>
                        <a:t>2026-08-04</a:t>
                      </a:r>
                    </a:p>
                  </a:txBody>
                  <a:tcPr>
                    <a:solidFill>
                      <a:srgbClr val="FFFFFF"/>
                    </a:solidFill>
                  </a:tcPr>
                </a:tc>
              </a:tr>
              <a:tr h="502920">
                <a:tc>
                  <a:txBody>
                    <a:bodyPr/>
                    <a:lstStyle/>
                    <a:p>
                      <a:pPr>
                        <a:defRPr sz="1200">
                          <a:solidFill>
                            <a:srgbClr val="20261F"/>
                          </a:solidFill>
                          <a:latin typeface="Yu Gothic"/>
                        </a:defRPr>
                      </a:pPr>
                      <a:r>
                        <a:t>Gizmodo</a:t>
                      </a:r>
                    </a:p>
                  </a:txBody>
                  <a:tcPr>
                    <a:solidFill>
                      <a:srgbClr val="F4F1E6"/>
                    </a:solidFill>
                  </a:tcPr>
                </a:tc>
                <a:tc>
                  <a:txBody>
                    <a:bodyPr/>
                    <a:lstStyle/>
                    <a:p>
                      <a:pPr>
                        <a:defRPr sz="1200">
                          <a:solidFill>
                            <a:srgbClr val="20261F"/>
                          </a:solidFill>
                          <a:latin typeface="Yu Gothic"/>
                        </a:defRPr>
                      </a:pPr>
                      <a:r>
                        <a:t>2026-08</a:t>
                      </a:r>
                    </a:p>
                  </a:txBody>
                  <a:tcPr>
                    <a:solidFill>
                      <a:srgbClr val="F4F1E6"/>
                    </a:solidFill>
                  </a:tcPr>
                </a:tc>
              </a:tr>
              <a:tr h="502920">
                <a:tc>
                  <a:txBody>
                    <a:bodyPr/>
                    <a:lstStyle/>
                    <a:p>
                      <a:pPr>
                        <a:defRPr sz="1200">
                          <a:solidFill>
                            <a:srgbClr val="20261F"/>
                          </a:solidFill>
                          <a:latin typeface="Yu Gothic"/>
                        </a:defRPr>
                      </a:pPr>
                      <a:r>
                        <a:t>Kotaku</a:t>
                      </a:r>
                    </a:p>
                  </a:txBody>
                  <a:tcPr>
                    <a:solidFill>
                      <a:srgbClr val="FFFFFF"/>
                    </a:solidFill>
                  </a:tcPr>
                </a:tc>
                <a:tc>
                  <a:txBody>
                    <a:bodyPr/>
                    <a:lstStyle/>
                    <a:p>
                      <a:pPr>
                        <a:defRPr sz="1200">
                          <a:solidFill>
                            <a:srgbClr val="20261F"/>
                          </a:solidFill>
                          <a:latin typeface="Yu Gothic"/>
                        </a:defRPr>
                      </a:pPr>
                      <a:r>
                        <a:t>2026-08</a:t>
                      </a:r>
                    </a:p>
                  </a:txBody>
                  <a:tcPr>
                    <a:solidFill>
                      <a:srgbClr val="FFFFFF"/>
                    </a:solidFill>
                  </a:tcPr>
                </a:tc>
              </a:tr>
              <a:tr h="502920">
                <a:tc>
                  <a:txBody>
                    <a:bodyPr/>
                    <a:lstStyle/>
                    <a:p>
                      <a:pPr>
                        <a:defRPr sz="1200">
                          <a:solidFill>
                            <a:srgbClr val="20261F"/>
                          </a:solidFill>
                          <a:latin typeface="Yu Gothic"/>
                        </a:defRPr>
                      </a:pPr>
                      <a:r>
                        <a:t>Artvoice</a:t>
                      </a:r>
                    </a:p>
                  </a:txBody>
                  <a:tcPr>
                    <a:solidFill>
                      <a:srgbClr val="F4F1E6"/>
                    </a:solidFill>
                  </a:tcPr>
                </a:tc>
                <a:tc>
                  <a:txBody>
                    <a:bodyPr/>
                    <a:lstStyle/>
                    <a:p>
                      <a:pPr>
                        <a:defRPr sz="1200">
                          <a:solidFill>
                            <a:srgbClr val="20261F"/>
                          </a:solidFill>
                          <a:latin typeface="Yu Gothic"/>
                        </a:defRPr>
                      </a:pPr>
                      <a:r>
                        <a:t>2026-08</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鮮度についての正直な開示(重要)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本件は2026年8月1日に報じられ始め、着手日である2026年8月4日当日の報道(Fortune)まで含んでいる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`docs/06_Content_R&amp;D.md`の鮮度基準(着手日の前日以内)を満たす、直近の一連のテーマの中でも特に高い鮮度である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着手日以降の続報は、本調査の時点ではまだ確認できていない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本テーマで大切にしたこと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本人の言葉を尊重</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報じられた本人の発言をそのまま引用し、憶測で動機を補わない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公平な両論併記</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批判の内容と本人の説明を、どちらも省略せず紹介する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人格への言及を避ける</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Green氏個人の人格を揶揄する表現は使用していない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今後の見通し(ここからは推測)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1. 活動休止の期間</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どの程度の期間になるかは未確定</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 チャンネル再開の形</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AI利用の開示方針が変わる可能性がある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3. 業界への波及</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他のクリエイターのAI利用開示の議論に広がる可能性がある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あなたは、クリエイターのAI活用、どこまでなら「あり」だと思いますか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本人の説明と批判の両方を、出典付きで公平にお届けしました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科学教育系YouTuber Hank Green氏の動画内の一言が、AI台本使用の疑惑を呼んだ</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本人は一部を否定しつつ、AIリサーチへの依存を認めて謝罪した</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批判を受け、YouTubeチャンネルを一時休止したと報じられている</a:t>
            </a:r>
          </a:p>
        </p:txBody>
      </p:sp>
      <p:sp>
        <p:nvSpPr>
          <p:cNvPr id="12" name="Oval 11"/>
          <p:cNvSpPr/>
          <p:nvPr/>
        </p:nvSpPr>
        <p:spPr>
          <a:xfrm>
            <a:off x="457200" y="38130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具体的な数字(再生回数等)は確認できておらず、続報を待ちたい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TechCrunch・Fortune・Northeast Times ほか(2026-08-01〜04報道)｜定期実行128本目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