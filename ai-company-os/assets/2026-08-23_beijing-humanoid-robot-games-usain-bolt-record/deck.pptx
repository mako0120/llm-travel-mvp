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22日、北京で開幕した世界ヒューマノイドロボット競技会で、人型ロボットが100m走で9.39秒を記録し、ウサイン・ボルト選手の世界記録9.58秒を上回り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結論から確認します。北京拠点の企業X-Humanoidが開発した人型ロボットが、公式レースで100mを9.39秒で走り、ウサイン・ボルト選手の世界記録9.58秒を0.19秒上回りました。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今日は6つの流れでお伝えします。大会の概要から、2つの記録更新、そして『世界記録』という表現に関する重要な留保事項まで、正確に整理します。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このテーマを扱う理由です。高い鮮度とインパクトに加え、記録の正確な性質を理解する必要がある点にも注目しました。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大会の基本情報です。16カ国から666チーム・2,056台のロボットが参加し、51種目、1,301競技が行われます。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開会式では、1,000台超の人型ロボットが技術デモンストレーションを披露しました。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100m走の詳細です。記録の主体について報道間で若干の食い違いがある点も、正直にお伝えします。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この0.19秒という差が、今回最も注目された数字です。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ロボットの記録と人間の世界記録を対比しました。次のスライドで、この比較の性質について詳しく確認します。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走り高跳びでも記録更新がありました。前回大会からの伸び幅も大きな注目点です。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2種目でロボットが人間の世界記録を上回る結果となりました。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大会前の準備段階から、実際に記録が生まれるまでの流れを図にしました。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今回の報道を3ステップで総括しました。次のスライド以降で、留保事項を詳しく確認します。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最も重要な留保事項です。今回の記録は公式な陸上競技記録ではなく、競技会という特殊な環境での結果であることを正確に理解する必要があります。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両者は性質が異なる記録であることを対比しました。単純な優劣比較はできません。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報道間の食い違いも正直にお伝えします。特定のチーム名を断定せず、複数の情報源を踏まえた整理にとどめています。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走り高跳びの記録は前回大会から約3倍に伸びました。この1年間の技術進歩の速さを示す数字です。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業界内での位置づけです。商用化との関係については、まだ明確になっていない点も正直にお伝えします。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大会全体の規模を示す数字です。今大会は前回大会から大幅に規模が拡大しています。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AI・ロボティクス動向を追う立場にとっての意味です。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走り高跳びでは0.43mの差でロボットが上回りました。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情報を正確に受け取るための視点です。見出しのインパクトと、事実の正確な性質を分けて考えることが大切です。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確認できなかったことを正直にお伝えします。特に記録を樹立したチーム名の特定は、本調査の範囲ではできませんでした。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大会は5日間の会期です。本テーマで扱うのは開幕日の結果のみで、以降の記録更新は対象外です。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前回大会との比較です。走り高跳びの記録は約3倍に伸びており、大会全体の規模も大幅に拡大しています。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本編のまとめです。インパクトのある見出しの裏にある正確な事実関係を、出典付きで整理してお伝えしました。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北京の世界ヒューマノイドロボット競技会での記録更新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人型ロボットが</a:t>
            </a:r>
          </a:p>
          <a:p>
            <a:pPr algn="l">
              <a:lnSpc>
                <a:spcPct val="115000"/>
              </a:lnSpc>
            </a:pPr>
            <a:r>
              <a:rPr sz="4200" b="1">
                <a:solidFill>
                  <a:srgbClr val="FFFFFF"/>
                </a:solidFill>
                <a:latin typeface="Yu Gothic"/>
              </a:rPr>
              <a:t>ウサイン・ボルトの</a:t>
            </a:r>
          </a:p>
          <a:p>
            <a:pPr algn="l">
              <a:lnSpc>
                <a:spcPct val="115000"/>
              </a:lnSpc>
            </a:pPr>
            <a:r>
              <a:rPr sz="4200" b="1">
                <a:solidFill>
                  <a:srgbClr val="FFFFFF"/>
                </a:solidFill>
                <a:latin typeface="Yu Gothic"/>
              </a:rPr>
              <a:t>100m世界記録を破った日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2026年8月22日・北京——世界ヒューマノイドロボット競技会、開幕日の記録更新を出典付きで整理する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Bloomberg・CGTN・Fortune(2026年8月22〜23日)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ロボットの100m走 9.39秒 ボルト選手の世界記録9.58秒を上回る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2026年8月22日、北京の大会第1日目の公式レースで記録(複数の主要メディアが報道)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Bloomberg・CGTN(2026-08-22/23)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大会の基本情報・開会式の様子</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100m走の記録更新を確認する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走り高跳びの記録更新を確認する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『世界記録』という言葉の留保事項を確認する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着手日当日(2026年8月23日)時点で前日(8月22日)発生という高い鮮度の話題である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『ロボットが人間の世界記録を破った』という強いインパクトを持つ事実である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Bloomberg・CGTN・Fortune・NBC・CBS・ABCなど複数の独立した主要メディアで確認できる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同時に、記録の性質(公式陸上競技記録ではない点)を正確に理解する必要がある話題である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Bloomberg・CGTN・Fortune(2026-08-22/23)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大会の基本情報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第2回世界ヒューマノイドロボット競技会の概要です。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正式名称: 第2回世界ヒューマノイドロボット競技会(2nd World Humanoid Robot Games)</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会期: 2026年8月22日〜26日の5日間、会場は北京の国家速滑館(通称『氷のリボン』)</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参加規模: 16カ国・666チーム・ロボット2,056台</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種目数: 51種目、1,301競技</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Xinhua・CGTN・RobotToday(2026-08-22)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開会式の様子</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演目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テーマ</a:t>
                      </a:r>
                    </a:p>
                  </a:txBody>
                  <a:tcPr>
                    <a:solidFill>
                      <a:srgbClr val="FFFFFF"/>
                    </a:solidFill>
                  </a:tcPr>
                </a:tc>
                <a:tc>
                  <a:txBody>
                    <a:bodyPr/>
                    <a:lstStyle/>
                    <a:p>
                      <a:pPr>
                        <a:defRPr sz="1200">
                          <a:solidFill>
                            <a:srgbClr val="1C2230"/>
                          </a:solidFill>
                          <a:latin typeface="Yu Gothic"/>
                        </a:defRPr>
                      </a:pPr>
                      <a:r>
                        <a:t>『Intelligence Competing Toward the Future』</a:t>
                      </a:r>
                    </a:p>
                  </a:txBody>
                  <a:tcPr>
                    <a:solidFill>
                      <a:srgbClr val="FFFFFF"/>
                    </a:solidFill>
                  </a:tcPr>
                </a:tc>
              </a:tr>
              <a:tr h="502920">
                <a:tc>
                  <a:txBody>
                    <a:bodyPr/>
                    <a:lstStyle/>
                    <a:p>
                      <a:pPr>
                        <a:defRPr sz="1200">
                          <a:solidFill>
                            <a:srgbClr val="1C2230"/>
                          </a:solidFill>
                          <a:latin typeface="Yu Gothic"/>
                        </a:defRPr>
                      </a:pPr>
                      <a:r>
                        <a:t>音楽演目</a:t>
                      </a:r>
                    </a:p>
                  </a:txBody>
                  <a:tcPr>
                    <a:solidFill>
                      <a:srgbClr val="F1F5FA"/>
                    </a:solidFill>
                  </a:tcPr>
                </a:tc>
                <a:tc>
                  <a:txBody>
                    <a:bodyPr/>
                    <a:lstStyle/>
                    <a:p>
                      <a:pPr>
                        <a:defRPr sz="1200">
                          <a:solidFill>
                            <a:srgbClr val="1C2230"/>
                          </a:solidFill>
                          <a:latin typeface="Yu Gothic"/>
                        </a:defRPr>
                      </a:pPr>
                      <a:r>
                        <a:t>36台の人型ロボットが人間の演奏者とともに楽器演奏(『Melody of the Future』)</a:t>
                      </a:r>
                    </a:p>
                  </a:txBody>
                  <a:tcPr>
                    <a:solidFill>
                      <a:srgbClr val="F1F5FA"/>
                    </a:solidFill>
                  </a:tcPr>
                </a:tc>
              </a:tr>
              <a:tr h="502920">
                <a:tc>
                  <a:txBody>
                    <a:bodyPr/>
                    <a:lstStyle/>
                    <a:p>
                      <a:pPr>
                        <a:defRPr sz="1200">
                          <a:solidFill>
                            <a:srgbClr val="1C2230"/>
                          </a:solidFill>
                          <a:latin typeface="Yu Gothic"/>
                        </a:defRPr>
                      </a:pPr>
                      <a:r>
                        <a:t>スポーツデモ</a:t>
                      </a:r>
                    </a:p>
                  </a:txBody>
                  <a:tcPr>
                    <a:solidFill>
                      <a:srgbClr val="FFFFFF"/>
                    </a:solidFill>
                  </a:tcPr>
                </a:tc>
                <a:tc>
                  <a:txBody>
                    <a:bodyPr/>
                    <a:lstStyle/>
                    <a:p>
                      <a:pPr>
                        <a:defRPr sz="1200">
                          <a:solidFill>
                            <a:srgbClr val="1C2230"/>
                          </a:solidFill>
                          <a:latin typeface="Yu Gothic"/>
                        </a:defRPr>
                      </a:pPr>
                      <a:r>
                        <a:t>サッカー・卓球・テニス(人間とのペア戦を含む)</a:t>
                      </a:r>
                    </a:p>
                  </a:txBody>
                  <a:tcPr>
                    <a:solidFill>
                      <a:srgbClr val="FFFFFF"/>
                    </a:solidFill>
                  </a:tcPr>
                </a:tc>
              </a:tr>
              <a:tr h="502920">
                <a:tc>
                  <a:txBody>
                    <a:bodyPr/>
                    <a:lstStyle/>
                    <a:p>
                      <a:pPr>
                        <a:defRPr sz="1200">
                          <a:solidFill>
                            <a:srgbClr val="1C2230"/>
                          </a:solidFill>
                          <a:latin typeface="Yu Gothic"/>
                        </a:defRPr>
                      </a:pPr>
                      <a:r>
                        <a:t>その他</a:t>
                      </a:r>
                    </a:p>
                  </a:txBody>
                  <a:tcPr>
                    <a:solidFill>
                      <a:srgbClr val="F1F5FA"/>
                    </a:solidFill>
                  </a:tcPr>
                </a:tc>
                <a:tc>
                  <a:txBody>
                    <a:bodyPr/>
                    <a:lstStyle/>
                    <a:p>
                      <a:pPr>
                        <a:defRPr sz="1200">
                          <a:solidFill>
                            <a:srgbClr val="1C2230"/>
                          </a:solidFill>
                          <a:latin typeface="Yu Gothic"/>
                        </a:defRPr>
                      </a:pPr>
                      <a:r>
                        <a:t>参加チームのパレード、フォーメーション演技、聖火点灯</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Xinhua・CGTN(2026-08-22)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100m走・記録更新の詳細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核心となる事実を確認します。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公式レースで9.39秒を記録し、ボルト選手の世界記録(9.58秒、2009年)を0.19秒上回った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記録したロボットは北京拠点の企業X-Humanoidが開発したものと、複数の主要メディアが報道している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一部報道では、中国スマートフォンメーカーHonor製ロボットが試走(公式記録外)で9.32秒を記録したとも伝えられており、公式レースの結果とは別の場面であることを区別する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どのチームが公式記録を樹立したかについて、報道間で表記の食い違いが見られる点は留保として開示する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Bloomberg・CGTN・Global Times・Fox News・CBS News(2026-08-22/23)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100m走の記録差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0.19秒 ロボットがボルト選手の世界記録を上回った差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ロボット9.39秒 対 人間の世界記録9.58秒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Bloomberg・CGTN(2026-08-22/23)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ロボットの記録 vs 人間の世界記録(100m走)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ロボット(2026年8月22日)</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9.39秒(公式レース)</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X-Humanoid製と報道</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競技専用に最適化された機体</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人間の世界記録</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9.58秒(ウサイン・ボルト選手、2009年)</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国際陸連が公式認定</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生身の身体能力による記録</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走り高跳び・記録更新の詳細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もう一つの記録更新です。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X-Humanoid製のロボットが立ち幅跳び形式の走り高跳びで2.88mを記録した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人間の走り高跳び世界記録2.45m(ハビエル・ソトモイヨル選手、1993年)を上回った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前回大会(2025年)のロボット最高記録は0.95mで、今回は約3倍の伸びとなった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この結果もAP通信配信記事・NBC Newsなど複数の独立したメディアで報じられている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AP通信配信(local10.com・ABC News経由)・NBC News(2026-08-22)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2つの記録更新まとめ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種目</a:t>
                      </a:r>
                    </a:p>
                  </a:txBody>
                  <a:tcPr>
                    <a:solidFill>
                      <a:srgbClr val="2B3A55"/>
                    </a:solidFill>
                  </a:tcPr>
                </a:tc>
                <a:tc>
                  <a:txBody>
                    <a:bodyPr/>
                    <a:lstStyle/>
                    <a:p>
                      <a:pPr>
                        <a:defRPr sz="1300" b="1">
                          <a:solidFill>
                            <a:srgbClr val="FFFFFF"/>
                          </a:solidFill>
                          <a:latin typeface="Yu Gothic"/>
                        </a:defRPr>
                      </a:pPr>
                      <a:r>
                        <a:t>ロボットの記録</a:t>
                      </a:r>
                    </a:p>
                  </a:txBody>
                  <a:tcPr>
                    <a:solidFill>
                      <a:srgbClr val="2B3A55"/>
                    </a:solidFill>
                  </a:tcPr>
                </a:tc>
                <a:tc>
                  <a:txBody>
                    <a:bodyPr/>
                    <a:lstStyle/>
                    <a:p>
                      <a:pPr>
                        <a:defRPr sz="1300" b="1">
                          <a:solidFill>
                            <a:srgbClr val="FFFFFF"/>
                          </a:solidFill>
                          <a:latin typeface="Yu Gothic"/>
                        </a:defRPr>
                      </a:pPr>
                      <a:r>
                        <a:t>人間の世界記録</a:t>
                      </a:r>
                    </a:p>
                  </a:txBody>
                  <a:tcPr>
                    <a:solidFill>
                      <a:srgbClr val="2B3A55"/>
                    </a:solidFill>
                  </a:tcPr>
                </a:tc>
              </a:tr>
              <a:tr h="502920">
                <a:tc>
                  <a:txBody>
                    <a:bodyPr/>
                    <a:lstStyle/>
                    <a:p>
                      <a:pPr>
                        <a:defRPr sz="1200">
                          <a:solidFill>
                            <a:srgbClr val="1C2230"/>
                          </a:solidFill>
                          <a:latin typeface="Yu Gothic"/>
                        </a:defRPr>
                      </a:pPr>
                      <a:r>
                        <a:t>100m走</a:t>
                      </a:r>
                    </a:p>
                  </a:txBody>
                  <a:tcPr>
                    <a:solidFill>
                      <a:srgbClr val="FFFFFF"/>
                    </a:solidFill>
                  </a:tcPr>
                </a:tc>
                <a:tc>
                  <a:txBody>
                    <a:bodyPr/>
                    <a:lstStyle/>
                    <a:p>
                      <a:pPr>
                        <a:defRPr sz="1200">
                          <a:solidFill>
                            <a:srgbClr val="1C2230"/>
                          </a:solidFill>
                          <a:latin typeface="Yu Gothic"/>
                        </a:defRPr>
                      </a:pPr>
                      <a:r>
                        <a:t>9.39秒</a:t>
                      </a:r>
                    </a:p>
                  </a:txBody>
                  <a:tcPr>
                    <a:solidFill>
                      <a:srgbClr val="FFFFFF"/>
                    </a:solidFill>
                  </a:tcPr>
                </a:tc>
                <a:tc>
                  <a:txBody>
                    <a:bodyPr/>
                    <a:lstStyle/>
                    <a:p>
                      <a:pPr>
                        <a:defRPr sz="1200">
                          <a:solidFill>
                            <a:srgbClr val="1C2230"/>
                          </a:solidFill>
                          <a:latin typeface="Yu Gothic"/>
                        </a:defRPr>
                      </a:pPr>
                      <a:r>
                        <a:t>9.58秒(ボルト選手・2009年)</a:t>
                      </a:r>
                    </a:p>
                  </a:txBody>
                  <a:tcPr>
                    <a:solidFill>
                      <a:srgbClr val="FFFFFF"/>
                    </a:solidFill>
                  </a:tcPr>
                </a:tc>
              </a:tr>
              <a:tr h="502920">
                <a:tc>
                  <a:txBody>
                    <a:bodyPr/>
                    <a:lstStyle/>
                    <a:p>
                      <a:pPr>
                        <a:defRPr sz="1200">
                          <a:solidFill>
                            <a:srgbClr val="1C2230"/>
                          </a:solidFill>
                          <a:latin typeface="Yu Gothic"/>
                        </a:defRPr>
                      </a:pPr>
                      <a:r>
                        <a:t>走り高跳び(立ち幅跳び形式)</a:t>
                      </a:r>
                    </a:p>
                  </a:txBody>
                  <a:tcPr>
                    <a:solidFill>
                      <a:srgbClr val="F1F5FA"/>
                    </a:solidFill>
                  </a:tcPr>
                </a:tc>
                <a:tc>
                  <a:txBody>
                    <a:bodyPr/>
                    <a:lstStyle/>
                    <a:p>
                      <a:pPr>
                        <a:defRPr sz="1200">
                          <a:solidFill>
                            <a:srgbClr val="1C2230"/>
                          </a:solidFill>
                          <a:latin typeface="Yu Gothic"/>
                        </a:defRPr>
                      </a:pPr>
                      <a:r>
                        <a:t>2.88m</a:t>
                      </a:r>
                    </a:p>
                  </a:txBody>
                  <a:tcPr>
                    <a:solidFill>
                      <a:srgbClr val="F1F5FA"/>
                    </a:solidFill>
                  </a:tcPr>
                </a:tc>
                <a:tc>
                  <a:txBody>
                    <a:bodyPr/>
                    <a:lstStyle/>
                    <a:p>
                      <a:pPr>
                        <a:defRPr sz="1200">
                          <a:solidFill>
                            <a:srgbClr val="1C2230"/>
                          </a:solidFill>
                          <a:latin typeface="Yu Gothic"/>
                        </a:defRPr>
                      </a:pPr>
                      <a:r>
                        <a:t>2.45m(ソトモイヨル選手・1993年)</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Bloomberg・CGTN・ABC News(2026-08-22/23)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大会前から記録更新までの流れ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大会開幕前(2026年8月18日時点)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参加規模2,056台・準備報道のみ</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大会開幕(2026年8月22日)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開会式・第1日目の競技開始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2種目で記録更新</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100m走9.39秒・走り高跳び2.88m</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大会前の準備報道から、実際の記録更新までの流れ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Xinhua・CGTN・Bloomberg(2026-08-18〜23)</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大会開幕</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16カ国666チーム・2,056台が北京に集結</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記録更新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100m走9.39秒・走り高跳び2.88m</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留保事項の確認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『世界記録』の性質を正確に理解する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『世界記録』という表現の重要な留保</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誇張せず、正確に理解するための留保事項です。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ロボットの『世界記録更新』は、あくまで今大会という統制された競技会・デモンストレーション環境での結果である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国際陸上競技連盟(World Athletics)など、人間の陸上競技を管轄する公式機関が認定した記録ではない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ロボットはモーター出力・脚部構造・体重配分などが競技専用に最適化されている可能性が高い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『ロボットが人間より速く走れるようになった』という一般化はできない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陸上競技の世界記録 vs 今回のロボット記録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人間の陸上競技世界記録</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World Athletics(国際陸連)が公式認定</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統一されたルール・検査体制のもとで樹立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生身の身体能力の限界を示す</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今回のロボット記録</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大会主催者による競技結果(公式陸上記録ではない)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競技専用に最適化された機体による結果</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技術デモンストレーションとしての性格が強い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報道間の食い違い(正直な開示)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本調査で確認できた食い違いです。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100m走の公式記録を樹立したチームについて、『Tianzhuoチーム』とする報道と『X-Humanoid』とする報道の両方が存在する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本調査では複数の主要メディア(Bloomberg・CGTN・Global Times)がX-Humanoid製ロボットと報じている点を優先して採用した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ただし完全な一致は確認できておらず、この点は留保として開示する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Honor製ロボットの試走9.32秒は公式記録ではなく、別の場面の結果として区別している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Bloomberg・CGTN・Global Times(2026-08-22/23)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前回大会からの伸び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約3倍 走り高跳びの記録が前回大会から伸びた倍率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2025年0.95m → 2026年2.88m</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AP通信配信・NBC News(2026-08-22)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AI・ロボティクス業界における位置づけ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業界内での注目点です。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中国の人型ロボット企業(Unitree Robotics・AgiBot・X-Humanoid・Leju Robot等)の急速な進展を象徴するイベントとして注目されている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各社の実機を直接比較できる場として、業界内外から高い関心を集めている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本大会が商用ロボットの実力を直接示すものか、専用チューニングされた競技用デモンストレーションかは、報道の範囲では明確に区別されていない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大会は現在進行中(8月22日〜26日)であり、以降の日程で記録がさらに更新される可能性がある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大会の規模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2,056台 参加ロボットの総数(16カ国・666チーム)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51種目、1,301競技が5日間で実施される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Xinhua・RobotToday(2026-08-22)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報道内容</a:t>
                      </a:r>
                    </a:p>
                  </a:txBody>
                  <a:tcPr>
                    <a:solidFill>
                      <a:srgbClr val="2B3A55"/>
                    </a:solidFill>
                  </a:tcPr>
                </a:tc>
              </a:tr>
              <a:tr h="502920">
                <a:tc>
                  <a:txBody>
                    <a:bodyPr/>
                    <a:lstStyle/>
                    <a:p>
                      <a:pPr>
                        <a:defRPr sz="1200">
                          <a:solidFill>
                            <a:srgbClr val="1C2230"/>
                          </a:solidFill>
                          <a:latin typeface="Yu Gothic"/>
                        </a:defRPr>
                      </a:pPr>
                      <a:r>
                        <a:t>Bloomberg</a:t>
                      </a:r>
                    </a:p>
                  </a:txBody>
                  <a:tcPr>
                    <a:solidFill>
                      <a:srgbClr val="FFFFFF"/>
                    </a:solidFill>
                  </a:tcPr>
                </a:tc>
                <a:tc>
                  <a:txBody>
                    <a:bodyPr/>
                    <a:lstStyle/>
                    <a:p>
                      <a:pPr>
                        <a:defRPr sz="1200">
                          <a:solidFill>
                            <a:srgbClr val="1C2230"/>
                          </a:solidFill>
                          <a:latin typeface="Yu Gothic"/>
                        </a:defRPr>
                      </a:pPr>
                      <a:r>
                        <a:t>100m走9.39秒の記録更新</a:t>
                      </a:r>
                    </a:p>
                  </a:txBody>
                  <a:tcPr>
                    <a:solidFill>
                      <a:srgbClr val="FFFFFF"/>
                    </a:solidFill>
                  </a:tcPr>
                </a:tc>
              </a:tr>
              <a:tr h="502920">
                <a:tc>
                  <a:txBody>
                    <a:bodyPr/>
                    <a:lstStyle/>
                    <a:p>
                      <a:pPr>
                        <a:defRPr sz="1200">
                          <a:solidFill>
                            <a:srgbClr val="1C2230"/>
                          </a:solidFill>
                          <a:latin typeface="Yu Gothic"/>
                        </a:defRPr>
                      </a:pPr>
                      <a:r>
                        <a:t>CGTN</a:t>
                      </a:r>
                    </a:p>
                  </a:txBody>
                  <a:tcPr>
                    <a:solidFill>
                      <a:srgbClr val="F1F5FA"/>
                    </a:solidFill>
                  </a:tcPr>
                </a:tc>
                <a:tc>
                  <a:txBody>
                    <a:bodyPr/>
                    <a:lstStyle/>
                    <a:p>
                      <a:pPr>
                        <a:defRPr sz="1200">
                          <a:solidFill>
                            <a:srgbClr val="1C2230"/>
                          </a:solidFill>
                          <a:latin typeface="Yu Gothic"/>
                        </a:defRPr>
                      </a:pPr>
                      <a:r>
                        <a:t>レース映像・開会式の詳細</a:t>
                      </a:r>
                    </a:p>
                  </a:txBody>
                  <a:tcPr>
                    <a:solidFill>
                      <a:srgbClr val="F1F5FA"/>
                    </a:solidFill>
                  </a:tcPr>
                </a:tc>
              </a:tr>
              <a:tr h="502920">
                <a:tc>
                  <a:txBody>
                    <a:bodyPr/>
                    <a:lstStyle/>
                    <a:p>
                      <a:pPr>
                        <a:defRPr sz="1200">
                          <a:solidFill>
                            <a:srgbClr val="1C2230"/>
                          </a:solidFill>
                          <a:latin typeface="Yu Gothic"/>
                        </a:defRPr>
                      </a:pPr>
                      <a:r>
                        <a:t>Fortune・NBC News・CBS News・ABC News</a:t>
                      </a:r>
                    </a:p>
                  </a:txBody>
                  <a:tcPr>
                    <a:solidFill>
                      <a:srgbClr val="FFFFFF"/>
                    </a:solidFill>
                  </a:tcPr>
                </a:tc>
                <a:tc>
                  <a:txBody>
                    <a:bodyPr/>
                    <a:lstStyle/>
                    <a:p>
                      <a:pPr>
                        <a:defRPr sz="1200">
                          <a:solidFill>
                            <a:srgbClr val="1C2230"/>
                          </a:solidFill>
                          <a:latin typeface="Yu Gothic"/>
                        </a:defRPr>
                      </a:pPr>
                      <a:r>
                        <a:t>2種目の記録更新の総括報道</a:t>
                      </a:r>
                    </a:p>
                  </a:txBody>
                  <a:tcPr>
                    <a:solidFill>
                      <a:srgbClr val="FFFFFF"/>
                    </a:solidFill>
                  </a:tcPr>
                </a:tc>
              </a:tr>
              <a:tr h="502920">
                <a:tc>
                  <a:txBody>
                    <a:bodyPr/>
                    <a:lstStyle/>
                    <a:p>
                      <a:pPr>
                        <a:defRPr sz="1200">
                          <a:solidFill>
                            <a:srgbClr val="1C2230"/>
                          </a:solidFill>
                          <a:latin typeface="Yu Gothic"/>
                        </a:defRPr>
                      </a:pPr>
                      <a:r>
                        <a:t>Xinhua</a:t>
                      </a:r>
                    </a:p>
                  </a:txBody>
                  <a:tcPr>
                    <a:solidFill>
                      <a:srgbClr val="F1F5FA"/>
                    </a:solidFill>
                  </a:tcPr>
                </a:tc>
                <a:tc>
                  <a:txBody>
                    <a:bodyPr/>
                    <a:lstStyle/>
                    <a:p>
                      <a:pPr>
                        <a:defRPr sz="1200">
                          <a:solidFill>
                            <a:srgbClr val="1C2230"/>
                          </a:solidFill>
                          <a:latin typeface="Yu Gothic"/>
                        </a:defRPr>
                      </a:pPr>
                      <a:r>
                        <a:t>開会式の公式報道</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視聴者にとっての意味(1)—AI/ロボティクス動向を追う立場として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人型ロボットの運動性能が、この1年で急速に進歩していることを具体的な数字で把握できる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同時に、競技会という特殊環境での結果と、実用ロボットの性能を混同しない視点が重要である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中国の人型ロボット企業の技術力を測る一つの指標として参考になる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走り高跳びの記録差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0.43m ロボットが人間の世界記録を上回った差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ロボット2.88m 対 人間の世界記録2.45m</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AP通信配信・NBC News(2026-08-22)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視聴者にとっての意味(2)—情報を鵜呑みにしない立場として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もう一つの視点です。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『ロボットが人間の世界記録を破った』という見出しだけを見て、公式な陸上競技記録の更新と誤解しないことが重要である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報道間の食い違い(記録樹立チームの表記など)がある場合、複数の情報源を確認する姿勢が役立つ</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自社発表・大会主催者発表の数字と、第三者機関の公式認定を区別する視点が有効である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100m走の公式記録を実際に樹立したチーム名(Tianzhuoチームか X-Humanoidか)は、報道間の食い違いにより特定できていない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ロボットの製造コスト、実際の商用化状況は確認できていない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今回のデモンストレーション用途と実用ロボットとの技術的な関係は確認できていない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大会は現在進行中であり、以降の日程(8月23日〜26日)の結果は本テーマの対象外である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確認できている事実</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100m走9.39秒・走り高跳び2.88mの記録</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大会の基本情報(参加規模・種目数)</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複数の独立したメディアによる報道の一致</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今後の不確定要素</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記録樹立チームの正確な特定</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大会残りの日程での記録更新</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実用ロボットへの技術転用の見通し</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AI・ロボティクス動向を追う立場として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人型ロボットの運動性能の急速な進歩を、具体的な数字とともに把握できる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情報を正確に受け取りたい立場として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『世界記録』という見出しの裏にある、記録の性質の違いを区別する視点が役立つ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ロボティクス業界・投資に携わる立場として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各社の実機比較の場として、今大会の今後の日程にも注目する視点が参考になる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大会の会期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5日間 2026年8月22日〜26日の開催期間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本テーマが扱うのは開幕日(8月22日)時点の結果のみ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Xinhua・CGTN(2026-08-22)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前回大会(2025年)との比較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2025年第1回大会</a:t>
                      </a:r>
                    </a:p>
                  </a:txBody>
                  <a:tcPr>
                    <a:solidFill>
                      <a:srgbClr val="2B3A55"/>
                    </a:solidFill>
                  </a:tcPr>
                </a:tc>
                <a:tc>
                  <a:txBody>
                    <a:bodyPr/>
                    <a:lstStyle/>
                    <a:p>
                      <a:pPr>
                        <a:defRPr sz="1300" b="1">
                          <a:solidFill>
                            <a:srgbClr val="FFFFFF"/>
                          </a:solidFill>
                          <a:latin typeface="Yu Gothic"/>
                        </a:defRPr>
                      </a:pPr>
                      <a:r>
                        <a:t>2026年第2回大会</a:t>
                      </a:r>
                    </a:p>
                  </a:txBody>
                  <a:tcPr>
                    <a:solidFill>
                      <a:srgbClr val="2B3A55"/>
                    </a:solidFill>
                  </a:tcPr>
                </a:tc>
              </a:tr>
              <a:tr h="502920">
                <a:tc>
                  <a:txBody>
                    <a:bodyPr/>
                    <a:lstStyle/>
                    <a:p>
                      <a:pPr>
                        <a:defRPr sz="1200">
                          <a:solidFill>
                            <a:srgbClr val="1C2230"/>
                          </a:solidFill>
                          <a:latin typeface="Yu Gothic"/>
                        </a:defRPr>
                      </a:pPr>
                      <a:r>
                        <a:t>ロボット走り高跳び最高記録</a:t>
                      </a:r>
                    </a:p>
                  </a:txBody>
                  <a:tcPr>
                    <a:solidFill>
                      <a:srgbClr val="FFFFFF"/>
                    </a:solidFill>
                  </a:tcPr>
                </a:tc>
                <a:tc>
                  <a:txBody>
                    <a:bodyPr/>
                    <a:lstStyle/>
                    <a:p>
                      <a:pPr>
                        <a:defRPr sz="1200">
                          <a:solidFill>
                            <a:srgbClr val="1C2230"/>
                          </a:solidFill>
                          <a:latin typeface="Yu Gothic"/>
                        </a:defRPr>
                      </a:pPr>
                      <a:r>
                        <a:t>0.95m</a:t>
                      </a:r>
                    </a:p>
                  </a:txBody>
                  <a:tcPr>
                    <a:solidFill>
                      <a:srgbClr val="FFFFFF"/>
                    </a:solidFill>
                  </a:tcPr>
                </a:tc>
                <a:tc>
                  <a:txBody>
                    <a:bodyPr/>
                    <a:lstStyle/>
                    <a:p>
                      <a:pPr>
                        <a:defRPr sz="1200">
                          <a:solidFill>
                            <a:srgbClr val="1C2230"/>
                          </a:solidFill>
                          <a:latin typeface="Yu Gothic"/>
                        </a:defRPr>
                      </a:pPr>
                      <a:r>
                        <a:t>2.88m</a:t>
                      </a:r>
                    </a:p>
                  </a:txBody>
                  <a:tcPr>
                    <a:solidFill>
                      <a:srgbClr val="FFFFFF"/>
                    </a:solidFill>
                  </a:tcPr>
                </a:tc>
              </a:tr>
              <a:tr h="502920">
                <a:tc>
                  <a:txBody>
                    <a:bodyPr/>
                    <a:lstStyle/>
                    <a:p>
                      <a:pPr>
                        <a:defRPr sz="1200">
                          <a:solidFill>
                            <a:srgbClr val="1C2230"/>
                          </a:solidFill>
                          <a:latin typeface="Yu Gothic"/>
                        </a:defRPr>
                      </a:pPr>
                      <a:r>
                        <a:t>100m走の扱い</a:t>
                      </a:r>
                    </a:p>
                  </a:txBody>
                  <a:tcPr>
                    <a:solidFill>
                      <a:srgbClr val="F1F5FA"/>
                    </a:solidFill>
                  </a:tcPr>
                </a:tc>
                <a:tc>
                  <a:txBody>
                    <a:bodyPr/>
                    <a:lstStyle/>
                    <a:p>
                      <a:pPr>
                        <a:defRPr sz="1200">
                          <a:solidFill>
                            <a:srgbClr val="1C2230"/>
                          </a:solidFill>
                          <a:latin typeface="Yu Gothic"/>
                        </a:defRPr>
                      </a:pPr>
                      <a:r>
                        <a:t>話題化(公式記録更新の報道は本調査範囲では未確認)</a:t>
                      </a:r>
                    </a:p>
                  </a:txBody>
                  <a:tcPr>
                    <a:solidFill>
                      <a:srgbClr val="F1F5FA"/>
                    </a:solidFill>
                  </a:tcPr>
                </a:tc>
                <a:tc>
                  <a:txBody>
                    <a:bodyPr/>
                    <a:lstStyle/>
                    <a:p>
                      <a:pPr>
                        <a:defRPr sz="1200">
                          <a:solidFill>
                            <a:srgbClr val="1C2230"/>
                          </a:solidFill>
                          <a:latin typeface="Yu Gothic"/>
                        </a:defRPr>
                      </a:pPr>
                      <a:r>
                        <a:t>9.39秒で人間の世界記録を上回ったと報道</a:t>
                      </a:r>
                    </a:p>
                  </a:txBody>
                  <a:tcPr>
                    <a:solidFill>
                      <a:srgbClr val="F1F5FA"/>
                    </a:solidFill>
                  </a:tcPr>
                </a:tc>
              </a:tr>
              <a:tr h="502920">
                <a:tc>
                  <a:txBody>
                    <a:bodyPr/>
                    <a:lstStyle/>
                    <a:p>
                      <a:pPr>
                        <a:defRPr sz="1200">
                          <a:solidFill>
                            <a:srgbClr val="1C2230"/>
                          </a:solidFill>
                          <a:latin typeface="Yu Gothic"/>
                        </a:defRPr>
                      </a:pPr>
                      <a:r>
                        <a:t>参加規模</a:t>
                      </a:r>
                    </a:p>
                  </a:txBody>
                  <a:tcPr>
                    <a:solidFill>
                      <a:srgbClr val="FFFFFF"/>
                    </a:solidFill>
                  </a:tcPr>
                </a:tc>
                <a:tc>
                  <a:txBody>
                    <a:bodyPr/>
                    <a:lstStyle/>
                    <a:p>
                      <a:pPr>
                        <a:defRPr sz="1200">
                          <a:solidFill>
                            <a:srgbClr val="1C2230"/>
                          </a:solidFill>
                          <a:latin typeface="Yu Gothic"/>
                        </a:defRPr>
                      </a:pPr>
                      <a:r>
                        <a:t>280チーム・500台超</a:t>
                      </a:r>
                    </a:p>
                  </a:txBody>
                  <a:tcPr>
                    <a:solidFill>
                      <a:srgbClr val="FFFFFF"/>
                    </a:solidFill>
                  </a:tcPr>
                </a:tc>
                <a:tc>
                  <a:txBody>
                    <a:bodyPr/>
                    <a:lstStyle/>
                    <a:p>
                      <a:pPr>
                        <a:defRPr sz="1200">
                          <a:solidFill>
                            <a:srgbClr val="1C2230"/>
                          </a:solidFill>
                          <a:latin typeface="Yu Gothic"/>
                        </a:defRPr>
                      </a:pPr>
                      <a:r>
                        <a:t>666チーム・2,056台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本調査による整理(AP通信配信・Xinhua・CGTN)</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2026年8月22日、北京の世界ヒューマノイドロボット競技会で、ロボットが100m走・走り高跳びの2種目で人間の世界記録を上回る結果を記録した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この結果は複数の独立した主要メディアで確認できる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ただし、公式な陸上競技記録ではなく、競技会という特殊環境での結果である点を正確に理解する必要がある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報道間の食い違い(記録樹立チーム名等)がある点も正直に開示した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Bloomberg・CGTN・Fortune ほか(2026-08-22/23)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人型ロボットがボルトの100m世界記録を破った日。</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2026年8月22日、北京の世界ヒューマノイドロボット競技会で、人型ロボットが2種目で人間の世界記録を上回りました。記録の性質を正確に理解しながら、出典付きで整理してお届けしました。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