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んにちは。今日取り上げるのは、2026年7月29日に発表された半導体設計向けAIエージェント企業ChipAgentsの資金調達です。半年前の調達から一気に規模を拡大し、エヌビディアとの提携も広げています。この動画では、何が起きているのか、どんな数字が確認できて何が確認できなかったのかを、出典つきで整理していき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まず結論からです。ChipAgentsはシリーズA累計調達額が1.34億ドルに達し、2026年上半期のARR、つまり年間経常収益は6倍に成長したと発表しています。導入している半導体企業はすでに120社を超えました。</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動画を見ると、発表の概要、ChipAgentsが実際に何をする会社なのか、前回調達からの変化、エヌビディアとの提携の中身、そして確認できなかったことまで分かります。専門的な業界の話ですが、なるべく平易な言葉で整理し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この話がどれくらい確かなのかにも触れておきます。BusinessWireの一次発表に加えて、HPCwire、TechFundingNews、TheNextWeb、Yahoo Financeという独立した複数のメディアが同じ発表を報じています。一方で、日本国内の顧客の有無やエヌビディアが出資しているかどうかなど、確認できなかった点もあり、本編で正直にお伝えします。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はこの5つの流れで話します。まず前提として、なぜ半導体設計にAIエージェントが必要とされているのかを整理し、次に発表の中身、前回調達との比較、エヌビディアとの提携、最後に日本への関連と確認できなかったことについて話しま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前提として、最新のチップは回路設計や検証の工程がどんどん増えていて、人手だけでは時間がかかるようになっています。半導体業界全体で専門エンジニアの確保も難しくなっており、コード生成AIの延長として設計・検証作業そのものにAIを活用する動きが広がっ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改めて数字を見てみましょう。ChipAgentsのシリーズA累計調達額は1.34億ドルに達しました。2026年2月時点では7,400万ドルでしたので、今回のシリーズA2追加調達で一気に拡大したことになります。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資金調達の推移を整理するとこうなります。2026年2月にMatter Venture Partners主導のシリーズA1で累計7,400万ドル、そして2026年7月29日のシリーズA2追加調達で、新規投資家のB Capitalも加わり累計1.34億ドルまで拡大しました。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発表の中身をもう一度まとめます。シリーズA2として6,000万ドルを追加調達し、既存投資家のBessemer Venture Partners、Micron、MediaTek、Ericsson、ScOpが継続して参加しています。BusinessWireの公式発表に加えて、HPCwireやTechFundingNewsといった業界メディアがこの発表を報じています。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参考情報として、AIエージェント業界全体の資金調達動向にも触れておきます。2026年7月には、AIエージェント関連スタートアップ全体で12件以上の取引を通じて18億ドルが調達されたと集計されています。これは個別企業の一次発表ではなく資金調達トラッカーの集計データである点にご注意ください。ChipAgentsの調達は、この業界全体の資金流入の中の1件と位置づけられます。</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全体の構造を図で見てみます。Bessemer・Micron・MediaTekなどの投資家から資金を受けたChipAgentsが、120社を超える半導体企業へAIエージェント製品を提供し、同時にエヌビディアとチップ設計に特化したAIモデルを共同開発している、という構造です。</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ipAgentsのAIエージェントが行う作業を3ステップで見てみます。まず回路設計・検証タスクの手順を自律的に計画し、次にRTL設計やデバッグ、検証作業を実行します。その結果、従来は数か月かかっていた作業を数日から数時間に圧縮すると謳わ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前回調達からの実績を比較するとこうなります。累計調達額は7,400万ドルから1.34億ドルへ、ARR成長率は前年同期比140倍から半年で6倍へ、導入企業数は80社から120社超へと、いずれも拡大が続いています。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で前提知識を整理します。AIエージェントとは、1つの質問に答えるだけでなく、複数の作業手順を自ら計画して実行するAIのことです。人が都度指示しなくても、目的に向けて一連のタスクをこなす点が特徴で、ChipAgentsの場合はチップの回路設計・検証という専門作業がその対象になります。</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もう一つの重要な数字がこちらです。2026年上半期の半年間だけで、ChipAgentsの年間経常収益、ARRは6倍に成長したと発表されています。前回のシリーズA1後には前年同期比140倍という成長も報じられており、高い成長ペースが続いていることがうかがえます。</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投資家の顔ぶれを見てみます。新規参加はB Capital。半導体関連企業としてMicron、MediaTek、Ericssonが継続して参加し、ベンチャーキャピタルとしてBessemer Venture PartnersとScOpも引き続き参加しています。半導体業界の実需企業が直接投資している点が特徴的です。</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ipAgentsのCEOが強調しているのが、この違いです。AIアシスタントは人が都度具体的な指示を出し、1つのタスクごとに確認が必要な補助的な存在です。それに対して自律型AIエージェントは、目的さえ伝えれば手順を自ら計画し、複数タスクを連続してこなし、意味のあるエンジニアリング成果物を出せる、とCEOは主張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創業者でCEOのWilliam Wang氏はこう述べています。AIアシスタントを超え、意味のあるエンジニアリング業務を実行できる自律的エージェントへ業界を導いている、顧客の成長はその転換への準備ができていることを示している、というコメントです。なお、このコメントの英語原文はアクセス制限のため一次確認できておらず、複数媒体の要約をもとにしている点にご注意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エヌビディアとの関係を整理します。従来からの提携に加えて、今回チップ設計に特化したAIモデルの共同開発を含む形で提携が拡大しました。一方で、エヌビディアが投資家として参加しているかどうかについては、CEOがコメントを避けたと報じられており、公表され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エヌビディアとの提携について、分かっていることと分かっていないことを整理します。分かっているのは、チップ設計特化AIモデルの共同開発を含む提携拡大があったこと。分かっていないのは、エヌビディアが出資しているかどうかです。共同開発するAIモデルの詳細や提供時期については、今後の続報を待つ必要があります。</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半導体業界とAIエージェントをめぐる直近の流れを時系列で整理すると、2026年2月のシリーズA1調達・導入80社から、上半期のARR6倍成長と導入120社超への拡大を経て、7月29日のシリーズA2調達とエヌビディアとの提携拡大へとつながっ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気になるのは、日本への関連です。投資家の一社であるMicronは広島に大規模な製造拠点を持っていますが、これはあくまで投資家企業についての一般的な事実です。ChipAgents自体が日本国内に顧客や拠点を持っているかどうかは、今回の調査では確認できませんでした。今後、日本の半導体企業からの導入発表があるかどうかを継続的に確認する必要があります。</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で、今回の調査で確認できなかったことを一覧にまとめます。ChipAgentsの日本国内の顧客や拠点、エヌビディアが投資家として参加しているか、120社超の具体的な内訳、会社全体の評価額、そしてCEOコメントの英語原文。これらはいずれも一次情報からは確認できませんでした。数字を作らず、分からないことは分からないと申し上げます。</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半導体業界に詳しくない方にも参考になる点があります。AIアシスタントから自律型エージェントへ、という主張は他業界にも応用できる視点ですし、投資家に実際にその技術を使う企業が並ぶ資金調達の形も参考になります。専門性の高い業界でも、AIエージェントの導入が具体的な数字で語られ始めていることが分かります。</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ニュースを読み解く際は、まず1.34億ドル・ARR6倍という数字の大きさを把握し、次に半年前からどう数字が変わったかを確認し、最後にエヌビディアの出資有無など、まだ分からない点を押さえる、という3ステップで見ていくと整理しやすいと思います。</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からは推測です。AIエージェントの活用によって半導体企業の開発サイクルが短縮される可能性がありますし、限られた人員でより多くの設計・検証業務をこなせるようになるかもしれません。一方で、早期に導入した企業とそうでない企業との間で、差が生じる可能性もあります。これらはあくまで推測であり、断定はしません。</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冷静に見ておきたい点が3つあります。1つ目は、導入120社超の具体的な内訳や利用度合いまでは公表されていないこと。2つ目は、エヌビディアが投資家かどうかも含め、CEOが明言を避けた点が複数あること。3つ目は、急成長が続いているとはいえ、これは一企業の発表数値であり、業界全体の傾向だと断定はできないことです。</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エージェントによる業界変化の広がり方を図にすると、大手半導体企業の先行導入から、ARR成長や導入社数の拡大という実績の蓄積へ、そしてその先に他社への波及があるという流れが見えてきます。最後の業界標準化の部分は推測であることを明記しておきます。</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の要点を3つにまとめます。シリーズA累計調達額は半年で7,400万ドルから1.34億ドルへ拡大。2026年上半期のARR成長率は6倍。そしてエヌビディアとの提携は拡大した一方、出資の有無についてはCEOが明言を回避し、未公表のままです。</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は、ChipAgentsのシリーズA2追加調達について、調達額・成長率・エヌビディアとの提携という3つの軸で確認してきました。AIエージェントのニュースを見るときは、今日紹介したような視点で成長率や導入社数、未公表の点を分けて確認する習慣をつけてみてください。ここまでご覧いただき、ありがとうございました。</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半導体の設計図を書くのは</a:t>
            </a:r>
          </a:p>
          <a:p>
            <a:pPr algn="l">
              <a:lnSpc>
                <a:spcPct val="115000"/>
              </a:lnSpc>
            </a:pPr>
            <a:r>
              <a:rPr sz="4200" b="1">
                <a:solidFill>
                  <a:srgbClr val="FFFFFF"/>
                </a:solidFill>
                <a:latin typeface="Yu Gothic"/>
              </a:rPr>
              <a:t>もうAIエージェントかもしれない</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D3E4F5"/>
                </a:solidFill>
                <a:latin typeface="Yu Gothic"/>
              </a:rPr>
              <a:t>2026年7月29日発表「ChipAgents シリーズA2」から読み解く</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9CB8D6"/>
                </a:solidFill>
                <a:latin typeface="Yu Gothic"/>
              </a:rPr>
              <a:t>AI Company OS 定期実行56本目 / 出典を明記し、不明点は不明と述べます</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今回の結論</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1F8FD6"/>
                </a:solidFill>
                <a:latin typeface="Yu Gothic"/>
              </a:rPr>
              <a:t>1.34億ドル</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2B3A55"/>
                </a:solidFill>
                <a:latin typeface="Yu Gothic"/>
              </a:rPr>
              <a:t>シリーズA累計調達額</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2026年2月の7,400万ドルから半年で拡大</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1F8FD6"/>
                </a:solidFill>
                <a:latin typeface="Yu Gothic"/>
              </a:rPr>
              <a:t>ARR6倍</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2B3A55"/>
                </a:solidFill>
                <a:latin typeface="Yu Gothic"/>
              </a:rPr>
              <a:t>2026年上半期の成長率</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年間経常収益(ARR)が半年で6倍に成長</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1F8FD6"/>
                </a:solidFill>
                <a:latin typeface="Yu Gothic"/>
              </a:rPr>
              <a:t>120社超</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2B3A55"/>
                </a:solidFill>
                <a:latin typeface="Yu Gothic"/>
              </a:rPr>
              <a:t>導入している半導体企業数</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MediaTek・Micronを含む半導体企業に導入済み</a:t>
            </a:r>
          </a:p>
        </p:txBody>
      </p:sp>
      <p:sp>
        <p:nvSpPr>
          <p:cNvPr id="21" name="TextBox 20"/>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BusinessWire(2026-07-29)</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定期実行56本目</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 / 30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この動画で得られること</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何が発表されたのか、いつ・どんな規模の調達なのかが分かる</a:t>
            </a:r>
          </a:p>
        </p:txBody>
      </p:sp>
      <p:sp>
        <p:nvSpPr>
          <p:cNvPr id="8" name="Oval 7"/>
          <p:cNvSpPr/>
          <p:nvPr/>
        </p:nvSpPr>
        <p:spPr>
          <a:xfrm>
            <a:off x="457200" y="225856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ChipAgentsが何をするAIエージェントなのかが分かる</a:t>
            </a:r>
          </a:p>
        </p:txBody>
      </p:sp>
      <p:sp>
        <p:nvSpPr>
          <p:cNvPr id="10" name="Oval 9"/>
          <p:cNvSpPr/>
          <p:nvPr/>
        </p:nvSpPr>
        <p:spPr>
          <a:xfrm>
            <a:off x="457200" y="30358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前回調達からの変化(金額・投資家・実績数値)が分かる</a:t>
            </a:r>
          </a:p>
        </p:txBody>
      </p:sp>
      <p:sp>
        <p:nvSpPr>
          <p:cNvPr id="12" name="Oval 11"/>
          <p:cNvSpPr/>
          <p:nvPr/>
        </p:nvSpPr>
        <p:spPr>
          <a:xfrm>
            <a:off x="457200" y="38130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3" name="TextBox 12"/>
          <p:cNvSpPr txBox="1"/>
          <p:nvPr/>
        </p:nvSpPr>
        <p:spPr>
          <a:xfrm>
            <a:off x="960120" y="37947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エヌビディアとの提携の中身と、まだ分からない点が分かる</a:t>
            </a:r>
          </a:p>
        </p:txBody>
      </p:sp>
      <p:sp>
        <p:nvSpPr>
          <p:cNvPr id="14" name="Oval 13"/>
          <p:cNvSpPr/>
          <p:nvPr/>
        </p:nvSpPr>
        <p:spPr>
          <a:xfrm>
            <a:off x="457200" y="459028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5" name="TextBox 14"/>
          <p:cNvSpPr txBox="1"/>
          <p:nvPr/>
        </p:nvSpPr>
        <p:spPr>
          <a:xfrm>
            <a:off x="960120" y="457200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調査で確認できなかったことも正直に共有します</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定期実行56本目</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3 / 30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この話の確かさについて</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一次情報</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BusinessWireの一次発表(プレスリリース)を確認</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独立した複数メディア</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HPCwire・TechFundingNews・TheNextWeb・Yahoo Financeが同じ発表を報道</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不明点は明記</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日本国内の顧客有無やエヌビディアの出資有無など、確認できなかった点は本編で明示します</a:t>
            </a:r>
          </a:p>
        </p:txBody>
      </p:sp>
      <p:sp>
        <p:nvSpPr>
          <p:cNvPr id="18" name="TextBox 17"/>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research.md参照</a:t>
            </a:r>
          </a:p>
        </p:txBody>
      </p:sp>
      <p:sp>
        <p:nvSpPr>
          <p:cNvPr id="19" name="TextBox 18"/>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定期実行56本目</a:t>
            </a:r>
          </a:p>
        </p:txBody>
      </p:sp>
      <p:sp>
        <p:nvSpPr>
          <p:cNvPr id="20" name="TextBox 19"/>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今日話すこと</a:t>
            </a:r>
          </a:p>
        </p:txBody>
      </p:sp>
      <p:sp>
        <p:nvSpPr>
          <p:cNvPr id="5" name="Oval 4"/>
          <p:cNvSpPr/>
          <p:nvPr/>
        </p:nvSpPr>
        <p:spPr>
          <a:xfrm>
            <a:off x="548640" y="192024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D3E4F5"/>
                </a:solidFill>
                <a:latin typeface="Yu Gothic"/>
              </a:rPr>
              <a:t>前提: なぜ半導体設計にAIエージェントが必要とされるのか</a:t>
            </a:r>
          </a:p>
        </p:txBody>
      </p:sp>
      <p:sp>
        <p:nvSpPr>
          <p:cNvPr id="7" name="Oval 6"/>
          <p:cNvSpPr/>
          <p:nvPr/>
        </p:nvSpPr>
        <p:spPr>
          <a:xfrm>
            <a:off x="548640" y="269748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D3E4F5"/>
                </a:solidFill>
                <a:latin typeface="Yu Gothic"/>
              </a:rPr>
              <a:t>発表の中身: 調達額・投資家・実績数値</a:t>
            </a:r>
          </a:p>
        </p:txBody>
      </p:sp>
      <p:sp>
        <p:nvSpPr>
          <p:cNvPr id="9" name="Oval 8"/>
          <p:cNvSpPr/>
          <p:nvPr/>
        </p:nvSpPr>
        <p:spPr>
          <a:xfrm>
            <a:off x="548640" y="347472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D3E4F5"/>
                </a:solidFill>
                <a:latin typeface="Yu Gothic"/>
              </a:rPr>
              <a:t>前回調達との比較: 半年でどう変わったか</a:t>
            </a:r>
          </a:p>
        </p:txBody>
      </p:sp>
      <p:sp>
        <p:nvSpPr>
          <p:cNvPr id="11" name="Oval 10"/>
          <p:cNvSpPr/>
          <p:nvPr/>
        </p:nvSpPr>
        <p:spPr>
          <a:xfrm>
            <a:off x="548640" y="425196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D3E4F5"/>
                </a:solidFill>
                <a:latin typeface="Yu Gothic"/>
              </a:rPr>
              <a:t>エヌビディアとの提携拡大と、まだ分からない点</a:t>
            </a:r>
          </a:p>
        </p:txBody>
      </p:sp>
      <p:sp>
        <p:nvSpPr>
          <p:cNvPr id="13" name="Oval 12"/>
          <p:cNvSpPr/>
          <p:nvPr/>
        </p:nvSpPr>
        <p:spPr>
          <a:xfrm>
            <a:off x="548640" y="502920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D3E4F5"/>
                </a:solidFill>
                <a:latin typeface="Yu Gothic"/>
              </a:rPr>
              <a:t>日本への関連と、確認できなかったこと</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前提: なぜ半導体設計にAIエージェントが必要か</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設計の複雑化</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最新チップの回路設計・検証は工程が増え、人手だけでは時間がかかる</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エンジニア不足</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半導体業界全体で専門エンジニアの確保が難しくなっている</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AI活用の広がり</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コード生成AIの延長として、設計・検証作業への応用が進んでいる</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定期実行56本目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3E4F5"/>
                </a:solidFill>
                <a:latin typeface="Yu Gothic"/>
              </a:rPr>
              <a:t>シリーズA累計調達額</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F8FD6"/>
                </a:solidFill>
                <a:latin typeface="Yu Gothic"/>
              </a:rPr>
              <a:t>1.34億ドル</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2026年2月の7,400万ドルから、2026年7月のシリーズA2追加調達で拡大</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9CB8D6"/>
                </a:solidFill>
                <a:latin typeface="Yu Gothic"/>
              </a:rPr>
              <a:t>出典: BusinessWire(2026-07-29)</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資金調達の推移</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1508760"/>
        </p:xfrm>
        <a:graphic>
          <a:graphicData uri="http://schemas.openxmlformats.org/drawingml/2006/table">
            <a:tbl>
              <a:tblPr firstRow="1" bandRow="1">
                <a:tableStyleId>{5C22544A-7EE6-4342-B048-85BDC9FD1C3A}</a:tableStyleId>
              </a:tblPr>
              <a:tblGrid>
                <a:gridCol w="3759098"/>
                <a:gridCol w="3759098"/>
                <a:gridCol w="3759099"/>
              </a:tblGrid>
              <a:tr h="502920">
                <a:tc>
                  <a:txBody>
                    <a:bodyPr/>
                    <a:lstStyle/>
                    <a:p>
                      <a:pPr>
                        <a:defRPr sz="1300" b="1">
                          <a:solidFill>
                            <a:srgbClr val="FFFFFF"/>
                          </a:solidFill>
                          <a:latin typeface="Yu Gothic"/>
                        </a:defRPr>
                      </a:pPr>
                      <a:r>
                        <a:t>時期</a:t>
                      </a:r>
                    </a:p>
                  </a:txBody>
                  <a:tcPr>
                    <a:solidFill>
                      <a:srgbClr val="2B3A55"/>
                    </a:solidFill>
                  </a:tcPr>
                </a:tc>
                <a:tc>
                  <a:txBody>
                    <a:bodyPr/>
                    <a:lstStyle/>
                    <a:p>
                      <a:pPr>
                        <a:defRPr sz="1300" b="1">
                          <a:solidFill>
                            <a:srgbClr val="FFFFFF"/>
                          </a:solidFill>
                          <a:latin typeface="Yu Gothic"/>
                        </a:defRPr>
                      </a:pPr>
                      <a:r>
                        <a:t>調達額(累計)</a:t>
                      </a:r>
                    </a:p>
                  </a:txBody>
                  <a:tcPr>
                    <a:solidFill>
                      <a:srgbClr val="2B3A55"/>
                    </a:solidFill>
                  </a:tcPr>
                </a:tc>
                <a:tc>
                  <a:txBody>
                    <a:bodyPr/>
                    <a:lstStyle/>
                    <a:p>
                      <a:pPr>
                        <a:defRPr sz="1300" b="1">
                          <a:solidFill>
                            <a:srgbClr val="FFFFFF"/>
                          </a:solidFill>
                          <a:latin typeface="Yu Gothic"/>
                        </a:defRPr>
                      </a:pPr>
                      <a:r>
                        <a:t>主導・新規投資家</a:t>
                      </a:r>
                    </a:p>
                  </a:txBody>
                  <a:tcPr>
                    <a:solidFill>
                      <a:srgbClr val="2B3A55"/>
                    </a:solidFill>
                  </a:tcPr>
                </a:tc>
              </a:tr>
              <a:tr h="502920">
                <a:tc>
                  <a:txBody>
                    <a:bodyPr/>
                    <a:lstStyle/>
                    <a:p>
                      <a:pPr>
                        <a:defRPr sz="1200">
                          <a:solidFill>
                            <a:srgbClr val="1C2230"/>
                          </a:solidFill>
                          <a:latin typeface="Yu Gothic"/>
                        </a:defRPr>
                      </a:pPr>
                      <a:r>
                        <a:t>2026年2月</a:t>
                      </a:r>
                    </a:p>
                  </a:txBody>
                  <a:tcPr>
                    <a:solidFill>
                      <a:srgbClr val="FFFFFF"/>
                    </a:solidFill>
                  </a:tcPr>
                </a:tc>
                <a:tc>
                  <a:txBody>
                    <a:bodyPr/>
                    <a:lstStyle/>
                    <a:p>
                      <a:pPr>
                        <a:defRPr sz="1200">
                          <a:solidFill>
                            <a:srgbClr val="1C2230"/>
                          </a:solidFill>
                          <a:latin typeface="Yu Gothic"/>
                        </a:defRPr>
                      </a:pPr>
                      <a:r>
                        <a:t>7,400万ドル(シリーズA1)</a:t>
                      </a:r>
                    </a:p>
                  </a:txBody>
                  <a:tcPr>
                    <a:solidFill>
                      <a:srgbClr val="FFFFFF"/>
                    </a:solidFill>
                  </a:tcPr>
                </a:tc>
                <a:tc>
                  <a:txBody>
                    <a:bodyPr/>
                    <a:lstStyle/>
                    <a:p>
                      <a:pPr>
                        <a:defRPr sz="1200">
                          <a:solidFill>
                            <a:srgbClr val="1C2230"/>
                          </a:solidFill>
                          <a:latin typeface="Yu Gothic"/>
                        </a:defRPr>
                      </a:pPr>
                      <a:r>
                        <a:t>Matter Venture Partners(主導)</a:t>
                      </a:r>
                    </a:p>
                  </a:txBody>
                  <a:tcPr>
                    <a:solidFill>
                      <a:srgbClr val="FFFFFF"/>
                    </a:solidFill>
                  </a:tcPr>
                </a:tc>
              </a:tr>
              <a:tr h="502920">
                <a:tc>
                  <a:txBody>
                    <a:bodyPr/>
                    <a:lstStyle/>
                    <a:p>
                      <a:pPr>
                        <a:defRPr sz="1200">
                          <a:solidFill>
                            <a:srgbClr val="1C2230"/>
                          </a:solidFill>
                          <a:latin typeface="Yu Gothic"/>
                        </a:defRPr>
                      </a:pPr>
                      <a:r>
                        <a:t>2026年7月29日</a:t>
                      </a:r>
                    </a:p>
                  </a:txBody>
                  <a:tcPr>
                    <a:solidFill>
                      <a:srgbClr val="F1F5FA"/>
                    </a:solidFill>
                  </a:tcPr>
                </a:tc>
                <a:tc>
                  <a:txBody>
                    <a:bodyPr/>
                    <a:lstStyle/>
                    <a:p>
                      <a:pPr>
                        <a:defRPr sz="1200">
                          <a:solidFill>
                            <a:srgbClr val="1C2230"/>
                          </a:solidFill>
                          <a:latin typeface="Yu Gothic"/>
                        </a:defRPr>
                      </a:pPr>
                      <a:r>
                        <a:t>1.34億ドル(シリーズA2)</a:t>
                      </a:r>
                    </a:p>
                  </a:txBody>
                  <a:tcPr>
                    <a:solidFill>
                      <a:srgbClr val="F1F5FA"/>
                    </a:solidFill>
                  </a:tcPr>
                </a:tc>
                <a:tc>
                  <a:txBody>
                    <a:bodyPr/>
                    <a:lstStyle/>
                    <a:p>
                      <a:pPr>
                        <a:defRPr sz="1200">
                          <a:solidFill>
                            <a:srgbClr val="1C2230"/>
                          </a:solidFill>
                          <a:latin typeface="Yu Gothic"/>
                        </a:defRPr>
                      </a:pPr>
                      <a:r>
                        <a:t>B Capital(新規参加)</a:t>
                      </a:r>
                    </a:p>
                  </a:txBody>
                  <a:tcPr>
                    <a:solidFill>
                      <a:srgbClr val="F1F5FA"/>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BusinessWire(2026-02-18 / 2026-07-29)</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定期実行56本目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8 / 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何が発表されたか(2026年7月29日)</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調達額</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シリーズA2として6,000万ドルを追加調達</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既存投資家の継続参加</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Bessemer Venture Partners・Micron・MediaTek・Ericsson・ScOp</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報じたメディア</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BusinessWire公式に加えHPCwire・TechFundingNewsなどが報道</a:t>
            </a:r>
          </a:p>
        </p:txBody>
      </p:sp>
      <p:sp>
        <p:nvSpPr>
          <p:cNvPr id="18" name="TextBox 17"/>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BusinessWire / HPCwire / TechFundingNews(いずれも2026-07-29)</a:t>
            </a:r>
          </a:p>
        </p:txBody>
      </p:sp>
      <p:sp>
        <p:nvSpPr>
          <p:cNvPr id="19" name="TextBox 18"/>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定期実行56本目</a:t>
            </a:r>
          </a:p>
        </p:txBody>
      </p:sp>
      <p:sp>
        <p:nvSpPr>
          <p:cNvPr id="20" name="TextBox 19"/>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9 / 30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3E4F5"/>
                </a:solidFill>
                <a:latin typeface="Yu Gothic"/>
              </a:rPr>
              <a:t>参考: AIエージェント業界全体の資金調達(2026年7月)</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F8FD6"/>
                </a:solidFill>
                <a:latin typeface="Yu Gothic"/>
              </a:rPr>
              <a:t>18億ドル</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AIエージェント関連スタートアップが12件以上の取引で調達(集計トラッカーのデータ、参考情報)</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9CB8D6"/>
                </a:solidFill>
                <a:latin typeface="Yu Gothic"/>
              </a:rPr>
              <a:t>出典: gravity.fast「AI Agent Startup Funding Tracker: Q3 2026」(集計ブログ、公式発表より下位の情報源)</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資金と製品の全体像</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52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065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894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投資家</a:t>
            </a:r>
          </a:p>
        </p:txBody>
      </p:sp>
      <p:sp>
        <p:nvSpPr>
          <p:cNvPr id="9" name="TextBox 8"/>
          <p:cNvSpPr txBox="1"/>
          <p:nvPr/>
        </p:nvSpPr>
        <p:spPr>
          <a:xfrm>
            <a:off x="2894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Bessemer・Micron・MediaTek・Ericsson・B Capital・ScOp</a:t>
            </a:r>
          </a:p>
        </p:txBody>
      </p:sp>
      <p:sp>
        <p:nvSpPr>
          <p:cNvPr id="10" name="Right Arrow 9"/>
          <p:cNvSpPr/>
          <p:nvPr/>
        </p:nvSpPr>
        <p:spPr>
          <a:xfrm>
            <a:off x="2557119" y="3108959"/>
            <a:ext cx="676656" cy="365760"/>
          </a:xfrm>
          <a:prstGeom prst="rightArrow">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3526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3069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898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ChipAgents</a:t>
            </a:r>
          </a:p>
        </p:txBody>
      </p:sp>
      <p:sp>
        <p:nvSpPr>
          <p:cNvPr id="14" name="TextBox 13"/>
          <p:cNvSpPr txBox="1"/>
          <p:nvPr/>
        </p:nvSpPr>
        <p:spPr>
          <a:xfrm>
            <a:off x="34898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半導体設計向けAIエージェント開発企業</a:t>
            </a:r>
          </a:p>
        </p:txBody>
      </p:sp>
      <p:sp>
        <p:nvSpPr>
          <p:cNvPr id="15" name="Right Arrow 14"/>
          <p:cNvSpPr/>
          <p:nvPr/>
        </p:nvSpPr>
        <p:spPr>
          <a:xfrm>
            <a:off x="5757519" y="3108959"/>
            <a:ext cx="676656" cy="365760"/>
          </a:xfrm>
          <a:prstGeom prst="rightArrow">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5530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5073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6902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半導体企業(顧客)</a:t>
            </a:r>
          </a:p>
        </p:txBody>
      </p:sp>
      <p:sp>
        <p:nvSpPr>
          <p:cNvPr id="19" name="TextBox 18"/>
          <p:cNvSpPr txBox="1"/>
          <p:nvPr/>
        </p:nvSpPr>
        <p:spPr>
          <a:xfrm>
            <a:off x="66902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120社超がAIエージェントを導入</a:t>
            </a:r>
          </a:p>
        </p:txBody>
      </p:sp>
      <p:sp>
        <p:nvSpPr>
          <p:cNvPr id="20" name="Right Arrow 19"/>
          <p:cNvSpPr/>
          <p:nvPr/>
        </p:nvSpPr>
        <p:spPr>
          <a:xfrm>
            <a:off x="8957919" y="3108959"/>
            <a:ext cx="676656" cy="365760"/>
          </a:xfrm>
          <a:prstGeom prst="rightArrow">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9753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97077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8906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エヌビディア</a:t>
            </a:r>
          </a:p>
        </p:txBody>
      </p:sp>
      <p:sp>
        <p:nvSpPr>
          <p:cNvPr id="24" name="TextBox 23"/>
          <p:cNvSpPr txBox="1"/>
          <p:nvPr/>
        </p:nvSpPr>
        <p:spPr>
          <a:xfrm>
            <a:off x="98906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チップ設計特化AIモデルを共同開発</a:t>
            </a:r>
          </a:p>
        </p:txBody>
      </p:sp>
      <p:sp>
        <p:nvSpPr>
          <p:cNvPr id="25" name="TextBox 24"/>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5A6474"/>
                </a:solidFill>
                <a:latin typeface="Yu Gothic"/>
              </a:rPr>
              <a:t>投資家から資金を受けたChipAgentsが、半導体企業へ製品を提供しつつエヌビディアと提携する構造</a:t>
            </a:r>
          </a:p>
        </p:txBody>
      </p:sp>
      <p:sp>
        <p:nvSpPr>
          <p:cNvPr id="26" name="TextBox 25"/>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BusinessWire / TheNextWeb</a:t>
            </a:r>
          </a:p>
        </p:txBody>
      </p:sp>
      <p:sp>
        <p:nvSpPr>
          <p:cNvPr id="27" name="TextBox 2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定期実行56本目</a:t>
            </a:r>
          </a:p>
        </p:txBody>
      </p:sp>
      <p:sp>
        <p:nvSpPr>
          <p:cNvPr id="28" name="TextBox 2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11 / 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ChipAgentsのAIエージェントが行う作業</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2B3A55"/>
                </a:solidFill>
                <a:latin typeface="Yu Gothic"/>
              </a:rPr>
              <a:t>計画</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回路設計・検証タスクの手順を自律的に計画する</a:t>
            </a:r>
          </a:p>
        </p:txBody>
      </p:sp>
      <p:sp>
        <p:nvSpPr>
          <p:cNvPr id="11" name="Chevron 10"/>
          <p:cNvSpPr/>
          <p:nvPr/>
        </p:nvSpPr>
        <p:spPr>
          <a:xfrm>
            <a:off x="4038295" y="3200400"/>
            <a:ext cx="234086" cy="365760"/>
          </a:xfrm>
          <a:prstGeom prst="chevron">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2B3A55"/>
                </a:solidFill>
                <a:latin typeface="Yu Gothic"/>
              </a:rPr>
              <a:t>実行</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RTL設計やデバッグ、検証作業を実行する</a:t>
            </a:r>
          </a:p>
        </p:txBody>
      </p:sp>
      <p:sp>
        <p:nvSpPr>
          <p:cNvPr id="17" name="Chevron 16"/>
          <p:cNvSpPr/>
          <p:nvPr/>
        </p:nvSpPr>
        <p:spPr>
          <a:xfrm>
            <a:off x="7919313" y="3200400"/>
            <a:ext cx="234086" cy="365760"/>
          </a:xfrm>
          <a:prstGeom prst="chevron">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2B3A55"/>
                </a:solidFill>
                <a:latin typeface="Yu Gothic"/>
              </a:rPr>
              <a:t>圧縮</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従来は数か月かかった作業を数日〜数時間に圧縮する</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定期実行56本目</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12 / 30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前回調達からの実績比較</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3759098"/>
                <a:gridCol w="3759098"/>
                <a:gridCol w="3759099"/>
              </a:tblGrid>
              <a:tr h="502920">
                <a:tc>
                  <a:txBody>
                    <a:bodyPr/>
                    <a:lstStyle/>
                    <a:p>
                      <a:pPr>
                        <a:defRPr sz="1300" b="1">
                          <a:solidFill>
                            <a:srgbClr val="FFFFFF"/>
                          </a:solidFill>
                          <a:latin typeface="Yu Gothic"/>
                        </a:defRPr>
                      </a:pPr>
                      <a:r>
                        <a:t>指標</a:t>
                      </a:r>
                    </a:p>
                  </a:txBody>
                  <a:tcPr>
                    <a:solidFill>
                      <a:srgbClr val="2B3A55"/>
                    </a:solidFill>
                  </a:tcPr>
                </a:tc>
                <a:tc>
                  <a:txBody>
                    <a:bodyPr/>
                    <a:lstStyle/>
                    <a:p>
                      <a:pPr>
                        <a:defRPr sz="1300" b="1">
                          <a:solidFill>
                            <a:srgbClr val="FFFFFF"/>
                          </a:solidFill>
                          <a:latin typeface="Yu Gothic"/>
                        </a:defRPr>
                      </a:pPr>
                      <a:r>
                        <a:t>2026年2月(シリーズA1後)</a:t>
                      </a:r>
                    </a:p>
                  </a:txBody>
                  <a:tcPr>
                    <a:solidFill>
                      <a:srgbClr val="2B3A55"/>
                    </a:solidFill>
                  </a:tcPr>
                </a:tc>
                <a:tc>
                  <a:txBody>
                    <a:bodyPr/>
                    <a:lstStyle/>
                    <a:p>
                      <a:pPr>
                        <a:defRPr sz="1300" b="1">
                          <a:solidFill>
                            <a:srgbClr val="FFFFFF"/>
                          </a:solidFill>
                          <a:latin typeface="Yu Gothic"/>
                        </a:defRPr>
                      </a:pPr>
                      <a:r>
                        <a:t>2026年7月(シリーズA2)</a:t>
                      </a:r>
                    </a:p>
                  </a:txBody>
                  <a:tcPr>
                    <a:solidFill>
                      <a:srgbClr val="2B3A55"/>
                    </a:solidFill>
                  </a:tcPr>
                </a:tc>
              </a:tr>
              <a:tr h="502920">
                <a:tc>
                  <a:txBody>
                    <a:bodyPr/>
                    <a:lstStyle/>
                    <a:p>
                      <a:pPr>
                        <a:defRPr sz="1200">
                          <a:solidFill>
                            <a:srgbClr val="1C2230"/>
                          </a:solidFill>
                          <a:latin typeface="Yu Gothic"/>
                        </a:defRPr>
                      </a:pPr>
                      <a:r>
                        <a:t>累計調達額</a:t>
                      </a:r>
                    </a:p>
                  </a:txBody>
                  <a:tcPr>
                    <a:solidFill>
                      <a:srgbClr val="FFFFFF"/>
                    </a:solidFill>
                  </a:tcPr>
                </a:tc>
                <a:tc>
                  <a:txBody>
                    <a:bodyPr/>
                    <a:lstStyle/>
                    <a:p>
                      <a:pPr>
                        <a:defRPr sz="1200">
                          <a:solidFill>
                            <a:srgbClr val="1C2230"/>
                          </a:solidFill>
                          <a:latin typeface="Yu Gothic"/>
                        </a:defRPr>
                      </a:pPr>
                      <a:r>
                        <a:t>7,400万ドル</a:t>
                      </a:r>
                    </a:p>
                  </a:txBody>
                  <a:tcPr>
                    <a:solidFill>
                      <a:srgbClr val="FFFFFF"/>
                    </a:solidFill>
                  </a:tcPr>
                </a:tc>
                <a:tc>
                  <a:txBody>
                    <a:bodyPr/>
                    <a:lstStyle/>
                    <a:p>
                      <a:pPr>
                        <a:defRPr sz="1200">
                          <a:solidFill>
                            <a:srgbClr val="1C2230"/>
                          </a:solidFill>
                          <a:latin typeface="Yu Gothic"/>
                        </a:defRPr>
                      </a:pPr>
                      <a:r>
                        <a:t>1.34億ドル</a:t>
                      </a:r>
                    </a:p>
                  </a:txBody>
                  <a:tcPr>
                    <a:solidFill>
                      <a:srgbClr val="FFFFFF"/>
                    </a:solidFill>
                  </a:tcPr>
                </a:tc>
              </a:tr>
              <a:tr h="502920">
                <a:tc>
                  <a:txBody>
                    <a:bodyPr/>
                    <a:lstStyle/>
                    <a:p>
                      <a:pPr>
                        <a:defRPr sz="1200">
                          <a:solidFill>
                            <a:srgbClr val="1C2230"/>
                          </a:solidFill>
                          <a:latin typeface="Yu Gothic"/>
                        </a:defRPr>
                      </a:pPr>
                      <a:r>
                        <a:t>ARR成長率</a:t>
                      </a:r>
                    </a:p>
                  </a:txBody>
                  <a:tcPr>
                    <a:solidFill>
                      <a:srgbClr val="F1F5FA"/>
                    </a:solidFill>
                  </a:tcPr>
                </a:tc>
                <a:tc>
                  <a:txBody>
                    <a:bodyPr/>
                    <a:lstStyle/>
                    <a:p>
                      <a:pPr>
                        <a:defRPr sz="1200">
                          <a:solidFill>
                            <a:srgbClr val="1C2230"/>
                          </a:solidFill>
                          <a:latin typeface="Yu Gothic"/>
                        </a:defRPr>
                      </a:pPr>
                      <a:r>
                        <a:t>前年同期比140倍</a:t>
                      </a:r>
                    </a:p>
                  </a:txBody>
                  <a:tcPr>
                    <a:solidFill>
                      <a:srgbClr val="F1F5FA"/>
                    </a:solidFill>
                  </a:tcPr>
                </a:tc>
                <a:tc>
                  <a:txBody>
                    <a:bodyPr/>
                    <a:lstStyle/>
                    <a:p>
                      <a:pPr>
                        <a:defRPr sz="1200">
                          <a:solidFill>
                            <a:srgbClr val="1C2230"/>
                          </a:solidFill>
                          <a:latin typeface="Yu Gothic"/>
                        </a:defRPr>
                      </a:pPr>
                      <a:r>
                        <a:t>半年で6倍</a:t>
                      </a:r>
                    </a:p>
                  </a:txBody>
                  <a:tcPr>
                    <a:solidFill>
                      <a:srgbClr val="F1F5FA"/>
                    </a:solidFill>
                  </a:tcPr>
                </a:tc>
              </a:tr>
              <a:tr h="502920">
                <a:tc>
                  <a:txBody>
                    <a:bodyPr/>
                    <a:lstStyle/>
                    <a:p>
                      <a:pPr>
                        <a:defRPr sz="1200">
                          <a:solidFill>
                            <a:srgbClr val="1C2230"/>
                          </a:solidFill>
                          <a:latin typeface="Yu Gothic"/>
                        </a:defRPr>
                      </a:pPr>
                      <a:r>
                        <a:t>導入企業数</a:t>
                      </a:r>
                    </a:p>
                  </a:txBody>
                  <a:tcPr>
                    <a:solidFill>
                      <a:srgbClr val="FFFFFF"/>
                    </a:solidFill>
                  </a:tcPr>
                </a:tc>
                <a:tc>
                  <a:txBody>
                    <a:bodyPr/>
                    <a:lstStyle/>
                    <a:p>
                      <a:pPr>
                        <a:defRPr sz="1200">
                          <a:solidFill>
                            <a:srgbClr val="1C2230"/>
                          </a:solidFill>
                          <a:latin typeface="Yu Gothic"/>
                        </a:defRPr>
                      </a:pPr>
                      <a:r>
                        <a:t>80社</a:t>
                      </a:r>
                    </a:p>
                  </a:txBody>
                  <a:tcPr>
                    <a:solidFill>
                      <a:srgbClr val="FFFFFF"/>
                    </a:solidFill>
                  </a:tcPr>
                </a:tc>
                <a:tc>
                  <a:txBody>
                    <a:bodyPr/>
                    <a:lstStyle/>
                    <a:p>
                      <a:pPr>
                        <a:defRPr sz="1200">
                          <a:solidFill>
                            <a:srgbClr val="1C2230"/>
                          </a:solidFill>
                          <a:latin typeface="Yu Gothic"/>
                        </a:defRPr>
                      </a:pPr>
                      <a:r>
                        <a:t>120社超</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Yahoo Finance / BusinessWire</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定期実行56本目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13 / 30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前提知識: 「AIエージェント」とは何か</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1つの質問に答えるだけでなく、複数の作業手順を自ら計画して実行するAI</a:t>
            </a:r>
          </a:p>
        </p:txBody>
      </p:sp>
      <p:sp>
        <p:nvSpPr>
          <p:cNvPr id="8" name="Oval 7"/>
          <p:cNvSpPr/>
          <p:nvPr/>
        </p:nvSpPr>
        <p:spPr>
          <a:xfrm>
            <a:off x="457200" y="225856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人が都度指示しなくても、目的に向けて一連のタスクをこなす点が特徴</a:t>
            </a:r>
          </a:p>
        </p:txBody>
      </p:sp>
      <p:sp>
        <p:nvSpPr>
          <p:cNvPr id="10" name="Oval 9"/>
          <p:cNvSpPr/>
          <p:nvPr/>
        </p:nvSpPr>
        <p:spPr>
          <a:xfrm>
            <a:off x="457200" y="30358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ChipAgentsの場合は、チップの回路設計・検証という専門作業が対象</a:t>
            </a:r>
          </a:p>
        </p:txBody>
      </p:sp>
      <p:sp>
        <p:nvSpPr>
          <p:cNvPr id="12" name="Oval 11"/>
          <p:cNvSpPr/>
          <p:nvPr/>
        </p:nvSpPr>
        <p:spPr>
          <a:xfrm>
            <a:off x="457200" y="38130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3" name="TextBox 12"/>
          <p:cNvSpPr txBox="1"/>
          <p:nvPr/>
        </p:nvSpPr>
        <p:spPr>
          <a:xfrm>
            <a:off x="960120" y="37947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「AIアシスタント」(人の指示待ち)との違いが、業界でも論点になっている</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定期実行56本目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14 / 30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3E4F5"/>
                </a:solidFill>
                <a:latin typeface="Yu Gothic"/>
              </a:rPr>
              <a:t>2026年上半期のARR成長率</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F8FD6"/>
                </a:solidFill>
                <a:latin typeface="Yu Gothic"/>
              </a:rPr>
              <a:t>6倍</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2026年上半期(H1)で年間経常収益(ARR)が6倍に成長</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9CB8D6"/>
                </a:solidFill>
                <a:latin typeface="Yu Gothic"/>
              </a:rPr>
              <a:t>出典: BusinessWire / Yahoo Finance(2026-07-29)</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継続参加・新規参加の投資家</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新規参加</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B Capital</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継続参加(半導体関連企業)</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Micron・MediaTek・Ericsson</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継続参加(ベンチャーキャピタル)</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Bessemer Venture Partners・ScOp</a:t>
            </a:r>
          </a:p>
        </p:txBody>
      </p:sp>
      <p:sp>
        <p:nvSpPr>
          <p:cNvPr id="18" name="TextBox 17"/>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BusinessWire / TechFundingNews(2026-07-29)</a:t>
            </a:r>
          </a:p>
        </p:txBody>
      </p:sp>
      <p:sp>
        <p:nvSpPr>
          <p:cNvPr id="19" name="TextBox 18"/>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定期実行56本目</a:t>
            </a:r>
          </a:p>
        </p:txBody>
      </p:sp>
      <p:sp>
        <p:nvSpPr>
          <p:cNvPr id="20" name="TextBox 19"/>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16 / 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「AIアシスタント」と「自律型AIエージェント」</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2B3A55"/>
                </a:solidFill>
                <a:latin typeface="Yu Gothic"/>
              </a:rPr>
              <a:t>AIアシスタント</a:t>
            </a:r>
          </a:p>
        </p:txBody>
      </p:sp>
      <p:sp>
        <p:nvSpPr>
          <p:cNvPr id="9" name="Oval 8"/>
          <p:cNvSpPr/>
          <p:nvPr/>
        </p:nvSpPr>
        <p:spPr>
          <a:xfrm>
            <a:off x="777240" y="253288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人が都度、具体的な指示を出す</a:t>
            </a:r>
          </a:p>
        </p:txBody>
      </p:sp>
      <p:sp>
        <p:nvSpPr>
          <p:cNvPr id="11" name="Oval 10"/>
          <p:cNvSpPr/>
          <p:nvPr/>
        </p:nvSpPr>
        <p:spPr>
          <a:xfrm>
            <a:off x="777240" y="308152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1つのタスクごとに人の確認が必要</a:t>
            </a:r>
          </a:p>
        </p:txBody>
      </p:sp>
      <p:sp>
        <p:nvSpPr>
          <p:cNvPr id="13" name="Oval 12"/>
          <p:cNvSpPr/>
          <p:nvPr/>
        </p:nvSpPr>
        <p:spPr>
          <a:xfrm>
            <a:off x="777240" y="363016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補助的な作業支援が中心</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2B3A55"/>
                </a:solidFill>
                <a:latin typeface="Yu Gothic"/>
              </a:rPr>
              <a:t>自律型AIエージェント(CEOの主張)</a:t>
            </a:r>
          </a:p>
        </p:txBody>
      </p:sp>
      <p:sp>
        <p:nvSpPr>
          <p:cNvPr id="18" name="Oval 17"/>
          <p:cNvSpPr/>
          <p:nvPr/>
        </p:nvSpPr>
        <p:spPr>
          <a:xfrm>
            <a:off x="6598767" y="253288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目的を伝えれば手順を自ら計画する</a:t>
            </a:r>
          </a:p>
        </p:txBody>
      </p:sp>
      <p:sp>
        <p:nvSpPr>
          <p:cNvPr id="20" name="Oval 19"/>
          <p:cNvSpPr/>
          <p:nvPr/>
        </p:nvSpPr>
        <p:spPr>
          <a:xfrm>
            <a:off x="6598767" y="308152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複数タスクを連続してこなす</a:t>
            </a:r>
          </a:p>
        </p:txBody>
      </p:sp>
      <p:sp>
        <p:nvSpPr>
          <p:cNvPr id="22" name="Oval 21"/>
          <p:cNvSpPr/>
          <p:nvPr/>
        </p:nvSpPr>
        <p:spPr>
          <a:xfrm>
            <a:off x="6598767" y="363016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意味のあるエンジニアリング成果物を出す</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定期実行56本目</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828800"/>
            <a:ext cx="9966960" cy="2560320"/>
          </a:xfrm>
          <a:prstGeom prst="rect">
            <a:avLst/>
          </a:prstGeom>
          <a:noFill/>
        </p:spPr>
        <p:txBody>
          <a:bodyPr wrap="square" anchor="ctr" lIns="0" rIns="0" tIns="0" bIns="0">
            <a:spAutoFit/>
          </a:bodyPr>
          <a:lstStyle/>
          <a:p>
            <a:pPr algn="l">
              <a:lnSpc>
                <a:spcPct val="125000"/>
              </a:lnSpc>
            </a:pPr>
            <a:r>
              <a:rPr sz="2800" b="1">
                <a:solidFill>
                  <a:srgbClr val="FFFFFF"/>
                </a:solidFill>
                <a:latin typeface="Yu Gothic"/>
              </a:rPr>
              <a:t>“AIアシスタントを超え、意味のあるエンジニアリング業務を実行できる自律的エージェントへ業界を導いている。顧客の成長はその転換への準備ができていることを示している”</a:t>
            </a:r>
          </a:p>
        </p:txBody>
      </p:sp>
      <p:sp>
        <p:nvSpPr>
          <p:cNvPr id="5" name="TextBox 4"/>
          <p:cNvSpPr txBox="1"/>
          <p:nvPr/>
        </p:nvSpPr>
        <p:spPr>
          <a:xfrm>
            <a:off x="1097280" y="4572000"/>
            <a:ext cx="9966960" cy="548640"/>
          </a:xfrm>
          <a:prstGeom prst="rect">
            <a:avLst/>
          </a:prstGeom>
          <a:noFill/>
        </p:spPr>
        <p:txBody>
          <a:bodyPr wrap="square" anchor="t" lIns="0" rIns="0" tIns="0" bIns="0">
            <a:spAutoFit/>
          </a:bodyPr>
          <a:lstStyle/>
          <a:p>
            <a:pPr algn="l"/>
            <a:r>
              <a:rPr sz="1600" b="0">
                <a:solidFill>
                  <a:srgbClr val="D3E4F5"/>
                </a:solidFill>
                <a:latin typeface="Yu Gothic"/>
              </a:rPr>
              <a:t>— ChipAgents創業者兼CEO William Wang氏(WebSearch経由の複数媒体要約、英語原文は一次確認できず)</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エヌビディアとの提携拡大</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従来の提携</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既存のパートナーシップ</a:t>
            </a:r>
          </a:p>
        </p:txBody>
      </p:sp>
      <p:sp>
        <p:nvSpPr>
          <p:cNvPr id="10" name="Right Arrow 9"/>
          <p:cNvSpPr/>
          <p:nvPr/>
        </p:nvSpPr>
        <p:spPr>
          <a:xfrm>
            <a:off x="4157319" y="3108959"/>
            <a:ext cx="676656" cy="365760"/>
          </a:xfrm>
          <a:prstGeom prst="rightArrow">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今回の拡大</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チップ設計特化AIモデルの共同開発</a:t>
            </a:r>
          </a:p>
        </p:txBody>
      </p:sp>
      <p:sp>
        <p:nvSpPr>
          <p:cNvPr id="15" name="Right Arrow 14"/>
          <p:cNvSpPr/>
          <p:nvPr/>
        </p:nvSpPr>
        <p:spPr>
          <a:xfrm>
            <a:off x="7357719" y="3108959"/>
            <a:ext cx="676656" cy="365760"/>
          </a:xfrm>
          <a:prstGeom prst="rightArrow">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投資家参加は非公表</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CEOはコメントを回避</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5A6474"/>
                </a:solidFill>
                <a:latin typeface="Yu Gothic"/>
              </a:rPr>
              <a:t>提携は拡大したが、エヌビディアが投資家として参加しているかは公表されていない</a:t>
            </a:r>
          </a:p>
        </p:txBody>
      </p:sp>
      <p:sp>
        <p:nvSpPr>
          <p:cNvPr id="21" name="TextBox 20"/>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Qz / TheNextWeb(2026-07-29)</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定期実行56本目</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19 / 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エヌビディア提携で分かっていること・いないこと</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分かっていること</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チップ設計特化AIモデルの共同開発を含む提携拡大</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分かっていないこと</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エヌビディアが出資しているかどうか(CEOは明言を回避)</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今後の注目点</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共同開発するAIモデルの詳細・提供時期の続報を待つ必要がある</a:t>
            </a:r>
          </a:p>
        </p:txBody>
      </p:sp>
      <p:sp>
        <p:nvSpPr>
          <p:cNvPr id="18" name="TextBox 17"/>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Qz / TheNextWeb(2026-07-29)</a:t>
            </a:r>
          </a:p>
        </p:txBody>
      </p:sp>
      <p:sp>
        <p:nvSpPr>
          <p:cNvPr id="19" name="TextBox 18"/>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定期実行56本目</a:t>
            </a:r>
          </a:p>
        </p:txBody>
      </p:sp>
      <p:sp>
        <p:nvSpPr>
          <p:cNvPr id="20" name="TextBox 19"/>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半導体×AIエージェントの直近の流れ(参考)</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時期</a:t>
                      </a:r>
                    </a:p>
                  </a:txBody>
                  <a:tcPr>
                    <a:solidFill>
                      <a:srgbClr val="2B3A55"/>
                    </a:solidFill>
                  </a:tcPr>
                </a:tc>
                <a:tc>
                  <a:txBody>
                    <a:bodyPr/>
                    <a:lstStyle/>
                    <a:p>
                      <a:pPr>
                        <a:defRPr sz="1300" b="1">
                          <a:solidFill>
                            <a:srgbClr val="FFFFFF"/>
                          </a:solidFill>
                          <a:latin typeface="Yu Gothic"/>
                        </a:defRPr>
                      </a:pPr>
                      <a:r>
                        <a:t>できごと</a:t>
                      </a:r>
                    </a:p>
                  </a:txBody>
                  <a:tcPr>
                    <a:solidFill>
                      <a:srgbClr val="2B3A55"/>
                    </a:solidFill>
                  </a:tcPr>
                </a:tc>
              </a:tr>
              <a:tr h="502920">
                <a:tc>
                  <a:txBody>
                    <a:bodyPr/>
                    <a:lstStyle/>
                    <a:p>
                      <a:pPr>
                        <a:defRPr sz="1200">
                          <a:solidFill>
                            <a:srgbClr val="1C2230"/>
                          </a:solidFill>
                          <a:latin typeface="Yu Gothic"/>
                        </a:defRPr>
                      </a:pPr>
                      <a:r>
                        <a:t>2026年2月</a:t>
                      </a:r>
                    </a:p>
                  </a:txBody>
                  <a:tcPr>
                    <a:solidFill>
                      <a:srgbClr val="FFFFFF"/>
                    </a:solidFill>
                  </a:tcPr>
                </a:tc>
                <a:tc>
                  <a:txBody>
                    <a:bodyPr/>
                    <a:lstStyle/>
                    <a:p>
                      <a:pPr>
                        <a:defRPr sz="1200">
                          <a:solidFill>
                            <a:srgbClr val="1C2230"/>
                          </a:solidFill>
                          <a:latin typeface="Yu Gothic"/>
                        </a:defRPr>
                      </a:pPr>
                      <a:r>
                        <a:t>ChipAgentsがシリーズA1で7,400万ドル調達、導入80社</a:t>
                      </a:r>
                    </a:p>
                  </a:txBody>
                  <a:tcPr>
                    <a:solidFill>
                      <a:srgbClr val="FFFFFF"/>
                    </a:solidFill>
                  </a:tcPr>
                </a:tc>
              </a:tr>
              <a:tr h="502920">
                <a:tc>
                  <a:txBody>
                    <a:bodyPr/>
                    <a:lstStyle/>
                    <a:p>
                      <a:pPr>
                        <a:defRPr sz="1200">
                          <a:solidFill>
                            <a:srgbClr val="1C2230"/>
                          </a:solidFill>
                          <a:latin typeface="Yu Gothic"/>
                        </a:defRPr>
                      </a:pPr>
                      <a:r>
                        <a:t>2026年上半期</a:t>
                      </a:r>
                    </a:p>
                  </a:txBody>
                  <a:tcPr>
                    <a:solidFill>
                      <a:srgbClr val="F1F5FA"/>
                    </a:solidFill>
                  </a:tcPr>
                </a:tc>
                <a:tc>
                  <a:txBody>
                    <a:bodyPr/>
                    <a:lstStyle/>
                    <a:p>
                      <a:pPr>
                        <a:defRPr sz="1200">
                          <a:solidFill>
                            <a:srgbClr val="1C2230"/>
                          </a:solidFill>
                          <a:latin typeface="Yu Gothic"/>
                        </a:defRPr>
                      </a:pPr>
                      <a:r>
                        <a:t>ARRが6倍に成長、導入企業が120社超に拡大</a:t>
                      </a:r>
                    </a:p>
                  </a:txBody>
                  <a:tcPr>
                    <a:solidFill>
                      <a:srgbClr val="F1F5FA"/>
                    </a:solidFill>
                  </a:tcPr>
                </a:tc>
              </a:tr>
              <a:tr h="502920">
                <a:tc>
                  <a:txBody>
                    <a:bodyPr/>
                    <a:lstStyle/>
                    <a:p>
                      <a:pPr>
                        <a:defRPr sz="1200">
                          <a:solidFill>
                            <a:srgbClr val="1C2230"/>
                          </a:solidFill>
                          <a:latin typeface="Yu Gothic"/>
                        </a:defRPr>
                      </a:pPr>
                      <a:r>
                        <a:t>2026年7月29日</a:t>
                      </a:r>
                    </a:p>
                  </a:txBody>
                  <a:tcPr>
                    <a:solidFill>
                      <a:srgbClr val="FFFFFF"/>
                    </a:solidFill>
                  </a:tcPr>
                </a:tc>
                <a:tc>
                  <a:txBody>
                    <a:bodyPr/>
                    <a:lstStyle/>
                    <a:p>
                      <a:pPr>
                        <a:defRPr sz="1200">
                          <a:solidFill>
                            <a:srgbClr val="1C2230"/>
                          </a:solidFill>
                          <a:latin typeface="Yu Gothic"/>
                        </a:defRPr>
                      </a:pPr>
                      <a:r>
                        <a:t>シリーズA2で累計1.34億ドルへ、エヌビディアとの提携拡大</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BusinessWire</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定期実行56本目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日本への関連(現時点で分かる範囲)</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投資家の日本拠点</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Micronは広島に大規模な製造拠点を持つ(投資家企業としての一般的な事実)</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ChipAgents自体の日本展開</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日本国内の顧客企業名・拠点の有無は一次情報で確認できていない</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今後の注目点</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日本の半導体企業からの導入発表があるかを継続的に確認する必要がある</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定期実行56本目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今回、確認できなかったこと</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301752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2B3A55"/>
                    </a:solidFill>
                  </a:tcPr>
                </a:tc>
                <a:tc>
                  <a:txBody>
                    <a:bodyPr/>
                    <a:lstStyle/>
                    <a:p>
                      <a:pPr>
                        <a:defRPr sz="1300" b="1">
                          <a:solidFill>
                            <a:srgbClr val="FFFFFF"/>
                          </a:solidFill>
                          <a:latin typeface="Yu Gothic"/>
                        </a:defRPr>
                      </a:pPr>
                      <a:r>
                        <a:t>状況</a:t>
                      </a:r>
                    </a:p>
                  </a:txBody>
                  <a:tcPr>
                    <a:solidFill>
                      <a:srgbClr val="2B3A55"/>
                    </a:solidFill>
                  </a:tcPr>
                </a:tc>
              </a:tr>
              <a:tr h="502920">
                <a:tc>
                  <a:txBody>
                    <a:bodyPr/>
                    <a:lstStyle/>
                    <a:p>
                      <a:pPr>
                        <a:defRPr sz="1200">
                          <a:solidFill>
                            <a:srgbClr val="1C2230"/>
                          </a:solidFill>
                          <a:latin typeface="Yu Gothic"/>
                        </a:defRPr>
                      </a:pPr>
                      <a:r>
                        <a:t>ChipAgentsの日本国内の顧客・拠点</a:t>
                      </a:r>
                    </a:p>
                  </a:txBody>
                  <a:tcPr>
                    <a:solidFill>
                      <a:srgbClr val="FFFFFF"/>
                    </a:solidFill>
                  </a:tcPr>
                </a:tc>
                <a:tc>
                  <a:txBody>
                    <a:bodyPr/>
                    <a:lstStyle/>
                    <a:p>
                      <a:pPr>
                        <a:defRPr sz="1200">
                          <a:solidFill>
                            <a:srgbClr val="1C2230"/>
                          </a:solidFill>
                          <a:latin typeface="Yu Gothic"/>
                        </a:defRPr>
                      </a:pPr>
                      <a:r>
                        <a:t>一次情報では確認できず</a:t>
                      </a:r>
                    </a:p>
                  </a:txBody>
                  <a:tcPr>
                    <a:solidFill>
                      <a:srgbClr val="FFFFFF"/>
                    </a:solidFill>
                  </a:tcPr>
                </a:tc>
              </a:tr>
              <a:tr h="502920">
                <a:tc>
                  <a:txBody>
                    <a:bodyPr/>
                    <a:lstStyle/>
                    <a:p>
                      <a:pPr>
                        <a:defRPr sz="1200">
                          <a:solidFill>
                            <a:srgbClr val="1C2230"/>
                          </a:solidFill>
                          <a:latin typeface="Yu Gothic"/>
                        </a:defRPr>
                      </a:pPr>
                      <a:r>
                        <a:t>エヌビディアが投資家として参加しているか</a:t>
                      </a:r>
                    </a:p>
                  </a:txBody>
                  <a:tcPr>
                    <a:solidFill>
                      <a:srgbClr val="F1F5FA"/>
                    </a:solidFill>
                  </a:tcPr>
                </a:tc>
                <a:tc>
                  <a:txBody>
                    <a:bodyPr/>
                    <a:lstStyle/>
                    <a:p>
                      <a:pPr>
                        <a:defRPr sz="1200">
                          <a:solidFill>
                            <a:srgbClr val="1C2230"/>
                          </a:solidFill>
                          <a:latin typeface="Yu Gothic"/>
                        </a:defRPr>
                      </a:pPr>
                      <a:r>
                        <a:t>CEOが明言を回避</a:t>
                      </a:r>
                    </a:p>
                  </a:txBody>
                  <a:tcPr>
                    <a:solidFill>
                      <a:srgbClr val="F1F5FA"/>
                    </a:solidFill>
                  </a:tcPr>
                </a:tc>
              </a:tr>
              <a:tr h="502920">
                <a:tc>
                  <a:txBody>
                    <a:bodyPr/>
                    <a:lstStyle/>
                    <a:p>
                      <a:pPr>
                        <a:defRPr sz="1200">
                          <a:solidFill>
                            <a:srgbClr val="1C2230"/>
                          </a:solidFill>
                          <a:latin typeface="Yu Gothic"/>
                        </a:defRPr>
                      </a:pPr>
                      <a:r>
                        <a:t>「120社超」の具体的な内訳</a:t>
                      </a:r>
                    </a:p>
                  </a:txBody>
                  <a:tcPr>
                    <a:solidFill>
                      <a:srgbClr val="FFFFFF"/>
                    </a:solidFill>
                  </a:tcPr>
                </a:tc>
                <a:tc>
                  <a:txBody>
                    <a:bodyPr/>
                    <a:lstStyle/>
                    <a:p>
                      <a:pPr>
                        <a:defRPr sz="1200">
                          <a:solidFill>
                            <a:srgbClr val="1C2230"/>
                          </a:solidFill>
                          <a:latin typeface="Yu Gothic"/>
                        </a:defRPr>
                      </a:pPr>
                      <a:r>
                        <a:t>MediaTek・Micron以外は非公表</a:t>
                      </a:r>
                    </a:p>
                  </a:txBody>
                  <a:tcPr>
                    <a:solidFill>
                      <a:srgbClr val="FFFFFF"/>
                    </a:solidFill>
                  </a:tcPr>
                </a:tc>
              </a:tr>
              <a:tr h="502920">
                <a:tc>
                  <a:txBody>
                    <a:bodyPr/>
                    <a:lstStyle/>
                    <a:p>
                      <a:pPr>
                        <a:defRPr sz="1200">
                          <a:solidFill>
                            <a:srgbClr val="1C2230"/>
                          </a:solidFill>
                          <a:latin typeface="Yu Gothic"/>
                        </a:defRPr>
                      </a:pPr>
                      <a:r>
                        <a:t>会社全体の評価額(バリュエーション)</a:t>
                      </a:r>
                    </a:p>
                  </a:txBody>
                  <a:tcPr>
                    <a:solidFill>
                      <a:srgbClr val="F1F5FA"/>
                    </a:solidFill>
                  </a:tcPr>
                </a:tc>
                <a:tc>
                  <a:txBody>
                    <a:bodyPr/>
                    <a:lstStyle/>
                    <a:p>
                      <a:pPr>
                        <a:defRPr sz="1200">
                          <a:solidFill>
                            <a:srgbClr val="1C2230"/>
                          </a:solidFill>
                          <a:latin typeface="Yu Gothic"/>
                        </a:defRPr>
                      </a:pPr>
                      <a:r>
                        <a:t>一次情報では確認できず</a:t>
                      </a:r>
                    </a:p>
                  </a:txBody>
                  <a:tcPr>
                    <a:solidFill>
                      <a:srgbClr val="F1F5FA"/>
                    </a:solidFill>
                  </a:tcPr>
                </a:tc>
              </a:tr>
              <a:tr h="502920">
                <a:tc>
                  <a:txBody>
                    <a:bodyPr/>
                    <a:lstStyle/>
                    <a:p>
                      <a:pPr>
                        <a:defRPr sz="1200">
                          <a:solidFill>
                            <a:srgbClr val="1C2230"/>
                          </a:solidFill>
                          <a:latin typeface="Yu Gothic"/>
                        </a:defRPr>
                      </a:pPr>
                      <a:r>
                        <a:t>CEOコメントの英語原文</a:t>
                      </a:r>
                    </a:p>
                  </a:txBody>
                  <a:tcPr>
                    <a:solidFill>
                      <a:srgbClr val="FFFFFF"/>
                    </a:solidFill>
                  </a:tcPr>
                </a:tc>
                <a:tc>
                  <a:txBody>
                    <a:bodyPr/>
                    <a:lstStyle/>
                    <a:p>
                      <a:pPr>
                        <a:defRPr sz="1200">
                          <a:solidFill>
                            <a:srgbClr val="1C2230"/>
                          </a:solidFill>
                          <a:latin typeface="Yu Gothic"/>
                        </a:defRPr>
                      </a:pPr>
                      <a:r>
                        <a:t>アクセス制限により複数媒体の要約経由</a:t>
                      </a:r>
                    </a:p>
                  </a:txBody>
                  <a:tcPr>
                    <a:solidFill>
                      <a:srgbClr val="FFFFFF"/>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定期実行56本目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23 / 30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半導体業界以外の人にも参考になる点</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「AIアシスタントから自律型エージェントへ」という主張は他業界にも応用できる視点</a:t>
            </a:r>
          </a:p>
        </p:txBody>
      </p:sp>
      <p:sp>
        <p:nvSpPr>
          <p:cNvPr id="8" name="Oval 7"/>
          <p:cNvSpPr/>
          <p:nvPr/>
        </p:nvSpPr>
        <p:spPr>
          <a:xfrm>
            <a:off x="457200" y="225856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投資家に実需企業(Micron・MediaTekなど)が並ぶ資金調達の形は参考になる</a:t>
            </a:r>
          </a:p>
        </p:txBody>
      </p:sp>
      <p:sp>
        <p:nvSpPr>
          <p:cNvPr id="10" name="Oval 9"/>
          <p:cNvSpPr/>
          <p:nvPr/>
        </p:nvSpPr>
        <p:spPr>
          <a:xfrm>
            <a:off x="457200" y="30358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半年で調達額・導入社数がともに拡大した成長ペースは事業計画の参考になる</a:t>
            </a:r>
          </a:p>
        </p:txBody>
      </p:sp>
      <p:sp>
        <p:nvSpPr>
          <p:cNvPr id="12" name="Oval 11"/>
          <p:cNvSpPr/>
          <p:nvPr/>
        </p:nvSpPr>
        <p:spPr>
          <a:xfrm>
            <a:off x="457200" y="38130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3" name="TextBox 12"/>
          <p:cNvSpPr txBox="1"/>
          <p:nvPr/>
        </p:nvSpPr>
        <p:spPr>
          <a:xfrm>
            <a:off x="960120" y="37947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専門性の高い業界でもAIエージェントの導入が具体的な数字で語られ始めている</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定期実行56本目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24 / 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このニュースをどう読み解くか</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2B3A55"/>
                </a:solidFill>
                <a:latin typeface="Yu Gothic"/>
              </a:rPr>
              <a:t>規模を見る</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1.34億ドル・ARR6倍という数字の大きさをまず把握する</a:t>
            </a:r>
          </a:p>
        </p:txBody>
      </p:sp>
      <p:sp>
        <p:nvSpPr>
          <p:cNvPr id="11" name="Chevron 10"/>
          <p:cNvSpPr/>
          <p:nvPr/>
        </p:nvSpPr>
        <p:spPr>
          <a:xfrm>
            <a:off x="4038295" y="3200400"/>
            <a:ext cx="234086" cy="365760"/>
          </a:xfrm>
          <a:prstGeom prst="chevron">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2B3A55"/>
                </a:solidFill>
                <a:latin typeface="Yu Gothic"/>
              </a:rPr>
              <a:t>変化を見る</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半年前からどう数字が変わったかを確認する</a:t>
            </a:r>
          </a:p>
        </p:txBody>
      </p:sp>
      <p:sp>
        <p:nvSpPr>
          <p:cNvPr id="17" name="Chevron 16"/>
          <p:cNvSpPr/>
          <p:nvPr/>
        </p:nvSpPr>
        <p:spPr>
          <a:xfrm>
            <a:off x="7919313" y="3200400"/>
            <a:ext cx="234086" cy="365760"/>
          </a:xfrm>
          <a:prstGeom prst="chevron">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2B3A55"/>
                </a:solidFill>
                <a:latin typeface="Yu Gothic"/>
              </a:rPr>
              <a:t>未確認点を見る</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エヌビディアの出資有無など、まだ分からない点を押さえる</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定期実行56本目</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想定される効果(ここからは推測)</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設計期間の短縮</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半導体企業の開発サイクルが短縮される可能性がある</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エンジニア不足への対応</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限られた人員でより多くの設計・検証業務をこなせる可能性がある</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業界内の導入格差</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早期導入企業とそうでない企業との間で差が生じる可能性がある</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定期実行56本目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26 / 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冷静に見る点、3つ</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「導入120社超」の具体的な内訳や利用度合いまでは公表されていない</a:t>
            </a:r>
          </a:p>
        </p:txBody>
      </p:sp>
      <p:sp>
        <p:nvSpPr>
          <p:cNvPr id="8" name="Oval 7"/>
          <p:cNvSpPr/>
          <p:nvPr/>
        </p:nvSpPr>
        <p:spPr>
          <a:xfrm>
            <a:off x="457200" y="225856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エヌビディアが投資家かどうかも含め、CEOが明言を避けた点が複数ある</a:t>
            </a:r>
          </a:p>
        </p:txBody>
      </p:sp>
      <p:sp>
        <p:nvSpPr>
          <p:cNvPr id="10" name="Oval 9"/>
          <p:cNvSpPr/>
          <p:nvPr/>
        </p:nvSpPr>
        <p:spPr>
          <a:xfrm>
            <a:off x="457200" y="30358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急成長が続いているが、これは一企業の発表数値であり業界全体の断定はできない</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定期実行56本目</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AIエージェントによる業界変化の広がり方(推測)</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先行導入</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2026年: 大手半導体企業が試験導入</a:t>
            </a:r>
          </a:p>
        </p:txBody>
      </p:sp>
      <p:sp>
        <p:nvSpPr>
          <p:cNvPr id="10" name="Right Arrow 9"/>
          <p:cNvSpPr/>
          <p:nvPr/>
        </p:nvSpPr>
        <p:spPr>
          <a:xfrm>
            <a:off x="4157319" y="3108959"/>
            <a:ext cx="676656" cy="365760"/>
          </a:xfrm>
          <a:prstGeom prst="rightArrow">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実績の蓄積</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ARR成長・導入社数の拡大として現れる(今回の発表)</a:t>
            </a:r>
          </a:p>
        </p:txBody>
      </p:sp>
      <p:sp>
        <p:nvSpPr>
          <p:cNvPr id="15" name="Right Arrow 14"/>
          <p:cNvSpPr/>
          <p:nvPr/>
        </p:nvSpPr>
        <p:spPr>
          <a:xfrm>
            <a:off x="7357719" y="3108959"/>
            <a:ext cx="676656" cy="365760"/>
          </a:xfrm>
          <a:prstGeom prst="rightArrow">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業界標準化</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他社への波及(推測)</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5A6474"/>
                </a:solidFill>
                <a:latin typeface="Yu Gothic"/>
              </a:rPr>
              <a:t>先行導入から実績の蓄積へという流れは今回の発表から読み取れる範囲の整理。業界標準化は推測</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定期実行56本目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28 / 30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今日の要点</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1F8FD6"/>
                </a:solidFill>
                <a:latin typeface="Yu Gothic"/>
              </a:rPr>
              <a:t>1.34億ドル</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2B3A55"/>
                </a:solidFill>
                <a:latin typeface="Yu Gothic"/>
              </a:rPr>
              <a:t>シリーズA累計調達額</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半年で7,400万ドルから拡大</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1F8FD6"/>
                </a:solidFill>
                <a:latin typeface="Yu Gothic"/>
              </a:rPr>
              <a:t>ARR6倍</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2B3A55"/>
                </a:solidFill>
                <a:latin typeface="Yu Gothic"/>
              </a:rPr>
              <a:t>2026年上半期の成長率</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半導体企業からの需要拡大を示す</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1F8FD6"/>
                </a:solidFill>
                <a:latin typeface="Yu Gothic"/>
              </a:rPr>
              <a:t>未公表</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2B3A55"/>
                </a:solidFill>
                <a:latin typeface="Yu Gothic"/>
              </a:rPr>
              <a:t>エヌビディアの出資有無</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提携は拡大したが出資の有無はCEOが明言を回避</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定期実行56本目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29 / 30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専門業界のAIエージェント導入を、数字で追いかける習慣を</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D3E4F5"/>
                </a:solidFill>
                <a:latin typeface="Yu Gothic"/>
              </a:rPr>
              <a:t>AIエージェントのニュースを見るときは、成長率・導入社数・未公表点を分けて確認しましょう</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2B3A55"/>
                </a:solidFill>
                <a:latin typeface="Yu Gothic"/>
              </a:rPr>
              <a:t>半導体業界に関わる方は、ChipAgentsの公式発表やエヌビディアとの提携の続報を継続的に確認してみてください</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