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こんにちは。今日取り上げるのは、2026年7月28日に発表された富士通の金融機関向け専有型AIプラットフォーム「Uvance for Finance AI Transformation Platform」です。地方銀行を中心に、融資審査や照会対応を支援するAIエージェントを展開する計画です。出典つきで整理していきます。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からです。富士通は2026年8月1日から金融機関向け専有型AIプラットフォームの開発を開始し、2027年3月の提供開始を予定しています。対象は国内の地方銀行を中心とした金融機関で、顧客理解AIエージェントや営業行動最適化AIエージェントなど複数のAIエージェントが連携するマルチAIエージェント構成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この動画を見ると、発表の概要、技術的な構成、支援する業務、ソブリンティという考え方、そして確認できなかったことまで分かります。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がどれくらい確かなのかにも触れておきます。富士通公式プレスリリースに加え、日本経済新聞、クラウドWatch、MarkeZineという独立した複数の媒体が同じ発表を報じています。なお、発表日は着手日の2日前で、本来の鮮度基準よりやや古いことも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話します。まず前提として、なぜ地方銀行に専有型AIが必要なのかを整理し、次に発表の中身、AIエージェントの仕組み、ソブリンティと共創エコシステム、最後に確認できなかったことについて話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として、金融機関のデータは特に高い機密性が求められ、地方銀行はIT専門人材を十分に確保しにくいという課題があります。さらにコスト増加も重なり、全社的・継続的にAIを活用する基盤の整備がこれまで進んでいなかった、という背景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発・提供のスケジュールを整理すると、2026年8月1日に開発を開始し、2027年3月にまず融資審査関連業務から提供を開始する予定です。その後、営業店業務・コンプライアンス・レポーティング・カスタマーサービス向けの機能を順次実装していく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中身をもう一度まとめます。金融機関向け専有型AIプラットフォームの開発開始という発表であり、実際の提供開始ではありません。そのため、導入実績や効果数値はまだ存在しない点に注意が必要です。富士通公式に加え、日本経済新聞やクラウドWatchといった媒体がこの発表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基盤技術の構成を整理すると、富士通独自の「Fujitsu Kozuchi Enterprise AI Factory」を基盤に、金融機関特有の商習慣・法制度・専門用語に対応した大規模言語モデル「Takane」を搭載し、ガードレール技術などのセキュリティ技術を組み合わせています。複数のAIエージェントが連携するマルチAIエージェント構成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ここで用語の位置づけを整理します。Uvanceは富士通の事業ブランドで、金融・製造・ヘルスケアなど業種別のプラットフォームを含みます。Kozuchiは富士通独自の企業向けAI開発基盤の名称です。Uvance for Financeは、UvanceブランドのうちKozuchiを基盤に構築する金融特化版という位置づけになります。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顧客理解AIエージェントが行うことを整理すると、顧客の取引履歴やニーズを分析し、融資審査に必要な情報を整理します。照会対応や文書作成の支援も行う想定です。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営業行動最適化AIエージェントが行うことを整理すると、営業担当者の行動データを分析し、最適な営業活動を提案します。顧客理解AIエージェントと連携しながら、業務特性に応じて自律的に処理を行う想定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連携を図で見てみます。顧客理解AIエージェントが取引履歴やニーズを分析し、営業行動最適化AIエージェントが最適な営業活動を提案します。この2つが連携して、融資審査・照会対応・文書作成といった業務を支援する構造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供開始後の展開を3ステップで見てみます。まず融資審査関連業務から提供を開始し、次に営業店業務・コンプライアンス・レポーティング向けの機能を実装します。最後にカスタマーサービス向けの機能を実装していく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ソブリンティ、つまりデータ主権とは何かを整理します。金融機関がデータや業務ルールの統制を専有環境で維持でき、セキュリティやガバナンス要件に応じてAIの利用状況やリスクを可視化・管理できる、という考え方です。金融データの機密性の高さから、外部クラウドに任せきりにできない事情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改めて数字を見てみましょう。提供開始予定時期は2027年3月です。まず融資審査関連業務から提供を開始する予定で、今回の発表時点ではまだ開発が始まったばかりの段階です。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創エコシステムについても整理します。複数の金融機関がプラットフォームに参加し、AIエージェントや業務ノウハウを蓄積・相互活用できる仕組みを目指しています。単発のシステム開発案件ではなく、プラットフォームビジネスとしての展開を意図していると考えられますが、これは推測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この違いを整理すると、従来は金融機関ごとに個別にシステムを構築し、ノウハウは各行内に閉じることが多く、AI活用の基盤整備は各行の負担が大きいものでした。それに対してUvance for Financeは、専有環境を保ちながら共通基盤を活用し、共創エコシステムでノウハウを相互活用する構想です。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想定される支援業務を一覧にすると、融資審査、照会対応、文書作成が挙げられています。営業店業務・コンプライアンス・レポーティングについては、提供開始後に順次機能を実装していく予定です。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課題認識について、分かっていることと分かっていないことを整理します。分かっているのは、機密性・人材不足・コスト増加という課題認識が発表で示されていること。分かっていないのは、具体的な導入予定行数や投資額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正直にお伝えします。今回の発表は着手日の2日前、つまり前々日のものです。本来は着手日・前日の発表を優先しますが、その時点で他に70点以上の候補が見つからなかったため、次点として記録していた本テーマを採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国内向けであることの意味を整理します。対象は国内の地方銀行が中心で、海外展開に関する言及は今回の発表では確認できていません。都市銀行より人材・IT投資余力が限られると考えられますが、これは推測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今回の調査で確認できなかったことを一覧にまとめます。投資額・費用規模、導入予定の金融機関名・行数、Takaneの詳細な技術仕様、経営陣のコメント、そして公式プレスリリースの本文全体。これらはいずれも一次情報からは確認できませんでした。数字を作らず、分からないことは分からないと申し上げ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外の方にも参考になる点があります。専有環境でデータ主権を保つという発想は、金融以外の機密性の高い業界にも応用できますし、複数のAIエージェントが役割分担して連携する設計も、他業務のAI活用の参考になります。「開発開始」と「提供開始」を区別して報道を読む姿勢も、参考にしていただければ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読み解く際は、まず「開発開始」であり「提供開始」ではないことを押さえ、次に大規模言語モデルTakane・マルチAIエージェント・ガードレール技術という技術構成を確認し、最後に投資額や導入行数など、まだ分からない点を押さえる、という3ステップで見ていくと整理しやす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融資審査や照会対応の処理時間が短縮される可能性がありますし、限られたIT人材でもAI活用ができるようになるかもしれません。同様の専有型AIプラットフォームを他のITベンダーが投入していく可能性もあります。これらはあくまで推測であり、断定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静に見ておきたい点が3つあります。1つ目は、本発表が開発開始であり、実際の導入実績や効果数値はまだ存在しないこと。2つ目は、投資額や導入予定行数など、具体的な規模感が公表されていないこと。3つ目は、本発表が着手日の2日前のものであり、より新しい情報がないか継続的な確認が必要な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金融機関のAI活用の広がり方を図にすると、専有型AI基盤の開発開始という現在のフェーズから、2027年3月以降の段階的な提供、その先の共創エコシステムへの拡大という流れが見えてきます。ただし、この先の広がり方はあくまで推測であることを明記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要点を3つにまとめます。2026年8月1日に開発を開始し、2027年3月の提供開始を予定しています。対象は国内の地方銀行を中心とした金融機関で、複数のAIエージェントが連携するマルチAIエージェント構成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今日は、富士通のUvance for Finance開発開始について、発表の段階・技術構成・鮮度という3つの軸で確認してきました。AIプラットフォームのニュースを見るときは、今日紹介したような視点で開発開始と提供開始を区別する習慣をつけてみてください。ここまでご覧いただき、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融資審査を支援する</a:t>
            </a:r>
          </a:p>
          <a:p>
            <a:pPr algn="l">
              <a:lnSpc>
                <a:spcPct val="115000"/>
              </a:lnSpc>
            </a:pPr>
            <a:r>
              <a:rPr sz="4200" b="1">
                <a:solidFill>
                  <a:srgbClr val="FFFFFF"/>
                </a:solidFill>
                <a:latin typeface="Yu Gothic"/>
              </a:rPr>
              <a:t>「銀行専用AI」が動き出す</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2026年7月28日発表「富士通 Uvance for Finance」開発開始から読み解く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AI Company OS 定期実行61本目 / 出典を明記し、不明点は不明と述べます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今回の結論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8月1日開発開始</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スケジュール</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2027年3月に提供開始予定</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地方銀行が対象</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想定顧客</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国内の地方銀行を中心とした金融機関</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マルチAIエージェント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技術構成</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顧客理解・営業行動最適化など複数のAIエージェントが連携</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富士通公式 / 日本経済新聞(2026-07-28)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何が発表されたのか、「開発開始」であり「提供開始」ではない点が分かる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このプラットフォームが技術的に何で構成されているかが分かる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どんな業務をどのAIエージェントが支援するのかが分かる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「ソブリンティ(データ主権)」とは何を指すのかが分かる</a:t>
            </a:r>
          </a:p>
        </p:txBody>
      </p:sp>
      <p:sp>
        <p:nvSpPr>
          <p:cNvPr id="14" name="Oval 13"/>
          <p:cNvSpPr/>
          <p:nvPr/>
        </p:nvSpPr>
        <p:spPr>
          <a:xfrm>
            <a:off x="457200" y="459028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調査で確認できなかったことも正直に共有します</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一次情報</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富士通公式プレスリリース(一次発表)を確認</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独立した複数メディア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日本経済新聞・クラウドWatch・MarkeZineが同じ発表を報道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鮮度についての正直な注記</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発表日は着手日の2日前(前々日)であり、より新しい候補が見つからなかったため採用した旨を明記します</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前提: なぜ地方銀行に専有型AIが必要なのか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発表の中身: スケジュールと基盤技術</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仕組み: どのAIエージェントが何を支援するか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ソブリンティ(データ主権)と共創エコシステム</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確認できなかったことと、このニュースの読み方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前提: なぜ地方銀行に専有型AIが必要か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機密性の高さ</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金融機関のデータは特に高い機密性が求められる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人材不足</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地方銀行はIT専門人材を十分に確保しにくい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コスト増加</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全社的・継続的にAIを活用する基盤の整備が進んでいなかった</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富士通公式 / 複数媒体経由の要約(2026-07-28)</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開発・提供のスケジュール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2026年8月1日</a:t>
                      </a:r>
                    </a:p>
                  </a:txBody>
                  <a:tcPr>
                    <a:solidFill>
                      <a:srgbClr val="FFFFFF"/>
                    </a:solidFill>
                  </a:tcPr>
                </a:tc>
                <a:tc>
                  <a:txBody>
                    <a:bodyPr/>
                    <a:lstStyle/>
                    <a:p>
                      <a:pPr>
                        <a:defRPr sz="1200">
                          <a:solidFill>
                            <a:srgbClr val="1C2230"/>
                          </a:solidFill>
                          <a:latin typeface="Yu Gothic"/>
                        </a:defRPr>
                      </a:pPr>
                      <a:r>
                        <a:t>開発開始</a:t>
                      </a:r>
                    </a:p>
                  </a:txBody>
                  <a:tcPr>
                    <a:solidFill>
                      <a:srgbClr val="FFFFFF"/>
                    </a:solidFill>
                  </a:tcPr>
                </a:tc>
              </a:tr>
              <a:tr h="502920">
                <a:tc>
                  <a:txBody>
                    <a:bodyPr/>
                    <a:lstStyle/>
                    <a:p>
                      <a:pPr>
                        <a:defRPr sz="1200">
                          <a:solidFill>
                            <a:srgbClr val="1C2230"/>
                          </a:solidFill>
                          <a:latin typeface="Yu Gothic"/>
                        </a:defRPr>
                      </a:pPr>
                      <a:r>
                        <a:t>2027年3月</a:t>
                      </a:r>
                    </a:p>
                  </a:txBody>
                  <a:tcPr>
                    <a:solidFill>
                      <a:srgbClr val="F1F5FA"/>
                    </a:solidFill>
                  </a:tcPr>
                </a:tc>
                <a:tc>
                  <a:txBody>
                    <a:bodyPr/>
                    <a:lstStyle/>
                    <a:p>
                      <a:pPr>
                        <a:defRPr sz="1200">
                          <a:solidFill>
                            <a:srgbClr val="1C2230"/>
                          </a:solidFill>
                          <a:latin typeface="Yu Gothic"/>
                        </a:defRPr>
                      </a:pPr>
                      <a:r>
                        <a:t>提供開始予定(まず融資審査関連業務から)</a:t>
                      </a:r>
                    </a:p>
                  </a:txBody>
                  <a:tcPr>
                    <a:solidFill>
                      <a:srgbClr val="F1F5FA"/>
                    </a:solidFill>
                  </a:tcPr>
                </a:tc>
              </a:tr>
              <a:tr h="502920">
                <a:tc>
                  <a:txBody>
                    <a:bodyPr/>
                    <a:lstStyle/>
                    <a:p>
                      <a:pPr>
                        <a:defRPr sz="1200">
                          <a:solidFill>
                            <a:srgbClr val="1C2230"/>
                          </a:solidFill>
                          <a:latin typeface="Yu Gothic"/>
                        </a:defRPr>
                      </a:pPr>
                      <a:r>
                        <a:t>提供開始後</a:t>
                      </a:r>
                    </a:p>
                  </a:txBody>
                  <a:tcPr>
                    <a:solidFill>
                      <a:srgbClr val="FFFFFF"/>
                    </a:solidFill>
                  </a:tcPr>
                </a:tc>
                <a:tc>
                  <a:txBody>
                    <a:bodyPr/>
                    <a:lstStyle/>
                    <a:p>
                      <a:pPr>
                        <a:defRPr sz="1200">
                          <a:solidFill>
                            <a:srgbClr val="1C2230"/>
                          </a:solidFill>
                          <a:latin typeface="Yu Gothic"/>
                        </a:defRPr>
                      </a:pPr>
                      <a:r>
                        <a:t>営業店業務・コンプライアンス・レポーティング・カスタマーサービス向け機能を順次実装</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クラウドWatch / EnterpriseZine(2026-07-28前後)</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何が発表されたか(2026年7月28日)</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発表内容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金融機関向け専有型AIプラットフォームの開発開始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「開発開始」であり「提供開始」ではない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実際の導入実績・効果数値はまだ存在しない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報じたメディア</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富士通公式に加え日本経済新聞・クラウドWatchなどが報道</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富士通公式 / 日本経済新聞(いずれも2026-07-28)</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基盤技術の構成</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要素</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基盤プラットフォーム</a:t>
                      </a:r>
                    </a:p>
                  </a:txBody>
                  <a:tcPr>
                    <a:solidFill>
                      <a:srgbClr val="FFFFFF"/>
                    </a:solidFill>
                  </a:tcPr>
                </a:tc>
                <a:tc>
                  <a:txBody>
                    <a:bodyPr/>
                    <a:lstStyle/>
                    <a:p>
                      <a:pPr>
                        <a:defRPr sz="1200">
                          <a:solidFill>
                            <a:srgbClr val="1C2230"/>
                          </a:solidFill>
                          <a:latin typeface="Yu Gothic"/>
                        </a:defRPr>
                      </a:pPr>
                      <a:r>
                        <a:t>富士通独自の「Fujitsu Kozuchi Enterprise AI Factory」</a:t>
                      </a:r>
                    </a:p>
                  </a:txBody>
                  <a:tcPr>
                    <a:solidFill>
                      <a:srgbClr val="FFFFFF"/>
                    </a:solidFill>
                  </a:tcPr>
                </a:tc>
              </a:tr>
              <a:tr h="502920">
                <a:tc>
                  <a:txBody>
                    <a:bodyPr/>
                    <a:lstStyle/>
                    <a:p>
                      <a:pPr>
                        <a:defRPr sz="1200">
                          <a:solidFill>
                            <a:srgbClr val="1C2230"/>
                          </a:solidFill>
                          <a:latin typeface="Yu Gothic"/>
                        </a:defRPr>
                      </a:pPr>
                      <a:r>
                        <a:t>大規模言語モデル</a:t>
                      </a:r>
                    </a:p>
                  </a:txBody>
                  <a:tcPr>
                    <a:solidFill>
                      <a:srgbClr val="F1F5FA"/>
                    </a:solidFill>
                  </a:tcPr>
                </a:tc>
                <a:tc>
                  <a:txBody>
                    <a:bodyPr/>
                    <a:lstStyle/>
                    <a:p>
                      <a:pPr>
                        <a:defRPr sz="1200">
                          <a:solidFill>
                            <a:srgbClr val="1C2230"/>
                          </a:solidFill>
                          <a:latin typeface="Yu Gothic"/>
                        </a:defRPr>
                      </a:pPr>
                      <a:r>
                        <a:t>金融機関特有の商習慣・法制度・専門用語に対応した「Takane」</a:t>
                      </a:r>
                    </a:p>
                  </a:txBody>
                  <a:tcPr>
                    <a:solidFill>
                      <a:srgbClr val="F1F5FA"/>
                    </a:solidFill>
                  </a:tcPr>
                </a:tc>
              </a:tr>
              <a:tr h="502920">
                <a:tc>
                  <a:txBody>
                    <a:bodyPr/>
                    <a:lstStyle/>
                    <a:p>
                      <a:pPr>
                        <a:defRPr sz="1200">
                          <a:solidFill>
                            <a:srgbClr val="1C2230"/>
                          </a:solidFill>
                          <a:latin typeface="Yu Gothic"/>
                        </a:defRPr>
                      </a:pPr>
                      <a:r>
                        <a:t>セキュリティ技術</a:t>
                      </a:r>
                    </a:p>
                  </a:txBody>
                  <a:tcPr>
                    <a:solidFill>
                      <a:srgbClr val="FFFFFF"/>
                    </a:solidFill>
                  </a:tcPr>
                </a:tc>
                <a:tc>
                  <a:txBody>
                    <a:bodyPr/>
                    <a:lstStyle/>
                    <a:p>
                      <a:pPr>
                        <a:defRPr sz="1200">
                          <a:solidFill>
                            <a:srgbClr val="1C2230"/>
                          </a:solidFill>
                          <a:latin typeface="Yu Gothic"/>
                        </a:defRPr>
                      </a:pPr>
                      <a:r>
                        <a:t>ガードレール技術など、生成AIの脆弱性に対応する技術</a:t>
                      </a:r>
                    </a:p>
                  </a:txBody>
                  <a:tcPr>
                    <a:solidFill>
                      <a:srgbClr val="FFFFFF"/>
                    </a:solidFill>
                  </a:tcPr>
                </a:tc>
              </a:tr>
              <a:tr h="502920">
                <a:tc>
                  <a:txBody>
                    <a:bodyPr/>
                    <a:lstStyle/>
                    <a:p>
                      <a:pPr>
                        <a:defRPr sz="1200">
                          <a:solidFill>
                            <a:srgbClr val="1C2230"/>
                          </a:solidFill>
                          <a:latin typeface="Yu Gothic"/>
                        </a:defRPr>
                      </a:pPr>
                      <a:r>
                        <a:t>エージェント構成</a:t>
                      </a:r>
                    </a:p>
                  </a:txBody>
                  <a:tcPr>
                    <a:solidFill>
                      <a:srgbClr val="F1F5FA"/>
                    </a:solidFill>
                  </a:tcPr>
                </a:tc>
                <a:tc>
                  <a:txBody>
                    <a:bodyPr/>
                    <a:lstStyle/>
                    <a:p>
                      <a:pPr>
                        <a:defRPr sz="1200">
                          <a:solidFill>
                            <a:srgbClr val="1C2230"/>
                          </a:solidFill>
                          <a:latin typeface="Yu Gothic"/>
                        </a:defRPr>
                      </a:pPr>
                      <a:r>
                        <a:t>業務特性に応じて自律的に処理する複数のAIエージェントが連携するマルチAIエージェント</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複数媒体経由の要約(2026-07-28)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「Uvance」と「Kozuchi」の位置づけ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Uvance</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富士通が展開する社会課題解決型の事業ブランド。金融・製造・ヘルスケア等の業種別プラットフォームを含む</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Kozuchi</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富士通独自の企業向けAI開発基盤「Enterprise AI Factory」の名称</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Uvance for Finance</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UvanceブランドのうちKozuchiを基盤に構築する金融特化版という位置づけ</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複数媒体経由の要約</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顧客理解AIエージェントが行うこと(想定)</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顧客の取引履歴・ニーズを分析する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融資審査に必要な情報を整理する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照会対応を支援する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文書作成を支援する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営業行動最適化AIエージェントが行うこと(想定)</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営業担当者の行動データを分析する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最適な営業活動を提案する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顧客理解AIエージェントと連携して動く</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業務特性に応じて自律的に処理を行う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AIエージェント連携の全体像</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顧客理解AIエージェント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取引履歴・ニーズを分析</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営業行動最適化AIエージェント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最適な営業活動を提案</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融資審査・照会対応・文書作成を支援</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複数のAIエージェントが連携して業務を支援</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顧客理解AIエージェントと営業行動最適化AIエージェントが連携する構造</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複数媒体経由の要約</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提供開始後の展開ステップ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第1段階</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まず融資審査関連業務から提供を開始する(2027年3月予定)</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第2段階</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営業店業務・コンプライアンス・レポーティング向け機能を実装する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第3段階</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カスタマーサービス向け機能を実装する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ソブリンティ(データ主権)とは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専有環境での統制</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金融機関がデータ・業務ルールの統制を専有環境で維持できる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可視化・管理</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セキュリティ・ガバナンス要件に応じてAIの利用状況・リスクを可視化・管理できる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なぜ重要か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金融データの機密性の高さから、外部クラウドに任せきりにできない事情がある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複数媒体経由の要約</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提供開始予定時期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2027年3月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まず融資審査関連業務から提供を開始する予定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クラウドWatch / EnterpriseZine(2026-07-28前後)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共創エコシステムとは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複数金融機関の参加</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複数の金融機関がプラットフォームに参加する構想</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ノウハウの蓄積・相互活用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AIエージェントや業務ノウハウを蓄積し、相互に活用できる仕組み</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ビジネス上の意味(推測)</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単発のシステム開発ではなく、プラットフォームビジネスとしての展開を意図していると考えられる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複数媒体経由の要約</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従来のシステム開発と、専有型AIプラットフォームの違い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従来の個別システム開発</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金融機関ごとに個別にシステムを構築</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ノウハウは各行内に閉じることが多い</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AI活用の基盤整備は各行の負担が大きい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Uvance for Financeの構想</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専有環境を保ちながら共通基盤を活用</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共創エコシステムでノウハウを相互活用</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富士通が基盤・LLM・エージェントを提供</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想定される支援業務の一覧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業務</a:t>
                      </a:r>
                    </a:p>
                  </a:txBody>
                  <a:tcPr>
                    <a:solidFill>
                      <a:srgbClr val="2B3A55"/>
                    </a:solidFill>
                  </a:tcPr>
                </a:tc>
                <a:tc>
                  <a:txBody>
                    <a:bodyPr/>
                    <a:lstStyle/>
                    <a:p>
                      <a:pPr>
                        <a:defRPr sz="1300" b="1">
                          <a:solidFill>
                            <a:srgbClr val="FFFFFF"/>
                          </a:solidFill>
                          <a:latin typeface="Yu Gothic"/>
                        </a:defRPr>
                      </a:pPr>
                      <a:r>
                        <a:t>支援内容</a:t>
                      </a:r>
                    </a:p>
                  </a:txBody>
                  <a:tcPr>
                    <a:solidFill>
                      <a:srgbClr val="2B3A55"/>
                    </a:solidFill>
                  </a:tcPr>
                </a:tc>
              </a:tr>
              <a:tr h="502920">
                <a:tc>
                  <a:txBody>
                    <a:bodyPr/>
                    <a:lstStyle/>
                    <a:p>
                      <a:pPr>
                        <a:defRPr sz="1200">
                          <a:solidFill>
                            <a:srgbClr val="1C2230"/>
                          </a:solidFill>
                          <a:latin typeface="Yu Gothic"/>
                        </a:defRPr>
                      </a:pPr>
                      <a:r>
                        <a:t>融資審査</a:t>
                      </a:r>
                    </a:p>
                  </a:txBody>
                  <a:tcPr>
                    <a:solidFill>
                      <a:srgbClr val="FFFFFF"/>
                    </a:solidFill>
                  </a:tcPr>
                </a:tc>
                <a:tc>
                  <a:txBody>
                    <a:bodyPr/>
                    <a:lstStyle/>
                    <a:p>
                      <a:pPr>
                        <a:defRPr sz="1200">
                          <a:solidFill>
                            <a:srgbClr val="1C2230"/>
                          </a:solidFill>
                          <a:latin typeface="Yu Gothic"/>
                        </a:defRPr>
                      </a:pPr>
                      <a:r>
                        <a:t>審査に必要な情報整理・判断支援</a:t>
                      </a:r>
                    </a:p>
                  </a:txBody>
                  <a:tcPr>
                    <a:solidFill>
                      <a:srgbClr val="FFFFFF"/>
                    </a:solidFill>
                  </a:tcPr>
                </a:tc>
              </a:tr>
              <a:tr h="502920">
                <a:tc>
                  <a:txBody>
                    <a:bodyPr/>
                    <a:lstStyle/>
                    <a:p>
                      <a:pPr>
                        <a:defRPr sz="1200">
                          <a:solidFill>
                            <a:srgbClr val="1C2230"/>
                          </a:solidFill>
                          <a:latin typeface="Yu Gothic"/>
                        </a:defRPr>
                      </a:pPr>
                      <a:r>
                        <a:t>照会対応</a:t>
                      </a:r>
                    </a:p>
                  </a:txBody>
                  <a:tcPr>
                    <a:solidFill>
                      <a:srgbClr val="F1F5FA"/>
                    </a:solidFill>
                  </a:tcPr>
                </a:tc>
                <a:tc>
                  <a:txBody>
                    <a:bodyPr/>
                    <a:lstStyle/>
                    <a:p>
                      <a:pPr>
                        <a:defRPr sz="1200">
                          <a:solidFill>
                            <a:srgbClr val="1C2230"/>
                          </a:solidFill>
                          <a:latin typeface="Yu Gothic"/>
                        </a:defRPr>
                      </a:pPr>
                      <a:r>
                        <a:t>顧客からの問い合わせへの対応支援</a:t>
                      </a:r>
                    </a:p>
                  </a:txBody>
                  <a:tcPr>
                    <a:solidFill>
                      <a:srgbClr val="F1F5FA"/>
                    </a:solidFill>
                  </a:tcPr>
                </a:tc>
              </a:tr>
              <a:tr h="502920">
                <a:tc>
                  <a:txBody>
                    <a:bodyPr/>
                    <a:lstStyle/>
                    <a:p>
                      <a:pPr>
                        <a:defRPr sz="1200">
                          <a:solidFill>
                            <a:srgbClr val="1C2230"/>
                          </a:solidFill>
                          <a:latin typeface="Yu Gothic"/>
                        </a:defRPr>
                      </a:pPr>
                      <a:r>
                        <a:t>文書作成</a:t>
                      </a:r>
                    </a:p>
                  </a:txBody>
                  <a:tcPr>
                    <a:solidFill>
                      <a:srgbClr val="FFFFFF"/>
                    </a:solidFill>
                  </a:tcPr>
                </a:tc>
                <a:tc>
                  <a:txBody>
                    <a:bodyPr/>
                    <a:lstStyle/>
                    <a:p>
                      <a:pPr>
                        <a:defRPr sz="1200">
                          <a:solidFill>
                            <a:srgbClr val="1C2230"/>
                          </a:solidFill>
                          <a:latin typeface="Yu Gothic"/>
                        </a:defRPr>
                      </a:pPr>
                      <a:r>
                        <a:t>業務に必要な文書の作成支援</a:t>
                      </a:r>
                    </a:p>
                  </a:txBody>
                  <a:tcPr>
                    <a:solidFill>
                      <a:srgbClr val="FFFFFF"/>
                    </a:solidFill>
                  </a:tcPr>
                </a:tc>
              </a:tr>
              <a:tr h="502920">
                <a:tc>
                  <a:txBody>
                    <a:bodyPr/>
                    <a:lstStyle/>
                    <a:p>
                      <a:pPr>
                        <a:defRPr sz="1200">
                          <a:solidFill>
                            <a:srgbClr val="1C2230"/>
                          </a:solidFill>
                          <a:latin typeface="Yu Gothic"/>
                        </a:defRPr>
                      </a:pPr>
                      <a:r>
                        <a:t>営業店業務・コンプライアンス・レポーティング</a:t>
                      </a:r>
                    </a:p>
                  </a:txBody>
                  <a:tcPr>
                    <a:solidFill>
                      <a:srgbClr val="F1F5FA"/>
                    </a:solidFill>
                  </a:tcPr>
                </a:tc>
                <a:tc>
                  <a:txBody>
                    <a:bodyPr/>
                    <a:lstStyle/>
                    <a:p>
                      <a:pPr>
                        <a:defRPr sz="1200">
                          <a:solidFill>
                            <a:srgbClr val="1C2230"/>
                          </a:solidFill>
                          <a:latin typeface="Yu Gothic"/>
                        </a:defRPr>
                      </a:pPr>
                      <a:r>
                        <a:t>提供開始後に順次機能実装予定</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複数媒体経由の要約</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課題認識について分かっていること・いないこと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分かっていること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機密性・人材不足・コスト増加という課題認識が発表で示されていること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分かっていないこと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具体的な導入予定行数・投資額・費用規模</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2027年3月の提供開始時に、実際の導入事例が公表されるかどうか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正直な報告: 鮮度についての注記</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発表日</a:t>
                      </a:r>
                    </a:p>
                  </a:txBody>
                  <a:tcPr>
                    <a:solidFill>
                      <a:srgbClr val="FFFFFF"/>
                    </a:solidFill>
                  </a:tcPr>
                </a:tc>
                <a:tc>
                  <a:txBody>
                    <a:bodyPr/>
                    <a:lstStyle/>
                    <a:p>
                      <a:pPr>
                        <a:defRPr sz="1200">
                          <a:solidFill>
                            <a:srgbClr val="1C2230"/>
                          </a:solidFill>
                          <a:latin typeface="Yu Gothic"/>
                        </a:defRPr>
                      </a:pPr>
                      <a:r>
                        <a:t>2026年7月28日</a:t>
                      </a:r>
                    </a:p>
                  </a:txBody>
                  <a:tcPr>
                    <a:solidFill>
                      <a:srgbClr val="FFFFFF"/>
                    </a:solidFill>
                  </a:tcPr>
                </a:tc>
              </a:tr>
              <a:tr h="502920">
                <a:tc>
                  <a:txBody>
                    <a:bodyPr/>
                    <a:lstStyle/>
                    <a:p>
                      <a:pPr>
                        <a:defRPr sz="1200">
                          <a:solidFill>
                            <a:srgbClr val="1C2230"/>
                          </a:solidFill>
                          <a:latin typeface="Yu Gothic"/>
                        </a:defRPr>
                      </a:pPr>
                      <a:r>
                        <a:t>着手日との差</a:t>
                      </a:r>
                    </a:p>
                  </a:txBody>
                  <a:tcPr>
                    <a:solidFill>
                      <a:srgbClr val="F1F5FA"/>
                    </a:solidFill>
                  </a:tcPr>
                </a:tc>
                <a:tc>
                  <a:txBody>
                    <a:bodyPr/>
                    <a:lstStyle/>
                    <a:p>
                      <a:pPr>
                        <a:defRPr sz="1200">
                          <a:solidFill>
                            <a:srgbClr val="1C2230"/>
                          </a:solidFill>
                          <a:latin typeface="Yu Gothic"/>
                        </a:defRPr>
                      </a:pPr>
                      <a:r>
                        <a:t>2日前(前々日)</a:t>
                      </a:r>
                    </a:p>
                  </a:txBody>
                  <a:tcPr>
                    <a:solidFill>
                      <a:srgbClr val="F1F5FA"/>
                    </a:solidFill>
                  </a:tcPr>
                </a:tc>
              </a:tr>
              <a:tr h="502920">
                <a:tc>
                  <a:txBody>
                    <a:bodyPr/>
                    <a:lstStyle/>
                    <a:p>
                      <a:pPr>
                        <a:defRPr sz="1200">
                          <a:solidFill>
                            <a:srgbClr val="1C2230"/>
                          </a:solidFill>
                          <a:latin typeface="Yu Gothic"/>
                        </a:defRPr>
                      </a:pPr>
                      <a:r>
                        <a:t>採用理由</a:t>
                      </a:r>
                    </a:p>
                  </a:txBody>
                  <a:tcPr>
                    <a:solidFill>
                      <a:srgbClr val="FFFFFF"/>
                    </a:solidFill>
                  </a:tcPr>
                </a:tc>
                <a:tc>
                  <a:txBody>
                    <a:bodyPr/>
                    <a:lstStyle/>
                    <a:p>
                      <a:pPr>
                        <a:defRPr sz="1200">
                          <a:solidFill>
                            <a:srgbClr val="1C2230"/>
                          </a:solidFill>
                          <a:latin typeface="Yu Gothic"/>
                        </a:defRPr>
                      </a:pPr>
                      <a:r>
                        <a:t>着手日・前日に他の70点以上のAI/エージェント系候補が見つからず、次点として記録していた本テーマを採用</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日本国内向けであることの意味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対象は国内地方銀行</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海外展開に関する言及は今回の発表では確認できていない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地方銀行特有の事情</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都市銀行より人材・IT投資余力が限られると考えられる(推測)</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実際に何行が導入するか、2027年3月以降の続報を確認する必要がある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開発・提供にかかる投資額・費用規模</a:t>
                      </a:r>
                    </a:p>
                  </a:txBody>
                  <a:tcPr>
                    <a:solidFill>
                      <a:srgbClr val="FFFFFF"/>
                    </a:solidFill>
                  </a:tcPr>
                </a:tc>
                <a:tc>
                  <a:txBody>
                    <a:bodyPr/>
                    <a:lstStyle/>
                    <a:p>
                      <a:pPr>
                        <a:defRPr sz="1200">
                          <a:solidFill>
                            <a:srgbClr val="1C2230"/>
                          </a:solidFill>
                          <a:latin typeface="Yu Gothic"/>
                        </a:defRPr>
                      </a:pPr>
                      <a:r>
                        <a:t>一次情報では確認できず</a:t>
                      </a:r>
                    </a:p>
                  </a:txBody>
                  <a:tcPr>
                    <a:solidFill>
                      <a:srgbClr val="FFFFFF"/>
                    </a:solidFill>
                  </a:tcPr>
                </a:tc>
              </a:tr>
              <a:tr h="502920">
                <a:tc>
                  <a:txBody>
                    <a:bodyPr/>
                    <a:lstStyle/>
                    <a:p>
                      <a:pPr>
                        <a:defRPr sz="1200">
                          <a:solidFill>
                            <a:srgbClr val="1C2230"/>
                          </a:solidFill>
                          <a:latin typeface="Yu Gothic"/>
                        </a:defRPr>
                      </a:pPr>
                      <a:r>
                        <a:t>導入を予定している具体的な金融機関名・行数</a:t>
                      </a:r>
                    </a:p>
                  </a:txBody>
                  <a:tcPr>
                    <a:solidFill>
                      <a:srgbClr val="F1F5FA"/>
                    </a:solidFill>
                  </a:tcPr>
                </a:tc>
                <a:tc>
                  <a:txBody>
                    <a:bodyPr/>
                    <a:lstStyle/>
                    <a:p>
                      <a:pPr>
                        <a:defRPr sz="1200">
                          <a:solidFill>
                            <a:srgbClr val="1C2230"/>
                          </a:solidFill>
                          <a:latin typeface="Yu Gothic"/>
                        </a:defRPr>
                      </a:pPr>
                      <a:r>
                        <a:t>一次情報では確認できず</a:t>
                      </a:r>
                    </a:p>
                  </a:txBody>
                  <a:tcPr>
                    <a:solidFill>
                      <a:srgbClr val="F1F5FA"/>
                    </a:solidFill>
                  </a:tcPr>
                </a:tc>
              </a:tr>
              <a:tr h="502920">
                <a:tc>
                  <a:txBody>
                    <a:bodyPr/>
                    <a:lstStyle/>
                    <a:p>
                      <a:pPr>
                        <a:defRPr sz="1200">
                          <a:solidFill>
                            <a:srgbClr val="1C2230"/>
                          </a:solidFill>
                          <a:latin typeface="Yu Gothic"/>
                        </a:defRPr>
                      </a:pPr>
                      <a:r>
                        <a:t>Takaneの詳細な技術仕様</a:t>
                      </a:r>
                    </a:p>
                  </a:txBody>
                  <a:tcPr>
                    <a:solidFill>
                      <a:srgbClr val="FFFFFF"/>
                    </a:solidFill>
                  </a:tcPr>
                </a:tc>
                <a:tc>
                  <a:txBody>
                    <a:bodyPr/>
                    <a:lstStyle/>
                    <a:p>
                      <a:pPr>
                        <a:defRPr sz="1200">
                          <a:solidFill>
                            <a:srgbClr val="1C2230"/>
                          </a:solidFill>
                          <a:latin typeface="Yu Gothic"/>
                        </a:defRPr>
                      </a:pPr>
                      <a:r>
                        <a:t>一次情報では確認できず</a:t>
                      </a:r>
                    </a:p>
                  </a:txBody>
                  <a:tcPr>
                    <a:solidFill>
                      <a:srgbClr val="FFFFFF"/>
                    </a:solidFill>
                  </a:tcPr>
                </a:tc>
              </a:tr>
              <a:tr h="502920">
                <a:tc>
                  <a:txBody>
                    <a:bodyPr/>
                    <a:lstStyle/>
                    <a:p>
                      <a:pPr>
                        <a:defRPr sz="1200">
                          <a:solidFill>
                            <a:srgbClr val="1C2230"/>
                          </a:solidFill>
                          <a:latin typeface="Yu Gothic"/>
                        </a:defRPr>
                      </a:pPr>
                      <a:r>
                        <a:t>富士通経営陣・担当役員のコメント</a:t>
                      </a:r>
                    </a:p>
                  </a:txBody>
                  <a:tcPr>
                    <a:solidFill>
                      <a:srgbClr val="F1F5FA"/>
                    </a:solidFill>
                  </a:tcPr>
                </a:tc>
                <a:tc>
                  <a:txBody>
                    <a:bodyPr/>
                    <a:lstStyle/>
                    <a:p>
                      <a:pPr>
                        <a:defRPr sz="1200">
                          <a:solidFill>
                            <a:srgbClr val="1C2230"/>
                          </a:solidFill>
                          <a:latin typeface="Yu Gothic"/>
                        </a:defRPr>
                      </a:pPr>
                      <a:r>
                        <a:t>検索した範囲では確認できず</a:t>
                      </a:r>
                    </a:p>
                  </a:txBody>
                  <a:tcPr>
                    <a:solidFill>
                      <a:srgbClr val="F1F5FA"/>
                    </a:solidFill>
                  </a:tcPr>
                </a:tc>
              </a:tr>
              <a:tr h="502920">
                <a:tc>
                  <a:txBody>
                    <a:bodyPr/>
                    <a:lstStyle/>
                    <a:p>
                      <a:pPr>
                        <a:defRPr sz="1200">
                          <a:solidFill>
                            <a:srgbClr val="1C2230"/>
                          </a:solidFill>
                          <a:latin typeface="Yu Gothic"/>
                        </a:defRPr>
                      </a:pPr>
                      <a:r>
                        <a:t>富士通公式プレスリリース原文の本文全体</a:t>
                      </a:r>
                    </a:p>
                  </a:txBody>
                  <a:tcPr>
                    <a:solidFill>
                      <a:srgbClr val="FFFFFF"/>
                    </a:solidFill>
                  </a:tcPr>
                </a:tc>
                <a:tc>
                  <a:txBody>
                    <a:bodyPr/>
                    <a:lstStyle/>
                    <a:p>
                      <a:pPr>
                        <a:defRPr sz="1200">
                          <a:solidFill>
                            <a:srgbClr val="1C2230"/>
                          </a:solidFill>
                          <a:latin typeface="Yu Gothic"/>
                        </a:defRPr>
                      </a:pPr>
                      <a:r>
                        <a:t>WebFetchのアクセス制限により複数媒体要約経由</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業界外の人にも参考になる点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「専有環境でデータ主権を保つ」という発想は、金融以外の機密性の高い業界にも応用できる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複数のAIエージェントが役割分担して連携する設計は、他業務のAI活用にも参考になる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「開発開始」と「提供開始」を区別して報道を読む姿勢は情報を読み解くうえで参考になる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複数企業が知見を共有し合う「共創エコシステム」という発想は他分野にも応用できる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このニュースをどう読み解くか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段階を見る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「開発開始」であり「提供開始」ではないことをまず押さえる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技術構成を見る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大規模言語モデルTakane・マルチAIエージェント・ガードレール技術を確認する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未確認点を見る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投資額や導入行数など、まだ分からない点を押さえる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想定される効果(ここからは推測)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業務効率化</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地方銀行への影響</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融資審査・照会対応の処理時間が短縮される可能性がある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人材不足への対応</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組織への影響</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限られたIT人材でもAI活用ができるようになる可能性がある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他社の追随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市場への影響</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同様の専有型AIプラットフォームを他のITベンダーが投入する可能性がある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冷静に見る点、3つ</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本発表は「開発開始」であり、実際の導入実績・効果数値はまだ存在しない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投資額・導入予定行数など、具体的な規模感は公表されていない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本発表は着手日の2日前のものであり、より新しい情報がないか継続的な確認が必要</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金融機関のAI活用の広がり方(推測)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専有型AI基盤の開発開始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現在のフェーズ(今回の発表)</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2027年3月から段階的に提供</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融資審査→営業店業務→カスタマーサービスの順</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共創エコシステムへ拡大(推測)</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複数金融機関の参加により事例が蓄積される可能性</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現在のフェーズから先の広がり方は推測であり、今回の発表から確認できる範囲ではない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今日の要点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8月1日開発開始</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スケジュール</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2027年3月に提供開始予定</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地方銀行が対象</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想定顧客</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国内の地方銀行を中心とした金融機関</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マルチAIエージェント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技術構成</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顧客理解・営業行動最適化など複数のAIエージェントが連携</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定期実行61本目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「開発開始」と「提供開始」を区別して見る習慣を</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AIプラットフォームのニュースを見るときは、発表の段階・技術構成・確認できていない点を分けて確認しましょう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金融機関のIT・DX業務に関わる方は、専有型AI基盤という選択肢の特徴を一度確認してみてください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