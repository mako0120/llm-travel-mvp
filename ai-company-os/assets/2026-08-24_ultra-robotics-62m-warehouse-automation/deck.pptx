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米国の倉庫自動化を目指すロボティクス企業Ultraが、約93億円規模の資金調達を行っていたことがSEC届出から明らかになりました。出典付きで整理してお届けします。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結論から確認します。UltraはSECにForm Dを届け出ており、募集総額は62.1百万ドルでした。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本日の流れです。企業概要から届出内容、ビジョン、そして確認できなかったことまで整理します。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着手日前日に報じられた、鮮度の高い話題です。Y Combinator出身企業という点も注目ポイントです。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届出によれば、募集総額62.1百万ドルのうち57.1百万ドルが販売済みと報告されています。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Ultraは、2024年に設立されたニューヨーク拠点のロボティクス企業で、Y Combinator出身です。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Form D届出の主な内容です。53名の投資家が参加したと記載されています。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UltraはY Combinatorの「Launch YC」プログラムを通じて注目を集めた企業です。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今回のラウンドには53名の投資家が参加したと届出に記載されています。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Ultraのロボットは、梱包・仕分け・キッティングといった倉庫内の作業を自動化することを目的としています。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Ultraのロボットは、梱包・仕分け・キッティングという倉庫内の複数タスクを対象としています。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 Form Dは、私募による資金調達を行う際にSECへ提出する届出書であり、企業の公式発表とは性質が異なります。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Ultraは、米国の倉庫自動化に向けて「次の100万台のロボット」を作るという大規模なビジョンを掲げています。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Ultraは2024年に設立された比較的新しい企業です。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設立から、Y Combinatorでの立ち上げ発表、そして今回のSEC届出という展開です。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SEC届出から確認できる情報を中心に整理しています。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募集総額62.1百万ドルに対し、販売済みは57.1百万ドルで、差は約5百万ドルです。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今回はSEC届出という形での情報であり、通常のプレスリリース発表とは性質が異なる点に注意が必要です。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倉庫自動化ロボットへの投資が拡大する中での事例として位置づけられます。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SEC届出という一次情報と、それを報じたAlleyWatchの記事を出典としています。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募集総額と販売済み額は異なる数字であり、混同しないよう区別しています。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Ultraの本社はニューヨーク州ニューヨーク市に所在しています。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本テーマは、SEC届出という一次情報から企業動向を読み解く事例として整理しています。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一般的な倉庫ロボット企業と比較すると、Ultraは掲げるビジョンの規模が大きい点が特徴です。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SEC届出によれば、Ultraは62.1百万ドルの募集を行い、57.1百万ドルが販売済みです。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本日はUltraの資金調達についてお届けしました。確認できなかったことは正直に開示しています。次回もお楽しみに。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「次の100万台の</a:t>
            </a:r>
          </a:p>
          <a:p>
            <a:pPr algn="l">
              <a:lnSpc>
                <a:spcPct val="115000"/>
              </a:lnSpc>
            </a:pPr>
            <a:r>
              <a:rPr sz="4200" b="1">
                <a:solidFill>
                  <a:srgbClr val="FFFFFF"/>
                </a:solidFill>
                <a:latin typeface="Yu Gothic"/>
              </a:rPr>
              <a:t>ロボット」目指す</a:t>
            </a:r>
          </a:p>
          <a:p>
            <a:pPr algn="l">
              <a:lnSpc>
                <a:spcPct val="115000"/>
              </a:lnSpc>
            </a:pPr>
            <a:r>
              <a:rPr sz="4200" b="1">
                <a:solidFill>
                  <a:srgbClr val="FFFFFF"/>
                </a:solidFill>
                <a:latin typeface="Yu Gothic"/>
              </a:rPr>
              <a:t>Ultraが約93億円調達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SEC Form D届出から見えてきた資金調達——出典付きで整理する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AlleyWatch(2026年8月24日)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62.1百万ドル SEC Form Dによる募集総額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AI活用の倉庫自動化ロボット企業Ultra</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SEC EDGAR Form D(2026-08-21)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Ultraとは何か、基本情報を確認する</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SEC Form D届出の内容を確認する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倉庫自動化AIロボットのビジョン</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AlleyWatchが2026年8月24日付でSEC届出を報じた鮮度の高い話題</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Y Combinator出身のAI×ロボティクス企業という注目度の高さ</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「次の100万台のロボット」という壮大なビジョンの話題性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AlleyWatch(2026-08-24)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販売済みの金額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57.1百万ドル 届出上の販売済み金額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募集総額62.1百万ドルのうち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SEC EDGAR Form D(2026-08-21)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Ultraとは何か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米ニューヨーク州ニューヨーク市拠点のロボティクス企業</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2024年設立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Y Combinatorのプログラムを通じて立ち上げられた企業</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 Combinator公式ページ</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SEC Form D届出の内容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届出日</a:t>
                      </a:r>
                    </a:p>
                  </a:txBody>
                  <a:tcPr>
                    <a:solidFill>
                      <a:srgbClr val="FFFFFF"/>
                    </a:solidFill>
                  </a:tcPr>
                </a:tc>
                <a:tc>
                  <a:txBody>
                    <a:bodyPr/>
                    <a:lstStyle/>
                    <a:p>
                      <a:pPr>
                        <a:defRPr sz="1200">
                          <a:solidFill>
                            <a:srgbClr val="1C1B33"/>
                          </a:solidFill>
                          <a:latin typeface="Yu Gothic"/>
                        </a:defRPr>
                      </a:pPr>
                      <a:r>
                        <a:t>2026年8月21日</a:t>
                      </a:r>
                    </a:p>
                  </a:txBody>
                  <a:tcPr>
                    <a:solidFill>
                      <a:srgbClr val="FFFFFF"/>
                    </a:solidFill>
                  </a:tcPr>
                </a:tc>
              </a:tr>
              <a:tr h="502920">
                <a:tc>
                  <a:txBody>
                    <a:bodyPr/>
                    <a:lstStyle/>
                    <a:p>
                      <a:pPr>
                        <a:defRPr sz="1200">
                          <a:solidFill>
                            <a:srgbClr val="1C1B33"/>
                          </a:solidFill>
                          <a:latin typeface="Yu Gothic"/>
                        </a:defRPr>
                      </a:pPr>
                      <a:r>
                        <a:t>募集総額</a:t>
                      </a:r>
                    </a:p>
                  </a:txBody>
                  <a:tcPr>
                    <a:solidFill>
                      <a:srgbClr val="F4F3FC"/>
                    </a:solidFill>
                  </a:tcPr>
                </a:tc>
                <a:tc>
                  <a:txBody>
                    <a:bodyPr/>
                    <a:lstStyle/>
                    <a:p>
                      <a:pPr>
                        <a:defRPr sz="1200">
                          <a:solidFill>
                            <a:srgbClr val="1C1B33"/>
                          </a:solidFill>
                          <a:latin typeface="Yu Gothic"/>
                        </a:defRPr>
                      </a:pPr>
                      <a:r>
                        <a:t>62.1百万ドル</a:t>
                      </a:r>
                    </a:p>
                  </a:txBody>
                  <a:tcPr>
                    <a:solidFill>
                      <a:srgbClr val="F4F3FC"/>
                    </a:solidFill>
                  </a:tcPr>
                </a:tc>
              </a:tr>
              <a:tr h="502920">
                <a:tc>
                  <a:txBody>
                    <a:bodyPr/>
                    <a:lstStyle/>
                    <a:p>
                      <a:pPr>
                        <a:defRPr sz="1200">
                          <a:solidFill>
                            <a:srgbClr val="1C1B33"/>
                          </a:solidFill>
                          <a:latin typeface="Yu Gothic"/>
                        </a:defRPr>
                      </a:pPr>
                      <a:r>
                        <a:t>販売済み金額</a:t>
                      </a:r>
                    </a:p>
                  </a:txBody>
                  <a:tcPr>
                    <a:solidFill>
                      <a:srgbClr val="FFFFFF"/>
                    </a:solidFill>
                  </a:tcPr>
                </a:tc>
                <a:tc>
                  <a:txBody>
                    <a:bodyPr/>
                    <a:lstStyle/>
                    <a:p>
                      <a:pPr>
                        <a:defRPr sz="1200">
                          <a:solidFill>
                            <a:srgbClr val="1C1B33"/>
                          </a:solidFill>
                          <a:latin typeface="Yu Gothic"/>
                        </a:defRPr>
                      </a:pPr>
                      <a:r>
                        <a:t>57.1百万ドル</a:t>
                      </a:r>
                    </a:p>
                  </a:txBody>
                  <a:tcPr>
                    <a:solidFill>
                      <a:srgbClr val="FFFFFF"/>
                    </a:solidFill>
                  </a:tcPr>
                </a:tc>
              </a:tr>
              <a:tr h="502920">
                <a:tc>
                  <a:txBody>
                    <a:bodyPr/>
                    <a:lstStyle/>
                    <a:p>
                      <a:pPr>
                        <a:defRPr sz="1200">
                          <a:solidFill>
                            <a:srgbClr val="1C1B33"/>
                          </a:solidFill>
                          <a:latin typeface="Yu Gothic"/>
                        </a:defRPr>
                      </a:pPr>
                      <a:r>
                        <a:t>参加投資家数</a:t>
                      </a:r>
                    </a:p>
                  </a:txBody>
                  <a:tcPr>
                    <a:solidFill>
                      <a:srgbClr val="F4F3FC"/>
                    </a:solidFill>
                  </a:tcPr>
                </a:tc>
                <a:tc>
                  <a:txBody>
                    <a:bodyPr/>
                    <a:lstStyle/>
                    <a:p>
                      <a:pPr>
                        <a:defRPr sz="1200">
                          <a:solidFill>
                            <a:srgbClr val="1C1B33"/>
                          </a:solidFill>
                          <a:latin typeface="Yu Gothic"/>
                        </a:defRPr>
                      </a:pPr>
                      <a:r>
                        <a:t>53名</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SEC EDGAR Form D(2026-08-21)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Y Combinator出身という背景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「Launch YC」プログラムを通じて立ち上げが発表された企業</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米国の倉庫を自動化する「次の100万台のロボット」を作ることを掲げる</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AIを活用した産業用ロボットの製造・展開を手がける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 Combinator公式ページ</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参加投資家数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53名 今回の届出における投資家数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具体的な投資家名は確認できていない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SEC EDGAR Form D(2026-08-21)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倉庫自動化AIロボットとは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注文の梱包(パッケージング)を自動化するロボット</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商品の仕分け(ソーティング)を自動化するロボット</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キッティング(セット組み)作業を自動化するロボット</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Ultra公式サイト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倉庫自動化の対象範囲(概念図)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注文の梱包</a:t>
            </a:r>
          </a:p>
        </p:txBody>
      </p:sp>
      <p:sp>
        <p:nvSpPr>
          <p:cNvPr id="9" name="Right Arrow 8"/>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商品の仕分け</a:t>
            </a:r>
          </a:p>
        </p:txBody>
      </p:sp>
      <p:sp>
        <p:nvSpPr>
          <p:cNvPr id="13" name="Right Arrow 12"/>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キッティング作業</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AIを活用した産業用ロボットが倉庫内の複数タスクを担う</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SEC Form Dとは何か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説明</a:t>
                      </a:r>
                    </a:p>
                  </a:txBody>
                  <a:tcPr>
                    <a:solidFill>
                      <a:srgbClr val="2E2A72"/>
                    </a:solidFill>
                  </a:tcPr>
                </a:tc>
              </a:tr>
              <a:tr h="502920">
                <a:tc>
                  <a:txBody>
                    <a:bodyPr/>
                    <a:lstStyle/>
                    <a:p>
                      <a:pPr>
                        <a:defRPr sz="1200">
                          <a:solidFill>
                            <a:srgbClr val="1C1B33"/>
                          </a:solidFill>
                          <a:latin typeface="Yu Gothic"/>
                        </a:defRPr>
                      </a:pPr>
                      <a:r>
                        <a:t>Form Dとは</a:t>
                      </a:r>
                    </a:p>
                  </a:txBody>
                  <a:tcPr>
                    <a:solidFill>
                      <a:srgbClr val="FFFFFF"/>
                    </a:solidFill>
                  </a:tcPr>
                </a:tc>
                <a:tc>
                  <a:txBody>
                    <a:bodyPr/>
                    <a:lstStyle/>
                    <a:p>
                      <a:pPr>
                        <a:defRPr sz="1200">
                          <a:solidFill>
                            <a:srgbClr val="1C1B33"/>
                          </a:solidFill>
                          <a:latin typeface="Yu Gothic"/>
                        </a:defRPr>
                      </a:pPr>
                      <a:r>
                        <a:t>米国で私募による資金調達を行う企業が提出する適用除外募集届出書</a:t>
                      </a:r>
                    </a:p>
                  </a:txBody>
                  <a:tcPr>
                    <a:solidFill>
                      <a:srgbClr val="FFFFFF"/>
                    </a:solidFill>
                  </a:tcPr>
                </a:tc>
              </a:tr>
              <a:tr h="502920">
                <a:tc>
                  <a:txBody>
                    <a:bodyPr/>
                    <a:lstStyle/>
                    <a:p>
                      <a:pPr>
                        <a:defRPr sz="1200">
                          <a:solidFill>
                            <a:srgbClr val="1C1B33"/>
                          </a:solidFill>
                          <a:latin typeface="Yu Gothic"/>
                        </a:defRPr>
                      </a:pPr>
                      <a:r>
                        <a:t>公式発表との違い</a:t>
                      </a:r>
                    </a:p>
                  </a:txBody>
                  <a:tcPr>
                    <a:solidFill>
                      <a:srgbClr val="F4F3FC"/>
                    </a:solidFill>
                  </a:tcPr>
                </a:tc>
                <a:tc>
                  <a:txBody>
                    <a:bodyPr/>
                    <a:lstStyle/>
                    <a:p>
                      <a:pPr>
                        <a:defRPr sz="1200">
                          <a:solidFill>
                            <a:srgbClr val="1C1B33"/>
                          </a:solidFill>
                          <a:latin typeface="Yu Gothic"/>
                        </a:defRPr>
                      </a:pPr>
                      <a:r>
                        <a:t>企業からのプレスリリース等による正式な調達完了発表とは異なる</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「次の100万台」というビジョン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米国の倉庫を自動化する「次の100万台のロボット」を作ると掲げる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倉庫自動化市場の急拡大を見据えた大規模なビジョン</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具体的な導入実績・顧客企業名は確認できていない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 Combinator公式ページ</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設立年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2024年設立 ニューヨーク拠点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Y Combinator出身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 Combinator公式ページ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設立からの展開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2024年</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ニューヨークで設立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Y Combinator</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Launch YCプログラムで立ち上げを発表</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2026年8月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SEC Form D届出(62.1百万ドル)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確定していること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SEC届出上の募集総額・販売済み金額・投資家数</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企業の設立年・拠点・事業内容</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Y Combinator出身であること</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確定</a:t>
                      </a:r>
                    </a:p>
                  </a:txBody>
                  <a:tcPr>
                    <a:solidFill>
                      <a:srgbClr val="FFFFFF"/>
                    </a:solidFill>
                  </a:tcPr>
                </a:tc>
                <a:tc>
                  <a:txBody>
                    <a:bodyPr/>
                    <a:lstStyle/>
                    <a:p>
                      <a:pPr>
                        <a:defRPr sz="1200">
                          <a:solidFill>
                            <a:srgbClr val="1C1B33"/>
                          </a:solidFill>
                          <a:latin typeface="Yu Gothic"/>
                        </a:defRPr>
                      </a:pPr>
                      <a:r>
                        <a:t>募集総額・販売済み金額・投資家数(SEC届出ベース)</a:t>
                      </a:r>
                    </a:p>
                  </a:txBody>
                  <a:tcPr>
                    <a:solidFill>
                      <a:srgbClr val="FFFFFF"/>
                    </a:solidFill>
                  </a:tcPr>
                </a:tc>
              </a:tr>
              <a:tr h="502920">
                <a:tc>
                  <a:txBody>
                    <a:bodyPr/>
                    <a:lstStyle/>
                    <a:p>
                      <a:pPr>
                        <a:defRPr sz="1200">
                          <a:solidFill>
                            <a:srgbClr val="1C1B33"/>
                          </a:solidFill>
                          <a:latin typeface="Yu Gothic"/>
                        </a:defRPr>
                      </a:pPr>
                      <a:r>
                        <a:t>確定</a:t>
                      </a:r>
                    </a:p>
                  </a:txBody>
                  <a:tcPr>
                    <a:solidFill>
                      <a:srgbClr val="F4F3FC"/>
                    </a:solidFill>
                  </a:tcPr>
                </a:tc>
                <a:tc>
                  <a:txBody>
                    <a:bodyPr/>
                    <a:lstStyle/>
                    <a:p>
                      <a:pPr>
                        <a:defRPr sz="1200">
                          <a:solidFill>
                            <a:srgbClr val="1C1B33"/>
                          </a:solidFill>
                          <a:latin typeface="Yu Gothic"/>
                        </a:defRPr>
                      </a:pPr>
                      <a:r>
                        <a:t>企業の設立年・拠点・事業内容</a:t>
                      </a:r>
                    </a:p>
                  </a:txBody>
                  <a:tcPr>
                    <a:solidFill>
                      <a:srgbClr val="F4F3FC"/>
                    </a:solidFill>
                  </a:tcPr>
                </a:tc>
              </a:tr>
              <a:tr h="502920">
                <a:tc>
                  <a:txBody>
                    <a:bodyPr/>
                    <a:lstStyle/>
                    <a:p>
                      <a:pPr>
                        <a:defRPr sz="1200">
                          <a:solidFill>
                            <a:srgbClr val="1C1B33"/>
                          </a:solidFill>
                          <a:latin typeface="Yu Gothic"/>
                        </a:defRPr>
                      </a:pPr>
                      <a:r>
                        <a:t>未確認</a:t>
                      </a:r>
                    </a:p>
                  </a:txBody>
                  <a:tcPr>
                    <a:solidFill>
                      <a:srgbClr val="FFFFFF"/>
                    </a:solidFill>
                  </a:tcPr>
                </a:tc>
                <a:tc>
                  <a:txBody>
                    <a:bodyPr/>
                    <a:lstStyle/>
                    <a:p>
                      <a:pPr>
                        <a:defRPr sz="1200">
                          <a:solidFill>
                            <a:srgbClr val="1C1B33"/>
                          </a:solidFill>
                          <a:latin typeface="Yu Gothic"/>
                        </a:defRPr>
                      </a:pPr>
                      <a:r>
                        <a:t>ラウンド名称・具体的な評価額・リード投資家名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今回のラウンドの名称(シード・シリーズA等の区分)</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具体的な企業評価額、リード投資家・参加投資家の具体名</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倉庫自動化ロボットの導入実績・顧客企業名</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募集総額と販売済み額の差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5百万ドル 募集総額と販売済み額の差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62.1百万ドルの募集に対し57.1百万ドルが販売済み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SEC EDGAR Form D(2026-08-21)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SEC Form D届出 vs 通常のプレスリリース発表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SEC Form D届出</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法定の適用除外募集届出書</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企業からの公式コメントは伴わない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通常のプレスリリース発表</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企業自身が調達完了を公表</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評価額や投資家名が明記されることが多い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倉庫自動化業界の背景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eコマース拡大に伴い倉庫作業の自動化需要が世界的に拡大</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AIを活用した産業用ロボットへの投資が活発化</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Y Combinator出身のロボティクス企業への注目度が高まっている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主要出典の一覧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2E2A72"/>
                    </a:solidFill>
                  </a:tcPr>
                </a:tc>
                <a:tc>
                  <a:txBody>
                    <a:bodyPr/>
                    <a:lstStyle/>
                    <a:p>
                      <a:pPr>
                        <a:defRPr sz="1300" b="1">
                          <a:solidFill>
                            <a:srgbClr val="FFFFFF"/>
                          </a:solidFill>
                          <a:latin typeface="Yu Gothic"/>
                        </a:defRPr>
                      </a:pPr>
                      <a:r>
                        <a:t>日付</a:t>
                      </a:r>
                    </a:p>
                  </a:txBody>
                  <a:tcPr>
                    <a:solidFill>
                      <a:srgbClr val="2E2A72"/>
                    </a:solidFill>
                  </a:tcPr>
                </a:tc>
              </a:tr>
              <a:tr h="502920">
                <a:tc>
                  <a:txBody>
                    <a:bodyPr/>
                    <a:lstStyle/>
                    <a:p>
                      <a:pPr>
                        <a:defRPr sz="1200">
                          <a:solidFill>
                            <a:srgbClr val="1C1B33"/>
                          </a:solidFill>
                          <a:latin typeface="Yu Gothic"/>
                        </a:defRPr>
                      </a:pPr>
                      <a:r>
                        <a:t>AlleyWatch Startup Daily Funding Report</a:t>
                      </a:r>
                    </a:p>
                  </a:txBody>
                  <a:tcPr>
                    <a:solidFill>
                      <a:srgbClr val="FFFFFF"/>
                    </a:solidFill>
                  </a:tcPr>
                </a:tc>
                <a:tc>
                  <a:txBody>
                    <a:bodyPr/>
                    <a:lstStyle/>
                    <a:p>
                      <a:pPr>
                        <a:defRPr sz="1200">
                          <a:solidFill>
                            <a:srgbClr val="1C1B33"/>
                          </a:solidFill>
                          <a:latin typeface="Yu Gothic"/>
                        </a:defRPr>
                      </a:pPr>
                      <a:r>
                        <a:t>2026年8月24日</a:t>
                      </a:r>
                    </a:p>
                  </a:txBody>
                  <a:tcPr>
                    <a:solidFill>
                      <a:srgbClr val="FFFFFF"/>
                    </a:solidFill>
                  </a:tcPr>
                </a:tc>
              </a:tr>
              <a:tr h="502920">
                <a:tc>
                  <a:txBody>
                    <a:bodyPr/>
                    <a:lstStyle/>
                    <a:p>
                      <a:pPr>
                        <a:defRPr sz="1200">
                          <a:solidFill>
                            <a:srgbClr val="1C1B33"/>
                          </a:solidFill>
                          <a:latin typeface="Yu Gothic"/>
                        </a:defRPr>
                      </a:pPr>
                      <a:r>
                        <a:t>SEC EDGAR Form D届出</a:t>
                      </a:r>
                    </a:p>
                  </a:txBody>
                  <a:tcPr>
                    <a:solidFill>
                      <a:srgbClr val="F4F3FC"/>
                    </a:solidFill>
                  </a:tcPr>
                </a:tc>
                <a:tc>
                  <a:txBody>
                    <a:bodyPr/>
                    <a:lstStyle/>
                    <a:p>
                      <a:pPr>
                        <a:defRPr sz="1200">
                          <a:solidFill>
                            <a:srgbClr val="1C1B33"/>
                          </a:solidFill>
                          <a:latin typeface="Yu Gothic"/>
                        </a:defRPr>
                      </a:pPr>
                      <a:r>
                        <a:t>2026年8月21日</a:t>
                      </a:r>
                    </a:p>
                  </a:txBody>
                  <a:tcPr>
                    <a:solidFill>
                      <a:srgbClr val="F4F3FC"/>
                    </a:solidFill>
                  </a:tcPr>
                </a:tc>
              </a:tr>
              <a:tr h="502920">
                <a:tc>
                  <a:txBody>
                    <a:bodyPr/>
                    <a:lstStyle/>
                    <a:p>
                      <a:pPr>
                        <a:defRPr sz="1200">
                          <a:solidFill>
                            <a:srgbClr val="1C1B33"/>
                          </a:solidFill>
                          <a:latin typeface="Yu Gothic"/>
                        </a:defRPr>
                      </a:pPr>
                      <a:r>
                        <a:t>Y Combinator公式ページ</a:t>
                      </a:r>
                    </a:p>
                  </a:txBody>
                  <a:tcPr>
                    <a:solidFill>
                      <a:srgbClr val="FFFFFF"/>
                    </a:solidFill>
                  </a:tcPr>
                </a:tc>
                <a:tc>
                  <a:txBody>
                    <a:bodyPr/>
                    <a:lstStyle/>
                    <a:p>
                      <a:pPr>
                        <a:defRPr sz="1200">
                          <a:solidFill>
                            <a:srgbClr val="1C1B33"/>
                          </a:solidFill>
                          <a:latin typeface="Yu Gothic"/>
                        </a:defRPr>
                      </a:pPr>
                      <a:r>
                        <a:t>-</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募集総額 vs 販売済み額</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募集総額</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62.1百万ドル</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届出上の上限</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販売済み額</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57.1百万ドル</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実際に販売済みと報告された金額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拠点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ニューヨーク Ultraの本社所在地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米国の倉庫自動化を目指す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 Combinator公式ページ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Y Combinator出身のAI×ロボティクス企業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「次の100万台のロボット」という壮大なビジョン</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E2A72"/>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SEC届出という一次情報から明らかになった調達</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視聴者にとっての意味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AI×ロボティクス領域の資金調達動向を追う人に参考になる</a:t>
            </a:r>
          </a:p>
        </p:txBody>
      </p:sp>
      <p:sp>
        <p:nvSpPr>
          <p:cNvPr id="8" name="Oval 7"/>
          <p:cNvSpPr/>
          <p:nvPr/>
        </p:nvSpPr>
        <p:spPr>
          <a:xfrm>
            <a:off x="457200" y="225856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SEC届出から企業動向を読み解く一事例として押さえておきたい</a:t>
            </a:r>
          </a:p>
        </p:txBody>
      </p:sp>
      <p:sp>
        <p:nvSpPr>
          <p:cNvPr id="10" name="Oval 9"/>
          <p:cNvSpPr/>
          <p:nvPr/>
        </p:nvSpPr>
        <p:spPr>
          <a:xfrm>
            <a:off x="457200" y="30358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特定サービスの利用を推奨するものではない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タイムライン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E2A72"/>
                    </a:solidFill>
                  </a:tcPr>
                </a:tc>
                <a:tc>
                  <a:txBody>
                    <a:bodyPr/>
                    <a:lstStyle/>
                    <a:p>
                      <a:pPr>
                        <a:defRPr sz="1300" b="1">
                          <a:solidFill>
                            <a:srgbClr val="FFFFFF"/>
                          </a:solidFill>
                          <a:latin typeface="Yu Gothic"/>
                        </a:defRPr>
                      </a:pPr>
                      <a:r>
                        <a:t>できごと</a:t>
                      </a:r>
                    </a:p>
                  </a:txBody>
                  <a:tcPr>
                    <a:solidFill>
                      <a:srgbClr val="2E2A72"/>
                    </a:solidFill>
                  </a:tcPr>
                </a:tc>
              </a:tr>
              <a:tr h="502920">
                <a:tc>
                  <a:txBody>
                    <a:bodyPr/>
                    <a:lstStyle/>
                    <a:p>
                      <a:pPr>
                        <a:defRPr sz="1200">
                          <a:solidFill>
                            <a:srgbClr val="1C1B33"/>
                          </a:solidFill>
                          <a:latin typeface="Yu Gothic"/>
                        </a:defRPr>
                      </a:pPr>
                      <a:r>
                        <a:t>2024年</a:t>
                      </a:r>
                    </a:p>
                  </a:txBody>
                  <a:tcPr>
                    <a:solidFill>
                      <a:srgbClr val="FFFFFF"/>
                    </a:solidFill>
                  </a:tcPr>
                </a:tc>
                <a:tc>
                  <a:txBody>
                    <a:bodyPr/>
                    <a:lstStyle/>
                    <a:p>
                      <a:pPr>
                        <a:defRPr sz="1200">
                          <a:solidFill>
                            <a:srgbClr val="1C1B33"/>
                          </a:solidFill>
                          <a:latin typeface="Yu Gothic"/>
                        </a:defRPr>
                      </a:pPr>
                      <a:r>
                        <a:t>Ultra設立(ニューヨーク)</a:t>
                      </a:r>
                    </a:p>
                  </a:txBody>
                  <a:tcPr>
                    <a:solidFill>
                      <a:srgbClr val="FFFFFF"/>
                    </a:solidFill>
                  </a:tcPr>
                </a:tc>
              </a:tr>
              <a:tr h="502920">
                <a:tc>
                  <a:txBody>
                    <a:bodyPr/>
                    <a:lstStyle/>
                    <a:p>
                      <a:pPr>
                        <a:defRPr sz="1200">
                          <a:solidFill>
                            <a:srgbClr val="1C1B33"/>
                          </a:solidFill>
                          <a:latin typeface="Yu Gothic"/>
                        </a:defRPr>
                      </a:pPr>
                      <a:r>
                        <a:t>2026年8月21日</a:t>
                      </a:r>
                    </a:p>
                  </a:txBody>
                  <a:tcPr>
                    <a:solidFill>
                      <a:srgbClr val="F4F3FC"/>
                    </a:solidFill>
                  </a:tcPr>
                </a:tc>
                <a:tc>
                  <a:txBody>
                    <a:bodyPr/>
                    <a:lstStyle/>
                    <a:p>
                      <a:pPr>
                        <a:defRPr sz="1200">
                          <a:solidFill>
                            <a:srgbClr val="1C1B33"/>
                          </a:solidFill>
                          <a:latin typeface="Yu Gothic"/>
                        </a:defRPr>
                      </a:pPr>
                      <a:r>
                        <a:t>SEC Form D届出</a:t>
                      </a:r>
                    </a:p>
                  </a:txBody>
                  <a:tcPr>
                    <a:solidFill>
                      <a:srgbClr val="F4F3FC"/>
                    </a:solidFill>
                  </a:tcPr>
                </a:tc>
              </a:tr>
              <a:tr h="502920">
                <a:tc>
                  <a:txBody>
                    <a:bodyPr/>
                    <a:lstStyle/>
                    <a:p>
                      <a:pPr>
                        <a:defRPr sz="1200">
                          <a:solidFill>
                            <a:srgbClr val="1C1B33"/>
                          </a:solidFill>
                          <a:latin typeface="Yu Gothic"/>
                        </a:defRPr>
                      </a:pPr>
                      <a:r>
                        <a:t>2026年8月24日</a:t>
                      </a:r>
                    </a:p>
                  </a:txBody>
                  <a:tcPr>
                    <a:solidFill>
                      <a:srgbClr val="FFFFFF"/>
                    </a:solidFill>
                  </a:tcPr>
                </a:tc>
                <a:tc>
                  <a:txBody>
                    <a:bodyPr/>
                    <a:lstStyle/>
                    <a:p>
                      <a:pPr>
                        <a:defRPr sz="1200">
                          <a:solidFill>
                            <a:srgbClr val="1C1B33"/>
                          </a:solidFill>
                          <a:latin typeface="Yu Gothic"/>
                        </a:defRPr>
                      </a:pPr>
                      <a:r>
                        <a:t>AlleyWatchが報道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Ultra vs 一般的な倉庫ロボット企業</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Ultra</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Y Combinator出身</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「次の100万台」という規模のビジョン</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一般的な倉庫ロボット企業</a:t>
            </a:r>
          </a:p>
        </p:txBody>
      </p:sp>
      <p:sp>
        <p:nvSpPr>
          <p:cNvPr id="16" name="Oval 15"/>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出身・規模は企業により様々</a:t>
            </a:r>
          </a:p>
        </p:txBody>
      </p:sp>
      <p:sp>
        <p:nvSpPr>
          <p:cNvPr id="18" name="Oval 17"/>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ビジョンの規模感も企業ごとに異なる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AlleyWatch等(2026-08-24)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62.1百万ドル Ultraの資金調達(SEC届出ベース)</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SEC EDGAR Form D(2026-08-21)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