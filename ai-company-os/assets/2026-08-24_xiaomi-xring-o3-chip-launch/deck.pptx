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シャオミが独自開発のスマートフォン向けチップ「Xring O3」を発表しました。何が発表されたのか、出典付きで正確に整理してお届けします。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結論から確認します。シャオミの新チップXring O3は、AnTuTuで約522万点という高いベンチマークスコアを記録しました。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今日は6つの流れでお伝えします。基本情報からベンチマーク、投資規模まで、正確に事実を引用しながら整理します。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このテーマを扱う理由です。業界最高水準のベンチマークスコアという数字のインパクトに注目しました。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Xring O3の基本情報です。TSMCの最先端3nmプロセスで製造されています。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SoCとは何かを確認します。スマートフォンの中核部品です。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クアッドコアNPUは最大200TOPSという高い演算性能を持ち、オンデバイスAIモデルを処理します。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発表までの流れを図にしました。大型投資を経ての正式発表です。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今回の発表を3ステップで総括しました。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CPU・GPUの仕様です。オール大コア構成という珍しい設計を採用しています。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確定していることと、確認できていないことを対比しました。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世界初のLPDDR6ネイティブ対応により、メモリ帯域幅は113.8GB/sを実現しました。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ベンチマークスコアをまとめました。複数の指標で高い数値を記録しています。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テック動向を追う立場にとっての意味です。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投資規模・開発体制についてです。大規模な投資と専門チームを背景にした発表です。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前世代Xring O1と、今回のXring O3を対比しました。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複数の独立した海外主要メディアが同一の事実を報じていることを確認しています。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Xring O3には240億個のトランジスタが集積されています。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GPU性能についてです。大幅な性能向上と省電力化を実現したとされています。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Geekbenchマルチコアスコアは15,221点と、業界最高水準と報じられています。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Xring O3の仕様をまとめました。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シャオミはチップ開発に200億元超という大規模な投資を行ったと報じられています。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海外メディアの報道時期をまとめました。発表当日から幅広く報じられています。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3,000人超という大規模な半導体専門チームが、今回の開発を支えています。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一般的なスマートフォンチップ発表と、今回のXring O3を対比しました。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今後注目される点です。断定的な予測は行いません。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本編のまとめです。Xring O3の発表について、出典付きで整理してお伝えしました。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本編は以上です。今回はシャオミのXring O3発表について、その中身を正確に整理してお伝えしました。数字は出典どおりに扱い、確認できなかったことは正直にお伝えしました。次回もまた出典付きでお届けします。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シャオミ、</a:t>
            </a:r>
          </a:p>
          <a:p>
            <a:pPr algn="l">
              <a:lnSpc>
                <a:spcPct val="115000"/>
              </a:lnSpc>
            </a:pPr>
            <a:r>
              <a:rPr sz="4200" b="1">
                <a:solidFill>
                  <a:srgbClr val="FFFFFF"/>
                </a:solidFill>
                <a:latin typeface="Yu Gothic"/>
              </a:rPr>
              <a:t>独自SoC「Xring O3」</a:t>
            </a:r>
          </a:p>
          <a:p>
            <a:pPr algn="l">
              <a:lnSpc>
                <a:spcPct val="115000"/>
              </a:lnSpc>
            </a:pPr>
            <a:r>
              <a:rPr sz="4200" b="1">
                <a:solidFill>
                  <a:srgbClr val="FFFFFF"/>
                </a:solidFill>
                <a:latin typeface="Yu Gothic"/>
              </a:rPr>
              <a:t>AnTuTu520万点超</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2026年8月24日発表——出典付きで整理する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Bloomberg・Gizmochina(2026年8月24日)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約522万点 Xring O3のAnTuTuベンチマークスコア</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クアルコム・MediaTekに対抗する自社製チップ</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Gizmochina(2026-08-24)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Xring O3の基本情報を確認する</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性能・ベンチマークを確認する</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投資規模・開発体制を確認する</a:t>
            </a:r>
          </a:p>
        </p:txBody>
      </p:sp>
      <p:sp>
        <p:nvSpPr>
          <p:cNvPr id="13" name="Oval 12"/>
          <p:cNvSpPr/>
          <p:nvPr/>
        </p:nvSpPr>
        <p:spPr>
          <a:xfrm>
            <a:off x="548640" y="502920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3E4F5"/>
                </a:solidFill>
                <a:latin typeface="Yu Gothic"/>
              </a:rPr>
              <a:t>搭載製品・発売予定を確認する</a:t>
            </a:r>
          </a:p>
        </p:txBody>
      </p:sp>
      <p:sp>
        <p:nvSpPr>
          <p:cNvPr id="15" name="Oval 14"/>
          <p:cNvSpPr/>
          <p:nvPr/>
        </p:nvSpPr>
        <p:spPr>
          <a:xfrm>
            <a:off x="548640" y="58064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3E4F5"/>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着手日当日(2026年8月24日)、海外の主要メディアが一斉に報じた話題である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AnTuTu約522万点という、業界最高水準のベンチマークスコアで数字のインパクトが大きい</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世界初のLPDDR6ネイティブ対応という技術的な話題性がある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複数の独立したメディアが同じ中心仕様・数値を報じており、情報の一貫性を確認できた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Bloomberg・Gizmochina(2026-08-24)</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Bloomberg・Gizmochina等(2026-08-24)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Xring O3の基本情報</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製品名</a:t>
                      </a:r>
                    </a:p>
                  </a:txBody>
                  <a:tcPr>
                    <a:solidFill>
                      <a:srgbClr val="FFFFFF"/>
                    </a:solidFill>
                  </a:tcPr>
                </a:tc>
                <a:tc>
                  <a:txBody>
                    <a:bodyPr/>
                    <a:lstStyle/>
                    <a:p>
                      <a:pPr>
                        <a:defRPr sz="1200">
                          <a:solidFill>
                            <a:srgbClr val="1C2230"/>
                          </a:solidFill>
                          <a:latin typeface="Yu Gothic"/>
                        </a:defRPr>
                      </a:pPr>
                      <a:r>
                        <a:t>Xring O3(シャオミ独自開発SoC)</a:t>
                      </a:r>
                    </a:p>
                  </a:txBody>
                  <a:tcPr>
                    <a:solidFill>
                      <a:srgbClr val="FFFFFF"/>
                    </a:solidFill>
                  </a:tcPr>
                </a:tc>
              </a:tr>
              <a:tr h="502920">
                <a:tc>
                  <a:txBody>
                    <a:bodyPr/>
                    <a:lstStyle/>
                    <a:p>
                      <a:pPr>
                        <a:defRPr sz="1200">
                          <a:solidFill>
                            <a:srgbClr val="1C2230"/>
                          </a:solidFill>
                          <a:latin typeface="Yu Gothic"/>
                        </a:defRPr>
                      </a:pPr>
                      <a:r>
                        <a:t>発表日</a:t>
                      </a:r>
                    </a:p>
                  </a:txBody>
                  <a:tcPr>
                    <a:solidFill>
                      <a:srgbClr val="F1F5FA"/>
                    </a:solidFill>
                  </a:tcPr>
                </a:tc>
                <a:tc>
                  <a:txBody>
                    <a:bodyPr/>
                    <a:lstStyle/>
                    <a:p>
                      <a:pPr>
                        <a:defRPr sz="1200">
                          <a:solidFill>
                            <a:srgbClr val="1C2230"/>
                          </a:solidFill>
                          <a:latin typeface="Yu Gothic"/>
                        </a:defRPr>
                      </a:pPr>
                      <a:r>
                        <a:t>2026年8月24日</a:t>
                      </a:r>
                    </a:p>
                  </a:txBody>
                  <a:tcPr>
                    <a:solidFill>
                      <a:srgbClr val="F1F5FA"/>
                    </a:solidFill>
                  </a:tcPr>
                </a:tc>
              </a:tr>
              <a:tr h="502920">
                <a:tc>
                  <a:txBody>
                    <a:bodyPr/>
                    <a:lstStyle/>
                    <a:p>
                      <a:pPr>
                        <a:defRPr sz="1200">
                          <a:solidFill>
                            <a:srgbClr val="1C2230"/>
                          </a:solidFill>
                          <a:latin typeface="Yu Gothic"/>
                        </a:defRPr>
                      </a:pPr>
                      <a:r>
                        <a:t>製造プロセス</a:t>
                      </a:r>
                    </a:p>
                  </a:txBody>
                  <a:tcPr>
                    <a:solidFill>
                      <a:srgbClr val="FFFFFF"/>
                    </a:solidFill>
                  </a:tcPr>
                </a:tc>
                <a:tc>
                  <a:txBody>
                    <a:bodyPr/>
                    <a:lstStyle/>
                    <a:p>
                      <a:pPr>
                        <a:defRPr sz="1200">
                          <a:solidFill>
                            <a:srgbClr val="1C2230"/>
                          </a:solidFill>
                          <a:latin typeface="Yu Gothic"/>
                        </a:defRPr>
                      </a:pPr>
                      <a:r>
                        <a:t>TSMC 3nm</a:t>
                      </a:r>
                    </a:p>
                  </a:txBody>
                  <a:tcPr>
                    <a:solidFill>
                      <a:srgbClr val="FFFFFF"/>
                    </a:solidFill>
                  </a:tcPr>
                </a:tc>
              </a:tr>
              <a:tr h="502920">
                <a:tc>
                  <a:txBody>
                    <a:bodyPr/>
                    <a:lstStyle/>
                    <a:p>
                      <a:pPr>
                        <a:defRPr sz="1200">
                          <a:solidFill>
                            <a:srgbClr val="1C2230"/>
                          </a:solidFill>
                          <a:latin typeface="Yu Gothic"/>
                        </a:defRPr>
                      </a:pPr>
                      <a:r>
                        <a:t>トランジスタ数</a:t>
                      </a:r>
                    </a:p>
                  </a:txBody>
                  <a:tcPr>
                    <a:solidFill>
                      <a:srgbClr val="F1F5FA"/>
                    </a:solidFill>
                  </a:tcPr>
                </a:tc>
                <a:tc>
                  <a:txBody>
                    <a:bodyPr/>
                    <a:lstStyle/>
                    <a:p>
                      <a:pPr>
                        <a:defRPr sz="1200">
                          <a:solidFill>
                            <a:srgbClr val="1C2230"/>
                          </a:solidFill>
                          <a:latin typeface="Yu Gothic"/>
                        </a:defRPr>
                      </a:pPr>
                      <a:r>
                        <a:t>240億個</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Bloomberg・Gizmochina(2026-08-24)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Bloomberg・Gizmochina等(2026-08-24)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「SoC(システム・オン・チップ)」とは</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前提知識を確認します。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CPU・GPU・NPUなど複数の演算機能を1つのチップに統合した半導体である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スマートフォンの処理性能・電力効率を左右する中核部品である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従来はクアルコムやMediaTekなど専業メーカーの製品を採用する企業が多い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Bloomberg・Gizmochina等(2026-08-24)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NPUの演算性能</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最大200TOPS クアッドコアNPUのオンデバイスAI演算性能</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オンデバイスAIモデルの処理を担う</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The Tech Outlook(2026-08-24)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発表までの流れ</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200億元超をチップ開発に投資</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3,000人超の専門チームを構築</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8月24日、Xring O3を正式発表</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AnTuTu約522万点を記録</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9月、Xiaomi 18 Foldで商用搭載予定</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Pad 9 Pro Maxにも搭載</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発表までの流れ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Bloomberg・The Tech Outlook(2026-08-24)</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Bloomberg・Gizmochina等(2026-08-24)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今回の発表を3ステップで総括</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1. 3nmプロセスで製造</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TSMCと連携</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2. 高性能ベンチマークを記録</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AnTuTu約522万点</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3. 主力製品への搭載を発表</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Xiaomi 18 Fold等</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Bloomberg・Gizmochina等(2026-08-24)</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CPU・GPUの仕様</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CPU・GPUの仕様を確認します。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10コアCPU構成で、効率コアを持たない『オール大コア』構成を採用</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ピーク動作クロックは最大4.35GHz</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16コアGPU『G2-Ultra NX』は前世代比で性能85%向上、消費電力64%削減とされている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Notebookcheck(2026-08-24)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Bloomberg・Gizmochina等(2026-08-24)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確定していること vs 確認できていないこと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確定していること</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発表日(2026年8月24日)・製造プロセス(TSMC 3nm)</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ベンチマークスコア(AnTuTu約522万点等)</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搭載予定製品(Xiaomi 18 Fold・Pad 9 Pro Max)</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確認できていないこと</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具体的な販売価格</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日本を含む海外市場での販売展開の有無</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Bloomberg・Gizmochina等(2026-08-24)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メモリ帯域幅</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113.8GB/s 世界初のLPDDR6ネイティブ対応による帯域幅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前世代Xring O1比48%向上</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Notebookcheck(2026-08-24)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ベンチマークスコアまとめ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ベンチマーク</a:t>
                      </a:r>
                    </a:p>
                  </a:txBody>
                  <a:tcPr>
                    <a:solidFill>
                      <a:srgbClr val="2B3A55"/>
                    </a:solidFill>
                  </a:tcPr>
                </a:tc>
                <a:tc>
                  <a:txBody>
                    <a:bodyPr/>
                    <a:lstStyle/>
                    <a:p>
                      <a:pPr>
                        <a:defRPr sz="1300" b="1">
                          <a:solidFill>
                            <a:srgbClr val="FFFFFF"/>
                          </a:solidFill>
                          <a:latin typeface="Yu Gothic"/>
                        </a:defRPr>
                      </a:pPr>
                      <a:r>
                        <a:t>スコア</a:t>
                      </a:r>
                    </a:p>
                  </a:txBody>
                  <a:tcPr>
                    <a:solidFill>
                      <a:srgbClr val="2B3A55"/>
                    </a:solidFill>
                  </a:tcPr>
                </a:tc>
              </a:tr>
              <a:tr h="502920">
                <a:tc>
                  <a:txBody>
                    <a:bodyPr/>
                    <a:lstStyle/>
                    <a:p>
                      <a:pPr>
                        <a:defRPr sz="1200">
                          <a:solidFill>
                            <a:srgbClr val="1C2230"/>
                          </a:solidFill>
                          <a:latin typeface="Yu Gothic"/>
                        </a:defRPr>
                      </a:pPr>
                      <a:r>
                        <a:t>AnTuTu</a:t>
                      </a:r>
                    </a:p>
                  </a:txBody>
                  <a:tcPr>
                    <a:solidFill>
                      <a:srgbClr val="FFFFFF"/>
                    </a:solidFill>
                  </a:tcPr>
                </a:tc>
                <a:tc>
                  <a:txBody>
                    <a:bodyPr/>
                    <a:lstStyle/>
                    <a:p>
                      <a:pPr>
                        <a:defRPr sz="1200">
                          <a:solidFill>
                            <a:srgbClr val="1C2230"/>
                          </a:solidFill>
                          <a:latin typeface="Yu Gothic"/>
                        </a:defRPr>
                      </a:pPr>
                      <a:r>
                        <a:t>約522万点</a:t>
                      </a:r>
                    </a:p>
                  </a:txBody>
                  <a:tcPr>
                    <a:solidFill>
                      <a:srgbClr val="FFFFFF"/>
                    </a:solidFill>
                  </a:tcPr>
                </a:tc>
              </a:tr>
              <a:tr h="502920">
                <a:tc>
                  <a:txBody>
                    <a:bodyPr/>
                    <a:lstStyle/>
                    <a:p>
                      <a:pPr>
                        <a:defRPr sz="1200">
                          <a:solidFill>
                            <a:srgbClr val="1C2230"/>
                          </a:solidFill>
                          <a:latin typeface="Yu Gothic"/>
                        </a:defRPr>
                      </a:pPr>
                      <a:r>
                        <a:t>Geekbenchマルチコア</a:t>
                      </a:r>
                    </a:p>
                  </a:txBody>
                  <a:tcPr>
                    <a:solidFill>
                      <a:srgbClr val="F1F5FA"/>
                    </a:solidFill>
                  </a:tcPr>
                </a:tc>
                <a:tc>
                  <a:txBody>
                    <a:bodyPr/>
                    <a:lstStyle/>
                    <a:p>
                      <a:pPr>
                        <a:defRPr sz="1200">
                          <a:solidFill>
                            <a:srgbClr val="1C2230"/>
                          </a:solidFill>
                          <a:latin typeface="Yu Gothic"/>
                        </a:defRPr>
                      </a:pPr>
                      <a:r>
                        <a:t>15,221点</a:t>
                      </a:r>
                    </a:p>
                  </a:txBody>
                  <a:tcPr>
                    <a:solidFill>
                      <a:srgbClr val="F1F5FA"/>
                    </a:solidFill>
                  </a:tcPr>
                </a:tc>
              </a:tr>
              <a:tr h="502920">
                <a:tc>
                  <a:txBody>
                    <a:bodyPr/>
                    <a:lstStyle/>
                    <a:p>
                      <a:pPr>
                        <a:defRPr sz="1200">
                          <a:solidFill>
                            <a:srgbClr val="1C2230"/>
                          </a:solidFill>
                          <a:latin typeface="Yu Gothic"/>
                        </a:defRPr>
                      </a:pPr>
                      <a:r>
                        <a:t>メモリ帯域幅</a:t>
                      </a:r>
                    </a:p>
                  </a:txBody>
                  <a:tcPr>
                    <a:solidFill>
                      <a:srgbClr val="FFFFFF"/>
                    </a:solidFill>
                  </a:tcPr>
                </a:tc>
                <a:tc>
                  <a:txBody>
                    <a:bodyPr/>
                    <a:lstStyle/>
                    <a:p>
                      <a:pPr>
                        <a:defRPr sz="1200">
                          <a:solidFill>
                            <a:srgbClr val="1C2230"/>
                          </a:solidFill>
                          <a:latin typeface="Yu Gothic"/>
                        </a:defRPr>
                      </a:pPr>
                      <a:r>
                        <a:t>113.8GB/s</a:t>
                      </a:r>
                    </a:p>
                  </a:txBody>
                  <a:tcPr>
                    <a:solidFill>
                      <a:srgbClr val="FFFFFF"/>
                    </a:solidFill>
                  </a:tcPr>
                </a:tc>
              </a:tr>
              <a:tr h="502920">
                <a:tc>
                  <a:txBody>
                    <a:bodyPr/>
                    <a:lstStyle/>
                    <a:p>
                      <a:pPr>
                        <a:defRPr sz="1200">
                          <a:solidFill>
                            <a:srgbClr val="1C2230"/>
                          </a:solidFill>
                          <a:latin typeface="Yu Gothic"/>
                        </a:defRPr>
                      </a:pPr>
                      <a:r>
                        <a:t>NPU演算性能</a:t>
                      </a:r>
                    </a:p>
                  </a:txBody>
                  <a:tcPr>
                    <a:solidFill>
                      <a:srgbClr val="F1F5FA"/>
                    </a:solidFill>
                  </a:tcPr>
                </a:tc>
                <a:tc>
                  <a:txBody>
                    <a:bodyPr/>
                    <a:lstStyle/>
                    <a:p>
                      <a:pPr>
                        <a:defRPr sz="1200">
                          <a:solidFill>
                            <a:srgbClr val="1C2230"/>
                          </a:solidFill>
                          <a:latin typeface="Yu Gothic"/>
                        </a:defRPr>
                      </a:pPr>
                      <a:r>
                        <a:t>最大200TOPS</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Gizmochina・The Tech Outlook(2026-08-24)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Bloomberg・Gizmochina等(2026-08-24)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視聴者にとっての意味—テック動向を追う立場として</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視聴者にとっての意味を確認します。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スマートフォンメーカーによる自社製チップ開発の最新動向を、具体的な数字とともに把握できる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クアルコム・MediaTekという既存大手との競争構図を実例を通じて学べる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ベンチマークスコアと投資額など、異なる種類の数字を区別する視点が役立つ</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Bloomberg・Gizmochina等(2026-08-24)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投資規模・開発体制について</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投資規模・開発体制を確認します。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シャオミはチップ開発に200億元(約30億ドル)以上を投資したと報じられている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3,000人超の半導体専門チームを構築したとされている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クアルコム・MediaTekという既存の大手チップメーカーに対抗する狙いがあると報じられている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Bloomberg(2026-08-24)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Bloomberg・Gizmochina等(2026-08-24)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前世代Xring O1 vs 今回のXring O3</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前世代Xring O1</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メモリ帯域幅の基準値</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今回のXring O3</a:t>
            </a:r>
          </a:p>
        </p:txBody>
      </p:sp>
      <p:sp>
        <p:nvSpPr>
          <p:cNvPr id="14" name="Oval 13"/>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メモリ帯域幅48%向上(113.8GB/s)</a:t>
            </a:r>
          </a:p>
        </p:txBody>
      </p:sp>
      <p:sp>
        <p:nvSpPr>
          <p:cNvPr id="16" name="Oval 15"/>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世界初のLPDDR6ネイティブ対応</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Bloomberg・Gizmochina等(2026-08-24)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正直に開示する未確認事項です。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『Xring O2』という型番のチップが過去に存在したかどうかの詳細は確認できていない</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具体的な販売価格は確認できていない</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日本を含む海外市場での販売展開の有無・時期は確認できていない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Bloomberg・Gizmochina等(2026-08-24)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主な情報源</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2B3A55"/>
                    </a:solidFill>
                  </a:tcPr>
                </a:tc>
                <a:tc>
                  <a:txBody>
                    <a:bodyPr/>
                    <a:lstStyle/>
                    <a:p>
                      <a:pPr>
                        <a:defRPr sz="1300" b="1">
                          <a:solidFill>
                            <a:srgbClr val="FFFFFF"/>
                          </a:solidFill>
                          <a:latin typeface="Yu Gothic"/>
                        </a:defRPr>
                      </a:pPr>
                      <a:r>
                        <a:t>報道内容</a:t>
                      </a:r>
                    </a:p>
                  </a:txBody>
                  <a:tcPr>
                    <a:solidFill>
                      <a:srgbClr val="2B3A55"/>
                    </a:solidFill>
                  </a:tcPr>
                </a:tc>
              </a:tr>
              <a:tr h="502920">
                <a:tc>
                  <a:txBody>
                    <a:bodyPr/>
                    <a:lstStyle/>
                    <a:p>
                      <a:pPr>
                        <a:defRPr sz="1200">
                          <a:solidFill>
                            <a:srgbClr val="1C2230"/>
                          </a:solidFill>
                          <a:latin typeface="Yu Gothic"/>
                        </a:defRPr>
                      </a:pPr>
                      <a:r>
                        <a:t>Bloomberg(2026-08-24)</a:t>
                      </a:r>
                    </a:p>
                  </a:txBody>
                  <a:tcPr>
                    <a:solidFill>
                      <a:srgbClr val="FFFFFF"/>
                    </a:solidFill>
                  </a:tcPr>
                </a:tc>
                <a:tc>
                  <a:txBody>
                    <a:bodyPr/>
                    <a:lstStyle/>
                    <a:p>
                      <a:pPr>
                        <a:defRPr sz="1200">
                          <a:solidFill>
                            <a:srgbClr val="1C2230"/>
                          </a:solidFill>
                          <a:latin typeface="Yu Gothic"/>
                        </a:defRPr>
                      </a:pPr>
                      <a:r>
                        <a:t>投資規模・競争構図の詳細</a:t>
                      </a:r>
                    </a:p>
                  </a:txBody>
                  <a:tcPr>
                    <a:solidFill>
                      <a:srgbClr val="FFFFFF"/>
                    </a:solidFill>
                  </a:tcPr>
                </a:tc>
              </a:tr>
              <a:tr h="502920">
                <a:tc>
                  <a:txBody>
                    <a:bodyPr/>
                    <a:lstStyle/>
                    <a:p>
                      <a:pPr>
                        <a:defRPr sz="1200">
                          <a:solidFill>
                            <a:srgbClr val="1C2230"/>
                          </a:solidFill>
                          <a:latin typeface="Yu Gothic"/>
                        </a:defRPr>
                      </a:pPr>
                      <a:r>
                        <a:t>Gizmochina(2026-08-24)</a:t>
                      </a:r>
                    </a:p>
                  </a:txBody>
                  <a:tcPr>
                    <a:solidFill>
                      <a:srgbClr val="F1F5FA"/>
                    </a:solidFill>
                  </a:tcPr>
                </a:tc>
                <a:tc>
                  <a:txBody>
                    <a:bodyPr/>
                    <a:lstStyle/>
                    <a:p>
                      <a:pPr>
                        <a:defRPr sz="1200">
                          <a:solidFill>
                            <a:srgbClr val="1C2230"/>
                          </a:solidFill>
                          <a:latin typeface="Yu Gothic"/>
                        </a:defRPr>
                      </a:pPr>
                      <a:r>
                        <a:t>ベンチマークスコアの詳細</a:t>
                      </a:r>
                    </a:p>
                  </a:txBody>
                  <a:tcPr>
                    <a:solidFill>
                      <a:srgbClr val="F1F5FA"/>
                    </a:solidFill>
                  </a:tcPr>
                </a:tc>
              </a:tr>
              <a:tr h="502920">
                <a:tc>
                  <a:txBody>
                    <a:bodyPr/>
                    <a:lstStyle/>
                    <a:p>
                      <a:pPr>
                        <a:defRPr sz="1200">
                          <a:solidFill>
                            <a:srgbClr val="1C2230"/>
                          </a:solidFill>
                          <a:latin typeface="Yu Gothic"/>
                        </a:defRPr>
                      </a:pPr>
                      <a:r>
                        <a:t>Notebookcheck(2026-08-24)</a:t>
                      </a:r>
                    </a:p>
                  </a:txBody>
                  <a:tcPr>
                    <a:solidFill>
                      <a:srgbClr val="FFFFFF"/>
                    </a:solidFill>
                  </a:tcPr>
                </a:tc>
                <a:tc>
                  <a:txBody>
                    <a:bodyPr/>
                    <a:lstStyle/>
                    <a:p>
                      <a:pPr>
                        <a:defRPr sz="1200">
                          <a:solidFill>
                            <a:srgbClr val="1C2230"/>
                          </a:solidFill>
                          <a:latin typeface="Yu Gothic"/>
                        </a:defRPr>
                      </a:pPr>
                      <a:r>
                        <a:t>技術仕様の詳細</a:t>
                      </a:r>
                    </a:p>
                  </a:txBody>
                  <a:tcPr>
                    <a:solidFill>
                      <a:srgbClr val="FFFFFF"/>
                    </a:solidFill>
                  </a:tcPr>
                </a:tc>
              </a:tr>
              <a:tr h="502920">
                <a:tc>
                  <a:txBody>
                    <a:bodyPr/>
                    <a:lstStyle/>
                    <a:p>
                      <a:pPr>
                        <a:defRPr sz="1200">
                          <a:solidFill>
                            <a:srgbClr val="1C2230"/>
                          </a:solidFill>
                          <a:latin typeface="Yu Gothic"/>
                        </a:defRPr>
                      </a:pPr>
                      <a:r>
                        <a:t>Android Headlines(2026-08-24)</a:t>
                      </a:r>
                    </a:p>
                  </a:txBody>
                  <a:tcPr>
                    <a:solidFill>
                      <a:srgbClr val="F1F5FA"/>
                    </a:solidFill>
                  </a:tcPr>
                </a:tc>
                <a:tc>
                  <a:txBody>
                    <a:bodyPr/>
                    <a:lstStyle/>
                    <a:p>
                      <a:pPr>
                        <a:defRPr sz="1200">
                          <a:solidFill>
                            <a:srgbClr val="1C2230"/>
                          </a:solidFill>
                          <a:latin typeface="Yu Gothic"/>
                        </a:defRPr>
                      </a:pPr>
                      <a:r>
                        <a:t>業界内での位置づけ</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Bloomberg・Gizmochina等(2026-08-24)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テック動向を追う立場として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自社製チップ開発の最新動向を具体的な数字とともに把握できる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スマートフォンに関心がある立場として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搭載製品の性能を実例を通じて学べる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情報を正確に受け取りたい立場として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ベンチマークスコアと投資額を区別する視点が役立つ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Bloomberg・Gizmochina等(2026-08-24)</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トランジスタ数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240億個 Xring O3に集積されたトランジスタの数</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TSMCの3nmプロセスで製造</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Bloomberg(2026-08-24)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GPU性能について</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GPU性能を確認します。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16コアGPU『G2-Ultra NX』を搭載している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前世代比で性能85%向上、消費電力64%削減とされている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具体的な前世代GPUとの詳細な仕様比較は本調査の範囲では確認できていない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Notebookcheck(2026-08-24)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Bloomberg・Gizmochina等(2026-08-24)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Geekbenchマルチコアスコア</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15,221点 Xring O3のGeekbenchマルチコアスコア</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業界最高水準と報じられている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The Tech Outlook(2026-08-24)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Xring O3仕様まとめ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CPU構成</a:t>
                      </a:r>
                    </a:p>
                  </a:txBody>
                  <a:tcPr>
                    <a:solidFill>
                      <a:srgbClr val="FFFFFF"/>
                    </a:solidFill>
                  </a:tcPr>
                </a:tc>
                <a:tc>
                  <a:txBody>
                    <a:bodyPr/>
                    <a:lstStyle/>
                    <a:p>
                      <a:pPr>
                        <a:defRPr sz="1200">
                          <a:solidFill>
                            <a:srgbClr val="1C2230"/>
                          </a:solidFill>
                          <a:latin typeface="Yu Gothic"/>
                        </a:defRPr>
                      </a:pPr>
                      <a:r>
                        <a:t>10コア(オール大コア)</a:t>
                      </a:r>
                    </a:p>
                  </a:txBody>
                  <a:tcPr>
                    <a:solidFill>
                      <a:srgbClr val="FFFFFF"/>
                    </a:solidFill>
                  </a:tcPr>
                </a:tc>
              </a:tr>
              <a:tr h="502920">
                <a:tc>
                  <a:txBody>
                    <a:bodyPr/>
                    <a:lstStyle/>
                    <a:p>
                      <a:pPr>
                        <a:defRPr sz="1200">
                          <a:solidFill>
                            <a:srgbClr val="1C2230"/>
                          </a:solidFill>
                          <a:latin typeface="Yu Gothic"/>
                        </a:defRPr>
                      </a:pPr>
                      <a:r>
                        <a:t>ピーククロック</a:t>
                      </a:r>
                    </a:p>
                  </a:txBody>
                  <a:tcPr>
                    <a:solidFill>
                      <a:srgbClr val="F1F5FA"/>
                    </a:solidFill>
                  </a:tcPr>
                </a:tc>
                <a:tc>
                  <a:txBody>
                    <a:bodyPr/>
                    <a:lstStyle/>
                    <a:p>
                      <a:pPr>
                        <a:defRPr sz="1200">
                          <a:solidFill>
                            <a:srgbClr val="1C2230"/>
                          </a:solidFill>
                          <a:latin typeface="Yu Gothic"/>
                        </a:defRPr>
                      </a:pPr>
                      <a:r>
                        <a:t>最大4.35GHz</a:t>
                      </a:r>
                    </a:p>
                  </a:txBody>
                  <a:tcPr>
                    <a:solidFill>
                      <a:srgbClr val="F1F5FA"/>
                    </a:solidFill>
                  </a:tcPr>
                </a:tc>
              </a:tr>
              <a:tr h="502920">
                <a:tc>
                  <a:txBody>
                    <a:bodyPr/>
                    <a:lstStyle/>
                    <a:p>
                      <a:pPr>
                        <a:defRPr sz="1200">
                          <a:solidFill>
                            <a:srgbClr val="1C2230"/>
                          </a:solidFill>
                          <a:latin typeface="Yu Gothic"/>
                        </a:defRPr>
                      </a:pPr>
                      <a:r>
                        <a:t>GPU</a:t>
                      </a:r>
                    </a:p>
                  </a:txBody>
                  <a:tcPr>
                    <a:solidFill>
                      <a:srgbClr val="FFFFFF"/>
                    </a:solidFill>
                  </a:tcPr>
                </a:tc>
                <a:tc>
                  <a:txBody>
                    <a:bodyPr/>
                    <a:lstStyle/>
                    <a:p>
                      <a:pPr>
                        <a:defRPr sz="1200">
                          <a:solidFill>
                            <a:srgbClr val="1C2230"/>
                          </a:solidFill>
                          <a:latin typeface="Yu Gothic"/>
                        </a:defRPr>
                      </a:pPr>
                      <a:r>
                        <a:t>16コアG2-Ultra NX</a:t>
                      </a:r>
                    </a:p>
                  </a:txBody>
                  <a:tcPr>
                    <a:solidFill>
                      <a:srgbClr val="FFFFFF"/>
                    </a:solidFill>
                  </a:tcPr>
                </a:tc>
              </a:tr>
              <a:tr h="502920">
                <a:tc>
                  <a:txBody>
                    <a:bodyPr/>
                    <a:lstStyle/>
                    <a:p>
                      <a:pPr>
                        <a:defRPr sz="1200">
                          <a:solidFill>
                            <a:srgbClr val="1C2230"/>
                          </a:solidFill>
                          <a:latin typeface="Yu Gothic"/>
                        </a:defRPr>
                      </a:pPr>
                      <a:r>
                        <a:t>NPU</a:t>
                      </a:r>
                    </a:p>
                  </a:txBody>
                  <a:tcPr>
                    <a:solidFill>
                      <a:srgbClr val="F1F5FA"/>
                    </a:solidFill>
                  </a:tcPr>
                </a:tc>
                <a:tc>
                  <a:txBody>
                    <a:bodyPr/>
                    <a:lstStyle/>
                    <a:p>
                      <a:pPr>
                        <a:defRPr sz="1200">
                          <a:solidFill>
                            <a:srgbClr val="1C2230"/>
                          </a:solidFill>
                          <a:latin typeface="Yu Gothic"/>
                        </a:defRPr>
                      </a:pPr>
                      <a:r>
                        <a:t>最大200TOPS</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Bloomberg・Gizmochina等(2026-08-24)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チップ開発投資額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200億元超(約30億ドル) シャオミがチップ開発に投じたとされる金額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3,000人超の半導体専門チームを構築</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Bloomberg(2026-08-24)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海外メディアの報道時期</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日付</a:t>
                      </a:r>
                    </a:p>
                  </a:txBody>
                  <a:tcPr>
                    <a:solidFill>
                      <a:srgbClr val="2B3A55"/>
                    </a:solidFill>
                  </a:tcPr>
                </a:tc>
                <a:tc>
                  <a:txBody>
                    <a:bodyPr/>
                    <a:lstStyle/>
                    <a:p>
                      <a:pPr>
                        <a:defRPr sz="1300" b="1">
                          <a:solidFill>
                            <a:srgbClr val="FFFFFF"/>
                          </a:solidFill>
                          <a:latin typeface="Yu Gothic"/>
                        </a:defRPr>
                      </a:pPr>
                      <a:r>
                        <a:t>メディア</a:t>
                      </a:r>
                    </a:p>
                  </a:txBody>
                  <a:tcPr>
                    <a:solidFill>
                      <a:srgbClr val="2B3A55"/>
                    </a:solidFill>
                  </a:tcPr>
                </a:tc>
              </a:tr>
              <a:tr h="502920">
                <a:tc>
                  <a:txBody>
                    <a:bodyPr/>
                    <a:lstStyle/>
                    <a:p>
                      <a:pPr>
                        <a:defRPr sz="1200">
                          <a:solidFill>
                            <a:srgbClr val="1C2230"/>
                          </a:solidFill>
                          <a:latin typeface="Yu Gothic"/>
                        </a:defRPr>
                      </a:pPr>
                      <a:r>
                        <a:t>2026年8月24日</a:t>
                      </a:r>
                    </a:p>
                  </a:txBody>
                  <a:tcPr>
                    <a:solidFill>
                      <a:srgbClr val="FFFFFF"/>
                    </a:solidFill>
                  </a:tcPr>
                </a:tc>
                <a:tc>
                  <a:txBody>
                    <a:bodyPr/>
                    <a:lstStyle/>
                    <a:p>
                      <a:pPr>
                        <a:defRPr sz="1200">
                          <a:solidFill>
                            <a:srgbClr val="1C2230"/>
                          </a:solidFill>
                          <a:latin typeface="Yu Gothic"/>
                        </a:defRPr>
                      </a:pPr>
                      <a:r>
                        <a:t>Bloomberg(投資・競争構図)</a:t>
                      </a:r>
                    </a:p>
                  </a:txBody>
                  <a:tcPr>
                    <a:solidFill>
                      <a:srgbClr val="FFFFFF"/>
                    </a:solidFill>
                  </a:tcPr>
                </a:tc>
              </a:tr>
              <a:tr h="502920">
                <a:tc>
                  <a:txBody>
                    <a:bodyPr/>
                    <a:lstStyle/>
                    <a:p>
                      <a:pPr>
                        <a:defRPr sz="1200">
                          <a:solidFill>
                            <a:srgbClr val="1C2230"/>
                          </a:solidFill>
                          <a:latin typeface="Yu Gothic"/>
                        </a:defRPr>
                      </a:pPr>
                      <a:r>
                        <a:t>2026年8月24日</a:t>
                      </a:r>
                    </a:p>
                  </a:txBody>
                  <a:tcPr>
                    <a:solidFill>
                      <a:srgbClr val="F1F5FA"/>
                    </a:solidFill>
                  </a:tcPr>
                </a:tc>
                <a:tc>
                  <a:txBody>
                    <a:bodyPr/>
                    <a:lstStyle/>
                    <a:p>
                      <a:pPr>
                        <a:defRPr sz="1200">
                          <a:solidFill>
                            <a:srgbClr val="1C2230"/>
                          </a:solidFill>
                          <a:latin typeface="Yu Gothic"/>
                        </a:defRPr>
                      </a:pPr>
                      <a:r>
                        <a:t>Gizmochina・Notebookcheck(仕様詳細)</a:t>
                      </a:r>
                    </a:p>
                  </a:txBody>
                  <a:tcPr>
                    <a:solidFill>
                      <a:srgbClr val="F1F5FA"/>
                    </a:solidFill>
                  </a:tcPr>
                </a:tc>
              </a:tr>
              <a:tr h="502920">
                <a:tc>
                  <a:txBody>
                    <a:bodyPr/>
                    <a:lstStyle/>
                    <a:p>
                      <a:pPr>
                        <a:defRPr sz="1200">
                          <a:solidFill>
                            <a:srgbClr val="1C2230"/>
                          </a:solidFill>
                          <a:latin typeface="Yu Gothic"/>
                        </a:defRPr>
                      </a:pPr>
                      <a:r>
                        <a:t>2026年8月24日</a:t>
                      </a:r>
                    </a:p>
                  </a:txBody>
                  <a:tcPr>
                    <a:solidFill>
                      <a:srgbClr val="FFFFFF"/>
                    </a:solidFill>
                  </a:tcPr>
                </a:tc>
                <a:tc>
                  <a:txBody>
                    <a:bodyPr/>
                    <a:lstStyle/>
                    <a:p>
                      <a:pPr>
                        <a:defRPr sz="1200">
                          <a:solidFill>
                            <a:srgbClr val="1C2230"/>
                          </a:solidFill>
                          <a:latin typeface="Yu Gothic"/>
                        </a:defRPr>
                      </a:pPr>
                      <a:r>
                        <a:t>Android Headlines・The Tech Outlook(位置づけ)</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Bloomberg・Gizmochina等(2026-08-24)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開発体制の規模</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3,000人超 シャオミが構築した半導体専門チームの人数</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自社製チップ開発を支える体制</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Bloomberg(2026-08-24)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一般的なスマートフォンチップ発表 vs 今回のXring O3</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一般的なスマートフォンチップ発表</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専業チップメーカーによる発表が中心</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今回のXring O3</a:t>
            </a:r>
          </a:p>
        </p:txBody>
      </p:sp>
      <p:sp>
        <p:nvSpPr>
          <p:cNvPr id="14" name="Oval 13"/>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スマートフォンメーカー自身による独自開発</a:t>
            </a:r>
          </a:p>
        </p:txBody>
      </p:sp>
      <p:sp>
        <p:nvSpPr>
          <p:cNvPr id="16" name="Oval 15"/>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業界最高水準のベンチマークスコア</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Bloomberg・Gizmochina等(2026-08-24)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今後注目される点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今後の展開について確認します。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9月発売予定のXiaomi 18 Foldでの実際の使用感がどう評価されるかに注目が集まる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クアルコム・MediaTekなど既存大手がどう対応するかも注目点である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具体的な販売実績の予測は本テーマの範囲では断定せず、確認できた事実にとどめる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Bloomberg・Gizmochina等(2026-08-24)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まとめ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本編のまとめです。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シャオミが2026年8月24日、独自開発SoC『Xring O3』を正式発表した</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TSMC 3nmプロセス製造で、AnTuTu約522万点という業界最高水準のベンチマークスコアを記録した</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世界初のLPDDR6ネイティブ対応、最大200TOPSのNPU性能を備える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200億元超の投資、3,000人超の専門チームを背景に、クアルコム・MediaTekへの対抗を狙う</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Bloomberg・Gizmochina等(2026-08-24)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シャオミ、独自開発SoC「Xring O3」発表。AnTuTu520万点超。</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シャオミが、独自開発のスマートフォン向けチップXring O3を発表しました。業界最高水準のベンチマークスコアを、出典付きで整理してお届けしました。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