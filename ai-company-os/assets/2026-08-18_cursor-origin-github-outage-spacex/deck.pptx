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2026年8月18日、AIコーディングエディタCursorを展開するAnysphere(SpaceXが8月14日に買収完了)が、GitHubに対抗する独自サービス『Origin』を早期ベータとして展開開始しました。偶然にも同じ日、GitHub側で約8時間に及ぶ大規模障害が発生しました。今日はこの2つの出来事を出典付きで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結論から確認します。CursorのOrigin早期ベータ展開と、GitHubの約8時間に及ぶ大規模障害が、同じ2026年8月18日に発生しました。エラー率は一部で約50%に達しています。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今日は6つの流れでお伝えします。Originの内容から、GitHub障害の詳細、SpaceXによる買収の背景まで、正確に数字を引用しながら整理します。誇張せず、確認できなかったことは正直にお伝えします。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このテーマを扱う理由です。着手日前日という高い鮮度、対抗サービス始動と障害が同日という劇的な巡り合わせ、SpaceXによる大型買収という関心の高さに注目しました。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CursorはAI支援機能を組み込んだコーディングエディタで、開発元はAnysphereです。2026年6月にSpaceXが600億ドルでの買収を発表し、8月14日に買収を完了、SpaceXAIとして統合されました。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の内容です。2026年8月18日、Cursorの全有料プラン向けに早期ベータとして展開開始しました。リポジトリ管理・プルリクエスト・コードレビューといった機能を備え、Vercel・Depot・Buildkiteと連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は『エージェントスケール』向けのコードホスティングと位置づけられ、AIコーディングエージェントがエディタを離れずに作業を完結できることを目指しています。ただしエージェント向け機能の一部は『近日提供』の段階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Originは、Cursorの全有料プラン向けに早期ベータとして展開されています。Vercel・Depot・Buildkiteとの連携は既に利用可能です。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GitHubの障害は、米国東部時間午前9時40分頃から午後5時15分頃まで、約8時間にわたり断続的に発生しました。エラー率はWeb・APIで約20%、一部で約50%に達しています。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GitHubの障害は約8時間続き、API・リポジトリダウンロード・GitHub Actions・Webhooks・Pages・Copilotなど幅広いサービスに影響しました。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GitHub障害の影響範囲を一覧にしました。API・リポジトリダウンロード・GitHub Actions・Webhooks・Pages・Copilotなど、開発者が日常的に使う機能の多くに影響が及びました。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障害の技術的な根本原因は公式には開示されていませんが、AIコーディングツールの利用急増による負荷増大が背景として指摘されています。前日にも別の障害修正が発表されており、一連の信頼性問題の一つと位置づ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同日発生までの流れを図にしました。8月14日のSpaceXによる買収完了から、8月18日のOrigin早期ベータ展開、そして同じ日のGitHub大規模障害という流れです。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今回の出来事を3ステップで総括しました。Originの展開、GitHubの障害、そしてこれが偶然同日に重なったという流れです。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この同日発生が意図的な狙い撃ちだったのかは確認できていません。結果的に同日となった可能性が高いですが、断定的な表現は避け、正直にお伝えします。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SpaceXによるAnysphere買収額は600億ドルで、直近のシリーズD時点の評価額293億ドルからほぼ倍増しています。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SpaceXによる買収の経緯です。6月に発表され、8月14日に完了、その4日後にOriginが展開されました。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この買収はAIソフトウェア企業に対する史上最大級の買収額の一つと報じられ、売上高の約15倍という高い倍率です。SpaceXは4月時点でオプション契約を結んでおり、最終的に買収を選択しました。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買収前と買収後のAnysphereを対比しました。SpaceX傘下となったことで評価額がほぼ倍増し、Originという新規事業の展開にもつながっています。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GitHubは前日にも別の障害への修正を発表しており、今回の障害は一連の信頼性問題の最新の一つと位置づけられています。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一部報道では、Origin利用時のデータ取り扱い条件が明示されていないとの指摘があります。正確な契約条件までは確認できていないため、論点の存在を紹介するにとどめます。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GitHubとOriginの位置づけの違いを対比しました。GitHubは業界標準ですが今回大規模障害を起こし、Originはそれと同期しながら使える新規サービスとして始動しました。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AIコーディングエージェントの普及に伴い、コードホスティング基盤への負荷が増大している構図が浮き彫りになりました。Cursorはエディタだけでなく上流の基盤にも進出しています。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Originの現状と今後追加予定の機能を対比しました。基本的なコードホスティング機能は既に利用可能ですが、エージェント向けの追加機能は近日提供とされ、時期は明示されていません。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SpaceXによる買収完了からOriginの展開まで、わずか4日という短い期間でした。</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確認できなかったことを正直にお伝えします。同日発生が狙い撃ちかどうか、障害の根本原因、データ取り扱いの契約条件は確認できていません。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今回の出来事の要点をまとめました。Originの展開、GitHubの障害、SpaceXによる買収、そして同日発生の評価という4点です。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このニュースが読者にとって意味することをまとめました。AIコーディングツールの動向を追う立場、開発者の立場、AI業界のM&amp;A動向に関心がある立場、それぞれで意識したい視点です。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まとめです。Originの展開とGitHub障害という2つの出来事、そしてその背景にあるSpaceXによる買収を正直にお伝えしました。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本編は以上です。今回はCursor Originの展開とGitHub大規模障害という2つの出来事について、出典付きで正確に整理してお伝えしました。数字は出典どおりに扱い、確認できなかったことは正直にお伝えしました。次回もまた出典付きでお届けし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GitHubが8時間落ちた日、</a:t>
            </a:r>
          </a:p>
          <a:p>
            <a:pPr algn="l">
              <a:lnSpc>
                <a:spcPct val="115000"/>
              </a:lnSpc>
            </a:pPr>
            <a:r>
              <a:rPr sz="4200" b="1">
                <a:solidFill>
                  <a:srgbClr val="FFFFFF"/>
                </a:solidFill>
                <a:latin typeface="Yu Gothic"/>
              </a:rPr>
              <a:t>SpaceX傘下Cursorは</a:t>
            </a:r>
          </a:p>
          <a:p>
            <a:pPr algn="l">
              <a:lnSpc>
                <a:spcPct val="115000"/>
              </a:lnSpc>
            </a:pPr>
            <a:r>
              <a:rPr sz="4200" b="1">
                <a:solidFill>
                  <a:srgbClr val="FFFFFF"/>
                </a:solidFill>
                <a:latin typeface="Yu Gothic"/>
              </a:rPr>
              <a:t>対抗サービスを始動した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2026年8月18日——「Origin」早期ベータ展開とGitHub大規模障害が同日発生</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VentureBeat・SiliconANGLE・DevOps.com・CNBC(2026年8月18日)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Origin始動とGitHub障害が同日発生</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GitHub障害は約8時間、エラー率は最大約50%(一部リポジトリ)に達した</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VentureBeat・DevOps.com(2026-08-18)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Cursor・Anysphereとは・基礎知識</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Originの内容を確認する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GitHub障害の内容を確認する</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SpaceXによるAnysphere買収の背景を確認する</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確認できなかったこと・まとめ</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本テーマを取り上げる理由です。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着手日の前日(2026年8月18日)発生という高い鮮度の話題である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GitHub対抗サービスの始動とGitHub自体の大規模障害が同日という劇的な巡り合わせである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SpaceXによる600億ドルでのCursor買収という、AI業界の大型M&amp;Aの延長線上にある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複数の独立した情報源(VentureBeat・SiliconANGLE・DevOps.com・CNBC等)で確認できる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VentureBeat・SiliconANGLE・CNBC(2026-08-18)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Cursor・Anysphereとは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基礎知識を簡単に整理します。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Cursorは、AI支援機能を組み込んだコーディングエディタ</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開発元はAnysphere</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2026年6月16日、SpaceXがAnysphereを600億ドルの全株式交換で買収すると発表</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2026年8月14日に買収完了、SpaceX社内の新部門『SpaceXAI』として統合</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CNBC・Yahoo Finance(2026年)</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Origin(コードホスティング)の内容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発表日</a:t>
                      </a:r>
                    </a:p>
                  </a:txBody>
                  <a:tcPr>
                    <a:solidFill>
                      <a:srgbClr val="FFFFFF"/>
                    </a:solidFill>
                  </a:tcPr>
                </a:tc>
                <a:tc>
                  <a:txBody>
                    <a:bodyPr/>
                    <a:lstStyle/>
                    <a:p>
                      <a:pPr>
                        <a:defRPr sz="1200">
                          <a:solidFill>
                            <a:srgbClr val="1A1A2E"/>
                          </a:solidFill>
                          <a:latin typeface="Yu Gothic"/>
                        </a:defRPr>
                      </a:pPr>
                      <a:r>
                        <a:t>2026年8月18日</a:t>
                      </a:r>
                    </a:p>
                  </a:txBody>
                  <a:tcPr>
                    <a:solidFill>
                      <a:srgbClr val="FFFFFF"/>
                    </a:solidFill>
                  </a:tcPr>
                </a:tc>
              </a:tr>
              <a:tr h="502920">
                <a:tc>
                  <a:txBody>
                    <a:bodyPr/>
                    <a:lstStyle/>
                    <a:p>
                      <a:pPr>
                        <a:defRPr sz="1200">
                          <a:solidFill>
                            <a:srgbClr val="1A1A2E"/>
                          </a:solidFill>
                          <a:latin typeface="Yu Gothic"/>
                        </a:defRPr>
                      </a:pPr>
                      <a:r>
                        <a:t>展開範囲</a:t>
                      </a:r>
                    </a:p>
                  </a:txBody>
                  <a:tcPr>
                    <a:solidFill>
                      <a:srgbClr val="F3F6FC"/>
                    </a:solidFill>
                  </a:tcPr>
                </a:tc>
                <a:tc>
                  <a:txBody>
                    <a:bodyPr/>
                    <a:lstStyle/>
                    <a:p>
                      <a:pPr>
                        <a:defRPr sz="1200">
                          <a:solidFill>
                            <a:srgbClr val="1A1A2E"/>
                          </a:solidFill>
                          <a:latin typeface="Yu Gothic"/>
                        </a:defRPr>
                      </a:pPr>
                      <a:r>
                        <a:t>Cursorの全有料プラン向けに早期ベータとして展開</a:t>
                      </a:r>
                    </a:p>
                  </a:txBody>
                  <a:tcPr>
                    <a:solidFill>
                      <a:srgbClr val="F3F6FC"/>
                    </a:solidFill>
                  </a:tcPr>
                </a:tc>
              </a:tr>
              <a:tr h="502920">
                <a:tc>
                  <a:txBody>
                    <a:bodyPr/>
                    <a:lstStyle/>
                    <a:p>
                      <a:pPr>
                        <a:defRPr sz="1200">
                          <a:solidFill>
                            <a:srgbClr val="1A1A2E"/>
                          </a:solidFill>
                          <a:latin typeface="Yu Gothic"/>
                        </a:defRPr>
                      </a:pPr>
                      <a:r>
                        <a:t>主要機能</a:t>
                      </a:r>
                    </a:p>
                  </a:txBody>
                  <a:tcPr>
                    <a:solidFill>
                      <a:srgbClr val="FFFFFF"/>
                    </a:solidFill>
                  </a:tcPr>
                </a:tc>
                <a:tc>
                  <a:txBody>
                    <a:bodyPr/>
                    <a:lstStyle/>
                    <a:p>
                      <a:pPr>
                        <a:defRPr sz="1200">
                          <a:solidFill>
                            <a:srgbClr val="1A1A2E"/>
                          </a:solidFill>
                          <a:latin typeface="Yu Gothic"/>
                        </a:defRPr>
                      </a:pPr>
                      <a:r>
                        <a:t>リポジトリ管理・プルリクエスト・コードレビュー・GitHub双方向同期</a:t>
                      </a:r>
                    </a:p>
                  </a:txBody>
                  <a:tcPr>
                    <a:solidFill>
                      <a:srgbClr val="FFFFFF"/>
                    </a:solidFill>
                  </a:tcPr>
                </a:tc>
              </a:tr>
              <a:tr h="502920">
                <a:tc>
                  <a:txBody>
                    <a:bodyPr/>
                    <a:lstStyle/>
                    <a:p>
                      <a:pPr>
                        <a:defRPr sz="1200">
                          <a:solidFill>
                            <a:srgbClr val="1A1A2E"/>
                          </a:solidFill>
                          <a:latin typeface="Yu Gothic"/>
                        </a:defRPr>
                      </a:pPr>
                      <a:r>
                        <a:t>連携サービス</a:t>
                      </a:r>
                    </a:p>
                  </a:txBody>
                  <a:tcPr>
                    <a:solidFill>
                      <a:srgbClr val="F3F6FC"/>
                    </a:solidFill>
                  </a:tcPr>
                </a:tc>
                <a:tc>
                  <a:txBody>
                    <a:bodyPr/>
                    <a:lstStyle/>
                    <a:p>
                      <a:pPr>
                        <a:defRPr sz="1200">
                          <a:solidFill>
                            <a:srgbClr val="1A1A2E"/>
                          </a:solidFill>
                          <a:latin typeface="Yu Gothic"/>
                        </a:defRPr>
                      </a:pPr>
                      <a:r>
                        <a:t>Vercel・Depot・Buildkite(既存GitHub Actionsをそのまま実行)</a:t>
                      </a:r>
                    </a:p>
                  </a:txBody>
                  <a:tcPr>
                    <a:solidFill>
                      <a:srgbClr val="F3F6FC"/>
                    </a:solidFill>
                  </a:tcPr>
                </a:tc>
              </a:tr>
              <a:tr h="502920">
                <a:tc>
                  <a:txBody>
                    <a:bodyPr/>
                    <a:lstStyle/>
                    <a:p>
                      <a:pPr>
                        <a:defRPr sz="1200">
                          <a:solidFill>
                            <a:srgbClr val="1A1A2E"/>
                          </a:solidFill>
                          <a:latin typeface="Yu Gothic"/>
                        </a:defRPr>
                      </a:pPr>
                      <a:r>
                        <a:t>位置づけ</a:t>
                      </a:r>
                    </a:p>
                  </a:txBody>
                  <a:tcPr>
                    <a:solidFill>
                      <a:srgbClr val="FFFFFF"/>
                    </a:solidFill>
                  </a:tcPr>
                </a:tc>
                <a:tc>
                  <a:txBody>
                    <a:bodyPr/>
                    <a:lstStyle/>
                    <a:p>
                      <a:pPr>
                        <a:defRPr sz="1200">
                          <a:solidFill>
                            <a:srgbClr val="1A1A2E"/>
                          </a:solidFill>
                          <a:latin typeface="Yu Gothic"/>
                        </a:defRPr>
                      </a:pPr>
                      <a:r>
                        <a:t>GitHubを完全に置き換えず、既存リポジトリと同期しながら利用可能</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VentureBeat・SiliconANGLE・TestingCatalog(2026-08-18)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Originの狙い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この新サービスが目指すものです。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『エージェントスケール』向けのコードホスティングと位置づけられている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AIコーディングエージェントが、プロンプトからマージ済みPRまで、エディタを離れずに完結できることを目指す</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既存のGitHubリポジトリを同期させて試せる、低摩擦な導入設計</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エージェント向けの追加機能は『近日提供』とされ、現時点で全機能が揃っているわけではない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VentureBeat・explainx.ai(2026-08-18)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早期ベータの展開範囲</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全有料プラン向け</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Vercel・Depot・Buildkiteとの連携は既に利用可能</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TestingCatalog(2026-08-18)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GitHub大規模障害の内容</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同日に発生した障害の詳細です。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2026年8月18日、米国東部時間午前9時40分頃から午後5時15分頃まで断続的に発生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継続時間は約8時間</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Web・APIトラフィックのエラー率は約20%</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一部のリポジトリコンテンツ・アーカイブダウンロードではエラー率が約50%に達した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DevOps.com・IT Pro・BleepingComputer(2026-08-18)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障害の継続時間</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約8時間</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API・リポジトリダウンロード・GitHub Actions・Webhooks・Pages・Copilot等に影響</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DevOps.com・IT Pro(2026-08-18)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GitHub障害の影響範囲</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継続時間</a:t>
                      </a:r>
                    </a:p>
                  </a:txBody>
                  <a:tcPr>
                    <a:solidFill>
                      <a:srgbClr val="FFFFFF"/>
                    </a:solidFill>
                  </a:tcPr>
                </a:tc>
                <a:tc>
                  <a:txBody>
                    <a:bodyPr/>
                    <a:lstStyle/>
                    <a:p>
                      <a:pPr>
                        <a:defRPr sz="1200">
                          <a:solidFill>
                            <a:srgbClr val="1A1A2E"/>
                          </a:solidFill>
                          <a:latin typeface="Yu Gothic"/>
                        </a:defRPr>
                      </a:pPr>
                      <a:r>
                        <a:t>約8時間(断続的)</a:t>
                      </a:r>
                    </a:p>
                  </a:txBody>
                  <a:tcPr>
                    <a:solidFill>
                      <a:srgbClr val="FFFFFF"/>
                    </a:solidFill>
                  </a:tcPr>
                </a:tc>
              </a:tr>
              <a:tr h="502920">
                <a:tc>
                  <a:txBody>
                    <a:bodyPr/>
                    <a:lstStyle/>
                    <a:p>
                      <a:pPr>
                        <a:defRPr sz="1200">
                          <a:solidFill>
                            <a:srgbClr val="1A1A2E"/>
                          </a:solidFill>
                          <a:latin typeface="Yu Gothic"/>
                        </a:defRPr>
                      </a:pPr>
                      <a:r>
                        <a:t>Web・APIエラー率</a:t>
                      </a:r>
                    </a:p>
                  </a:txBody>
                  <a:tcPr>
                    <a:solidFill>
                      <a:srgbClr val="F3F6FC"/>
                    </a:solidFill>
                  </a:tcPr>
                </a:tc>
                <a:tc>
                  <a:txBody>
                    <a:bodyPr/>
                    <a:lstStyle/>
                    <a:p>
                      <a:pPr>
                        <a:defRPr sz="1200">
                          <a:solidFill>
                            <a:srgbClr val="1A1A2E"/>
                          </a:solidFill>
                          <a:latin typeface="Yu Gothic"/>
                        </a:defRPr>
                      </a:pPr>
                      <a:r>
                        <a:t>約20%</a:t>
                      </a:r>
                    </a:p>
                  </a:txBody>
                  <a:tcPr>
                    <a:solidFill>
                      <a:srgbClr val="F3F6FC"/>
                    </a:solidFill>
                  </a:tcPr>
                </a:tc>
              </a:tr>
              <a:tr h="502920">
                <a:tc>
                  <a:txBody>
                    <a:bodyPr/>
                    <a:lstStyle/>
                    <a:p>
                      <a:pPr>
                        <a:defRPr sz="1200">
                          <a:solidFill>
                            <a:srgbClr val="1A1A2E"/>
                          </a:solidFill>
                          <a:latin typeface="Yu Gothic"/>
                        </a:defRPr>
                      </a:pPr>
                      <a:r>
                        <a:t>リポジトリ・アーカイブダウンロードのエラー率</a:t>
                      </a:r>
                    </a:p>
                  </a:txBody>
                  <a:tcPr>
                    <a:solidFill>
                      <a:srgbClr val="FFFFFF"/>
                    </a:solidFill>
                  </a:tcPr>
                </a:tc>
                <a:tc>
                  <a:txBody>
                    <a:bodyPr/>
                    <a:lstStyle/>
                    <a:p>
                      <a:pPr>
                        <a:defRPr sz="1200">
                          <a:solidFill>
                            <a:srgbClr val="1A1A2E"/>
                          </a:solidFill>
                          <a:latin typeface="Yu Gothic"/>
                        </a:defRPr>
                      </a:pPr>
                      <a:r>
                        <a:t>一部で約50%</a:t>
                      </a:r>
                    </a:p>
                  </a:txBody>
                  <a:tcPr>
                    <a:solidFill>
                      <a:srgbClr val="FFFFFF"/>
                    </a:solidFill>
                  </a:tcPr>
                </a:tc>
              </a:tr>
              <a:tr h="502920">
                <a:tc>
                  <a:txBody>
                    <a:bodyPr/>
                    <a:lstStyle/>
                    <a:p>
                      <a:pPr>
                        <a:defRPr sz="1200">
                          <a:solidFill>
                            <a:srgbClr val="1A1A2E"/>
                          </a:solidFill>
                          <a:latin typeface="Yu Gothic"/>
                        </a:defRPr>
                      </a:pPr>
                      <a:r>
                        <a:t>影響を受けたサービス</a:t>
                      </a:r>
                    </a:p>
                  </a:txBody>
                  <a:tcPr>
                    <a:solidFill>
                      <a:srgbClr val="F3F6FC"/>
                    </a:solidFill>
                  </a:tcPr>
                </a:tc>
                <a:tc>
                  <a:txBody>
                    <a:bodyPr/>
                    <a:lstStyle/>
                    <a:p>
                      <a:pPr>
                        <a:defRPr sz="1200">
                          <a:solidFill>
                            <a:srgbClr val="1A1A2E"/>
                          </a:solidFill>
                          <a:latin typeface="Yu Gothic"/>
                        </a:defRPr>
                      </a:pPr>
                      <a:r>
                        <a:t>API・リポジトリDL・GitHub Actions・Webhooks・Pages・Copilot</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DevOps.com・IT Pro・BleepingComputer(2026-08-18)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障害の背景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報道されている背景です。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技術的な根本原因は、本調査時点で公式には開示されていない</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AIコーディングツールの利用急増によるトラフィック負荷増大が背景として指摘されている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GitHubは前日(8月17日)にも別の障害への修正実施を発表しており、一連の信頼性問題の最新の一つと位置づけられている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『一連の信頼性問題』という表現は複数報道の言及であり、断定的な原因分析ではない点に留意する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DevOps.com・Forbes(2026-08-17/18)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同日発生までの流れ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SpaceXがAnysphereを買収完了(8月14日)</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600億ドル、SpaceXAIとして統合</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CursorがOriginを早期ベータ展開(8月18日)</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GitHub対抗のコードホスティング</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GitHub大規模障害が発生(同じ8月18日)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約8時間、最大約50%のエラー率</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6270"/>
                </a:solidFill>
                <a:latin typeface="Yu Gothic"/>
              </a:rPr>
              <a:t>買収完了からOrigin始動、GitHub障害までの流れ</a:t>
            </a:r>
          </a:p>
        </p:txBody>
      </p:sp>
      <p:sp>
        <p:nvSpPr>
          <p:cNvPr id="21" name="TextBox 20"/>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CNBC・VentureBeat・DevOps.com(2026年)</a:t>
            </a:r>
          </a:p>
        </p:txBody>
      </p:sp>
      <p:sp>
        <p:nvSpPr>
          <p:cNvPr id="22" name="TextBox 2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23" name="TextBox 2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今回の出来事の3ステップ総括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 Origin早期ベータ展開</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Cursorの全有料プラン向けにGitHub対抗サービス</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 GitHub大規模障害(同日)</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約8時間、最大約50%のエラー率</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3. 偶然の同日発生</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意図的な狙い撃ちかは確認できていない</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『同日発生』は狙い撃ちだったのか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この点を正直に整理します。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複数の報道(VentureBeat等)は、この2つの出来事を結び付けて報じている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しかしOrigin自体の開発・ベータ展開のタイミングが、GitHub障害を見越して意図的に合わせられたものかどうかは、本調査の範囲では確認できていない</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結果的に同日となった可能性が高いと考えられるが、断定はしない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『GitHubを狙い撃ちした』という表現は、確認できていない事実として扱う</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本リサーチ(2026-08-18時点)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SpaceXによる買収額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600億ドル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直近のシリーズD時点の評価額293億ドルからほぼ倍増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CNBC・Yahoo Finance(2026年)</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SpaceXによるAnysphere買収の経緯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日付</a:t>
                      </a:r>
                    </a:p>
                  </a:txBody>
                  <a:tcPr>
                    <a:solidFill>
                      <a:srgbClr val="1E2761"/>
                    </a:solidFill>
                  </a:tcPr>
                </a:tc>
                <a:tc>
                  <a:txBody>
                    <a:bodyPr/>
                    <a:lstStyle/>
                    <a:p>
                      <a:pPr>
                        <a:defRPr sz="1300" b="1">
                          <a:solidFill>
                            <a:srgbClr val="FFFFFF"/>
                          </a:solidFill>
                          <a:latin typeface="Yu Gothic"/>
                        </a:defRPr>
                      </a:pPr>
                      <a:r>
                        <a:t>出来事</a:t>
                      </a:r>
                    </a:p>
                  </a:txBody>
                  <a:tcPr>
                    <a:solidFill>
                      <a:srgbClr val="1E2761"/>
                    </a:solidFill>
                  </a:tcPr>
                </a:tc>
              </a:tr>
              <a:tr h="502920">
                <a:tc>
                  <a:txBody>
                    <a:bodyPr/>
                    <a:lstStyle/>
                    <a:p>
                      <a:pPr>
                        <a:defRPr sz="1200">
                          <a:solidFill>
                            <a:srgbClr val="1A1A2E"/>
                          </a:solidFill>
                          <a:latin typeface="Yu Gothic"/>
                        </a:defRPr>
                      </a:pPr>
                      <a:r>
                        <a:t>2026年6月16日</a:t>
                      </a:r>
                    </a:p>
                  </a:txBody>
                  <a:tcPr>
                    <a:solidFill>
                      <a:srgbClr val="FFFFFF"/>
                    </a:solidFill>
                  </a:tcPr>
                </a:tc>
                <a:tc>
                  <a:txBody>
                    <a:bodyPr/>
                    <a:lstStyle/>
                    <a:p>
                      <a:pPr>
                        <a:defRPr sz="1200">
                          <a:solidFill>
                            <a:srgbClr val="1A1A2E"/>
                          </a:solidFill>
                          <a:latin typeface="Yu Gothic"/>
                        </a:defRPr>
                      </a:pPr>
                      <a:r>
                        <a:t>買収発表(600億ドル、全株式交換)</a:t>
                      </a:r>
                    </a:p>
                  </a:txBody>
                  <a:tcPr>
                    <a:solidFill>
                      <a:srgbClr val="FFFFFF"/>
                    </a:solidFill>
                  </a:tcPr>
                </a:tc>
              </a:tr>
              <a:tr h="502920">
                <a:tc>
                  <a:txBody>
                    <a:bodyPr/>
                    <a:lstStyle/>
                    <a:p>
                      <a:pPr>
                        <a:defRPr sz="1200">
                          <a:solidFill>
                            <a:srgbClr val="1A1A2E"/>
                          </a:solidFill>
                          <a:latin typeface="Yu Gothic"/>
                        </a:defRPr>
                      </a:pPr>
                      <a:r>
                        <a:t>2026年8月14日</a:t>
                      </a:r>
                    </a:p>
                  </a:txBody>
                  <a:tcPr>
                    <a:solidFill>
                      <a:srgbClr val="F3F6FC"/>
                    </a:solidFill>
                  </a:tcPr>
                </a:tc>
                <a:tc>
                  <a:txBody>
                    <a:bodyPr/>
                    <a:lstStyle/>
                    <a:p>
                      <a:pPr>
                        <a:defRPr sz="1200">
                          <a:solidFill>
                            <a:srgbClr val="1A1A2E"/>
                          </a:solidFill>
                          <a:latin typeface="Yu Gothic"/>
                        </a:defRPr>
                      </a:pPr>
                      <a:r>
                        <a:t>買収完了、SpaceXAIとして統合</a:t>
                      </a:r>
                    </a:p>
                  </a:txBody>
                  <a:tcPr>
                    <a:solidFill>
                      <a:srgbClr val="F3F6FC"/>
                    </a:solidFill>
                  </a:tcPr>
                </a:tc>
              </a:tr>
              <a:tr h="502920">
                <a:tc>
                  <a:txBody>
                    <a:bodyPr/>
                    <a:lstStyle/>
                    <a:p>
                      <a:pPr>
                        <a:defRPr sz="1200">
                          <a:solidFill>
                            <a:srgbClr val="1A1A2E"/>
                          </a:solidFill>
                          <a:latin typeface="Yu Gothic"/>
                        </a:defRPr>
                      </a:pPr>
                      <a:r>
                        <a:t>2026年8月18日</a:t>
                      </a:r>
                    </a:p>
                  </a:txBody>
                  <a:tcPr>
                    <a:solidFill>
                      <a:srgbClr val="FFFFFF"/>
                    </a:solidFill>
                  </a:tcPr>
                </a:tc>
                <a:tc>
                  <a:txBody>
                    <a:bodyPr/>
                    <a:lstStyle/>
                    <a:p>
                      <a:pPr>
                        <a:defRPr sz="1200">
                          <a:solidFill>
                            <a:srgbClr val="1A1A2E"/>
                          </a:solidFill>
                          <a:latin typeface="Yu Gothic"/>
                        </a:defRPr>
                      </a:pPr>
                      <a:r>
                        <a:t>OriginをCursorの全有料プランへ展開</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CNBC・Yahoo Finance・VentureBeat(2026年)</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買収の位置づけ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この買収が持つ意味です。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AIソフトウェア企業に対する史上最大級の買収額の一つと報じられている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買収額はCursorの売上高の約15倍という、AIソフトウェア企業として非常に高い倍率とされる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SpaceXは2026年4月21日の時点で、600億ドルでの買収権か、約100億ドルの解約金支払いかを選べるオプション契約を締結していたとされる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最終的に買収を選択し、8月14日に完了した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Qz・CNBC(2026年)</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買収前Anysphere vs 買収後SpaceXAI</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買収前(独立系スタートアップ)</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直近のシリーズD時点で評価額293億ドル</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独立系のAIコーディングスタートアップ</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資金調達はVC等からの出資中心</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買収後(SpaceXAI)</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買収額600億ドル(全株式交換)</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SpaceX社内の新部門として統合</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Originという新規事業展開が可能に</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GitHub障害の再発性</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前日(8月17日)にも別障害の修正発表</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一連の信頼性問題の最新の一つと位置づけられている(報道ベース)</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Forbes(2026-08-17)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Origin利用時のデータ取り扱いについて</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一部で指摘されている論点です。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一部報道では『Origin利用時のデータ取り扱い条件が明示されていない』との指摘がある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SpaceX傘下となったCursorが、有料利用者のコードを事実上保有する形になるとの見方も報じられている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この点の正確な契約条件・利用規約の詳細までは、本調査の範囲では確認できていない</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本テーマはこの論点の存在を正直に紹介するにとどめ、断定的な評価は行わない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Techtimes(2026-08-18)</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GitHub vs Origin(位置づけの違い)</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GitHub(既存)</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業界標準のコードホスティング</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8月18日に約8時間の大規模障害</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前日にも別障害の修正を発表</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Origin(新規、Cursor)</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GitHubと同期しながら利用できる設計</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『エージェントスケール』向けと位置づけ</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8月18日に早期ベータとして展開開始</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AIコーディング業界における位置づけ</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業界内での意味です。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AIコーディングエージェントの普及に伴い、コードホスティング基盤そのものへの負荷が増大している構図が浮き彫りになった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Cursorはエディタだけでなく、コードホスティングという上流の基盤にも進出する動きを見せている</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GitHub側も一連の障害を受けて信頼性改善に取り組んでいるとされる</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この分野の競争が今後どう展開するかは、本調査の範囲では見通せない</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本リサーチ(2026-08-18時点)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Origin早期ベータの現状 vs 今後追加予定の機能</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現時点で利用可能</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リポジトリ管理・プルリクエスト・コードレビュー</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GitHubとの双方向同期</a:t>
            </a:r>
          </a:p>
        </p:txBody>
      </p:sp>
      <p:sp>
        <p:nvSpPr>
          <p:cNvPr id="13" name="Oval 12"/>
          <p:cNvSpPr/>
          <p:nvPr/>
        </p:nvSpPr>
        <p:spPr>
          <a:xfrm>
            <a:off x="777240"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4" name="TextBox 13"/>
          <p:cNvSpPr txBox="1"/>
          <p:nvPr/>
        </p:nvSpPr>
        <p:spPr>
          <a:xfrm>
            <a:off x="1188720"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Vercel・Depot・Buildkiteとの連携</a:t>
            </a:r>
          </a:p>
        </p:txBody>
      </p:sp>
      <p:sp>
        <p:nvSpPr>
          <p:cNvPr id="15" name="Rounded Rectangle 14"/>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『近日提供』とされる機能</a:t>
            </a:r>
          </a:p>
        </p:txBody>
      </p:sp>
      <p:sp>
        <p:nvSpPr>
          <p:cNvPr id="18" name="Oval 17"/>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エージェント向けの追加機能</a:t>
            </a:r>
          </a:p>
        </p:txBody>
      </p:sp>
      <p:sp>
        <p:nvSpPr>
          <p:cNvPr id="20" name="Oval 19"/>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1" name="TextBox 20"/>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具体的な提供時期は明示されていない</a:t>
            </a:r>
          </a:p>
        </p:txBody>
      </p:sp>
      <p:sp>
        <p:nvSpPr>
          <p:cNvPr id="22" name="Oval 21"/>
          <p:cNvSpPr/>
          <p:nvPr/>
        </p:nvSpPr>
        <p:spPr>
          <a:xfrm>
            <a:off x="6598767" y="363016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23" name="TextBox 22"/>
          <p:cNvSpPr txBox="1"/>
          <p:nvPr/>
        </p:nvSpPr>
        <p:spPr>
          <a:xfrm>
            <a:off x="7010247" y="361188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現時点で全機能が揃っているわけではない</a:t>
            </a:r>
          </a:p>
        </p:txBody>
      </p:sp>
      <p:sp>
        <p:nvSpPr>
          <p:cNvPr id="24" name="TextBox 2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25" name="TextBox 2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買収完了からOrigin展開までの日数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わずか4日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8月14日の買収完了から8月18日のOrigin展開まで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本リサーチ(2026-08-18時点の日付計算)</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確認できなかったこと・留保事項</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正直にお伝えする留保事項です。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Origin発表とGitHub障害の同日発生が、意図的な狙い撃ちかどうか</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GitHub障害の技術的な根本原因</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Origin利用時のデータ取り扱いの正確な契約条件</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本テーマは特定企業(Cursor/Anysphere、GitHub/Microsoft)の製品利用を推奨・批判するものではなく、報じられた事実の紹介にとどめる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本リサーチ(2026-08-18時点)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今回の出来事の要点まとめ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Origin展開日</a:t>
                      </a:r>
                    </a:p>
                  </a:txBody>
                  <a:tcPr>
                    <a:solidFill>
                      <a:srgbClr val="FFFFFF"/>
                    </a:solidFill>
                  </a:tcPr>
                </a:tc>
                <a:tc>
                  <a:txBody>
                    <a:bodyPr/>
                    <a:lstStyle/>
                    <a:p>
                      <a:pPr>
                        <a:defRPr sz="1200">
                          <a:solidFill>
                            <a:srgbClr val="1A1A2E"/>
                          </a:solidFill>
                          <a:latin typeface="Yu Gothic"/>
                        </a:defRPr>
                      </a:pPr>
                      <a:r>
                        <a:t>2026年8月18日(早期ベータ、全有料プラン向け)</a:t>
                      </a:r>
                    </a:p>
                  </a:txBody>
                  <a:tcPr>
                    <a:solidFill>
                      <a:srgbClr val="FFFFFF"/>
                    </a:solidFill>
                  </a:tcPr>
                </a:tc>
              </a:tr>
              <a:tr h="502920">
                <a:tc>
                  <a:txBody>
                    <a:bodyPr/>
                    <a:lstStyle/>
                    <a:p>
                      <a:pPr>
                        <a:defRPr sz="1200">
                          <a:solidFill>
                            <a:srgbClr val="1A1A2E"/>
                          </a:solidFill>
                          <a:latin typeface="Yu Gothic"/>
                        </a:defRPr>
                      </a:pPr>
                      <a:r>
                        <a:t>GitHub障害</a:t>
                      </a:r>
                    </a:p>
                  </a:txBody>
                  <a:tcPr>
                    <a:solidFill>
                      <a:srgbClr val="F3F6FC"/>
                    </a:solidFill>
                  </a:tcPr>
                </a:tc>
                <a:tc>
                  <a:txBody>
                    <a:bodyPr/>
                    <a:lstStyle/>
                    <a:p>
                      <a:pPr>
                        <a:defRPr sz="1200">
                          <a:solidFill>
                            <a:srgbClr val="1A1A2E"/>
                          </a:solidFill>
                          <a:latin typeface="Yu Gothic"/>
                        </a:defRPr>
                      </a:pPr>
                      <a:r>
                        <a:t>同日、約8時間、最大約50%のエラー率</a:t>
                      </a:r>
                    </a:p>
                  </a:txBody>
                  <a:tcPr>
                    <a:solidFill>
                      <a:srgbClr val="F3F6FC"/>
                    </a:solidFill>
                  </a:tcPr>
                </a:tc>
              </a:tr>
              <a:tr h="502920">
                <a:tc>
                  <a:txBody>
                    <a:bodyPr/>
                    <a:lstStyle/>
                    <a:p>
                      <a:pPr>
                        <a:defRPr sz="1200">
                          <a:solidFill>
                            <a:srgbClr val="1A1A2E"/>
                          </a:solidFill>
                          <a:latin typeface="Yu Gothic"/>
                        </a:defRPr>
                      </a:pPr>
                      <a:r>
                        <a:t>SpaceX買収</a:t>
                      </a:r>
                    </a:p>
                  </a:txBody>
                  <a:tcPr>
                    <a:solidFill>
                      <a:srgbClr val="FFFFFF"/>
                    </a:solidFill>
                  </a:tcPr>
                </a:tc>
                <a:tc>
                  <a:txBody>
                    <a:bodyPr/>
                    <a:lstStyle/>
                    <a:p>
                      <a:pPr>
                        <a:defRPr sz="1200">
                          <a:solidFill>
                            <a:srgbClr val="1A1A2E"/>
                          </a:solidFill>
                          <a:latin typeface="Yu Gothic"/>
                        </a:defRPr>
                      </a:pPr>
                      <a:r>
                        <a:t>600億ドル、8月14日完了</a:t>
                      </a:r>
                    </a:p>
                  </a:txBody>
                  <a:tcPr>
                    <a:solidFill>
                      <a:srgbClr val="FFFFFF"/>
                    </a:solidFill>
                  </a:tcPr>
                </a:tc>
              </a:tr>
              <a:tr h="502920">
                <a:tc>
                  <a:txBody>
                    <a:bodyPr/>
                    <a:lstStyle/>
                    <a:p>
                      <a:pPr>
                        <a:defRPr sz="1200">
                          <a:solidFill>
                            <a:srgbClr val="1A1A2E"/>
                          </a:solidFill>
                          <a:latin typeface="Yu Gothic"/>
                        </a:defRPr>
                      </a:pPr>
                      <a:r>
                        <a:t>同日発生の評価</a:t>
                      </a:r>
                    </a:p>
                  </a:txBody>
                  <a:tcPr>
                    <a:solidFill>
                      <a:srgbClr val="F3F6FC"/>
                    </a:solidFill>
                  </a:tcPr>
                </a:tc>
                <a:tc>
                  <a:txBody>
                    <a:bodyPr/>
                    <a:lstStyle/>
                    <a:p>
                      <a:pPr>
                        <a:defRPr sz="1200">
                          <a:solidFill>
                            <a:srgbClr val="1A1A2E"/>
                          </a:solidFill>
                          <a:latin typeface="Yu Gothic"/>
                        </a:defRPr>
                      </a:pPr>
                      <a:r>
                        <a:t>意図的な狙い撃ちかは未確認、正直に開示</a:t>
                      </a:r>
                    </a:p>
                  </a:txBody>
                  <a:tcPr>
                    <a:solidFill>
                      <a:srgbClr val="F3F6FC"/>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VentureBeat・DevOps.com・CNBC(2026-08-18)</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このニュースが読者にとって意味すること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1</a:t>
            </a:r>
          </a:p>
        </p:txBody>
      </p:sp>
      <p:sp>
        <p:nvSpPr>
          <p:cNvPr id="9" name="TextBox 8"/>
          <p:cNvSpPr txBox="1"/>
          <p:nvPr/>
        </p:nvSpPr>
        <p:spPr>
          <a:xfrm>
            <a:off x="731520"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AIコーディングツールの動向を追う立場として</a:t>
            </a:r>
          </a:p>
        </p:txBody>
      </p:sp>
      <p:sp>
        <p:nvSpPr>
          <p:cNvPr id="10" name="TextBox 9"/>
          <p:cNvSpPr txBox="1"/>
          <p:nvPr/>
        </p:nvSpPr>
        <p:spPr>
          <a:xfrm>
            <a:off x="731520"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コードホスティング基盤そのものへの競争参入という新しい動きとして参考になる</a:t>
            </a:r>
          </a:p>
        </p:txBody>
      </p:sp>
      <p:sp>
        <p:nvSpPr>
          <p:cNvPr id="11" name="Rounded Rectangle 10"/>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7298"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2</a:t>
            </a:r>
          </a:p>
        </p:txBody>
      </p:sp>
      <p:sp>
        <p:nvSpPr>
          <p:cNvPr id="14" name="TextBox 13"/>
          <p:cNvSpPr txBox="1"/>
          <p:nvPr/>
        </p:nvSpPr>
        <p:spPr>
          <a:xfrm>
            <a:off x="4597298"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開発者・エンジニアの立場として</a:t>
            </a:r>
          </a:p>
        </p:txBody>
      </p:sp>
      <p:sp>
        <p:nvSpPr>
          <p:cNvPr id="15" name="TextBox 14"/>
          <p:cNvSpPr txBox="1"/>
          <p:nvPr/>
        </p:nvSpPr>
        <p:spPr>
          <a:xfrm>
            <a:off x="4597298"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GitHubの信頼性問題とOriginという代替選択肢の登場を合わせて把握しておく視点が役立つ</a:t>
            </a:r>
          </a:p>
        </p:txBody>
      </p:sp>
      <p:sp>
        <p:nvSpPr>
          <p:cNvPr id="16" name="Rounded Rectangle 15"/>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63076" y="1828800"/>
            <a:ext cx="2997098" cy="822960"/>
          </a:xfrm>
          <a:prstGeom prst="rect">
            <a:avLst/>
          </a:prstGeom>
          <a:noFill/>
        </p:spPr>
        <p:txBody>
          <a:bodyPr wrap="square" anchor="t" lIns="0" rIns="0" tIns="0" bIns="0">
            <a:spAutoFit/>
          </a:bodyPr>
          <a:lstStyle/>
          <a:p>
            <a:pPr algn="l"/>
            <a:r>
              <a:rPr sz="3400" b="1">
                <a:solidFill>
                  <a:srgbClr val="D9A441"/>
                </a:solidFill>
                <a:latin typeface="Yu Gothic"/>
              </a:rPr>
              <a:t>3</a:t>
            </a:r>
          </a:p>
        </p:txBody>
      </p:sp>
      <p:sp>
        <p:nvSpPr>
          <p:cNvPr id="19" name="TextBox 18"/>
          <p:cNvSpPr txBox="1"/>
          <p:nvPr/>
        </p:nvSpPr>
        <p:spPr>
          <a:xfrm>
            <a:off x="8463076" y="2834640"/>
            <a:ext cx="2997098" cy="548640"/>
          </a:xfrm>
          <a:prstGeom prst="rect">
            <a:avLst/>
          </a:prstGeom>
          <a:noFill/>
        </p:spPr>
        <p:txBody>
          <a:bodyPr wrap="square" anchor="t" lIns="0" rIns="0" tIns="0" bIns="0">
            <a:spAutoFit/>
          </a:bodyPr>
          <a:lstStyle/>
          <a:p>
            <a:pPr algn="l"/>
            <a:r>
              <a:rPr sz="1600" b="1">
                <a:solidFill>
                  <a:srgbClr val="1E2761"/>
                </a:solidFill>
                <a:latin typeface="Yu Gothic"/>
              </a:rPr>
              <a:t>AI業界のM&amp;A動向に関心がある立場として</a:t>
            </a:r>
          </a:p>
        </p:txBody>
      </p:sp>
      <p:sp>
        <p:nvSpPr>
          <p:cNvPr id="20" name="TextBox 19"/>
          <p:cNvSpPr txBox="1"/>
          <p:nvPr/>
        </p:nvSpPr>
        <p:spPr>
          <a:xfrm>
            <a:off x="8463076" y="352044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SpaceXによる600億ドルという大型買収が、実際のプロダクト展開にどうつながったかの事例として参考になる</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B6270"/>
                </a:solidFill>
                <a:latin typeface="Yu Gothic"/>
              </a:rPr>
              <a:t>本編のまとめです。</a:t>
            </a:r>
          </a:p>
        </p:txBody>
      </p:sp>
      <p:sp>
        <p:nvSpPr>
          <p:cNvPr id="7" name="Oval 6"/>
          <p:cNvSpPr/>
          <p:nvPr/>
        </p:nvSpPr>
        <p:spPr>
          <a:xfrm>
            <a:off x="457200" y="21214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SpaceX傘下となったCursorが、2026年8月18日にGitHub対抗のコードホスティング『Origin』を早期ベータ展開した</a:t>
            </a:r>
          </a:p>
        </p:txBody>
      </p:sp>
      <p:sp>
        <p:nvSpPr>
          <p:cNvPr id="9" name="Oval 8"/>
          <p:cNvSpPr/>
          <p:nvPr/>
        </p:nvSpPr>
        <p:spPr>
          <a:xfrm>
            <a:off x="457200" y="28986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同じ日、GitHub側で約8時間・最大約50%のエラー率という大規模障害が発生した</a:t>
            </a:r>
          </a:p>
        </p:txBody>
      </p:sp>
      <p:sp>
        <p:nvSpPr>
          <p:cNvPr id="11" name="Oval 10"/>
          <p:cNvSpPr/>
          <p:nvPr/>
        </p:nvSpPr>
        <p:spPr>
          <a:xfrm>
            <a:off x="457200" y="367588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同日発生が意図的な狙い撃ちかどうかは確認できておらず、正直に開示した</a:t>
            </a:r>
          </a:p>
        </p:txBody>
      </p:sp>
      <p:sp>
        <p:nvSpPr>
          <p:cNvPr id="13" name="Oval 12"/>
          <p:cNvSpPr/>
          <p:nvPr/>
        </p:nvSpPr>
        <p:spPr>
          <a:xfrm>
            <a:off x="457200" y="4453127"/>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SpaceXによる600億ドルでのAnysphere買収完了からわずか4日後の展開という背景も整理した</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本リサーチ(2026-08-18時点)</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VentureBeat・SiliconANGLE・DevOps.com・CNBC(2026-08-18)</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GitHubが落ちた日、対抗馬が動き出した。偶然か、必然か。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SpaceX傘下Cursorが2026年8月18日にOriginを早期ベータ展開し、同じ日にGitHubで約8時間の大規模障害が発生しました。この巡り合わせと、その背景にあるSpaceXによる600億ドルの買収まで、出典付きで整理してお届けしまし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research.mdで出典一覧・確認できなかったことの詳細を確認する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