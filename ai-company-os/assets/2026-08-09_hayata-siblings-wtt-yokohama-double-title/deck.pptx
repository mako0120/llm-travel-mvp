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兄妹で、世界を獲りました。卓球のWTTチャンピオンズ横浜2026で、張本智和選手が男子シングルス、張本美和選手が女子シングルスで、それぞれ優勝しました。今日はこの出来事を、出典付きの事実だけで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を3つの事実でまとめます。男子シングルスでは張本智和選手が優勝、女子シングルスでは張本美和選手が前年覇者を破って初優勝、そして同一大会で兄妹が揃って優勝する『アベックV』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話す内容を5つに整理しました。何が起きたのかという事実確認から始め、大会そのものの基礎知識、アベックVという言葉の意味、確認できたこと・できなかったこと、最後にこの結果が何を意味するのかまで、順番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このニュースを扱う理由は鮮度です。男子・女子の決勝が行われたのは8月9日、この動画に着手したのは8月11日で、発表からわずか2日しか経っていません。直近の出来事として扱える範囲です。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舞台となったのは、神奈川県横浜市の横浜BUNTAIで開催されたWTTチャンピオンズ横浜2026です。大会は8月4日に開幕し、男子・女子シングルスの決勝はともに8月9日に行われました。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専門用語を整理しておきます。WTTは国際卓球連盟傘下のプロツアー運営組織で、チャンピオンズは上位クラスの大会シリーズです。アベックVは、近しい間柄の2人が同じ大会で揃って優勝することを指す言葉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までの流れを整理しました。8月4日に大会が開幕し、8月9日に男子・女子それぞれのシングルス決勝が行われ、張本智和選手・張本美和選手の兄妹が揃って優勝しました。これが『アベックV』と報じられた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男子シングルス決勝の結果です。張本智和選手が、韓国代表のオ・ジュンソン選手を破って優勝しました。決勝の具体的なスコアは、本調査の範囲では確認できていません。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女子シングルス決勝の結果です。張本美和選手が、前年覇者である中国代表の陳幸同選手を破り、初優勝を果たしました。こちらも決勝の具体的なスコアは確認できていません。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2つの決勝を並べてみます。男子は張本智和選手がオ・ジュンソン選手を破っての優勝、女子は張本美和選手が前年覇者の陳幸同選手を破っての初優勝です。ここでは結果という事実だけを淡々と扱います。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この日の流れを図にしました。男子決勝で張本智和選手が優勝し、女子決勝でも張本美和選手が初優勝。この2つが同じ大会・同じ日に重なったことが『兄妹アベックV』として報じられました。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改めて男子シングルスにフォーカスします。張本智和選手が優勝し、韓国代表のオ・ジュンソン選手を決勝で破りました。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続いて女子シングルスです。張本美和選手が初優勝を果たし、前年覇者である陳幸同選手を決勝で破りました。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ここまでの内容を表にまとめました。男子は張本智和選手がオ・ジュンソン選手を破って優勝、女子は張本美和選手が陳幸同選手を破って初優勝という流れです。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も共有します。決勝2試合の具体的なスコア、両選手の通算優勝回数やランキング詳細、兄妹揃っての優勝の過去例、今後の代表選考への影響は、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張本智和選手について、本調査で確認できる事実だけをまとめました。日本代表として、8月9日に横浜BUNTAIで行われた男子シングルス決勝で優勝しています。年齢や通算優勝回数などは確認できていません。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張本美和選手についても、確認できる事実だけをまとめました。日本代表として、女子シングルスで初優勝しました。決勝の相手は前年覇者の陳幸同選手です。年齢や通算優勝回数など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この動画で使っている事実は、複数の情報源で確認できたものだけを使っています。男子・女子の優勝という核となる事実は、複数のメディアで確認できています。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上で気をつけている点です。国や地域の対立を煽らず、特定選手を過度に持ち上げたり貶めたりする表現は避け、写真や肖像も使用していません。見出しは強めでも、本文の事実は創作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この結果が日本卓球界にとって何を意味するかを考えます。男子・女子の決勝を同一大会で日本選手が制したこと、そして兄妹という近い世代の選手が同時にそれを成し遂げたことは、注目すべき材料です。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視聴者にとっての意味も考えます。今後の代表選考や大会予定への影響は本調査の範囲では確認できていないため、公式発表や連盟の発表を優先して続報を確認することをおすすめします。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この話題を追う場合の視点を整理しました。公式記録を確認すること、決勝スコアや通算成績といった未確認情報の続報を待つこと、そして本人や連盟などの一次情報源を優先することが基本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えて使わなかった切り口も紹介します。兄妹揃っての優勝が過去に例があるかを網羅的に確認せず誇張すること、決勝スコアを推測で書くこと、今後の影響を創作することは、いずれも正直さのルールに反するため見送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このデッキ自体の品質チェック結果です。スライド枚数は構成どおり30枚、全スライドにスピーカーノートがあり、文字中心のbulletsは全体の40%以下に抑え、同じレイアウトが4連続することもありません。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本テーマで使用した出典を一覧にしました。テレビ東京卓球NEWS、共同通信配信の地方各紙、Olympics.comです。数字・事実の一つひとつに、こうした出典があることを改めて確認しておきます。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決勝の日付にも改めて注目します。2026年8月9日、この1日のうちに男子・女子の決勝がともに行われ、兄妹が揃って優勝しました。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既存テーマとの関係も確認しました。ai-company-os/assets配下に、張本兄妹選手や卓球を主題としたテーマは、2026年8月11日時点で存在せず、重複ではありません。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として、制作にあたって配慮したポイントをまとめます。数字は出典付きの確定事実のみを使い、確認できなかったことは不明と明記しました。特定選手や特定国を過度に持ち上げたり貶めたりせず、写真や肖像も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まとめます。張本智和選手が男子シングルス、張本美和選手が女子シングルスで、同じ大会・同じ日に優勝しました。兄妹が揃って世界レベルの大会を制したという出来事を、出典付きの事実だけで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までご視聴いただき、ありがとうございました。今回お伝えした内容は、テレビ東京卓球NEWS、共同通信配信の地方各紙、Olympics.comの報道に基づいています。続報や公式記録については、一次情報源で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兄妹で、</a:t>
            </a:r>
          </a:p>
          <a:p>
            <a:pPr algn="l">
              <a:lnSpc>
                <a:spcPct val="115000"/>
              </a:lnSpc>
            </a:pPr>
            <a:r>
              <a:rPr sz="4200" b="1">
                <a:solidFill>
                  <a:srgbClr val="FFFFFF"/>
                </a:solidFill>
                <a:latin typeface="Yu Gothic"/>
              </a:rPr>
              <a:t>世界を獲った。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張本智和選手・張本美和選手、卓球WTTチャンピオンズ横浜2026で兄妹揃って優勝(2026年8月9日)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テレビ東京卓球NEWS、信濃毎日新聞デジタル・北海道新聞デジタル・沖縄タイムス(共同通信配信)、Olympics.com。数値はすべて出典付きの確定事実のみ使用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今回の結論(3つの事実)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優勝</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男子シングルス</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張本智和選手(日本)がオ・ジュンソン選手(韓国)を破る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初優勝</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女子シングルス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張本美和選手(日本)が前年覇者・陳幸同選手(中国)を破る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アベックV</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兄妹揃って優勝</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同一大会・同日の決勝で兄妹がともに頂点に立った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何が起きたのか(男子・女子決勝の結果)</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WTTチャンピオンズ横浜2026とはどんな大会か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『アベックV』とは何を意味するのか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確認できたこと・確認できなかったこと</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これは何を意味するのか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男子・女子決勝(兄妹アベックV)</a:t>
                      </a:r>
                    </a:p>
                  </a:txBody>
                  <a:tcPr>
                    <a:solidFill>
                      <a:srgbClr val="FFFFFF"/>
                    </a:solidFill>
                  </a:tcPr>
                </a:tc>
                <a:tc>
                  <a:txBody>
                    <a:bodyPr/>
                    <a:lstStyle/>
                    <a:p>
                      <a:pPr>
                        <a:defRPr sz="1200">
                          <a:solidFill>
                            <a:srgbClr val="20261F"/>
                          </a:solidFill>
                          <a:latin typeface="Yu Gothic"/>
                        </a:defRPr>
                      </a:pPr>
                      <a:r>
                        <a:t>2026年8月9日</a:t>
                      </a:r>
                    </a:p>
                  </a:txBody>
                  <a:tcPr>
                    <a:solidFill>
                      <a:srgbClr val="FFFFFF"/>
                    </a:solidFill>
                  </a:tcPr>
                </a:tc>
              </a:tr>
              <a:tr h="502920">
                <a:tc>
                  <a:txBody>
                    <a:bodyPr/>
                    <a:lstStyle/>
                    <a:p>
                      <a:pPr>
                        <a:defRPr sz="1200">
                          <a:solidFill>
                            <a:srgbClr val="20261F"/>
                          </a:solidFill>
                          <a:latin typeface="Yu Gothic"/>
                        </a:defRPr>
                      </a:pPr>
                      <a:r>
                        <a:t>この動画の着手日</a:t>
                      </a:r>
                    </a:p>
                  </a:txBody>
                  <a:tcPr>
                    <a:solidFill>
                      <a:srgbClr val="F4F1E6"/>
                    </a:solidFill>
                  </a:tcPr>
                </a:tc>
                <a:tc>
                  <a:txBody>
                    <a:bodyPr/>
                    <a:lstStyle/>
                    <a:p>
                      <a:pPr>
                        <a:defRPr sz="1200">
                          <a:solidFill>
                            <a:srgbClr val="20261F"/>
                          </a:solidFill>
                          <a:latin typeface="Yu Gothic"/>
                        </a:defRPr>
                      </a:pPr>
                      <a:r>
                        <a:t>2026年8月11日</a:t>
                      </a:r>
                    </a:p>
                  </a:txBody>
                  <a:tcPr>
                    <a:solidFill>
                      <a:srgbClr val="F4F1E6"/>
                    </a:solidFill>
                  </a:tcPr>
                </a:tc>
              </a:tr>
              <a:tr h="502920">
                <a:tc>
                  <a:txBody>
                    <a:bodyPr/>
                    <a:lstStyle/>
                    <a:p>
                      <a:pPr>
                        <a:defRPr sz="1200">
                          <a:solidFill>
                            <a:srgbClr val="20261F"/>
                          </a:solidFill>
                          <a:latin typeface="Yu Gothic"/>
                        </a:defRPr>
                      </a:pPr>
                      <a:r>
                        <a:t>発表からの経過</a:t>
                      </a:r>
                    </a:p>
                  </a:txBody>
                  <a:tcPr>
                    <a:solidFill>
                      <a:srgbClr val="FFFFFF"/>
                    </a:solidFill>
                  </a:tcPr>
                </a:tc>
                <a:tc>
                  <a:txBody>
                    <a:bodyPr/>
                    <a:lstStyle/>
                    <a:p>
                      <a:pPr>
                        <a:defRPr sz="1200">
                          <a:solidFill>
                            <a:srgbClr val="20261F"/>
                          </a:solidFill>
                          <a:latin typeface="Yu Gothic"/>
                        </a:defRPr>
                      </a:pPr>
                      <a:r>
                        <a:t>2日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大会の基礎情報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大会名</a:t>
                      </a:r>
                    </a:p>
                  </a:txBody>
                  <a:tcPr>
                    <a:solidFill>
                      <a:srgbClr val="FFFFFF"/>
                    </a:solidFill>
                  </a:tcPr>
                </a:tc>
                <a:tc>
                  <a:txBody>
                    <a:bodyPr/>
                    <a:lstStyle/>
                    <a:p>
                      <a:pPr>
                        <a:defRPr sz="1200">
                          <a:solidFill>
                            <a:srgbClr val="20261F"/>
                          </a:solidFill>
                          <a:latin typeface="Yu Gothic"/>
                        </a:defRPr>
                      </a:pPr>
                      <a:r>
                        <a:t>WTTチャンピオンズ横浜2026</a:t>
                      </a:r>
                    </a:p>
                  </a:txBody>
                  <a:tcPr>
                    <a:solidFill>
                      <a:srgbClr val="FFFFFF"/>
                    </a:solidFill>
                  </a:tcPr>
                </a:tc>
              </a:tr>
              <a:tr h="502920">
                <a:tc>
                  <a:txBody>
                    <a:bodyPr/>
                    <a:lstStyle/>
                    <a:p>
                      <a:pPr>
                        <a:defRPr sz="1200">
                          <a:solidFill>
                            <a:srgbClr val="20261F"/>
                          </a:solidFill>
                          <a:latin typeface="Yu Gothic"/>
                        </a:defRPr>
                      </a:pPr>
                      <a:r>
                        <a:t>開催地</a:t>
                      </a:r>
                    </a:p>
                  </a:txBody>
                  <a:tcPr>
                    <a:solidFill>
                      <a:srgbClr val="F4F1E6"/>
                    </a:solidFill>
                  </a:tcPr>
                </a:tc>
                <a:tc>
                  <a:txBody>
                    <a:bodyPr/>
                    <a:lstStyle/>
                    <a:p>
                      <a:pPr>
                        <a:defRPr sz="1200">
                          <a:solidFill>
                            <a:srgbClr val="20261F"/>
                          </a:solidFill>
                          <a:latin typeface="Yu Gothic"/>
                        </a:defRPr>
                      </a:pPr>
                      <a:r>
                        <a:t>神奈川県横浜市・横浜BUNTAI</a:t>
                      </a:r>
                    </a:p>
                  </a:txBody>
                  <a:tcPr>
                    <a:solidFill>
                      <a:srgbClr val="F4F1E6"/>
                    </a:solidFill>
                  </a:tcPr>
                </a:tc>
              </a:tr>
              <a:tr h="502920">
                <a:tc>
                  <a:txBody>
                    <a:bodyPr/>
                    <a:lstStyle/>
                    <a:p>
                      <a:pPr>
                        <a:defRPr sz="1200">
                          <a:solidFill>
                            <a:srgbClr val="20261F"/>
                          </a:solidFill>
                          <a:latin typeface="Yu Gothic"/>
                        </a:defRPr>
                      </a:pPr>
                      <a:r>
                        <a:t>開催期間</a:t>
                      </a:r>
                    </a:p>
                  </a:txBody>
                  <a:tcPr>
                    <a:solidFill>
                      <a:srgbClr val="FFFFFF"/>
                    </a:solidFill>
                  </a:tcPr>
                </a:tc>
                <a:tc>
                  <a:txBody>
                    <a:bodyPr/>
                    <a:lstStyle/>
                    <a:p>
                      <a:pPr>
                        <a:defRPr sz="1200">
                          <a:solidFill>
                            <a:srgbClr val="20261F"/>
                          </a:solidFill>
                          <a:latin typeface="Yu Gothic"/>
                        </a:defRPr>
                      </a:pPr>
                      <a:r>
                        <a:t>2026年8月4日から(決勝は8月9日)</a:t>
                      </a:r>
                    </a:p>
                  </a:txBody>
                  <a:tcPr>
                    <a:solidFill>
                      <a:srgbClr val="FFFFFF"/>
                    </a:solidFill>
                  </a:tcPr>
                </a:tc>
              </a:tr>
              <a:tr h="502920">
                <a:tc>
                  <a:txBody>
                    <a:bodyPr/>
                    <a:lstStyle/>
                    <a:p>
                      <a:pPr>
                        <a:defRPr sz="1200">
                          <a:solidFill>
                            <a:srgbClr val="20261F"/>
                          </a:solidFill>
                          <a:latin typeface="Yu Gothic"/>
                        </a:defRPr>
                      </a:pPr>
                      <a:r>
                        <a:t>種目</a:t>
                      </a:r>
                    </a:p>
                  </a:txBody>
                  <a:tcPr>
                    <a:solidFill>
                      <a:srgbClr val="F4F1E6"/>
                    </a:solidFill>
                  </a:tcPr>
                </a:tc>
                <a:tc>
                  <a:txBody>
                    <a:bodyPr/>
                    <a:lstStyle/>
                    <a:p>
                      <a:pPr>
                        <a:defRPr sz="1200">
                          <a:solidFill>
                            <a:srgbClr val="20261F"/>
                          </a:solidFill>
                          <a:latin typeface="Yu Gothic"/>
                        </a:defRPr>
                      </a:pPr>
                      <a:r>
                        <a:t>男子シングルス・女子シングルス 各決勝</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Olympics.com「卓球 WTTチャンピオンズ横浜2026」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 『WTT』『シングルス』『アベックV』とは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専門用語を先に整理します。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WTT(World Table Tennis)は、国際卓球連盟(ITTF)傘下の卓球プロツアー運営組織</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『チャンピオンズ』は、WTTツアーの中でも上位クラスに位置づけられる大会シリーズの1つ</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『シングルスの決勝』は、勝ち上がった選手2人による、優勝を決める1対1の試合</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『アベックV』は、兄妹や夫婦など近しい間柄の2人が、同じ大会で揃って優勝すること</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決勝までの流れ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大会開始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2026年8月4日、横浜BUNTAIでWTTチャンピオンズ横浜2026開幕</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男子シングルス決勝</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2026年8月9日、張本智和選手がオ・ジュンソン選手を破り優勝</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女子シングルス決勝</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同日、張本美和選手が陳幸同選手を破り初優勝</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兄妹アベックV</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同一大会で兄妹が揃って優勝という結果に</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男子シングルス決勝</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張本智和選手</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優勝</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日本代表</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オ・ジュンソン選手</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準優勝</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韓国代表</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女子シングルス決勝</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張本美和選手</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初優勝</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日本代表</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陳幸同選手</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準優勝(前年覇者)</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中国代表</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男子決勝 vs 女子決勝</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男子シングルス決勝</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優勝: 張本智和選手(日本)</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敗れたのは: オ・ジュンソン選手(韓国)</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女子シングルス決勝</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優勝: 張本美和選手(日本)、初優勝</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敗れたのは: 陳幸同選手(中国)、前年覇者</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兄妹アベックVができるまで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男子決勝</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張本智和選手が優勝</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女子決勝</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張本美和選手が初優勝</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『兄妹アベックV』として伝えられた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決勝の具体的なスコアは本調査の範囲では不明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男子シングルス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張本智和選手(日本)がオ・ジュンソン選手(韓国)を破る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テレビ東京卓球NEWS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女子シングルス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初優勝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張本美和選手(日本)が前年覇者・陳幸同選手(中国)を破る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テレビ東京卓球NEWS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結果まとめ表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種目</a:t>
                      </a:r>
                    </a:p>
                  </a:txBody>
                  <a:tcPr>
                    <a:solidFill>
                      <a:srgbClr val="24523F"/>
                    </a:solidFill>
                  </a:tcPr>
                </a:tc>
                <a:tc>
                  <a:txBody>
                    <a:bodyPr/>
                    <a:lstStyle/>
                    <a:p>
                      <a:pPr>
                        <a:defRPr sz="1300" b="1">
                          <a:solidFill>
                            <a:srgbClr val="FFFFFF"/>
                          </a:solidFill>
                          <a:latin typeface="Yu Gothic"/>
                        </a:defRPr>
                      </a:pPr>
                      <a:r>
                        <a:t>優勝</a:t>
                      </a:r>
                    </a:p>
                  </a:txBody>
                  <a:tcPr>
                    <a:solidFill>
                      <a:srgbClr val="24523F"/>
                    </a:solidFill>
                  </a:tcPr>
                </a:tc>
                <a:tc>
                  <a:txBody>
                    <a:bodyPr/>
                    <a:lstStyle/>
                    <a:p>
                      <a:pPr>
                        <a:defRPr sz="1300" b="1">
                          <a:solidFill>
                            <a:srgbClr val="FFFFFF"/>
                          </a:solidFill>
                          <a:latin typeface="Yu Gothic"/>
                        </a:defRPr>
                      </a:pPr>
                      <a:r>
                        <a:t>準優勝</a:t>
                      </a:r>
                    </a:p>
                  </a:txBody>
                  <a:tcPr>
                    <a:solidFill>
                      <a:srgbClr val="24523F"/>
                    </a:solidFill>
                  </a:tcPr>
                </a:tc>
                <a:tc>
                  <a:txBody>
                    <a:bodyPr/>
                    <a:lstStyle/>
                    <a:p>
                      <a:pPr>
                        <a:defRPr sz="1300" b="1">
                          <a:solidFill>
                            <a:srgbClr val="FFFFFF"/>
                          </a:solidFill>
                          <a:latin typeface="Yu Gothic"/>
                        </a:defRPr>
                      </a:pPr>
                      <a:r>
                        <a:t>備考</a:t>
                      </a:r>
                    </a:p>
                  </a:txBody>
                  <a:tcPr>
                    <a:solidFill>
                      <a:srgbClr val="24523F"/>
                    </a:solidFill>
                  </a:tcPr>
                </a:tc>
              </a:tr>
              <a:tr h="502920">
                <a:tc>
                  <a:txBody>
                    <a:bodyPr/>
                    <a:lstStyle/>
                    <a:p>
                      <a:pPr>
                        <a:defRPr sz="1200">
                          <a:solidFill>
                            <a:srgbClr val="20261F"/>
                          </a:solidFill>
                          <a:latin typeface="Yu Gothic"/>
                        </a:defRPr>
                      </a:pPr>
                      <a:r>
                        <a:t>男子シングルス</a:t>
                      </a:r>
                    </a:p>
                  </a:txBody>
                  <a:tcPr>
                    <a:solidFill>
                      <a:srgbClr val="FFFFFF"/>
                    </a:solidFill>
                  </a:tcPr>
                </a:tc>
                <a:tc>
                  <a:txBody>
                    <a:bodyPr/>
                    <a:lstStyle/>
                    <a:p>
                      <a:pPr>
                        <a:defRPr sz="1200">
                          <a:solidFill>
                            <a:srgbClr val="20261F"/>
                          </a:solidFill>
                          <a:latin typeface="Yu Gothic"/>
                        </a:defRPr>
                      </a:pPr>
                      <a:r>
                        <a:t>張本智和選手(日本)</a:t>
                      </a:r>
                    </a:p>
                  </a:txBody>
                  <a:tcPr>
                    <a:solidFill>
                      <a:srgbClr val="FFFFFF"/>
                    </a:solidFill>
                  </a:tcPr>
                </a:tc>
                <a:tc>
                  <a:txBody>
                    <a:bodyPr/>
                    <a:lstStyle/>
                    <a:p>
                      <a:pPr>
                        <a:defRPr sz="1200">
                          <a:solidFill>
                            <a:srgbClr val="20261F"/>
                          </a:solidFill>
                          <a:latin typeface="Yu Gothic"/>
                        </a:defRPr>
                      </a:pPr>
                      <a:r>
                        <a:t>オ・ジュンソン選手(韓国)</a:t>
                      </a:r>
                    </a:p>
                  </a:txBody>
                  <a:tcPr>
                    <a:solidFill>
                      <a:srgbClr val="FFFFFF"/>
                    </a:solidFill>
                  </a:tcPr>
                </a:tc>
                <a:tc>
                  <a:txBody>
                    <a:bodyPr/>
                    <a:lstStyle/>
                    <a:p>
                      <a:pPr>
                        <a:defRPr sz="1200">
                          <a:solidFill>
                            <a:srgbClr val="20261F"/>
                          </a:solidFill>
                          <a:latin typeface="Yu Gothic"/>
                        </a:defRPr>
                      </a:pPr>
                      <a:r>
                        <a:t>2026年8月9日決勝</a:t>
                      </a:r>
                    </a:p>
                  </a:txBody>
                  <a:tcPr>
                    <a:solidFill>
                      <a:srgbClr val="FFFFFF"/>
                    </a:solidFill>
                  </a:tcPr>
                </a:tc>
              </a:tr>
              <a:tr h="502920">
                <a:tc>
                  <a:txBody>
                    <a:bodyPr/>
                    <a:lstStyle/>
                    <a:p>
                      <a:pPr>
                        <a:defRPr sz="1200">
                          <a:solidFill>
                            <a:srgbClr val="20261F"/>
                          </a:solidFill>
                          <a:latin typeface="Yu Gothic"/>
                        </a:defRPr>
                      </a:pPr>
                      <a:r>
                        <a:t>女子シングルス</a:t>
                      </a:r>
                    </a:p>
                  </a:txBody>
                  <a:tcPr>
                    <a:solidFill>
                      <a:srgbClr val="F4F1E6"/>
                    </a:solidFill>
                  </a:tcPr>
                </a:tc>
                <a:tc>
                  <a:txBody>
                    <a:bodyPr/>
                    <a:lstStyle/>
                    <a:p>
                      <a:pPr>
                        <a:defRPr sz="1200">
                          <a:solidFill>
                            <a:srgbClr val="20261F"/>
                          </a:solidFill>
                          <a:latin typeface="Yu Gothic"/>
                        </a:defRPr>
                      </a:pPr>
                      <a:r>
                        <a:t>張本美和選手(日本)</a:t>
                      </a:r>
                    </a:p>
                  </a:txBody>
                  <a:tcPr>
                    <a:solidFill>
                      <a:srgbClr val="F4F1E6"/>
                    </a:solidFill>
                  </a:tcPr>
                </a:tc>
                <a:tc>
                  <a:txBody>
                    <a:bodyPr/>
                    <a:lstStyle/>
                    <a:p>
                      <a:pPr>
                        <a:defRPr sz="1200">
                          <a:solidFill>
                            <a:srgbClr val="20261F"/>
                          </a:solidFill>
                          <a:latin typeface="Yu Gothic"/>
                        </a:defRPr>
                      </a:pPr>
                      <a:r>
                        <a:t>陳幸同選手(中国)</a:t>
                      </a:r>
                    </a:p>
                  </a:txBody>
                  <a:tcPr>
                    <a:solidFill>
                      <a:srgbClr val="F4F1E6"/>
                    </a:solidFill>
                  </a:tcPr>
                </a:tc>
                <a:tc>
                  <a:txBody>
                    <a:bodyPr/>
                    <a:lstStyle/>
                    <a:p>
                      <a:pPr>
                        <a:defRPr sz="1200">
                          <a:solidFill>
                            <a:srgbClr val="20261F"/>
                          </a:solidFill>
                          <a:latin typeface="Yu Gothic"/>
                        </a:defRPr>
                      </a:pPr>
                      <a:r>
                        <a:t>初優勝、前年覇者を破る</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推測で埋めず、正直に『不明』として扱います。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決勝2試合の具体的なスコア(セットカウント等)の詳細</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張本智和選手・張本美和選手それぞれの大会通算優勝回数、直近のランキング詳細</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兄妹が同一大会で揃って優勝するのが日本・世界の卓球界で過去に例があるかどうかの網羅的な確認</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今後の代表選考・大会予定への影響</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張本智和選手について(確認できる事実)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日本代表</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国籍・所属</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男子シングルスで優勝</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横浜BUNTAI</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優勝した舞台</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2026年8月9日の決勝</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張本美和選手について(確認できる事実)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日本代表</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国籍・所属</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女子シングルスで初優勝</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前年覇者撃破</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決勝の相手</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陳幸同選手(中国)を破る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検証: 複数メディアの一致確認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テレビ東京卓球NEWS</a:t>
                      </a:r>
                    </a:p>
                  </a:txBody>
                  <a:tcPr>
                    <a:solidFill>
                      <a:srgbClr val="24523F"/>
                    </a:solidFill>
                  </a:tcPr>
                </a:tc>
                <a:tc>
                  <a:txBody>
                    <a:bodyPr/>
                    <a:lstStyle/>
                    <a:p>
                      <a:pPr>
                        <a:defRPr sz="1300" b="1">
                          <a:solidFill>
                            <a:srgbClr val="FFFFFF"/>
                          </a:solidFill>
                          <a:latin typeface="Yu Gothic"/>
                        </a:defRPr>
                      </a:pPr>
                      <a:r>
                        <a:t>共同通信配信各紙</a:t>
                      </a:r>
                    </a:p>
                  </a:txBody>
                  <a:tcPr>
                    <a:solidFill>
                      <a:srgbClr val="24523F"/>
                    </a:solidFill>
                  </a:tcPr>
                </a:tc>
                <a:tc>
                  <a:txBody>
                    <a:bodyPr/>
                    <a:lstStyle/>
                    <a:p>
                      <a:pPr>
                        <a:defRPr sz="1300" b="1">
                          <a:solidFill>
                            <a:srgbClr val="FFFFFF"/>
                          </a:solidFill>
                          <a:latin typeface="Yu Gothic"/>
                        </a:defRPr>
                      </a:pPr>
                      <a:r>
                        <a:t>Olympics.com</a:t>
                      </a:r>
                    </a:p>
                  </a:txBody>
                  <a:tcPr>
                    <a:solidFill>
                      <a:srgbClr val="24523F"/>
                    </a:solidFill>
                  </a:tcPr>
                </a:tc>
              </a:tr>
              <a:tr h="502920">
                <a:tc>
                  <a:txBody>
                    <a:bodyPr/>
                    <a:lstStyle/>
                    <a:p>
                      <a:pPr>
                        <a:defRPr sz="1200">
                          <a:solidFill>
                            <a:srgbClr val="20261F"/>
                          </a:solidFill>
                          <a:latin typeface="Yu Gothic"/>
                        </a:defRPr>
                      </a:pPr>
                      <a:r>
                        <a:t>男子: 張本智和選手が優勝</a:t>
                      </a:r>
                    </a:p>
                  </a:txBody>
                  <a:tcPr>
                    <a:solidFill>
                      <a:srgbClr val="FFFFFF"/>
                    </a:solidFill>
                  </a:tcPr>
                </a:tc>
                <a:tc>
                  <a:txBody>
                    <a:bodyPr/>
                    <a:lstStyle/>
                    <a:p>
                      <a:pPr>
                        <a:defRPr sz="1200">
                          <a:solidFill>
                            <a:srgbClr val="20261F"/>
                          </a:solidFill>
                          <a:latin typeface="Yu Gothic"/>
                        </a:defRPr>
                      </a:pPr>
                      <a:r>
                        <a:t>確認可</a:t>
                      </a:r>
                    </a:p>
                  </a:txBody>
                  <a:tcPr>
                    <a:solidFill>
                      <a:srgbClr val="FFFFFF"/>
                    </a:solidFill>
                  </a:tcPr>
                </a:tc>
                <a:tc>
                  <a:txBody>
                    <a:bodyPr/>
                    <a:lstStyle/>
                    <a:p>
                      <a:pPr>
                        <a:defRPr sz="1200">
                          <a:solidFill>
                            <a:srgbClr val="20261F"/>
                          </a:solidFill>
                          <a:latin typeface="Yu Gothic"/>
                        </a:defRPr>
                      </a:pPr>
                      <a:r>
                        <a:t>確認可</a:t>
                      </a:r>
                    </a:p>
                  </a:txBody>
                  <a:tcPr>
                    <a:solidFill>
                      <a:srgbClr val="FFFFFF"/>
                    </a:solidFill>
                  </a:tcPr>
                </a:tc>
                <a:tc>
                  <a:txBody>
                    <a:bodyPr/>
                    <a:lstStyle/>
                    <a:p>
                      <a:pPr>
                        <a:defRPr sz="1200">
                          <a:solidFill>
                            <a:srgbClr val="20261F"/>
                          </a:solidFill>
                          <a:latin typeface="Yu Gothic"/>
                        </a:defRPr>
                      </a:pPr>
                      <a:r>
                        <a:t>確認可</a:t>
                      </a:r>
                    </a:p>
                  </a:txBody>
                  <a:tcPr>
                    <a:solidFill>
                      <a:srgbClr val="FFFFFF"/>
                    </a:solidFill>
                  </a:tcPr>
                </a:tc>
              </a:tr>
              <a:tr h="502920">
                <a:tc>
                  <a:txBody>
                    <a:bodyPr/>
                    <a:lstStyle/>
                    <a:p>
                      <a:pPr>
                        <a:defRPr sz="1200">
                          <a:solidFill>
                            <a:srgbClr val="20261F"/>
                          </a:solidFill>
                          <a:latin typeface="Yu Gothic"/>
                        </a:defRPr>
                      </a:pPr>
                      <a:r>
                        <a:t>女子: 張本美和選手が初優勝</a:t>
                      </a:r>
                    </a:p>
                  </a:txBody>
                  <a:tcPr>
                    <a:solidFill>
                      <a:srgbClr val="F4F1E6"/>
                    </a:solidFill>
                  </a:tcPr>
                </a:tc>
                <a:tc>
                  <a:txBody>
                    <a:bodyPr/>
                    <a:lstStyle/>
                    <a:p>
                      <a:pPr>
                        <a:defRPr sz="1200">
                          <a:solidFill>
                            <a:srgbClr val="20261F"/>
                          </a:solidFill>
                          <a:latin typeface="Yu Gothic"/>
                        </a:defRPr>
                      </a:pPr>
                      <a:r>
                        <a:t>確認可</a:t>
                      </a:r>
                    </a:p>
                  </a:txBody>
                  <a:tcPr>
                    <a:solidFill>
                      <a:srgbClr val="F4F1E6"/>
                    </a:solidFill>
                  </a:tcPr>
                </a:tc>
                <a:tc>
                  <a:txBody>
                    <a:bodyPr/>
                    <a:lstStyle/>
                    <a:p>
                      <a:pPr>
                        <a:defRPr sz="1200">
                          <a:solidFill>
                            <a:srgbClr val="20261F"/>
                          </a:solidFill>
                          <a:latin typeface="Yu Gothic"/>
                        </a:defRPr>
                      </a:pPr>
                      <a:r>
                        <a:t>確認可</a:t>
                      </a:r>
                    </a:p>
                  </a:txBody>
                  <a:tcPr>
                    <a:solidFill>
                      <a:srgbClr val="F4F1E6"/>
                    </a:solidFill>
                  </a:tcPr>
                </a:tc>
                <a:tc>
                  <a:txBody>
                    <a:bodyPr/>
                    <a:lstStyle/>
                    <a:p>
                      <a:pPr>
                        <a:defRPr sz="1200">
                          <a:solidFill>
                            <a:srgbClr val="20261F"/>
                          </a:solidFill>
                          <a:latin typeface="Yu Gothic"/>
                        </a:defRPr>
                      </a:pPr>
                      <a:r>
                        <a:t>本テーマでは未参照</a:t>
                      </a:r>
                    </a:p>
                  </a:txBody>
                  <a:tcPr>
                    <a:solidFill>
                      <a:srgbClr val="F4F1E6"/>
                    </a:solidFill>
                  </a:tcPr>
                </a:tc>
              </a:tr>
              <a:tr h="502920">
                <a:tc>
                  <a:txBody>
                    <a:bodyPr/>
                    <a:lstStyle/>
                    <a:p>
                      <a:pPr>
                        <a:defRPr sz="1200">
                          <a:solidFill>
                            <a:srgbClr val="20261F"/>
                          </a:solidFill>
                          <a:latin typeface="Yu Gothic"/>
                        </a:defRPr>
                      </a:pPr>
                      <a:r>
                        <a:t>大会名・開催地・開催期間</a:t>
                      </a:r>
                    </a:p>
                  </a:txBody>
                  <a:tcPr>
                    <a:solidFill>
                      <a:srgbClr val="FFFFFF"/>
                    </a:solidFill>
                  </a:tcPr>
                </a:tc>
                <a:tc>
                  <a:txBody>
                    <a:bodyPr/>
                    <a:lstStyle/>
                    <a:p>
                      <a:pPr>
                        <a:defRPr sz="1200">
                          <a:solidFill>
                            <a:srgbClr val="20261F"/>
                          </a:solidFill>
                          <a:latin typeface="Yu Gothic"/>
                        </a:defRPr>
                      </a:pPr>
                      <a:r>
                        <a:t>本テーマでは未参照</a:t>
                      </a:r>
                    </a:p>
                  </a:txBody>
                  <a:tcPr>
                    <a:solidFill>
                      <a:srgbClr val="FFFFFF"/>
                    </a:solidFill>
                  </a:tcPr>
                </a:tc>
                <a:tc>
                  <a:txBody>
                    <a:bodyPr/>
                    <a:lstStyle/>
                    <a:p>
                      <a:pPr>
                        <a:defRPr sz="1200">
                          <a:solidFill>
                            <a:srgbClr val="20261F"/>
                          </a:solidFill>
                          <a:latin typeface="Yu Gothic"/>
                        </a:defRPr>
                      </a:pPr>
                      <a:r>
                        <a:t>本テーマでは未参照</a:t>
                      </a:r>
                    </a:p>
                  </a:txBody>
                  <a:tcPr>
                    <a:solidFill>
                      <a:srgbClr val="FFFFFF"/>
                    </a:solidFill>
                  </a:tcPr>
                </a:tc>
                <a:tc>
                  <a:txBody>
                    <a:bodyPr/>
                    <a:lstStyle/>
                    <a:p>
                      <a:pPr>
                        <a:defRPr sz="1200">
                          <a:solidFill>
                            <a:srgbClr val="20261F"/>
                          </a:solidFill>
                          <a:latin typeface="Yu Gothic"/>
                        </a:defRPr>
                      </a:pPr>
                      <a:r>
                        <a:t>確認可</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政治的中立性・過度な演出についての扱い方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事実を淡々と伝え、対立や過度な演出を煽りません。</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国・地域間の優劣や対立を煽る表現は使用しない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特定選手(張本選手兄妹・オ選手・陳選手)への過度な持ち上げ・貶めは行わない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実在選手名は事実として扱うが、写真・肖像・ロゴは使用しない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見出しの表現は強めでも、本文の数字・事実は創作しない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これは何を意味するか(日本卓球界にとって)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男女アベックV</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同一大会での結果</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男子・女子の頂点に日本選手が並んだ</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同世代の活躍</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兄妹という近さ</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近い世代の選手が国際大会の決勝を同時に制した</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これは何を意味するか(卓球ファン・視聴者にとって)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続報への注目</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今後の展開</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今後の代表選考・大会予定への影響は本調査の範囲では不明</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C1622D"/>
                </a:solidFill>
                <a:latin typeface="Yu Gothic"/>
              </a:rPr>
              <a:t>一次情報源の確認</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24523F"/>
                </a:solidFill>
                <a:latin typeface="Yu Gothic"/>
              </a:rPr>
              <a:t>続報の追い方</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公式発表・連盟発表を優先して確認する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今後の展開を事実ベースで追う視点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公式記録を確認する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WTT公式・卓球協会等の公式発表で記録を確認する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続報を待つ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決勝スコア・通算成績など未確認情報の続報を待つ</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一次情報源を優先する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本人・所属先・連盟の発表を優先して確認する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見送った切り口・センセーショナルにしなかった点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見送り①</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過去例の誇張</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『極めて珍しい』等、網羅的な確認をしていない断定表現は使わない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見送り②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スコアの創作</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確認できない決勝のスコアを推測で書かない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見送り③</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今後の影響の創作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代表選考・大会予定への影響を未確認のまま書かない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検品項目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スライド枚数</a:t>
                      </a:r>
                    </a:p>
                  </a:txBody>
                  <a:tcPr>
                    <a:solidFill>
                      <a:srgbClr val="FFFFFF"/>
                    </a:solidFill>
                  </a:tcPr>
                </a:tc>
                <a:tc>
                  <a:txBody>
                    <a:bodyPr/>
                    <a:lstStyle/>
                    <a:p>
                      <a:pPr>
                        <a:defRPr sz="1200">
                          <a:solidFill>
                            <a:srgbClr val="20261F"/>
                          </a:solidFill>
                          <a:latin typeface="Yu Gothic"/>
                        </a:defRPr>
                      </a:pPr>
                      <a:r>
                        <a:t>30枚(構成と一致)</a:t>
                      </a:r>
                    </a:p>
                  </a:txBody>
                  <a:tcPr>
                    <a:solidFill>
                      <a:srgbClr val="FFFFFF"/>
                    </a:solidFill>
                  </a:tcPr>
                </a:tc>
              </a:tr>
              <a:tr h="502920">
                <a:tc>
                  <a:txBody>
                    <a:bodyPr/>
                    <a:lstStyle/>
                    <a:p>
                      <a:pPr>
                        <a:defRPr sz="1200">
                          <a:solidFill>
                            <a:srgbClr val="20261F"/>
                          </a:solidFill>
                          <a:latin typeface="Yu Gothic"/>
                        </a:defRPr>
                      </a:pPr>
                      <a:r>
                        <a:t>全スライドのノート</a:t>
                      </a:r>
                    </a:p>
                  </a:txBody>
                  <a:tcPr>
                    <a:solidFill>
                      <a:srgbClr val="F4F1E6"/>
                    </a:solidFill>
                  </a:tcPr>
                </a:tc>
                <a:tc>
                  <a:txBody>
                    <a:bodyPr/>
                    <a:lstStyle/>
                    <a:p>
                      <a:pPr>
                        <a:defRPr sz="1200">
                          <a:solidFill>
                            <a:srgbClr val="20261F"/>
                          </a:solidFill>
                          <a:latin typeface="Yu Gothic"/>
                        </a:defRPr>
                      </a:pPr>
                      <a:r>
                        <a:t>全て記載済み</a:t>
                      </a:r>
                    </a:p>
                  </a:txBody>
                  <a:tcPr>
                    <a:solidFill>
                      <a:srgbClr val="F4F1E6"/>
                    </a:solidFill>
                  </a:tcPr>
                </a:tc>
              </a:tr>
              <a:tr h="502920">
                <a:tc>
                  <a:txBody>
                    <a:bodyPr/>
                    <a:lstStyle/>
                    <a:p>
                      <a:pPr>
                        <a:defRPr sz="1200">
                          <a:solidFill>
                            <a:srgbClr val="20261F"/>
                          </a:solidFill>
                          <a:latin typeface="Yu Gothic"/>
                        </a:defRPr>
                      </a:pPr>
                      <a:r>
                        <a:t>bullets比率</a:t>
                      </a:r>
                    </a:p>
                  </a:txBody>
                  <a:tcPr>
                    <a:solidFill>
                      <a:srgbClr val="FFFFFF"/>
                    </a:solidFill>
                  </a:tcPr>
                </a:tc>
                <a:tc>
                  <a:txBody>
                    <a:bodyPr/>
                    <a:lstStyle/>
                    <a:p>
                      <a:pPr>
                        <a:defRPr sz="1200">
                          <a:solidFill>
                            <a:srgbClr val="20261F"/>
                          </a:solidFill>
                          <a:latin typeface="Yu Gothic"/>
                        </a:defRPr>
                      </a:pPr>
                      <a:r>
                        <a:t>40%以下</a:t>
                      </a:r>
                    </a:p>
                  </a:txBody>
                  <a:tcPr>
                    <a:solidFill>
                      <a:srgbClr val="FFFFFF"/>
                    </a:solidFill>
                  </a:tcPr>
                </a:tc>
              </a:tr>
              <a:tr h="502920">
                <a:tc>
                  <a:txBody>
                    <a:bodyPr/>
                    <a:lstStyle/>
                    <a:p>
                      <a:pPr>
                        <a:defRPr sz="1200">
                          <a:solidFill>
                            <a:srgbClr val="20261F"/>
                          </a:solidFill>
                          <a:latin typeface="Yu Gothic"/>
                        </a:defRPr>
                      </a:pPr>
                      <a:r>
                        <a:t>同一レイアウト4連続</a:t>
                      </a:r>
                    </a:p>
                  </a:txBody>
                  <a:tcPr>
                    <a:solidFill>
                      <a:srgbClr val="F4F1E6"/>
                    </a:solidFill>
                  </a:tcPr>
                </a:tc>
                <a:tc>
                  <a:txBody>
                    <a:bodyPr/>
                    <a:lstStyle/>
                    <a:p>
                      <a:pPr>
                        <a:defRPr sz="1200">
                          <a:solidFill>
                            <a:srgbClr val="20261F"/>
                          </a:solidFill>
                          <a:latin typeface="Yu Gothic"/>
                        </a:defRPr>
                      </a:pPr>
                      <a:r>
                        <a:t>なし</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verify_pptx.py / build_deck.pyの検品ログ</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本テーマで使用した出典です。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テレビ東京卓球NEWS「張本美和 前年覇者の中国・陳幸同破り初優勝！兄・智和も勝てば兄妹アベックV達成【卓球 WTT横浜】」</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信濃毎日新聞デジタル・北海道新聞デジタル・沖縄タイムス(いずれも共同通信配信)「『WTTチャンピオンズ横浜2026』男子は張本智和選手、女子は張本美和選手が優勝!」</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Olympics.com「卓球 WTTチャンピオンズ横浜2026|結果速報・順位・成績一覧」</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決勝の日付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8/9</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2026年8月9日、男子・女子の決勝がともに行われた日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テレビ東京卓球NEWS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確認内容</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`ai-company-os/assets/`配下の卓球・張本兄妹テーマ</a:t>
                      </a:r>
                    </a:p>
                  </a:txBody>
                  <a:tcPr>
                    <a:solidFill>
                      <a:srgbClr val="FFFFFF"/>
                    </a:solidFill>
                  </a:tcPr>
                </a:tc>
                <a:tc>
                  <a:txBody>
                    <a:bodyPr/>
                    <a:lstStyle/>
                    <a:p>
                      <a:pPr>
                        <a:defRPr sz="1200">
                          <a:solidFill>
                            <a:srgbClr val="20261F"/>
                          </a:solidFill>
                          <a:latin typeface="Yu Gothic"/>
                        </a:defRPr>
                      </a:pPr>
                      <a:r>
                        <a:t>2026-08-11時点で存在せず、重複ではない</a:t>
                      </a:r>
                    </a:p>
                  </a:txBody>
                  <a:tcPr>
                    <a:solidFill>
                      <a:srgbClr val="FFFFFF"/>
                    </a:solidFill>
                  </a:tcPr>
                </a:tc>
              </a:tr>
              <a:tr h="502920">
                <a:tc>
                  <a:txBody>
                    <a:bodyPr/>
                    <a:lstStyle/>
                    <a:p>
                      <a:pPr>
                        <a:defRPr sz="1200">
                          <a:solidFill>
                            <a:srgbClr val="20261F"/>
                          </a:solidFill>
                          <a:latin typeface="Yu Gothic"/>
                        </a:defRPr>
                      </a:pPr>
                      <a:r>
                        <a:t>関連する可能性のある既存テーマ</a:t>
                      </a:r>
                    </a:p>
                  </a:txBody>
                  <a:tcPr>
                    <a:solidFill>
                      <a:srgbClr val="F4F1E6"/>
                    </a:solidFill>
                  </a:tcPr>
                </a:tc>
                <a:tc>
                  <a:txBody>
                    <a:bodyPr/>
                    <a:lstStyle/>
                    <a:p>
                      <a:pPr>
                        <a:defRPr sz="1200">
                          <a:solidFill>
                            <a:srgbClr val="20261F"/>
                          </a:solidFill>
                          <a:latin typeface="Yu Gothic"/>
                        </a:defRPr>
                      </a:pPr>
                      <a:r>
                        <a:t>該当テーマなし</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ai-company-os/assets/ ディレクトリ一覧の確認</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補足: 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制作にあたって配慮した点です。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数字の創作をせず、出典付きの確定事実のみを使用した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確認できなかったことは推測で埋めず『不明』と明記した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特定選手・特定国への過度な持ち上げ・貶めをしない構成にした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実在選手名は事実として扱い、写真・肖像・ロゴは使用していない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出典: テレビ東京卓球NEWS、信濃毎日新聞デジタル・北海道新聞デジタル・沖縄タイムス(共同通信配信)、Olympics.com</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兄妹で、世界を獲った。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張本智和選手が男子シングルス、張本美和選手が女子シングルスで、同一大会・同日に優勝した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決勝スコア・今後の代表選考など続報は一次情報源で確認する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 テレビ東京卓球NEWS、信濃毎日新聞デジタル・北海道新聞デジタル・沖縄タイムス(共同通信配信)、Olympics.com</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続報・公式記録は一次情報源でご確認ください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