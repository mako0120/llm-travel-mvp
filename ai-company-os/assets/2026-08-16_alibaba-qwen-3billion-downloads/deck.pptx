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ダウンロード数(億件)</c:v>
                </c:pt>
              </c:strCache>
            </c:strRef>
          </c:tx>
          <c:spPr>
            <a:solidFill>
              <a:srgbClr val="2E2A72"/>
            </a:solidFill>
          </c:spPr>
          <c:cat>
            <c:strRef>
              <c:f>Sheet1!$A$2:$A$4</c:f>
              <c:strCache>
                <c:ptCount val="3"/>
                <c:pt idx="0">
                  <c:v>Qwen(Alibaba)</c:v>
                </c:pt>
                <c:pt idx="1">
                  <c:v>Google</c:v>
                </c:pt>
                <c:pt idx="2">
                  <c:v>Meta</c:v>
                </c:pt>
              </c:strCache>
            </c:strRef>
          </c:cat>
          <c:val>
            <c:numRef>
              <c:f>Sheet1!$B$2:$B$4</c:f>
              <c:numCache>
                <c:formatCode>General</c:formatCode>
                <c:ptCount val="3"/>
                <c:pt idx="0">
                  <c:v>30</c:v>
                </c:pt>
                <c:pt idx="1">
                  <c:v>4.18</c:v>
                </c:pt>
                <c:pt idx="2">
                  <c:v>2.27</c:v>
                </c:pt>
              </c:numCache>
            </c:numRef>
          </c:val>
        </c:ser>
        <c:dLbls>
          <c:numFmt formatCode="0.0" sourceLinked="0"/>
          <c:txPr>
            <a:bodyPr/>
            <a:lstStyle/>
            <a:p>
              <a:pPr>
                <a:defRPr sz="1200" b="1">
                  <a:solidFill>
                    <a:srgbClr val="2E2A72"/>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ibabaのオープンウェイトモデル群「Qwen」が、過去6か月間で全世界累計30億ダウンロードを突破しました。Bloombergが2026年8月15日に報じた内容で、MetaやGoogleを上回る数字だとされています。今日はこの数字を出典付きで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QwenはAlibabaが公開しているオープンウェイトのAIモデル群で、そのダウンロード数が過去6か月間で全世界累計30億件を突破しました。Bloombergは、この数字がMetaやGoogleを上回る世界最多水準だと報じています。詳しい内訳をこれから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では、Qwenの30億ダウンロードという数字がどこから来ているのか、Meta・Googleとの具体的な数字の比較、そしてこの数字が実際に何を意味していて何を意味していないのか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Bloombergの報道は着手日の前日で、鮮度の高い話題です。Fortuneなど複数の主要メディアが同じ数字を配信・引用しており、裏付けも厚いと言えます。オープンウェイトAIモデルの普及状況を具体的な数字で捉えられる点も注目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時系列を確認します。8月14日にHugging Faceが「state of open models」レポートを公開し、Googleは4億1,800万、Metaは2億2,700万というダウンロード数を掲載しました。翌8月15日、Bloombergがこのデータを引用しつつ、Qwenの累計30億ダウンロード突破を報じました。この2つの日付を混同しないことが今日の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テーマを扱う理由、2つの日付の関係、オープンウェイトモデルの基礎知識、3社の数字比較、この数字が意味することと意味しないこと、そして実践的な示唆と今後の見通しまで、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今回の内容は複数の情報源で確認できます。Bloombergが8月15日に一次報道を行い、その中でHugging Faceが前日8月14日に公開したデータを引用しています。Fortuneなど複数の主要メディアが同じ内容を配信・引用しており、報道の裏付けは厚いと言えます。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ここは特に注意したいポイントです。Google・Metaの数字が載っているHugging Faceのレポート自体は8月14日公開ですが、Qwenの30億ダウンロード突破を報じたBloombergの記事は翌8月15日です。この2つの日付を混同せず、本動画では報道日である8月15日を鮮度の基準として扱っています。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オープンウェイトモデルという用語を確認します。AIモデルの中身である「重み」を一般公開し、誰でもダウンロードして使ったり改変したりできるようにしたモデルのことです。非公開のモデルと対比される概念で、QwenはAlibabaが公開しているオープンウェイトモデルの総称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1つ確認しておきたいのが「ダウンロード数」という指標の性質です。これはモデルファイルが取得された回数の集計であり、実際に使っている人の数そのものではありません。集計期間や定義がプラットフォームによって異なる場合もあり、今回の3社比較が完全に同じ条件かどうか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配布経路の違いを比較します。Meta・Googleなどは主に自社サイトや配布プラットフォーム経由が中心とされる一方、AlibabaはQwenを配布プラットフォームに加え、自社クラウドプラットフォーム経由でも東南アジア・アフリカなどの企業顧客に配布しており、多くの競合にはないリーチを持つ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3社のダウンロード数をグラフにしました。Qwenが約30億件であるのに対し、Hugging Faceのレポートによれば2026年のGoogleは4億1,800万件、Metaは2億2,700万件です。単位を億件にそろえると、Qwenの数字が突出していることが視覚的にも分かります。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比較対象の数字を1つずつ確認します。まずGoogleです。Hugging Faceが8月14日に公開したレポートによると、2026年のGoogleのダウンロード数は4億1,800万件でした。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続いてMetaです。同じくHugging Faceのレポートによると、2026年のMetaのダウンロード数は2億2,700万件でした。Googleよりもさらに、Qwenとの差が大きいことが分かります。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してQwenです。過去6か月間で世界累計30億件を突破しており、Bloombergはこれを「Meta・Googleを上回る世界最多」と報じています。ただしQwenの集計期間は「過去6か月」、Google・Metaのレポートは「2026年」とされており、期間の取り方が完全に一致しているか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wenのエコシステム規模を数字で見ます。Qwenはこれまでに460以上のモデルをオープンソース化しており、その利用者が作ったファインチューン版などの派生モデルは30万以上にのぼるとされています。今回の30億ダウンロードは、この6か月間で積み上がった数字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社の数字を表に整理しました。注目していただきたいのが「集計期間」の列です。Qwenは過去6か月間、Google・Metaは2026年通年とされており、期間の区切り方が異なる可能性があります。この違いも踏まえて数字を見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ibabaの配布網を図にしました。Qwenのモデル群は一般的な配布プラットフォームに加えて、Alibaba自社のクラウドプラットフォームを通じて東南アジア・アフリカなどの企業顧客にも配布されています。この複数チャネルによる配布力が、多くの競合にはない強みだとBloombergは指摘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正直にお伝えする必要があります。30億ダウンロードという数字と、Google・Metaの数字が、まったく同じ集計方法や同じ期間で比較されているかどうかは、本調査の範囲では確認できていません。本テーマはBloombergが報じた内容をそのまま紹介するものであり、独自に集計方法を検証したものではないことをここで明記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オープンウェイトAIモデルの選択肢として、Qwenが世界的に広く使われていることが数字で裏付けられました。開発者や企業にとっては、性能だけでなくエコシステムの規模も選定材料になり得ますが、数字の大きさだけで単純に優劣を判断しないことが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ウェイトモデルを実際に検討する際に確認したい点を整理しました。ライセンス条件、自社のユースケースに合うかどうかの検証、公表されている指標の定義や期間の確認、そして継続的なアップデート体制の有無です。数字の大きさだけでなく、こうした点も合わせて確認することをおすすめ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ウェイトモデル全般のメリットと注意点を整理します。自社の環境で動かせたり自由に改変できたりする自由度がメリットの一方、運用やホスティングの負荷を自社で負う場合が多く、モデルごとにライセンス条件を確認する必要がある点は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の立場別に実践的な示唆をまとめました。開発者としてはライセンスや性能に加えエコシステムの規模も選定材料にできます。企業のAI導入担当者としては数字の大きさだけでなく自社要件との適合性を確認することが大切です。情報を発信する立場としては、集計条件の違いを断らずに数字だけを一人歩きさせないことが求め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だけを見ると生まれがちな誤解を先に整理します。「ダウンロード数世界一」は、利用者数世界一や性能世界一を意味するものではありません。Meta・Googleの数字も、それぞれの事業全体を評価するものではなく、あくまで一つの指標です。そして本テーマは、どの国のAIが優れているかという対立構図として扱うものではなく、報じられた数字と事実関係のみを中立的に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に確認できている内容にはギャップが生まれがちです。確認できているのはあくまで「ダウンロード数」という1つの指標の比較であり、利用者数や性能そのものの優劣を確認したものではありません。本テーマは特定の国や企業の優劣を論じるものでも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本テーマは企業の実績数値の紹介であり、米中のAI開発競争についての政治的な評価や優劣の論評は行いません。AlibabaやQwenの利用を過度に推奨する意図もなく、報じられた数字を中立的に紹介しています。数字や固有名詞の創作は行わず、確認できなかったことは不明と明記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3社の集計方法・期間が完全に同一かどうか、「1ダウンロード」の定義の統一性、そしてダウンロード数と実際の利用者数・稼働数との関係は、いずれも本調査の範囲では確認できておらず、推測で埋めずに不明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通しについて触れますが、あくまで推測であり断定ではありません。オープンウェイトモデルの採用拡大に伴い、各社のダウンロード数はさらに増加する可能性がありますが、集計方法の統一を求める声が強まる可能性も考えられます。Meta・Googleが今後どのような対抗策を取るかについては、判断材料がなく不明と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Alibabaのオープンウェイトモデル「Qwen」が、過去6か月間で世界累計30億ダウンロードを突破し、Meta・Googleを上回ったというBloombergの報道についてお伝えしました。確認できた事実と、確認できなかったことの両方を、出典付きで正直に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30億ダウンロード。</a:t>
            </a:r>
          </a:p>
          <a:p>
            <a:pPr algn="l">
              <a:lnSpc>
                <a:spcPct val="115000"/>
              </a:lnSpc>
            </a:pPr>
            <a:r>
              <a:rPr sz="4200" b="1">
                <a:solidFill>
                  <a:srgbClr val="FFFFFF"/>
                </a:solidFill>
                <a:latin typeface="Yu Gothic"/>
              </a:rPr>
              <a:t>AlibabaのQwenが、</a:t>
            </a:r>
          </a:p>
          <a:p>
            <a:pPr algn="l">
              <a:lnSpc>
                <a:spcPct val="115000"/>
              </a:lnSpc>
            </a:pPr>
            <a:r>
              <a:rPr sz="4200" b="1">
                <a:solidFill>
                  <a:srgbClr val="FFFFFF"/>
                </a:solidFill>
                <a:latin typeface="Yu Gothic"/>
              </a:rPr>
              <a:t>Meta・Googleを追い抜いた。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過去6か月間の世界累計ダウンロード数――Bloomberg報道(2026-08-15)を出典付きで整理する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Bloomberg「Alibaba AI Models Hit 3 Billion Downloads, Passing Meta, Google」(2026-08-15)・Hugging Face「state of open models」レポート(2026-08-14公開)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累計30億ダウンロード</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Alibabaのオープンウェイトモデル「Qwen」が過去6か月間で突破。Bloombergは「Meta・Googleを上回る世界最多」と報じた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Bloomberg(2026-08-15)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今日お伝えする内容です。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Qwenの30億ダウンロードという数字の中身と出典</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Meta・Googleとの具体的な数字の比較</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この数字が意味すること・意味しないこと(不明点も含む)</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Bloombergの報道(2026-08-15)から着手日まで1日以内という新しい話題である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複数の主要メディアが同じ数字を配信・引用しており裏付けが厚い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オープンウェイトAIモデルの普及状況を数字で捉えられる話題である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Bloomberg(2026-08-15)ほか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時系列で見る、2つの日付</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2026-08-14</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Hugging Faceが「state of open models」レポートを公開。Google・Metaのダウンロード数などを掲載</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2026-08-15</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Bloombergが、Hugging Faceのデータを引用しつつQwenの累計30億ダウンロード突破を報道</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2026-08-16</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Fortune・Business Standard等が同記事を配信・引用。本動画を制作</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2つの日付(Hugging FaceとBloomberg)の関係</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オープンウェイトモデルとは何か</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数字で見るQwen・Google・Metaの比較</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この数字が意味すること・意味しないこと</a:t>
            </a:r>
          </a:p>
        </p:txBody>
      </p:sp>
      <p:sp>
        <p:nvSpPr>
          <p:cNvPr id="15" name="Oval 14"/>
          <p:cNvSpPr/>
          <p:nvPr/>
        </p:nvSpPr>
        <p:spPr>
          <a:xfrm>
            <a:off x="548640" y="58064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6D9F5"/>
                </a:solidFill>
                <a:latin typeface="Yu Gothic"/>
              </a:rPr>
              <a:t>視聴者への実践的な示唆・今後の見通し</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情報源ごとの報道内容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Bloomberg(2026-08-15)</a:t>
                      </a:r>
                    </a:p>
                  </a:txBody>
                  <a:tcPr>
                    <a:solidFill>
                      <a:srgbClr val="FFFFFF"/>
                    </a:solidFill>
                  </a:tcPr>
                </a:tc>
                <a:tc>
                  <a:txBody>
                    <a:bodyPr/>
                    <a:lstStyle/>
                    <a:p>
                      <a:pPr>
                        <a:defRPr sz="1200">
                          <a:solidFill>
                            <a:srgbClr val="1C1B33"/>
                          </a:solidFill>
                          <a:latin typeface="Yu Gothic"/>
                        </a:defRPr>
                      </a:pPr>
                      <a:r>
                        <a:t>Qwenの累計30億ダウンロード突破を報道。Meta・Googleを上回ると報じた一次報道</a:t>
                      </a:r>
                    </a:p>
                  </a:txBody>
                  <a:tcPr>
                    <a:solidFill>
                      <a:srgbClr val="FFFFFF"/>
                    </a:solidFill>
                  </a:tcPr>
                </a:tc>
              </a:tr>
              <a:tr h="502920">
                <a:tc>
                  <a:txBody>
                    <a:bodyPr/>
                    <a:lstStyle/>
                    <a:p>
                      <a:pPr>
                        <a:defRPr sz="1200">
                          <a:solidFill>
                            <a:srgbClr val="1C1B33"/>
                          </a:solidFill>
                          <a:latin typeface="Yu Gothic"/>
                        </a:defRPr>
                      </a:pPr>
                      <a:r>
                        <a:t>Hugging Face「state of open models」(2026-08-14公開)</a:t>
                      </a:r>
                    </a:p>
                  </a:txBody>
                  <a:tcPr>
                    <a:solidFill>
                      <a:srgbClr val="F4F3FC"/>
                    </a:solidFill>
                  </a:tcPr>
                </a:tc>
                <a:tc>
                  <a:txBody>
                    <a:bodyPr/>
                    <a:lstStyle/>
                    <a:p>
                      <a:pPr>
                        <a:defRPr sz="1200">
                          <a:solidFill>
                            <a:srgbClr val="1C1B33"/>
                          </a:solidFill>
                          <a:latin typeface="Yu Gothic"/>
                        </a:defRPr>
                      </a:pPr>
                      <a:r>
                        <a:t>Google・Metaの2026年ダウンロード数データを公開</a:t>
                      </a:r>
                    </a:p>
                  </a:txBody>
                  <a:tcPr>
                    <a:solidFill>
                      <a:srgbClr val="F4F3FC"/>
                    </a:solidFill>
                  </a:tcPr>
                </a:tc>
              </a:tr>
              <a:tr h="502920">
                <a:tc>
                  <a:txBody>
                    <a:bodyPr/>
                    <a:lstStyle/>
                    <a:p>
                      <a:pPr>
                        <a:defRPr sz="1200">
                          <a:solidFill>
                            <a:srgbClr val="1C1B33"/>
                          </a:solidFill>
                          <a:latin typeface="Yu Gothic"/>
                        </a:defRPr>
                      </a:pPr>
                      <a:r>
                        <a:t>Fortune・Business Standard・Storyboard18・Yahoo Finance</a:t>
                      </a:r>
                    </a:p>
                  </a:txBody>
                  <a:tcPr>
                    <a:solidFill>
                      <a:srgbClr val="FFFFFF"/>
                    </a:solidFill>
                  </a:tcPr>
                </a:tc>
                <a:tc>
                  <a:txBody>
                    <a:bodyPr/>
                    <a:lstStyle/>
                    <a:p>
                      <a:pPr>
                        <a:defRPr sz="1200">
                          <a:solidFill>
                            <a:srgbClr val="1C1B33"/>
                          </a:solidFill>
                          <a:latin typeface="Yu Gothic"/>
                        </a:defRPr>
                      </a:pPr>
                      <a:r>
                        <a:t>Bloomberg記事の内容を配信・引用</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2つの日付を混同しない</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8/14 Hugging Face</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「state of open models」レポート公開(Google・Metaの数字の出所)</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8/15 Bloomberg</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Hugging Faceのデータを引用しつつ、Qwenの30億ダウンロード突破を報道</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8/16 本動画</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Bloomberg報道日を鮮度の基準として制作</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レポート公開日(8/14)と、それを報じた報道日(8/15)は別の日付である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Hugging Face(2026-08-14)・Bloomberg(2026-08-15)</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前提知識: オープンウェイトモデルとは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本題に入る前に、用語を確認します。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AIモデルの「重み(パラメータ)」を一般公開し、誰でもダウンロード・改変できるようにしたモデル</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非公開(クローズド)なモデルと対比される概念</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QwenはAlibabaが公開しているオープンウェイトモデルの総称</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前提知識: 「ダウンロード数」は何を測る指標か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もう1つ、指標の性質を確認します。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モデルファイルが取得された回数の集計であり、実際の利用者数そのものではない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集計期間・集計対象・「1ダウンロード」の定義は配布プラットフォームや集計主体によって異なりうる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本テーマの3社比較が同一の定義・期間で行われているかは、本調査の範囲では確認できていない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配布経路を比較する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Meta・Googleなど</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主に自社サイト・配布プラットフォーム経由が中心とされる</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Alibaba(Qwen)</a:t>
            </a:r>
          </a:p>
        </p:txBody>
      </p:sp>
      <p:sp>
        <p:nvSpPr>
          <p:cNvPr id="14" name="Oval 13"/>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配布プラットフォームに加え、自社クラウド経由で東南アジア・アフリカ等の企業顧客にも配布</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3社のダウンロード数を比較する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Bloomberg(2026-08-15)・Hugging Face(2026-08-14)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Googleのダウンロード数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4億1,800万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Hugging Face「state of open models」レポート(2026-08-14公開)による、2026年のダウンロード数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Hugging Face(2026-08-14)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Metaのダウンロード数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2億2,700万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Hugging Face「state of open models」レポート(2026-08-14公開)による、2026年のダウンロード数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Hugging Face(2026-08-14)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Qwenのダウンロード数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30億超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過去6か月間の世界累計。Bloombergは「Meta・Googleを上回る世界最多」と報じた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Bloomberg(2026-08-15)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Qwenのエコシステム規模を数字で見る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460+</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オープンソース化したモデル数</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Qwenファミリーとして公開されているモデルの数</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30万+</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派生モデル数</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ファインチューンなど、エコシステムから生まれた派生モデルの数</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6か月</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集計期間</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30億ダウンロードが積み上がった期間</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Bloomberg(2026-08-15)</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主要3社の比較表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2819323"/>
                <a:gridCol w="2819323"/>
                <a:gridCol w="2819323"/>
                <a:gridCol w="2819326"/>
              </a:tblGrid>
              <a:tr h="502920">
                <a:tc>
                  <a:txBody>
                    <a:bodyPr/>
                    <a:lstStyle/>
                    <a:p>
                      <a:pPr>
                        <a:defRPr sz="1300" b="1">
                          <a:solidFill>
                            <a:srgbClr val="FFFFFF"/>
                          </a:solidFill>
                          <a:latin typeface="Yu Gothic"/>
                        </a:defRPr>
                      </a:pPr>
                      <a:r>
                        <a:t>企業</a:t>
                      </a:r>
                    </a:p>
                  </a:txBody>
                  <a:tcPr>
                    <a:solidFill>
                      <a:srgbClr val="2E2A72"/>
                    </a:solidFill>
                  </a:tcPr>
                </a:tc>
                <a:tc>
                  <a:txBody>
                    <a:bodyPr/>
                    <a:lstStyle/>
                    <a:p>
                      <a:pPr>
                        <a:defRPr sz="1300" b="1">
                          <a:solidFill>
                            <a:srgbClr val="FFFFFF"/>
                          </a:solidFill>
                          <a:latin typeface="Yu Gothic"/>
                        </a:defRPr>
                      </a:pPr>
                      <a:r>
                        <a:t>ダウンロード数</a:t>
                      </a:r>
                    </a:p>
                  </a:txBody>
                  <a:tcPr>
                    <a:solidFill>
                      <a:srgbClr val="2E2A72"/>
                    </a:solidFill>
                  </a:tcPr>
                </a:tc>
                <a:tc>
                  <a:txBody>
                    <a:bodyPr/>
                    <a:lstStyle/>
                    <a:p>
                      <a:pPr>
                        <a:defRPr sz="1300" b="1">
                          <a:solidFill>
                            <a:srgbClr val="FFFFFF"/>
                          </a:solidFill>
                          <a:latin typeface="Yu Gothic"/>
                        </a:defRPr>
                      </a:pPr>
                      <a:r>
                        <a:t>集計期間</a:t>
                      </a:r>
                    </a:p>
                  </a:txBody>
                  <a:tcPr>
                    <a:solidFill>
                      <a:srgbClr val="2E2A72"/>
                    </a:solidFill>
                  </a:tcPr>
                </a:tc>
                <a:tc>
                  <a:txBody>
                    <a:bodyPr/>
                    <a:lstStyle/>
                    <a:p>
                      <a:pPr>
                        <a:defRPr sz="1300" b="1">
                          <a:solidFill>
                            <a:srgbClr val="FFFFFF"/>
                          </a:solidFill>
                          <a:latin typeface="Yu Gothic"/>
                        </a:defRPr>
                      </a:pPr>
                      <a:r>
                        <a:t>出典</a:t>
                      </a:r>
                    </a:p>
                  </a:txBody>
                  <a:tcPr>
                    <a:solidFill>
                      <a:srgbClr val="2E2A72"/>
                    </a:solidFill>
                  </a:tcPr>
                </a:tc>
              </a:tr>
              <a:tr h="502920">
                <a:tc>
                  <a:txBody>
                    <a:bodyPr/>
                    <a:lstStyle/>
                    <a:p>
                      <a:pPr>
                        <a:defRPr sz="1200">
                          <a:solidFill>
                            <a:srgbClr val="1C1B33"/>
                          </a:solidFill>
                          <a:latin typeface="Yu Gothic"/>
                        </a:defRPr>
                      </a:pPr>
                      <a:r>
                        <a:t>Alibaba(Qwen)</a:t>
                      </a:r>
                    </a:p>
                  </a:txBody>
                  <a:tcPr>
                    <a:solidFill>
                      <a:srgbClr val="FFFFFF"/>
                    </a:solidFill>
                  </a:tcPr>
                </a:tc>
                <a:tc>
                  <a:txBody>
                    <a:bodyPr/>
                    <a:lstStyle/>
                    <a:p>
                      <a:pPr>
                        <a:defRPr sz="1200">
                          <a:solidFill>
                            <a:srgbClr val="1C1B33"/>
                          </a:solidFill>
                          <a:latin typeface="Yu Gothic"/>
                        </a:defRPr>
                      </a:pPr>
                      <a:r>
                        <a:t>30億超</a:t>
                      </a:r>
                    </a:p>
                  </a:txBody>
                  <a:tcPr>
                    <a:solidFill>
                      <a:srgbClr val="FFFFFF"/>
                    </a:solidFill>
                  </a:tcPr>
                </a:tc>
                <a:tc>
                  <a:txBody>
                    <a:bodyPr/>
                    <a:lstStyle/>
                    <a:p>
                      <a:pPr>
                        <a:defRPr sz="1200">
                          <a:solidFill>
                            <a:srgbClr val="1C1B33"/>
                          </a:solidFill>
                          <a:latin typeface="Yu Gothic"/>
                        </a:defRPr>
                      </a:pPr>
                      <a:r>
                        <a:t>過去6か月間</a:t>
                      </a:r>
                    </a:p>
                  </a:txBody>
                  <a:tcPr>
                    <a:solidFill>
                      <a:srgbClr val="FFFFFF"/>
                    </a:solidFill>
                  </a:tcPr>
                </a:tc>
                <a:tc>
                  <a:txBody>
                    <a:bodyPr/>
                    <a:lstStyle/>
                    <a:p>
                      <a:pPr>
                        <a:defRPr sz="1200">
                          <a:solidFill>
                            <a:srgbClr val="1C1B33"/>
                          </a:solidFill>
                          <a:latin typeface="Yu Gothic"/>
                        </a:defRPr>
                      </a:pPr>
                      <a:r>
                        <a:t>Bloomberg(2026-08-15)</a:t>
                      </a:r>
                    </a:p>
                  </a:txBody>
                  <a:tcPr>
                    <a:solidFill>
                      <a:srgbClr val="FFFFFF"/>
                    </a:solidFill>
                  </a:tcPr>
                </a:tc>
              </a:tr>
              <a:tr h="502920">
                <a:tc>
                  <a:txBody>
                    <a:bodyPr/>
                    <a:lstStyle/>
                    <a:p>
                      <a:pPr>
                        <a:defRPr sz="1200">
                          <a:solidFill>
                            <a:srgbClr val="1C1B33"/>
                          </a:solidFill>
                          <a:latin typeface="Yu Gothic"/>
                        </a:defRPr>
                      </a:pPr>
                      <a:r>
                        <a:t>Google</a:t>
                      </a:r>
                    </a:p>
                  </a:txBody>
                  <a:tcPr>
                    <a:solidFill>
                      <a:srgbClr val="F4F3FC"/>
                    </a:solidFill>
                  </a:tcPr>
                </a:tc>
                <a:tc>
                  <a:txBody>
                    <a:bodyPr/>
                    <a:lstStyle/>
                    <a:p>
                      <a:pPr>
                        <a:defRPr sz="1200">
                          <a:solidFill>
                            <a:srgbClr val="1C1B33"/>
                          </a:solidFill>
                          <a:latin typeface="Yu Gothic"/>
                        </a:defRPr>
                      </a:pPr>
                      <a:r>
                        <a:t>4億1,800万</a:t>
                      </a:r>
                    </a:p>
                  </a:txBody>
                  <a:tcPr>
                    <a:solidFill>
                      <a:srgbClr val="F4F3FC"/>
                    </a:solidFill>
                  </a:tcPr>
                </a:tc>
                <a:tc>
                  <a:txBody>
                    <a:bodyPr/>
                    <a:lstStyle/>
                    <a:p>
                      <a:pPr>
                        <a:defRPr sz="1200">
                          <a:solidFill>
                            <a:srgbClr val="1C1B33"/>
                          </a:solidFill>
                          <a:latin typeface="Yu Gothic"/>
                        </a:defRPr>
                      </a:pPr>
                      <a:r>
                        <a:t>2026年</a:t>
                      </a:r>
                    </a:p>
                  </a:txBody>
                  <a:tcPr>
                    <a:solidFill>
                      <a:srgbClr val="F4F3FC"/>
                    </a:solidFill>
                  </a:tcPr>
                </a:tc>
                <a:tc>
                  <a:txBody>
                    <a:bodyPr/>
                    <a:lstStyle/>
                    <a:p>
                      <a:pPr>
                        <a:defRPr sz="1200">
                          <a:solidFill>
                            <a:srgbClr val="1C1B33"/>
                          </a:solidFill>
                          <a:latin typeface="Yu Gothic"/>
                        </a:defRPr>
                      </a:pPr>
                      <a:r>
                        <a:t>Hugging Face(2026-08-14)</a:t>
                      </a:r>
                    </a:p>
                  </a:txBody>
                  <a:tcPr>
                    <a:solidFill>
                      <a:srgbClr val="F4F3FC"/>
                    </a:solidFill>
                  </a:tcPr>
                </a:tc>
              </a:tr>
              <a:tr h="502920">
                <a:tc>
                  <a:txBody>
                    <a:bodyPr/>
                    <a:lstStyle/>
                    <a:p>
                      <a:pPr>
                        <a:defRPr sz="1200">
                          <a:solidFill>
                            <a:srgbClr val="1C1B33"/>
                          </a:solidFill>
                          <a:latin typeface="Yu Gothic"/>
                        </a:defRPr>
                      </a:pPr>
                      <a:r>
                        <a:t>Meta</a:t>
                      </a:r>
                    </a:p>
                  </a:txBody>
                  <a:tcPr>
                    <a:solidFill>
                      <a:srgbClr val="FFFFFF"/>
                    </a:solidFill>
                  </a:tcPr>
                </a:tc>
                <a:tc>
                  <a:txBody>
                    <a:bodyPr/>
                    <a:lstStyle/>
                    <a:p>
                      <a:pPr>
                        <a:defRPr sz="1200">
                          <a:solidFill>
                            <a:srgbClr val="1C1B33"/>
                          </a:solidFill>
                          <a:latin typeface="Yu Gothic"/>
                        </a:defRPr>
                      </a:pPr>
                      <a:r>
                        <a:t>2億2,700万</a:t>
                      </a:r>
                    </a:p>
                  </a:txBody>
                  <a:tcPr>
                    <a:solidFill>
                      <a:srgbClr val="FFFFFF"/>
                    </a:solidFill>
                  </a:tcPr>
                </a:tc>
                <a:tc>
                  <a:txBody>
                    <a:bodyPr/>
                    <a:lstStyle/>
                    <a:p>
                      <a:pPr>
                        <a:defRPr sz="1200">
                          <a:solidFill>
                            <a:srgbClr val="1C1B33"/>
                          </a:solidFill>
                          <a:latin typeface="Yu Gothic"/>
                        </a:defRPr>
                      </a:pPr>
                      <a:r>
                        <a:t>2026年</a:t>
                      </a:r>
                    </a:p>
                  </a:txBody>
                  <a:tcPr>
                    <a:solidFill>
                      <a:srgbClr val="FFFFFF"/>
                    </a:solidFill>
                  </a:tcPr>
                </a:tc>
                <a:tc>
                  <a:txBody>
                    <a:bodyPr/>
                    <a:lstStyle/>
                    <a:p>
                      <a:pPr>
                        <a:defRPr sz="1200">
                          <a:solidFill>
                            <a:srgbClr val="1C1B33"/>
                          </a:solidFill>
                          <a:latin typeface="Yu Gothic"/>
                        </a:defRPr>
                      </a:pPr>
                      <a:r>
                        <a:t>Hugging Face(2026-08-14)</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Alibabaの配布網を図で見る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Qwenモデル群</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460以上のオープンソースモデル</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配布プラットフォーム</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一般的なモデル配布プラットフォーム経由</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自社クラウド経由</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東南アジア・アフリカ等の企業顧客へ</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配布プラットフォームに加え自社クラウド経由の配布も持つ点が、Bloomberg報道が指摘する強みの1つ</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Bloomberg(2026-08-15)</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この比較で確認できていないこと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正直にお伝えする必要がある点です。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30億ダウンロードと、Google・Metaの数字が同一の集計方法・時間軸で比較されているかは確認できていない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「1ダウンロード」の定義(プラットフォームやカウント方式)が3社で同一かも確認できていない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本テーマはBloombergが報じた内容をそのまま紹介するものであり、独自の検証は行っていない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Bloomberg(2026-08-15)・Hugging Face(2026-08-14)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オープンウェイトAIモデルの選択肢として、Qwenが広く使われていることが数字で裏付けられた</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開発者・企業にとって、性能だけでなくエコシステムの規模も選定材料になりうる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数字の大きさだけで優劣を判断せず、集計条件の違いも踏まえて読むことが必要</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オープンウェイトモデルを検討する際に確認すべきこと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1</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ライセンス条件(商用利用の可否等)を確認する</a:t>
            </a:r>
          </a:p>
        </p:txBody>
      </p:sp>
      <p:sp>
        <p:nvSpPr>
          <p:cNvPr id="11" name="Chevron 10"/>
          <p:cNvSpPr/>
          <p:nvPr/>
        </p:nvSpPr>
        <p:spPr>
          <a:xfrm>
            <a:off x="3068040"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2</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自社のユースケースに必要な性能・言語対応があるか検証する</a:t>
            </a:r>
          </a:p>
        </p:txBody>
      </p:sp>
      <p:sp>
        <p:nvSpPr>
          <p:cNvPr id="17" name="Chevron 16"/>
          <p:cNvSpPr/>
          <p:nvPr/>
        </p:nvSpPr>
        <p:spPr>
          <a:xfrm>
            <a:off x="5978804"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3</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公表されている指標(ダウンロード数等)の定義・期間を確認する</a:t>
            </a:r>
          </a:p>
        </p:txBody>
      </p:sp>
      <p:sp>
        <p:nvSpPr>
          <p:cNvPr id="23" name="Chevron 22"/>
          <p:cNvSpPr/>
          <p:nvPr/>
        </p:nvSpPr>
        <p:spPr>
          <a:xfrm>
            <a:off x="8889568"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4</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継続的なアップデート・サポート体制の有無を確認する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オープンウェイトモデルのメリット・注意点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メリット</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自社環境で動かせる・改変できる自由度がある</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ライセンス次第で商用利用・カスタマイズがしやすい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注意点</a:t>
            </a:r>
          </a:p>
        </p:txBody>
      </p:sp>
      <p:sp>
        <p:nvSpPr>
          <p:cNvPr id="16" name="Oval 15"/>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運用・ホスティングの負荷は自社で負う場合が多い</a:t>
            </a:r>
          </a:p>
        </p:txBody>
      </p:sp>
      <p:sp>
        <p:nvSpPr>
          <p:cNvPr id="18" name="Oval 17"/>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モデルごとにライセンス条件・利用範囲の確認が必要</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読者の立場別・実践的な示唆</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開発者として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ライセンス・性能・エコシステムの規模を含めて選定材料にする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企業のAI導入担当者として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数字の大きさだけでなく自社要件との適合性を確認する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集計条件の違いを断らずに数字だけを一人歩きさせない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誤解しやすいポイント</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見出しだけを見ると生まれがちな誤解があります。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「ダウンロード数世界一」は「利用者数世界一」や「性能世界一」を意味しない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Meta・Googleの数字も、それぞれの事業全体を評価するものではなく、あくまで一つの指標</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本テーマは米中の対立構図として扱うものではなく、報じられた数字と事実関係のみを紹介する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見出しの印象 / 実際に確認できている内容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Qwenの利用者数がMeta・Googleを超えた</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AIモデルの性能でQwenが世界一になった</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中国のAIが米国のAIに勝った、という話</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確認できているのは「ダウンロード数」という1指標の比較のみ</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性能面の優劣は本テーマの範囲では扱っていない</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本テーマは特定の国・企業の優劣を論じるものではない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本テーマの扱い方について(中立性の確認)</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本テーマは企業の実績数値の紹介であり、米中のAI開発競争についての政治的評価は行わない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Alibaba・Qwenの利用を過度に推奨する意図はなく、報じられた数字を中立的に紹介する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数字・固有名詞の創作は行わず、確認できなかったことは不明と明記している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確認できていないこと(一覧)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状況</a:t>
                      </a:r>
                    </a:p>
                  </a:txBody>
                  <a:tcPr>
                    <a:solidFill>
                      <a:srgbClr val="2E2A72"/>
                    </a:solidFill>
                  </a:tcPr>
                </a:tc>
              </a:tr>
              <a:tr h="502920">
                <a:tc>
                  <a:txBody>
                    <a:bodyPr/>
                    <a:lstStyle/>
                    <a:p>
                      <a:pPr>
                        <a:defRPr sz="1200">
                          <a:solidFill>
                            <a:srgbClr val="1C1B33"/>
                          </a:solidFill>
                          <a:latin typeface="Yu Gothic"/>
                        </a:defRPr>
                      </a:pPr>
                      <a:r>
                        <a:t>3社の集計方法・期間が完全に同一かどうか</a:t>
                      </a:r>
                    </a:p>
                  </a:txBody>
                  <a:tcPr>
                    <a:solidFill>
                      <a:srgbClr val="FFFFFF"/>
                    </a:solidFill>
                  </a:tcPr>
                </a:tc>
                <a:tc>
                  <a:txBody>
                    <a:bodyPr/>
                    <a:lstStyle/>
                    <a:p>
                      <a:pPr>
                        <a:defRPr sz="1200">
                          <a:solidFill>
                            <a:srgbClr val="1C1B33"/>
                          </a:solidFill>
                          <a:latin typeface="Yu Gothic"/>
                        </a:defRPr>
                      </a:pPr>
                      <a:r>
                        <a:t>不明(Bloombergの報道内容をそのまま紹介)</a:t>
                      </a:r>
                    </a:p>
                  </a:txBody>
                  <a:tcPr>
                    <a:solidFill>
                      <a:srgbClr val="FFFFFF"/>
                    </a:solidFill>
                  </a:tcPr>
                </a:tc>
              </a:tr>
              <a:tr h="502920">
                <a:tc>
                  <a:txBody>
                    <a:bodyPr/>
                    <a:lstStyle/>
                    <a:p>
                      <a:pPr>
                        <a:defRPr sz="1200">
                          <a:solidFill>
                            <a:srgbClr val="1C1B33"/>
                          </a:solidFill>
                          <a:latin typeface="Yu Gothic"/>
                        </a:defRPr>
                      </a:pPr>
                      <a:r>
                        <a:t>「1ダウンロード」の定義の統一性</a:t>
                      </a:r>
                    </a:p>
                  </a:txBody>
                  <a:tcPr>
                    <a:solidFill>
                      <a:srgbClr val="F4F3FC"/>
                    </a:solidFill>
                  </a:tcPr>
                </a:tc>
                <a:tc>
                  <a:txBody>
                    <a:bodyPr/>
                    <a:lstStyle/>
                    <a:p>
                      <a:pPr>
                        <a:defRPr sz="1200">
                          <a:solidFill>
                            <a:srgbClr val="1C1B33"/>
                          </a:solidFill>
                          <a:latin typeface="Yu Gothic"/>
                        </a:defRPr>
                      </a:pPr>
                      <a:r>
                        <a:t>不明(プラットフォームごとに異なりうる)</a:t>
                      </a:r>
                    </a:p>
                  </a:txBody>
                  <a:tcPr>
                    <a:solidFill>
                      <a:srgbClr val="F4F3FC"/>
                    </a:solidFill>
                  </a:tcPr>
                </a:tc>
              </a:tr>
              <a:tr h="502920">
                <a:tc>
                  <a:txBody>
                    <a:bodyPr/>
                    <a:lstStyle/>
                    <a:p>
                      <a:pPr>
                        <a:defRPr sz="1200">
                          <a:solidFill>
                            <a:srgbClr val="1C1B33"/>
                          </a:solidFill>
                          <a:latin typeface="Yu Gothic"/>
                        </a:defRPr>
                      </a:pPr>
                      <a:r>
                        <a:t>ダウンロード数と実際の利用者数・稼働数との関係</a:t>
                      </a:r>
                    </a:p>
                  </a:txBody>
                  <a:tcPr>
                    <a:solidFill>
                      <a:srgbClr val="FFFFFF"/>
                    </a:solidFill>
                  </a:tcPr>
                </a:tc>
                <a:tc>
                  <a:txBody>
                    <a:bodyPr/>
                    <a:lstStyle/>
                    <a:p>
                      <a:pPr>
                        <a:defRPr sz="1200">
                          <a:solidFill>
                            <a:srgbClr val="1C1B33"/>
                          </a:solidFill>
                          <a:latin typeface="Yu Gothic"/>
                        </a:defRPr>
                      </a:pPr>
                      <a:r>
                        <a:t>不明(本調査の範囲では確認できず)</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今後の見通し(推測であることを明記)</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以下はあくまで合理的推測であり、断定ではありません。</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推測: オープンウェイトモデルの採用拡大に伴い、各社のダウンロード数はさらに増加する可能性がある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推測: 集計方法の透明性を求める声が今後強まる可能性がある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不明: Meta・Googleが今後どのような対抗策を取るかは、本調査の範囲では判断材料がない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30億ダウンロード。その数字の中身を、出典付きで正直にお届けした。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比較条件の違い・確認できなかったことも含めて、中立的に整理しました。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research.mdで出典一覧・確認できなかったことの詳細を確認する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主な出典一覧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Bloomberg</a:t>
                      </a:r>
                    </a:p>
                  </a:txBody>
                  <a:tcPr>
                    <a:solidFill>
                      <a:srgbClr val="FFFFFF"/>
                    </a:solidFill>
                  </a:tcPr>
                </a:tc>
                <a:tc>
                  <a:txBody>
                    <a:bodyPr/>
                    <a:lstStyle/>
                    <a:p>
                      <a:pPr>
                        <a:defRPr sz="1200">
                          <a:solidFill>
                            <a:srgbClr val="1C1B33"/>
                          </a:solidFill>
                          <a:latin typeface="Yu Gothic"/>
                        </a:defRPr>
                      </a:pPr>
                      <a:r>
                        <a:t>「Alibaba AI Models Hit 3 Billion Downloads, Passing Meta, Google」(2026-08-15)</a:t>
                      </a:r>
                    </a:p>
                  </a:txBody>
                  <a:tcPr>
                    <a:solidFill>
                      <a:srgbClr val="FFFFFF"/>
                    </a:solidFill>
                  </a:tcPr>
                </a:tc>
              </a:tr>
              <a:tr h="502920">
                <a:tc>
                  <a:txBody>
                    <a:bodyPr/>
                    <a:lstStyle/>
                    <a:p>
                      <a:pPr>
                        <a:defRPr sz="1200">
                          <a:solidFill>
                            <a:srgbClr val="1C1B33"/>
                          </a:solidFill>
                          <a:latin typeface="Yu Gothic"/>
                        </a:defRPr>
                      </a:pPr>
                      <a:r>
                        <a:t>Hugging Face</a:t>
                      </a:r>
                    </a:p>
                  </a:txBody>
                  <a:tcPr>
                    <a:solidFill>
                      <a:srgbClr val="F4F3FC"/>
                    </a:solidFill>
                  </a:tcPr>
                </a:tc>
                <a:tc>
                  <a:txBody>
                    <a:bodyPr/>
                    <a:lstStyle/>
                    <a:p>
                      <a:pPr>
                        <a:defRPr sz="1200">
                          <a:solidFill>
                            <a:srgbClr val="1C1B33"/>
                          </a:solidFill>
                          <a:latin typeface="Yu Gothic"/>
                        </a:defRPr>
                      </a:pPr>
                      <a:r>
                        <a:t>「state of open models」レポート(2026-08-14公開、Google・Metaの数字の出所)</a:t>
                      </a:r>
                    </a:p>
                  </a:txBody>
                  <a:tcPr>
                    <a:solidFill>
                      <a:srgbClr val="F4F3FC"/>
                    </a:solidFill>
                  </a:tcPr>
                </a:tc>
              </a:tr>
              <a:tr h="502920">
                <a:tc>
                  <a:txBody>
                    <a:bodyPr/>
                    <a:lstStyle/>
                    <a:p>
                      <a:pPr>
                        <a:defRPr sz="1200">
                          <a:solidFill>
                            <a:srgbClr val="1C1B33"/>
                          </a:solidFill>
                          <a:latin typeface="Yu Gothic"/>
                        </a:defRPr>
                      </a:pPr>
                      <a:r>
                        <a:t>Fortune・Business Standard・Storyboard18・Yahoo Finance</a:t>
                      </a:r>
                    </a:p>
                  </a:txBody>
                  <a:tcPr>
                    <a:solidFill>
                      <a:srgbClr val="FFFFFF"/>
                    </a:solidFill>
                  </a:tcPr>
                </a:tc>
                <a:tc>
                  <a:txBody>
                    <a:bodyPr/>
                    <a:lstStyle/>
                    <a:p>
                      <a:pPr>
                        <a:defRPr sz="1200">
                          <a:solidFill>
                            <a:srgbClr val="1C1B33"/>
                          </a:solidFill>
                          <a:latin typeface="Yu Gothic"/>
                        </a:defRPr>
                      </a:pPr>
                      <a:r>
                        <a:t>Bloomberg記事の内容を配信・引用(2026-08-15以降)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Bloomberg(2026-08-15)・Hugging Face「state of open models」(2026-08-14公開)ほか｜本日5本目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