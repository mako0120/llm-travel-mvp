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Nvidiaの決算発表を目前に控え、半導体株が軒並み下落しました。何が起きたのか、出典付きで正確に整理してお届けします。投資助言ではありません。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結論から確認します。インテル株は5%安、AMD株は4%安、TSMC株は3%安と、半導体株が軒並み下落しました。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今日は6つの流れでお伝えします。株価下落の基本情報から背景要因、Nvidia自体の状況まで、正確に事実を引用しながら整理します。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このテーマを扱う理由です。複数の主要銘柄が同時に下落するという市場全体の動きに注目しました。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株価下落の基本情報です。主要半導体銘柄が軒並み下落しました。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決算発表前の株価変動とは何かを確認します。業界大手の決算は同業他社にも影響します。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半導体株は、テック株全体の平均に比べて約2倍のペースで売られていると報じられています。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下落までの背景を図にしました。複数の要因が重なったとされています。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今回の下落を3ステップで総括しました。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下落の背景要因です。複数の要因が指摘されていますが、詳細な因果関係は断定しません。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確定していることと、確認できていないことを対比しました。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Nvidia株自体は、セクター全体の下落とは異なり、比較的堅調に推移しているとされています。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下落率をまとめました。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市場動向を追う立場にとっての意味です。本テーマは投資助言ではありません。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予測市場によるNvidia決算予想です。あくまで市場参加者の見方であることに留意します。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既存テーマ(決算予想)と本テーマ(株価変動)を対比し、異なる切り口であることを明確にしました。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複数の独立した海外主要メディアが同一の下落率を報じていることを確認しています。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30年物米国債利回りは19年ぶりの高水準である5.33%に達しています。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テック株全体との比較です。半導体セクター特有の売りが見られますが、詳細な要因は確認できていません。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Nvidiaの決算発表は8月26日に予定されています。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背景要因をまとめました。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AMD株は4%安と、インテルに次ぐ下落幅を記録しました。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海外メディアの報道時期をまとめました。同一日に幅広く配信されています。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TSMC株は3%安と、今回報じられた3社の中では最も小さい下落幅でした。</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一般的な株価下落報道の傾向と、今回の半導体株下落を対比しました。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今後注目される点です。断定的な予測は行いません。投資助言ではありません。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本編のまとめです。半導体株の下落について、出典付きで整理してお伝えしました。投資助言ではありません。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半導体株の下落について、その中身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半導体株が軒並み下落。</a:t>
            </a:r>
          </a:p>
          <a:p>
            <a:pPr algn="l">
              <a:lnSpc>
                <a:spcPct val="115000"/>
              </a:lnSpc>
            </a:pPr>
            <a:r>
              <a:rPr sz="4200" b="1">
                <a:solidFill>
                  <a:srgbClr val="FFFFFF"/>
                </a:solidFill>
                <a:latin typeface="Yu Gothic"/>
              </a:rPr>
              <a:t>インテル5%安</a:t>
            </a:r>
          </a:p>
          <a:p>
            <a:pPr algn="l">
              <a:lnSpc>
                <a:spcPct val="115000"/>
              </a:lnSpc>
            </a:pPr>
            <a:r>
              <a:rPr sz="4200" b="1">
                <a:solidFill>
                  <a:srgbClr val="FFFFFF"/>
                </a:solidFill>
                <a:latin typeface="Yu Gothic"/>
              </a:rPr>
              <a:t>AMD4%安</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2026年8月24日発表——出典付きで整理する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24/7 Wall St・Yahoo Finance(2026年8月24日)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インテル5%安 2026年8月24日の下落率</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AMDは4%安、TSMCは3%安と、半導体株が軒並み下落</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24/7 Wall St(2026-08-24)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株価下落の基本情報を確認する</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下落の背景要因を確認する</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Nvidia自体の状況を確認する</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決算発表の予定を確認する</a:t>
            </a:r>
          </a:p>
        </p:txBody>
      </p:sp>
      <p:sp>
        <p:nvSpPr>
          <p:cNvPr id="15" name="Oval 14"/>
          <p:cNvSpPr/>
          <p:nvPr/>
        </p:nvSpPr>
        <p:spPr>
          <a:xfrm>
            <a:off x="548640" y="58064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3E4F5"/>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着手日当日(2026年8月24日)、海外の主要金融メディアが一斉に報じた話題である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複数の主要半導体銘柄が同時に下落するという、市場全体の動きとしてインパクトが大きい</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Nvidiaの決算発表(8月26日)を目前に控えたタイミングという緊迫感がある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複数の独立したメディアが同じ下落率を報じており、情報の一貫性を確認できた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24/7 Wall St・Yahoo Finance(2026-08-24)</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24/7 Wall St・Yahoo Finance等(2026-08-24)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株価下落の基本情報</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銘柄</a:t>
                      </a:r>
                    </a:p>
                  </a:txBody>
                  <a:tcPr>
                    <a:solidFill>
                      <a:srgbClr val="2B3A55"/>
                    </a:solidFill>
                  </a:tcPr>
                </a:tc>
                <a:tc>
                  <a:txBody>
                    <a:bodyPr/>
                    <a:lstStyle/>
                    <a:p>
                      <a:pPr>
                        <a:defRPr sz="1300" b="1">
                          <a:solidFill>
                            <a:srgbClr val="FFFFFF"/>
                          </a:solidFill>
                          <a:latin typeface="Yu Gothic"/>
                        </a:defRPr>
                      </a:pPr>
                      <a:r>
                        <a:t>下落率</a:t>
                      </a:r>
                    </a:p>
                  </a:txBody>
                  <a:tcPr>
                    <a:solidFill>
                      <a:srgbClr val="2B3A55"/>
                    </a:solidFill>
                  </a:tcPr>
                </a:tc>
              </a:tr>
              <a:tr h="502920">
                <a:tc>
                  <a:txBody>
                    <a:bodyPr/>
                    <a:lstStyle/>
                    <a:p>
                      <a:pPr>
                        <a:defRPr sz="1200">
                          <a:solidFill>
                            <a:srgbClr val="1C2230"/>
                          </a:solidFill>
                          <a:latin typeface="Yu Gothic"/>
                        </a:defRPr>
                      </a:pPr>
                      <a:r>
                        <a:t>インテル</a:t>
                      </a:r>
                    </a:p>
                  </a:txBody>
                  <a:tcPr>
                    <a:solidFill>
                      <a:srgbClr val="FFFFFF"/>
                    </a:solidFill>
                  </a:tcPr>
                </a:tc>
                <a:tc>
                  <a:txBody>
                    <a:bodyPr/>
                    <a:lstStyle/>
                    <a:p>
                      <a:pPr>
                        <a:defRPr sz="1200">
                          <a:solidFill>
                            <a:srgbClr val="1C2230"/>
                          </a:solidFill>
                          <a:latin typeface="Yu Gothic"/>
                        </a:defRPr>
                      </a:pPr>
                      <a:r>
                        <a:t>5%安</a:t>
                      </a:r>
                    </a:p>
                  </a:txBody>
                  <a:tcPr>
                    <a:solidFill>
                      <a:srgbClr val="FFFFFF"/>
                    </a:solidFill>
                  </a:tcPr>
                </a:tc>
              </a:tr>
              <a:tr h="502920">
                <a:tc>
                  <a:txBody>
                    <a:bodyPr/>
                    <a:lstStyle/>
                    <a:p>
                      <a:pPr>
                        <a:defRPr sz="1200">
                          <a:solidFill>
                            <a:srgbClr val="1C2230"/>
                          </a:solidFill>
                          <a:latin typeface="Yu Gothic"/>
                        </a:defRPr>
                      </a:pPr>
                      <a:r>
                        <a:t>AMD</a:t>
                      </a:r>
                    </a:p>
                  </a:txBody>
                  <a:tcPr>
                    <a:solidFill>
                      <a:srgbClr val="F1F5FA"/>
                    </a:solidFill>
                  </a:tcPr>
                </a:tc>
                <a:tc>
                  <a:txBody>
                    <a:bodyPr/>
                    <a:lstStyle/>
                    <a:p>
                      <a:pPr>
                        <a:defRPr sz="1200">
                          <a:solidFill>
                            <a:srgbClr val="1C2230"/>
                          </a:solidFill>
                          <a:latin typeface="Yu Gothic"/>
                        </a:defRPr>
                      </a:pPr>
                      <a:r>
                        <a:t>4%安</a:t>
                      </a:r>
                    </a:p>
                  </a:txBody>
                  <a:tcPr>
                    <a:solidFill>
                      <a:srgbClr val="F1F5FA"/>
                    </a:solidFill>
                  </a:tcPr>
                </a:tc>
              </a:tr>
              <a:tr h="502920">
                <a:tc>
                  <a:txBody>
                    <a:bodyPr/>
                    <a:lstStyle/>
                    <a:p>
                      <a:pPr>
                        <a:defRPr sz="1200">
                          <a:solidFill>
                            <a:srgbClr val="1C2230"/>
                          </a:solidFill>
                          <a:latin typeface="Yu Gothic"/>
                        </a:defRPr>
                      </a:pPr>
                      <a:r>
                        <a:t>台湾積体電路製造(TSMC)</a:t>
                      </a:r>
                    </a:p>
                  </a:txBody>
                  <a:tcPr>
                    <a:solidFill>
                      <a:srgbClr val="FFFFFF"/>
                    </a:solidFill>
                  </a:tcPr>
                </a:tc>
                <a:tc>
                  <a:txBody>
                    <a:bodyPr/>
                    <a:lstStyle/>
                    <a:p>
                      <a:pPr>
                        <a:defRPr sz="1200">
                          <a:solidFill>
                            <a:srgbClr val="1C2230"/>
                          </a:solidFill>
                          <a:latin typeface="Yu Gothic"/>
                        </a:defRPr>
                      </a:pPr>
                      <a:r>
                        <a:t>3%安</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24/7 Wall St(2026-08-24)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24/7 Wall St・Yahoo Finance等(2026-08-24)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「決算発表前の株価変動」とは</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前提知識を確認します。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企業が決算を発表する前に、投資家の思惑によって関連銘柄の株価が変動する現象である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業界大手企業の決算は、同業他社の株価にも影響を与えることがある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今回はNvidiaの決算発表を控え、半導体セクター全体の株価が動いた事例である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24/7 Wall St・Yahoo Finance等(2026-08-24)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下落ペースの規模感</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テック株平均の約2倍 半導体株の下落ペース</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セクター特有の売りが集中しているとされる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24/7 Wall St(2026-08-24)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下落までの背景</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30年物米国債利回りが19年ぶり高水準</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5.33%まで上昇</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中東情勢の緊迫化で原油価格が上昇</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市場全体への影響要因の一つ</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8月24日、半導体株が軒並み下落</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Nvidia決算(8月26日)を控えて</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下落までの背景</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24/7 Wall St(2026-08-24)</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24/7 Wall St・Yahoo Finance等(2026-08-24)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今回の下落を3ステップで総括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1. 金利・原油価格の変動</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市場全体への影響要因</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2. 半導体セクターに売りが集中</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テック株平均の約2倍のペース</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3. Nvidia決算発表を目前に控える</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8月26日予定</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24/7 Wall St・Yahoo Finance等(2026-08-24)</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下落の背景要因</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下落の背景要因を確認します。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30年物米国債利回りが19年ぶりの高水準(5.33%)に達したことが要因の一つとされている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中東情勢の緊迫化を受けた原油価格の上昇も、市場全体への影響要因として挙げられている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これらの要因の詳細な因果関係については、本調査の範囲では断定しない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24/7 Wall St(2026-08-24)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24/7 Wall St・Yahoo Finance等(2026-08-24)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確定していること vs 確認できていないこと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確定していること</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インテル・AMD・TSMCの下落率</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下落が半導体セクター全体に及んでいること</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Nvidia決算発表予定日(8月26日)</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確認できていないこと</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個別銘柄の具体的な株価水準</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下落要因の詳細な因果関係</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24/7 Wall St・Yahoo Finance等(2026-08-24)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Nvidia自体の状況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比較的堅調 Nvidia株自体の値動き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セクター全体の下落とは異なる動きとされている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24/7 Wall St(2026-08-24)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下落率まとめ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インテル下落率</a:t>
                      </a:r>
                    </a:p>
                  </a:txBody>
                  <a:tcPr>
                    <a:solidFill>
                      <a:srgbClr val="FFFFFF"/>
                    </a:solidFill>
                  </a:tcPr>
                </a:tc>
                <a:tc>
                  <a:txBody>
                    <a:bodyPr/>
                    <a:lstStyle/>
                    <a:p>
                      <a:pPr>
                        <a:defRPr sz="1200">
                          <a:solidFill>
                            <a:srgbClr val="1C2230"/>
                          </a:solidFill>
                          <a:latin typeface="Yu Gothic"/>
                        </a:defRPr>
                      </a:pPr>
                      <a:r>
                        <a:t>5%安</a:t>
                      </a:r>
                    </a:p>
                  </a:txBody>
                  <a:tcPr>
                    <a:solidFill>
                      <a:srgbClr val="FFFFFF"/>
                    </a:solidFill>
                  </a:tcPr>
                </a:tc>
              </a:tr>
              <a:tr h="502920">
                <a:tc>
                  <a:txBody>
                    <a:bodyPr/>
                    <a:lstStyle/>
                    <a:p>
                      <a:pPr>
                        <a:defRPr sz="1200">
                          <a:solidFill>
                            <a:srgbClr val="1C2230"/>
                          </a:solidFill>
                          <a:latin typeface="Yu Gothic"/>
                        </a:defRPr>
                      </a:pPr>
                      <a:r>
                        <a:t>AMD下落率</a:t>
                      </a:r>
                    </a:p>
                  </a:txBody>
                  <a:tcPr>
                    <a:solidFill>
                      <a:srgbClr val="F1F5FA"/>
                    </a:solidFill>
                  </a:tcPr>
                </a:tc>
                <a:tc>
                  <a:txBody>
                    <a:bodyPr/>
                    <a:lstStyle/>
                    <a:p>
                      <a:pPr>
                        <a:defRPr sz="1200">
                          <a:solidFill>
                            <a:srgbClr val="1C2230"/>
                          </a:solidFill>
                          <a:latin typeface="Yu Gothic"/>
                        </a:defRPr>
                      </a:pPr>
                      <a:r>
                        <a:t>4%安</a:t>
                      </a:r>
                    </a:p>
                  </a:txBody>
                  <a:tcPr>
                    <a:solidFill>
                      <a:srgbClr val="F1F5FA"/>
                    </a:solidFill>
                  </a:tcPr>
                </a:tc>
              </a:tr>
              <a:tr h="502920">
                <a:tc>
                  <a:txBody>
                    <a:bodyPr/>
                    <a:lstStyle/>
                    <a:p>
                      <a:pPr>
                        <a:defRPr sz="1200">
                          <a:solidFill>
                            <a:srgbClr val="1C2230"/>
                          </a:solidFill>
                          <a:latin typeface="Yu Gothic"/>
                        </a:defRPr>
                      </a:pPr>
                      <a:r>
                        <a:t>TSMC下落率</a:t>
                      </a:r>
                    </a:p>
                  </a:txBody>
                  <a:tcPr>
                    <a:solidFill>
                      <a:srgbClr val="FFFFFF"/>
                    </a:solidFill>
                  </a:tcPr>
                </a:tc>
                <a:tc>
                  <a:txBody>
                    <a:bodyPr/>
                    <a:lstStyle/>
                    <a:p>
                      <a:pPr>
                        <a:defRPr sz="1200">
                          <a:solidFill>
                            <a:srgbClr val="1C2230"/>
                          </a:solidFill>
                          <a:latin typeface="Yu Gothic"/>
                        </a:defRPr>
                      </a:pPr>
                      <a:r>
                        <a:t>3%安</a:t>
                      </a:r>
                    </a:p>
                  </a:txBody>
                  <a:tcPr>
                    <a:solidFill>
                      <a:srgbClr val="FFFFFF"/>
                    </a:solidFill>
                  </a:tcPr>
                </a:tc>
              </a:tr>
              <a:tr h="502920">
                <a:tc>
                  <a:txBody>
                    <a:bodyPr/>
                    <a:lstStyle/>
                    <a:p>
                      <a:pPr>
                        <a:defRPr sz="1200">
                          <a:solidFill>
                            <a:srgbClr val="1C2230"/>
                          </a:solidFill>
                          <a:latin typeface="Yu Gothic"/>
                        </a:defRPr>
                      </a:pPr>
                      <a:r>
                        <a:t>Nvidia決算発表予定日</a:t>
                      </a:r>
                    </a:p>
                  </a:txBody>
                  <a:tcPr>
                    <a:solidFill>
                      <a:srgbClr val="F1F5FA"/>
                    </a:solidFill>
                  </a:tcPr>
                </a:tc>
                <a:tc>
                  <a:txBody>
                    <a:bodyPr/>
                    <a:lstStyle/>
                    <a:p>
                      <a:pPr>
                        <a:defRPr sz="1200">
                          <a:solidFill>
                            <a:srgbClr val="1C2230"/>
                          </a:solidFill>
                          <a:latin typeface="Yu Gothic"/>
                        </a:defRPr>
                      </a:pPr>
                      <a:r>
                        <a:t>8月26日</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24/7 Wall St・Yahoo Finance等(2026-08-24)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視聴者にとっての意味—市場動向を追う立場として</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視聴者にとっての意味を確認します。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半導体セクター全体の株価動向を、具体的な数字とともに把握できる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決算発表前に関連銘柄が動くという市場の仕組みを実例を通じて学べる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本テーマは投資助言ではなく、事実の整理にとどまることに留意する視点が役立つ</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24/7 Wall St・Yahoo Finance等(2026-08-24)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予測市場によるNvidia決算予想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予測市場によるNvidia決算予想を確認します。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予測市場では、Nvidiaの決算が市場予想を上回る確率が94.5%とされている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この高い確率が、Nvidia株自体の比較的堅調な値動きの一因と考えられている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予測市場の数値はあくまで市場参加者の見方であり、実際の決算結果を保証するものではない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24/7 Wall St(2026-08-24)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24/7 Wall St・Yahoo Finance等(2026-08-24)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既存テーマ(決算予想)vs 本テーマ(株価変動)</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既存テーマの内容</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Nvidiaの決算発表そのものへのアナリスト予想</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本テーマの内容</a:t>
            </a:r>
          </a:p>
        </p:txBody>
      </p:sp>
      <p:sp>
        <p:nvSpPr>
          <p:cNvPr id="14" name="Oval 13"/>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決算発表を控えた半導体株の実際の株価変動</a:t>
            </a:r>
          </a:p>
        </p:txBody>
      </p:sp>
      <p:sp>
        <p:nvSpPr>
          <p:cNvPr id="16" name="Oval 15"/>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個別銘柄(インテル・AMD・TSMC)の下落率</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24/7 Wall St・Yahoo Finance等(2026-08-24)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正直に開示する未確認事項です。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個別銘柄の具体的な株価水準は、下落率のみが報じられており確認できていない</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中東情勢の緊迫化の具体的な内容については、本テーマの範囲では立ち入らない</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今後の株価動向の予測は本テーマの範囲では行わない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24/7 Wall St・Yahoo Finance等(2026-08-24)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主な情報源</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2B3A55"/>
                    </a:solidFill>
                  </a:tcPr>
                </a:tc>
                <a:tc>
                  <a:txBody>
                    <a:bodyPr/>
                    <a:lstStyle/>
                    <a:p>
                      <a:pPr>
                        <a:defRPr sz="1300" b="1">
                          <a:solidFill>
                            <a:srgbClr val="FFFFFF"/>
                          </a:solidFill>
                          <a:latin typeface="Yu Gothic"/>
                        </a:defRPr>
                      </a:pPr>
                      <a:r>
                        <a:t>報道内容</a:t>
                      </a:r>
                    </a:p>
                  </a:txBody>
                  <a:tcPr>
                    <a:solidFill>
                      <a:srgbClr val="2B3A55"/>
                    </a:solidFill>
                  </a:tcPr>
                </a:tc>
              </a:tr>
              <a:tr h="502920">
                <a:tc>
                  <a:txBody>
                    <a:bodyPr/>
                    <a:lstStyle/>
                    <a:p>
                      <a:pPr>
                        <a:defRPr sz="1200">
                          <a:solidFill>
                            <a:srgbClr val="1C2230"/>
                          </a:solidFill>
                          <a:latin typeface="Yu Gothic"/>
                        </a:defRPr>
                      </a:pPr>
                      <a:r>
                        <a:t>24/7 Wall St(2026-08-24)</a:t>
                      </a:r>
                    </a:p>
                  </a:txBody>
                  <a:tcPr>
                    <a:solidFill>
                      <a:srgbClr val="FFFFFF"/>
                    </a:solidFill>
                  </a:tcPr>
                </a:tc>
                <a:tc>
                  <a:txBody>
                    <a:bodyPr/>
                    <a:lstStyle/>
                    <a:p>
                      <a:pPr>
                        <a:defRPr sz="1200">
                          <a:solidFill>
                            <a:srgbClr val="1C2230"/>
                          </a:solidFill>
                          <a:latin typeface="Yu Gothic"/>
                        </a:defRPr>
                      </a:pPr>
                      <a:r>
                        <a:t>下落率・背景要因の詳細</a:t>
                      </a:r>
                    </a:p>
                  </a:txBody>
                  <a:tcPr>
                    <a:solidFill>
                      <a:srgbClr val="FFFFFF"/>
                    </a:solidFill>
                  </a:tcPr>
                </a:tc>
              </a:tr>
              <a:tr h="502920">
                <a:tc>
                  <a:txBody>
                    <a:bodyPr/>
                    <a:lstStyle/>
                    <a:p>
                      <a:pPr>
                        <a:defRPr sz="1200">
                          <a:solidFill>
                            <a:srgbClr val="1C2230"/>
                          </a:solidFill>
                          <a:latin typeface="Yu Gothic"/>
                        </a:defRPr>
                      </a:pPr>
                      <a:r>
                        <a:t>AOL(2026年8月)</a:t>
                      </a:r>
                    </a:p>
                  </a:txBody>
                  <a:tcPr>
                    <a:solidFill>
                      <a:srgbClr val="F1F5FA"/>
                    </a:solidFill>
                  </a:tcPr>
                </a:tc>
                <a:tc>
                  <a:txBody>
                    <a:bodyPr/>
                    <a:lstStyle/>
                    <a:p>
                      <a:pPr>
                        <a:defRPr sz="1200">
                          <a:solidFill>
                            <a:srgbClr val="1C2230"/>
                          </a:solidFill>
                          <a:latin typeface="Yu Gothic"/>
                        </a:defRPr>
                      </a:pPr>
                      <a:r>
                        <a:t>同一内容の配信</a:t>
                      </a:r>
                    </a:p>
                  </a:txBody>
                  <a:tcPr>
                    <a:solidFill>
                      <a:srgbClr val="F1F5FA"/>
                    </a:solidFill>
                  </a:tcPr>
                </a:tc>
              </a:tr>
              <a:tr h="502920">
                <a:tc>
                  <a:txBody>
                    <a:bodyPr/>
                    <a:lstStyle/>
                    <a:p>
                      <a:pPr>
                        <a:defRPr sz="1200">
                          <a:solidFill>
                            <a:srgbClr val="1C2230"/>
                          </a:solidFill>
                          <a:latin typeface="Yu Gothic"/>
                        </a:defRPr>
                      </a:pPr>
                      <a:r>
                        <a:t>Yahoo Finance(2026年8月)</a:t>
                      </a:r>
                    </a:p>
                  </a:txBody>
                  <a:tcPr>
                    <a:solidFill>
                      <a:srgbClr val="FFFFFF"/>
                    </a:solidFill>
                  </a:tcPr>
                </a:tc>
                <a:tc>
                  <a:txBody>
                    <a:bodyPr/>
                    <a:lstStyle/>
                    <a:p>
                      <a:pPr>
                        <a:defRPr sz="1200">
                          <a:solidFill>
                            <a:srgbClr val="1C2230"/>
                          </a:solidFill>
                          <a:latin typeface="Yu Gothic"/>
                        </a:defRPr>
                      </a:pPr>
                      <a:r>
                        <a:t>同一内容の配信</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24/7 Wall St・Yahoo Finance等(2026-08-24)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市場動向を追う立場として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半導体セクター全体の株価動向を具体的な数字とともに把握できる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決算シーズンに関心がある立場として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決算前の関連銘柄の動きという市場の仕組みを学べる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情報を正確に受け取りたい立場として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既存の決算予想テーマとは異なる切り口の事実として区別できる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24/7 Wall St・Yahoo Finance等(2026-08-24)</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米国債利回りの水準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5.33% 30年物米国債利回りの水準(19年ぶりの高水準)</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下落の背景要因の一つとされている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24/7 Wall St(2026-08-24)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テック株全体との比較</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テック株全体との比較を確認します。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半導体株は、テック株全体の平均に比べて約2倍のペースで売られていると報じられている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これは、半導体セクター特有の要因が働いている可能性を示唆していると考えられる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具体的にどのような半導体セクター固有の要因があるかの詳細は、本調査の範囲では確認できていない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24/7 Wall St(2026-08-24)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24/7 Wall St・Yahoo Finance等(2026-08-24)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決算発表予定日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8月26日 Nvidiaの2027会計年度第2四半期決算発表予定日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市場引け後に発表予定</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本調査による整理(既存テーマ参照)</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背景要因まとめ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要因</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金利動向</a:t>
                      </a:r>
                    </a:p>
                  </a:txBody>
                  <a:tcPr>
                    <a:solidFill>
                      <a:srgbClr val="FFFFFF"/>
                    </a:solidFill>
                  </a:tcPr>
                </a:tc>
                <a:tc>
                  <a:txBody>
                    <a:bodyPr/>
                    <a:lstStyle/>
                    <a:p>
                      <a:pPr>
                        <a:defRPr sz="1200">
                          <a:solidFill>
                            <a:srgbClr val="1C2230"/>
                          </a:solidFill>
                          <a:latin typeface="Yu Gothic"/>
                        </a:defRPr>
                      </a:pPr>
                      <a:r>
                        <a:t>30年物米国債利回り19年ぶり高水準(5.33%)</a:t>
                      </a:r>
                    </a:p>
                  </a:txBody>
                  <a:tcPr>
                    <a:solidFill>
                      <a:srgbClr val="FFFFFF"/>
                    </a:solidFill>
                  </a:tcPr>
                </a:tc>
              </a:tr>
              <a:tr h="502920">
                <a:tc>
                  <a:txBody>
                    <a:bodyPr/>
                    <a:lstStyle/>
                    <a:p>
                      <a:pPr>
                        <a:defRPr sz="1200">
                          <a:solidFill>
                            <a:srgbClr val="1C2230"/>
                          </a:solidFill>
                          <a:latin typeface="Yu Gothic"/>
                        </a:defRPr>
                      </a:pPr>
                      <a:r>
                        <a:t>原油価格</a:t>
                      </a:r>
                    </a:p>
                  </a:txBody>
                  <a:tcPr>
                    <a:solidFill>
                      <a:srgbClr val="F1F5FA"/>
                    </a:solidFill>
                  </a:tcPr>
                </a:tc>
                <a:tc>
                  <a:txBody>
                    <a:bodyPr/>
                    <a:lstStyle/>
                    <a:p>
                      <a:pPr>
                        <a:defRPr sz="1200">
                          <a:solidFill>
                            <a:srgbClr val="1C2230"/>
                          </a:solidFill>
                          <a:latin typeface="Yu Gothic"/>
                        </a:defRPr>
                      </a:pPr>
                      <a:r>
                        <a:t>中東情勢緊迫化を受け上昇</a:t>
                      </a:r>
                    </a:p>
                  </a:txBody>
                  <a:tcPr>
                    <a:solidFill>
                      <a:srgbClr val="F1F5FA"/>
                    </a:solidFill>
                  </a:tcPr>
                </a:tc>
              </a:tr>
              <a:tr h="502920">
                <a:tc>
                  <a:txBody>
                    <a:bodyPr/>
                    <a:lstStyle/>
                    <a:p>
                      <a:pPr>
                        <a:defRPr sz="1200">
                          <a:solidFill>
                            <a:srgbClr val="1C2230"/>
                          </a:solidFill>
                          <a:latin typeface="Yu Gothic"/>
                        </a:defRPr>
                      </a:pPr>
                      <a:r>
                        <a:t>決算タイミング</a:t>
                      </a:r>
                    </a:p>
                  </a:txBody>
                  <a:tcPr>
                    <a:solidFill>
                      <a:srgbClr val="FFFFFF"/>
                    </a:solidFill>
                  </a:tcPr>
                </a:tc>
                <a:tc>
                  <a:txBody>
                    <a:bodyPr/>
                    <a:lstStyle/>
                    <a:p>
                      <a:pPr>
                        <a:defRPr sz="1200">
                          <a:solidFill>
                            <a:srgbClr val="1C2230"/>
                          </a:solidFill>
                          <a:latin typeface="Yu Gothic"/>
                        </a:defRPr>
                      </a:pPr>
                      <a:r>
                        <a:t>Nvidia決算(8月26日)を目前に控える</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24/7 Wall St・Yahoo Finance等(2026-08-24)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AMDの下落率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4%安 AMD株の2026年8月24日の下落率</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インテルに次ぐ下落幅</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24/7 Wall St(2026-08-24)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海外メディアの報道時期</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日付</a:t>
                      </a:r>
                    </a:p>
                  </a:txBody>
                  <a:tcPr>
                    <a:solidFill>
                      <a:srgbClr val="2B3A55"/>
                    </a:solidFill>
                  </a:tcPr>
                </a:tc>
                <a:tc>
                  <a:txBody>
                    <a:bodyPr/>
                    <a:lstStyle/>
                    <a:p>
                      <a:pPr>
                        <a:defRPr sz="1300" b="1">
                          <a:solidFill>
                            <a:srgbClr val="FFFFFF"/>
                          </a:solidFill>
                          <a:latin typeface="Yu Gothic"/>
                        </a:defRPr>
                      </a:pPr>
                      <a:r>
                        <a:t>メディア</a:t>
                      </a:r>
                    </a:p>
                  </a:txBody>
                  <a:tcPr>
                    <a:solidFill>
                      <a:srgbClr val="2B3A55"/>
                    </a:solidFill>
                  </a:tcPr>
                </a:tc>
              </a:tr>
              <a:tr h="502920">
                <a:tc>
                  <a:txBody>
                    <a:bodyPr/>
                    <a:lstStyle/>
                    <a:p>
                      <a:pPr>
                        <a:defRPr sz="1200">
                          <a:solidFill>
                            <a:srgbClr val="1C2230"/>
                          </a:solidFill>
                          <a:latin typeface="Yu Gothic"/>
                        </a:defRPr>
                      </a:pPr>
                      <a:r>
                        <a:t>2026年8月24日</a:t>
                      </a:r>
                    </a:p>
                  </a:txBody>
                  <a:tcPr>
                    <a:solidFill>
                      <a:srgbClr val="FFFFFF"/>
                    </a:solidFill>
                  </a:tcPr>
                </a:tc>
                <a:tc>
                  <a:txBody>
                    <a:bodyPr/>
                    <a:lstStyle/>
                    <a:p>
                      <a:pPr>
                        <a:defRPr sz="1200">
                          <a:solidFill>
                            <a:srgbClr val="1C2230"/>
                          </a:solidFill>
                          <a:latin typeface="Yu Gothic"/>
                        </a:defRPr>
                      </a:pPr>
                      <a:r>
                        <a:t>24/7 Wall St(一次報道)</a:t>
                      </a:r>
                    </a:p>
                  </a:txBody>
                  <a:tcPr>
                    <a:solidFill>
                      <a:srgbClr val="FFFFFF"/>
                    </a:solidFill>
                  </a:tcPr>
                </a:tc>
              </a:tr>
              <a:tr h="502920">
                <a:tc>
                  <a:txBody>
                    <a:bodyPr/>
                    <a:lstStyle/>
                    <a:p>
                      <a:pPr>
                        <a:defRPr sz="1200">
                          <a:solidFill>
                            <a:srgbClr val="1C2230"/>
                          </a:solidFill>
                          <a:latin typeface="Yu Gothic"/>
                        </a:defRPr>
                      </a:pPr>
                      <a:r>
                        <a:t>2026年8月24日</a:t>
                      </a:r>
                    </a:p>
                  </a:txBody>
                  <a:tcPr>
                    <a:solidFill>
                      <a:srgbClr val="F1F5FA"/>
                    </a:solidFill>
                  </a:tcPr>
                </a:tc>
                <a:tc>
                  <a:txBody>
                    <a:bodyPr/>
                    <a:lstStyle/>
                    <a:p>
                      <a:pPr>
                        <a:defRPr sz="1200">
                          <a:solidFill>
                            <a:srgbClr val="1C2230"/>
                          </a:solidFill>
                          <a:latin typeface="Yu Gothic"/>
                        </a:defRPr>
                      </a:pPr>
                      <a:r>
                        <a:t>AOL(配信)</a:t>
                      </a:r>
                    </a:p>
                  </a:txBody>
                  <a:tcPr>
                    <a:solidFill>
                      <a:srgbClr val="F1F5FA"/>
                    </a:solidFill>
                  </a:tcPr>
                </a:tc>
              </a:tr>
              <a:tr h="502920">
                <a:tc>
                  <a:txBody>
                    <a:bodyPr/>
                    <a:lstStyle/>
                    <a:p>
                      <a:pPr>
                        <a:defRPr sz="1200">
                          <a:solidFill>
                            <a:srgbClr val="1C2230"/>
                          </a:solidFill>
                          <a:latin typeface="Yu Gothic"/>
                        </a:defRPr>
                      </a:pPr>
                      <a:r>
                        <a:t>2026年8月24日</a:t>
                      </a:r>
                    </a:p>
                  </a:txBody>
                  <a:tcPr>
                    <a:solidFill>
                      <a:srgbClr val="FFFFFF"/>
                    </a:solidFill>
                  </a:tcPr>
                </a:tc>
                <a:tc>
                  <a:txBody>
                    <a:bodyPr/>
                    <a:lstStyle/>
                    <a:p>
                      <a:pPr>
                        <a:defRPr sz="1200">
                          <a:solidFill>
                            <a:srgbClr val="1C2230"/>
                          </a:solidFill>
                          <a:latin typeface="Yu Gothic"/>
                        </a:defRPr>
                      </a:pPr>
                      <a:r>
                        <a:t>Yahoo Finance(配信)</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24/7 Wall St・Yahoo Finance等(2026-08-24)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TSMCの下落率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3%安 台湾積体電路製造(TSMC)株の下落率</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3社の中では最も小さい下落幅</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24/7 Wall St(2026-08-24)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一般的な株価下落報道 vs 今回の半導体株下落</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一般的な株価下落報道</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単一銘柄の下落として報じられることが多い</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今回の半導体株下落</a:t>
            </a:r>
          </a:p>
        </p:txBody>
      </p:sp>
      <p:sp>
        <p:nvSpPr>
          <p:cNvPr id="14" name="Oval 13"/>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複数の主要銘柄が同時に下落</a:t>
            </a:r>
          </a:p>
        </p:txBody>
      </p:sp>
      <p:sp>
        <p:nvSpPr>
          <p:cNvPr id="16" name="Oval 15"/>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決算発表直前というタイミング</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24/7 Wall St・Yahoo Finance等(2026-08-24)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今後注目される点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今後の展開について確認します。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8月26日のNvidia決算発表後、半導体株全体がどう反応するかに注目が集まる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金利動向・原油価格の推移が今後も市場全体に影響を与え続けるかも注目点である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具体的な今後の株価予測は本テーマの範囲では断定せず、確認できた事実にとどめる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24/7 Wall St・Yahoo Finance等(2026-08-24)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まとめ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本編のまとめです。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2026年8月24日、インテル・AMD・TSMCなど半導体株が軒並み下落した</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下落率はインテル5%・AMD4%・TSMC3%で、テック株平均の約2倍のペースとされている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背景には米国債利回りの上昇・原油価格の上昇・Nvidia決算前という複数の要因があるとされている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Nvidia株自体は比較的堅調で、決算(8月26日)予想上振れ確率は94.5%とされている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24/7 Wall St・Yahoo Finance等(2026-08-24)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半導体株が軒並み下落。インテル5%安・AMD4%安、Nvidia決算控え。</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Nvidiaの決算発表を目前に控え、半導体株が軒並み下落しました。その中身を、出典付きで整理してお届けしました。投資助言ではありません。</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