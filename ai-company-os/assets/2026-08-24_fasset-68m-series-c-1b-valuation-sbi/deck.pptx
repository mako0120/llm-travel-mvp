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UAE拠点のステーブルコイン企業Fassetが、日本のSBIグループ主導の資金調達でユニコーン入りしました。何が起きたのか、出典付きで正確に整理してお届けします。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結論から確認します。FassetはSBIグループが主導するシリーズCで評価額10億ドルに到達し、ユニコーン企業入りしました。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本日の流れです。企業概要から資金調達の推移、SBIとの協業計画、そして確認できなかったことまで、順番に整理します。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着手日当日に複数メディアが一斉報道した、鮮度の高い話題です。日本企業が主導するという点も特徴です。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シリーズCの調達額は68百万ドルです。SBIグループが主導しています。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Fassetは、UAEを拠点にAIを活用したステーブルコイン決済インフラを提供する企業です。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シリーズBからシリーズCへの推移です。2026年通年の累計調達額は119百万ドルとなりました。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SBIは今回の主導に加え、今後ワラント行使を通じてさらに出資比率を高める計画です。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2026年通年で見ると、シリーズBとシリーズCを合わせて119百万ドルを調達しています。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事業規模を示す数字です。年換算取引量は400億ドル超に達しています。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調達資金は、銀行・通信キャリア・決済/流動性プロバイダーを接続する規制対応の金融ネットワーク「Own Network」の拡大に充てられます。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調達資金の使途は、Own Networkの拡大とエージェンティックAIシステムへの投資拡大の2点です。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AIの具体的な活用範囲として、コリドー銀行業務・ステーブルコイン決済・トークン化資産インフラの3領域が挙げられています。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年換算の取引処理量は400億ドルを超えています。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シリーズB、シリーズC、そして今後の展開という3ステップで整理します。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SBIとの協業計画として、マレーシアでのデジタル銀行共同運営とトークン流通が発表されていますが、詳細はまだ確認できていません。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今回の調達により、Fassetは評価額10億ドルのユニコーン企業となりました。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シリーズBとシリーズCを比較すると、評価額が公式にユニコーン水準に達した点が大きな違いです。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ステーブルコイン決済インフラへの投資が拡大する中での事例として位置づけられます。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複数の独立したメディアが同一の調達額・評価額を報じており、報道内容としての一貫性を確認しています。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一般的なステーブルコイン企業と比較すると、Fassetは既存金融機関との接続網を重視している点が特徴です。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SBIは今後、ワラント行使を通じてさらに出資比率を高める計画です。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本テーマは投資助言ではなく、業界動向の紹介として整理しています。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調達前後で、評価額と累計調達額の両方が明確に変化しました。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68百万ドルのシリーズCにより、Fassetは評価額10億ドルのユニコーン企業となりました。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本日はFassetのシリーズC調達についてお届けしました。確認できなかったことは正直に開示しています。次回もお楽しみに。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SBI主導、</a:t>
            </a:r>
          </a:p>
          <a:p>
            <a:pPr algn="l">
              <a:lnSpc>
                <a:spcPct val="115000"/>
              </a:lnSpc>
            </a:pPr>
            <a:r>
              <a:rPr sz="4200" b="1">
                <a:solidFill>
                  <a:srgbClr val="FFFFFF"/>
                </a:solidFill>
                <a:latin typeface="Yu Gothic"/>
              </a:rPr>
              <a:t>約100億円調達で</a:t>
            </a:r>
          </a:p>
          <a:p>
            <a:pPr algn="l">
              <a:lnSpc>
                <a:spcPct val="115000"/>
              </a:lnSpc>
            </a:pPr>
            <a:r>
              <a:rPr sz="4200" b="1">
                <a:solidFill>
                  <a:srgbClr val="FFFFFF"/>
                </a:solidFill>
                <a:latin typeface="Yu Gothic"/>
              </a:rPr>
              <a:t>ユニコーン入り</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UAE拠点のFasset、評価額10億ドルへ——出典付きで整理する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The Block(2026年8月24日)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評価額10億ドル 日本のSBI主導のシリーズCで到達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68百万ドルのシリーズCラウンドを実施</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Block(2026-08-24)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Fassetとは何か、基本情報を確認する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シリーズB→Cの調達推移を確認する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SBIとの関係・今後の協業計画</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2026年8月24日、複数の海外メディアが一斉に報道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日本のSBIグループが主導する調達というクロスボーダーの話題性</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ステーブルコイン×AIという成長領域の実例として整理する価値がある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Block(2026-08-24)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シリーズCの調達額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68百万ドル シリーズC調達額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SBIグループが主導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Businesswire(2026-08-23)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Fassetとは何か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UAE拠点のステーブルコイン・ネオバンキング企業</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AIを活用した決済・送金インフラを提供</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125カ国・300万超のウォレット・1,000社超の企業にサービス提供</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Block(2026-08-24)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シリーズB→Cの調達推移</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ラウンド</a:t>
                      </a:r>
                    </a:p>
                  </a:txBody>
                  <a:tcPr>
                    <a:solidFill>
                      <a:srgbClr val="1E2761"/>
                    </a:solidFill>
                  </a:tcPr>
                </a:tc>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調達額</a:t>
                      </a:r>
                    </a:p>
                  </a:txBody>
                  <a:tcPr>
                    <a:solidFill>
                      <a:srgbClr val="1E2761"/>
                    </a:solidFill>
                  </a:tcPr>
                </a:tc>
              </a:tr>
              <a:tr h="502920">
                <a:tc>
                  <a:txBody>
                    <a:bodyPr/>
                    <a:lstStyle/>
                    <a:p>
                      <a:pPr>
                        <a:defRPr sz="1200">
                          <a:solidFill>
                            <a:srgbClr val="1A1A2E"/>
                          </a:solidFill>
                          <a:latin typeface="Yu Gothic"/>
                        </a:defRPr>
                      </a:pPr>
                      <a:r>
                        <a:t>シリーズB</a:t>
                      </a:r>
                    </a:p>
                  </a:txBody>
                  <a:tcPr>
                    <a:solidFill>
                      <a:srgbClr val="FFFFFF"/>
                    </a:solidFill>
                  </a:tcPr>
                </a:tc>
                <a:tc>
                  <a:txBody>
                    <a:bodyPr/>
                    <a:lstStyle/>
                    <a:p>
                      <a:pPr>
                        <a:defRPr sz="1200">
                          <a:solidFill>
                            <a:srgbClr val="1A1A2E"/>
                          </a:solidFill>
                          <a:latin typeface="Yu Gothic"/>
                        </a:defRPr>
                      </a:pPr>
                      <a:r>
                        <a:t>2026年5月</a:t>
                      </a:r>
                    </a:p>
                  </a:txBody>
                  <a:tcPr>
                    <a:solidFill>
                      <a:srgbClr val="FFFFFF"/>
                    </a:solidFill>
                  </a:tcPr>
                </a:tc>
                <a:tc>
                  <a:txBody>
                    <a:bodyPr/>
                    <a:lstStyle/>
                    <a:p>
                      <a:pPr>
                        <a:defRPr sz="1200">
                          <a:solidFill>
                            <a:srgbClr val="1A1A2E"/>
                          </a:solidFill>
                          <a:latin typeface="Yu Gothic"/>
                        </a:defRPr>
                      </a:pPr>
                      <a:r>
                        <a:t>51百万ドル</a:t>
                      </a:r>
                    </a:p>
                  </a:txBody>
                  <a:tcPr>
                    <a:solidFill>
                      <a:srgbClr val="FFFFFF"/>
                    </a:solidFill>
                  </a:tcPr>
                </a:tc>
              </a:tr>
              <a:tr h="502920">
                <a:tc>
                  <a:txBody>
                    <a:bodyPr/>
                    <a:lstStyle/>
                    <a:p>
                      <a:pPr>
                        <a:defRPr sz="1200">
                          <a:solidFill>
                            <a:srgbClr val="1A1A2E"/>
                          </a:solidFill>
                          <a:latin typeface="Yu Gothic"/>
                        </a:defRPr>
                      </a:pPr>
                      <a:r>
                        <a:t>シリーズC</a:t>
                      </a:r>
                    </a:p>
                  </a:txBody>
                  <a:tcPr>
                    <a:solidFill>
                      <a:srgbClr val="F3F6FC"/>
                    </a:solidFill>
                  </a:tcPr>
                </a:tc>
                <a:tc>
                  <a:txBody>
                    <a:bodyPr/>
                    <a:lstStyle/>
                    <a:p>
                      <a:pPr>
                        <a:defRPr sz="1200">
                          <a:solidFill>
                            <a:srgbClr val="1A1A2E"/>
                          </a:solidFill>
                          <a:latin typeface="Yu Gothic"/>
                        </a:defRPr>
                      </a:pPr>
                      <a:r>
                        <a:t>2026年8月</a:t>
                      </a:r>
                    </a:p>
                  </a:txBody>
                  <a:tcPr>
                    <a:solidFill>
                      <a:srgbClr val="F3F6FC"/>
                    </a:solidFill>
                  </a:tcPr>
                </a:tc>
                <a:tc>
                  <a:txBody>
                    <a:bodyPr/>
                    <a:lstStyle/>
                    <a:p>
                      <a:pPr>
                        <a:defRPr sz="1200">
                          <a:solidFill>
                            <a:srgbClr val="1A1A2E"/>
                          </a:solidFill>
                          <a:latin typeface="Yu Gothic"/>
                        </a:defRPr>
                      </a:pPr>
                      <a:r>
                        <a:t>68百万ドル</a:t>
                      </a:r>
                    </a:p>
                  </a:txBody>
                  <a:tcPr>
                    <a:solidFill>
                      <a:srgbClr val="F3F6FC"/>
                    </a:solidFill>
                  </a:tcPr>
                </a:tc>
              </a:tr>
              <a:tr h="502920">
                <a:tc>
                  <a:txBody>
                    <a:bodyPr/>
                    <a:lstStyle/>
                    <a:p>
                      <a:pPr>
                        <a:defRPr sz="1200">
                          <a:solidFill>
                            <a:srgbClr val="1A1A2E"/>
                          </a:solidFill>
                          <a:latin typeface="Yu Gothic"/>
                        </a:defRPr>
                      </a:pPr>
                      <a:r>
                        <a:t>2026年通年累計</a:t>
                      </a:r>
                    </a:p>
                  </a:txBody>
                  <a:tcPr>
                    <a:solidFill>
                      <a:srgbClr val="FFFFFF"/>
                    </a:solidFill>
                  </a:tcPr>
                </a:tc>
                <a:tc>
                  <a:txBody>
                    <a:bodyPr/>
                    <a:lstStyle/>
                    <a:p>
                      <a:pPr>
                        <a:defRPr sz="1200">
                          <a:solidFill>
                            <a:srgbClr val="1A1A2E"/>
                          </a:solidFill>
                          <a:latin typeface="Yu Gothic"/>
                        </a:defRPr>
                      </a:pPr>
                      <a:r>
                        <a:t>-</a:t>
                      </a:r>
                    </a:p>
                  </a:txBody>
                  <a:tcPr>
                    <a:solidFill>
                      <a:srgbClr val="FFFFFF"/>
                    </a:solidFill>
                  </a:tcPr>
                </a:tc>
                <a:tc>
                  <a:txBody>
                    <a:bodyPr/>
                    <a:lstStyle/>
                    <a:p>
                      <a:pPr>
                        <a:defRPr sz="1200">
                          <a:solidFill>
                            <a:srgbClr val="1A1A2E"/>
                          </a:solidFill>
                          <a:latin typeface="Yu Gothic"/>
                        </a:defRPr>
                      </a:pPr>
                      <a:r>
                        <a:t>119百万ドル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Block(2026-08-24)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SBIとの関係</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SBIグループが今回のシリーズCを主導</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ラウンド完了後、ワラント行使を通じて出資比率をさらに拡大する計画</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Fassetはグループの持分法適用会社となる見込み</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Businesswire(2026-08-23)</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2026年通年の累計調達額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119百万ドル シリーズB・Cの合計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2026年通年ベース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Block(2026-08-24)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事業規模を数字で見る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年換算取引量400億ドル超</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サービス提供国は125カ国</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ウォレット数300万超、企業向け顧客1,000社超</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Block(2026-08-24)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Own Networkの仕組み(概念図)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銀行・通信キャリア</a:t>
            </a:r>
          </a:p>
        </p:txBody>
      </p:sp>
      <p:sp>
        <p:nvSpPr>
          <p:cNvPr id="9" name="Right Arrow 8"/>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決済/流動性プロバイダー</a:t>
            </a:r>
          </a:p>
        </p:txBody>
      </p:sp>
      <p:sp>
        <p:nvSpPr>
          <p:cNvPr id="13" name="Right Arrow 12"/>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Own Network(Fasset)</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規制対応の金融ネットワークが各プレイヤーを接続する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資金使途の内訳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使途</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Own Networkの拡大</a:t>
                      </a:r>
                    </a:p>
                  </a:txBody>
                  <a:tcPr>
                    <a:solidFill>
                      <a:srgbClr val="FFFFFF"/>
                    </a:solidFill>
                  </a:tcPr>
                </a:tc>
                <a:tc>
                  <a:txBody>
                    <a:bodyPr/>
                    <a:lstStyle/>
                    <a:p>
                      <a:pPr>
                        <a:defRPr sz="1200">
                          <a:solidFill>
                            <a:srgbClr val="1A1A2E"/>
                          </a:solidFill>
                          <a:latin typeface="Yu Gothic"/>
                        </a:defRPr>
                      </a:pPr>
                      <a:r>
                        <a:t>銀行・通信キャリア・決済プロバイダーの接続基盤</a:t>
                      </a:r>
                    </a:p>
                  </a:txBody>
                  <a:tcPr>
                    <a:solidFill>
                      <a:srgbClr val="FFFFFF"/>
                    </a:solidFill>
                  </a:tcPr>
                </a:tc>
              </a:tr>
              <a:tr h="502920">
                <a:tc>
                  <a:txBody>
                    <a:bodyPr/>
                    <a:lstStyle/>
                    <a:p>
                      <a:pPr>
                        <a:defRPr sz="1200">
                          <a:solidFill>
                            <a:srgbClr val="1A1A2E"/>
                          </a:solidFill>
                          <a:latin typeface="Yu Gothic"/>
                        </a:defRPr>
                      </a:pPr>
                      <a:r>
                        <a:t>エージェンティックAI投資</a:t>
                      </a:r>
                    </a:p>
                  </a:txBody>
                  <a:tcPr>
                    <a:solidFill>
                      <a:srgbClr val="F3F6FC"/>
                    </a:solidFill>
                  </a:tcPr>
                </a:tc>
                <a:tc>
                  <a:txBody>
                    <a:bodyPr/>
                    <a:lstStyle/>
                    <a:p>
                      <a:pPr>
                        <a:defRPr sz="1200">
                          <a:solidFill>
                            <a:srgbClr val="1A1A2E"/>
                          </a:solidFill>
                          <a:latin typeface="Yu Gothic"/>
                        </a:defRPr>
                      </a:pPr>
                      <a:r>
                        <a:t>コリドー銀行業務・ステーブルコイン決済・トークン化資産インフラ</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Businesswire(2026-08-23)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AIの活用範囲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コリドー銀行業務を支えるエージェンティックAI</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ステーブルコイン決済のAI活用</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トークン化資産インフラへのAI投資拡大</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Businesswire(2026-08-23)</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年換算取引量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400億ドル超 年換算の取引処理量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125カ国でサービス提供</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Block(2026-08-24)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調達からの展開ステップ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シリーズB</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2026年5月、51百万ドル</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シリーズC</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2026年8月、SBI主導68百万ドル</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今後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SBIのワラント行使・マレーシア共同事業</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SBIとの協業計画</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マレーシアでのデジタル銀行を共同運営する計画</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Fasset発行トークンの流通で協業する計画</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いずれも発表段階であり、開始時期・規模の詳細は確認できていない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Businesswire(2026-08-23)</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確定</a:t>
                      </a:r>
                    </a:p>
                  </a:txBody>
                  <a:tcPr>
                    <a:solidFill>
                      <a:srgbClr val="FFFFFF"/>
                    </a:solidFill>
                  </a:tcPr>
                </a:tc>
                <a:tc>
                  <a:txBody>
                    <a:bodyPr/>
                    <a:lstStyle/>
                    <a:p>
                      <a:pPr>
                        <a:defRPr sz="1200">
                          <a:solidFill>
                            <a:srgbClr val="1A1A2E"/>
                          </a:solidFill>
                          <a:latin typeface="Yu Gothic"/>
                        </a:defRPr>
                      </a:pPr>
                      <a:r>
                        <a:t>調達額・評価額・SBI主導という事実</a:t>
                      </a:r>
                    </a:p>
                  </a:txBody>
                  <a:tcPr>
                    <a:solidFill>
                      <a:srgbClr val="FFFFFF"/>
                    </a:solidFill>
                  </a:tcPr>
                </a:tc>
              </a:tr>
              <a:tr h="502920">
                <a:tc>
                  <a:txBody>
                    <a:bodyPr/>
                    <a:lstStyle/>
                    <a:p>
                      <a:pPr>
                        <a:defRPr sz="1200">
                          <a:solidFill>
                            <a:srgbClr val="1A1A2E"/>
                          </a:solidFill>
                          <a:latin typeface="Yu Gothic"/>
                        </a:defRPr>
                      </a:pPr>
                      <a:r>
                        <a:t>確定</a:t>
                      </a:r>
                    </a:p>
                  </a:txBody>
                  <a:tcPr>
                    <a:solidFill>
                      <a:srgbClr val="F3F6FC"/>
                    </a:solidFill>
                  </a:tcPr>
                </a:tc>
                <a:tc>
                  <a:txBody>
                    <a:bodyPr/>
                    <a:lstStyle/>
                    <a:p>
                      <a:pPr>
                        <a:defRPr sz="1200">
                          <a:solidFill>
                            <a:srgbClr val="1A1A2E"/>
                          </a:solidFill>
                          <a:latin typeface="Yu Gothic"/>
                        </a:defRPr>
                      </a:pPr>
                      <a:r>
                        <a:t>資金使途の方針(Own Network・AI投資)</a:t>
                      </a:r>
                    </a:p>
                  </a:txBody>
                  <a:tcPr>
                    <a:solidFill>
                      <a:srgbClr val="F3F6FC"/>
                    </a:solidFill>
                  </a:tcPr>
                </a:tc>
              </a:tr>
              <a:tr h="502920">
                <a:tc>
                  <a:txBody>
                    <a:bodyPr/>
                    <a:lstStyle/>
                    <a:p>
                      <a:pPr>
                        <a:defRPr sz="1200">
                          <a:solidFill>
                            <a:srgbClr val="1A1A2E"/>
                          </a:solidFill>
                          <a:latin typeface="Yu Gothic"/>
                        </a:defRPr>
                      </a:pPr>
                      <a:r>
                        <a:t>未確認</a:t>
                      </a:r>
                    </a:p>
                  </a:txBody>
                  <a:tcPr>
                    <a:solidFill>
                      <a:srgbClr val="FFFFFF"/>
                    </a:solidFill>
                  </a:tcPr>
                </a:tc>
                <a:tc>
                  <a:txBody>
                    <a:bodyPr/>
                    <a:lstStyle/>
                    <a:p>
                      <a:pPr>
                        <a:defRPr sz="1200">
                          <a:solidFill>
                            <a:srgbClr val="1A1A2E"/>
                          </a:solidFill>
                          <a:latin typeface="Yu Gothic"/>
                        </a:defRPr>
                      </a:pPr>
                      <a:r>
                        <a:t>SBIの具体的な出資比率・マレーシア事業の開始時期</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シリーズC後のSBIの具体的な出資比率・ワラント行使条件</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マレーシアでのデジタル銀行共同運営の開始時期・規模</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「AI活用」の具体的な技術アーキテクチャの詳細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投資家からの評価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ユニコーン入り 評価額10億ドル到達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UAE拠点のステーブルコイン企業として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Block(2026-08-24)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シリーズB vs シリーズC</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シリーズB(2026年5月)</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調達額51百万ドル</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評価額の公表なし</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シリーズC(2026年8月)</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調達額68百万ドル</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評価額10億ドルでユニコーン入り</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ステーブルコイン業界の背景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ステーブルコインを活用した決済・送金インフラへの投資が世界的に拡大</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AI×ステーブルコインという組み合わせの事例が増加傾向</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日本企業(SBI)による海外フィンテックへの主導投資という珍しい構図</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主要出典の一覧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報道日</a:t>
                      </a:r>
                    </a:p>
                  </a:txBody>
                  <a:tcPr>
                    <a:solidFill>
                      <a:srgbClr val="1E2761"/>
                    </a:solidFill>
                  </a:tcPr>
                </a:tc>
              </a:tr>
              <a:tr h="502920">
                <a:tc>
                  <a:txBody>
                    <a:bodyPr/>
                    <a:lstStyle/>
                    <a:p>
                      <a:pPr>
                        <a:defRPr sz="1200">
                          <a:solidFill>
                            <a:srgbClr val="1A1A2E"/>
                          </a:solidFill>
                          <a:latin typeface="Yu Gothic"/>
                        </a:defRPr>
                      </a:pPr>
                      <a:r>
                        <a:t>The Block</a:t>
                      </a:r>
                    </a:p>
                  </a:txBody>
                  <a:tcPr>
                    <a:solidFill>
                      <a:srgbClr val="FFFFFF"/>
                    </a:solidFill>
                  </a:tcPr>
                </a:tc>
                <a:tc>
                  <a:txBody>
                    <a:bodyPr/>
                    <a:lstStyle/>
                    <a:p>
                      <a:pPr>
                        <a:defRPr sz="1200">
                          <a:solidFill>
                            <a:srgbClr val="1A1A2E"/>
                          </a:solidFill>
                          <a:latin typeface="Yu Gothic"/>
                        </a:defRPr>
                      </a:pPr>
                      <a:r>
                        <a:t>2026年8月24日</a:t>
                      </a:r>
                    </a:p>
                  </a:txBody>
                  <a:tcPr>
                    <a:solidFill>
                      <a:srgbClr val="FFFFFF"/>
                    </a:solidFill>
                  </a:tcPr>
                </a:tc>
              </a:tr>
              <a:tr h="502920">
                <a:tc>
                  <a:txBody>
                    <a:bodyPr/>
                    <a:lstStyle/>
                    <a:p>
                      <a:pPr>
                        <a:defRPr sz="1200">
                          <a:solidFill>
                            <a:srgbClr val="1A1A2E"/>
                          </a:solidFill>
                          <a:latin typeface="Yu Gothic"/>
                        </a:defRPr>
                      </a:pPr>
                      <a:r>
                        <a:t>Businesswire(公式発表)</a:t>
                      </a:r>
                    </a:p>
                  </a:txBody>
                  <a:tcPr>
                    <a:solidFill>
                      <a:srgbClr val="F3F6FC"/>
                    </a:solidFill>
                  </a:tcPr>
                </a:tc>
                <a:tc>
                  <a:txBody>
                    <a:bodyPr/>
                    <a:lstStyle/>
                    <a:p>
                      <a:pPr>
                        <a:defRPr sz="1200">
                          <a:solidFill>
                            <a:srgbClr val="1A1A2E"/>
                          </a:solidFill>
                          <a:latin typeface="Yu Gothic"/>
                        </a:defRPr>
                      </a:pPr>
                      <a:r>
                        <a:t>2026年8月23日</a:t>
                      </a:r>
                    </a:p>
                  </a:txBody>
                  <a:tcPr>
                    <a:solidFill>
                      <a:srgbClr val="F3F6FC"/>
                    </a:solidFill>
                  </a:tcPr>
                </a:tc>
              </a:tr>
              <a:tr h="502920">
                <a:tc>
                  <a:txBody>
                    <a:bodyPr/>
                    <a:lstStyle/>
                    <a:p>
                      <a:pPr>
                        <a:defRPr sz="1200">
                          <a:solidFill>
                            <a:srgbClr val="1A1A2E"/>
                          </a:solidFill>
                          <a:latin typeface="Yu Gothic"/>
                        </a:defRPr>
                      </a:pPr>
                      <a:r>
                        <a:t>TNGlobal</a:t>
                      </a:r>
                    </a:p>
                  </a:txBody>
                  <a:tcPr>
                    <a:solidFill>
                      <a:srgbClr val="FFFFFF"/>
                    </a:solidFill>
                  </a:tcPr>
                </a:tc>
                <a:tc>
                  <a:txBody>
                    <a:bodyPr/>
                    <a:lstStyle/>
                    <a:p>
                      <a:pPr>
                        <a:defRPr sz="1200">
                          <a:solidFill>
                            <a:srgbClr val="1A1A2E"/>
                          </a:solidFill>
                          <a:latin typeface="Yu Gothic"/>
                        </a:defRPr>
                      </a:pPr>
                      <a:r>
                        <a:t>2026年8月24日</a:t>
                      </a:r>
                    </a:p>
                  </a:txBody>
                  <a:tcPr>
                    <a:solidFill>
                      <a:srgbClr val="FFFFFF"/>
                    </a:solidFill>
                  </a:tcPr>
                </a:tc>
              </a:tr>
              <a:tr h="502920">
                <a:tc>
                  <a:txBody>
                    <a:bodyPr/>
                    <a:lstStyle/>
                    <a:p>
                      <a:pPr>
                        <a:defRPr sz="1200">
                          <a:solidFill>
                            <a:srgbClr val="1A1A2E"/>
                          </a:solidFill>
                          <a:latin typeface="Yu Gothic"/>
                        </a:defRPr>
                      </a:pPr>
                      <a:r>
                        <a:t>CoinDesk(先行報道)</a:t>
                      </a:r>
                    </a:p>
                  </a:txBody>
                  <a:tcPr>
                    <a:solidFill>
                      <a:srgbClr val="F3F6FC"/>
                    </a:solidFill>
                  </a:tcPr>
                </a:tc>
                <a:tc>
                  <a:txBody>
                    <a:bodyPr/>
                    <a:lstStyle/>
                    <a:p>
                      <a:pPr>
                        <a:defRPr sz="1200">
                          <a:solidFill>
                            <a:srgbClr val="1A1A2E"/>
                          </a:solidFill>
                          <a:latin typeface="Yu Gothic"/>
                        </a:defRPr>
                      </a:pPr>
                      <a:r>
                        <a:t>2026年8月22日</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Fasset vs 一般的なステーブルコイン企業</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Fasset</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125カ国でサービス提供</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銀行・通信キャリアと連携するOwn Network</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一般的なステーブルコイン企業</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対応国数は事業者により様々</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既存金融機関との連携範囲は事業者ごとに異なる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SBIの今後の計画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出資比率拡大へ ワラント行使を計画</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Fassetは持分法適用会社となる見込み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Businesswire(2026-08-23)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日本企業(SBI)が海外フィンテックの調達を主導</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評価額10億ドルでユニコーン入り</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AI×ステーブルコインという成長領域の実例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AI×フィンテック領域の資金調達動向を追う人に参考になる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日本企業のクロスボーダー投資の一事例として押さえておきたい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特定サービス・トークンの利用を推奨するものではない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タイムライン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できごと</a:t>
                      </a:r>
                    </a:p>
                  </a:txBody>
                  <a:tcPr>
                    <a:solidFill>
                      <a:srgbClr val="1E2761"/>
                    </a:solidFill>
                  </a:tcPr>
                </a:tc>
              </a:tr>
              <a:tr h="502920">
                <a:tc>
                  <a:txBody>
                    <a:bodyPr/>
                    <a:lstStyle/>
                    <a:p>
                      <a:pPr>
                        <a:defRPr sz="1200">
                          <a:solidFill>
                            <a:srgbClr val="1A1A2E"/>
                          </a:solidFill>
                          <a:latin typeface="Yu Gothic"/>
                        </a:defRPr>
                      </a:pPr>
                      <a:r>
                        <a:t>2024年</a:t>
                      </a:r>
                    </a:p>
                  </a:txBody>
                  <a:tcPr>
                    <a:solidFill>
                      <a:srgbClr val="FFFFFF"/>
                    </a:solidFill>
                  </a:tcPr>
                </a:tc>
                <a:tc>
                  <a:txBody>
                    <a:bodyPr/>
                    <a:lstStyle/>
                    <a:p>
                      <a:pPr>
                        <a:defRPr sz="1200">
                          <a:solidFill>
                            <a:srgbClr val="1A1A2E"/>
                          </a:solidFill>
                          <a:latin typeface="Yu Gothic"/>
                        </a:defRPr>
                      </a:pPr>
                      <a:r>
                        <a:t>Fasset設立以降、複数ラウンドで資金調達</a:t>
                      </a:r>
                    </a:p>
                  </a:txBody>
                  <a:tcPr>
                    <a:solidFill>
                      <a:srgbClr val="FFFFFF"/>
                    </a:solidFill>
                  </a:tcPr>
                </a:tc>
              </a:tr>
              <a:tr h="502920">
                <a:tc>
                  <a:txBody>
                    <a:bodyPr/>
                    <a:lstStyle/>
                    <a:p>
                      <a:pPr>
                        <a:defRPr sz="1200">
                          <a:solidFill>
                            <a:srgbClr val="1A1A2E"/>
                          </a:solidFill>
                          <a:latin typeface="Yu Gothic"/>
                        </a:defRPr>
                      </a:pPr>
                      <a:r>
                        <a:t>2026年5月</a:t>
                      </a:r>
                    </a:p>
                  </a:txBody>
                  <a:tcPr>
                    <a:solidFill>
                      <a:srgbClr val="F3F6FC"/>
                    </a:solidFill>
                  </a:tcPr>
                </a:tc>
                <a:tc>
                  <a:txBody>
                    <a:bodyPr/>
                    <a:lstStyle/>
                    <a:p>
                      <a:pPr>
                        <a:defRPr sz="1200">
                          <a:solidFill>
                            <a:srgbClr val="1A1A2E"/>
                          </a:solidFill>
                          <a:latin typeface="Yu Gothic"/>
                        </a:defRPr>
                      </a:pPr>
                      <a:r>
                        <a:t>シリーズB(51百万ドル)</a:t>
                      </a:r>
                    </a:p>
                  </a:txBody>
                  <a:tcPr>
                    <a:solidFill>
                      <a:srgbClr val="F3F6FC"/>
                    </a:solidFill>
                  </a:tcPr>
                </a:tc>
              </a:tr>
              <a:tr h="502920">
                <a:tc>
                  <a:txBody>
                    <a:bodyPr/>
                    <a:lstStyle/>
                    <a:p>
                      <a:pPr>
                        <a:defRPr sz="1200">
                          <a:solidFill>
                            <a:srgbClr val="1A1A2E"/>
                          </a:solidFill>
                          <a:latin typeface="Yu Gothic"/>
                        </a:defRPr>
                      </a:pPr>
                      <a:r>
                        <a:t>2026年8月23日</a:t>
                      </a:r>
                    </a:p>
                  </a:txBody>
                  <a:tcPr>
                    <a:solidFill>
                      <a:srgbClr val="FFFFFF"/>
                    </a:solidFill>
                  </a:tcPr>
                </a:tc>
                <a:tc>
                  <a:txBody>
                    <a:bodyPr/>
                    <a:lstStyle/>
                    <a:p>
                      <a:pPr>
                        <a:defRPr sz="1200">
                          <a:solidFill>
                            <a:srgbClr val="1A1A2E"/>
                          </a:solidFill>
                          <a:latin typeface="Yu Gothic"/>
                        </a:defRPr>
                      </a:pPr>
                      <a:r>
                        <a:t>シリーズC公式発表(Businesswire)</a:t>
                      </a:r>
                    </a:p>
                  </a:txBody>
                  <a:tcPr>
                    <a:solidFill>
                      <a:srgbClr val="FFFFFF"/>
                    </a:solidFill>
                  </a:tcPr>
                </a:tc>
              </a:tr>
              <a:tr h="502920">
                <a:tc>
                  <a:txBody>
                    <a:bodyPr/>
                    <a:lstStyle/>
                    <a:p>
                      <a:pPr>
                        <a:defRPr sz="1200">
                          <a:solidFill>
                            <a:srgbClr val="1A1A2E"/>
                          </a:solidFill>
                          <a:latin typeface="Yu Gothic"/>
                        </a:defRPr>
                      </a:pPr>
                      <a:r>
                        <a:t>2026年8月24日</a:t>
                      </a:r>
                    </a:p>
                  </a:txBody>
                  <a:tcPr>
                    <a:solidFill>
                      <a:srgbClr val="F3F6FC"/>
                    </a:solidFill>
                  </a:tcPr>
                </a:tc>
                <a:tc>
                  <a:txBody>
                    <a:bodyPr/>
                    <a:lstStyle/>
                    <a:p>
                      <a:pPr>
                        <a:defRPr sz="1200">
                          <a:solidFill>
                            <a:srgbClr val="1A1A2E"/>
                          </a:solidFill>
                          <a:latin typeface="Yu Gothic"/>
                        </a:defRPr>
                      </a:pPr>
                      <a:r>
                        <a:t>主要メディアが一斉報道</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調達前後の変化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調達前</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評価額は非公表</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累計調達額51百万ドル(シリーズBまで)</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調達後</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評価額10億ドルでユニコーン入り</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2026年累計調達額119百万ドル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Block等(2026-08-24)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68百万ドル→評価額10億ドル SBI主導のシリーズC</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Block(2026-08-24)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