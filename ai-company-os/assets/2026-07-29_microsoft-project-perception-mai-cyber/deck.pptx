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コールドオープン: 冒頭で「9割をAIが引き受け、コストは半分」という具体的な数字を即座に提示する。挨拶や自己紹介は入れない。</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結論を先に提示する。専用モデルという設計思想の話であり、単なる新製品紹介ではないことを最初に示す。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視聴者が得られるものを先に提示し、離脱を防ぐ。数字の確度も見る、と予告する。</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最初に情報の確度を開示する。数字が主役のテーマなので、ここを飛ばさない。</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起承転結を予告する。ここまでが入口、ここから中身、という区切りを作る。</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専門知識のない視聴者のための前提スライド。この区別が分からないと今回の発表の構造が伝わらない。</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4段階を図で示す。この4つのうち多くをAIに任せる、というのが今回の発表の骨子であることを次のスライド以降で説明する。</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本テーマの中心となる数字。ナレーションでは必ず「Microsoft側の設計意図の説明」と添える。第三者による独立検証ではない。</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数字の中身と、確認できていない部分を同じ表に並べる。都合の良いところだけ切り出さない。</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発表そのものの骨子。レビュー体制はMicrosoft側の説明であり、外部機関の詳細(名称・報告書)は確認できていない点を補足する。</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特定個人の発言としてではなく、発表全体の趣旨の要約であることを明示する。宣伝文句としてではなく、設計思想の要約として扱う。</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3エージェントの役割分担。次のスライドで、この分担がどんな「詰まり」に対応しているかを整理する。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モデルカード由来とされる技術仕様。原典(モデルカード)には直接あたれておらず、複数の専門メディアの報道経由での確認である旨をノートで補う。</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技術方式の対比。今回の発表の核心は新モデルの性能そのものより、この役割分担という設計思想にある。</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数字が主役のテーマで、かつ記事間の食い違いがある場合は、それ自体を正直に伝える。丸めて「約96%」とはしない。</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3段階の図で役割分担を示す。人間が完全に不要になるとは発表されておらず、最終確認の位置づけは推測を含む点をノートで補う。</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他社比較の数字を安易に取り込まない姿勢を見せる。検証できない数値は使わない、という一貫した方針の実践箇所。</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ベンチマークの数字と実際の導入効果は別軸であることを整理する。ここは一般的な整理であり、Microsoftがそう述べたものではない。</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数字の使いどころと使えないところを分ける。ここまでが中身、という区切りを置く。</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転の入り口。発表を成功物語として語らず、「そういう設計思想が出てきた」段階だと示す。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一方的に持ち上げない。確かなことと不確かなことを同じ大きさで並べる。</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自社に当てはめるための実践手順。特定製品の導入を勧める結論にはしない。③は特に見落とされやすいため入れている。</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個人と企業の2つの視点を用意し、視聴者が自分の立場で受け取れるようにする。</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推測であることをスライド上でもナレーションでも明示する。断定しない方針の実践箇所。</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個別ニュースを大きな流れの中に置く。この順番は解説者側の整理であり、公式な段階分けではない点をナレーションで補う。</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3つとも「発表はあるが、まだ検証や実績の面で確定していない」という共通点でまとめる。</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不明点を隠さず表にする。ここを飛ばさずナレーションでも読み上げる。</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制作過程そのものを開示する。使わなかった数字・混ぜなかった数字まで言うのは、信頼の担保として意味がある。発表から2日後の着手であることも鮮度の観点で明示する。</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3枚のカードで全体を回収する。次のスライドで学びに変換する。</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結のキーメッセージ。特定製品を勧めるのではなく、視聴者自身の行動を1つに絞る。誇張せず事実に基づいて締める。</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日常業務の9割をAIが引き受け、コストは半分に</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CADCFC"/>
                </a:solidFill>
                <a:latin typeface="Yu Gothic"/>
              </a:rPr>
              <a:t>Microsoftが2026年7月27日、初のサイバーセキュリティ専用AIモデル「MAI-Cyber-1-Flash」とエージェント基盤「Project Perception」を発表した</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8FA3D0"/>
                </a:solidFill>
                <a:latin typeface="Yu Gothic"/>
              </a:rPr>
              <a:t>出典: Microsoft AI公式ニュース / TechCrunch / SecurityWeek(2026-07-27)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今回の結論</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1E2761"/>
                </a:solidFill>
                <a:latin typeface="Yu Gothic"/>
              </a:rPr>
              <a:t>何が分かったか</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Microsoftがセキュリティ専用の小型AIモデルを作り、日常業務の大半をそちらに任せる設計にした</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1E2761"/>
                </a:solidFill>
                <a:latin typeface="Yu Gothic"/>
              </a:rPr>
              <a:t>なぜ重要か</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「何でもできる大きなモデル」ではなく「専用モデル+役割分担」という設計思想が、コストと引き換えに広がろうとしている</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定期実行52本目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 / 30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この動画で得られること</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「AIエージェント」と「専用AIモデル」の違いが分かる</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「9割処理・コスト半減」という数字がどこまで確かなのかを、出典付きで判断できる</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自社のセキュリティ運用に当てはめて考える視点が持てる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定期実行52本目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この話の確かさについて</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1E2761"/>
                </a:solidFill>
                <a:latin typeface="Yu Gothic"/>
              </a:rPr>
              <a:t>根拠がある部分</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Microsoft公式ニュースがあり、TechCrunch・Axios・SecurityWeekなど複数の独立した専門メディアが同じ発表を報じている</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1E2761"/>
                </a:solidFill>
                <a:latin typeface="Yu Gothic"/>
              </a:rPr>
              <a:t>限界がある部分</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6つの情報源すべてが本文取得403で、検索エンジンの要約経由の確認にとどまる。ベンチマーク数値も記事間で食い違いがある</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定期実行52本目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今日話すこと</a:t>
            </a:r>
          </a:p>
        </p:txBody>
      </p:sp>
      <p:sp>
        <p:nvSpPr>
          <p:cNvPr id="5" name="Oval 4"/>
          <p:cNvSpPr/>
          <p:nvPr/>
        </p:nvSpPr>
        <p:spPr>
          <a:xfrm>
            <a:off x="548640" y="192024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CADCFC"/>
                </a:solidFill>
                <a:latin typeface="Yu Gothic"/>
              </a:rPr>
              <a:t>起: 前提知識 + 何が発表されたか</a:t>
            </a:r>
          </a:p>
        </p:txBody>
      </p:sp>
      <p:sp>
        <p:nvSpPr>
          <p:cNvPr id="7" name="Oval 6"/>
          <p:cNvSpPr/>
          <p:nvPr/>
        </p:nvSpPr>
        <p:spPr>
          <a:xfrm>
            <a:off x="548640" y="269748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CADCFC"/>
                </a:solidFill>
                <a:latin typeface="Yu Gothic"/>
              </a:rPr>
              <a:t>承: 「9割処理」の中身と、どこまで確かなのか</a:t>
            </a:r>
          </a:p>
        </p:txBody>
      </p:sp>
      <p:sp>
        <p:nvSpPr>
          <p:cNvPr id="9" name="Oval 8"/>
          <p:cNvSpPr/>
          <p:nvPr/>
        </p:nvSpPr>
        <p:spPr>
          <a:xfrm>
            <a:off x="548640" y="347472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CADCFC"/>
                </a:solidFill>
                <a:latin typeface="Yu Gothic"/>
              </a:rPr>
              <a:t>転: これは何を意味するか・どう使えるか</a:t>
            </a:r>
          </a:p>
        </p:txBody>
      </p:sp>
      <p:sp>
        <p:nvSpPr>
          <p:cNvPr id="11" name="Oval 10"/>
          <p:cNvSpPr/>
          <p:nvPr/>
        </p:nvSpPr>
        <p:spPr>
          <a:xfrm>
            <a:off x="548640" y="425196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CADCFC"/>
                </a:solidFill>
                <a:latin typeface="Yu Gothic"/>
              </a:rPr>
              <a:t>結: 慎重に見る点・不明点・まとめ</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前提知識: 「専用AIモデル」と「AIエージェント基盤」は別物</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専用AIモデル</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特定の仕事(今回はセキュリティ)に絞って作られた、比較的小さいAIモデル本体</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AIエージェント基盤</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複数のAIが役割分担し、実際に調査・判断・作業まで行う仕組み全体</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今回の関係</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「MAI-Cyber-1-Flash」がモデル本体、「Project Perception」がそれを使うエージェント基盤にあたる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定期実行52本目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セキュリティ運用がAIに任される4つの仕事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52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65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94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①検知</a:t>
            </a:r>
          </a:p>
        </p:txBody>
      </p:sp>
      <p:sp>
        <p:nvSpPr>
          <p:cNvPr id="9" name="TextBox 8"/>
          <p:cNvSpPr txBox="1"/>
          <p:nvPr/>
        </p:nvSpPr>
        <p:spPr>
          <a:xfrm>
            <a:off x="2894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怪しい動きに気づく</a:t>
            </a:r>
          </a:p>
        </p:txBody>
      </p:sp>
      <p:sp>
        <p:nvSpPr>
          <p:cNvPr id="10" name="Right Arrow 9"/>
          <p:cNvSpPr/>
          <p:nvPr/>
        </p:nvSpPr>
        <p:spPr>
          <a:xfrm>
            <a:off x="25571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3526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069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898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②分析</a:t>
            </a:r>
          </a:p>
        </p:txBody>
      </p:sp>
      <p:sp>
        <p:nvSpPr>
          <p:cNvPr id="14" name="TextBox 13"/>
          <p:cNvSpPr txBox="1"/>
          <p:nvPr/>
        </p:nvSpPr>
        <p:spPr>
          <a:xfrm>
            <a:off x="34898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何が起きたか調べる</a:t>
            </a:r>
          </a:p>
        </p:txBody>
      </p:sp>
      <p:sp>
        <p:nvSpPr>
          <p:cNvPr id="15" name="Right Arrow 14"/>
          <p:cNvSpPr/>
          <p:nvPr/>
        </p:nvSpPr>
        <p:spPr>
          <a:xfrm>
            <a:off x="57575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5530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5073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902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③判断</a:t>
            </a:r>
          </a:p>
        </p:txBody>
      </p:sp>
      <p:sp>
        <p:nvSpPr>
          <p:cNvPr id="19" name="TextBox 18"/>
          <p:cNvSpPr txBox="1"/>
          <p:nvPr/>
        </p:nvSpPr>
        <p:spPr>
          <a:xfrm>
            <a:off x="66902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対応の優先度を決める</a:t>
            </a:r>
          </a:p>
        </p:txBody>
      </p:sp>
      <p:sp>
        <p:nvSpPr>
          <p:cNvPr id="20" name="Right Arrow 19"/>
          <p:cNvSpPr/>
          <p:nvPr/>
        </p:nvSpPr>
        <p:spPr>
          <a:xfrm>
            <a:off x="89579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753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7077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906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④対応</a:t>
            </a:r>
          </a:p>
        </p:txBody>
      </p:sp>
      <p:sp>
        <p:nvSpPr>
          <p:cNvPr id="24" name="TextBox 23"/>
          <p:cNvSpPr txBox="1"/>
          <p:nvPr/>
        </p:nvSpPr>
        <p:spPr>
          <a:xfrm>
            <a:off x="98906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修正プログラムを作り適用する</a:t>
            </a:r>
          </a:p>
        </p:txBody>
      </p:sp>
      <p:sp>
        <p:nvSpPr>
          <p:cNvPr id="25" name="TextBox 2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定期実行52本目</a:t>
            </a:r>
          </a:p>
        </p:txBody>
      </p:sp>
      <p:sp>
        <p:nvSpPr>
          <p:cNvPr id="26" name="TextBox 2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MAI-Cyber-1-Flashが処理するとされる作業の割合</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約90%</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日常的なセキュリティ業務の約9割をこの専用モデルが処理し、残り1割の難しい判断だけを大型モデル(GPT-5.4)に回すとされる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Microsoft AI公式発表(検索結果の要約経由、2026-07-27)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この数字の中身</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E2761"/>
                    </a:solidFill>
                  </a:tcPr>
                </a:tc>
                <a:tc>
                  <a:txBody>
                    <a:bodyPr/>
                    <a:lstStyle/>
                    <a:p>
                      <a:pPr>
                        <a:defRPr sz="1300" b="1">
                          <a:solidFill>
                            <a:srgbClr val="FFFFFF"/>
                          </a:solidFill>
                          <a:latin typeface="Yu Gothic"/>
                        </a:defRPr>
                      </a:pPr>
                      <a:r>
                        <a:t>内容</a:t>
                      </a:r>
                    </a:p>
                  </a:txBody>
                  <a:tcPr>
                    <a:solidFill>
                      <a:srgbClr val="1E2761"/>
                    </a:solidFill>
                  </a:tcPr>
                </a:tc>
              </a:tr>
              <a:tr h="502920">
                <a:tc>
                  <a:txBody>
                    <a:bodyPr/>
                    <a:lstStyle/>
                    <a:p>
                      <a:pPr>
                        <a:defRPr sz="1200">
                          <a:solidFill>
                            <a:srgbClr val="1A1A2E"/>
                          </a:solidFill>
                          <a:latin typeface="Yu Gothic"/>
                        </a:defRPr>
                      </a:pPr>
                      <a:r>
                        <a:t>役割分担</a:t>
                      </a:r>
                    </a:p>
                  </a:txBody>
                  <a:tcPr>
                    <a:solidFill>
                      <a:srgbClr val="FFFFFF"/>
                    </a:solidFill>
                  </a:tcPr>
                </a:tc>
                <a:tc>
                  <a:txBody>
                    <a:bodyPr/>
                    <a:lstStyle/>
                    <a:p>
                      <a:pPr>
                        <a:defRPr sz="1200">
                          <a:solidFill>
                            <a:srgbClr val="1A1A2E"/>
                          </a:solidFill>
                          <a:latin typeface="Yu Gothic"/>
                        </a:defRPr>
                      </a:pPr>
                      <a:r>
                        <a:t>MAI-Cyber-1-Flashが約90%、GPT-5.4が残り約10%の難しい判断を担当</a:t>
                      </a:r>
                    </a:p>
                  </a:txBody>
                  <a:tcPr>
                    <a:solidFill>
                      <a:srgbClr val="FFFFFF"/>
                    </a:solidFill>
                  </a:tcPr>
                </a:tc>
              </a:tr>
              <a:tr h="502920">
                <a:tc>
                  <a:txBody>
                    <a:bodyPr/>
                    <a:lstStyle/>
                    <a:p>
                      <a:pPr>
                        <a:defRPr sz="1200">
                          <a:solidFill>
                            <a:srgbClr val="1A1A2E"/>
                          </a:solidFill>
                          <a:latin typeface="Yu Gothic"/>
                        </a:defRPr>
                      </a:pPr>
                      <a:r>
                        <a:t>コスト</a:t>
                      </a:r>
                    </a:p>
                  </a:txBody>
                  <a:tcPr>
                    <a:solidFill>
                      <a:srgbClr val="F3F6FC"/>
                    </a:solidFill>
                  </a:tcPr>
                </a:tc>
                <a:tc>
                  <a:txBody>
                    <a:bodyPr/>
                    <a:lstStyle/>
                    <a:p>
                      <a:pPr>
                        <a:defRPr sz="1200">
                          <a:solidFill>
                            <a:srgbClr val="1A1A2E"/>
                          </a:solidFill>
                          <a:latin typeface="Yu Gothic"/>
                        </a:defRPr>
                      </a:pPr>
                      <a:r>
                        <a:t>現行のMDASH構成と比べて50%削減されるとされる</a:t>
                      </a:r>
                    </a:p>
                  </a:txBody>
                  <a:tcPr>
                    <a:solidFill>
                      <a:srgbClr val="F3F6FC"/>
                    </a:solidFill>
                  </a:tcPr>
                </a:tc>
              </a:tr>
              <a:tr h="502920">
                <a:tc>
                  <a:txBody>
                    <a:bodyPr/>
                    <a:lstStyle/>
                    <a:p>
                      <a:pPr>
                        <a:defRPr sz="1200">
                          <a:solidFill>
                            <a:srgbClr val="1A1A2E"/>
                          </a:solidFill>
                          <a:latin typeface="Yu Gothic"/>
                        </a:defRPr>
                      </a:pPr>
                      <a:r>
                        <a:t>比較対象</a:t>
                      </a:r>
                    </a:p>
                  </a:txBody>
                  <a:tcPr>
                    <a:solidFill>
                      <a:srgbClr val="FFFFFF"/>
                    </a:solidFill>
                  </a:tcPr>
                </a:tc>
                <a:tc>
                  <a:txBody>
                    <a:bodyPr/>
                    <a:lstStyle/>
                    <a:p>
                      <a:pPr>
                        <a:defRPr sz="1200">
                          <a:solidFill>
                            <a:srgbClr val="1A1A2E"/>
                          </a:solidFill>
                          <a:latin typeface="Yu Gothic"/>
                        </a:defRPr>
                      </a:pPr>
                      <a:r>
                        <a:t>「Microsoft自身の現行構成」との比較であり、他社製品との比較ではない</a:t>
                      </a:r>
                    </a:p>
                  </a:txBody>
                  <a:tcPr>
                    <a:solidFill>
                      <a:srgbClr val="FFFFFF"/>
                    </a:solidFill>
                  </a:tcPr>
                </a:tc>
              </a:tr>
              <a:tr h="502920">
                <a:tc>
                  <a:txBody>
                    <a:bodyPr/>
                    <a:lstStyle/>
                    <a:p>
                      <a:pPr>
                        <a:defRPr sz="1200">
                          <a:solidFill>
                            <a:srgbClr val="1A1A2E"/>
                          </a:solidFill>
                          <a:latin typeface="Yu Gothic"/>
                        </a:defRPr>
                      </a:pPr>
                      <a:r>
                        <a:t>確認できていないこと</a:t>
                      </a:r>
                    </a:p>
                  </a:txBody>
                  <a:tcPr>
                    <a:solidFill>
                      <a:srgbClr val="F3F6FC"/>
                    </a:solidFill>
                  </a:tcPr>
                </a:tc>
                <a:tc>
                  <a:txBody>
                    <a:bodyPr/>
                    <a:lstStyle/>
                    <a:p>
                      <a:pPr>
                        <a:defRPr sz="1200">
                          <a:solidFill>
                            <a:srgbClr val="1A1A2E"/>
                          </a:solidFill>
                          <a:latin typeface="Yu Gothic"/>
                        </a:defRPr>
                      </a:pPr>
                      <a:r>
                        <a:t>この90%・50%という数字の第三者による独立検証</a:t>
                      </a:r>
                    </a:p>
                  </a:txBody>
                  <a:tcPr>
                    <a:solidFill>
                      <a:srgbClr val="F3F6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Microsoft AI公式発表(検索結果の要約経由)</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定期実行52本目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何が発表されたか(2026年7月27日)</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誰が</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Microsoft(サンフランシスコでのイベントにて発表)</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何を</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初のサイバーセキュリティ専用AIモデル「MAI-Cyber-1-Flash」と、エージェント基盤「Project Perception」を同時に発表</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レビュー体制</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Microsoft AI Red Teamによるレビュー・敵対的テスト・外部機関による評価を実施したと説明している</a:t>
            </a:r>
          </a:p>
        </p:txBody>
      </p:sp>
      <p:sp>
        <p:nvSpPr>
          <p:cNvPr id="18" name="TextBox 17"/>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Microsoft AI公式ニュース / TechCrunch(2026-07-27)</a:t>
            </a:r>
          </a:p>
        </p:txBody>
      </p:sp>
      <p:sp>
        <p:nvSpPr>
          <p:cNvPr id="19" name="TextBox 1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定期実行52本目</a:t>
            </a:r>
          </a:p>
        </p:txBody>
      </p:sp>
      <p:sp>
        <p:nvSpPr>
          <p:cNvPr id="20" name="TextBox 1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966960" cy="2560320"/>
          </a:xfrm>
          <a:prstGeom prst="rect">
            <a:avLst/>
          </a:prstGeom>
          <a:noFill/>
        </p:spPr>
        <p:txBody>
          <a:bodyPr wrap="square" anchor="ctr" lIns="0" rIns="0" tIns="0" bIns="0">
            <a:spAutoFit/>
          </a:bodyPr>
          <a:lstStyle/>
          <a:p>
            <a:pPr algn="l">
              <a:lnSpc>
                <a:spcPct val="125000"/>
              </a:lnSpc>
            </a:pPr>
            <a:r>
              <a:rPr sz="2800" b="1">
                <a:solidFill>
                  <a:srgbClr val="FFFFFF"/>
                </a:solidFill>
                <a:latin typeface="Yu Gothic"/>
              </a:rPr>
              <a:t>“セキュリティチームの日常業務の大半をAIに任せ、人と最も高性能なモデルは、本当に難しい判断だけに集中できるようにする。”</a:t>
            </a:r>
          </a:p>
        </p:txBody>
      </p:sp>
      <p:sp>
        <p:nvSpPr>
          <p:cNvPr id="5" name="TextBox 4"/>
          <p:cNvSpPr txBox="1"/>
          <p:nvPr/>
        </p:nvSpPr>
        <p:spPr>
          <a:xfrm>
            <a:off x="1097280" y="4572000"/>
            <a:ext cx="9966960" cy="548640"/>
          </a:xfrm>
          <a:prstGeom prst="rect">
            <a:avLst/>
          </a:prstGeom>
          <a:noFill/>
        </p:spPr>
        <p:txBody>
          <a:bodyPr wrap="square" anchor="t" lIns="0" rIns="0" tIns="0" bIns="0">
            <a:spAutoFit/>
          </a:bodyPr>
          <a:lstStyle/>
          <a:p>
            <a:pPr algn="l"/>
            <a:r>
              <a:rPr sz="1600" b="0">
                <a:solidFill>
                  <a:srgbClr val="CADCFC"/>
                </a:solidFill>
                <a:latin typeface="Yu Gothic"/>
              </a:rPr>
              <a:t>— Microsoft AI公式発表の内容を要約したもの(直接引用ではなく、発表内容のまとめ)</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Project Perceptionの3つのエージェント</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①Red</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攻撃側の視点でシミュレーションを行い、弱点を探す</a:t>
            </a:r>
          </a:p>
        </p:txBody>
      </p:sp>
      <p:sp>
        <p:nvSpPr>
          <p:cNvPr id="11" name="Chevron 10"/>
          <p:cNvSpPr/>
          <p:nvPr/>
        </p:nvSpPr>
        <p:spPr>
          <a:xfrm>
            <a:off x="4038295"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②Blue</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見つかった弱点の中から、対応すべき優先度を判断する</a:t>
            </a:r>
          </a:p>
        </p:txBody>
      </p:sp>
      <p:sp>
        <p:nvSpPr>
          <p:cNvPr id="17" name="Chevron 16"/>
          <p:cNvSpPr/>
          <p:nvPr/>
        </p:nvSpPr>
        <p:spPr>
          <a:xfrm>
            <a:off x="7919313"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③Green</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修正プログラムを作成し、実際に展開する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定期実行52本目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モデルの技術仕様(報道経由)</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E2761"/>
                    </a:solidFill>
                  </a:tcPr>
                </a:tc>
                <a:tc>
                  <a:txBody>
                    <a:bodyPr/>
                    <a:lstStyle/>
                    <a:p>
                      <a:pPr>
                        <a:defRPr sz="1300" b="1">
                          <a:solidFill>
                            <a:srgbClr val="FFFFFF"/>
                          </a:solidFill>
                          <a:latin typeface="Yu Gothic"/>
                        </a:defRPr>
                      </a:pPr>
                      <a:r>
                        <a:t>内容</a:t>
                      </a:r>
                    </a:p>
                  </a:txBody>
                  <a:tcPr>
                    <a:solidFill>
                      <a:srgbClr val="1E2761"/>
                    </a:solidFill>
                  </a:tcPr>
                </a:tc>
              </a:tr>
              <a:tr h="502920">
                <a:tc>
                  <a:txBody>
                    <a:bodyPr/>
                    <a:lstStyle/>
                    <a:p>
                      <a:pPr>
                        <a:defRPr sz="1200">
                          <a:solidFill>
                            <a:srgbClr val="1A1A2E"/>
                          </a:solidFill>
                          <a:latin typeface="Yu Gothic"/>
                        </a:defRPr>
                      </a:pPr>
                      <a:r>
                        <a:t>アーキテクチャ</a:t>
                      </a:r>
                    </a:p>
                  </a:txBody>
                  <a:tcPr>
                    <a:solidFill>
                      <a:srgbClr val="FFFFFF"/>
                    </a:solidFill>
                  </a:tcPr>
                </a:tc>
                <a:tc>
                  <a:txBody>
                    <a:bodyPr/>
                    <a:lstStyle/>
                    <a:p>
                      <a:pPr>
                        <a:defRPr sz="1200">
                          <a:solidFill>
                            <a:srgbClr val="1A1A2E"/>
                          </a:solidFill>
                          <a:latin typeface="Yu Gothic"/>
                        </a:defRPr>
                      </a:pPr>
                      <a:r>
                        <a:t>Sparse Mixture-of-Expertsトランスフォーマー</a:t>
                      </a:r>
                    </a:p>
                  </a:txBody>
                  <a:tcPr>
                    <a:solidFill>
                      <a:srgbClr val="FFFFFF"/>
                    </a:solidFill>
                  </a:tcPr>
                </a:tc>
              </a:tr>
              <a:tr h="502920">
                <a:tc>
                  <a:txBody>
                    <a:bodyPr/>
                    <a:lstStyle/>
                    <a:p>
                      <a:pPr>
                        <a:defRPr sz="1200">
                          <a:solidFill>
                            <a:srgbClr val="1A1A2E"/>
                          </a:solidFill>
                          <a:latin typeface="Yu Gothic"/>
                        </a:defRPr>
                      </a:pPr>
                      <a:r>
                        <a:t>総パラメータ数</a:t>
                      </a:r>
                    </a:p>
                  </a:txBody>
                  <a:tcPr>
                    <a:solidFill>
                      <a:srgbClr val="F3F6FC"/>
                    </a:solidFill>
                  </a:tcPr>
                </a:tc>
                <a:tc>
                  <a:txBody>
                    <a:bodyPr/>
                    <a:lstStyle/>
                    <a:p>
                      <a:pPr>
                        <a:defRPr sz="1200">
                          <a:solidFill>
                            <a:srgbClr val="1A1A2E"/>
                          </a:solidFill>
                          <a:latin typeface="Yu Gothic"/>
                        </a:defRPr>
                      </a:pPr>
                      <a:r>
                        <a:t>1,370億(137B)</a:t>
                      </a:r>
                    </a:p>
                  </a:txBody>
                  <a:tcPr>
                    <a:solidFill>
                      <a:srgbClr val="F3F6FC"/>
                    </a:solidFill>
                  </a:tcPr>
                </a:tc>
              </a:tr>
              <a:tr h="502920">
                <a:tc>
                  <a:txBody>
                    <a:bodyPr/>
                    <a:lstStyle/>
                    <a:p>
                      <a:pPr>
                        <a:defRPr sz="1200">
                          <a:solidFill>
                            <a:srgbClr val="1A1A2E"/>
                          </a:solidFill>
                          <a:latin typeface="Yu Gothic"/>
                        </a:defRPr>
                      </a:pPr>
                      <a:r>
                        <a:t>アクティブパラメータ数</a:t>
                      </a:r>
                    </a:p>
                  </a:txBody>
                  <a:tcPr>
                    <a:solidFill>
                      <a:srgbClr val="FFFFFF"/>
                    </a:solidFill>
                  </a:tcPr>
                </a:tc>
                <a:tc>
                  <a:txBody>
                    <a:bodyPr/>
                    <a:lstStyle/>
                    <a:p>
                      <a:pPr>
                        <a:defRPr sz="1200">
                          <a:solidFill>
                            <a:srgbClr val="1A1A2E"/>
                          </a:solidFill>
                          <a:latin typeface="Yu Gothic"/>
                        </a:defRPr>
                      </a:pPr>
                      <a:r>
                        <a:t>50億(5B)</a:t>
                      </a:r>
                    </a:p>
                  </a:txBody>
                  <a:tcPr>
                    <a:solidFill>
                      <a:srgbClr val="FFFFFF"/>
                    </a:solidFill>
                  </a:tcPr>
                </a:tc>
              </a:tr>
              <a:tr h="502920">
                <a:tc>
                  <a:txBody>
                    <a:bodyPr/>
                    <a:lstStyle/>
                    <a:p>
                      <a:pPr>
                        <a:defRPr sz="1200">
                          <a:solidFill>
                            <a:srgbClr val="1A1A2E"/>
                          </a:solidFill>
                          <a:latin typeface="Yu Gothic"/>
                        </a:defRPr>
                      </a:pPr>
                      <a:r>
                        <a:t>コンテキスト長</a:t>
                      </a:r>
                    </a:p>
                  </a:txBody>
                  <a:tcPr>
                    <a:solidFill>
                      <a:srgbClr val="F3F6FC"/>
                    </a:solidFill>
                  </a:tcPr>
                </a:tc>
                <a:tc>
                  <a:txBody>
                    <a:bodyPr/>
                    <a:lstStyle/>
                    <a:p>
                      <a:pPr>
                        <a:defRPr sz="1200">
                          <a:solidFill>
                            <a:srgbClr val="1A1A2E"/>
                          </a:solidFill>
                          <a:latin typeface="Yu Gothic"/>
                        </a:defRPr>
                      </a:pPr>
                      <a:r>
                        <a:t>256,000トークン</a:t>
                      </a:r>
                    </a:p>
                  </a:txBody>
                  <a:tcPr>
                    <a:solidFill>
                      <a:srgbClr val="F3F6FC"/>
                    </a:solidFill>
                  </a:tcPr>
                </a:tc>
              </a:tr>
              <a:tr h="502920">
                <a:tc>
                  <a:txBody>
                    <a:bodyPr/>
                    <a:lstStyle/>
                    <a:p>
                      <a:pPr>
                        <a:defRPr sz="1200">
                          <a:solidFill>
                            <a:srgbClr val="1A1A2E"/>
                          </a:solidFill>
                          <a:latin typeface="Yu Gothic"/>
                        </a:defRPr>
                      </a:pPr>
                      <a:r>
                        <a:t>系譜</a:t>
                      </a:r>
                    </a:p>
                  </a:txBody>
                  <a:tcPr>
                    <a:solidFill>
                      <a:srgbClr val="FFFFFF"/>
                    </a:solidFill>
                  </a:tcPr>
                </a:tc>
                <a:tc>
                  <a:txBody>
                    <a:bodyPr/>
                    <a:lstStyle/>
                    <a:p>
                      <a:pPr>
                        <a:defRPr sz="1200">
                          <a:solidFill>
                            <a:srgbClr val="1A1A2E"/>
                          </a:solidFill>
                          <a:latin typeface="Yu Gothic"/>
                        </a:defRPr>
                      </a:pPr>
                      <a:r>
                        <a:t>「MAI-Thinking-1」系列から派生</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Help Net Security / SecurityWeek / winbuzzer(いずれも検索結果の要約経由)</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定期実行52本目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汎用の大型モデルだけを使う場合との違い</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汎用モデルだけを使う場合</a:t>
            </a:r>
          </a:p>
        </p:txBody>
      </p:sp>
      <p:sp>
        <p:nvSpPr>
          <p:cNvPr id="9" name="Oval 8"/>
          <p:cNvSpPr/>
          <p:nvPr/>
        </p:nvSpPr>
        <p:spPr>
          <a:xfrm>
            <a:off x="777240"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すべてのタスクを高性能・高コストなモデルで処理する</a:t>
            </a:r>
          </a:p>
        </p:txBody>
      </p:sp>
      <p:sp>
        <p:nvSpPr>
          <p:cNvPr id="11" name="Oval 10"/>
          <p:cNvSpPr/>
          <p:nvPr/>
        </p:nvSpPr>
        <p:spPr>
          <a:xfrm>
            <a:off x="777240"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簡単な作業にも高い処理コストがかかる</a:t>
            </a:r>
          </a:p>
        </p:txBody>
      </p:sp>
      <p:sp>
        <p:nvSpPr>
          <p:cNvPr id="13" name="Oval 12"/>
          <p:cNvSpPr/>
          <p:nvPr/>
        </p:nvSpPr>
        <p:spPr>
          <a:xfrm>
            <a:off x="777240" y="363016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モデルを切り替える判断が別途必要になる</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専用モデル+汎用モデルの分担</a:t>
            </a:r>
          </a:p>
        </p:txBody>
      </p:sp>
      <p:sp>
        <p:nvSpPr>
          <p:cNvPr id="18" name="Oval 17"/>
          <p:cNvSpPr/>
          <p:nvPr/>
        </p:nvSpPr>
        <p:spPr>
          <a:xfrm>
            <a:off x="6598767"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日常的な作業は安価な専用モデルが処理する</a:t>
            </a:r>
          </a:p>
        </p:txBody>
      </p:sp>
      <p:sp>
        <p:nvSpPr>
          <p:cNvPr id="20" name="Oval 19"/>
          <p:cNvSpPr/>
          <p:nvPr/>
        </p:nvSpPr>
        <p:spPr>
          <a:xfrm>
            <a:off x="6598767"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難しい判断だけを高性能モデルに回す</a:t>
            </a:r>
          </a:p>
        </p:txBody>
      </p:sp>
      <p:sp>
        <p:nvSpPr>
          <p:cNvPr id="22" name="Oval 21"/>
          <p:cNvSpPr/>
          <p:nvPr/>
        </p:nvSpPr>
        <p:spPr>
          <a:xfrm>
            <a:off x="6598767" y="363016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全体としてのコストを抑えられるとされる</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定期実行52本目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ベンチマークの数字は、記事によって食い違う</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GPT-5.4と組み合わせた際のスコアを「96%」と報じる記事がある</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同じスコアを「95.95%」と報じる記事もある</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原典(モデルカード)を直接確認できていないため、本動画ではどちらか一方を断定しない</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The Hacker News 他(検索結果経由)</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定期実行52本目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難しい仕事だけが、上位のモデルに上がる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日常業務</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MAI-Cyber-1-Flashが処理(約9割)</a:t>
            </a:r>
          </a:p>
        </p:txBody>
      </p:sp>
      <p:sp>
        <p:nvSpPr>
          <p:cNvPr id="10" name="Right Arrow 9"/>
          <p:cNvSpPr/>
          <p:nvPr/>
        </p:nvSpPr>
        <p:spPr>
          <a:xfrm>
            <a:off x="41573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判断が難しい業務</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GPT-5.4が処理(約1割)</a:t>
            </a:r>
          </a:p>
        </p:txBody>
      </p:sp>
      <p:sp>
        <p:nvSpPr>
          <p:cNvPr id="15" name="Right Arrow 14"/>
          <p:cNvSpPr/>
          <p:nvPr/>
        </p:nvSpPr>
        <p:spPr>
          <a:xfrm>
            <a:off x="73577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最終確認</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人間のセキュリティ担当者が確認する場面も残るとされる</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定期実行52本目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似た数字が複数あることへの注意</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今回使った数字</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約90%(処理割合)、50%削減(コスト)というMicrosoft側の説明</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使わなかった数字</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他社の特定モデルとの比較値(ポイント差)を示す記事もあったが、モデル名・数値ともに一次情報で確認できないため使用しない</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この動画での扱い</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Microsoft自身の説明として明示し、第三者検証の有無が不明であることも併記する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定期実行52本目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実験室の性能と、現場での実力は別の話</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ベンチマークで見えること</a:t>
            </a:r>
          </a:p>
        </p:txBody>
      </p:sp>
      <p:sp>
        <p:nvSpPr>
          <p:cNvPr id="9" name="Oval 8"/>
          <p:cNvSpPr/>
          <p:nvPr/>
        </p:nvSpPr>
        <p:spPr>
          <a:xfrm>
            <a:off x="777240"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決められた課題への正答率・処理速度</a:t>
            </a:r>
          </a:p>
        </p:txBody>
      </p:sp>
      <p:sp>
        <p:nvSpPr>
          <p:cNvPr id="11" name="Oval 10"/>
          <p:cNvSpPr/>
          <p:nvPr/>
        </p:nvSpPr>
        <p:spPr>
          <a:xfrm>
            <a:off x="777240"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既知のパターンへの対応力</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現場で問われること</a:t>
            </a:r>
          </a:p>
        </p:txBody>
      </p:sp>
      <p:sp>
        <p:nvSpPr>
          <p:cNvPr id="16" name="Oval 15"/>
          <p:cNvSpPr/>
          <p:nvPr/>
        </p:nvSpPr>
        <p:spPr>
          <a:xfrm>
            <a:off x="6598767"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見たことのない新しい攻撃への対応</a:t>
            </a:r>
          </a:p>
        </p:txBody>
      </p:sp>
      <p:sp>
        <p:nvSpPr>
          <p:cNvPr id="18" name="Oval 17"/>
          <p:cNvSpPr/>
          <p:nvPr/>
        </p:nvSpPr>
        <p:spPr>
          <a:xfrm>
            <a:off x="6598767"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誤検知・誤対応が起きたときの被害の大きさ</a:t>
            </a:r>
          </a:p>
        </p:txBody>
      </p:sp>
      <p:sp>
        <p:nvSpPr>
          <p:cNvPr id="20" name="Oval 19"/>
          <p:cNvSpPr/>
          <p:nvPr/>
        </p:nvSpPr>
        <p:spPr>
          <a:xfrm>
            <a:off x="6598767" y="363016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実際の運用コスト(人件費込み)</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定期実行52本目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この数字をどう読むか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強い点</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大手ベンダーの公式発表であり、複数の独立した専門メディアが同じ内容を報じている</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弱い点</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90%・50%削減はいずれもMicrosoft自身の説明であり、独立した第三者による検証結果ではない</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結論</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設計思想の方向性を示す数字としては参考になるが、自社導入時の効果をそのまま保証するものではない</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定期実行52本目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つまり、何が起きているのか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関心の移動</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「1つの万能モデル」から「専用モデル+役割分担」へ、設計の重心が移りつつある</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お金の向き先</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モデルの性能そのものだけでなく、運用コストをどう抑えるかにも投資が向いている</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ただし</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発表があったことと、実際に多くの企業で効果が出ることは別である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定期実行52本目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この話をどう受け取るか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確かだと言えること</a:t>
            </a:r>
          </a:p>
        </p:txBody>
      </p:sp>
      <p:sp>
        <p:nvSpPr>
          <p:cNvPr id="9" name="Oval 8"/>
          <p:cNvSpPr/>
          <p:nvPr/>
        </p:nvSpPr>
        <p:spPr>
          <a:xfrm>
            <a:off x="777240"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Microsoft公式の発表であり、複数メディアが報じている</a:t>
            </a:r>
          </a:p>
        </p:txBody>
      </p:sp>
      <p:sp>
        <p:nvSpPr>
          <p:cNvPr id="11" name="Oval 10"/>
          <p:cNvSpPr/>
          <p:nvPr/>
        </p:nvSpPr>
        <p:spPr>
          <a:xfrm>
            <a:off x="777240"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専用モデル+汎用モデルという役割分担の設計が示された</a:t>
            </a:r>
          </a:p>
        </p:txBody>
      </p:sp>
      <p:sp>
        <p:nvSpPr>
          <p:cNvPr id="13" name="Oval 12"/>
          <p:cNvSpPr/>
          <p:nvPr/>
        </p:nvSpPr>
        <p:spPr>
          <a:xfrm>
            <a:off x="777240" y="363016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Project Perceptionは2026年8月3日にパブリックプレビュー予定とされる</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慎重に見るべきこと</a:t>
            </a:r>
          </a:p>
        </p:txBody>
      </p:sp>
      <p:sp>
        <p:nvSpPr>
          <p:cNvPr id="18" name="Oval 17"/>
          <p:cNvSpPr/>
          <p:nvPr/>
        </p:nvSpPr>
        <p:spPr>
          <a:xfrm>
            <a:off x="6598767"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90%・50%削減はMicrosoft自身の説明であり第三者検証は未確認</a:t>
            </a:r>
          </a:p>
        </p:txBody>
      </p:sp>
      <p:sp>
        <p:nvSpPr>
          <p:cNvPr id="20" name="Oval 19"/>
          <p:cNvSpPr/>
          <p:nvPr/>
        </p:nvSpPr>
        <p:spPr>
          <a:xfrm>
            <a:off x="6598767"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ベンチマーク数値(96%か95.95%か)が記事間で食い違う</a:t>
            </a:r>
          </a:p>
        </p:txBody>
      </p:sp>
      <p:sp>
        <p:nvSpPr>
          <p:cNvPr id="22" name="Oval 21"/>
          <p:cNvSpPr/>
          <p:nvPr/>
        </p:nvSpPr>
        <p:spPr>
          <a:xfrm>
            <a:off x="6598767" y="363016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他社モデルとの比較値は一次情報で確認できず使用していない</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定期実行52本目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自社のセキュリティ運用で確認したいこと</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①現状を書き出す</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今のセキュリティ業務のうち、どこまでが定型作業でどこからが判断業務かを整理する</a:t>
            </a:r>
          </a:p>
        </p:txBody>
      </p:sp>
      <p:sp>
        <p:nvSpPr>
          <p:cNvPr id="11" name="Chevron 10"/>
          <p:cNvSpPr/>
          <p:nvPr/>
        </p:nvSpPr>
        <p:spPr>
          <a:xfrm>
            <a:off x="4038295"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②分担の考え方を当てはめる</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「専用の安価な仕組み」と「難しい判断」を分けて考えられないか検討する</a:t>
            </a:r>
          </a:p>
        </p:txBody>
      </p:sp>
      <p:sp>
        <p:nvSpPr>
          <p:cNvPr id="17" name="Chevron 16"/>
          <p:cNvSpPr/>
          <p:nvPr/>
        </p:nvSpPr>
        <p:spPr>
          <a:xfrm>
            <a:off x="7919313"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③検証の有無を確認する</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導入を検討するなら、性能・コストの主張に第三者検証があるかを確認する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定期実行52本目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これで何が変わるか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1E2761"/>
                </a:solidFill>
                <a:latin typeface="Yu Gothic"/>
              </a:rPr>
              <a:t>個人にとって</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セキュリティ関連の仕事でも「AIがどこまで任され、人はどこを見るか」という線引きの話が身近になる</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1E2761"/>
                </a:solidFill>
                <a:latin typeface="Yu Gothic"/>
              </a:rPr>
              <a:t>企業にとって</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AI導入の検討軸に「性能」だけでなく「コスト構造(専用モデルと汎用モデルの使い分け)」が加わる</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定期実行52本目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仕事への影響(ここからは推測)</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セキュリティ人材には「AIの判断を検証する」役割の比重が増えるかもしれない</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専用モデルを使い分ける設計そのものが、他分野にも広がる可能性がある</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ただしこれは推測であり、実際にどうなるかはまだ分からない</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定期実行52本目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セキュリティ人材に問われることの変化</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自分で調べる</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ログを1件ずつ確認する</a:t>
            </a:r>
          </a:p>
        </p:txBody>
      </p:sp>
      <p:sp>
        <p:nvSpPr>
          <p:cNvPr id="10" name="Right Arrow 9"/>
          <p:cNvSpPr/>
          <p:nvPr/>
        </p:nvSpPr>
        <p:spPr>
          <a:xfrm>
            <a:off x="41573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AIの結果を見る</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検知・分析の一次結果を確認する</a:t>
            </a:r>
          </a:p>
        </p:txBody>
      </p:sp>
      <p:sp>
        <p:nvSpPr>
          <p:cNvPr id="15" name="Right Arrow 14"/>
          <p:cNvSpPr/>
          <p:nvPr/>
        </p:nvSpPr>
        <p:spPr>
          <a:xfrm>
            <a:off x="73577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AIの判断を検証する</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対応の優先度や修正内容が妥当かを見る</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定期実行52本目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冷静に見る点、3つ</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パブリックプレビューはまだ先(2026年8月3日予定)であり、広く使われた実績はまだない</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90%・50%削減はMicrosoft自身が示した数字であり、独立した第三者検証ではない</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コスト比較は「自社の旧構成」との比較であり、他社製品との比較ではない</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定期実行52本目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今回、確認できなかったこと</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E2761"/>
                    </a:solidFill>
                  </a:tcPr>
                </a:tc>
                <a:tc>
                  <a:txBody>
                    <a:bodyPr/>
                    <a:lstStyle/>
                    <a:p>
                      <a:pPr>
                        <a:defRPr sz="1300" b="1">
                          <a:solidFill>
                            <a:srgbClr val="FFFFFF"/>
                          </a:solidFill>
                          <a:latin typeface="Yu Gothic"/>
                        </a:defRPr>
                      </a:pPr>
                      <a:r>
                        <a:t>状況</a:t>
                      </a:r>
                    </a:p>
                  </a:txBody>
                  <a:tcPr>
                    <a:solidFill>
                      <a:srgbClr val="1E2761"/>
                    </a:solidFill>
                  </a:tcPr>
                </a:tc>
              </a:tr>
              <a:tr h="502920">
                <a:tc>
                  <a:txBody>
                    <a:bodyPr/>
                    <a:lstStyle/>
                    <a:p>
                      <a:pPr>
                        <a:defRPr sz="1200">
                          <a:solidFill>
                            <a:srgbClr val="1A1A2E"/>
                          </a:solidFill>
                          <a:latin typeface="Yu Gothic"/>
                        </a:defRPr>
                      </a:pPr>
                      <a:r>
                        <a:t>ベンチマークの正確な数値</a:t>
                      </a:r>
                    </a:p>
                  </a:txBody>
                  <a:tcPr>
                    <a:solidFill>
                      <a:srgbClr val="FFFFFF"/>
                    </a:solidFill>
                  </a:tcPr>
                </a:tc>
                <a:tc>
                  <a:txBody>
                    <a:bodyPr/>
                    <a:lstStyle/>
                    <a:p>
                      <a:pPr>
                        <a:defRPr sz="1200">
                          <a:solidFill>
                            <a:srgbClr val="1A1A2E"/>
                          </a:solidFill>
                          <a:latin typeface="Yu Gothic"/>
                        </a:defRPr>
                      </a:pPr>
                      <a:r>
                        <a:t>「96%」とする記事と「95.95%」とする記事があり、どちらが正確か原典で確認できなかった</a:t>
                      </a:r>
                    </a:p>
                  </a:txBody>
                  <a:tcPr>
                    <a:solidFill>
                      <a:srgbClr val="FFFFFF"/>
                    </a:solidFill>
                  </a:tcPr>
                </a:tc>
              </a:tr>
              <a:tr h="502920">
                <a:tc>
                  <a:txBody>
                    <a:bodyPr/>
                    <a:lstStyle/>
                    <a:p>
                      <a:pPr>
                        <a:defRPr sz="1200">
                          <a:solidFill>
                            <a:srgbClr val="1A1A2E"/>
                          </a:solidFill>
                          <a:latin typeface="Yu Gothic"/>
                        </a:defRPr>
                      </a:pPr>
                      <a:r>
                        <a:t>記事本文</a:t>
                      </a:r>
                    </a:p>
                  </a:txBody>
                  <a:tcPr>
                    <a:solidFill>
                      <a:srgbClr val="F3F6FC"/>
                    </a:solidFill>
                  </a:tcPr>
                </a:tc>
                <a:tc>
                  <a:txBody>
                    <a:bodyPr/>
                    <a:lstStyle/>
                    <a:p>
                      <a:pPr>
                        <a:defRPr sz="1200">
                          <a:solidFill>
                            <a:srgbClr val="1A1A2E"/>
                          </a:solidFill>
                          <a:latin typeface="Yu Gothic"/>
                        </a:defRPr>
                      </a:pPr>
                      <a:r>
                        <a:t>6つの情報源すべてがHTTP 403で、本調査環境から本文を取得できなかった</a:t>
                      </a:r>
                    </a:p>
                  </a:txBody>
                  <a:tcPr>
                    <a:solidFill>
                      <a:srgbClr val="F3F6FC"/>
                    </a:solidFill>
                  </a:tcPr>
                </a:tc>
              </a:tr>
              <a:tr h="502920">
                <a:tc>
                  <a:txBody>
                    <a:bodyPr/>
                    <a:lstStyle/>
                    <a:p>
                      <a:pPr>
                        <a:defRPr sz="1200">
                          <a:solidFill>
                            <a:srgbClr val="1A1A2E"/>
                          </a:solidFill>
                          <a:latin typeface="Yu Gothic"/>
                        </a:defRPr>
                      </a:pPr>
                      <a:r>
                        <a:t>他社モデルとの比較値</a:t>
                      </a:r>
                    </a:p>
                  </a:txBody>
                  <a:tcPr>
                    <a:solidFill>
                      <a:srgbClr val="FFFFFF"/>
                    </a:solidFill>
                  </a:tcPr>
                </a:tc>
                <a:tc>
                  <a:txBody>
                    <a:bodyPr/>
                    <a:lstStyle/>
                    <a:p>
                      <a:pPr>
                        <a:defRPr sz="1200">
                          <a:solidFill>
                            <a:srgbClr val="1A1A2E"/>
                          </a:solidFill>
                          <a:latin typeface="Yu Gothic"/>
                        </a:defRPr>
                      </a:pPr>
                      <a:r>
                        <a:t>一部の記事に記載があったが、モデル名・数値ともに一次情報で確認できず使用していない</a:t>
                      </a:r>
                    </a:p>
                  </a:txBody>
                  <a:tcPr>
                    <a:solidFill>
                      <a:srgbClr val="FFFFFF"/>
                    </a:solidFill>
                  </a:tcPr>
                </a:tc>
              </a:tr>
              <a:tr h="502920">
                <a:tc>
                  <a:txBody>
                    <a:bodyPr/>
                    <a:lstStyle/>
                    <a:p>
                      <a:pPr>
                        <a:defRPr sz="1200">
                          <a:solidFill>
                            <a:srgbClr val="1A1A2E"/>
                          </a:solidFill>
                          <a:latin typeface="Yu Gothic"/>
                        </a:defRPr>
                      </a:pPr>
                      <a:r>
                        <a:t>日本国内での提供時期・価格</a:t>
                      </a:r>
                    </a:p>
                  </a:txBody>
                  <a:tcPr>
                    <a:solidFill>
                      <a:srgbClr val="F3F6FC"/>
                    </a:solidFill>
                  </a:tcPr>
                </a:tc>
                <a:tc>
                  <a:txBody>
                    <a:bodyPr/>
                    <a:lstStyle/>
                    <a:p>
                      <a:pPr>
                        <a:defRPr sz="1200">
                          <a:solidFill>
                            <a:srgbClr val="1A1A2E"/>
                          </a:solidFill>
                          <a:latin typeface="Yu Gothic"/>
                        </a:defRPr>
                      </a:pPr>
                      <a:r>
                        <a:t>確認できなかった</a:t>
                      </a:r>
                    </a:p>
                  </a:txBody>
                  <a:tcPr>
                    <a:solidFill>
                      <a:srgbClr val="F3F6FC"/>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定期実行52本目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この動画の作り方について</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鮮度</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発表は2026年7月27日。この動画の制作日は7月29日で、2日後にあたる</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使わなかった数字</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他社の特定モデルとの比較値(ポイント差)は、一次情報で確認できず因果も不明なため使っていない</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混ぜなかった数字</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ベンチマークの「96%」と「95.95%」は、どちらが正確か確認できないため一方に断定していない</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定期実行52本目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今日の要点</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起きたこと</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Microsoftがセキュリティ専用AIモデルとエージェント基盤を発表し、日常業務の約9割をAIに任せる設計を示した</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見どころ</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モデルの性能そのものより「専用モデル+役割分担でコストを抑える」という設計思想が中心</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持ち帰ること</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自社のセキュリティ業務のうち、定型作業と判断業務を分けて考えてみる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 - 定期実行52本目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「性能」だけでなく「どこまで任せ、どこを見るか」を先に決める</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CADCFC"/>
                </a:solidFill>
                <a:latin typeface="Yu Gothic"/>
              </a:rPr>
              <a:t>コスト削減の主張は、自社の旧構成との比較であることを忘れない</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E2761"/>
                </a:solidFill>
                <a:latin typeface="Yu Gothic"/>
              </a:rPr>
              <a:t>自社のセキュリティ業務のうち定型作業と判断業務を1枚の紙に書き出してみる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