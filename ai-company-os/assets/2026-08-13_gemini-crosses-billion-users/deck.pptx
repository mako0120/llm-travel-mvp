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GoogleのサンダーCEOがX上で、Geminiアプリの月間アクティブユーザー数が10億人を突破したと発表しました。Googleの28年の歴史で自社製品として最速の成長スピードとされ、10億人規模のユーザーベースを持つ14番目のサービスになったとされています。今日はこの発表内容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今回の核心をお伝えします。Geminiアプリの月間アクティブユーザー数が、ついに10億人を突破したとサンダー・ピチャイCEO自身がX上で発表しました。複数の独立したメディアがこの投稿を引用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このテーマは着手日から2日以内という、鮮度基準を満たす新しい発表です。しかも『接近』から『突破』への変化であり、CEO本人が直接発表したという点も注目です。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Geminiは、Googleが開発・提供するAIアシスタントのブランド名です。スマートフォンアプリやWebブラウザなど複数の経路から使え、検索やGmailなどGoogleの既存サービスと連携する立ち位置にあります。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月間アクティブユーザー数、略してMAUは、1か月の間に少なくとも1回そのサービスを使った人の数を示す指標です。今回の『10億人』もこのMAUの数字です。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今回の発表の形にも注目です。決算資料や公式ブログではなく、サンダー・ピチャイCEO自身がXに投稿する形で節目を発表したと報じられています。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既存87本目との違いを整理します。状態は『接近』から『突破』へ、発表日は約3週間後、情報源は決算資料の要約報道からCEO本人のX投稿へと変わっています。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時系列で見ると、7月23日の決算発表から約3週間を経て、8月11日にCEO本人が10億人突破を発表しました。この間の推移を示す確定情報は確認できていません。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2つのテーマを並べます。87本目は接近段階、本テーマは到達が確定した続報です。あの話の続きとして受け止めてください。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情報が伝わった経路を図にしました。CEO本人のX投稿を起点に、複数の独立したメディアが引用報道し、本テーマではその内容を出典付きで整理しています。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成長スピードの位置づけです。Geminiの成長は、Googleの28年の歴史の中で自社製品として最も速いものとされています。ただし算出の厳密な基準までは確認できていません。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Google社内での位置づけも確認します。10億人規模のユーザーベースを持つサービスとしては、Geminiが14番目にあたるとされています。どのサービスが対象に含まれるかの一次資料までは確認できていません。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検証済みの事実を一覧にしました。いずれも複数の独立したメディアが、CEOの投稿を引用する形で一致して報じている内容です。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『10億人』という節目が持つ意味を3つの視点で整理しました。規模・速度・社内順位、それぞれの目安として語られています。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ここで事実と推測を分けます。10億人突破そのものは複数メディアが一致して報じる事実ですが、算出基準の細部や利用者の内訳は不明として扱っています。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情報源の性質が変わった点も押さえておきます。決算資料という会社としての説明から、CEO本人の直接発表へ。どちらも一次情報に近いですが、性質の違いを区別して扱っています。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見出しの印象と実際の内容には、しばしばギャップがあります。今回のケースでも、単一の指標での節目達成であり、内訳や算出根拠の詳細は非公開である点を押さえておく必要があります。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ここからは、視聴者にとって具体的に何を意味するかです。個人利用者、ビジネス利用を検討する立場、AIニュースを追う立場、それぞれで意識したい点をまとめました。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ここで一度立ち止まります。見出しは強めの表現を使っていますが、数字の創作や根拠のない断定は一切行っていません。確認できなかった点は正直に不明として扱っています。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よくある疑問を3つ整理しました。いずれも『続報である』『不明な内訳がある』『報道の趣旨としては一致している』という正直な整理にとどめています。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87本目をご覧いただいた方へ、あらためてお伝えします。87本目は当時としては正確な『接近』段階の報道でした。本テーマはその続きとして、到達が確定した後日談です。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出典の性質を整理します。最も一次情報に近いのはCEO本人のX投稿で、複数の独立したメディアがこれを引用して報じています。原文全文の直接確認はできていない点も正直にお伝えします。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今後起こりうる展開を3つ挙げましたが、いずれも現時点では確定していません。続報が出た際にはこのテーマの内容も更新する必要があります。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最後にもう一度、今回のポイントを確認します。87本目で伝えた『接近』段階から、およそ3週間後にCEO本人が『突破』を発表しました。内訳や算出根拠の詳細は、今後の続報を待つ段階です。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今回のポイントを3枚のカードに整理しました。到達確定・87本目との関係・残る不明点、この3点を押さえておいてください。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Googleのサンダー・ピチャイCEOが、Geminiアプリの月間利用者数10億人突破を発表した経緯をお伝えしました。称賛や誇張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ついに、突破した。</a:t>
            </a:r>
          </a:p>
          <a:p>
            <a:pPr algn="l">
              <a:lnSpc>
                <a:spcPct val="115000"/>
              </a:lnSpc>
            </a:pPr>
            <a:r>
              <a:rPr sz="4200" b="1">
                <a:solidFill>
                  <a:srgbClr val="FFFFFF"/>
                </a:solidFill>
                <a:latin typeface="Yu Gothic"/>
              </a:rPr>
              <a:t>Googleのサンダー・ピチャイCEOが、Geminiアプリの月間アクティブユーザー数が</a:t>
            </a:r>
          </a:p>
          <a:p>
            <a:pPr algn="l">
              <a:lnSpc>
                <a:spcPct val="115000"/>
              </a:lnSpc>
            </a:pPr>
            <a:r>
              <a:rPr sz="4200" b="1">
                <a:solidFill>
                  <a:srgbClr val="FFFFFF"/>
                </a:solidFill>
                <a:latin typeface="Yu Gothic"/>
              </a:rPr>
              <a:t>10億人を突破したとX上で発表した。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同社28年の歴史で最速の成長を遂げた製品となり、10億人規模のサービスとしては</a:t>
            </a:r>
          </a:p>
          <a:p>
            <a:pPr algn="l"/>
            <a:r>
              <a:rPr sz="2000" b="0">
                <a:solidFill>
                  <a:srgbClr val="E7DCC2"/>
                </a:solidFill>
                <a:latin typeface="Yu Gothic"/>
              </a:rPr>
              <a:t>Googleにとって14番目になったとされる――出典付きで整理する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複数の独立したテック専門メディア(サンダー・ピチャイCEOのX投稿引用、いずれも2026-08-11報道)。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今回の核心の数字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月間利用者数 10億人突破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2026年8月11日、サンダー・ピチャイCEOがX上で発表。複数の独立したテック専門メディアがこの発表を引用して報じている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複数のテック専門メディア(CEOのX投稿引用、2026-08-11)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なぜ今このテーマを扱うのか(鮮度・87本目との関係)</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Gemini・月間アクティブユーザー数(初心者向け解説)</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87本目(接近段階)と本テーマ(突破確定)の違い</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「28年の歴史で最速」「14番目のサービス」を数字で確認</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確認できなかったこと・今後の展開予告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2026年8月11日、CEO本人がXで発表し、複数の独立したメディアが同発表を引用して報じた(着手日から2日前)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「10億人に接近」という既報(87本目)から約3週間後の、到達確定という続報にあたる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情報源が決算資料の要約報道からCEO本人のX投稿に変わった点も新しい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複数のテック専門メディア(2026-08-11)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「Gemini」とは何か(初心者向け)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GeminiはGoogleが開発・提供するAIアシスタント(チャット型AI)のブランド名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スマートフォンアプリやWebブラウザ、Google検索など複数の経路から利用できる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検索エンジン・Gmail・カレンダー等、Googleの既存サービス群と連携する立ち位置にある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複数のテック専門メディア(2026-08-11)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「月間アクティブユーザー数(MAU)」とは何か(初心者向け)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MAU(Monthly Active Users)は、1か月の間に少なくとも1回そのサービスを利用した人の数</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利用頻度や利用時間は問わず、期間内に利用した「人数」を示す指標</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SNSやアプリの規模を語る際に業界で広く使われる代表的な指標のひとつ</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発表の主体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サンダー・ピチャイCEO本人がX上で発表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決算資料や公式ブログではなく、CEO自身のX(旧Twitter)投稿という形での発表が今回の特徴とされる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複数のテック専門メディア(CEOのX投稿引用、2026-08-11)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87本目との違い(重要)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87本目(2026-08-03制作)</a:t>
                      </a:r>
                    </a:p>
                  </a:txBody>
                  <a:tcPr>
                    <a:solidFill>
                      <a:srgbClr val="24523F"/>
                    </a:solidFill>
                  </a:tcPr>
                </a:tc>
                <a:tc>
                  <a:txBody>
                    <a:bodyPr/>
                    <a:lstStyle/>
                    <a:p>
                      <a:pPr>
                        <a:defRPr sz="1300" b="1">
                          <a:solidFill>
                            <a:srgbClr val="FFFFFF"/>
                          </a:solidFill>
                          <a:latin typeface="Yu Gothic"/>
                        </a:defRPr>
                      </a:pPr>
                      <a:r>
                        <a:t>本テーマ(187本目)</a:t>
                      </a:r>
                    </a:p>
                  </a:txBody>
                  <a:tcPr>
                    <a:solidFill>
                      <a:srgbClr val="24523F"/>
                    </a:solidFill>
                  </a:tcPr>
                </a:tc>
              </a:tr>
              <a:tr h="502920">
                <a:tc>
                  <a:txBody>
                    <a:bodyPr/>
                    <a:lstStyle/>
                    <a:p>
                      <a:pPr>
                        <a:defRPr sz="1200">
                          <a:solidFill>
                            <a:srgbClr val="20261F"/>
                          </a:solidFill>
                          <a:latin typeface="Yu Gothic"/>
                        </a:defRPr>
                      </a:pPr>
                      <a:r>
                        <a:t>状態</a:t>
                      </a:r>
                    </a:p>
                  </a:txBody>
                  <a:tcPr>
                    <a:solidFill>
                      <a:srgbClr val="FFFFFF"/>
                    </a:solidFill>
                  </a:tcPr>
                </a:tc>
                <a:tc>
                  <a:txBody>
                    <a:bodyPr/>
                    <a:lstStyle/>
                    <a:p>
                      <a:pPr>
                        <a:defRPr sz="1200">
                          <a:solidFill>
                            <a:srgbClr val="20261F"/>
                          </a:solidFill>
                          <a:latin typeface="Yu Gothic"/>
                        </a:defRPr>
                      </a:pPr>
                      <a:r>
                        <a:t>9億5,000万人超、10億人に「接近」</a:t>
                      </a:r>
                    </a:p>
                  </a:txBody>
                  <a:tcPr>
                    <a:solidFill>
                      <a:srgbClr val="FFFFFF"/>
                    </a:solidFill>
                  </a:tcPr>
                </a:tc>
                <a:tc>
                  <a:txBody>
                    <a:bodyPr/>
                    <a:lstStyle/>
                    <a:p>
                      <a:pPr>
                        <a:defRPr sz="1200">
                          <a:solidFill>
                            <a:srgbClr val="20261F"/>
                          </a:solidFill>
                          <a:latin typeface="Yu Gothic"/>
                        </a:defRPr>
                      </a:pPr>
                      <a:r>
                        <a:t>10億人を「突破」(到達確定)</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2026年7月23日</a:t>
                      </a:r>
                    </a:p>
                  </a:txBody>
                  <a:tcPr>
                    <a:solidFill>
                      <a:srgbClr val="F4F1E6"/>
                    </a:solidFill>
                  </a:tcPr>
                </a:tc>
                <a:tc>
                  <a:txBody>
                    <a:bodyPr/>
                    <a:lstStyle/>
                    <a:p>
                      <a:pPr>
                        <a:defRPr sz="1200">
                          <a:solidFill>
                            <a:srgbClr val="20261F"/>
                          </a:solidFill>
                          <a:latin typeface="Yu Gothic"/>
                        </a:defRPr>
                      </a:pPr>
                      <a:r>
                        <a:t>2026年8月11日(87本目の約3週間後)</a:t>
                      </a:r>
                    </a:p>
                  </a:txBody>
                  <a:tcPr>
                    <a:solidFill>
                      <a:srgbClr val="F4F1E6"/>
                    </a:solidFill>
                  </a:tcPr>
                </a:tc>
              </a:tr>
              <a:tr h="502920">
                <a:tc>
                  <a:txBody>
                    <a:bodyPr/>
                    <a:lstStyle/>
                    <a:p>
                      <a:pPr>
                        <a:defRPr sz="1200">
                          <a:solidFill>
                            <a:srgbClr val="20261F"/>
                          </a:solidFill>
                          <a:latin typeface="Yu Gothic"/>
                        </a:defRPr>
                      </a:pPr>
                      <a:r>
                        <a:t>情報源</a:t>
                      </a:r>
                    </a:p>
                  </a:txBody>
                  <a:tcPr>
                    <a:solidFill>
                      <a:srgbClr val="FFFFFF"/>
                    </a:solidFill>
                  </a:tcPr>
                </a:tc>
                <a:tc>
                  <a:txBody>
                    <a:bodyPr/>
                    <a:lstStyle/>
                    <a:p>
                      <a:pPr>
                        <a:defRPr sz="1200">
                          <a:solidFill>
                            <a:srgbClr val="20261F"/>
                          </a:solidFill>
                          <a:latin typeface="Yu Gothic"/>
                        </a:defRPr>
                      </a:pPr>
                      <a:r>
                        <a:t>Google第2四半期決算発表の要約報道</a:t>
                      </a:r>
                    </a:p>
                  </a:txBody>
                  <a:tcPr>
                    <a:solidFill>
                      <a:srgbClr val="FFFFFF"/>
                    </a:solidFill>
                  </a:tcPr>
                </a:tc>
                <a:tc>
                  <a:txBody>
                    <a:bodyPr/>
                    <a:lstStyle/>
                    <a:p>
                      <a:pPr>
                        <a:defRPr sz="1200">
                          <a:solidFill>
                            <a:srgbClr val="20261F"/>
                          </a:solidFill>
                          <a:latin typeface="Yu Gothic"/>
                        </a:defRPr>
                      </a:pPr>
                      <a:r>
                        <a:t>CEO本人のX投稿を引用した報道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87本目から本テーマまでの時系列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7/23 決算発表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Google第2四半期決算で月間利用者数9億5,000万人超と説明(87本目)</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以後 約3週間</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10億人到達の確定報道は、この間は確認されていなかった</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8/11 CEOが発表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サンダー・ピチャイCEOがX上で10億人突破を発表(本テーマ)</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87本目(接近段階) / 本テーマ(到達確定)</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87本目(接近段階)</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月間利用者数9億5,000万人超</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10億人の大台に「接近している」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情報源は決算資料の要約報道</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本テーマ(到達確定)</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月間利用者数10億人を「突破」</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CEO本人がX上で節目を発表</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「28年の歴史で最速」等の新情報も付随</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情報が伝わった経路(概念図)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サンダー・ピチャイCEOのX投稿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2026年8月11日、10億人突破を発表</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複数の独立したテック専門メディア</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CEOの投稿を引用して報道</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本テーマでの整理</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報道された趣旨を出典付きで整理</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CEO本人の投稿を起点に、複数の独立したメディアが引用報道し、本テーマではその報道内容を出典付きで整理している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成長スピードの位置づけ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Google28年の歴史で最速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同社の自社製品の中で、これまでで最も速い成長スピードとされる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複数のテック専門メディア(CEOのX投稿引用、2026-08-11)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Google社内での位置づけ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10億人規模で14番目のサービス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Googleにとって、10億人規模のユーザーベースを持つサービスとしては14番目にあたるとされる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複数のテック専門メディア(CEOのX投稿引用、2026-08-11)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検証済み事実一覧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事実</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月間アクティブユーザー数が10億人を突破</a:t>
                      </a:r>
                    </a:p>
                  </a:txBody>
                  <a:tcPr>
                    <a:solidFill>
                      <a:srgbClr val="FFFFFF"/>
                    </a:solidFill>
                  </a:tcPr>
                </a:tc>
                <a:tc>
                  <a:txBody>
                    <a:bodyPr/>
                    <a:lstStyle/>
                    <a:p>
                      <a:pPr>
                        <a:defRPr sz="1200">
                          <a:solidFill>
                            <a:srgbClr val="20261F"/>
                          </a:solidFill>
                          <a:latin typeface="Yu Gothic"/>
                        </a:defRPr>
                      </a:pPr>
                      <a:r>
                        <a:t>複数の独立したメディアが一致して報道</a:t>
                      </a:r>
                    </a:p>
                  </a:txBody>
                  <a:tcPr>
                    <a:solidFill>
                      <a:srgbClr val="FFFFFF"/>
                    </a:solidFill>
                  </a:tcPr>
                </a:tc>
              </a:tr>
              <a:tr h="502920">
                <a:tc>
                  <a:txBody>
                    <a:bodyPr/>
                    <a:lstStyle/>
                    <a:p>
                      <a:pPr>
                        <a:defRPr sz="1200">
                          <a:solidFill>
                            <a:srgbClr val="20261F"/>
                          </a:solidFill>
                          <a:latin typeface="Yu Gothic"/>
                        </a:defRPr>
                      </a:pPr>
                      <a:r>
                        <a:t>発表者・発表方法</a:t>
                      </a:r>
                    </a:p>
                  </a:txBody>
                  <a:tcPr>
                    <a:solidFill>
                      <a:srgbClr val="F4F1E6"/>
                    </a:solidFill>
                  </a:tcPr>
                </a:tc>
                <a:tc>
                  <a:txBody>
                    <a:bodyPr/>
                    <a:lstStyle/>
                    <a:p>
                      <a:pPr>
                        <a:defRPr sz="1200">
                          <a:solidFill>
                            <a:srgbClr val="20261F"/>
                          </a:solidFill>
                          <a:latin typeface="Yu Gothic"/>
                        </a:defRPr>
                      </a:pPr>
                      <a:r>
                        <a:t>サンダー・ピチャイCEO本人がX上で発表</a:t>
                      </a:r>
                    </a:p>
                  </a:txBody>
                  <a:tcPr>
                    <a:solidFill>
                      <a:srgbClr val="F4F1E6"/>
                    </a:solidFill>
                  </a:tcPr>
                </a:tc>
              </a:tr>
              <a:tr h="502920">
                <a:tc>
                  <a:txBody>
                    <a:bodyPr/>
                    <a:lstStyle/>
                    <a:p>
                      <a:pPr>
                        <a:defRPr sz="1200">
                          <a:solidFill>
                            <a:srgbClr val="20261F"/>
                          </a:solidFill>
                          <a:latin typeface="Yu Gothic"/>
                        </a:defRPr>
                      </a:pPr>
                      <a:r>
                        <a:t>成長スピード</a:t>
                      </a:r>
                    </a:p>
                  </a:txBody>
                  <a:tcPr>
                    <a:solidFill>
                      <a:srgbClr val="FFFFFF"/>
                    </a:solidFill>
                  </a:tcPr>
                </a:tc>
                <a:tc>
                  <a:txBody>
                    <a:bodyPr/>
                    <a:lstStyle/>
                    <a:p>
                      <a:pPr>
                        <a:defRPr sz="1200">
                          <a:solidFill>
                            <a:srgbClr val="20261F"/>
                          </a:solidFill>
                          <a:latin typeface="Yu Gothic"/>
                        </a:defRPr>
                      </a:pPr>
                      <a:r>
                        <a:t>Google28年の歴史で自社製品として最速とされる</a:t>
                      </a:r>
                    </a:p>
                  </a:txBody>
                  <a:tcPr>
                    <a:solidFill>
                      <a:srgbClr val="FFFFFF"/>
                    </a:solidFill>
                  </a:tcPr>
                </a:tc>
              </a:tr>
              <a:tr h="502920">
                <a:tc>
                  <a:txBody>
                    <a:bodyPr/>
                    <a:lstStyle/>
                    <a:p>
                      <a:pPr>
                        <a:defRPr sz="1200">
                          <a:solidFill>
                            <a:srgbClr val="20261F"/>
                          </a:solidFill>
                          <a:latin typeface="Yu Gothic"/>
                        </a:defRPr>
                      </a:pPr>
                      <a:r>
                        <a:t>社内順位</a:t>
                      </a:r>
                    </a:p>
                  </a:txBody>
                  <a:tcPr>
                    <a:solidFill>
                      <a:srgbClr val="F4F1E6"/>
                    </a:solidFill>
                  </a:tcPr>
                </a:tc>
                <a:tc>
                  <a:txBody>
                    <a:bodyPr/>
                    <a:lstStyle/>
                    <a:p>
                      <a:pPr>
                        <a:defRPr sz="1200">
                          <a:solidFill>
                            <a:srgbClr val="20261F"/>
                          </a:solidFill>
                          <a:latin typeface="Yu Gothic"/>
                        </a:defRPr>
                      </a:pPr>
                      <a:r>
                        <a:t>10億人規模のサービスとして14番目とされる</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「10億人」という節目の意味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規模の目安として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月間10億人は、世界的なサービスとして広く語られる規模の目安のひとつ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成長速度の目安として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『28年の歴史で最速』という表現は、到達までの期間の短さを強調している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社内順位の目安として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『14番目』という数字は、Google内の他サービスと並べた際の位置づけを示す</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地域別・年齢層別の利用者内訳</a:t>
                      </a:r>
                    </a:p>
                  </a:txBody>
                  <a:tcPr>
                    <a:solidFill>
                      <a:srgbClr val="FFFFFF"/>
                    </a:solidFill>
                  </a:tcPr>
                </a:tc>
                <a:tc>
                  <a:txBody>
                    <a:bodyPr/>
                    <a:lstStyle/>
                    <a:p>
                      <a:pPr>
                        <a:defRPr sz="1200">
                          <a:solidFill>
                            <a:srgbClr val="20261F"/>
                          </a:solidFill>
                          <a:latin typeface="Yu Gothic"/>
                        </a:defRPr>
                      </a:pPr>
                      <a:r>
                        <a:t>本調査の範囲では確認できていない(不明)</a:t>
                      </a:r>
                    </a:p>
                  </a:txBody>
                  <a:tcPr>
                    <a:solidFill>
                      <a:srgbClr val="FFFFFF"/>
                    </a:solidFill>
                  </a:tcPr>
                </a:tc>
              </a:tr>
              <a:tr h="502920">
                <a:tc>
                  <a:txBody>
                    <a:bodyPr/>
                    <a:lstStyle/>
                    <a:p>
                      <a:pPr>
                        <a:defRPr sz="1200">
                          <a:solidFill>
                            <a:srgbClr val="20261F"/>
                          </a:solidFill>
                          <a:latin typeface="Yu Gothic"/>
                        </a:defRPr>
                      </a:pPr>
                      <a:r>
                        <a:t>有料版・無料版の利用者内訳</a:t>
                      </a:r>
                    </a:p>
                  </a:txBody>
                  <a:tcPr>
                    <a:solidFill>
                      <a:srgbClr val="F4F1E6"/>
                    </a:solidFill>
                  </a:tcPr>
                </a:tc>
                <a:tc>
                  <a:txBody>
                    <a:bodyPr/>
                    <a:lstStyle/>
                    <a:p>
                      <a:pPr>
                        <a:defRPr sz="1200">
                          <a:solidFill>
                            <a:srgbClr val="20261F"/>
                          </a:solidFill>
                          <a:latin typeface="Yu Gothic"/>
                        </a:defRPr>
                      </a:pPr>
                      <a:r>
                        <a:t>本調査の範囲では確認できていない(不明)</a:t>
                      </a:r>
                    </a:p>
                  </a:txBody>
                  <a:tcPr>
                    <a:solidFill>
                      <a:srgbClr val="F4F1E6"/>
                    </a:solidFill>
                  </a:tcPr>
                </a:tc>
              </a:tr>
              <a:tr h="502920">
                <a:tc>
                  <a:txBody>
                    <a:bodyPr/>
                    <a:lstStyle/>
                    <a:p>
                      <a:pPr>
                        <a:defRPr sz="1200">
                          <a:solidFill>
                            <a:srgbClr val="20261F"/>
                          </a:solidFill>
                          <a:latin typeface="Yu Gothic"/>
                        </a:defRPr>
                      </a:pPr>
                      <a:r>
                        <a:t>X投稿の正確な原文全文</a:t>
                      </a:r>
                    </a:p>
                  </a:txBody>
                  <a:tcPr>
                    <a:solidFill>
                      <a:srgbClr val="FFFFFF"/>
                    </a:solidFill>
                  </a:tcPr>
                </a:tc>
                <a:tc>
                  <a:txBody>
                    <a:bodyPr/>
                    <a:lstStyle/>
                    <a:p>
                      <a:pPr>
                        <a:defRPr sz="1200">
                          <a:solidFill>
                            <a:srgbClr val="20261F"/>
                          </a:solidFill>
                          <a:latin typeface="Yu Gothic"/>
                        </a:defRPr>
                      </a:pPr>
                      <a:r>
                        <a:t>複数メディアの引用報道に基づいており、原文全体への直接アクセスは未確認</a:t>
                      </a:r>
                    </a:p>
                  </a:txBody>
                  <a:tcPr>
                    <a:solidFill>
                      <a:srgbClr val="FFFFFF"/>
                    </a:solidFill>
                  </a:tcPr>
                </a:tc>
              </a:tr>
              <a:tr h="502920">
                <a:tc>
                  <a:txBody>
                    <a:bodyPr/>
                    <a:lstStyle/>
                    <a:p>
                      <a:pPr>
                        <a:defRPr sz="1200">
                          <a:solidFill>
                            <a:srgbClr val="20261F"/>
                          </a:solidFill>
                          <a:latin typeface="Yu Gothic"/>
                        </a:defRPr>
                      </a:pPr>
                      <a:r>
                        <a:t>「28年の歴史」「14番目」の算出根拠の詳細</a:t>
                      </a:r>
                    </a:p>
                  </a:txBody>
                  <a:tcPr>
                    <a:solidFill>
                      <a:srgbClr val="F4F1E6"/>
                    </a:solidFill>
                  </a:tcPr>
                </a:tc>
                <a:tc>
                  <a:txBody>
                    <a:bodyPr/>
                    <a:lstStyle/>
                    <a:p>
                      <a:pPr>
                        <a:defRPr sz="1200">
                          <a:solidFill>
                            <a:srgbClr val="20261F"/>
                          </a:solidFill>
                          <a:latin typeface="Yu Gothic"/>
                        </a:defRPr>
                      </a:pPr>
                      <a:r>
                        <a:t>Google公式の厳密な定義・集計基準は未確認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事実: 10億人突破・CEO本人による発表・複数メディアの一致報道</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事実: 『28年の歴史で最速』『14番目のサービス』という趣旨の報道内容</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 算出の厳密な基準・対象サービスの内訳は当社では確認できていない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不明: 地域別・年齢層別・有料/無料別の利用者内訳</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なぜCEO本人のX投稿という情報源が重要なのか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情報源の変化について考えます。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87本目は決算資料という『会社としての公式説明』が情報源だった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本テーマはCEO本人のX投稿という『個人による直接発表』が情報源</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いずれも一次情報に近いが、性質が異なる情報源であることを区別して扱う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Geminiが他のAIアシスタントを完全に上回った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内訳まですべて公開されている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算出根拠も完全に検証済み</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月間利用者数という単一の指標での節目達成</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地域別・有料/無料別の内訳は非公開(不明)</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算出根拠の厳密な定義はGoogle公式で確認できていない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個人利用者として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世界的に多くの人が使うAIアシスタントのひとつとして規模感を把握する材料になる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ビジネス利用を検討する立場として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内訳(地域・有料/無料比率)が不明な段階で導入判断の根拠にしすぎない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『接近』から『突破』への変化のように、続報で状況が更新されることを前提に追う</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見出し・冒頭のフックはバズ路線として強めの表現を使っているが、数字の創作・根拠のない断定は行っていない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確認できなかった内訳・算出根拠は、推測で埋めず「不明」として扱う</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Google・サンダー・ピチャイCEO個人への政治的評価は行わない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中心となる発表・報道は2026年8月11日、着手日(2026年8月13日)を含めて2日以内という基準を満たす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docs/06_Content_R&amp;D.md基準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よくある疑問と実際の整理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Q1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87本目と同じ話の焼き直しなのか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いいえ。『接近』から『突破』への到達確定という続報であり、情報源も異なる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Q2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内訳(地域・年齢層・有料/無料)は分かるのか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本調査の範囲では確認できておらず、不明として扱っている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Q3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「28年」「14番目」の根拠は完全に検証できているのか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報道の趣旨として一致しているが、Google公式の厳密な定義までは未確認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87本目をご覧いただいた方へ</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87本目からの続きとして、あらためて位置づけを共有します。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87本目は『接近』段階の内容であり、その時点の報道としては正確なものだった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本テーマはその約3週間後に到達が確定した、後日談・続報にあたる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87本目を否定・軽視する内容ではなく、話の続きとして受け止めていただきたい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情報源の性質について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出典の性質を明確にしておきます。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一次情報に最も近いのはサンダー・ピチャイCEO本人のX投稿</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複数の独立したテック専門メディアが、この投稿を引用して同時期に報道</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投稿原文の全文への直接アクセスはできておらず、各メディアの引用報道に基づいて整理している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性質</a:t>
                      </a:r>
                    </a:p>
                  </a:txBody>
                  <a:tcPr>
                    <a:solidFill>
                      <a:srgbClr val="24523F"/>
                    </a:solidFill>
                  </a:tcPr>
                </a:tc>
                <a:tc>
                  <a:txBody>
                    <a:bodyPr/>
                    <a:lstStyle/>
                    <a:p>
                      <a:pPr>
                        <a:defRPr sz="1300" b="1">
                          <a:solidFill>
                            <a:srgbClr val="FFFFFF"/>
                          </a:solidFill>
                          <a:latin typeface="Yu Gothic"/>
                        </a:defRPr>
                      </a:pPr>
                      <a:r>
                        <a:t>報道日</a:t>
                      </a:r>
                    </a:p>
                  </a:txBody>
                  <a:tcPr>
                    <a:solidFill>
                      <a:srgbClr val="24523F"/>
                    </a:solidFill>
                  </a:tcPr>
                </a:tc>
              </a:tr>
              <a:tr h="502920">
                <a:tc>
                  <a:txBody>
                    <a:bodyPr/>
                    <a:lstStyle/>
                    <a:p>
                      <a:pPr>
                        <a:defRPr sz="1200">
                          <a:solidFill>
                            <a:srgbClr val="20261F"/>
                          </a:solidFill>
                          <a:latin typeface="Yu Gothic"/>
                        </a:defRPr>
                      </a:pPr>
                      <a:r>
                        <a:t>サンダー・ピチャイCEOのX投稿</a:t>
                      </a:r>
                    </a:p>
                  </a:txBody>
                  <a:tcPr>
                    <a:solidFill>
                      <a:srgbClr val="FFFFFF"/>
                    </a:solidFill>
                  </a:tcPr>
                </a:tc>
                <a:tc>
                  <a:txBody>
                    <a:bodyPr/>
                    <a:lstStyle/>
                    <a:p>
                      <a:pPr>
                        <a:defRPr sz="1200">
                          <a:solidFill>
                            <a:srgbClr val="20261F"/>
                          </a:solidFill>
                          <a:latin typeface="Yu Gothic"/>
                        </a:defRPr>
                      </a:pPr>
                      <a:r>
                        <a:t>一次情報(引用報道経由で把握)</a:t>
                      </a:r>
                    </a:p>
                  </a:txBody>
                  <a:tcPr>
                    <a:solidFill>
                      <a:srgbClr val="FFFFFF"/>
                    </a:solidFill>
                  </a:tcPr>
                </a:tc>
                <a:tc>
                  <a:txBody>
                    <a:bodyPr/>
                    <a:lstStyle/>
                    <a:p>
                      <a:pPr>
                        <a:defRPr sz="1200">
                          <a:solidFill>
                            <a:srgbClr val="20261F"/>
                          </a:solidFill>
                          <a:latin typeface="Yu Gothic"/>
                        </a:defRPr>
                      </a:pPr>
                      <a:r>
                        <a:t>2026-08-11</a:t>
                      </a:r>
                    </a:p>
                  </a:txBody>
                  <a:tcPr>
                    <a:solidFill>
                      <a:srgbClr val="FFFFFF"/>
                    </a:solidFill>
                  </a:tcPr>
                </a:tc>
              </a:tr>
              <a:tr h="502920">
                <a:tc>
                  <a:txBody>
                    <a:bodyPr/>
                    <a:lstStyle/>
                    <a:p>
                      <a:pPr>
                        <a:defRPr sz="1200">
                          <a:solidFill>
                            <a:srgbClr val="20261F"/>
                          </a:solidFill>
                          <a:latin typeface="Yu Gothic"/>
                        </a:defRPr>
                      </a:pPr>
                      <a:r>
                        <a:t>複数の独立したテック専門メディア</a:t>
                      </a:r>
                    </a:p>
                  </a:txBody>
                  <a:tcPr>
                    <a:solidFill>
                      <a:srgbClr val="F4F1E6"/>
                    </a:solidFill>
                  </a:tcPr>
                </a:tc>
                <a:tc>
                  <a:txBody>
                    <a:bodyPr/>
                    <a:lstStyle/>
                    <a:p>
                      <a:pPr>
                        <a:defRPr sz="1200">
                          <a:solidFill>
                            <a:srgbClr val="20261F"/>
                          </a:solidFill>
                          <a:latin typeface="Yu Gothic"/>
                        </a:defRPr>
                      </a:pPr>
                      <a:r>
                        <a:t>CEO投稿を引用した報道</a:t>
                      </a:r>
                    </a:p>
                  </a:txBody>
                  <a:tcPr>
                    <a:solidFill>
                      <a:srgbClr val="F4F1E6"/>
                    </a:solidFill>
                  </a:tcPr>
                </a:tc>
                <a:tc>
                  <a:txBody>
                    <a:bodyPr/>
                    <a:lstStyle/>
                    <a:p>
                      <a:pPr>
                        <a:defRPr sz="1200">
                          <a:solidFill>
                            <a:srgbClr val="20261F"/>
                          </a:solidFill>
                          <a:latin typeface="Yu Gothic"/>
                        </a:defRPr>
                      </a:pPr>
                      <a:r>
                        <a:t>2026-08-11</a:t>
                      </a:r>
                    </a:p>
                  </a:txBody>
                  <a:tcPr>
                    <a:solidFill>
                      <a:srgbClr val="F4F1E6"/>
                    </a:solidFill>
                  </a:tcPr>
                </a:tc>
              </a:tr>
              <a:tr h="502920">
                <a:tc>
                  <a:txBody>
                    <a:bodyPr/>
                    <a:lstStyle/>
                    <a:p>
                      <a:pPr>
                        <a:defRPr sz="1200">
                          <a:solidFill>
                            <a:srgbClr val="20261F"/>
                          </a:solidFill>
                          <a:latin typeface="Yu Gothic"/>
                        </a:defRPr>
                      </a:pPr>
                      <a:r>
                        <a:t>87本目の出典(TechCrunch等)</a:t>
                      </a:r>
                    </a:p>
                  </a:txBody>
                  <a:tcPr>
                    <a:solidFill>
                      <a:srgbClr val="FFFFFF"/>
                    </a:solidFill>
                  </a:tcPr>
                </a:tc>
                <a:tc>
                  <a:txBody>
                    <a:bodyPr/>
                    <a:lstStyle/>
                    <a:p>
                      <a:pPr>
                        <a:defRPr sz="1200">
                          <a:solidFill>
                            <a:srgbClr val="20261F"/>
                          </a:solidFill>
                          <a:latin typeface="Yu Gothic"/>
                        </a:defRPr>
                      </a:pPr>
                      <a:r>
                        <a:t>Google第2四半期決算の要約報道(参考)</a:t>
                      </a:r>
                    </a:p>
                  </a:txBody>
                  <a:tcPr>
                    <a:solidFill>
                      <a:srgbClr val="FFFFFF"/>
                    </a:solidFill>
                  </a:tcPr>
                </a:tc>
                <a:tc>
                  <a:txBody>
                    <a:bodyPr/>
                    <a:lstStyle/>
                    <a:p>
                      <a:pPr>
                        <a:defRPr sz="1200">
                          <a:solidFill>
                            <a:srgbClr val="20261F"/>
                          </a:solidFill>
                          <a:latin typeface="Yu Gothic"/>
                        </a:defRPr>
                      </a:pPr>
                      <a:r>
                        <a:t>2026-07-23</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今後起こりうる展開(いずれも確定ではない)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内訳の公表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地域別・有料/無料別など、より詳細な利用者内訳が今後公表される可能性がある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算出根拠の明確化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『28年の歴史』『14番目』の厳密な算出基準がGoogle公式から示される可能性がある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さらなる続報</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利用者数の推移や次の節目について、続報が出る可能性がある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「接近」から「突破」へ、あの話の続き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87本目で伝えた9億5,000万人超からおよそ3週間後、CEO本人が10億人突破を発表した。内訳や算出根拠の詳細は今後の続報を待つ段階にある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複数のテック専門メディア(CEOのX投稿引用、2026-08-11)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今回のポイント総整理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到達confirmed</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月間利用者数10億人突破をCEO本人がX上で発表(2026-08-11)</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87本目との関係</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『接近』から『突破』への続報。否定ではなく話の続き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残る不明点</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地域・年齢層・有料/無料の内訳、算出根拠の詳細は今後の課題</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複数の独立したテック専門メディア(サンダー・ピチャイCEOのX投稿引用、2026-08-11発表)｜187本目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「接近」から3週間、Geminiは10億人の大台を突破したと報じられている。あの話の続きは、ここで終わらない。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特定企業への評価ではなく、事実関係の整理として、内訳や算出根拠の続報にも出典付きで注目したいポイントです。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