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2026年8月、開発元を一切明かさない匿名のAIモデル『Ox Alpha』がOpenRouterに突如登場し、開発者コミュニティを熱狂させました。何が起きているのか、出典付きで正確に整理してお届けします。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結論から確認します。『Ox Alpha』という謎のAIモデルが開発元不明のまま無償公開され、コミュニティの技術分析でZhipu(智譜)が開発元ではないかという説が有力視されています。ただし公式確認はまだありません。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今日は6つの流れでお伝えします。基本情報から、正体探しの過熱、技術的な手がかりまで、正確に事実を引用しながら整理します。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このテーマを扱う理由です。高い鮮度と、開発者コミュニティを熱狂させた珍しい現象という点に注目しました。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Ox Alphaの基本情報です。約105万トークンという大きなコンテキストウィンドウが特徴です。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Ox Alphaの特徴です。無償公開の期間が限られている点も注目されています。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約105万トークンという規模は、開発者にとって大きな魅力の一つです。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情報の空白が、逆にコミュニティの好奇心を強く刺激した構図です。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登場から報道までの流れを図にしました。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コミュニティが指摘する技術的根拠です。いずれも個々の研究者による推測にとどまります。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技術的な手がかりをさらに確認しました。複数の独立した根拠が積み重なっている点が特徴です。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確定していることと、推測にとどまることを対比しました。この区別が本テーマで最も重要なポイントです。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ベンチマーク性能についても正直にお伝えします。計測条件によって数字が大きく変動する点に注意が必要です。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ベンチマーク数値をまとめました。同じモデルでも計測条件によって数字が大きく異なる点が分かります。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無償提供は8月27日頃に終了する見通しとされています。この時に正体が明かされるかどうかも注目されています。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ステルスモデルという手法自体は、業界内で時々見られる現象です。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一般的な情報公開型モデルと、今回のようなステルスモデルの違いを対比しました。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登場からメディア報道まで、わずか3日間という短期間で話題が広がりました。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AI・エージェント技術動向を追う立場にとっての意味です。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確認できなかったことを正直にお伝えします。開発元は本調査時点では推測の域を出ません。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複数の独立した主要メディア・技術系メディアが同一の現象を報じていることを確認しています。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ある研究者は『99%確信』とまで述べていますが、これも個人の分析による見解であり、公式な確認ではない点に注意が必要です。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最大出力トークン数は13万トークン超です。コンテキストウィンドウとは異なる指標である点を区別して理解する必要があります。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技術的手がかりを一覧にまとめました。いずれもコミュニティによる推測の根拠です。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本編のまとめです。正体不明のAIモデルを巡るコミュニティの動きについて、出典付きで整理してお伝えしました。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本編は以上です。今回は正体不明のAIモデル『Ox Alpha』を巡るコミュニティの動きについて、その中身を正確に整理してお伝えしました。数字は出典どおりに扱い、確認できなかったことは正直にお伝えしました。次回もまた出典付きでお届けします。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正体不明のAIモデルが</a:t>
            </a:r>
          </a:p>
          <a:p>
            <a:pPr algn="l">
              <a:lnSpc>
                <a:spcPct val="115000"/>
              </a:lnSpc>
            </a:pPr>
            <a:r>
              <a:rPr sz="4200" b="1">
                <a:solidFill>
                  <a:srgbClr val="FFFFFF"/>
                </a:solidFill>
                <a:latin typeface="Yu Gothic"/>
              </a:rPr>
              <a:t>開発者を</a:t>
            </a:r>
          </a:p>
          <a:p>
            <a:pPr algn="l">
              <a:lnSpc>
                <a:spcPct val="115000"/>
              </a:lnSpc>
            </a:pPr>
            <a:r>
              <a:rPr sz="4200" b="1">
                <a:solidFill>
                  <a:srgbClr val="FFFFFF"/>
                </a:solidFill>
                <a:latin typeface="Yu Gothic"/>
              </a:rPr>
              <a:t>熱狂させた理由</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2026年8月23日報道——「Ox Alpha」ミステリーを出典付きで整理する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Bloomberg・TechCrunch(2026年8月23日)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開発元は非公開 『stealth』表記のまま無償公開されたAIモデル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コミュニティの技術分析でZhipu(智譜)説が有力視されている(2026年8月23日報道)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Bloomberg・TechCrunch(2026-08-23)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Ox Alphaの基本情報を確認する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なぜ『正体探し』が過熱したのかを確認する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技術的な手がかりを確認する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ベンチマーク性能に関する情報を確認する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着手日前日(2026年8月23日)報道という高い鮮度の話題である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『正体不明のAIモデル』という、開発者コミュニティを巻き込む珍しい現象である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Bloomberg・TechCrunchという複数の主要メディアが同時にこの現象自体を報じている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AI業界特有のコミュニティ分析文化(技術的フォレンジック)を示す事例である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Bloomberg・TechCrunch(2026-08-23)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Ox Alphaの基本情報</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OpenRouter登場日</a:t>
                      </a:r>
                    </a:p>
                  </a:txBody>
                  <a:tcPr>
                    <a:solidFill>
                      <a:srgbClr val="FFFFFF"/>
                    </a:solidFill>
                  </a:tcPr>
                </a:tc>
                <a:tc>
                  <a:txBody>
                    <a:bodyPr/>
                    <a:lstStyle/>
                    <a:p>
                      <a:pPr>
                        <a:defRPr sz="1200">
                          <a:solidFill>
                            <a:srgbClr val="2A1712"/>
                          </a:solidFill>
                          <a:latin typeface="Yu Gothic"/>
                        </a:defRPr>
                      </a:pPr>
                      <a:r>
                        <a:t>2026年8月20日</a:t>
                      </a:r>
                    </a:p>
                  </a:txBody>
                  <a:tcPr>
                    <a:solidFill>
                      <a:srgbClr val="FFFFFF"/>
                    </a:solidFill>
                  </a:tcPr>
                </a:tc>
              </a:tr>
              <a:tr h="502920">
                <a:tc>
                  <a:txBody>
                    <a:bodyPr/>
                    <a:lstStyle/>
                    <a:p>
                      <a:pPr>
                        <a:defRPr sz="1200">
                          <a:solidFill>
                            <a:srgbClr val="2A1712"/>
                          </a:solidFill>
                          <a:latin typeface="Yu Gothic"/>
                        </a:defRPr>
                      </a:pPr>
                      <a:r>
                        <a:t>コンテキストウィンドウ</a:t>
                      </a:r>
                    </a:p>
                  </a:txBody>
                  <a:tcPr>
                    <a:solidFill>
                      <a:srgbClr val="FBF3E6"/>
                    </a:solidFill>
                  </a:tcPr>
                </a:tc>
                <a:tc>
                  <a:txBody>
                    <a:bodyPr/>
                    <a:lstStyle/>
                    <a:p>
                      <a:pPr>
                        <a:defRPr sz="1200">
                          <a:solidFill>
                            <a:srgbClr val="2A1712"/>
                          </a:solidFill>
                          <a:latin typeface="Yu Gothic"/>
                        </a:defRPr>
                      </a:pPr>
                      <a:r>
                        <a:t>約104万8,576トークン</a:t>
                      </a:r>
                    </a:p>
                  </a:txBody>
                  <a:tcPr>
                    <a:solidFill>
                      <a:srgbClr val="FBF3E6"/>
                    </a:solidFill>
                  </a:tcPr>
                </a:tc>
              </a:tr>
              <a:tr h="502920">
                <a:tc>
                  <a:txBody>
                    <a:bodyPr/>
                    <a:lstStyle/>
                    <a:p>
                      <a:pPr>
                        <a:defRPr sz="1200">
                          <a:solidFill>
                            <a:srgbClr val="2A1712"/>
                          </a:solidFill>
                          <a:latin typeface="Yu Gothic"/>
                        </a:defRPr>
                      </a:pPr>
                      <a:r>
                        <a:t>最大出力トークン数</a:t>
                      </a:r>
                    </a:p>
                  </a:txBody>
                  <a:tcPr>
                    <a:solidFill>
                      <a:srgbClr val="FFFFFF"/>
                    </a:solidFill>
                  </a:tcPr>
                </a:tc>
                <a:tc>
                  <a:txBody>
                    <a:bodyPr/>
                    <a:lstStyle/>
                    <a:p>
                      <a:pPr>
                        <a:defRPr sz="1200">
                          <a:solidFill>
                            <a:srgbClr val="2A1712"/>
                          </a:solidFill>
                          <a:latin typeface="Yu Gothic"/>
                        </a:defRPr>
                      </a:pPr>
                      <a:r>
                        <a:t>131,072トークン</a:t>
                      </a:r>
                    </a:p>
                  </a:txBody>
                  <a:tcPr>
                    <a:solidFill>
                      <a:srgbClr val="FFFFFF"/>
                    </a:solidFill>
                  </a:tcPr>
                </a:tc>
              </a:tr>
              <a:tr h="502920">
                <a:tc>
                  <a:txBody>
                    <a:bodyPr/>
                    <a:lstStyle/>
                    <a:p>
                      <a:pPr>
                        <a:defRPr sz="1200">
                          <a:solidFill>
                            <a:srgbClr val="2A1712"/>
                          </a:solidFill>
                          <a:latin typeface="Yu Gothic"/>
                        </a:defRPr>
                      </a:pPr>
                      <a:r>
                        <a:t>対応する入力形式</a:t>
                      </a:r>
                    </a:p>
                  </a:txBody>
                  <a:tcPr>
                    <a:solidFill>
                      <a:srgbClr val="FBF3E6"/>
                    </a:solidFill>
                  </a:tcPr>
                </a:tc>
                <a:tc>
                  <a:txBody>
                    <a:bodyPr/>
                    <a:lstStyle/>
                    <a:p>
                      <a:pPr>
                        <a:defRPr sz="1200">
                          <a:solidFill>
                            <a:srgbClr val="2A1712"/>
                          </a:solidFill>
                          <a:latin typeface="Yu Gothic"/>
                        </a:defRPr>
                      </a:pPr>
                      <a:r>
                        <a:t>テキスト・画像・動画</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OpenRouter公式ページ</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Ox Alphaの特徴</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モデルの特徴を確認します。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コーディング・複雑な推論・長時間のエージェント的タスクに強いとされる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大きなコンテキストウィンドウにより、巨大なコードベース全体を一度のプロンプトに読み込ませることができる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利用料金は無償で、2026年8月27日頃に終了する見通しとされている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Bloomberg・TechCrunch(2026-08-23)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コンテキストウィンドウの規模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約105万トークン Ox Alphaのコンテキストウィンドウ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巨大なコードベース全体を一度に読み込ませることが可能</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OpenRouter公式ページ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なぜ『正体探し』が過熱したのか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背景を確認します。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OpenRouter上での表示名は開発元を伏せた『stealth』ラベルのみで、公式情報が一切付随していない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この情報の空白が、コミュニティによる技術的な『フォレンジック(鑑定)』分析を誘発した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無償提供の期間が限られていることも、コミュニティの関心を高めている要因と考えられる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『正体探し』が過熱するまでの流れ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OpenRouterに匿名モデルが登場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2026年8月20日、『stealth』ラベルのみ</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コミュニティが技術的な手がかりを分析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APIエラーコード・スタックトレース等</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主要メディアが現象そのものを報道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2026年8月23日、Bloomberg・TechCrunch</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登場から報道までの流れ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Bloomberg・TechCrunch(2026-08-23)</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匿名モデルの登場</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OpenRouterに『stealth』ラベルで公開</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コミュニティの技術分析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エラーコード等の手がかりを分析</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Zhipu説が有力視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ただし公式確認はまだない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技術的な手がかり(1)</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コミュニティが指摘する技術的根拠を確認します。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意図的に不正な形式のAPIリクエストを送った際に返されるJavaのスタックトレースが、中国のAI企業Zhipu(智譜)の公式APIエンドポイントのパスと一致したとの分析結果が報告されている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動画エンコーダーのトークン消費パターンがZhipuのGLM-5V-Turboと一致するとの指摘がある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トークナイザーの挙動がGLM-5.3と整合するとの指摘もある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techtimes.com・explainx.ai等の技術分析記事の要約(2026-08-23)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技術的な手がかり(2)</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もう一つの根拠を確認します。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特定のエラーコード(1214番、ロール情報不正)の返され方が、Zhipu公式ホスティングのGLMモデルと一致するとの指摘がある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同じGLMの重みを別のホスティング事業者(DeepInfra等)で動かした場合は、異なるエラー形式が返されるとの比較報告もある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これらの技術的根拠はZhipu説を補強する材料として挙げられているが、確定的な証拠ではない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techtimes.com・explainx.ai等の技術分析記事の要約(2026-08-23)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確定していること vs 推測にとどまること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確定していること</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モデルが8月20日にOpenRouterへ登場した事実</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コンテキストウィンドウ等の技術仕様</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コミュニティによる分析が行われている事実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推測にとどまること</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開発元がZhipuであるという説</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モデル名(GLM-5.3の新版か等)</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8月27日頃に正体が明かされるかどうか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ベンチマーク性能に関する情報</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性能評価を確認します(留保つき)。</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コミュニティによる計測では、Kingbenchで87.5%を記録したとされる(GLM-5.3の91.25%をやや下回る水準)</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DeepSWEベンチマークでは、10タスクのサブセットで80%という見出しスコアが出た一方、113タスク全体では約63%との報告もある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これらはいずれも公式の評価機関によるスコアではなく、コミュニティによる非公式な計測である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Day.dev等のコミュニティ計測記事の要約(2026-08-23)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ベンチマーク数値のまとめ(留保つき)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ベンチマーク</a:t>
                      </a:r>
                    </a:p>
                  </a:txBody>
                  <a:tcPr>
                    <a:solidFill>
                      <a:srgbClr val="7A1F2B"/>
                    </a:solidFill>
                  </a:tcPr>
                </a:tc>
                <a:tc>
                  <a:txBody>
                    <a:bodyPr/>
                    <a:lstStyle/>
                    <a:p>
                      <a:pPr>
                        <a:defRPr sz="1300" b="1">
                          <a:solidFill>
                            <a:srgbClr val="FFFFFF"/>
                          </a:solidFill>
                          <a:latin typeface="Yu Gothic"/>
                        </a:defRPr>
                      </a:pPr>
                      <a:r>
                        <a:t>スコア</a:t>
                      </a:r>
                    </a:p>
                  </a:txBody>
                  <a:tcPr>
                    <a:solidFill>
                      <a:srgbClr val="7A1F2B"/>
                    </a:solidFill>
                  </a:tcPr>
                </a:tc>
                <a:tc>
                  <a:txBody>
                    <a:bodyPr/>
                    <a:lstStyle/>
                    <a:p>
                      <a:pPr>
                        <a:defRPr sz="1300" b="1">
                          <a:solidFill>
                            <a:srgbClr val="FFFFFF"/>
                          </a:solidFill>
                          <a:latin typeface="Yu Gothic"/>
                        </a:defRPr>
                      </a:pPr>
                      <a:r>
                        <a:t>留保事項</a:t>
                      </a:r>
                    </a:p>
                  </a:txBody>
                  <a:tcPr>
                    <a:solidFill>
                      <a:srgbClr val="7A1F2B"/>
                    </a:solidFill>
                  </a:tcPr>
                </a:tc>
              </a:tr>
              <a:tr h="502920">
                <a:tc>
                  <a:txBody>
                    <a:bodyPr/>
                    <a:lstStyle/>
                    <a:p>
                      <a:pPr>
                        <a:defRPr sz="1200">
                          <a:solidFill>
                            <a:srgbClr val="2A1712"/>
                          </a:solidFill>
                          <a:latin typeface="Yu Gothic"/>
                        </a:defRPr>
                      </a:pPr>
                      <a:r>
                        <a:t>Kingbench</a:t>
                      </a:r>
                    </a:p>
                  </a:txBody>
                  <a:tcPr>
                    <a:solidFill>
                      <a:srgbClr val="FFFFFF"/>
                    </a:solidFill>
                  </a:tcPr>
                </a:tc>
                <a:tc>
                  <a:txBody>
                    <a:bodyPr/>
                    <a:lstStyle/>
                    <a:p>
                      <a:pPr>
                        <a:defRPr sz="1200">
                          <a:solidFill>
                            <a:srgbClr val="2A1712"/>
                          </a:solidFill>
                          <a:latin typeface="Yu Gothic"/>
                        </a:defRPr>
                      </a:pPr>
                      <a:r>
                        <a:t>87.5%(コミュニティ計測)</a:t>
                      </a:r>
                    </a:p>
                  </a:txBody>
                  <a:tcPr>
                    <a:solidFill>
                      <a:srgbClr val="FFFFFF"/>
                    </a:solidFill>
                  </a:tcPr>
                </a:tc>
                <a:tc>
                  <a:txBody>
                    <a:bodyPr/>
                    <a:lstStyle/>
                    <a:p>
                      <a:pPr>
                        <a:defRPr sz="1200">
                          <a:solidFill>
                            <a:srgbClr val="2A1712"/>
                          </a:solidFill>
                          <a:latin typeface="Yu Gothic"/>
                        </a:defRPr>
                      </a:pPr>
                      <a:r>
                        <a:t>GLM-5.3の91.25%をやや下回る</a:t>
                      </a:r>
                    </a:p>
                  </a:txBody>
                  <a:tcPr>
                    <a:solidFill>
                      <a:srgbClr val="FFFFFF"/>
                    </a:solidFill>
                  </a:tcPr>
                </a:tc>
              </a:tr>
              <a:tr h="502920">
                <a:tc>
                  <a:txBody>
                    <a:bodyPr/>
                    <a:lstStyle/>
                    <a:p>
                      <a:pPr>
                        <a:defRPr sz="1200">
                          <a:solidFill>
                            <a:srgbClr val="2A1712"/>
                          </a:solidFill>
                          <a:latin typeface="Yu Gothic"/>
                        </a:defRPr>
                      </a:pPr>
                      <a:r>
                        <a:t>DeepSWE(10タスクサブセット)</a:t>
                      </a:r>
                    </a:p>
                  </a:txBody>
                  <a:tcPr>
                    <a:solidFill>
                      <a:srgbClr val="FBF3E6"/>
                    </a:solidFill>
                  </a:tcPr>
                </a:tc>
                <a:tc>
                  <a:txBody>
                    <a:bodyPr/>
                    <a:lstStyle/>
                    <a:p>
                      <a:pPr>
                        <a:defRPr sz="1200">
                          <a:solidFill>
                            <a:srgbClr val="2A1712"/>
                          </a:solidFill>
                          <a:latin typeface="Yu Gothic"/>
                        </a:defRPr>
                      </a:pPr>
                      <a:r>
                        <a:t>80%</a:t>
                      </a:r>
                    </a:p>
                  </a:txBody>
                  <a:tcPr>
                    <a:solidFill>
                      <a:srgbClr val="FBF3E6"/>
                    </a:solidFill>
                  </a:tcPr>
                </a:tc>
                <a:tc>
                  <a:txBody>
                    <a:bodyPr/>
                    <a:lstStyle/>
                    <a:p>
                      <a:pPr>
                        <a:defRPr sz="1200">
                          <a:solidFill>
                            <a:srgbClr val="2A1712"/>
                          </a:solidFill>
                          <a:latin typeface="Yu Gothic"/>
                        </a:defRPr>
                      </a:pPr>
                      <a:r>
                        <a:t>見出しスコアとして報じられる</a:t>
                      </a:r>
                    </a:p>
                  </a:txBody>
                  <a:tcPr>
                    <a:solidFill>
                      <a:srgbClr val="FBF3E6"/>
                    </a:solidFill>
                  </a:tcPr>
                </a:tc>
              </a:tr>
              <a:tr h="502920">
                <a:tc>
                  <a:txBody>
                    <a:bodyPr/>
                    <a:lstStyle/>
                    <a:p>
                      <a:pPr>
                        <a:defRPr sz="1200">
                          <a:solidFill>
                            <a:srgbClr val="2A1712"/>
                          </a:solidFill>
                          <a:latin typeface="Yu Gothic"/>
                        </a:defRPr>
                      </a:pPr>
                      <a:r>
                        <a:t>DeepSWE(113タスク全体)</a:t>
                      </a:r>
                    </a:p>
                  </a:txBody>
                  <a:tcPr>
                    <a:solidFill>
                      <a:srgbClr val="FFFFFF"/>
                    </a:solidFill>
                  </a:tcPr>
                </a:tc>
                <a:tc>
                  <a:txBody>
                    <a:bodyPr/>
                    <a:lstStyle/>
                    <a:p>
                      <a:pPr>
                        <a:defRPr sz="1200">
                          <a:solidFill>
                            <a:srgbClr val="2A1712"/>
                          </a:solidFill>
                          <a:latin typeface="Yu Gothic"/>
                        </a:defRPr>
                      </a:pPr>
                      <a:r>
                        <a:t>約63%</a:t>
                      </a:r>
                    </a:p>
                  </a:txBody>
                  <a:tcPr>
                    <a:solidFill>
                      <a:srgbClr val="FFFFFF"/>
                    </a:solidFill>
                  </a:tcPr>
                </a:tc>
                <a:tc>
                  <a:txBody>
                    <a:bodyPr/>
                    <a:lstStyle/>
                    <a:p>
                      <a:pPr>
                        <a:defRPr sz="1200">
                          <a:solidFill>
                            <a:srgbClr val="2A1712"/>
                          </a:solidFill>
                          <a:latin typeface="Yu Gothic"/>
                        </a:defRPr>
                      </a:pPr>
                      <a:r>
                        <a:t>別の計測による全体スコア</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Day.dev等のコミュニティ計測記事の要約(2026-08-23)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無償提供の期間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2026年8月27日頃 無償提供が終了する見通しの時期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報道時点での見通しであり確定情報ではない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Bloomberg・TechCrunch(2026-08-23)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『ステルスモデル』という手法</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業界の文脈を確認します。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開発元を明かさずにモデルを公開する『ステルスモデル』という手法自体が、近年のAI業界で見られる現象である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新モデルの実力を市場に静かに問う目的で用いられることがあるとされる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今回の事例は、コミュニティによる技術的な『鑑定』文化がAI業界特有の情報収集手法として存在することを示す事例としても注目される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情報公開型モデル vs ステルスモデル</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情報公開型モデル(一般論)</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開発元・モデル名を公式発表</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ベンチマークスコアも公式に公開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ステルスモデル(今回のOx Alpha)</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開発元を伏せて公開</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評価はコミュニティの技術分析に委ねられる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AI・ビジネス業界における位置づけ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業界内での注目点です。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AIモデル開発競争の激化を背景に、市場の反応を静かに探る手法として『ステルスモデル』が注目されている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開発者コミュニティによる自発的な技術分析が、公式発表を待たずに情報を補完する役割を果たしている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この現象自体が、AIモデルの性能競争がいかに注目を集めているかを示す一例と言える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登場からメディア報道までの日数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約3日間 OpenRouter登場から主要メディア報道までの期間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8月20日登場、8月23日に大きく報道される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視聴者にとっての意味—AI・エージェント技術動向を追う立場として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最新のAIモデル動向を、企業の公式発表だけでなくコミュニティの分析からも把握する視点が役立つ</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コンテキストウィンドウの大きさやベンチマークスコアなど、モデル評価の観点を具体的に学べる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情報源が公式発表か推測かを区別する姿勢が、AI業界の情報を追う上で重要である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開発元がZhipu(智譜)であるという説は、本調査時点でZhipu自身またはOpenRouterによる公式確認は一切得られていない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技術的な『フィンガープリント』分析はあくまで個々の研究者・コミュニティによる推測である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ベンチマークスコアは公式な評価機関のスコアカードとしては確認できていない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モデルの正式名称、パラメータ数、学習データの詳細等は一切公開されていない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確認できている事実</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モデルの技術仕様(コンテキストウィンドウ等)</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登場日・無償提供の見通し期間</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コミュニティによる技術分析の内容</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今後の不確定要素</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開発元の公式確認の有無</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無償提供終了時の対応</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モデルの正式名称・詳細仕様</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主な情報源</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報道内容</a:t>
                      </a:r>
                    </a:p>
                  </a:txBody>
                  <a:tcPr>
                    <a:solidFill>
                      <a:srgbClr val="7A1F2B"/>
                    </a:solidFill>
                  </a:tcPr>
                </a:tc>
              </a:tr>
              <a:tr h="502920">
                <a:tc>
                  <a:txBody>
                    <a:bodyPr/>
                    <a:lstStyle/>
                    <a:p>
                      <a:pPr>
                        <a:defRPr sz="1200">
                          <a:solidFill>
                            <a:srgbClr val="2A1712"/>
                          </a:solidFill>
                          <a:latin typeface="Yu Gothic"/>
                        </a:defRPr>
                      </a:pPr>
                      <a:r>
                        <a:t>Bloomberg(2026-08-23)</a:t>
                      </a:r>
                    </a:p>
                  </a:txBody>
                  <a:tcPr>
                    <a:solidFill>
                      <a:srgbClr val="FFFFFF"/>
                    </a:solidFill>
                  </a:tcPr>
                </a:tc>
                <a:tc>
                  <a:txBody>
                    <a:bodyPr/>
                    <a:lstStyle/>
                    <a:p>
                      <a:pPr>
                        <a:defRPr sz="1200">
                          <a:solidFill>
                            <a:srgbClr val="2A1712"/>
                          </a:solidFill>
                          <a:latin typeface="Yu Gothic"/>
                        </a:defRPr>
                      </a:pPr>
                      <a:r>
                        <a:t>現象の概要・開発者の反応</a:t>
                      </a:r>
                    </a:p>
                  </a:txBody>
                  <a:tcPr>
                    <a:solidFill>
                      <a:srgbClr val="FFFFFF"/>
                    </a:solidFill>
                  </a:tcPr>
                </a:tc>
              </a:tr>
              <a:tr h="502920">
                <a:tc>
                  <a:txBody>
                    <a:bodyPr/>
                    <a:lstStyle/>
                    <a:p>
                      <a:pPr>
                        <a:defRPr sz="1200">
                          <a:solidFill>
                            <a:srgbClr val="2A1712"/>
                          </a:solidFill>
                          <a:latin typeface="Yu Gothic"/>
                        </a:defRPr>
                      </a:pPr>
                      <a:r>
                        <a:t>TechCrunch(2026-08-23)</a:t>
                      </a:r>
                    </a:p>
                  </a:txBody>
                  <a:tcPr>
                    <a:solidFill>
                      <a:srgbClr val="FBF3E6"/>
                    </a:solidFill>
                  </a:tcPr>
                </a:tc>
                <a:tc>
                  <a:txBody>
                    <a:bodyPr/>
                    <a:lstStyle/>
                    <a:p>
                      <a:pPr>
                        <a:defRPr sz="1200">
                          <a:solidFill>
                            <a:srgbClr val="2A1712"/>
                          </a:solidFill>
                          <a:latin typeface="Yu Gothic"/>
                        </a:defRPr>
                      </a:pPr>
                      <a:r>
                        <a:t>正体探しの経緯</a:t>
                      </a:r>
                    </a:p>
                  </a:txBody>
                  <a:tcPr>
                    <a:solidFill>
                      <a:srgbClr val="FBF3E6"/>
                    </a:solidFill>
                  </a:tcPr>
                </a:tc>
              </a:tr>
              <a:tr h="502920">
                <a:tc>
                  <a:txBody>
                    <a:bodyPr/>
                    <a:lstStyle/>
                    <a:p>
                      <a:pPr>
                        <a:defRPr sz="1200">
                          <a:solidFill>
                            <a:srgbClr val="2A1712"/>
                          </a:solidFill>
                          <a:latin typeface="Yu Gothic"/>
                        </a:defRPr>
                      </a:pPr>
                      <a:r>
                        <a:t>techtimes.com・explainx.ai(2026-08-23)</a:t>
                      </a:r>
                    </a:p>
                  </a:txBody>
                  <a:tcPr>
                    <a:solidFill>
                      <a:srgbClr val="FFFFFF"/>
                    </a:solidFill>
                  </a:tcPr>
                </a:tc>
                <a:tc>
                  <a:txBody>
                    <a:bodyPr/>
                    <a:lstStyle/>
                    <a:p>
                      <a:pPr>
                        <a:defRPr sz="1200">
                          <a:solidFill>
                            <a:srgbClr val="2A1712"/>
                          </a:solidFill>
                          <a:latin typeface="Yu Gothic"/>
                        </a:defRPr>
                      </a:pPr>
                      <a:r>
                        <a:t>技術的な手がかりの詳細分析</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AI・エージェント技術動向を追う立場として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最新モデルの動向を公式発表とコミュニティ分析の両面から把握する視点が役立つ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開発者・エンジニアの立場として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無償で利用できる大規模コンテキストウィンドウモデルの実力を試す機会として参考になる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『確定した事実』と『コミュニティの推測』を明確に区別する視点が役立つ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確度についての表現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99%確信 ある研究者が示したZhipu説への確信度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あくまで個人の技術分析による見解であり公式確認ではない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本調査による整理(techtimes.com等の報道)</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最大出力トークン数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131,072トークン Ox Alphaの最大出力トークン数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コンテキストウィンドウ(約105万トークン)とは別の指標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OpenRouter公式ページ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技術的手がかりのまとめ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手がかり</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APIエラー時のスタックトレース</a:t>
                      </a:r>
                    </a:p>
                  </a:txBody>
                  <a:tcPr>
                    <a:solidFill>
                      <a:srgbClr val="FFFFFF"/>
                    </a:solidFill>
                  </a:tcPr>
                </a:tc>
                <a:tc>
                  <a:txBody>
                    <a:bodyPr/>
                    <a:lstStyle/>
                    <a:p>
                      <a:pPr>
                        <a:defRPr sz="1200">
                          <a:solidFill>
                            <a:srgbClr val="2A1712"/>
                          </a:solidFill>
                          <a:latin typeface="Yu Gothic"/>
                        </a:defRPr>
                      </a:pPr>
                      <a:r>
                        <a:t>Zhipu公式APIのパス(paas/v4/chat)と一致</a:t>
                      </a:r>
                    </a:p>
                  </a:txBody>
                  <a:tcPr>
                    <a:solidFill>
                      <a:srgbClr val="FFFFFF"/>
                    </a:solidFill>
                  </a:tcPr>
                </a:tc>
              </a:tr>
              <a:tr h="502920">
                <a:tc>
                  <a:txBody>
                    <a:bodyPr/>
                    <a:lstStyle/>
                    <a:p>
                      <a:pPr>
                        <a:defRPr sz="1200">
                          <a:solidFill>
                            <a:srgbClr val="2A1712"/>
                          </a:solidFill>
                          <a:latin typeface="Yu Gothic"/>
                        </a:defRPr>
                      </a:pPr>
                      <a:r>
                        <a:t>動画エンコーダーの挙動</a:t>
                      </a:r>
                    </a:p>
                  </a:txBody>
                  <a:tcPr>
                    <a:solidFill>
                      <a:srgbClr val="FBF3E6"/>
                    </a:solidFill>
                  </a:tcPr>
                </a:tc>
                <a:tc>
                  <a:txBody>
                    <a:bodyPr/>
                    <a:lstStyle/>
                    <a:p>
                      <a:pPr>
                        <a:defRPr sz="1200">
                          <a:solidFill>
                            <a:srgbClr val="2A1712"/>
                          </a:solidFill>
                          <a:latin typeface="Yu Gothic"/>
                        </a:defRPr>
                      </a:pPr>
                      <a:r>
                        <a:t>GLM-5V-Turboと消費パターンが一致</a:t>
                      </a:r>
                    </a:p>
                  </a:txBody>
                  <a:tcPr>
                    <a:solidFill>
                      <a:srgbClr val="FBF3E6"/>
                    </a:solidFill>
                  </a:tcPr>
                </a:tc>
              </a:tr>
              <a:tr h="502920">
                <a:tc>
                  <a:txBody>
                    <a:bodyPr/>
                    <a:lstStyle/>
                    <a:p>
                      <a:pPr>
                        <a:defRPr sz="1200">
                          <a:solidFill>
                            <a:srgbClr val="2A1712"/>
                          </a:solidFill>
                          <a:latin typeface="Yu Gothic"/>
                        </a:defRPr>
                      </a:pPr>
                      <a:r>
                        <a:t>エラーコードの返り方</a:t>
                      </a:r>
                    </a:p>
                  </a:txBody>
                  <a:tcPr>
                    <a:solidFill>
                      <a:srgbClr val="FFFFFF"/>
                    </a:solidFill>
                  </a:tcPr>
                </a:tc>
                <a:tc>
                  <a:txBody>
                    <a:bodyPr/>
                    <a:lstStyle/>
                    <a:p>
                      <a:pPr>
                        <a:defRPr sz="1200">
                          <a:solidFill>
                            <a:srgbClr val="2A1712"/>
                          </a:solidFill>
                          <a:latin typeface="Yu Gothic"/>
                        </a:defRPr>
                      </a:pPr>
                      <a:r>
                        <a:t>Zhipu公式ホスティングのGLMと一致(1214番)</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techtimes.com・explainx.ai等の技術分析記事の要約(2026-08-23)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本編のまとめです。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2026年8月20日、開発元不明のAIモデル『Ox Alpha』がOpenRouterに登場し、コミュニティによる『正体探し』が過熱した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技術的な手がかりからZhipu(智譜)が開発元ではないかという説が有力視されているが、公式確認はまだない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ベンチマークスコアはコミュニティによる非公式な計測にとどまる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無償提供は8月27日頃に終了する見通しで、その際に正体が明かされるかは不明である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Bloomberg・TechCrunch(2026-08-23)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正体不明のAIモデルが開発者を熱狂させた理由。</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2026年8月、開発元不明のAIモデル『Ox Alpha』がコミュニティを熱狂させています。確定した事実と推測を区別しながら、出典付きで整理してお届けしました。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