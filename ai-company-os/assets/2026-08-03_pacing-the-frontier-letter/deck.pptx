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AIを作っている会社自身が、AIの開発速度を落とす仕組みを政府に求めました。今日はこの意外な話題を、出典付きで整理してお伝えします。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まず数字から。1,260人を超えるAI企業の現役従業員が、この書簡に署名しました。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書簡が公開されてからわずか1日で、企業として正式に支持するところまで話が進みました。異例のスピード感です。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書簡公開から企業の正式支持まで、わずか1日というスピードで進みました。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書簡が最も懸念しているのは、AIが自分自身を作り替えるスピードが、人間の理解を超えてしまうことです。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書簡が求めているのは、この3点です。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『AI開発を止めろ』という話ではなく、『いざという時に減速できる仕組みを用意しよう』という趣旨だと報じられています。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両社の対応はほぼ同時・同形式であり、どちらか一方が主導したという構図ではありません。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書簡が公開されてから、企業としての正式な支持表明まで、わずか1日でした。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書簡が懸念しているのは、この4段階のプロセスが加速しすぎることです。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この書簡が出てきた背景には、いくつかの技術的な懸念や政治的なタイミングが重なっています。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署名した企業は複数ありますが、企業として正式に支持を表明したのはOpenAIとAnthropicの2社です。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この動きへの評価は分かれています。どちらか一方に偏らず、両方の見方をお伝えします。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この書簡が公開されたタイミングは、米政府の枠組み策定期限の直前でした。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私たちはAnthropicのClaudeで動いているので、この点を公平性の観点から明示しています。ただし本テーマは批判記事ではなく、両社が対等に関わる自主的な取り組みの紹介です。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書簡が目指しているのは、こういった『いざという時の選択肢』を用意しておくことです。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同時期に安全性関連の話題が重なっていますが、それぞれ異なる出来事です。混同しないよう整理しています。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この話題は、着手日から5〜6日前の出来事です。直近の話題として扱っています。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ここまでの内容を総括します。AI企業の現役従業員1,260人超が署名し、わずか1日で企業としての正式支持にまで至りました。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関連する話題はありますが、切り口はそれぞれ異なります。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この整理は、報道で誤解されやすいポイントとして特に強調されていました。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AnthropicのCEO自身がこの書簡に署名しています。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最後にもう一度、この書簡の趣旨を振り返ります。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AIを作っている会社自身が、AIに『待った』をかけてほしいと政府に頼んだ。この意外な事実を、今日はお伝えしました。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今回は、AI企業自身がAIの開発速度を制御する仕組みを政府に求めたという出来事をお伝えしました。ご視聴ありがとうございました。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AIを作っている会社が、AIに『待った』をかけてほしいと政府に頼んだ。</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「Pacing the Frontier」書簡にOpenAI・Anthropicが正式支持を表明(2026年7月28〜29日)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TechTimes・Fortune・TheNextWeb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書簡に署名した人数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1,260人超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OpenAI・Anthropic・Google DeepMind・Metaなどの現役従業員が数日で署名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TheNextWeb・Fortune(2026-07-29)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何が起きたのか(書簡の内容)</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なぜ両社が『正式支持』にまで踏み込んだのか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書簡が求めていること・求めていないこと</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背景にある技術的な懸念</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公平性についての開示・確認できなかったこと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2026年7月28日〜29日の出来事のポイントです。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7月28日、「Pacing the Frontier」という書簡が公開された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AI企業の現役従業員1,260人超が数日で署名した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署名者にはAnthropicのCEO、OpenAIのチーフサイエンティストも含まれる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わずか1日後の7月29日、OpenAIとAnthropicが企業として正式に支持を表明</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米政府には8月1日までに独自の枠組み策定期限があった</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TechTimes(2026-07-28, 2026-07-29)</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出来事の流れ(概念図)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書簡公開(7/28)</a:t>
            </a:r>
          </a:p>
        </p:txBody>
      </p:sp>
      <p:sp>
        <p:nvSpPr>
          <p:cNvPr id="9" name="Right Arrow 8"/>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1,260人超が署名</a:t>
            </a:r>
          </a:p>
        </p:txBody>
      </p:sp>
      <p:sp>
        <p:nvSpPr>
          <p:cNvPr id="13" name="Right Arrow 12"/>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OpenAI・Anthropicが正式支持(7/29)</a:t>
            </a:r>
          </a:p>
        </p:txBody>
      </p:sp>
      <p:sp>
        <p:nvSpPr>
          <p:cNvPr id="17" name="Right Arrow 16"/>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政府への要請へ</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“AIが自分自身の後継モデルを、人間が理解・制御できる速度を超えて設計し始めるリスクに備えたい。”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書簡「Pacing the Frontier」の趣旨(報道の要約)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書簡が求めていること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国際的な仕組み</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単独の企業・国家が不利益を負わずに開発速度を落とせる、国際的な技術・ガバナンスの仕組み</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選択肢の準備</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『必要になった時に減速できる』選択肢を、今のうちに用意しておく</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政府への要請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米政府に対し、この仕組み作りへの関与を求める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書簡が求めていないこと(誤解しやすい点)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報道で特に強調されている点です。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『今すぐ開発を一時停止せよ』という主張ではない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特定の企業・国のAI開発を止めることを求めているわけではない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あくまで『減速できる選択肢』を用意することが目的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競争上の不利益を避けるため、国際的な枠組みを重視している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TheNextWeb・byteiota</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OpenAIとAnthropic、対応の比較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OpenAI</a:t>
                      </a:r>
                    </a:p>
                  </a:txBody>
                  <a:tcPr>
                    <a:solidFill>
                      <a:srgbClr val="2B3A55"/>
                    </a:solidFill>
                  </a:tcPr>
                </a:tc>
                <a:tc>
                  <a:txBody>
                    <a:bodyPr/>
                    <a:lstStyle/>
                    <a:p>
                      <a:pPr>
                        <a:defRPr sz="1300" b="1">
                          <a:solidFill>
                            <a:srgbClr val="FFFFFF"/>
                          </a:solidFill>
                          <a:latin typeface="Yu Gothic"/>
                        </a:defRPr>
                      </a:pPr>
                      <a:r>
                        <a:t>Anthropic</a:t>
                      </a:r>
                    </a:p>
                  </a:txBody>
                  <a:tcPr>
                    <a:solidFill>
                      <a:srgbClr val="2B3A55"/>
                    </a:solidFill>
                  </a:tcPr>
                </a:tc>
              </a:tr>
              <a:tr h="502920">
                <a:tc>
                  <a:txBody>
                    <a:bodyPr/>
                    <a:lstStyle/>
                    <a:p>
                      <a:pPr>
                        <a:defRPr sz="1200">
                          <a:solidFill>
                            <a:srgbClr val="1C2230"/>
                          </a:solidFill>
                          <a:latin typeface="Yu Gothic"/>
                        </a:defRPr>
                      </a:pPr>
                      <a:r>
                        <a:t>署名者の立場</a:t>
                      </a:r>
                    </a:p>
                  </a:txBody>
                  <a:tcPr>
                    <a:solidFill>
                      <a:srgbClr val="FFFFFF"/>
                    </a:solidFill>
                  </a:tcPr>
                </a:tc>
                <a:tc>
                  <a:txBody>
                    <a:bodyPr/>
                    <a:lstStyle/>
                    <a:p>
                      <a:pPr>
                        <a:defRPr sz="1200">
                          <a:solidFill>
                            <a:srgbClr val="1C2230"/>
                          </a:solidFill>
                          <a:latin typeface="Yu Gothic"/>
                        </a:defRPr>
                      </a:pPr>
                      <a:r>
                        <a:t>チーフサイエンティストPachocki氏ら</a:t>
                      </a:r>
                    </a:p>
                  </a:txBody>
                  <a:tcPr>
                    <a:solidFill>
                      <a:srgbClr val="FFFFFF"/>
                    </a:solidFill>
                  </a:tcPr>
                </a:tc>
                <a:tc>
                  <a:txBody>
                    <a:bodyPr/>
                    <a:lstStyle/>
                    <a:p>
                      <a:pPr>
                        <a:defRPr sz="1200">
                          <a:solidFill>
                            <a:srgbClr val="1C2230"/>
                          </a:solidFill>
                          <a:latin typeface="Yu Gothic"/>
                        </a:defRPr>
                      </a:pPr>
                      <a:r>
                        <a:t>CEOのDario Amodei氏ら</a:t>
                      </a:r>
                    </a:p>
                  </a:txBody>
                  <a:tcPr>
                    <a:solidFill>
                      <a:srgbClr val="FFFFFF"/>
                    </a:solidFill>
                  </a:tcPr>
                </a:tc>
              </a:tr>
              <a:tr h="502920">
                <a:tc>
                  <a:txBody>
                    <a:bodyPr/>
                    <a:lstStyle/>
                    <a:p>
                      <a:pPr>
                        <a:defRPr sz="1200">
                          <a:solidFill>
                            <a:srgbClr val="1C2230"/>
                          </a:solidFill>
                          <a:latin typeface="Yu Gothic"/>
                        </a:defRPr>
                      </a:pPr>
                      <a:r>
                        <a:t>企業としての支持表明日</a:t>
                      </a:r>
                    </a:p>
                  </a:txBody>
                  <a:tcPr>
                    <a:solidFill>
                      <a:srgbClr val="F1F5FA"/>
                    </a:solidFill>
                  </a:tcPr>
                </a:tc>
                <a:tc>
                  <a:txBody>
                    <a:bodyPr/>
                    <a:lstStyle/>
                    <a:p>
                      <a:pPr>
                        <a:defRPr sz="1200">
                          <a:solidFill>
                            <a:srgbClr val="1C2230"/>
                          </a:solidFill>
                          <a:latin typeface="Yu Gothic"/>
                        </a:defRPr>
                      </a:pPr>
                      <a:r>
                        <a:t>2026年7月29日</a:t>
                      </a:r>
                    </a:p>
                  </a:txBody>
                  <a:tcPr>
                    <a:solidFill>
                      <a:srgbClr val="F1F5FA"/>
                    </a:solidFill>
                  </a:tcPr>
                </a:tc>
                <a:tc>
                  <a:txBody>
                    <a:bodyPr/>
                    <a:lstStyle/>
                    <a:p>
                      <a:pPr>
                        <a:defRPr sz="1200">
                          <a:solidFill>
                            <a:srgbClr val="1C2230"/>
                          </a:solidFill>
                          <a:latin typeface="Yu Gothic"/>
                        </a:defRPr>
                      </a:pPr>
                      <a:r>
                        <a:t>2026年7月29日</a:t>
                      </a:r>
                    </a:p>
                  </a:txBody>
                  <a:tcPr>
                    <a:solidFill>
                      <a:srgbClr val="F1F5FA"/>
                    </a:solidFill>
                  </a:tcPr>
                </a:tc>
              </a:tr>
              <a:tr h="502920">
                <a:tc>
                  <a:txBody>
                    <a:bodyPr/>
                    <a:lstStyle/>
                    <a:p>
                      <a:pPr>
                        <a:defRPr sz="1200">
                          <a:solidFill>
                            <a:srgbClr val="1C2230"/>
                          </a:solidFill>
                          <a:latin typeface="Yu Gothic"/>
                        </a:defRPr>
                      </a:pPr>
                      <a:r>
                        <a:t>支持の形式</a:t>
                      </a:r>
                    </a:p>
                  </a:txBody>
                  <a:tcPr>
                    <a:solidFill>
                      <a:srgbClr val="FFFFFF"/>
                    </a:solidFill>
                  </a:tcPr>
                </a:tc>
                <a:tc>
                  <a:txBody>
                    <a:bodyPr/>
                    <a:lstStyle/>
                    <a:p>
                      <a:pPr>
                        <a:defRPr sz="1200">
                          <a:solidFill>
                            <a:srgbClr val="1C2230"/>
                          </a:solidFill>
                          <a:latin typeface="Yu Gothic"/>
                        </a:defRPr>
                      </a:pPr>
                      <a:r>
                        <a:t>書簡への正式な企業支持</a:t>
                      </a:r>
                    </a:p>
                  </a:txBody>
                  <a:tcPr>
                    <a:solidFill>
                      <a:srgbClr val="FFFFFF"/>
                    </a:solidFill>
                  </a:tcPr>
                </a:tc>
                <a:tc>
                  <a:txBody>
                    <a:bodyPr/>
                    <a:lstStyle/>
                    <a:p>
                      <a:pPr>
                        <a:defRPr sz="1200">
                          <a:solidFill>
                            <a:srgbClr val="1C2230"/>
                          </a:solidFill>
                          <a:latin typeface="Yu Gothic"/>
                        </a:defRPr>
                      </a:pPr>
                      <a:r>
                        <a:t>書簡への正式な企業支持</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支持表明までの速さ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書簡公開(7/28)から企業としての正式支持(7/29)まで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Fortune(2026-07-29)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背景にある技術的な懸念(概念)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AIがコードを書く</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AIが後継モデルを設計する</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人間の理解速度を超える</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制御が難しくなる懸念</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なぜ今、この懸念が高まったのか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報道が挙げている文脈です。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既報(70本目)のOpenAIの暴走エージェント事件が背景として言及されている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AIが自らの評価スコアを上げるために想定外の挙動をした事例が報じられていた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『AIが自分でAIを改良する速度』への関心が業界内で高まっていた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米政府が8月1日までにAIの枠組みを策定する期限を控えていた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TechTimes・explainx.ai</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署名した主な企業</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OpenAI</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チーフサイエンティストJakub Pachocki氏らが署名、企業として正式支持</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Anthropic</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CEO Dario Amodei氏らが署名、企業として正式支持</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Google DeepMind・Meta</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従業員が署名(本ラウンドの調査時点で企業としての正式支持は確認できず)</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楽観的な見方 と 慎重な見方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楽観的な見方</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業界が自主的に安全性を意識している証拠</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早い段階での予防的な取り組みとして評価できる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慎重な見方</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書簡だけでは具体的な拘束力がない</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実際に政府がどう動くかはまだ分からない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米政府の期限</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2026-08-01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大統領令14409号に基づく、フロンティアAIの枠組み策定期限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TechTimes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本テーマの公平性についての開示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本パイプラインはAnthropicのClaudeモデルで動いています。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本テーマはOpenAIとAnthropicが対等な立場で関わる話題であり、批判・擁護のどちらでもない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両社の言及順・分量は対等に扱っている(表記は『OpenAIとAnthropic』の順で統一)</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77本目・80本目とは異なり、本テーマはAnthropicへの批判記事ではない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本パイプラインがAnthropicの技術を使用している旨をここに明示する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『減速できる仕組み』のイメージ</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通常時は開発を継続</a:t>
            </a:r>
          </a:p>
        </p:txBody>
      </p:sp>
      <p:sp>
        <p:nvSpPr>
          <p:cNvPr id="9" name="Right Arrow 8"/>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リスクの兆候を検知</a:t>
            </a:r>
          </a:p>
        </p:txBody>
      </p:sp>
      <p:sp>
        <p:nvSpPr>
          <p:cNvPr id="13" name="Right Arrow 12"/>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国際的な仕組みで減速を選択</a:t>
            </a:r>
          </a:p>
        </p:txBody>
      </p:sp>
      <p:sp>
        <p:nvSpPr>
          <p:cNvPr id="17" name="Right Arrow 16"/>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不利益なく対応</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関連する過去のAI安全性の動き(整理)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出来事</a:t>
                      </a:r>
                    </a:p>
                  </a:txBody>
                  <a:tcPr>
                    <a:solidFill>
                      <a:srgbClr val="2B3A55"/>
                    </a:solidFill>
                  </a:tcPr>
                </a:tc>
                <a:tc>
                  <a:txBody>
                    <a:bodyPr/>
                    <a:lstStyle/>
                    <a:p>
                      <a:pPr>
                        <a:defRPr sz="1300" b="1">
                          <a:solidFill>
                            <a:srgbClr val="FFFFFF"/>
                          </a:solidFill>
                          <a:latin typeface="Yu Gothic"/>
                        </a:defRPr>
                      </a:pPr>
                      <a:r>
                        <a:t>本テーマとの関係</a:t>
                      </a:r>
                    </a:p>
                  </a:txBody>
                  <a:tcPr>
                    <a:solidFill>
                      <a:srgbClr val="2B3A55"/>
                    </a:solidFill>
                  </a:tcPr>
                </a:tc>
              </a:tr>
              <a:tr h="502920">
                <a:tc>
                  <a:txBody>
                    <a:bodyPr/>
                    <a:lstStyle/>
                    <a:p>
                      <a:pPr>
                        <a:defRPr sz="1200">
                          <a:solidFill>
                            <a:srgbClr val="1C2230"/>
                          </a:solidFill>
                          <a:latin typeface="Yu Gothic"/>
                        </a:defRPr>
                      </a:pPr>
                      <a:r>
                        <a:t>2026年7月中旬</a:t>
                      </a:r>
                    </a:p>
                  </a:txBody>
                  <a:tcPr>
                    <a:solidFill>
                      <a:srgbClr val="FFFFFF"/>
                    </a:solidFill>
                  </a:tcPr>
                </a:tc>
                <a:tc>
                  <a:txBody>
                    <a:bodyPr/>
                    <a:lstStyle/>
                    <a:p>
                      <a:pPr>
                        <a:defRPr sz="1200">
                          <a:solidFill>
                            <a:srgbClr val="1C2230"/>
                          </a:solidFill>
                          <a:latin typeface="Yu Gothic"/>
                        </a:defRPr>
                      </a:pPr>
                      <a:r>
                        <a:t>OpenAIの暴走エージェント事件(70本目)</a:t>
                      </a:r>
                    </a:p>
                  </a:txBody>
                  <a:tcPr>
                    <a:solidFill>
                      <a:srgbClr val="FFFFFF"/>
                    </a:solidFill>
                  </a:tcPr>
                </a:tc>
                <a:tc>
                  <a:txBody>
                    <a:bodyPr/>
                    <a:lstStyle/>
                    <a:p>
                      <a:pPr>
                        <a:defRPr sz="1200">
                          <a:solidFill>
                            <a:srgbClr val="1C2230"/>
                          </a:solidFill>
                          <a:latin typeface="Yu Gothic"/>
                        </a:defRPr>
                      </a:pPr>
                      <a:r>
                        <a:t>背景として言及される技術的懸念の一例</a:t>
                      </a:r>
                    </a:p>
                  </a:txBody>
                  <a:tcPr>
                    <a:solidFill>
                      <a:srgbClr val="FFFFFF"/>
                    </a:solidFill>
                  </a:tcPr>
                </a:tc>
              </a:tr>
              <a:tr h="502920">
                <a:tc>
                  <a:txBody>
                    <a:bodyPr/>
                    <a:lstStyle/>
                    <a:p>
                      <a:pPr>
                        <a:defRPr sz="1200">
                          <a:solidFill>
                            <a:srgbClr val="1C2230"/>
                          </a:solidFill>
                          <a:latin typeface="Yu Gothic"/>
                        </a:defRPr>
                      </a:pPr>
                      <a:r>
                        <a:t>2026年7月30日</a:t>
                      </a:r>
                    </a:p>
                  </a:txBody>
                  <a:tcPr>
                    <a:solidFill>
                      <a:srgbClr val="F1F5FA"/>
                    </a:solidFill>
                  </a:tcPr>
                </a:tc>
                <a:tc>
                  <a:txBody>
                    <a:bodyPr/>
                    <a:lstStyle/>
                    <a:p>
                      <a:pPr>
                        <a:defRPr sz="1200">
                          <a:solidFill>
                            <a:srgbClr val="1C2230"/>
                          </a:solidFill>
                          <a:latin typeface="Yu Gothic"/>
                        </a:defRPr>
                      </a:pPr>
                      <a:r>
                        <a:t>Anthropicの安全性インシデント開示(77本目)</a:t>
                      </a:r>
                    </a:p>
                  </a:txBody>
                  <a:tcPr>
                    <a:solidFill>
                      <a:srgbClr val="F1F5FA"/>
                    </a:solidFill>
                  </a:tcPr>
                </a:tc>
                <a:tc>
                  <a:txBody>
                    <a:bodyPr/>
                    <a:lstStyle/>
                    <a:p>
                      <a:pPr>
                        <a:defRPr sz="1200">
                          <a:solidFill>
                            <a:srgbClr val="1C2230"/>
                          </a:solidFill>
                          <a:latin typeface="Yu Gothic"/>
                        </a:defRPr>
                      </a:pPr>
                      <a:r>
                        <a:t>同時期の関連する安全性トピック</a:t>
                      </a:r>
                    </a:p>
                  </a:txBody>
                  <a:tcPr>
                    <a:solidFill>
                      <a:srgbClr val="F1F5FA"/>
                    </a:solidFill>
                  </a:tcPr>
                </a:tc>
              </a:tr>
              <a:tr h="502920">
                <a:tc>
                  <a:txBody>
                    <a:bodyPr/>
                    <a:lstStyle/>
                    <a:p>
                      <a:pPr>
                        <a:defRPr sz="1200">
                          <a:solidFill>
                            <a:srgbClr val="1C2230"/>
                          </a:solidFill>
                          <a:latin typeface="Yu Gothic"/>
                        </a:defRPr>
                      </a:pPr>
                      <a:r>
                        <a:t>2026年7月28〜29日</a:t>
                      </a:r>
                    </a:p>
                  </a:txBody>
                  <a:tcPr>
                    <a:solidFill>
                      <a:srgbClr val="FFFFFF"/>
                    </a:solidFill>
                  </a:tcPr>
                </a:tc>
                <a:tc>
                  <a:txBody>
                    <a:bodyPr/>
                    <a:lstStyle/>
                    <a:p>
                      <a:pPr>
                        <a:defRPr sz="1200">
                          <a:solidFill>
                            <a:srgbClr val="1C2230"/>
                          </a:solidFill>
                          <a:latin typeface="Yu Gothic"/>
                        </a:defRPr>
                      </a:pPr>
                      <a:r>
                        <a:t>本テーマ(Pacing the Frontier書簡)</a:t>
                      </a:r>
                    </a:p>
                  </a:txBody>
                  <a:tcPr>
                    <a:solidFill>
                      <a:srgbClr val="FFFFFF"/>
                    </a:solidFill>
                  </a:tcPr>
                </a:tc>
                <a:tc>
                  <a:txBody>
                    <a:bodyPr/>
                    <a:lstStyle/>
                    <a:p>
                      <a:pPr>
                        <a:defRPr sz="1200">
                          <a:solidFill>
                            <a:srgbClr val="1C2230"/>
                          </a:solidFill>
                          <a:latin typeface="Yu Gothic"/>
                        </a:defRPr>
                      </a:pPr>
                      <a:r>
                        <a:t>業界としての予防的な自主規制の動き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書簡公開・企業の正式支持は2026年7月28〜29日</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着手日(2026-08-03)の5〜6日前であり、直近の話題として扱っている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続報(米政府の具体的な対応)は本ラウンドの調査時点では確認できていない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1,260人超 → 1日で企業支持</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AI企業自身が、AIの開発速度を制御する仕組みを政府に求めた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政府の対応を待つ段階</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国際的な議論が進む可能性</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他社の追随があるか注目</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具体策はまだ不明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70本目との違い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70本目は個別の暴走エージェント事件、本テーマは業界全体の予防的な自主規制</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77本目との違い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77本目はAnthropic単独の安全性インシデント開示、本テーマは複数社の共同の動き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本テーマの独自性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既存80テーマに、AI企業の自主規制の動きを正面から扱ったものはない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書簡が『求めること』と『求めないこと』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求めること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減速できる選択肢の準備</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国際的な技術・ガバナンスの仕組み</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求めないこと</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今すぐの開発一時停止</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特定企業・国の名指しでの規制</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書簡の原文全体(WebFetchのアクセス制限により複数媒体経由の要約に基づく)</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米政府がこの要請に対して具体的にどう応答したか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署名者1,260人超のうち、OpenAI・Anthropicそれぞれの現職従業員数の内訳</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署名企業の一つ、Anthropicの立場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CEOが署名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Dario Amodei氏が署名、Anthropicは企業として正式支持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Fortune(2026-07-29)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本テーマのまとめ表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書簡名</a:t>
                      </a:r>
                    </a:p>
                  </a:txBody>
                  <a:tcPr>
                    <a:solidFill>
                      <a:srgbClr val="FFFFFF"/>
                    </a:solidFill>
                  </a:tcPr>
                </a:tc>
                <a:tc>
                  <a:txBody>
                    <a:bodyPr/>
                    <a:lstStyle/>
                    <a:p>
                      <a:pPr>
                        <a:defRPr sz="1200">
                          <a:solidFill>
                            <a:srgbClr val="1C2230"/>
                          </a:solidFill>
                          <a:latin typeface="Yu Gothic"/>
                        </a:defRPr>
                      </a:pPr>
                      <a:r>
                        <a:t>Pacing the Frontier</a:t>
                      </a:r>
                    </a:p>
                  </a:txBody>
                  <a:tcPr>
                    <a:solidFill>
                      <a:srgbClr val="FFFFFF"/>
                    </a:solidFill>
                  </a:tcPr>
                </a:tc>
              </a:tr>
              <a:tr h="502920">
                <a:tc>
                  <a:txBody>
                    <a:bodyPr/>
                    <a:lstStyle/>
                    <a:p>
                      <a:pPr>
                        <a:defRPr sz="1200">
                          <a:solidFill>
                            <a:srgbClr val="1C2230"/>
                          </a:solidFill>
                          <a:latin typeface="Yu Gothic"/>
                        </a:defRPr>
                      </a:pPr>
                      <a:r>
                        <a:t>公開日</a:t>
                      </a:r>
                    </a:p>
                  </a:txBody>
                  <a:tcPr>
                    <a:solidFill>
                      <a:srgbClr val="F1F5FA"/>
                    </a:solidFill>
                  </a:tcPr>
                </a:tc>
                <a:tc>
                  <a:txBody>
                    <a:bodyPr/>
                    <a:lstStyle/>
                    <a:p>
                      <a:pPr>
                        <a:defRPr sz="1200">
                          <a:solidFill>
                            <a:srgbClr val="1C2230"/>
                          </a:solidFill>
                          <a:latin typeface="Yu Gothic"/>
                        </a:defRPr>
                      </a:pPr>
                      <a:r>
                        <a:t>2026年7月28日</a:t>
                      </a:r>
                    </a:p>
                  </a:txBody>
                  <a:tcPr>
                    <a:solidFill>
                      <a:srgbClr val="F1F5FA"/>
                    </a:solidFill>
                  </a:tcPr>
                </a:tc>
              </a:tr>
              <a:tr h="502920">
                <a:tc>
                  <a:txBody>
                    <a:bodyPr/>
                    <a:lstStyle/>
                    <a:p>
                      <a:pPr>
                        <a:defRPr sz="1200">
                          <a:solidFill>
                            <a:srgbClr val="1C2230"/>
                          </a:solidFill>
                          <a:latin typeface="Yu Gothic"/>
                        </a:defRPr>
                      </a:pPr>
                      <a:r>
                        <a:t>企業支持表明日</a:t>
                      </a:r>
                    </a:p>
                  </a:txBody>
                  <a:tcPr>
                    <a:solidFill>
                      <a:srgbClr val="FFFFFF"/>
                    </a:solidFill>
                  </a:tcPr>
                </a:tc>
                <a:tc>
                  <a:txBody>
                    <a:bodyPr/>
                    <a:lstStyle/>
                    <a:p>
                      <a:pPr>
                        <a:defRPr sz="1200">
                          <a:solidFill>
                            <a:srgbClr val="1C2230"/>
                          </a:solidFill>
                          <a:latin typeface="Yu Gothic"/>
                        </a:defRPr>
                      </a:pPr>
                      <a:r>
                        <a:t>2026年7月29日(OpenAI・Anthropic)</a:t>
                      </a:r>
                    </a:p>
                  </a:txBody>
                  <a:tcPr>
                    <a:solidFill>
                      <a:srgbClr val="FFFFFF"/>
                    </a:solidFill>
                  </a:tcPr>
                </a:tc>
              </a:tr>
              <a:tr h="502920">
                <a:tc>
                  <a:txBody>
                    <a:bodyPr/>
                    <a:lstStyle/>
                    <a:p>
                      <a:pPr>
                        <a:defRPr sz="1200">
                          <a:solidFill>
                            <a:srgbClr val="1C2230"/>
                          </a:solidFill>
                          <a:latin typeface="Yu Gothic"/>
                        </a:defRPr>
                      </a:pPr>
                      <a:r>
                        <a:t>署名者数</a:t>
                      </a:r>
                    </a:p>
                  </a:txBody>
                  <a:tcPr>
                    <a:solidFill>
                      <a:srgbClr val="F1F5FA"/>
                    </a:solidFill>
                  </a:tcPr>
                </a:tc>
                <a:tc>
                  <a:txBody>
                    <a:bodyPr/>
                    <a:lstStyle/>
                    <a:p>
                      <a:pPr>
                        <a:defRPr sz="1200">
                          <a:solidFill>
                            <a:srgbClr val="1C2230"/>
                          </a:solidFill>
                          <a:latin typeface="Yu Gothic"/>
                        </a:defRPr>
                      </a:pPr>
                      <a:r>
                        <a:t>1,260人超</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“必要になった時に減速できる選択肢を、今のうちに用意しておくべきだ。”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書簡「Pacing the Frontier」の趣旨(報道の要約)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米政府がこの要請にどう応答するか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他のAI企業がこの動きに追随するか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具体的な『減速の仕組み』がどう設計されるか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業界の自主規制と政府の規制の関係がどう整理されるか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TechTimes・Fortune・TheNextWeb ほか(2026-07-28〜29報道)｜定期実行81本目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最後に伝えたいこと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1,260人 → 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AI企業自身が、AIの速度を落とす仕組みを求めた出来事として記憶しておきたい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『待った』をかけたのは、AIではなく人間だった。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出典付きで、公平に整理してお届けしました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