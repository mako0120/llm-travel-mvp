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1メッセージあたり、約4〜5セント。これが、WhatsApp・Instagram・Messenger上で動くAIエージェント『Meta Business Agent』の新しい実質単価です。2026年8月1日、無料お試し期間が終わり、トークン単位の従量課金が始まりました。今日はこの制度変更を、出典付きで整理してお伝えします。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まず数字から確認します。100万トークンあたり2.00ドル。これが新しい料金体系です。発効日は2026年8月1日、今日から1日前です。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今日はこの5つの流れでお伝えします。料金の数字だけでなく、そもそもこのAIエージェントが何をするものかから確認していきます。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発表内容を整理すると、この5点になります。特に注目したいのは、料金体系を一本化した点。今までバラバラだった請求項目が、トークンという1つの単位にまとまりました。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そもそもMeta Business Agentとは何か。2026年6月3日に世界展開が始まった、WhatsApp・Instagram・Messenger向けの自律型AIエージェントです。展開前には、インド・メキシコ・ブラジルで約2年間のテストが行われていました。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図で整理するとこうなります。顧客からの問い合わせを受け取り、AIエージェントが自律的に対応し、予約や成約まで人手を介さず進める、という流れです。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機能を5つに分解しました。単なる自動応答ではなく、予約や成約まで到達できる点が特徴として説明されています。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展開時点で、すでに100万以上の事業者が利用していたと報じられています。テスト期間中から一定の実績があったことが分かります。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規模感も確認しておきます。Metaのメッセージングサービス全体で、1日あたり10億件を超えるビジネス関連のやり取りが発生しているとのことです。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時系列で整理するとこうなります。約2年のテストを経て、6月に世界展開、そして8月に有料化。10月にはさらに別の課金再開も予定されています。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この4段階で整理すると流れが分かりやすくなります。テスト、無料展開、有料化、そして追加課金予定という順番です。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改めて基準の数字を確認します。100万トークンあたり2.00ドル。1メッセージは、目安としておよそ2万から2万5,000トークンを消費するとされています。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実際の料金感はこうです。シンプルなやり取りなら1メッセージ4〜5セント程度、複雑な会話では最大0.24ドル程度になる場合があるとされています。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旧料金体系と新料金体系を並べるとこうなります。大きな変化は、無料から有料への移行そのものと、請求項目が1本化された点です。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無料期間と有料化後を比べると、事業者側の意識が『とりあえず試す』から『コストを踏まえて使う』に変わる、という違いが見えてきます。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実は今回の有料化だけで終わりではありません。10月には、これまで停止されていた別の課金も再開される予定です。段階的にコスト構造が変わっていく、という理解が必要です。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このタイムラインを覚えておくと、今後Meta Business Agentの料金についてニュースが出たときに、全体のどの段階の話かが分かりやすくなります。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対象範囲は、WhatsApp・Instagram・Messengerの3つすべてです。特定の国・地域に限らず、世界全体で適用される制度変更です。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強い数字が並びますが、いずれも自社発表値や媒体側の概算であることは重要なポイントです。鵜呑みにせず、あくまで目安として受け止める視点を持っておくと良いと思います。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この4点は、今回の調査で確認できなかった事項として一覧化しました。特に、有料化がまだ発効したばかりであるため、実際の影響についてはこれから明らかになっていく部分です。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WhatsAppは日本での利用率が高くありません。ただしInstagramやMessengerも対象なので、完全に無関係というわけでもありません。ここは正直にお伝えしておきます。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これまでのテーマの多くは『資金を調達した』という段階の話でした。今回は一歩進んで、『実際に使われて、お金が発生する』という段階の話です。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同じMeta社関連のテーマはいくつかありますが、いずれも対象製品・切り口が異なります。今回はBusiness Agentという特定製品の、無料から有料への移行という切り口です。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この3つは当社の推測です。Meta社自身がこのように説明しているわけではなく、料金体系から読み取れる一般的な影響を整理したものです。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次の節目は2026年10月1日です。テンプレート外のメッセージについても課金が再開される予定とされています。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実務的な視点として、事業者が今のうちに確認しておきたい4つのポイントをまとめました。これは一般的な実務アドバイスであり、Meta社の公式ガイダンスではありません。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料金は変わりましたが、機能自体は変わっていません。この整理を覚えておくと、今後の関連ニュースも理解しやすくなると思います。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資金調達のニュースでも、料金制度の変更でも、数字を見るときの姿勢は同じだと思います。何が確認できて、何がこれから分かることなのかを分けて考える。この動画がその練習になれば嬉しいです。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最後にもう一度数字を確認します。100万トークンあたり2.00ドル。100万以上の事業者が使う製品が、今日から有料になりました。そして10月には、さらに別の課金再開が予定されています。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本編は以上です。今回はMeta Business Agentのトークン課金移行を題材に、AIエージェントが『使われる段階』でどう収益化されていくかについてお伝えしました。次回もまた出典付きでお届けします。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1メッセージ、約4〜5セント。</a:t>
            </a:r>
          </a:p>
          <a:p>
            <a:pPr algn="l">
              <a:lnSpc>
                <a:spcPct val="115000"/>
              </a:lnSpc>
            </a:pPr>
            <a:r>
              <a:rPr sz="4200" b="1">
                <a:solidFill>
                  <a:srgbClr val="FFFFFF"/>
                </a:solidFill>
                <a:latin typeface="Yu Gothic"/>
              </a:rPr>
              <a:t>WhatsAppのAIエージェントが、今日から有料になった。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Meta Business Agentのトークン課金移行(発効日2026年8月1日)を、出典付きで振り返る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TechTimes・Enterprise DNA ほか。数値は複数媒体経由の要約を含みます。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新しい料金体系</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$2.00 / 100万トークン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2026年8月1日発効。従来無料だったAI処理が、トークン単位の従量課金になった。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TechTimes / Thrumos(2026-08-01発効)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Meta Business Agentとは何か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何が変わったのか(新料金体系)</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なぜ今、有料化なのか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今後の予定</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読み解く上での注意点・確認できなかったこと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発表の概要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2026年8月1日、Meta社の料金体系変更のポイントです。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WhatsApp・Instagram・Messenger向けAIエージェント「Meta Business Agent」が対象</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無料お試し期間が終了し、トークン単位の従量課金に移行</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料金は100万トークンあたり2.00ドル</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従来は「AI処理料金」と「メッセージ配信料金」が別々だったが、今回一本化</a:t>
            </a:r>
          </a:p>
        </p:txBody>
      </p:sp>
      <p:sp>
        <p:nvSpPr>
          <p:cNvPr id="15" name="Oval 14"/>
          <p:cNvSpPr/>
          <p:nvPr/>
        </p:nvSpPr>
        <p:spPr>
          <a:xfrm>
            <a:off x="457200" y="523036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世界全体で適用される制度変更</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TechTimes / Enterprise DNA(2026-08-01発効)</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Meta Business Agentとは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2026/6/3</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世界展開開始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インド・メキシコ・ブラジルでの約2年間のテストを経て世界展開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AI</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自律型エージェント</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人手を介さず、質問応答から成約まで複数ステップを自動実行</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3媒体</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対応プラットフォーム</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WhatsApp・Instagram・Messengerで利用可能</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Enterprise DNA</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会話がAIエージェントで完結するまで(概念図)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顧客の質問</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商品カタログ・FAQへの問い合わせ</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Meta Business Agent</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自律的に複数ステップを実行</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予約・成約</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人手を介さず取引完了まで到達</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問い合わせから成約まで、人のオペレーターを介さず完結する設計</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具体的にできること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報じられている機能を整理すると、次の5つです。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商品カタログ・Webサイト・FAQに基づく質問への回答</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WhatsApp Businessカタログからの商品レコメンド</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カレンダー連携による予約受付</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見込み顧客の選別(クオリファイ)</a:t>
            </a:r>
          </a:p>
        </p:txBody>
      </p:sp>
      <p:sp>
        <p:nvSpPr>
          <p:cNvPr id="15" name="Oval 14"/>
          <p:cNvSpPr/>
          <p:nvPr/>
        </p:nvSpPr>
        <p:spPr>
          <a:xfrm>
            <a:off x="457200" y="523036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取引の完了(成約)まで自律的に実行</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Enterprise DNA / Pragma-Code</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展開時点の利用事業者数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100万+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世界展開時点で100万以上の事業者が利用(自社発表値)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Enterprise DNA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1日あたりのビジネス関連スレッド数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10億+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Meta各メッセージングサービス全体で1日あたり10億件超のビジネス関連スレッド(自社発表値)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Enterprise DNA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展開の歴史</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4523F"/>
                    </a:solidFill>
                  </a:tcPr>
                </a:tc>
                <a:tc>
                  <a:txBody>
                    <a:bodyPr/>
                    <a:lstStyle/>
                    <a:p>
                      <a:pPr>
                        <a:defRPr sz="1300" b="1">
                          <a:solidFill>
                            <a:srgbClr val="FFFFFF"/>
                          </a:solidFill>
                          <a:latin typeface="Yu Gothic"/>
                        </a:defRPr>
                      </a:pPr>
                      <a:r>
                        <a:t>できごと</a:t>
                      </a:r>
                    </a:p>
                  </a:txBody>
                  <a:tcPr>
                    <a:solidFill>
                      <a:srgbClr val="24523F"/>
                    </a:solidFill>
                  </a:tcPr>
                </a:tc>
              </a:tr>
              <a:tr h="502920">
                <a:tc>
                  <a:txBody>
                    <a:bodyPr/>
                    <a:lstStyle/>
                    <a:p>
                      <a:pPr>
                        <a:defRPr sz="1200">
                          <a:solidFill>
                            <a:srgbClr val="20261F"/>
                          </a:solidFill>
                          <a:latin typeface="Yu Gothic"/>
                        </a:defRPr>
                      </a:pPr>
                      <a:r>
                        <a:t>〜2026年6月2日</a:t>
                      </a:r>
                    </a:p>
                  </a:txBody>
                  <a:tcPr>
                    <a:solidFill>
                      <a:srgbClr val="FFFFFF"/>
                    </a:solidFill>
                  </a:tcPr>
                </a:tc>
                <a:tc>
                  <a:txBody>
                    <a:bodyPr/>
                    <a:lstStyle/>
                    <a:p>
                      <a:pPr>
                        <a:defRPr sz="1200">
                          <a:solidFill>
                            <a:srgbClr val="20261F"/>
                          </a:solidFill>
                          <a:latin typeface="Yu Gothic"/>
                        </a:defRPr>
                      </a:pPr>
                      <a:r>
                        <a:t>インド・メキシコ・ブラジルで約2年間のテスト運用</a:t>
                      </a:r>
                    </a:p>
                  </a:txBody>
                  <a:tcPr>
                    <a:solidFill>
                      <a:srgbClr val="FFFFFF"/>
                    </a:solidFill>
                  </a:tcPr>
                </a:tc>
              </a:tr>
              <a:tr h="502920">
                <a:tc>
                  <a:txBody>
                    <a:bodyPr/>
                    <a:lstStyle/>
                    <a:p>
                      <a:pPr>
                        <a:defRPr sz="1200">
                          <a:solidFill>
                            <a:srgbClr val="20261F"/>
                          </a:solidFill>
                          <a:latin typeface="Yu Gothic"/>
                        </a:defRPr>
                      </a:pPr>
                      <a:r>
                        <a:t>2026年6月3日</a:t>
                      </a:r>
                    </a:p>
                  </a:txBody>
                  <a:tcPr>
                    <a:solidFill>
                      <a:srgbClr val="F4F1E6"/>
                    </a:solidFill>
                  </a:tcPr>
                </a:tc>
                <a:tc>
                  <a:txBody>
                    <a:bodyPr/>
                    <a:lstStyle/>
                    <a:p>
                      <a:pPr>
                        <a:defRPr sz="1200">
                          <a:solidFill>
                            <a:srgbClr val="20261F"/>
                          </a:solidFill>
                          <a:latin typeface="Yu Gothic"/>
                        </a:defRPr>
                      </a:pPr>
                      <a:r>
                        <a:t>WhatsApp・Instagram・Messengerで世界展開開始(無料期間)</a:t>
                      </a:r>
                    </a:p>
                  </a:txBody>
                  <a:tcPr>
                    <a:solidFill>
                      <a:srgbClr val="F4F1E6"/>
                    </a:solidFill>
                  </a:tcPr>
                </a:tc>
              </a:tr>
              <a:tr h="502920">
                <a:tc>
                  <a:txBody>
                    <a:bodyPr/>
                    <a:lstStyle/>
                    <a:p>
                      <a:pPr>
                        <a:defRPr sz="1200">
                          <a:solidFill>
                            <a:srgbClr val="20261F"/>
                          </a:solidFill>
                          <a:latin typeface="Yu Gothic"/>
                        </a:defRPr>
                      </a:pPr>
                      <a:r>
                        <a:t>2026年8月1日</a:t>
                      </a:r>
                    </a:p>
                  </a:txBody>
                  <a:tcPr>
                    <a:solidFill>
                      <a:srgbClr val="FFFFFF"/>
                    </a:solidFill>
                  </a:tcPr>
                </a:tc>
                <a:tc>
                  <a:txBody>
                    <a:bodyPr/>
                    <a:lstStyle/>
                    <a:p>
                      <a:pPr>
                        <a:defRPr sz="1200">
                          <a:solidFill>
                            <a:srgbClr val="20261F"/>
                          </a:solidFill>
                          <a:latin typeface="Yu Gothic"/>
                        </a:defRPr>
                      </a:pPr>
                      <a:r>
                        <a:t>トークン単位の従量課金に移行(本テーマの対象)</a:t>
                      </a:r>
                    </a:p>
                  </a:txBody>
                  <a:tcPr>
                    <a:solidFill>
                      <a:srgbClr val="FFFFFF"/>
                    </a:solidFill>
                  </a:tcPr>
                </a:tc>
              </a:tr>
              <a:tr h="502920">
                <a:tc>
                  <a:txBody>
                    <a:bodyPr/>
                    <a:lstStyle/>
                    <a:p>
                      <a:pPr>
                        <a:defRPr sz="1200">
                          <a:solidFill>
                            <a:srgbClr val="20261F"/>
                          </a:solidFill>
                          <a:latin typeface="Yu Gothic"/>
                        </a:defRPr>
                      </a:pPr>
                      <a:r>
                        <a:t>2026年10月1日(予定)</a:t>
                      </a:r>
                    </a:p>
                  </a:txBody>
                  <a:tcPr>
                    <a:solidFill>
                      <a:srgbClr val="F4F1E6"/>
                    </a:solidFill>
                  </a:tcPr>
                </a:tc>
                <a:tc>
                  <a:txBody>
                    <a:bodyPr/>
                    <a:lstStyle/>
                    <a:p>
                      <a:pPr>
                        <a:defRPr sz="1200">
                          <a:solidFill>
                            <a:srgbClr val="20261F"/>
                          </a:solidFill>
                          <a:latin typeface="Yu Gothic"/>
                        </a:defRPr>
                      </a:pPr>
                      <a:r>
                        <a:t>テンプレート外サービスメッセージの課金も再開予定</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Enterprise DNA / TechTimes</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無料期間から有料化までの4段階</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テスト</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インド・メキシコ・ブラジルで約2年間試験運用</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世界展開</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2026年6月3日、無料お試し期間として全世界へ展開</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有料化</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2026年8月1日、トークン単位の従量課金へ移行</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追加課金(予定)</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2026年10月1日、テンプレート外メッセージの課金も再開予定</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改めて、新料金の基準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$2.00 / 100万トークン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1メッセージは約2万〜2万5,000トークンを消費(自社基準の目安値)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TechTimes / Enterprise DNA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具体的な料金感</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4〜5¢</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1メッセージあたりの目安</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シンプルなやり取りの概算単価</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$0.24</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複雑な会話の上限目安</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複数ステップに及ぶ複雑な会話での概算上限</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統合</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請求項目の一本化</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AI処理料金と配信料金が1つのトークン単価にまとまった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TechTimes(要約)</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旧料金体系と新料金体系の違い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旧(無料期間中)</a:t>
                      </a:r>
                    </a:p>
                  </a:txBody>
                  <a:tcPr>
                    <a:solidFill>
                      <a:srgbClr val="24523F"/>
                    </a:solidFill>
                  </a:tcPr>
                </a:tc>
                <a:tc>
                  <a:txBody>
                    <a:bodyPr/>
                    <a:lstStyle/>
                    <a:p>
                      <a:pPr>
                        <a:defRPr sz="1300" b="1">
                          <a:solidFill>
                            <a:srgbClr val="FFFFFF"/>
                          </a:solidFill>
                          <a:latin typeface="Yu Gothic"/>
                        </a:defRPr>
                      </a:pPr>
                      <a:r>
                        <a:t>新(2026-08-01〜)</a:t>
                      </a:r>
                    </a:p>
                  </a:txBody>
                  <a:tcPr>
                    <a:solidFill>
                      <a:srgbClr val="24523F"/>
                    </a:solidFill>
                  </a:tcPr>
                </a:tc>
              </a:tr>
              <a:tr h="502920">
                <a:tc>
                  <a:txBody>
                    <a:bodyPr/>
                    <a:lstStyle/>
                    <a:p>
                      <a:pPr>
                        <a:defRPr sz="1200">
                          <a:solidFill>
                            <a:srgbClr val="20261F"/>
                          </a:solidFill>
                          <a:latin typeface="Yu Gothic"/>
                        </a:defRPr>
                      </a:pPr>
                      <a:r>
                        <a:t>AI処理料金</a:t>
                      </a:r>
                    </a:p>
                  </a:txBody>
                  <a:tcPr>
                    <a:solidFill>
                      <a:srgbClr val="FFFFFF"/>
                    </a:solidFill>
                  </a:tcPr>
                </a:tc>
                <a:tc>
                  <a:txBody>
                    <a:bodyPr/>
                    <a:lstStyle/>
                    <a:p>
                      <a:pPr>
                        <a:defRPr sz="1200">
                          <a:solidFill>
                            <a:srgbClr val="20261F"/>
                          </a:solidFill>
                          <a:latin typeface="Yu Gothic"/>
                        </a:defRPr>
                      </a:pPr>
                      <a:r>
                        <a:t>無料</a:t>
                      </a:r>
                    </a:p>
                  </a:txBody>
                  <a:tcPr>
                    <a:solidFill>
                      <a:srgbClr val="FFFFFF"/>
                    </a:solidFill>
                  </a:tcPr>
                </a:tc>
                <a:tc>
                  <a:txBody>
                    <a:bodyPr/>
                    <a:lstStyle/>
                    <a:p>
                      <a:pPr>
                        <a:defRPr sz="1200">
                          <a:solidFill>
                            <a:srgbClr val="20261F"/>
                          </a:solidFill>
                          <a:latin typeface="Yu Gothic"/>
                        </a:defRPr>
                      </a:pPr>
                      <a:r>
                        <a:t>トークン単位で課金</a:t>
                      </a:r>
                    </a:p>
                  </a:txBody>
                  <a:tcPr>
                    <a:solidFill>
                      <a:srgbClr val="FFFFFF"/>
                    </a:solidFill>
                  </a:tcPr>
                </a:tc>
              </a:tr>
              <a:tr h="502920">
                <a:tc>
                  <a:txBody>
                    <a:bodyPr/>
                    <a:lstStyle/>
                    <a:p>
                      <a:pPr>
                        <a:defRPr sz="1200">
                          <a:solidFill>
                            <a:srgbClr val="20261F"/>
                          </a:solidFill>
                          <a:latin typeface="Yu Gothic"/>
                        </a:defRPr>
                      </a:pPr>
                      <a:r>
                        <a:t>メッセージ配信料金</a:t>
                      </a:r>
                    </a:p>
                  </a:txBody>
                  <a:tcPr>
                    <a:solidFill>
                      <a:srgbClr val="F4F1E6"/>
                    </a:solidFill>
                  </a:tcPr>
                </a:tc>
                <a:tc>
                  <a:txBody>
                    <a:bodyPr/>
                    <a:lstStyle/>
                    <a:p>
                      <a:pPr>
                        <a:defRPr sz="1200">
                          <a:solidFill>
                            <a:srgbClr val="20261F"/>
                          </a:solidFill>
                          <a:latin typeface="Yu Gothic"/>
                        </a:defRPr>
                      </a:pPr>
                      <a:r>
                        <a:t>別項目として存在</a:t>
                      </a:r>
                    </a:p>
                  </a:txBody>
                  <a:tcPr>
                    <a:solidFill>
                      <a:srgbClr val="F4F1E6"/>
                    </a:solidFill>
                  </a:tcPr>
                </a:tc>
                <a:tc>
                  <a:txBody>
                    <a:bodyPr/>
                    <a:lstStyle/>
                    <a:p>
                      <a:pPr>
                        <a:defRPr sz="1200">
                          <a:solidFill>
                            <a:srgbClr val="20261F"/>
                          </a:solidFill>
                          <a:latin typeface="Yu Gothic"/>
                        </a:defRPr>
                      </a:pPr>
                      <a:r>
                        <a:t>トークン単価に統合</a:t>
                      </a:r>
                    </a:p>
                  </a:txBody>
                  <a:tcPr>
                    <a:solidFill>
                      <a:srgbClr val="F4F1E6"/>
                    </a:solidFill>
                  </a:tcPr>
                </a:tc>
              </a:tr>
              <a:tr h="502920">
                <a:tc>
                  <a:txBody>
                    <a:bodyPr/>
                    <a:lstStyle/>
                    <a:p>
                      <a:pPr>
                        <a:defRPr sz="1200">
                          <a:solidFill>
                            <a:srgbClr val="20261F"/>
                          </a:solidFill>
                          <a:latin typeface="Yu Gothic"/>
                        </a:defRPr>
                      </a:pPr>
                      <a:r>
                        <a:t>請求の分かりやすさ</a:t>
                      </a:r>
                    </a:p>
                  </a:txBody>
                  <a:tcPr>
                    <a:solidFill>
                      <a:srgbClr val="FFFFFF"/>
                    </a:solidFill>
                  </a:tcPr>
                </a:tc>
                <a:tc>
                  <a:txBody>
                    <a:bodyPr/>
                    <a:lstStyle/>
                    <a:p>
                      <a:pPr>
                        <a:defRPr sz="1200">
                          <a:solidFill>
                            <a:srgbClr val="20261F"/>
                          </a:solidFill>
                          <a:latin typeface="Yu Gothic"/>
                        </a:defRPr>
                      </a:pPr>
                      <a:r>
                        <a:t>項目が分かれていた</a:t>
                      </a:r>
                    </a:p>
                  </a:txBody>
                  <a:tcPr>
                    <a:solidFill>
                      <a:srgbClr val="FFFFFF"/>
                    </a:solidFill>
                  </a:tcPr>
                </a:tc>
                <a:tc>
                  <a:txBody>
                    <a:bodyPr/>
                    <a:lstStyle/>
                    <a:p>
                      <a:pPr>
                        <a:defRPr sz="1200">
                          <a:solidFill>
                            <a:srgbClr val="20261F"/>
                          </a:solidFill>
                          <a:latin typeface="Yu Gothic"/>
                        </a:defRPr>
                      </a:pPr>
                      <a:r>
                        <a:t>1つの単価にまとまった</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Enterprise DNA</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無料期間 vs 有料化後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無料期間(〜2026年7月31日)</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AIエージェントの利用が無料</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事業者は導入コストを気にせず試せた</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利用実績・データを蓄積する期間だった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有料化後(2026年8月1日〜)</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トークン単位で従量課金</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利用量が多いほどコストが増える</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コストを踏まえた運用設計が必要になる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今後の予定</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今回の有料化だけでは終わらない、という点も押さえておきます。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2026年10月1日、テンプレート外のサービスメッセージについても課金を再開予定</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この課金は過去2年間停止されていたもの</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8月の有料化と合わせて、段階的にコスト構造が変わっていく</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事業者側は今後の追加課金も見込んだ運用設計が必要になる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Enterprise DNA</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今後のタイムライン(概念図)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2026年6月3日</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世界展開(無料)</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2026年8月1日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トークン課金開始(本テーマ)</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2026年10月1日(予定)</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テンプレート外メッセージ課金再開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3つの時点を経て、段階的にコスト構造が変わっていく</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対象範囲</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WhatsApp</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対象プラットフォーム(1)</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従量課金の対象</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Instagram</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対象プラットフォーム(2)</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従量課金の対象</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Messenger</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対象プラットフォーム(3)</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従量課金の対象</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TechTimes / BusinessToday</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読み解く上での注意点(1)</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本テーマを見るときに意識しておきたい点です。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利用規模の数字(100万事業者・1日10億スレッド)は自社発表値</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料金の目安(4〜5セント・0.24ドル)は媒体側の概算であり、Meta公式の確定値ではない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有料化発効直後のため、実際のコスト影響の実測データはまだ存在しない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Meta公式のプレスリリース・ヘルプセンター原文は直接確認できていない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Meta公式プレスリリース・ヘルプセンター原文全体</a:t>
                      </a:r>
                    </a:p>
                  </a:txBody>
                  <a:tcPr>
                    <a:solidFill>
                      <a:srgbClr val="FFFFFF"/>
                    </a:solidFill>
                  </a:tcPr>
                </a:tc>
                <a:tc>
                  <a:txBody>
                    <a:bodyPr/>
                    <a:lstStyle/>
                    <a:p>
                      <a:pPr>
                        <a:defRPr sz="1200">
                          <a:solidFill>
                            <a:srgbClr val="20261F"/>
                          </a:solidFill>
                          <a:latin typeface="Yu Gothic"/>
                        </a:defRPr>
                      </a:pPr>
                      <a:r>
                        <a:t>WebFetchのアクセス制限により未確認、複数媒体の要約に基づく</a:t>
                      </a:r>
                    </a:p>
                  </a:txBody>
                  <a:tcPr>
                    <a:solidFill>
                      <a:srgbClr val="FFFFFF"/>
                    </a:solidFill>
                  </a:tcPr>
                </a:tc>
              </a:tr>
              <a:tr h="502920">
                <a:tc>
                  <a:txBody>
                    <a:bodyPr/>
                    <a:lstStyle/>
                    <a:p>
                      <a:pPr>
                        <a:defRPr sz="1200">
                          <a:solidFill>
                            <a:srgbClr val="20261F"/>
                          </a:solidFill>
                          <a:latin typeface="Yu Gothic"/>
                        </a:defRPr>
                      </a:pPr>
                      <a:r>
                        <a:t>有料化後の事業者の継続・解約状況</a:t>
                      </a:r>
                    </a:p>
                  </a:txBody>
                  <a:tcPr>
                    <a:solidFill>
                      <a:srgbClr val="F4F1E6"/>
                    </a:solidFill>
                  </a:tcPr>
                </a:tc>
                <a:tc>
                  <a:txBody>
                    <a:bodyPr/>
                    <a:lstStyle/>
                    <a:p>
                      <a:pPr>
                        <a:defRPr sz="1200">
                          <a:solidFill>
                            <a:srgbClr val="20261F"/>
                          </a:solidFill>
                          <a:latin typeface="Yu Gothic"/>
                        </a:defRPr>
                      </a:pPr>
                      <a:r>
                        <a:t>発効直後のため実測データが存在しない</a:t>
                      </a:r>
                    </a:p>
                  </a:txBody>
                  <a:tcPr>
                    <a:solidFill>
                      <a:srgbClr val="F4F1E6"/>
                    </a:solidFill>
                  </a:tcPr>
                </a:tc>
              </a:tr>
              <a:tr h="502920">
                <a:tc>
                  <a:txBody>
                    <a:bodyPr/>
                    <a:lstStyle/>
                    <a:p>
                      <a:pPr>
                        <a:defRPr sz="1200">
                          <a:solidFill>
                            <a:srgbClr val="20261F"/>
                          </a:solidFill>
                          <a:latin typeface="Yu Gothic"/>
                        </a:defRPr>
                      </a:pPr>
                      <a:r>
                        <a:t>日本国内での具体的な導入事業者数</a:t>
                      </a:r>
                    </a:p>
                  </a:txBody>
                  <a:tcPr>
                    <a:solidFill>
                      <a:srgbClr val="FFFFFF"/>
                    </a:solidFill>
                  </a:tcPr>
                </a:tc>
                <a:tc>
                  <a:txBody>
                    <a:bodyPr/>
                    <a:lstStyle/>
                    <a:p>
                      <a:pPr>
                        <a:defRPr sz="1200">
                          <a:solidFill>
                            <a:srgbClr val="20261F"/>
                          </a:solidFill>
                          <a:latin typeface="Yu Gothic"/>
                        </a:defRPr>
                      </a:pPr>
                      <a:r>
                        <a:t>個別の数字は確認できていない</a:t>
                      </a:r>
                    </a:p>
                  </a:txBody>
                  <a:tcPr>
                    <a:solidFill>
                      <a:srgbClr val="FFFFFF"/>
                    </a:solidFill>
                  </a:tcPr>
                </a:tc>
              </a:tr>
              <a:tr h="502920">
                <a:tc>
                  <a:txBody>
                    <a:bodyPr/>
                    <a:lstStyle/>
                    <a:p>
                      <a:pPr>
                        <a:defRPr sz="1200">
                          <a:solidFill>
                            <a:srgbClr val="20261F"/>
                          </a:solidFill>
                          <a:latin typeface="Yu Gothic"/>
                        </a:defRPr>
                      </a:pPr>
                      <a:r>
                        <a:t>トークン単価($2.00/100万)の算出根拠</a:t>
                      </a:r>
                    </a:p>
                  </a:txBody>
                  <a:tcPr>
                    <a:solidFill>
                      <a:srgbClr val="F4F1E6"/>
                    </a:solidFill>
                  </a:tcPr>
                </a:tc>
                <a:tc>
                  <a:txBody>
                    <a:bodyPr/>
                    <a:lstStyle/>
                    <a:p>
                      <a:pPr>
                        <a:defRPr sz="1200">
                          <a:solidFill>
                            <a:srgbClr val="20261F"/>
                          </a:solidFill>
                          <a:latin typeface="Yu Gothic"/>
                        </a:defRPr>
                      </a:pPr>
                      <a:r>
                        <a:t>非公表・未確認</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読み解く上での注意点(2)</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日本国内での位置づけについても触れておきます。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WhatsAppは日本国内での利用率が他国に比べて低い(LINEが主流)</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ただしInstagram・Messengerも対象であり、完全な海外限定トピックではない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日本国内の具体的な導入事業者数・利用実態は確認できていない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本テーマは海外(グローバル)の制度変更の紹介として扱う</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本パイプラインの既存テーマとの位置づけ(概念図)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資金調達ニュース</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58〜64本目の中心的な切り口</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料金制度の変化</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本テーマ(無料→有料への移行)</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AIエージェントの実運用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実際に使われ、課金される段階の話</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「調達される」段階から「実際に使われ、課金される」段階の話へ</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既存テーマとの違い(重複確認)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近いテーマ</a:t>
                      </a:r>
                    </a:p>
                  </a:txBody>
                  <a:tcPr>
                    <a:solidFill>
                      <a:srgbClr val="24523F"/>
                    </a:solidFill>
                  </a:tcPr>
                </a:tc>
                <a:tc>
                  <a:txBody>
                    <a:bodyPr/>
                    <a:lstStyle/>
                    <a:p>
                      <a:pPr>
                        <a:defRPr sz="1300" b="1">
                          <a:solidFill>
                            <a:srgbClr val="FFFFFF"/>
                          </a:solidFill>
                          <a:latin typeface="Yu Gothic"/>
                        </a:defRPr>
                      </a:pPr>
                      <a:r>
                        <a:t>本テーマとの違い</a:t>
                      </a:r>
                    </a:p>
                  </a:txBody>
                  <a:tcPr>
                    <a:solidFill>
                      <a:srgbClr val="24523F"/>
                    </a:solidFill>
                  </a:tcPr>
                </a:tc>
              </a:tr>
              <a:tr h="502920">
                <a:tc>
                  <a:txBody>
                    <a:bodyPr/>
                    <a:lstStyle/>
                    <a:p>
                      <a:pPr>
                        <a:defRPr sz="1200">
                          <a:solidFill>
                            <a:srgbClr val="20261F"/>
                          </a:solidFill>
                          <a:latin typeface="Yu Gothic"/>
                        </a:defRPr>
                      </a:pPr>
                      <a:r>
                        <a:t>2026-07-22_meta-ai-agent-stall</a:t>
                      </a:r>
                    </a:p>
                  </a:txBody>
                  <a:tcPr>
                    <a:solidFill>
                      <a:srgbClr val="FFFFFF"/>
                    </a:solidFill>
                  </a:tcPr>
                </a:tc>
                <a:tc>
                  <a:txBody>
                    <a:bodyPr/>
                    <a:lstStyle/>
                    <a:p>
                      <a:pPr>
                        <a:defRPr sz="1200">
                          <a:solidFill>
                            <a:srgbClr val="20261F"/>
                          </a:solidFill>
                          <a:latin typeface="Yu Gothic"/>
                        </a:defRPr>
                      </a:pPr>
                      <a:r>
                        <a:t>あちらはMeta社のAIエージェント戦略の停滞に関する話題、本テーマは実際にリリースされた製品の課金移行</a:t>
                      </a:r>
                    </a:p>
                  </a:txBody>
                  <a:tcPr>
                    <a:solidFill>
                      <a:srgbClr val="FFFFFF"/>
                    </a:solidFill>
                  </a:tcPr>
                </a:tc>
              </a:tr>
              <a:tr h="502920">
                <a:tc>
                  <a:txBody>
                    <a:bodyPr/>
                    <a:lstStyle/>
                    <a:p>
                      <a:pPr>
                        <a:defRPr sz="1200">
                          <a:solidFill>
                            <a:srgbClr val="20261F"/>
                          </a:solidFill>
                          <a:latin typeface="Yu Gothic"/>
                        </a:defRPr>
                      </a:pPr>
                      <a:r>
                        <a:t>2026-07-23_meta-muse-spark-launch</a:t>
                      </a:r>
                    </a:p>
                  </a:txBody>
                  <a:tcPr>
                    <a:solidFill>
                      <a:srgbClr val="F4F1E6"/>
                    </a:solidFill>
                  </a:tcPr>
                </a:tc>
                <a:tc>
                  <a:txBody>
                    <a:bodyPr/>
                    <a:lstStyle/>
                    <a:p>
                      <a:pPr>
                        <a:defRPr sz="1200">
                          <a:solidFill>
                            <a:srgbClr val="20261F"/>
                          </a:solidFill>
                          <a:latin typeface="Yu Gothic"/>
                        </a:defRPr>
                      </a:pPr>
                      <a:r>
                        <a:t>あちらは別のMeta製品(Muse Spark)のローンチ、本テーマはBusiness Agentの料金制度変更</a:t>
                      </a:r>
                    </a:p>
                  </a:txBody>
                  <a:tcPr>
                    <a:solidFill>
                      <a:srgbClr val="F4F1E6"/>
                    </a:solidFill>
                  </a:tcPr>
                </a:tc>
              </a:tr>
              <a:tr h="502920">
                <a:tc>
                  <a:txBody>
                    <a:bodyPr/>
                    <a:lstStyle/>
                    <a:p>
                      <a:pPr>
                        <a:defRPr sz="1200">
                          <a:solidFill>
                            <a:srgbClr val="20261F"/>
                          </a:solidFill>
                          <a:latin typeface="Yu Gothic"/>
                        </a:defRPr>
                      </a:pPr>
                      <a:r>
                        <a:t>2026-07-24_meta-seller-app-launch</a:t>
                      </a:r>
                    </a:p>
                  </a:txBody>
                  <a:tcPr>
                    <a:solidFill>
                      <a:srgbClr val="FFFFFF"/>
                    </a:solidFill>
                  </a:tcPr>
                </a:tc>
                <a:tc>
                  <a:txBody>
                    <a:bodyPr/>
                    <a:lstStyle/>
                    <a:p>
                      <a:pPr>
                        <a:defRPr sz="1200">
                          <a:solidFill>
                            <a:srgbClr val="20261F"/>
                          </a:solidFill>
                          <a:latin typeface="Yu Gothic"/>
                        </a:defRPr>
                      </a:pPr>
                      <a:r>
                        <a:t>あちらは別のMeta製品(Sellerアプリ)のローンチ、本テーマはBusiness Agentの料金制度変更</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想定される影響(合理的推測)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大量送信事業者はコスト増</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問い合わせ件数が多い事業者ほど負担が増えると考えられる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シンプルな用途は低コスト</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単純な質問応答中心なら、1件あたりの負担は小さいと考えられる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運用の見直しが進む</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コストを意識した会話設計・自動化範囲の見直しが進むと考えられる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次の節目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2026/10/1</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テンプレート外サービスメッセージの課金再開が予定されている(予定情報)</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Enterprise DNA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事業者が今のうちに確認しておきたいこと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利用量の把握</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月間のメッセージ数・トークン消費量の目安を確認する</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コスト試算</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$2.00/100万トークンを基準に概算コストを計算する</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会話設計の見直し</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不要に長い会話・複雑なやり取りを減らせないか検討する</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10月の追加課金への備え</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テンプレート外メッセージの課金再開も踏まえて準備する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変わったこと・変わらないこと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変わったこと</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無料から従量課金へ移行</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請求項目がトークン単価に統合</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10月にはさらに別の課金も予定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変わらないこと</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対応プラットフォーム(WhatsApp・Instagram・Messenger)</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自律的に複数ステップを実行する基本機能</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商品レコメンド・予約受付等の機能自体</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この発表から得られる学び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個別の企業評価ではなく、一般的な視点としてまとめます。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『無料お試し期間』はいずれ終わる前提で、事業者側は早めにコスト試算をしておくとよい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強い利用実績の数字(100万事業者等)ほど、自社発表かどうかを区別して読む価値がある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料金制度の変更は一度で終わらず、段階的に進むことがある(今回も10月に続きがある)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対象範囲(国・プラットフォーム)を確認し、自分に関係する話かどうかを見極めるとよい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TechTimes・Enterprise DNA ほか(発効日2026-08-01)｜定期実行65本目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$2.00 / 100万トークン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2026年8月1日発効。100万事業者が利用する製品が、無料から有料へ。10月にはさらに続きがある。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本編のまとめ</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料金制度の変化は、いつも『続きがある』。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今日の有料化だけで終わりではありません。10月の追加課金も含めて、続報を追ってみてください。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