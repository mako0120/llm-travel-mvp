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改善幅(ポイント)</c:v>
                </c:pt>
              </c:strCache>
            </c:strRef>
          </c:tx>
          <c:spPr>
            <a:solidFill>
              <a:srgbClr val="2E2A72"/>
            </a:solidFill>
          </c:spPr>
          <c:cat>
            <c:strRef>
              <c:f>Sheet1!$A$2:$A$3</c:f>
              <c:strCache>
                <c:ptCount val="2"/>
                <c:pt idx="0">
                  <c:v>過去37年間の累計改善</c:v>
                </c:pt>
                <c:pt idx="1">
                  <c:v>今回の単発改善</c:v>
                </c:pt>
              </c:strCache>
            </c:strRef>
          </c:cat>
          <c:val>
            <c:numRef>
              <c:f>Sheet1!$B$2:$B$3</c:f>
              <c:numCache>
                <c:formatCode>General</c:formatCode>
                <c:ptCount val="2"/>
                <c:pt idx="0">
                  <c:v>0.8</c:v>
                </c:pt>
                <c:pt idx="1">
                  <c:v>25.6</c:v>
                </c:pt>
              </c:numCache>
            </c:numRef>
          </c:val>
        </c:ser>
        <c:dLbls>
          <c:numFmt formatCode="0.0" sourceLinked="0"/>
          <c:txPr>
            <a:bodyPr/>
            <a:lstStyle/>
            <a:p>
              <a:pPr>
                <a:defRPr sz="1200" b="1">
                  <a:solidFill>
                    <a:srgbClr val="2E2A72"/>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10日、Anthropicが未公開の研究版Claudeによる数学研究の成果を発表しました。160年間未解決のリーマン予想に関連する数字が、大きく動いたという話です。この動画では、その中身を出典付き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結論から言うと、未公開の研究版Claudeが、リーマンゼータ関数の零点比率の下限を41.6%から67.2%へ引き上げました。リーマン予想そのものが解決したわけではない、という点を最初にお伝えしておきます。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今日はこの6つの流れで整理していきます。基礎知識から数字の中身、体制、そして本シリーズ自身とAnthropicの関係についても、正直にお伝えする回を設けています。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このテーマを選んだ理由です。発表されたばかりであることに加え、過去37年でわずか0.8ポイントしか動かなかった数字が、今回一気に25.6ポイント動いたという対比の大きさが際立っています。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概要はこうです。AnthropicがまだPCなどでは使えない研究版のClaudeに、160年来のリーマン予想への挑戦を依頼しました。予想自体は解けていませんが、関連する問題で前進があったと発表されています。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この発表はAnthropic公式ブログを一次発表元として、AlphaSignalをはじめ複数のメディアが取り上げています。個別記事のURLまでは今回の調査で特定できていないため、その点は正直にお伝えします。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本題に入る前に用語を整理します。リーマン予想は1859年に提示された、素数の分布に関わる数学の未解決問題です。ミレニアム懸賞問題の1つとしても知られています。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零点の比率の下限』という言葉を分解します。すべての零点が臨界線上にあるかは未証明ですが、少なくとも何パーセントは臨界線上にあると証明できる、という下限を数学者たちは少しずつ引き上げてきました。今回は67.2%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図で整理すると、非自明な零点全体のうち、臨界線上にあると証明できた部分の割合が下限です。今回67.2%まで引き上がりましたが、残りの部分はまだ証明できていません。この図はイメージをつかむための簡略図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従来と今回を並べます。従来は41.6%だった下限が、今回67.2%へ。改善幅は25.6ポイントで、過去37年間の合計改善幅0.8ポイントを大きく上回ります。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引き上げ幅そのものを見ると25.6ポイントです。同分野における史上最大の単発改善とされています。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グラフにすると差は一目瞭然です。過去37年間かけて積み上げられた改善幅は0.8ポイントでしたが、今回は1回の研究で25.6ポイント動きました。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『史上最大の単発改善』とされる理由は、改善幅の大きさに加えて、それがわずか1日半という短期間で得られた点にあります。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今回の計算規模を数字で見ます。約60体のサブエージェントが群れとして動き、約1日半で、約3,100万トークンの出力、約2,400回のシェルコマンド実行という規模になりました。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特に注目したいのが体制です。1つのモデルが単独で解いたのではなく、約60体のサブエージェントが群れとして並行して取り組んだとされています。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大まかな流れを4ステップで整理します。依頼、並行稼働、着眼点の転換、そして検証です。特に最後の検証プロセスが、AIの自己申告で終わらせていない点として重要です。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鍵になった着眼点は、臨界線上の零点と線外の零点を別々に分析するのではなく、統一的な幾何空間として扱うという発想の転換だったとされています。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結果はLeanという形式検証支援システムで検証されています。数学的な証明を機械的にチェックできる仕組みで、AIの出力をそのまま鵜呑みにしていない、という点がポイントです。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Leanによる形式検証に加えて、外部の数論学者であるBrian Conrey氏、Dan Goldston氏によるレビューも受けています。レビューの具体的な内容までは今回の調査では確認できていません。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初心者向けに整理すると、リーマン予想が解けたわけではなく、『どこまで証明できているか』を示す下限が大きく前進した、という成果です。AIが人間に代わって完成させたという話ではありません。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学研究にとっての意味を整理します。膨大な計算を要する問題での探索が前進する可能性がある一方、それはLeanによる形式検証と人間の専門家によるレビューが組み合わさって初めて成立している、という点が重要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AI研究にとっての意味も整理します。長時間・大規模な自律的タスクの実例であると同時に、その結果を形式検証と外部レビューで裏付けている点が特徴です。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実践的な視点として、AI研究の発表を見るときのチェックポイントを整理します。一次情報が明記されているか、外部検証を経ているか、誇張表現になっていないかを確認する習慣が役に立ちます。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AIと人間の数学者の関係を整理します。今回の成果は、AIが一方的に人間を代替したものではなく、計算・着眼点の適用をAIが担い、テーマ設定と外部レビューを人間が担うという協働の形になっています。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ここで一度、本シリーズとAnthropic・Claudeの関係についてお伝えします。本シリーズ自体がClaude Codeを使って作られているため、称賛的な表現は避け、公式発表と外部専門家の関与という事実だけを淡々と報告する構成にしています。特定製品の利用を推奨する結論にもしていません。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確認できなかったことを一覧にします。研究版Claudeがいつ一般に使えるようになるのか、リーマン予想本体がいつ解決に近づくのかは、現時点では分かっていません。正直に『不明』としてお伝えします。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この先の展開について整理しますが、これはあくまで当社の推測です。今回の成果を踏まえて数学界でどう検討が進むかは未確定で、リーマン予想本体の解決にはまださらなる前進が必要です。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まとめます。今回引き上げられた下限は67.2%で、100%ではありません。リーマン予想はまだ未解決のままであり、その点を誤解のないようお伝えして締めくくります。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最後に出典を一覧にします。一次発表元はAnthropic公式研究ブログで、AlphaSignalほか複数のメディアが取り上げています。個別記事のURLは今回の調査では特定できていない旨をあわせてお伝えします。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160年来の問いは、まだ終わっていません。今回動いたのは67.2%までで、100%との間にはまだ距離があります。続報が出た際は、あらためて出典付きで整理していきます。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160年動かなかった数字が、</a:t>
            </a:r>
          </a:p>
          <a:p>
            <a:pPr algn="l">
              <a:lnSpc>
                <a:spcPct val="115000"/>
              </a:lnSpc>
            </a:pPr>
            <a:r>
              <a:rPr sz="4200" b="1">
                <a:solidFill>
                  <a:srgbClr val="FFFFFF"/>
                </a:solidFill>
                <a:latin typeface="Yu Gothic"/>
              </a:rPr>
              <a:t>1日半で動いた。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6D9F5"/>
                </a:solidFill>
                <a:latin typeface="Yu Gothic"/>
              </a:rPr>
              <a:t>未公開の研究版Claude、リーマン予想関連のゼータ関数の零点比率の下限を41.6%から67.2%へ(2026年8月10日発表)</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AEE0"/>
                </a:solidFill>
                <a:latin typeface="Yu Gothic"/>
              </a:rPr>
              <a:t>Anthropic公式研究ブログほか複数メディア報道に基づく。リーマン予想そのものは未解決です。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今回の結論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41.6% → 67.2%</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リーマンゼータ関数の非自明な零点のうち、臨界線上にあると厳密に証明できる割合の下限を引き上げた(リーマン予想自体は未解決)</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Anthropic公式研究ブログ「Learning more about Claude's mathematical capabilities」(2026-08-10)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この動画で分かること</a:t>
            </a:r>
          </a:p>
        </p:txBody>
      </p:sp>
      <p:sp>
        <p:nvSpPr>
          <p:cNvPr id="5" name="Oval 4"/>
          <p:cNvSpPr/>
          <p:nvPr/>
        </p:nvSpPr>
        <p:spPr>
          <a:xfrm>
            <a:off x="548640" y="19202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6D9F5"/>
                </a:solidFill>
                <a:latin typeface="Yu Gothic"/>
              </a:rPr>
              <a:t>何が発表されたのか(概要)</a:t>
            </a:r>
          </a:p>
        </p:txBody>
      </p:sp>
      <p:sp>
        <p:nvSpPr>
          <p:cNvPr id="7" name="Oval 6"/>
          <p:cNvSpPr/>
          <p:nvPr/>
        </p:nvSpPr>
        <p:spPr>
          <a:xfrm>
            <a:off x="548640" y="269748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6D9F5"/>
                </a:solidFill>
                <a:latin typeface="Yu Gothic"/>
              </a:rPr>
              <a:t>基礎知識: リーマン予想と零点の下限とは</a:t>
            </a:r>
          </a:p>
        </p:txBody>
      </p:sp>
      <p:sp>
        <p:nvSpPr>
          <p:cNvPr id="9" name="Oval 8"/>
          <p:cNvSpPr/>
          <p:nvPr/>
        </p:nvSpPr>
        <p:spPr>
          <a:xfrm>
            <a:off x="548640" y="347472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6D9F5"/>
                </a:solidFill>
                <a:latin typeface="Yu Gothic"/>
              </a:rPr>
              <a:t>数字で見る改善幅(41.6%→67.2%)</a:t>
            </a:r>
          </a:p>
        </p:txBody>
      </p:sp>
      <p:sp>
        <p:nvSpPr>
          <p:cNvPr id="11" name="Oval 10"/>
          <p:cNvSpPr/>
          <p:nvPr/>
        </p:nvSpPr>
        <p:spPr>
          <a:xfrm>
            <a:off x="548640" y="425196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6D9F5"/>
                </a:solidFill>
                <a:latin typeface="Yu Gothic"/>
              </a:rPr>
              <a:t>どんな体制・工程で計算されたか</a:t>
            </a:r>
          </a:p>
        </p:txBody>
      </p:sp>
      <p:sp>
        <p:nvSpPr>
          <p:cNvPr id="13" name="Oval 12"/>
          <p:cNvSpPr/>
          <p:nvPr/>
        </p:nvSpPr>
        <p:spPr>
          <a:xfrm>
            <a:off x="548640" y="502920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6D9F5"/>
                </a:solidFill>
                <a:latin typeface="Yu Gothic"/>
              </a:rPr>
              <a:t>本シリーズとAnthropicの関係について</a:t>
            </a:r>
          </a:p>
        </p:txBody>
      </p:sp>
      <p:sp>
        <p:nvSpPr>
          <p:cNvPr id="15" name="Oval 14"/>
          <p:cNvSpPr/>
          <p:nvPr/>
        </p:nvSpPr>
        <p:spPr>
          <a:xfrm>
            <a:off x="548640" y="58064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6D9F5"/>
                </a:solidFill>
                <a:latin typeface="Yu Gothic"/>
              </a:rPr>
              <a:t>確認できなかったこと・今後の展望</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なぜ今、このニュースを扱うのか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発表からまだ日が浅く、数学界における単発の改善幅としても異例の大きさだからです。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発表日は2026年8月10日で、着手時点から1日前の新しい話題</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過去37年間の改善幅0.8ポイントに対し、今回は25.6ポイントの改善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同分野における史上最大の単発改善とされる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結果はLeanで形式検証され、外部の数論学者2名のレビューも受けている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Anthropic公式研究ブログ(2026-08-10)</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 ほか(詳細は出典一覧スライド参照)</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何が起きたのか(概要)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Anthropicが、未公開の研究版Claudeにリーマン予想への挑戦を依頼しました。</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リーマン予想自体は解決しなかった</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ただし関連する問題で前進を遂げたと発表された</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非自明な零点のうち臨界線上にあると証明できる割合の下限を引き上げた</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研究版Claudeは約60体のサブエージェントの『群れ』として稼働した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Anthropic公式研究ブログ(2026-08-10)</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 ほか(詳細は出典一覧スライド参照)</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この発表を報じた主なメディア</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メディア</a:t>
                      </a:r>
                    </a:p>
                  </a:txBody>
                  <a:tcPr>
                    <a:solidFill>
                      <a:srgbClr val="2E2A72"/>
                    </a:solidFill>
                  </a:tcPr>
                </a:tc>
                <a:tc>
                  <a:txBody>
                    <a:bodyPr/>
                    <a:lstStyle/>
                    <a:p>
                      <a:pPr>
                        <a:defRPr sz="1300" b="1">
                          <a:solidFill>
                            <a:srgbClr val="FFFFFF"/>
                          </a:solidFill>
                          <a:latin typeface="Yu Gothic"/>
                        </a:defRPr>
                      </a:pPr>
                      <a:r>
                        <a:t>扱い</a:t>
                      </a:r>
                    </a:p>
                  </a:txBody>
                  <a:tcPr>
                    <a:solidFill>
                      <a:srgbClr val="2E2A72"/>
                    </a:solidFill>
                  </a:tcPr>
                </a:tc>
                <a:tc>
                  <a:txBody>
                    <a:bodyPr/>
                    <a:lstStyle/>
                    <a:p>
                      <a:pPr>
                        <a:defRPr sz="1300" b="1">
                          <a:solidFill>
                            <a:srgbClr val="FFFFFF"/>
                          </a:solidFill>
                          <a:latin typeface="Yu Gothic"/>
                        </a:defRPr>
                      </a:pPr>
                      <a:r>
                        <a:t>確認状況</a:t>
                      </a:r>
                    </a:p>
                  </a:txBody>
                  <a:tcPr>
                    <a:solidFill>
                      <a:srgbClr val="2E2A72"/>
                    </a:solidFill>
                  </a:tcPr>
                </a:tc>
              </a:tr>
              <a:tr h="502920">
                <a:tc>
                  <a:txBody>
                    <a:bodyPr/>
                    <a:lstStyle/>
                    <a:p>
                      <a:pPr>
                        <a:defRPr sz="1200">
                          <a:solidFill>
                            <a:srgbClr val="1C1B33"/>
                          </a:solidFill>
                          <a:latin typeface="Yu Gothic"/>
                        </a:defRPr>
                      </a:pPr>
                      <a:r>
                        <a:t>Anthropic公式研究ブログ</a:t>
                      </a:r>
                    </a:p>
                  </a:txBody>
                  <a:tcPr>
                    <a:solidFill>
                      <a:srgbClr val="FFFFFF"/>
                    </a:solidFill>
                  </a:tcPr>
                </a:tc>
                <a:tc>
                  <a:txBody>
                    <a:bodyPr/>
                    <a:lstStyle/>
                    <a:p>
                      <a:pPr>
                        <a:defRPr sz="1200">
                          <a:solidFill>
                            <a:srgbClr val="1C1B33"/>
                          </a:solidFill>
                          <a:latin typeface="Yu Gothic"/>
                        </a:defRPr>
                      </a:pPr>
                      <a:r>
                        <a:t>一次発表元</a:t>
                      </a:r>
                    </a:p>
                  </a:txBody>
                  <a:tcPr>
                    <a:solidFill>
                      <a:srgbClr val="FFFFFF"/>
                    </a:solidFill>
                  </a:tcPr>
                </a:tc>
                <a:tc>
                  <a:txBody>
                    <a:bodyPr/>
                    <a:lstStyle/>
                    <a:p>
                      <a:pPr>
                        <a:defRPr sz="1200">
                          <a:solidFill>
                            <a:srgbClr val="1C1B33"/>
                          </a:solidFill>
                          <a:latin typeface="Yu Gothic"/>
                        </a:defRPr>
                      </a:pPr>
                      <a:r>
                        <a:t>確認済み(数字の出典)</a:t>
                      </a:r>
                    </a:p>
                  </a:txBody>
                  <a:tcPr>
                    <a:solidFill>
                      <a:srgbClr val="FFFFFF"/>
                    </a:solidFill>
                  </a:tcPr>
                </a:tc>
              </a:tr>
              <a:tr h="502920">
                <a:tc>
                  <a:txBody>
                    <a:bodyPr/>
                    <a:lstStyle/>
                    <a:p>
                      <a:pPr>
                        <a:defRPr sz="1200">
                          <a:solidFill>
                            <a:srgbClr val="1C1B33"/>
                          </a:solidFill>
                          <a:latin typeface="Yu Gothic"/>
                        </a:defRPr>
                      </a:pPr>
                      <a:r>
                        <a:t>AlphaSignal</a:t>
                      </a:r>
                    </a:p>
                  </a:txBody>
                  <a:tcPr>
                    <a:solidFill>
                      <a:srgbClr val="F4F3FC"/>
                    </a:solidFill>
                  </a:tcPr>
                </a:tc>
                <a:tc>
                  <a:txBody>
                    <a:bodyPr/>
                    <a:lstStyle/>
                    <a:p>
                      <a:pPr>
                        <a:defRPr sz="1200">
                          <a:solidFill>
                            <a:srgbClr val="1C1B33"/>
                          </a:solidFill>
                          <a:latin typeface="Yu Gothic"/>
                        </a:defRPr>
                      </a:pPr>
                      <a:r>
                        <a:t>見出しで数字を報道</a:t>
                      </a:r>
                    </a:p>
                  </a:txBody>
                  <a:tcPr>
                    <a:solidFill>
                      <a:srgbClr val="F4F3FC"/>
                    </a:solidFill>
                  </a:tcPr>
                </a:tc>
                <a:tc>
                  <a:txBody>
                    <a:bodyPr/>
                    <a:lstStyle/>
                    <a:p>
                      <a:pPr>
                        <a:defRPr sz="1200">
                          <a:solidFill>
                            <a:srgbClr val="1C1B33"/>
                          </a:solidFill>
                          <a:latin typeface="Yu Gothic"/>
                        </a:defRPr>
                      </a:pPr>
                      <a:r>
                        <a:t>確認済み(数字の出典)</a:t>
                      </a:r>
                    </a:p>
                  </a:txBody>
                  <a:tcPr>
                    <a:solidFill>
                      <a:srgbClr val="F4F3FC"/>
                    </a:solidFill>
                  </a:tcPr>
                </a:tc>
              </a:tr>
              <a:tr h="502920">
                <a:tc>
                  <a:txBody>
                    <a:bodyPr/>
                    <a:lstStyle/>
                    <a:p>
                      <a:pPr>
                        <a:defRPr sz="1200">
                          <a:solidFill>
                            <a:srgbClr val="1C1B33"/>
                          </a:solidFill>
                          <a:latin typeface="Yu Gothic"/>
                        </a:defRPr>
                      </a:pPr>
                      <a:r>
                        <a:t>AI Weekly</a:t>
                      </a:r>
                    </a:p>
                  </a:txBody>
                  <a:tcPr>
                    <a:solidFill>
                      <a:srgbClr val="FFFFFF"/>
                    </a:solidFill>
                  </a:tcPr>
                </a:tc>
                <a:tc>
                  <a:txBody>
                    <a:bodyPr/>
                    <a:lstStyle/>
                    <a:p>
                      <a:pPr>
                        <a:defRPr sz="1200">
                          <a:solidFill>
                            <a:srgbClr val="1C1B33"/>
                          </a:solidFill>
                          <a:latin typeface="Yu Gothic"/>
                        </a:defRPr>
                      </a:pPr>
                      <a:r>
                        <a:t>関連ニュースとして紹介</a:t>
                      </a:r>
                    </a:p>
                  </a:txBody>
                  <a:tcPr>
                    <a:solidFill>
                      <a:srgbClr val="FFFFFF"/>
                    </a:solidFill>
                  </a:tcPr>
                </a:tc>
                <a:tc>
                  <a:txBody>
                    <a:bodyPr/>
                    <a:lstStyle/>
                    <a:p>
                      <a:pPr>
                        <a:defRPr sz="1200">
                          <a:solidFill>
                            <a:srgbClr val="1C1B33"/>
                          </a:solidFill>
                          <a:latin typeface="Yu Gothic"/>
                        </a:defRPr>
                      </a:pPr>
                      <a:r>
                        <a:t>確認済み(掲載を確認)</a:t>
                      </a:r>
                    </a:p>
                  </a:txBody>
                  <a:tcPr>
                    <a:solidFill>
                      <a:srgbClr val="FFFFFF"/>
                    </a:solidFill>
                  </a:tcPr>
                </a:tc>
              </a:tr>
              <a:tr h="502920">
                <a:tc>
                  <a:txBody>
                    <a:bodyPr/>
                    <a:lstStyle/>
                    <a:p>
                      <a:pPr>
                        <a:defRPr sz="1200">
                          <a:solidFill>
                            <a:srgbClr val="1C1B33"/>
                          </a:solidFill>
                          <a:latin typeface="Yu Gothic"/>
                        </a:defRPr>
                      </a:pPr>
                      <a:r>
                        <a:t>CryptoBriefing</a:t>
                      </a:r>
                    </a:p>
                  </a:txBody>
                  <a:tcPr>
                    <a:solidFill>
                      <a:srgbClr val="F4F3FC"/>
                    </a:solidFill>
                  </a:tcPr>
                </a:tc>
                <a:tc>
                  <a:txBody>
                    <a:bodyPr/>
                    <a:lstStyle/>
                    <a:p>
                      <a:pPr>
                        <a:defRPr sz="1200">
                          <a:solidFill>
                            <a:srgbClr val="1C1B33"/>
                          </a:solidFill>
                          <a:latin typeface="Yu Gothic"/>
                        </a:defRPr>
                      </a:pPr>
                      <a:r>
                        <a:t>関連ニュースとして紹介</a:t>
                      </a:r>
                    </a:p>
                  </a:txBody>
                  <a:tcPr>
                    <a:solidFill>
                      <a:srgbClr val="F4F3FC"/>
                    </a:solidFill>
                  </a:tcPr>
                </a:tc>
                <a:tc>
                  <a:txBody>
                    <a:bodyPr/>
                    <a:lstStyle/>
                    <a:p>
                      <a:pPr>
                        <a:defRPr sz="1200">
                          <a:solidFill>
                            <a:srgbClr val="1C1B33"/>
                          </a:solidFill>
                          <a:latin typeface="Yu Gothic"/>
                        </a:defRPr>
                      </a:pPr>
                      <a:r>
                        <a:t>確認済み(掲載を確認)</a:t>
                      </a:r>
                    </a:p>
                  </a:txBody>
                  <a:tcPr>
                    <a:solidFill>
                      <a:srgbClr val="F4F3FC"/>
                    </a:solidFill>
                  </a:tcPr>
                </a:tc>
              </a:tr>
              <a:tr h="502920">
                <a:tc>
                  <a:txBody>
                    <a:bodyPr/>
                    <a:lstStyle/>
                    <a:p>
                      <a:pPr>
                        <a:defRPr sz="1200">
                          <a:solidFill>
                            <a:srgbClr val="1C1B33"/>
                          </a:solidFill>
                          <a:latin typeface="Yu Gothic"/>
                        </a:defRPr>
                      </a:pPr>
                      <a:r>
                        <a:t>KuCoin</a:t>
                      </a:r>
                    </a:p>
                  </a:txBody>
                  <a:tcPr>
                    <a:solidFill>
                      <a:srgbClr val="FFFFFF"/>
                    </a:solidFill>
                  </a:tcPr>
                </a:tc>
                <a:tc>
                  <a:txBody>
                    <a:bodyPr/>
                    <a:lstStyle/>
                    <a:p>
                      <a:pPr>
                        <a:defRPr sz="1200">
                          <a:solidFill>
                            <a:srgbClr val="1C1B33"/>
                          </a:solidFill>
                          <a:latin typeface="Yu Gothic"/>
                        </a:defRPr>
                      </a:pPr>
                      <a:r>
                        <a:t>関連ニュースとして紹介</a:t>
                      </a:r>
                    </a:p>
                  </a:txBody>
                  <a:tcPr>
                    <a:solidFill>
                      <a:srgbClr val="FFFFFF"/>
                    </a:solidFill>
                  </a:tcPr>
                </a:tc>
                <a:tc>
                  <a:txBody>
                    <a:bodyPr/>
                    <a:lstStyle/>
                    <a:p>
                      <a:pPr>
                        <a:defRPr sz="1200">
                          <a:solidFill>
                            <a:srgbClr val="1C1B33"/>
                          </a:solidFill>
                          <a:latin typeface="Yu Gothic"/>
                        </a:defRPr>
                      </a:pPr>
                      <a:r>
                        <a:t>確認済み(掲載を確認)</a:t>
                      </a:r>
                    </a:p>
                  </a:txBody>
                  <a:tcPr>
                    <a:solidFill>
                      <a:srgbClr val="FFFFFF"/>
                    </a:solidFill>
                  </a:tcPr>
                </a:tc>
              </a:tr>
              <a:tr h="502920">
                <a:tc>
                  <a:txBody>
                    <a:bodyPr/>
                    <a:lstStyle/>
                    <a:p>
                      <a:pPr>
                        <a:defRPr sz="1200">
                          <a:solidFill>
                            <a:srgbClr val="1C1B33"/>
                          </a:solidFill>
                          <a:latin typeface="Yu Gothic"/>
                        </a:defRPr>
                      </a:pPr>
                      <a:r>
                        <a:t>XenoSpectrum</a:t>
                      </a:r>
                    </a:p>
                  </a:txBody>
                  <a:tcPr>
                    <a:solidFill>
                      <a:srgbClr val="F4F3FC"/>
                    </a:solidFill>
                  </a:tcPr>
                </a:tc>
                <a:tc>
                  <a:txBody>
                    <a:bodyPr/>
                    <a:lstStyle/>
                    <a:p>
                      <a:pPr>
                        <a:defRPr sz="1200">
                          <a:solidFill>
                            <a:srgbClr val="1C1B33"/>
                          </a:solidFill>
                          <a:latin typeface="Yu Gothic"/>
                        </a:defRPr>
                      </a:pPr>
                      <a:r>
                        <a:t>関連ニュースとして紹介</a:t>
                      </a:r>
                    </a:p>
                  </a:txBody>
                  <a:tcPr>
                    <a:solidFill>
                      <a:srgbClr val="F4F3FC"/>
                    </a:solidFill>
                  </a:tcPr>
                </a:tc>
                <a:tc>
                  <a:txBody>
                    <a:bodyPr/>
                    <a:lstStyle/>
                    <a:p>
                      <a:pPr>
                        <a:defRPr sz="1200">
                          <a:solidFill>
                            <a:srgbClr val="1C1B33"/>
                          </a:solidFill>
                          <a:latin typeface="Yu Gothic"/>
                        </a:defRPr>
                      </a:pPr>
                      <a:r>
                        <a:t>確認済み(掲載を確認)</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research.md参照。各記事の個別URLは本調査の範囲では特定できておらず、メディア名での確認に留まる</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 ほか(詳細は出典一覧スライド参照)</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基礎知識: そもそもリーマン予想とは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1859年に提示され、160年以上未解決のままの数学の未解決問題です。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数学者ベルンハルト・リーマンが1859年に提示した予想</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『リーマンゼータ関数』という関数の性質に関する予想</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素数がどのように分布しているかと深く関わっている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ミレニアム懸賞問題の1つで、証明には100万ドルの懸賞金がかかっている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 ほか(詳細は出典一覧スライド参照)</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基礎知識: 零点・臨界線・下限とは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『どこまで証明できているか』を示すのが、今回引き上げられた下限です。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リーマンゼータ関数の値が0になる点を『零点』と呼ぶ</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非自明な零点は、すべて『臨界線』という直線上に並ぶ、というのがリーマン予想</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『下限』とは、臨界線上にあると厳密に証明できている零点の割合の最低ライン</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下限が100%になれば予想が証明されたことになるが、今回は67.2%にとどまる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 ほか(詳細は出典一覧スライド参照)</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零点比率の下限という考え方(概念図)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非自明な零点</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ゼータ関数の値が0になる点</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臨界線上と証明できる部分</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下限として引き上げ対象</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証明できていない残り</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予想の完全証明には至らない</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下限が100%に近づくほど、リーマン予想の証明に近づくという位置づけ(概念図であり、当社作成の簡略図)</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 ほか(詳細は出典一覧スライド参照)</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従来の下限 / 今回の下限</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従来(発表前)</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下限41.6%</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過去37年間で積み上げた改善幅は0.8ポイント</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人間の数学者コミュニティによる漸進的な更新</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今回(2026-08-10発表)</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下限67.2%</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改善幅は25.6ポイント</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研究版Claudeによる計算+外部数学者2名のレビュー</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 ほか(詳細は出典一覧スライド参照)</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引き上げ幅</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+25.6 pt</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41.6%から67.2%への引き上げ幅。過去37年間の合計改善幅(0.8ポイント)を大きく上回る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Anthropic公式研究ブログ(2026-08-10)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改善幅の比較(ポイント)</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Anthropic公式研究ブログ(2026-08-10)</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 ほか(詳細は出典一覧スライド参照)</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『史上最大の単発改善』とされる理由</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改善の『幅』だけでなく、『速さ』も異例だったとされています。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37年かけた人間の数学者コミュニティの改善幅は0.8ポイント</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今回は1回の研究プロジェクトで25.6ポイントの改善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稼働期間は約1日半という短期間</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Anthropicはこれを同分野における史上最大の単発改善としている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Anthropic公式研究ブログ(2026-08-10)</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 ほか(詳細は出典一覧スライド参照)</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今回の計算規模</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約60体</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サブエージェント</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『群れ(スワーム)』としてClaude Code内で並行稼働</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約1日半</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稼働時間</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着手から結果が得られるまでの期間</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約3,100万</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出力トークン</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稼働中に生成されたトークンの総量</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約2,400回</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シェルコマンド実行</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計算・検証のために実行されたコマンドの回数</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Anthropic公式研究ブログ(2026-08-10)</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 ほか(詳細は出典一覧スライド参照)</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『群れ(スワーム)』という体制</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約60体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未公開の研究版Claudeが、約60体のサブエージェントとしてClaude Code内で並行稼働した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Anthropic公式研究ブログ(2026-08-10)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研究のおおまかな流れ</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依頼</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Anthropicが未公開の研究版Claudeにリーマン予想への挑戦を依頼</a:t>
            </a:r>
          </a:p>
        </p:txBody>
      </p:sp>
      <p:sp>
        <p:nvSpPr>
          <p:cNvPr id="11" name="Chevron 10"/>
          <p:cNvSpPr/>
          <p:nvPr/>
        </p:nvSpPr>
        <p:spPr>
          <a:xfrm>
            <a:off x="3068040"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並行稼働</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約60体のサブエージェントが群れとしてClaude Code内で稼働</a:t>
            </a:r>
          </a:p>
        </p:txBody>
      </p:sp>
      <p:sp>
        <p:nvSpPr>
          <p:cNvPr id="17" name="Chevron 16"/>
          <p:cNvSpPr/>
          <p:nvPr/>
        </p:nvSpPr>
        <p:spPr>
          <a:xfrm>
            <a:off x="5978804"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着眼点の転換</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臨界線の内外を統一的な幾何空間として扱うアプローチを採用</a:t>
            </a:r>
          </a:p>
        </p:txBody>
      </p:sp>
      <p:sp>
        <p:nvSpPr>
          <p:cNvPr id="23" name="Chevron 22"/>
          <p:cNvSpPr/>
          <p:nvPr/>
        </p:nvSpPr>
        <p:spPr>
          <a:xfrm>
            <a:off x="8889568"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検証</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Leanによる形式検証と、外部数学者2名によるレビューを実施</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 ほか(詳細は出典一覧スライド参照)</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鍵になった着眼点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『分けて考える』のではなく『まとめて考える』発想の転換が鍵になったとされています。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従来: 臨界線上の零点と、線外の零点を別々に分析する発想</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今回: 両者を統一的な幾何空間として扱うアプローチを採用</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この着眼点の転換が、大幅な改善につながったとされている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 ほか(詳細は出典一覧スライド参照)</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検証プロセス: Leanによる形式検証</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結果は、AIの計算結果をそのまま公表したわけではありません。</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結果は形式検証支援システム『Lean』で検証されている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Leanは数学的な証明を機械的に検証できるツール</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AIの出力を人間が鵜呑みにする形にはなっていない</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この後、さらに外部の人間の専門家によるレビューも受けている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 ほか(詳細は出典一覧スライド参照)</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外部の数論学者によるレビュー</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E2A72"/>
                </a:solidFill>
                <a:latin typeface="Yu Gothic"/>
              </a:rPr>
              <a:t>Brian Conrey氏</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外部の数論学者としてレビューに関与</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E2A72"/>
                </a:solidFill>
                <a:latin typeface="Yu Gothic"/>
              </a:rPr>
              <a:t>Dan Goldston氏</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外部の数論学者としてレビューに関与</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Anthropic公式研究ブログ(2026-08-10)</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 ほか(詳細は出典一覧スライド参照)</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初心者向け: 結局これは何が起きたのか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AIが数学の未解決問題を『解いた』わけではない、という整理が重要です。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リーマン予想そのものはまだ未解決のまま</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『証明できている部分の割合』を示す下限が引き上げられた、という成果</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AIが人間に代わって証明を完成させた、という話ではない</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人間の数学者による外部レビューを経て発表されている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 ほか(詳細は出典一覧スライド参照)</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これは数学研究にとって何を意味するか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E2A72"/>
                </a:solidFill>
                <a:latin typeface="Yu Gothic"/>
              </a:rPr>
              <a:t>計算の高速化</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膨大な計算・場合分けを要する問題で、探索を大きく前進させる可能性がある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E2A72"/>
                </a:solidFill>
                <a:latin typeface="Yu Gothic"/>
              </a:rPr>
              <a:t>検証の重要性</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Leanによる形式検証と外部レビューが組み合わさって初めて成果として発表されている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 ほか(詳細は出典一覧スライド参照)</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これはAI研究にとって何を意味するか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E2A72"/>
                </a:solidFill>
                <a:latin typeface="Yu Gothic"/>
              </a:rPr>
              <a:t>長時間タスクの実例</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約1日半・約60体のサブエージェントという、長時間・大規模な自律的タスク遂行の一例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E2A72"/>
                </a:solidFill>
                <a:latin typeface="Yu Gothic"/>
              </a:rPr>
              <a:t>検証可能性の確保</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形式検証と外部専門家レビューを組み合わせることで、成果の信頼性を担保している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 ほか(詳細は出典一覧スライド参照)</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AI研究の発表を見るときのチェックポイント</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一次情報の確認</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発表元(公式ブログ)と数字の出典が明記されているか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外部検証の有無</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自己申告のみか、第三者・外部専門家によるレビューを経ているか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誇張表現の有無</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『解決した』等、実態以上の表現になっていないか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 ほか(詳細は出典一覧スライド参照)</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AIと人間の数学者の関係</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AI(研究版Claude)が担った役割</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大規模な計算・探索の実行</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臨界線内外を統一的に扱う着眼点の適用</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Leanによる形式検証プロセスの実行</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人間の数学者が担った役割</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研究テーマの設定・依頼(Anthropic)</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外部数論学者によるレビュー(Conrey氏・Goldston氏)</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成果の妥当性の最終的な確認</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 ほか(詳細は出典一覧スライド参照)</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本テーマの扱い方についての注記</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本シリーズとAnthropic・Claudeの関係について、正直に開示します。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本シリーズ(AI Company OS)自体が、Claude Codeを使って制作・運用されている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本テーマは、本シリーズ制作AI自身と同一の提供元(Anthropic)による研究成果を扱っている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『画期的』『革命的』等の過度な称賛的表現は避け、公式発表と外部専門家の関与という客観的事実のみを報告している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『AIが数学者を代替する』という対立構造ではなく、外部レビューを含む協働として扱っている</a:t>
            </a:r>
          </a:p>
        </p:txBody>
      </p:sp>
      <p:sp>
        <p:nvSpPr>
          <p:cNvPr id="15" name="Oval 14"/>
          <p:cNvSpPr/>
          <p:nvPr/>
        </p:nvSpPr>
        <p:spPr>
          <a:xfrm>
            <a:off x="457200" y="523036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『Anthropicの製品を使うべき』等、特定企業・製品の利用を推奨する結論にはしていない</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 ほか(詳細は出典一覧スライド参照)</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確認できなかったこと(不明点)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分かっていることと分かっていないことを、はっきり分けます。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研究版Claudeの一般提供時期・正式なモデル名の詳細</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リーマン予想本体の解決に至る具体的な見通し</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約60体のサブエージェントそれぞれの役割分担の詳細</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各報道記事の正確なURL(メディア名は確認できているがURLは特定できず)</a:t>
            </a:r>
          </a:p>
        </p:txBody>
      </p:sp>
      <p:sp>
        <p:nvSpPr>
          <p:cNvPr id="15" name="Oval 14"/>
          <p:cNvSpPr/>
          <p:nvPr/>
        </p:nvSpPr>
        <p:spPr>
          <a:xfrm>
            <a:off x="457200" y="523036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外部レビューの具体的な内容(査読コメントの詳細等)</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 ほか(詳細は出典一覧スライド参照)</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今後の展開(推測、概念図)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今回の成果</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下限67.2%・外部レビュー済み</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数学界での検討</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他の数学者による追試・応用の検討(推測)</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リーマン予想本体</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証明にはさらなる前進が必要(未解決)</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この先の展開は当社の推測であり、確定した計画やタイムラインではない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 ほか(詳細は出典一覧スライド参照)</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67.2%(100%ではない)</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リーマン予想は未解決のまま。今回の成果は『証明できている部分の割合』の大幅な引き上げ</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Anthropic公式研究ブログ(2026-08-10)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主な出典一覧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出典</a:t>
                      </a:r>
                    </a:p>
                  </a:txBody>
                  <a:tcPr>
                    <a:solidFill>
                      <a:srgbClr val="2E2A72"/>
                    </a:solidFill>
                  </a:tcPr>
                </a:tc>
                <a:tc>
                  <a:txBody>
                    <a:bodyPr/>
                    <a:lstStyle/>
                    <a:p>
                      <a:pPr>
                        <a:defRPr sz="1300" b="1">
                          <a:solidFill>
                            <a:srgbClr val="FFFFFF"/>
                          </a:solidFill>
                          <a:latin typeface="Yu Gothic"/>
                        </a:defRPr>
                      </a:pPr>
                      <a:r>
                        <a:t>位置づけ</a:t>
                      </a:r>
                    </a:p>
                  </a:txBody>
                  <a:tcPr>
                    <a:solidFill>
                      <a:srgbClr val="2E2A72"/>
                    </a:solidFill>
                  </a:tcPr>
                </a:tc>
                <a:tc>
                  <a:txBody>
                    <a:bodyPr/>
                    <a:lstStyle/>
                    <a:p>
                      <a:pPr>
                        <a:defRPr sz="1300" b="1">
                          <a:solidFill>
                            <a:srgbClr val="FFFFFF"/>
                          </a:solidFill>
                          <a:latin typeface="Yu Gothic"/>
                        </a:defRPr>
                      </a:pPr>
                      <a:r>
                        <a:t>確認状況</a:t>
                      </a:r>
                    </a:p>
                  </a:txBody>
                  <a:tcPr>
                    <a:solidFill>
                      <a:srgbClr val="2E2A72"/>
                    </a:solidFill>
                  </a:tcPr>
                </a:tc>
              </a:tr>
              <a:tr h="502920">
                <a:tc>
                  <a:txBody>
                    <a:bodyPr/>
                    <a:lstStyle/>
                    <a:p>
                      <a:pPr>
                        <a:defRPr sz="1200">
                          <a:solidFill>
                            <a:srgbClr val="1C1B33"/>
                          </a:solidFill>
                          <a:latin typeface="Yu Gothic"/>
                        </a:defRPr>
                      </a:pPr>
                      <a:r>
                        <a:t>Anthropic公式研究ブログ</a:t>
                      </a:r>
                    </a:p>
                  </a:txBody>
                  <a:tcPr>
                    <a:solidFill>
                      <a:srgbClr val="FFFFFF"/>
                    </a:solidFill>
                  </a:tcPr>
                </a:tc>
                <a:tc>
                  <a:txBody>
                    <a:bodyPr/>
                    <a:lstStyle/>
                    <a:p>
                      <a:pPr>
                        <a:defRPr sz="1200">
                          <a:solidFill>
                            <a:srgbClr val="1C1B33"/>
                          </a:solidFill>
                          <a:latin typeface="Yu Gothic"/>
                        </a:defRPr>
                      </a:pPr>
                      <a:r>
                        <a:t>一次発表元(数字・体制の出典)</a:t>
                      </a:r>
                    </a:p>
                  </a:txBody>
                  <a:tcPr>
                    <a:solidFill>
                      <a:srgbClr val="FFFFFF"/>
                    </a:solidFill>
                  </a:tcPr>
                </a:tc>
                <a:tc>
                  <a:txBody>
                    <a:bodyPr/>
                    <a:lstStyle/>
                    <a:p>
                      <a:pPr>
                        <a:defRPr sz="1200">
                          <a:solidFill>
                            <a:srgbClr val="1C1B33"/>
                          </a:solidFill>
                          <a:latin typeface="Yu Gothic"/>
                        </a:defRPr>
                      </a:pPr>
                      <a:r>
                        <a:t>評価表・タスク指示に基づき確認</a:t>
                      </a:r>
                    </a:p>
                  </a:txBody>
                  <a:tcPr>
                    <a:solidFill>
                      <a:srgbClr val="FFFFFF"/>
                    </a:solidFill>
                  </a:tcPr>
                </a:tc>
              </a:tr>
              <a:tr h="502920">
                <a:tc>
                  <a:txBody>
                    <a:bodyPr/>
                    <a:lstStyle/>
                    <a:p>
                      <a:pPr>
                        <a:defRPr sz="1200">
                          <a:solidFill>
                            <a:srgbClr val="1C1B33"/>
                          </a:solidFill>
                          <a:latin typeface="Yu Gothic"/>
                        </a:defRPr>
                      </a:pPr>
                      <a:r>
                        <a:t>AlphaSignal</a:t>
                      </a:r>
                    </a:p>
                  </a:txBody>
                  <a:tcPr>
                    <a:solidFill>
                      <a:srgbClr val="F4F3FC"/>
                    </a:solidFill>
                  </a:tcPr>
                </a:tc>
                <a:tc>
                  <a:txBody>
                    <a:bodyPr/>
                    <a:lstStyle/>
                    <a:p>
                      <a:pPr>
                        <a:defRPr sz="1200">
                          <a:solidFill>
                            <a:srgbClr val="1C1B33"/>
                          </a:solidFill>
                          <a:latin typeface="Yu Gothic"/>
                        </a:defRPr>
                      </a:pPr>
                      <a:r>
                        <a:t>見出しで数字を報道</a:t>
                      </a:r>
                    </a:p>
                  </a:txBody>
                  <a:tcPr>
                    <a:solidFill>
                      <a:srgbClr val="F4F3FC"/>
                    </a:solidFill>
                  </a:tcPr>
                </a:tc>
                <a:tc>
                  <a:txBody>
                    <a:bodyPr/>
                    <a:lstStyle/>
                    <a:p>
                      <a:pPr>
                        <a:defRPr sz="1200">
                          <a:solidFill>
                            <a:srgbClr val="1C1B33"/>
                          </a:solidFill>
                          <a:latin typeface="Yu Gothic"/>
                        </a:defRPr>
                      </a:pPr>
                      <a:r>
                        <a:t>メディア名を確認(個別記事URLは不明)</a:t>
                      </a:r>
                    </a:p>
                  </a:txBody>
                  <a:tcPr>
                    <a:solidFill>
                      <a:srgbClr val="F4F3FC"/>
                    </a:solidFill>
                  </a:tcPr>
                </a:tc>
              </a:tr>
              <a:tr h="502920">
                <a:tc>
                  <a:txBody>
                    <a:bodyPr/>
                    <a:lstStyle/>
                    <a:p>
                      <a:pPr>
                        <a:defRPr sz="1200">
                          <a:solidFill>
                            <a:srgbClr val="1C1B33"/>
                          </a:solidFill>
                          <a:latin typeface="Yu Gothic"/>
                        </a:defRPr>
                      </a:pPr>
                      <a:r>
                        <a:t>AI Weekly / CryptoBriefing / KuCoin / XenoSpectrum</a:t>
                      </a:r>
                    </a:p>
                  </a:txBody>
                  <a:tcPr>
                    <a:solidFill>
                      <a:srgbClr val="FFFFFF"/>
                    </a:solidFill>
                  </a:tcPr>
                </a:tc>
                <a:tc>
                  <a:txBody>
                    <a:bodyPr/>
                    <a:lstStyle/>
                    <a:p>
                      <a:pPr>
                        <a:defRPr sz="1200">
                          <a:solidFill>
                            <a:srgbClr val="1C1B33"/>
                          </a:solidFill>
                          <a:latin typeface="Yu Gothic"/>
                        </a:defRPr>
                      </a:pPr>
                      <a:r>
                        <a:t>関連ニュースとして紹介</a:t>
                      </a:r>
                    </a:p>
                  </a:txBody>
                  <a:tcPr>
                    <a:solidFill>
                      <a:srgbClr val="FFFFFF"/>
                    </a:solidFill>
                  </a:tcPr>
                </a:tc>
                <a:tc>
                  <a:txBody>
                    <a:bodyPr/>
                    <a:lstStyle/>
                    <a:p>
                      <a:pPr>
                        <a:defRPr sz="1200">
                          <a:solidFill>
                            <a:srgbClr val="1C1B33"/>
                          </a:solidFill>
                          <a:latin typeface="Yu Gothic"/>
                        </a:defRPr>
                      </a:pPr>
                      <a:r>
                        <a:t>メディア名を確認(個別記事URLは不明)</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Anthropic公式研究ブログ ほか(詳細は出典一覧スライド参照)</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160年の問いは、まだ終わっていない。</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6D9F5"/>
                </a:solidFill>
                <a:latin typeface="Yu Gothic"/>
              </a:rPr>
              <a:t>今回動いたのは67.2%まで。残りをどう埋めていくかは、これからの数学界の課題です。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72"/>
                </a:solidFill>
                <a:latin typeface="Yu Gothic"/>
              </a:rPr>
              <a:t>続報が出た際は、あらためて出典付きで整理します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