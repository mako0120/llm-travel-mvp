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組織単位でも60万以上が利用しているとGoogleは発表している。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追加された機能を整理する。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コード実行機能の提供状況を表で整理する。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改称後の位置づけを図で示す。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改称前後の変化を表で整理する。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想定される主な用途を紹介する。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機能・ブランドの違いを対比で見せる。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Google製品全体の中での位置づけを表で整理する。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利用者3,000万人のツールが、名前と機能を変えた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Google「NotebookLM」を「Gemini Notebook」に改称、コード実行機能を追加(2026年7月16日)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9to5Google, PPC Land, Pulse2(2026-07-16)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何が変わったのかを詳しく見る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NotebookLM(旧称)</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自分の資料を読み込ませて要約・質問応答ができるGoogleのAIノートツール</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コード実行機能</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AIが自らコードを書いて実行し、データ分析等を行う機能</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発表企業</a:t>
                      </a:r>
                    </a:p>
                  </a:txBody>
                  <a:tcPr>
                    <a:solidFill>
                      <a:srgbClr val="FFFFFF"/>
                    </a:solidFill>
                  </a:tcPr>
                </a:tc>
                <a:tc>
                  <a:txBody>
                    <a:bodyPr/>
                    <a:lstStyle/>
                    <a:p>
                      <a:pPr>
                        <a:defRPr sz="1200">
                          <a:solidFill>
                            <a:srgbClr val="1C2230"/>
                          </a:solidFill>
                          <a:latin typeface="Yu Gothic"/>
                        </a:defRPr>
                      </a:pPr>
                      <a:r>
                        <a:t>Google</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2026年7月16日</a:t>
                      </a:r>
                    </a:p>
                  </a:txBody>
                  <a:tcPr>
                    <a:solidFill>
                      <a:srgbClr val="F1F5FA"/>
                    </a:solidFill>
                  </a:tcPr>
                </a:tc>
              </a:tr>
              <a:tr h="502920">
                <a:tc>
                  <a:txBody>
                    <a:bodyPr/>
                    <a:lstStyle/>
                    <a:p>
                      <a:pPr>
                        <a:defRPr sz="1200">
                          <a:solidFill>
                            <a:srgbClr val="1C2230"/>
                          </a:solidFill>
                          <a:latin typeface="Yu Gothic"/>
                        </a:defRPr>
                      </a:pPr>
                      <a:r>
                        <a:t>変更内容</a:t>
                      </a:r>
                    </a:p>
                  </a:txBody>
                  <a:tcPr>
                    <a:solidFill>
                      <a:srgbClr val="FFFFFF"/>
                    </a:solidFill>
                  </a:tcPr>
                </a:tc>
                <a:tc>
                  <a:txBody>
                    <a:bodyPr/>
                    <a:lstStyle/>
                    <a:p>
                      <a:pPr>
                        <a:defRPr sz="1200">
                          <a:solidFill>
                            <a:srgbClr val="1C2230"/>
                          </a:solidFill>
                          <a:latin typeface="Yu Gothic"/>
                        </a:defRPr>
                      </a:pPr>
                      <a:r>
                        <a:t>「NotebookLM」を「Gemini Notebook」に改称</a:t>
                      </a:r>
                    </a:p>
                  </a:txBody>
                  <a:tcPr>
                    <a:solidFill>
                      <a:srgbClr val="FFFFFF"/>
                    </a:solidFill>
                  </a:tcPr>
                </a:tc>
              </a:tr>
              <a:tr h="502920">
                <a:tc>
                  <a:txBody>
                    <a:bodyPr/>
                    <a:lstStyle/>
                    <a:p>
                      <a:pPr>
                        <a:defRPr sz="1200">
                          <a:solidFill>
                            <a:srgbClr val="1C2230"/>
                          </a:solidFill>
                          <a:latin typeface="Yu Gothic"/>
                        </a:defRPr>
                      </a:pPr>
                      <a:r>
                        <a:t>発表者</a:t>
                      </a:r>
                    </a:p>
                  </a:txBody>
                  <a:tcPr>
                    <a:solidFill>
                      <a:srgbClr val="F1F5FA"/>
                    </a:solidFill>
                  </a:tcPr>
                </a:tc>
                <a:tc>
                  <a:txBody>
                    <a:bodyPr/>
                    <a:lstStyle/>
                    <a:p>
                      <a:pPr>
                        <a:defRPr sz="1200">
                          <a:solidFill>
                            <a:srgbClr val="1C2230"/>
                          </a:solidFill>
                          <a:latin typeface="Yu Gothic"/>
                        </a:defRPr>
                      </a:pPr>
                      <a:r>
                        <a:t>Google Labs・Geminiアプリ・AI Studio担当VP Josh Woodward氏</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個人利用者数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3,000万人超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Google公式発表による(2026年7月16日時点)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PPC Land(2026-07-16時点)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追加された主な機能</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コード実行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各ノートブックにセキュアなクラウドコンピュータが付き、コードの記述・実行が可能に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成果物の生成</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資料をもとにした分析・成果物の作成をAIが行う</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ブランドの統一</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ロゴがGeminiと共通の青・紫グラデーションに変更</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9to5Google(2026-07-16)</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機能の提供状況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対象</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Google AI Ultraユーザー</a:t>
                      </a:r>
                    </a:p>
                  </a:txBody>
                  <a:tcPr>
                    <a:solidFill>
                      <a:srgbClr val="FFFFFF"/>
                    </a:solidFill>
                  </a:tcPr>
                </a:tc>
                <a:tc>
                  <a:txBody>
                    <a:bodyPr/>
                    <a:lstStyle/>
                    <a:p>
                      <a:pPr>
                        <a:defRPr sz="1200">
                          <a:solidFill>
                            <a:srgbClr val="1C2230"/>
                          </a:solidFill>
                          <a:latin typeface="Yu Gothic"/>
                        </a:defRPr>
                      </a:pPr>
                      <a:r>
                        <a:t>利用可能</a:t>
                      </a:r>
                    </a:p>
                  </a:txBody>
                  <a:tcPr>
                    <a:solidFill>
                      <a:srgbClr val="FFFFFF"/>
                    </a:solidFill>
                  </a:tcPr>
                </a:tc>
              </a:tr>
              <a:tr h="502920">
                <a:tc>
                  <a:txBody>
                    <a:bodyPr/>
                    <a:lstStyle/>
                    <a:p>
                      <a:pPr>
                        <a:defRPr sz="1200">
                          <a:solidFill>
                            <a:srgbClr val="1C2230"/>
                          </a:solidFill>
                          <a:latin typeface="Yu Gothic"/>
                        </a:defRPr>
                      </a:pPr>
                      <a:r>
                        <a:t>一部のWorkspace法人向けユーザー</a:t>
                      </a:r>
                    </a:p>
                  </a:txBody>
                  <a:tcPr>
                    <a:solidFill>
                      <a:srgbClr val="F1F5FA"/>
                    </a:solidFill>
                  </a:tcPr>
                </a:tc>
                <a:tc>
                  <a:txBody>
                    <a:bodyPr/>
                    <a:lstStyle/>
                    <a:p>
                      <a:pPr>
                        <a:defRPr sz="1200">
                          <a:solidFill>
                            <a:srgbClr val="1C2230"/>
                          </a:solidFill>
                          <a:latin typeface="Yu Gothic"/>
                        </a:defRPr>
                      </a:pPr>
                      <a:r>
                        <a:t>利用可能</a:t>
                      </a:r>
                    </a:p>
                  </a:txBody>
                  <a:tcPr>
                    <a:solidFill>
                      <a:srgbClr val="F1F5FA"/>
                    </a:solidFill>
                  </a:tcPr>
                </a:tc>
              </a:tr>
              <a:tr h="502920">
                <a:tc>
                  <a:txBody>
                    <a:bodyPr/>
                    <a:lstStyle/>
                    <a:p>
                      <a:pPr>
                        <a:defRPr sz="1200">
                          <a:solidFill>
                            <a:srgbClr val="1C2230"/>
                          </a:solidFill>
                          <a:latin typeface="Yu Gothic"/>
                        </a:defRPr>
                      </a:pPr>
                      <a:r>
                        <a:t>Web版Google AI Proユーザー</a:t>
                      </a:r>
                    </a:p>
                  </a:txBody>
                  <a:tcPr>
                    <a:solidFill>
                      <a:srgbClr val="FFFFFF"/>
                    </a:solidFill>
                  </a:tcPr>
                </a:tc>
                <a:tc>
                  <a:txBody>
                    <a:bodyPr/>
                    <a:lstStyle/>
                    <a:p>
                      <a:pPr>
                        <a:defRPr sz="1200">
                          <a:solidFill>
                            <a:srgbClr val="1C2230"/>
                          </a:solidFill>
                          <a:latin typeface="Yu Gothic"/>
                        </a:defRPr>
                      </a:pPr>
                      <a:r>
                        <a:t>今後数週間以内に展開予定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PPC Land(2026-07-16時点)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Gemini Notebookの位置づけ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独立したリサーチツール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資料の要約・質問応答という役割は維持</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Geminiエコシステムとの連携強化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Google検索の「AIモード」内でも利用可能になる予定</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ブランドの統一</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「Gemini」ブランドへの一本化</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9to5Google(2026-07-16)</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改称前後の比較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改称前(NotebookLM)</a:t>
                      </a:r>
                    </a:p>
                  </a:txBody>
                  <a:tcPr>
                    <a:solidFill>
                      <a:srgbClr val="2B3A55"/>
                    </a:solidFill>
                  </a:tcPr>
                </a:tc>
                <a:tc>
                  <a:txBody>
                    <a:bodyPr/>
                    <a:lstStyle/>
                    <a:p>
                      <a:pPr>
                        <a:defRPr sz="1300" b="1">
                          <a:solidFill>
                            <a:srgbClr val="FFFFFF"/>
                          </a:solidFill>
                          <a:latin typeface="Yu Gothic"/>
                        </a:defRPr>
                      </a:pPr>
                      <a:r>
                        <a:t>改称後(Gemini Notebook)</a:t>
                      </a:r>
                    </a:p>
                  </a:txBody>
                  <a:tcPr>
                    <a:solidFill>
                      <a:srgbClr val="2B3A55"/>
                    </a:solidFill>
                  </a:tcPr>
                </a:tc>
              </a:tr>
              <a:tr h="502920">
                <a:tc>
                  <a:txBody>
                    <a:bodyPr/>
                    <a:lstStyle/>
                    <a:p>
                      <a:pPr>
                        <a:defRPr sz="1200">
                          <a:solidFill>
                            <a:srgbClr val="1C2230"/>
                          </a:solidFill>
                          <a:latin typeface="Yu Gothic"/>
                        </a:defRPr>
                      </a:pPr>
                      <a:r>
                        <a:t>名称</a:t>
                      </a:r>
                    </a:p>
                  </a:txBody>
                  <a:tcPr>
                    <a:solidFill>
                      <a:srgbClr val="FFFFFF"/>
                    </a:solidFill>
                  </a:tcPr>
                </a:tc>
                <a:tc>
                  <a:txBody>
                    <a:bodyPr/>
                    <a:lstStyle/>
                    <a:p>
                      <a:pPr>
                        <a:defRPr sz="1200">
                          <a:solidFill>
                            <a:srgbClr val="1C2230"/>
                          </a:solidFill>
                          <a:latin typeface="Yu Gothic"/>
                        </a:defRPr>
                      </a:pPr>
                      <a:r>
                        <a:t>NotebookLM</a:t>
                      </a:r>
                    </a:p>
                  </a:txBody>
                  <a:tcPr>
                    <a:solidFill>
                      <a:srgbClr val="FFFFFF"/>
                    </a:solidFill>
                  </a:tcPr>
                </a:tc>
                <a:tc>
                  <a:txBody>
                    <a:bodyPr/>
                    <a:lstStyle/>
                    <a:p>
                      <a:pPr>
                        <a:defRPr sz="1200">
                          <a:solidFill>
                            <a:srgbClr val="1C2230"/>
                          </a:solidFill>
                          <a:latin typeface="Yu Gothic"/>
                        </a:defRPr>
                      </a:pPr>
                      <a:r>
                        <a:t>Gemini Notebook</a:t>
                      </a:r>
                    </a:p>
                  </a:txBody>
                  <a:tcPr>
                    <a:solidFill>
                      <a:srgbClr val="FFFFFF"/>
                    </a:solidFill>
                  </a:tcPr>
                </a:tc>
              </a:tr>
              <a:tr h="502920">
                <a:tc>
                  <a:txBody>
                    <a:bodyPr/>
                    <a:lstStyle/>
                    <a:p>
                      <a:pPr>
                        <a:defRPr sz="1200">
                          <a:solidFill>
                            <a:srgbClr val="1C2230"/>
                          </a:solidFill>
                          <a:latin typeface="Yu Gothic"/>
                        </a:defRPr>
                      </a:pPr>
                      <a:r>
                        <a:t>ロゴ</a:t>
                      </a:r>
                    </a:p>
                  </a:txBody>
                  <a:tcPr>
                    <a:solidFill>
                      <a:srgbClr val="F1F5FA"/>
                    </a:solidFill>
                  </a:tcPr>
                </a:tc>
                <a:tc>
                  <a:txBody>
                    <a:bodyPr/>
                    <a:lstStyle/>
                    <a:p>
                      <a:pPr>
                        <a:defRPr sz="1200">
                          <a:solidFill>
                            <a:srgbClr val="1C2230"/>
                          </a:solidFill>
                          <a:latin typeface="Yu Gothic"/>
                        </a:defRPr>
                      </a:pPr>
                      <a:r>
                        <a:t>従来のデザイン</a:t>
                      </a:r>
                    </a:p>
                  </a:txBody>
                  <a:tcPr>
                    <a:solidFill>
                      <a:srgbClr val="F1F5FA"/>
                    </a:solidFill>
                  </a:tcPr>
                </a:tc>
                <a:tc>
                  <a:txBody>
                    <a:bodyPr/>
                    <a:lstStyle/>
                    <a:p>
                      <a:pPr>
                        <a:defRPr sz="1200">
                          <a:solidFill>
                            <a:srgbClr val="1C2230"/>
                          </a:solidFill>
                          <a:latin typeface="Yu Gothic"/>
                        </a:defRPr>
                      </a:pPr>
                      <a:r>
                        <a:t>Geminiと共通のグラデーション</a:t>
                      </a:r>
                    </a:p>
                  </a:txBody>
                  <a:tcPr>
                    <a:solidFill>
                      <a:srgbClr val="F1F5FA"/>
                    </a:solidFill>
                  </a:tcPr>
                </a:tc>
              </a:tr>
              <a:tr h="502920">
                <a:tc>
                  <a:txBody>
                    <a:bodyPr/>
                    <a:lstStyle/>
                    <a:p>
                      <a:pPr>
                        <a:defRPr sz="1200">
                          <a:solidFill>
                            <a:srgbClr val="1C2230"/>
                          </a:solidFill>
                          <a:latin typeface="Yu Gothic"/>
                        </a:defRPr>
                      </a:pPr>
                      <a:r>
                        <a:t>コード実行</a:t>
                      </a:r>
                    </a:p>
                  </a:txBody>
                  <a:tcPr>
                    <a:solidFill>
                      <a:srgbClr val="FFFFFF"/>
                    </a:solidFill>
                  </a:tcPr>
                </a:tc>
                <a:tc>
                  <a:txBody>
                    <a:bodyPr/>
                    <a:lstStyle/>
                    <a:p>
                      <a:pPr>
                        <a:defRPr sz="1200">
                          <a:solidFill>
                            <a:srgbClr val="1C2230"/>
                          </a:solidFill>
                          <a:latin typeface="Yu Gothic"/>
                        </a:defRPr>
                      </a:pPr>
                      <a:r>
                        <a:t>なし</a:t>
                      </a:r>
                    </a:p>
                  </a:txBody>
                  <a:tcPr>
                    <a:solidFill>
                      <a:srgbClr val="FFFFFF"/>
                    </a:solidFill>
                  </a:tcPr>
                </a:tc>
                <a:tc>
                  <a:txBody>
                    <a:bodyPr/>
                    <a:lstStyle/>
                    <a:p>
                      <a:pPr>
                        <a:defRPr sz="1200">
                          <a:solidFill>
                            <a:srgbClr val="1C2230"/>
                          </a:solidFill>
                          <a:latin typeface="Yu Gothic"/>
                        </a:defRPr>
                      </a:pPr>
                      <a:r>
                        <a:t>セキュアなクラウドコンピュータで利用可能</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Gemini Notebookの主な用途(参考)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研究・学習</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論文や資料を読み込ませて要約・質問応答に活用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業務資料の整理</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社内資料やレポートの要点整理に活用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データ分析</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コード実行機能を使った簡易的なデータ分析に活用</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9to5Google(2026-07-16)</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従来のNotebookLMとGemini Notebookの違い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資料の要約・質問応答が中心</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「language model」を含む名称</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Gemini Notebook</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コードを書いて実行し分析できる</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Geminiブランドに統一された親しみやすい名称</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参考: なぜ改称に踏み切ったのか(推測)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ブランドの統一</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AI製品を「Gemini」ブランドに統一し認知度を高めたい狙いがあると考えられる(推測)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親しみやすさ</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「language model」を含まない名称にすることで、より親しみやすい印象を狙ったと考えられる(推測)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出典の確認結果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複数情報源で2026年7月16日と一致</a:t>
                      </a:r>
                    </a:p>
                  </a:txBody>
                  <a:tcPr>
                    <a:solidFill>
                      <a:srgbClr val="FFFFFF"/>
                    </a:solidFill>
                  </a:tcPr>
                </a:tc>
              </a:tr>
              <a:tr h="502920">
                <a:tc>
                  <a:txBody>
                    <a:bodyPr/>
                    <a:lstStyle/>
                    <a:p>
                      <a:pPr>
                        <a:defRPr sz="1200">
                          <a:solidFill>
                            <a:srgbClr val="1C2230"/>
                          </a:solidFill>
                          <a:latin typeface="Yu Gothic"/>
                        </a:defRPr>
                      </a:pPr>
                      <a:r>
                        <a:t>利用者数(3,000万人・60万組織)</a:t>
                      </a:r>
                    </a:p>
                  </a:txBody>
                  <a:tcPr>
                    <a:solidFill>
                      <a:srgbClr val="F1F5FA"/>
                    </a:solidFill>
                  </a:tcPr>
                </a:tc>
                <a:tc>
                  <a:txBody>
                    <a:bodyPr/>
                    <a:lstStyle/>
                    <a:p>
                      <a:pPr>
                        <a:defRPr sz="1200">
                          <a:solidFill>
                            <a:srgbClr val="1C2230"/>
                          </a:solidFill>
                          <a:latin typeface="Yu Gothic"/>
                        </a:defRPr>
                      </a:pPr>
                      <a:r>
                        <a:t>PPC Land等で確認</a:t>
                      </a:r>
                    </a:p>
                  </a:txBody>
                  <a:tcPr>
                    <a:solidFill>
                      <a:srgbClr val="F1F5FA"/>
                    </a:solidFill>
                  </a:tcPr>
                </a:tc>
              </a:tr>
              <a:tr h="502920">
                <a:tc>
                  <a:txBody>
                    <a:bodyPr/>
                    <a:lstStyle/>
                    <a:p>
                      <a:pPr>
                        <a:defRPr sz="1200">
                          <a:solidFill>
                            <a:srgbClr val="1C2230"/>
                          </a:solidFill>
                          <a:latin typeface="Yu Gothic"/>
                        </a:defRPr>
                      </a:pPr>
                      <a:r>
                        <a:t>コード実行機能の提供状況</a:t>
                      </a:r>
                    </a:p>
                  </a:txBody>
                  <a:tcPr>
                    <a:solidFill>
                      <a:srgbClr val="FFFFFF"/>
                    </a:solidFill>
                  </a:tcPr>
                </a:tc>
                <a:tc>
                  <a:txBody>
                    <a:bodyPr/>
                    <a:lstStyle/>
                    <a:p>
                      <a:pPr>
                        <a:defRPr sz="1200">
                          <a:solidFill>
                            <a:srgbClr val="1C2230"/>
                          </a:solidFill>
                          <a:latin typeface="Yu Gothic"/>
                        </a:defRPr>
                      </a:pPr>
                      <a:r>
                        <a:t>9to5Google・PPC Landで確認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Googleの他のAI製品との関係(参考)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製品</a:t>
                      </a:r>
                    </a:p>
                  </a:txBody>
                  <a:tcPr>
                    <a:solidFill>
                      <a:srgbClr val="2B3A55"/>
                    </a:solidFill>
                  </a:tcPr>
                </a:tc>
                <a:tc>
                  <a:txBody>
                    <a:bodyPr/>
                    <a:lstStyle/>
                    <a:p>
                      <a:pPr>
                        <a:defRPr sz="1300" b="1">
                          <a:solidFill>
                            <a:srgbClr val="FFFFFF"/>
                          </a:solidFill>
                          <a:latin typeface="Yu Gothic"/>
                        </a:defRPr>
                      </a:pPr>
                      <a:r>
                        <a:t>位置づけ</a:t>
                      </a:r>
                    </a:p>
                  </a:txBody>
                  <a:tcPr>
                    <a:solidFill>
                      <a:srgbClr val="2B3A55"/>
                    </a:solidFill>
                  </a:tcPr>
                </a:tc>
              </a:tr>
              <a:tr h="502920">
                <a:tc>
                  <a:txBody>
                    <a:bodyPr/>
                    <a:lstStyle/>
                    <a:p>
                      <a:pPr>
                        <a:defRPr sz="1200">
                          <a:solidFill>
                            <a:srgbClr val="1C2230"/>
                          </a:solidFill>
                          <a:latin typeface="Yu Gothic"/>
                        </a:defRPr>
                      </a:pPr>
                      <a:r>
                        <a:t>Gemini(チャットアプリ)</a:t>
                      </a:r>
                    </a:p>
                  </a:txBody>
                  <a:tcPr>
                    <a:solidFill>
                      <a:srgbClr val="FFFFFF"/>
                    </a:solidFill>
                  </a:tcPr>
                </a:tc>
                <a:tc>
                  <a:txBody>
                    <a:bodyPr/>
                    <a:lstStyle/>
                    <a:p>
                      <a:pPr>
                        <a:defRPr sz="1200">
                          <a:solidFill>
                            <a:srgbClr val="1C2230"/>
                          </a:solidFill>
                          <a:latin typeface="Yu Gothic"/>
                        </a:defRPr>
                      </a:pPr>
                      <a:r>
                        <a:t>対話形式のAIアシスタント</a:t>
                      </a:r>
                    </a:p>
                  </a:txBody>
                  <a:tcPr>
                    <a:solidFill>
                      <a:srgbClr val="FFFFFF"/>
                    </a:solidFill>
                  </a:tcPr>
                </a:tc>
              </a:tr>
              <a:tr h="502920">
                <a:tc>
                  <a:txBody>
                    <a:bodyPr/>
                    <a:lstStyle/>
                    <a:p>
                      <a:pPr>
                        <a:defRPr sz="1200">
                          <a:solidFill>
                            <a:srgbClr val="1C2230"/>
                          </a:solidFill>
                          <a:latin typeface="Yu Gothic"/>
                        </a:defRPr>
                      </a:pPr>
                      <a:r>
                        <a:t>Gemini Notebook</a:t>
                      </a:r>
                    </a:p>
                  </a:txBody>
                  <a:tcPr>
                    <a:solidFill>
                      <a:srgbClr val="F1F5FA"/>
                    </a:solidFill>
                  </a:tcPr>
                </a:tc>
                <a:tc>
                  <a:txBody>
                    <a:bodyPr/>
                    <a:lstStyle/>
                    <a:p>
                      <a:pPr>
                        <a:defRPr sz="1200">
                          <a:solidFill>
                            <a:srgbClr val="1C2230"/>
                          </a:solidFill>
                          <a:latin typeface="Yu Gothic"/>
                        </a:defRPr>
                      </a:pPr>
                      <a:r>
                        <a:t>資料を読み込ませて要約・分析するリサーチツール</a:t>
                      </a:r>
                    </a:p>
                  </a:txBody>
                  <a:tcPr>
                    <a:solidFill>
                      <a:srgbClr val="F1F5FA"/>
                    </a:solidFill>
                  </a:tcPr>
                </a:tc>
              </a:tr>
              <a:tr h="502920">
                <a:tc>
                  <a:txBody>
                    <a:bodyPr/>
                    <a:lstStyle/>
                    <a:p>
                      <a:pPr>
                        <a:defRPr sz="1200">
                          <a:solidFill>
                            <a:srgbClr val="1C2230"/>
                          </a:solidFill>
                          <a:latin typeface="Yu Gothic"/>
                        </a:defRPr>
                      </a:pPr>
                      <a:r>
                        <a:t>Google検索「AIモード」</a:t>
                      </a:r>
                    </a:p>
                  </a:txBody>
                  <a:tcPr>
                    <a:solidFill>
                      <a:srgbClr val="FFFFFF"/>
                    </a:solidFill>
                  </a:tcPr>
                </a:tc>
                <a:tc>
                  <a:txBody>
                    <a:bodyPr/>
                    <a:lstStyle/>
                    <a:p>
                      <a:pPr>
                        <a:defRPr sz="1200">
                          <a:solidFill>
                            <a:srgbClr val="1C2230"/>
                          </a:solidFill>
                          <a:latin typeface="Yu Gothic"/>
                        </a:defRPr>
                      </a:pPr>
                      <a:r>
                        <a:t>今後Gemini Notebookとの連携が予定されている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9to5Google(2026-07-16)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こんな人におすすめ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資料整理・リサーチをAIで効率化したい人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NotebookLM(Gemini Notebook)を使ったことがある人・興味がある人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AIによるデータ分析に関心がある人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コード実行機能を使ってみたい人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よくある疑問(Q&amp;A)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無料で使える?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コード実行機能はまずAI Ultra・一部法人向けユーザー向けで、Pro向けは今後展開予定</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日本語でも使える?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コード実行機能の日本語対応の詳細は本調査時点では確認できていない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Web版Google AI Proへの展開の具体的な時期は確認できなかった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コード実行機能の日本語対応の詳細は確認できなかった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OpenAI「ChatGPT Health」</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医療という高リスク領域かつ係争中の訴訟と重なるため見送り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Huawei Cloud「Agentic Infrastructure」タイ</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企業向け技術色が強く一般視聴者への訴求力に欠けるため見送り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AIツールのブランド統合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個別ツールが大きなAIブランドに統一されていく流れ</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リサーチとコード実行の融合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資料の理解と分析・実行が1つのツールでできるようになる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段階的な機能展開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上位プランから順に新機能が提供される流れ</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これは何を意味するのか(利用者にとって)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資料の要約だけでなく、その場でデータ分析まで行える可能性が広がる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新機能は上位プランから順に展開されるため、自分のプランでの利用可否を確認することが大切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自分の契約プラン</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 Ultra・Workspace・Proのいずれかを確認する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対応言語</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日本語での利用状況を確認する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既存データの扱い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従来のNotebookLMのデータがどう引き継がれるか確認する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①公式サイトを確認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Gemini Notebookの提供状況を確認する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②資料を用意する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要約・分析したい資料を整理する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③小さく試す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1つの資料から要約・質問応答を試してみる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個人にとっての影響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資料整理・リサーチの効率化に使えるツールの選択肢が広がっている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AIが生成した分析結果は、自分でも内容を確認することが大切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Web版Proへの展開の具体的な時期、日本語対応の詳細は確認できなかった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既存のNotebookLMデータの引き継ぎ方法の詳細も本調査時点では確認できていない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企業の製品改称・機能追加という事実を淡々と紹介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誇張表現を避ける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「革命的」等の断定的な表現は避けている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9to5Google(公式発表内容の報道) / PPC Land</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Pulse2 / Northeast Times / EdTech Innovation Hub</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リサーチツールが、分析・実行までできる場所へ変わる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3,000万人が使うNotebookLMが、Gemini Notebookとしてコード実行機能を備えた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興味があれば、公式サイトで提供状況を確認してみる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AIツールのブランド統合・機能拡張の動向は今後も続くテーマ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