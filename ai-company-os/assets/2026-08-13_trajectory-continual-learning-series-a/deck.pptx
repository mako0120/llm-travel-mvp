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評価額(百万ドル)</c:v>
                </c:pt>
              </c:strCache>
            </c:strRef>
          </c:tx>
          <c:spPr>
            <a:solidFill>
              <a:srgbClr val="3A4750"/>
            </a:solidFill>
          </c:spPr>
          <c:cat>
            <c:strRef>
              <c:f>Sheet1!$A$2:$A$3</c:f>
              <c:strCache>
                <c:ptCount val="2"/>
                <c:pt idx="0">
                  <c:v>シード(2026年5月)</c:v>
                </c:pt>
                <c:pt idx="1">
                  <c:v>シリーズA(2026年8月11日)</c:v>
                </c:pt>
              </c:strCache>
            </c:strRef>
          </c:cat>
          <c:val>
            <c:numRef>
              <c:f>Sheet1!$B$2:$B$3</c:f>
              <c:numCache>
                <c:formatCode>General</c:formatCode>
                <c:ptCount val="2"/>
                <c:pt idx="0">
                  <c:v>115</c:v>
                </c:pt>
                <c:pt idx="1">
                  <c:v>300</c:v>
                </c:pt>
              </c:numCache>
            </c:numRef>
          </c:val>
        </c:ser>
        <c:dLbls>
          <c:numFmt formatCode="$#,##0" sourceLinked="0"/>
          <c:txPr>
            <a:bodyPr/>
            <a:lstStyle/>
            <a:p>
              <a:pPr>
                <a:defRPr sz="1200" b="1">
                  <a:solidFill>
                    <a:srgbClr val="3A4750"/>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2026年8月11日、サンフランシスコ拠点のAI研究・プロダクトラボTrajectoryが、Sequoia Capital主導のシリーズAで4,000万ドルを調達し、評価額が3億ドルになったと報じられました。今日はこの発表内容を出典付きで整理してお伝えします。技術的な優位性を断定する内容ではなく、事実関係の整理に徹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結論から確認します。今回のシリーズAは4,000万ドル、評価額は3億ドルです。Sequoia Capitalがリードし、2026年5月のシードラウンドから数か月で評価額が「約3倍」になったと報じられています。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今日はこの5つの流れでお伝えします。専門用語をかみ砕きながら、事実と推測、確認できなかったことをはっきり分けて整理します。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このテーマは着手日から2日以内という新しい発表に基づいています。評価額の急成長ぶり、著名な出身企業の人材が集まっている点が注目点です。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Trajectoryは、2026年にサンフランシスコで創業されたAI研究・プロダクトラボです。CEOのRonak Malde氏を含む共同創業者3人が設立し、継続学習型のAIプラットフォーム開発を掲げています。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継続学習とは、モデルが利用のたびに新しい情報を取り込み賢くなっていく仕組みです。従来の固定された静的モデルと対比しながら、次のスライド以降で詳しく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静的なモデルと継続学習型モデルの違いを比較します。従来のモデルは学習完了後は基本的に固定されますが、Trajectoryは利用のたびに新しい情報を取り込む方向性を掲げています。ただし具体的な技術方式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背景は業界で一般的に指摘される課題であり、Trajectory固有の主張として断定しているわけではありません。こうした課題への対応を掲げるスタートアップの一つとして、Trajectoryが報じられているという位置づけ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評価額の推移をグラフにしました。2026年5月のシードラウンド時点の1.15億ドルから、今回のシリーズAで3億ドルへと大きく伸びています。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評価額の伸びを確認します。報道では「約3倍」と表現されていますが、1.15億ドルから3億ドルへの単純計算では約2.6倍にあたります。誇張にならないよう、両方の数字を正直にお伝えします。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資金調達の内訳を一覧にしました。シードラウンドはConvictionが主導し1,500万ドル、シリーズAはSequoia Capitalが主導し4,000万ドルを調達しています。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創業メンバーを紹介します。CEOのRonak Malde氏に加え、Arjun Karanam氏・Michael Elabd氏の3人が共同創業者として2026年に設立しました。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チームの出身企業を一覧にしました。Google DeepMind、OpenAI、Apple、Meta Superintelligence Labs、Amazon AGI、Scale AI、Stripe、Figmaという幅広い企業の出身者で構成されています。個々のメンバーとの対応関係までは報道からは確認できていません。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エンジェル投資家を紹介します。GoogleのJeff Dean氏、スタンフォード大学のFei-Fei Li氏という著名な人物が名を連ねていると報じられています。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Notion・Dropbox・Braintrust・Hugging Faceといった著名なプロダクトの創業者もエンジェル投資家として出資したと報じられています。個人名までは本調査の範囲では確認できていません。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継続学習プラットフォームの概念を図にしました。モデルの利用から学習・更新を経て、改善されたモデルが次の利用に反映されるというループのコンセプトです。ただし具体的な技術方式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時系列で見ると、2026年の創業から、5月のシードラウンド、8月のシリーズAへと、わずか数か月でつながっています。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リード投資家の変化を確認します。シードはConviction、シリーズAはSequoia Capitalと、ラウンドごとに主導する投資家が変わっています。ただし出資比率などの詳細は確認できていません。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会社が掲げる方向性を整理します。静的なモデルからの脱却を目指すとされていますが、具体的な製品名や一般提供の時期・価格体系はまだ確認できていません。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読者にとっての実践的な示唆をまとめました。投資動向、AI技術動向、AIサービス導入検討、それぞれの立場で意識したい点です。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確認できていないことを正直にお伝えします。技術的な仕組みの詳細、顧客・導入事例の具体名、株主構成比率は、本調査の範囲では確認できていません。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ここで事実と推測を分けます。調達額や出資者などは複数媒体が確認した事実ですが、「約3倍」という倍率表現は報道の言い回しであり、単純計算では約2.6倍であることを明確にします。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見出しの印象と実際の内容にはギャップがあります。今回の発表は資金調達に関するものであり、性能面の優劣を裏付ける情報や、公開された顧客事例があるわけではありません。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本テーマを投資動向という文脈でも位置づけます。著名なベンチャーキャピタルや著名な個人投資家が参加していること自体が、継続学習AI分野への資金流入という時事性を示しています。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ここで一度立ち止まります。本テーマは資金調達の発表であり、技術的優位性を断定・誇張する表現は使っていません。確認できなかった情報は推測で埋めず、正直に不明として扱っています。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本テーマの鮮度を数字で確認します。中心となる発表・報道は2026年8月11日前後、着手日は8月13日で、2日以内という基準を満たしています。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今回のポイントを確認します。4,000万ドルの調達、評価額3億ドルという規模は事実として報じられていますが、技術的な仕組みや顧客事例、GA時期はまだ確認できておらず、確定事実と未確認情報を区別して見る必要がある、という点が今回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本編は以上です。今回はTrajectoryが継続学習型AIエージェント基盤でシリーズA 4,000万ドルを調達した経緯をお伝えしました。称賛や誇張ではなく、事実関係の整理に留めています。次回もまた出典付きでお届けします。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評価額、シードから数か月で「約3倍」に。</a:t>
            </a:r>
          </a:p>
          <a:p>
            <a:pPr algn="l">
              <a:lnSpc>
                <a:spcPct val="115000"/>
              </a:lnSpc>
            </a:pPr>
            <a:r>
              <a:rPr sz="4200" b="1">
                <a:solidFill>
                  <a:srgbClr val="FFFFFF"/>
                </a:solidFill>
                <a:latin typeface="Yu Gothic"/>
              </a:rPr>
              <a:t>継続学習型AIエージェント基盤Trajectoryが、</a:t>
            </a:r>
          </a:p>
          <a:p>
            <a:pPr algn="l">
              <a:lnSpc>
                <a:spcPct val="115000"/>
              </a:lnSpc>
            </a:pPr>
            <a:r>
              <a:rPr sz="4200" b="1">
                <a:solidFill>
                  <a:srgbClr val="FFFFFF"/>
                </a:solidFill>
                <a:latin typeface="Yu Gothic"/>
              </a:rPr>
              <a:t>シリーズAで4,000万ドルを調達したと報じられている。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「使うほど賢くなるAI」を掲げるスタートアップ――出典付きで事実関係を整理する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cryptobriefing.com・aiweekly.co・Odaily・KuCoin(いずれも2026年8月11日前後の報道)。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4,000万ドル調達、評価額3億ドル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Sequoia Capital主導のシリーズA。2026年5月のシードラウンド(評価額1.15億ドル)から数か月で評価額が「約3倍」になったと報じられている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cryptobriefing.com・aiweekly.co(2026-08-11前後)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何が発表されたのか(初心者向け解説つき)</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資金調達の内訳(シード→シリーズAの評価額推移)</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創業メンバー・出身企業・出資者一覧</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「継続学習」プラットフォームとは何か(概念整理)</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確認できなかったこと・本テーマの扱い方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2026年8月11日の発表を、着手日から2日以内に複数の独立した媒体が報じている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シードから数か月で評価額が「約3倍」になったという急成長ぶりが具体的なフックになる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DeepMind・OpenAI・Appleなど豪華な出身企業の人材が集結している点も注目点</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cryptobriefing.com・aiweekly.co・Odaily・KuCoin(2026-08-11前後)</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Trajectoryとは(初心者向け)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2026年、サンフランシスコを拠点に創業されたAI研究・プロダクトラボ</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CEOのRonak Malde氏を含む共同創業者3人によって設立された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「継続学習」型のAIプラットフォームの開発を掲げている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cryptobriefing.com・aiweekly.co(2026-08-11前後)</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「継続学習(continual learning)」とは何か(前提知識)</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モデルが利用されるたびに新しい情報を取り込み、賢くなっていく仕組みを指すとされる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一般的なAIモデルは、学習(トレーニング)完了後は基本的に固定された状態で使われる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Trajectoryは、この「静的なモデル」からの脱却を掲げていると報じられている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cryptobriefing.com・aiweekly.co(2026-08-11前後)</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静的なAIモデル と 継続学習型モデルの違い</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一般的な静的モデル</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学習完了後は基本的に固定された状態で提供される</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新しい情報を反映するには再学習が必要</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利用者ごとの追加学習は限定的とされる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継続学習型モデル(Trajectoryが掲げる方向性)</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利用のたびに新しい情報を取り込むことを目指すとされる</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「静的モデルからの脱却」をコンセプトに掲げる</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具体的な技術方式は本調査の範囲では確認できていない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なぜ「静的なAIモデル」が課題とされるのか(一般的な背景)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Trajectory固有の主張ではなく、一般的な文脈としての背景です。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多くの現行AIモデルは、知識の更新に大規模な再学習が必要とされる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個々の利用者・現場に合わせた継続的な最適化が難しいという指摘が一般的にある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Trajectoryは、こうした課題への対応を掲げるスタートアップの一つとして報じられている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評価額の推移(百万ドル)</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cryptobriefing.com・aiweekly.co(2026-08-11前後)</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評価額の伸び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評価額、報道では「約3倍」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1.15億ドル→3億ドルで、単純計算では約2.6倍。複数の媒体が「約3倍」と表現しているため、報道の表現を紹介しつつ、実際の倍率も併記する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cryptobriefing.com・aiweekly.co(2026-08-11前後)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資金調達ラウンドの内訳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502920">
                <a:tc>
                  <a:txBody>
                    <a:bodyPr/>
                    <a:lstStyle/>
                    <a:p>
                      <a:pPr>
                        <a:defRPr sz="1300" b="1">
                          <a:solidFill>
                            <a:srgbClr val="FFFFFF"/>
                          </a:solidFill>
                          <a:latin typeface="Yu Gothic"/>
                        </a:defRPr>
                      </a:pPr>
                      <a:r>
                        <a:t>ラウンド</a:t>
                      </a:r>
                    </a:p>
                  </a:txBody>
                  <a:tcPr>
                    <a:solidFill>
                      <a:srgbClr val="3A4750"/>
                    </a:solidFill>
                  </a:tcPr>
                </a:tc>
                <a:tc>
                  <a:txBody>
                    <a:bodyPr/>
                    <a:lstStyle/>
                    <a:p>
                      <a:pPr>
                        <a:defRPr sz="1300" b="1">
                          <a:solidFill>
                            <a:srgbClr val="FFFFFF"/>
                          </a:solidFill>
                          <a:latin typeface="Yu Gothic"/>
                        </a:defRPr>
                      </a:pPr>
                      <a:r>
                        <a:t>時期</a:t>
                      </a:r>
                    </a:p>
                  </a:txBody>
                  <a:tcPr>
                    <a:solidFill>
                      <a:srgbClr val="3A4750"/>
                    </a:solidFill>
                  </a:tcPr>
                </a:tc>
                <a:tc>
                  <a:txBody>
                    <a:bodyPr/>
                    <a:lstStyle/>
                    <a:p>
                      <a:pPr>
                        <a:defRPr sz="1300" b="1">
                          <a:solidFill>
                            <a:srgbClr val="FFFFFF"/>
                          </a:solidFill>
                          <a:latin typeface="Yu Gothic"/>
                        </a:defRPr>
                      </a:pPr>
                      <a:r>
                        <a:t>調達額</a:t>
                      </a:r>
                    </a:p>
                  </a:txBody>
                  <a:tcPr>
                    <a:solidFill>
                      <a:srgbClr val="3A4750"/>
                    </a:solidFill>
                  </a:tcPr>
                </a:tc>
                <a:tc>
                  <a:txBody>
                    <a:bodyPr/>
                    <a:lstStyle/>
                    <a:p>
                      <a:pPr>
                        <a:defRPr sz="1300" b="1">
                          <a:solidFill>
                            <a:srgbClr val="FFFFFF"/>
                          </a:solidFill>
                          <a:latin typeface="Yu Gothic"/>
                        </a:defRPr>
                      </a:pPr>
                      <a:r>
                        <a:t>評価額</a:t>
                      </a:r>
                    </a:p>
                  </a:txBody>
                  <a:tcPr>
                    <a:solidFill>
                      <a:srgbClr val="3A4750"/>
                    </a:solidFill>
                  </a:tcPr>
                </a:tc>
                <a:tc>
                  <a:txBody>
                    <a:bodyPr/>
                    <a:lstStyle/>
                    <a:p>
                      <a:pPr>
                        <a:defRPr sz="1300" b="1">
                          <a:solidFill>
                            <a:srgbClr val="FFFFFF"/>
                          </a:solidFill>
                          <a:latin typeface="Yu Gothic"/>
                        </a:defRPr>
                      </a:pPr>
                      <a:r>
                        <a:t>リード投資家</a:t>
                      </a:r>
                    </a:p>
                  </a:txBody>
                  <a:tcPr>
                    <a:solidFill>
                      <a:srgbClr val="3A4750"/>
                    </a:solidFill>
                  </a:tcPr>
                </a:tc>
              </a:tr>
              <a:tr h="502920">
                <a:tc>
                  <a:txBody>
                    <a:bodyPr/>
                    <a:lstStyle/>
                    <a:p>
                      <a:pPr>
                        <a:defRPr sz="1200">
                          <a:solidFill>
                            <a:srgbClr val="1E2124"/>
                          </a:solidFill>
                          <a:latin typeface="Yu Gothic"/>
                        </a:defRPr>
                      </a:pPr>
                      <a:r>
                        <a:t>シード</a:t>
                      </a:r>
                    </a:p>
                  </a:txBody>
                  <a:tcPr>
                    <a:solidFill>
                      <a:srgbClr val="FFFFFF"/>
                    </a:solidFill>
                  </a:tcPr>
                </a:tc>
                <a:tc>
                  <a:txBody>
                    <a:bodyPr/>
                    <a:lstStyle/>
                    <a:p>
                      <a:pPr>
                        <a:defRPr sz="1200">
                          <a:solidFill>
                            <a:srgbClr val="1E2124"/>
                          </a:solidFill>
                          <a:latin typeface="Yu Gothic"/>
                        </a:defRPr>
                      </a:pPr>
                      <a:r>
                        <a:t>2026年5月</a:t>
                      </a:r>
                    </a:p>
                  </a:txBody>
                  <a:tcPr>
                    <a:solidFill>
                      <a:srgbClr val="FFFFFF"/>
                    </a:solidFill>
                  </a:tcPr>
                </a:tc>
                <a:tc>
                  <a:txBody>
                    <a:bodyPr/>
                    <a:lstStyle/>
                    <a:p>
                      <a:pPr>
                        <a:defRPr sz="1200">
                          <a:solidFill>
                            <a:srgbClr val="1E2124"/>
                          </a:solidFill>
                          <a:latin typeface="Yu Gothic"/>
                        </a:defRPr>
                      </a:pPr>
                      <a:r>
                        <a:t>1,500万ドル</a:t>
                      </a:r>
                    </a:p>
                  </a:txBody>
                  <a:tcPr>
                    <a:solidFill>
                      <a:srgbClr val="FFFFFF"/>
                    </a:solidFill>
                  </a:tcPr>
                </a:tc>
                <a:tc>
                  <a:txBody>
                    <a:bodyPr/>
                    <a:lstStyle/>
                    <a:p>
                      <a:pPr>
                        <a:defRPr sz="1200">
                          <a:solidFill>
                            <a:srgbClr val="1E2124"/>
                          </a:solidFill>
                          <a:latin typeface="Yu Gothic"/>
                        </a:defRPr>
                      </a:pPr>
                      <a:r>
                        <a:t>1.15億ドル</a:t>
                      </a:r>
                    </a:p>
                  </a:txBody>
                  <a:tcPr>
                    <a:solidFill>
                      <a:srgbClr val="FFFFFF"/>
                    </a:solidFill>
                  </a:tcPr>
                </a:tc>
                <a:tc>
                  <a:txBody>
                    <a:bodyPr/>
                    <a:lstStyle/>
                    <a:p>
                      <a:pPr>
                        <a:defRPr sz="1200">
                          <a:solidFill>
                            <a:srgbClr val="1E2124"/>
                          </a:solidFill>
                          <a:latin typeface="Yu Gothic"/>
                        </a:defRPr>
                      </a:pPr>
                      <a:r>
                        <a:t>Conviction</a:t>
                      </a:r>
                    </a:p>
                  </a:txBody>
                  <a:tcPr>
                    <a:solidFill>
                      <a:srgbClr val="FFFFFF"/>
                    </a:solidFill>
                  </a:tcPr>
                </a:tc>
              </a:tr>
              <a:tr h="502920">
                <a:tc>
                  <a:txBody>
                    <a:bodyPr/>
                    <a:lstStyle/>
                    <a:p>
                      <a:pPr>
                        <a:defRPr sz="1200">
                          <a:solidFill>
                            <a:srgbClr val="1E2124"/>
                          </a:solidFill>
                          <a:latin typeface="Yu Gothic"/>
                        </a:defRPr>
                      </a:pPr>
                      <a:r>
                        <a:t>シリーズA</a:t>
                      </a:r>
                    </a:p>
                  </a:txBody>
                  <a:tcPr>
                    <a:solidFill>
                      <a:srgbClr val="F7F4EF"/>
                    </a:solidFill>
                  </a:tcPr>
                </a:tc>
                <a:tc>
                  <a:txBody>
                    <a:bodyPr/>
                    <a:lstStyle/>
                    <a:p>
                      <a:pPr>
                        <a:defRPr sz="1200">
                          <a:solidFill>
                            <a:srgbClr val="1E2124"/>
                          </a:solidFill>
                          <a:latin typeface="Yu Gothic"/>
                        </a:defRPr>
                      </a:pPr>
                      <a:r>
                        <a:t>2026年8月11日</a:t>
                      </a:r>
                    </a:p>
                  </a:txBody>
                  <a:tcPr>
                    <a:solidFill>
                      <a:srgbClr val="F7F4EF"/>
                    </a:solidFill>
                  </a:tcPr>
                </a:tc>
                <a:tc>
                  <a:txBody>
                    <a:bodyPr/>
                    <a:lstStyle/>
                    <a:p>
                      <a:pPr>
                        <a:defRPr sz="1200">
                          <a:solidFill>
                            <a:srgbClr val="1E2124"/>
                          </a:solidFill>
                          <a:latin typeface="Yu Gothic"/>
                        </a:defRPr>
                      </a:pPr>
                      <a:r>
                        <a:t>4,000万ドル</a:t>
                      </a:r>
                    </a:p>
                  </a:txBody>
                  <a:tcPr>
                    <a:solidFill>
                      <a:srgbClr val="F7F4EF"/>
                    </a:solidFill>
                  </a:tcPr>
                </a:tc>
                <a:tc>
                  <a:txBody>
                    <a:bodyPr/>
                    <a:lstStyle/>
                    <a:p>
                      <a:pPr>
                        <a:defRPr sz="1200">
                          <a:solidFill>
                            <a:srgbClr val="1E2124"/>
                          </a:solidFill>
                          <a:latin typeface="Yu Gothic"/>
                        </a:defRPr>
                      </a:pPr>
                      <a:r>
                        <a:t>3億ドル</a:t>
                      </a:r>
                    </a:p>
                  </a:txBody>
                  <a:tcPr>
                    <a:solidFill>
                      <a:srgbClr val="F7F4EF"/>
                    </a:solidFill>
                  </a:tcPr>
                </a:tc>
                <a:tc>
                  <a:txBody>
                    <a:bodyPr/>
                    <a:lstStyle/>
                    <a:p>
                      <a:pPr>
                        <a:defRPr sz="1200">
                          <a:solidFill>
                            <a:srgbClr val="1E2124"/>
                          </a:solidFill>
                          <a:latin typeface="Yu Gothic"/>
                        </a:defRPr>
                      </a:pPr>
                      <a:r>
                        <a:t>Sequoia Capital</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cryptobriefing.com・aiweekly.co・Odaily・KuCoin(2026-08-11前後)</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創業メンバー3人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Ronak Malde氏(CEO)</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共同創業者としてTrajectoryを率いる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Arjun Karanam氏</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共同創業者</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Michael Elabd氏</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共同創業者</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cryptobriefing.com・aiweekly.co(2026-08-11前後)</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チームの出身企業一覧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114800"/>
        </p:xfrm>
        <a:graphic>
          <a:graphicData uri="http://schemas.openxmlformats.org/drawingml/2006/table">
            <a:tbl>
              <a:tblPr firstRow="1" bandRow="1">
                <a:tableStyleId>{5C22544A-7EE6-4342-B048-85BDC9FD1C3A}</a:tableStyleId>
              </a:tblPr>
              <a:tblGrid>
                <a:gridCol w="11277295"/>
              </a:tblGrid>
              <a:tr h="457200">
                <a:tc>
                  <a:txBody>
                    <a:bodyPr/>
                    <a:lstStyle/>
                    <a:p>
                      <a:pPr>
                        <a:defRPr sz="1300" b="1">
                          <a:solidFill>
                            <a:srgbClr val="FFFFFF"/>
                          </a:solidFill>
                          <a:latin typeface="Yu Gothic"/>
                        </a:defRPr>
                      </a:pPr>
                      <a:r>
                        <a:t>メンバーの出身企業</a:t>
                      </a:r>
                    </a:p>
                  </a:txBody>
                  <a:tcPr>
                    <a:solidFill>
                      <a:srgbClr val="3A4750"/>
                    </a:solidFill>
                  </a:tcPr>
                </a:tc>
              </a:tr>
              <a:tr h="457200">
                <a:tc>
                  <a:txBody>
                    <a:bodyPr/>
                    <a:lstStyle/>
                    <a:p>
                      <a:pPr>
                        <a:defRPr sz="1200">
                          <a:solidFill>
                            <a:srgbClr val="1E2124"/>
                          </a:solidFill>
                          <a:latin typeface="Yu Gothic"/>
                        </a:defRPr>
                      </a:pPr>
                      <a:r>
                        <a:t>Google DeepMind</a:t>
                      </a:r>
                    </a:p>
                  </a:txBody>
                  <a:tcPr>
                    <a:solidFill>
                      <a:srgbClr val="FFFFFF"/>
                    </a:solidFill>
                  </a:tcPr>
                </a:tc>
              </a:tr>
              <a:tr h="457200">
                <a:tc>
                  <a:txBody>
                    <a:bodyPr/>
                    <a:lstStyle/>
                    <a:p>
                      <a:pPr>
                        <a:defRPr sz="1200">
                          <a:solidFill>
                            <a:srgbClr val="1E2124"/>
                          </a:solidFill>
                          <a:latin typeface="Yu Gothic"/>
                        </a:defRPr>
                      </a:pPr>
                      <a:r>
                        <a:t>OpenAI</a:t>
                      </a:r>
                    </a:p>
                  </a:txBody>
                  <a:tcPr>
                    <a:solidFill>
                      <a:srgbClr val="F7F4EF"/>
                    </a:solidFill>
                  </a:tcPr>
                </a:tc>
              </a:tr>
              <a:tr h="457200">
                <a:tc>
                  <a:txBody>
                    <a:bodyPr/>
                    <a:lstStyle/>
                    <a:p>
                      <a:pPr>
                        <a:defRPr sz="1200">
                          <a:solidFill>
                            <a:srgbClr val="1E2124"/>
                          </a:solidFill>
                          <a:latin typeface="Yu Gothic"/>
                        </a:defRPr>
                      </a:pPr>
                      <a:r>
                        <a:t>Apple</a:t>
                      </a:r>
                    </a:p>
                  </a:txBody>
                  <a:tcPr>
                    <a:solidFill>
                      <a:srgbClr val="FFFFFF"/>
                    </a:solidFill>
                  </a:tcPr>
                </a:tc>
              </a:tr>
              <a:tr h="457200">
                <a:tc>
                  <a:txBody>
                    <a:bodyPr/>
                    <a:lstStyle/>
                    <a:p>
                      <a:pPr>
                        <a:defRPr sz="1200">
                          <a:solidFill>
                            <a:srgbClr val="1E2124"/>
                          </a:solidFill>
                          <a:latin typeface="Yu Gothic"/>
                        </a:defRPr>
                      </a:pPr>
                      <a:r>
                        <a:t>Meta Superintelligence Labs</a:t>
                      </a:r>
                    </a:p>
                  </a:txBody>
                  <a:tcPr>
                    <a:solidFill>
                      <a:srgbClr val="F7F4EF"/>
                    </a:solidFill>
                  </a:tcPr>
                </a:tc>
              </a:tr>
              <a:tr h="457200">
                <a:tc>
                  <a:txBody>
                    <a:bodyPr/>
                    <a:lstStyle/>
                    <a:p>
                      <a:pPr>
                        <a:defRPr sz="1200">
                          <a:solidFill>
                            <a:srgbClr val="1E2124"/>
                          </a:solidFill>
                          <a:latin typeface="Yu Gothic"/>
                        </a:defRPr>
                      </a:pPr>
                      <a:r>
                        <a:t>Amazon AGI</a:t>
                      </a:r>
                    </a:p>
                  </a:txBody>
                  <a:tcPr>
                    <a:solidFill>
                      <a:srgbClr val="FFFFFF"/>
                    </a:solidFill>
                  </a:tcPr>
                </a:tc>
              </a:tr>
              <a:tr h="457200">
                <a:tc>
                  <a:txBody>
                    <a:bodyPr/>
                    <a:lstStyle/>
                    <a:p>
                      <a:pPr>
                        <a:defRPr sz="1200">
                          <a:solidFill>
                            <a:srgbClr val="1E2124"/>
                          </a:solidFill>
                          <a:latin typeface="Yu Gothic"/>
                        </a:defRPr>
                      </a:pPr>
                      <a:r>
                        <a:t>Scale AI</a:t>
                      </a:r>
                    </a:p>
                  </a:txBody>
                  <a:tcPr>
                    <a:solidFill>
                      <a:srgbClr val="F7F4EF"/>
                    </a:solidFill>
                  </a:tcPr>
                </a:tc>
              </a:tr>
              <a:tr h="457200">
                <a:tc>
                  <a:txBody>
                    <a:bodyPr/>
                    <a:lstStyle/>
                    <a:p>
                      <a:pPr>
                        <a:defRPr sz="1200">
                          <a:solidFill>
                            <a:srgbClr val="1E2124"/>
                          </a:solidFill>
                          <a:latin typeface="Yu Gothic"/>
                        </a:defRPr>
                      </a:pPr>
                      <a:r>
                        <a:t>Stripe</a:t>
                      </a:r>
                    </a:p>
                  </a:txBody>
                  <a:tcPr>
                    <a:solidFill>
                      <a:srgbClr val="FFFFFF"/>
                    </a:solidFill>
                  </a:tcPr>
                </a:tc>
              </a:tr>
              <a:tr h="457200">
                <a:tc>
                  <a:txBody>
                    <a:bodyPr/>
                    <a:lstStyle/>
                    <a:p>
                      <a:pPr>
                        <a:defRPr sz="1200">
                          <a:solidFill>
                            <a:srgbClr val="1E2124"/>
                          </a:solidFill>
                          <a:latin typeface="Yu Gothic"/>
                        </a:defRPr>
                      </a:pPr>
                      <a:r>
                        <a:t>Figma</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cryptobriefing.com・aiweekly.co(2026-08-11前後)</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エンジェル投資家</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3A4750"/>
                </a:solidFill>
                <a:latin typeface="Yu Gothic"/>
              </a:rPr>
              <a:t>Jeff Dean氏</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Googleのチーフサイエンティスト。エンジェル投資家として参加したと報じられている</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3A4750"/>
                </a:solidFill>
                <a:latin typeface="Yu Gothic"/>
              </a:rPr>
              <a:t>Fei-Fei Li氏</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スタンフォード大学教授。エンジェル投資家として参加したと報じられている</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cryptobriefing.com・aiweekly.co(2026-08-11前後)</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著名創業者からの出資</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Notion創業者</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エンジェル投資家として出資したと報じられている</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Dropbox創業者</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エンジェル投資家として出資したと報じられている</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Braintrust創業者</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エンジェル投資家として出資したと報じられている</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Hugging Face創業者</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エンジェル投資家として出資したと報じられている</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cryptobriefing.com・aiweekly.co(2026-08-11前後)</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「継続学習」プラットフォームの概念図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モデルの利用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ユーザーが日々の業務でモデルを使う</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学習・更新</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利用から得た情報を取り込むとされる</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改善されたモデル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次の利用時に反映されるとされる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「利用のたびに賢くなる」というコンセプトの概念図。具体的な技術方式(アーキテクチャ)は本調査の範囲では確認できていない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cryptobriefing.com・aiweekly.co(2026-08-11前後)</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創業から今回の調達までのタイムライン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①2026年、創業</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Ronak Malde氏らによりサンフランシスコで設立</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②2026年5月、シード</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Convictionが主導、1,500万ドル・評価額1.15億ドル</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③2026年8月11日、シリーズA</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Sequoia Capitalが主導、4,000万ドル・評価額3億ドル</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Sequoia Capitalがリード投資家であることについて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リード投資家の変化を確認します。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著名なベンチャーキャピタルであるSequoia Capitalが今回のシリーズAを主導したと報じられている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シードラウンドはConvictionが主導しており、リード投資家がラウンドごとに変わっている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具体的な出資比率・契約条件の詳細は本調査の範囲では確認できていない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cryptobriefing.com・aiweekly.co(2026-08-11前後)</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「静的モデルからの脱却」という会社の方向性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会社が掲げる方向性を整理します。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Trajectoryは、静的な(固定された)AIモデルからの脱却を目指す、と報じられている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継続学習型のプラットフォームを開発しているとされるが、具体的な製品名・提供形態は確認できていない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一般提供(GA)の時期・価格体系も、本調査の範囲では確認できていない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cryptobriefing.com・aiweekly.co(2026-08-11前後)</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読者にとっての実践的な示唆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投資動向を追う立場として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継続学習AI領域への資金集中という潮流の一例として捉え、個別銘柄の推奨とは切り離して見る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AI技術動向を追う立場として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「継続学習」という考え方が具体的にどう実装されるかは今後の公開情報を確認する必要がある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AIサービス導入を検討する立場として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現時点で公開されている顧客事例・GA時期はなく、正式発表を待って判断する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確認できていないこと(1)</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「継続学習」プラットフォームの具体的な技術的仕組み・アーキテクチャの詳細</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現時点での顧客・導入事例の具体名</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今回のシリーズA後の詳細な株主構成比率</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状況</a:t>
                      </a:r>
                    </a:p>
                  </a:txBody>
                  <a:tcPr>
                    <a:solidFill>
                      <a:srgbClr val="3A4750"/>
                    </a:solidFill>
                  </a:tcPr>
                </a:tc>
              </a:tr>
              <a:tr h="502920">
                <a:tc>
                  <a:txBody>
                    <a:bodyPr/>
                    <a:lstStyle/>
                    <a:p>
                      <a:pPr>
                        <a:defRPr sz="1200">
                          <a:solidFill>
                            <a:srgbClr val="1E2124"/>
                          </a:solidFill>
                          <a:latin typeface="Yu Gothic"/>
                        </a:defRPr>
                      </a:pPr>
                      <a:r>
                        <a:t>技術的な仕組み・アーキテクチャ</a:t>
                      </a:r>
                    </a:p>
                  </a:txBody>
                  <a:tcPr>
                    <a:solidFill>
                      <a:srgbClr val="FFFFFF"/>
                    </a:solidFill>
                  </a:tcPr>
                </a:tc>
                <a:tc>
                  <a:txBody>
                    <a:bodyPr/>
                    <a:lstStyle/>
                    <a:p>
                      <a:pPr>
                        <a:defRPr sz="1200">
                          <a:solidFill>
                            <a:srgbClr val="1E2124"/>
                          </a:solidFill>
                          <a:latin typeface="Yu Gothic"/>
                        </a:defRPr>
                      </a:pPr>
                      <a:r>
                        <a:t>報道では「継続学習」という方向性のみ紹介され、詳細な技術方式は未確認</a:t>
                      </a:r>
                    </a:p>
                  </a:txBody>
                  <a:tcPr>
                    <a:solidFill>
                      <a:srgbClr val="FFFFFF"/>
                    </a:solidFill>
                  </a:tcPr>
                </a:tc>
              </a:tr>
              <a:tr h="502920">
                <a:tc>
                  <a:txBody>
                    <a:bodyPr/>
                    <a:lstStyle/>
                    <a:p>
                      <a:pPr>
                        <a:defRPr sz="1200">
                          <a:solidFill>
                            <a:srgbClr val="1E2124"/>
                          </a:solidFill>
                          <a:latin typeface="Yu Gothic"/>
                        </a:defRPr>
                      </a:pPr>
                      <a:r>
                        <a:t>顧客・導入事例</a:t>
                      </a:r>
                    </a:p>
                  </a:txBody>
                  <a:tcPr>
                    <a:solidFill>
                      <a:srgbClr val="F7F4EF"/>
                    </a:solidFill>
                  </a:tcPr>
                </a:tc>
                <a:tc>
                  <a:txBody>
                    <a:bodyPr/>
                    <a:lstStyle/>
                    <a:p>
                      <a:pPr>
                        <a:defRPr sz="1200">
                          <a:solidFill>
                            <a:srgbClr val="1E2124"/>
                          </a:solidFill>
                          <a:latin typeface="Yu Gothic"/>
                        </a:defRPr>
                      </a:pPr>
                      <a:r>
                        <a:t>具体的な企業名・事例は本調査の範囲では確認できていない</a:t>
                      </a:r>
                    </a:p>
                  </a:txBody>
                  <a:tcPr>
                    <a:solidFill>
                      <a:srgbClr val="F7F4EF"/>
                    </a:solidFill>
                  </a:tcPr>
                </a:tc>
              </a:tr>
              <a:tr h="502920">
                <a:tc>
                  <a:txBody>
                    <a:bodyPr/>
                    <a:lstStyle/>
                    <a:p>
                      <a:pPr>
                        <a:defRPr sz="1200">
                          <a:solidFill>
                            <a:srgbClr val="1E2124"/>
                          </a:solidFill>
                          <a:latin typeface="Yu Gothic"/>
                        </a:defRPr>
                      </a:pPr>
                      <a:r>
                        <a:t>株主構成比率</a:t>
                      </a:r>
                    </a:p>
                  </a:txBody>
                  <a:tcPr>
                    <a:solidFill>
                      <a:srgbClr val="FFFFFF"/>
                    </a:solidFill>
                  </a:tcPr>
                </a:tc>
                <a:tc>
                  <a:txBody>
                    <a:bodyPr/>
                    <a:lstStyle/>
                    <a:p>
                      <a:pPr>
                        <a:defRPr sz="1200">
                          <a:solidFill>
                            <a:srgbClr val="1E2124"/>
                          </a:solidFill>
                          <a:latin typeface="Yu Gothic"/>
                        </a:defRPr>
                      </a:pPr>
                      <a:r>
                        <a:t>シリーズA後の正確な持ち株比率は未確認</a:t>
                      </a:r>
                    </a:p>
                  </a:txBody>
                  <a:tcPr>
                    <a:solidFill>
                      <a:srgbClr val="FFFFFF"/>
                    </a:solidFill>
                  </a:tcPr>
                </a:tc>
              </a:tr>
              <a:tr h="502920">
                <a:tc>
                  <a:txBody>
                    <a:bodyPr/>
                    <a:lstStyle/>
                    <a:p>
                      <a:pPr>
                        <a:defRPr sz="1200">
                          <a:solidFill>
                            <a:srgbClr val="1E2124"/>
                          </a:solidFill>
                          <a:latin typeface="Yu Gothic"/>
                        </a:defRPr>
                      </a:pPr>
                      <a:r>
                        <a:t>製品の一般提供(GA)時期・価格体系</a:t>
                      </a:r>
                    </a:p>
                  </a:txBody>
                  <a:tcPr>
                    <a:solidFill>
                      <a:srgbClr val="F7F4EF"/>
                    </a:solidFill>
                  </a:tcPr>
                </a:tc>
                <a:tc>
                  <a:txBody>
                    <a:bodyPr/>
                    <a:lstStyle/>
                    <a:p>
                      <a:pPr>
                        <a:defRPr sz="1200">
                          <a:solidFill>
                            <a:srgbClr val="1E2124"/>
                          </a:solidFill>
                          <a:latin typeface="Yu Gothic"/>
                        </a:defRPr>
                      </a:pPr>
                      <a:r>
                        <a:t>公式な発表・価格表は本調査の範囲では確認できていない</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事実: 調達額・評価額・リード投資家・創業メンバー・出身企業・エンジェル投資家は複数媒体が一致して報道</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推測に近い表現: 評価額の倍率「約3倍」は報道の表現であり、単純計算では約2.6倍である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不明: 技術的な仕組み・顧客事例・株主構成比率・GA時期</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すでに実用化された画期的な技術</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AIが自律的に無制限に賢くなる</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大手企業が続々導入している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資金調達(シリーズA)の発表であり、製品の性能評価の発表ではない</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具体的な技術方式・実装は確認できていない</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公開されている顧客事例は本調査の範囲では確認できていない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投資動向としての位置づけ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継続学習AI分野への資金の流れという文脈です。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Sequoia Capital・Convictionという著名なベンチャーキャピタルが、継続学習型AIというコンセプトに投資している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GoogleのJeff Dean氏、スタンフォード大学のFei-Fei Li氏など著名な個人もエンジェル投資家として参加している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本テーマは、特定企業の技術的優劣ではなく、こうした資金の流れの事実整理として扱う</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cryptobriefing.com・aiweekly.co(2026-08-11前後)</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本テーマの扱い方について(誇張回避・中立性)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Trajectoryの技術的優位性・将来性を断定・誇張する表現は使っていない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特定企業・製品の利用を強く推奨する結論にはしない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Trajectory・投資家への政治的評価(良い/悪いの判断)は行わない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確認できなかった情報は推測で埋めず「不明」として扱う</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着手日の2日前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cryptobriefing.com・aiweekly.co等の報道はいずれも2026年8月11日前後。着手日(2026年8月13日)を含めて2日以内という基準を満たす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docs/06_Content_R&amp;D.md基準</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報道時期</a:t>
                      </a:r>
                    </a:p>
                  </a:txBody>
                  <a:tcPr>
                    <a:solidFill>
                      <a:srgbClr val="3A4750"/>
                    </a:solidFill>
                  </a:tcPr>
                </a:tc>
              </a:tr>
              <a:tr h="502920">
                <a:tc>
                  <a:txBody>
                    <a:bodyPr/>
                    <a:lstStyle/>
                    <a:p>
                      <a:pPr>
                        <a:defRPr sz="1200">
                          <a:solidFill>
                            <a:srgbClr val="1E2124"/>
                          </a:solidFill>
                          <a:latin typeface="Yu Gothic"/>
                        </a:defRPr>
                      </a:pPr>
                      <a:r>
                        <a:t>cryptobriefing.com</a:t>
                      </a:r>
                    </a:p>
                  </a:txBody>
                  <a:tcPr>
                    <a:solidFill>
                      <a:srgbClr val="FFFFFF"/>
                    </a:solidFill>
                  </a:tcPr>
                </a:tc>
                <a:tc>
                  <a:txBody>
                    <a:bodyPr/>
                    <a:lstStyle/>
                    <a:p>
                      <a:pPr>
                        <a:defRPr sz="1200">
                          <a:solidFill>
                            <a:srgbClr val="1E2124"/>
                          </a:solidFill>
                          <a:latin typeface="Yu Gothic"/>
                        </a:defRPr>
                      </a:pPr>
                      <a:r>
                        <a:t>2026年8月11日前後</a:t>
                      </a:r>
                    </a:p>
                  </a:txBody>
                  <a:tcPr>
                    <a:solidFill>
                      <a:srgbClr val="FFFFFF"/>
                    </a:solidFill>
                  </a:tcPr>
                </a:tc>
              </a:tr>
              <a:tr h="502920">
                <a:tc>
                  <a:txBody>
                    <a:bodyPr/>
                    <a:lstStyle/>
                    <a:p>
                      <a:pPr>
                        <a:defRPr sz="1200">
                          <a:solidFill>
                            <a:srgbClr val="1E2124"/>
                          </a:solidFill>
                          <a:latin typeface="Yu Gothic"/>
                        </a:defRPr>
                      </a:pPr>
                      <a:r>
                        <a:t>aiweekly.co</a:t>
                      </a:r>
                    </a:p>
                  </a:txBody>
                  <a:tcPr>
                    <a:solidFill>
                      <a:srgbClr val="F7F4EF"/>
                    </a:solidFill>
                  </a:tcPr>
                </a:tc>
                <a:tc>
                  <a:txBody>
                    <a:bodyPr/>
                    <a:lstStyle/>
                    <a:p>
                      <a:pPr>
                        <a:defRPr sz="1200">
                          <a:solidFill>
                            <a:srgbClr val="1E2124"/>
                          </a:solidFill>
                          <a:latin typeface="Yu Gothic"/>
                        </a:defRPr>
                      </a:pPr>
                      <a:r>
                        <a:t>2026年8月11日前後</a:t>
                      </a:r>
                    </a:p>
                  </a:txBody>
                  <a:tcPr>
                    <a:solidFill>
                      <a:srgbClr val="F7F4EF"/>
                    </a:solidFill>
                  </a:tcPr>
                </a:tc>
              </a:tr>
              <a:tr h="502920">
                <a:tc>
                  <a:txBody>
                    <a:bodyPr/>
                    <a:lstStyle/>
                    <a:p>
                      <a:pPr>
                        <a:defRPr sz="1200">
                          <a:solidFill>
                            <a:srgbClr val="1E2124"/>
                          </a:solidFill>
                          <a:latin typeface="Yu Gothic"/>
                        </a:defRPr>
                      </a:pPr>
                      <a:r>
                        <a:t>Odaily</a:t>
                      </a:r>
                    </a:p>
                  </a:txBody>
                  <a:tcPr>
                    <a:solidFill>
                      <a:srgbClr val="FFFFFF"/>
                    </a:solidFill>
                  </a:tcPr>
                </a:tc>
                <a:tc>
                  <a:txBody>
                    <a:bodyPr/>
                    <a:lstStyle/>
                    <a:p>
                      <a:pPr>
                        <a:defRPr sz="1200">
                          <a:solidFill>
                            <a:srgbClr val="1E2124"/>
                          </a:solidFill>
                          <a:latin typeface="Yu Gothic"/>
                        </a:defRPr>
                      </a:pPr>
                      <a:r>
                        <a:t>2026年8月11日前後</a:t>
                      </a:r>
                    </a:p>
                  </a:txBody>
                  <a:tcPr>
                    <a:solidFill>
                      <a:srgbClr val="FFFFFF"/>
                    </a:solidFill>
                  </a:tcPr>
                </a:tc>
              </a:tr>
              <a:tr h="502920">
                <a:tc>
                  <a:txBody>
                    <a:bodyPr/>
                    <a:lstStyle/>
                    <a:p>
                      <a:pPr>
                        <a:defRPr sz="1200">
                          <a:solidFill>
                            <a:srgbClr val="1E2124"/>
                          </a:solidFill>
                          <a:latin typeface="Yu Gothic"/>
                        </a:defRPr>
                      </a:pPr>
                      <a:r>
                        <a:t>KuCoin</a:t>
                      </a:r>
                    </a:p>
                  </a:txBody>
                  <a:tcPr>
                    <a:solidFill>
                      <a:srgbClr val="F7F4EF"/>
                    </a:solidFill>
                  </a:tcPr>
                </a:tc>
                <a:tc>
                  <a:txBody>
                    <a:bodyPr/>
                    <a:lstStyle/>
                    <a:p>
                      <a:pPr>
                        <a:defRPr sz="1200">
                          <a:solidFill>
                            <a:srgbClr val="1E2124"/>
                          </a:solidFill>
                          <a:latin typeface="Yu Gothic"/>
                        </a:defRPr>
                      </a:pPr>
                      <a:r>
                        <a:t>2026年8月11日前後</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cryptobriefing.com・aiweekly.co・Odaily・KuCoin(2026-08-11前後の報道)｜189本目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4,000万ドルの調達、評価額3億ドルへ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「使うほど賢くなるAI」というコンセプトへの資金流入は事実として報じられているが、技術的な仕組み・顧客事例・GA時期は確認できておらず、確定事実と未確認情報を区別して見る必要がある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cryptobriefing.com・aiweekly.co(2026-08-11前後)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資金は集まった。次に問われるのは、「継続学習」という構想がどう実装され、実際に使われるかどうか。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特定企業への評価ではなく、事実関係の整理として、今後も出典付きで注目したいポイントです。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