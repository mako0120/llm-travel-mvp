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こんにちは。今日取り上げるのは、2026年7月29日に発表されたAIエージェント統治プラットフォーム企業Hush Securityの資金調達です。Gartnerの予測によれば、2028年までにFortune500企業は平均15万体のAIエージェントを運用するようになるといいます。誰がそれを見張るのか、という話です。出典つきで、確認できたこと・できなかったことを整理していき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まず結論からです。Hush Securityはシリーズ Aで3,000万ドルを調達し、既存投資家のBattery Ventures・YL Venturesに加えて、セキュリティ大手Akamaiが新たに参加しました。背景にあるのがこの2つの数字です。Gartnerの予測では2028年までに平均15万体超のAIエージェントが運用され、Omdiaの調査では組織の96%が未整備の統治モデルで運用しているといい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この動画を見ると、発表の概要、Hush Securityが実際に何をする会社なのか、AIエージェントの統治がなぜ問題になるのか、Akamaiが参加した意味、そして確認できなかったことまで分かります。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話がどれくらい確かなのかにも触れておきます。PRNewswireの一次発表に加えて、SecurityWeek、fintech.global、ynetnews、cioinfluenceという独立した複数のメディアが同じ発表を報じています。一方で、企業評価額や導入顧客名など、確認できなかった点もあり、本編で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今日はこの5つの流れで話します。まず前提として、なぜAIエージェントの統治が問題になるのかを整理し、次に発表の中身、Hush Securityの仕組み、2つの数字とAkamaiの参加、最後に日本への関連と確認できなかったことについて話します。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前提として、AIエージェントが人手を介さず自律的にシステムへアクセスするケースが企業内で急増しています。既存のID管理の仕組みは従業員やアプリケーション向けに作られており、自律的に動くAIエージェント向けではありません。固定的なAPIキーだけに頼ると、漏えいや悪用時のリスクが大きく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改めて数字を見てみましょう。Hush Securityのシリーズ A調達額は3,000万ドルです。既存投資家のBattery Ventures、YL Venturesが継続する形で参加し、セキュリティ大手のAkamaiが新たに戦略投資家として加わりました。</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投資家の顔ぶれを整理するとこうなります。Battery VenturesとYL Venturesが既存投資家として継続参加し、Akamai Technologiesが新規の戦略投資家として加わりました。これでHush Securityの累計調達額は4,100万ドルになります。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発表の中身をもう一度まとめます。シリーズAとして3,000万ドルを調達し、セキュリティ大手のAkamaiが戦略投資家として参加しました。PRNewswireの公式発表に加えて、SecurityWeekやfintech.globalといった媒体がこの発表を報じ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創業からの軌跡を整理するとこうなります。創業チームは2019年にProofpointが買収したMeta Networksの出身で、2025年9月にステルス解除してシード1,100万ドルを調達し、今回、シリーズAで3,000万ドルを調達しました。1年足らずでの急成長です。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前提知識を整理します。APIキーは一度発行すると長期間有効な、いわば常設の認証情報になりがちです。非人間IDの統治は、AIエージェントごとに個別のIDを持たせて管理する発想で、権限は必要な時だけ・必要な範囲だけ与えます。CEOはこれを「AIエージェントにはAPIキーではなく厳格なIDが必要だ」と表現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全体の仕組みを図で見てみます。すべてのAIエージェントを中央レジストリに登録し、常設の認証情報を持たせません。実行時にスコープ限定のJust-In-Time権限だけを与え、すべてのアクションをログに記録し、緊急時は中央のキルスイッチで停止できる、という構造で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Hush Securityが提供する仕組みを3ステップで見てみます。まずAIエージェントを中央レジストリに登録し、次に実行時にスコープ限定の権限だけをその場で与えます。そして全アクションをログに記録し、必要ならキルスイッチで停止する、という流れで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つ目の衝撃的な数字がこちらです。Gartnerの予測によれば、2028年までにFortune500企業は平均で15万体超のAIエージェントを運用するようになるといいます。1年前はまだ15体未満だったというのですから、急激な増加で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Gartner予測の詳細を見ると、1年前は15体未満だった平均運用数が、2028年には15万体超に達すると見込まれています。単純計算でも1万倍以上の増加で、統治の仕組みが追いついていない理由がうかがえます。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もう1つの数字がこちらです。Omdiaの調査によれば、組織の96%が、自律型AIエージェント向けに設計されていない統治フレームワークでAIエージェントを運用しているといいます。ほとんどの企業が備えられていない、という数字で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96%という数字が意味するところを整理すると、AIエージェント専用の統治設計をしている組織はごく一部で、多くは人やアプリケーション向けのID管理をそのまま流用していると考えられます。この隙間を埋める製品として、Hush Securityが位置づけられています。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違いを整理すると、従来のVault・シークレット管理は認証情報を保管庫に集約して守る発想で、発行された認証情報は比較的長期間有効なため、エージェントの急増にはスケールしにくい面があります。それに対してHushのアプローチは、認証情報そのものを持たせない設計で、実行時にスコープ限定の権限だけを与え、中央レジストリとキルスイッチで一元管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共同創業者でCEOのMicha Rave氏はこう述べています。企業はすでに人材やアプリケーションのID管理の方法を知っている、しかし今、ソフトウェアが自らの意思で最も機密性の高いシステム内で自律的に動いている、AIエージェントにはAPIキーではなく厳格なIDが必要だ、というコメントで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創業チームの経歴を見ると、全員が2019年にProofpointが買収したMeta Networks出身で、拠点はイスラエルのテルアビブです。実績のあるチームが再び同じ領域で起業した、というストーリー性があります。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kamaiが戦略投資家として参加した位置づけを図にすると、CDN・エッジセキュリティを手がける大手企業が、AIエージェントの急増で生まれた非人間IDという新領域に対して、将来の連携を見据えて参加したと考えられます。ただし、これはあくまで推測で、Akamai側の具体的な意図は一次情報では明言され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kamaiについて、分かっていることと分かっていないことを整理します。分かっているのは、Akamaiが戦略投資家として今回のラウンドに参加したこと。分かっていないのは、Akamaiの出資額や具体的な連携内容で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今回の調査で確認できなかったことを一覧にまとめます。企業評価額、導入顧客企業名、日本国内の展開有無、各投資家の出資比率、そして各メディアの原文本文全体。これらはいずれも一次情報からは確認できませんでした。数字を作らず、分からないことは分からないと申し上げま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気になるのは、日本への関連です。現時点で報道から確認できている拠点はイスラエルのテルアビブで、日本は含まれていません。日本国内の顧客企業があるかどうかは、今回の調査では確認できませんでした。ただし、AIエージェントの統治という課題自体は、日本企業にも当てはまる一般論として展開できま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業界外の方にも参考になる点があります。便利な自動化の裏には誰が権限を持つかという問いが必ずありますし、常設のパスワードやAPIキーに頼らない発想は、個人の情報管理にも応用できます。統計を引用する際に出典を明記する姿勢も、参考にしていただければと思いま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ニュースを読み解く際は、まず3,000万ドル・累計4,100万ドルという調達規模を把握し、次に15万体・96%という2つの数字が示す課題の大きさを確認し、最後に評価額やAkamaiとの具体的な連携など、まだ分からない点を押さえる、という3ステップで見ていくと整理しやすいと思いま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からは推測です。AIエージェント向けのID管理が業界標準として広がっていく可能性がありますし、同様の統治プラットフォームへの投資が他社にも広がるかもしれません。Akamaiのような大手が自社製品に類似の機能を取り込んでいく可能性もあります。これらはあくまで推測であり、断定はしません。</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冷静に見ておきたい点が3つあります。1つ目は、企業評価額や導入顧客の具体名が公表されていないこと。2つ目は、Akamaiの出資額や具体的な連携内容までは示されていないこと。3つ目は、急成長が続いているとはいえ、これは一企業の発表数値であり、業界全体の傾向だと断定はできないことで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の要点を3つにまとめます。シリーズA調達額は3,000万ドルで、Akamaiが戦略投資家として新規参加しました。2028年には平均15万体超のAIエージェントが運用されるとGartnerは予測し、Omdiaの調査では96%の組織が統治モデル未整備だ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今日は、Hush Securityのシリーズ A調達について、調達額・背景の統計・投資家の構成という3つの軸で確認してきました。AIエージェントのニュースを見るときは、今日紹介したような視点で誰が権限を持っているかも含めて確認する習慣をつけてみてください。ここまでご覧いただき、ありがとうございました。</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気づけば社内に、</a:t>
            </a:r>
          </a:p>
          <a:p>
            <a:pPr algn="l">
              <a:lnSpc>
                <a:spcPct val="115000"/>
              </a:lnSpc>
            </a:pPr>
            <a:r>
              <a:rPr sz="4200" b="1">
                <a:solidFill>
                  <a:srgbClr val="FFFFFF"/>
                </a:solidFill>
                <a:latin typeface="Yu Gothic"/>
              </a:rPr>
              <a:t>15万体のAIエージェント</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CADCFC"/>
                </a:solidFill>
                <a:latin typeface="Yu Gothic"/>
              </a:rPr>
              <a:t>2026年7月29日発表「Hush Security シリーズA調達」から読み解く</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8FA3D0"/>
                </a:solidFill>
                <a:latin typeface="Yu Gothic"/>
              </a:rPr>
              <a:t>AI Company OS 定期実行58本目 / 出典を明記し、不明点は不明と述べます</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今回の結論</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3,000万ドル</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シリーズA調達額</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Battery Ventures・YL Venturesが継続、Akamaiが新規参加</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15万体超</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2028年のAIエージェント運用数予測</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Gartner予測。1年前は15体未満だった</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96%</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統治モデルが未整備の組織の割合</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Omdia調査。AIエージェント向けに設計されていない仕組みで運用</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PRNewswire / SecurityWeek(2026-07-29)</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定期実行58本目</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 / 30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この動画で得られること</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何が発表されたのか、いつ・どんな規模の調達なのかが分かる</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Hush Securityが何をするプラットフォームなのかが分かる</a:t>
            </a:r>
          </a:p>
        </p:txBody>
      </p:sp>
      <p:sp>
        <p:nvSpPr>
          <p:cNvPr id="10" name="Oval 9"/>
          <p:cNvSpPr/>
          <p:nvPr/>
        </p:nvSpPr>
        <p:spPr>
          <a:xfrm>
            <a:off x="457200" y="30358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「AIエージェントの統治」が問題になる理由が分かる</a:t>
            </a:r>
          </a:p>
        </p:txBody>
      </p:sp>
      <p:sp>
        <p:nvSpPr>
          <p:cNvPr id="12" name="Oval 11"/>
          <p:cNvSpPr/>
          <p:nvPr/>
        </p:nvSpPr>
        <p:spPr>
          <a:xfrm>
            <a:off x="457200" y="38130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セキュリティ大手Akamaiが参加した意味を整理できる</a:t>
            </a:r>
          </a:p>
        </p:txBody>
      </p:sp>
      <p:sp>
        <p:nvSpPr>
          <p:cNvPr id="14" name="Oval 13"/>
          <p:cNvSpPr/>
          <p:nvPr/>
        </p:nvSpPr>
        <p:spPr>
          <a:xfrm>
            <a:off x="457200" y="459028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5" name="TextBox 14"/>
          <p:cNvSpPr txBox="1"/>
          <p:nvPr/>
        </p:nvSpPr>
        <p:spPr>
          <a:xfrm>
            <a:off x="960120" y="45720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調査で確認できなかったことも正直に共有します</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定期実行58本目</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3 / 30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この話の確かさについて</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一次情報</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PRNewswireの一次発表(プレスリリース)を確認</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独立した複数メディア</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SecurityWeek・fintech.global・ynetnews・cioinfluenceが同じ発表を報道</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不明点は明記</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企業評価額や導入顧客名など、確認できなかった点は本編で明示します</a:t>
            </a:r>
          </a:p>
        </p:txBody>
      </p:sp>
      <p:sp>
        <p:nvSpPr>
          <p:cNvPr id="18" name="TextBox 17"/>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research.md参照</a:t>
            </a:r>
          </a:p>
        </p:txBody>
      </p:sp>
      <p:sp>
        <p:nvSpPr>
          <p:cNvPr id="19" name="TextBox 1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定期実行58本目</a:t>
            </a:r>
          </a:p>
        </p:txBody>
      </p:sp>
      <p:sp>
        <p:nvSpPr>
          <p:cNvPr id="20" name="TextBox 1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今日話すこと</a:t>
            </a:r>
          </a:p>
        </p:txBody>
      </p:sp>
      <p:sp>
        <p:nvSpPr>
          <p:cNvPr id="5" name="Oval 4"/>
          <p:cNvSpPr/>
          <p:nvPr/>
        </p:nvSpPr>
        <p:spPr>
          <a:xfrm>
            <a:off x="548640" y="192024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CADCFC"/>
                </a:solidFill>
                <a:latin typeface="Yu Gothic"/>
              </a:rPr>
              <a:t>前提: なぜ「AIエージェントの統治」が問題になるのか</a:t>
            </a:r>
          </a:p>
        </p:txBody>
      </p:sp>
      <p:sp>
        <p:nvSpPr>
          <p:cNvPr id="7" name="Oval 6"/>
          <p:cNvSpPr/>
          <p:nvPr/>
        </p:nvSpPr>
        <p:spPr>
          <a:xfrm>
            <a:off x="548640" y="269748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CADCFC"/>
                </a:solidFill>
                <a:latin typeface="Yu Gothic"/>
              </a:rPr>
              <a:t>発表の中身: 調達額・投資家・創業からの軌跡</a:t>
            </a:r>
          </a:p>
        </p:txBody>
      </p:sp>
      <p:sp>
        <p:nvSpPr>
          <p:cNvPr id="9" name="Oval 8"/>
          <p:cNvSpPr/>
          <p:nvPr/>
        </p:nvSpPr>
        <p:spPr>
          <a:xfrm>
            <a:off x="548640" y="347472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CADCFC"/>
                </a:solidFill>
                <a:latin typeface="Yu Gothic"/>
              </a:rPr>
              <a:t>仕組み: 非人間IDをどう管理するか</a:t>
            </a:r>
          </a:p>
        </p:txBody>
      </p:sp>
      <p:sp>
        <p:nvSpPr>
          <p:cNvPr id="11" name="Oval 10"/>
          <p:cNvSpPr/>
          <p:nvPr/>
        </p:nvSpPr>
        <p:spPr>
          <a:xfrm>
            <a:off x="548640" y="425196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CADCFC"/>
                </a:solidFill>
                <a:latin typeface="Yu Gothic"/>
              </a:rPr>
              <a:t>2つの衝撃的な数字と、Akamaiが参加した意味</a:t>
            </a:r>
          </a:p>
        </p:txBody>
      </p:sp>
      <p:sp>
        <p:nvSpPr>
          <p:cNvPr id="13" name="Oval 12"/>
          <p:cNvSpPr/>
          <p:nvPr/>
        </p:nvSpPr>
        <p:spPr>
          <a:xfrm>
            <a:off x="548640" y="502920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CADCFC"/>
                </a:solidFill>
                <a:latin typeface="Yu Gothic"/>
              </a:rPr>
              <a:t>日本への関連と、確認できなかったこと</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前提: なぜ「AIエージェントの統治」が問題か</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AIエージェントが急増している</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人手を介さず自律的にシステムへアクセスするソフトウェアが企業内で増えている</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既存のID管理は「人」向け</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従業員やアプリケーション向けの仕組みはあるが、自律的に動くエージェント向けではない</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APIキーだけでは足りない</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常設の認証情報は漏えい・悪用時のリスクが大きい</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定期実行58本目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シリーズA調達額</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3,000万ドル</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既存投資家のBattery Ventures・YL Venturesに加え、Akamaiが戦略投資家として新規参加</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PRNewswire / SecurityWeek(2026-07-29)</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投資家の顔ぶれ</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区分</a:t>
                      </a:r>
                    </a:p>
                  </a:txBody>
                  <a:tcPr>
                    <a:solidFill>
                      <a:srgbClr val="1E2761"/>
                    </a:solidFill>
                  </a:tcPr>
                </a:tc>
                <a:tc>
                  <a:txBody>
                    <a:bodyPr/>
                    <a:lstStyle/>
                    <a:p>
                      <a:pPr>
                        <a:defRPr sz="1300" b="1">
                          <a:solidFill>
                            <a:srgbClr val="FFFFFF"/>
                          </a:solidFill>
                          <a:latin typeface="Yu Gothic"/>
                        </a:defRPr>
                      </a:pPr>
                      <a:r>
                        <a:t>投資家名</a:t>
                      </a:r>
                    </a:p>
                  </a:txBody>
                  <a:tcPr>
                    <a:solidFill>
                      <a:srgbClr val="1E2761"/>
                    </a:solidFill>
                  </a:tcPr>
                </a:tc>
              </a:tr>
              <a:tr h="502920">
                <a:tc>
                  <a:txBody>
                    <a:bodyPr/>
                    <a:lstStyle/>
                    <a:p>
                      <a:pPr>
                        <a:defRPr sz="1200">
                          <a:solidFill>
                            <a:srgbClr val="1A1A2E"/>
                          </a:solidFill>
                          <a:latin typeface="Yu Gothic"/>
                        </a:defRPr>
                      </a:pPr>
                      <a:r>
                        <a:t>既存投資家(継続)</a:t>
                      </a:r>
                    </a:p>
                  </a:txBody>
                  <a:tcPr>
                    <a:solidFill>
                      <a:srgbClr val="FFFFFF"/>
                    </a:solidFill>
                  </a:tcPr>
                </a:tc>
                <a:tc>
                  <a:txBody>
                    <a:bodyPr/>
                    <a:lstStyle/>
                    <a:p>
                      <a:pPr>
                        <a:defRPr sz="1200">
                          <a:solidFill>
                            <a:srgbClr val="1A1A2E"/>
                          </a:solidFill>
                          <a:latin typeface="Yu Gothic"/>
                        </a:defRPr>
                      </a:pPr>
                      <a:r>
                        <a:t>Battery Ventures・YL Ventures</a:t>
                      </a:r>
                    </a:p>
                  </a:txBody>
                  <a:tcPr>
                    <a:solidFill>
                      <a:srgbClr val="FFFFFF"/>
                    </a:solidFill>
                  </a:tcPr>
                </a:tc>
              </a:tr>
              <a:tr h="502920">
                <a:tc>
                  <a:txBody>
                    <a:bodyPr/>
                    <a:lstStyle/>
                    <a:p>
                      <a:pPr>
                        <a:defRPr sz="1200">
                          <a:solidFill>
                            <a:srgbClr val="1A1A2E"/>
                          </a:solidFill>
                          <a:latin typeface="Yu Gothic"/>
                        </a:defRPr>
                      </a:pPr>
                      <a:r>
                        <a:t>新規の戦略投資家</a:t>
                      </a:r>
                    </a:p>
                  </a:txBody>
                  <a:tcPr>
                    <a:solidFill>
                      <a:srgbClr val="F3F6FC"/>
                    </a:solidFill>
                  </a:tcPr>
                </a:tc>
                <a:tc>
                  <a:txBody>
                    <a:bodyPr/>
                    <a:lstStyle/>
                    <a:p>
                      <a:pPr>
                        <a:defRPr sz="1200">
                          <a:solidFill>
                            <a:srgbClr val="1A1A2E"/>
                          </a:solidFill>
                          <a:latin typeface="Yu Gothic"/>
                        </a:defRPr>
                      </a:pPr>
                      <a:r>
                        <a:t>Akamai Technologies</a:t>
                      </a:r>
                    </a:p>
                  </a:txBody>
                  <a:tcPr>
                    <a:solidFill>
                      <a:srgbClr val="F3F6FC"/>
                    </a:solidFill>
                  </a:tcPr>
                </a:tc>
              </a:tr>
              <a:tr h="502920">
                <a:tc>
                  <a:txBody>
                    <a:bodyPr/>
                    <a:lstStyle/>
                    <a:p>
                      <a:pPr>
                        <a:defRPr sz="1200">
                          <a:solidFill>
                            <a:srgbClr val="1A1A2E"/>
                          </a:solidFill>
                          <a:latin typeface="Yu Gothic"/>
                        </a:defRPr>
                      </a:pPr>
                      <a:r>
                        <a:t>累計調達額</a:t>
                      </a:r>
                    </a:p>
                  </a:txBody>
                  <a:tcPr>
                    <a:solidFill>
                      <a:srgbClr val="FFFFFF"/>
                    </a:solidFill>
                  </a:tcPr>
                </a:tc>
                <a:tc>
                  <a:txBody>
                    <a:bodyPr/>
                    <a:lstStyle/>
                    <a:p>
                      <a:pPr>
                        <a:defRPr sz="1200">
                          <a:solidFill>
                            <a:srgbClr val="1A1A2E"/>
                          </a:solidFill>
                          <a:latin typeface="Yu Gothic"/>
                        </a:defRPr>
                      </a:pPr>
                      <a:r>
                        <a:t>4,100万ドル(シード1,100万ドル+シリーズA3,000万ドル)</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fintech.global / ynetnews(2026-07-29)</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定期実行58本目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何が発表されたか(2026年7月28/29日)</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調達額</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シリーズAとして3,000万ドル</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参加の意味</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セキュリティ大手Akamaiが戦略投資家として参加</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報じたメディア</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PRNewswire公式に加えSecurityWeek・fintech.globalなどが報道</a:t>
            </a:r>
          </a:p>
        </p:txBody>
      </p:sp>
      <p:sp>
        <p:nvSpPr>
          <p:cNvPr id="18" name="TextBox 17"/>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PRNewswire / SecurityWeek / fintech.global(いずれも2026-07-29前後)</a:t>
            </a:r>
          </a:p>
        </p:txBody>
      </p:sp>
      <p:sp>
        <p:nvSpPr>
          <p:cNvPr id="19" name="TextBox 1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定期実行58本目</a:t>
            </a:r>
          </a:p>
        </p:txBody>
      </p:sp>
      <p:sp>
        <p:nvSpPr>
          <p:cNvPr id="20" name="TextBox 1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創業からの軌跡</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時期</a:t>
                      </a:r>
                    </a:p>
                  </a:txBody>
                  <a:tcPr>
                    <a:solidFill>
                      <a:srgbClr val="1E2761"/>
                    </a:solidFill>
                  </a:tcPr>
                </a:tc>
                <a:tc>
                  <a:txBody>
                    <a:bodyPr/>
                    <a:lstStyle/>
                    <a:p>
                      <a:pPr>
                        <a:defRPr sz="1300" b="1">
                          <a:solidFill>
                            <a:srgbClr val="FFFFFF"/>
                          </a:solidFill>
                          <a:latin typeface="Yu Gothic"/>
                        </a:defRPr>
                      </a:pPr>
                      <a:r>
                        <a:t>できごと</a:t>
                      </a:r>
                    </a:p>
                  </a:txBody>
                  <a:tcPr>
                    <a:solidFill>
                      <a:srgbClr val="1E2761"/>
                    </a:solidFill>
                  </a:tcPr>
                </a:tc>
              </a:tr>
              <a:tr h="502920">
                <a:tc>
                  <a:txBody>
                    <a:bodyPr/>
                    <a:lstStyle/>
                    <a:p>
                      <a:pPr>
                        <a:defRPr sz="1200">
                          <a:solidFill>
                            <a:srgbClr val="1A1A2E"/>
                          </a:solidFill>
                          <a:latin typeface="Yu Gothic"/>
                        </a:defRPr>
                      </a:pPr>
                      <a:r>
                        <a:t>2019年</a:t>
                      </a:r>
                    </a:p>
                  </a:txBody>
                  <a:tcPr>
                    <a:solidFill>
                      <a:srgbClr val="FFFFFF"/>
                    </a:solidFill>
                  </a:tcPr>
                </a:tc>
                <a:tc>
                  <a:txBody>
                    <a:bodyPr/>
                    <a:lstStyle/>
                    <a:p>
                      <a:pPr>
                        <a:defRPr sz="1200">
                          <a:solidFill>
                            <a:srgbClr val="1A1A2E"/>
                          </a:solidFill>
                          <a:latin typeface="Yu Gothic"/>
                        </a:defRPr>
                      </a:pPr>
                      <a:r>
                        <a:t>創業チームの前身企業Meta NetworksをProofpointが買収</a:t>
                      </a:r>
                    </a:p>
                  </a:txBody>
                  <a:tcPr>
                    <a:solidFill>
                      <a:srgbClr val="FFFFFF"/>
                    </a:solidFill>
                  </a:tcPr>
                </a:tc>
              </a:tr>
              <a:tr h="502920">
                <a:tc>
                  <a:txBody>
                    <a:bodyPr/>
                    <a:lstStyle/>
                    <a:p>
                      <a:pPr>
                        <a:defRPr sz="1200">
                          <a:solidFill>
                            <a:srgbClr val="1A1A2E"/>
                          </a:solidFill>
                          <a:latin typeface="Yu Gothic"/>
                        </a:defRPr>
                      </a:pPr>
                      <a:r>
                        <a:t>2025年9月10日</a:t>
                      </a:r>
                    </a:p>
                  </a:txBody>
                  <a:tcPr>
                    <a:solidFill>
                      <a:srgbClr val="F3F6FC"/>
                    </a:solidFill>
                  </a:tcPr>
                </a:tc>
                <a:tc>
                  <a:txBody>
                    <a:bodyPr/>
                    <a:lstStyle/>
                    <a:p>
                      <a:pPr>
                        <a:defRPr sz="1200">
                          <a:solidFill>
                            <a:srgbClr val="1A1A2E"/>
                          </a:solidFill>
                          <a:latin typeface="Yu Gothic"/>
                        </a:defRPr>
                      </a:pPr>
                      <a:r>
                        <a:t>Hush Securityがステルス解除、Battery Ventures・YL Ventures主導でシード1,100万ドルを調達</a:t>
                      </a:r>
                    </a:p>
                  </a:txBody>
                  <a:tcPr>
                    <a:solidFill>
                      <a:srgbClr val="F3F6FC"/>
                    </a:solidFill>
                  </a:tcPr>
                </a:tc>
              </a:tr>
              <a:tr h="502920">
                <a:tc>
                  <a:txBody>
                    <a:bodyPr/>
                    <a:lstStyle/>
                    <a:p>
                      <a:pPr>
                        <a:defRPr sz="1200">
                          <a:solidFill>
                            <a:srgbClr val="1A1A2E"/>
                          </a:solidFill>
                          <a:latin typeface="Yu Gothic"/>
                        </a:defRPr>
                      </a:pPr>
                      <a:r>
                        <a:t>2026年7月28/29日</a:t>
                      </a:r>
                    </a:p>
                  </a:txBody>
                  <a:tcPr>
                    <a:solidFill>
                      <a:srgbClr val="FFFFFF"/>
                    </a:solidFill>
                  </a:tcPr>
                </a:tc>
                <a:tc>
                  <a:txBody>
                    <a:bodyPr/>
                    <a:lstStyle/>
                    <a:p>
                      <a:pPr>
                        <a:defRPr sz="1200">
                          <a:solidFill>
                            <a:srgbClr val="1A1A2E"/>
                          </a:solidFill>
                          <a:latin typeface="Yu Gothic"/>
                        </a:defRPr>
                      </a:pPr>
                      <a:r>
                        <a:t>シリーズAで3,000万ドルを調達、Akamaiが戦略投資家として参加</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Calcalist/CTech / PRNewswire</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定期実行58本目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前提知識: 「非人間ID」とAPIキーの違い</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APIキーは一度発行すると長期間有効な「常設の認証情報」になりがち</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非人間IDの統治は、AIエージェントごとに個別のIDを持たせて管理する発想</a:t>
            </a:r>
          </a:p>
        </p:txBody>
      </p:sp>
      <p:sp>
        <p:nvSpPr>
          <p:cNvPr id="10" name="Oval 9"/>
          <p:cNvSpPr/>
          <p:nvPr/>
        </p:nvSpPr>
        <p:spPr>
          <a:xfrm>
            <a:off x="457200" y="30358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権限は必要な時だけ・必要な範囲だけ与える(Just-In-Time)</a:t>
            </a:r>
          </a:p>
        </p:txBody>
      </p:sp>
      <p:sp>
        <p:nvSpPr>
          <p:cNvPr id="12" name="Oval 11"/>
          <p:cNvSpPr/>
          <p:nvPr/>
        </p:nvSpPr>
        <p:spPr>
          <a:xfrm>
            <a:off x="457200" y="38130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CEOの言葉で「AIエージェントにはAPIキーではなく厳格なIDが必要」と表現している</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定期実行58本目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Hush Securityの仕組みの全体像</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52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65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894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中央レジストリへの登録</a:t>
            </a:r>
          </a:p>
        </p:txBody>
      </p:sp>
      <p:sp>
        <p:nvSpPr>
          <p:cNvPr id="9" name="TextBox 8"/>
          <p:cNvSpPr txBox="1"/>
          <p:nvPr/>
        </p:nvSpPr>
        <p:spPr>
          <a:xfrm>
            <a:off x="2894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すべてのAIエージェントを一元管理</a:t>
            </a:r>
          </a:p>
        </p:txBody>
      </p:sp>
      <p:sp>
        <p:nvSpPr>
          <p:cNvPr id="10" name="Right Arrow 9"/>
          <p:cNvSpPr/>
          <p:nvPr/>
        </p:nvSpPr>
        <p:spPr>
          <a:xfrm>
            <a:off x="25571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3526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3069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898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常設の認証情報を排除</a:t>
            </a:r>
          </a:p>
        </p:txBody>
      </p:sp>
      <p:sp>
        <p:nvSpPr>
          <p:cNvPr id="14" name="TextBox 13"/>
          <p:cNvSpPr txBox="1"/>
          <p:nvPr/>
        </p:nvSpPr>
        <p:spPr>
          <a:xfrm>
            <a:off x="34898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固定のAPIキー・パスワードを持たせない</a:t>
            </a:r>
          </a:p>
        </p:txBody>
      </p:sp>
      <p:sp>
        <p:nvSpPr>
          <p:cNvPr id="15" name="Right Arrow 14"/>
          <p:cNvSpPr/>
          <p:nvPr/>
        </p:nvSpPr>
        <p:spPr>
          <a:xfrm>
            <a:off x="57575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5530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5073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902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JIT(Just-In-Time)権限付与</a:t>
            </a:r>
          </a:p>
        </p:txBody>
      </p:sp>
      <p:sp>
        <p:nvSpPr>
          <p:cNvPr id="19" name="TextBox 18"/>
          <p:cNvSpPr txBox="1"/>
          <p:nvPr/>
        </p:nvSpPr>
        <p:spPr>
          <a:xfrm>
            <a:off x="66902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実行時にスコープ限定の権限のみ与える</a:t>
            </a:r>
          </a:p>
        </p:txBody>
      </p:sp>
      <p:sp>
        <p:nvSpPr>
          <p:cNvPr id="20" name="Right Arrow 19"/>
          <p:cNvSpPr/>
          <p:nvPr/>
        </p:nvSpPr>
        <p:spPr>
          <a:xfrm>
            <a:off x="89579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753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7077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8906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ログ記録・キルスイッチ</a:t>
            </a:r>
          </a:p>
        </p:txBody>
      </p:sp>
      <p:sp>
        <p:nvSpPr>
          <p:cNvPr id="24" name="TextBox 23"/>
          <p:cNvSpPr txBox="1"/>
          <p:nvPr/>
        </p:nvSpPr>
        <p:spPr>
          <a:xfrm>
            <a:off x="98906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全アクションを記録、緊急時は中央で停止</a:t>
            </a:r>
          </a:p>
        </p:txBody>
      </p:sp>
      <p:sp>
        <p:nvSpPr>
          <p:cNvPr id="25" name="TextBox 24"/>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B6270"/>
                </a:solidFill>
                <a:latin typeface="Yu Gothic"/>
              </a:rPr>
              <a:t>AIエージェントを登録し、常設の権限を持たせず、実行時にだけ権限を与える構造</a:t>
            </a:r>
          </a:p>
        </p:txBody>
      </p:sp>
      <p:sp>
        <p:nvSpPr>
          <p:cNvPr id="26" name="TextBox 25"/>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fintech.global / SecurityWeek(2026-07-29)</a:t>
            </a:r>
          </a:p>
        </p:txBody>
      </p:sp>
      <p:sp>
        <p:nvSpPr>
          <p:cNvPr id="27" name="TextBox 2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定期実行58本目</a:t>
            </a:r>
          </a:p>
        </p:txBody>
      </p:sp>
      <p:sp>
        <p:nvSpPr>
          <p:cNvPr id="28" name="TextBox 2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Hush Securityが提供する3つの仕組み</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登録</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AIエージェントを中央レジストリに一元登録する</a:t>
            </a:r>
          </a:p>
        </p:txBody>
      </p:sp>
      <p:sp>
        <p:nvSpPr>
          <p:cNvPr id="11" name="Chevron 10"/>
          <p:cNvSpPr/>
          <p:nvPr/>
        </p:nvSpPr>
        <p:spPr>
          <a:xfrm>
            <a:off x="4038295"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権限付与</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実行時にスコープ限定の権限だけをその場で与える</a:t>
            </a:r>
          </a:p>
        </p:txBody>
      </p:sp>
      <p:sp>
        <p:nvSpPr>
          <p:cNvPr id="17" name="Chevron 16"/>
          <p:cNvSpPr/>
          <p:nvPr/>
        </p:nvSpPr>
        <p:spPr>
          <a:xfrm>
            <a:off x="7919313"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監視・停止</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全アクションをログ記録し、必要ならキルスイッチで停止する</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定期実行58本目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2028年のAIエージェント運用数予測</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15万体超</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Gartnerの予測。Fortune500企業の平均。1年前は15体未満だった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Gartner(SecurityWeek / fintech.global経由で引用, 2026-07-29)</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Gartner予測の詳細</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150876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時期</a:t>
                      </a:r>
                    </a:p>
                  </a:txBody>
                  <a:tcPr>
                    <a:solidFill>
                      <a:srgbClr val="1E2761"/>
                    </a:solidFill>
                  </a:tcPr>
                </a:tc>
                <a:tc>
                  <a:txBody>
                    <a:bodyPr/>
                    <a:lstStyle/>
                    <a:p>
                      <a:pPr>
                        <a:defRPr sz="1300" b="1">
                          <a:solidFill>
                            <a:srgbClr val="FFFFFF"/>
                          </a:solidFill>
                          <a:latin typeface="Yu Gothic"/>
                        </a:defRPr>
                      </a:pPr>
                      <a:r>
                        <a:t>Fortune500企業の平均AIエージェント運用数</a:t>
                      </a:r>
                    </a:p>
                  </a:txBody>
                  <a:tcPr>
                    <a:solidFill>
                      <a:srgbClr val="1E2761"/>
                    </a:solidFill>
                  </a:tcPr>
                </a:tc>
              </a:tr>
              <a:tr h="502920">
                <a:tc>
                  <a:txBody>
                    <a:bodyPr/>
                    <a:lstStyle/>
                    <a:p>
                      <a:pPr>
                        <a:defRPr sz="1200">
                          <a:solidFill>
                            <a:srgbClr val="1A1A2E"/>
                          </a:solidFill>
                          <a:latin typeface="Yu Gothic"/>
                        </a:defRPr>
                      </a:pPr>
                      <a:r>
                        <a:t>1年前(2025年頃)</a:t>
                      </a:r>
                    </a:p>
                  </a:txBody>
                  <a:tcPr>
                    <a:solidFill>
                      <a:srgbClr val="FFFFFF"/>
                    </a:solidFill>
                  </a:tcPr>
                </a:tc>
                <a:tc>
                  <a:txBody>
                    <a:bodyPr/>
                    <a:lstStyle/>
                    <a:p>
                      <a:pPr>
                        <a:defRPr sz="1200">
                          <a:solidFill>
                            <a:srgbClr val="1A1A2E"/>
                          </a:solidFill>
                          <a:latin typeface="Yu Gothic"/>
                        </a:defRPr>
                      </a:pPr>
                      <a:r>
                        <a:t>15体未満</a:t>
                      </a:r>
                    </a:p>
                  </a:txBody>
                  <a:tcPr>
                    <a:solidFill>
                      <a:srgbClr val="FFFFFF"/>
                    </a:solidFill>
                  </a:tcPr>
                </a:tc>
              </a:tr>
              <a:tr h="502920">
                <a:tc>
                  <a:txBody>
                    <a:bodyPr/>
                    <a:lstStyle/>
                    <a:p>
                      <a:pPr>
                        <a:defRPr sz="1200">
                          <a:solidFill>
                            <a:srgbClr val="1A1A2E"/>
                          </a:solidFill>
                          <a:latin typeface="Yu Gothic"/>
                        </a:defRPr>
                      </a:pPr>
                      <a:r>
                        <a:t>2028年(予測)</a:t>
                      </a:r>
                    </a:p>
                  </a:txBody>
                  <a:tcPr>
                    <a:solidFill>
                      <a:srgbClr val="F3F6FC"/>
                    </a:solidFill>
                  </a:tcPr>
                </a:tc>
                <a:tc>
                  <a:txBody>
                    <a:bodyPr/>
                    <a:lstStyle/>
                    <a:p>
                      <a:pPr>
                        <a:defRPr sz="1200">
                          <a:solidFill>
                            <a:srgbClr val="1A1A2E"/>
                          </a:solidFill>
                          <a:latin typeface="Yu Gothic"/>
                        </a:defRPr>
                      </a:pPr>
                      <a:r>
                        <a:t>15万体超</a:t>
                      </a:r>
                    </a:p>
                  </a:txBody>
                  <a:tcPr>
                    <a:solidFill>
                      <a:srgbClr val="F3F6FC"/>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Gartner(SecurityWeek / fintech.global経由, 2026-07-29)</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定期実行58本目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統治モデルが未整備の組織の割合</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96%</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Omdia調査。AIエージェント向けに設計されていない仕組みで運用している組織の割合</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Omdia(SecurityWeek / fintech.global経由で引用, 2026-07-29)</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96%が意味するところ</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多くの企業が未対応</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AIエージェント専用の統治設計をしている組織はごく一部</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既存の枠組みを流用しがち</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人・アプリケーション向けのID管理をそのまま当てはめているケースが多いと考えられる</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市場機会として見られている</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この隙間を埋める製品としてHush Securityが位置づけられている</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定期実行58本目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従来のVault型と、Hushのアプローチ</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従来のVault・シークレット管理(主流)</a:t>
            </a:r>
          </a:p>
        </p:txBody>
      </p:sp>
      <p:sp>
        <p:nvSpPr>
          <p:cNvPr id="9" name="Oval 8"/>
          <p:cNvSpPr/>
          <p:nvPr/>
        </p:nvSpPr>
        <p:spPr>
          <a:xfrm>
            <a:off x="777240"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認証情報を保管庫(Vault)に集約して守る発想</a:t>
            </a:r>
          </a:p>
        </p:txBody>
      </p:sp>
      <p:sp>
        <p:nvSpPr>
          <p:cNvPr id="11" name="Oval 10"/>
          <p:cNvSpPr/>
          <p:nvPr/>
        </p:nvSpPr>
        <p:spPr>
          <a:xfrm>
            <a:off x="777240"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発行された認証情報は比較的長期間有効</a:t>
            </a:r>
          </a:p>
        </p:txBody>
      </p:sp>
      <p:sp>
        <p:nvSpPr>
          <p:cNvPr id="13" name="Oval 12"/>
          <p:cNvSpPr/>
          <p:nvPr/>
        </p:nvSpPr>
        <p:spPr>
          <a:xfrm>
            <a:off x="777240" y="363016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エージェントの急増にスケールしにくい</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Hushのアプローチ</a:t>
            </a:r>
          </a:p>
        </p:txBody>
      </p:sp>
      <p:sp>
        <p:nvSpPr>
          <p:cNvPr id="18" name="Oval 17"/>
          <p:cNvSpPr/>
          <p:nvPr/>
        </p:nvSpPr>
        <p:spPr>
          <a:xfrm>
            <a:off x="6598767"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認証情報そのものを持たせない「secretless」設計</a:t>
            </a:r>
          </a:p>
        </p:txBody>
      </p:sp>
      <p:sp>
        <p:nvSpPr>
          <p:cNvPr id="20" name="Oval 19"/>
          <p:cNvSpPr/>
          <p:nvPr/>
        </p:nvSpPr>
        <p:spPr>
          <a:xfrm>
            <a:off x="6598767"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実行時にスコープ限定のJIT権限のみ付与</a:t>
            </a:r>
          </a:p>
        </p:txBody>
      </p:sp>
      <p:sp>
        <p:nvSpPr>
          <p:cNvPr id="22" name="Oval 21"/>
          <p:cNvSpPr/>
          <p:nvPr/>
        </p:nvSpPr>
        <p:spPr>
          <a:xfrm>
            <a:off x="6598767" y="363016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中央レジストリとキルスイッチで一元管理</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定期実行58本目</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828800"/>
            <a:ext cx="9966960" cy="2560320"/>
          </a:xfrm>
          <a:prstGeom prst="rect">
            <a:avLst/>
          </a:prstGeom>
          <a:noFill/>
        </p:spPr>
        <p:txBody>
          <a:bodyPr wrap="square" anchor="ctr" lIns="0" rIns="0" tIns="0" bIns="0">
            <a:spAutoFit/>
          </a:bodyPr>
          <a:lstStyle/>
          <a:p>
            <a:pPr algn="l">
              <a:lnSpc>
                <a:spcPct val="125000"/>
              </a:lnSpc>
            </a:pPr>
            <a:r>
              <a:rPr sz="2800" b="1">
                <a:solidFill>
                  <a:srgbClr val="FFFFFF"/>
                </a:solidFill>
                <a:latin typeface="Yu Gothic"/>
              </a:rPr>
              <a:t>“企業はすでに人材やアプリケーションのID管理の方法を知っている。しかし今、ソフトウェアが自らの意思で、最も機密性の高いシステム内で自律的に動いている。AIエージェントにはAPIキーではなく、厳格なIDが必要だ”</a:t>
            </a:r>
          </a:p>
        </p:txBody>
      </p:sp>
      <p:sp>
        <p:nvSpPr>
          <p:cNvPr id="5" name="TextBox 4"/>
          <p:cNvSpPr txBox="1"/>
          <p:nvPr/>
        </p:nvSpPr>
        <p:spPr>
          <a:xfrm>
            <a:off x="1097280" y="4572000"/>
            <a:ext cx="9966960" cy="548640"/>
          </a:xfrm>
          <a:prstGeom prst="rect">
            <a:avLst/>
          </a:prstGeom>
          <a:noFill/>
        </p:spPr>
        <p:txBody>
          <a:bodyPr wrap="square" anchor="t" lIns="0" rIns="0" tIns="0" bIns="0">
            <a:spAutoFit/>
          </a:bodyPr>
          <a:lstStyle/>
          <a:p>
            <a:pPr algn="l"/>
            <a:r>
              <a:rPr sz="1600" b="0">
                <a:solidFill>
                  <a:srgbClr val="CADCFC"/>
                </a:solidFill>
                <a:latin typeface="Yu Gothic"/>
              </a:rPr>
              <a:t>— Hush Security共同創業者兼CEO Micha Rave氏(複数媒体経由の引用)</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創業チームの経歴</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前身企業</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Meta Networks(2019年にProofpointが買収)</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創業メンバー</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Alon Horowitz・Micha Rave・Chen Nisnkorn・Shmulik Ladkaniの4名</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拠点</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イスラエル・テルアビブ</a:t>
            </a:r>
          </a:p>
        </p:txBody>
      </p:sp>
      <p:sp>
        <p:nvSpPr>
          <p:cNvPr id="18" name="TextBox 17"/>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Calcalist/CTech</a:t>
            </a:r>
          </a:p>
        </p:txBody>
      </p:sp>
      <p:sp>
        <p:nvSpPr>
          <p:cNvPr id="19" name="TextBox 1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定期実行58本目</a:t>
            </a:r>
          </a:p>
        </p:txBody>
      </p:sp>
      <p:sp>
        <p:nvSpPr>
          <p:cNvPr id="20" name="TextBox 1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Akamaiが戦略投資家として参加した位置づけ(推測を含む)</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Akamaiの立ち位置</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CDN・エッジセキュリティを手がける大手企業</a:t>
            </a:r>
          </a:p>
        </p:txBody>
      </p:sp>
      <p:sp>
        <p:nvSpPr>
          <p:cNvPr id="10" name="Right Arrow 9"/>
          <p:cNvSpPr/>
          <p:nvPr/>
        </p:nvSpPr>
        <p:spPr>
          <a:xfrm>
            <a:off x="41573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非人間IDという新領域</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AIエージェントの急増でセキュリティ需要が生まれている</a:t>
            </a:r>
          </a:p>
        </p:txBody>
      </p:sp>
      <p:sp>
        <p:nvSpPr>
          <p:cNvPr id="15" name="Right Arrow 14"/>
          <p:cNvSpPr/>
          <p:nvPr/>
        </p:nvSpPr>
        <p:spPr>
          <a:xfrm>
            <a:off x="73577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戦略投資として参加</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将来の製品連携・展開を見据えた参加と考えられる(推測)</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B6270"/>
                </a:solidFill>
                <a:latin typeface="Yu Gothic"/>
              </a:rPr>
              <a:t>Akamai側の具体的な意図は一次情報で明言されておらず、ここでの位置づけは推測を含む</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定期実行58本目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Akamaiについて分かっていること・いないこと</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分かっていること</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Akamaiが戦略投資家として今回のラウンドに参加したこと</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分かっていないこと</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Akamaiの出資額・具体的な連携内容</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今後の注目点</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AkamaiとHush Securityの製品連携が発表されるかどうか</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定期実行58本目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今回、確認できなかったこと</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E2761"/>
                    </a:solidFill>
                  </a:tcPr>
                </a:tc>
                <a:tc>
                  <a:txBody>
                    <a:bodyPr/>
                    <a:lstStyle/>
                    <a:p>
                      <a:pPr>
                        <a:defRPr sz="1300" b="1">
                          <a:solidFill>
                            <a:srgbClr val="FFFFFF"/>
                          </a:solidFill>
                          <a:latin typeface="Yu Gothic"/>
                        </a:defRPr>
                      </a:pPr>
                      <a:r>
                        <a:t>状況</a:t>
                      </a:r>
                    </a:p>
                  </a:txBody>
                  <a:tcPr>
                    <a:solidFill>
                      <a:srgbClr val="1E2761"/>
                    </a:solidFill>
                  </a:tcPr>
                </a:tc>
              </a:tr>
              <a:tr h="502920">
                <a:tc>
                  <a:txBody>
                    <a:bodyPr/>
                    <a:lstStyle/>
                    <a:p>
                      <a:pPr>
                        <a:defRPr sz="1200">
                          <a:solidFill>
                            <a:srgbClr val="1A1A2E"/>
                          </a:solidFill>
                          <a:latin typeface="Yu Gothic"/>
                        </a:defRPr>
                      </a:pPr>
                      <a:r>
                        <a:t>Hush Securityの企業評価額(バリュエーション)</a:t>
                      </a:r>
                    </a:p>
                  </a:txBody>
                  <a:tcPr>
                    <a:solidFill>
                      <a:srgbClr val="FFFFFF"/>
                    </a:solidFill>
                  </a:tcPr>
                </a:tc>
                <a:tc>
                  <a:txBody>
                    <a:bodyPr/>
                    <a:lstStyle/>
                    <a:p>
                      <a:pPr>
                        <a:defRPr sz="1200">
                          <a:solidFill>
                            <a:srgbClr val="1A1A2E"/>
                          </a:solidFill>
                          <a:latin typeface="Yu Gothic"/>
                        </a:defRPr>
                      </a:pPr>
                      <a:r>
                        <a:t>一次情報では確認できず</a:t>
                      </a:r>
                    </a:p>
                  </a:txBody>
                  <a:tcPr>
                    <a:solidFill>
                      <a:srgbClr val="FFFFFF"/>
                    </a:solidFill>
                  </a:tcPr>
                </a:tc>
              </a:tr>
              <a:tr h="502920">
                <a:tc>
                  <a:txBody>
                    <a:bodyPr/>
                    <a:lstStyle/>
                    <a:p>
                      <a:pPr>
                        <a:defRPr sz="1200">
                          <a:solidFill>
                            <a:srgbClr val="1A1A2E"/>
                          </a:solidFill>
                          <a:latin typeface="Yu Gothic"/>
                        </a:defRPr>
                      </a:pPr>
                      <a:r>
                        <a:t>現在の導入顧客企業名・導入社数</a:t>
                      </a:r>
                    </a:p>
                  </a:txBody>
                  <a:tcPr>
                    <a:solidFill>
                      <a:srgbClr val="F3F6FC"/>
                    </a:solidFill>
                  </a:tcPr>
                </a:tc>
                <a:tc>
                  <a:txBody>
                    <a:bodyPr/>
                    <a:lstStyle/>
                    <a:p>
                      <a:pPr>
                        <a:defRPr sz="1200">
                          <a:solidFill>
                            <a:srgbClr val="1A1A2E"/>
                          </a:solidFill>
                          <a:latin typeface="Yu Gothic"/>
                        </a:defRPr>
                      </a:pPr>
                      <a:r>
                        <a:t>一次情報では確認できず</a:t>
                      </a:r>
                    </a:p>
                  </a:txBody>
                  <a:tcPr>
                    <a:solidFill>
                      <a:srgbClr val="F3F6FC"/>
                    </a:solidFill>
                  </a:tcPr>
                </a:tc>
              </a:tr>
              <a:tr h="502920">
                <a:tc>
                  <a:txBody>
                    <a:bodyPr/>
                    <a:lstStyle/>
                    <a:p>
                      <a:pPr>
                        <a:defRPr sz="1200">
                          <a:solidFill>
                            <a:srgbClr val="1A1A2E"/>
                          </a:solidFill>
                          <a:latin typeface="Yu Gothic"/>
                        </a:defRPr>
                      </a:pPr>
                      <a:r>
                        <a:t>日本国内の顧客・展開・提携の有無</a:t>
                      </a:r>
                    </a:p>
                  </a:txBody>
                  <a:tcPr>
                    <a:solidFill>
                      <a:srgbClr val="FFFFFF"/>
                    </a:solidFill>
                  </a:tcPr>
                </a:tc>
                <a:tc>
                  <a:txBody>
                    <a:bodyPr/>
                    <a:lstStyle/>
                    <a:p>
                      <a:pPr>
                        <a:defRPr sz="1200">
                          <a:solidFill>
                            <a:srgbClr val="1A1A2E"/>
                          </a:solidFill>
                          <a:latin typeface="Yu Gothic"/>
                        </a:defRPr>
                      </a:pPr>
                      <a:r>
                        <a:t>一次情報では確認できず</a:t>
                      </a:r>
                    </a:p>
                  </a:txBody>
                  <a:tcPr>
                    <a:solidFill>
                      <a:srgbClr val="FFFFFF"/>
                    </a:solidFill>
                  </a:tcPr>
                </a:tc>
              </a:tr>
              <a:tr h="502920">
                <a:tc>
                  <a:txBody>
                    <a:bodyPr/>
                    <a:lstStyle/>
                    <a:p>
                      <a:pPr>
                        <a:defRPr sz="1200">
                          <a:solidFill>
                            <a:srgbClr val="1A1A2E"/>
                          </a:solidFill>
                          <a:latin typeface="Yu Gothic"/>
                        </a:defRPr>
                      </a:pPr>
                      <a:r>
                        <a:t>各投資家の出資比率・出資額の内訳</a:t>
                      </a:r>
                    </a:p>
                  </a:txBody>
                  <a:tcPr>
                    <a:solidFill>
                      <a:srgbClr val="F3F6FC"/>
                    </a:solidFill>
                  </a:tcPr>
                </a:tc>
                <a:tc>
                  <a:txBody>
                    <a:bodyPr/>
                    <a:lstStyle/>
                    <a:p>
                      <a:pPr>
                        <a:defRPr sz="1200">
                          <a:solidFill>
                            <a:srgbClr val="1A1A2E"/>
                          </a:solidFill>
                          <a:latin typeface="Yu Gothic"/>
                        </a:defRPr>
                      </a:pPr>
                      <a:r>
                        <a:t>一次情報では確認できず</a:t>
                      </a:r>
                    </a:p>
                  </a:txBody>
                  <a:tcPr>
                    <a:solidFill>
                      <a:srgbClr val="F3F6FC"/>
                    </a:solidFill>
                  </a:tcPr>
                </a:tc>
              </a:tr>
              <a:tr h="502920">
                <a:tc>
                  <a:txBody>
                    <a:bodyPr/>
                    <a:lstStyle/>
                    <a:p>
                      <a:pPr>
                        <a:defRPr sz="1200">
                          <a:solidFill>
                            <a:srgbClr val="1A1A2E"/>
                          </a:solidFill>
                          <a:latin typeface="Yu Gothic"/>
                        </a:defRPr>
                      </a:pPr>
                      <a:r>
                        <a:t>PRNewswire等の原文本文全体</a:t>
                      </a:r>
                    </a:p>
                  </a:txBody>
                  <a:tcPr>
                    <a:solidFill>
                      <a:srgbClr val="FFFFFF"/>
                    </a:solidFill>
                  </a:tcPr>
                </a:tc>
                <a:tc>
                  <a:txBody>
                    <a:bodyPr/>
                    <a:lstStyle/>
                    <a:p>
                      <a:pPr>
                        <a:defRPr sz="1200">
                          <a:solidFill>
                            <a:srgbClr val="1A1A2E"/>
                          </a:solidFill>
                          <a:latin typeface="Yu Gothic"/>
                        </a:defRPr>
                      </a:pPr>
                      <a:r>
                        <a:t>WebFetchのアクセス制限(403)により複数媒体要約経由</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定期実行58本目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日本への関連(現時点で分かる範囲)</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拠点</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イスラエル・テルアビブが拠点(日本は含まれない)</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日本国内の顧客</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一次情報では確認できていない</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今後の注目点</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日本企業のAIエージェント統治への関心が今後高まるかを継続的に確認する必要がある</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定期実行58本目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業界外の人にも参考になる点</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「便利な自動化」の裏には「誰が権限を持つか」という問いが必ずある</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常設のパスワード・APIキーに頼らない発想は、個人の情報管理にも応用できる</a:t>
            </a:r>
          </a:p>
        </p:txBody>
      </p:sp>
      <p:sp>
        <p:nvSpPr>
          <p:cNvPr id="10" name="Oval 9"/>
          <p:cNvSpPr/>
          <p:nvPr/>
        </p:nvSpPr>
        <p:spPr>
          <a:xfrm>
            <a:off x="457200" y="30358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実績あるチームが同じ領域で再挑戦するという資金調達の作られ方は参考になる</a:t>
            </a:r>
          </a:p>
        </p:txBody>
      </p:sp>
      <p:sp>
        <p:nvSpPr>
          <p:cNvPr id="12" name="Oval 11"/>
          <p:cNvSpPr/>
          <p:nvPr/>
        </p:nvSpPr>
        <p:spPr>
          <a:xfrm>
            <a:off x="457200" y="38130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統計を引用する際は、出典(Gartner・Omdiaなど)を明記する姿勢が大切</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定期実行58本目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このニュースをどう読み解くか</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規模を見る</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3,000万ドル・累計4,100万ドルという調達規模をまず把握する</a:t>
            </a:r>
          </a:p>
        </p:txBody>
      </p:sp>
      <p:sp>
        <p:nvSpPr>
          <p:cNvPr id="11" name="Chevron 10"/>
          <p:cNvSpPr/>
          <p:nvPr/>
        </p:nvSpPr>
        <p:spPr>
          <a:xfrm>
            <a:off x="4038295"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背景の数字を見る</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15万体・96%という2つの数字が示す課題の大きさを確認する</a:t>
            </a:r>
          </a:p>
        </p:txBody>
      </p:sp>
      <p:sp>
        <p:nvSpPr>
          <p:cNvPr id="17" name="Chevron 16"/>
          <p:cNvSpPr/>
          <p:nvPr/>
        </p:nvSpPr>
        <p:spPr>
          <a:xfrm>
            <a:off x="7919313"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未確認点を見る</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評価額やAkamaiとの具体的な連携など、まだ分からない点を押さえる</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定期実行58本目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想定される効果(ここからは推測)</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統治の標準化</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業界への波及</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AIエージェント向けID管理が業界標準として広がる可能性がある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他社の追随</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競合の動き</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同様の統治プラットフォームへの投資が他社にも広がる可能性がある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セキュリティ大手の参入</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市場構造の変化</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Akamaiのような大手が自社製品に類似機能を取り込む可能性がある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定期実行58本目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冷静に見る点、3つ</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企業評価額や導入顧客の具体名は公表されていない</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Akamaiの出資額や具体的な連携内容までは示されていない</a:t>
            </a:r>
          </a:p>
        </p:txBody>
      </p:sp>
      <p:sp>
        <p:nvSpPr>
          <p:cNvPr id="10" name="Oval 9"/>
          <p:cNvSpPr/>
          <p:nvPr/>
        </p:nvSpPr>
        <p:spPr>
          <a:xfrm>
            <a:off x="457200" y="30358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急成長が続いているとはいえ、一企業の発表数値であり業界全体の断定はできない</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定期実行58本目</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今日の要点</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3,000万ドル</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シリーズA調達額</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Akamaiが戦略投資家として新規参加</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15万体超</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2028年のAIエージェント運用数予測</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Gartner予測。1年前は15体未満</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96%</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統治モデルが未整備の組織の割合</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Omdia調査に基づく</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定期実行58本目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「誰が権限を持っているか」も、AI活用の一部として見る習慣を</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CADCFC"/>
                </a:solidFill>
                <a:latin typeface="Yu Gothic"/>
              </a:rPr>
              <a:t>AIエージェントのニュースを見るときは、調達額・統計の出典・投資家の構成を分けて確認しましょう</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1E2761"/>
                </a:solidFill>
                <a:latin typeface="Yu Gothic"/>
              </a:rPr>
              <a:t>社内でAIエージェントを使い始めている方は、そのエージェントが持つ権限の範囲を一度確認してみてください</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