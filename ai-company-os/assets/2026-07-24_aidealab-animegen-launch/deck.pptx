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コールドオープン: 冒頭で具体的な事実を即座に提示し、挨拶なしで核心から入る(2026-07-24のエンゲージメント設計ルールに基づく)。</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起承転結を予告する。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専門用語を最初に整理する。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発表の概要を表で整理する。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KDDIのGPUクラスタ(香川県)でNVIDIA H200を24基使用して学習を行った。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主な機能を整理する。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公開方法を表で整理する。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開発から公開までの経緯を図で示す。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GENIACの概要を表で整理する。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発表企業について参考情報を紹介する。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制作現場への活用の違いを対比で見せる。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AIdeaLabが位置づける課題認識を紹介する。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ここは推測であることを明言する。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複数情報源での事実確認結果を表で示す。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想定利用者像を整理する。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想定される疑問に先回りして答える。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正直に、含まれなかったものも伝える。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見送った候補も具体的に共有する。</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転換パート。ここから実践的な話に入る。</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出来事の紹介だけで終わらせず、読み手にとっての意味を扱う。</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実際に試す前のチェックリストとして提示する。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実践につながる進め方をステップで見せる。</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個人視点も扱う。</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不明点を正直に「不明」と明言する。</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政治・対立を煽らないという制作方針を明確に伝える。</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検品結果を表でまとめる。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出典を短く再掲する。</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結のキーメッセージ。</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オープンループで次回への引き。</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最終スライド。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無償・商用利用OK。国産アニメ特化AIが公開された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E7DCC2"/>
                </a:solidFill>
                <a:latin typeface="Yu Gothic"/>
              </a:rPr>
              <a:t>国内AIベンチャーAIdeaLab、動画生成AI「AnimeGen」を無償公開(2026年7月13日)</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BFAE84"/>
                </a:solidFill>
                <a:latin typeface="Yu Gothic"/>
              </a:rPr>
              <a:t>出典: AIdeaLab公式プレスリリース, ITmedia AI+, Ledge.ai(2026-07-13)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今日話すこと</a:t>
            </a:r>
          </a:p>
        </p:txBody>
      </p:sp>
      <p:sp>
        <p:nvSpPr>
          <p:cNvPr id="5" name="Oval 4"/>
          <p:cNvSpPr/>
          <p:nvPr/>
        </p:nvSpPr>
        <p:spPr>
          <a:xfrm>
            <a:off x="548640" y="192024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E7DCC2"/>
                </a:solidFill>
                <a:latin typeface="Yu Gothic"/>
              </a:rPr>
              <a:t>起: 前提知識 + 何が起きたか</a:t>
            </a:r>
          </a:p>
        </p:txBody>
      </p:sp>
      <p:sp>
        <p:nvSpPr>
          <p:cNvPr id="7" name="Oval 6"/>
          <p:cNvSpPr/>
          <p:nvPr/>
        </p:nvSpPr>
        <p:spPr>
          <a:xfrm>
            <a:off x="548640" y="269748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E7DCC2"/>
                </a:solidFill>
                <a:latin typeface="Yu Gothic"/>
              </a:rPr>
              <a:t>承: AnimeGenの機能を詳しく見る</a:t>
            </a:r>
          </a:p>
        </p:txBody>
      </p:sp>
      <p:sp>
        <p:nvSpPr>
          <p:cNvPr id="9" name="Oval 8"/>
          <p:cNvSpPr/>
          <p:nvPr/>
        </p:nvSpPr>
        <p:spPr>
          <a:xfrm>
            <a:off x="548640" y="347472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E7DCC2"/>
                </a:solidFill>
                <a:latin typeface="Yu Gothic"/>
              </a:rPr>
              <a:t>転: なぜ今このタイミングか、これは何を意味するか</a:t>
            </a:r>
          </a:p>
        </p:txBody>
      </p:sp>
      <p:sp>
        <p:nvSpPr>
          <p:cNvPr id="11" name="Oval 10"/>
          <p:cNvSpPr/>
          <p:nvPr/>
        </p:nvSpPr>
        <p:spPr>
          <a:xfrm>
            <a:off x="548640" y="4251960"/>
            <a:ext cx="548640" cy="5486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E7DCC2"/>
                </a:solidFill>
                <a:latin typeface="Yu Gothic"/>
              </a:rPr>
              <a:t>結: 不明点・リスク配慮・まとめ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まず言葉の整理(初心者向け)</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動画生成AI</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テキストや画像から動画を自動生成するAI技術</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GENIAC</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経済産業省・NEDOが実施する国内の生成AI開発力強化プロジェクト</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何が起きたか</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発表企業</a:t>
                      </a:r>
                    </a:p>
                  </a:txBody>
                  <a:tcPr>
                    <a:solidFill>
                      <a:srgbClr val="FFFFFF"/>
                    </a:solidFill>
                  </a:tcPr>
                </a:tc>
                <a:tc>
                  <a:txBody>
                    <a:bodyPr/>
                    <a:lstStyle/>
                    <a:p>
                      <a:pPr>
                        <a:defRPr sz="1200">
                          <a:solidFill>
                            <a:srgbClr val="20261F"/>
                          </a:solidFill>
                          <a:latin typeface="Yu Gothic"/>
                        </a:defRPr>
                      </a:pPr>
                      <a:r>
                        <a:t>株式会社AIdeaLab(国内AIベンチャー)</a:t>
                      </a:r>
                    </a:p>
                  </a:txBody>
                  <a:tcPr>
                    <a:solidFill>
                      <a:srgbClr val="FFFFFF"/>
                    </a:solidFill>
                  </a:tcPr>
                </a:tc>
              </a:tr>
              <a:tr h="502920">
                <a:tc>
                  <a:txBody>
                    <a:bodyPr/>
                    <a:lstStyle/>
                    <a:p>
                      <a:pPr>
                        <a:defRPr sz="1200">
                          <a:solidFill>
                            <a:srgbClr val="20261F"/>
                          </a:solidFill>
                          <a:latin typeface="Yu Gothic"/>
                        </a:defRPr>
                      </a:pPr>
                      <a:r>
                        <a:t>発表日</a:t>
                      </a:r>
                    </a:p>
                  </a:txBody>
                  <a:tcPr>
                    <a:solidFill>
                      <a:srgbClr val="F4F1E6"/>
                    </a:solidFill>
                  </a:tcPr>
                </a:tc>
                <a:tc>
                  <a:txBody>
                    <a:bodyPr/>
                    <a:lstStyle/>
                    <a:p>
                      <a:pPr>
                        <a:defRPr sz="1200">
                          <a:solidFill>
                            <a:srgbClr val="20261F"/>
                          </a:solidFill>
                          <a:latin typeface="Yu Gothic"/>
                        </a:defRPr>
                      </a:pPr>
                      <a:r>
                        <a:t>2026年7月13日</a:t>
                      </a:r>
                    </a:p>
                  </a:txBody>
                  <a:tcPr>
                    <a:solidFill>
                      <a:srgbClr val="F4F1E6"/>
                    </a:solidFill>
                  </a:tcPr>
                </a:tc>
              </a:tr>
              <a:tr h="502920">
                <a:tc>
                  <a:txBody>
                    <a:bodyPr/>
                    <a:lstStyle/>
                    <a:p>
                      <a:pPr>
                        <a:defRPr sz="1200">
                          <a:solidFill>
                            <a:srgbClr val="20261F"/>
                          </a:solidFill>
                          <a:latin typeface="Yu Gothic"/>
                        </a:defRPr>
                      </a:pPr>
                      <a:r>
                        <a:t>公開モデル</a:t>
                      </a:r>
                    </a:p>
                  </a:txBody>
                  <a:tcPr>
                    <a:solidFill>
                      <a:srgbClr val="FFFFFF"/>
                    </a:solidFill>
                  </a:tcPr>
                </a:tc>
                <a:tc>
                  <a:txBody>
                    <a:bodyPr/>
                    <a:lstStyle/>
                    <a:p>
                      <a:pPr>
                        <a:defRPr sz="1200">
                          <a:solidFill>
                            <a:srgbClr val="20261F"/>
                          </a:solidFill>
                          <a:latin typeface="Yu Gothic"/>
                        </a:defRPr>
                      </a:pPr>
                      <a:r>
                        <a:t>アニメ特化動画生成AI「AnimeGen」</a:t>
                      </a:r>
                    </a:p>
                  </a:txBody>
                  <a:tcPr>
                    <a:solidFill>
                      <a:srgbClr val="FFFFFF"/>
                    </a:solidFill>
                  </a:tcPr>
                </a:tc>
              </a:tr>
              <a:tr h="502920">
                <a:tc>
                  <a:txBody>
                    <a:bodyPr/>
                    <a:lstStyle/>
                    <a:p>
                      <a:pPr>
                        <a:defRPr sz="1200">
                          <a:solidFill>
                            <a:srgbClr val="20261F"/>
                          </a:solidFill>
                          <a:latin typeface="Yu Gothic"/>
                        </a:defRPr>
                      </a:pPr>
                      <a:r>
                        <a:t>ライセンス</a:t>
                      </a:r>
                    </a:p>
                  </a:txBody>
                  <a:tcPr>
                    <a:solidFill>
                      <a:srgbClr val="F4F1E6"/>
                    </a:solidFill>
                  </a:tcPr>
                </a:tc>
                <a:tc>
                  <a:txBody>
                    <a:bodyPr/>
                    <a:lstStyle/>
                    <a:p>
                      <a:pPr>
                        <a:defRPr sz="1200">
                          <a:solidFill>
                            <a:srgbClr val="20261F"/>
                          </a:solidFill>
                          <a:latin typeface="Yu Gothic"/>
                        </a:defRPr>
                      </a:pPr>
                      <a:r>
                        <a:t>Apache License 2.0(無償・商用利用可能)</a:t>
                      </a:r>
                    </a:p>
                  </a:txBody>
                  <a:tcPr>
                    <a:solidFill>
                      <a:srgbClr val="F4F1E6"/>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AIdeaLab公式プレスリリース・PR TIMES(2026-07-13)</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E7DCC2"/>
                </a:solidFill>
                <a:latin typeface="Yu Gothic"/>
              </a:rPr>
              <a:t>学習に使ったGPU</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C1622D"/>
                </a:solidFill>
                <a:latin typeface="Yu Gothic"/>
              </a:rPr>
              <a:t>H200×24基</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事業構想オンラインの報道による</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BFAE84"/>
                </a:solidFill>
                <a:latin typeface="Yu Gothic"/>
              </a:rPr>
              <a:t>出典: ITmedia AI+(2026-07-13)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AnimeGenの主な機能</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Text to Video</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テキストの説明から動画を生成する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Image to Video</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1枚の画像を動かして動画にする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Frame Interpolation</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動きを滑らかにする補間処理</a:t>
            </a:r>
          </a:p>
        </p:txBody>
      </p:sp>
      <p:sp>
        <p:nvSpPr>
          <p:cNvPr id="18" name="TextBox 17"/>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Ledge.ai(2026-07-13時点)</a:t>
            </a:r>
          </a:p>
        </p:txBody>
      </p:sp>
      <p:sp>
        <p:nvSpPr>
          <p:cNvPr id="19" name="TextBox 1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20" name="TextBox 1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公開の詳細</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ベースモデル</a:t>
                      </a:r>
                    </a:p>
                  </a:txBody>
                  <a:tcPr>
                    <a:solidFill>
                      <a:srgbClr val="FFFFFF"/>
                    </a:solidFill>
                  </a:tcPr>
                </a:tc>
                <a:tc>
                  <a:txBody>
                    <a:bodyPr/>
                    <a:lstStyle/>
                    <a:p>
                      <a:pPr>
                        <a:defRPr sz="1200">
                          <a:solidFill>
                            <a:srgbClr val="20261F"/>
                          </a:solidFill>
                          <a:latin typeface="Yu Gothic"/>
                        </a:defRPr>
                      </a:pPr>
                      <a:r>
                        <a:t>Alibabaの動画生成AI「Wan2.2」</a:t>
                      </a:r>
                    </a:p>
                  </a:txBody>
                  <a:tcPr>
                    <a:solidFill>
                      <a:srgbClr val="FFFFFF"/>
                    </a:solidFill>
                  </a:tcPr>
                </a:tc>
              </a:tr>
              <a:tr h="502920">
                <a:tc>
                  <a:txBody>
                    <a:bodyPr/>
                    <a:lstStyle/>
                    <a:p>
                      <a:pPr>
                        <a:defRPr sz="1200">
                          <a:solidFill>
                            <a:srgbClr val="20261F"/>
                          </a:solidFill>
                          <a:latin typeface="Yu Gothic"/>
                        </a:defRPr>
                      </a:pPr>
                      <a:r>
                        <a:t>提供方法</a:t>
                      </a:r>
                    </a:p>
                  </a:txBody>
                  <a:tcPr>
                    <a:solidFill>
                      <a:srgbClr val="F4F1E6"/>
                    </a:solidFill>
                  </a:tcPr>
                </a:tc>
                <a:tc>
                  <a:txBody>
                    <a:bodyPr/>
                    <a:lstStyle/>
                    <a:p>
                      <a:pPr>
                        <a:defRPr sz="1200">
                          <a:solidFill>
                            <a:srgbClr val="20261F"/>
                          </a:solidFill>
                          <a:latin typeface="Yu Gothic"/>
                        </a:defRPr>
                      </a:pPr>
                      <a:r>
                        <a:t>Hugging Faceでダウンロード可能</a:t>
                      </a:r>
                    </a:p>
                  </a:txBody>
                  <a:tcPr>
                    <a:solidFill>
                      <a:srgbClr val="F4F1E6"/>
                    </a:solidFill>
                  </a:tcPr>
                </a:tc>
              </a:tr>
              <a:tr h="502920">
                <a:tc>
                  <a:txBody>
                    <a:bodyPr/>
                    <a:lstStyle/>
                    <a:p>
                      <a:pPr>
                        <a:defRPr sz="1200">
                          <a:solidFill>
                            <a:srgbClr val="20261F"/>
                          </a:solidFill>
                          <a:latin typeface="Yu Gothic"/>
                        </a:defRPr>
                      </a:pPr>
                      <a:r>
                        <a:t>試用方法</a:t>
                      </a:r>
                    </a:p>
                  </a:txBody>
                  <a:tcPr>
                    <a:solidFill>
                      <a:srgbClr val="FFFFFF"/>
                    </a:solidFill>
                  </a:tcPr>
                </a:tc>
                <a:tc>
                  <a:txBody>
                    <a:bodyPr/>
                    <a:lstStyle/>
                    <a:p>
                      <a:pPr>
                        <a:defRPr sz="1200">
                          <a:solidFill>
                            <a:srgbClr val="20261F"/>
                          </a:solidFill>
                          <a:latin typeface="Yu Gothic"/>
                        </a:defRPr>
                      </a:pPr>
                      <a:r>
                        <a:t>ブラウザ上で試せるデモを用意</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Ledge.ai(2026-07-13時点)</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開発の経緯</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2025年10月</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ベータ版を公開</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GENIAC第2期・第3期採択</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経産省・NEDOの支援のもと開発を継続</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2026年7月13日</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無償・商用利用可能な形で正式公開</a:t>
            </a:r>
          </a:p>
        </p:txBody>
      </p:sp>
      <p:sp>
        <p:nvSpPr>
          <p:cNvPr id="20" name="TextBox 19"/>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AIdeaLab公式プレスリリース・PR TIMES(2026-07-13)</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GENIACとは(参考)</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内容</a:t>
                      </a:r>
                    </a:p>
                  </a:txBody>
                  <a:tcPr>
                    <a:solidFill>
                      <a:srgbClr val="24523F"/>
                    </a:solidFill>
                  </a:tcPr>
                </a:tc>
              </a:tr>
              <a:tr h="502920">
                <a:tc>
                  <a:txBody>
                    <a:bodyPr/>
                    <a:lstStyle/>
                    <a:p>
                      <a:pPr>
                        <a:defRPr sz="1200">
                          <a:solidFill>
                            <a:srgbClr val="20261F"/>
                          </a:solidFill>
                          <a:latin typeface="Yu Gothic"/>
                        </a:defRPr>
                      </a:pPr>
                      <a:r>
                        <a:t>正式名称</a:t>
                      </a:r>
                    </a:p>
                  </a:txBody>
                  <a:tcPr>
                    <a:solidFill>
                      <a:srgbClr val="FFFFFF"/>
                    </a:solidFill>
                  </a:tcPr>
                </a:tc>
                <a:tc>
                  <a:txBody>
                    <a:bodyPr/>
                    <a:lstStyle/>
                    <a:p>
                      <a:pPr>
                        <a:defRPr sz="1200">
                          <a:solidFill>
                            <a:srgbClr val="20261F"/>
                          </a:solidFill>
                          <a:latin typeface="Yu Gothic"/>
                        </a:defRPr>
                      </a:pPr>
                      <a:r>
                        <a:t>Generative AI Accelerator Challenge</a:t>
                      </a:r>
                    </a:p>
                  </a:txBody>
                  <a:tcPr>
                    <a:solidFill>
                      <a:srgbClr val="FFFFFF"/>
                    </a:solidFill>
                  </a:tcPr>
                </a:tc>
              </a:tr>
              <a:tr h="502920">
                <a:tc>
                  <a:txBody>
                    <a:bodyPr/>
                    <a:lstStyle/>
                    <a:p>
                      <a:pPr>
                        <a:defRPr sz="1200">
                          <a:solidFill>
                            <a:srgbClr val="20261F"/>
                          </a:solidFill>
                          <a:latin typeface="Yu Gothic"/>
                        </a:defRPr>
                      </a:pPr>
                      <a:r>
                        <a:t>実施主体</a:t>
                      </a:r>
                    </a:p>
                  </a:txBody>
                  <a:tcPr>
                    <a:solidFill>
                      <a:srgbClr val="F4F1E6"/>
                    </a:solidFill>
                  </a:tcPr>
                </a:tc>
                <a:tc>
                  <a:txBody>
                    <a:bodyPr/>
                    <a:lstStyle/>
                    <a:p>
                      <a:pPr>
                        <a:defRPr sz="1200">
                          <a:solidFill>
                            <a:srgbClr val="20261F"/>
                          </a:solidFill>
                          <a:latin typeface="Yu Gothic"/>
                        </a:defRPr>
                      </a:pPr>
                      <a:r>
                        <a:t>経済産業省・NEDO</a:t>
                      </a:r>
                    </a:p>
                  </a:txBody>
                  <a:tcPr>
                    <a:solidFill>
                      <a:srgbClr val="F4F1E6"/>
                    </a:solidFill>
                  </a:tcPr>
                </a:tc>
              </a:tr>
              <a:tr h="502920">
                <a:tc>
                  <a:txBody>
                    <a:bodyPr/>
                    <a:lstStyle/>
                    <a:p>
                      <a:pPr>
                        <a:defRPr sz="1200">
                          <a:solidFill>
                            <a:srgbClr val="20261F"/>
                          </a:solidFill>
                          <a:latin typeface="Yu Gothic"/>
                        </a:defRPr>
                      </a:pPr>
                      <a:r>
                        <a:t>目的</a:t>
                      </a:r>
                    </a:p>
                  </a:txBody>
                  <a:tcPr>
                    <a:solidFill>
                      <a:srgbClr val="FFFFFF"/>
                    </a:solidFill>
                  </a:tcPr>
                </a:tc>
                <a:tc>
                  <a:txBody>
                    <a:bodyPr/>
                    <a:lstStyle/>
                    <a:p>
                      <a:pPr>
                        <a:defRPr sz="1200">
                          <a:solidFill>
                            <a:srgbClr val="20261F"/>
                          </a:solidFill>
                          <a:latin typeface="Yu Gothic"/>
                        </a:defRPr>
                      </a:pPr>
                      <a:r>
                        <a:t>国内の生成AI開発力の強化(計算資源の提供等)</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AIdeaLabについて(参考)</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位置づけ</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国内の生成AI開発を手がけるAIベンチャー</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実績</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GENIAC第2期・第3期に連続採択されている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AIdeaLab公式プレスリリース・PR TIMES(2026-07-13)</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従来のアニメ制作とAnimeGen活用の違い</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従来</a:t>
            </a:r>
          </a:p>
        </p:txBody>
      </p:sp>
      <p:sp>
        <p:nvSpPr>
          <p:cNvPr id="9" name="Oval 8"/>
          <p:cNvSpPr/>
          <p:nvPr/>
        </p:nvSpPr>
        <p:spPr>
          <a:xfrm>
            <a:off x="777240"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作画・動画の各工程に多くの人手と時間がかかる</a:t>
            </a:r>
          </a:p>
        </p:txBody>
      </p:sp>
      <p:sp>
        <p:nvSpPr>
          <p:cNvPr id="11" name="Oval 10"/>
          <p:cNvSpPr/>
          <p:nvPr/>
        </p:nvSpPr>
        <p:spPr>
          <a:xfrm>
            <a:off x="777240"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人材不足・長時間労働が課題とされる</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4523F"/>
                </a:solidFill>
                <a:latin typeface="Yu Gothic"/>
              </a:rPr>
              <a:t>AnimeGen活用(想定)</a:t>
            </a:r>
          </a:p>
        </p:txBody>
      </p:sp>
      <p:sp>
        <p:nvSpPr>
          <p:cNvPr id="16" name="Oval 15"/>
          <p:cNvSpPr/>
          <p:nvPr/>
        </p:nvSpPr>
        <p:spPr>
          <a:xfrm>
            <a:off x="6598767" y="253288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AIによる動画生成で工程の一部を効率化できる可能性</a:t>
            </a:r>
          </a:p>
        </p:txBody>
      </p:sp>
      <p:sp>
        <p:nvSpPr>
          <p:cNvPr id="18" name="Oval 17"/>
          <p:cNvSpPr/>
          <p:nvPr/>
        </p:nvSpPr>
        <p:spPr>
          <a:xfrm>
            <a:off x="6598767" y="3081528"/>
            <a:ext cx="274320" cy="27432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20261F"/>
                </a:solidFill>
                <a:latin typeface="Yu Gothic"/>
              </a:rPr>
              <a:t>無償・商用利用可能なため導入のハードルが低い</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アニメ業界の課題という背景(参考)</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人材不足</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アニメ制作の現場では人材不足が指摘されている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長時間労働</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制作工程の長時間労働も課題とされている</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E6B5C"/>
                </a:solidFill>
                <a:latin typeface="Yu Gothic"/>
              </a:rPr>
              <a:t>出典: ITmedia AI+(2026-07-13)</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参考: なぜ無償・商用利用可能にしたのか(推測)</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現場での実利用促進</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実際の制作現場での導入・フィードバックを広く得たい狙いがあると考えられる(推測)</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継続的な改善</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利用実績を踏まえてモデルを継続的に改善する狙いがあると考えられる(推測)</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出典の確認結果</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24523F"/>
                    </a:solidFill>
                  </a:tcPr>
                </a:tc>
                <a:tc>
                  <a:txBody>
                    <a:bodyPr/>
                    <a:lstStyle/>
                    <a:p>
                      <a:pPr>
                        <a:defRPr sz="1300" b="1">
                          <a:solidFill>
                            <a:srgbClr val="FFFFFF"/>
                          </a:solidFill>
                          <a:latin typeface="Yu Gothic"/>
                        </a:defRPr>
                      </a:pPr>
                      <a:r>
                        <a:t>結果</a:t>
                      </a:r>
                    </a:p>
                  </a:txBody>
                  <a:tcPr>
                    <a:solidFill>
                      <a:srgbClr val="24523F"/>
                    </a:solidFill>
                  </a:tcPr>
                </a:tc>
              </a:tr>
              <a:tr h="502920">
                <a:tc>
                  <a:txBody>
                    <a:bodyPr/>
                    <a:lstStyle/>
                    <a:p>
                      <a:pPr>
                        <a:defRPr sz="1200">
                          <a:solidFill>
                            <a:srgbClr val="20261F"/>
                          </a:solidFill>
                          <a:latin typeface="Yu Gothic"/>
                        </a:defRPr>
                      </a:pPr>
                      <a:r>
                        <a:t>公開日</a:t>
                      </a:r>
                    </a:p>
                  </a:txBody>
                  <a:tcPr>
                    <a:solidFill>
                      <a:srgbClr val="FFFFFF"/>
                    </a:solidFill>
                  </a:tcPr>
                </a:tc>
                <a:tc>
                  <a:txBody>
                    <a:bodyPr/>
                    <a:lstStyle/>
                    <a:p>
                      <a:pPr>
                        <a:defRPr sz="1200">
                          <a:solidFill>
                            <a:srgbClr val="20261F"/>
                          </a:solidFill>
                          <a:latin typeface="Yu Gothic"/>
                        </a:defRPr>
                      </a:pPr>
                      <a:r>
                        <a:t>複数情報源で2026年7月13日と一致</a:t>
                      </a:r>
                    </a:p>
                  </a:txBody>
                  <a:tcPr>
                    <a:solidFill>
                      <a:srgbClr val="FFFFFF"/>
                    </a:solidFill>
                  </a:tcPr>
                </a:tc>
              </a:tr>
              <a:tr h="502920">
                <a:tc>
                  <a:txBody>
                    <a:bodyPr/>
                    <a:lstStyle/>
                    <a:p>
                      <a:pPr>
                        <a:defRPr sz="1200">
                          <a:solidFill>
                            <a:srgbClr val="20261F"/>
                          </a:solidFill>
                          <a:latin typeface="Yu Gothic"/>
                        </a:defRPr>
                      </a:pPr>
                      <a:r>
                        <a:t>ライセンス・機能</a:t>
                      </a:r>
                    </a:p>
                  </a:txBody>
                  <a:tcPr>
                    <a:solidFill>
                      <a:srgbClr val="F4F1E6"/>
                    </a:solidFill>
                  </a:tcPr>
                </a:tc>
                <a:tc>
                  <a:txBody>
                    <a:bodyPr/>
                    <a:lstStyle/>
                    <a:p>
                      <a:pPr>
                        <a:defRPr sz="1200">
                          <a:solidFill>
                            <a:srgbClr val="20261F"/>
                          </a:solidFill>
                          <a:latin typeface="Yu Gothic"/>
                        </a:defRPr>
                      </a:pPr>
                      <a:r>
                        <a:t>AIdeaLab公式・ITmedia AI+等で確認</a:t>
                      </a:r>
                    </a:p>
                  </a:txBody>
                  <a:tcPr>
                    <a:solidFill>
                      <a:srgbClr val="F4F1E6"/>
                    </a:solidFill>
                  </a:tcPr>
                </a:tc>
              </a:tr>
              <a:tr h="502920">
                <a:tc>
                  <a:txBody>
                    <a:bodyPr/>
                    <a:lstStyle/>
                    <a:p>
                      <a:pPr>
                        <a:defRPr sz="1200">
                          <a:solidFill>
                            <a:srgbClr val="20261F"/>
                          </a:solidFill>
                          <a:latin typeface="Yu Gothic"/>
                        </a:defRPr>
                      </a:pPr>
                      <a:r>
                        <a:t>GENIAC支援・GPU台数</a:t>
                      </a:r>
                    </a:p>
                  </a:txBody>
                  <a:tcPr>
                    <a:solidFill>
                      <a:srgbClr val="FFFFFF"/>
                    </a:solidFill>
                  </a:tcPr>
                </a:tc>
                <a:tc>
                  <a:txBody>
                    <a:bodyPr/>
                    <a:lstStyle/>
                    <a:p>
                      <a:pPr>
                        <a:defRPr sz="1200">
                          <a:solidFill>
                            <a:srgbClr val="20261F"/>
                          </a:solidFill>
                          <a:latin typeface="Yu Gothic"/>
                        </a:defRPr>
                      </a:pPr>
                      <a:r>
                        <a:t>事業構想オンライン等で確認</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こんな人におすすめ</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アニメ制作・映像制作に関心がある人</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AIによる制作支援ツールを試したい人</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国産生成AIに関心がある人</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国内ベンチャーのAI開発事例を知りたい人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よくある疑問(Q&amp;A)</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本当に無料で使える?</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Apache License 2.0のもと無償・商用利用が可能とされている</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商用アニメと同じ品質?</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第三者による詳細な品質検証結果は本調査時点では確認できていない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今回含まれなかったもの</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既存の商用アニメ制作水準との具体的な品質比較は確認できなかった</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実際の制作現場での導入事例・活用実績の有無は確認できなかった</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見送った候補</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Etched($300M調達)</a:t>
            </a:r>
          </a:p>
        </p:txBody>
      </p:sp>
      <p:sp>
        <p:nvSpPr>
          <p:cNvPr id="9" name="TextBox 8"/>
          <p:cNvSpPr txBox="1"/>
          <p:nvPr/>
        </p:nvSpPr>
        <p:spPr>
          <a:xfrm>
            <a:off x="731520"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資金調達ニュースで実用性・日本需要の面でやや劣ると判断し見送り</a:t>
            </a:r>
          </a:p>
        </p:txBody>
      </p:sp>
      <p:sp>
        <p:nvSpPr>
          <p:cNvPr id="10" name="Rounded Rectangle 9"/>
          <p:cNvSpPr/>
          <p:nvPr/>
        </p:nvSpPr>
        <p:spPr>
          <a:xfrm>
            <a:off x="6301587" y="1609344"/>
            <a:ext cx="5478627"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55867" y="1554480"/>
            <a:ext cx="5478627"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0187" y="1828800"/>
            <a:ext cx="4929987" cy="548640"/>
          </a:xfrm>
          <a:prstGeom prst="rect">
            <a:avLst/>
          </a:prstGeom>
          <a:noFill/>
        </p:spPr>
        <p:txBody>
          <a:bodyPr wrap="square" anchor="t" lIns="0" rIns="0" tIns="0" bIns="0">
            <a:spAutoFit/>
          </a:bodyPr>
          <a:lstStyle/>
          <a:p>
            <a:pPr algn="l"/>
            <a:r>
              <a:rPr sz="1600" b="1">
                <a:solidFill>
                  <a:srgbClr val="24523F"/>
                </a:solidFill>
                <a:latin typeface="Yu Gothic"/>
              </a:rPr>
              <a:t>OpenAI「ChatGPT Health」</a:t>
            </a:r>
          </a:p>
        </p:txBody>
      </p:sp>
      <p:sp>
        <p:nvSpPr>
          <p:cNvPr id="13" name="TextBox 12"/>
          <p:cNvSpPr txBox="1"/>
          <p:nvPr/>
        </p:nvSpPr>
        <p:spPr>
          <a:xfrm>
            <a:off x="6530187" y="2514600"/>
            <a:ext cx="4929987"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係争中の医療アドバイス訴訟と重なるため見送り</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これが意味すること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国産生成AIの広がり</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海外大手企業以外にも国内ベンチャーがAI開発を進めている</a:t>
            </a:r>
          </a:p>
        </p:txBody>
      </p:sp>
      <p:sp>
        <p:nvSpPr>
          <p:cNvPr id="10" name="Right Arrow 9"/>
          <p:cNvSpPr/>
          <p:nvPr/>
        </p:nvSpPr>
        <p:spPr>
          <a:xfrm>
            <a:off x="41573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特定業界に特化したAI活用</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アニメという日本の主要産業への応用</a:t>
            </a:r>
          </a:p>
        </p:txBody>
      </p:sp>
      <p:sp>
        <p:nvSpPr>
          <p:cNvPr id="15" name="Right Arrow 14"/>
          <p:cNvSpPr/>
          <p:nvPr/>
        </p:nvSpPr>
        <p:spPr>
          <a:xfrm>
            <a:off x="7357719" y="3108959"/>
            <a:ext cx="676656" cy="365760"/>
          </a:xfrm>
          <a:prstGeom prst="rightArrow">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4523F"/>
                </a:solidFill>
                <a:latin typeface="Yu Gothic"/>
              </a:rPr>
              <a:t>無償公開によるエコシステム形成</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E6B5C"/>
                </a:solidFill>
                <a:latin typeface="Yu Gothic"/>
              </a:rPr>
              <a:t>誰でも試せることで利用の広がりが期待される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これは何を意味するのか(クリエイターにとって)</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動画制作の一部の工程を、無償のAIツールで効率化できる可能性がある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AIが生成した内容は、そのまま使うのではなく自分でも確認・調整することが大切</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試すなら確認したいこと</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デモを試す</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ブラウザ上のデモで生成品質を確認する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ライセンス条件</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商用利用時の条件を公式サイトで確認する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必要な環境</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ローカル実行に必要なPC・GPU環境を確認する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実際に試す場合の進め方(目安)</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①デモを試す</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ブラウザ上のデモでText to Video等を試してみる</a:t>
            </a:r>
          </a:p>
        </p:txBody>
      </p:sp>
      <p:sp>
        <p:nvSpPr>
          <p:cNvPr id="11" name="Chevron 10"/>
          <p:cNvSpPr/>
          <p:nvPr/>
        </p:nvSpPr>
        <p:spPr>
          <a:xfrm>
            <a:off x="4038295"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②Hugging Faceを確認</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モデルのダウンロード方法を確認する</a:t>
            </a:r>
          </a:p>
        </p:txBody>
      </p:sp>
      <p:sp>
        <p:nvSpPr>
          <p:cNvPr id="17" name="Chevron 16"/>
          <p:cNvSpPr/>
          <p:nvPr/>
        </p:nvSpPr>
        <p:spPr>
          <a:xfrm>
            <a:off x="7919313" y="3200400"/>
            <a:ext cx="234086" cy="365760"/>
          </a:xfrm>
          <a:prstGeom prst="chevron">
            <a:avLst/>
          </a:prstGeom>
          <a:solidFill>
            <a:srgbClr val="C162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4523F"/>
                </a:solidFill>
                <a:latin typeface="Yu Gothic"/>
              </a:rPr>
              <a:t>③小さく試す</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E6B5C"/>
                </a:solidFill>
                <a:latin typeface="Yu Gothic"/>
              </a:rPr>
              <a:t>短い動画から生成を試してみる</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個人にとっての影響</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動画制作に興味がある人にとって、無償で試せるAIツールの選択肢が増えている</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AIが生成したコンテンツも、著作権・利用条件を自分で確認することが大切</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23 / 30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不明点・注意点</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既存の商用アニメ制作水準との具体的な品質比較は確認できなかった</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実際の制作現場での導入事例・活用実績の有無は確認できなかった</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リスク配慮のポイント</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事実紹介に徹する</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国内ベンチャーの製品公開という事実を淡々と紹介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品質への誇張を避ける</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「商用アニメと同等」等の断定的な表現は避けている</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4523F"/>
                </a:solidFill>
                <a:latin typeface="Yu Gothic"/>
              </a:rPr>
              <a:t>推測は明示</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E6B5C"/>
                </a:solidFill>
                <a:latin typeface="Yu Gothic"/>
              </a:rPr>
              <a:t>推測部分は「推測」と明言している</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検品結果</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4523F"/>
                    </a:solidFill>
                  </a:tcPr>
                </a:tc>
                <a:tc>
                  <a:txBody>
                    <a:bodyPr/>
                    <a:lstStyle/>
                    <a:p>
                      <a:pPr>
                        <a:defRPr sz="1300" b="1">
                          <a:solidFill>
                            <a:srgbClr val="FFFFFF"/>
                          </a:solidFill>
                          <a:latin typeface="Yu Gothic"/>
                        </a:defRPr>
                      </a:pPr>
                      <a:r>
                        <a:t>結果</a:t>
                      </a:r>
                    </a:p>
                  </a:txBody>
                  <a:tcPr>
                    <a:solidFill>
                      <a:srgbClr val="24523F"/>
                    </a:solidFill>
                  </a:tcPr>
                </a:tc>
              </a:tr>
              <a:tr h="502920">
                <a:tc>
                  <a:txBody>
                    <a:bodyPr/>
                    <a:lstStyle/>
                    <a:p>
                      <a:pPr>
                        <a:defRPr sz="1200">
                          <a:solidFill>
                            <a:srgbClr val="20261F"/>
                          </a:solidFill>
                          <a:latin typeface="Yu Gothic"/>
                        </a:defRPr>
                      </a:pPr>
                      <a:r>
                        <a:t>verify_pptx.py</a:t>
                      </a:r>
                    </a:p>
                  </a:txBody>
                  <a:tcPr>
                    <a:solidFill>
                      <a:srgbClr val="FFFFFF"/>
                    </a:solidFill>
                  </a:tcPr>
                </a:tc>
                <a:tc>
                  <a:txBody>
                    <a:bodyPr/>
                    <a:lstStyle/>
                    <a:p>
                      <a:pPr>
                        <a:defRPr sz="1200">
                          <a:solidFill>
                            <a:srgbClr val="20261F"/>
                          </a:solidFill>
                          <a:latin typeface="Yu Gothic"/>
                        </a:defRPr>
                      </a:pPr>
                      <a:r>
                        <a:t>合格</a:t>
                      </a:r>
                    </a:p>
                  </a:txBody>
                  <a:tcPr>
                    <a:solidFill>
                      <a:srgbClr val="FFFFFF"/>
                    </a:solidFill>
                  </a:tcPr>
                </a:tc>
              </a:tr>
              <a:tr h="502920">
                <a:tc>
                  <a:txBody>
                    <a:bodyPr/>
                    <a:lstStyle/>
                    <a:p>
                      <a:pPr>
                        <a:defRPr sz="1200">
                          <a:solidFill>
                            <a:srgbClr val="20261F"/>
                          </a:solidFill>
                          <a:latin typeface="Yu Gothic"/>
                        </a:defRPr>
                      </a:pPr>
                      <a:r>
                        <a:t>同一レイアウト連続チェック</a:t>
                      </a:r>
                    </a:p>
                  </a:txBody>
                  <a:tcPr>
                    <a:solidFill>
                      <a:srgbClr val="F4F1E6"/>
                    </a:solidFill>
                  </a:tcPr>
                </a:tc>
                <a:tc>
                  <a:txBody>
                    <a:bodyPr/>
                    <a:lstStyle/>
                    <a:p>
                      <a:pPr>
                        <a:defRPr sz="1200">
                          <a:solidFill>
                            <a:srgbClr val="20261F"/>
                          </a:solidFill>
                          <a:latin typeface="Yu Gothic"/>
                        </a:defRPr>
                      </a:pPr>
                      <a:r>
                        <a:t>合格</a:t>
                      </a:r>
                    </a:p>
                  </a:txBody>
                  <a:tcPr>
                    <a:solidFill>
                      <a:srgbClr val="F4F1E6"/>
                    </a:solidFill>
                  </a:tcPr>
                </a:tc>
              </a:tr>
              <a:tr h="502920">
                <a:tc>
                  <a:txBody>
                    <a:bodyPr/>
                    <a:lstStyle/>
                    <a:p>
                      <a:pPr>
                        <a:defRPr sz="1200">
                          <a:solidFill>
                            <a:srgbClr val="20261F"/>
                          </a:solidFill>
                          <a:latin typeface="Yu Gothic"/>
                        </a:defRPr>
                      </a:pPr>
                      <a:r>
                        <a:t>bullets比率チェック</a:t>
                      </a:r>
                    </a:p>
                  </a:txBody>
                  <a:tcPr>
                    <a:solidFill>
                      <a:srgbClr val="FFFFFF"/>
                    </a:solidFill>
                  </a:tcPr>
                </a:tc>
                <a:tc>
                  <a:txBody>
                    <a:bodyPr/>
                    <a:lstStyle/>
                    <a:p>
                      <a:pPr>
                        <a:defRPr sz="1200">
                          <a:solidFill>
                            <a:srgbClr val="20261F"/>
                          </a:solidFill>
                          <a:latin typeface="Yu Gothic"/>
                        </a:defRPr>
                      </a:pPr>
                      <a:r>
                        <a:t>合格</a:t>
                      </a:r>
                    </a:p>
                  </a:txBody>
                  <a:tcPr>
                    <a:solidFill>
                      <a:srgbClr val="FFFFFF"/>
                    </a:solidFill>
                  </a:tcPr>
                </a:tc>
              </a:tr>
              <a:tr h="502920">
                <a:tc>
                  <a:txBody>
                    <a:bodyPr/>
                    <a:lstStyle/>
                    <a:p>
                      <a:pPr>
                        <a:defRPr sz="1200">
                          <a:solidFill>
                            <a:srgbClr val="20261F"/>
                          </a:solidFill>
                          <a:latin typeface="Yu Gothic"/>
                        </a:defRPr>
                      </a:pPr>
                      <a:r>
                        <a:t>対話原稿スライド数整合性</a:t>
                      </a:r>
                    </a:p>
                  </a:txBody>
                  <a:tcPr>
                    <a:solidFill>
                      <a:srgbClr val="F4F1E6"/>
                    </a:solidFill>
                  </a:tcPr>
                </a:tc>
                <a:tc>
                  <a:txBody>
                    <a:bodyPr/>
                    <a:lstStyle/>
                    <a:p>
                      <a:pPr>
                        <a:defRPr sz="1200">
                          <a:solidFill>
                            <a:srgbClr val="20261F"/>
                          </a:solidFill>
                          <a:latin typeface="Yu Gothic"/>
                        </a:defRPr>
                      </a:pPr>
                      <a:r>
                        <a:t>合格</a:t>
                      </a:r>
                    </a:p>
                  </a:txBody>
                  <a:tcPr>
                    <a:solidFill>
                      <a:srgbClr val="F4F1E6"/>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出典一覧</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AIdeaLab公式プレスリリース(PR TIMES) / AIdeaLab公式サイト</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ITmedia AI+ / Ledge.ai / 事業構想オンライン</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国内ベンチャーが、アニメ制作を支えるAIを無償公開した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経産省・NEDOのGENIAC支援を受けて開発され、誰でも無償・商用利用できる形で公開された</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興味があれば、公式サイトのデモを試してみる</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4523F"/>
                </a:solidFill>
                <a:latin typeface="Yu Gothic"/>
              </a:rPr>
              <a:t>次回予告</a:t>
            </a:r>
          </a:p>
        </p:txBody>
      </p:sp>
      <p:sp>
        <p:nvSpPr>
          <p:cNvPr id="5" name="Rectangle 4"/>
          <p:cNvSpPr/>
          <p:nvPr/>
        </p:nvSpPr>
        <p:spPr>
          <a:xfrm>
            <a:off x="457200" y="1188720"/>
            <a:ext cx="502920" cy="54864"/>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国内AIベンチャーの製品開発・業界特化AIの動向は今後も続くテーマ</a:t>
            </a:r>
          </a:p>
        </p:txBody>
      </p:sp>
      <p:sp>
        <p:nvSpPr>
          <p:cNvPr id="8" name="Oval 7"/>
          <p:cNvSpPr/>
          <p:nvPr/>
        </p:nvSpPr>
        <p:spPr>
          <a:xfrm>
            <a:off x="457200" y="2258568"/>
            <a:ext cx="320040" cy="320040"/>
          </a:xfrm>
          <a:prstGeom prst="ellipse">
            <a:avLst/>
          </a:prstGeom>
          <a:solidFill>
            <a:srgbClr val="24523F"/>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20261F"/>
                </a:solidFill>
                <a:latin typeface="Yu Gothic"/>
              </a:rPr>
              <a:t>次回も独立系メディアの報道をもとに紹介する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E6B5C"/>
                </a:solidFill>
                <a:latin typeface="Yu Gothic"/>
              </a:rPr>
              <a:t>AI Company OS - 定期実行39本目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E6B5C"/>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7362A"/>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BFAE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C162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ご視聴ありがとうございました</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E7DCC2"/>
                </a:solidFill>
                <a:latin typeface="Yu Gothic"/>
              </a:rPr>
              <a:t>出典・詳細はresearch.mdと各スライドの出典表記を参照</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4F1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4523F"/>
                </a:solidFill>
                <a:latin typeface="Yu Gothic"/>
              </a:rPr>
              <a:t>質問・フィードバックはいつでもどうぞ</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