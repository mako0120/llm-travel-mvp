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日本代表DF橋岡大樹選手が、ボルシアMGでの公式戦デビュー戦で移籍後初ゴールを記録しました。何が起きたのか、出典付きで正確に整理してお届けします。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結論から確認します。橋岡選手は公式戦デビュー戦で移籍後初ゴールを記録し、チームは5-0で大勝しました。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本日の流れです。試合概要からゴールの詳細、これまでの経緯、そして確認できなかったことまで整理します。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着手日前日に複数メディアが一斉報道した、鮮度の高い話題です。公式戦での初ゴールという新しい進展があります。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試合はボルシアMGがショット・マインツに5-0で大勝しました。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DFBポカール1回戦で、橋岡選手は唯一の先発出場としてフル出場しました。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ゴールは前半26分、シュテーガー選手のクロスに橋岡選手が高い打点のヘディングで反応したものです。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橋岡選手は7月30日にボルシアMGへ加入し、8月3日に親善試合でデビューを果たしていました。</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ゴールは前半26分に記録されました。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現地では「珍しい得点」と評されるゴールでした。</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左サイドからのクロスに、橋岡選手が高い打点のヘディングで反応し、ゴールへとつながりました。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移籍発表から公式戦初ゴールまでの経緯を整理しました。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同じ試合には板倉滉選手も出場しており、日本人選手2名が同じ試合に出場する形となりました。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ボルシアMGは合計5得点を奪い、橋岡選手の得点はそのうちの1点です。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移籍発表、親善試合デビュー、そして公式戦初ゴールという3ステップで歩みを整理します。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チームはDFBポカール2回戦への進出を決めており、今後の起用が注目されます。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確定していることと、まだ確認できていないことを整理します。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これらの項目は本調査の範囲では確認できておらず、推測で埋めていません。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橋岡選手は、この試合で唯一の先発出場を果たした日本人選手でした。</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親善試合デビューと公式戦デビューでは、出場形態も結果も大きく異なります。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橋岡選手の活躍は、海外で活躍する日本人選手の一事例として位置づけられます。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複数の独立したスポーツメディアが同一のゴールの経緯・試合結果を報じており、報道内容としての一貫性を確認しています。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移籍前後で、所属リーグのレベルと最初の成果に大きな変化がありました。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契約期間は2027年6月30日までで、買取オプションが付いています。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今回のニュースの注目ポイントを3つにまとめました。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本テーマは、海外で活躍する日本人選手の最新動向として整理しています。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今回のニュースに至るまでのタイムラインです。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既存テーマは移籍発表と親善試合でのデビューを扱っており、本テーマは公式戦での初ゴールという新しい進展です。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橋岡選手は公式戦デビュー戦で移籍後初ゴールを記録し、チームは5-0で大勝しました。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本日は橋岡大樹選手の公式戦初ゴールについてお届けしました。確認できなかったことは正直に開示しています。次回もお楽しみに。</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橋岡大樹</a:t>
            </a:r>
          </a:p>
          <a:p>
            <a:pPr algn="l">
              <a:lnSpc>
                <a:spcPct val="115000"/>
              </a:lnSpc>
            </a:pPr>
            <a:r>
              <a:rPr sz="4200" b="1">
                <a:solidFill>
                  <a:srgbClr val="FFFFFF"/>
                </a:solidFill>
                <a:latin typeface="Yu Gothic"/>
              </a:rPr>
              <a:t>公式戦デビューで</a:t>
            </a:r>
          </a:p>
          <a:p>
            <a:pPr algn="l">
              <a:lnSpc>
                <a:spcPct val="115000"/>
              </a:lnSpc>
            </a:pPr>
            <a:r>
              <a:rPr sz="4200" b="1">
                <a:solidFill>
                  <a:srgbClr val="FFFFFF"/>
                </a:solidFill>
                <a:latin typeface="Yu Gothic"/>
              </a:rPr>
              <a:t>移籍後初ゴール</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F5D9A8"/>
                </a:solidFill>
                <a:latin typeface="Yu Gothic"/>
              </a:rPr>
              <a:t>強烈ヘッドでボルシアMGの5発大勝に貢献——出典付きで整理する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D9A857"/>
                </a:solidFill>
                <a:latin typeface="Yu Gothic"/>
              </a:rPr>
              <a:t>出典: サッカーキング(2026年8月24日)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移籍後初ゴール 公式戦デビュー戦で記録</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チームは5-0で大勝</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サッカーキング(2026-08-24)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F5D9A8"/>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F5D9A8"/>
                </a:solidFill>
                <a:latin typeface="Yu Gothic"/>
              </a:rPr>
              <a:t>試合の概要を確認する</a:t>
            </a:r>
          </a:p>
        </p:txBody>
      </p:sp>
      <p:sp>
        <p:nvSpPr>
          <p:cNvPr id="9" name="Oval 8"/>
          <p:cNvSpPr/>
          <p:nvPr/>
        </p:nvSpPr>
        <p:spPr>
          <a:xfrm>
            <a:off x="548640" y="347472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F5D9A8"/>
                </a:solidFill>
                <a:latin typeface="Yu Gothic"/>
              </a:rPr>
              <a:t>ゴールの詳細を確認する</a:t>
            </a:r>
          </a:p>
        </p:txBody>
      </p:sp>
      <p:sp>
        <p:nvSpPr>
          <p:cNvPr id="11" name="Oval 10"/>
          <p:cNvSpPr/>
          <p:nvPr/>
        </p:nvSpPr>
        <p:spPr>
          <a:xfrm>
            <a:off x="548640" y="425196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F5D9A8"/>
                </a:solidFill>
                <a:latin typeface="Yu Gothic"/>
              </a:rPr>
              <a:t>橋岡選手のこれまでの経緯</a:t>
            </a:r>
          </a:p>
        </p:txBody>
      </p:sp>
      <p:sp>
        <p:nvSpPr>
          <p:cNvPr id="13" name="Oval 12"/>
          <p:cNvSpPr/>
          <p:nvPr/>
        </p:nvSpPr>
        <p:spPr>
          <a:xfrm>
            <a:off x="548640" y="502920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F5D9A8"/>
                </a:solidFill>
                <a:latin typeface="Yu Gothic"/>
              </a:rPr>
              <a:t>確認できなかったこと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Yahoo!ニュース・サッカーキング等が2026年8月24日に一斉報道</a:t>
            </a:r>
          </a:p>
        </p:txBody>
      </p:sp>
      <p:sp>
        <p:nvSpPr>
          <p:cNvPr id="8" name="Oval 7"/>
          <p:cNvSpPr/>
          <p:nvPr/>
        </p:nvSpPr>
        <p:spPr>
          <a:xfrm>
            <a:off x="457200" y="225856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移籍後初ゴールという分かりやすい成果</a:t>
            </a:r>
          </a:p>
        </p:txBody>
      </p:sp>
      <p:sp>
        <p:nvSpPr>
          <p:cNvPr id="10" name="Oval 9"/>
          <p:cNvSpPr/>
          <p:nvPr/>
        </p:nvSpPr>
        <p:spPr>
          <a:xfrm>
            <a:off x="457200" y="30358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公式戦での結果という、既存テーマ(親善試合デビュー)からの進展</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サッカーキング(2026-08-24)</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サッカーキング等(2026-08-24)</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試合結果</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5-0 ボルシアMGの大勝</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DFBポカール1回戦、対ショット・マインツ</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サッカーキング(2026-08-24)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試合の概要</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DFBポカール(ドイツ杯)1回戦、対ショット・マインツ</a:t>
            </a:r>
          </a:p>
        </p:txBody>
      </p:sp>
      <p:sp>
        <p:nvSpPr>
          <p:cNvPr id="8" name="Oval 7"/>
          <p:cNvSpPr/>
          <p:nvPr/>
        </p:nvSpPr>
        <p:spPr>
          <a:xfrm>
            <a:off x="457200" y="225856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橋岡選手が唯一先発出場、フル出場</a:t>
            </a:r>
          </a:p>
        </p:txBody>
      </p:sp>
      <p:sp>
        <p:nvSpPr>
          <p:cNvPr id="10" name="Oval 9"/>
          <p:cNvSpPr/>
          <p:nvPr/>
        </p:nvSpPr>
        <p:spPr>
          <a:xfrm>
            <a:off x="457200" y="30358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チームは5-0で大勝し2回戦進出</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サッカーキング(2026-08-24)</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サッカーキング等(2026-08-24)</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ゴールの詳細</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3A4750"/>
                    </a:solidFill>
                  </a:tcPr>
                </a:tc>
                <a:tc>
                  <a:txBody>
                    <a:bodyPr/>
                    <a:lstStyle/>
                    <a:p>
                      <a:pPr>
                        <a:defRPr sz="1300" b="1">
                          <a:solidFill>
                            <a:srgbClr val="FFFFFF"/>
                          </a:solidFill>
                          <a:latin typeface="Yu Gothic"/>
                        </a:defRPr>
                      </a:pPr>
                      <a:r>
                        <a:t>内容</a:t>
                      </a:r>
                    </a:p>
                  </a:txBody>
                  <a:tcPr>
                    <a:solidFill>
                      <a:srgbClr val="3A4750"/>
                    </a:solidFill>
                  </a:tcPr>
                </a:tc>
              </a:tr>
              <a:tr h="502920">
                <a:tc>
                  <a:txBody>
                    <a:bodyPr/>
                    <a:lstStyle/>
                    <a:p>
                      <a:pPr>
                        <a:defRPr sz="1200">
                          <a:solidFill>
                            <a:srgbClr val="1E2124"/>
                          </a:solidFill>
                          <a:latin typeface="Yu Gothic"/>
                        </a:defRPr>
                      </a:pPr>
                      <a:r>
                        <a:t>時間帯</a:t>
                      </a:r>
                    </a:p>
                  </a:txBody>
                  <a:tcPr>
                    <a:solidFill>
                      <a:srgbClr val="FFFFFF"/>
                    </a:solidFill>
                  </a:tcPr>
                </a:tc>
                <a:tc>
                  <a:txBody>
                    <a:bodyPr/>
                    <a:lstStyle/>
                    <a:p>
                      <a:pPr>
                        <a:defRPr sz="1200">
                          <a:solidFill>
                            <a:srgbClr val="1E2124"/>
                          </a:solidFill>
                          <a:latin typeface="Yu Gothic"/>
                        </a:defRPr>
                      </a:pPr>
                      <a:r>
                        <a:t>前半26分</a:t>
                      </a:r>
                    </a:p>
                  </a:txBody>
                  <a:tcPr>
                    <a:solidFill>
                      <a:srgbClr val="FFFFFF"/>
                    </a:solidFill>
                  </a:tcPr>
                </a:tc>
              </a:tr>
              <a:tr h="502920">
                <a:tc>
                  <a:txBody>
                    <a:bodyPr/>
                    <a:lstStyle/>
                    <a:p>
                      <a:pPr>
                        <a:defRPr sz="1200">
                          <a:solidFill>
                            <a:srgbClr val="1E2124"/>
                          </a:solidFill>
                          <a:latin typeface="Yu Gothic"/>
                        </a:defRPr>
                      </a:pPr>
                      <a:r>
                        <a:t>アシスト</a:t>
                      </a:r>
                    </a:p>
                  </a:txBody>
                  <a:tcPr>
                    <a:solidFill>
                      <a:srgbClr val="F7F4EF"/>
                    </a:solidFill>
                  </a:tcPr>
                </a:tc>
                <a:tc>
                  <a:txBody>
                    <a:bodyPr/>
                    <a:lstStyle/>
                    <a:p>
                      <a:pPr>
                        <a:defRPr sz="1200">
                          <a:solidFill>
                            <a:srgbClr val="1E2124"/>
                          </a:solidFill>
                          <a:latin typeface="Yu Gothic"/>
                        </a:defRPr>
                      </a:pPr>
                      <a:r>
                        <a:t>MFケビン・シュテーガー(左サイドからのクロス)</a:t>
                      </a:r>
                    </a:p>
                  </a:txBody>
                  <a:tcPr>
                    <a:solidFill>
                      <a:srgbClr val="F7F4EF"/>
                    </a:solidFill>
                  </a:tcPr>
                </a:tc>
              </a:tr>
              <a:tr h="502920">
                <a:tc>
                  <a:txBody>
                    <a:bodyPr/>
                    <a:lstStyle/>
                    <a:p>
                      <a:pPr>
                        <a:defRPr sz="1200">
                          <a:solidFill>
                            <a:srgbClr val="1E2124"/>
                          </a:solidFill>
                          <a:latin typeface="Yu Gothic"/>
                        </a:defRPr>
                      </a:pPr>
                      <a:r>
                        <a:t>決め方</a:t>
                      </a:r>
                    </a:p>
                  </a:txBody>
                  <a:tcPr>
                    <a:solidFill>
                      <a:srgbClr val="FFFFFF"/>
                    </a:solidFill>
                  </a:tcPr>
                </a:tc>
                <a:tc>
                  <a:txBody>
                    <a:bodyPr/>
                    <a:lstStyle/>
                    <a:p>
                      <a:pPr>
                        <a:defRPr sz="1200">
                          <a:solidFill>
                            <a:srgbClr val="1E2124"/>
                          </a:solidFill>
                          <a:latin typeface="Yu Gothic"/>
                        </a:defRPr>
                      </a:pPr>
                      <a:r>
                        <a:t>高い打点のヘディング、ワンバウンドしてゴール左隅へ</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フットボールチャンネル(2026-08-24)</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サッカーキング等(2026-08-24)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橋岡選手のこれまでの経緯</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2026年7月30日、スラヴィア・プラハから期限付き移籍でボルシアMGへ</a:t>
            </a:r>
          </a:p>
        </p:txBody>
      </p:sp>
      <p:sp>
        <p:nvSpPr>
          <p:cNvPr id="8" name="Oval 7"/>
          <p:cNvSpPr/>
          <p:nvPr/>
        </p:nvSpPr>
        <p:spPr>
          <a:xfrm>
            <a:off x="457200" y="225856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買取オプション付き、契約期間は2027年6月30日まで</a:t>
            </a:r>
          </a:p>
        </p:txBody>
      </p:sp>
      <p:sp>
        <p:nvSpPr>
          <p:cNvPr id="10" name="Oval 9"/>
          <p:cNvSpPr/>
          <p:nvPr/>
        </p:nvSpPr>
        <p:spPr>
          <a:xfrm>
            <a:off x="457200" y="30358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8月3日にプレシーズン親善試合で新天地デビュー(既存テーマ)</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research.md参照</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サッカーキング等(2026-08-24)</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ゴールの時間帯</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前半26分 移籍後初ゴールを記録</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公式戦デビュー戦で</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フットボールチャンネル(2026-08-24)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ゴールの経緯</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MFケビン・シュテーガーが左サイドからクロスを供給</a:t>
            </a:r>
          </a:p>
        </p:txBody>
      </p:sp>
      <p:sp>
        <p:nvSpPr>
          <p:cNvPr id="8" name="Oval 7"/>
          <p:cNvSpPr/>
          <p:nvPr/>
        </p:nvSpPr>
        <p:spPr>
          <a:xfrm>
            <a:off x="457200" y="225856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橋岡選手がペナルティエリア右から高い打点のヘディング</a:t>
            </a:r>
          </a:p>
        </p:txBody>
      </p:sp>
      <p:sp>
        <p:nvSpPr>
          <p:cNvPr id="10" name="Oval 9"/>
          <p:cNvSpPr/>
          <p:nvPr/>
        </p:nvSpPr>
        <p:spPr>
          <a:xfrm>
            <a:off x="457200" y="30358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ボールはワンバウンドしてゴール左隅へ吸い込まれた</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フットボールチャンネル(2026-08-24)</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サッカーキング等(2026-08-24)</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ゴールまでの流れ(概念図)</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シュテーガーのクロス</a:t>
            </a:r>
          </a:p>
        </p:txBody>
      </p:sp>
      <p:sp>
        <p:nvSpPr>
          <p:cNvPr id="9" name="Right Arrow 8"/>
          <p:cNvSpPr/>
          <p:nvPr/>
        </p:nvSpPr>
        <p:spPr>
          <a:xfrm>
            <a:off x="4157319" y="3108959"/>
            <a:ext cx="676656" cy="365760"/>
          </a:xfrm>
          <a:prstGeom prst="rightArrow">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071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橋岡のヘディング</a:t>
            </a:r>
          </a:p>
        </p:txBody>
      </p:sp>
      <p:sp>
        <p:nvSpPr>
          <p:cNvPr id="13" name="Right Arrow 12"/>
          <p:cNvSpPr/>
          <p:nvPr/>
        </p:nvSpPr>
        <p:spPr>
          <a:xfrm>
            <a:off x="7357719" y="3108959"/>
            <a:ext cx="676656" cy="365760"/>
          </a:xfrm>
          <a:prstGeom prst="rightArrow">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075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ゴール左隅へ</a:t>
            </a:r>
          </a:p>
        </p:txBody>
      </p:sp>
      <p:sp>
        <p:nvSpPr>
          <p:cNvPr id="17" name="TextBox 16"/>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6B7280"/>
                </a:solidFill>
                <a:latin typeface="Yu Gothic"/>
              </a:rPr>
              <a:t>左サイドからのクロスに高い打点で反応</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サッカーキング等(2026-08-24)</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これまでの経緯タイムライン</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時期</a:t>
                      </a:r>
                    </a:p>
                  </a:txBody>
                  <a:tcPr>
                    <a:solidFill>
                      <a:srgbClr val="3A4750"/>
                    </a:solidFill>
                  </a:tcPr>
                </a:tc>
                <a:tc>
                  <a:txBody>
                    <a:bodyPr/>
                    <a:lstStyle/>
                    <a:p>
                      <a:pPr>
                        <a:defRPr sz="1300" b="1">
                          <a:solidFill>
                            <a:srgbClr val="FFFFFF"/>
                          </a:solidFill>
                          <a:latin typeface="Yu Gothic"/>
                        </a:defRPr>
                      </a:pPr>
                      <a:r>
                        <a:t>できごと</a:t>
                      </a:r>
                    </a:p>
                  </a:txBody>
                  <a:tcPr>
                    <a:solidFill>
                      <a:srgbClr val="3A4750"/>
                    </a:solidFill>
                  </a:tcPr>
                </a:tc>
              </a:tr>
              <a:tr h="502920">
                <a:tc>
                  <a:txBody>
                    <a:bodyPr/>
                    <a:lstStyle/>
                    <a:p>
                      <a:pPr>
                        <a:defRPr sz="1200">
                          <a:solidFill>
                            <a:srgbClr val="1E2124"/>
                          </a:solidFill>
                          <a:latin typeface="Yu Gothic"/>
                        </a:defRPr>
                      </a:pPr>
                      <a:r>
                        <a:t>2026年7月30日</a:t>
                      </a:r>
                    </a:p>
                  </a:txBody>
                  <a:tcPr>
                    <a:solidFill>
                      <a:srgbClr val="FFFFFF"/>
                    </a:solidFill>
                  </a:tcPr>
                </a:tc>
                <a:tc>
                  <a:txBody>
                    <a:bodyPr/>
                    <a:lstStyle/>
                    <a:p>
                      <a:pPr>
                        <a:defRPr sz="1200">
                          <a:solidFill>
                            <a:srgbClr val="1E2124"/>
                          </a:solidFill>
                          <a:latin typeface="Yu Gothic"/>
                        </a:defRPr>
                      </a:pPr>
                      <a:r>
                        <a:t>ボルシアMGへの移籍が正式決定(既存テーマ)</a:t>
                      </a:r>
                    </a:p>
                  </a:txBody>
                  <a:tcPr>
                    <a:solidFill>
                      <a:srgbClr val="FFFFFF"/>
                    </a:solidFill>
                  </a:tcPr>
                </a:tc>
              </a:tr>
              <a:tr h="502920">
                <a:tc>
                  <a:txBody>
                    <a:bodyPr/>
                    <a:lstStyle/>
                    <a:p>
                      <a:pPr>
                        <a:defRPr sz="1200">
                          <a:solidFill>
                            <a:srgbClr val="1E2124"/>
                          </a:solidFill>
                          <a:latin typeface="Yu Gothic"/>
                        </a:defRPr>
                      </a:pPr>
                      <a:r>
                        <a:t>2026年8月3日</a:t>
                      </a:r>
                    </a:p>
                  </a:txBody>
                  <a:tcPr>
                    <a:solidFill>
                      <a:srgbClr val="F7F4EF"/>
                    </a:solidFill>
                  </a:tcPr>
                </a:tc>
                <a:tc>
                  <a:txBody>
                    <a:bodyPr/>
                    <a:lstStyle/>
                    <a:p>
                      <a:pPr>
                        <a:defRPr sz="1200">
                          <a:solidFill>
                            <a:srgbClr val="1E2124"/>
                          </a:solidFill>
                          <a:latin typeface="Yu Gothic"/>
                        </a:defRPr>
                      </a:pPr>
                      <a:r>
                        <a:t>プレシーズン親善試合で新天地デビュー(既存テーマ)</a:t>
                      </a:r>
                    </a:p>
                  </a:txBody>
                  <a:tcPr>
                    <a:solidFill>
                      <a:srgbClr val="F7F4EF"/>
                    </a:solidFill>
                  </a:tcPr>
                </a:tc>
              </a:tr>
              <a:tr h="502920">
                <a:tc>
                  <a:txBody>
                    <a:bodyPr/>
                    <a:lstStyle/>
                    <a:p>
                      <a:pPr>
                        <a:defRPr sz="1200">
                          <a:solidFill>
                            <a:srgbClr val="1E2124"/>
                          </a:solidFill>
                          <a:latin typeface="Yu Gothic"/>
                        </a:defRPr>
                      </a:pPr>
                      <a:r>
                        <a:t>2026年8月23日</a:t>
                      </a:r>
                    </a:p>
                  </a:txBody>
                  <a:tcPr>
                    <a:solidFill>
                      <a:srgbClr val="FFFFFF"/>
                    </a:solidFill>
                  </a:tcPr>
                </a:tc>
                <a:tc>
                  <a:txBody>
                    <a:bodyPr/>
                    <a:lstStyle/>
                    <a:p>
                      <a:pPr>
                        <a:defRPr sz="1200">
                          <a:solidFill>
                            <a:srgbClr val="1E2124"/>
                          </a:solidFill>
                          <a:latin typeface="Yu Gothic"/>
                        </a:defRPr>
                      </a:pPr>
                      <a:r>
                        <a:t>DFBポカール公式戦デビューで移籍後初ゴール(本テーマ)</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サッカーキング等(2026-08-24)</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板倉滉選手の同時出場</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同じボルシアMGに所属する板倉滉選手も同試合に出場</a:t>
            </a:r>
          </a:p>
        </p:txBody>
      </p:sp>
      <p:sp>
        <p:nvSpPr>
          <p:cNvPr id="8" name="Oval 7"/>
          <p:cNvSpPr/>
          <p:nvPr/>
        </p:nvSpPr>
        <p:spPr>
          <a:xfrm>
            <a:off x="457200" y="225856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板倉選手にとってもボルシアMG再デビューの試合</a:t>
            </a:r>
          </a:p>
        </p:txBody>
      </p:sp>
      <p:sp>
        <p:nvSpPr>
          <p:cNvPr id="10" name="Oval 9"/>
          <p:cNvSpPr/>
          <p:nvPr/>
        </p:nvSpPr>
        <p:spPr>
          <a:xfrm>
            <a:off x="457200" y="30358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日本人選手2名が同じ試合で活躍</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Goal.com日本版(2026年8月)</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サッカーキング等(2026-08-24)</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ボルシアMGの得点数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5得点 ショット・マインツから奪う</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橋岡選手の得点はそのうちの1点</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サッカーキング(2026-08-24)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橋岡選手のここまでの歩み</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3A4750"/>
                </a:solidFill>
                <a:latin typeface="Yu Gothic"/>
              </a:rPr>
              <a:t>移籍発表</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2026年7月30日</a:t>
            </a:r>
          </a:p>
        </p:txBody>
      </p:sp>
      <p:sp>
        <p:nvSpPr>
          <p:cNvPr id="11" name="Chevron 10"/>
          <p:cNvSpPr/>
          <p:nvPr/>
        </p:nvSpPr>
        <p:spPr>
          <a:xfrm>
            <a:off x="4038295" y="3200400"/>
            <a:ext cx="234086" cy="365760"/>
          </a:xfrm>
          <a:prstGeom prst="chevron">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3A4750"/>
                </a:solidFill>
                <a:latin typeface="Yu Gothic"/>
              </a:rPr>
              <a:t>親善試合デビュー</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2026年8月3日</a:t>
            </a:r>
          </a:p>
        </p:txBody>
      </p:sp>
      <p:sp>
        <p:nvSpPr>
          <p:cNvPr id="17" name="Chevron 16"/>
          <p:cNvSpPr/>
          <p:nvPr/>
        </p:nvSpPr>
        <p:spPr>
          <a:xfrm>
            <a:off x="7919313" y="3200400"/>
            <a:ext cx="234086" cy="365760"/>
          </a:xfrm>
          <a:prstGeom prst="chevron">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3A4750"/>
                </a:solidFill>
                <a:latin typeface="Yu Gothic"/>
              </a:rPr>
              <a:t>公式戦初ゴール</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2026年8月23日</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サッカーキング等(2026-08-24)</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今後の見通し</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DFBポカール2回戦への進出が決定</a:t>
            </a:r>
          </a:p>
        </p:txBody>
      </p:sp>
      <p:sp>
        <p:nvSpPr>
          <p:cNvPr id="8" name="Oval 7"/>
          <p:cNvSpPr/>
          <p:nvPr/>
        </p:nvSpPr>
        <p:spPr>
          <a:xfrm>
            <a:off x="457200" y="225856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今後のリーグ戦での起用機会が注目される</a:t>
            </a:r>
          </a:p>
        </p:txBody>
      </p:sp>
      <p:sp>
        <p:nvSpPr>
          <p:cNvPr id="10" name="Oval 9"/>
          <p:cNvSpPr/>
          <p:nvPr/>
        </p:nvSpPr>
        <p:spPr>
          <a:xfrm>
            <a:off x="457200" y="30358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監督の具体的な評価コメントは本調査の範囲では確認できていない</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サッカーキング等(2026-08-24)</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確定していること・確認できなかったこと</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区分</a:t>
                      </a:r>
                    </a:p>
                  </a:txBody>
                  <a:tcPr>
                    <a:solidFill>
                      <a:srgbClr val="3A4750"/>
                    </a:solidFill>
                  </a:tcPr>
                </a:tc>
                <a:tc>
                  <a:txBody>
                    <a:bodyPr/>
                    <a:lstStyle/>
                    <a:p>
                      <a:pPr>
                        <a:defRPr sz="1300" b="1">
                          <a:solidFill>
                            <a:srgbClr val="FFFFFF"/>
                          </a:solidFill>
                          <a:latin typeface="Yu Gothic"/>
                        </a:defRPr>
                      </a:pPr>
                      <a:r>
                        <a:t>内容</a:t>
                      </a:r>
                    </a:p>
                  </a:txBody>
                  <a:tcPr>
                    <a:solidFill>
                      <a:srgbClr val="3A4750"/>
                    </a:solidFill>
                  </a:tcPr>
                </a:tc>
              </a:tr>
              <a:tr h="502920">
                <a:tc>
                  <a:txBody>
                    <a:bodyPr/>
                    <a:lstStyle/>
                    <a:p>
                      <a:pPr>
                        <a:defRPr sz="1200">
                          <a:solidFill>
                            <a:srgbClr val="1E2124"/>
                          </a:solidFill>
                          <a:latin typeface="Yu Gothic"/>
                        </a:defRPr>
                      </a:pPr>
                      <a:r>
                        <a:t>確定</a:t>
                      </a:r>
                    </a:p>
                  </a:txBody>
                  <a:tcPr>
                    <a:solidFill>
                      <a:srgbClr val="FFFFFF"/>
                    </a:solidFill>
                  </a:tcPr>
                </a:tc>
                <a:tc>
                  <a:txBody>
                    <a:bodyPr/>
                    <a:lstStyle/>
                    <a:p>
                      <a:pPr>
                        <a:defRPr sz="1200">
                          <a:solidFill>
                            <a:srgbClr val="1E2124"/>
                          </a:solidFill>
                          <a:latin typeface="Yu Gothic"/>
                        </a:defRPr>
                      </a:pPr>
                      <a:r>
                        <a:t>試合結果・ゴールの経緯・出場選手</a:t>
                      </a:r>
                    </a:p>
                  </a:txBody>
                  <a:tcPr>
                    <a:solidFill>
                      <a:srgbClr val="FFFFFF"/>
                    </a:solidFill>
                  </a:tcPr>
                </a:tc>
              </a:tr>
              <a:tr h="502920">
                <a:tc>
                  <a:txBody>
                    <a:bodyPr/>
                    <a:lstStyle/>
                    <a:p>
                      <a:pPr>
                        <a:defRPr sz="1200">
                          <a:solidFill>
                            <a:srgbClr val="1E2124"/>
                          </a:solidFill>
                          <a:latin typeface="Yu Gothic"/>
                        </a:defRPr>
                      </a:pPr>
                      <a:r>
                        <a:t>確定</a:t>
                      </a:r>
                    </a:p>
                  </a:txBody>
                  <a:tcPr>
                    <a:solidFill>
                      <a:srgbClr val="F7F4EF"/>
                    </a:solidFill>
                  </a:tcPr>
                </a:tc>
                <a:tc>
                  <a:txBody>
                    <a:bodyPr/>
                    <a:lstStyle/>
                    <a:p>
                      <a:pPr>
                        <a:defRPr sz="1200">
                          <a:solidFill>
                            <a:srgbClr val="1E2124"/>
                          </a:solidFill>
                          <a:latin typeface="Yu Gothic"/>
                        </a:defRPr>
                      </a:pPr>
                      <a:r>
                        <a:t>橋岡選手のこれまでの移籍経緯</a:t>
                      </a:r>
                    </a:p>
                  </a:txBody>
                  <a:tcPr>
                    <a:solidFill>
                      <a:srgbClr val="F7F4EF"/>
                    </a:solidFill>
                  </a:tcPr>
                </a:tc>
              </a:tr>
              <a:tr h="502920">
                <a:tc>
                  <a:txBody>
                    <a:bodyPr/>
                    <a:lstStyle/>
                    <a:p>
                      <a:pPr>
                        <a:defRPr sz="1200">
                          <a:solidFill>
                            <a:srgbClr val="1E2124"/>
                          </a:solidFill>
                          <a:latin typeface="Yu Gothic"/>
                        </a:defRPr>
                      </a:pPr>
                      <a:r>
                        <a:t>未確認</a:t>
                      </a:r>
                    </a:p>
                  </a:txBody>
                  <a:tcPr>
                    <a:solidFill>
                      <a:srgbClr val="FFFFFF"/>
                    </a:solidFill>
                  </a:tcPr>
                </a:tc>
                <a:tc>
                  <a:txBody>
                    <a:bodyPr/>
                    <a:lstStyle/>
                    <a:p>
                      <a:pPr>
                        <a:defRPr sz="1200">
                          <a:solidFill>
                            <a:srgbClr val="1E2124"/>
                          </a:solidFill>
                          <a:latin typeface="Yu Gothic"/>
                        </a:defRPr>
                      </a:pPr>
                      <a:r>
                        <a:t>今後の起用方針・監督のコメント</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サッカーキング等(2026-08-24)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確認できなかったこと</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橋岡選手の今シーズンの今後の出場機会・起用方針の詳細</a:t>
            </a:r>
          </a:p>
        </p:txBody>
      </p:sp>
      <p:sp>
        <p:nvSpPr>
          <p:cNvPr id="8" name="Oval 7"/>
          <p:cNvSpPr/>
          <p:nvPr/>
        </p:nvSpPr>
        <p:spPr>
          <a:xfrm>
            <a:off x="457200" y="225856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監督のこのゴールに対する具体的なコメント</a:t>
            </a:r>
          </a:p>
        </p:txBody>
      </p:sp>
      <p:sp>
        <p:nvSpPr>
          <p:cNvPr id="10" name="Oval 9"/>
          <p:cNvSpPr/>
          <p:nvPr/>
        </p:nvSpPr>
        <p:spPr>
          <a:xfrm>
            <a:off x="457200" y="30358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DFBポカール2回戦の対戦相手・日程の詳細</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サッカーキング等(2026-08-24)</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先発出場</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唯一の先発 日本人選手として</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フル出場を果たす</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サッカーキング(2026-08-24)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親善試合デビュー vs 公式戦デビュー</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親善試合デビュー(8月3日)</a:t>
            </a:r>
          </a:p>
        </p:txBody>
      </p:sp>
      <p:sp>
        <p:nvSpPr>
          <p:cNvPr id="9" name="Oval 8"/>
          <p:cNvSpPr/>
          <p:nvPr/>
        </p:nvSpPr>
        <p:spPr>
          <a:xfrm>
            <a:off x="777240"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プレシーズンマッチ</a:t>
            </a:r>
          </a:p>
        </p:txBody>
      </p:sp>
      <p:sp>
        <p:nvSpPr>
          <p:cNvPr id="11" name="Oval 10"/>
          <p:cNvSpPr/>
          <p:nvPr/>
        </p:nvSpPr>
        <p:spPr>
          <a:xfrm>
            <a:off x="777240"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後半から途中出場</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公式戦デビュー(8月23日)</a:t>
            </a:r>
          </a:p>
        </p:txBody>
      </p:sp>
      <p:sp>
        <p:nvSpPr>
          <p:cNvPr id="16" name="Oval 15"/>
          <p:cNvSpPr/>
          <p:nvPr/>
        </p:nvSpPr>
        <p:spPr>
          <a:xfrm>
            <a:off x="6598767"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DFBポカール1回戦</a:t>
            </a:r>
          </a:p>
        </p:txBody>
      </p:sp>
      <p:sp>
        <p:nvSpPr>
          <p:cNvPr id="18" name="Oval 17"/>
          <p:cNvSpPr/>
          <p:nvPr/>
        </p:nvSpPr>
        <p:spPr>
          <a:xfrm>
            <a:off x="6598767"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先発フル出場、ゴールも記録</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サッカーキング等(2026-08-24)</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海外組の活躍という文脈</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同時期に他の日本人選手も海外リーグで活躍</a:t>
            </a:r>
          </a:p>
        </p:txBody>
      </p:sp>
      <p:sp>
        <p:nvSpPr>
          <p:cNvPr id="8" name="Oval 7"/>
          <p:cNvSpPr/>
          <p:nvPr/>
        </p:nvSpPr>
        <p:spPr>
          <a:xfrm>
            <a:off x="457200" y="225856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日本代表DFとしての海外での評価向上につながる可能性</a:t>
            </a:r>
          </a:p>
        </p:txBody>
      </p:sp>
      <p:sp>
        <p:nvSpPr>
          <p:cNvPr id="10" name="Oval 9"/>
          <p:cNvSpPr/>
          <p:nvPr/>
        </p:nvSpPr>
        <p:spPr>
          <a:xfrm>
            <a:off x="457200" y="30358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個別の他選手の活躍は本テーマの範囲外として扱う</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サッカーキング等(2026-08-24)</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主要出典の一覧</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a:t>
                      </a:r>
                    </a:p>
                  </a:txBody>
                  <a:tcPr>
                    <a:solidFill>
                      <a:srgbClr val="3A4750"/>
                    </a:solidFill>
                  </a:tcPr>
                </a:tc>
                <a:tc>
                  <a:txBody>
                    <a:bodyPr/>
                    <a:lstStyle/>
                    <a:p>
                      <a:pPr>
                        <a:defRPr sz="1300" b="1">
                          <a:solidFill>
                            <a:srgbClr val="FFFFFF"/>
                          </a:solidFill>
                          <a:latin typeface="Yu Gothic"/>
                        </a:defRPr>
                      </a:pPr>
                      <a:r>
                        <a:t>報道日</a:t>
                      </a:r>
                    </a:p>
                  </a:txBody>
                  <a:tcPr>
                    <a:solidFill>
                      <a:srgbClr val="3A4750"/>
                    </a:solidFill>
                  </a:tcPr>
                </a:tc>
              </a:tr>
              <a:tr h="502920">
                <a:tc>
                  <a:txBody>
                    <a:bodyPr/>
                    <a:lstStyle/>
                    <a:p>
                      <a:pPr>
                        <a:defRPr sz="1200">
                          <a:solidFill>
                            <a:srgbClr val="1E2124"/>
                          </a:solidFill>
                          <a:latin typeface="Yu Gothic"/>
                        </a:defRPr>
                      </a:pPr>
                      <a:r>
                        <a:t>Yahoo!ニュース(ゲキサカ配信)</a:t>
                      </a:r>
                    </a:p>
                  </a:txBody>
                  <a:tcPr>
                    <a:solidFill>
                      <a:srgbClr val="FFFFFF"/>
                    </a:solidFill>
                  </a:tcPr>
                </a:tc>
                <a:tc>
                  <a:txBody>
                    <a:bodyPr/>
                    <a:lstStyle/>
                    <a:p>
                      <a:pPr>
                        <a:defRPr sz="1200">
                          <a:solidFill>
                            <a:srgbClr val="1E2124"/>
                          </a:solidFill>
                          <a:latin typeface="Yu Gothic"/>
                        </a:defRPr>
                      </a:pPr>
                      <a:r>
                        <a:t>2026年8月24日</a:t>
                      </a:r>
                    </a:p>
                  </a:txBody>
                  <a:tcPr>
                    <a:solidFill>
                      <a:srgbClr val="FFFFFF"/>
                    </a:solidFill>
                  </a:tcPr>
                </a:tc>
              </a:tr>
              <a:tr h="502920">
                <a:tc>
                  <a:txBody>
                    <a:bodyPr/>
                    <a:lstStyle/>
                    <a:p>
                      <a:pPr>
                        <a:defRPr sz="1200">
                          <a:solidFill>
                            <a:srgbClr val="1E2124"/>
                          </a:solidFill>
                          <a:latin typeface="Yu Gothic"/>
                        </a:defRPr>
                      </a:pPr>
                      <a:r>
                        <a:t>Yahoo!ニュース(フットボールチャンネル配信)</a:t>
                      </a:r>
                    </a:p>
                  </a:txBody>
                  <a:tcPr>
                    <a:solidFill>
                      <a:srgbClr val="F7F4EF"/>
                    </a:solidFill>
                  </a:tcPr>
                </a:tc>
                <a:tc>
                  <a:txBody>
                    <a:bodyPr/>
                    <a:lstStyle/>
                    <a:p>
                      <a:pPr>
                        <a:defRPr sz="1200">
                          <a:solidFill>
                            <a:srgbClr val="1E2124"/>
                          </a:solidFill>
                          <a:latin typeface="Yu Gothic"/>
                        </a:defRPr>
                      </a:pPr>
                      <a:r>
                        <a:t>2026年8月24日</a:t>
                      </a:r>
                    </a:p>
                  </a:txBody>
                  <a:tcPr>
                    <a:solidFill>
                      <a:srgbClr val="F7F4EF"/>
                    </a:solidFill>
                  </a:tcPr>
                </a:tc>
              </a:tr>
              <a:tr h="502920">
                <a:tc>
                  <a:txBody>
                    <a:bodyPr/>
                    <a:lstStyle/>
                    <a:p>
                      <a:pPr>
                        <a:defRPr sz="1200">
                          <a:solidFill>
                            <a:srgbClr val="1E2124"/>
                          </a:solidFill>
                          <a:latin typeface="Yu Gothic"/>
                        </a:defRPr>
                      </a:pPr>
                      <a:r>
                        <a:t>サッカーキング</a:t>
                      </a:r>
                    </a:p>
                  </a:txBody>
                  <a:tcPr>
                    <a:solidFill>
                      <a:srgbClr val="FFFFFF"/>
                    </a:solidFill>
                  </a:tcPr>
                </a:tc>
                <a:tc>
                  <a:txBody>
                    <a:bodyPr/>
                    <a:lstStyle/>
                    <a:p>
                      <a:pPr>
                        <a:defRPr sz="1200">
                          <a:solidFill>
                            <a:srgbClr val="1E2124"/>
                          </a:solidFill>
                          <a:latin typeface="Yu Gothic"/>
                        </a:defRPr>
                      </a:pPr>
                      <a:r>
                        <a:t>2026年8月24日</a:t>
                      </a:r>
                    </a:p>
                  </a:txBody>
                  <a:tcPr>
                    <a:solidFill>
                      <a:srgbClr val="FFFFFF"/>
                    </a:solidFill>
                  </a:tcPr>
                </a:tc>
              </a:tr>
              <a:tr h="502920">
                <a:tc>
                  <a:txBody>
                    <a:bodyPr/>
                    <a:lstStyle/>
                    <a:p>
                      <a:pPr>
                        <a:defRPr sz="1200">
                          <a:solidFill>
                            <a:srgbClr val="1E2124"/>
                          </a:solidFill>
                          <a:latin typeface="Yu Gothic"/>
                        </a:defRPr>
                      </a:pPr>
                      <a:r>
                        <a:t>Goal.com日本版</a:t>
                      </a:r>
                    </a:p>
                  </a:txBody>
                  <a:tcPr>
                    <a:solidFill>
                      <a:srgbClr val="F7F4EF"/>
                    </a:solidFill>
                  </a:tcPr>
                </a:tc>
                <a:tc>
                  <a:txBody>
                    <a:bodyPr/>
                    <a:lstStyle/>
                    <a:p>
                      <a:pPr>
                        <a:defRPr sz="1200">
                          <a:solidFill>
                            <a:srgbClr val="1E2124"/>
                          </a:solidFill>
                          <a:latin typeface="Yu Gothic"/>
                        </a:defRPr>
                      </a:pPr>
                      <a:r>
                        <a:t>2026年8月</a:t>
                      </a:r>
                    </a:p>
                  </a:txBody>
                  <a:tcPr>
                    <a:solidFill>
                      <a:srgbClr val="F7F4E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サッカーキング等(2026-08-24)</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移籍前 vs 移籍後</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移籍前(スラヴィア・プラハ)</a:t>
            </a:r>
          </a:p>
        </p:txBody>
      </p:sp>
      <p:sp>
        <p:nvSpPr>
          <p:cNvPr id="9" name="Oval 8"/>
          <p:cNvSpPr/>
          <p:nvPr/>
        </p:nvSpPr>
        <p:spPr>
          <a:xfrm>
            <a:off x="777240"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チェコリーグに所属</a:t>
            </a:r>
          </a:p>
        </p:txBody>
      </p:sp>
      <p:sp>
        <p:nvSpPr>
          <p:cNvPr id="11" name="Rounded Rectangle 10"/>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78727"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移籍後(ボルシアMG)</a:t>
            </a:r>
          </a:p>
        </p:txBody>
      </p:sp>
      <p:sp>
        <p:nvSpPr>
          <p:cNvPr id="14" name="Oval 13"/>
          <p:cNvSpPr/>
          <p:nvPr/>
        </p:nvSpPr>
        <p:spPr>
          <a:xfrm>
            <a:off x="6598767"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5" name="TextBox 14"/>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ブンデスリーガ所属クラブ</a:t>
            </a:r>
          </a:p>
        </p:txBody>
      </p:sp>
      <p:sp>
        <p:nvSpPr>
          <p:cNvPr id="16" name="Oval 15"/>
          <p:cNvSpPr/>
          <p:nvPr/>
        </p:nvSpPr>
        <p:spPr>
          <a:xfrm>
            <a:off x="6598767"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公式戦デビューでゴール</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サッカーキング等(2026-08-24)</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契約期間</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2027年6月30日まで 買取オプション付き期限付き移籍</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スラヴィア・プラハからの移籍条件</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research.md参照</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今回のニュースの3つの注目ポイント</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3A4750"/>
                </a:solidFill>
                <a:latin typeface="Yu Gothic"/>
              </a:rPr>
              <a:t>01</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公式戦デビュー戦で移籍後初ゴール</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3A4750"/>
                </a:solidFill>
                <a:latin typeface="Yu Gothic"/>
              </a:rPr>
              <a:t>02</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チームは5-0の大勝、橋岡は唯一の先発</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3A4750"/>
                </a:solidFill>
                <a:latin typeface="Yu Gothic"/>
              </a:rPr>
              <a:t>03</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同クラブの板倉滉選手も同時出場</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サッカーキング等(2026-08-24)</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視聴者にとっての意味</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海外で活躍する日本人選手を応援するファンに直接関係する情報</a:t>
            </a:r>
          </a:p>
        </p:txBody>
      </p:sp>
      <p:sp>
        <p:nvSpPr>
          <p:cNvPr id="8" name="Oval 7"/>
          <p:cNvSpPr/>
          <p:nvPr/>
        </p:nvSpPr>
        <p:spPr>
          <a:xfrm>
            <a:off x="457200" y="225856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既存テーマ(移籍発表)からの進展を追う一事例になる</a:t>
            </a:r>
          </a:p>
        </p:txBody>
      </p:sp>
      <p:sp>
        <p:nvSpPr>
          <p:cNvPr id="10" name="Oval 9"/>
          <p:cNvSpPr/>
          <p:nvPr/>
        </p:nvSpPr>
        <p:spPr>
          <a:xfrm>
            <a:off x="457200" y="30358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特定クラブ・選手への過度な評価的表現は行わない</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サッカーキング等(2026-08-24)</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タイムライン</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時期</a:t>
                      </a:r>
                    </a:p>
                  </a:txBody>
                  <a:tcPr>
                    <a:solidFill>
                      <a:srgbClr val="3A4750"/>
                    </a:solidFill>
                  </a:tcPr>
                </a:tc>
                <a:tc>
                  <a:txBody>
                    <a:bodyPr/>
                    <a:lstStyle/>
                    <a:p>
                      <a:pPr>
                        <a:defRPr sz="1300" b="1">
                          <a:solidFill>
                            <a:srgbClr val="FFFFFF"/>
                          </a:solidFill>
                          <a:latin typeface="Yu Gothic"/>
                        </a:defRPr>
                      </a:pPr>
                      <a:r>
                        <a:t>できごと</a:t>
                      </a:r>
                    </a:p>
                  </a:txBody>
                  <a:tcPr>
                    <a:solidFill>
                      <a:srgbClr val="3A4750"/>
                    </a:solidFill>
                  </a:tcPr>
                </a:tc>
              </a:tr>
              <a:tr h="502920">
                <a:tc>
                  <a:txBody>
                    <a:bodyPr/>
                    <a:lstStyle/>
                    <a:p>
                      <a:pPr>
                        <a:defRPr sz="1200">
                          <a:solidFill>
                            <a:srgbClr val="1E2124"/>
                          </a:solidFill>
                          <a:latin typeface="Yu Gothic"/>
                        </a:defRPr>
                      </a:pPr>
                      <a:r>
                        <a:t>2026年7月30日</a:t>
                      </a:r>
                    </a:p>
                  </a:txBody>
                  <a:tcPr>
                    <a:solidFill>
                      <a:srgbClr val="FFFFFF"/>
                    </a:solidFill>
                  </a:tcPr>
                </a:tc>
                <a:tc>
                  <a:txBody>
                    <a:bodyPr/>
                    <a:lstStyle/>
                    <a:p>
                      <a:pPr>
                        <a:defRPr sz="1200">
                          <a:solidFill>
                            <a:srgbClr val="1E2124"/>
                          </a:solidFill>
                          <a:latin typeface="Yu Gothic"/>
                        </a:defRPr>
                      </a:pPr>
                      <a:r>
                        <a:t>ボルシアMGへの移籍発表</a:t>
                      </a:r>
                    </a:p>
                  </a:txBody>
                  <a:tcPr>
                    <a:solidFill>
                      <a:srgbClr val="FFFFFF"/>
                    </a:solidFill>
                  </a:tcPr>
                </a:tc>
              </a:tr>
              <a:tr h="502920">
                <a:tc>
                  <a:txBody>
                    <a:bodyPr/>
                    <a:lstStyle/>
                    <a:p>
                      <a:pPr>
                        <a:defRPr sz="1200">
                          <a:solidFill>
                            <a:srgbClr val="1E2124"/>
                          </a:solidFill>
                          <a:latin typeface="Yu Gothic"/>
                        </a:defRPr>
                      </a:pPr>
                      <a:r>
                        <a:t>2026年8月3日</a:t>
                      </a:r>
                    </a:p>
                  </a:txBody>
                  <a:tcPr>
                    <a:solidFill>
                      <a:srgbClr val="F7F4EF"/>
                    </a:solidFill>
                  </a:tcPr>
                </a:tc>
                <a:tc>
                  <a:txBody>
                    <a:bodyPr/>
                    <a:lstStyle/>
                    <a:p>
                      <a:pPr>
                        <a:defRPr sz="1200">
                          <a:solidFill>
                            <a:srgbClr val="1E2124"/>
                          </a:solidFill>
                          <a:latin typeface="Yu Gothic"/>
                        </a:defRPr>
                      </a:pPr>
                      <a:r>
                        <a:t>親善試合で新天地デビュー</a:t>
                      </a:r>
                    </a:p>
                  </a:txBody>
                  <a:tcPr>
                    <a:solidFill>
                      <a:srgbClr val="F7F4EF"/>
                    </a:solidFill>
                  </a:tcPr>
                </a:tc>
              </a:tr>
              <a:tr h="502920">
                <a:tc>
                  <a:txBody>
                    <a:bodyPr/>
                    <a:lstStyle/>
                    <a:p>
                      <a:pPr>
                        <a:defRPr sz="1200">
                          <a:solidFill>
                            <a:srgbClr val="1E2124"/>
                          </a:solidFill>
                          <a:latin typeface="Yu Gothic"/>
                        </a:defRPr>
                      </a:pPr>
                      <a:r>
                        <a:t>2026年8月23日</a:t>
                      </a:r>
                    </a:p>
                  </a:txBody>
                  <a:tcPr>
                    <a:solidFill>
                      <a:srgbClr val="FFFFFF"/>
                    </a:solidFill>
                  </a:tcPr>
                </a:tc>
                <a:tc>
                  <a:txBody>
                    <a:bodyPr/>
                    <a:lstStyle/>
                    <a:p>
                      <a:pPr>
                        <a:defRPr sz="1200">
                          <a:solidFill>
                            <a:srgbClr val="1E2124"/>
                          </a:solidFill>
                          <a:latin typeface="Yu Gothic"/>
                        </a:defRPr>
                      </a:pPr>
                      <a:r>
                        <a:t>DFBポカール公式戦デビューで初ゴール</a:t>
                      </a:r>
                    </a:p>
                  </a:txBody>
                  <a:tcPr>
                    <a:solidFill>
                      <a:srgbClr val="FFFFFF"/>
                    </a:solidFill>
                  </a:tcPr>
                </a:tc>
              </a:tr>
              <a:tr h="502920">
                <a:tc>
                  <a:txBody>
                    <a:bodyPr/>
                    <a:lstStyle/>
                    <a:p>
                      <a:pPr>
                        <a:defRPr sz="1200">
                          <a:solidFill>
                            <a:srgbClr val="1E2124"/>
                          </a:solidFill>
                          <a:latin typeface="Yu Gothic"/>
                        </a:defRPr>
                      </a:pPr>
                      <a:r>
                        <a:t>2026年8月24日</a:t>
                      </a:r>
                    </a:p>
                  </a:txBody>
                  <a:tcPr>
                    <a:solidFill>
                      <a:srgbClr val="F7F4EF"/>
                    </a:solidFill>
                  </a:tcPr>
                </a:tc>
                <a:tc>
                  <a:txBody>
                    <a:bodyPr/>
                    <a:lstStyle/>
                    <a:p>
                      <a:pPr>
                        <a:defRPr sz="1200">
                          <a:solidFill>
                            <a:srgbClr val="1E2124"/>
                          </a:solidFill>
                          <a:latin typeface="Yu Gothic"/>
                        </a:defRPr>
                      </a:pPr>
                      <a:r>
                        <a:t>複数メディアが一斉報道</a:t>
                      </a:r>
                    </a:p>
                  </a:txBody>
                  <a:tcPr>
                    <a:solidFill>
                      <a:srgbClr val="F7F4E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サッカーキング等(2026-08-24)</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既存テーマとの違い</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既存テーマ(8月3日)</a:t>
            </a:r>
          </a:p>
        </p:txBody>
      </p:sp>
      <p:sp>
        <p:nvSpPr>
          <p:cNvPr id="9" name="Oval 8"/>
          <p:cNvSpPr/>
          <p:nvPr/>
        </p:nvSpPr>
        <p:spPr>
          <a:xfrm>
            <a:off x="777240"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移籍発表・親善試合デビュー</a:t>
            </a:r>
          </a:p>
        </p:txBody>
      </p:sp>
      <p:sp>
        <p:nvSpPr>
          <p:cNvPr id="11" name="Oval 10"/>
          <p:cNvSpPr/>
          <p:nvPr/>
        </p:nvSpPr>
        <p:spPr>
          <a:xfrm>
            <a:off x="777240"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ゴールなし</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本テーマ(8月23日)</a:t>
            </a:r>
          </a:p>
        </p:txBody>
      </p:sp>
      <p:sp>
        <p:nvSpPr>
          <p:cNvPr id="16" name="Oval 15"/>
          <p:cNvSpPr/>
          <p:nvPr/>
        </p:nvSpPr>
        <p:spPr>
          <a:xfrm>
            <a:off x="6598767"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公式戦デビュー</a:t>
            </a:r>
          </a:p>
        </p:txBody>
      </p:sp>
      <p:sp>
        <p:nvSpPr>
          <p:cNvPr id="18" name="Oval 17"/>
          <p:cNvSpPr/>
          <p:nvPr/>
        </p:nvSpPr>
        <p:spPr>
          <a:xfrm>
            <a:off x="6598767"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移籍後初ゴールを記録</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サッカーキング等(2026-08-24)</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今日のまとめの数字</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移籍後初ゴール・5-0大勝 橋岡大樹の公式戦デビュー</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2026年8月24日時点で確認できた事実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サッカーキング(2026-08-24)</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出典付きで、正確に。</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F5D9A8"/>
                </a:solidFill>
                <a:latin typeface="Yu Gothic"/>
              </a:rPr>
              <a:t>AI Company OSは、確認できた事実だけをお届けします</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3A4750"/>
                </a:solidFill>
                <a:latin typeface="Yu Gothic"/>
              </a:rPr>
              <a:t>次回もお楽しみに</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