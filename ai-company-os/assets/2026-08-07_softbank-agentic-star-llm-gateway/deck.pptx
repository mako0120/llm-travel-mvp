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2026年8月7日、ソフトバンクが法人向けAIエージェント基盤『AGENTIC STAR』のSaaS版に『LLM Gateway』という機能を標準搭載すると発表しました。社員が個人的に使っているAIコーディングツールの通信を、この機能が経由するようになります。今日はこの発表を出典付きで整理します。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まず結論です。ソフトバンクは2026年8月上旬から、AGENTIC STARのSaaS版にLLM Gateway機能を標準搭載します。新規契約企業だけでなく、すでに導入している既存企業にも順次適用されるとされています。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今日はこの5つの流れでお伝えします。事実と、当社の推測、そして確認できなかったことをはっきり分けて整理します。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ぜ今このニュースを扱うのか。2日前という新しい発表であること、そして『社員が個人的に使っているAIツールが会社から見えるようになる』という、多くの職場にとって身近なテーマであることが理由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何が起きたのか整理します。ソフトバンクのAGENTIC STAR SaaS版に、LLM Gatewayという新機能が標準搭載されます。AIコーディングツールと契約LLMの間にゲートウェイを置くことで、既存の管理機能を適用できるようにする仕組みです。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複数の独立したメディアが同じ内容を報じています。AI Watchに加えて、ロボスタ・BUSINESS NETWORKも同内容を裏付けており、AGENTIC STAR自体の背景はソフトバンク公式リリースで確認できます。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用語を整理します。AIコーディングツールとは、コードの提案・補完・生成をAIが行う開発支援ツールのことです。個人単位で使われることが多く、企業から利用実態が見えにくいという特徴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AGENTIC STARは、ソフトバンクが2025年12月に提供開始した法人向けAIエージェント基盤です。自律的に業務をこなすAIエージェントを一元管理でき、80種類以上のツールを使い分けられるとされています。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AGENTIC STARの規模感を数字で見ておきます。AIエージェントが使い分けられるツールは80種類以上とされており、Web検索から文書作成、アプリ開発まで幅広くカバーする基盤として提供開始されました。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AGENTIC STARには複数の提供モデルがあります。今回LLM Gatewayが標準搭載されるのはこのうち『SaaSモデル』で、ブラウザ上でそのまま使える形態です。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提供開始からの期間も見ておきます。AGENTIC STARが提供開始してから、今回のLLM Gateway搭載発表までは約8か月です。基盤としての機能拡充が続いていることが分かります。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 Gatewayとは、AIコーディングツールと契約LLMの間に置かれるゲートウェイです。通信をここに経由させることで、AGENTIC STARの管理機能をコーディングツールにも適用できるようになります。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仕組みを図にするとこうなります。社員のAIコーディングツールと、企業が契約しているLLMサービスの間にLLM Gatewayが入り、そこを通る通信に管理機能が適用されます。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流れをステップにするとこうです。社員が普段どおりツールを使うと、通信はまずLLM Gatewayを経由し、そこで管理機能が適用されたうえで契約LLMに届き、応答が返ってきます。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 Gatewayが適用する管理機能は主に4つです。ガードレール、機密情報・個人情報の取り扱い制限、利用状況のログ記録、利用可能モデルの管理、この4つがAIコーディングツールにも及ぶようになります。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導入前後を並べるとこうなります。これまで見えにくかった利用実態に管理機能が及ぶようになる一方、ツール自体の使い勝手は変えない設計とされています。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改めて時期を確認します。提供開始は2026年8月上旬。すでにAGENTIC STARを導入している企業にも、順次この機能が適用されていくとされています。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対象範囲を正確に見ておきます。SaaS版が対象であり、既存の導入企業にも順次適用されるとされていますが、完了時期や価格については明言されていません。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ここからは実践的な視点です。企業の情報システム部門にとっては、利用実態の把握がしやすくなる一方、どのツールが対象になるかは自社で確認が必要です。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業員から見るとどうでしょうか。利用状況が会社から見える形になりますが、ツール自体の使い勝手は維持されるとされています。社内ルールの範囲内での利用が前提になる点は意識しておく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ここで一度、確認できなかったことを一覧にします。対応ツールの具体名、利用企業数、価格、展開完了時期、いずれも非公開または未確認です。数字を作らず、正直に不明として扱います。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この図はあくまで推測です。今後、対応ツールの拡大が公表されたり、エージェント利用とコーディングツール利用を一元管理する方向へ発展する可能性がありますが、公式な計画は確認できていません。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この3つは当社の推測です。断定はせず、今後注目されうる論点として整理しました。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ここで一度、本テーマの扱い方についてお伝えします。タイトルは注目を集める表現を使っていますが、本文の中身は事実と推測を分け、誇張せずに整理しています。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本テーマはソフトバンク自身の製品発表を扱っていますが、この製品の利用を強く勧める結論にはしていません。あくまで公表された事実を整理する内容として扱っています。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左右で分けるとこうなります。公表されているのは業務ルールに沿った運用を実現するための管理機能であり、従業員個人の評価に使うといった明言はされていません。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今後注目しておきたいのはこの3点です。続報が出れば、また出典付きでお伝えします。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最後にもう一度確認します。2026年8月7日、ソフトバンクはAGENTIC STAR SaaS版にLLM Gatewayを標準搭載すると発表しました。提供開始は2026年8月上旬で、既存顧客にも順次適用されますが、対応ツールや価格、企業数は非公表です。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本編は以上です。今回はソフトバンクのAGENTIC STARにLLM Gatewayが標準搭載されることをお伝えしました。非公開の情報は不明として扱い、推測部分は推測と明記しています。次回もまた出典付きでお届けします。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社員がこっそり使っていたAIコーディングツールが、</a:t>
            </a:r>
          </a:p>
          <a:p>
            <a:pPr algn="l">
              <a:lnSpc>
                <a:spcPct val="115000"/>
              </a:lnSpc>
            </a:pPr>
            <a:r>
              <a:rPr sz="4200" b="1">
                <a:solidFill>
                  <a:srgbClr val="FFFFFF"/>
                </a:solidFill>
                <a:latin typeface="Yu Gothic"/>
              </a:rPr>
              <a:t>会社に丸見えになる時代へ。</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6D9F5"/>
                </a:solidFill>
                <a:latin typeface="Yu Gothic"/>
              </a:rPr>
              <a:t>ソフトバンク、『AGENTIC STAR』SaaS版に『LLM Gateway』機能を標準搭載。2026年8月上旬から提供開始、既存顧客にも順次適用(2026年8月7日発表)</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AEE0"/>
                </a:solidFill>
                <a:latin typeface="Yu Gothic"/>
              </a:rPr>
              <a:t>出典: AI Watch / Impress(2026-08-07)ほか。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今回の結論</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2026年8月上旬</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『AGENTIC STAR』SaaS版に『LLM Gateway』機能を標準搭載。開始時期は2026年8月上旬で、既存の導入企業にも順次適用される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AI Watch / Impress(2026-08-07)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この動画で分かること</a:t>
            </a:r>
          </a:p>
        </p:txBody>
      </p:sp>
      <p:sp>
        <p:nvSpPr>
          <p:cNvPr id="5" name="Oval 4"/>
          <p:cNvSpPr/>
          <p:nvPr/>
        </p:nvSpPr>
        <p:spPr>
          <a:xfrm>
            <a:off x="548640" y="19202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6D9F5"/>
                </a:solidFill>
                <a:latin typeface="Yu Gothic"/>
              </a:rPr>
              <a:t>『AGENTIC STAR』『LLM Gateway』とは何か(基礎知識)</a:t>
            </a:r>
          </a:p>
        </p:txBody>
      </p:sp>
      <p:sp>
        <p:nvSpPr>
          <p:cNvPr id="7" name="Oval 6"/>
          <p:cNvSpPr/>
          <p:nvPr/>
        </p:nvSpPr>
        <p:spPr>
          <a:xfrm>
            <a:off x="548640" y="269748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6D9F5"/>
                </a:solidFill>
                <a:latin typeface="Yu Gothic"/>
              </a:rPr>
              <a:t>LLM Gatewayが実現する管理・制御機能</a:t>
            </a:r>
          </a:p>
        </p:txBody>
      </p:sp>
      <p:sp>
        <p:nvSpPr>
          <p:cNvPr id="9" name="Oval 8"/>
          <p:cNvSpPr/>
          <p:nvPr/>
        </p:nvSpPr>
        <p:spPr>
          <a:xfrm>
            <a:off x="548640" y="347472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6D9F5"/>
                </a:solidFill>
                <a:latin typeface="Yu Gothic"/>
              </a:rPr>
              <a:t>導入前後で何が変わるのか</a:t>
            </a:r>
          </a:p>
        </p:txBody>
      </p:sp>
      <p:sp>
        <p:nvSpPr>
          <p:cNvPr id="11" name="Oval 10"/>
          <p:cNvSpPr/>
          <p:nvPr/>
        </p:nvSpPr>
        <p:spPr>
          <a:xfrm>
            <a:off x="548640" y="425196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6D9F5"/>
                </a:solidFill>
                <a:latin typeface="Yu Gothic"/>
              </a:rPr>
              <a:t>企業・従業員それぞれにとっての意味</a:t>
            </a:r>
          </a:p>
        </p:txBody>
      </p:sp>
      <p:sp>
        <p:nvSpPr>
          <p:cNvPr id="13" name="Oval 12"/>
          <p:cNvSpPr/>
          <p:nvPr/>
        </p:nvSpPr>
        <p:spPr>
          <a:xfrm>
            <a:off x="548640" y="502920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6D9F5"/>
                </a:solidFill>
                <a:latin typeface="Yu Gothic"/>
              </a:rPr>
              <a:t>確認できなかったこと、読み解く上での注意点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なぜ今、このニュースを扱うのか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このテーマを選んだ理由です。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発表は2026年8月7日。着手日から見て2日前の、鮮度の高いニュース</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『社員が個人的に使っているAIツールが会社に見える化される』という誰にとっても身近な切り口</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企業のAIガバナンス・コンプライアンスへの関心が高まる中でのタイムリーな機能追加</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ソフトバンク自身の製品発表であるため、一次情報と複数メディアの報道を突き合わせて確認する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AI Watch / Impress(2026-08-07)</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AI Watch / Impress(2026-08-07)ほか｜149本目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何が起きたのか(概要)</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まず起きたことを整理します。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ソフトバンクが、法人向けAIエージェント基盤『AGENTIC STAR』のSaaS版に『LLM Gateway』機能を標準搭載すると発表</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2026年8月上旬から提供開始し、既存の導入企業にも順次適用する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AIコーディングツールと、企業が契約しているLLMサービスの間にゲートウェイを置く仕組み</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AGENTIC STARが持つ管理・制御機能を、社員が使うAIコーディングツールにも適用できるようにする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AI Watch / Impress(2026-08-07)</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AI Watch / Impress(2026-08-07)ほか｜149本目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この発表を報じた主なメディア</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メディア/機関</a:t>
                      </a:r>
                    </a:p>
                  </a:txBody>
                  <a:tcPr>
                    <a:solidFill>
                      <a:srgbClr val="2E2A72"/>
                    </a:solidFill>
                  </a:tcPr>
                </a:tc>
                <a:tc>
                  <a:txBody>
                    <a:bodyPr/>
                    <a:lstStyle/>
                    <a:p>
                      <a:pPr>
                        <a:defRPr sz="1300" b="1">
                          <a:solidFill>
                            <a:srgbClr val="FFFFFF"/>
                          </a:solidFill>
                          <a:latin typeface="Yu Gothic"/>
                        </a:defRPr>
                      </a:pPr>
                      <a:r>
                        <a:t>確認できる内容</a:t>
                      </a:r>
                    </a:p>
                  </a:txBody>
                  <a:tcPr>
                    <a:solidFill>
                      <a:srgbClr val="2E2A72"/>
                    </a:solidFill>
                  </a:tcPr>
                </a:tc>
              </a:tr>
              <a:tr h="502920">
                <a:tc>
                  <a:txBody>
                    <a:bodyPr/>
                    <a:lstStyle/>
                    <a:p>
                      <a:pPr>
                        <a:defRPr sz="1200">
                          <a:solidFill>
                            <a:srgbClr val="1C1B33"/>
                          </a:solidFill>
                          <a:latin typeface="Yu Gothic"/>
                        </a:defRPr>
                      </a:pPr>
                      <a:r>
                        <a:t>AI Watch / Impress(2026-08-07)</a:t>
                      </a:r>
                    </a:p>
                  </a:txBody>
                  <a:tcPr>
                    <a:solidFill>
                      <a:srgbClr val="FFFFFF"/>
                    </a:solidFill>
                  </a:tcPr>
                </a:tc>
                <a:tc>
                  <a:txBody>
                    <a:bodyPr/>
                    <a:lstStyle/>
                    <a:p>
                      <a:pPr>
                        <a:defRPr sz="1200">
                          <a:solidFill>
                            <a:srgbClr val="1C1B33"/>
                          </a:solidFill>
                          <a:latin typeface="Yu Gothic"/>
                        </a:defRPr>
                      </a:pPr>
                      <a:r>
                        <a:t>機能の詳細・提供時期を報じる記事</a:t>
                      </a:r>
                    </a:p>
                  </a:txBody>
                  <a:tcPr>
                    <a:solidFill>
                      <a:srgbClr val="FFFFFF"/>
                    </a:solidFill>
                  </a:tcPr>
                </a:tc>
              </a:tr>
              <a:tr h="502920">
                <a:tc>
                  <a:txBody>
                    <a:bodyPr/>
                    <a:lstStyle/>
                    <a:p>
                      <a:pPr>
                        <a:defRPr sz="1200">
                          <a:solidFill>
                            <a:srgbClr val="1C1B33"/>
                          </a:solidFill>
                          <a:latin typeface="Yu Gothic"/>
                        </a:defRPr>
                      </a:pPr>
                      <a:r>
                        <a:t>ロボスタ / Robot Start(2026-08-07)</a:t>
                      </a:r>
                    </a:p>
                  </a:txBody>
                  <a:tcPr>
                    <a:solidFill>
                      <a:srgbClr val="F4F3FC"/>
                    </a:solidFill>
                  </a:tcPr>
                </a:tc>
                <a:tc>
                  <a:txBody>
                    <a:bodyPr/>
                    <a:lstStyle/>
                    <a:p>
                      <a:pPr>
                        <a:defRPr sz="1200">
                          <a:solidFill>
                            <a:srgbClr val="1C1B33"/>
                          </a:solidFill>
                          <a:latin typeface="Yu Gothic"/>
                        </a:defRPr>
                      </a:pPr>
                      <a:r>
                        <a:t>同内容を裏付ける報道</a:t>
                      </a:r>
                    </a:p>
                  </a:txBody>
                  <a:tcPr>
                    <a:solidFill>
                      <a:srgbClr val="F4F3FC"/>
                    </a:solidFill>
                  </a:tcPr>
                </a:tc>
              </a:tr>
              <a:tr h="502920">
                <a:tc>
                  <a:txBody>
                    <a:bodyPr/>
                    <a:lstStyle/>
                    <a:p>
                      <a:pPr>
                        <a:defRPr sz="1200">
                          <a:solidFill>
                            <a:srgbClr val="1C1B33"/>
                          </a:solidFill>
                          <a:latin typeface="Yu Gothic"/>
                        </a:defRPr>
                      </a:pPr>
                      <a:r>
                        <a:t>BUSINESS NETWORK</a:t>
                      </a:r>
                    </a:p>
                  </a:txBody>
                  <a:tcPr>
                    <a:solidFill>
                      <a:srgbClr val="FFFFFF"/>
                    </a:solidFill>
                  </a:tcPr>
                </a:tc>
                <a:tc>
                  <a:txBody>
                    <a:bodyPr/>
                    <a:lstStyle/>
                    <a:p>
                      <a:pPr>
                        <a:defRPr sz="1200">
                          <a:solidFill>
                            <a:srgbClr val="1C1B33"/>
                          </a:solidFill>
                          <a:latin typeface="Yu Gothic"/>
                        </a:defRPr>
                      </a:pPr>
                      <a:r>
                        <a:t>同内容を裏付ける報道</a:t>
                      </a:r>
                    </a:p>
                  </a:txBody>
                  <a:tcPr>
                    <a:solidFill>
                      <a:srgbClr val="FFFFFF"/>
                    </a:solidFill>
                  </a:tcPr>
                </a:tc>
              </a:tr>
              <a:tr h="502920">
                <a:tc>
                  <a:txBody>
                    <a:bodyPr/>
                    <a:lstStyle/>
                    <a:p>
                      <a:pPr>
                        <a:defRPr sz="1200">
                          <a:solidFill>
                            <a:srgbClr val="1C1B33"/>
                          </a:solidFill>
                          <a:latin typeface="Yu Gothic"/>
                        </a:defRPr>
                      </a:pPr>
                      <a:r>
                        <a:t>ソフトバンク公式ニュースリリース(2025-12-11)</a:t>
                      </a:r>
                    </a:p>
                  </a:txBody>
                  <a:tcPr>
                    <a:solidFill>
                      <a:srgbClr val="F4F3FC"/>
                    </a:solidFill>
                  </a:tcPr>
                </a:tc>
                <a:tc>
                  <a:txBody>
                    <a:bodyPr/>
                    <a:lstStyle/>
                    <a:p>
                      <a:pPr>
                        <a:defRPr sz="1200">
                          <a:solidFill>
                            <a:srgbClr val="1C1B33"/>
                          </a:solidFill>
                          <a:latin typeface="Yu Gothic"/>
                        </a:defRPr>
                      </a:pPr>
                      <a:r>
                        <a:t>AGENTIC STAR自体の提供開始時の一次発表</a:t>
                      </a:r>
                    </a:p>
                  </a:txBody>
                  <a:tcPr>
                    <a:solidFill>
                      <a:srgbClr val="F4F3FC"/>
                    </a:solidFill>
                  </a:tcPr>
                </a:tc>
              </a:tr>
              <a:tr h="502920">
                <a:tc>
                  <a:txBody>
                    <a:bodyPr/>
                    <a:lstStyle/>
                    <a:p>
                      <a:pPr>
                        <a:defRPr sz="1200">
                          <a:solidFill>
                            <a:srgbClr val="1C1B33"/>
                          </a:solidFill>
                          <a:latin typeface="Yu Gothic"/>
                        </a:defRPr>
                      </a:pPr>
                      <a:r>
                        <a:t>aismiley.co.jp</a:t>
                      </a:r>
                    </a:p>
                  </a:txBody>
                  <a:tcPr>
                    <a:solidFill>
                      <a:srgbClr val="FFFFFF"/>
                    </a:solidFill>
                  </a:tcPr>
                </a:tc>
                <a:tc>
                  <a:txBody>
                    <a:bodyPr/>
                    <a:lstStyle/>
                    <a:p>
                      <a:pPr>
                        <a:defRPr sz="1200">
                          <a:solidFill>
                            <a:srgbClr val="1C1B33"/>
                          </a:solidFill>
                          <a:latin typeface="Yu Gothic"/>
                        </a:defRPr>
                      </a:pPr>
                      <a:r>
                        <a:t>AGENTIC STARの機能・ツール数の詳細</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AI Watch / Impress(2026-08-07)ほか｜149本目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用語解説1: そもそも『AIコーディングツール』とは</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本題に入る前に、専門用語を整理します。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プログラムのコードを書く際に、AIが提案・補完・生成を行う開発支援ツールの総称</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エンジニアが日常的に使うエディタや開発環境に組み込まれる形で使われることが多い</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個人がそれぞれ契約・利用しているケースも多く、企業側から利用実態が見えにくいことがある</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今回の『LLM Gateway』は、この見えにくさに企業のガバナンスを及ぼす機能</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AI Watch / Impress(2026-08-07)ほか｜149本目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用語解説2: 『AGENTIC STAR』とは何か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続いて、今回の舞台となる基盤について整理します。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ソフトバンクが2025年12月11日に提供開始した、法人向けAIエージェントプラットフォーム</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自律的に業務を遂行するAIエージェントを一元管理し、SaaS型で利用できる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AIエージェントが自律的に使い分けられる80種類以上のツールを備える</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Web検索・文書・表計算・プレゼン資料・画像/動画・アプリケーション開発など多様な成果物を生成できるとされる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ソフトバンク公式ニュースリリース(2025-12-11) / aismiley.co.jp</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AI Watch / Impress(2026-08-07)ほか｜149本目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AGENTIC STARの規模感</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80種類以上</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AIエージェントが自律的に使い分けられるツールの数(2025年12月の提供開始時点の発表)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aismiley.co.jp / BUSINESS NETWORK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AGENTIC STARの提供モデル(2025年12月時点)</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モデル</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SaaSモデル</a:t>
                      </a:r>
                    </a:p>
                  </a:txBody>
                  <a:tcPr>
                    <a:solidFill>
                      <a:srgbClr val="FFFFFF"/>
                    </a:solidFill>
                  </a:tcPr>
                </a:tc>
                <a:tc>
                  <a:txBody>
                    <a:bodyPr/>
                    <a:lstStyle/>
                    <a:p>
                      <a:pPr>
                        <a:defRPr sz="1200">
                          <a:solidFill>
                            <a:srgbClr val="1C1B33"/>
                          </a:solidFill>
                          <a:latin typeface="Yu Gothic"/>
                        </a:defRPr>
                      </a:pPr>
                      <a:r>
                        <a:t>ブラウザ上でそのまま利用できる形態。今回のLLM Gatewayはこちらが対象</a:t>
                      </a:r>
                    </a:p>
                  </a:txBody>
                  <a:tcPr>
                    <a:solidFill>
                      <a:srgbClr val="FFFFFF"/>
                    </a:solidFill>
                  </a:tcPr>
                </a:tc>
              </a:tr>
              <a:tr h="502920">
                <a:tc>
                  <a:txBody>
                    <a:bodyPr/>
                    <a:lstStyle/>
                    <a:p>
                      <a:pPr>
                        <a:defRPr sz="1200">
                          <a:solidFill>
                            <a:srgbClr val="1C1B33"/>
                          </a:solidFill>
                          <a:latin typeface="Yu Gothic"/>
                        </a:defRPr>
                      </a:pPr>
                      <a:r>
                        <a:t>カスタマイズモデル</a:t>
                      </a:r>
                    </a:p>
                  </a:txBody>
                  <a:tcPr>
                    <a:solidFill>
                      <a:srgbClr val="F4F3FC"/>
                    </a:solidFill>
                  </a:tcPr>
                </a:tc>
                <a:tc>
                  <a:txBody>
                    <a:bodyPr/>
                    <a:lstStyle/>
                    <a:p>
                      <a:pPr>
                        <a:defRPr sz="1200">
                          <a:solidFill>
                            <a:srgbClr val="1C1B33"/>
                          </a:solidFill>
                          <a:latin typeface="Yu Gothic"/>
                        </a:defRPr>
                      </a:pPr>
                      <a:r>
                        <a:t>顧客の社内システム等にAIエージェント機能を実装する形態</a:t>
                      </a:r>
                    </a:p>
                  </a:txBody>
                  <a:tcPr>
                    <a:solidFill>
                      <a:srgbClr val="F4F3FC"/>
                    </a:solidFill>
                  </a:tcPr>
                </a:tc>
              </a:tr>
              <a:tr h="502920">
                <a:tc>
                  <a:txBody>
                    <a:bodyPr/>
                    <a:lstStyle/>
                    <a:p>
                      <a:pPr>
                        <a:defRPr sz="1200">
                          <a:solidFill>
                            <a:srgbClr val="1C1B33"/>
                          </a:solidFill>
                          <a:latin typeface="Yu Gothic"/>
                        </a:defRPr>
                      </a:pPr>
                      <a:r>
                        <a:t>外部接続モデル</a:t>
                      </a:r>
                    </a:p>
                  </a:txBody>
                  <a:tcPr>
                    <a:solidFill>
                      <a:srgbClr val="FFFFFF"/>
                    </a:solidFill>
                  </a:tcPr>
                </a:tc>
                <a:tc>
                  <a:txBody>
                    <a:bodyPr/>
                    <a:lstStyle/>
                    <a:p>
                      <a:pPr>
                        <a:defRPr sz="1200">
                          <a:solidFill>
                            <a:srgbClr val="1C1B33"/>
                          </a:solidFill>
                          <a:latin typeface="Yu Gothic"/>
                        </a:defRPr>
                      </a:pPr>
                      <a:r>
                        <a:t>2026年3月に展開予定とされていた(2025年12月時点の発表)</a:t>
                      </a:r>
                    </a:p>
                  </a:txBody>
                  <a:tcPr>
                    <a:solidFill>
                      <a:srgbClr val="FFFFFF"/>
                    </a:solidFill>
                  </a:tcPr>
                </a:tc>
              </a:tr>
              <a:tr h="502920">
                <a:tc>
                  <a:txBody>
                    <a:bodyPr/>
                    <a:lstStyle/>
                    <a:p>
                      <a:pPr>
                        <a:defRPr sz="1200">
                          <a:solidFill>
                            <a:srgbClr val="1C1B33"/>
                          </a:solidFill>
                          <a:latin typeface="Yu Gothic"/>
                        </a:defRPr>
                      </a:pPr>
                      <a:r>
                        <a:t>開発基盤提供モデル</a:t>
                      </a:r>
                    </a:p>
                  </a:txBody>
                  <a:tcPr>
                    <a:solidFill>
                      <a:srgbClr val="F4F3FC"/>
                    </a:solidFill>
                  </a:tcPr>
                </a:tc>
                <a:tc>
                  <a:txBody>
                    <a:bodyPr/>
                    <a:lstStyle/>
                    <a:p>
                      <a:pPr>
                        <a:defRPr sz="1200">
                          <a:solidFill>
                            <a:srgbClr val="1C1B33"/>
                          </a:solidFill>
                          <a:latin typeface="Yu Gothic"/>
                        </a:defRPr>
                      </a:pPr>
                      <a:r>
                        <a:t>同上、2026年3月に展開予定とされていた</a:t>
                      </a:r>
                    </a:p>
                  </a:txBody>
                  <a:tcPr>
                    <a:solidFill>
                      <a:srgbClr val="F4F3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ソフトバンク公式ニュースリリース(2025-12-11) / aismiley.co.jp</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AI Watch / Impress(2026-08-07)ほか｜149本目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AGENTIC STAR提供開始から今回の発表まで</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約8か月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2025年12月11日の提供開始から、2026年8月7日のLLM Gateway標準搭載発表までの期間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ソフトバンク公式ニュースリリース(2025-12-11) / AI Watch(2026-08-07)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用語解説3: 『LLM Gateway』とは何か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ここからが今回の本題です。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社員が使うAIコーディングツールと、企業が契約しているLLM(大規模言語モデル)サービスの間に置かれるゲートウェイ機能</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通信をこのゲートウェイに経由させることで、AGENTIC STARの管理・制御機能を適用できるようになる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AIコーディングツール側の使い勝手(操作感)は維持したまま、企業側のルールを適用できるとされる</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2026年8月上旬から提供開始され、既存の導入企業にも順次適用される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AI Watch / Impress(2026-08-07)</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AI Watch / Impress(2026-08-07)ほか｜149本目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LLM Gatewayの仕組み(概念図)</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社員が使うAIコーディングツール</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日常業務でのコード補完・生成</a:t>
            </a:r>
          </a:p>
        </p:txBody>
      </p:sp>
      <p:sp>
        <p:nvSpPr>
          <p:cNvPr id="10" name="Right Arrow 9"/>
          <p:cNvSpPr/>
          <p:nvPr/>
        </p:nvSpPr>
        <p:spPr>
          <a:xfrm>
            <a:off x="41573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LLM Gateway</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AGENTIC STARの管理・制御機能を適用する経由点</a:t>
            </a:r>
          </a:p>
        </p:txBody>
      </p:sp>
      <p:sp>
        <p:nvSpPr>
          <p:cNvPr id="15" name="Right Arrow 14"/>
          <p:cNvSpPr/>
          <p:nvPr/>
        </p:nvSpPr>
        <p:spPr>
          <a:xfrm>
            <a:off x="73577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企業が契約するLLMサービス</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実際にコード生成等を行うAIモデル</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3628C"/>
                </a:solidFill>
                <a:latin typeface="Yu Gothic"/>
              </a:rPr>
              <a:t>AIコーディングツールと契約LLMの間にLLM Gatewayを置くことで、通信を管理下に置く</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AI Watch / Impress(2026-08-07)</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AI Watch / Impress(2026-08-07)ほか｜149本目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通信の流れ</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E2A72"/>
                </a:solidFill>
                <a:latin typeface="Yu Gothic"/>
              </a:rPr>
              <a:t>① 利用</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社員が普段どおりAIコーディングツールを使う</a:t>
            </a:r>
          </a:p>
        </p:txBody>
      </p:sp>
      <p:sp>
        <p:nvSpPr>
          <p:cNvPr id="11" name="Chevron 10"/>
          <p:cNvSpPr/>
          <p:nvPr/>
        </p:nvSpPr>
        <p:spPr>
          <a:xfrm>
            <a:off x="3068040"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E2A72"/>
                </a:solidFill>
                <a:latin typeface="Yu Gothic"/>
              </a:rPr>
              <a:t>② 経由</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通信がLLM Gatewayを経由する</a:t>
            </a:r>
          </a:p>
        </p:txBody>
      </p:sp>
      <p:sp>
        <p:nvSpPr>
          <p:cNvPr id="17" name="Chevron 16"/>
          <p:cNvSpPr/>
          <p:nvPr/>
        </p:nvSpPr>
        <p:spPr>
          <a:xfrm>
            <a:off x="5978804"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E2A72"/>
                </a:solidFill>
                <a:latin typeface="Yu Gothic"/>
              </a:rPr>
              <a:t>③ 適用</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AGENTIC STARの管理・制御機能が適用される</a:t>
            </a:r>
          </a:p>
        </p:txBody>
      </p:sp>
      <p:sp>
        <p:nvSpPr>
          <p:cNvPr id="23" name="Chevron 22"/>
          <p:cNvSpPr/>
          <p:nvPr/>
        </p:nvSpPr>
        <p:spPr>
          <a:xfrm>
            <a:off x="8889568"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E2A72"/>
                </a:solidFill>
                <a:latin typeface="Yu Gothic"/>
              </a:rPr>
              <a:t>④ 到達</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契約しているLLMサービスに到達し応答が返る</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AI Watch / Impress(2026-08-07)ほか｜149本目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LLM Gatewayが適用する4つの管理機能</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822960"/>
          </a:xfrm>
          <a:prstGeom prst="rect">
            <a:avLst/>
          </a:prstGeom>
          <a:noFill/>
        </p:spPr>
        <p:txBody>
          <a:bodyPr wrap="square" anchor="t" lIns="0" rIns="0" tIns="0" bIns="0">
            <a:spAutoFit/>
          </a:bodyPr>
          <a:lstStyle/>
          <a:p>
            <a:pPr algn="l"/>
            <a:r>
              <a:rPr sz="3400" b="1">
                <a:solidFill>
                  <a:srgbClr val="17C3B2"/>
                </a:solidFill>
                <a:latin typeface="Yu Gothic"/>
              </a:rPr>
              <a:t>1</a:t>
            </a:r>
          </a:p>
        </p:txBody>
      </p:sp>
      <p:sp>
        <p:nvSpPr>
          <p:cNvPr id="9" name="TextBox 8"/>
          <p:cNvSpPr txBox="1"/>
          <p:nvPr/>
        </p:nvSpPr>
        <p:spPr>
          <a:xfrm>
            <a:off x="731520" y="2834640"/>
            <a:ext cx="2030653" cy="548640"/>
          </a:xfrm>
          <a:prstGeom prst="rect">
            <a:avLst/>
          </a:prstGeom>
          <a:noFill/>
        </p:spPr>
        <p:txBody>
          <a:bodyPr wrap="square" anchor="t" lIns="0" rIns="0" tIns="0" bIns="0">
            <a:spAutoFit/>
          </a:bodyPr>
          <a:lstStyle/>
          <a:p>
            <a:pPr algn="l"/>
            <a:r>
              <a:rPr sz="1600" b="1">
                <a:solidFill>
                  <a:srgbClr val="2E2A72"/>
                </a:solidFill>
                <a:latin typeface="Yu Gothic"/>
              </a:rPr>
              <a:t>ガードレール</a:t>
            </a:r>
          </a:p>
        </p:txBody>
      </p:sp>
      <p:sp>
        <p:nvSpPr>
          <p:cNvPr id="10" name="TextBox 9"/>
          <p:cNvSpPr txBox="1"/>
          <p:nvPr/>
        </p:nvSpPr>
        <p:spPr>
          <a:xfrm>
            <a:off x="731520" y="3520440"/>
            <a:ext cx="2030653"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AIコーディングツールの利用に一定の制約・ルールを設ける仕組み</a:t>
            </a:r>
          </a:p>
        </p:txBody>
      </p:sp>
      <p:sp>
        <p:nvSpPr>
          <p:cNvPr id="11" name="Rounded Rectangle 10"/>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56533" y="1554480"/>
            <a:ext cx="2579293"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853" y="1828800"/>
            <a:ext cx="2030653" cy="822960"/>
          </a:xfrm>
          <a:prstGeom prst="rect">
            <a:avLst/>
          </a:prstGeom>
          <a:noFill/>
        </p:spPr>
        <p:txBody>
          <a:bodyPr wrap="square" anchor="t" lIns="0" rIns="0" tIns="0" bIns="0">
            <a:spAutoFit/>
          </a:bodyPr>
          <a:lstStyle/>
          <a:p>
            <a:pPr algn="l"/>
            <a:r>
              <a:rPr sz="3400" b="1">
                <a:solidFill>
                  <a:srgbClr val="17C3B2"/>
                </a:solidFill>
                <a:latin typeface="Yu Gothic"/>
              </a:rPr>
              <a:t>2</a:t>
            </a:r>
          </a:p>
        </p:txBody>
      </p:sp>
      <p:sp>
        <p:nvSpPr>
          <p:cNvPr id="14" name="TextBox 13"/>
          <p:cNvSpPr txBox="1"/>
          <p:nvPr/>
        </p:nvSpPr>
        <p:spPr>
          <a:xfrm>
            <a:off x="3630853" y="2834640"/>
            <a:ext cx="2030653" cy="548640"/>
          </a:xfrm>
          <a:prstGeom prst="rect">
            <a:avLst/>
          </a:prstGeom>
          <a:noFill/>
        </p:spPr>
        <p:txBody>
          <a:bodyPr wrap="square" anchor="t" lIns="0" rIns="0" tIns="0" bIns="0">
            <a:spAutoFit/>
          </a:bodyPr>
          <a:lstStyle/>
          <a:p>
            <a:pPr algn="l"/>
            <a:r>
              <a:rPr sz="1600" b="1">
                <a:solidFill>
                  <a:srgbClr val="2E2A72"/>
                </a:solidFill>
                <a:latin typeface="Yu Gothic"/>
              </a:rPr>
              <a:t>機密情報・個人情報の取り扱い制限</a:t>
            </a:r>
          </a:p>
        </p:txBody>
      </p:sp>
      <p:sp>
        <p:nvSpPr>
          <p:cNvPr id="15" name="TextBox 14"/>
          <p:cNvSpPr txBox="1"/>
          <p:nvPr/>
        </p:nvSpPr>
        <p:spPr>
          <a:xfrm>
            <a:off x="3630853" y="3520440"/>
            <a:ext cx="2030653"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機密情報や個人情報がAIツールに渡ることを制限する</a:t>
            </a:r>
          </a:p>
        </p:txBody>
      </p:sp>
      <p:sp>
        <p:nvSpPr>
          <p:cNvPr id="16" name="Rounded Rectangle 15"/>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55867" y="1554480"/>
            <a:ext cx="2579293"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0187" y="1828800"/>
            <a:ext cx="2030653" cy="822960"/>
          </a:xfrm>
          <a:prstGeom prst="rect">
            <a:avLst/>
          </a:prstGeom>
          <a:noFill/>
        </p:spPr>
        <p:txBody>
          <a:bodyPr wrap="square" anchor="t" lIns="0" rIns="0" tIns="0" bIns="0">
            <a:spAutoFit/>
          </a:bodyPr>
          <a:lstStyle/>
          <a:p>
            <a:pPr algn="l"/>
            <a:r>
              <a:rPr sz="3400" b="1">
                <a:solidFill>
                  <a:srgbClr val="17C3B2"/>
                </a:solidFill>
                <a:latin typeface="Yu Gothic"/>
              </a:rPr>
              <a:t>3</a:t>
            </a:r>
          </a:p>
        </p:txBody>
      </p:sp>
      <p:sp>
        <p:nvSpPr>
          <p:cNvPr id="19" name="TextBox 18"/>
          <p:cNvSpPr txBox="1"/>
          <p:nvPr/>
        </p:nvSpPr>
        <p:spPr>
          <a:xfrm>
            <a:off x="6530187" y="2834640"/>
            <a:ext cx="2030653" cy="548640"/>
          </a:xfrm>
          <a:prstGeom prst="rect">
            <a:avLst/>
          </a:prstGeom>
          <a:noFill/>
        </p:spPr>
        <p:txBody>
          <a:bodyPr wrap="square" anchor="t" lIns="0" rIns="0" tIns="0" bIns="0">
            <a:spAutoFit/>
          </a:bodyPr>
          <a:lstStyle/>
          <a:p>
            <a:pPr algn="l"/>
            <a:r>
              <a:rPr sz="1600" b="1">
                <a:solidFill>
                  <a:srgbClr val="2E2A72"/>
                </a:solidFill>
                <a:latin typeface="Yu Gothic"/>
              </a:rPr>
              <a:t>利用状況のログ記録・管理</a:t>
            </a:r>
          </a:p>
        </p:txBody>
      </p:sp>
      <p:sp>
        <p:nvSpPr>
          <p:cNvPr id="20" name="TextBox 19"/>
          <p:cNvSpPr txBox="1"/>
          <p:nvPr/>
        </p:nvSpPr>
        <p:spPr>
          <a:xfrm>
            <a:off x="6530187" y="3520440"/>
            <a:ext cx="2030653"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誰が・いつ・どのように使ったかを記録・管理できるようにする</a:t>
            </a:r>
          </a:p>
        </p:txBody>
      </p:sp>
      <p:sp>
        <p:nvSpPr>
          <p:cNvPr id="21" name="Rounded Rectangle 20"/>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55201" y="1554480"/>
            <a:ext cx="2579293"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9521" y="1828800"/>
            <a:ext cx="2030653" cy="822960"/>
          </a:xfrm>
          <a:prstGeom prst="rect">
            <a:avLst/>
          </a:prstGeom>
          <a:noFill/>
        </p:spPr>
        <p:txBody>
          <a:bodyPr wrap="square" anchor="t" lIns="0" rIns="0" tIns="0" bIns="0">
            <a:spAutoFit/>
          </a:bodyPr>
          <a:lstStyle/>
          <a:p>
            <a:pPr algn="l"/>
            <a:r>
              <a:rPr sz="3400" b="1">
                <a:solidFill>
                  <a:srgbClr val="17C3B2"/>
                </a:solidFill>
                <a:latin typeface="Yu Gothic"/>
              </a:rPr>
              <a:t>4</a:t>
            </a:r>
          </a:p>
        </p:txBody>
      </p:sp>
      <p:sp>
        <p:nvSpPr>
          <p:cNvPr id="24" name="TextBox 23"/>
          <p:cNvSpPr txBox="1"/>
          <p:nvPr/>
        </p:nvSpPr>
        <p:spPr>
          <a:xfrm>
            <a:off x="9429521" y="2834640"/>
            <a:ext cx="2030653" cy="548640"/>
          </a:xfrm>
          <a:prstGeom prst="rect">
            <a:avLst/>
          </a:prstGeom>
          <a:noFill/>
        </p:spPr>
        <p:txBody>
          <a:bodyPr wrap="square" anchor="t" lIns="0" rIns="0" tIns="0" bIns="0">
            <a:spAutoFit/>
          </a:bodyPr>
          <a:lstStyle/>
          <a:p>
            <a:pPr algn="l"/>
            <a:r>
              <a:rPr sz="1600" b="1">
                <a:solidFill>
                  <a:srgbClr val="2E2A72"/>
                </a:solidFill>
                <a:latin typeface="Yu Gothic"/>
              </a:rPr>
              <a:t>利用可能モデルの管理</a:t>
            </a:r>
          </a:p>
        </p:txBody>
      </p:sp>
      <p:sp>
        <p:nvSpPr>
          <p:cNvPr id="25" name="TextBox 24"/>
          <p:cNvSpPr txBox="1"/>
          <p:nvPr/>
        </p:nvSpPr>
        <p:spPr>
          <a:xfrm>
            <a:off x="9429521" y="3520440"/>
            <a:ext cx="2030653"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どのLLMを使ってよいかを企業側で管理できるようにする</a:t>
            </a:r>
          </a:p>
        </p:txBody>
      </p:sp>
      <p:sp>
        <p:nvSpPr>
          <p:cNvPr id="26" name="TextBox 2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AI Watch / Impress(2026-08-07)</a:t>
            </a:r>
          </a:p>
        </p:txBody>
      </p:sp>
      <p:sp>
        <p:nvSpPr>
          <p:cNvPr id="27" name="TextBox 2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AI Watch / Impress(2026-08-07)ほか｜149本目</a:t>
            </a:r>
          </a:p>
        </p:txBody>
      </p:sp>
      <p:sp>
        <p:nvSpPr>
          <p:cNvPr id="28" name="TextBox 2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導入前 / 導入後</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LLM Gateway導入前</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AIコーディングツールの利用実態が会社から見えにくい</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機密情報の取り扱いは個々のツール・利用者任せになりがち</a:t>
            </a:r>
          </a:p>
        </p:txBody>
      </p:sp>
      <p:sp>
        <p:nvSpPr>
          <p:cNvPr id="13" name="Oval 12"/>
          <p:cNvSpPr/>
          <p:nvPr/>
        </p:nvSpPr>
        <p:spPr>
          <a:xfrm>
            <a:off x="777240"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利用ルールを一律に適用する手段が乏しい</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LLM Gateway導入後</a:t>
            </a:r>
          </a:p>
        </p:txBody>
      </p:sp>
      <p:sp>
        <p:nvSpPr>
          <p:cNvPr id="18" name="Oval 17"/>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ガードレール・ログ記録等の管理機能を適用できる</a:t>
            </a:r>
          </a:p>
        </p:txBody>
      </p:sp>
      <p:sp>
        <p:nvSpPr>
          <p:cNvPr id="20" name="Oval 19"/>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機密情報・個人情報の取り扱いに制限をかけられる</a:t>
            </a:r>
          </a:p>
        </p:txBody>
      </p:sp>
      <p:sp>
        <p:nvSpPr>
          <p:cNvPr id="22" name="Oval 21"/>
          <p:cNvSpPr/>
          <p:nvPr/>
        </p:nvSpPr>
        <p:spPr>
          <a:xfrm>
            <a:off x="6598767"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ツール自体の使い勝手は維持されるとされる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AI Watch / Impress(2026-08-07)ほか｜149本目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提供開始時期</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2026年8月上旬</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SaaS版『AGENTIC STAR』にLLM Gatewayが標準搭載される時期。既存の導入企業にも順次適用される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AI Watch / Impress(2026-08-07)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対象範囲: 既存導入企業にも順次適用</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対象範囲を正確に押さえておきます。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対象はAGENTIC STARの『SaaS版』であることが明記されている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新規契約企業だけでなく、既存の導入企業にも順次適用される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『順次』という表現にとどまり、全企業への適用完了時期は明言されていない</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追加費用の有無・価格体系については、今回の発表内容だけでは確認できない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AI Watch / Impress(2026-08-07)</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AI Watch / Impress(2026-08-07)ほか｜149本目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これは企業(情報システム部門)にとって何を意味するか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導入</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追加設定なしで管理機能が使える可能性</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標準搭載のため、既存契約なら追加導入の手間が小さい可能性があるが価格詳細は不明</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運用</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AIコーディングツールの利用実態を把握しやすくなる</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ログ記録・モデル管理により、これまで見えにくかった利用状況を把握できる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確認事項</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対応ツールの範囲を確認する必要がある</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どのAIコーディングツールが対象になるかは、本発表内では明記されていない</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AI Watch / Impress(2026-08-07)ほか｜149本目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これは従業員にとって何を意味するか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変化</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利用状況が会社から見える形になる</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ログ記録・管理により、個人の利用実態が可視化される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継続性</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ツール自体の使い勝手は維持されるとされる</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発表内容では、AIコーディングツールの使用感自体は変えない設計とされている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注意点</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社内ルールの範囲内での利用が前提になる</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ガードレール・機密情報制限が適用されるため、これまでの使い方から変わる可能性がある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AI Watch / Impress(2026-08-07)ほか｜149本目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正直に『不明』として扱う項目です。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LLM Gatewayが具体的にどのAIコーディングツールに対応しているか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現時点でAGENTIC STAR(またはLLM Gateway)を利用している企業の具体的な数</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LLM Gatewayの価格・費用体系(追加料金の有無を含む)</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既存顧客への展開が完了する正確な時期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research.md参照</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AI Watch / Impress(2026-08-07)ほか｜149本目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今後の展開(推測、概念図)</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現在(2026年8月上旬〜)</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SaaS版へのLLM Gateway標準搭載が始まる</a:t>
            </a:r>
          </a:p>
        </p:txBody>
      </p:sp>
      <p:sp>
        <p:nvSpPr>
          <p:cNvPr id="10" name="Right Arrow 9"/>
          <p:cNvSpPr/>
          <p:nvPr/>
        </p:nvSpPr>
        <p:spPr>
          <a:xfrm>
            <a:off x="41573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今後(推測)</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対応AIコーディングツールの拡大が公表される可能性</a:t>
            </a:r>
          </a:p>
        </p:txBody>
      </p:sp>
      <p:sp>
        <p:nvSpPr>
          <p:cNvPr id="15" name="Right Arrow 14"/>
          <p:cNvSpPr/>
          <p:nvPr/>
        </p:nvSpPr>
        <p:spPr>
          <a:xfrm>
            <a:off x="73577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将来像(推測)</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エージェント利用とツール利用を一元的にガバナンスする基盤へ</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3628C"/>
                </a:solidFill>
                <a:latin typeface="Yu Gothic"/>
              </a:rPr>
              <a:t>この図は当社の推測であり、ソフトバンクの公式ロードマップそのものではない</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AI Watch / Impress(2026-08-07)ほか｜149本目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今後、論点になりうる点(推測)</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推測</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対応ツールの拡大競争</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他のAIエージェント基盤も同種のガバナンス機能を打ち出す可能性</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推測</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従業員の受け止め方</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『見える化』を前向きに受け止めるか、監視と捉えるかは職場によって分かれる可能性</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推測</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価格・費用の開示</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追加費用の有無が今後明らかになるかどうか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AI Watch / Impress(2026-08-07)ほか｜149本目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読み解く上での注意点</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誇張しないための整理です。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タイトル・冒頭の見出しは注目を集める表現を使っているが、本文の内容自体は誇張していない</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本機能は正当な企業ガバナンス・コンプライアンスのための機能であり、『社員を監視するだけの機能』と単純化しない</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対応ツールの範囲・価格・導入企業数など、確認できていない点は不明として明記している</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続報が出た場合は、本テーマの内容を更新する必要がある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AI Watch / Impress(2026-08-07)ほか｜149本目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特定製品推奨に関する注記</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本テーマの扱い方に関する注記です。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本テーマはソフトバンク自社製品(AGENTIC STAR)の機能発表を扱っている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特定企業・製品の利用を強く推奨する結論にはしていない</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AGENTIC STAR以外の企業も同種のガバナンス機能を提供している可能性があるが、本テーマでは比較調査は行っていない</a:t>
            </a:r>
          </a:p>
        </p:txBody>
      </p:sp>
      <p:sp>
        <p:nvSpPr>
          <p:cNvPr id="13" name="Oval 12"/>
          <p:cNvSpPr/>
          <p:nvPr/>
        </p:nvSpPr>
        <p:spPr>
          <a:xfrm>
            <a:off x="457200" y="445312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あくまで公表された事実の整理として扱う</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AI Watch / Impress(2026-08-07)ほか｜149本目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『監視』ではなく『ガバナンス』という整理</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本発表が意図する位置づけ(公表内容)</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企業のコーディングルールに沿った運用の実現</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ガードレール・機密情報制限・ログ管理・モデル管理</a:t>
            </a:r>
          </a:p>
        </p:txBody>
      </p:sp>
      <p:sp>
        <p:nvSpPr>
          <p:cNvPr id="13" name="Oval 12"/>
          <p:cNvSpPr/>
          <p:nvPr/>
        </p:nvSpPr>
        <p:spPr>
          <a:xfrm>
            <a:off x="777240"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AIコーディングツールの使い勝手は維持</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本発表からは断定できない内容</a:t>
            </a:r>
          </a:p>
        </p:txBody>
      </p:sp>
      <p:sp>
        <p:nvSpPr>
          <p:cNvPr id="18" name="Oval 17"/>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従業員個人への評価・査定への利用</a:t>
            </a:r>
          </a:p>
        </p:txBody>
      </p:sp>
      <p:sp>
        <p:nvSpPr>
          <p:cNvPr id="20" name="Oval 19"/>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監視を目的とした機能であるという明言</a:t>
            </a:r>
          </a:p>
        </p:txBody>
      </p:sp>
      <p:sp>
        <p:nvSpPr>
          <p:cNvPr id="22" name="Oval 21"/>
          <p:cNvSpPr/>
          <p:nvPr/>
        </p:nvSpPr>
        <p:spPr>
          <a:xfrm>
            <a:off x="6598767"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対応ツールごとの詳細な制御範囲</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AI Watch / Impress(2026-08-07)ほか｜149本目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今後、注目しておきたいポイント</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対応ツールの公表</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具体的なAIコーディングツール名が明らかになるかどうか</a:t>
            </a:r>
          </a:p>
        </p:txBody>
      </p:sp>
      <p:sp>
        <p:nvSpPr>
          <p:cNvPr id="11" name="Chevron 10"/>
          <p:cNvSpPr/>
          <p:nvPr/>
        </p:nvSpPr>
        <p:spPr>
          <a:xfrm>
            <a:off x="4038295"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導入企業数の開示</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利用企業数や導入事例が公表されるかどうか</a:t>
            </a:r>
          </a:p>
        </p:txBody>
      </p:sp>
      <p:sp>
        <p:nvSpPr>
          <p:cNvPr id="17" name="Chevron 16"/>
          <p:cNvSpPr/>
          <p:nvPr/>
        </p:nvSpPr>
        <p:spPr>
          <a:xfrm>
            <a:off x="7919313"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E2A72"/>
                </a:solidFill>
                <a:latin typeface="Yu Gothic"/>
              </a:rPr>
              <a:t>価格・費用体系</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追加費用の有無が明らかになるかどうか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AI Watch / Impress(2026-08-07)ほか｜149本目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2026/8/7 発表</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ソフトバンクが『AGENTIC STAR』SaaS版に『LLM Gateway』を標準搭載すると発表。2026年8月上旬から提供開始し、既存顧客にも順次適用。対応ツール・価格・企業数は非公表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AI Watch / Impress(2026-08-07)ほか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主な出典一覧</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メディア/機関</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AI Watch / Impress(2026-08-07)</a:t>
                      </a:r>
                    </a:p>
                  </a:txBody>
                  <a:tcPr>
                    <a:solidFill>
                      <a:srgbClr val="FFFFFF"/>
                    </a:solidFill>
                  </a:tcPr>
                </a:tc>
                <a:tc>
                  <a:txBody>
                    <a:bodyPr/>
                    <a:lstStyle/>
                    <a:p>
                      <a:pPr>
                        <a:defRPr sz="1200">
                          <a:solidFill>
                            <a:srgbClr val="1C1B33"/>
                          </a:solidFill>
                          <a:latin typeface="Yu Gothic"/>
                        </a:defRPr>
                      </a:pPr>
                      <a:r>
                        <a:t>機能詳細・提供時期を報じる一次に近い記事</a:t>
                      </a:r>
                    </a:p>
                  </a:txBody>
                  <a:tcPr>
                    <a:solidFill>
                      <a:srgbClr val="FFFFFF"/>
                    </a:solidFill>
                  </a:tcPr>
                </a:tc>
              </a:tr>
              <a:tr h="502920">
                <a:tc>
                  <a:txBody>
                    <a:bodyPr/>
                    <a:lstStyle/>
                    <a:p>
                      <a:pPr>
                        <a:defRPr sz="1200">
                          <a:solidFill>
                            <a:srgbClr val="1C1B33"/>
                          </a:solidFill>
                          <a:latin typeface="Yu Gothic"/>
                        </a:defRPr>
                      </a:pPr>
                      <a:r>
                        <a:t>ロボスタ / Robot Start(2026-08-07)</a:t>
                      </a:r>
                    </a:p>
                  </a:txBody>
                  <a:tcPr>
                    <a:solidFill>
                      <a:srgbClr val="F4F3FC"/>
                    </a:solidFill>
                  </a:tcPr>
                </a:tc>
                <a:tc>
                  <a:txBody>
                    <a:bodyPr/>
                    <a:lstStyle/>
                    <a:p>
                      <a:pPr>
                        <a:defRPr sz="1200">
                          <a:solidFill>
                            <a:srgbClr val="1C1B33"/>
                          </a:solidFill>
                          <a:latin typeface="Yu Gothic"/>
                        </a:defRPr>
                      </a:pPr>
                      <a:r>
                        <a:t>同内容を裏付ける報道</a:t>
                      </a:r>
                    </a:p>
                  </a:txBody>
                  <a:tcPr>
                    <a:solidFill>
                      <a:srgbClr val="F4F3FC"/>
                    </a:solidFill>
                  </a:tcPr>
                </a:tc>
              </a:tr>
              <a:tr h="502920">
                <a:tc>
                  <a:txBody>
                    <a:bodyPr/>
                    <a:lstStyle/>
                    <a:p>
                      <a:pPr>
                        <a:defRPr sz="1200">
                          <a:solidFill>
                            <a:srgbClr val="1C1B33"/>
                          </a:solidFill>
                          <a:latin typeface="Yu Gothic"/>
                        </a:defRPr>
                      </a:pPr>
                      <a:r>
                        <a:t>BUSINESS NETWORK</a:t>
                      </a:r>
                    </a:p>
                  </a:txBody>
                  <a:tcPr>
                    <a:solidFill>
                      <a:srgbClr val="FFFFFF"/>
                    </a:solidFill>
                  </a:tcPr>
                </a:tc>
                <a:tc>
                  <a:txBody>
                    <a:bodyPr/>
                    <a:lstStyle/>
                    <a:p>
                      <a:pPr>
                        <a:defRPr sz="1200">
                          <a:solidFill>
                            <a:srgbClr val="1C1B33"/>
                          </a:solidFill>
                          <a:latin typeface="Yu Gothic"/>
                        </a:defRPr>
                      </a:pPr>
                      <a:r>
                        <a:t>同内容を裏付ける報道</a:t>
                      </a:r>
                    </a:p>
                  </a:txBody>
                  <a:tcPr>
                    <a:solidFill>
                      <a:srgbClr val="FFFFFF"/>
                    </a:solidFill>
                  </a:tcPr>
                </a:tc>
              </a:tr>
              <a:tr h="502920">
                <a:tc>
                  <a:txBody>
                    <a:bodyPr/>
                    <a:lstStyle/>
                    <a:p>
                      <a:pPr>
                        <a:defRPr sz="1200">
                          <a:solidFill>
                            <a:srgbClr val="1C1B33"/>
                          </a:solidFill>
                          <a:latin typeface="Yu Gothic"/>
                        </a:defRPr>
                      </a:pPr>
                      <a:r>
                        <a:t>ソフトバンク公式ニュースリリース(2025-12-11)</a:t>
                      </a:r>
                    </a:p>
                  </a:txBody>
                  <a:tcPr>
                    <a:solidFill>
                      <a:srgbClr val="F4F3FC"/>
                    </a:solidFill>
                  </a:tcPr>
                </a:tc>
                <a:tc>
                  <a:txBody>
                    <a:bodyPr/>
                    <a:lstStyle/>
                    <a:p>
                      <a:pPr>
                        <a:defRPr sz="1200">
                          <a:solidFill>
                            <a:srgbClr val="1C1B33"/>
                          </a:solidFill>
                          <a:latin typeface="Yu Gothic"/>
                        </a:defRPr>
                      </a:pPr>
                      <a:r>
                        <a:t>AGENTIC STAR自体の提供開始の一次発表</a:t>
                      </a:r>
                    </a:p>
                  </a:txBody>
                  <a:tcPr>
                    <a:solidFill>
                      <a:srgbClr val="F4F3FC"/>
                    </a:solidFill>
                  </a:tcPr>
                </a:tc>
              </a:tr>
              <a:tr h="502920">
                <a:tc>
                  <a:txBody>
                    <a:bodyPr/>
                    <a:lstStyle/>
                    <a:p>
                      <a:pPr>
                        <a:defRPr sz="1200">
                          <a:solidFill>
                            <a:srgbClr val="1C1B33"/>
                          </a:solidFill>
                          <a:latin typeface="Yu Gothic"/>
                        </a:defRPr>
                      </a:pPr>
                      <a:r>
                        <a:t>aismiley.co.jp</a:t>
                      </a:r>
                    </a:p>
                  </a:txBody>
                  <a:tcPr>
                    <a:solidFill>
                      <a:srgbClr val="FFFFFF"/>
                    </a:solidFill>
                  </a:tcPr>
                </a:tc>
                <a:tc>
                  <a:txBody>
                    <a:bodyPr/>
                    <a:lstStyle/>
                    <a:p>
                      <a:pPr>
                        <a:defRPr sz="1200">
                          <a:solidFill>
                            <a:srgbClr val="1C1B33"/>
                          </a:solidFill>
                          <a:latin typeface="Yu Gothic"/>
                        </a:defRPr>
                      </a:pPr>
                      <a:r>
                        <a:t>AGENTIC STARのツール数・機能の詳細</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AI Watch / Impress(2026-08-07)ほか｜149本目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『監視』ではなく『ガバナンス』。その線引きを、正確に伝えたい。</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6D9F5"/>
                </a:solidFill>
                <a:latin typeface="Yu Gothic"/>
              </a:rPr>
              <a:t>対応ツールの具体名や価格が明らかになれば、続報として出典付きでお届けします。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E2A72"/>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