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会計AIスタートアップRilletが、2026年8月18日にシリーズCラウンドで1億ドルを調達し、評価額10億ドルのユニコーンに到達したと発表しました。創業からわずか2年、しかも1年で3回目の資金調達です。今日はこの数字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結論から確認します。Rilletは今回のシリーズCラウンドでICONIQを主導投資家として1億ドルを調達し、評価額は10億ドルのユニコーンに到達しました。ここから数字を1つずつ出典付きで見ていきます。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今日は6つの流れでお伝えします。資金調達の数字から投資家一覧、1年で3回という成長の経緯、顧客層まで、正確に数字を引用しながら整理します。誇張せず、確認できなかったことは正直にお伝えします。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発表翌日という新しさに加えて、創業2年でユニコーン到達という際立った数字、1年で3回目という異例の資金調達ペースがあります。投資家も既存・新規あわせて9社と多い点も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Rilletという企業の前提を確認します。企業の経理・会計業務をAIで支援する会計AIスタートアップで、創業からおよそ2年というごく短い期間で今回の評価額10億ドル到達に至りました。本編は資金調達・成長の事実紹介であり、製品利用を勧める内容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シリーズCとは、シード・シリーズA・シリーズBに続く段階の資金調達です。ユニコーンは評価額10億ドル以上に到達した未上場企業を指し、ARRは年間ベースの安定収益の指標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今回の調達額です。シリーズCラウンドで1億ドルを調達しました。このラウンドはICONIQが主導しています。次に、調達の詳細と参加した投資家を確認します。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シリーズCラウンドの概要を一覧にしました。2026年8月18日発表、調達額1億ドル、評価額10億ドル。ICONIQが主導しました。次に、参加した投資家の一覧を確認します。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主導投資家を確認します。今回のシリーズCラウンドはICONIQが主導しました。次に、既存投資家・新規投資家それぞれの参加状況を見ていきます。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既存投資家の継続参加を一覧にしました。Sequoia Capital・Andreessen Horowitz・Oak HC/FTの3社が継続して参加しています。次に、新規投資家の顔ぶれを確認します。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新規投資家の顔ぶれです。Bain Capital Ventures・Sequoia Global Equities・Battery Ventures・FirstMark・Scale Venture Partners・Creandumの6社が新規に参加しました。各投資家の具体的な出資額は非公表です。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投資家をまとめました。既存3社が継続参加し、新規6社が参加。合計で判明しているだけで9社がこのラウンドに参加しています。次に、1年で3回という資金調達のペースを確認します。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資金調達のペースを確認します。今回のシリーズCは、過去1年間で3回目の資金調達となります。異例のスピードでラウンドを重ねてきました。次に、その経緯を時系列で見ていきます。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年間の経緯を時系列で整理しました。前年夏にシリーズA、数週間後にシリーズB、その間に新規ARRが四半期で倍増しました。今回の調達直前の3か月間でも新規ARRが再び倍増したとしています。次に、累計調達額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累計調達額です。3回の資金調達を通じて、累計調達額は2億ドルを突破しました。正確な内訳(2億何千万ドルか)までは本調査の範囲では確認できていません。次に、ARRの伸びについて正直にお伝えします。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の絶対額について正直にお伝えします。四半期で倍増したという比率のみが確認できており、具体的な絶対額は本調査の範囲では確認できていません。累計調達額も『2億ドルを突破』という表現のみで、正確な内訳は不明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現在の顧客数です。Rilletの顧客数は600社を超えているとしています。次に、具体的な顧客層を確認します。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顧客層を3つの観点でまとめました。顧客数は600社超、Neuralink・Skild AI・Mercorなど急成長中のAI企業が含まれ、非テック企業への浸透も進んでいるとされています。次に、具体的な顧客企業名を確認します。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顧客企業の一例です。Neuralink・Skild AI・Mercorといった急成長中のAI企業が、Rilletの顧客として挙げられています。次に、非テック企業への浸透について正直にお伝えします。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非テック企業への浸透について正直にお伝えします。進んでいるとされていますが、具体的な業種・企業名、顧客600社超の内訳は本調査の範囲では確認できていません。確認できた数値のみを紹介し、推測で補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最大の注意点をお伝えします。本テーマの数字・事実は、すべてFortuneの独占取材記事1本のみを出典としています。本調査の範囲では、これを裏付ける独立した他メディアの報道は確認できていません。複数媒体による相互検証ができていない点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見出しの印象と実際に確認できている内容にはギャップが生まれがちです。情報源はFortuneの独占記事1本のみであり、累計調達額・ARRの絶対額、製品機能の詳細、日本展開の計画などは確認できていません。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このニュースが読者にとって意味することをまとめました。AI業界の動向を追う立場、業務効率化ツールを検討する立場、投資・スタートアップを追う立場、それぞれで意識したい視点です。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情報を確認・活用する際のチェックポイントです。評価額・調達額は資金調達時点の数字であり、収益性を直接示すものではありません。情報源が単一である点を踏まえ、他媒体の追随報道も継続して確認することが望ましい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詳細についても正直にお伝えします。製品機能の詳細、日本市場展開の計画有無、次回調達や上場の計画は、いずれも本調査の範囲では確認できていません。将来の計画について推測・断定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確認できたことと確認できていないことを一覧にしました。数字を推測で埋めず、正直に整理しています。詳細はresearch.mdをご確認ください。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発表は着手日の前日にあたる2026年8月18日でした。当社の鮮度基準(着手日を含めて2日以内)を満たしています。次に、本編最後の注意点として単一情報源であることを改めて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締めくくりとして、もう一度お伝えします。本テーマの数字・投資家名・顧客企業名は、すべてFortuneの独占記事1本に基づいています。複数の独立した情報源による相互検証ができていないため、参考情報として扱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本編で使った出典を一覧にしました。本テーマの出典はFortuneの独占記事1本のみであり、他媒体での裏付け報道は本調査の範囲では確認できていません。詳細はresearch.mdをご確認ください。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RilletがシリーズCで1億ドルを調達し評価額10億ドルのユニコーンに到達した件を、投資家一覧・1年で3回という成長の経緯・顧客層まで正確に整理してお伝えしました。情報源がFortuneの独占記事1本のみである点も含めて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まさかのユニコーン入り。</a:t>
            </a:r>
          </a:p>
          <a:p>
            <a:pPr algn="l">
              <a:lnSpc>
                <a:spcPct val="115000"/>
              </a:lnSpc>
            </a:pPr>
            <a:r>
              <a:rPr sz="4200" b="1">
                <a:solidFill>
                  <a:srgbClr val="FFFFFF"/>
                </a:solidFill>
                <a:latin typeface="Yu Gothic"/>
              </a:rPr>
              <a:t>創業2年の会計AI企業Rilletが</a:t>
            </a:r>
          </a:p>
          <a:p>
            <a:pPr algn="l">
              <a:lnSpc>
                <a:spcPct val="115000"/>
              </a:lnSpc>
            </a:pPr>
            <a:r>
              <a:rPr sz="4200" b="1">
                <a:solidFill>
                  <a:srgbClr val="FFFFFF"/>
                </a:solidFill>
                <a:latin typeface="Yu Gothic"/>
              </a:rPr>
              <a:t>評価額10億ドルに到達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2026年8月18日発表のシリーズCラウンド――1年で3回目の資金調達を出典付きで正確に整理する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Fortune独占取材(2026年8月18日、単一情報源)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評価額10億ドル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ICONIQを主導投資家とするシリーズCで1億ドルを調達し、ユニコーンに到達した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Rilletとは・基礎知識</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資金調達の数字を確認する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参加した投資家一覧</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1年で3回目という成長の経緯を深掘りする</a:t>
            </a:r>
          </a:p>
        </p:txBody>
      </p:sp>
      <p:sp>
        <p:nvSpPr>
          <p:cNvPr id="15" name="Oval 14"/>
          <p:cNvSpPr/>
          <p:nvPr/>
        </p:nvSpPr>
        <p:spPr>
          <a:xfrm>
            <a:off x="548640" y="58064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E7DCC2"/>
                </a:solidFill>
                <a:latin typeface="Yu Gothic"/>
              </a:rPr>
              <a:t>顧客層・情報源の正直な開示・確認できなかったこと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発表翌日(2026年8月19日着手)という鮮度の高い話題である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創業2年でユニコーン(評価額10億ドル)到達という際立った数字が確認できる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1年間で3回目の資金調達という、異例のペースで資金調達が続いている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ICONIQ主導のもと、既存・新規あわせて9社の投資家が参加している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Fortune(2026-08-18、単一情報源)</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Rilletとは(初心者向け)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本題に入る前に、企業の前提を確認します。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Rilletは、企業の経理・会計業務をAIで支援する会計AIスタートアップである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創業からおよそ2年というごく短い期間で、今回の評価額10億ドル到達に至った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本編ではRilletという特定企業の資金調達・成長の事実を中立的に紹介する(利用を推奨する内容ではない)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用語解説:シリーズC・ユニコーン・ARRとは(初心者向け)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『シリーズC』とは、シード・シリーズA・シリーズBに続く段階の資金調達を指す一般的な呼び方である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『ユニコーン』とは、評価額が10億ドル以上に到達した未上場スタートアップを指す業界用語である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『ARR(年間経常収益)』とは、サブスクリプション型ビジネスで年間ベースに換算した安定収益の指標である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今回の調達額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シリーズCラウンドでの調達額。ICONIQが主導した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シリーズCラウンドの概要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発表日</a:t>
                      </a:r>
                    </a:p>
                  </a:txBody>
                  <a:tcPr>
                    <a:solidFill>
                      <a:srgbClr val="FFFFFF"/>
                    </a:solidFill>
                  </a:tcPr>
                </a:tc>
                <a:tc>
                  <a:txBody>
                    <a:bodyPr/>
                    <a:lstStyle/>
                    <a:p>
                      <a:pPr>
                        <a:defRPr sz="1200">
                          <a:solidFill>
                            <a:srgbClr val="20261F"/>
                          </a:solidFill>
                          <a:latin typeface="Yu Gothic"/>
                        </a:defRPr>
                      </a:pPr>
                      <a:r>
                        <a:t>2026年8月18日</a:t>
                      </a:r>
                    </a:p>
                  </a:txBody>
                  <a:tcPr>
                    <a:solidFill>
                      <a:srgbClr val="FFFFFF"/>
                    </a:solidFill>
                  </a:tcPr>
                </a:tc>
              </a:tr>
              <a:tr h="502920">
                <a:tc>
                  <a:txBody>
                    <a:bodyPr/>
                    <a:lstStyle/>
                    <a:p>
                      <a:pPr>
                        <a:defRPr sz="1200">
                          <a:solidFill>
                            <a:srgbClr val="20261F"/>
                          </a:solidFill>
                          <a:latin typeface="Yu Gothic"/>
                        </a:defRPr>
                      </a:pPr>
                      <a:r>
                        <a:t>調達額</a:t>
                      </a:r>
                    </a:p>
                  </a:txBody>
                  <a:tcPr>
                    <a:solidFill>
                      <a:srgbClr val="F4F1E6"/>
                    </a:solidFill>
                  </a:tcPr>
                </a:tc>
                <a:tc>
                  <a:txBody>
                    <a:bodyPr/>
                    <a:lstStyle/>
                    <a:p>
                      <a:pPr>
                        <a:defRPr sz="1200">
                          <a:solidFill>
                            <a:srgbClr val="20261F"/>
                          </a:solidFill>
                          <a:latin typeface="Yu Gothic"/>
                        </a:defRPr>
                      </a:pPr>
                      <a:r>
                        <a:t>1億ドル</a:t>
                      </a:r>
                    </a:p>
                  </a:txBody>
                  <a:tcPr>
                    <a:solidFill>
                      <a:srgbClr val="F4F1E6"/>
                    </a:solidFill>
                  </a:tcPr>
                </a:tc>
              </a:tr>
              <a:tr h="502920">
                <a:tc>
                  <a:txBody>
                    <a:bodyPr/>
                    <a:lstStyle/>
                    <a:p>
                      <a:pPr>
                        <a:defRPr sz="1200">
                          <a:solidFill>
                            <a:srgbClr val="20261F"/>
                          </a:solidFill>
                          <a:latin typeface="Yu Gothic"/>
                        </a:defRPr>
                      </a:pPr>
                      <a:r>
                        <a:t>評価額</a:t>
                      </a:r>
                    </a:p>
                  </a:txBody>
                  <a:tcPr>
                    <a:solidFill>
                      <a:srgbClr val="FFFFFF"/>
                    </a:solidFill>
                  </a:tcPr>
                </a:tc>
                <a:tc>
                  <a:txBody>
                    <a:bodyPr/>
                    <a:lstStyle/>
                    <a:p>
                      <a:pPr>
                        <a:defRPr sz="1200">
                          <a:solidFill>
                            <a:srgbClr val="20261F"/>
                          </a:solidFill>
                          <a:latin typeface="Yu Gothic"/>
                        </a:defRPr>
                      </a:pPr>
                      <a:r>
                        <a:t>10億ドル(ユニコーン到達)</a:t>
                      </a:r>
                    </a:p>
                  </a:txBody>
                  <a:tcPr>
                    <a:solidFill>
                      <a:srgbClr val="FFFFFF"/>
                    </a:solidFill>
                  </a:tcPr>
                </a:tc>
              </a:tr>
              <a:tr h="502920">
                <a:tc>
                  <a:txBody>
                    <a:bodyPr/>
                    <a:lstStyle/>
                    <a:p>
                      <a:pPr>
                        <a:defRPr sz="1200">
                          <a:solidFill>
                            <a:srgbClr val="20261F"/>
                          </a:solidFill>
                          <a:latin typeface="Yu Gothic"/>
                        </a:defRPr>
                      </a:pPr>
                      <a:r>
                        <a:t>主導投資家</a:t>
                      </a:r>
                    </a:p>
                  </a:txBody>
                  <a:tcPr>
                    <a:solidFill>
                      <a:srgbClr val="F4F1E6"/>
                    </a:solidFill>
                  </a:tcPr>
                </a:tc>
                <a:tc>
                  <a:txBody>
                    <a:bodyPr/>
                    <a:lstStyle/>
                    <a:p>
                      <a:pPr>
                        <a:defRPr sz="1200">
                          <a:solidFill>
                            <a:srgbClr val="20261F"/>
                          </a:solidFill>
                          <a:latin typeface="Yu Gothic"/>
                        </a:defRPr>
                      </a:pPr>
                      <a:r>
                        <a:t>ICONIQ</a:t>
                      </a:r>
                    </a:p>
                  </a:txBody>
                  <a:tcPr>
                    <a:solidFill>
                      <a:srgbClr val="F4F1E6"/>
                    </a:solidFill>
                  </a:tcPr>
                </a:tc>
              </a:tr>
              <a:tr h="502920">
                <a:tc>
                  <a:txBody>
                    <a:bodyPr/>
                    <a:lstStyle/>
                    <a:p>
                      <a:pPr>
                        <a:defRPr sz="1200">
                          <a:solidFill>
                            <a:srgbClr val="20261F"/>
                          </a:solidFill>
                          <a:latin typeface="Yu Gothic"/>
                        </a:defRPr>
                      </a:pPr>
                      <a:r>
                        <a:t>ラウンド種別</a:t>
                      </a:r>
                    </a:p>
                  </a:txBody>
                  <a:tcPr>
                    <a:solidFill>
                      <a:srgbClr val="FFFFFF"/>
                    </a:solidFill>
                  </a:tcPr>
                </a:tc>
                <a:tc>
                  <a:txBody>
                    <a:bodyPr/>
                    <a:lstStyle/>
                    <a:p>
                      <a:pPr>
                        <a:defRPr sz="1200">
                          <a:solidFill>
                            <a:srgbClr val="20261F"/>
                          </a:solidFill>
                          <a:latin typeface="Yu Gothic"/>
                        </a:defRPr>
                      </a:pPr>
                      <a:r>
                        <a:t>シリーズC</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Fortune(2026-08-18、単一情報源)</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主導投資家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ICONIQ</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今回のシリーズCラウンドを主導した投資会社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既存投資家の継続参加</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既存投資家</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Sequoia Capital</a:t>
                      </a:r>
                    </a:p>
                  </a:txBody>
                  <a:tcPr>
                    <a:solidFill>
                      <a:srgbClr val="FFFFFF"/>
                    </a:solidFill>
                  </a:tcPr>
                </a:tc>
                <a:tc>
                  <a:txBody>
                    <a:bodyPr/>
                    <a:lstStyle/>
                    <a:p>
                      <a:pPr>
                        <a:defRPr sz="1200">
                          <a:solidFill>
                            <a:srgbClr val="20261F"/>
                          </a:solidFill>
                          <a:latin typeface="Yu Gothic"/>
                        </a:defRPr>
                      </a:pPr>
                      <a:r>
                        <a:t>継続参加</a:t>
                      </a:r>
                    </a:p>
                  </a:txBody>
                  <a:tcPr>
                    <a:solidFill>
                      <a:srgbClr val="FFFFFF"/>
                    </a:solidFill>
                  </a:tcPr>
                </a:tc>
              </a:tr>
              <a:tr h="502920">
                <a:tc>
                  <a:txBody>
                    <a:bodyPr/>
                    <a:lstStyle/>
                    <a:p>
                      <a:pPr>
                        <a:defRPr sz="1200">
                          <a:solidFill>
                            <a:srgbClr val="20261F"/>
                          </a:solidFill>
                          <a:latin typeface="Yu Gothic"/>
                        </a:defRPr>
                      </a:pPr>
                      <a:r>
                        <a:t>Andreessen Horowitz</a:t>
                      </a:r>
                    </a:p>
                  </a:txBody>
                  <a:tcPr>
                    <a:solidFill>
                      <a:srgbClr val="F4F1E6"/>
                    </a:solidFill>
                  </a:tcPr>
                </a:tc>
                <a:tc>
                  <a:txBody>
                    <a:bodyPr/>
                    <a:lstStyle/>
                    <a:p>
                      <a:pPr>
                        <a:defRPr sz="1200">
                          <a:solidFill>
                            <a:srgbClr val="20261F"/>
                          </a:solidFill>
                          <a:latin typeface="Yu Gothic"/>
                        </a:defRPr>
                      </a:pPr>
                      <a:r>
                        <a:t>継続参加</a:t>
                      </a:r>
                    </a:p>
                  </a:txBody>
                  <a:tcPr>
                    <a:solidFill>
                      <a:srgbClr val="F4F1E6"/>
                    </a:solidFill>
                  </a:tcPr>
                </a:tc>
              </a:tr>
              <a:tr h="502920">
                <a:tc>
                  <a:txBody>
                    <a:bodyPr/>
                    <a:lstStyle/>
                    <a:p>
                      <a:pPr>
                        <a:defRPr sz="1200">
                          <a:solidFill>
                            <a:srgbClr val="20261F"/>
                          </a:solidFill>
                          <a:latin typeface="Yu Gothic"/>
                        </a:defRPr>
                      </a:pPr>
                      <a:r>
                        <a:t>Oak HC/FT</a:t>
                      </a:r>
                    </a:p>
                  </a:txBody>
                  <a:tcPr>
                    <a:solidFill>
                      <a:srgbClr val="FFFFFF"/>
                    </a:solidFill>
                  </a:tcPr>
                </a:tc>
                <a:tc>
                  <a:txBody>
                    <a:bodyPr/>
                    <a:lstStyle/>
                    <a:p>
                      <a:pPr>
                        <a:defRPr sz="1200">
                          <a:solidFill>
                            <a:srgbClr val="20261F"/>
                          </a:solidFill>
                          <a:latin typeface="Yu Gothic"/>
                        </a:defRPr>
                      </a:pPr>
                      <a:r>
                        <a:t>継続参加</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Fortune(2026-08-18、単一情報源)</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新規投資家一覧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新規投資家</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Bain Capital Ventures</a:t>
                      </a:r>
                    </a:p>
                  </a:txBody>
                  <a:tcPr>
                    <a:solidFill>
                      <a:srgbClr val="FFFFFF"/>
                    </a:solidFill>
                  </a:tcPr>
                </a:tc>
                <a:tc>
                  <a:txBody>
                    <a:bodyPr/>
                    <a:lstStyle/>
                    <a:p>
                      <a:pPr>
                        <a:defRPr sz="1200">
                          <a:solidFill>
                            <a:srgbClr val="20261F"/>
                          </a:solidFill>
                          <a:latin typeface="Yu Gothic"/>
                        </a:defRPr>
                      </a:pPr>
                      <a:r>
                        <a:t>新規参加</a:t>
                      </a:r>
                    </a:p>
                  </a:txBody>
                  <a:tcPr>
                    <a:solidFill>
                      <a:srgbClr val="FFFFFF"/>
                    </a:solidFill>
                  </a:tcPr>
                </a:tc>
              </a:tr>
              <a:tr h="502920">
                <a:tc>
                  <a:txBody>
                    <a:bodyPr/>
                    <a:lstStyle/>
                    <a:p>
                      <a:pPr>
                        <a:defRPr sz="1200">
                          <a:solidFill>
                            <a:srgbClr val="20261F"/>
                          </a:solidFill>
                          <a:latin typeface="Yu Gothic"/>
                        </a:defRPr>
                      </a:pPr>
                      <a:r>
                        <a:t>Sequoia Global Equities</a:t>
                      </a:r>
                    </a:p>
                  </a:txBody>
                  <a:tcPr>
                    <a:solidFill>
                      <a:srgbClr val="F4F1E6"/>
                    </a:solidFill>
                  </a:tcPr>
                </a:tc>
                <a:tc>
                  <a:txBody>
                    <a:bodyPr/>
                    <a:lstStyle/>
                    <a:p>
                      <a:pPr>
                        <a:defRPr sz="1200">
                          <a:solidFill>
                            <a:srgbClr val="20261F"/>
                          </a:solidFill>
                          <a:latin typeface="Yu Gothic"/>
                        </a:defRPr>
                      </a:pPr>
                      <a:r>
                        <a:t>新規参加</a:t>
                      </a:r>
                    </a:p>
                  </a:txBody>
                  <a:tcPr>
                    <a:solidFill>
                      <a:srgbClr val="F4F1E6"/>
                    </a:solidFill>
                  </a:tcPr>
                </a:tc>
              </a:tr>
              <a:tr h="502920">
                <a:tc>
                  <a:txBody>
                    <a:bodyPr/>
                    <a:lstStyle/>
                    <a:p>
                      <a:pPr>
                        <a:defRPr sz="1200">
                          <a:solidFill>
                            <a:srgbClr val="20261F"/>
                          </a:solidFill>
                          <a:latin typeface="Yu Gothic"/>
                        </a:defRPr>
                      </a:pPr>
                      <a:r>
                        <a:t>Battery Ventures</a:t>
                      </a:r>
                    </a:p>
                  </a:txBody>
                  <a:tcPr>
                    <a:solidFill>
                      <a:srgbClr val="FFFFFF"/>
                    </a:solidFill>
                  </a:tcPr>
                </a:tc>
                <a:tc>
                  <a:txBody>
                    <a:bodyPr/>
                    <a:lstStyle/>
                    <a:p>
                      <a:pPr>
                        <a:defRPr sz="1200">
                          <a:solidFill>
                            <a:srgbClr val="20261F"/>
                          </a:solidFill>
                          <a:latin typeface="Yu Gothic"/>
                        </a:defRPr>
                      </a:pPr>
                      <a:r>
                        <a:t>新規参加</a:t>
                      </a:r>
                    </a:p>
                  </a:txBody>
                  <a:tcPr>
                    <a:solidFill>
                      <a:srgbClr val="FFFFFF"/>
                    </a:solidFill>
                  </a:tcPr>
                </a:tc>
              </a:tr>
              <a:tr h="502920">
                <a:tc>
                  <a:txBody>
                    <a:bodyPr/>
                    <a:lstStyle/>
                    <a:p>
                      <a:pPr>
                        <a:defRPr sz="1200">
                          <a:solidFill>
                            <a:srgbClr val="20261F"/>
                          </a:solidFill>
                          <a:latin typeface="Yu Gothic"/>
                        </a:defRPr>
                      </a:pPr>
                      <a:r>
                        <a:t>FirstMark</a:t>
                      </a:r>
                    </a:p>
                  </a:txBody>
                  <a:tcPr>
                    <a:solidFill>
                      <a:srgbClr val="F4F1E6"/>
                    </a:solidFill>
                  </a:tcPr>
                </a:tc>
                <a:tc>
                  <a:txBody>
                    <a:bodyPr/>
                    <a:lstStyle/>
                    <a:p>
                      <a:pPr>
                        <a:defRPr sz="1200">
                          <a:solidFill>
                            <a:srgbClr val="20261F"/>
                          </a:solidFill>
                          <a:latin typeface="Yu Gothic"/>
                        </a:defRPr>
                      </a:pPr>
                      <a:r>
                        <a:t>新規参加</a:t>
                      </a:r>
                    </a:p>
                  </a:txBody>
                  <a:tcPr>
                    <a:solidFill>
                      <a:srgbClr val="F4F1E6"/>
                    </a:solidFill>
                  </a:tcPr>
                </a:tc>
              </a:tr>
              <a:tr h="502920">
                <a:tc>
                  <a:txBody>
                    <a:bodyPr/>
                    <a:lstStyle/>
                    <a:p>
                      <a:pPr>
                        <a:defRPr sz="1200">
                          <a:solidFill>
                            <a:srgbClr val="20261F"/>
                          </a:solidFill>
                          <a:latin typeface="Yu Gothic"/>
                        </a:defRPr>
                      </a:pPr>
                      <a:r>
                        <a:t>Scale Venture Partners</a:t>
                      </a:r>
                    </a:p>
                  </a:txBody>
                  <a:tcPr>
                    <a:solidFill>
                      <a:srgbClr val="FFFFFF"/>
                    </a:solidFill>
                  </a:tcPr>
                </a:tc>
                <a:tc>
                  <a:txBody>
                    <a:bodyPr/>
                    <a:lstStyle/>
                    <a:p>
                      <a:pPr>
                        <a:defRPr sz="1200">
                          <a:solidFill>
                            <a:srgbClr val="20261F"/>
                          </a:solidFill>
                          <a:latin typeface="Yu Gothic"/>
                        </a:defRPr>
                      </a:pPr>
                      <a:r>
                        <a:t>新規参加</a:t>
                      </a:r>
                    </a:p>
                  </a:txBody>
                  <a:tcPr>
                    <a:solidFill>
                      <a:srgbClr val="FFFFFF"/>
                    </a:solidFill>
                  </a:tcPr>
                </a:tc>
              </a:tr>
              <a:tr h="502920">
                <a:tc>
                  <a:txBody>
                    <a:bodyPr/>
                    <a:lstStyle/>
                    <a:p>
                      <a:pPr>
                        <a:defRPr sz="1200">
                          <a:solidFill>
                            <a:srgbClr val="20261F"/>
                          </a:solidFill>
                          <a:latin typeface="Yu Gothic"/>
                        </a:defRPr>
                      </a:pPr>
                      <a:r>
                        <a:t>Creandum</a:t>
                      </a:r>
                    </a:p>
                  </a:txBody>
                  <a:tcPr>
                    <a:solidFill>
                      <a:srgbClr val="F4F1E6"/>
                    </a:solidFill>
                  </a:tcPr>
                </a:tc>
                <a:tc>
                  <a:txBody>
                    <a:bodyPr/>
                    <a:lstStyle/>
                    <a:p>
                      <a:pPr>
                        <a:defRPr sz="1200">
                          <a:solidFill>
                            <a:srgbClr val="20261F"/>
                          </a:solidFill>
                          <a:latin typeface="Yu Gothic"/>
                        </a:defRPr>
                      </a:pPr>
                      <a:r>
                        <a:t>新規参加</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Fortune(2026-08-18、単一情報源)</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投資家まとめ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3社</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既存投資家の継続参加</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Sequoia Capital・Andreessen Horowitz・Oak HC/FTが継続参加</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6社</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新規投資家の参加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Bain Capital Ventures・Sequoia Global Equities・Battery Ventures・FirstMark・Scale Venture Partners・Creandumが新規参加</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9社</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合計参加投資家数(判明分)</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既存3社・新規6社が今回のラウンドに参加したと確認できている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資金調達のペース</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1年で3回目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今回のシリーズCは、過去1年間で3回目の資金調達となる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1年間の資金調達の経緯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前年夏</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Sequoia主導のシリーズAを実施</a:t>
            </a:r>
          </a:p>
        </p:txBody>
      </p:sp>
      <p:sp>
        <p:nvSpPr>
          <p:cNvPr id="11" name="Chevron 10"/>
          <p:cNvSpPr/>
          <p:nvPr/>
        </p:nvSpPr>
        <p:spPr>
          <a:xfrm>
            <a:off x="3068040"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数週間後</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シリーズBを実施(その間、新規ARRが四半期で倍増)</a:t>
            </a:r>
          </a:p>
        </p:txBody>
      </p:sp>
      <p:sp>
        <p:nvSpPr>
          <p:cNvPr id="17" name="Chevron 16"/>
          <p:cNvSpPr/>
          <p:nvPr/>
        </p:nvSpPr>
        <p:spPr>
          <a:xfrm>
            <a:off x="5978804"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直近3か月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新規ARRが再び倍増</a:t>
            </a:r>
          </a:p>
        </p:txBody>
      </p:sp>
      <p:sp>
        <p:nvSpPr>
          <p:cNvPr id="23" name="Chevron 22"/>
          <p:cNvSpPr/>
          <p:nvPr/>
        </p:nvSpPr>
        <p:spPr>
          <a:xfrm>
            <a:off x="8889568"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4523F"/>
                </a:solidFill>
                <a:latin typeface="Yu Gothic"/>
              </a:rPr>
              <a:t>2026年8月18日</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シリーズCで1億ドルを調達、評価額10億ドルに到達</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累計調達額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2億ドル突破</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3回の資金調達を通じた累計調達額が2億ドルを突破した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ARRの絶対額は不明(正直な開示)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この点は正直にお伝えします。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『新規ARRが四半期で倍増』『調達直前の3か月間でも再び倍増』という比率のみが確認できている事実である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ARRの具体的な絶対額(ドル建ての規模)は、本調査の範囲では確認できていない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累計調達額も『2億ドルを突破』という表現のみで、正確な内訳は確認できていない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現在の顧客数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600社超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Rilletの現在の顧客数は600社を超えているとしている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Fortune(2026-08-18、単一情報源)</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顧客層を見る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600社超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現在の顧客数</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急成長中のAI企業から非テック企業まで幅広い顧客層を持つ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AI企業</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顧客の一例</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Neuralink・Skild AI・Mercorなど急成長中のAI企業が顧客に含まれる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非テック</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浸透の広がり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非テック企業への浸透も進んでいるとされる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顧客企業の一例(AI企業)</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顧客企業</a:t>
                      </a:r>
                    </a:p>
                  </a:txBody>
                  <a:tcPr>
                    <a:solidFill>
                      <a:srgbClr val="24523F"/>
                    </a:solidFill>
                  </a:tcPr>
                </a:tc>
                <a:tc>
                  <a:txBody>
                    <a:bodyPr/>
                    <a:lstStyle/>
                    <a:p>
                      <a:pPr>
                        <a:defRPr sz="1300" b="1">
                          <a:solidFill>
                            <a:srgbClr val="FFFFFF"/>
                          </a:solidFill>
                          <a:latin typeface="Yu Gothic"/>
                        </a:defRPr>
                      </a:pPr>
                      <a:r>
                        <a:t>位置づけ</a:t>
                      </a:r>
                    </a:p>
                  </a:txBody>
                  <a:tcPr>
                    <a:solidFill>
                      <a:srgbClr val="24523F"/>
                    </a:solidFill>
                  </a:tcPr>
                </a:tc>
              </a:tr>
              <a:tr h="502920">
                <a:tc>
                  <a:txBody>
                    <a:bodyPr/>
                    <a:lstStyle/>
                    <a:p>
                      <a:pPr>
                        <a:defRPr sz="1200">
                          <a:solidFill>
                            <a:srgbClr val="20261F"/>
                          </a:solidFill>
                          <a:latin typeface="Yu Gothic"/>
                        </a:defRPr>
                      </a:pPr>
                      <a:r>
                        <a:t>Neuralink</a:t>
                      </a:r>
                    </a:p>
                  </a:txBody>
                  <a:tcPr>
                    <a:solidFill>
                      <a:srgbClr val="FFFFFF"/>
                    </a:solidFill>
                  </a:tcPr>
                </a:tc>
                <a:tc>
                  <a:txBody>
                    <a:bodyPr/>
                    <a:lstStyle/>
                    <a:p>
                      <a:pPr>
                        <a:defRPr sz="1200">
                          <a:solidFill>
                            <a:srgbClr val="20261F"/>
                          </a:solidFill>
                          <a:latin typeface="Yu Gothic"/>
                        </a:defRPr>
                      </a:pPr>
                      <a:r>
                        <a:t>急成長中のAI企業の一例</a:t>
                      </a:r>
                    </a:p>
                  </a:txBody>
                  <a:tcPr>
                    <a:solidFill>
                      <a:srgbClr val="FFFFFF"/>
                    </a:solidFill>
                  </a:tcPr>
                </a:tc>
              </a:tr>
              <a:tr h="502920">
                <a:tc>
                  <a:txBody>
                    <a:bodyPr/>
                    <a:lstStyle/>
                    <a:p>
                      <a:pPr>
                        <a:defRPr sz="1200">
                          <a:solidFill>
                            <a:srgbClr val="20261F"/>
                          </a:solidFill>
                          <a:latin typeface="Yu Gothic"/>
                        </a:defRPr>
                      </a:pPr>
                      <a:r>
                        <a:t>Skild AI</a:t>
                      </a:r>
                    </a:p>
                  </a:txBody>
                  <a:tcPr>
                    <a:solidFill>
                      <a:srgbClr val="F4F1E6"/>
                    </a:solidFill>
                  </a:tcPr>
                </a:tc>
                <a:tc>
                  <a:txBody>
                    <a:bodyPr/>
                    <a:lstStyle/>
                    <a:p>
                      <a:pPr>
                        <a:defRPr sz="1200">
                          <a:solidFill>
                            <a:srgbClr val="20261F"/>
                          </a:solidFill>
                          <a:latin typeface="Yu Gothic"/>
                        </a:defRPr>
                      </a:pPr>
                      <a:r>
                        <a:t>急成長中のAI企業の一例</a:t>
                      </a:r>
                    </a:p>
                  </a:txBody>
                  <a:tcPr>
                    <a:solidFill>
                      <a:srgbClr val="F4F1E6"/>
                    </a:solidFill>
                  </a:tcPr>
                </a:tc>
              </a:tr>
              <a:tr h="502920">
                <a:tc>
                  <a:txBody>
                    <a:bodyPr/>
                    <a:lstStyle/>
                    <a:p>
                      <a:pPr>
                        <a:defRPr sz="1200">
                          <a:solidFill>
                            <a:srgbClr val="20261F"/>
                          </a:solidFill>
                          <a:latin typeface="Yu Gothic"/>
                        </a:defRPr>
                      </a:pPr>
                      <a:r>
                        <a:t>Mercor</a:t>
                      </a:r>
                    </a:p>
                  </a:txBody>
                  <a:tcPr>
                    <a:solidFill>
                      <a:srgbClr val="FFFFFF"/>
                    </a:solidFill>
                  </a:tcPr>
                </a:tc>
                <a:tc>
                  <a:txBody>
                    <a:bodyPr/>
                    <a:lstStyle/>
                    <a:p>
                      <a:pPr>
                        <a:defRPr sz="1200">
                          <a:solidFill>
                            <a:srgbClr val="20261F"/>
                          </a:solidFill>
                          <a:latin typeface="Yu Gothic"/>
                        </a:defRPr>
                      </a:pPr>
                      <a:r>
                        <a:t>急成長中のAI企業の一例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Fortune(2026-08-18、単一情報源)</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非テック企業への浸透の詳細は不明(正直な開示)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この点も正直にお伝えします。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『非テック企業への浸透も進んでいる』とされているが、具体的な業種・企業名は本調査の範囲では確認できていない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顧客600社超の業種別・企業規模別の内訳も確認できていない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本成果物では、確認できた数値・企業名のみをそのまま紹介し、内訳を推測で補わない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【重要】情報源はFortuneの独占記事のみ(正直な開示)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本テーマ最大の注意点を、ここで明確にお伝えします。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本テーマの数字・事実は、すべてFortuneの独占取材記事(2026年8月18日)1本のみを出典としている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本調査の範囲では、この発表を裏付ける独立した他メディア(TechCrunch・Bloomberg等)の報道は1件も確認できていない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『独占』報道は一次情報として一定の信頼性を持つが、複数媒体による相互検証ができていない点は正直にお伝えする必要がある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見出しの印象 / 実際に確認できている内容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評価額10億ドル=複数メディアが検証済みの確実な情報</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累計調達額・ARRの正確な規模も分かっているはず</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会計AIの具体的な機能や日本展開も見えているはず</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実際に確認できている内容</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情報源はFortuneの独占記事1本のみで、他媒体の裏付けは未確認</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累計調達額・ARRは『倍増』『突破』という比率・下限表現のみ</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製品機能の詳細・日本展開の計画は本調査の範囲では不明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AI業界の動向を追う立場として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会計AI分野への資金流入の勢いと、単一情報源である点を踏まえ、今後の追随報道も確認する視点が役立つ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業務効率化ツールを検討する立場として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Rilletの存在は事実として押さえつつ、製品機能の詳細は非公表のため、実際の導入判断は別途自身で確認する必要がある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投資・スタートアップを追う立場として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ARRの絶対額・累計調達額の内訳など非公表・未確認の項目には断定的な情報に注意する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確認・検討する際のチェックポイント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実際に情報を確認・活用する場合のポイントです。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評価額・調達額はあくまで資金調達時点の数字であり、収益性や事業の持続性を直接示すものではない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情報源がFortuneの独占記事1本のみである点を踏まえ、他媒体の追随報道が出るか継続して確認することが望ましい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製品導入を検討する場合は、本成果物の紹介にとどまらず、自身で最新の公式情報を確認することが望ましい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製品機能・日本展開・次回計画は不明(正直な開示)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今後・詳細についても正直にお伝えします。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会計AIの具体的な製品機能の詳細(自動化する業務・機能名など)は、本調査の範囲では確認できていない</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日本市場への展開計画の有無は、本調査の範囲では確認できていない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次回の資金調達や株式上場(IPO)の計画も、本調査の範囲では確認できていない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確認できたこと / 確認できていないこと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シリーズCの調達額・評価額</a:t>
                      </a:r>
                    </a:p>
                  </a:txBody>
                  <a:tcPr>
                    <a:solidFill>
                      <a:srgbClr val="FFFFFF"/>
                    </a:solidFill>
                  </a:tcPr>
                </a:tc>
                <a:tc>
                  <a:txBody>
                    <a:bodyPr/>
                    <a:lstStyle/>
                    <a:p>
                      <a:pPr>
                        <a:defRPr sz="1200">
                          <a:solidFill>
                            <a:srgbClr val="20261F"/>
                          </a:solidFill>
                          <a:latin typeface="Yu Gothic"/>
                        </a:defRPr>
                      </a:pPr>
                      <a:r>
                        <a:t>1億ドル・10億ドル(ユニコーン)としてFortuneが報道</a:t>
                      </a:r>
                    </a:p>
                  </a:txBody>
                  <a:tcPr>
                    <a:solidFill>
                      <a:srgbClr val="FFFFFF"/>
                    </a:solidFill>
                  </a:tcPr>
                </a:tc>
              </a:tr>
              <a:tr h="502920">
                <a:tc>
                  <a:txBody>
                    <a:bodyPr/>
                    <a:lstStyle/>
                    <a:p>
                      <a:pPr>
                        <a:defRPr sz="1200">
                          <a:solidFill>
                            <a:srgbClr val="20261F"/>
                          </a:solidFill>
                          <a:latin typeface="Yu Gothic"/>
                        </a:defRPr>
                      </a:pPr>
                      <a:r>
                        <a:t>主導投資家・参加投資家</a:t>
                      </a:r>
                    </a:p>
                  </a:txBody>
                  <a:tcPr>
                    <a:solidFill>
                      <a:srgbClr val="F4F1E6"/>
                    </a:solidFill>
                  </a:tcPr>
                </a:tc>
                <a:tc>
                  <a:txBody>
                    <a:bodyPr/>
                    <a:lstStyle/>
                    <a:p>
                      <a:pPr>
                        <a:defRPr sz="1200">
                          <a:solidFill>
                            <a:srgbClr val="20261F"/>
                          </a:solidFill>
                          <a:latin typeface="Yu Gothic"/>
                        </a:defRPr>
                      </a:pPr>
                      <a:r>
                        <a:t>ICONIQ主導、既存3社・新規6社の参加を確認済み</a:t>
                      </a:r>
                    </a:p>
                  </a:txBody>
                  <a:tcPr>
                    <a:solidFill>
                      <a:srgbClr val="F4F1E6"/>
                    </a:solidFill>
                  </a:tcPr>
                </a:tc>
              </a:tr>
              <a:tr h="502920">
                <a:tc>
                  <a:txBody>
                    <a:bodyPr/>
                    <a:lstStyle/>
                    <a:p>
                      <a:pPr>
                        <a:defRPr sz="1200">
                          <a:solidFill>
                            <a:srgbClr val="20261F"/>
                          </a:solidFill>
                          <a:latin typeface="Yu Gothic"/>
                        </a:defRPr>
                      </a:pPr>
                      <a:r>
                        <a:t>情報源の独立した裏付け</a:t>
                      </a:r>
                    </a:p>
                  </a:txBody>
                  <a:tcPr>
                    <a:solidFill>
                      <a:srgbClr val="FFFFFF"/>
                    </a:solidFill>
                  </a:tcPr>
                </a:tc>
                <a:tc>
                  <a:txBody>
                    <a:bodyPr/>
                    <a:lstStyle/>
                    <a:p>
                      <a:pPr>
                        <a:defRPr sz="1200">
                          <a:solidFill>
                            <a:srgbClr val="20261F"/>
                          </a:solidFill>
                          <a:latin typeface="Yu Gothic"/>
                        </a:defRPr>
                      </a:pPr>
                      <a:r>
                        <a:t>Fortune以外の媒体では本調査の範囲では確認できていない</a:t>
                      </a:r>
                    </a:p>
                  </a:txBody>
                  <a:tcPr>
                    <a:solidFill>
                      <a:srgbClr val="FFFFFF"/>
                    </a:solidFill>
                  </a:tcPr>
                </a:tc>
              </a:tr>
              <a:tr h="502920">
                <a:tc>
                  <a:txBody>
                    <a:bodyPr/>
                    <a:lstStyle/>
                    <a:p>
                      <a:pPr>
                        <a:defRPr sz="1200">
                          <a:solidFill>
                            <a:srgbClr val="20261F"/>
                          </a:solidFill>
                          <a:latin typeface="Yu Gothic"/>
                        </a:defRPr>
                      </a:pPr>
                      <a:r>
                        <a:t>ARRの絶対額・累計調達額の内訳</a:t>
                      </a:r>
                    </a:p>
                  </a:txBody>
                  <a:tcPr>
                    <a:solidFill>
                      <a:srgbClr val="F4F1E6"/>
                    </a:solidFill>
                  </a:tcPr>
                </a:tc>
                <a:tc>
                  <a:txBody>
                    <a:bodyPr/>
                    <a:lstStyle/>
                    <a:p>
                      <a:pPr>
                        <a:defRPr sz="1200">
                          <a:solidFill>
                            <a:srgbClr val="20261F"/>
                          </a:solidFill>
                          <a:latin typeface="Yu Gothic"/>
                        </a:defRPr>
                      </a:pPr>
                      <a:r>
                        <a:t>本調査の範囲では確認できていない</a:t>
                      </a:r>
                    </a:p>
                  </a:txBody>
                  <a:tcPr>
                    <a:solidFill>
                      <a:srgbClr val="F4F1E6"/>
                    </a:solidFill>
                  </a:tcPr>
                </a:tc>
              </a:tr>
              <a:tr h="502920">
                <a:tc>
                  <a:txBody>
                    <a:bodyPr/>
                    <a:lstStyle/>
                    <a:p>
                      <a:pPr>
                        <a:defRPr sz="1200">
                          <a:solidFill>
                            <a:srgbClr val="20261F"/>
                          </a:solidFill>
                          <a:latin typeface="Yu Gothic"/>
                        </a:defRPr>
                      </a:pPr>
                      <a:r>
                        <a:t>製品機能の詳細・日本展開・次回計画</a:t>
                      </a:r>
                    </a:p>
                  </a:txBody>
                  <a:tcPr>
                    <a:solidFill>
                      <a:srgbClr val="FFFFFF"/>
                    </a:solidFill>
                  </a:tcPr>
                </a:tc>
                <a:tc>
                  <a:txBody>
                    <a:bodyPr/>
                    <a:lstStyle/>
                    <a:p>
                      <a:pPr>
                        <a:defRPr sz="1200">
                          <a:solidFill>
                            <a:srgbClr val="20261F"/>
                          </a:solidFill>
                          <a:latin typeface="Yu Gothic"/>
                        </a:defRPr>
                      </a:pPr>
                      <a:r>
                        <a:t>本調査の範囲では確認できていない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発表翌日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発表(2026年8月18日)は着手日(2026年8月19日)の前日。着手日を含めて2日以内という基準を満たす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docs/06_Content_R&amp;D.md基準</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改めて:単一情報源であることを踏まえた扱い方(重要)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本編の締めくくりとして、もう一度お伝えします。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本テーマの数字・投資家名・顧客企業名は、すべてFortuneの独占記事1本に基づいている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複数の独立した情報源による相互検証ができていないため、断定的な受け止め方はせず参考情報として扱ってほしい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他媒体の追随報道が確認でき次第、内容の照合・更新が望ましい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主な出典一覧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Fortune</a:t>
                      </a:r>
                    </a:p>
                  </a:txBody>
                  <a:tcPr>
                    <a:solidFill>
                      <a:srgbClr val="FFFFFF"/>
                    </a:solidFill>
                  </a:tcPr>
                </a:tc>
                <a:tc>
                  <a:txBody>
                    <a:bodyPr/>
                    <a:lstStyle/>
                    <a:p>
                      <a:pPr>
                        <a:defRPr sz="1200">
                          <a:solidFill>
                            <a:srgbClr val="20261F"/>
                          </a:solidFill>
                          <a:latin typeface="Yu Gothic"/>
                        </a:defRPr>
                      </a:pPr>
                      <a:r>
                        <a:t>資金調達・評価額・投資家一覧・顧客層の独占報道(2026年8月18日、本テーマの唯一の出典)</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Fortune独占取材(2026-08-18、単一情報源)</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評価額10億ドル。事実だけを、単一情報源である旨も含めて出典付きで。</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Rilletがシリーズ Cで1億ドルを調達し評価額10億ドルのユニコーンに到達した件を、投資家一覧・成長の経緯・顧客層まで出典付きで整理してお届けしました。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