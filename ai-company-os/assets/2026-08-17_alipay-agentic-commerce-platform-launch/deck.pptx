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payが杭州で開いた自社初のAIエコシステム・パートナーカンファレンスで、中国初となるフルスタック・エージェント型コマース基盤を発表しました。スマホ5ブランド・自動車16社との連携も公表されています。今日はこの発表内容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Alipayは中国初とされるフルスタック・エージェント型コマース基盤を発表しました。スマホ5ブランド・自動車16社と連携しており、発表を受けて親会社アリババの株価は5%上昇したと報じられています。ここから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今日は6つの流れでお伝えします。基盤の機能から新プロトコルAHA、Ah Baoの連携企業、インセンティブプログラム、そして市場の反応まで、正確に数字を引用しながら整理します。確認できなかったことは正直にお伝えします。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からやや日数が経っていますが報道は拡大を続けており、複数の独立した専門媒体が内容を一致させて報じています。スマホ・自動車あわせて21社との連携規模、株価5%上昇という市場の反応も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Alipayという企業の前提を確認します。中国の大手モバイル決済・金融サービスプラットフォームで、今回自社初となるAIエコシステム・パートナーカンファレンスを杭州で開催しました。本編は事実の中立的な紹介であり、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AIエージェントは自律的に作業を実行するソフトウェア、エージェント型コマースはAIエージェントが購買まで代行する体験、MCPはAIエージェントが外部ツールと連携するための標準的な接続方式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位置づけです。中国初とされるフルスタック・エージェント型コマース基盤が、Alipay自社初のAIエコシステム・パートナーカンファレンスで発表されました。次に、カンファレンスの概要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ンファレンスの概要を一覧にしました。2026年8月17日、中国・杭州でAlipay自社初のAIエコシステム・パートナーカンファレンスが開催され、報道は8月18日にかけて拡大しました。次に、新基盤の機能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基盤が提供する2種類の機能です。デジタル化済みでAI未活用の事業者にはエージェント対応スキルやMCPツールへの変換機能を、すでにAIサービスを運用している事業者にはAIエージェントの構築・管理機能を提供します。次に、この変換の流れを図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未活用の事業者向け機能の流れを図にしました。デジタル化済みの事業者が持つウェブページ・商品・業務フローを、エージェント対応スキルやMCPツールへ変換し、AIエージェント経由での接客につなげる流れです。次に、新プロトコル『AHA』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新プロトコルスイートを確認します。名称はAHA、Agent Hub Accessです。マルチエージェント・複数端末間連携のための新プロトコルスイートとして、基盤と同時に発表されました。次に、この点で確認できなかったことを正直にお伝えします。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AHAの技術仕様について正直にお伝えします。通信方式や対応端末の条件といった仕様書レベルの詳細は本調査の範囲では確認できていません。位置づけのみを紹介し、仕様を推測で補うことはしません。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消費者向けAIエージェントを確認します。名称はAh Bao、阿宝です。スマートフォンブランド5社、自動車メーカー16社と連携していることが公表されました。次に、この連携規模を数字でまとめます。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連携規模をまとめました。スマートフォンブランド5社、自動車メーカー16社、スマホ市場シェア合計は70%超です。次に、それぞれを1つずつ確認します。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スマートフォンとの連携です。中国市場シェア合計70%超を占めるスマートフォンブランド5社と連携しています。次に、自動車メーカーとの連携を確認します。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自動車メーカーとの連携です。自動車メーカー16社と連携しています。次に、個別の企業名について正直にお伝えします。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別企業名について正直にお伝えします。連携先はスマホブランド5社・自動車メーカー16社という規模の数字のみが判明しており、各社の個別企業名は本調査の範囲では確認できていません。社名を創作せず、規模の数字のみ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事業者向けの支援策です。AIビジネス・インセンティブ・プログラムとして、1事業者あたり1億トークンの無償提供・取引補助金・決済手数料の割引を含む内容が発表されました。次に、それぞれの内容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インセンティブプログラムの内訳です。1事業者あたり1億トークンの無償提供、取引補助金、決済手数料の割引の3本柱です。次に、具体的な金額について正直にお伝えします。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インセンティブの金額詳細について正直にお伝えします。補助金や割引の具体的な金額・割引率、トークンの対象範囲や有効期間は本調査の範囲では確認できていません。確認できた項目のみを紹介し、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市場の反応です。発表を受け、親会社アリババの株価が5%上昇したと報じられています。次に、この数字を扱う際の注意点を正直にお伝えします。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株価反応を扱う際の注意点です。比較基準の時点や、上昇要因が今回の発表単独によるものかどうかは本調査の範囲では確認できていません。株価変動を単純に本発表と因果づけないようお伝えします。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基盤・プロトコル名称と連携規模の数字のみであり、個別企業名や株価上昇の要因など未確認の項目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このニュースが読者にとって意味することをまとめました。AI業界の動向を追う立場、AI活用を検討する事業者の立場、投資・市場動向を追う立場、それぞれで意識したい視点です。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発表内容は企業側発表であり、連携の具体的な技術的・契約的な内容の詳細は本調査の範囲では確認できていません。導入検討時は公式情報を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展開の計画について正直にお伝えします。日本を含む海外展開の計画有無は本調査の範囲では確認できていません。今回の発表は中国国内を前提とした内容であり、将来の展開について推測・断定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本テーマの鮮度を数字で確認します。発表は着手日の2日前にあたる2026年8月17日でした。報道は8月18日にかけて拡大が続いていたことを踏まえて採用しています。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本編で使った主な出典を一覧にしました。TNGlobal・Finextra・Crowdfund Insider・The Paypers・SecurityBrief Asia・Blockonomiという複数の独立した媒体が発表内容を一致させて報じていることを確認しています。詳細はresearch.mdをご確認ください。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本編は以上です。今回はAlipayが発表した中国初のエージェント型コマース基盤について、新プロトコルAHA・Ah Baoの連携企業・インセンティブプログラムまで正確に整理してお伝えしました。数字は出典どおりに扱い、確認できなかったことは正直にお伝えしました。次回もまた出典付きでお届けします。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中国初の「エージェント型コマース」基盤を</a:t>
            </a:r>
          </a:p>
          <a:p>
            <a:pPr algn="l">
              <a:lnSpc>
                <a:spcPct val="115000"/>
              </a:lnSpc>
            </a:pPr>
            <a:r>
              <a:rPr sz="4200" b="1">
                <a:solidFill>
                  <a:srgbClr val="FFFFFF"/>
                </a:solidFill>
                <a:latin typeface="Yu Gothic"/>
              </a:rPr>
              <a:t>Alipayが発表</a:t>
            </a:r>
          </a:p>
          <a:p>
            <a:pPr algn="l">
              <a:lnSpc>
                <a:spcPct val="115000"/>
              </a:lnSpc>
            </a:pPr>
            <a:r>
              <a:rPr sz="4200" b="1">
                <a:solidFill>
                  <a:srgbClr val="FFFFFF"/>
                </a:solidFill>
                <a:latin typeface="Yu Gothic"/>
              </a:rPr>
              <a:t>――スマホ5ブランド・自動車16社と連携</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杭州で開催された自社初のAIエコシステム・パートナーカンファレンスでの発表内容を出典付きで整理する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TNGlobal・Finextra・Crowdfund Insider・The Paypers・SecurityBrief Asia・Blockonomi(2026年8月17日開催、報道は8月18日にかけて拡大)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中国初のエージェント型コマース基盤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Alipayが杭州のカンファレンスで発表。スマホ5ブランド・自動車16社と連携し、親会社アリババの株価は5%上昇した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TNGlobal・Finextra・Blockonomi(2026-08-17〜18)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なぜ今このテーマを扱うのか・基礎知識</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カンファレンス発表の概要と新基盤の機能</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新プロトコル「AHA」を確認する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Ah Baoの連携企業(スマホ5社・自動車16社)</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「AIビジネス・インセンティブ・プログラム」</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市場の反応・確認できなかったことを正直にお伝えする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着手日から見て発表2日後だが、報道は8月18日にかけて拡大が続いている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複数の独立した専門媒体が内容を一致させて報じている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スマホ・自動車という異業種あわせて21社との連携という規模の大きさがある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発表を受け親会社アリババの株価が5%上昇するという市場の反応も伴っている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TNGlobal・Finextra・Blockonomi(2026-08-17〜18)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Alipayとは(初心者向け)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Alipay(支付宝)は、中国の大手モバイル決済・金融サービスプラットフォームである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今回、自社初となるAIエコシステム・パートナーカンファレンスを杭州で開催した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本編ではAlipayという特定企業の基盤発表・連携内容を中立的に紹介する(利用・導入を推奨する内容ではない)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用語解説:AIエージェント・エージェント型コマース・MCPとは(初心者向け)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『AIエージェント』とは、与えられた目的に沿ってAIが自律的に複数の作業を実行するソフトウェアである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『エージェント型コマース』とは、AIエージェントが商品の検索・比較・決済までを代行する購買体験を指す言葉である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『MCP』とは、AIエージェントが外部ツール・サービスと連携するための標準的な接続方式を指す一般的な技術用語である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今回の発表の位置づけ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中国初のフルスタック・エージェント型コマース基盤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杭州で開催された自社初のAIエコシステム・パートナーカンファレンスで発表された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TNGlobal・Finextra(2026-08-17〜18)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カンファレンスの概要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開催日</a:t>
                      </a:r>
                    </a:p>
                  </a:txBody>
                  <a:tcPr>
                    <a:solidFill>
                      <a:srgbClr val="FFFFFF"/>
                    </a:solidFill>
                  </a:tcPr>
                </a:tc>
                <a:tc>
                  <a:txBody>
                    <a:bodyPr/>
                    <a:lstStyle/>
                    <a:p>
                      <a:pPr>
                        <a:defRPr sz="1200">
                          <a:solidFill>
                            <a:srgbClr val="1C1B33"/>
                          </a:solidFill>
                          <a:latin typeface="Yu Gothic"/>
                        </a:defRPr>
                      </a:pPr>
                      <a:r>
                        <a:t>2026年8月17日</a:t>
                      </a:r>
                    </a:p>
                  </a:txBody>
                  <a:tcPr>
                    <a:solidFill>
                      <a:srgbClr val="FFFFFF"/>
                    </a:solidFill>
                  </a:tcPr>
                </a:tc>
              </a:tr>
              <a:tr h="502920">
                <a:tc>
                  <a:txBody>
                    <a:bodyPr/>
                    <a:lstStyle/>
                    <a:p>
                      <a:pPr>
                        <a:defRPr sz="1200">
                          <a:solidFill>
                            <a:srgbClr val="1C1B33"/>
                          </a:solidFill>
                          <a:latin typeface="Yu Gothic"/>
                        </a:defRPr>
                      </a:pPr>
                      <a:r>
                        <a:t>開催地</a:t>
                      </a:r>
                    </a:p>
                  </a:txBody>
                  <a:tcPr>
                    <a:solidFill>
                      <a:srgbClr val="F4F3FC"/>
                    </a:solidFill>
                  </a:tcPr>
                </a:tc>
                <a:tc>
                  <a:txBody>
                    <a:bodyPr/>
                    <a:lstStyle/>
                    <a:p>
                      <a:pPr>
                        <a:defRPr sz="1200">
                          <a:solidFill>
                            <a:srgbClr val="1C1B33"/>
                          </a:solidFill>
                          <a:latin typeface="Yu Gothic"/>
                        </a:defRPr>
                      </a:pPr>
                      <a:r>
                        <a:t>中国・杭州</a:t>
                      </a:r>
                    </a:p>
                  </a:txBody>
                  <a:tcPr>
                    <a:solidFill>
                      <a:srgbClr val="F4F3FC"/>
                    </a:solidFill>
                  </a:tcPr>
                </a:tc>
              </a:tr>
              <a:tr h="502920">
                <a:tc>
                  <a:txBody>
                    <a:bodyPr/>
                    <a:lstStyle/>
                    <a:p>
                      <a:pPr>
                        <a:defRPr sz="1200">
                          <a:solidFill>
                            <a:srgbClr val="1C1B33"/>
                          </a:solidFill>
                          <a:latin typeface="Yu Gothic"/>
                        </a:defRPr>
                      </a:pPr>
                      <a:r>
                        <a:t>位置づけ</a:t>
                      </a:r>
                    </a:p>
                  </a:txBody>
                  <a:tcPr>
                    <a:solidFill>
                      <a:srgbClr val="FFFFFF"/>
                    </a:solidFill>
                  </a:tcPr>
                </a:tc>
                <a:tc>
                  <a:txBody>
                    <a:bodyPr/>
                    <a:lstStyle/>
                    <a:p>
                      <a:pPr>
                        <a:defRPr sz="1200">
                          <a:solidFill>
                            <a:srgbClr val="1C1B33"/>
                          </a:solidFill>
                          <a:latin typeface="Yu Gothic"/>
                        </a:defRPr>
                      </a:pPr>
                      <a:r>
                        <a:t>Alipay自社初のAIエコシステム・パートナーカンファレンス</a:t>
                      </a:r>
                    </a:p>
                  </a:txBody>
                  <a:tcPr>
                    <a:solidFill>
                      <a:srgbClr val="FFFFFF"/>
                    </a:solidFill>
                  </a:tcPr>
                </a:tc>
              </a:tr>
              <a:tr h="502920">
                <a:tc>
                  <a:txBody>
                    <a:bodyPr/>
                    <a:lstStyle/>
                    <a:p>
                      <a:pPr>
                        <a:defRPr sz="1200">
                          <a:solidFill>
                            <a:srgbClr val="1C1B33"/>
                          </a:solidFill>
                          <a:latin typeface="Yu Gothic"/>
                        </a:defRPr>
                      </a:pPr>
                      <a:r>
                        <a:t>発表の柱</a:t>
                      </a:r>
                    </a:p>
                  </a:txBody>
                  <a:tcPr>
                    <a:solidFill>
                      <a:srgbClr val="F4F3FC"/>
                    </a:solidFill>
                  </a:tcPr>
                </a:tc>
                <a:tc>
                  <a:txBody>
                    <a:bodyPr/>
                    <a:lstStyle/>
                    <a:p>
                      <a:pPr>
                        <a:defRPr sz="1200">
                          <a:solidFill>
                            <a:srgbClr val="1C1B33"/>
                          </a:solidFill>
                          <a:latin typeface="Yu Gothic"/>
                        </a:defRPr>
                      </a:pPr>
                      <a:r>
                        <a:t>エージェント型コマース基盤・新プロトコル「AHA」・Ah Bao連携・インセンティブプログラム</a:t>
                      </a:r>
                    </a:p>
                  </a:txBody>
                  <a:tcPr>
                    <a:solidFill>
                      <a:srgbClr val="F4F3FC"/>
                    </a:solidFill>
                  </a:tcPr>
                </a:tc>
              </a:tr>
              <a:tr h="502920">
                <a:tc>
                  <a:txBody>
                    <a:bodyPr/>
                    <a:lstStyle/>
                    <a:p>
                      <a:pPr>
                        <a:defRPr sz="1200">
                          <a:solidFill>
                            <a:srgbClr val="1C1B33"/>
                          </a:solidFill>
                          <a:latin typeface="Yu Gothic"/>
                        </a:defRPr>
                      </a:pPr>
                      <a:r>
                        <a:t>報道の広がり</a:t>
                      </a:r>
                    </a:p>
                  </a:txBody>
                  <a:tcPr>
                    <a:solidFill>
                      <a:srgbClr val="FFFFFF"/>
                    </a:solidFill>
                  </a:tcPr>
                </a:tc>
                <a:tc>
                  <a:txBody>
                    <a:bodyPr/>
                    <a:lstStyle/>
                    <a:p>
                      <a:pPr>
                        <a:defRPr sz="1200">
                          <a:solidFill>
                            <a:srgbClr val="1C1B33"/>
                          </a:solidFill>
                          <a:latin typeface="Yu Gothic"/>
                        </a:defRPr>
                      </a:pPr>
                      <a:r>
                        <a:t>2026年8月18日にかけて拡大</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TNGlobal・Finextra・Crowdfund Insider(2026-08-17〜18)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新基盤が提供する2種類の機能</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事業者のAI活用段階に応じた機能です。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デジタル化済みでAI活用ができていない事業者向けに、ウェブページ・商品・業務フローを『エージェント対応スキル』やMCPツールに変換する機能を提供する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すでにAIサービスを運用している事業者向けには、商品レコメンドや会員プログラム対応などを行うAIエージェントの構築・管理機能を提供する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事業者のAI活用段階に応じて異なる機能を用意している構成である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TNGlobal・Finextra・The Paypers(2026-08-17〜18)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AI未活用の事業者向け機能の流れ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デジタル化済み・AI未活用の事業者</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ウェブページ・商品・業務フローを保有</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エージェント対応スキル/MCPツールへ変換</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新基盤が変換機能を提供する</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AIエージェント経由での接客が可能に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商品レコメンド・会員対応等に活用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デジタル化は済んでいるがAI活用ができていない事業者を主な対象とした変換の流れ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TNGlobal・Finextra(2026-08-17〜18)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新プロトコルスイート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AHA(Agent Hub Access)</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マルチエージェント・複数端末間連携のための新プロトコルスイートとして同時発表された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TNGlobal・Finextra・Crowdfund Insider(2026-08-17〜18)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「AHA」の技術仕様は不明(正直な開示)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『AHA』の技術的な仕様の詳細(通信方式・対応端末の条件等)は本調査の範囲では確認できていない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『マルチエージェント・複数端末間連携のための新プロトコルスイート』という位置づけのみが報じられている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本成果物では確認できた範囲の情報のみを紹介し、仕様を推測で補わない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消費者向けAIエージェント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Ah Bao(阿宝)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Alipayの消費者向けAIエージェント。スマホブランド5社・自動車メーカー16社と連携していることが公表された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TNGlobal・Finextra・SecurityBrief Asia(2026-08-17〜18)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連携規模まとめ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5社</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連携スマートフォンブランド</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中国市場シェア合計70%超を占める5ブランドと連携</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16社</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連携自動車メーカー</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自動車メーカー16社と連携</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70%超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スマホ市場シェア合計</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連携5ブランドの中国市場シェア合計</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TNGlobal・Finextra・SecurityBrief Asia(2026-08-17〜18)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スマートフォンとの連携</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5ブランド・市場シェア合計70%超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Ah Baoが中国市場シェア合計70%超を占めるスマートフォンブランド5社と連携している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TNGlobal・SecurityBrief Asia(2026-08-17〜18)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自動車メーカーとの連携</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自動車メーカー16社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Ah Baoが自動車メーカー16社と連携している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TNGlobal・Finextra(2026-08-17〜18)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個別企業名は不明(正直な開示)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連携スマホブランド数</a:t>
                      </a:r>
                    </a:p>
                  </a:txBody>
                  <a:tcPr>
                    <a:solidFill>
                      <a:srgbClr val="FFFFFF"/>
                    </a:solidFill>
                  </a:tcPr>
                </a:tc>
                <a:tc>
                  <a:txBody>
                    <a:bodyPr/>
                    <a:lstStyle/>
                    <a:p>
                      <a:pPr>
                        <a:defRPr sz="1200">
                          <a:solidFill>
                            <a:srgbClr val="1C1B33"/>
                          </a:solidFill>
                          <a:latin typeface="Yu Gothic"/>
                        </a:defRPr>
                      </a:pPr>
                      <a:r>
                        <a:t>5社(中国市場シェア合計70%超)</a:t>
                      </a:r>
                    </a:p>
                  </a:txBody>
                  <a:tcPr>
                    <a:solidFill>
                      <a:srgbClr val="FFFFFF"/>
                    </a:solidFill>
                  </a:tcPr>
                </a:tc>
              </a:tr>
              <a:tr h="502920">
                <a:tc>
                  <a:txBody>
                    <a:bodyPr/>
                    <a:lstStyle/>
                    <a:p>
                      <a:pPr>
                        <a:defRPr sz="1200">
                          <a:solidFill>
                            <a:srgbClr val="1C1B33"/>
                          </a:solidFill>
                          <a:latin typeface="Yu Gothic"/>
                        </a:defRPr>
                      </a:pPr>
                      <a:r>
                        <a:t>連携自動車メーカー数</a:t>
                      </a:r>
                    </a:p>
                  </a:txBody>
                  <a:tcPr>
                    <a:solidFill>
                      <a:srgbClr val="F4F3FC"/>
                    </a:solidFill>
                  </a:tcPr>
                </a:tc>
                <a:tc>
                  <a:txBody>
                    <a:bodyPr/>
                    <a:lstStyle/>
                    <a:p>
                      <a:pPr>
                        <a:defRPr sz="1200">
                          <a:solidFill>
                            <a:srgbClr val="1C1B33"/>
                          </a:solidFill>
                          <a:latin typeface="Yu Gothic"/>
                        </a:defRPr>
                      </a:pPr>
                      <a:r>
                        <a:t>16社</a:t>
                      </a:r>
                    </a:p>
                  </a:txBody>
                  <a:tcPr>
                    <a:solidFill>
                      <a:srgbClr val="F4F3FC"/>
                    </a:solidFill>
                  </a:tcPr>
                </a:tc>
              </a:tr>
              <a:tr h="502920">
                <a:tc>
                  <a:txBody>
                    <a:bodyPr/>
                    <a:lstStyle/>
                    <a:p>
                      <a:pPr>
                        <a:defRPr sz="1200">
                          <a:solidFill>
                            <a:srgbClr val="1C1B33"/>
                          </a:solidFill>
                          <a:latin typeface="Yu Gothic"/>
                        </a:defRPr>
                      </a:pPr>
                      <a:r>
                        <a:t>各社の個別企業名</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参加事業者向けの支援策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AIビジネス・インセンティブ・プログラム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1事業者あたり1億トークン無償提供・取引補助金・決済手数料の割引を含むプログラムを発表した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TNGlobal・Finextra・Crowdfund Insider・The Paypers(2026-08-17〜18)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インセンティブプログラムの内訳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1億トークン</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無償提供</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1事業者あたり1億トークンを無償提供する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取引補助金</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補助金</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取引に対する補助金を提供する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手数料割引</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決済手数料</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決済手数料の割引を提供する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TNGlobal・Finextra・Crowdfund Insider(2026-08-17〜18)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インセンティブの金額詳細は不明(正直な開示)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取引補助金・決済手数料割引の具体的な金額・割引率・適用条件の詳細は本調査の範囲では確認できていない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『1億トークン』の対象範囲・有効期間等の詳細も確認できていない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確認できた項目のみを紹介し、金額・条件を推測で補わない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市場の反応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アリババ株価5%上昇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発表を受け、親会社アリババ(Alibaba)の株価が5%上昇したと報じられている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Blockonomi(2026-08-17〜18)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株価反応を扱う際の注意点(正直な開示)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上昇が発表当日のどの時点の株価と比較したものかは本調査の範囲では確認できていない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上昇要因が今回の発表のみによるものかどうかも本調査の範囲では確認できていない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株価の変動は多様な要因の複合であるため、本発表と単純に因果づけない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AHAの技術仕様も含めすべて公開されているはず</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スマホ5社・自動車16社の社名も分かっているはず</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株価上昇はこの発表だけが理由と確定しているはず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確認できているのは基盤・プロトコル名称と連携規模の数字のみ</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個別企業名は本調査の範囲では確認できていない</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株価上昇の比較基準・単独要因かどうかは不明</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決済大手がエージェント型コマースに本格参入した事例として、継続的に動向を確認する視点が役立つ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事業者としてAI活用を検討する立場として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インセンティブ・技術仕様は非公開の部分が多く、実際の導入判断は公式情報の追加確認が必要</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投資・市場動向を追う立場として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株価反応はあくまで一時点の報道であり、単独の因果関係と断定せず追加情報を確認する必要がある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発表内容は企業側の発表であり、実際の提供時期・対象範囲は別途公式情報の確認が望ましい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スマホ・自動車との『連携』の具体的な技術的・契約的な内容の詳細は本調査の範囲では確認できていない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導入・活用を検討する場合は、本成果物の紹介にとどまらず自身で最新の公式情報を確認することが望ましい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海外展開の計画は不明(正直な開示)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今後の展開についても正直にお伝えします。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日本を含む海外展開の計画有無は本調査の範囲では確認できていない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今回の発表は中国国内を前提とした内容であり、海外展開に言及した報道は確認できていない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本成果物では将来の展開について推測・断定を行わない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基盤発表・カンファレンス概要</a:t>
                      </a:r>
                    </a:p>
                  </a:txBody>
                  <a:tcPr>
                    <a:solidFill>
                      <a:srgbClr val="FFFFFF"/>
                    </a:solidFill>
                  </a:tcPr>
                </a:tc>
                <a:tc>
                  <a:txBody>
                    <a:bodyPr/>
                    <a:lstStyle/>
                    <a:p>
                      <a:pPr>
                        <a:defRPr sz="1200">
                          <a:solidFill>
                            <a:srgbClr val="1C1B33"/>
                          </a:solidFill>
                          <a:latin typeface="Yu Gothic"/>
                        </a:defRPr>
                      </a:pPr>
                      <a:r>
                        <a:t>複数媒体で一致して確認済み</a:t>
                      </a:r>
                    </a:p>
                  </a:txBody>
                  <a:tcPr>
                    <a:solidFill>
                      <a:srgbClr val="FFFFFF"/>
                    </a:solidFill>
                  </a:tcPr>
                </a:tc>
              </a:tr>
              <a:tr h="502920">
                <a:tc>
                  <a:txBody>
                    <a:bodyPr/>
                    <a:lstStyle/>
                    <a:p>
                      <a:pPr>
                        <a:defRPr sz="1200">
                          <a:solidFill>
                            <a:srgbClr val="1C1B33"/>
                          </a:solidFill>
                          <a:latin typeface="Yu Gothic"/>
                        </a:defRPr>
                      </a:pPr>
                      <a:r>
                        <a:t>連携規模(スマホ5社・自動車16社)</a:t>
                      </a:r>
                    </a:p>
                  </a:txBody>
                  <a:tcPr>
                    <a:solidFill>
                      <a:srgbClr val="F4F3FC"/>
                    </a:solidFill>
                  </a:tcPr>
                </a:tc>
                <a:tc>
                  <a:txBody>
                    <a:bodyPr/>
                    <a:lstStyle/>
                    <a:p>
                      <a:pPr>
                        <a:defRPr sz="1200">
                          <a:solidFill>
                            <a:srgbClr val="1C1B33"/>
                          </a:solidFill>
                          <a:latin typeface="Yu Gothic"/>
                        </a:defRPr>
                      </a:pPr>
                      <a:r>
                        <a:t>確認済み(個別社名は不明)</a:t>
                      </a:r>
                    </a:p>
                  </a:txBody>
                  <a:tcPr>
                    <a:solidFill>
                      <a:srgbClr val="F4F3FC"/>
                    </a:solidFill>
                  </a:tcPr>
                </a:tc>
              </a:tr>
              <a:tr h="502920">
                <a:tc>
                  <a:txBody>
                    <a:bodyPr/>
                    <a:lstStyle/>
                    <a:p>
                      <a:pPr>
                        <a:defRPr sz="1200">
                          <a:solidFill>
                            <a:srgbClr val="1C1B33"/>
                          </a:solidFill>
                          <a:latin typeface="Yu Gothic"/>
                        </a:defRPr>
                      </a:pPr>
                      <a:r>
                        <a:t>インセンティブプログラムの種類</a:t>
                      </a:r>
                    </a:p>
                  </a:txBody>
                  <a:tcPr>
                    <a:solidFill>
                      <a:srgbClr val="FFFFFF"/>
                    </a:solidFill>
                  </a:tcPr>
                </a:tc>
                <a:tc>
                  <a:txBody>
                    <a:bodyPr/>
                    <a:lstStyle/>
                    <a:p>
                      <a:pPr>
                        <a:defRPr sz="1200">
                          <a:solidFill>
                            <a:srgbClr val="1C1B33"/>
                          </a:solidFill>
                          <a:latin typeface="Yu Gothic"/>
                        </a:defRPr>
                      </a:pPr>
                      <a:r>
                        <a:t>確認済み(具体的な金額・条件は不明)</a:t>
                      </a:r>
                    </a:p>
                  </a:txBody>
                  <a:tcPr>
                    <a:solidFill>
                      <a:srgbClr val="FFFFFF"/>
                    </a:solidFill>
                  </a:tcPr>
                </a:tc>
              </a:tr>
              <a:tr h="502920">
                <a:tc>
                  <a:txBody>
                    <a:bodyPr/>
                    <a:lstStyle/>
                    <a:p>
                      <a:pPr>
                        <a:defRPr sz="1200">
                          <a:solidFill>
                            <a:srgbClr val="1C1B33"/>
                          </a:solidFill>
                          <a:latin typeface="Yu Gothic"/>
                        </a:defRPr>
                      </a:pPr>
                      <a:r>
                        <a:t>市場の反応(株価5%上昇)</a:t>
                      </a:r>
                    </a:p>
                  </a:txBody>
                  <a:tcPr>
                    <a:solidFill>
                      <a:srgbClr val="F4F3FC"/>
                    </a:solidFill>
                  </a:tcPr>
                </a:tc>
                <a:tc>
                  <a:txBody>
                    <a:bodyPr/>
                    <a:lstStyle/>
                    <a:p>
                      <a:pPr>
                        <a:defRPr sz="1200">
                          <a:solidFill>
                            <a:srgbClr val="1C1B33"/>
                          </a:solidFill>
                          <a:latin typeface="Yu Gothic"/>
                        </a:defRPr>
                      </a:pPr>
                      <a:r>
                        <a:t>確認済み(比較基準は不明)</a:t>
                      </a:r>
                    </a:p>
                  </a:txBody>
                  <a:tcPr>
                    <a:solidFill>
                      <a:srgbClr val="F4F3FC"/>
                    </a:solidFill>
                  </a:tcPr>
                </a:tc>
              </a:tr>
              <a:tr h="502920">
                <a:tc>
                  <a:txBody>
                    <a:bodyPr/>
                    <a:lstStyle/>
                    <a:p>
                      <a:pPr>
                        <a:defRPr sz="1200">
                          <a:solidFill>
                            <a:srgbClr val="1C1B33"/>
                          </a:solidFill>
                          <a:latin typeface="Yu Gothic"/>
                        </a:defRPr>
                      </a:pPr>
                      <a:r>
                        <a:t>AHAの技術仕様・海外展開計画</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発表から2日後に着手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カンファレンス開催(2026年8月17日)は着手日(2026年8月19日)の2日前。報道は8月18日にかけて拡大が続いていることを踏まえて採用した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TNGlobal(technode.global)</a:t>
                      </a:r>
                    </a:p>
                  </a:txBody>
                  <a:tcPr>
                    <a:solidFill>
                      <a:srgbClr val="FFFFFF"/>
                    </a:solidFill>
                  </a:tcPr>
                </a:tc>
                <a:tc>
                  <a:txBody>
                    <a:bodyPr/>
                    <a:lstStyle/>
                    <a:p>
                      <a:pPr>
                        <a:defRPr sz="1200">
                          <a:solidFill>
                            <a:srgbClr val="1C1B33"/>
                          </a:solidFill>
                          <a:latin typeface="Yu Gothic"/>
                        </a:defRPr>
                      </a:pPr>
                      <a:r>
                        <a:t>基盤発表・AHA・連携規模の報道</a:t>
                      </a:r>
                    </a:p>
                  </a:txBody>
                  <a:tcPr>
                    <a:solidFill>
                      <a:srgbClr val="FFFFFF"/>
                    </a:solidFill>
                  </a:tcPr>
                </a:tc>
              </a:tr>
              <a:tr h="502920">
                <a:tc>
                  <a:txBody>
                    <a:bodyPr/>
                    <a:lstStyle/>
                    <a:p>
                      <a:pPr>
                        <a:defRPr sz="1200">
                          <a:solidFill>
                            <a:srgbClr val="1C1B33"/>
                          </a:solidFill>
                          <a:latin typeface="Yu Gothic"/>
                        </a:defRPr>
                      </a:pPr>
                      <a:r>
                        <a:t>Finextra</a:t>
                      </a:r>
                    </a:p>
                  </a:txBody>
                  <a:tcPr>
                    <a:solidFill>
                      <a:srgbClr val="F4F3FC"/>
                    </a:solidFill>
                  </a:tcPr>
                </a:tc>
                <a:tc>
                  <a:txBody>
                    <a:bodyPr/>
                    <a:lstStyle/>
                    <a:p>
                      <a:pPr>
                        <a:defRPr sz="1200">
                          <a:solidFill>
                            <a:srgbClr val="1C1B33"/>
                          </a:solidFill>
                          <a:latin typeface="Yu Gothic"/>
                        </a:defRPr>
                      </a:pPr>
                      <a:r>
                        <a:t>基盤発表・インセンティブプログラムの報道</a:t>
                      </a:r>
                    </a:p>
                  </a:txBody>
                  <a:tcPr>
                    <a:solidFill>
                      <a:srgbClr val="F4F3FC"/>
                    </a:solidFill>
                  </a:tcPr>
                </a:tc>
              </a:tr>
              <a:tr h="502920">
                <a:tc>
                  <a:txBody>
                    <a:bodyPr/>
                    <a:lstStyle/>
                    <a:p>
                      <a:pPr>
                        <a:defRPr sz="1200">
                          <a:solidFill>
                            <a:srgbClr val="1C1B33"/>
                          </a:solidFill>
                          <a:latin typeface="Yu Gothic"/>
                        </a:defRPr>
                      </a:pPr>
                      <a:r>
                        <a:t>Crowdfund Insider</a:t>
                      </a:r>
                    </a:p>
                  </a:txBody>
                  <a:tcPr>
                    <a:solidFill>
                      <a:srgbClr val="FFFFFF"/>
                    </a:solidFill>
                  </a:tcPr>
                </a:tc>
                <a:tc>
                  <a:txBody>
                    <a:bodyPr/>
                    <a:lstStyle/>
                    <a:p>
                      <a:pPr>
                        <a:defRPr sz="1200">
                          <a:solidFill>
                            <a:srgbClr val="1C1B33"/>
                          </a:solidFill>
                          <a:latin typeface="Yu Gothic"/>
                        </a:defRPr>
                      </a:pPr>
                      <a:r>
                        <a:t>AHA・インセンティブプログラムの報道</a:t>
                      </a:r>
                    </a:p>
                  </a:txBody>
                  <a:tcPr>
                    <a:solidFill>
                      <a:srgbClr val="FFFFFF"/>
                    </a:solidFill>
                  </a:tcPr>
                </a:tc>
              </a:tr>
              <a:tr h="502920">
                <a:tc>
                  <a:txBody>
                    <a:bodyPr/>
                    <a:lstStyle/>
                    <a:p>
                      <a:pPr>
                        <a:defRPr sz="1200">
                          <a:solidFill>
                            <a:srgbClr val="1C1B33"/>
                          </a:solidFill>
                          <a:latin typeface="Yu Gothic"/>
                        </a:defRPr>
                      </a:pPr>
                      <a:r>
                        <a:t>The Paypers</a:t>
                      </a:r>
                    </a:p>
                  </a:txBody>
                  <a:tcPr>
                    <a:solidFill>
                      <a:srgbClr val="F4F3FC"/>
                    </a:solidFill>
                  </a:tcPr>
                </a:tc>
                <a:tc>
                  <a:txBody>
                    <a:bodyPr/>
                    <a:lstStyle/>
                    <a:p>
                      <a:pPr>
                        <a:defRPr sz="1200">
                          <a:solidFill>
                            <a:srgbClr val="1C1B33"/>
                          </a:solidFill>
                          <a:latin typeface="Yu Gothic"/>
                        </a:defRPr>
                      </a:pPr>
                      <a:r>
                        <a:t>基盤機能・インセンティブプログラムの報道</a:t>
                      </a:r>
                    </a:p>
                  </a:txBody>
                  <a:tcPr>
                    <a:solidFill>
                      <a:srgbClr val="F4F3FC"/>
                    </a:solidFill>
                  </a:tcPr>
                </a:tc>
              </a:tr>
              <a:tr h="502920">
                <a:tc>
                  <a:txBody>
                    <a:bodyPr/>
                    <a:lstStyle/>
                    <a:p>
                      <a:pPr>
                        <a:defRPr sz="1200">
                          <a:solidFill>
                            <a:srgbClr val="1C1B33"/>
                          </a:solidFill>
                          <a:latin typeface="Yu Gothic"/>
                        </a:defRPr>
                      </a:pPr>
                      <a:r>
                        <a:t>SecurityBrief Asia</a:t>
                      </a:r>
                    </a:p>
                  </a:txBody>
                  <a:tcPr>
                    <a:solidFill>
                      <a:srgbClr val="FFFFFF"/>
                    </a:solidFill>
                  </a:tcPr>
                </a:tc>
                <a:tc>
                  <a:txBody>
                    <a:bodyPr/>
                    <a:lstStyle/>
                    <a:p>
                      <a:pPr>
                        <a:defRPr sz="1200">
                          <a:solidFill>
                            <a:srgbClr val="1C1B33"/>
                          </a:solidFill>
                          <a:latin typeface="Yu Gothic"/>
                        </a:defRPr>
                      </a:pPr>
                      <a:r>
                        <a:t>基盤発表・連携規模の報道</a:t>
                      </a:r>
                    </a:p>
                  </a:txBody>
                  <a:tcPr>
                    <a:solidFill>
                      <a:srgbClr val="FFFFFF"/>
                    </a:solidFill>
                  </a:tcPr>
                </a:tc>
              </a:tr>
              <a:tr h="502920">
                <a:tc>
                  <a:txBody>
                    <a:bodyPr/>
                    <a:lstStyle/>
                    <a:p>
                      <a:pPr>
                        <a:defRPr sz="1200">
                          <a:solidFill>
                            <a:srgbClr val="1C1B33"/>
                          </a:solidFill>
                          <a:latin typeface="Yu Gothic"/>
                        </a:defRPr>
                      </a:pPr>
                      <a:r>
                        <a:t>Blockonomi</a:t>
                      </a:r>
                    </a:p>
                  </a:txBody>
                  <a:tcPr>
                    <a:solidFill>
                      <a:srgbClr val="F4F3FC"/>
                    </a:solidFill>
                  </a:tcPr>
                </a:tc>
                <a:tc>
                  <a:txBody>
                    <a:bodyPr/>
                    <a:lstStyle/>
                    <a:p>
                      <a:pPr>
                        <a:defRPr sz="1200">
                          <a:solidFill>
                            <a:srgbClr val="1C1B33"/>
                          </a:solidFill>
                          <a:latin typeface="Yu Gothic"/>
                        </a:defRPr>
                      </a:pPr>
                      <a:r>
                        <a:t>株価反応の報道</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TNGlobal・Finextra・Crowdfund Insider・The Paypers・SecurityBrief Asia・Blockonomi(2026-08-17)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中国初のエージェント型コマース基盤。事実だけを、出典付きで。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Alipayが発表した新基盤・新プロトコル「AHA」・Ah Bao連携・インセンティブプログラムを出典付きで整理してお届けしました。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