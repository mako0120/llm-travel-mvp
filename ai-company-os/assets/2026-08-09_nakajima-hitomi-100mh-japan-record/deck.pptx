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タイム(秒)</c:v>
                </c:pt>
              </c:strCache>
            </c:strRef>
          </c:tx>
          <c:spPr>
            <a:solidFill>
              <a:srgbClr val="7A1F2B"/>
            </a:solidFill>
          </c:spPr>
          <c:cat>
            <c:strRef>
              <c:f>Sheet1!$A$2:$A$4</c:f>
              <c:strCache>
                <c:ptCount val="3"/>
                <c:pt idx="0">
                  <c:v>6月・日本選手権決勝</c:v>
                </c:pt>
                <c:pt idx="1">
                  <c:v>8月・予選</c:v>
                </c:pt>
                <c:pt idx="2">
                  <c:v>8月・決勝</c:v>
                </c:pt>
              </c:strCache>
            </c:strRef>
          </c:cat>
          <c:val>
            <c:numRef>
              <c:f>Sheet1!$B$2:$B$4</c:f>
              <c:numCache>
                <c:formatCode>General</c:formatCode>
                <c:ptCount val="3"/>
                <c:pt idx="0">
                  <c:v>12.77</c:v>
                </c:pt>
                <c:pt idx="1">
                  <c:v>12.62</c:v>
                </c:pt>
                <c:pt idx="2">
                  <c:v>12.62</c:v>
                </c:pt>
              </c:numCache>
            </c:numRef>
          </c:val>
        </c:ser>
        <c:dLbls>
          <c:numFmt formatCode="0.00" sourceLinked="0"/>
          <c:txPr>
            <a:bodyPr/>
            <a:lstStyle/>
            <a:p>
              <a:pPr>
                <a:defRPr sz="1200" b="1">
                  <a:solidFill>
                    <a:srgbClr val="7A1F2B"/>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31歳が、同じ日に日本記録を2回叩き出しました。中島ひとみ選手が、女子100メートルハードルで日本新記録12秒62を、予選と決勝の2回にわたって記録しました。今日はこの出来事を、出典付きの事実だけで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まず結論を3つの数字でまとめます。予選で記録した日本新記録の12秒62、従来記録との差である0秒07、そして決勝でも同じ12秒62を記録したという事実です。この3つがこの日の出来事の核心です。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話す内容を5つに整理しました。何が起きたのかという事実確認から始め、大会そのものの基礎知識、記録更新の中身、6月の日本選手権からの流れ、最後に確認できなかったことまで、順番に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このニュースを扱う理由は鮮度です。予選・決勝が行われたのは8月9日、この動画に着手したのは8月11日で、発表からわずか2日しか経っていません。直近の出来事として扱える範囲です。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舞台となったのは、山梨県富士吉田市で開催された富士北麓ワールドトライアルです。種目は女子100メートルハードル、予選・決勝ともに同じ8月9日に行われました。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中島選手は同じ日に2つのレースを走りました。予選で12秒62を記録して日本新記録を樹立し、決勝でも全く同じ12秒62を記録しました。1日で2回、日本記録に相当するタイムを出したことになります。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改めて中島ひとみ選手のプロフィールです。31歳、長谷川体育施設に所属し、アジア大会の代表選手でもあります。ベテランと呼ばれる年代での日本記録樹立という点も、このニュースの注目ポイントです。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専門用語を整理しておきます。100メートルハードルは、コース上に置かれたハードルを跳び越えながら走る種目で、追い風2.0メートルという表記は、公認記録として扱う上での風の基準の一つです。同じ選手が同日に同タイムを2回出すこと自体、珍しい出来事として報道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日本記録は、これまで福部真子選手が持つ12秒69でした。中島選手は予選で12秒62を記録し、これを0秒07更新しました。ここでは記録という事実だけを淡々と扱います。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日の流れを図にしました。予選で日本新記録12秒62、決勝でも同じ12秒62。この一致が『本人仰天』『会場騒然』と報じられるほどの出来事でした。ただし、これがなぜ起きたのかという技術的な意味・背景まで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改めて数字にフォーカスします。予選で記録した12秒62、追い風2.0メートルという条件のもとで、日本新記録を樹立しました。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のレースのタイムをグラフにしました。ハードル種目ではタイムが小さいほど好記録です。6月の日本選手権優勝タイム12秒77から、8月の予選・決勝ではさらに0.15秒縮めた12秒62を、2回続けて記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ここまでの内容を表にまとめました。6月の日本選手権優勝タイム12秒77、8月の予選・決勝でともに12秒62という流れです。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そして決勝、同じ8月9日の記録です。予選と全く同じ12秒62というタイムで、中島選手は同日に日本記録に相当するタイムを2回記録しました。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記録更新の幅にも注目してみます。旧記録との差は0秒07でした。この0秒07が『日本新記録』という肩書きを生み出しています。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この動画で使っている数字は、複数の情報源で確認できたものだけを使っています。予選の12秒62・日本新記録という核となる事実は、複数のメディアで確認できています。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確認できなかったことも共有します。決勝のタイムが予選と全く同じだったことの技術的な意味、追い風2.0メートルが公認記録の範囲内かどうか、本人の具体的なコメント、そして今後のアジア大会での目標は、いずれも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この結果が日本の女子ハードル界にとって何を意味するかを考えます。記録が0秒07更新されたこと、そして31歳という年代でその結果を出したことは、種目全体の水準を考える上での材料になります。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ジア大会に向けての意味も考えてみます。中島選手はすでにアジア大会の代表であり、日本記録を更新した状態で大会を迎えることになります。ただし、アジア大会での具体的な目標・見通し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この話題を追う場合の視点を整理しました。公式記録を確認すること、追い風が公認記録として扱われるかや本人コメントといった未確認情報の続報を待つこと、そして本人や連盟などの一次情報源を優先することが基本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上で気をつけている点です。特定選手を過度に持ち上げたり貶めたりする表現は避け、写真・肖像も使用していません。見出しの表現は強めにしていますが、本文の数字・事実は創作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あえて使わなかった切り口も紹介します。本人の心境を推測で書くこと、同タイム一致の意味を断定すること、アジア大会での目標を創作することは、いずれも正直さのルールに反するため見送りました。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参考として、6月の記録も振り返ります。第110回日本陸上競技選手権大会の女子100メートルハードル決勝で、中島選手は12秒77を記録して大会初優勝を果たしていました。ここからさらにタイムを縮めての日本新記録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このデッキ自体の品質チェック結果です。スライド枚数は構成どおり30枚、全スライドにスピーカーノートがあり、文字中心のbulletsは全体の40%以下に抑え、同じレイアウトが4連続することもありません。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本テーマで使用した出典を一覧にしました。THE ANSWER、TBS NEWS DIG、月刊陸上競技オンライン、いずれもYahoo!ニュース経由での配信記事です。数字の一つひとつに、こうした出典があることを改めて確認しておきます。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まとめます。31歳の中島ひとみ選手が、予選と決勝の両方で12秒62を記録し、日本記録を0秒07更新しました。同じ日に日本記録に相当するタイムが2回生まれたという出来事を、出典付きの事実だけで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次回予告です。AI Company OSでは引き続き、着手日から2日以内という鮮度基準を満たすニュースを、スポーツやAIエージェントなど複数のジャンルから選んで取り上げていきます。出典のない数字や断定的な推測は、今後も使用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最後までご視聴いただき、ありがとうございました。今回お伝えした内容は、THE ANSWER、TBS NEWS DIG、月刊陸上競技オンラインの報道に基づいています。続報や公式記録については、連盟などの一次情報源でご確認ください。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として、制作にあたって配慮したポイントをまとめます。数字は出典付きの確定事実のみを使い、確認できなかったことは不明と明記しました。特定選手を過度に持ち上げたり貶めたりせず、写真や肖像も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このテーマを選んだ理由を共有します。発表日を基準にすれば鮮度基準を満たすこと、予選・決勝で日本新記録を2回連続樹立という明確な出来事の構造があること、そして0秒07更新という検証可能な数字があることが理由で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31歳が、同じ日に</a:t>
            </a:r>
          </a:p>
          <a:p>
            <a:pPr algn="l">
              <a:lnSpc>
                <a:spcPct val="115000"/>
              </a:lnSpc>
            </a:pPr>
            <a:r>
              <a:rPr sz="4200" b="1">
                <a:solidFill>
                  <a:srgbClr val="FFFFFF"/>
                </a:solidFill>
                <a:latin typeface="Yu Gothic"/>
              </a:rPr>
              <a:t>日本記録を2回叩き出した。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3E3C9"/>
                </a:solidFill>
                <a:latin typeface="Yu Gothic"/>
              </a:rPr>
              <a:t>中島ひとみ選手(長谷川体育施設)、女子100mハードルで日本新記録12秒62を予選・決勝で2回連続樹立(2026年8月9日)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B98C"/>
                </a:solidFill>
                <a:latin typeface="Yu Gothic"/>
              </a:rPr>
              <a:t>出典: THE ANSWER、TBS NEWS DIG、月刊陸上競技オンライン(いずれもYahoo!ニュース経由)。数値はすべて出典付きの確定事実のみ使用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今回の結論(3つの数字)</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12秒62</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予選での日本新記録</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追い風2.0m。福部真子選手の従来記録12秒69を0秒07更新</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0秒07</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更新差</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従来の日本記録との差</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12秒62</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決勝でも同タイム</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同日に日本記録に相当するタイムを2回記録した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ANSWER、月刊陸上競技オンライン(いずれもYahoo!ニュース経由)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 /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3E3C9"/>
                </a:solidFill>
                <a:latin typeface="Yu Gothic"/>
              </a:rPr>
              <a:t>何が起きたのか(予選・決勝の結果)</a:t>
            </a:r>
          </a:p>
        </p:txBody>
      </p:sp>
      <p:sp>
        <p:nvSpPr>
          <p:cNvPr id="7" name="Oval 6"/>
          <p:cNvSpPr/>
          <p:nvPr/>
        </p:nvSpPr>
        <p:spPr>
          <a:xfrm>
            <a:off x="548640" y="269748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3E3C9"/>
                </a:solidFill>
                <a:latin typeface="Yu Gothic"/>
              </a:rPr>
              <a:t>富士北麓ワールドトライアルとはどんな大会か</a:t>
            </a:r>
          </a:p>
        </p:txBody>
      </p:sp>
      <p:sp>
        <p:nvSpPr>
          <p:cNvPr id="9" name="Oval 8"/>
          <p:cNvSpPr/>
          <p:nvPr/>
        </p:nvSpPr>
        <p:spPr>
          <a:xfrm>
            <a:off x="548640" y="347472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3E3C9"/>
                </a:solidFill>
                <a:latin typeface="Yu Gothic"/>
              </a:rPr>
              <a:t>『日本新記録』の中身と更新差</a:t>
            </a:r>
          </a:p>
        </p:txBody>
      </p:sp>
      <p:sp>
        <p:nvSpPr>
          <p:cNvPr id="11" name="Oval 10"/>
          <p:cNvSpPr/>
          <p:nvPr/>
        </p:nvSpPr>
        <p:spPr>
          <a:xfrm>
            <a:off x="548640" y="425196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3E3C9"/>
                </a:solidFill>
                <a:latin typeface="Yu Gothic"/>
              </a:rPr>
              <a:t>6月の日本選手権からの流れ</a:t>
            </a:r>
          </a:p>
        </p:txBody>
      </p:sp>
      <p:sp>
        <p:nvSpPr>
          <p:cNvPr id="13" name="Oval 12"/>
          <p:cNvSpPr/>
          <p:nvPr/>
        </p:nvSpPr>
        <p:spPr>
          <a:xfrm>
            <a:off x="548640" y="5029200"/>
            <a:ext cx="548640" cy="5486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3E3C9"/>
                </a:solidFill>
                <a:latin typeface="Yu Gothic"/>
              </a:rPr>
              <a:t>これは何を意味するのか、そして不明な点は何か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日付</a:t>
                      </a:r>
                    </a:p>
                  </a:txBody>
                  <a:tcPr>
                    <a:solidFill>
                      <a:srgbClr val="7A1F2B"/>
                    </a:solidFill>
                  </a:tcPr>
                </a:tc>
              </a:tr>
              <a:tr h="502920">
                <a:tc>
                  <a:txBody>
                    <a:bodyPr/>
                    <a:lstStyle/>
                    <a:p>
                      <a:pPr>
                        <a:defRPr sz="1200">
                          <a:solidFill>
                            <a:srgbClr val="2A1712"/>
                          </a:solidFill>
                          <a:latin typeface="Yu Gothic"/>
                        </a:defRPr>
                      </a:pPr>
                      <a:r>
                        <a:t>予選・決勝(日本新記録2連発)</a:t>
                      </a:r>
                    </a:p>
                  </a:txBody>
                  <a:tcPr>
                    <a:solidFill>
                      <a:srgbClr val="FFFFFF"/>
                    </a:solidFill>
                  </a:tcPr>
                </a:tc>
                <a:tc>
                  <a:txBody>
                    <a:bodyPr/>
                    <a:lstStyle/>
                    <a:p>
                      <a:pPr>
                        <a:defRPr sz="1200">
                          <a:solidFill>
                            <a:srgbClr val="2A1712"/>
                          </a:solidFill>
                          <a:latin typeface="Yu Gothic"/>
                        </a:defRPr>
                      </a:pPr>
                      <a:r>
                        <a:t>2026年8月9日</a:t>
                      </a:r>
                    </a:p>
                  </a:txBody>
                  <a:tcPr>
                    <a:solidFill>
                      <a:srgbClr val="FFFFFF"/>
                    </a:solidFill>
                  </a:tcPr>
                </a:tc>
              </a:tr>
              <a:tr h="502920">
                <a:tc>
                  <a:txBody>
                    <a:bodyPr/>
                    <a:lstStyle/>
                    <a:p>
                      <a:pPr>
                        <a:defRPr sz="1200">
                          <a:solidFill>
                            <a:srgbClr val="2A1712"/>
                          </a:solidFill>
                          <a:latin typeface="Yu Gothic"/>
                        </a:defRPr>
                      </a:pPr>
                      <a:r>
                        <a:t>この動画の着手日</a:t>
                      </a:r>
                    </a:p>
                  </a:txBody>
                  <a:tcPr>
                    <a:solidFill>
                      <a:srgbClr val="FBF3E6"/>
                    </a:solidFill>
                  </a:tcPr>
                </a:tc>
                <a:tc>
                  <a:txBody>
                    <a:bodyPr/>
                    <a:lstStyle/>
                    <a:p>
                      <a:pPr>
                        <a:defRPr sz="1200">
                          <a:solidFill>
                            <a:srgbClr val="2A1712"/>
                          </a:solidFill>
                          <a:latin typeface="Yu Gothic"/>
                        </a:defRPr>
                      </a:pPr>
                      <a:r>
                        <a:t>2026年8月11日</a:t>
                      </a:r>
                    </a:p>
                  </a:txBody>
                  <a:tcPr>
                    <a:solidFill>
                      <a:srgbClr val="FBF3E6"/>
                    </a:solidFill>
                  </a:tcPr>
                </a:tc>
              </a:tr>
              <a:tr h="502920">
                <a:tc>
                  <a:txBody>
                    <a:bodyPr/>
                    <a:lstStyle/>
                    <a:p>
                      <a:pPr>
                        <a:defRPr sz="1200">
                          <a:solidFill>
                            <a:srgbClr val="2A1712"/>
                          </a:solidFill>
                          <a:latin typeface="Yu Gothic"/>
                        </a:defRPr>
                      </a:pPr>
                      <a:r>
                        <a:t>発表からの経過</a:t>
                      </a:r>
                    </a:p>
                  </a:txBody>
                  <a:tcPr>
                    <a:solidFill>
                      <a:srgbClr val="FFFFFF"/>
                    </a:solidFill>
                  </a:tcPr>
                </a:tc>
                <a:tc>
                  <a:txBody>
                    <a:bodyPr/>
                    <a:lstStyle/>
                    <a:p>
                      <a:pPr>
                        <a:defRPr sz="1200">
                          <a:solidFill>
                            <a:srgbClr val="2A1712"/>
                          </a:solidFill>
                          <a:latin typeface="Yu Gothic"/>
                        </a:defRPr>
                      </a:pPr>
                      <a:r>
                        <a:t>2日</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大会の基礎情報</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7A1F2B"/>
                    </a:solidFill>
                  </a:tcPr>
                </a:tc>
                <a:tc>
                  <a:txBody>
                    <a:bodyPr/>
                    <a:lstStyle/>
                    <a:p>
                      <a:pPr>
                        <a:defRPr sz="1300" b="1">
                          <a:solidFill>
                            <a:srgbClr val="FFFFFF"/>
                          </a:solidFill>
                          <a:latin typeface="Yu Gothic"/>
                        </a:defRPr>
                      </a:pPr>
                      <a:r>
                        <a:t>内容</a:t>
                      </a:r>
                    </a:p>
                  </a:txBody>
                  <a:tcPr>
                    <a:solidFill>
                      <a:srgbClr val="7A1F2B"/>
                    </a:solidFill>
                  </a:tcPr>
                </a:tc>
              </a:tr>
              <a:tr h="502920">
                <a:tc>
                  <a:txBody>
                    <a:bodyPr/>
                    <a:lstStyle/>
                    <a:p>
                      <a:pPr>
                        <a:defRPr sz="1200">
                          <a:solidFill>
                            <a:srgbClr val="2A1712"/>
                          </a:solidFill>
                          <a:latin typeface="Yu Gothic"/>
                        </a:defRPr>
                      </a:pPr>
                      <a:r>
                        <a:t>大会名</a:t>
                      </a:r>
                    </a:p>
                  </a:txBody>
                  <a:tcPr>
                    <a:solidFill>
                      <a:srgbClr val="FFFFFF"/>
                    </a:solidFill>
                  </a:tcPr>
                </a:tc>
                <a:tc>
                  <a:txBody>
                    <a:bodyPr/>
                    <a:lstStyle/>
                    <a:p>
                      <a:pPr>
                        <a:defRPr sz="1200">
                          <a:solidFill>
                            <a:srgbClr val="2A1712"/>
                          </a:solidFill>
                          <a:latin typeface="Yu Gothic"/>
                        </a:defRPr>
                      </a:pPr>
                      <a:r>
                        <a:t>富士北麓ワールドトライアル</a:t>
                      </a:r>
                    </a:p>
                  </a:txBody>
                  <a:tcPr>
                    <a:solidFill>
                      <a:srgbClr val="FFFFFF"/>
                    </a:solidFill>
                  </a:tcPr>
                </a:tc>
              </a:tr>
              <a:tr h="502920">
                <a:tc>
                  <a:txBody>
                    <a:bodyPr/>
                    <a:lstStyle/>
                    <a:p>
                      <a:pPr>
                        <a:defRPr sz="1200">
                          <a:solidFill>
                            <a:srgbClr val="2A1712"/>
                          </a:solidFill>
                          <a:latin typeface="Yu Gothic"/>
                        </a:defRPr>
                      </a:pPr>
                      <a:r>
                        <a:t>開催地</a:t>
                      </a:r>
                    </a:p>
                  </a:txBody>
                  <a:tcPr>
                    <a:solidFill>
                      <a:srgbClr val="FBF3E6"/>
                    </a:solidFill>
                  </a:tcPr>
                </a:tc>
                <a:tc>
                  <a:txBody>
                    <a:bodyPr/>
                    <a:lstStyle/>
                    <a:p>
                      <a:pPr>
                        <a:defRPr sz="1200">
                          <a:solidFill>
                            <a:srgbClr val="2A1712"/>
                          </a:solidFill>
                          <a:latin typeface="Yu Gothic"/>
                        </a:defRPr>
                      </a:pPr>
                      <a:r>
                        <a:t>山梨県富士吉田市</a:t>
                      </a:r>
                    </a:p>
                  </a:txBody>
                  <a:tcPr>
                    <a:solidFill>
                      <a:srgbClr val="FBF3E6"/>
                    </a:solidFill>
                  </a:tcPr>
                </a:tc>
              </a:tr>
              <a:tr h="502920">
                <a:tc>
                  <a:txBody>
                    <a:bodyPr/>
                    <a:lstStyle/>
                    <a:p>
                      <a:pPr>
                        <a:defRPr sz="1200">
                          <a:solidFill>
                            <a:srgbClr val="2A1712"/>
                          </a:solidFill>
                          <a:latin typeface="Yu Gothic"/>
                        </a:defRPr>
                      </a:pPr>
                      <a:r>
                        <a:t>種目</a:t>
                      </a:r>
                    </a:p>
                  </a:txBody>
                  <a:tcPr>
                    <a:solidFill>
                      <a:srgbClr val="FFFFFF"/>
                    </a:solidFill>
                  </a:tcPr>
                </a:tc>
                <a:tc>
                  <a:txBody>
                    <a:bodyPr/>
                    <a:lstStyle/>
                    <a:p>
                      <a:pPr>
                        <a:defRPr sz="1200">
                          <a:solidFill>
                            <a:srgbClr val="2A1712"/>
                          </a:solidFill>
                          <a:latin typeface="Yu Gothic"/>
                        </a:defRPr>
                      </a:pPr>
                      <a:r>
                        <a:t>女子100メートルハードル</a:t>
                      </a:r>
                    </a:p>
                  </a:txBody>
                  <a:tcPr>
                    <a:solidFill>
                      <a:srgbClr val="FFFFFF"/>
                    </a:solidFill>
                  </a:tcPr>
                </a:tc>
              </a:tr>
              <a:tr h="502920">
                <a:tc>
                  <a:txBody>
                    <a:bodyPr/>
                    <a:lstStyle/>
                    <a:p>
                      <a:pPr>
                        <a:defRPr sz="1200">
                          <a:solidFill>
                            <a:srgbClr val="2A1712"/>
                          </a:solidFill>
                          <a:latin typeface="Yu Gothic"/>
                        </a:defRPr>
                      </a:pPr>
                      <a:r>
                        <a:t>日程</a:t>
                      </a:r>
                    </a:p>
                  </a:txBody>
                  <a:tcPr>
                    <a:solidFill>
                      <a:srgbClr val="FBF3E6"/>
                    </a:solidFill>
                  </a:tcPr>
                </a:tc>
                <a:tc>
                  <a:txBody>
                    <a:bodyPr/>
                    <a:lstStyle/>
                    <a:p>
                      <a:pPr>
                        <a:defRPr sz="1200">
                          <a:solidFill>
                            <a:srgbClr val="2A1712"/>
                          </a:solidFill>
                          <a:latin typeface="Yu Gothic"/>
                        </a:defRPr>
                      </a:pPr>
                      <a:r>
                        <a:t>2026年8月9日(予選・決勝とも同日)</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ANSWER、月刊陸上競技オンライン(いずれもYahoo!ニュース経由)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中島選手の2レース(予選→決勝)</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5455767"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5455767"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4907127" cy="548640"/>
          </a:xfrm>
          <a:prstGeom prst="rect">
            <a:avLst/>
          </a:prstGeom>
          <a:noFill/>
        </p:spPr>
        <p:txBody>
          <a:bodyPr wrap="square" anchor="t" lIns="0" rIns="0" tIns="0" bIns="0">
            <a:spAutoFit/>
          </a:bodyPr>
          <a:lstStyle/>
          <a:p>
            <a:pPr algn="l"/>
            <a:r>
              <a:rPr sz="1600" b="1">
                <a:solidFill>
                  <a:srgbClr val="7A1F2B"/>
                </a:solidFill>
                <a:latin typeface="Yu Gothic"/>
              </a:rPr>
              <a:t>予選</a:t>
            </a:r>
          </a:p>
        </p:txBody>
      </p:sp>
      <p:sp>
        <p:nvSpPr>
          <p:cNvPr id="10" name="TextBox 9"/>
          <p:cNvSpPr txBox="1"/>
          <p:nvPr/>
        </p:nvSpPr>
        <p:spPr>
          <a:xfrm>
            <a:off x="731520" y="3566160"/>
            <a:ext cx="4907127"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12秒62(追い風2.0m)、日本新記録</a:t>
            </a:r>
          </a:p>
        </p:txBody>
      </p:sp>
      <p:sp>
        <p:nvSpPr>
          <p:cNvPr id="11" name="Chevron 10"/>
          <p:cNvSpPr/>
          <p:nvPr/>
        </p:nvSpPr>
        <p:spPr>
          <a:xfrm>
            <a:off x="5978804"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24447" y="1792224"/>
            <a:ext cx="5455767"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78727" y="1737360"/>
            <a:ext cx="5455767"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553047"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6553047" y="2926080"/>
            <a:ext cx="4907127" cy="548640"/>
          </a:xfrm>
          <a:prstGeom prst="rect">
            <a:avLst/>
          </a:prstGeom>
          <a:noFill/>
        </p:spPr>
        <p:txBody>
          <a:bodyPr wrap="square" anchor="t" lIns="0" rIns="0" tIns="0" bIns="0">
            <a:spAutoFit/>
          </a:bodyPr>
          <a:lstStyle/>
          <a:p>
            <a:pPr algn="l"/>
            <a:r>
              <a:rPr sz="1600" b="1">
                <a:solidFill>
                  <a:srgbClr val="7A1F2B"/>
                </a:solidFill>
                <a:latin typeface="Yu Gothic"/>
              </a:rPr>
              <a:t>決勝(同日)</a:t>
            </a:r>
          </a:p>
        </p:txBody>
      </p:sp>
      <p:sp>
        <p:nvSpPr>
          <p:cNvPr id="16" name="TextBox 15"/>
          <p:cNvSpPr txBox="1"/>
          <p:nvPr/>
        </p:nvSpPr>
        <p:spPr>
          <a:xfrm>
            <a:off x="6553047" y="3566160"/>
            <a:ext cx="4907127"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12秒62、予選と同タイムで日本記録に相当するタイムを再現</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中島ひとみ選手のプロフィール</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31歳</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年齢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報道記事の時点での年齢</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長谷川体育施設</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所属</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実業団所属の選手として本大会に出場</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アジア大会代表</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位置づけ</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アジア大会の代表選手でもある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TBS NEWS DIG(Yahoo!ニュース経由)</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初心者向け: 『100mハードル』『日本記録』とは</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専門用語を先に整理します。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100mハードルは、100m間に置かれた複数のハードルを跳び越えながら走る種目</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『追い風2.0m』は走りを後押しした風の強さで、公認記録の基準の一つになる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『日本記録』は、日本人選手がその種目で公式に樹立した最高記録のこと</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同じ選手が同日に同タイムを2回出すのは、珍しい出来事として報道されている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日本記録: 更新前 vs 更新後</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更新前</a:t>
            </a:r>
          </a:p>
        </p:txBody>
      </p:sp>
      <p:sp>
        <p:nvSpPr>
          <p:cNvPr id="9" name="Oval 8"/>
          <p:cNvSpPr/>
          <p:nvPr/>
        </p:nvSpPr>
        <p:spPr>
          <a:xfrm>
            <a:off x="777240"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12秒69</a:t>
            </a:r>
          </a:p>
        </p:txBody>
      </p:sp>
      <p:sp>
        <p:nvSpPr>
          <p:cNvPr id="11" name="Oval 10"/>
          <p:cNvSpPr/>
          <p:nvPr/>
        </p:nvSpPr>
        <p:spPr>
          <a:xfrm>
            <a:off x="777240"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保持者: 福部真子選手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7A1F2B"/>
                </a:solidFill>
                <a:latin typeface="Yu Gothic"/>
              </a:rPr>
              <a:t>更新後(8月9日・予選)</a:t>
            </a:r>
          </a:p>
        </p:txBody>
      </p:sp>
      <p:sp>
        <p:nvSpPr>
          <p:cNvPr id="16" name="Oval 15"/>
          <p:cNvSpPr/>
          <p:nvPr/>
        </p:nvSpPr>
        <p:spPr>
          <a:xfrm>
            <a:off x="6598767" y="253288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12秒62</a:t>
            </a:r>
          </a:p>
        </p:txBody>
      </p:sp>
      <p:sp>
        <p:nvSpPr>
          <p:cNvPr id="18" name="Oval 17"/>
          <p:cNvSpPr/>
          <p:nvPr/>
        </p:nvSpPr>
        <p:spPr>
          <a:xfrm>
            <a:off x="6598767" y="308152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保持者: 中島ひとみ選手</a:t>
            </a:r>
          </a:p>
        </p:txBody>
      </p:sp>
      <p:sp>
        <p:nvSpPr>
          <p:cNvPr id="20" name="Oval 19"/>
          <p:cNvSpPr/>
          <p:nvPr/>
        </p:nvSpPr>
        <p:spPr>
          <a:xfrm>
            <a:off x="6598767" y="3630168"/>
            <a:ext cx="274320" cy="27432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A1712"/>
                </a:solidFill>
                <a:latin typeface="Yu Gothic"/>
              </a:rPr>
              <a:t>更新差: 0秒07</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同日に2回、日本記録に相当するタイムを記録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予選</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12秒62(追い風2.0m)、日本新記録</a:t>
            </a:r>
          </a:p>
        </p:txBody>
      </p:sp>
      <p:sp>
        <p:nvSpPr>
          <p:cNvPr id="10" name="Right Arrow 9"/>
          <p:cNvSpPr/>
          <p:nvPr/>
        </p:nvSpPr>
        <p:spPr>
          <a:xfrm>
            <a:off x="41573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決勝(同日)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12秒62、同タイムを再現</a:t>
            </a:r>
          </a:p>
        </p:txBody>
      </p:sp>
      <p:sp>
        <p:nvSpPr>
          <p:cNvPr id="15" name="Right Arrow 14"/>
          <p:cNvSpPr/>
          <p:nvPr/>
        </p:nvSpPr>
        <p:spPr>
          <a:xfrm>
            <a:off x="7357719" y="3108959"/>
            <a:ext cx="676656" cy="365760"/>
          </a:xfrm>
          <a:prstGeom prst="rightArrow">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7A1F2B"/>
                </a:solidFill>
                <a:latin typeface="Yu Gothic"/>
              </a:rPr>
              <a:t>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8A6F5C"/>
                </a:solidFill>
                <a:latin typeface="Yu Gothic"/>
              </a:rPr>
              <a:t>本人仰天・会場騒然と報じられた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8A6F5C"/>
                </a:solidFill>
                <a:latin typeface="Yu Gothic"/>
              </a:rPr>
              <a:t>決勝でのタイムが予選と全く同一だったことの技術的な意味・背景は本調査の範囲では不明</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予選(8月9日)の記録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12秒62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追い風2.0m。福部真子選手の従来記録12秒69を0秒07更新する日本新記録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ANSWER(Yahoo!ニュース経由)</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タイムの推移(秒、数値が小さいほど好記録)</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TBS NEWS DIG、THE ANSWER(いずれもYahoo!ニュース経由)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記録まとめ表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レース</a:t>
                      </a:r>
                    </a:p>
                  </a:txBody>
                  <a:tcPr>
                    <a:solidFill>
                      <a:srgbClr val="7A1F2B"/>
                    </a:solidFill>
                  </a:tcPr>
                </a:tc>
                <a:tc>
                  <a:txBody>
                    <a:bodyPr/>
                    <a:lstStyle/>
                    <a:p>
                      <a:pPr>
                        <a:defRPr sz="1300" b="1">
                          <a:solidFill>
                            <a:srgbClr val="FFFFFF"/>
                          </a:solidFill>
                          <a:latin typeface="Yu Gothic"/>
                        </a:defRPr>
                      </a:pPr>
                      <a:r>
                        <a:t>タイム</a:t>
                      </a:r>
                    </a:p>
                  </a:txBody>
                  <a:tcPr>
                    <a:solidFill>
                      <a:srgbClr val="7A1F2B"/>
                    </a:solidFill>
                  </a:tcPr>
                </a:tc>
                <a:tc>
                  <a:txBody>
                    <a:bodyPr/>
                    <a:lstStyle/>
                    <a:p>
                      <a:pPr>
                        <a:defRPr sz="1300" b="1">
                          <a:solidFill>
                            <a:srgbClr val="FFFFFF"/>
                          </a:solidFill>
                          <a:latin typeface="Yu Gothic"/>
                        </a:defRPr>
                      </a:pPr>
                      <a:r>
                        <a:t>備考</a:t>
                      </a:r>
                    </a:p>
                  </a:txBody>
                  <a:tcPr>
                    <a:solidFill>
                      <a:srgbClr val="7A1F2B"/>
                    </a:solidFill>
                  </a:tcPr>
                </a:tc>
              </a:tr>
              <a:tr h="502920">
                <a:tc>
                  <a:txBody>
                    <a:bodyPr/>
                    <a:lstStyle/>
                    <a:p>
                      <a:pPr>
                        <a:defRPr sz="1200">
                          <a:solidFill>
                            <a:srgbClr val="2A1712"/>
                          </a:solidFill>
                          <a:latin typeface="Yu Gothic"/>
                        </a:defRPr>
                      </a:pPr>
                      <a:r>
                        <a:t>6月・日本選手権決勝</a:t>
                      </a:r>
                    </a:p>
                  </a:txBody>
                  <a:tcPr>
                    <a:solidFill>
                      <a:srgbClr val="FFFFFF"/>
                    </a:solidFill>
                  </a:tcPr>
                </a:tc>
                <a:tc>
                  <a:txBody>
                    <a:bodyPr/>
                    <a:lstStyle/>
                    <a:p>
                      <a:pPr>
                        <a:defRPr sz="1200">
                          <a:solidFill>
                            <a:srgbClr val="2A1712"/>
                          </a:solidFill>
                          <a:latin typeface="Yu Gothic"/>
                        </a:defRPr>
                      </a:pPr>
                      <a:r>
                        <a:t>12秒77</a:t>
                      </a:r>
                    </a:p>
                  </a:txBody>
                  <a:tcPr>
                    <a:solidFill>
                      <a:srgbClr val="FFFFFF"/>
                    </a:solidFill>
                  </a:tcPr>
                </a:tc>
                <a:tc>
                  <a:txBody>
                    <a:bodyPr/>
                    <a:lstStyle/>
                    <a:p>
                      <a:pPr>
                        <a:defRPr sz="1200">
                          <a:solidFill>
                            <a:srgbClr val="2A1712"/>
                          </a:solidFill>
                          <a:latin typeface="Yu Gothic"/>
                        </a:defRPr>
                      </a:pPr>
                      <a:r>
                        <a:t>第110回日本陸上競技選手権大会、大会初優勝</a:t>
                      </a:r>
                    </a:p>
                  </a:txBody>
                  <a:tcPr>
                    <a:solidFill>
                      <a:srgbClr val="FFFFFF"/>
                    </a:solidFill>
                  </a:tcPr>
                </a:tc>
              </a:tr>
              <a:tr h="502920">
                <a:tc>
                  <a:txBody>
                    <a:bodyPr/>
                    <a:lstStyle/>
                    <a:p>
                      <a:pPr>
                        <a:defRPr sz="1200">
                          <a:solidFill>
                            <a:srgbClr val="2A1712"/>
                          </a:solidFill>
                          <a:latin typeface="Yu Gothic"/>
                        </a:defRPr>
                      </a:pPr>
                      <a:r>
                        <a:t>8月・予選</a:t>
                      </a:r>
                    </a:p>
                  </a:txBody>
                  <a:tcPr>
                    <a:solidFill>
                      <a:srgbClr val="FBF3E6"/>
                    </a:solidFill>
                  </a:tcPr>
                </a:tc>
                <a:tc>
                  <a:txBody>
                    <a:bodyPr/>
                    <a:lstStyle/>
                    <a:p>
                      <a:pPr>
                        <a:defRPr sz="1200">
                          <a:solidFill>
                            <a:srgbClr val="2A1712"/>
                          </a:solidFill>
                          <a:latin typeface="Yu Gothic"/>
                        </a:defRPr>
                      </a:pPr>
                      <a:r>
                        <a:t>12秒62(追い風2.0m)</a:t>
                      </a:r>
                    </a:p>
                  </a:txBody>
                  <a:tcPr>
                    <a:solidFill>
                      <a:srgbClr val="FBF3E6"/>
                    </a:solidFill>
                  </a:tcPr>
                </a:tc>
                <a:tc>
                  <a:txBody>
                    <a:bodyPr/>
                    <a:lstStyle/>
                    <a:p>
                      <a:pPr>
                        <a:defRPr sz="1200">
                          <a:solidFill>
                            <a:srgbClr val="2A1712"/>
                          </a:solidFill>
                          <a:latin typeface="Yu Gothic"/>
                        </a:defRPr>
                      </a:pPr>
                      <a:r>
                        <a:t>2026年8月9日、日本新記録</a:t>
                      </a:r>
                    </a:p>
                  </a:txBody>
                  <a:tcPr>
                    <a:solidFill>
                      <a:srgbClr val="FBF3E6"/>
                    </a:solidFill>
                  </a:tcPr>
                </a:tc>
              </a:tr>
              <a:tr h="502920">
                <a:tc>
                  <a:txBody>
                    <a:bodyPr/>
                    <a:lstStyle/>
                    <a:p>
                      <a:pPr>
                        <a:defRPr sz="1200">
                          <a:solidFill>
                            <a:srgbClr val="2A1712"/>
                          </a:solidFill>
                          <a:latin typeface="Yu Gothic"/>
                        </a:defRPr>
                      </a:pPr>
                      <a:r>
                        <a:t>8月・決勝</a:t>
                      </a:r>
                    </a:p>
                  </a:txBody>
                  <a:tcPr>
                    <a:solidFill>
                      <a:srgbClr val="FFFFFF"/>
                    </a:solidFill>
                  </a:tcPr>
                </a:tc>
                <a:tc>
                  <a:txBody>
                    <a:bodyPr/>
                    <a:lstStyle/>
                    <a:p>
                      <a:pPr>
                        <a:defRPr sz="1200">
                          <a:solidFill>
                            <a:srgbClr val="2A1712"/>
                          </a:solidFill>
                          <a:latin typeface="Yu Gothic"/>
                        </a:defRPr>
                      </a:pPr>
                      <a:r>
                        <a:t>12秒62</a:t>
                      </a:r>
                    </a:p>
                  </a:txBody>
                  <a:tcPr>
                    <a:solidFill>
                      <a:srgbClr val="FFFFFF"/>
                    </a:solidFill>
                  </a:tcPr>
                </a:tc>
                <a:tc>
                  <a:txBody>
                    <a:bodyPr/>
                    <a:lstStyle/>
                    <a:p>
                      <a:pPr>
                        <a:defRPr sz="1200">
                          <a:solidFill>
                            <a:srgbClr val="2A1712"/>
                          </a:solidFill>
                          <a:latin typeface="Yu Gothic"/>
                        </a:defRPr>
                      </a:pPr>
                      <a:r>
                        <a:t>2026年8月9日、予選と同タイム</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決勝(8月9日)の記録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12秒62</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予選と全く同じタイム。同日に日本記録に相当するタイムを2回記録した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月刊陸上競技オンライン(Yahoo!ニュース経由)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日本記録の更新差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0秒07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福部真子選手の旧日本記録12秒69を更新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THE ANSWER(Yahoo!ニュース経由)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検証: 複数メディアの一致確認</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確認項目</a:t>
                      </a:r>
                    </a:p>
                  </a:txBody>
                  <a:tcPr>
                    <a:solidFill>
                      <a:srgbClr val="7A1F2B"/>
                    </a:solidFill>
                  </a:tcPr>
                </a:tc>
                <a:tc>
                  <a:txBody>
                    <a:bodyPr/>
                    <a:lstStyle/>
                    <a:p>
                      <a:pPr>
                        <a:defRPr sz="1300" b="1">
                          <a:solidFill>
                            <a:srgbClr val="FFFFFF"/>
                          </a:solidFill>
                          <a:latin typeface="Yu Gothic"/>
                        </a:defRPr>
                      </a:pPr>
                      <a:r>
                        <a:t>THE ANSWER</a:t>
                      </a:r>
                    </a:p>
                  </a:txBody>
                  <a:tcPr>
                    <a:solidFill>
                      <a:srgbClr val="7A1F2B"/>
                    </a:solidFill>
                  </a:tcPr>
                </a:tc>
                <a:tc>
                  <a:txBody>
                    <a:bodyPr/>
                    <a:lstStyle/>
                    <a:p>
                      <a:pPr>
                        <a:defRPr sz="1300" b="1">
                          <a:solidFill>
                            <a:srgbClr val="FFFFFF"/>
                          </a:solidFill>
                          <a:latin typeface="Yu Gothic"/>
                        </a:defRPr>
                      </a:pPr>
                      <a:r>
                        <a:t>TBS NEWS DIG</a:t>
                      </a:r>
                    </a:p>
                  </a:txBody>
                  <a:tcPr>
                    <a:solidFill>
                      <a:srgbClr val="7A1F2B"/>
                    </a:solidFill>
                  </a:tcPr>
                </a:tc>
                <a:tc>
                  <a:txBody>
                    <a:bodyPr/>
                    <a:lstStyle/>
                    <a:p>
                      <a:pPr>
                        <a:defRPr sz="1300" b="1">
                          <a:solidFill>
                            <a:srgbClr val="FFFFFF"/>
                          </a:solidFill>
                          <a:latin typeface="Yu Gothic"/>
                        </a:defRPr>
                      </a:pPr>
                      <a:r>
                        <a:t>月刊陸上競技オンライン</a:t>
                      </a:r>
                    </a:p>
                  </a:txBody>
                  <a:tcPr>
                    <a:solidFill>
                      <a:srgbClr val="7A1F2B"/>
                    </a:solidFill>
                  </a:tcPr>
                </a:tc>
              </a:tr>
              <a:tr h="502920">
                <a:tc>
                  <a:txBody>
                    <a:bodyPr/>
                    <a:lstStyle/>
                    <a:p>
                      <a:pPr>
                        <a:defRPr sz="1200">
                          <a:solidFill>
                            <a:srgbClr val="2A1712"/>
                          </a:solidFill>
                          <a:latin typeface="Yu Gothic"/>
                        </a:defRPr>
                      </a:pPr>
                      <a:r>
                        <a:t>予選12秒62・日本新記録</a:t>
                      </a:r>
                    </a:p>
                  </a:txBody>
                  <a:tcPr>
                    <a:solidFill>
                      <a:srgbClr val="FFFFFF"/>
                    </a:solidFill>
                  </a:tcPr>
                </a:tc>
                <a:tc>
                  <a:txBody>
                    <a:bodyPr/>
                    <a:lstStyle/>
                    <a:p>
                      <a:pPr>
                        <a:defRPr sz="1200">
                          <a:solidFill>
                            <a:srgbClr val="2A1712"/>
                          </a:solidFill>
                          <a:latin typeface="Yu Gothic"/>
                        </a:defRPr>
                      </a:pPr>
                      <a:r>
                        <a:t>確認可</a:t>
                      </a:r>
                    </a:p>
                  </a:txBody>
                  <a:tcPr>
                    <a:solidFill>
                      <a:srgbClr val="FFFFFF"/>
                    </a:solidFill>
                  </a:tcPr>
                </a:tc>
                <a:tc>
                  <a:txBody>
                    <a:bodyPr/>
                    <a:lstStyle/>
                    <a:p>
                      <a:pPr>
                        <a:defRPr sz="1200">
                          <a:solidFill>
                            <a:srgbClr val="2A1712"/>
                          </a:solidFill>
                          <a:latin typeface="Yu Gothic"/>
                        </a:defRPr>
                      </a:pPr>
                      <a:r>
                        <a:t>確認可</a:t>
                      </a:r>
                    </a:p>
                  </a:txBody>
                  <a:tcPr>
                    <a:solidFill>
                      <a:srgbClr val="FFFFFF"/>
                    </a:solidFill>
                  </a:tcPr>
                </a:tc>
                <a:tc>
                  <a:txBody>
                    <a:bodyPr/>
                    <a:lstStyle/>
                    <a:p>
                      <a:pPr>
                        <a:defRPr sz="1200">
                          <a:solidFill>
                            <a:srgbClr val="2A1712"/>
                          </a:solidFill>
                          <a:latin typeface="Yu Gothic"/>
                        </a:defRPr>
                      </a:pPr>
                      <a:r>
                        <a:t>確認可</a:t>
                      </a:r>
                    </a:p>
                  </a:txBody>
                  <a:tcPr>
                    <a:solidFill>
                      <a:srgbClr val="FFFFFF"/>
                    </a:solidFill>
                  </a:tcPr>
                </a:tc>
              </a:tr>
              <a:tr h="502920">
                <a:tc>
                  <a:txBody>
                    <a:bodyPr/>
                    <a:lstStyle/>
                    <a:p>
                      <a:pPr>
                        <a:defRPr sz="1200">
                          <a:solidFill>
                            <a:srgbClr val="2A1712"/>
                          </a:solidFill>
                          <a:latin typeface="Yu Gothic"/>
                        </a:defRPr>
                      </a:pPr>
                      <a:r>
                        <a:t>決勝も同タイム12秒62</a:t>
                      </a:r>
                    </a:p>
                  </a:txBody>
                  <a:tcPr>
                    <a:solidFill>
                      <a:srgbClr val="FBF3E6"/>
                    </a:solidFill>
                  </a:tcPr>
                </a:tc>
                <a:tc>
                  <a:txBody>
                    <a:bodyPr/>
                    <a:lstStyle/>
                    <a:p>
                      <a:pPr>
                        <a:defRPr sz="1200">
                          <a:solidFill>
                            <a:srgbClr val="2A1712"/>
                          </a:solidFill>
                          <a:latin typeface="Yu Gothic"/>
                        </a:defRPr>
                      </a:pPr>
                      <a:r>
                        <a:t>本テーマでは未参照</a:t>
                      </a:r>
                    </a:p>
                  </a:txBody>
                  <a:tcPr>
                    <a:solidFill>
                      <a:srgbClr val="FBF3E6"/>
                    </a:solidFill>
                  </a:tcPr>
                </a:tc>
                <a:tc>
                  <a:txBody>
                    <a:bodyPr/>
                    <a:lstStyle/>
                    <a:p>
                      <a:pPr>
                        <a:defRPr sz="1200">
                          <a:solidFill>
                            <a:srgbClr val="2A1712"/>
                          </a:solidFill>
                          <a:latin typeface="Yu Gothic"/>
                        </a:defRPr>
                      </a:pPr>
                      <a:r>
                        <a:t>確認可</a:t>
                      </a:r>
                    </a:p>
                  </a:txBody>
                  <a:tcPr>
                    <a:solidFill>
                      <a:srgbClr val="FBF3E6"/>
                    </a:solidFill>
                  </a:tcPr>
                </a:tc>
                <a:tc>
                  <a:txBody>
                    <a:bodyPr/>
                    <a:lstStyle/>
                    <a:p>
                      <a:pPr>
                        <a:defRPr sz="1200">
                          <a:solidFill>
                            <a:srgbClr val="2A1712"/>
                          </a:solidFill>
                          <a:latin typeface="Yu Gothic"/>
                        </a:defRPr>
                      </a:pPr>
                      <a:r>
                        <a:t>確認可</a:t>
                      </a:r>
                    </a:p>
                  </a:txBody>
                  <a:tcPr>
                    <a:solidFill>
                      <a:srgbClr val="FBF3E6"/>
                    </a:solidFill>
                  </a:tcPr>
                </a:tc>
              </a:tr>
              <a:tr h="502920">
                <a:tc>
                  <a:txBody>
                    <a:bodyPr/>
                    <a:lstStyle/>
                    <a:p>
                      <a:pPr>
                        <a:defRPr sz="1200">
                          <a:solidFill>
                            <a:srgbClr val="2A1712"/>
                          </a:solidFill>
                          <a:latin typeface="Yu Gothic"/>
                        </a:defRPr>
                      </a:pPr>
                      <a:r>
                        <a:t>6月の日本選手権初優勝(12秒77)</a:t>
                      </a:r>
                    </a:p>
                  </a:txBody>
                  <a:tcPr>
                    <a:solidFill>
                      <a:srgbClr val="FFFFFF"/>
                    </a:solidFill>
                  </a:tcPr>
                </a:tc>
                <a:tc>
                  <a:txBody>
                    <a:bodyPr/>
                    <a:lstStyle/>
                    <a:p>
                      <a:pPr>
                        <a:defRPr sz="1200">
                          <a:solidFill>
                            <a:srgbClr val="2A1712"/>
                          </a:solidFill>
                          <a:latin typeface="Yu Gothic"/>
                        </a:defRPr>
                      </a:pPr>
                      <a:r>
                        <a:t>本テーマでは未参照</a:t>
                      </a:r>
                    </a:p>
                  </a:txBody>
                  <a:tcPr>
                    <a:solidFill>
                      <a:srgbClr val="FFFFFF"/>
                    </a:solidFill>
                  </a:tcPr>
                </a:tc>
                <a:tc>
                  <a:txBody>
                    <a:bodyPr/>
                    <a:lstStyle/>
                    <a:p>
                      <a:pPr>
                        <a:defRPr sz="1200">
                          <a:solidFill>
                            <a:srgbClr val="2A1712"/>
                          </a:solidFill>
                          <a:latin typeface="Yu Gothic"/>
                        </a:defRPr>
                      </a:pPr>
                      <a:r>
                        <a:t>確認可</a:t>
                      </a:r>
                    </a:p>
                  </a:txBody>
                  <a:tcPr>
                    <a:solidFill>
                      <a:srgbClr val="FFFFFF"/>
                    </a:solidFill>
                  </a:tcPr>
                </a:tc>
                <a:tc>
                  <a:txBody>
                    <a:bodyPr/>
                    <a:lstStyle/>
                    <a:p>
                      <a:pPr>
                        <a:defRPr sz="1200">
                          <a:solidFill>
                            <a:srgbClr val="2A1712"/>
                          </a:solidFill>
                          <a:latin typeface="Yu Gothic"/>
                        </a:defRPr>
                      </a:pPr>
                      <a:r>
                        <a:t>本テーマでは未参照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確認できなかったこと</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推測で埋めず、正直に『不明』として扱います。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決勝でのタイム12秒62が予選と全く同一だったことの技術的な意味・背景</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追い風2.0mが公認記録の範囲内かどうかの明確な確認</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中島選手本人のコメント・心境(『本人仰天』という一般的な反応表現以上の具体的な発言)</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今後のアジア大会での目標・見通し</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これは何を意味するか(日本の女子ハードル界にとって)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4A017"/>
                </a:solidFill>
                <a:latin typeface="Yu Gothic"/>
              </a:rPr>
              <a:t>0秒07更新</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7A1F2B"/>
                </a:solidFill>
                <a:latin typeface="Yu Gothic"/>
              </a:rPr>
              <a:t>記録水準の底上げ</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福部真子選手が持っていた記録が更新された</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4A017"/>
                </a:solidFill>
                <a:latin typeface="Yu Gothic"/>
              </a:rPr>
              <a:t>31歳</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7A1F2B"/>
                </a:solidFill>
                <a:latin typeface="Yu Gothic"/>
              </a:rPr>
              <a:t>ベテランの記録更新</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20代の若手だけでなく、経験を積んだ選手が記録を伸ばしている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DIG(いずれもYahoo!ニュース経由)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これは何を意味するか(アジア大会に向けて)</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822960"/>
          </a:xfrm>
          <a:prstGeom prst="rect">
            <a:avLst/>
          </a:prstGeom>
          <a:noFill/>
        </p:spPr>
        <p:txBody>
          <a:bodyPr wrap="square" anchor="t" lIns="0" rIns="0" tIns="0" bIns="0">
            <a:spAutoFit/>
          </a:bodyPr>
          <a:lstStyle/>
          <a:p>
            <a:pPr algn="l"/>
            <a:r>
              <a:rPr sz="3400" b="1">
                <a:solidFill>
                  <a:srgbClr val="D4A017"/>
                </a:solidFill>
                <a:latin typeface="Yu Gothic"/>
              </a:rPr>
              <a:t>アジア大会代表</a:t>
            </a:r>
          </a:p>
        </p:txBody>
      </p:sp>
      <p:sp>
        <p:nvSpPr>
          <p:cNvPr id="9" name="TextBox 8"/>
          <p:cNvSpPr txBox="1"/>
          <p:nvPr/>
        </p:nvSpPr>
        <p:spPr>
          <a:xfrm>
            <a:off x="731520" y="2834640"/>
            <a:ext cx="4929987" cy="548640"/>
          </a:xfrm>
          <a:prstGeom prst="rect">
            <a:avLst/>
          </a:prstGeom>
          <a:noFill/>
        </p:spPr>
        <p:txBody>
          <a:bodyPr wrap="square" anchor="t" lIns="0" rIns="0" tIns="0" bIns="0">
            <a:spAutoFit/>
          </a:bodyPr>
          <a:lstStyle/>
          <a:p>
            <a:pPr algn="l"/>
            <a:r>
              <a:rPr sz="1600" b="1">
                <a:solidFill>
                  <a:srgbClr val="7A1F2B"/>
                </a:solidFill>
                <a:latin typeface="Yu Gothic"/>
              </a:rPr>
              <a:t>既に代表内定</a:t>
            </a:r>
          </a:p>
        </p:txBody>
      </p:sp>
      <p:sp>
        <p:nvSpPr>
          <p:cNvPr id="10" name="TextBox 9"/>
          <p:cNvSpPr txBox="1"/>
          <p:nvPr/>
        </p:nvSpPr>
        <p:spPr>
          <a:xfrm>
            <a:off x="731520" y="352044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中島選手はアジア大会の代表選手である</a:t>
            </a:r>
          </a:p>
        </p:txBody>
      </p:sp>
      <p:sp>
        <p:nvSpPr>
          <p:cNvPr id="11" name="Rounded Rectangle 10"/>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55867" y="1554480"/>
            <a:ext cx="5478627"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0187" y="1828800"/>
            <a:ext cx="4929987" cy="822960"/>
          </a:xfrm>
          <a:prstGeom prst="rect">
            <a:avLst/>
          </a:prstGeom>
          <a:noFill/>
        </p:spPr>
        <p:txBody>
          <a:bodyPr wrap="square" anchor="t" lIns="0" rIns="0" tIns="0" bIns="0">
            <a:spAutoFit/>
          </a:bodyPr>
          <a:lstStyle/>
          <a:p>
            <a:pPr algn="l"/>
            <a:r>
              <a:rPr sz="3400" b="1">
                <a:solidFill>
                  <a:srgbClr val="D4A017"/>
                </a:solidFill>
                <a:latin typeface="Yu Gothic"/>
              </a:rPr>
              <a:t>12秒62</a:t>
            </a:r>
          </a:p>
        </p:txBody>
      </p:sp>
      <p:sp>
        <p:nvSpPr>
          <p:cNvPr id="14" name="TextBox 13"/>
          <p:cNvSpPr txBox="1"/>
          <p:nvPr/>
        </p:nvSpPr>
        <p:spPr>
          <a:xfrm>
            <a:off x="6530187" y="2834640"/>
            <a:ext cx="4929987" cy="548640"/>
          </a:xfrm>
          <a:prstGeom prst="rect">
            <a:avLst/>
          </a:prstGeom>
          <a:noFill/>
        </p:spPr>
        <p:txBody>
          <a:bodyPr wrap="square" anchor="t" lIns="0" rIns="0" tIns="0" bIns="0">
            <a:spAutoFit/>
          </a:bodyPr>
          <a:lstStyle/>
          <a:p>
            <a:pPr algn="l"/>
            <a:r>
              <a:rPr sz="1600" b="1">
                <a:solidFill>
                  <a:srgbClr val="7A1F2B"/>
                </a:solidFill>
                <a:latin typeface="Yu Gothic"/>
              </a:rPr>
              <a:t>国際大会への手応え</a:t>
            </a:r>
          </a:p>
        </p:txBody>
      </p:sp>
      <p:sp>
        <p:nvSpPr>
          <p:cNvPr id="15" name="TextBox 14"/>
          <p:cNvSpPr txBox="1"/>
          <p:nvPr/>
        </p:nvSpPr>
        <p:spPr>
          <a:xfrm>
            <a:off x="6530187" y="3520440"/>
            <a:ext cx="4929987"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自己の記録を更新した状態でアジア大会を迎えることになる</a:t>
            </a:r>
          </a:p>
        </p:txBody>
      </p:sp>
      <p:sp>
        <p:nvSpPr>
          <p:cNvPr id="16" name="TextBox 1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TBS NEWS DIG(Yahoo!ニュース経由)</a:t>
            </a:r>
          </a:p>
        </p:txBody>
      </p:sp>
      <p:sp>
        <p:nvSpPr>
          <p:cNvPr id="17" name="TextBox 1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8" name="TextBox 1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今後の展開を事実ベースで追う視点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公式記録を確認する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陸上競技連盟等の公式発表で記録を確認する</a:t>
            </a:r>
          </a:p>
        </p:txBody>
      </p:sp>
      <p:sp>
        <p:nvSpPr>
          <p:cNvPr id="11" name="Chevron 10"/>
          <p:cNvSpPr/>
          <p:nvPr/>
        </p:nvSpPr>
        <p:spPr>
          <a:xfrm>
            <a:off x="4038295"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続報を待つ</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追い風の公認可否・本人コメントなど未確認情報の続報を待つ</a:t>
            </a:r>
          </a:p>
        </p:txBody>
      </p:sp>
      <p:sp>
        <p:nvSpPr>
          <p:cNvPr id="17" name="Chevron 16"/>
          <p:cNvSpPr/>
          <p:nvPr/>
        </p:nvSpPr>
        <p:spPr>
          <a:xfrm>
            <a:off x="7919313" y="3200400"/>
            <a:ext cx="234086" cy="365760"/>
          </a:xfrm>
          <a:prstGeom prst="chevron">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7A1F2B"/>
                </a:solidFill>
                <a:latin typeface="Yu Gothic"/>
              </a:rPr>
              <a:t>一次情報源を優先する</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8A6F5C"/>
                </a:solidFill>
                <a:latin typeface="Yu Gothic"/>
              </a:rPr>
              <a:t>本人・所属先・連盟の発表を優先して確認する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政治的中立性・過度な演出についての扱い方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事実を淡々と伝え、対立や過度な演出を煽りません。</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国家間の優劣や対立を煽る表現は使用しない</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特定選手(中島選手・福部選手)への過度な持ち上げ・貶めは行わない</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実在選手名・実在所属先名は事実として扱うが、写真・肖像は使用しない</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見出しの表現は強めでも、本文の数字・事実は創作しない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見送った切り口・センセーショナルにしなかった点</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見送り①</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本人の心境の推測</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報道されていない心境・モチベーションを事実のように示唆する表現は使わない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見送り②</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同タイム一致の断定</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決勝が予選と同タイムだった意味・背景を断定的に説明しない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4A017"/>
                </a:solidFill>
                <a:latin typeface="Yu Gothic"/>
              </a:rPr>
              <a:t>見送り③</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7A1F2B"/>
                </a:solidFill>
                <a:latin typeface="Yu Gothic"/>
              </a:rPr>
              <a:t>アジア大会目標の創作</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8A6F5C"/>
                </a:solidFill>
                <a:latin typeface="Yu Gothic"/>
              </a:rPr>
              <a:t>今後の目標・見通しについて未確認の内容を書かない</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3E3C9"/>
                </a:solidFill>
                <a:latin typeface="Yu Gothic"/>
              </a:rPr>
              <a:t>6月・日本選手権決勝の記録(参考)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4A017"/>
                </a:solidFill>
                <a:latin typeface="Yu Gothic"/>
              </a:rPr>
              <a:t>12秒77</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第110回日本陸上競技選手権大会・女子100mハードル決勝、大会初優勝</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B98C"/>
                </a:solidFill>
                <a:latin typeface="Yu Gothic"/>
              </a:rPr>
              <a:t>出典: TBS NEWS DIG(Yahoo!ニュース経由)</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検品結果</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検品項目</a:t>
                      </a:r>
                    </a:p>
                  </a:txBody>
                  <a:tcPr>
                    <a:solidFill>
                      <a:srgbClr val="7A1F2B"/>
                    </a:solidFill>
                  </a:tcPr>
                </a:tc>
                <a:tc>
                  <a:txBody>
                    <a:bodyPr/>
                    <a:lstStyle/>
                    <a:p>
                      <a:pPr>
                        <a:defRPr sz="1300" b="1">
                          <a:solidFill>
                            <a:srgbClr val="FFFFFF"/>
                          </a:solidFill>
                          <a:latin typeface="Yu Gothic"/>
                        </a:defRPr>
                      </a:pPr>
                      <a:r>
                        <a:t>結果</a:t>
                      </a:r>
                    </a:p>
                  </a:txBody>
                  <a:tcPr>
                    <a:solidFill>
                      <a:srgbClr val="7A1F2B"/>
                    </a:solidFill>
                  </a:tcPr>
                </a:tc>
              </a:tr>
              <a:tr h="502920">
                <a:tc>
                  <a:txBody>
                    <a:bodyPr/>
                    <a:lstStyle/>
                    <a:p>
                      <a:pPr>
                        <a:defRPr sz="1200">
                          <a:solidFill>
                            <a:srgbClr val="2A1712"/>
                          </a:solidFill>
                          <a:latin typeface="Yu Gothic"/>
                        </a:defRPr>
                      </a:pPr>
                      <a:r>
                        <a:t>スライド枚数</a:t>
                      </a:r>
                    </a:p>
                  </a:txBody>
                  <a:tcPr>
                    <a:solidFill>
                      <a:srgbClr val="FFFFFF"/>
                    </a:solidFill>
                  </a:tcPr>
                </a:tc>
                <a:tc>
                  <a:txBody>
                    <a:bodyPr/>
                    <a:lstStyle/>
                    <a:p>
                      <a:pPr>
                        <a:defRPr sz="1200">
                          <a:solidFill>
                            <a:srgbClr val="2A1712"/>
                          </a:solidFill>
                          <a:latin typeface="Yu Gothic"/>
                        </a:defRPr>
                      </a:pPr>
                      <a:r>
                        <a:t>30枚(構成と一致)</a:t>
                      </a:r>
                    </a:p>
                  </a:txBody>
                  <a:tcPr>
                    <a:solidFill>
                      <a:srgbClr val="FFFFFF"/>
                    </a:solidFill>
                  </a:tcPr>
                </a:tc>
              </a:tr>
              <a:tr h="502920">
                <a:tc>
                  <a:txBody>
                    <a:bodyPr/>
                    <a:lstStyle/>
                    <a:p>
                      <a:pPr>
                        <a:defRPr sz="1200">
                          <a:solidFill>
                            <a:srgbClr val="2A1712"/>
                          </a:solidFill>
                          <a:latin typeface="Yu Gothic"/>
                        </a:defRPr>
                      </a:pPr>
                      <a:r>
                        <a:t>全スライドのノート</a:t>
                      </a:r>
                    </a:p>
                  </a:txBody>
                  <a:tcPr>
                    <a:solidFill>
                      <a:srgbClr val="FBF3E6"/>
                    </a:solidFill>
                  </a:tcPr>
                </a:tc>
                <a:tc>
                  <a:txBody>
                    <a:bodyPr/>
                    <a:lstStyle/>
                    <a:p>
                      <a:pPr>
                        <a:defRPr sz="1200">
                          <a:solidFill>
                            <a:srgbClr val="2A1712"/>
                          </a:solidFill>
                          <a:latin typeface="Yu Gothic"/>
                        </a:defRPr>
                      </a:pPr>
                      <a:r>
                        <a:t>全て記載済み</a:t>
                      </a:r>
                    </a:p>
                  </a:txBody>
                  <a:tcPr>
                    <a:solidFill>
                      <a:srgbClr val="FBF3E6"/>
                    </a:solidFill>
                  </a:tcPr>
                </a:tc>
              </a:tr>
              <a:tr h="502920">
                <a:tc>
                  <a:txBody>
                    <a:bodyPr/>
                    <a:lstStyle/>
                    <a:p>
                      <a:pPr>
                        <a:defRPr sz="1200">
                          <a:solidFill>
                            <a:srgbClr val="2A1712"/>
                          </a:solidFill>
                          <a:latin typeface="Yu Gothic"/>
                        </a:defRPr>
                      </a:pPr>
                      <a:r>
                        <a:t>bullets比率</a:t>
                      </a:r>
                    </a:p>
                  </a:txBody>
                  <a:tcPr>
                    <a:solidFill>
                      <a:srgbClr val="FFFFFF"/>
                    </a:solidFill>
                  </a:tcPr>
                </a:tc>
                <a:tc>
                  <a:txBody>
                    <a:bodyPr/>
                    <a:lstStyle/>
                    <a:p>
                      <a:pPr>
                        <a:defRPr sz="1200">
                          <a:solidFill>
                            <a:srgbClr val="2A1712"/>
                          </a:solidFill>
                          <a:latin typeface="Yu Gothic"/>
                        </a:defRPr>
                      </a:pPr>
                      <a:r>
                        <a:t>40%以下(7/30枚)</a:t>
                      </a:r>
                    </a:p>
                  </a:txBody>
                  <a:tcPr>
                    <a:solidFill>
                      <a:srgbClr val="FFFFFF"/>
                    </a:solidFill>
                  </a:tcPr>
                </a:tc>
              </a:tr>
              <a:tr h="502920">
                <a:tc>
                  <a:txBody>
                    <a:bodyPr/>
                    <a:lstStyle/>
                    <a:p>
                      <a:pPr>
                        <a:defRPr sz="1200">
                          <a:solidFill>
                            <a:srgbClr val="2A1712"/>
                          </a:solidFill>
                          <a:latin typeface="Yu Gothic"/>
                        </a:defRPr>
                      </a:pPr>
                      <a:r>
                        <a:t>同一レイアウト4連続</a:t>
                      </a:r>
                    </a:p>
                  </a:txBody>
                  <a:tcPr>
                    <a:solidFill>
                      <a:srgbClr val="FBF3E6"/>
                    </a:solidFill>
                  </a:tcPr>
                </a:tc>
                <a:tc>
                  <a:txBody>
                    <a:bodyPr/>
                    <a:lstStyle/>
                    <a:p>
                      <a:pPr>
                        <a:defRPr sz="1200">
                          <a:solidFill>
                            <a:srgbClr val="2A1712"/>
                          </a:solidFill>
                          <a:latin typeface="Yu Gothic"/>
                        </a:defRPr>
                      </a:pPr>
                      <a:r>
                        <a:t>なし</a:t>
                      </a:r>
                    </a:p>
                  </a:txBody>
                  <a:tcPr>
                    <a:solidFill>
                      <a:srgbClr val="FBF3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8A6F5C"/>
                </a:solidFill>
                <a:latin typeface="Yu Gothic"/>
              </a:rPr>
              <a:t>出典: verify_pptx.py / build_deck.pyの検品ログ</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出典一覧</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本テーマで使用した出典です。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THE ANSWER(Yahoo!ニュース経由)「女子100mH中島ひとみ、衝撃の日本新記録12秒62！ 本人仰天＆会場騒然、福部真子の記録を0秒07更新【陸上富士北麓WT】」</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TBS NEWS DIG(Yahoo!ニュース経由、中島ひとみ選手・富士北麓ワールドトライアル関連記事)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月刊陸上競技オンライン(Yahoo!ニュース経由)「100mH中島ひとみが12秒62の日本記録2連発！」</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同じ日に、日本記録が2回生まれた。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31歳の中島ひとみ選手が、予選と決勝で12秒62を記録し、日本記録を0秒07更新した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今後の公式発表・続報を、一次情報源で確認する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次回予告</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AI Company OSでは、引き続き鮮度基準を満たすニュースを取り上げます。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着手日から2日以内の発表・報道を基準に、次のテーマを調査する</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スポーツ・AIエージェント・急成長アカウントなど複数ジャンルから選定する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出典のない数字・断定的な推測は今後も使用しない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A1119"/>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3E3C9"/>
                </a:solidFill>
                <a:latin typeface="Yu Gothic"/>
              </a:rPr>
              <a:t>出典: THE ANSWER、TBS NEWS DIG、月刊陸上競技オンライン(いずれもYahoo!ニュース経由)</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BF3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7A1F2B"/>
                </a:solidFill>
                <a:latin typeface="Yu Gothic"/>
              </a:rPr>
              <a:t>続報・公式記録は一次情報源でご確認ください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補足: リスク配慮のポイント</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制作にあたって配慮した点です。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数字の創作をせず、出典付きの確定事実のみを使用した</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確認できなかったことは推測で埋めず『不明』と明記した</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特定選手への過度な持ち上げ・貶めをしない構成にした</a:t>
            </a:r>
          </a:p>
        </p:txBody>
      </p:sp>
      <p:sp>
        <p:nvSpPr>
          <p:cNvPr id="13" name="Oval 12"/>
          <p:cNvSpPr/>
          <p:nvPr/>
        </p:nvSpPr>
        <p:spPr>
          <a:xfrm>
            <a:off x="457200" y="445312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実在選手名・実在所属先名は事実として扱い、写真・肖像は使用していない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B9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7A1F2B"/>
                </a:solidFill>
                <a:latin typeface="Yu Gothic"/>
              </a:rPr>
              <a:t>補足: なぜこのテーマを取り上げたか</a:t>
            </a:r>
          </a:p>
        </p:txBody>
      </p:sp>
      <p:sp>
        <p:nvSpPr>
          <p:cNvPr id="5" name="Rectangle 4"/>
          <p:cNvSpPr/>
          <p:nvPr/>
        </p:nvSpPr>
        <p:spPr>
          <a:xfrm>
            <a:off x="457200" y="1188720"/>
            <a:ext cx="502920" cy="54864"/>
          </a:xfrm>
          <a:prstGeom prst="rect">
            <a:avLst/>
          </a:prstGeom>
          <a:solidFill>
            <a:srgbClr val="D4A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8A6F5C"/>
                </a:solidFill>
                <a:latin typeface="Yu Gothic"/>
              </a:rPr>
              <a:t>選定理由を最後に共有します。</a:t>
            </a:r>
          </a:p>
        </p:txBody>
      </p:sp>
      <p:sp>
        <p:nvSpPr>
          <p:cNvPr id="7" name="Oval 6"/>
          <p:cNvSpPr/>
          <p:nvPr/>
        </p:nvSpPr>
        <p:spPr>
          <a:xfrm>
            <a:off x="457200" y="212140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発表日(8月9日)を基準に、着手日から2日以内という鮮度基準を満たす</a:t>
            </a:r>
          </a:p>
        </p:txBody>
      </p:sp>
      <p:sp>
        <p:nvSpPr>
          <p:cNvPr id="9" name="Oval 8"/>
          <p:cNvSpPr/>
          <p:nvPr/>
        </p:nvSpPr>
        <p:spPr>
          <a:xfrm>
            <a:off x="457200" y="2898648"/>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予選・決勝で日本新記録を2回連続樹立という明確な出来事の構造がある</a:t>
            </a:r>
          </a:p>
        </p:txBody>
      </p:sp>
      <p:sp>
        <p:nvSpPr>
          <p:cNvPr id="11" name="Oval 10"/>
          <p:cNvSpPr/>
          <p:nvPr/>
        </p:nvSpPr>
        <p:spPr>
          <a:xfrm>
            <a:off x="457200" y="3675887"/>
            <a:ext cx="320040" cy="320040"/>
          </a:xfrm>
          <a:prstGeom prst="ellipse">
            <a:avLst/>
          </a:prstGeom>
          <a:solidFill>
            <a:srgbClr val="7A1F2B"/>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A1712"/>
                </a:solidFill>
                <a:latin typeface="Yu Gothic"/>
              </a:rPr>
              <a:t>0秒07更新という検証可能な数字、日本選手権女王・アジア大会代表という文脈がある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8A6F5C"/>
                </a:solidFill>
                <a:latin typeface="Yu Gothic"/>
              </a:rPr>
              <a:t>出典: THE ANSWER、TBS NEWS DIG、月刊陸上競技オンライン(いずれもYahoo!ニュース経由)</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8A6F5C"/>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