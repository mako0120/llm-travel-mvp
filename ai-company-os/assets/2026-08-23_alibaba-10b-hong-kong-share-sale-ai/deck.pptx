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8月23日、アリババグループが香港市場で約102億ドル規模の新株式プレースメントを発表しました。実現すれば香港上場企業史上最大の増資です。何が起きたのか、出典付きで正確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結論から確認します。アリババは約102億ドル規模の新株式プレースメントを発表し、調達資金の100%をAI投資に充てるとしています。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今日は6つの流れでお伝えします。増資の詳細から、その歴史的な規模、資金使途まで、正確に事実を引用しながら整理します。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このテーマを扱う理由です。高い鮮度に加え、AI投資戦略を象徴する具体的な事例として注目しました。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増資の基本情報です。直近の株価から3.6%割り引いた価格での新株発行となります。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アリババの基礎知識です。Eコマースとクラウド事業を軸に、近年はAI投資を強化しています。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この増資が実現すれば、香港上場企業による史上最大規模の増資となる見通しです。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世界的に見ても、今年実施された同種の増資として3番目の規模です。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香港市場での記録更新と、世界的な規模の両方を対比しました。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資金は全額AI関連投資に充てられます。ただし分野ごとの内訳は明らかになっていません。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発表から資金使途の方針までの流れを図にしました。分野別の内訳はまだ公表されていません。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今回の発表を3ステップで総括しました。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背景となる決算情報です。今回の増資とは別の発表内容であることに注意が必要です。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決算関連の数字をまとめました。今回の増資の資金使途とは別の文脈の情報です。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新株の発行価格は、直近の終値から3.6%割り引いた水準に設定されています。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業界内での位置づけです。米国ビッグテックとの直接比較は本調査では行っていません。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今回の増資発表と、既知の決算情報を対比し、混同しないよう整理しました。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AI業界動向を追う立場にとっての意味です。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発行される株式数は7億1,000万株です。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情報を正確に受け取るための視点です。発表段階と実行段階を区別することが大切です。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確認できなかったことを正直にお伝えします。特に資金使途の分野別内訳は、本調査の範囲では確認できませんでした。</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確認できている事実と、今後の不確定要素を整理しました。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3年間の設備投資計画のうち、すでにほぼ半分が支出済みであることが決算発表で明らかになっています。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複数の独立した主要メディアが同一の事実を報じていることを確認しています。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このニュースが読者にとって意味することをまとめました。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世界的に見ても、今年実施された同種の増資として3番目の規模になる見通しです。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決算発表と今回の増資発表を時系列で整理しました。両者は別の発表内容であることに注意が必要です。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AI投資競争という大きな文脈の中に、今回の発表を位置づけました。他社との具体的な金額比較は行っていません。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本編のまとめです。インパクトのある見出しの裏にある正確な事実関係を、出典付きで整理してお伝えしました。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アリババの香港史上最大となる増資と、そのAI投資への活用方針について、その中身を正確に整理してお伝えしました。数字は出典どおりに扱い、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アリババ、</a:t>
            </a:r>
          </a:p>
          <a:p>
            <a:pPr algn="l">
              <a:lnSpc>
                <a:spcPct val="115000"/>
              </a:lnSpc>
            </a:pPr>
            <a:r>
              <a:rPr sz="4200" b="1">
                <a:solidFill>
                  <a:srgbClr val="FFFFFF"/>
                </a:solidFill>
                <a:latin typeface="Yu Gothic"/>
              </a:rPr>
              <a:t>香港史上最大の増資で</a:t>
            </a:r>
          </a:p>
          <a:p>
            <a:pPr algn="l">
              <a:lnSpc>
                <a:spcPct val="115000"/>
              </a:lnSpc>
            </a:pPr>
            <a:r>
              <a:rPr sz="4200" b="1">
                <a:solidFill>
                  <a:srgbClr val="FFFFFF"/>
                </a:solidFill>
                <a:latin typeface="Yu Gothic"/>
              </a:rPr>
              <a:t>AIに全額投入</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F5D9A8"/>
                </a:solidFill>
                <a:latin typeface="Yu Gothic"/>
              </a:rPr>
              <a:t>2026年8月23日発表——約102億ドルの新株発行、資金の100%をAI投資に</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D9A857"/>
                </a:solidFill>
                <a:latin typeface="Yu Gothic"/>
              </a:rPr>
              <a:t>出典: Investing.com(Reuters配信)(2026年8月23日)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約102億ドル 調達予定額(香港ドル800億)</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資金の100%をAI投資に充てる方針(2026年8月23日発表)</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Investing.com(Reuters配信)(2026-08-23)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F5D9A8"/>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F5D9A8"/>
                </a:solidFill>
                <a:latin typeface="Yu Gothic"/>
              </a:rPr>
              <a:t>増資の基本情報を確認する</a:t>
            </a:r>
          </a:p>
        </p:txBody>
      </p:sp>
      <p:sp>
        <p:nvSpPr>
          <p:cNvPr id="9" name="Oval 8"/>
          <p:cNvSpPr/>
          <p:nvPr/>
        </p:nvSpPr>
        <p:spPr>
          <a:xfrm>
            <a:off x="548640" y="347472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F5D9A8"/>
                </a:solidFill>
                <a:latin typeface="Yu Gothic"/>
              </a:rPr>
              <a:t>歴史的な規模を確認する</a:t>
            </a:r>
          </a:p>
        </p:txBody>
      </p:sp>
      <p:sp>
        <p:nvSpPr>
          <p:cNvPr id="11" name="Oval 10"/>
          <p:cNvSpPr/>
          <p:nvPr/>
        </p:nvSpPr>
        <p:spPr>
          <a:xfrm>
            <a:off x="548640" y="425196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F5D9A8"/>
                </a:solidFill>
                <a:latin typeface="Yu Gothic"/>
              </a:rPr>
              <a:t>調達資金の使途を確認する</a:t>
            </a:r>
          </a:p>
        </p:txBody>
      </p:sp>
      <p:sp>
        <p:nvSpPr>
          <p:cNvPr id="13" name="Oval 12"/>
          <p:cNvSpPr/>
          <p:nvPr/>
        </p:nvSpPr>
        <p:spPr>
          <a:xfrm>
            <a:off x="548640" y="502920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F5D9A8"/>
                </a:solidFill>
                <a:latin typeface="Yu Gothic"/>
              </a:rPr>
              <a:t>背景となる決算情報を確認する</a:t>
            </a:r>
          </a:p>
        </p:txBody>
      </p:sp>
      <p:sp>
        <p:nvSpPr>
          <p:cNvPr id="15" name="Oval 14"/>
          <p:cNvSpPr/>
          <p:nvPr/>
        </p:nvSpPr>
        <p:spPr>
          <a:xfrm>
            <a:off x="548640" y="580644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F5D9A8"/>
                </a:solidFill>
                <a:latin typeface="Yu Gothic"/>
              </a:rPr>
              <a:t>確認できなかったこと・まとめ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着手日当日(2026年8月23日)発表という高い鮮度の話題である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『史上最大規模』という具体的でインパクトのある数字を伴う事実である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複数の独立した情報源(Investing.com/Reuters配信・BusinessDay等)で確認できる</a:t>
            </a:r>
          </a:p>
        </p:txBody>
      </p:sp>
      <p:sp>
        <p:nvSpPr>
          <p:cNvPr id="13" name="Oval 12"/>
          <p:cNvSpPr/>
          <p:nvPr/>
        </p:nvSpPr>
        <p:spPr>
          <a:xfrm>
            <a:off x="457200" y="445312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AI投資を巡るテック企業の資本戦略という、業界動向を理解する上で重要な事例である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Investing.com(Reuters配信)・BusinessDay(2026-08-23)</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Investing.com(Reuters配信)ほか(2026-08-23)</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増資の基本情報</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3A4750"/>
                    </a:solidFill>
                  </a:tcPr>
                </a:tc>
                <a:tc>
                  <a:txBody>
                    <a:bodyPr/>
                    <a:lstStyle/>
                    <a:p>
                      <a:pPr>
                        <a:defRPr sz="1300" b="1">
                          <a:solidFill>
                            <a:srgbClr val="FFFFFF"/>
                          </a:solidFill>
                          <a:latin typeface="Yu Gothic"/>
                        </a:defRPr>
                      </a:pPr>
                      <a:r>
                        <a:t>内容</a:t>
                      </a:r>
                    </a:p>
                  </a:txBody>
                  <a:tcPr>
                    <a:solidFill>
                      <a:srgbClr val="3A4750"/>
                    </a:solidFill>
                  </a:tcPr>
                </a:tc>
              </a:tr>
              <a:tr h="502920">
                <a:tc>
                  <a:txBody>
                    <a:bodyPr/>
                    <a:lstStyle/>
                    <a:p>
                      <a:pPr>
                        <a:defRPr sz="1200">
                          <a:solidFill>
                            <a:srgbClr val="1E2124"/>
                          </a:solidFill>
                          <a:latin typeface="Yu Gothic"/>
                        </a:defRPr>
                      </a:pPr>
                      <a:r>
                        <a:t>発表日</a:t>
                      </a:r>
                    </a:p>
                  </a:txBody>
                  <a:tcPr>
                    <a:solidFill>
                      <a:srgbClr val="FFFFFF"/>
                    </a:solidFill>
                  </a:tcPr>
                </a:tc>
                <a:tc>
                  <a:txBody>
                    <a:bodyPr/>
                    <a:lstStyle/>
                    <a:p>
                      <a:pPr>
                        <a:defRPr sz="1200">
                          <a:solidFill>
                            <a:srgbClr val="1E2124"/>
                          </a:solidFill>
                          <a:latin typeface="Yu Gothic"/>
                        </a:defRPr>
                      </a:pPr>
                      <a:r>
                        <a:t>2026年8月23日(香港時間)</a:t>
                      </a:r>
                    </a:p>
                  </a:txBody>
                  <a:tcPr>
                    <a:solidFill>
                      <a:srgbClr val="FFFFFF"/>
                    </a:solidFill>
                  </a:tcPr>
                </a:tc>
              </a:tr>
              <a:tr h="502920">
                <a:tc>
                  <a:txBody>
                    <a:bodyPr/>
                    <a:lstStyle/>
                    <a:p>
                      <a:pPr>
                        <a:defRPr sz="1200">
                          <a:solidFill>
                            <a:srgbClr val="1E2124"/>
                          </a:solidFill>
                          <a:latin typeface="Yu Gothic"/>
                        </a:defRPr>
                      </a:pPr>
                      <a:r>
                        <a:t>調達予定額</a:t>
                      </a:r>
                    </a:p>
                  </a:txBody>
                  <a:tcPr>
                    <a:solidFill>
                      <a:srgbClr val="F7F4EF"/>
                    </a:solidFill>
                  </a:tcPr>
                </a:tc>
                <a:tc>
                  <a:txBody>
                    <a:bodyPr/>
                    <a:lstStyle/>
                    <a:p>
                      <a:pPr>
                        <a:defRPr sz="1200">
                          <a:solidFill>
                            <a:srgbClr val="1E2124"/>
                          </a:solidFill>
                          <a:latin typeface="Yu Gothic"/>
                        </a:defRPr>
                      </a:pPr>
                      <a:r>
                        <a:t>香港ドル800億(約102億米ドル)</a:t>
                      </a:r>
                    </a:p>
                  </a:txBody>
                  <a:tcPr>
                    <a:solidFill>
                      <a:srgbClr val="F7F4EF"/>
                    </a:solidFill>
                  </a:tcPr>
                </a:tc>
              </a:tr>
              <a:tr h="502920">
                <a:tc>
                  <a:txBody>
                    <a:bodyPr/>
                    <a:lstStyle/>
                    <a:p>
                      <a:pPr>
                        <a:defRPr sz="1200">
                          <a:solidFill>
                            <a:srgbClr val="1E2124"/>
                          </a:solidFill>
                          <a:latin typeface="Yu Gothic"/>
                        </a:defRPr>
                      </a:pPr>
                      <a:r>
                        <a:t>発行株式数</a:t>
                      </a:r>
                    </a:p>
                  </a:txBody>
                  <a:tcPr>
                    <a:solidFill>
                      <a:srgbClr val="FFFFFF"/>
                    </a:solidFill>
                  </a:tcPr>
                </a:tc>
                <a:tc>
                  <a:txBody>
                    <a:bodyPr/>
                    <a:lstStyle/>
                    <a:p>
                      <a:pPr>
                        <a:defRPr sz="1200">
                          <a:solidFill>
                            <a:srgbClr val="1E2124"/>
                          </a:solidFill>
                          <a:latin typeface="Yu Gothic"/>
                        </a:defRPr>
                      </a:pPr>
                      <a:r>
                        <a:t>普通株7億1,000万株</a:t>
                      </a:r>
                    </a:p>
                  </a:txBody>
                  <a:tcPr>
                    <a:solidFill>
                      <a:srgbClr val="FFFFFF"/>
                    </a:solidFill>
                  </a:tcPr>
                </a:tc>
              </a:tr>
              <a:tr h="502920">
                <a:tc>
                  <a:txBody>
                    <a:bodyPr/>
                    <a:lstStyle/>
                    <a:p>
                      <a:pPr>
                        <a:defRPr sz="1200">
                          <a:solidFill>
                            <a:srgbClr val="1E2124"/>
                          </a:solidFill>
                          <a:latin typeface="Yu Gothic"/>
                        </a:defRPr>
                      </a:pPr>
                      <a:r>
                        <a:t>発行価格</a:t>
                      </a:r>
                    </a:p>
                  </a:txBody>
                  <a:tcPr>
                    <a:solidFill>
                      <a:srgbClr val="F7F4EF"/>
                    </a:solidFill>
                  </a:tcPr>
                </a:tc>
                <a:tc>
                  <a:txBody>
                    <a:bodyPr/>
                    <a:lstStyle/>
                    <a:p>
                      <a:pPr>
                        <a:defRPr sz="1200">
                          <a:solidFill>
                            <a:srgbClr val="1E2124"/>
                          </a:solidFill>
                          <a:latin typeface="Yu Gothic"/>
                        </a:defRPr>
                      </a:pPr>
                      <a:r>
                        <a:t>1株あたり香港ドル112.70(直近終値から3.6%割引)</a:t>
                      </a:r>
                    </a:p>
                  </a:txBody>
                  <a:tcPr>
                    <a:solidFill>
                      <a:srgbClr val="F7F4E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Investing.com(Reuters配信)・BusinessDay(2026-08-23)</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Investing.com(Reuters配信)ほか(2026-08-23)</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アリババとは(基礎知識)</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本テーマの前提となる基礎知識です。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中国を代表するテクノロジー企業で、Eコマース・クラウドコンピューティング事業を展開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香港証券取引所とニューヨーク証券取引所に上場している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近年はAIインフラ・AIモデル開発に積極的な投資を行っている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Investing.com(Reuters配信)ほか(2026-08-23)</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歴史的な規模(1)</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香港上場企業 史上最大 プライマリーfollow-on増資の見通し</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実現すればこれまでの最大記録を更新する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Investing.com(Reuters配信)(2026-08-23)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歴史的な規模(2)—世界的な位置づけ</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世界全体で見た規模感です。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2026年に実施されたプライマリーfollow-on株式売却として世界第3位の規模になる見通し</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1位はAlphabet(グーグルの持株会社)、2位はIntelの増資と報じられている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香港市場における増資として過去最大という点と、世界的にも上位の規模という点の両方が確認できる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Investing.com(Reuters配信)(2026-08-23)</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Investing.com(Reuters配信)ほか(2026-08-23)</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香港市場での位置づけ vs 世界的な位置づけ</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香港市場での位置づけ</a:t>
            </a:r>
          </a:p>
        </p:txBody>
      </p:sp>
      <p:sp>
        <p:nvSpPr>
          <p:cNvPr id="9" name="Oval 8"/>
          <p:cNvSpPr/>
          <p:nvPr/>
        </p:nvSpPr>
        <p:spPr>
          <a:xfrm>
            <a:off x="777240"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香港上場企業史上最大のプライマリーfollow-on増資(見通し)</a:t>
            </a:r>
          </a:p>
        </p:txBody>
      </p:sp>
      <p:sp>
        <p:nvSpPr>
          <p:cNvPr id="11" name="Oval 10"/>
          <p:cNvSpPr/>
          <p:nvPr/>
        </p:nvSpPr>
        <p:spPr>
          <a:xfrm>
            <a:off x="777240"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これまでの記録を更新する規模</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世界的な位置づけ</a:t>
            </a:r>
          </a:p>
        </p:txBody>
      </p:sp>
      <p:sp>
        <p:nvSpPr>
          <p:cNvPr id="16" name="Oval 15"/>
          <p:cNvSpPr/>
          <p:nvPr/>
        </p:nvSpPr>
        <p:spPr>
          <a:xfrm>
            <a:off x="6598767"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2026年の同種の増資として世界第3位の規模(見通し)</a:t>
            </a:r>
          </a:p>
        </p:txBody>
      </p:sp>
      <p:sp>
        <p:nvSpPr>
          <p:cNvPr id="18" name="Oval 17"/>
          <p:cNvSpPr/>
          <p:nvPr/>
        </p:nvSpPr>
        <p:spPr>
          <a:xfrm>
            <a:off x="6598767"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Alphabet・Intelに次ぐ規模</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Investing.com(Reuters配信)ほか(2026-08-23)</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調達資金の使途</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資金がどこに使われるかを確認します。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アリババは調達資金の100%を『フルスタックAI』能力への投資に充てるとしている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『フルスタックAI』には、半導体・インフラ・AIモデルの開発と展開が含まれるとされる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投資分野ごとの具体的な内訳(配分比率等)は、本調査の範囲では確認できていない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Investing.com(Reuters配信)・BusinessDay(2026-08-23)</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Investing.com(Reuters配信)ほか(2026-08-23)</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発表から資金使途までの流れ</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新株式プレースメントの発表</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2026年8月23日、約102億ドル規模</a:t>
            </a:r>
          </a:p>
        </p:txBody>
      </p:sp>
      <p:sp>
        <p:nvSpPr>
          <p:cNvPr id="10" name="Right Arrow 9"/>
          <p:cNvSpPr/>
          <p:nvPr/>
        </p:nvSpPr>
        <p:spPr>
          <a:xfrm>
            <a:off x="4157319" y="3108959"/>
            <a:ext cx="676656" cy="365760"/>
          </a:xfrm>
          <a:prstGeom prst="rightArrow">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『フルスタックAI』への投資方針</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半導体・インフラ・AIモデル開発</a:t>
            </a:r>
          </a:p>
        </p:txBody>
      </p:sp>
      <p:sp>
        <p:nvSpPr>
          <p:cNvPr id="15" name="Right Arrow 14"/>
          <p:cNvSpPr/>
          <p:nvPr/>
        </p:nvSpPr>
        <p:spPr>
          <a:xfrm>
            <a:off x="7357719" y="3108959"/>
            <a:ext cx="676656" cy="365760"/>
          </a:xfrm>
          <a:prstGeom prst="rightArrow">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分野別の内訳は未公表</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本調査の範囲では確認できず</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6B7280"/>
                </a:solidFill>
                <a:latin typeface="Yu Gothic"/>
              </a:rPr>
              <a:t>増資発表から資金使途方針までの流れ</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Investing.com(Reuters配信)(2026-08-23)</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Investing.com(Reuters配信)ほか(2026-08-23)</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今回の発表の3ステップ総括</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3A4750"/>
                </a:solidFill>
                <a:latin typeface="Yu Gothic"/>
              </a:rPr>
              <a:t>1. 増資の発表</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約102億ドル、香港上場企業史上最大の見通し</a:t>
            </a:r>
          </a:p>
        </p:txBody>
      </p:sp>
      <p:sp>
        <p:nvSpPr>
          <p:cNvPr id="11" name="Chevron 10"/>
          <p:cNvSpPr/>
          <p:nvPr/>
        </p:nvSpPr>
        <p:spPr>
          <a:xfrm>
            <a:off x="4038295" y="3200400"/>
            <a:ext cx="234086" cy="365760"/>
          </a:xfrm>
          <a:prstGeom prst="chevron">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3A4750"/>
                </a:solidFill>
                <a:latin typeface="Yu Gothic"/>
              </a:rPr>
              <a:t>2. 資金使途の方針</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100%をフルスタックAI投資に充当</a:t>
            </a:r>
          </a:p>
        </p:txBody>
      </p:sp>
      <p:sp>
        <p:nvSpPr>
          <p:cNvPr id="17" name="Chevron 16"/>
          <p:cNvSpPr/>
          <p:nvPr/>
        </p:nvSpPr>
        <p:spPr>
          <a:xfrm>
            <a:off x="7919313" y="3200400"/>
            <a:ext cx="234086" cy="365760"/>
          </a:xfrm>
          <a:prstGeom prst="chevron">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3A4750"/>
                </a:solidFill>
                <a:latin typeface="Yu Gothic"/>
              </a:rPr>
              <a:t>3. 留保事項の確認</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取引完了・分野別内訳は未確定</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Investing.com(Reuters配信)ほか(2026-08-23)</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背景となる決算情報</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関連する既知の事実を確認します。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アリババは4〜6月期の決算発表で、3年間の設備投資計画のうち、すでにほぼ半分を支出済みであることを明らかにしている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同社はAI関連投資の想定回収期間について、需要の急増を背景に3年から2.5年に短縮する見通しであるとしている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この決算関連情報は、今回の増資そのものとは別の発表内容であることを明確に区別する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BusinessDay(2026-08-23、決算関連情報の引用)</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Investing.com(Reuters配信)ほか(2026-08-23)</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決算関連の数字まとめ</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3A4750"/>
                    </a:solidFill>
                  </a:tcPr>
                </a:tc>
                <a:tc>
                  <a:txBody>
                    <a:bodyPr/>
                    <a:lstStyle/>
                    <a:p>
                      <a:pPr>
                        <a:defRPr sz="1300" b="1">
                          <a:solidFill>
                            <a:srgbClr val="FFFFFF"/>
                          </a:solidFill>
                          <a:latin typeface="Yu Gothic"/>
                        </a:defRPr>
                      </a:pPr>
                      <a:r>
                        <a:t>内容</a:t>
                      </a:r>
                    </a:p>
                  </a:txBody>
                  <a:tcPr>
                    <a:solidFill>
                      <a:srgbClr val="3A4750"/>
                    </a:solidFill>
                  </a:tcPr>
                </a:tc>
              </a:tr>
              <a:tr h="502920">
                <a:tc>
                  <a:txBody>
                    <a:bodyPr/>
                    <a:lstStyle/>
                    <a:p>
                      <a:pPr>
                        <a:defRPr sz="1200">
                          <a:solidFill>
                            <a:srgbClr val="1E2124"/>
                          </a:solidFill>
                          <a:latin typeface="Yu Gothic"/>
                        </a:defRPr>
                      </a:pPr>
                      <a:r>
                        <a:t>3年間の設備投資計画の進捗</a:t>
                      </a:r>
                    </a:p>
                  </a:txBody>
                  <a:tcPr>
                    <a:solidFill>
                      <a:srgbClr val="FFFFFF"/>
                    </a:solidFill>
                  </a:tcPr>
                </a:tc>
                <a:tc>
                  <a:txBody>
                    <a:bodyPr/>
                    <a:lstStyle/>
                    <a:p>
                      <a:pPr>
                        <a:defRPr sz="1200">
                          <a:solidFill>
                            <a:srgbClr val="1E2124"/>
                          </a:solidFill>
                          <a:latin typeface="Yu Gothic"/>
                        </a:defRPr>
                      </a:pPr>
                      <a:r>
                        <a:t>すでにほぼ半分を支出済み</a:t>
                      </a:r>
                    </a:p>
                  </a:txBody>
                  <a:tcPr>
                    <a:solidFill>
                      <a:srgbClr val="FFFFFF"/>
                    </a:solidFill>
                  </a:tcPr>
                </a:tc>
              </a:tr>
              <a:tr h="502920">
                <a:tc>
                  <a:txBody>
                    <a:bodyPr/>
                    <a:lstStyle/>
                    <a:p>
                      <a:pPr>
                        <a:defRPr sz="1200">
                          <a:solidFill>
                            <a:srgbClr val="1E2124"/>
                          </a:solidFill>
                          <a:latin typeface="Yu Gothic"/>
                        </a:defRPr>
                      </a:pPr>
                      <a:r>
                        <a:t>AI投資の想定回収期間</a:t>
                      </a:r>
                    </a:p>
                  </a:txBody>
                  <a:tcPr>
                    <a:solidFill>
                      <a:srgbClr val="F7F4EF"/>
                    </a:solidFill>
                  </a:tcPr>
                </a:tc>
                <a:tc>
                  <a:txBody>
                    <a:bodyPr/>
                    <a:lstStyle/>
                    <a:p>
                      <a:pPr>
                        <a:defRPr sz="1200">
                          <a:solidFill>
                            <a:srgbClr val="1E2124"/>
                          </a:solidFill>
                          <a:latin typeface="Yu Gothic"/>
                        </a:defRPr>
                      </a:pPr>
                      <a:r>
                        <a:t>3年から2.5年に短縮する見通し</a:t>
                      </a:r>
                    </a:p>
                  </a:txBody>
                  <a:tcPr>
                    <a:solidFill>
                      <a:srgbClr val="F7F4EF"/>
                    </a:solidFill>
                  </a:tcPr>
                </a:tc>
              </a:tr>
              <a:tr h="502920">
                <a:tc>
                  <a:txBody>
                    <a:bodyPr/>
                    <a:lstStyle/>
                    <a:p>
                      <a:pPr>
                        <a:defRPr sz="1200">
                          <a:solidFill>
                            <a:srgbClr val="1E2124"/>
                          </a:solidFill>
                          <a:latin typeface="Yu Gothic"/>
                        </a:defRPr>
                      </a:pPr>
                      <a:r>
                        <a:t>今回の増資との関係</a:t>
                      </a:r>
                    </a:p>
                  </a:txBody>
                  <a:tcPr>
                    <a:solidFill>
                      <a:srgbClr val="FFFFFF"/>
                    </a:solidFill>
                  </a:tcPr>
                </a:tc>
                <a:tc>
                  <a:txBody>
                    <a:bodyPr/>
                    <a:lstStyle/>
                    <a:p>
                      <a:pPr>
                        <a:defRPr sz="1200">
                          <a:solidFill>
                            <a:srgbClr val="1E2124"/>
                          </a:solidFill>
                          <a:latin typeface="Yu Gothic"/>
                        </a:defRPr>
                      </a:pPr>
                      <a:r>
                        <a:t>別の発表内容として区別(混同しない)</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BusinessDay(2026-08-23)</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Investing.com(Reuters配信)ほか(2026-08-23)</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発行価格の割引率</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3.6% 直近終値からの割引率</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1株あたり香港ドル112.70で発行</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Investing.com(Reuters配信)(2026-08-23)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AI・ビジネス業界における位置づけ</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業界内での注目点です。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中国のテック大手によるAIインフラへの積極投資が続く中、資本市場を通じた大規模な資金調達という形での投資姿勢の表明として注目される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米国のビッグテック(Alphabet・Microsoft・Meta等)による巨額のAI設備投資と比較されうる動きだが、本調査では両者の投資規模の直接比較は行っていない</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AI投資の資金調達手法として、株式発行という選択肢を取った点も注目される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Investing.com(Reuters配信)ほか(2026-08-23)</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今回の増資発表 vs 決算発表(混同しないための対比)</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今回の増資発表(8月23日)</a:t>
            </a:r>
          </a:p>
        </p:txBody>
      </p:sp>
      <p:sp>
        <p:nvSpPr>
          <p:cNvPr id="9" name="Oval 8"/>
          <p:cNvSpPr/>
          <p:nvPr/>
        </p:nvSpPr>
        <p:spPr>
          <a:xfrm>
            <a:off x="777240"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約102億ドルの新株式プレースメント</a:t>
            </a:r>
          </a:p>
        </p:txBody>
      </p:sp>
      <p:sp>
        <p:nvSpPr>
          <p:cNvPr id="11" name="Oval 10"/>
          <p:cNvSpPr/>
          <p:nvPr/>
        </p:nvSpPr>
        <p:spPr>
          <a:xfrm>
            <a:off x="777240"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資金の100%をAI投資に</a:t>
            </a:r>
          </a:p>
        </p:txBody>
      </p:sp>
      <p:sp>
        <p:nvSpPr>
          <p:cNvPr id="13" name="Oval 12"/>
          <p:cNvSpPr/>
          <p:nvPr/>
        </p:nvSpPr>
        <p:spPr>
          <a:xfrm>
            <a:off x="777240" y="363016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香港上場企業史上最大の見通し</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決算発表(4〜6月期、既知の事実)</a:t>
            </a:r>
          </a:p>
        </p:txBody>
      </p:sp>
      <p:sp>
        <p:nvSpPr>
          <p:cNvPr id="18" name="Oval 17"/>
          <p:cNvSpPr/>
          <p:nvPr/>
        </p:nvSpPr>
        <p:spPr>
          <a:xfrm>
            <a:off x="6598767"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3年間の設備投資計画のほぼ半分を支出済み</a:t>
            </a:r>
          </a:p>
        </p:txBody>
      </p:sp>
      <p:sp>
        <p:nvSpPr>
          <p:cNvPr id="20" name="Oval 19"/>
          <p:cNvSpPr/>
          <p:nvPr/>
        </p:nvSpPr>
        <p:spPr>
          <a:xfrm>
            <a:off x="6598767"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AI投資の回収期間が2.5年に短縮する見通し</a:t>
            </a:r>
          </a:p>
        </p:txBody>
      </p:sp>
      <p:sp>
        <p:nvSpPr>
          <p:cNvPr id="22" name="Oval 21"/>
          <p:cNvSpPr/>
          <p:nvPr/>
        </p:nvSpPr>
        <p:spPr>
          <a:xfrm>
            <a:off x="6598767" y="363016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今回の増資とは別の発表内容</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Investing.com(Reuters配信)ほか(2026-08-23)</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視聴者にとっての意味(1)—AI業界動向を追う立場として</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視聴者にとっての意味を確認します。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中国テック大手のAI投資規模を、具体的な資金調達額という形で把握できる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米国ビッグテックとの投資競争という大きな文脈の中で、今回の動きを位置づける視点が役立つ</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資金使途の分野別内訳が未公表である点も踏まえ、続報を注視する視点が有効である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Investing.com(Reuters配信)ほか(2026-08-23)</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発行株式数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7億1,000万株 発行される普通株式数</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1株あたり香港ドル112.70で発行予定</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Investing.com(Reuters配信)(2026-08-23)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視聴者にとっての意味(2)—情報を正確に受け取る立場として</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もう一つの視点です。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『史上最大』という見出しの規模感を、実際の金額・株式数とともに正確に理解することが重要である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『増資の発表』と『実際の取引完了』は別の段階であり、混同しない視点が役立つ</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資金使途の分野別内訳など、まだ公表されていない情報がある点を踏まえて情報を受け取ることが大切である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Investing.com(Reuters配信)ほか(2026-08-23)</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確認できなかったこと・留保事項</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正直に開示する未確認事項です。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調達資金の分野別の具体的な配分内訳(半導体・インフラ・モデル開発への配分比率等)</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本テーマの着手日時点で、実際の払込み・取引完了はまだ行われていない</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アリババの株価・市場評価への実際の影響</a:t>
            </a:r>
          </a:p>
        </p:txBody>
      </p:sp>
      <p:sp>
        <p:nvSpPr>
          <p:cNvPr id="13" name="Oval 12"/>
          <p:cNvSpPr/>
          <p:nvPr/>
        </p:nvSpPr>
        <p:spPr>
          <a:xfrm>
            <a:off x="457200" y="445312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AI投資の想定回収期間短縮(3年→2.5年)の具体的な算出根拠</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本調査による整理</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Investing.com(Reuters配信)ほか(2026-08-23)</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確認できている事実 vs 今後の不確定要素</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確認できている事実</a:t>
            </a:r>
          </a:p>
        </p:txBody>
      </p:sp>
      <p:sp>
        <p:nvSpPr>
          <p:cNvPr id="9" name="Oval 8"/>
          <p:cNvSpPr/>
          <p:nvPr/>
        </p:nvSpPr>
        <p:spPr>
          <a:xfrm>
            <a:off x="777240"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増資の規模(約102億ドル・7億1,000万株)</a:t>
            </a:r>
          </a:p>
        </p:txBody>
      </p:sp>
      <p:sp>
        <p:nvSpPr>
          <p:cNvPr id="11" name="Oval 10"/>
          <p:cNvSpPr/>
          <p:nvPr/>
        </p:nvSpPr>
        <p:spPr>
          <a:xfrm>
            <a:off x="777240"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資金使途の大方針(100%をAI投資に)</a:t>
            </a:r>
          </a:p>
        </p:txBody>
      </p:sp>
      <p:sp>
        <p:nvSpPr>
          <p:cNvPr id="13" name="Oval 12"/>
          <p:cNvSpPr/>
          <p:nvPr/>
        </p:nvSpPr>
        <p:spPr>
          <a:xfrm>
            <a:off x="777240" y="363016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香港市場・世界的な規模の位置づけ</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今後の不確定要素</a:t>
            </a:r>
          </a:p>
        </p:txBody>
      </p:sp>
      <p:sp>
        <p:nvSpPr>
          <p:cNvPr id="18" name="Oval 17"/>
          <p:cNvSpPr/>
          <p:nvPr/>
        </p:nvSpPr>
        <p:spPr>
          <a:xfrm>
            <a:off x="6598767"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取引完了の正式な確定</a:t>
            </a:r>
          </a:p>
        </p:txBody>
      </p:sp>
      <p:sp>
        <p:nvSpPr>
          <p:cNvPr id="20" name="Oval 19"/>
          <p:cNvSpPr/>
          <p:nvPr/>
        </p:nvSpPr>
        <p:spPr>
          <a:xfrm>
            <a:off x="6598767"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資金使途の分野別内訳</a:t>
            </a:r>
          </a:p>
        </p:txBody>
      </p:sp>
      <p:sp>
        <p:nvSpPr>
          <p:cNvPr id="22" name="Oval 21"/>
          <p:cNvSpPr/>
          <p:nvPr/>
        </p:nvSpPr>
        <p:spPr>
          <a:xfrm>
            <a:off x="6598767" y="363016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市場・株価への実際の影響</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Investing.com(Reuters配信)ほか(2026-08-23)</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設備投資計画の進捗</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ほぼ半分 3年間の設備投資計画のうち既に支出済みの割合</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4〜6月期決算発表に基づく(今回の増資とは別の情報)</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BusinessDay(2026-08-23、決算関連情報の引用)</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主な情報源(独立した複数メディア)</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3A4750"/>
                    </a:solidFill>
                  </a:tcPr>
                </a:tc>
                <a:tc>
                  <a:txBody>
                    <a:bodyPr/>
                    <a:lstStyle/>
                    <a:p>
                      <a:pPr>
                        <a:defRPr sz="1300" b="1">
                          <a:solidFill>
                            <a:srgbClr val="FFFFFF"/>
                          </a:solidFill>
                          <a:latin typeface="Yu Gothic"/>
                        </a:defRPr>
                      </a:pPr>
                      <a:r>
                        <a:t>報道内容</a:t>
                      </a:r>
                    </a:p>
                  </a:txBody>
                  <a:tcPr>
                    <a:solidFill>
                      <a:srgbClr val="3A4750"/>
                    </a:solidFill>
                  </a:tcPr>
                </a:tc>
              </a:tr>
              <a:tr h="502920">
                <a:tc>
                  <a:txBody>
                    <a:bodyPr/>
                    <a:lstStyle/>
                    <a:p>
                      <a:pPr>
                        <a:defRPr sz="1200">
                          <a:solidFill>
                            <a:srgbClr val="1E2124"/>
                          </a:solidFill>
                          <a:latin typeface="Yu Gothic"/>
                        </a:defRPr>
                      </a:pPr>
                      <a:r>
                        <a:t>Investing.com(Reuters配信)</a:t>
                      </a:r>
                    </a:p>
                  </a:txBody>
                  <a:tcPr>
                    <a:solidFill>
                      <a:srgbClr val="FFFFFF"/>
                    </a:solidFill>
                  </a:tcPr>
                </a:tc>
                <a:tc>
                  <a:txBody>
                    <a:bodyPr/>
                    <a:lstStyle/>
                    <a:p>
                      <a:pPr>
                        <a:defRPr sz="1200">
                          <a:solidFill>
                            <a:srgbClr val="1E2124"/>
                          </a:solidFill>
                          <a:latin typeface="Yu Gothic"/>
                        </a:defRPr>
                      </a:pPr>
                      <a:r>
                        <a:t>増資の詳細(金額・株式数・価格)</a:t>
                      </a:r>
                    </a:p>
                  </a:txBody>
                  <a:tcPr>
                    <a:solidFill>
                      <a:srgbClr val="FFFFFF"/>
                    </a:solidFill>
                  </a:tcPr>
                </a:tc>
              </a:tr>
              <a:tr h="502920">
                <a:tc>
                  <a:txBody>
                    <a:bodyPr/>
                    <a:lstStyle/>
                    <a:p>
                      <a:pPr>
                        <a:defRPr sz="1200">
                          <a:solidFill>
                            <a:srgbClr val="1E2124"/>
                          </a:solidFill>
                          <a:latin typeface="Yu Gothic"/>
                        </a:defRPr>
                      </a:pPr>
                      <a:r>
                        <a:t>BusinessDay</a:t>
                      </a:r>
                    </a:p>
                  </a:txBody>
                  <a:tcPr>
                    <a:solidFill>
                      <a:srgbClr val="F7F4EF"/>
                    </a:solidFill>
                  </a:tcPr>
                </a:tc>
                <a:tc>
                  <a:txBody>
                    <a:bodyPr/>
                    <a:lstStyle/>
                    <a:p>
                      <a:pPr>
                        <a:defRPr sz="1200">
                          <a:solidFill>
                            <a:srgbClr val="1E2124"/>
                          </a:solidFill>
                          <a:latin typeface="Yu Gothic"/>
                        </a:defRPr>
                      </a:pPr>
                      <a:r>
                        <a:t>増資と決算情報の関連付け</a:t>
                      </a:r>
                    </a:p>
                  </a:txBody>
                  <a:tcPr>
                    <a:solidFill>
                      <a:srgbClr val="F7F4EF"/>
                    </a:solidFill>
                  </a:tcPr>
                </a:tc>
              </a:tr>
              <a:tr h="502920">
                <a:tc>
                  <a:txBody>
                    <a:bodyPr/>
                    <a:lstStyle/>
                    <a:p>
                      <a:pPr>
                        <a:defRPr sz="1200">
                          <a:solidFill>
                            <a:srgbClr val="1E2124"/>
                          </a:solidFill>
                          <a:latin typeface="Yu Gothic"/>
                        </a:defRPr>
                      </a:pPr>
                      <a:r>
                        <a:t>Eastern Herald・BigGo Finance</a:t>
                      </a:r>
                    </a:p>
                  </a:txBody>
                  <a:tcPr>
                    <a:solidFill>
                      <a:srgbClr val="FFFFFF"/>
                    </a:solidFill>
                  </a:tcPr>
                </a:tc>
                <a:tc>
                  <a:txBody>
                    <a:bodyPr/>
                    <a:lstStyle/>
                    <a:p>
                      <a:pPr>
                        <a:defRPr sz="1200">
                          <a:solidFill>
                            <a:srgbClr val="1E2124"/>
                          </a:solidFill>
                          <a:latin typeface="Yu Gothic"/>
                        </a:defRPr>
                      </a:pPr>
                      <a:r>
                        <a:t>増資の規模・歴史的位置づけ</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本調査による整理</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Investing.com(Reuters配信)ほか(2026-08-23)</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このニュースが読者にとって意味すること</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AI業界・テック企業動向を追う立場として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中国テック大手の大規模なAI投資姿勢を、具体的な資金調達額とともに把握できる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投資・金融市場に関心がある立場として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『増資発表』と『取引完了』の段階の違いを区別し、今後の続報を注視する視点が役立つ</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情報を正確に受け取りたい立場として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『史上最大』という見出しの規模感を、実際の金額・割引率などの数字とともに理解する視点が参考になる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Investing.com(Reuters配信)ほか(2026-08-23)</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世界での順位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世界第3位 2026年のプライマリーfollow-on増資として</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1位Alphabet、2位Intelに次ぐ規模(見通し)</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Investing.com(Reuters配信)(2026-08-23)</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関連する2つの発表の時系列整理</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時点</a:t>
                      </a:r>
                    </a:p>
                  </a:txBody>
                  <a:tcPr>
                    <a:solidFill>
                      <a:srgbClr val="3A4750"/>
                    </a:solidFill>
                  </a:tcPr>
                </a:tc>
                <a:tc>
                  <a:txBody>
                    <a:bodyPr/>
                    <a:lstStyle/>
                    <a:p>
                      <a:pPr>
                        <a:defRPr sz="1300" b="1">
                          <a:solidFill>
                            <a:srgbClr val="FFFFFF"/>
                          </a:solidFill>
                          <a:latin typeface="Yu Gothic"/>
                        </a:defRPr>
                      </a:pPr>
                      <a:r>
                        <a:t>発表内容</a:t>
                      </a:r>
                    </a:p>
                  </a:txBody>
                  <a:tcPr>
                    <a:solidFill>
                      <a:srgbClr val="3A4750"/>
                    </a:solidFill>
                  </a:tcPr>
                </a:tc>
              </a:tr>
              <a:tr h="502920">
                <a:tc>
                  <a:txBody>
                    <a:bodyPr/>
                    <a:lstStyle/>
                    <a:p>
                      <a:pPr>
                        <a:defRPr sz="1200">
                          <a:solidFill>
                            <a:srgbClr val="1E2124"/>
                          </a:solidFill>
                          <a:latin typeface="Yu Gothic"/>
                        </a:defRPr>
                      </a:pPr>
                      <a:r>
                        <a:t>4〜6月期決算発表</a:t>
                      </a:r>
                    </a:p>
                  </a:txBody>
                  <a:tcPr>
                    <a:solidFill>
                      <a:srgbClr val="FFFFFF"/>
                    </a:solidFill>
                  </a:tcPr>
                </a:tc>
                <a:tc>
                  <a:txBody>
                    <a:bodyPr/>
                    <a:lstStyle/>
                    <a:p>
                      <a:pPr>
                        <a:defRPr sz="1200">
                          <a:solidFill>
                            <a:srgbClr val="1E2124"/>
                          </a:solidFill>
                          <a:latin typeface="Yu Gothic"/>
                        </a:defRPr>
                      </a:pPr>
                      <a:r>
                        <a:t>設備投資計画のほぼ半分を支出済み、AI投資回収期間が2.5年に短縮見通し</a:t>
                      </a:r>
                    </a:p>
                  </a:txBody>
                  <a:tcPr>
                    <a:solidFill>
                      <a:srgbClr val="FFFFFF"/>
                    </a:solidFill>
                  </a:tcPr>
                </a:tc>
              </a:tr>
              <a:tr h="502920">
                <a:tc>
                  <a:txBody>
                    <a:bodyPr/>
                    <a:lstStyle/>
                    <a:p>
                      <a:pPr>
                        <a:defRPr sz="1200">
                          <a:solidFill>
                            <a:srgbClr val="1E2124"/>
                          </a:solidFill>
                          <a:latin typeface="Yu Gothic"/>
                        </a:defRPr>
                      </a:pPr>
                      <a:r>
                        <a:t>2026年8月23日</a:t>
                      </a:r>
                    </a:p>
                  </a:txBody>
                  <a:tcPr>
                    <a:solidFill>
                      <a:srgbClr val="F7F4EF"/>
                    </a:solidFill>
                  </a:tcPr>
                </a:tc>
                <a:tc>
                  <a:txBody>
                    <a:bodyPr/>
                    <a:lstStyle/>
                    <a:p>
                      <a:pPr>
                        <a:defRPr sz="1200">
                          <a:solidFill>
                            <a:srgbClr val="1E2124"/>
                          </a:solidFill>
                          <a:latin typeface="Yu Gothic"/>
                        </a:defRPr>
                      </a:pPr>
                      <a:r>
                        <a:t>約102億ドルの新株式プレースメントを発表、資金の100%をAI投資に</a:t>
                      </a:r>
                    </a:p>
                  </a:txBody>
                  <a:tcPr>
                    <a:solidFill>
                      <a:srgbClr val="F7F4E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本調査による整理(BusinessDay・Investing.com)</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Investing.com(Reuters配信)ほか(2026-08-23)</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AI投資競争という大きな文脈</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業界全体の流れの中での位置づけです。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米国のビッグテック各社もAIインフラへの巨額投資を続けており、世界的な投資競争の様相を呈している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アリババの今回の動きは、株式市場からの資金調達という手法を選んだ点が特徴的である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本調査では、他社の投資額との具体的な金額比較は行っていない(出典を確認できていないため)</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Investing.com(Reuters配信)ほか(2026-08-23)</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まとめ</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本編のまとめです。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2026年8月23日、アリババは約102億ドル規模の新株式プレースメントを発表し、実現すれば香港上場企業史上最大の増資となる見通しである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調達資金の100%を『フルスタックAI』への投資に充てる方針だが、分野別の具体的な内訳は未公表である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この発表は複数の独立した主要メディアで確認できる</a:t>
            </a:r>
          </a:p>
        </p:txBody>
      </p:sp>
      <p:sp>
        <p:nvSpPr>
          <p:cNvPr id="13" name="Oval 12"/>
          <p:cNvSpPr/>
          <p:nvPr/>
        </p:nvSpPr>
        <p:spPr>
          <a:xfrm>
            <a:off x="457200" y="445312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取引完了や資金使途の詳細など、今後の不確定要素も正直に開示した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本調査による整理</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Investing.com(Reuters配信)ほか(2026-08-23)</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アリババ、香港史上最大の増資でAIに全額投入。</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F5D9A8"/>
                </a:solidFill>
                <a:latin typeface="Yu Gothic"/>
              </a:rPr>
              <a:t>2026年8月23日、アリババは約102億ドル規模の新株式プレースメントを発表しました。資金の100%をAI投資に充てる方針を、出典付きで正確に整理してお届けしました。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3A4750"/>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