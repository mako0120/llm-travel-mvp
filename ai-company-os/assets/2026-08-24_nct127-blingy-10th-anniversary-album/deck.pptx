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NCT 127が、結成10周年を記念する7枚目のフルアルバム「BLINGY」をリリースしました。何がリリースされたのか、出典付きで正確に整理してお届けします。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結論から確認します。メンバー2人の離脱を経て、7人体制となったNCT 127が、10周年を記念するアルバムをリリースしました。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今日は6つの流れでお伝えします。アルバムの基本情報からメンバー体制の変化まで、正確に事実を引用しながら整理します。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このテーマを扱う理由です。10周年という節目と、再編後初のアルバムという二重の話題性に注目しました。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アルバムの基本情報です。結成10周年を記念する7枚目のフルアルバムです。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NCT 127とは何かを確認します。2026年で結成10周年を迎えたグループです。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物理盤は19種類という非常に多いバージョンで展開されています。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10周年アルバムまでの流れを図にしました。メンバー体制の変化を経てのリリースです。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今回のリリースを3ステップで総括しました。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収録曲・ジャンルの幅広さです。多様なジャンルを横断する内容とされています。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現在のメンバーは7人で、全員がSMエンタテインメントと契約を更新しています。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メンバー体制の変化をまとめました。異なる時点の出来事として区別してお伝えします。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K-POP動向を追う立場にとっての意味です。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10周年という節目についてです。長期にわたり活動を続けてきたグループの記念作品です。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マークの脱退とウィンウィンの活動終了、異なる時点の異なる経緯を対比しました。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収録曲は全9曲で、幅広いジャンルを横断する内容です。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物理盤バリエーションの内訳です。非常に多様な形態で展開されています。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2016年の結成から10年、節目の年を迎えました。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アルバム情報をまとめました。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4つのジャンルを横断する構成で、多様な音楽性を示しています。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海外メディアの報道時期をまとめました。リリース当日から幅広く報じられています。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今回のBLINGYは、NCT 127として7枚目のフルアルバムです。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一般的なカムバックアルバムと、今回のBLINGYを対比しました。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本編のまとめです。NCT 127の10周年アルバムについて、出典付きで整理してお伝えしました。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本編は以上です。今回はNCT 127の10周年アルバムについて、その中身を正確に整理してお伝えしました。数字・事実は出典どおりに扱い、確認できなかったことは正直にお伝えしました。次回もまた出典付きでお届けします。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NCT 127、</a:t>
            </a:r>
          </a:p>
          <a:p>
            <a:pPr algn="l">
              <a:lnSpc>
                <a:spcPct val="115000"/>
              </a:lnSpc>
            </a:pPr>
            <a:r>
              <a:rPr sz="4200" b="1">
                <a:solidFill>
                  <a:srgbClr val="FFFFFF"/>
                </a:solidFill>
                <a:latin typeface="Yu Gothic"/>
              </a:rPr>
              <a:t>7人体制で迎える</a:t>
            </a:r>
          </a:p>
          <a:p>
            <a:pPr algn="l">
              <a:lnSpc>
                <a:spcPct val="115000"/>
              </a:lnSpc>
            </a:pPr>
            <a:r>
              <a:rPr sz="4200" b="1">
                <a:solidFill>
                  <a:srgbClr val="FFFFFF"/>
                </a:solidFill>
                <a:latin typeface="Yu Gothic"/>
              </a:rPr>
              <a:t>10周年アルバム</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2026年8月24日リリース——出典付きで整理する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Billboard・UPI(2026年8月24日)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7人体制 再編後初のフルアルバム「BLINGY」</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結成10周年を記念する7枚目のフルアルバム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Billboard・UPI(2026-08-24)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アルバムの基本情報を確認する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収録曲・ジャンルを確認する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物理盤のバリエーションを確認する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メンバー体制の変化を確認する</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着手日当日(2026年8月24日)、海外の主要音楽メディアが一斉に報じた話題である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結成10周年という節目のリリースで、話題性が大きい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メンバー2人の離脱を経た再編後初のフルアルバムという、注目度の高い出来事である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複数の独立したメディアが同じ中心事実を報じており、情報の一貫性を確認できた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Billboard・NME(2026年8月)</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アルバムの基本情報</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アルバム名</a:t>
                      </a:r>
                    </a:p>
                  </a:txBody>
                  <a:tcPr>
                    <a:solidFill>
                      <a:srgbClr val="FFFFFF"/>
                    </a:solidFill>
                  </a:tcPr>
                </a:tc>
                <a:tc>
                  <a:txBody>
                    <a:bodyPr/>
                    <a:lstStyle/>
                    <a:p>
                      <a:pPr>
                        <a:defRPr sz="1200">
                          <a:solidFill>
                            <a:srgbClr val="20261F"/>
                          </a:solidFill>
                          <a:latin typeface="Yu Gothic"/>
                        </a:defRPr>
                      </a:pPr>
                      <a:r>
                        <a:t>BLINGY(7枚目のフルアルバム)</a:t>
                      </a:r>
                    </a:p>
                  </a:txBody>
                  <a:tcPr>
                    <a:solidFill>
                      <a:srgbClr val="FFFFFF"/>
                    </a:solidFill>
                  </a:tcPr>
                </a:tc>
              </a:tr>
              <a:tr h="502920">
                <a:tc>
                  <a:txBody>
                    <a:bodyPr/>
                    <a:lstStyle/>
                    <a:p>
                      <a:pPr>
                        <a:defRPr sz="1200">
                          <a:solidFill>
                            <a:srgbClr val="20261F"/>
                          </a:solidFill>
                          <a:latin typeface="Yu Gothic"/>
                        </a:defRPr>
                      </a:pPr>
                      <a:r>
                        <a:t>リリース日</a:t>
                      </a:r>
                    </a:p>
                  </a:txBody>
                  <a:tcPr>
                    <a:solidFill>
                      <a:srgbClr val="F4F1E6"/>
                    </a:solidFill>
                  </a:tcPr>
                </a:tc>
                <a:tc>
                  <a:txBody>
                    <a:bodyPr/>
                    <a:lstStyle/>
                    <a:p>
                      <a:pPr>
                        <a:defRPr sz="1200">
                          <a:solidFill>
                            <a:srgbClr val="20261F"/>
                          </a:solidFill>
                          <a:latin typeface="Yu Gothic"/>
                        </a:defRPr>
                      </a:pPr>
                      <a:r>
                        <a:t>2026年8月24日</a:t>
                      </a:r>
                    </a:p>
                  </a:txBody>
                  <a:tcPr>
                    <a:solidFill>
                      <a:srgbClr val="F4F1E6"/>
                    </a:solidFill>
                  </a:tcPr>
                </a:tc>
              </a:tr>
              <a:tr h="502920">
                <a:tc>
                  <a:txBody>
                    <a:bodyPr/>
                    <a:lstStyle/>
                    <a:p>
                      <a:pPr>
                        <a:defRPr sz="1200">
                          <a:solidFill>
                            <a:srgbClr val="20261F"/>
                          </a:solidFill>
                          <a:latin typeface="Yu Gothic"/>
                        </a:defRPr>
                      </a:pPr>
                      <a:r>
                        <a:t>収録曲数</a:t>
                      </a:r>
                    </a:p>
                  </a:txBody>
                  <a:tcPr>
                    <a:solidFill>
                      <a:srgbClr val="FFFFFF"/>
                    </a:solidFill>
                  </a:tcPr>
                </a:tc>
                <a:tc>
                  <a:txBody>
                    <a:bodyPr/>
                    <a:lstStyle/>
                    <a:p>
                      <a:pPr>
                        <a:defRPr sz="1200">
                          <a:solidFill>
                            <a:srgbClr val="20261F"/>
                          </a:solidFill>
                          <a:latin typeface="Yu Gothic"/>
                        </a:defRPr>
                      </a:pPr>
                      <a:r>
                        <a:t>9曲</a:t>
                      </a:r>
                    </a:p>
                  </a:txBody>
                  <a:tcPr>
                    <a:solidFill>
                      <a:srgbClr val="FFFFFF"/>
                    </a:solidFill>
                  </a:tcPr>
                </a:tc>
              </a:tr>
              <a:tr h="502920">
                <a:tc>
                  <a:txBody>
                    <a:bodyPr/>
                    <a:lstStyle/>
                    <a:p>
                      <a:pPr>
                        <a:defRPr sz="1200">
                          <a:solidFill>
                            <a:srgbClr val="20261F"/>
                          </a:solidFill>
                          <a:latin typeface="Yu Gothic"/>
                        </a:defRPr>
                      </a:pPr>
                      <a:r>
                        <a:t>タイトル曲</a:t>
                      </a:r>
                    </a:p>
                  </a:txBody>
                  <a:tcPr>
                    <a:solidFill>
                      <a:srgbClr val="F4F1E6"/>
                    </a:solidFill>
                  </a:tcPr>
                </a:tc>
                <a:tc>
                  <a:txBody>
                    <a:bodyPr/>
                    <a:lstStyle/>
                    <a:p>
                      <a:pPr>
                        <a:defRPr sz="1200">
                          <a:solidFill>
                            <a:srgbClr val="20261F"/>
                          </a:solidFill>
                          <a:latin typeface="Yu Gothic"/>
                        </a:defRPr>
                      </a:pPr>
                      <a:r>
                        <a:t>Blingy</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Billboard・UPI(2026-08-24)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「NCT 127」とは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前提知識を確認します。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SMエンタテインメント所属の男性グループ「NCT」のサブユニットの一つである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2016年の結成から、2026年で10周年を迎えた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K-POP市場で世界的に活動する主要グループの一つとして知られる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物理盤のバージョン数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19種類 展開される物理アルバムのバージョン数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フォトブック・ジェットポスター・スマートアルバム等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kpopofficial.com(2026年8月)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10周年アルバムまでの流れ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2026年4月、マークが脱退</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サブユニット・会社から離脱</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2026年7月、ウィンウィンが活動終了</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契約非更新による</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2026年8月24日、7人体制で『BLINGY』リリース</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結成10周年を記念</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10周年アルバムまでの流れ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Yahoo・Complex(2026年)</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今回のリリースを3ステップで総括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7人体制が確定</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SMと契約更新</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10周年アルバムを制作</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全9曲収録</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19種類の物理盤で展開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8月24日リリース</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収録曲・ジャンルの幅広さ</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収録曲・ジャンルを確認します。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ヒップホップ・ロック・ポップ・インディーポップなど、幅広いジャンルを横断する内容とされている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収録曲には『Legacy』『Pinata』『Step Up』『IKR』『Getaway』などが含まれる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『127 Million Miles』『I Mean, It's About Time』といった、10周年を意識したと思われる曲名も収録されている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NME・Clash Magazine(2026年8月)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確定していること</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リリース日(8月24日)・収録曲数(9曲)・物理盤バージョン数(19種類)</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現在のメンバー構成(7人)</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マーク脱退(4月)・ウィンウィン活動終了(7月)の経緯</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具体的な初動売上・予約枚数の数字</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音楽チャートでの実際の順位</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現在のメンバー数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7人 現在のNCT 127のメンバー構成</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ジョニー・テヨン・ユウタ・ドヨン・ジェヒョン・ジョンウ・ヘチャン</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Yahoo・Complex(2026年)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メンバー体制の変化</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4523F"/>
                    </a:solidFill>
                  </a:tcPr>
                </a:tc>
                <a:tc>
                  <a:txBody>
                    <a:bodyPr/>
                    <a:lstStyle/>
                    <a:p>
                      <a:pPr>
                        <a:defRPr sz="1300" b="1">
                          <a:solidFill>
                            <a:srgbClr val="FFFFFF"/>
                          </a:solidFill>
                          <a:latin typeface="Yu Gothic"/>
                        </a:defRPr>
                      </a:pPr>
                      <a:r>
                        <a:t>できごと</a:t>
                      </a:r>
                    </a:p>
                  </a:txBody>
                  <a:tcPr>
                    <a:solidFill>
                      <a:srgbClr val="24523F"/>
                    </a:solidFill>
                  </a:tcPr>
                </a:tc>
              </a:tr>
              <a:tr h="502920">
                <a:tc>
                  <a:txBody>
                    <a:bodyPr/>
                    <a:lstStyle/>
                    <a:p>
                      <a:pPr>
                        <a:defRPr sz="1200">
                          <a:solidFill>
                            <a:srgbClr val="20261F"/>
                          </a:solidFill>
                          <a:latin typeface="Yu Gothic"/>
                        </a:defRPr>
                      </a:pPr>
                      <a:r>
                        <a:t>2026年4月8日</a:t>
                      </a:r>
                    </a:p>
                  </a:txBody>
                  <a:tcPr>
                    <a:solidFill>
                      <a:srgbClr val="FFFFFF"/>
                    </a:solidFill>
                  </a:tcPr>
                </a:tc>
                <a:tc>
                  <a:txBody>
                    <a:bodyPr/>
                    <a:lstStyle/>
                    <a:p>
                      <a:pPr>
                        <a:defRPr sz="1200">
                          <a:solidFill>
                            <a:srgbClr val="20261F"/>
                          </a:solidFill>
                          <a:latin typeface="Yu Gothic"/>
                        </a:defRPr>
                      </a:pPr>
                      <a:r>
                        <a:t>マークが脱退(サブユニット・会社から離脱)</a:t>
                      </a:r>
                    </a:p>
                  </a:txBody>
                  <a:tcPr>
                    <a:solidFill>
                      <a:srgbClr val="FFFFFF"/>
                    </a:solidFill>
                  </a:tcPr>
                </a:tc>
              </a:tr>
              <a:tr h="502920">
                <a:tc>
                  <a:txBody>
                    <a:bodyPr/>
                    <a:lstStyle/>
                    <a:p>
                      <a:pPr>
                        <a:defRPr sz="1200">
                          <a:solidFill>
                            <a:srgbClr val="20261F"/>
                          </a:solidFill>
                          <a:latin typeface="Yu Gothic"/>
                        </a:defRPr>
                      </a:pPr>
                      <a:r>
                        <a:t>2026年7月9日</a:t>
                      </a:r>
                    </a:p>
                  </a:txBody>
                  <a:tcPr>
                    <a:solidFill>
                      <a:srgbClr val="F4F1E6"/>
                    </a:solidFill>
                  </a:tcPr>
                </a:tc>
                <a:tc>
                  <a:txBody>
                    <a:bodyPr/>
                    <a:lstStyle/>
                    <a:p>
                      <a:pPr>
                        <a:defRPr sz="1200">
                          <a:solidFill>
                            <a:srgbClr val="20261F"/>
                          </a:solidFill>
                          <a:latin typeface="Yu Gothic"/>
                        </a:defRPr>
                      </a:pPr>
                      <a:r>
                        <a:t>ウィンウィンが活動終了(契約非更新)</a:t>
                      </a:r>
                    </a:p>
                  </a:txBody>
                  <a:tcPr>
                    <a:solidFill>
                      <a:srgbClr val="F4F1E6"/>
                    </a:solidFill>
                  </a:tcPr>
                </a:tc>
              </a:tr>
              <a:tr h="502920">
                <a:tc>
                  <a:txBody>
                    <a:bodyPr/>
                    <a:lstStyle/>
                    <a:p>
                      <a:pPr>
                        <a:defRPr sz="1200">
                          <a:solidFill>
                            <a:srgbClr val="20261F"/>
                          </a:solidFill>
                          <a:latin typeface="Yu Gothic"/>
                        </a:defRPr>
                      </a:pPr>
                      <a:r>
                        <a:t>2026年8月24日</a:t>
                      </a:r>
                    </a:p>
                  </a:txBody>
                  <a:tcPr>
                    <a:solidFill>
                      <a:srgbClr val="FFFFFF"/>
                    </a:solidFill>
                  </a:tcPr>
                </a:tc>
                <a:tc>
                  <a:txBody>
                    <a:bodyPr/>
                    <a:lstStyle/>
                    <a:p>
                      <a:pPr>
                        <a:defRPr sz="1200">
                          <a:solidFill>
                            <a:srgbClr val="20261F"/>
                          </a:solidFill>
                          <a:latin typeface="Yu Gothic"/>
                        </a:defRPr>
                      </a:pPr>
                      <a:r>
                        <a:t>7人体制で『BLINGY』をリリース</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Yahoo・Complex(2026年)</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視聴者にとっての意味—K-POP動向を追う立場として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10周年を迎えた主要K-POPグループの最新動向を、具体的な事実とともに把握できる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メンバー体制の変化とグループ活動の継続という実例を通じて業界動向を学べる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確定した情報と未確定のチャート順位を区別する視点が役立つ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10周年という節目について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10周年という節目を確認します。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NCT 127は2016年に結成され、2026年で10周年を迎えた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今回のアルバムは、この節目を記念する作品と位置づけられている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収録曲名にも10周年を意識したと思われるタイトルが含まれている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Billboard(2026年8月)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マークの脱退 vs ウィンウィンの活動終了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マークの脱退(2026年4月8日)</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サブユニット・会社の双方から離脱</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ウィンウィンの活動終了(2026年7月9日)</a:t>
            </a:r>
          </a:p>
        </p:txBody>
      </p:sp>
      <p:sp>
        <p:nvSpPr>
          <p:cNvPr id="14" name="Oval 13"/>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契約非更新による活動終了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具体的な初動売上・予約枚数の数字は確認できていない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音楽チャートでの実際の順位は、着手日時点ではまだ確定していない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タイトル曲『Blingy』の具体的な楽曲コンセプトの詳細は確認できていない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主な情報源</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4523F"/>
                    </a:solidFill>
                  </a:tcPr>
                </a:tc>
                <a:tc>
                  <a:txBody>
                    <a:bodyPr/>
                    <a:lstStyle/>
                    <a:p>
                      <a:pPr>
                        <a:defRPr sz="1300" b="1">
                          <a:solidFill>
                            <a:srgbClr val="FFFFFF"/>
                          </a:solidFill>
                          <a:latin typeface="Yu Gothic"/>
                        </a:defRPr>
                      </a:pPr>
                      <a:r>
                        <a:t>報道内容</a:t>
                      </a:r>
                    </a:p>
                  </a:txBody>
                  <a:tcPr>
                    <a:solidFill>
                      <a:srgbClr val="24523F"/>
                    </a:solidFill>
                  </a:tcPr>
                </a:tc>
              </a:tr>
              <a:tr h="502920">
                <a:tc>
                  <a:txBody>
                    <a:bodyPr/>
                    <a:lstStyle/>
                    <a:p>
                      <a:pPr>
                        <a:defRPr sz="1200">
                          <a:solidFill>
                            <a:srgbClr val="20261F"/>
                          </a:solidFill>
                          <a:latin typeface="Yu Gothic"/>
                        </a:defRPr>
                      </a:pPr>
                      <a:r>
                        <a:t>Billboard(2026年8月)</a:t>
                      </a:r>
                    </a:p>
                  </a:txBody>
                  <a:tcPr>
                    <a:solidFill>
                      <a:srgbClr val="FFFFFF"/>
                    </a:solidFill>
                  </a:tcPr>
                </a:tc>
                <a:tc>
                  <a:txBody>
                    <a:bodyPr/>
                    <a:lstStyle/>
                    <a:p>
                      <a:pPr>
                        <a:defRPr sz="1200">
                          <a:solidFill>
                            <a:srgbClr val="20261F"/>
                          </a:solidFill>
                          <a:latin typeface="Yu Gothic"/>
                        </a:defRPr>
                      </a:pPr>
                      <a:r>
                        <a:t>リリース発表・収録曲の詳細</a:t>
                      </a:r>
                    </a:p>
                  </a:txBody>
                  <a:tcPr>
                    <a:solidFill>
                      <a:srgbClr val="FFFFFF"/>
                    </a:solidFill>
                  </a:tcPr>
                </a:tc>
              </a:tr>
              <a:tr h="502920">
                <a:tc>
                  <a:txBody>
                    <a:bodyPr/>
                    <a:lstStyle/>
                    <a:p>
                      <a:pPr>
                        <a:defRPr sz="1200">
                          <a:solidFill>
                            <a:srgbClr val="20261F"/>
                          </a:solidFill>
                          <a:latin typeface="Yu Gothic"/>
                        </a:defRPr>
                      </a:pPr>
                      <a:r>
                        <a:t>UPI(2026-08-24)</a:t>
                      </a:r>
                    </a:p>
                  </a:txBody>
                  <a:tcPr>
                    <a:solidFill>
                      <a:srgbClr val="F4F1E6"/>
                    </a:solidFill>
                  </a:tcPr>
                </a:tc>
                <a:tc>
                  <a:txBody>
                    <a:bodyPr/>
                    <a:lstStyle/>
                    <a:p>
                      <a:pPr>
                        <a:defRPr sz="1200">
                          <a:solidFill>
                            <a:srgbClr val="20261F"/>
                          </a:solidFill>
                          <a:latin typeface="Yu Gothic"/>
                        </a:defRPr>
                      </a:pPr>
                      <a:r>
                        <a:t>リリース当日の詳細</a:t>
                      </a:r>
                    </a:p>
                  </a:txBody>
                  <a:tcPr>
                    <a:solidFill>
                      <a:srgbClr val="F4F1E6"/>
                    </a:solidFill>
                  </a:tcPr>
                </a:tc>
              </a:tr>
              <a:tr h="502920">
                <a:tc>
                  <a:txBody>
                    <a:bodyPr/>
                    <a:lstStyle/>
                    <a:p>
                      <a:pPr>
                        <a:defRPr sz="1200">
                          <a:solidFill>
                            <a:srgbClr val="20261F"/>
                          </a:solidFill>
                          <a:latin typeface="Yu Gothic"/>
                        </a:defRPr>
                      </a:pPr>
                      <a:r>
                        <a:t>NME(2026年8月)</a:t>
                      </a:r>
                    </a:p>
                  </a:txBody>
                  <a:tcPr>
                    <a:solidFill>
                      <a:srgbClr val="FFFFFF"/>
                    </a:solidFill>
                  </a:tcPr>
                </a:tc>
                <a:tc>
                  <a:txBody>
                    <a:bodyPr/>
                    <a:lstStyle/>
                    <a:p>
                      <a:pPr>
                        <a:defRPr sz="1200">
                          <a:solidFill>
                            <a:srgbClr val="20261F"/>
                          </a:solidFill>
                          <a:latin typeface="Yu Gothic"/>
                        </a:defRPr>
                      </a:pPr>
                      <a:r>
                        <a:t>アルバムレビュー</a:t>
                      </a:r>
                    </a:p>
                  </a:txBody>
                  <a:tcPr>
                    <a:solidFill>
                      <a:srgbClr val="FFFFFF"/>
                    </a:solidFill>
                  </a:tcPr>
                </a:tc>
              </a:tr>
              <a:tr h="502920">
                <a:tc>
                  <a:txBody>
                    <a:bodyPr/>
                    <a:lstStyle/>
                    <a:p>
                      <a:pPr>
                        <a:defRPr sz="1200">
                          <a:solidFill>
                            <a:srgbClr val="20261F"/>
                          </a:solidFill>
                          <a:latin typeface="Yu Gothic"/>
                        </a:defRPr>
                      </a:pPr>
                      <a:r>
                        <a:t>Clash Magazine(2026年8月)</a:t>
                      </a:r>
                    </a:p>
                  </a:txBody>
                  <a:tcPr>
                    <a:solidFill>
                      <a:srgbClr val="F4F1E6"/>
                    </a:solidFill>
                  </a:tcPr>
                </a:tc>
                <a:tc>
                  <a:txBody>
                    <a:bodyPr/>
                    <a:lstStyle/>
                    <a:p>
                      <a:pPr>
                        <a:defRPr sz="1200">
                          <a:solidFill>
                            <a:srgbClr val="20261F"/>
                          </a:solidFill>
                          <a:latin typeface="Yu Gothic"/>
                        </a:defRPr>
                      </a:pPr>
                      <a:r>
                        <a:t>アルバムコンセプトの背景</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K-POP動向を追う立場として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10周年を迎えた主要グループの最新動向を具体的な事実とともに把握できる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音楽業界動向に関心がある立場として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メンバー体制の変化とグループ継続の実例を学べる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確定情報と未確定のチャート順位を区別する視点が役立つ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収録曲数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9曲 『BLINGY』に収録された楽曲数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ヒップホップ・ロック・ポップ・インディーポップを横断</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NME(2026年8月)</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物理盤バリエーションの内訳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物理盤バリエーションの内訳を確認します。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フォトブック2種(Blingy Jet・Assemble)、ジェットポスター6種が含まれる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スマートアルバム『Call 127』、メンバー別SMiniバージョン5種も展開される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メンバー別ジェットキーホルダーバージョン5種も含まれ、合計19種類となる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kpopofficial.com(2026年8月)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グループ結成からの年数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10年 NCT 127の結成からの年数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2016年結成、2026年に10周年</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本調査による整理</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アルバム情報まとめ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アルバム名</a:t>
                      </a:r>
                    </a:p>
                  </a:txBody>
                  <a:tcPr>
                    <a:solidFill>
                      <a:srgbClr val="FFFFFF"/>
                    </a:solidFill>
                  </a:tcPr>
                </a:tc>
                <a:tc>
                  <a:txBody>
                    <a:bodyPr/>
                    <a:lstStyle/>
                    <a:p>
                      <a:pPr>
                        <a:defRPr sz="1200">
                          <a:solidFill>
                            <a:srgbClr val="20261F"/>
                          </a:solidFill>
                          <a:latin typeface="Yu Gothic"/>
                        </a:defRPr>
                      </a:pPr>
                      <a:r>
                        <a:t>BLINGY</a:t>
                      </a:r>
                    </a:p>
                  </a:txBody>
                  <a:tcPr>
                    <a:solidFill>
                      <a:srgbClr val="FFFFFF"/>
                    </a:solidFill>
                  </a:tcPr>
                </a:tc>
              </a:tr>
              <a:tr h="502920">
                <a:tc>
                  <a:txBody>
                    <a:bodyPr/>
                    <a:lstStyle/>
                    <a:p>
                      <a:pPr>
                        <a:defRPr sz="1200">
                          <a:solidFill>
                            <a:srgbClr val="20261F"/>
                          </a:solidFill>
                          <a:latin typeface="Yu Gothic"/>
                        </a:defRPr>
                      </a:pPr>
                      <a:r>
                        <a:t>何枚目か</a:t>
                      </a:r>
                    </a:p>
                  </a:txBody>
                  <a:tcPr>
                    <a:solidFill>
                      <a:srgbClr val="F4F1E6"/>
                    </a:solidFill>
                  </a:tcPr>
                </a:tc>
                <a:tc>
                  <a:txBody>
                    <a:bodyPr/>
                    <a:lstStyle/>
                    <a:p>
                      <a:pPr>
                        <a:defRPr sz="1200">
                          <a:solidFill>
                            <a:srgbClr val="20261F"/>
                          </a:solidFill>
                          <a:latin typeface="Yu Gothic"/>
                        </a:defRPr>
                      </a:pPr>
                      <a:r>
                        <a:t>7枚目のフルアルバム</a:t>
                      </a:r>
                    </a:p>
                  </a:txBody>
                  <a:tcPr>
                    <a:solidFill>
                      <a:srgbClr val="F4F1E6"/>
                    </a:solidFill>
                  </a:tcPr>
                </a:tc>
              </a:tr>
              <a:tr h="502920">
                <a:tc>
                  <a:txBody>
                    <a:bodyPr/>
                    <a:lstStyle/>
                    <a:p>
                      <a:pPr>
                        <a:defRPr sz="1200">
                          <a:solidFill>
                            <a:srgbClr val="20261F"/>
                          </a:solidFill>
                          <a:latin typeface="Yu Gothic"/>
                        </a:defRPr>
                      </a:pPr>
                      <a:r>
                        <a:t>収録曲数</a:t>
                      </a:r>
                    </a:p>
                  </a:txBody>
                  <a:tcPr>
                    <a:solidFill>
                      <a:srgbClr val="FFFFFF"/>
                    </a:solidFill>
                  </a:tcPr>
                </a:tc>
                <a:tc>
                  <a:txBody>
                    <a:bodyPr/>
                    <a:lstStyle/>
                    <a:p>
                      <a:pPr>
                        <a:defRPr sz="1200">
                          <a:solidFill>
                            <a:srgbClr val="20261F"/>
                          </a:solidFill>
                          <a:latin typeface="Yu Gothic"/>
                        </a:defRPr>
                      </a:pPr>
                      <a:r>
                        <a:t>9曲</a:t>
                      </a:r>
                    </a:p>
                  </a:txBody>
                  <a:tcPr>
                    <a:solidFill>
                      <a:srgbClr val="FFFFFF"/>
                    </a:solidFill>
                  </a:tcPr>
                </a:tc>
              </a:tr>
              <a:tr h="502920">
                <a:tc>
                  <a:txBody>
                    <a:bodyPr/>
                    <a:lstStyle/>
                    <a:p>
                      <a:pPr>
                        <a:defRPr sz="1200">
                          <a:solidFill>
                            <a:srgbClr val="20261F"/>
                          </a:solidFill>
                          <a:latin typeface="Yu Gothic"/>
                        </a:defRPr>
                      </a:pPr>
                      <a:r>
                        <a:t>物理盤バージョン数</a:t>
                      </a:r>
                    </a:p>
                  </a:txBody>
                  <a:tcPr>
                    <a:solidFill>
                      <a:srgbClr val="F4F1E6"/>
                    </a:solidFill>
                  </a:tcPr>
                </a:tc>
                <a:tc>
                  <a:txBody>
                    <a:bodyPr/>
                    <a:lstStyle/>
                    <a:p>
                      <a:pPr>
                        <a:defRPr sz="1200">
                          <a:solidFill>
                            <a:srgbClr val="20261F"/>
                          </a:solidFill>
                          <a:latin typeface="Yu Gothic"/>
                        </a:defRPr>
                      </a:pPr>
                      <a:r>
                        <a:t>19種類</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ジャンルの幅広さ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4ジャンル ヒップホップ・ロック・ポップ・インディーポップを横断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9曲を通じて多様な音楽性を示す構成</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NME(2026年8月)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24523F"/>
                    </a:solidFill>
                  </a:tcPr>
                </a:tc>
                <a:tc>
                  <a:txBody>
                    <a:bodyPr/>
                    <a:lstStyle/>
                    <a:p>
                      <a:pPr>
                        <a:defRPr sz="1300" b="1">
                          <a:solidFill>
                            <a:srgbClr val="FFFFFF"/>
                          </a:solidFill>
                          <a:latin typeface="Yu Gothic"/>
                        </a:defRPr>
                      </a:pPr>
                      <a:r>
                        <a:t>メディア</a:t>
                      </a:r>
                    </a:p>
                  </a:txBody>
                  <a:tcPr>
                    <a:solidFill>
                      <a:srgbClr val="24523F"/>
                    </a:solidFill>
                  </a:tcPr>
                </a:tc>
              </a:tr>
              <a:tr h="502920">
                <a:tc>
                  <a:txBody>
                    <a:bodyPr/>
                    <a:lstStyle/>
                    <a:p>
                      <a:pPr>
                        <a:defRPr sz="1200">
                          <a:solidFill>
                            <a:srgbClr val="20261F"/>
                          </a:solidFill>
                          <a:latin typeface="Yu Gothic"/>
                        </a:defRPr>
                      </a:pPr>
                      <a:r>
                        <a:t>2026年8月24日</a:t>
                      </a:r>
                    </a:p>
                  </a:txBody>
                  <a:tcPr>
                    <a:solidFill>
                      <a:srgbClr val="FFFFFF"/>
                    </a:solidFill>
                  </a:tcPr>
                </a:tc>
                <a:tc>
                  <a:txBody>
                    <a:bodyPr/>
                    <a:lstStyle/>
                    <a:p>
                      <a:pPr>
                        <a:defRPr sz="1200">
                          <a:solidFill>
                            <a:srgbClr val="20261F"/>
                          </a:solidFill>
                          <a:latin typeface="Yu Gothic"/>
                        </a:defRPr>
                      </a:pPr>
                      <a:r>
                        <a:t>Billboard・UPI(リリース当日)</a:t>
                      </a:r>
                    </a:p>
                  </a:txBody>
                  <a:tcPr>
                    <a:solidFill>
                      <a:srgbClr val="FFFFFF"/>
                    </a:solidFill>
                  </a:tcPr>
                </a:tc>
              </a:tr>
              <a:tr h="502920">
                <a:tc>
                  <a:txBody>
                    <a:bodyPr/>
                    <a:lstStyle/>
                    <a:p>
                      <a:pPr>
                        <a:defRPr sz="1200">
                          <a:solidFill>
                            <a:srgbClr val="20261F"/>
                          </a:solidFill>
                          <a:latin typeface="Yu Gothic"/>
                        </a:defRPr>
                      </a:pPr>
                      <a:r>
                        <a:t>2026年8月24日</a:t>
                      </a:r>
                    </a:p>
                  </a:txBody>
                  <a:tcPr>
                    <a:solidFill>
                      <a:srgbClr val="F4F1E6"/>
                    </a:solidFill>
                  </a:tcPr>
                </a:tc>
                <a:tc>
                  <a:txBody>
                    <a:bodyPr/>
                    <a:lstStyle/>
                    <a:p>
                      <a:pPr>
                        <a:defRPr sz="1200">
                          <a:solidFill>
                            <a:srgbClr val="20261F"/>
                          </a:solidFill>
                          <a:latin typeface="Yu Gothic"/>
                        </a:defRPr>
                      </a:pPr>
                      <a:r>
                        <a:t>NME(アルバムレビュー)</a:t>
                      </a:r>
                    </a:p>
                  </a:txBody>
                  <a:tcPr>
                    <a:solidFill>
                      <a:srgbClr val="F4F1E6"/>
                    </a:solidFill>
                  </a:tcPr>
                </a:tc>
              </a:tr>
              <a:tr h="502920">
                <a:tc>
                  <a:txBody>
                    <a:bodyPr/>
                    <a:lstStyle/>
                    <a:p>
                      <a:pPr>
                        <a:defRPr sz="1200">
                          <a:solidFill>
                            <a:srgbClr val="20261F"/>
                          </a:solidFill>
                          <a:latin typeface="Yu Gothic"/>
                        </a:defRPr>
                      </a:pPr>
                      <a:r>
                        <a:t>2026年8月24日</a:t>
                      </a:r>
                    </a:p>
                  </a:txBody>
                  <a:tcPr>
                    <a:solidFill>
                      <a:srgbClr val="FFFFFF"/>
                    </a:solidFill>
                  </a:tcPr>
                </a:tc>
                <a:tc>
                  <a:txBody>
                    <a:bodyPr/>
                    <a:lstStyle/>
                    <a:p>
                      <a:pPr>
                        <a:defRPr sz="1200">
                          <a:solidFill>
                            <a:srgbClr val="20261F"/>
                          </a:solidFill>
                          <a:latin typeface="Yu Gothic"/>
                        </a:defRPr>
                      </a:pPr>
                      <a:r>
                        <a:t>Clash Magazine(インタビュー記事)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アルバム制作の位置づけ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7枚目 NCT 127として制作されたフルアルバムの通算枚数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10周年を迎えての節目のリリース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本調査による整理</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一般的なカムバックアルバム vs 今回のBLINGY</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一般的なカムバックアルバム</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既存のメンバー体制での定期リリースが中心</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今回のBLINGY</a:t>
            </a:r>
          </a:p>
        </p:txBody>
      </p:sp>
      <p:sp>
        <p:nvSpPr>
          <p:cNvPr id="14" name="Oval 13"/>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メンバー体制変化後、初のフルアルバム</a:t>
            </a:r>
          </a:p>
        </p:txBody>
      </p:sp>
      <p:sp>
        <p:nvSpPr>
          <p:cNvPr id="16" name="Oval 15"/>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結成10周年という特別な節目</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今後注目される点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実際の音楽チャートでの順位・初動売上が今後どう明らかになるかに注目が集まる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7人体制でのライブ活動・ツアー展開も今後の注目点である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具体的な売上・チャート予測は本テーマの範囲では断定せず、確認できた事実にとどめる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本編のまとめです。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NCT 127が2026年8月24日、結成10周年を記念する7枚目のフルアルバム『BLINGY』をリリースした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全9曲収録で、19種類の物理盤バージョンで展開されている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2026年4月のマーク脱退、7月のウィンウィン活動終了を経て、現在は7人体制である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具体的な初動売上・チャート順位は着手日時点ではまだ確定しておらず、確認できた事実のみをお伝えした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Billboard・UPI等(2026-08-24)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NCT 127、7人体制で迎える10周年アルバム『BLINGY』リリース。</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結成10周年を迎えたNCT 127が、メンバー体制変化後初のフルアルバムをリリースしました。その中身を、出典付きで整理してお届けしました。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