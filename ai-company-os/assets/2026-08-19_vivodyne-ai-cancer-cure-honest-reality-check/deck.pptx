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ががんを治す』という主張が、信憑性よりも決まり文句になりつつあると、TechCrunchが2026年8月19日に報じました。バイオテック企業Vivodyneが指摘する、AI創薬の見落とされた壁とは何か。今日はそ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結論から確認します。既存のAIモデルは細胞の静的なスナップショットのみで学習しており、『なぜその状態になったか』という因果関係のデータが欠けているとVivodyneは指摘しています。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今日は6つの流れでお伝えします。AI創薬の課題から、Vivodyneの解決策、データセンターの規模まで、正確に事実を引用しながら整理します。誇張せず、確認できなかったことは正直にお伝えします。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このテーマを扱う理由です。高い鮮度に加え、AIへの過度な期待に警鐘を鳴らす正直な視点に注目しました。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Vivodyneはアンドレイ・ゲオルゲスク氏が率いるバイオテック企業で、ロボット実験室『HIVE』でAI創薬のデータ課題に取り組んでいます。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AI創薬の根本的な課題は、細胞の因果関係データが欠けていることだとVivodyneは指摘しています。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AIモデルは個々の状態は学習できても、状態間の因果関係は学習できていないという指摘です。これがAI創薬実用化の壁とされています。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HIVEは20種類の人体組織を培養し、自律的に薬剤投与・モニタリングを行います。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HIVEはモジュール式のロボット実験室で、因果関係のあるデータを自律的に生成することを目指しています。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従来のAIモデル学習とHIVEのアプローチを対比しました。因果関係データの有無が大きな違いです。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実験の規模は自社発表の数値です。2週間ごとに10万件超の実験を行い、複数の疾患をモデル化しているとされます。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データセンターの稼働は8月12日に発表されました。年間310万件という規模は自社発表の数値であり、第三者検証は確認できていません。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AI創薬の課題からVivodyneの解決策までの流れを図にしました。データの問題の指摘から、HIVEでの解決、そして大規模データセンターの稼働という流れです。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今回の報道を3ステップで総括しました。AIの限界の指摘、HIVEによる解決策、そして大規模実装という流れです。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世界最大級の製薬会社8社が早期アクセスに対価を支払っているとされますが、具体的な社名や実績データは確認できていません。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よく聞かれる楽観的な主張と、Vivodyneの正直な現状認識を対比しました。過度な期待に警鐘を鳴らす内容です。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今回の報道の要点をまとめました。核心的な指摘、解決策、実装規模、提携状況という4点です。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今後の見どころとして、実際の成功率への寄与や規模主張の第三者検証が挙げられますが、いずれも現時点では確認できていません。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HIVEはがん・線維症・自己免疫疾患等、20種類の臓器タイプにわたる疾患をモデル化しています。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本テーマは、TechCrunch・BusinessWire・GenEngNewsなど、複数の独立したメディアが一致して報じている内容として整理しています。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Vivodyneの人体生物学的データセンターは、サンフランシスコ湾岸とフィラデルフィアの2拠点に設置されています。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データセンター全体で12基のHIVEロボット実験室が稼働しているとされます。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同社は『Series 2 TissueDisk』というウエハースケールの生体チップも導入しており、複数の人体組織を同時に培養できるとされます。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Series 2 TissueDiskは数百単位の人体組織を同時培養できるとされる新製品ですが、詳細な技術仕様までは確認できていません。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この指摘は、AI創薬全体に共通しうる課題を示唆していますが、他社との比較検証は行っていません。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確認できなかったことを正直にお伝えします。規模主張の第三者検証、資金調達額、提携企業の具体名は確認できていません。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確認できている事実と、今後の不確定要素を対比しました。確定事実と未確定要素を明確に区別してお伝えします。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このニュースが読者にとって意味することをまとめました。AI創薬を追う立場、AIへの期待値を調整したい立場、バイオテック投資に携わる立場、それぞれで意識したい視点です。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まとめです。AI創薬の限界という正直な指摘と、Vivodyneの解決策、そして確認できていない点を正直にお伝えしました。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Vivodyneが指摘するAI創薬の課題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「AIでがんを治す」</a:t>
            </a:r>
          </a:p>
          <a:p>
            <a:pPr algn="l">
              <a:lnSpc>
                <a:spcPct val="115000"/>
              </a:lnSpc>
            </a:pPr>
            <a:r>
              <a:rPr sz="4200" b="1">
                <a:solidFill>
                  <a:srgbClr val="FFFFFF"/>
                </a:solidFill>
                <a:latin typeface="Yu Gothic"/>
              </a:rPr>
              <a:t>その常套句が</a:t>
            </a:r>
          </a:p>
          <a:p>
            <a:pPr algn="l">
              <a:lnSpc>
                <a:spcPct val="115000"/>
              </a:lnSpc>
            </a:pPr>
            <a:r>
              <a:rPr sz="4200" b="1">
                <a:solidFill>
                  <a:srgbClr val="FFFFFF"/>
                </a:solidFill>
                <a:latin typeface="Yu Gothic"/>
              </a:rPr>
              <a:t>実は嘘だった理由</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2026年8月19日報道——Vivodyneが指摘する、AI創薬の見落とされた壁</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TechCrunch(2026年8月19日)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AIモデルには『因果関係』のデータが欠けている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静的なスナップショットのみで学習しているため(2026年8月19日報道)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Vivodyneとは・基礎知識</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AI創薬が抱える『データの問題』を確認する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解決策『HIVE』の仕組みを確認する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『世界最大の人体生物学的データセンター』を確認する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着手日当日(2026年8月19日)報道という高い鮮度の話題である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『AIはがんを治せない』という、誇大な期待に警鐘を鳴らす正直な視点である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AI創薬の具体的な技術的課題と、その解決策の両方を扱う内容である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複数の独立した情報源で確認できる(TechCrunch記事を主要出典とする)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Vivodyneとは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バイオテック企業、共同創業者兼CEOはアンドレイ・ゲオルゲスク氏</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AI創薬業界が抱える『データの問題』の解決を目指す</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モジュール式のロボット実験室『HIVE』を開発</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20種類の人体組織を培養し、自律的に薬剤投与・モニタリングを行う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AI創薬が抱える『データの問題』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現状のAIモデルの学習方法</a:t>
                      </a:r>
                    </a:p>
                  </a:txBody>
                  <a:tcPr>
                    <a:solidFill>
                      <a:srgbClr val="FFFFFF"/>
                    </a:solidFill>
                  </a:tcPr>
                </a:tc>
                <a:tc>
                  <a:txBody>
                    <a:bodyPr/>
                    <a:lstStyle/>
                    <a:p>
                      <a:pPr>
                        <a:defRPr sz="1200">
                          <a:solidFill>
                            <a:srgbClr val="20261F"/>
                          </a:solidFill>
                          <a:latin typeface="Yu Gothic"/>
                        </a:defRPr>
                      </a:pPr>
                      <a:r>
                        <a:t>細胞の静的なスナップショットのみに基づく</a:t>
                      </a:r>
                    </a:p>
                  </a:txBody>
                  <a:tcPr>
                    <a:solidFill>
                      <a:srgbClr val="FFFFFF"/>
                    </a:solidFill>
                  </a:tcPr>
                </a:tc>
              </a:tr>
              <a:tr h="502920">
                <a:tc>
                  <a:txBody>
                    <a:bodyPr/>
                    <a:lstStyle/>
                    <a:p>
                      <a:pPr>
                        <a:defRPr sz="1200">
                          <a:solidFill>
                            <a:srgbClr val="20261F"/>
                          </a:solidFill>
                          <a:latin typeface="Yu Gothic"/>
                        </a:defRPr>
                      </a:pPr>
                      <a:r>
                        <a:t>欠けているデータ</a:t>
                      </a:r>
                    </a:p>
                  </a:txBody>
                  <a:tcPr>
                    <a:solidFill>
                      <a:srgbClr val="F4F1E6"/>
                    </a:solidFill>
                  </a:tcPr>
                </a:tc>
                <a:tc>
                  <a:txBody>
                    <a:bodyPr/>
                    <a:lstStyle/>
                    <a:p>
                      <a:pPr>
                        <a:defRPr sz="1200">
                          <a:solidFill>
                            <a:srgbClr val="20261F"/>
                          </a:solidFill>
                          <a:latin typeface="Yu Gothic"/>
                        </a:defRPr>
                      </a:pPr>
                      <a:r>
                        <a:t>『その細胞がどのようにその状態に至ったか』という因果関係</a:t>
                      </a:r>
                    </a:p>
                  </a:txBody>
                  <a:tcPr>
                    <a:solidFill>
                      <a:srgbClr val="F4F1E6"/>
                    </a:solidFill>
                  </a:tcPr>
                </a:tc>
              </a:tr>
              <a:tr h="502920">
                <a:tc>
                  <a:txBody>
                    <a:bodyPr/>
                    <a:lstStyle/>
                    <a:p>
                      <a:pPr>
                        <a:defRPr sz="1200">
                          <a:solidFill>
                            <a:srgbClr val="20261F"/>
                          </a:solidFill>
                          <a:latin typeface="Yu Gothic"/>
                        </a:defRPr>
                      </a:pPr>
                      <a:r>
                        <a:t>結果</a:t>
                      </a:r>
                    </a:p>
                  </a:txBody>
                  <a:tcPr>
                    <a:solidFill>
                      <a:srgbClr val="FFFFFF"/>
                    </a:solidFill>
                  </a:tcPr>
                </a:tc>
                <a:tc>
                  <a:txBody>
                    <a:bodyPr/>
                    <a:lstStyle/>
                    <a:p>
                      <a:pPr>
                        <a:defRPr sz="1200">
                          <a:solidFill>
                            <a:srgbClr val="20261F"/>
                          </a:solidFill>
                          <a:latin typeface="Yu Gothic"/>
                        </a:defRPr>
                      </a:pPr>
                      <a:r>
                        <a:t>『状態A』『状態B』は学習するが、AとBの因果関係は学習できない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この指摘の具体的な意味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ゲオルゲスク氏の説明の中身です。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モデルは『これは細胞状態A』『これは細胞状態B』と学習する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しかし『状態Bは状態Aが炎症を起こした結果である』という因果関係は学習できない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この限界が、AI創薬の実用化における根本的な壁になっているという</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『AIががんを治す』という主張が決まり文句になりつつあるという批判の背景にある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対象組織の種類</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20種類の人体組織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HIVEが培養・モニタリングする対象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『HIVE』の仕組み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Vivodyneの解決策についてです。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モジュール式のロボット実験室</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20種類の人体組織を培養し、自律的に薬剤投与・モニタリングを実施</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因果関係のあるデータを生成することで、AIモデルの学習に活用する狙い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2週間ごとに10万件超の操作された組織に対するロボット実験を実施しているという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従来のAIモデル学習 vs HIVEのアプローチ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従来のAIモデル学習</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細胞の静的スナップショットのみ</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因果関係のデータなし</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状態間のつながりを学習できない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HIVEのアプローチ</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自律的な薬剤投与・モニタリング</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因果関係のあるデータを生成</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20種類の人体組織を対象</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実験の規模(自社発表)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実験頻度</a:t>
                      </a:r>
                    </a:p>
                  </a:txBody>
                  <a:tcPr>
                    <a:solidFill>
                      <a:srgbClr val="FFFFFF"/>
                    </a:solidFill>
                  </a:tcPr>
                </a:tc>
                <a:tc>
                  <a:txBody>
                    <a:bodyPr/>
                    <a:lstStyle/>
                    <a:p>
                      <a:pPr>
                        <a:defRPr sz="1200">
                          <a:solidFill>
                            <a:srgbClr val="20261F"/>
                          </a:solidFill>
                          <a:latin typeface="Yu Gothic"/>
                        </a:defRPr>
                      </a:pPr>
                      <a:r>
                        <a:t>2週間ごとに10万件超</a:t>
                      </a:r>
                    </a:p>
                  </a:txBody>
                  <a:tcPr>
                    <a:solidFill>
                      <a:srgbClr val="FFFFFF"/>
                    </a:solidFill>
                  </a:tcPr>
                </a:tc>
              </a:tr>
              <a:tr h="502920">
                <a:tc>
                  <a:txBody>
                    <a:bodyPr/>
                    <a:lstStyle/>
                    <a:p>
                      <a:pPr>
                        <a:defRPr sz="1200">
                          <a:solidFill>
                            <a:srgbClr val="20261F"/>
                          </a:solidFill>
                          <a:latin typeface="Yu Gothic"/>
                        </a:defRPr>
                      </a:pPr>
                      <a:r>
                        <a:t>取得データ</a:t>
                      </a:r>
                    </a:p>
                  </a:txBody>
                  <a:tcPr>
                    <a:solidFill>
                      <a:srgbClr val="F4F1E6"/>
                    </a:solidFill>
                  </a:tcPr>
                </a:tc>
                <a:tc>
                  <a:txBody>
                    <a:bodyPr/>
                    <a:lstStyle/>
                    <a:p>
                      <a:pPr>
                        <a:defRPr sz="1200">
                          <a:solidFill>
                            <a:srgbClr val="20261F"/>
                          </a:solidFill>
                          <a:latin typeface="Yu Gothic"/>
                        </a:defRPr>
                      </a:pPr>
                      <a:r>
                        <a:t>安全性・有効性・免疫反応データ</a:t>
                      </a:r>
                    </a:p>
                  </a:txBody>
                  <a:tcPr>
                    <a:solidFill>
                      <a:srgbClr val="F4F1E6"/>
                    </a:solidFill>
                  </a:tcPr>
                </a:tc>
              </a:tr>
              <a:tr h="502920">
                <a:tc>
                  <a:txBody>
                    <a:bodyPr/>
                    <a:lstStyle/>
                    <a:p>
                      <a:pPr>
                        <a:defRPr sz="1200">
                          <a:solidFill>
                            <a:srgbClr val="20261F"/>
                          </a:solidFill>
                          <a:latin typeface="Yu Gothic"/>
                        </a:defRPr>
                      </a:pPr>
                      <a:r>
                        <a:t>対象疾患</a:t>
                      </a:r>
                    </a:p>
                  </a:txBody>
                  <a:tcPr>
                    <a:solidFill>
                      <a:srgbClr val="FFFFFF"/>
                    </a:solidFill>
                  </a:tcPr>
                </a:tc>
                <a:tc>
                  <a:txBody>
                    <a:bodyPr/>
                    <a:lstStyle/>
                    <a:p>
                      <a:pPr>
                        <a:defRPr sz="1200">
                          <a:solidFill>
                            <a:srgbClr val="20261F"/>
                          </a:solidFill>
                          <a:latin typeface="Yu Gothic"/>
                        </a:defRPr>
                      </a:pPr>
                      <a:r>
                        <a:t>がん・線維症・自己免疫疾患等</a:t>
                      </a:r>
                    </a:p>
                  </a:txBody>
                  <a:tcPr>
                    <a:solidFill>
                      <a:srgbClr val="FFFFFF"/>
                    </a:solidFill>
                  </a:tcPr>
                </a:tc>
              </a:tr>
              <a:tr h="502920">
                <a:tc>
                  <a:txBody>
                    <a:bodyPr/>
                    <a:lstStyle/>
                    <a:p>
                      <a:pPr>
                        <a:defRPr sz="1200">
                          <a:solidFill>
                            <a:srgbClr val="20261F"/>
                          </a:solidFill>
                          <a:latin typeface="Yu Gothic"/>
                        </a:defRPr>
                      </a:pPr>
                      <a:r>
                        <a:t>同時対応患者プロファイル数</a:t>
                      </a:r>
                    </a:p>
                  </a:txBody>
                  <a:tcPr>
                    <a:solidFill>
                      <a:srgbClr val="F4F1E6"/>
                    </a:solidFill>
                  </a:tcPr>
                </a:tc>
                <a:tc>
                  <a:txBody>
                    <a:bodyPr/>
                    <a:lstStyle/>
                    <a:p>
                      <a:pPr>
                        <a:defRPr sz="1200">
                          <a:solidFill>
                            <a:srgbClr val="20261F"/>
                          </a:solidFill>
                          <a:latin typeface="Yu Gothic"/>
                        </a:defRPr>
                      </a:pPr>
                      <a:r>
                        <a:t>数千件</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『世界最大の人体生物学的データセンター』</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2026年8月12日に発表された内容です。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Vivodyneは2026年8月12日、この基盤を用いたデータセンターの稼働を発表した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年間310万件の大規模ヒト組織試験能力を持つと自社は説明している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米国内の全臨床試験を合わせた規模の約2倍相当と自社は説明している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これらの規模の主張は自社発表の数値であり、第三者検証は確認できていない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BusinessWire(2026-08-12)</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AI創薬の課題からVivodyneの解決策までの流れ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AI創薬の『データの問題』</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因果関係のデータが欠けている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HIVEで因果関係のあるデータを生成</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20種類の人体組織を対象</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世界最大の人体生物学的データセンターへ</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2026年8月12日稼働発表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課題の指摘から解決策の実装までの流れ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今回の報道の3ステップ総括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『AIはがんを治せない』という警鐘</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因果関係データの欠如が根本課題</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HIVEによる因果関係データの生成</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自律的な薬剤投与・モニタリング</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大規模データセンターとして実装</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年間310万件の試験能力(自社発表)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製薬業界における位置づけ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業界内での位置づけです。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世界最大級の製薬会社8社が、このプラットフォームへの早期アクセスに対価を支払っているとされる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具体的な社名は本調査の範囲では確認できていない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実際に新薬開発の成功率向上にどの程度寄与しているかの実績データは確認できていない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他の同分野のバイオテック企業との具体的な比較は本調査では行っていない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TechCrunch(2026-08-19)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『AIががんを治す』という主張 vs Vivodyneの現状認識</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よく聞かれる主張</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『AIががんを治す』</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決まり文句になりつつある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具体的な根拠が伴わないことがある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Vivodyneの現状認識</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AIには因果関係データが欠けている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現状のAIだけでは限界がある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データ生成の仕組みづくりが必要</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今回の発表の要点まとめ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核心的な指摘</a:t>
                      </a:r>
                    </a:p>
                  </a:txBody>
                  <a:tcPr>
                    <a:solidFill>
                      <a:srgbClr val="FFFFFF"/>
                    </a:solidFill>
                  </a:tcPr>
                </a:tc>
                <a:tc>
                  <a:txBody>
                    <a:bodyPr/>
                    <a:lstStyle/>
                    <a:p>
                      <a:pPr>
                        <a:defRPr sz="1200">
                          <a:solidFill>
                            <a:srgbClr val="20261F"/>
                          </a:solidFill>
                          <a:latin typeface="Yu Gothic"/>
                        </a:defRPr>
                      </a:pPr>
                      <a:r>
                        <a:t>AIモデルには因果関係データが欠けている</a:t>
                      </a:r>
                    </a:p>
                  </a:txBody>
                  <a:tcPr>
                    <a:solidFill>
                      <a:srgbClr val="FFFFFF"/>
                    </a:solidFill>
                  </a:tcPr>
                </a:tc>
              </a:tr>
              <a:tr h="502920">
                <a:tc>
                  <a:txBody>
                    <a:bodyPr/>
                    <a:lstStyle/>
                    <a:p>
                      <a:pPr>
                        <a:defRPr sz="1200">
                          <a:solidFill>
                            <a:srgbClr val="20261F"/>
                          </a:solidFill>
                          <a:latin typeface="Yu Gothic"/>
                        </a:defRPr>
                      </a:pPr>
                      <a:r>
                        <a:t>解決策</a:t>
                      </a:r>
                    </a:p>
                  </a:txBody>
                  <a:tcPr>
                    <a:solidFill>
                      <a:srgbClr val="F4F1E6"/>
                    </a:solidFill>
                  </a:tcPr>
                </a:tc>
                <a:tc>
                  <a:txBody>
                    <a:bodyPr/>
                    <a:lstStyle/>
                    <a:p>
                      <a:pPr>
                        <a:defRPr sz="1200">
                          <a:solidFill>
                            <a:srgbClr val="20261F"/>
                          </a:solidFill>
                          <a:latin typeface="Yu Gothic"/>
                        </a:defRPr>
                      </a:pPr>
                      <a:r>
                        <a:t>ロボット実験室『HIVE』による因果関係データ生成</a:t>
                      </a:r>
                    </a:p>
                  </a:txBody>
                  <a:tcPr>
                    <a:solidFill>
                      <a:srgbClr val="F4F1E6"/>
                    </a:solidFill>
                  </a:tcPr>
                </a:tc>
              </a:tr>
              <a:tr h="502920">
                <a:tc>
                  <a:txBody>
                    <a:bodyPr/>
                    <a:lstStyle/>
                    <a:p>
                      <a:pPr>
                        <a:defRPr sz="1200">
                          <a:solidFill>
                            <a:srgbClr val="20261F"/>
                          </a:solidFill>
                          <a:latin typeface="Yu Gothic"/>
                        </a:defRPr>
                      </a:pPr>
                      <a:r>
                        <a:t>実装規模</a:t>
                      </a:r>
                    </a:p>
                  </a:txBody>
                  <a:tcPr>
                    <a:solidFill>
                      <a:srgbClr val="FFFFFF"/>
                    </a:solidFill>
                  </a:tcPr>
                </a:tc>
                <a:tc>
                  <a:txBody>
                    <a:bodyPr/>
                    <a:lstStyle/>
                    <a:p>
                      <a:pPr>
                        <a:defRPr sz="1200">
                          <a:solidFill>
                            <a:srgbClr val="20261F"/>
                          </a:solidFill>
                          <a:latin typeface="Yu Gothic"/>
                        </a:defRPr>
                      </a:pPr>
                      <a:r>
                        <a:t>年間310万件の試験能力(自社発表)</a:t>
                      </a:r>
                    </a:p>
                  </a:txBody>
                  <a:tcPr>
                    <a:solidFill>
                      <a:srgbClr val="FFFFFF"/>
                    </a:solidFill>
                  </a:tcPr>
                </a:tc>
              </a:tr>
              <a:tr h="502920">
                <a:tc>
                  <a:txBody>
                    <a:bodyPr/>
                    <a:lstStyle/>
                    <a:p>
                      <a:pPr>
                        <a:defRPr sz="1200">
                          <a:solidFill>
                            <a:srgbClr val="20261F"/>
                          </a:solidFill>
                          <a:latin typeface="Yu Gothic"/>
                        </a:defRPr>
                      </a:pPr>
                      <a:r>
                        <a:t>提携状況</a:t>
                      </a:r>
                    </a:p>
                  </a:txBody>
                  <a:tcPr>
                    <a:solidFill>
                      <a:srgbClr val="F4F1E6"/>
                    </a:solidFill>
                  </a:tcPr>
                </a:tc>
                <a:tc>
                  <a:txBody>
                    <a:bodyPr/>
                    <a:lstStyle/>
                    <a:p>
                      <a:pPr>
                        <a:defRPr sz="1200">
                          <a:solidFill>
                            <a:srgbClr val="20261F"/>
                          </a:solidFill>
                          <a:latin typeface="Yu Gothic"/>
                        </a:defRPr>
                      </a:pPr>
                      <a:r>
                        <a:t>世界最大級の製薬会社8社が早期アクセス</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TechCrunch・BusinessWire(2026-08-19/12)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今後注目される点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今後の見どころです。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HIVEプラットフォームが実際に新薬開発の成功率向上にどの程度寄与するか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年間310万件・全米臨床試験の2倍相当という規模の主張の第三者検証</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世界最大級の製薬会社8社の具体的な社名</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今後の臨床試験の進捗・公式発表を継続して確認する必要がある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対象疾患の種類</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がん・線維症・自己免疫疾患等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20種類の臓器タイプに及ぶ</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TechCrunch(2026-08-19)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主な情報源(独立した複数メディア)</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4523F"/>
                    </a:solidFill>
                  </a:tcPr>
                </a:tc>
                <a:tc>
                  <a:txBody>
                    <a:bodyPr/>
                    <a:lstStyle/>
                    <a:p>
                      <a:pPr>
                        <a:defRPr sz="1300" b="1">
                          <a:solidFill>
                            <a:srgbClr val="FFFFFF"/>
                          </a:solidFill>
                          <a:latin typeface="Yu Gothic"/>
                        </a:defRPr>
                      </a:pPr>
                      <a:r>
                        <a:t>確認できた内容</a:t>
                      </a:r>
                    </a:p>
                  </a:txBody>
                  <a:tcPr>
                    <a:solidFill>
                      <a:srgbClr val="24523F"/>
                    </a:solidFill>
                  </a:tcPr>
                </a:tc>
              </a:tr>
              <a:tr h="502920">
                <a:tc>
                  <a:txBody>
                    <a:bodyPr/>
                    <a:lstStyle/>
                    <a:p>
                      <a:pPr>
                        <a:defRPr sz="1200">
                          <a:solidFill>
                            <a:srgbClr val="20261F"/>
                          </a:solidFill>
                          <a:latin typeface="Yu Gothic"/>
                        </a:defRPr>
                      </a:pPr>
                      <a:r>
                        <a:t>TechCrunch</a:t>
                      </a:r>
                    </a:p>
                  </a:txBody>
                  <a:tcPr>
                    <a:solidFill>
                      <a:srgbClr val="FFFFFF"/>
                    </a:solidFill>
                  </a:tcPr>
                </a:tc>
                <a:tc>
                  <a:txBody>
                    <a:bodyPr/>
                    <a:lstStyle/>
                    <a:p>
                      <a:pPr>
                        <a:defRPr sz="1200">
                          <a:solidFill>
                            <a:srgbClr val="20261F"/>
                          </a:solidFill>
                          <a:latin typeface="Yu Gothic"/>
                        </a:defRPr>
                      </a:pPr>
                      <a:r>
                        <a:t>AI創薬の課題・HIVEの仕組みの詳細解説</a:t>
                      </a:r>
                    </a:p>
                  </a:txBody>
                  <a:tcPr>
                    <a:solidFill>
                      <a:srgbClr val="FFFFFF"/>
                    </a:solidFill>
                  </a:tcPr>
                </a:tc>
              </a:tr>
              <a:tr h="502920">
                <a:tc>
                  <a:txBody>
                    <a:bodyPr/>
                    <a:lstStyle/>
                    <a:p>
                      <a:pPr>
                        <a:defRPr sz="1200">
                          <a:solidFill>
                            <a:srgbClr val="20261F"/>
                          </a:solidFill>
                          <a:latin typeface="Yu Gothic"/>
                        </a:defRPr>
                      </a:pPr>
                      <a:r>
                        <a:t>BusinessWire</a:t>
                      </a:r>
                    </a:p>
                  </a:txBody>
                  <a:tcPr>
                    <a:solidFill>
                      <a:srgbClr val="F4F1E6"/>
                    </a:solidFill>
                  </a:tcPr>
                </a:tc>
                <a:tc>
                  <a:txBody>
                    <a:bodyPr/>
                    <a:lstStyle/>
                    <a:p>
                      <a:pPr>
                        <a:defRPr sz="1200">
                          <a:solidFill>
                            <a:srgbClr val="20261F"/>
                          </a:solidFill>
                          <a:latin typeface="Yu Gothic"/>
                        </a:defRPr>
                      </a:pPr>
                      <a:r>
                        <a:t>データセンター稼働の一次発表</a:t>
                      </a:r>
                    </a:p>
                  </a:txBody>
                  <a:tcPr>
                    <a:solidFill>
                      <a:srgbClr val="F4F1E6"/>
                    </a:solidFill>
                  </a:tcPr>
                </a:tc>
              </a:tr>
              <a:tr h="502920">
                <a:tc>
                  <a:txBody>
                    <a:bodyPr/>
                    <a:lstStyle/>
                    <a:p>
                      <a:pPr>
                        <a:defRPr sz="1200">
                          <a:solidFill>
                            <a:srgbClr val="20261F"/>
                          </a:solidFill>
                          <a:latin typeface="Yu Gothic"/>
                        </a:defRPr>
                      </a:pPr>
                      <a:r>
                        <a:t>GenEngNews</a:t>
                      </a:r>
                    </a:p>
                  </a:txBody>
                  <a:tcPr>
                    <a:solidFill>
                      <a:srgbClr val="FFFFFF"/>
                    </a:solidFill>
                  </a:tcPr>
                </a:tc>
                <a:tc>
                  <a:txBody>
                    <a:bodyPr/>
                    <a:lstStyle/>
                    <a:p>
                      <a:pPr>
                        <a:defRPr sz="1200">
                          <a:solidFill>
                            <a:srgbClr val="20261F"/>
                          </a:solidFill>
                          <a:latin typeface="Yu Gothic"/>
                        </a:defRPr>
                      </a:pPr>
                      <a:r>
                        <a:t>背景情報・業界文脈の確認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データセンターの拠点数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2拠点(サンフランシスコ湾岸・フィラデルフィア)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米国内2都市圏に設置</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本リサーチ(2026-08-19時点)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ロボット実験室の設置数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12基のHIVE</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データセンター全体での稼働台数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本リサーチ(2026-08-19時点)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新製品『Series 2 TissueDisk』</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ウエハースケールの生体チップ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複数の人体組織を同時培養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本リサーチ(2026-08-19時点)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『Series 2 TissueDisk』の特徴</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新製品についての補足です。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ウエハースケールの生体チップと呼ばれる新製品</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数百単位の大規模かつ機能的な生きた人体組織を同時に培養できるとされる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HIVEロボット実験室と組み合わせて使用される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詳細な技術仕様・製造コストは本調査の範囲では確認できていない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AI創薬業界全体への示唆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業界全体としての意味です。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『AIががんを治す』という単純化された期待に対する、業界内部からの正直な反省の声とも位置づけられる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データの質・因果関係の欠如という課題は、Vivodyne以外の企業にも共通する可能性がある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他のAI創薬企業が同様の課題にどう向き合っているかの比較検証は本調査では行っていない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AI創薬の実用化には、まだ相応の時間が必要であることを示唆する内容といえる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『年間310万件』『全米臨床試験の約2倍』という規模の主張の第三者検証</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Vivodyneのこれまでの資金調達額・企業評価額</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『世界最大級の製薬会社8社』の具体的な社名</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本テーマは特定企業(Vivodyne)の製品・技術を強く推奨するものではなく、報じられた技術的アプローチの紹介にとどめる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確認できている事実</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AI創薬のデータ課題の指摘</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HIVEの基本的な仕組み</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データセンター稼働の発表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今後の不確定要素</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規模主張の第三者検証</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実際の新薬開発への寄与度</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提携企業の具体名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AI創薬・医療AIの動向に関心がある立場として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AIの限界と、それを克服しようとする具体的な技術的アプローチの両方を理解する視点が役立つ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AI技術への期待値を調整したい立場として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『AIががんを治す』という決まり文句を鵜呑みにせず、具体的な課題を把握する視点が参考になる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バイオテック投資・製薬業界に携わる立場として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自社発表の規模主張と、第三者検証の有無を区別して判断する視点が役立つ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本編のまとめです。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TechCrunchは2026年8月19日、『AIはがんを治せない』というVivodyneの指摘を報じた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AI創薬の根本課題は、細胞の因果関係データが欠けていることだとされる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Vivodyneはロボット実験室『HIVE』でこの課題の解決を目指している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規模の主張の第三者検証や資金調達額など、確認できていない点は正直に開示した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本リサーチ(2026-08-19時点)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TechCrunch(2026-08-19)</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「AIでがんを治す」その常套句が、実は嘘だった理由。</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TechCrunchは2026年8月19日、AI創薬の見落とされた壁を指摘するVivodyneの取り組みを報じました。AIの限界と、その克服に向けた技術的アプローチを、出典付きで正直に整理してお届けしました。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