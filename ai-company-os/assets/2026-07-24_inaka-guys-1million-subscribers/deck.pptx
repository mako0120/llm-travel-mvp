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開設から1年7カ月で積み上がった総再生回数を数字で示す。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チャンネルの内容を整理する。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視聴者層に関する事実を表で整理する。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コンテンツの構造を図で示す。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テレビ局によるYouTube展開の位置づけを表で示す。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発信形態の違いを対比で見せる。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業界の動きについて紹介する。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視聴者の99%が海外。日本の「田舎」が、世界で4.7億回再生された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テレビ東京発の海外向けYouTubeチャンネル「Inaka Guys」、登録者100万人を突破(2026年7月23日)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テレビ東京ホールディングス公式プレスリリース(PR TIMES), ライブドアニュース(2026-07-23)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承: チャンネルの内容を詳しく見る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転: なぜ人気が出たのか、これは何を意味するか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海外向けYouTubeチャンネル</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日本のテレビ局が、海外の視聴者を主な対象として運営するYouTubeチャンネル</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ショート動画</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YouTube Shortsなど、1分前後の短尺動画のこと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運営</a:t>
                      </a:r>
                    </a:p>
                  </a:txBody>
                  <a:tcPr>
                    <a:solidFill>
                      <a:srgbClr val="FFFFFF"/>
                    </a:solidFill>
                  </a:tcPr>
                </a:tc>
                <a:tc>
                  <a:txBody>
                    <a:bodyPr/>
                    <a:lstStyle/>
                    <a:p>
                      <a:pPr>
                        <a:defRPr sz="1200">
                          <a:solidFill>
                            <a:srgbClr val="20261F"/>
                          </a:solidFill>
                          <a:latin typeface="Yu Gothic"/>
                        </a:defRPr>
                      </a:pPr>
                      <a:r>
                        <a:t>テレビ東京(海外向けYouTubeチャンネル「Inaka Guys」)</a:t>
                      </a:r>
                    </a:p>
                  </a:txBody>
                  <a:tcPr>
                    <a:solidFill>
                      <a:srgbClr val="FFFFFF"/>
                    </a:solidFill>
                  </a:tcPr>
                </a:tc>
              </a:tr>
              <a:tr h="502920">
                <a:tc>
                  <a:txBody>
                    <a:bodyPr/>
                    <a:lstStyle/>
                    <a:p>
                      <a:pPr>
                        <a:defRPr sz="1200">
                          <a:solidFill>
                            <a:srgbClr val="20261F"/>
                          </a:solidFill>
                          <a:latin typeface="Yu Gothic"/>
                        </a:defRPr>
                      </a:pPr>
                      <a:r>
                        <a:t>発表日</a:t>
                      </a:r>
                    </a:p>
                  </a:txBody>
                  <a:tcPr>
                    <a:solidFill>
                      <a:srgbClr val="F4F1E6"/>
                    </a:solidFill>
                  </a:tcPr>
                </a:tc>
                <a:tc>
                  <a:txBody>
                    <a:bodyPr/>
                    <a:lstStyle/>
                    <a:p>
                      <a:pPr>
                        <a:defRPr sz="1200">
                          <a:solidFill>
                            <a:srgbClr val="20261F"/>
                          </a:solidFill>
                          <a:latin typeface="Yu Gothic"/>
                        </a:defRPr>
                      </a:pPr>
                      <a:r>
                        <a:t>2026年7月23日</a:t>
                      </a:r>
                    </a:p>
                  </a:txBody>
                  <a:tcPr>
                    <a:solidFill>
                      <a:srgbClr val="F4F1E6"/>
                    </a:solidFill>
                  </a:tcPr>
                </a:tc>
              </a:tr>
              <a:tr h="502920">
                <a:tc>
                  <a:txBody>
                    <a:bodyPr/>
                    <a:lstStyle/>
                    <a:p>
                      <a:pPr>
                        <a:defRPr sz="1200">
                          <a:solidFill>
                            <a:srgbClr val="20261F"/>
                          </a:solidFill>
                          <a:latin typeface="Yu Gothic"/>
                        </a:defRPr>
                      </a:pPr>
                      <a:r>
                        <a:t>達成した数字</a:t>
                      </a:r>
                    </a:p>
                  </a:txBody>
                  <a:tcPr>
                    <a:solidFill>
                      <a:srgbClr val="FFFFFF"/>
                    </a:solidFill>
                  </a:tcPr>
                </a:tc>
                <a:tc>
                  <a:txBody>
                    <a:bodyPr/>
                    <a:lstStyle/>
                    <a:p>
                      <a:pPr>
                        <a:defRPr sz="1200">
                          <a:solidFill>
                            <a:srgbClr val="20261F"/>
                          </a:solidFill>
                          <a:latin typeface="Yu Gothic"/>
                        </a:defRPr>
                      </a:pPr>
                      <a:r>
                        <a:t>登録者数100万人・総再生回数4.7億回</a:t>
                      </a:r>
                    </a:p>
                  </a:txBody>
                  <a:tcPr>
                    <a:solidFill>
                      <a:srgbClr val="FFFFFF"/>
                    </a:solidFill>
                  </a:tcPr>
                </a:tc>
              </a:tr>
              <a:tr h="502920">
                <a:tc>
                  <a:txBody>
                    <a:bodyPr/>
                    <a:lstStyle/>
                    <a:p>
                      <a:pPr>
                        <a:defRPr sz="1200">
                          <a:solidFill>
                            <a:srgbClr val="20261F"/>
                          </a:solidFill>
                          <a:latin typeface="Yu Gothic"/>
                        </a:defRPr>
                      </a:pPr>
                      <a:r>
                        <a:t>開設からの期間</a:t>
                      </a:r>
                    </a:p>
                  </a:txBody>
                  <a:tcPr>
                    <a:solidFill>
                      <a:srgbClr val="F4F1E6"/>
                    </a:solidFill>
                  </a:tcPr>
                </a:tc>
                <a:tc>
                  <a:txBody>
                    <a:bodyPr/>
                    <a:lstStyle/>
                    <a:p>
                      <a:pPr>
                        <a:defRPr sz="1200">
                          <a:solidFill>
                            <a:srgbClr val="20261F"/>
                          </a:solidFill>
                          <a:latin typeface="Yu Gothic"/>
                        </a:defRPr>
                      </a:pPr>
                      <a:r>
                        <a:t>1年7カ月</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テレビ東京ホールディングス公式プレスリリース・PR TIMES(2026-07-23)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総再生回数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4.7億回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テレビ東京ホールディングス公式発表による(2026年7月23日)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テレビ東京ホールディングス公式プレスリリース・PR TIMES(2026-07-23)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チャンネルの内容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舞台</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日本の「田舎(Inaka)」を舞台にした古民家紹介や料理作りなど</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出演者</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国際的インフルエンサー「NOBU」と、日本在住のスイス出身「ヤニス」の異文化コンビ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言語</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全編英語で発信</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ライブドアニュース(2026-07-23)</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視聴者の内訳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海外視聴者の割合</a:t>
                      </a:r>
                    </a:p>
                  </a:txBody>
                  <a:tcPr>
                    <a:solidFill>
                      <a:srgbClr val="FFFFFF"/>
                    </a:solidFill>
                  </a:tcPr>
                </a:tc>
                <a:tc>
                  <a:txBody>
                    <a:bodyPr/>
                    <a:lstStyle/>
                    <a:p>
                      <a:pPr>
                        <a:defRPr sz="1200">
                          <a:solidFill>
                            <a:srgbClr val="20261F"/>
                          </a:solidFill>
                          <a:latin typeface="Yu Gothic"/>
                        </a:defRPr>
                      </a:pPr>
                      <a:r>
                        <a:t>約99%</a:t>
                      </a:r>
                    </a:p>
                  </a:txBody>
                  <a:tcPr>
                    <a:solidFill>
                      <a:srgbClr val="FFFFFF"/>
                    </a:solidFill>
                  </a:tcPr>
                </a:tc>
              </a:tr>
              <a:tr h="502920">
                <a:tc>
                  <a:txBody>
                    <a:bodyPr/>
                    <a:lstStyle/>
                    <a:p>
                      <a:pPr>
                        <a:defRPr sz="1200">
                          <a:solidFill>
                            <a:srgbClr val="20261F"/>
                          </a:solidFill>
                          <a:latin typeface="Yu Gothic"/>
                        </a:defRPr>
                      </a:pPr>
                      <a:r>
                        <a:t>主な視聴国</a:t>
                      </a:r>
                    </a:p>
                  </a:txBody>
                  <a:tcPr>
                    <a:solidFill>
                      <a:srgbClr val="F4F1E6"/>
                    </a:solidFill>
                  </a:tcPr>
                </a:tc>
                <a:tc>
                  <a:txBody>
                    <a:bodyPr/>
                    <a:lstStyle/>
                    <a:p>
                      <a:pPr>
                        <a:defRPr sz="1200">
                          <a:solidFill>
                            <a:srgbClr val="20261F"/>
                          </a:solidFill>
                          <a:latin typeface="Yu Gothic"/>
                        </a:defRPr>
                      </a:pPr>
                      <a:r>
                        <a:t>アメリカ・インド・イギリス・インドネシア・韓国・台湾など</a:t>
                      </a:r>
                    </a:p>
                  </a:txBody>
                  <a:tcPr>
                    <a:solidFill>
                      <a:srgbClr val="F4F1E6"/>
                    </a:solidFill>
                  </a:tcPr>
                </a:tc>
              </a:tr>
              <a:tr h="502920">
                <a:tc>
                  <a:txBody>
                    <a:bodyPr/>
                    <a:lstStyle/>
                    <a:p>
                      <a:pPr>
                        <a:defRPr sz="1200">
                          <a:solidFill>
                            <a:srgbClr val="20261F"/>
                          </a:solidFill>
                          <a:latin typeface="Yu Gothic"/>
                        </a:defRPr>
                      </a:pPr>
                      <a:r>
                        <a:t>人気コンテンツ</a:t>
                      </a:r>
                    </a:p>
                  </a:txBody>
                  <a:tcPr>
                    <a:solidFill>
                      <a:srgbClr val="FFFFFF"/>
                    </a:solidFill>
                  </a:tcPr>
                </a:tc>
                <a:tc>
                  <a:txBody>
                    <a:bodyPr/>
                    <a:lstStyle/>
                    <a:p>
                      <a:pPr>
                        <a:defRPr sz="1200">
                          <a:solidFill>
                            <a:srgbClr val="20261F"/>
                          </a:solidFill>
                          <a:latin typeface="Yu Gothic"/>
                        </a:defRPr>
                      </a:pPr>
                      <a:r>
                        <a:t>日本の食材・新しい食べ方を提案する料理シリーズ(約4,500万回再生)</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ライブドアニュース(2026-07-23)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チャンネルの成り立ち</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日本の日常を題材に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「田舎」という国内では当たり前の題材を選ぶ</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外国人の視点を交える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ヤニスの異文化目線でユーモラスに紹介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全編英語で発信</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海外視聴者がそのまま楽しめる形にする</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エンタのおはなし(2026-07-23)</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テレビ局によるYouTube展開(参考)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運営主体</a:t>
                      </a:r>
                    </a:p>
                  </a:txBody>
                  <a:tcPr>
                    <a:solidFill>
                      <a:srgbClr val="FFFFFF"/>
                    </a:solidFill>
                  </a:tcPr>
                </a:tc>
                <a:tc>
                  <a:txBody>
                    <a:bodyPr/>
                    <a:lstStyle/>
                    <a:p>
                      <a:pPr>
                        <a:defRPr sz="1200">
                          <a:solidFill>
                            <a:srgbClr val="20261F"/>
                          </a:solidFill>
                          <a:latin typeface="Yu Gothic"/>
                        </a:defRPr>
                      </a:pPr>
                      <a:r>
                        <a:t>テレビ東京ホールディングス</a:t>
                      </a:r>
                    </a:p>
                  </a:txBody>
                  <a:tcPr>
                    <a:solidFill>
                      <a:srgbClr val="FFFFFF"/>
                    </a:solidFill>
                  </a:tcPr>
                </a:tc>
              </a:tr>
              <a:tr h="502920">
                <a:tc>
                  <a:txBody>
                    <a:bodyPr/>
                    <a:lstStyle/>
                    <a:p>
                      <a:pPr>
                        <a:defRPr sz="1200">
                          <a:solidFill>
                            <a:srgbClr val="20261F"/>
                          </a:solidFill>
                          <a:latin typeface="Yu Gothic"/>
                        </a:defRPr>
                      </a:pPr>
                      <a:r>
                        <a:t>対象</a:t>
                      </a:r>
                    </a:p>
                  </a:txBody>
                  <a:tcPr>
                    <a:solidFill>
                      <a:srgbClr val="F4F1E6"/>
                    </a:solidFill>
                  </a:tcPr>
                </a:tc>
                <a:tc>
                  <a:txBody>
                    <a:bodyPr/>
                    <a:lstStyle/>
                    <a:p>
                      <a:pPr>
                        <a:defRPr sz="1200">
                          <a:solidFill>
                            <a:srgbClr val="20261F"/>
                          </a:solidFill>
                          <a:latin typeface="Yu Gothic"/>
                        </a:defRPr>
                      </a:pPr>
                      <a:r>
                        <a:t>海外視聴者(視聴者の約99%)</a:t>
                      </a:r>
                    </a:p>
                  </a:txBody>
                  <a:tcPr>
                    <a:solidFill>
                      <a:srgbClr val="F4F1E6"/>
                    </a:solidFill>
                  </a:tcPr>
                </a:tc>
              </a:tr>
              <a:tr h="502920">
                <a:tc>
                  <a:txBody>
                    <a:bodyPr/>
                    <a:lstStyle/>
                    <a:p>
                      <a:pPr>
                        <a:defRPr sz="1200">
                          <a:solidFill>
                            <a:srgbClr val="20261F"/>
                          </a:solidFill>
                          <a:latin typeface="Yu Gothic"/>
                        </a:defRPr>
                      </a:pPr>
                      <a:r>
                        <a:t>収益化状況</a:t>
                      </a:r>
                    </a:p>
                  </a:txBody>
                  <a:tcPr>
                    <a:solidFill>
                      <a:srgbClr val="FFFFFF"/>
                    </a:solidFill>
                  </a:tcPr>
                </a:tc>
                <a:tc>
                  <a:txBody>
                    <a:bodyPr/>
                    <a:lstStyle/>
                    <a:p>
                      <a:pPr>
                        <a:defRPr sz="1200">
                          <a:solidFill>
                            <a:srgbClr val="20261F"/>
                          </a:solidFill>
                          <a:latin typeface="Yu Gothic"/>
                        </a:defRPr>
                      </a:pPr>
                      <a:r>
                        <a:t>本調査時点では公開情報から確認できていない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従来のテレビ番組とInaka Guysの違い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従来のテレビ番組</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主に国内視聴者向け</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日本語での放送が中心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Inaka Guys</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海外視聴者を主な対象とする</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全編英語でYouTube向けに制作</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テレビ局のYouTube活用という流れ(参考)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国内放送以外への展開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テレビ局が自社コンテンツをYouTube向けに再構成する事例の一つ</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位置づけ</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海外視聴者向けに特化したチャンネル運営という点で特徴的な事例と考えられる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参考: 人気の背景(推測)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題材の新鮮さ</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日本人にとって当たり前の「田舎」が、海外視聴者には新鮮に映ると考えられる(推測)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異文化コンビの相性</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国際的インフルエンサーと日本在住の外国人という組み合わせが親しみやすさを生んでいると考えられる(推測)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出典の確認結果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発表日</a:t>
                      </a:r>
                    </a:p>
                  </a:txBody>
                  <a:tcPr>
                    <a:solidFill>
                      <a:srgbClr val="FFFFFF"/>
                    </a:solidFill>
                  </a:tcPr>
                </a:tc>
                <a:tc>
                  <a:txBody>
                    <a:bodyPr/>
                    <a:lstStyle/>
                    <a:p>
                      <a:pPr>
                        <a:defRPr sz="1200">
                          <a:solidFill>
                            <a:srgbClr val="20261F"/>
                          </a:solidFill>
                          <a:latin typeface="Yu Gothic"/>
                        </a:defRPr>
                      </a:pPr>
                      <a:r>
                        <a:t>複数情報源で2026年7月23日と一致</a:t>
                      </a:r>
                    </a:p>
                  </a:txBody>
                  <a:tcPr>
                    <a:solidFill>
                      <a:srgbClr val="FFFFFF"/>
                    </a:solidFill>
                  </a:tcPr>
                </a:tc>
              </a:tr>
              <a:tr h="502920">
                <a:tc>
                  <a:txBody>
                    <a:bodyPr/>
                    <a:lstStyle/>
                    <a:p>
                      <a:pPr>
                        <a:defRPr sz="1200">
                          <a:solidFill>
                            <a:srgbClr val="20261F"/>
                          </a:solidFill>
                          <a:latin typeface="Yu Gothic"/>
                        </a:defRPr>
                      </a:pPr>
                      <a:r>
                        <a:t>登録者数・総再生回数</a:t>
                      </a:r>
                    </a:p>
                  </a:txBody>
                  <a:tcPr>
                    <a:solidFill>
                      <a:srgbClr val="F4F1E6"/>
                    </a:solidFill>
                  </a:tcPr>
                </a:tc>
                <a:tc>
                  <a:txBody>
                    <a:bodyPr/>
                    <a:lstStyle/>
                    <a:p>
                      <a:pPr>
                        <a:defRPr sz="1200">
                          <a:solidFill>
                            <a:srgbClr val="20261F"/>
                          </a:solidFill>
                          <a:latin typeface="Yu Gothic"/>
                        </a:defRPr>
                      </a:pPr>
                      <a:r>
                        <a:t>テレビ東京ホールディングス公式発表で確認</a:t>
                      </a:r>
                    </a:p>
                  </a:txBody>
                  <a:tcPr>
                    <a:solidFill>
                      <a:srgbClr val="F4F1E6"/>
                    </a:solidFill>
                  </a:tcPr>
                </a:tc>
              </a:tr>
              <a:tr h="502920">
                <a:tc>
                  <a:txBody>
                    <a:bodyPr/>
                    <a:lstStyle/>
                    <a:p>
                      <a:pPr>
                        <a:defRPr sz="1200">
                          <a:solidFill>
                            <a:srgbClr val="20261F"/>
                          </a:solidFill>
                          <a:latin typeface="Yu Gothic"/>
                        </a:defRPr>
                      </a:pPr>
                      <a:r>
                        <a:t>視聴者の海外比率</a:t>
                      </a:r>
                    </a:p>
                  </a:txBody>
                  <a:tcPr>
                    <a:solidFill>
                      <a:srgbClr val="FFFFFF"/>
                    </a:solidFill>
                  </a:tcPr>
                </a:tc>
                <a:tc>
                  <a:txBody>
                    <a:bodyPr/>
                    <a:lstStyle/>
                    <a:p>
                      <a:pPr>
                        <a:defRPr sz="1200">
                          <a:solidFill>
                            <a:srgbClr val="20261F"/>
                          </a:solidFill>
                          <a:latin typeface="Yu Gothic"/>
                        </a:defRPr>
                      </a:pPr>
                      <a:r>
                        <a:t>ライブドアニュース等で確認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こんな人におすすめ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YouTube運営に関心がある人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海外向けチャンネル運営の事例を知りたい人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日本文化の発信に関心がある人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日本の魅力を海外に伝える取り組みを知りたい人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よくある疑問(Q&amp;A)</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誰が出演している?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国際的インフルエンサー「NOBU」と、スイス出身の「ヤニス」</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収益化されている?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本調査時点では収益化の詳細は公開情報から確認できていない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チャンネルの収益化状況やテレビ東京本体の事業への貢献度は確認できなかった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「登録者100万人」到達の正確な日付までは確認できなかった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なぜ今このタイミングで話題になったのか(推測)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節目の数字</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登録者100万人という分かりやすい節目に到達したための発表と考えられる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人気コンテンツの蓄積</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料理シリーズ等、継続的な人気コンテンツの積み重ねが背景にあると考えられる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見送った候補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Fireworks AI($1.505B Series D)</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B2Bインフラ企業向けの資金調達ニュースで一般視聴者への訴求力が低いため見送り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DeepSeek V4(正式版移行)</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中国発モデルとして複数回見送り済み、今回で4回目の見送り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これが意味すること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日本文化の海外発信</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身近な題材が海外で新鮮に受け止められる可能性</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テレビ局のYouTube活用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国内放送以外の収益・認知経路としての活用</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異文化コンビという型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海外発信コンテンツの一つの型として参考になる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これは何を意味するのか(発信する側にとって)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身近で当たり前だと思っている題材が、海外向けには新鮮なコンテンツになり得る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継続的な発信の積み重ねが、大きな登録者数につながる可能性がある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試すなら確認したいこと(発信を検討する場合)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題材の選定</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自分にとって当たり前のことが、他者には新鮮かを考える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言語の壁</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海外向けなら英語での発信を検討する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継続できる形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無理なく継続できるコンテンツの型を考える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参考にする場合の進め方(目安)</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①チャンネルを見てみる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実際の動画の構成・雰囲気を確認する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②題材を整理する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自分が発信できる身近な題材を洗い出す</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③小さく試す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1本の短い動画から試してみる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個人にとっての影響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身近な日常が、発信の仕方次第で多くの人に届く可能性がある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他者の成功事例も、自分の状況に照らして参考程度に受け止めることが大切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不明点・注意点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チャンネルの収益化状況やテレビ東京本体への貢献度は公開情報からは確認できなかった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登録者100万人到達の正確な日付までは確認できなかった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リスク配慮のポイント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公式発表という事実を淡々と紹介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肖像への配慮</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出演者の写真・映像は使用せずテキスト・図解のみで構成</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検品結果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verify_pptx.py</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同一レイアウト連続チェック</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r h="502920">
                <a:tc>
                  <a:txBody>
                    <a:bodyPr/>
                    <a:lstStyle/>
                    <a:p>
                      <a:pPr>
                        <a:defRPr sz="1200">
                          <a:solidFill>
                            <a:srgbClr val="20261F"/>
                          </a:solidFill>
                          <a:latin typeface="Yu Gothic"/>
                        </a:defRPr>
                      </a:pPr>
                      <a:r>
                        <a:t>bullets比率チェック</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対話原稿スライド数整合性</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テレビ東京ホールディングス公式プレスリリース(PR TIMES)</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ライブドアニュース / Yahoo!ニュース / デイリースポーツ / dメニューニュース</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身近な日常も、伝え方次第で世界に届く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日本の「田舎」を舞台にした発信が、海外で4.7億回再生された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興味があれば、公式チャンネルを確認してみる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次回予告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急成長アカウント・海外発信の事例は今後も続くテーマ</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