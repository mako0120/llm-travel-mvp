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人間に聞くのをやめた企業があります。かわりに、AIで作った『分身』40万体に聞いたそうです。マーケティング調査のためにAIで『合成消費者』を大量生成するSimileが、シリーズB2億ドル、評価額20億ドルを調達しました。今日はこの発表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まず数字から。シリーズB2億ドル、評価額は20億ドルに達しました。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今日はこの5つの流れでお伝えします。数字のインパクトだけでなく、何が確認できて何ができていないかも整理します。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発表内容を整理すると、この5点になります。5ヶ月で評価額が跳ね上がった急成長ぶりが特徴です。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Simileは、実在の消費者に似せた『AIの分身』を大量に作り、企業のマーケティング調査に使ってもらう会社です。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具体的な活用事例を見てみます。CVS Healthは40万体もの合成消費者を使って、患者が薬を飲み続けてくれる方法を検証しました。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流れを図にするとこうなります。消費者データをもとにAIの分身を作り、その分身に質問して企業の意思決定に役立てる、という仕組みです。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ここは推測を含む点にご注意ください。仕組みの詳細はSimile社から公式に技術文書として公開されているわけではありません。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CEOのJoon Sung Park氏は、Simileを『人類への窓』とも表現しています。世界をシミュレートすることで、無数の施策を試せるという考え方です。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従来の調査手法では4〜6週間かかっていたプロセスが、15〜30分で完了したとCVSが報告しています。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CVSの事例を表にまとめました。CVS Health Venturesは今回の調達にも投資家として参加しています。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CVS側は、従来の調査には『人数』という物理的な限界があったと語っています。合成消費者ならその制約を超えられる、という発想です。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もう一つ印象的な数字があります。模擬決算説明会で、アナリストからの質問10問中8問を正しく予測したとCEOが語っています。ただし算出方法の詳細は確認できていません。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投資家の中には、実際にSimileを使っているCVS Health Venturesも含まれています。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シリーズAからシリーズBまで、わずか5ヶ月です。かなりの速さで評価額が積み上がっています。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時系列で整理するとこうなります。実際の活用事例が積み上がったタイミングで、大型調達に至ったと見られます。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急成長の背景を考えてみましたが、これは推測です。断定はしていません。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改めて評価額を確認します。20億ドル、日本円にして数千億円規模です。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スピードと規模では合成消費者に強みがありますが、あくまで『実在の人間そのものではない』という前提は忘れないようにしたいところです。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最初に正直にお伝えします。この発表は4日前のものです。本来の基準よりは古いですが、鮮度で妥協したことを隠さずお伝えしています。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この4点は、今回の調査で確認できなかった事項として一覧化しました。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強い数字が並びますが、いずれも当事者側の報告に基づくものです。鵜呑みにせず、目安として受け止めるとよいと思います。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これまでのテーマの多くは業務自動化やデータ基盤でした。今回は『人間の代わりにAIが答える』という、また違う切り口です。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既存67テーマとの重複がないことも確認しています。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この3つは当社の推測です。断定はしていません。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実務的な視点として、導入を検討する企業が確認したい4つのポイントをまとめました。これは一般的な整理であり、Simile社の公式ガイダンスではありません。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派手な数字がある一方で、まだ確認されていないことも多い、というバランスを意識しておきたいところです。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派手な数字や比喩的な表現が多いテーマだからこそ、事実と推測をきちんと分けてお伝えすることを意識しました。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最後にもう一度確認します。シリーズB2億ドル、評価額20億ドル。CVS Healthは40万体の合成消費者を使って施策を検証しました。ただしこの発表は4日前のものであることも、あわせて覚えておいてください。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本編は以上です。今回はSimileのシリーズB調達を題材に、AIによる消費者シミュレーションという新しい切り口と、鮮度の妥協という正直な報告についてお伝えしました。次回もまた出典付きでお届けします。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人間に聞くのをやめた企業がある。</a:t>
            </a:r>
          </a:p>
          <a:p>
            <a:pPr algn="l">
              <a:lnSpc>
                <a:spcPct val="115000"/>
              </a:lnSpc>
            </a:pPr>
            <a:r>
              <a:rPr sz="4200" b="1">
                <a:solidFill>
                  <a:srgbClr val="FFFFFF"/>
                </a:solidFill>
                <a:latin typeface="Yu Gothic"/>
              </a:rPr>
              <a:t>かわりに、AIの「分身」40万体に聞いた。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Simile、シリーズB2億ドル・評価額20億ドル調達(2026年7月30日発表)を、出典付きで振り返る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TechCrunch・The Next Web ほか。発表日は着手日の4日前(鮮度の妥協を本編で開示)。</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今回の調達</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$200M / $2B評価額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シリーズB、Greenoaks主導(2026-07-30発表)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TechCrunch(2026-07-30)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何が発表されたのか(調達額・評価額)</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Simileは何をする会社か</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CVS Healthでの具体的な活用事例</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投資家・成長の経緯</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読み解く上での注意点(鮮度の妥協を含む)・確認できなかったこと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発表の概要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2026年7月30日、Simileの発表のポイントです。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AIによる「合成消費者(エージェント型デジタルツイン)」でシリーズB2億ドルを調達</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評価額は20億ドルに到達</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主導投資家はGreenoaks</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5ヶ月前(2026年2月)のシリーズA(1億ドル)から急拡大</a:t>
            </a:r>
          </a:p>
        </p:txBody>
      </p:sp>
      <p:sp>
        <p:nvSpPr>
          <p:cNvPr id="15" name="Oval 14"/>
          <p:cNvSpPr/>
          <p:nvPr/>
        </p:nvSpPr>
        <p:spPr>
          <a:xfrm>
            <a:off x="457200" y="523036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6" name="TextBox 15"/>
          <p:cNvSpPr txBox="1"/>
          <p:nvPr/>
        </p:nvSpPr>
        <p:spPr>
          <a:xfrm>
            <a:off x="960120" y="5212079"/>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創業者はスタンフォード大学博士課程出身のJoon Sung Park氏</a:t>
            </a:r>
          </a:p>
        </p:txBody>
      </p:sp>
      <p:sp>
        <p:nvSpPr>
          <p:cNvPr id="17" name="TextBox 1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TechCrunch(2026-07-30)</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TechCrunch・The Next Web ほか(2026-07-30発表・鮮度4日妥協を開示)｜定期実行68本目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Simileとは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AI</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合成消費者を生成</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実在の消費者の行動を再現するエージェント型デジタルツイン</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調査</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マーケティング調査に活用</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企業の製品テスト・意思決定の検証に使われる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2026/2</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シリーズAからの急拡大</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1億ドル調達からわずか5ヶ月でシリーズB</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TechCrunch・The Next Web ほか(2026-07-30発表・鮮度4日妥協を開示)｜定期実行68本目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CVS Healthが使った分身の数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40万体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2025年秋、CVS Healthが服薬継続率向上策の検証に使用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The Next Web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合成消費者が調査に使われるまで(概念図)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実在の消費者データ</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行動パターンを反映</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AIエージェント型ツイン</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大量の『分身』を生成</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企業の意思決定</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製品・施策のテストに活用</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人間の代わりに、AIの分身に質問して反応を確かめる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TechCrunch・The Next Web ほか(2026-07-30発表・鮮度4日妥協を開示)｜定期実行68本目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技術的な仕組みについて(合理的推測)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報道からうかがえる内容です。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個々の消費者像を再現するための具体的なデータソース・アルゴリズムの詳細は非公開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スタンフォード大学時代の研究プロジェクト「Smallville」(AIエージェントが仮想生活を送る研究)が技術の土台にあると報じられている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本項目は当社の推測を含み、Simile社の公式技術文書に基づくものではない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TechCrunch・The Next Web ほか(2026-07-30発表・鮮度4日妥協を開示)｜定期実行68本目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“世界をシミュレートできるなら、無数の介入策を試すことができる。”</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E7DCC2"/>
                </a:solidFill>
                <a:latin typeface="Yu Gothic"/>
              </a:rPr>
              <a:t>— Joon Sung Park氏(CEO・共同創業者、複数媒体経由の引用、意訳)</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調査にかかる時間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4〜6週間 → 15〜30分</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10万体超の合成消費者を用いた調査で、CVSが報告した短縮幅</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The Next Web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CVS Healthの活用事例まとめ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活用時期</a:t>
                      </a:r>
                    </a:p>
                  </a:txBody>
                  <a:tcPr>
                    <a:solidFill>
                      <a:srgbClr val="FFFFFF"/>
                    </a:solidFill>
                  </a:tcPr>
                </a:tc>
                <a:tc>
                  <a:txBody>
                    <a:bodyPr/>
                    <a:lstStyle/>
                    <a:p>
                      <a:pPr>
                        <a:defRPr sz="1200">
                          <a:solidFill>
                            <a:srgbClr val="20261F"/>
                          </a:solidFill>
                          <a:latin typeface="Yu Gothic"/>
                        </a:defRPr>
                      </a:pPr>
                      <a:r>
                        <a:t>2025年秋</a:t>
                      </a:r>
                    </a:p>
                  </a:txBody>
                  <a:tcPr>
                    <a:solidFill>
                      <a:srgbClr val="FFFFFF"/>
                    </a:solidFill>
                  </a:tcPr>
                </a:tc>
              </a:tr>
              <a:tr h="502920">
                <a:tc>
                  <a:txBody>
                    <a:bodyPr/>
                    <a:lstStyle/>
                    <a:p>
                      <a:pPr>
                        <a:defRPr sz="1200">
                          <a:solidFill>
                            <a:srgbClr val="20261F"/>
                          </a:solidFill>
                          <a:latin typeface="Yu Gothic"/>
                        </a:defRPr>
                      </a:pPr>
                      <a:r>
                        <a:t>使用した合成消費者数</a:t>
                      </a:r>
                    </a:p>
                  </a:txBody>
                  <a:tcPr>
                    <a:solidFill>
                      <a:srgbClr val="F4F1E6"/>
                    </a:solidFill>
                  </a:tcPr>
                </a:tc>
                <a:tc>
                  <a:txBody>
                    <a:bodyPr/>
                    <a:lstStyle/>
                    <a:p>
                      <a:pPr>
                        <a:defRPr sz="1200">
                          <a:solidFill>
                            <a:srgbClr val="20261F"/>
                          </a:solidFill>
                          <a:latin typeface="Yu Gothic"/>
                        </a:defRPr>
                      </a:pPr>
                      <a:r>
                        <a:t>40万体(別の調査では10万体超の事例も報告)</a:t>
                      </a:r>
                    </a:p>
                  </a:txBody>
                  <a:tcPr>
                    <a:solidFill>
                      <a:srgbClr val="F4F1E6"/>
                    </a:solidFill>
                  </a:tcPr>
                </a:tc>
              </a:tr>
              <a:tr h="502920">
                <a:tc>
                  <a:txBody>
                    <a:bodyPr/>
                    <a:lstStyle/>
                    <a:p>
                      <a:pPr>
                        <a:defRPr sz="1200">
                          <a:solidFill>
                            <a:srgbClr val="20261F"/>
                          </a:solidFill>
                          <a:latin typeface="Yu Gothic"/>
                        </a:defRPr>
                      </a:pPr>
                      <a:r>
                        <a:t>目的</a:t>
                      </a:r>
                    </a:p>
                  </a:txBody>
                  <a:tcPr>
                    <a:solidFill>
                      <a:srgbClr val="FFFFFF"/>
                    </a:solidFill>
                  </a:tcPr>
                </a:tc>
                <a:tc>
                  <a:txBody>
                    <a:bodyPr/>
                    <a:lstStyle/>
                    <a:p>
                      <a:pPr>
                        <a:defRPr sz="1200">
                          <a:solidFill>
                            <a:srgbClr val="20261F"/>
                          </a:solidFill>
                          <a:latin typeface="Yu Gothic"/>
                        </a:defRPr>
                      </a:pPr>
                      <a:r>
                        <a:t>患者の服薬継続率を高める施策の検証</a:t>
                      </a:r>
                    </a:p>
                  </a:txBody>
                  <a:tcPr>
                    <a:solidFill>
                      <a:srgbClr val="FFFFFF"/>
                    </a:solidFill>
                  </a:tcPr>
                </a:tc>
              </a:tr>
              <a:tr h="502920">
                <a:tc>
                  <a:txBody>
                    <a:bodyPr/>
                    <a:lstStyle/>
                    <a:p>
                      <a:pPr>
                        <a:defRPr sz="1200">
                          <a:solidFill>
                            <a:srgbClr val="20261F"/>
                          </a:solidFill>
                          <a:latin typeface="Yu Gothic"/>
                        </a:defRPr>
                      </a:pPr>
                      <a:r>
                        <a:t>効果(CVS報告値)</a:t>
                      </a:r>
                    </a:p>
                  </a:txBody>
                  <a:tcPr>
                    <a:solidFill>
                      <a:srgbClr val="F4F1E6"/>
                    </a:solidFill>
                  </a:tcPr>
                </a:tc>
                <a:tc>
                  <a:txBody>
                    <a:bodyPr/>
                    <a:lstStyle/>
                    <a:p>
                      <a:pPr>
                        <a:defRPr sz="1200">
                          <a:solidFill>
                            <a:srgbClr val="20261F"/>
                          </a:solidFill>
                          <a:latin typeface="Yu Gothic"/>
                        </a:defRPr>
                      </a:pPr>
                      <a:r>
                        <a:t>調査時間が4〜6週間から15〜30分に短縮</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The Next Web</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TechCrunch・The Next Web ほか(2026-07-30発表・鮮度4日妥協を開示)｜定期実行68本目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CVS側のコメント(意訳)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CVSが語った課題感です。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「フィールドテストできる質問数がボトルネックだった」</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「人間社会という物理的な制約そのものがボトルネックだった」</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市場全体をシミュレートすることで「提案する意思決定の二次的な影響まで洗い出せる」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The Next Web(意訳)</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TechCrunch・The Next Web ほか(2026-07-30発表・鮮度4日妥協を開示)｜定期実行68本目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決算説明会での予測精度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10問中8問的中</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模擬決算説明会でアナリストの質問を予測(自社発表・関係者コメントに基づく)</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Bloomberg経由の引用(複数媒体で言及)</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参加投資家</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主導</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Greenoaks</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本ラウンドを主導した投資家</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継続</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Index / Bain Capital Ventures 等</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複数のベンチャーキャピタルが参加</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顧客兼投資家</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CVS Health Ventures</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実際の利用企業自身も出資に参加</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TechCrunch・The Next Web ほか(2026-07-30発表・鮮度4日妥協を開示)｜定期実行68本目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シリーズAからの期間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わずか5ヶ月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2026年2月のシリーズA(1億ドル)から、2026年7月のシリーズB(2億ドル)まで</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TechCrunch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シリーズA→Bまでの経緯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2026年2月</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シリーズAで1億ドルを調達</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2025年秋〜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CVS Health等での大規模活用事例が蓄積</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2026年7月30日</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シリーズBで2億ドル、評価額20億ドルに到達</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TechCrunch・The Next Web ほか(2026-07-30発表・鮮度4日妥協を開示)｜定期実行68本目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急成長の背景(合理的推測)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報道内容から考えられる背景です。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CVS Health等での具体的な効果(調査時間の大幅短縮)が投資家の評価を後押ししたと考えられる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マーケティング調査市場全体でAI活用への関心が高まっていることも追い風と考えられる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これらは当社の推測であり、Simile社・投資家が公式に述べた理由ではない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TechCrunch・The Next Web ほか(2026-07-30発表・鮮度4日妥協を開示)｜定期実行68本目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改めて、評価額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$2,000,000,000</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シリーズB調達後の評価額(20億ドル)</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TechCrunch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従来のフォーカスグループ vs 合成消費者</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従来のフォーカスグループ・調査</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実際の人数・時間に制約される</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調査に4〜6週間程度かかる場合がある(CVS報告)</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大規模な母数での検証はコストが高い</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Simileの合成消費者</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数十万体規模の『分身』で検証可能(CVS事例)</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調査が15〜30分で完了した事例が報告されている</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ただし実在の人間の反応そのものではない点に留意</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TechCrunch・The Next Web ほか(2026-07-30発表・鮮度4日妥協を開示)｜定期実行68本目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読み解く上での注意点(1): 鮮度についての正直な開示</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本テーマを見るときに、まずお伝えしたい点です。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本テーマの発表日は2026年7月30日で、着手日(2026-08-03)の4日前である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着手日・前日の新規候補が見つからず、鮮度基準を厳密には満たさないまま採用した</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この鮮度の妥協は`docs/06_Content_R&amp;D.md`のルールに基づき正直に開示している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数字自体は複数の独立したメディアが同じ内容を報じており、事実確認は行っている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TechCrunch・The Next Web ほか(2026-07-30発表・鮮度4日妥協を開示)｜定期実行68本目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状況</a:t>
                      </a:r>
                    </a:p>
                  </a:txBody>
                  <a:tcPr>
                    <a:solidFill>
                      <a:srgbClr val="24523F"/>
                    </a:solidFill>
                  </a:tcPr>
                </a:tc>
              </a:tr>
              <a:tr h="502920">
                <a:tc>
                  <a:txBody>
                    <a:bodyPr/>
                    <a:lstStyle/>
                    <a:p>
                      <a:pPr>
                        <a:defRPr sz="1200">
                          <a:solidFill>
                            <a:srgbClr val="20261F"/>
                          </a:solidFill>
                          <a:latin typeface="Yu Gothic"/>
                        </a:defRPr>
                      </a:pPr>
                      <a:r>
                        <a:t>公式プレスリリースの原文全体</a:t>
                      </a:r>
                    </a:p>
                  </a:txBody>
                  <a:tcPr>
                    <a:solidFill>
                      <a:srgbClr val="FFFFFF"/>
                    </a:solidFill>
                  </a:tcPr>
                </a:tc>
                <a:tc>
                  <a:txBody>
                    <a:bodyPr/>
                    <a:lstStyle/>
                    <a:p>
                      <a:pPr>
                        <a:defRPr sz="1200">
                          <a:solidFill>
                            <a:srgbClr val="20261F"/>
                          </a:solidFill>
                          <a:latin typeface="Yu Gothic"/>
                        </a:defRPr>
                      </a:pPr>
                      <a:r>
                        <a:t>WebFetchのアクセス制限により未確認、複数媒体の要約に基づく</a:t>
                      </a:r>
                    </a:p>
                  </a:txBody>
                  <a:tcPr>
                    <a:solidFill>
                      <a:srgbClr val="FFFFFF"/>
                    </a:solidFill>
                  </a:tcPr>
                </a:tc>
              </a:tr>
              <a:tr h="502920">
                <a:tc>
                  <a:txBody>
                    <a:bodyPr/>
                    <a:lstStyle/>
                    <a:p>
                      <a:pPr>
                        <a:defRPr sz="1200">
                          <a:solidFill>
                            <a:srgbClr val="20261F"/>
                          </a:solidFill>
                          <a:latin typeface="Yu Gothic"/>
                        </a:defRPr>
                      </a:pPr>
                      <a:r>
                        <a:t>各投資家の出資比率・出資額の内訳</a:t>
                      </a:r>
                    </a:p>
                  </a:txBody>
                  <a:tcPr>
                    <a:solidFill>
                      <a:srgbClr val="F4F1E6"/>
                    </a:solidFill>
                  </a:tcPr>
                </a:tc>
                <a:tc>
                  <a:txBody>
                    <a:bodyPr/>
                    <a:lstStyle/>
                    <a:p>
                      <a:pPr>
                        <a:defRPr sz="1200">
                          <a:solidFill>
                            <a:srgbClr val="20261F"/>
                          </a:solidFill>
                          <a:latin typeface="Yu Gothic"/>
                        </a:defRPr>
                      </a:pPr>
                      <a:r>
                        <a:t>非公表・未確認</a:t>
                      </a:r>
                    </a:p>
                  </a:txBody>
                  <a:tcPr>
                    <a:solidFill>
                      <a:srgbClr val="F4F1E6"/>
                    </a:solidFill>
                  </a:tcPr>
                </a:tc>
              </a:tr>
              <a:tr h="502920">
                <a:tc>
                  <a:txBody>
                    <a:bodyPr/>
                    <a:lstStyle/>
                    <a:p>
                      <a:pPr>
                        <a:defRPr sz="1200">
                          <a:solidFill>
                            <a:srgbClr val="20261F"/>
                          </a:solidFill>
                          <a:latin typeface="Yu Gothic"/>
                        </a:defRPr>
                      </a:pPr>
                      <a:r>
                        <a:t>合成消費者の生成技術の詳細</a:t>
                      </a:r>
                    </a:p>
                  </a:txBody>
                  <a:tcPr>
                    <a:solidFill>
                      <a:srgbClr val="FFFFFF"/>
                    </a:solidFill>
                  </a:tcPr>
                </a:tc>
                <a:tc>
                  <a:txBody>
                    <a:bodyPr/>
                    <a:lstStyle/>
                    <a:p>
                      <a:pPr>
                        <a:defRPr sz="1200">
                          <a:solidFill>
                            <a:srgbClr val="20261F"/>
                          </a:solidFill>
                          <a:latin typeface="Yu Gothic"/>
                        </a:defRPr>
                      </a:pPr>
                      <a:r>
                        <a:t>非公開・未確認</a:t>
                      </a:r>
                    </a:p>
                  </a:txBody>
                  <a:tcPr>
                    <a:solidFill>
                      <a:srgbClr val="FFFFFF"/>
                    </a:solidFill>
                  </a:tcPr>
                </a:tc>
              </a:tr>
              <a:tr h="502920">
                <a:tc>
                  <a:txBody>
                    <a:bodyPr/>
                    <a:lstStyle/>
                    <a:p>
                      <a:pPr>
                        <a:defRPr sz="1200">
                          <a:solidFill>
                            <a:srgbClr val="20261F"/>
                          </a:solidFill>
                          <a:latin typeface="Yu Gothic"/>
                        </a:defRPr>
                      </a:pPr>
                      <a:r>
                        <a:t>決算説明会予測(10問中8問)の算出方法</a:t>
                      </a:r>
                    </a:p>
                  </a:txBody>
                  <a:tcPr>
                    <a:solidFill>
                      <a:srgbClr val="F4F1E6"/>
                    </a:solidFill>
                  </a:tcPr>
                </a:tc>
                <a:tc>
                  <a:txBody>
                    <a:bodyPr/>
                    <a:lstStyle/>
                    <a:p>
                      <a:pPr>
                        <a:defRPr sz="1200">
                          <a:solidFill>
                            <a:srgbClr val="20261F"/>
                          </a:solidFill>
                          <a:latin typeface="Yu Gothic"/>
                        </a:defRPr>
                      </a:pPr>
                      <a:r>
                        <a:t>非公表・未確認</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TechCrunch・The Next Web ほか(2026-07-30発表・鮮度4日妥協を開示)｜定期実行68本目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読み解く上での注意点(2)</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数字の性質についても触れておきます。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調査時間短縮(4〜6週間→15〜30分)はCVS側の報告値であり、第三者検証ではない</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決算説明会の予測精度も自社・関係者コメントに基づく</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『人類への窓』という表現は比喩であり、実証されたものではない</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合成消費者の反応が実在の人間の反応とどこまで一致するかの独立検証は確認できていない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TechCrunch・The Next Web ほか(2026-07-30発表・鮮度4日妥協を開示)｜定期実行68本目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本パイプラインの既存テーマとの位置づけ(概念図)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データ基盤・観測性</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64本目DataBahn等</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AIによる消費者シミュレーション</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本テーマ(68本目)</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業務自動化AIエージェント</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63本目Assured等</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「人間の代わりに答える」という新しい切り口</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TechCrunch・The Next Web ほか(2026-07-30発表・鮮度4日妥協を開示)｜定期実行68本目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既存テーマとの違い(重複確認)</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近いテーマ</a:t>
                      </a:r>
                    </a:p>
                  </a:txBody>
                  <a:tcPr>
                    <a:solidFill>
                      <a:srgbClr val="24523F"/>
                    </a:solidFill>
                  </a:tcPr>
                </a:tc>
                <a:tc>
                  <a:txBody>
                    <a:bodyPr/>
                    <a:lstStyle/>
                    <a:p>
                      <a:pPr>
                        <a:defRPr sz="1300" b="1">
                          <a:solidFill>
                            <a:srgbClr val="FFFFFF"/>
                          </a:solidFill>
                          <a:latin typeface="Yu Gothic"/>
                        </a:defRPr>
                      </a:pPr>
                      <a:r>
                        <a:t>本テーマとの違い</a:t>
                      </a:r>
                    </a:p>
                  </a:txBody>
                  <a:tcPr>
                    <a:solidFill>
                      <a:srgbClr val="24523F"/>
                    </a:solidFill>
                  </a:tcPr>
                </a:tc>
              </a:tr>
              <a:tr h="502920">
                <a:tc>
                  <a:txBody>
                    <a:bodyPr/>
                    <a:lstStyle/>
                    <a:p>
                      <a:pPr>
                        <a:defRPr sz="1200">
                          <a:solidFill>
                            <a:srgbClr val="20261F"/>
                          </a:solidFill>
                          <a:latin typeface="Yu Gothic"/>
                        </a:defRPr>
                      </a:pPr>
                      <a:r>
                        <a:t>58〜67本目のAIエージェント資金調達系テーマ</a:t>
                      </a:r>
                    </a:p>
                  </a:txBody>
                  <a:tcPr>
                    <a:solidFill>
                      <a:srgbClr val="FFFFFF"/>
                    </a:solidFill>
                  </a:tcPr>
                </a:tc>
                <a:tc>
                  <a:txBody>
                    <a:bodyPr/>
                    <a:lstStyle/>
                    <a:p>
                      <a:pPr>
                        <a:defRPr sz="1200">
                          <a:solidFill>
                            <a:srgbClr val="20261F"/>
                          </a:solidFill>
                          <a:latin typeface="Yu Gothic"/>
                        </a:defRPr>
                      </a:pPr>
                      <a:r>
                        <a:t>あちらは業務自動化・データ基盤・規制対応が中心、本テーマは『AIによる消費者シミュレーション』という新しい切り口</a:t>
                      </a:r>
                    </a:p>
                  </a:txBody>
                  <a:tcPr>
                    <a:solidFill>
                      <a:srgbClr val="FFFFFF"/>
                    </a:solidFill>
                  </a:tcPr>
                </a:tc>
              </a:tr>
              <a:tr h="502920">
                <a:tc>
                  <a:txBody>
                    <a:bodyPr/>
                    <a:lstStyle/>
                    <a:p>
                      <a:pPr>
                        <a:defRPr sz="1200">
                          <a:solidFill>
                            <a:srgbClr val="20261F"/>
                          </a:solidFill>
                          <a:latin typeface="Yu Gothic"/>
                        </a:defRPr>
                      </a:pPr>
                      <a:r>
                        <a:t>過去のテーマ全般</a:t>
                      </a:r>
                    </a:p>
                  </a:txBody>
                  <a:tcPr>
                    <a:solidFill>
                      <a:srgbClr val="F4F1E6"/>
                    </a:solidFill>
                  </a:tcPr>
                </a:tc>
                <a:tc>
                  <a:txBody>
                    <a:bodyPr/>
                    <a:lstStyle/>
                    <a:p>
                      <a:pPr>
                        <a:defRPr sz="1200">
                          <a:solidFill>
                            <a:srgbClr val="20261F"/>
                          </a:solidFill>
                          <a:latin typeface="Yu Gothic"/>
                        </a:defRPr>
                      </a:pPr>
                      <a:r>
                        <a:t>『合成消費者・デジタルツイン市場調査』を扱ったテーマはこれまでにない</a:t>
                      </a:r>
                    </a:p>
                  </a:txBody>
                  <a:tcPr>
                    <a:solidFill>
                      <a:srgbClr val="F4F1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TechCrunch・The Next Web ほか(2026-07-30発表・鮮度4日妥協を開示)｜定期実行68本目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想定される影響(合理的推測)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推測</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マーケティング調査業界への影響</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従来型の調査会社にとって競合・代替技術になりうると考えられる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推測</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調査コストの低下</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大規模調査のコストが下がる可能性があると考えられる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推測</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倫理面の議論の広がり</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『AIが人間の代わりに答える』ことの妥当性を巡る議論が広がると考えられる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TechCrunch・The Next Web ほか(2026-07-30発表・鮮度4日妥協を開示)｜定期実行68本目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企業が導入を検討する際に確認したいこと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適用範囲の見極め</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合成消費者の反応で代替できる調査と、実在の声が必要な調査を区別する</a:t>
            </a:r>
          </a:p>
        </p:txBody>
      </p:sp>
      <p:sp>
        <p:nvSpPr>
          <p:cNvPr id="11" name="Chevron 10"/>
          <p:cNvSpPr/>
          <p:nvPr/>
        </p:nvSpPr>
        <p:spPr>
          <a:xfrm>
            <a:off x="3068040"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検証精度の確認</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自社のケースで実際の反応とどこまで一致するか、独自に検証する</a:t>
            </a:r>
          </a:p>
        </p:txBody>
      </p:sp>
      <p:sp>
        <p:nvSpPr>
          <p:cNvPr id="17" name="Chevron 16"/>
          <p:cNvSpPr/>
          <p:nvPr/>
        </p:nvSpPr>
        <p:spPr>
          <a:xfrm>
            <a:off x="5978804"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コストと速度の比較</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従来調査との費用対効果を具体的に比較する</a:t>
            </a:r>
          </a:p>
        </p:txBody>
      </p:sp>
      <p:sp>
        <p:nvSpPr>
          <p:cNvPr id="23" name="Chevron 22"/>
          <p:cNvSpPr/>
          <p:nvPr/>
        </p:nvSpPr>
        <p:spPr>
          <a:xfrm>
            <a:off x="8889568"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倫理的な配慮</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実在の消費者データの扱い方・同意の取り方を確認する</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TechCrunch・The Next Web ほか(2026-07-30発表・鮮度4日妥協を開示)｜定期実行68本目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変わったこと・変わらないこと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変わったこと(報じられている範囲)</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大規模調査を短時間・低コストで実施できる可能性</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AIエージェント技術の市場調査分野への本格的な応用</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評価額20億ドルという規模感</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変わらないこと</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合成消費者は実在の人間そのものではない</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重要な意思決定には従来型の検証も必要と考えられる</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技術の詳細・第三者検証は依然として非公開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TechCrunch・The Next Web ほか(2026-07-30発表・鮮度4日妥協を開示)｜定期実行68本目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この発表から得られる学び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個別の企業評価ではなく、一般的な視点としてまとめます。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強いバズワード(『分身』『人類への窓』等)ほど、事実と比喩を区別して読む価値がある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鮮度基準を厳密に満たさない情報を扱う場合は、そのことを正直に開示する姿勢が大切</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自社発表の効果数値(調査時間短縮等)は、第三者検証の有無を意識するとよい</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急成長の背景を語るときは、事実と推測を分けて考えるとよい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TechCrunch・The Next Web ほか(2026-07-30発表・鮮度4日妥協を開示)｜定期実行68本目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$200M / 40万体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シリーズB2億ドル調達、CVS Healthは40万体の合成消費者で施策を検証(2026-07-30発表、鮮度4日の妥協あり)</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本編のまとめ</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強い数字ほど、出どころと鮮度を確認する。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バズる話題ほど、事実と比喩、そして情報の新しさを分けて見てみてください。</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