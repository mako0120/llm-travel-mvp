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22日、CoinDeskはCoinbase・Circle・Visa・Mastercard・Cloudflareといった決済大手が、AIエージェント向けの決済インフラを一斉に構築していると報じ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結論から確認します。CoinbaseのAIエージェント向け決済プロトコル『x402』は、2026年に入って1億6,500万件超の決済を処理し、累計決済額は5,000万ドルを超えました。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今日は6つの流れでお伝えします。決済プロトコルの仕組みから、参加企業、安全対策まで、正確に事実を引用しながら整理します。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このテーマを扱う理由です。高い鮮度と、業界全体を巻き込む動きの両方に注目しました。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x402プロトコルの基礎知識です。AIエージェントがアカウント作成なしで支払いを完結できる点が特徴です。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核心となる数字をまとめました。決済のほぼ全てがドル連動のステーブルコインUSDCで行われている点が特徴的です。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参加企業の取り組みです。暗号資産ネイティブの企業が中心となっています。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従来型の決済大手も、AIエージェント向けの取り組みを進めています。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暗号資産ネイティブ企業と、従来型決済大手のアプローチの違いを対比しました。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AIエージェントが支払いを行うまでの流れを図にしました。人間の決済プロセスとは異なる、簡略化された仕組みです。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AIエージェントの『暴走』を防ぐための共通の仕組みです。複数の企業が同じような防衛策に収れんしている点が興味深いポイントです。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安全対策を一覧にまとめました。複数の対策を組み合わせることで、エージェントの誤動作・不正利用のリスクを抑えています。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ステーブルコインが選ばれる理由についての業界関係者の見方です。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決済のほぼ全てがUSDC建てで行われているとの推計です。ただしこれは公式統計ではなく、担当者の推計値である点に留意が必要です。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業界全体への広がりです。決済大手だけでなく、暗号資産取引所も同様の取り組みを進めています。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従来の人間の決済と、AIエージェントの決済の違いを対比しました。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業界内での位置づけです。成長性への期待と、実態把握の難しさの両方を正直にお伝えします。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決済1件あたりの平均額を計算してみると、約0.3ドルという小口決済が中心であることが分かります。この計算は本調査独自のものであり、出典元の公式発表ではありません。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AI・決済業界動向を追う立場にとっての意味です。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確認できなかったことを正直にお伝えします。特に、原記事への直接アクセスができていない点は明確に開示します。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決済インフラ・暗号資産業界の主要企業6社以上が、同時にこの分野に取り組んでいることが分かります。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主な情報源です。CoinDesk原記事には二次情報源経由でアクセスしている点を正直にお伝えします。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共通して使われている安全対策は主に4種類確認できます。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Binanceも同時期に類似の取り組みを開始しており、業界全体でこの分野への関心が高まっています。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各社の役割を一覧にまとめました。決済プロトコル・通貨発行・従来型決済網・安全機能という異なるレイヤーで、各社が連携しています。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本編のまとめです。AIエージェントが自律的に支払いを行う時代の基盤インフラについて、出典付きで整理してお伝えしました。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Iエージェントが自律的に支払いを行う決済インフラの動き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AIエージェントが</a:t>
            </a:r>
          </a:p>
          <a:p>
            <a:pPr algn="l">
              <a:lnSpc>
                <a:spcPct val="115000"/>
              </a:lnSpc>
            </a:pPr>
            <a:r>
              <a:rPr sz="4200" b="1">
                <a:solidFill>
                  <a:srgbClr val="FFFFFF"/>
                </a:solidFill>
                <a:latin typeface="Yu Gothic"/>
              </a:rPr>
              <a:t>「お金を払う」時代</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2026年8月22日報道——決済インフラ大手が一斉に動いた日を出典付きで整理する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CoinDesk(2026年8月22日)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1億6,500万件超 Coinbaseの決済プロトコル『x402』の2026年累計決済件数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累計決済額は5,000万ドル超(2026年8月22日CoinDesk報道)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CoinDesk(2026-08-22)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x402プロトコルの仕組みを確認する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参加している決済大手を確認する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『エージェントの暴走』を防ぐ仕組みを確認する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なぜステーブルコインが選ばれているのかを確認する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着手日前日(2026年8月22日)報道という高い鮮度の話題である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Coinbase・Circle・MoonPay・Visa・Mastercard・Cloudflareという主要企業が同時に動いている業界的なインパクトのある事実である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『AIエージェントが自律的に支払いを行う』という、AI経済圏の基盤インフラに関わる重要な動きである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具体的な数字(決済件数・決済額)が伴う話題である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x402プロトコルとは(基礎知識)</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本テーマの前提となる基礎知識です。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Coinbaseが提供するAIエージェント向けの決済プロトコル</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AIエージェントがサービスの価格を確認し、その場で支払い、結果を受け取れる仕組み</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別途アカウントを作成したり、カード情報を入力したりする必要がない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核心となる数字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累計決済件数(2026年通算)</a:t>
                      </a:r>
                    </a:p>
                  </a:txBody>
                  <a:tcPr>
                    <a:solidFill>
                      <a:srgbClr val="FFFFFF"/>
                    </a:solidFill>
                  </a:tcPr>
                </a:tc>
                <a:tc>
                  <a:txBody>
                    <a:bodyPr/>
                    <a:lstStyle/>
                    <a:p>
                      <a:pPr>
                        <a:defRPr sz="1200">
                          <a:solidFill>
                            <a:srgbClr val="1A1A2E"/>
                          </a:solidFill>
                          <a:latin typeface="Yu Gothic"/>
                        </a:defRPr>
                      </a:pPr>
                      <a:r>
                        <a:t>1億6,500万件超</a:t>
                      </a:r>
                    </a:p>
                  </a:txBody>
                  <a:tcPr>
                    <a:solidFill>
                      <a:srgbClr val="FFFFFF"/>
                    </a:solidFill>
                  </a:tcPr>
                </a:tc>
              </a:tr>
              <a:tr h="502920">
                <a:tc>
                  <a:txBody>
                    <a:bodyPr/>
                    <a:lstStyle/>
                    <a:p>
                      <a:pPr>
                        <a:defRPr sz="1200">
                          <a:solidFill>
                            <a:srgbClr val="1A1A2E"/>
                          </a:solidFill>
                          <a:latin typeface="Yu Gothic"/>
                        </a:defRPr>
                      </a:pPr>
                      <a:r>
                        <a:t>累計決済額(2026年通算)</a:t>
                      </a:r>
                    </a:p>
                  </a:txBody>
                  <a:tcPr>
                    <a:solidFill>
                      <a:srgbClr val="F3F6FC"/>
                    </a:solidFill>
                  </a:tcPr>
                </a:tc>
                <a:tc>
                  <a:txBody>
                    <a:bodyPr/>
                    <a:lstStyle/>
                    <a:p>
                      <a:pPr>
                        <a:defRPr sz="1200">
                          <a:solidFill>
                            <a:srgbClr val="1A1A2E"/>
                          </a:solidFill>
                          <a:latin typeface="Yu Gothic"/>
                        </a:defRPr>
                      </a:pPr>
                      <a:r>
                        <a:t>5,000万ドル超</a:t>
                      </a:r>
                    </a:p>
                  </a:txBody>
                  <a:tcPr>
                    <a:solidFill>
                      <a:srgbClr val="F3F6FC"/>
                    </a:solidFill>
                  </a:tcPr>
                </a:tc>
              </a:tr>
              <a:tr h="502920">
                <a:tc>
                  <a:txBody>
                    <a:bodyPr/>
                    <a:lstStyle/>
                    <a:p>
                      <a:pPr>
                        <a:defRPr sz="1200">
                          <a:solidFill>
                            <a:srgbClr val="1A1A2E"/>
                          </a:solidFill>
                          <a:latin typeface="Yu Gothic"/>
                        </a:defRPr>
                      </a:pPr>
                      <a:r>
                        <a:t>USDC建て決済の比率</a:t>
                      </a:r>
                    </a:p>
                  </a:txBody>
                  <a:tcPr>
                    <a:solidFill>
                      <a:srgbClr val="FFFFFF"/>
                    </a:solidFill>
                  </a:tcPr>
                </a:tc>
                <a:tc>
                  <a:txBody>
                    <a:bodyPr/>
                    <a:lstStyle/>
                    <a:p>
                      <a:pPr>
                        <a:defRPr sz="1200">
                          <a:solidFill>
                            <a:srgbClr val="1A1A2E"/>
                          </a:solidFill>
                          <a:latin typeface="Yu Gothic"/>
                        </a:defRPr>
                      </a:pPr>
                      <a:r>
                        <a:t>約99%(Coinbase側の推計)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参加している決済大手(1)</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主な参加企業を確認します。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Coinbase: AIエージェント向け決済プロトコル『x402』を運営</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Circle: ステーブルコインUSDCの発行元として決済基盤を提供</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MoonPay: AIエージェント向けのステーブルコイン利用サービスを展開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参加している決済大手(2)</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従来型の決済大手も参入しています。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Visa・Mastercard: AIエージェントが利用できる決済の枠組みを準備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Mastercard: エージェントが事前設定した金額・購入可能範囲内でのみ支出できる仕組みをテスト中</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Cloudflare: AIエージェント向けのウォレット機能・支出のガードレール機能を提供</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暗号資産ネイティブ企業 vs 従来型決済大手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暗号資産ネイティブ企業</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Coinbase・Circle・MoonPay</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ステーブルコイン(USDC)を軸に構築</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アカウント作成不要の即時決済が強み</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従来型決済大手</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Visa・Mastercard</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既存の決済ネットワークとの統合を志向</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支出制限・承認の仕組みに強み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AIエージェントが支払いを行うまでの流れ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AIエージェントがサービスの価格を確認</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x402プロトコル経由</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その場で支払いを実行</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USDC建てで即時決済(約99%)</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結果を受け取る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アカウント作成・カード入力不要</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x402プロトコルによる決済の流れ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決済大手が一斉に参入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Coinbase・Circle・Visa・Mastercard等</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x402の実績が明らかに</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1億6,500万件・5,000万ドル超</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安全対策の共通化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支出制限・人間の承認を組み合わせ</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『エージェントの暴走』を防ぐ仕組み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安全対策の詳細を確認します。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Coinbase・Cloudflare・Mastercard・MoonPay・ウォレット企業Turnkeyは、共通の第一防衛線に収れんしつつある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上限を設定した残高(capped balances)を用いる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承認済みの販売元のみに限定する(approved sellers)</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重要な操作には人間の承認を必須とする(human approval for sensitive actions)</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CoinDesk(2026-08-22、Lincoln Murr氏の発言を引用)</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安全対策の一覧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対策</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上限残高</a:t>
                      </a:r>
                    </a:p>
                  </a:txBody>
                  <a:tcPr>
                    <a:solidFill>
                      <a:srgbClr val="FFFFFF"/>
                    </a:solidFill>
                  </a:tcPr>
                </a:tc>
                <a:tc>
                  <a:txBody>
                    <a:bodyPr/>
                    <a:lstStyle/>
                    <a:p>
                      <a:pPr>
                        <a:defRPr sz="1200">
                          <a:solidFill>
                            <a:srgbClr val="1A1A2E"/>
                          </a:solidFill>
                          <a:latin typeface="Yu Gothic"/>
                        </a:defRPr>
                      </a:pPr>
                      <a:r>
                        <a:t>エージェントが使える金額の上限をあらかじめ設定</a:t>
                      </a:r>
                    </a:p>
                  </a:txBody>
                  <a:tcPr>
                    <a:solidFill>
                      <a:srgbClr val="FFFFFF"/>
                    </a:solidFill>
                  </a:tcPr>
                </a:tc>
              </a:tr>
              <a:tr h="502920">
                <a:tc>
                  <a:txBody>
                    <a:bodyPr/>
                    <a:lstStyle/>
                    <a:p>
                      <a:pPr>
                        <a:defRPr sz="1200">
                          <a:solidFill>
                            <a:srgbClr val="1A1A2E"/>
                          </a:solidFill>
                          <a:latin typeface="Yu Gothic"/>
                        </a:defRPr>
                      </a:pPr>
                      <a:r>
                        <a:t>承認済み販売元</a:t>
                      </a:r>
                    </a:p>
                  </a:txBody>
                  <a:tcPr>
                    <a:solidFill>
                      <a:srgbClr val="F3F6FC"/>
                    </a:solidFill>
                  </a:tcPr>
                </a:tc>
                <a:tc>
                  <a:txBody>
                    <a:bodyPr/>
                    <a:lstStyle/>
                    <a:p>
                      <a:pPr>
                        <a:defRPr sz="1200">
                          <a:solidFill>
                            <a:srgbClr val="1A1A2E"/>
                          </a:solidFill>
                          <a:latin typeface="Yu Gothic"/>
                        </a:defRPr>
                      </a:pPr>
                      <a:r>
                        <a:t>支払い先を事前に承認されたサービスのみに限定</a:t>
                      </a:r>
                    </a:p>
                  </a:txBody>
                  <a:tcPr>
                    <a:solidFill>
                      <a:srgbClr val="F3F6FC"/>
                    </a:solidFill>
                  </a:tcPr>
                </a:tc>
              </a:tr>
              <a:tr h="502920">
                <a:tc>
                  <a:txBody>
                    <a:bodyPr/>
                    <a:lstStyle/>
                    <a:p>
                      <a:pPr>
                        <a:defRPr sz="1200">
                          <a:solidFill>
                            <a:srgbClr val="1A1A2E"/>
                          </a:solidFill>
                          <a:latin typeface="Yu Gothic"/>
                        </a:defRPr>
                      </a:pPr>
                      <a:r>
                        <a:t>取引金額の上限</a:t>
                      </a:r>
                    </a:p>
                  </a:txBody>
                  <a:tcPr>
                    <a:solidFill>
                      <a:srgbClr val="FFFFFF"/>
                    </a:solidFill>
                  </a:tcPr>
                </a:tc>
                <a:tc>
                  <a:txBody>
                    <a:bodyPr/>
                    <a:lstStyle/>
                    <a:p>
                      <a:pPr>
                        <a:defRPr sz="1200">
                          <a:solidFill>
                            <a:srgbClr val="1A1A2E"/>
                          </a:solidFill>
                          <a:latin typeface="Yu Gothic"/>
                        </a:defRPr>
                      </a:pPr>
                      <a:r>
                        <a:t>1回あたりの取引額に上限を設ける</a:t>
                      </a:r>
                    </a:p>
                  </a:txBody>
                  <a:tcPr>
                    <a:solidFill>
                      <a:srgbClr val="FFFFFF"/>
                    </a:solidFill>
                  </a:tcPr>
                </a:tc>
              </a:tr>
              <a:tr h="502920">
                <a:tc>
                  <a:txBody>
                    <a:bodyPr/>
                    <a:lstStyle/>
                    <a:p>
                      <a:pPr>
                        <a:defRPr sz="1200">
                          <a:solidFill>
                            <a:srgbClr val="1A1A2E"/>
                          </a:solidFill>
                          <a:latin typeface="Yu Gothic"/>
                        </a:defRPr>
                      </a:pPr>
                      <a:r>
                        <a:t>人間の承認</a:t>
                      </a:r>
                    </a:p>
                  </a:txBody>
                  <a:tcPr>
                    <a:solidFill>
                      <a:srgbClr val="F3F6FC"/>
                    </a:solidFill>
                  </a:tcPr>
                </a:tc>
                <a:tc>
                  <a:txBody>
                    <a:bodyPr/>
                    <a:lstStyle/>
                    <a:p>
                      <a:pPr>
                        <a:defRPr sz="1200">
                          <a:solidFill>
                            <a:srgbClr val="1A1A2E"/>
                          </a:solidFill>
                          <a:latin typeface="Yu Gothic"/>
                        </a:defRPr>
                      </a:pPr>
                      <a:r>
                        <a:t>重要な操作は人間が最終承認する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なぜステーブルコインが選ばれているか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業界関係者の見方です。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AIエージェントは銀行口座を作成できず、本人確認(KYC)の手続きも行えない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最も簡便にアクセスできる決済手段が暗号資産(特にドル連動のステーブルコイン)であるという指摘がある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この見方はOpenLedgerのRam Kumar氏がWyoming Blockchain Symposium 2026で述べたものである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Block(2026-08-20、Ram Kumar氏の発言を引用)</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USDC建て決済の比率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約99% x402決済のうちUSDC建ての比率(Coinbase側の推計)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Coinbase AI製品責任者Lincoln Murr氏の推計値であり、公式統計として断定しない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CoinDesk(2026-08-22)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業界全体への広がり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他社の動きも確認します。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Binanceも同時期に『Agent OS』というAIエージェント構築・決済連携の仕組みを提供開始している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AIエージェントが外部サービス・データ・計算資源を自律的に購入する『エージェント経済』の基盤インフラとして注目されている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決済インフラ業界全体でこの分野への参入が進んでいる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CoinDesk(2026-08-22)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従来の人間の決済 vs AIエージェントの決済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従来の人間の決済</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アカウント作成・本人確認(KYC)が必要</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カード情報の入力が必要</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1件ごとの意思決定に人間が関与</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AIエージェントの決済(x402)</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アカウント作成・KYC不要</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価格確認から支払いまで即座に完結</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事前に設定した上限内で自律的に実行</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AI・ビジネス業界における位置づけ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業界内での注目点です。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AIエージェントが自律的にサービス・データ・計算資源を購入する経済圏の基盤インフラとして位置づけられる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決済大手が競うように参入していることは、この分野の成長性が高く見込まれていることを示唆する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一方で、AIエージェントの実際の利用者数や具体的な用途の内訳は、本調査の範囲では確認できていない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決済1件あたりの平均額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約0.3ドル 累計決済額を件数で割った概算値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5,000万ドル÷1億6,500万件から算出した参考値(本調査による計算)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本調査による計算(CoinDesk報道の数字を基に算出)</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視聴者にとっての意味—AI・決済業界動向を追う立場として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AIエージェント経済の基盤インフラがどの企業によって構築されているかを具体的に把握できる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決済大手が採用する安全対策(支出制限・人間の承認)の仕組みは、AIエージェント活用を検討する際の参考になる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ステーブルコインという規制動向が流動的な領域を含む点にも留意する視点が役立つ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『1億6,500万件・5,000万ドル』はCoinbase側の自社発表・取材に基づく数字であり、第三者による独立した検証は確認できていない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『USDC比率約99%』は担当者個人の推計であり、公式統計としては確認できていない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AIエージェント決済の実際の利用者数・具体的な用途の内訳は確認できていない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CoinDesk原記事には検索結果経由での要約という形でアクセスしており、原文全体を直接確認した訳ではない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確認できている事実</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参加企業の顔ぶれ(Coinbase・Circle・Visa等)</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x402の累計決済件数・決済額(自社発表ベース)</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共通の安全対策の枠組み</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今後の不確定要素</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第三者による独立した数字の検証</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実際の利用者数・用途の内訳</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ステーブルコイン規制の今後の動向</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参加企業数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6社以上 CoinDesk報道で名前が挙がった主要企業数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Coinbase・Circle・MoonPay・Visa・Mastercard・Cloudflare</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CoinDesk(2026-08-22)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主な情報源</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報道内容</a:t>
                      </a:r>
                    </a:p>
                  </a:txBody>
                  <a:tcPr>
                    <a:solidFill>
                      <a:srgbClr val="1E2761"/>
                    </a:solidFill>
                  </a:tcPr>
                </a:tc>
              </a:tr>
              <a:tr h="502920">
                <a:tc>
                  <a:txBody>
                    <a:bodyPr/>
                    <a:lstStyle/>
                    <a:p>
                      <a:pPr>
                        <a:defRPr sz="1200">
                          <a:solidFill>
                            <a:srgbClr val="1A1A2E"/>
                          </a:solidFill>
                          <a:latin typeface="Yu Gothic"/>
                        </a:defRPr>
                      </a:pPr>
                      <a:r>
                        <a:t>CoinDesk(2026-08-22)</a:t>
                      </a:r>
                    </a:p>
                  </a:txBody>
                  <a:tcPr>
                    <a:solidFill>
                      <a:srgbClr val="FFFFFF"/>
                    </a:solidFill>
                  </a:tcPr>
                </a:tc>
                <a:tc>
                  <a:txBody>
                    <a:bodyPr/>
                    <a:lstStyle/>
                    <a:p>
                      <a:pPr>
                        <a:defRPr sz="1200">
                          <a:solidFill>
                            <a:srgbClr val="1A1A2E"/>
                          </a:solidFill>
                          <a:latin typeface="Yu Gothic"/>
                        </a:defRPr>
                      </a:pPr>
                      <a:r>
                        <a:t>参加企業・x402の実績・安全対策の詳細</a:t>
                      </a:r>
                    </a:p>
                  </a:txBody>
                  <a:tcPr>
                    <a:solidFill>
                      <a:srgbClr val="FFFFFF"/>
                    </a:solidFill>
                  </a:tcPr>
                </a:tc>
              </a:tr>
              <a:tr h="502920">
                <a:tc>
                  <a:txBody>
                    <a:bodyPr/>
                    <a:lstStyle/>
                    <a:p>
                      <a:pPr>
                        <a:defRPr sz="1200">
                          <a:solidFill>
                            <a:srgbClr val="1A1A2E"/>
                          </a:solidFill>
                          <a:latin typeface="Yu Gothic"/>
                        </a:defRPr>
                      </a:pPr>
                      <a:r>
                        <a:t>The Block(2026-08-20)</a:t>
                      </a:r>
                    </a:p>
                  </a:txBody>
                  <a:tcPr>
                    <a:solidFill>
                      <a:srgbClr val="F3F6FC"/>
                    </a:solidFill>
                  </a:tcPr>
                </a:tc>
                <a:tc>
                  <a:txBody>
                    <a:bodyPr/>
                    <a:lstStyle/>
                    <a:p>
                      <a:pPr>
                        <a:defRPr sz="1200">
                          <a:solidFill>
                            <a:srgbClr val="1A1A2E"/>
                          </a:solidFill>
                          <a:latin typeface="Yu Gothic"/>
                        </a:defRPr>
                      </a:pPr>
                      <a:r>
                        <a:t>ステーブルコインが選ばれる理由に関する業界関係者の見方</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AI・エージェント技術動向を追う立場として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AIエージェント経済の基盤インフラの構築状況を、具体的な参加企業と数字で把握できる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決済・フィンテック業界に携わる立場として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従来型決済大手と暗号資産ネイティブ企業のアプローチの違いが参考になる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自社発表の数字と第三者検証の有無を区別する視点、原記事アクセスの限界を踏まえる視点が役立つ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安全対策の組み合わせ数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4種類 共通して使われている安全対策の主な種類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上限残高・承認済み販売元・取引上限・人間の承認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CoinDesk(2026-08-22)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Binance『Agent OS』</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同時期に提供開始 Binanceによる類似の取り組み</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市場情報・決済・オンチェーン・データ・取引機能をAIワークフローに統合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CoinDesk(2026-08-22)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決済インフラ各社の役割まとめ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1E2761"/>
                    </a:solidFill>
                  </a:tcPr>
                </a:tc>
                <a:tc>
                  <a:txBody>
                    <a:bodyPr/>
                    <a:lstStyle/>
                    <a:p>
                      <a:pPr>
                        <a:defRPr sz="1300" b="1">
                          <a:solidFill>
                            <a:srgbClr val="FFFFFF"/>
                          </a:solidFill>
                          <a:latin typeface="Yu Gothic"/>
                        </a:defRPr>
                      </a:pPr>
                      <a:r>
                        <a:t>役割</a:t>
                      </a:r>
                    </a:p>
                  </a:txBody>
                  <a:tcPr>
                    <a:solidFill>
                      <a:srgbClr val="1E2761"/>
                    </a:solidFill>
                  </a:tcPr>
                </a:tc>
              </a:tr>
              <a:tr h="502920">
                <a:tc>
                  <a:txBody>
                    <a:bodyPr/>
                    <a:lstStyle/>
                    <a:p>
                      <a:pPr>
                        <a:defRPr sz="1200">
                          <a:solidFill>
                            <a:srgbClr val="1A1A2E"/>
                          </a:solidFill>
                          <a:latin typeface="Yu Gothic"/>
                        </a:defRPr>
                      </a:pPr>
                      <a:r>
                        <a:t>Coinbase</a:t>
                      </a:r>
                    </a:p>
                  </a:txBody>
                  <a:tcPr>
                    <a:solidFill>
                      <a:srgbClr val="FFFFFF"/>
                    </a:solidFill>
                  </a:tcPr>
                </a:tc>
                <a:tc>
                  <a:txBody>
                    <a:bodyPr/>
                    <a:lstStyle/>
                    <a:p>
                      <a:pPr>
                        <a:defRPr sz="1200">
                          <a:solidFill>
                            <a:srgbClr val="1A1A2E"/>
                          </a:solidFill>
                          <a:latin typeface="Yu Gothic"/>
                        </a:defRPr>
                      </a:pPr>
                      <a:r>
                        <a:t>x402プロトコルの運営・決済実績の開示</a:t>
                      </a:r>
                    </a:p>
                  </a:txBody>
                  <a:tcPr>
                    <a:solidFill>
                      <a:srgbClr val="FFFFFF"/>
                    </a:solidFill>
                  </a:tcPr>
                </a:tc>
              </a:tr>
              <a:tr h="502920">
                <a:tc>
                  <a:txBody>
                    <a:bodyPr/>
                    <a:lstStyle/>
                    <a:p>
                      <a:pPr>
                        <a:defRPr sz="1200">
                          <a:solidFill>
                            <a:srgbClr val="1A1A2E"/>
                          </a:solidFill>
                          <a:latin typeface="Yu Gothic"/>
                        </a:defRPr>
                      </a:pPr>
                      <a:r>
                        <a:t>Circle</a:t>
                      </a:r>
                    </a:p>
                  </a:txBody>
                  <a:tcPr>
                    <a:solidFill>
                      <a:srgbClr val="F3F6FC"/>
                    </a:solidFill>
                  </a:tcPr>
                </a:tc>
                <a:tc>
                  <a:txBody>
                    <a:bodyPr/>
                    <a:lstStyle/>
                    <a:p>
                      <a:pPr>
                        <a:defRPr sz="1200">
                          <a:solidFill>
                            <a:srgbClr val="1A1A2E"/>
                          </a:solidFill>
                          <a:latin typeface="Yu Gothic"/>
                        </a:defRPr>
                      </a:pPr>
                      <a:r>
                        <a:t>ステーブルコインUSDCの発行</a:t>
                      </a:r>
                    </a:p>
                  </a:txBody>
                  <a:tcPr>
                    <a:solidFill>
                      <a:srgbClr val="F3F6FC"/>
                    </a:solidFill>
                  </a:tcPr>
                </a:tc>
              </a:tr>
              <a:tr h="502920">
                <a:tc>
                  <a:txBody>
                    <a:bodyPr/>
                    <a:lstStyle/>
                    <a:p>
                      <a:pPr>
                        <a:defRPr sz="1200">
                          <a:solidFill>
                            <a:srgbClr val="1A1A2E"/>
                          </a:solidFill>
                          <a:latin typeface="Yu Gothic"/>
                        </a:defRPr>
                      </a:pPr>
                      <a:r>
                        <a:t>Visa・Mastercard</a:t>
                      </a:r>
                    </a:p>
                  </a:txBody>
                  <a:tcPr>
                    <a:solidFill>
                      <a:srgbClr val="FFFFFF"/>
                    </a:solidFill>
                  </a:tcPr>
                </a:tc>
                <a:tc>
                  <a:txBody>
                    <a:bodyPr/>
                    <a:lstStyle/>
                    <a:p>
                      <a:pPr>
                        <a:defRPr sz="1200">
                          <a:solidFill>
                            <a:srgbClr val="1A1A2E"/>
                          </a:solidFill>
                          <a:latin typeface="Yu Gothic"/>
                        </a:defRPr>
                      </a:pPr>
                      <a:r>
                        <a:t>従来型決済網とAIエージェントの橋渡し</a:t>
                      </a:r>
                    </a:p>
                  </a:txBody>
                  <a:tcPr>
                    <a:solidFill>
                      <a:srgbClr val="FFFFFF"/>
                    </a:solidFill>
                  </a:tcPr>
                </a:tc>
              </a:tr>
              <a:tr h="502920">
                <a:tc>
                  <a:txBody>
                    <a:bodyPr/>
                    <a:lstStyle/>
                    <a:p>
                      <a:pPr>
                        <a:defRPr sz="1200">
                          <a:solidFill>
                            <a:srgbClr val="1A1A2E"/>
                          </a:solidFill>
                          <a:latin typeface="Yu Gothic"/>
                        </a:defRPr>
                      </a:pPr>
                      <a:r>
                        <a:t>Cloudflare・Turnkey</a:t>
                      </a:r>
                    </a:p>
                  </a:txBody>
                  <a:tcPr>
                    <a:solidFill>
                      <a:srgbClr val="F3F6FC"/>
                    </a:solidFill>
                  </a:tcPr>
                </a:tc>
                <a:tc>
                  <a:txBody>
                    <a:bodyPr/>
                    <a:lstStyle/>
                    <a:p>
                      <a:pPr>
                        <a:defRPr sz="1200">
                          <a:solidFill>
                            <a:srgbClr val="1A1A2E"/>
                          </a:solidFill>
                          <a:latin typeface="Yu Gothic"/>
                        </a:defRPr>
                      </a:pPr>
                      <a:r>
                        <a:t>ウォレット・支出ガードレールの提供</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本調査による整理(CoinDesk)</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2026年8月22日、CoinDeskはCoinbase・Circle・Visa・Mastercard・Cloudflareなど決済大手がAIエージェント向け決済インフラを一斉に構築していると報じた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Coinbaseのx402プロトコルは2026年通算で1億6,500万件超・5,000万ドル超の決済を処理した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各社は共通して『エージェントを行動前に制限する』安全対策に収れんしつつある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自社発表の数字である点、原記事への直接アクセスができていない点を正直に開示した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CoinDesk・The Block(2026-08-20/22)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AIエージェントが「お金を払う」時代。</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2026年8月22日、CoinDeskは決済インフラ大手が一斉にAIエージェント向け決済の仕組みを構築していると報じました。数字の性質を正確に理解しながら、出典付きで整理してお届けしました。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