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秒数</c:v>
                </c:pt>
              </c:strCache>
            </c:strRef>
          </c:tx>
          <c:spPr>
            <a:solidFill>
              <a:srgbClr val="24523F"/>
            </a:solidFill>
          </c:spPr>
          <c:cat>
            <c:strRef>
              <c:f>Sheet1!$A$2:$A$3</c:f>
              <c:strCache>
                <c:ptCount val="2"/>
                <c:pt idx="0">
                  <c:v>最短</c:v>
                </c:pt>
                <c:pt idx="1">
                  <c:v>最長</c:v>
                </c:pt>
              </c:strCache>
            </c:strRef>
          </c:cat>
          <c:val>
            <c:numRef>
              <c:f>Sheet1!$B$2:$B$3</c:f>
              <c:numCache>
                <c:formatCode>General</c:formatCode>
                <c:ptCount val="2"/>
                <c:pt idx="0">
                  <c:v>10</c:v>
                </c:pt>
                <c:pt idx="1">
                  <c:v>300</c:v>
                </c:pt>
              </c:numCache>
            </c:numRef>
          </c:val>
        </c:ser>
        <c:dLbls>
          <c:numFmt formatCode="#,##0" sourceLinked="0"/>
          <c:txPr>
            <a:bodyPr/>
            <a:lstStyle/>
            <a:p>
              <a:pPr>
                <a:defRPr sz="1200" b="1">
                  <a:solidFill>
                    <a:srgbClr val="24523F"/>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フックとして問いかけから入る。「声が歌になる」という体験を突く。</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起承転結を予告する。</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専門用語を最初に整理する。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発表の概要を表で整理する。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時系列を図で示す。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References機能の内容を整理する。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Referencesで使える参照音声の長さの範囲を数字で示す。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10秒から5分(300秒)までという幅をグラフで見せる。</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Vocals機能の内容を整理する。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2つの新機能を表で比較する。</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2つの機能の役割分担を対比で見せる。</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Vocalsの処理の流れを図で示す。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Styles機能とMusic v2モデルの関係を表で整理する。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今回のアップデート内容を一覧表でまとめる。</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安全対策を紹介する。推測部分は明示する。</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正直に、含まれなかったものも伝える。</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ここからは推測であることを明言する。</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見送った候補も具体的に共有する。</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転換パート。ここから実践的な話に入る。</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出来事の紹介だけで終わらせず、読み手にとっての意味を扱う。</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実際に試す前のチェックリストとして提示する。</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実践につながる進め方をステップで見せる。</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個人視点も扱う。</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不明点を正直に「不明」と明言する。</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安全性に配慮した制作方針を明確に伝える。</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検品結果を表でまとめる。</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出典を短く再掲する。</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結のキーメッセージ。</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オープンループで次回への引き。</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最終スライド。</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あなたの声が、そのまま歌になる時代</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E7DCC2"/>
                </a:solidFill>
                <a:latin typeface="Yu Gothic"/>
              </a:rPr>
              <a:t>ElevenLabsがAI音楽生成サービス「ElevenMusic」を大型アップデート(2026年7月23日)</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BFAE84"/>
                </a:solidFill>
                <a:latin typeface="Yu Gothic"/>
              </a:rPr>
              <a:t>出典: DigitalToday(2026-07-23), TechCrunch(2026-05-27)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今日話すこと</a:t>
            </a:r>
          </a:p>
        </p:txBody>
      </p:sp>
      <p:sp>
        <p:nvSpPr>
          <p:cNvPr id="5" name="Oval 4"/>
          <p:cNvSpPr/>
          <p:nvPr/>
        </p:nvSpPr>
        <p:spPr>
          <a:xfrm>
            <a:off x="548640" y="19202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E7DCC2"/>
                </a:solidFill>
                <a:latin typeface="Yu Gothic"/>
              </a:rPr>
              <a:t>起: 前提知識 + 何が起きたか</a:t>
            </a:r>
          </a:p>
        </p:txBody>
      </p:sp>
      <p:sp>
        <p:nvSpPr>
          <p:cNvPr id="7" name="Oval 6"/>
          <p:cNvSpPr/>
          <p:nvPr/>
        </p:nvSpPr>
        <p:spPr>
          <a:xfrm>
            <a:off x="548640" y="269748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E7DCC2"/>
                </a:solidFill>
                <a:latin typeface="Yu Gothic"/>
              </a:rPr>
              <a:t>承: 2つの新機能を詳しく見る</a:t>
            </a:r>
          </a:p>
        </p:txBody>
      </p:sp>
      <p:sp>
        <p:nvSpPr>
          <p:cNvPr id="9" name="Oval 8"/>
          <p:cNvSpPr/>
          <p:nvPr/>
        </p:nvSpPr>
        <p:spPr>
          <a:xfrm>
            <a:off x="548640" y="347472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E7DCC2"/>
                </a:solidFill>
                <a:latin typeface="Yu Gothic"/>
              </a:rPr>
              <a:t>転: なぜ今このタイミングか、これは何を意味するか</a:t>
            </a:r>
          </a:p>
        </p:txBody>
      </p:sp>
      <p:sp>
        <p:nvSpPr>
          <p:cNvPr id="11" name="Oval 10"/>
          <p:cNvSpPr/>
          <p:nvPr/>
        </p:nvSpPr>
        <p:spPr>
          <a:xfrm>
            <a:off x="548640" y="425196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E7DCC2"/>
                </a:solidFill>
                <a:latin typeface="Yu Gothic"/>
              </a:rPr>
              <a:t>結: 不明点・リスク配慮・まとめ</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まず言葉の整理(初心者向け)</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AI音楽生成</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テキストや音声の指示から、AIが楽曲を自動で作る技術</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参照音声(リファレンス)</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スタイル・雰囲気を指定するために使う、お手本となる音声</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定期実行28本目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何が起きたか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発表元</a:t>
                      </a:r>
                    </a:p>
                  </a:txBody>
                  <a:tcPr>
                    <a:solidFill>
                      <a:srgbClr val="FFFFFF"/>
                    </a:solidFill>
                  </a:tcPr>
                </a:tc>
                <a:tc>
                  <a:txBody>
                    <a:bodyPr/>
                    <a:lstStyle/>
                    <a:p>
                      <a:pPr>
                        <a:defRPr sz="1200">
                          <a:solidFill>
                            <a:srgbClr val="20261F"/>
                          </a:solidFill>
                          <a:latin typeface="Yu Gothic"/>
                        </a:defRPr>
                      </a:pPr>
                      <a:r>
                        <a:t>ElevenLabs</a:t>
                      </a:r>
                    </a:p>
                  </a:txBody>
                  <a:tcPr>
                    <a:solidFill>
                      <a:srgbClr val="FFFFFF"/>
                    </a:solidFill>
                  </a:tcPr>
                </a:tc>
              </a:tr>
              <a:tr h="502920">
                <a:tc>
                  <a:txBody>
                    <a:bodyPr/>
                    <a:lstStyle/>
                    <a:p>
                      <a:pPr>
                        <a:defRPr sz="1200">
                          <a:solidFill>
                            <a:srgbClr val="20261F"/>
                          </a:solidFill>
                          <a:latin typeface="Yu Gothic"/>
                        </a:defRPr>
                      </a:pPr>
                      <a:r>
                        <a:t>発表日</a:t>
                      </a:r>
                    </a:p>
                  </a:txBody>
                  <a:tcPr>
                    <a:solidFill>
                      <a:srgbClr val="F4F1E6"/>
                    </a:solidFill>
                  </a:tcPr>
                </a:tc>
                <a:tc>
                  <a:txBody>
                    <a:bodyPr/>
                    <a:lstStyle/>
                    <a:p>
                      <a:pPr>
                        <a:defRPr sz="1200">
                          <a:solidFill>
                            <a:srgbClr val="20261F"/>
                          </a:solidFill>
                          <a:latin typeface="Yu Gothic"/>
                        </a:defRPr>
                      </a:pPr>
                      <a:r>
                        <a:t>2026年7月23日</a:t>
                      </a:r>
                    </a:p>
                  </a:txBody>
                  <a:tcPr>
                    <a:solidFill>
                      <a:srgbClr val="F4F1E6"/>
                    </a:solidFill>
                  </a:tcPr>
                </a:tc>
              </a:tr>
              <a:tr h="502920">
                <a:tc>
                  <a:txBody>
                    <a:bodyPr/>
                    <a:lstStyle/>
                    <a:p>
                      <a:pPr>
                        <a:defRPr sz="1200">
                          <a:solidFill>
                            <a:srgbClr val="20261F"/>
                          </a:solidFill>
                          <a:latin typeface="Yu Gothic"/>
                        </a:defRPr>
                      </a:pPr>
                      <a:r>
                        <a:t>対象サービス</a:t>
                      </a:r>
                    </a:p>
                  </a:txBody>
                  <a:tcPr>
                    <a:solidFill>
                      <a:srgbClr val="FFFFFF"/>
                    </a:solidFill>
                  </a:tcPr>
                </a:tc>
                <a:tc>
                  <a:txBody>
                    <a:bodyPr/>
                    <a:lstStyle/>
                    <a:p>
                      <a:pPr>
                        <a:defRPr sz="1200">
                          <a:solidFill>
                            <a:srgbClr val="20261F"/>
                          </a:solidFill>
                          <a:latin typeface="Yu Gothic"/>
                        </a:defRPr>
                      </a:pPr>
                      <a:r>
                        <a:t>AI音楽生成サービス「ElevenMusic」</a:t>
                      </a:r>
                    </a:p>
                  </a:txBody>
                  <a:tcPr>
                    <a:solidFill>
                      <a:srgbClr val="FFFFFF"/>
                    </a:solidFill>
                  </a:tcPr>
                </a:tc>
              </a:tr>
              <a:tr h="502920">
                <a:tc>
                  <a:txBody>
                    <a:bodyPr/>
                    <a:lstStyle/>
                    <a:p>
                      <a:pPr>
                        <a:defRPr sz="1200">
                          <a:solidFill>
                            <a:srgbClr val="20261F"/>
                          </a:solidFill>
                          <a:latin typeface="Yu Gothic"/>
                        </a:defRPr>
                      </a:pPr>
                      <a:r>
                        <a:t>新機能</a:t>
                      </a:r>
                    </a:p>
                  </a:txBody>
                  <a:tcPr>
                    <a:solidFill>
                      <a:srgbClr val="F4F1E6"/>
                    </a:solidFill>
                  </a:tcPr>
                </a:tc>
                <a:tc>
                  <a:txBody>
                    <a:bodyPr/>
                    <a:lstStyle/>
                    <a:p>
                      <a:pPr>
                        <a:defRPr sz="1200">
                          <a:solidFill>
                            <a:srgbClr val="20261F"/>
                          </a:solidFill>
                          <a:latin typeface="Yu Gothic"/>
                        </a:defRPr>
                      </a:pPr>
                      <a:r>
                        <a:t>References(参照音声)、Vocals(歌声生成)</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DigitalToday(2026-07-23)</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定期実行28本目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アップデートまでのタイムライン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5月</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Music v2モデルを発表</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6月</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参照音声機能をプレビュー</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7月23日</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References/Vocalsを正式追加</a:t>
            </a:r>
          </a:p>
        </p:txBody>
      </p:sp>
      <p:sp>
        <p:nvSpPr>
          <p:cNvPr id="20" name="TextBox 19"/>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TechCrunch(2026-05-27)</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定期実行28本目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References機能とは</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できること</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参照音声をアップロードすると、その曲のスタイル・雰囲気に合わせて音楽を生成</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位置づけ</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6月にプレビューされていた機能の正式版</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DigitalToday(2026-07-23)</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定期実行28本目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参照音声として使える長さ</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10秒〜5分</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アップロードできる参照音声の長さ</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DigitalToday(2026-07-23)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参照音声の長さの範囲(秒)</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DigitalToday(2026-07-23)</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定期実行28本目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Vocals機能とは</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できること</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自分の声、または用意された音声ライブラリの声でオリジナルの歌を生成</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安全対策</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アップロードされた音声・楽曲は厳格な著作権チェックを通過する必要がある</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DigitalToday(2026-07-23)</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定期実行28本目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2つの新機能の比較</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機能</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References</a:t>
                      </a:r>
                    </a:p>
                  </a:txBody>
                  <a:tcPr>
                    <a:solidFill>
                      <a:srgbClr val="FFFFFF"/>
                    </a:solidFill>
                  </a:tcPr>
                </a:tc>
                <a:tc>
                  <a:txBody>
                    <a:bodyPr/>
                    <a:lstStyle/>
                    <a:p>
                      <a:pPr>
                        <a:defRPr sz="1200">
                          <a:solidFill>
                            <a:srgbClr val="20261F"/>
                          </a:solidFill>
                          <a:latin typeface="Yu Gothic"/>
                        </a:defRPr>
                      </a:pPr>
                      <a:r>
                        <a:t>参照音声でスタイル・雰囲気を指定</a:t>
                      </a:r>
                    </a:p>
                  </a:txBody>
                  <a:tcPr>
                    <a:solidFill>
                      <a:srgbClr val="FFFFFF"/>
                    </a:solidFill>
                  </a:tcPr>
                </a:tc>
              </a:tr>
              <a:tr h="502920">
                <a:tc>
                  <a:txBody>
                    <a:bodyPr/>
                    <a:lstStyle/>
                    <a:p>
                      <a:pPr>
                        <a:defRPr sz="1200">
                          <a:solidFill>
                            <a:srgbClr val="20261F"/>
                          </a:solidFill>
                          <a:latin typeface="Yu Gothic"/>
                        </a:defRPr>
                      </a:pPr>
                      <a:r>
                        <a:t>Vocals</a:t>
                      </a:r>
                    </a:p>
                  </a:txBody>
                  <a:tcPr>
                    <a:solidFill>
                      <a:srgbClr val="F4F1E6"/>
                    </a:solidFill>
                  </a:tcPr>
                </a:tc>
                <a:tc>
                  <a:txBody>
                    <a:bodyPr/>
                    <a:lstStyle/>
                    <a:p>
                      <a:pPr>
                        <a:defRPr sz="1200">
                          <a:solidFill>
                            <a:srgbClr val="20261F"/>
                          </a:solidFill>
                          <a:latin typeface="Yu Gothic"/>
                        </a:defRPr>
                      </a:pPr>
                      <a:r>
                        <a:t>自分の声・音声ライブラリで歌を生成</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DigitalToday(2026-07-23)</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定期実行28本目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ReferencesとVocals、役割の違い</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References</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曲の雰囲気・スタイルを指定</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参照音声10秒〜5分を使用</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Vocals</a:t>
            </a:r>
          </a:p>
        </p:txBody>
      </p:sp>
      <p:sp>
        <p:nvSpPr>
          <p:cNvPr id="16" name="Oval 15"/>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歌声そのものを生成</a:t>
            </a:r>
          </a:p>
        </p:txBody>
      </p:sp>
      <p:sp>
        <p:nvSpPr>
          <p:cNvPr id="18" name="Oval 17"/>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自分の声または音声ライブラリを使用</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定期実行28本目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Vocalsの仕組み</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声を選ぶ</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自分の声 or 音声ライブラリ</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著作権チェック</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アップロード音声・楽曲を確認</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楽曲生成</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オリジナルの歌が完成</a:t>
            </a:r>
          </a:p>
        </p:txBody>
      </p:sp>
      <p:sp>
        <p:nvSpPr>
          <p:cNvPr id="20" name="TextBox 19"/>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DigitalToday(2026-07-23)</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定期実行28本目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Styles機能の対応状況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対応モデル</a:t>
                      </a:r>
                    </a:p>
                  </a:txBody>
                  <a:tcPr>
                    <a:solidFill>
                      <a:srgbClr val="FFFFFF"/>
                    </a:solidFill>
                  </a:tcPr>
                </a:tc>
                <a:tc>
                  <a:txBody>
                    <a:bodyPr/>
                    <a:lstStyle/>
                    <a:p>
                      <a:pPr>
                        <a:defRPr sz="1200">
                          <a:solidFill>
                            <a:srgbClr val="20261F"/>
                          </a:solidFill>
                          <a:latin typeface="Yu Gothic"/>
                        </a:defRPr>
                      </a:pPr>
                      <a:r>
                        <a:t>Music v2(最新モデル)に正式対応</a:t>
                      </a:r>
                    </a:p>
                  </a:txBody>
                  <a:tcPr>
                    <a:solidFill>
                      <a:srgbClr val="FFFFFF"/>
                    </a:solidFill>
                  </a:tcPr>
                </a:tc>
              </a:tr>
              <a:tr h="502920">
                <a:tc>
                  <a:txBody>
                    <a:bodyPr/>
                    <a:lstStyle/>
                    <a:p>
                      <a:pPr>
                        <a:defRPr sz="1200">
                          <a:solidFill>
                            <a:srgbClr val="20261F"/>
                          </a:solidFill>
                          <a:latin typeface="Yu Gothic"/>
                        </a:defRPr>
                      </a:pPr>
                      <a:r>
                        <a:t>Music v2発表</a:t>
                      </a:r>
                    </a:p>
                  </a:txBody>
                  <a:tcPr>
                    <a:solidFill>
                      <a:srgbClr val="F4F1E6"/>
                    </a:solidFill>
                  </a:tcPr>
                </a:tc>
                <a:tc>
                  <a:txBody>
                    <a:bodyPr/>
                    <a:lstStyle/>
                    <a:p>
                      <a:pPr>
                        <a:defRPr sz="1200">
                          <a:solidFill>
                            <a:srgbClr val="20261F"/>
                          </a:solidFill>
                          <a:latin typeface="Yu Gothic"/>
                        </a:defRPr>
                      </a:pPr>
                      <a:r>
                        <a:t>2026年5月27日</a:t>
                      </a:r>
                    </a:p>
                  </a:txBody>
                  <a:tcPr>
                    <a:solidFill>
                      <a:srgbClr val="F4F1E6"/>
                    </a:solidFill>
                  </a:tcPr>
                </a:tc>
              </a:tr>
              <a:tr h="502920">
                <a:tc>
                  <a:txBody>
                    <a:bodyPr/>
                    <a:lstStyle/>
                    <a:p>
                      <a:pPr>
                        <a:defRPr sz="1200">
                          <a:solidFill>
                            <a:srgbClr val="20261F"/>
                          </a:solidFill>
                          <a:latin typeface="Yu Gothic"/>
                        </a:defRPr>
                      </a:pPr>
                      <a:r>
                        <a:t>Music v2の特徴</a:t>
                      </a:r>
                    </a:p>
                  </a:txBody>
                  <a:tcPr>
                    <a:solidFill>
                      <a:srgbClr val="FFFFFF"/>
                    </a:solidFill>
                  </a:tcPr>
                </a:tc>
                <a:tc>
                  <a:txBody>
                    <a:bodyPr/>
                    <a:lstStyle/>
                    <a:p>
                      <a:pPr>
                        <a:defRPr sz="1200">
                          <a:solidFill>
                            <a:srgbClr val="20261F"/>
                          </a:solidFill>
                          <a:latin typeface="Yu Gothic"/>
                        </a:defRPr>
                      </a:pPr>
                      <a:r>
                        <a:t>曲の途中でジャンルを切り替えられる</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TechCrunch(2026-05-27)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定期実行28本目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ElevenMusicの機能一覧(今回のアップデート後)</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機能</a:t>
                      </a:r>
                    </a:p>
                  </a:txBody>
                  <a:tcPr>
                    <a:solidFill>
                      <a:srgbClr val="24523F"/>
                    </a:solidFill>
                  </a:tcPr>
                </a:tc>
                <a:tc>
                  <a:txBody>
                    <a:bodyPr/>
                    <a:lstStyle/>
                    <a:p>
                      <a:pPr>
                        <a:defRPr sz="1300" b="1">
                          <a:solidFill>
                            <a:srgbClr val="FFFFFF"/>
                          </a:solidFill>
                          <a:latin typeface="Yu Gothic"/>
                        </a:defRPr>
                      </a:pPr>
                      <a:r>
                        <a:t>状態</a:t>
                      </a:r>
                    </a:p>
                  </a:txBody>
                  <a:tcPr>
                    <a:solidFill>
                      <a:srgbClr val="24523F"/>
                    </a:solidFill>
                  </a:tcPr>
                </a:tc>
              </a:tr>
              <a:tr h="502920">
                <a:tc>
                  <a:txBody>
                    <a:bodyPr/>
                    <a:lstStyle/>
                    <a:p>
                      <a:pPr>
                        <a:defRPr sz="1200">
                          <a:solidFill>
                            <a:srgbClr val="20261F"/>
                          </a:solidFill>
                          <a:latin typeface="Yu Gothic"/>
                        </a:defRPr>
                      </a:pPr>
                      <a:r>
                        <a:t>References</a:t>
                      </a:r>
                    </a:p>
                  </a:txBody>
                  <a:tcPr>
                    <a:solidFill>
                      <a:srgbClr val="FFFFFF"/>
                    </a:solidFill>
                  </a:tcPr>
                </a:tc>
                <a:tc>
                  <a:txBody>
                    <a:bodyPr/>
                    <a:lstStyle/>
                    <a:p>
                      <a:pPr>
                        <a:defRPr sz="1200">
                          <a:solidFill>
                            <a:srgbClr val="20261F"/>
                          </a:solidFill>
                          <a:latin typeface="Yu Gothic"/>
                        </a:defRPr>
                      </a:pPr>
                      <a:r>
                        <a:t>正式版として追加</a:t>
                      </a:r>
                    </a:p>
                  </a:txBody>
                  <a:tcPr>
                    <a:solidFill>
                      <a:srgbClr val="FFFFFF"/>
                    </a:solidFill>
                  </a:tcPr>
                </a:tc>
              </a:tr>
              <a:tr h="502920">
                <a:tc>
                  <a:txBody>
                    <a:bodyPr/>
                    <a:lstStyle/>
                    <a:p>
                      <a:pPr>
                        <a:defRPr sz="1200">
                          <a:solidFill>
                            <a:srgbClr val="20261F"/>
                          </a:solidFill>
                          <a:latin typeface="Yu Gothic"/>
                        </a:defRPr>
                      </a:pPr>
                      <a:r>
                        <a:t>Vocals</a:t>
                      </a:r>
                    </a:p>
                  </a:txBody>
                  <a:tcPr>
                    <a:solidFill>
                      <a:srgbClr val="F4F1E6"/>
                    </a:solidFill>
                  </a:tcPr>
                </a:tc>
                <a:tc>
                  <a:txBody>
                    <a:bodyPr/>
                    <a:lstStyle/>
                    <a:p>
                      <a:pPr>
                        <a:defRPr sz="1200">
                          <a:solidFill>
                            <a:srgbClr val="20261F"/>
                          </a:solidFill>
                          <a:latin typeface="Yu Gothic"/>
                        </a:defRPr>
                      </a:pPr>
                      <a:r>
                        <a:t>新規追加</a:t>
                      </a:r>
                    </a:p>
                  </a:txBody>
                  <a:tcPr>
                    <a:solidFill>
                      <a:srgbClr val="F4F1E6"/>
                    </a:solidFill>
                  </a:tcPr>
                </a:tc>
              </a:tr>
              <a:tr h="502920">
                <a:tc>
                  <a:txBody>
                    <a:bodyPr/>
                    <a:lstStyle/>
                    <a:p>
                      <a:pPr>
                        <a:defRPr sz="1200">
                          <a:solidFill>
                            <a:srgbClr val="20261F"/>
                          </a:solidFill>
                          <a:latin typeface="Yu Gothic"/>
                        </a:defRPr>
                      </a:pPr>
                      <a:r>
                        <a:t>Styles</a:t>
                      </a:r>
                    </a:p>
                  </a:txBody>
                  <a:tcPr>
                    <a:solidFill>
                      <a:srgbClr val="FFFFFF"/>
                    </a:solidFill>
                  </a:tcPr>
                </a:tc>
                <a:tc>
                  <a:txBody>
                    <a:bodyPr/>
                    <a:lstStyle/>
                    <a:p>
                      <a:pPr>
                        <a:defRPr sz="1200">
                          <a:solidFill>
                            <a:srgbClr val="20261F"/>
                          </a:solidFill>
                          <a:latin typeface="Yu Gothic"/>
                        </a:defRPr>
                      </a:pPr>
                      <a:r>
                        <a:t>Music v2に正式対応</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DigitalToday(2026-07-23)</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定期実行28本目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著作権チェックの仕組み(安全対策)</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目的</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無断の声の利用・既存楽曲の権利侵害を防ぐための対策と考えられる(推測)</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対象</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アップロードされる音声・楽曲すべてが対象</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DigitalToday(2026-07-23)</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定期実行28本目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今回含まれなかったもの</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ElevenMusicの具体的な料金体系は今回の発表では確認できていない</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「音声ライブラリ」の具体的な収録内容・ライセンス形態も非公開</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定期実行28本目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なぜ今このタイミングでVocals機能を追加したのか(推測)</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利用の幅を広げる</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音楽生成から「歌声」まで対応範囲を広げる狙い</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競合対応</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他のAI音楽生成サービスとの差別化を図る狙い</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段階的な機能拡張</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5月のモデル発表から段階的に機能を追加してきた流れの延長</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定期実行28本目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見送った候補</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11277295"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11277295"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10728655" cy="548640"/>
          </a:xfrm>
          <a:prstGeom prst="rect">
            <a:avLst/>
          </a:prstGeom>
          <a:noFill/>
        </p:spPr>
        <p:txBody>
          <a:bodyPr wrap="square" anchor="t" lIns="0" rIns="0" tIns="0" bIns="0">
            <a:spAutoFit/>
          </a:bodyPr>
          <a:lstStyle/>
          <a:p>
            <a:pPr algn="l"/>
            <a:r>
              <a:rPr sz="1600" b="1">
                <a:solidFill>
                  <a:srgbClr val="24523F"/>
                </a:solidFill>
                <a:latin typeface="Yu Gothic"/>
              </a:rPr>
              <a:t>Netchex「Mesh」(AI HR担当者チーム)</a:t>
            </a:r>
          </a:p>
        </p:txBody>
      </p:sp>
      <p:sp>
        <p:nvSpPr>
          <p:cNvPr id="9" name="TextBox 8"/>
          <p:cNvSpPr txBox="1"/>
          <p:nvPr/>
        </p:nvSpPr>
        <p:spPr>
          <a:xfrm>
            <a:off x="731520" y="2514600"/>
            <a:ext cx="10728655"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日本での知名度が低いため見送り</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定期実行28本目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これが意味すること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音楽制作の民主化</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専門知識がなくても曲を作れる</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声の活用範囲拡大</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自分の声を使った創作の選択肢が増える</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権利保護の重要性</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著作権チェックのような対策が前提になる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定期実行28本目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これは何を意味するのか(利用者にとって)</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自分の声や好きな曲の雰囲気をもとに、オリジナル曲を作れる選択肢が増えている</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一方で、著作権チェックのような安全対策が前提になっていることも押さえておきたい</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定期実行28本目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試すなら確認したいこと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何に使うか</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スタイル指定か、歌声生成かを決める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参照音声の準備</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10秒〜5分の参照音声を用意できるか確認</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著作権への配慮</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アップロードする音声・楽曲の権利関係を確認</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定期実行28本目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実際に試す場合の進め方(目安)</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①目的を決める</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スタイル指定か歌声生成かを明確にする</a:t>
            </a:r>
          </a:p>
        </p:txBody>
      </p:sp>
      <p:sp>
        <p:nvSpPr>
          <p:cNvPr id="11" name="Chevron 10"/>
          <p:cNvSpPr/>
          <p:nvPr/>
        </p:nvSpPr>
        <p:spPr>
          <a:xfrm>
            <a:off x="4038295"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②素材を用意する</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参照音声や使いたい声を準備する</a:t>
            </a:r>
          </a:p>
        </p:txBody>
      </p:sp>
      <p:sp>
        <p:nvSpPr>
          <p:cNvPr id="17" name="Chevron 16"/>
          <p:cNvSpPr/>
          <p:nvPr/>
        </p:nvSpPr>
        <p:spPr>
          <a:xfrm>
            <a:off x="7919313"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③著作権を確認する</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権利関係に問題がないか確認してから使う</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定期実行28本目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個人にとっての影響</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音楽制作の専門知識がなくても、AIを使ってオリジナル曲を作れる時代になってきている</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声を使った創作の選択肢が広がる一方、権利関係への意識も求められる</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定期実行28本目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不明点・注意点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ElevenMusicの具体的な料金体系は公開情報からは確認できなかった</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音声ライブラリの収録内容・ライセンス形態は非公開</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定期実行28本目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リスク配慮のポイント</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事実紹介に徹する</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企業の製品アップデートという事実を淡々と紹介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悪用方法には触れない</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声の生成技術の悪用方法の具体的な手順は扱わない</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推測は明示</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推測部分は「推測」と明言している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定期実行28本目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検品結果</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結果</a:t>
                      </a:r>
                    </a:p>
                  </a:txBody>
                  <a:tcPr>
                    <a:solidFill>
                      <a:srgbClr val="24523F"/>
                    </a:solidFill>
                  </a:tcPr>
                </a:tc>
              </a:tr>
              <a:tr h="502920">
                <a:tc>
                  <a:txBody>
                    <a:bodyPr/>
                    <a:lstStyle/>
                    <a:p>
                      <a:pPr>
                        <a:defRPr sz="1200">
                          <a:solidFill>
                            <a:srgbClr val="20261F"/>
                          </a:solidFill>
                          <a:latin typeface="Yu Gothic"/>
                        </a:defRPr>
                      </a:pPr>
                      <a:r>
                        <a:t>verify_pptx.py</a:t>
                      </a:r>
                    </a:p>
                  </a:txBody>
                  <a:tcPr>
                    <a:solidFill>
                      <a:srgbClr val="FFFFFF"/>
                    </a:solidFill>
                  </a:tcPr>
                </a:tc>
                <a:tc>
                  <a:txBody>
                    <a:bodyPr/>
                    <a:lstStyle/>
                    <a:p>
                      <a:pPr>
                        <a:defRPr sz="1200">
                          <a:solidFill>
                            <a:srgbClr val="20261F"/>
                          </a:solidFill>
                          <a:latin typeface="Yu Gothic"/>
                        </a:defRPr>
                      </a:pPr>
                      <a:r>
                        <a:t>合格</a:t>
                      </a:r>
                    </a:p>
                  </a:txBody>
                  <a:tcPr>
                    <a:solidFill>
                      <a:srgbClr val="FFFFFF"/>
                    </a:solidFill>
                  </a:tcPr>
                </a:tc>
              </a:tr>
              <a:tr h="502920">
                <a:tc>
                  <a:txBody>
                    <a:bodyPr/>
                    <a:lstStyle/>
                    <a:p>
                      <a:pPr>
                        <a:defRPr sz="1200">
                          <a:solidFill>
                            <a:srgbClr val="20261F"/>
                          </a:solidFill>
                          <a:latin typeface="Yu Gothic"/>
                        </a:defRPr>
                      </a:pPr>
                      <a:r>
                        <a:t>同一レイアウト連続チェック</a:t>
                      </a:r>
                    </a:p>
                  </a:txBody>
                  <a:tcPr>
                    <a:solidFill>
                      <a:srgbClr val="F4F1E6"/>
                    </a:solidFill>
                  </a:tcPr>
                </a:tc>
                <a:tc>
                  <a:txBody>
                    <a:bodyPr/>
                    <a:lstStyle/>
                    <a:p>
                      <a:pPr>
                        <a:defRPr sz="1200">
                          <a:solidFill>
                            <a:srgbClr val="20261F"/>
                          </a:solidFill>
                          <a:latin typeface="Yu Gothic"/>
                        </a:defRPr>
                      </a:pPr>
                      <a:r>
                        <a:t>合格</a:t>
                      </a:r>
                    </a:p>
                  </a:txBody>
                  <a:tcPr>
                    <a:solidFill>
                      <a:srgbClr val="F4F1E6"/>
                    </a:solidFill>
                  </a:tcPr>
                </a:tc>
              </a:tr>
              <a:tr h="502920">
                <a:tc>
                  <a:txBody>
                    <a:bodyPr/>
                    <a:lstStyle/>
                    <a:p>
                      <a:pPr>
                        <a:defRPr sz="1200">
                          <a:solidFill>
                            <a:srgbClr val="20261F"/>
                          </a:solidFill>
                          <a:latin typeface="Yu Gothic"/>
                        </a:defRPr>
                      </a:pPr>
                      <a:r>
                        <a:t>bullets比率チェック</a:t>
                      </a:r>
                    </a:p>
                  </a:txBody>
                  <a:tcPr>
                    <a:solidFill>
                      <a:srgbClr val="FFFFFF"/>
                    </a:solidFill>
                  </a:tcPr>
                </a:tc>
                <a:tc>
                  <a:txBody>
                    <a:bodyPr/>
                    <a:lstStyle/>
                    <a:p>
                      <a:pPr>
                        <a:defRPr sz="1200">
                          <a:solidFill>
                            <a:srgbClr val="20261F"/>
                          </a:solidFill>
                          <a:latin typeface="Yu Gothic"/>
                        </a:defRPr>
                      </a:pPr>
                      <a:r>
                        <a:t>合格</a:t>
                      </a:r>
                    </a:p>
                  </a:txBody>
                  <a:tcPr>
                    <a:solidFill>
                      <a:srgbClr val="FFFFFF"/>
                    </a:solidFill>
                  </a:tcPr>
                </a:tc>
              </a:tr>
              <a:tr h="502920">
                <a:tc>
                  <a:txBody>
                    <a:bodyPr/>
                    <a:lstStyle/>
                    <a:p>
                      <a:pPr>
                        <a:defRPr sz="1200">
                          <a:solidFill>
                            <a:srgbClr val="20261F"/>
                          </a:solidFill>
                          <a:latin typeface="Yu Gothic"/>
                        </a:defRPr>
                      </a:pPr>
                      <a:r>
                        <a:t>対話原稿スライド数整合性</a:t>
                      </a:r>
                    </a:p>
                  </a:txBody>
                  <a:tcPr>
                    <a:solidFill>
                      <a:srgbClr val="F4F1E6"/>
                    </a:solidFill>
                  </a:tcPr>
                </a:tc>
                <a:tc>
                  <a:txBody>
                    <a:bodyPr/>
                    <a:lstStyle/>
                    <a:p>
                      <a:pPr>
                        <a:defRPr sz="1200">
                          <a:solidFill>
                            <a:srgbClr val="20261F"/>
                          </a:solidFill>
                          <a:latin typeface="Yu Gothic"/>
                        </a:defRPr>
                      </a:pPr>
                      <a:r>
                        <a:t>合格</a:t>
                      </a:r>
                    </a:p>
                  </a:txBody>
                  <a:tcPr>
                    <a:solidFill>
                      <a:srgbClr val="F4F1E6"/>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定期実行28本目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出典一覧</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DigitalToday / TechCrunch</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ElevenLabs公式ドキュメント</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定期実行28本目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AI音楽生成は「作曲」から「歌声」まで対応範囲が広がっている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7DCC2"/>
                </a:solidFill>
                <a:latin typeface="Yu Gothic"/>
              </a:rPr>
              <a:t>References・Vocalsという2つの新機能で表現の幅が拡大</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4523F"/>
                </a:solidFill>
                <a:latin typeface="Yu Gothic"/>
              </a:rPr>
              <a:t>興味があれば、著作権に配慮しながら試してみる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次回予告</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AI音楽生成・声の技術は今後も続くテーマ</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次回も独立系メディアの報道をもとに紹介する</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定期実行28本目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ご視聴ありがとうございました</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7DCC2"/>
                </a:solidFill>
                <a:latin typeface="Yu Gothic"/>
              </a:rPr>
              <a:t>出典・詳細はresearch.mdと各スライドの出典表記を参照</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4523F"/>
                </a:solidFill>
                <a:latin typeface="Yu Gothic"/>
              </a:rPr>
              <a:t>質問・フィードバックはいつでもどうぞ</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