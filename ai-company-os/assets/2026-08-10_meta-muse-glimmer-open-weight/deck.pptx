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速度向上倍率(倍)</c:v>
                </c:pt>
              </c:strCache>
            </c:strRef>
          </c:tx>
          <c:spPr>
            <a:solidFill>
              <a:srgbClr val="2E2A72"/>
            </a:solidFill>
          </c:spPr>
          <c:cat>
            <c:strRef>
              <c:f>Sheet1!$A$2:$A$4</c:f>
              <c:strCache>
                <c:ptCount val="3"/>
                <c:pt idx="0">
                  <c:v>NVIDIA RTX 5090</c:v>
                </c:pt>
                <c:pt idx="1">
                  <c:v>Apple M5 Max</c:v>
                </c:pt>
                <c:pt idx="2">
                  <c:v>Apple M4 Max</c:v>
                </c:pt>
              </c:strCache>
            </c:strRef>
          </c:cat>
          <c:val>
            <c:numRef>
              <c:f>Sheet1!$B$2:$B$4</c:f>
              <c:numCache>
                <c:formatCode>General</c:formatCode>
                <c:ptCount val="3"/>
                <c:pt idx="0">
                  <c:v>3.1</c:v>
                </c:pt>
                <c:pt idx="1">
                  <c:v>1.8</c:v>
                </c:pt>
                <c:pt idx="2">
                  <c:v>1.5</c:v>
                </c:pt>
              </c:numCache>
            </c:numRef>
          </c:val>
        </c:ser>
        <c:dLbls>
          <c:numFmt formatCode="0.0&quot;倍&quot;" sourceLinked="0"/>
          <c:txPr>
            <a:bodyPr/>
            <a:lstStyle/>
            <a:p>
              <a:pPr>
                <a:defRPr sz="1200" b="1">
                  <a:solidFill>
                    <a:srgbClr val="2E2A72"/>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こんにちは。今日はMetaが2026年8月10日に発表した新しいAIモデル「Muse Glimmer」を取り上げます。24GBのコンシューマー向けGPU1枚で、複雑なAIエージェントタスクをこなせるモデルが、無償で公開されました。自分のノートPCでAIエージェントが動く、そんな時代の入り口を一緒に見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結論から話します。Muse Glimmerは、クラウドの巨大サーバーではなく、24GBのコンシューマー向けGPU1枚で動作するように設計されたAIエージェントモデルです。ここが今回いちばん驚くポイントで、この後じっくり数字とともに掘り下げ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この動画を見終える頃には、Muse Glimmerが何をしたモデルなのか、数字の裏付けとともに説明できるようになります。あわせて、まだ分かっていないことも隠さずお伝えします。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今このニュースなのか。発表は8月10日で、この動画の準備を始めた前日の出来事です。複数の独立系メディアがほぼ同時に報じており、話題性の裏付けもあります。業界の勢力図が動く事例として扱う価値があると判断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の流れです。まず発表の概要と報道のされ方を確認し、基礎知識を押さえたうえで、スペックと速度向上の数字を深掘りします。そのあと、既存シリーズとの違い、そして私たちにとって何を意味するのかま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この発表は一社だけでなく、Bloomberg・CNBC・TechCrunchといった大手から、MarkTechPostやPhoronixのような技術専門メディア、さらにYahoo Financeのような経済メディアまで、幅広く報じられました。それだけ注目度が高かったということです。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発表の要点を3つに絞ります。Metaとして初の専用オープンウェイト型モデルであること、Apache 2.0という無償かつ商用利用も可能なライセンスであること、そして発表を受けて株価が上昇したと報じられたことです。ただし変動幅の具体的な数字は報道からは確認できていません。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この発表は、業界の構図の中で見ると分かりやすくなります。OpenAIやAnthropicが非公開のプロプライエタリ路線を取る一方、Metaはオープンソース戦略を掲げてきました。Muse Glimmerの無償公開は、その戦略の延長線上にある動きだと報じられています。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用語を整理します。『オープンウェイトモデル』とは、AIモデルの重み(パラメータ)そのものを誰でもダウンロードできる形で公開したモデルのことです。データセットや学習コードまで含む『オープンソース』とは範囲が異なる場合がある点にも注意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もう一つの重要な用語が『エージェントAI』です。1回の質問応答で終わるチャットボットとは違い、複数ステップの推論・計画を自律的にこなし、必要に応じてツールを呼び出し、失敗しても自分で回復を試みる。そうした自律的な振る舞いをするAIを指し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Muse Glimmerは、既存モデルMuse Sparkから蒸留して作られています。蒸留とは、大きなモデルの能力をより軽量なモデルに引き継ぐ手法です。Muse Sparkの推論・ツール利用・マルチモーダル理解といった能力を引き継ぎつつ、コンシューマー向けGPUで動く軽さを実現しています。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Muse Glimmerは300億パラメータ、いわゆる30Bクラスの密(dense)モデルです。近年の最先端モデルと比べると決して最大規模ではありませんが、後で見るように、この規模だからこそコンシューマー向けGPU1枚での動作が現実的に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スペックを整理します。300億パラメータの密モデルを、4bit量子化とDFlash投機的デコーディングという2つの技術で軽量化・高速化し、24GBのコンシューマー向けGPU1枚に収めています。ライセンスはApache 2.0で無償公開です。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コンシューマー向けGPU1枚で動くのか。理由は大きく2つです。モデルのデータ量を圧縮する4bit量子化と、生成処理を高速化するDFlash投機的デコーディング。この2つの技術の組み合わせにより、24GBのGPU1枚という現実的な環境での動作が実現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Meta自身の測定によると、NVIDIA RTX 5090で3.1倍、Apple M5 Maxで1.8倍、Apple M4 Maxで1.5倍の速度向上が確認されたとのことです。ただし、これはMeta社の自社測定値であり、何と比較しての倍率か、詳しい測定条件は報道からは分かっていません。次のスライドから1つずつ見ていきます。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まずNVIDIA RTX 5090では3.1倍の速度向上が確認されたとMetaは発表しています。3機種の中でもっとも高い倍率です。ただし比較対象のモデルや測定条件は公開情報からは確認できていません。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Apple M5 Maxでは1.8倍の速度向上です。Appleのシリコンでも動作対象になっている点が、ノートPCでの利用を意識した設計であることを示しています。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Apple M4 Maxでは1.5倍の速度向上です。3機種すべてで速度向上が確認されており、GPUだけでなくApple Siliconのノートパソコンでも動作が意識されていることが伺えます。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3つの倍率は、いずれもMeta社が自社で測定した数値です。第三者機関による独立検証があったとは報じられていません。何と比較しての倍率なのか、どんな条件で測定したのかも公開情報からは分からないため、参考値として受け取るのが適切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Metaの『Muse』シリーズは、今回が初登場ではありません。7月にMuse Spark 1.1、8月上旬にMuse Code+Muse Spark 1.2と続き、そして今回のMuse Glimmerへとつながっています。次のスライドで、過去2回の発表と何が違うのかを整理します。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これまで2回、Meta Museシリーズを取り上げてきました。1回目はMuse Spark 1.1単体の発表、2回目はMuse Codeという専用コーディングエージェントと料金体系の変化でした。今回は『オープンウェイトでコンシューマーGPU上のローカル実行ができる』という、これまでとは異なる戦略軸を扱います。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利用条件を整理すると、ライセンスはApache 2.0で無償・商用利用も可能、必要なのは24GBのコンシューマー向けGPU1枚、そしてクラウド接続なしでローカル完結して動作します。ここまでが確定している事実です。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人にとっては、クラウドの利用料を気にせず、自分のPC上でAIエージェントを試せる可能性が広がります。ただし実際に動かすには24GB以上のVRAMを持つGPUが必要になるため、まずは自分の環境がその条件を満たすかを確認するところから始まり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企業や開発者にとっては、社外にデータを出したくない業務でのローカル活用や、クラウド費用ではなくハードウェア投資として運用コストを設計する選択肢が増えます。ただし実際に採用を検討する場合は、ライセンス条件やサポート体制、自社環境での性能の実測を必ず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される活用シーンを4つ挙げます。ネットワーク制限のある環境、データを社外に出せない業務、クラウド費用を抑えたい場合、そしてノートPCなど手元のデバイスでの活用です。あくまでモデルの技術特性から想定される用途であり、実際の利用実績はまだ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クラウド型とローカル完結型を比べると、それぞれ得意分野が異なります。クラウド型は高性能な大規模モデルを使える一方、ネットワークと従量課金が前提です。ローカル完結型はオフラインでも動き、データを外に出さずに処理できるのが強み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オープンウェイト公開には一般的に、独立した開発者が自由に検証・改良できる、特定企業への依存を減らせるといったメリットがある一方、公式サポートの手厚さや、運用・セキュリティ管理を利用者側が担う必要があるという留意点も指摘されます。これは特定の批判ではなく、一般的な考え方の整理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まだ分かっていないことを正直にまとめます。株価の具体的な変動幅、実際のダウンロード数、速度向上の比較条件、日本語での利用可否。いずれも本調査の範囲では確認できておらず、数字を推測で埋めることは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改めてお伝えします。この動画は特定の企業や製品の利用を強く推奨するものではなく、確認できた事実を整理してお届けしました。今後、一般提供の状況や第三者検証の結果が出てきたら、引き続き事実ベースで追いかけ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本編で扱った事実の出典一覧です。Bloomberg・CNBC・TechCrunchに加え、MarkTechPost・Phoronix・Open Source For Youといった技術専門メディア、そしてYahoo Financeを情報源としています。詳しい調査記録はresearch.mdにまとめています。最後までご覧いただきありがとうございました。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自分のノートPCで、</a:t>
            </a:r>
          </a:p>
          <a:p>
            <a:pPr algn="l">
              <a:lnSpc>
                <a:spcPct val="115000"/>
              </a:lnSpc>
            </a:pPr>
            <a:r>
              <a:rPr sz="4200" b="1">
                <a:solidFill>
                  <a:srgbClr val="FFFFFF"/>
                </a:solidFill>
                <a:latin typeface="Yu Gothic"/>
              </a:rPr>
              <a:t>AIエージェントが動く時代へ</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6D9F5"/>
                </a:solidFill>
                <a:latin typeface="Yu Gothic"/>
              </a:rPr>
              <a:t>Meta、初のオープンウェイト型エージェントAIモデル「Muse Glimmer」を無償公開(2026年8月10日)</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AEE0"/>
                </a:solidFill>
                <a:latin typeface="Yu Gothic"/>
              </a:rPr>
              <a:t>出典: Bloomberg・CNBC・TechCrunch・MarkTechPost・Phoronix・Open Source For You・Yahoo Finance(詳細は本編・出典一覧スライドで明記)</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今回の結論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GPU1枚</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24GBのコンシューマー向けGPU1枚で、Metaの新しいエージェントAIモデルがローカルで動作する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Bloomberg「Meta Releases Muse Glimmer AI Model People Can Run on Their Laptop」ほか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この動画で得られること</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Muse Glimmerが何を実現したモデルなのか、事実ベースで把握できる</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300億パラメータ・24GB GPU・速度向上の数字を出典付きで理解できる</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既存のMeta Museシリーズ(Spark 1.1、Muse Code+Spark 1.2)との違いが分かる</a:t>
            </a:r>
          </a:p>
        </p:txBody>
      </p:sp>
      <p:sp>
        <p:nvSpPr>
          <p:cNvPr id="12" name="Oval 11"/>
          <p:cNvSpPr/>
          <p:nvPr/>
        </p:nvSpPr>
        <p:spPr>
          <a:xfrm>
            <a:off x="457200" y="38130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オープンウェイト戦略が個人・企業にとって何を意味するか整理できる</a:t>
            </a:r>
          </a:p>
        </p:txBody>
      </p:sp>
      <p:sp>
        <p:nvSpPr>
          <p:cNvPr id="14" name="Oval 13"/>
          <p:cNvSpPr/>
          <p:nvPr/>
        </p:nvSpPr>
        <p:spPr>
          <a:xfrm>
            <a:off x="457200" y="459028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5" name="TextBox 14"/>
          <p:cNvSpPr txBox="1"/>
          <p:nvPr/>
        </p:nvSpPr>
        <p:spPr>
          <a:xfrm>
            <a:off x="960120" y="45720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現時点で不明な点(株価変動幅・ダウンロード数など)も正直に共有する</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 / CNBC / TechCrunch ほか(本編内で明記)</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なぜ今、このニュースを扱うのか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発表は2026年8月10日。この動画の制作着手(8月11日)から1日前という新しさ</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Bloomberg・CNBC・TechCrunchなど複数の独立系メディアが同時期に報道</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OpenAI・Anthropicのプロプライエタリ路線に対する、業界構図の変化を示す事例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ai-company-os/research/2026-08-11_theme-evaluation-round97.md</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 / CNBC / TechCrunch ほか(本編内で明記)</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本日の流れ</a:t>
            </a:r>
          </a:p>
        </p:txBody>
      </p:sp>
      <p:sp>
        <p:nvSpPr>
          <p:cNvPr id="5" name="Oval 4"/>
          <p:cNvSpPr/>
          <p:nvPr/>
        </p:nvSpPr>
        <p:spPr>
          <a:xfrm>
            <a:off x="548640" y="19202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6D9F5"/>
                </a:solidFill>
                <a:latin typeface="Yu Gothic"/>
              </a:rPr>
              <a:t>発表の概要と報道のされ方</a:t>
            </a:r>
          </a:p>
        </p:txBody>
      </p:sp>
      <p:sp>
        <p:nvSpPr>
          <p:cNvPr id="7" name="Oval 6"/>
          <p:cNvSpPr/>
          <p:nvPr/>
        </p:nvSpPr>
        <p:spPr>
          <a:xfrm>
            <a:off x="548640" y="269748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6D9F5"/>
                </a:solidFill>
                <a:latin typeface="Yu Gothic"/>
              </a:rPr>
              <a:t>基礎知識(オープンウェイト・エージェントAIとは)</a:t>
            </a:r>
          </a:p>
        </p:txBody>
      </p:sp>
      <p:sp>
        <p:nvSpPr>
          <p:cNvPr id="9" name="Oval 8"/>
          <p:cNvSpPr/>
          <p:nvPr/>
        </p:nvSpPr>
        <p:spPr>
          <a:xfrm>
            <a:off x="548640" y="347472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6D9F5"/>
                </a:solidFill>
                <a:latin typeface="Yu Gothic"/>
              </a:rPr>
              <a:t>スペックと技術の仕組み</a:t>
            </a:r>
          </a:p>
        </p:txBody>
      </p:sp>
      <p:sp>
        <p:nvSpPr>
          <p:cNvPr id="11" name="Oval 10"/>
          <p:cNvSpPr/>
          <p:nvPr/>
        </p:nvSpPr>
        <p:spPr>
          <a:xfrm>
            <a:off x="548640" y="425196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6D9F5"/>
                </a:solidFill>
                <a:latin typeface="Yu Gothic"/>
              </a:rPr>
              <a:t>速度向上の数字を深掘り</a:t>
            </a:r>
          </a:p>
        </p:txBody>
      </p:sp>
      <p:sp>
        <p:nvSpPr>
          <p:cNvPr id="13" name="Oval 12"/>
          <p:cNvSpPr/>
          <p:nvPr/>
        </p:nvSpPr>
        <p:spPr>
          <a:xfrm>
            <a:off x="548640" y="502920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6D9F5"/>
                </a:solidFill>
                <a:latin typeface="Yu Gothic"/>
              </a:rPr>
              <a:t>既存のMeta Museシリーズとの違い</a:t>
            </a:r>
          </a:p>
        </p:txBody>
      </p:sp>
      <p:sp>
        <p:nvSpPr>
          <p:cNvPr id="15" name="Oval 14"/>
          <p:cNvSpPr/>
          <p:nvPr/>
        </p:nvSpPr>
        <p:spPr>
          <a:xfrm>
            <a:off x="548640" y="58064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6D9F5"/>
                </a:solidFill>
                <a:latin typeface="Yu Gothic"/>
              </a:rPr>
              <a:t>個人・企業にとっての意味と注意点</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発表を報じた主要メディア</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2E2A72"/>
                    </a:solidFill>
                  </a:tcPr>
                </a:tc>
                <a:tc>
                  <a:txBody>
                    <a:bodyPr/>
                    <a:lstStyle/>
                    <a:p>
                      <a:pPr>
                        <a:defRPr sz="1300" b="1">
                          <a:solidFill>
                            <a:srgbClr val="FFFFFF"/>
                          </a:solidFill>
                          <a:latin typeface="Yu Gothic"/>
                        </a:defRPr>
                      </a:pPr>
                      <a:r>
                        <a:t>報道の要旨</a:t>
                      </a:r>
                    </a:p>
                  </a:txBody>
                  <a:tcPr>
                    <a:solidFill>
                      <a:srgbClr val="2E2A72"/>
                    </a:solidFill>
                  </a:tcPr>
                </a:tc>
              </a:tr>
              <a:tr h="502920">
                <a:tc>
                  <a:txBody>
                    <a:bodyPr/>
                    <a:lstStyle/>
                    <a:p>
                      <a:pPr>
                        <a:defRPr sz="1200">
                          <a:solidFill>
                            <a:srgbClr val="1C1B33"/>
                          </a:solidFill>
                          <a:latin typeface="Yu Gothic"/>
                        </a:defRPr>
                      </a:pPr>
                      <a:r>
                        <a:t>Bloomberg</a:t>
                      </a:r>
                    </a:p>
                  </a:txBody>
                  <a:tcPr>
                    <a:solidFill>
                      <a:srgbClr val="FFFFFF"/>
                    </a:solidFill>
                  </a:tcPr>
                </a:tc>
                <a:tc>
                  <a:txBody>
                    <a:bodyPr/>
                    <a:lstStyle/>
                    <a:p>
                      <a:pPr>
                        <a:defRPr sz="1200">
                          <a:solidFill>
                            <a:srgbClr val="1C1B33"/>
                          </a:solidFill>
                          <a:latin typeface="Yu Gothic"/>
                        </a:defRPr>
                      </a:pPr>
                      <a:r>
                        <a:t>自宅のノートPCでも動かせるAIモデルとして紹介</a:t>
                      </a:r>
                    </a:p>
                  </a:txBody>
                  <a:tcPr>
                    <a:solidFill>
                      <a:srgbClr val="FFFFFF"/>
                    </a:solidFill>
                  </a:tcPr>
                </a:tc>
              </a:tr>
              <a:tr h="502920">
                <a:tc>
                  <a:txBody>
                    <a:bodyPr/>
                    <a:lstStyle/>
                    <a:p>
                      <a:pPr>
                        <a:defRPr sz="1200">
                          <a:solidFill>
                            <a:srgbClr val="1C1B33"/>
                          </a:solidFill>
                          <a:latin typeface="Yu Gothic"/>
                        </a:defRPr>
                      </a:pPr>
                      <a:r>
                        <a:t>CNBC</a:t>
                      </a:r>
                    </a:p>
                  </a:txBody>
                  <a:tcPr>
                    <a:solidFill>
                      <a:srgbClr val="F4F3FC"/>
                    </a:solidFill>
                  </a:tcPr>
                </a:tc>
                <a:tc>
                  <a:txBody>
                    <a:bodyPr/>
                    <a:lstStyle/>
                    <a:p>
                      <a:pPr>
                        <a:defRPr sz="1200">
                          <a:solidFill>
                            <a:srgbClr val="1C1B33"/>
                          </a:solidFill>
                          <a:latin typeface="Yu Gothic"/>
                        </a:defRPr>
                      </a:pPr>
                      <a:r>
                        <a:t>Metaがオープンウェイト型AIモデルを公開したと報道</a:t>
                      </a:r>
                    </a:p>
                  </a:txBody>
                  <a:tcPr>
                    <a:solidFill>
                      <a:srgbClr val="F4F3FC"/>
                    </a:solidFill>
                  </a:tcPr>
                </a:tc>
              </a:tr>
              <a:tr h="502920">
                <a:tc>
                  <a:txBody>
                    <a:bodyPr/>
                    <a:lstStyle/>
                    <a:p>
                      <a:pPr>
                        <a:defRPr sz="1200">
                          <a:solidFill>
                            <a:srgbClr val="1C1B33"/>
                          </a:solidFill>
                          <a:latin typeface="Yu Gothic"/>
                        </a:defRPr>
                      </a:pPr>
                      <a:r>
                        <a:t>TechCrunch</a:t>
                      </a:r>
                    </a:p>
                  </a:txBody>
                  <a:tcPr>
                    <a:solidFill>
                      <a:srgbClr val="FFFFFF"/>
                    </a:solidFill>
                  </a:tcPr>
                </a:tc>
                <a:tc>
                  <a:txBody>
                    <a:bodyPr/>
                    <a:lstStyle/>
                    <a:p>
                      <a:pPr>
                        <a:defRPr sz="1200">
                          <a:solidFill>
                            <a:srgbClr val="1C1B33"/>
                          </a:solidFill>
                          <a:latin typeface="Yu Gothic"/>
                        </a:defRPr>
                      </a:pPr>
                      <a:r>
                        <a:t>Zuckerberg氏の『パーソナルインテリジェンス』構想のヒントと分析</a:t>
                      </a:r>
                    </a:p>
                  </a:txBody>
                  <a:tcPr>
                    <a:solidFill>
                      <a:srgbClr val="FFFFFF"/>
                    </a:solidFill>
                  </a:tcPr>
                </a:tc>
              </a:tr>
              <a:tr h="502920">
                <a:tc>
                  <a:txBody>
                    <a:bodyPr/>
                    <a:lstStyle/>
                    <a:p>
                      <a:pPr>
                        <a:defRPr sz="1200">
                          <a:solidFill>
                            <a:srgbClr val="1C1B33"/>
                          </a:solidFill>
                          <a:latin typeface="Yu Gothic"/>
                        </a:defRPr>
                      </a:pPr>
                      <a:r>
                        <a:t>MarkTechPost</a:t>
                      </a:r>
                    </a:p>
                  </a:txBody>
                  <a:tcPr>
                    <a:solidFill>
                      <a:srgbClr val="F4F3FC"/>
                    </a:solidFill>
                  </a:tcPr>
                </a:tc>
                <a:tc>
                  <a:txBody>
                    <a:bodyPr/>
                    <a:lstStyle/>
                    <a:p>
                      <a:pPr>
                        <a:defRPr sz="1200">
                          <a:solidFill>
                            <a:srgbClr val="1C1B33"/>
                          </a:solidFill>
                          <a:latin typeface="Yu Gothic"/>
                        </a:defRPr>
                      </a:pPr>
                      <a:r>
                        <a:t>技術詳細(量子化・投機的デコーディング)を解説</a:t>
                      </a:r>
                    </a:p>
                  </a:txBody>
                  <a:tcPr>
                    <a:solidFill>
                      <a:srgbClr val="F4F3FC"/>
                    </a:solidFill>
                  </a:tcPr>
                </a:tc>
              </a:tr>
              <a:tr h="502920">
                <a:tc>
                  <a:txBody>
                    <a:bodyPr/>
                    <a:lstStyle/>
                    <a:p>
                      <a:pPr>
                        <a:defRPr sz="1200">
                          <a:solidFill>
                            <a:srgbClr val="1C1B33"/>
                          </a:solidFill>
                          <a:latin typeface="Yu Gothic"/>
                        </a:defRPr>
                      </a:pPr>
                      <a:r>
                        <a:t>Phoronix</a:t>
                      </a:r>
                    </a:p>
                  </a:txBody>
                  <a:tcPr>
                    <a:solidFill>
                      <a:srgbClr val="FFFFFF"/>
                    </a:solidFill>
                  </a:tcPr>
                </a:tc>
                <a:tc>
                  <a:txBody>
                    <a:bodyPr/>
                    <a:lstStyle/>
                    <a:p>
                      <a:pPr>
                        <a:defRPr sz="1200">
                          <a:solidFill>
                            <a:srgbClr val="1C1B33"/>
                          </a:solidFill>
                          <a:latin typeface="Yu Gothic"/>
                        </a:defRPr>
                      </a:pPr>
                      <a:r>
                        <a:t>OSSコミュニティ視点で技術仕様を紹介</a:t>
                      </a:r>
                    </a:p>
                  </a:txBody>
                  <a:tcPr>
                    <a:solidFill>
                      <a:srgbClr val="FFFFFF"/>
                    </a:solidFill>
                  </a:tcPr>
                </a:tc>
              </a:tr>
              <a:tr h="502920">
                <a:tc>
                  <a:txBody>
                    <a:bodyPr/>
                    <a:lstStyle/>
                    <a:p>
                      <a:pPr>
                        <a:defRPr sz="1200">
                          <a:solidFill>
                            <a:srgbClr val="1C1B33"/>
                          </a:solidFill>
                          <a:latin typeface="Yu Gothic"/>
                        </a:defRPr>
                      </a:pPr>
                      <a:r>
                        <a:t>Yahoo Finance</a:t>
                      </a:r>
                    </a:p>
                  </a:txBody>
                  <a:tcPr>
                    <a:solidFill>
                      <a:srgbClr val="F4F3FC"/>
                    </a:solidFill>
                  </a:tcPr>
                </a:tc>
                <a:tc>
                  <a:txBody>
                    <a:bodyPr/>
                    <a:lstStyle/>
                    <a:p>
                      <a:pPr>
                        <a:defRPr sz="1200">
                          <a:solidFill>
                            <a:srgbClr val="1C1B33"/>
                          </a:solidFill>
                          <a:latin typeface="Yu Gothic"/>
                        </a:defRPr>
                      </a:pPr>
                      <a:r>
                        <a:t>発表を受けたMeta株価の反応を報道</a:t>
                      </a:r>
                    </a:p>
                  </a:txBody>
                  <a:tcPr>
                    <a:solidFill>
                      <a:srgbClr val="F4F3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各社報道(2026年8月10日前後)</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 / CNBC / TechCrunch ほか(本編内で明記)</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発表の要点3つ</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初</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専用オープンウェイト型</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Metaにとって初の専用オープンウェイト型エージェントAIモデル</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Apache 2.0</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無償公開</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商用利用も可能なオープンなライセンスの下で公開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株価反応</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市場の反応</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発表を受けMeta株価が上昇したと報道(具体的な変動幅は不明)</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Bloomberg・CNBC・Yahoo Financeほか</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 / CNBC / TechCrunch ほか(本編内で明記)</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業界の対立構図</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OpenAI・Anthropic</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プロプライエタリ(非公開)路線</a:t>
            </a:r>
          </a:p>
        </p:txBody>
      </p:sp>
      <p:sp>
        <p:nvSpPr>
          <p:cNvPr id="10" name="Right Arrow 9"/>
          <p:cNvSpPr/>
          <p:nvPr/>
        </p:nvSpPr>
        <p:spPr>
          <a:xfrm>
            <a:off x="41573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Meta</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オープンソース戦略</a:t>
            </a:r>
          </a:p>
        </p:txBody>
      </p:sp>
      <p:sp>
        <p:nvSpPr>
          <p:cNvPr id="15" name="Right Arrow 14"/>
          <p:cNvSpPr/>
          <p:nvPr/>
        </p:nvSpPr>
        <p:spPr>
          <a:xfrm>
            <a:off x="73577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Muse Glimmer</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オープンウェイトで無償公開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3628C"/>
                </a:solidFill>
                <a:latin typeface="Yu Gothic"/>
              </a:rPr>
              <a:t>Muse Glimmerは、Metaのオープンソース戦略の一環と位置づけられている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 / CNBC / TechCrunch ほか(本編内で明記)</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基礎知識:「オープンウェイトモデル」とは</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モデルの重み(パラメータ)を誰でもダウンロードして使えるように公開したモデル</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ソースコードやデータセットまで全て公開する『オープンソース』とは範囲が異なる場合がある</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手元の環境で動かせるため、クラウド利用料やネットワーク接続への依存を減らせる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 / CNBC / TechCrunch ほか(本編内で明記)</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基礎知識:「エージェントAI」とは</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1回の応答で終わらず、複数ステップの推論・計画を自律的に行うAI</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外部ツールの呼び出し(検索・ファイル操作など)を自律的に行う</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失敗した場合に自分で気づき、やり直す『失敗からの回復』も含む</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 / CNBC / TechCrunch ほか(本編内で明記)</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Muse Spark(蒸留元)とMuse Glimmer(蒸留後)</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Muse Spark(既存モデル)</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蒸留元となった既存のMetaモデル</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クラウド寄りの運用が前提</a:t>
            </a:r>
          </a:p>
        </p:txBody>
      </p:sp>
      <p:sp>
        <p:nvSpPr>
          <p:cNvPr id="13" name="Oval 12"/>
          <p:cNvSpPr/>
          <p:nvPr/>
        </p:nvSpPr>
        <p:spPr>
          <a:xfrm>
            <a:off x="777240"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Muse Glimmerの土台となる知識・能力を持つ</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Muse Glimmer(新モデル)</a:t>
            </a:r>
          </a:p>
        </p:txBody>
      </p:sp>
      <p:sp>
        <p:nvSpPr>
          <p:cNvPr id="18" name="Oval 17"/>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Muse Sparkから蒸留された新モデル</a:t>
            </a:r>
          </a:p>
        </p:txBody>
      </p:sp>
      <p:sp>
        <p:nvSpPr>
          <p:cNvPr id="20" name="Oval 19"/>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4bit量子化+DFlash投機的デコーディングで軽量化</a:t>
            </a:r>
          </a:p>
        </p:txBody>
      </p:sp>
      <p:sp>
        <p:nvSpPr>
          <p:cNvPr id="22" name="Oval 21"/>
          <p:cNvSpPr/>
          <p:nvPr/>
        </p:nvSpPr>
        <p:spPr>
          <a:xfrm>
            <a:off x="6598767"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24GBのコンシューマー向けGPU1枚で動作</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 / CNBC / TechCrunch ほか(本編内で明記)</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モデルの規模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300億</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パラメータ規模(30B)の密(dense)モデル</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MarkTechPost・Phoronixほか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スペック早見表</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パラメータ数</a:t>
                      </a:r>
                    </a:p>
                  </a:txBody>
                  <a:tcPr>
                    <a:solidFill>
                      <a:srgbClr val="FFFFFF"/>
                    </a:solidFill>
                  </a:tcPr>
                </a:tc>
                <a:tc>
                  <a:txBody>
                    <a:bodyPr/>
                    <a:lstStyle/>
                    <a:p>
                      <a:pPr>
                        <a:defRPr sz="1200">
                          <a:solidFill>
                            <a:srgbClr val="1C1B33"/>
                          </a:solidFill>
                          <a:latin typeface="Yu Gothic"/>
                        </a:defRPr>
                      </a:pPr>
                      <a:r>
                        <a:t>300億(30B)、密(dense)モデル</a:t>
                      </a:r>
                    </a:p>
                  </a:txBody>
                  <a:tcPr>
                    <a:solidFill>
                      <a:srgbClr val="FFFFFF"/>
                    </a:solidFill>
                  </a:tcPr>
                </a:tc>
              </a:tr>
              <a:tr h="502920">
                <a:tc>
                  <a:txBody>
                    <a:bodyPr/>
                    <a:lstStyle/>
                    <a:p>
                      <a:pPr>
                        <a:defRPr sz="1200">
                          <a:solidFill>
                            <a:srgbClr val="1C1B33"/>
                          </a:solidFill>
                          <a:latin typeface="Yu Gothic"/>
                        </a:defRPr>
                      </a:pPr>
                      <a:r>
                        <a:t>量子化</a:t>
                      </a:r>
                    </a:p>
                  </a:txBody>
                  <a:tcPr>
                    <a:solidFill>
                      <a:srgbClr val="F4F3FC"/>
                    </a:solidFill>
                  </a:tcPr>
                </a:tc>
                <a:tc>
                  <a:txBody>
                    <a:bodyPr/>
                    <a:lstStyle/>
                    <a:p>
                      <a:pPr>
                        <a:defRPr sz="1200">
                          <a:solidFill>
                            <a:srgbClr val="1C1B33"/>
                          </a:solidFill>
                          <a:latin typeface="Yu Gothic"/>
                        </a:defRPr>
                      </a:pPr>
                      <a:r>
                        <a:t>4bit量子化</a:t>
                      </a:r>
                    </a:p>
                  </a:txBody>
                  <a:tcPr>
                    <a:solidFill>
                      <a:srgbClr val="F4F3FC"/>
                    </a:solidFill>
                  </a:tcPr>
                </a:tc>
              </a:tr>
              <a:tr h="502920">
                <a:tc>
                  <a:txBody>
                    <a:bodyPr/>
                    <a:lstStyle/>
                    <a:p>
                      <a:pPr>
                        <a:defRPr sz="1200">
                          <a:solidFill>
                            <a:srgbClr val="1C1B33"/>
                          </a:solidFill>
                          <a:latin typeface="Yu Gothic"/>
                        </a:defRPr>
                      </a:pPr>
                      <a:r>
                        <a:t>デコーディング方式</a:t>
                      </a:r>
                    </a:p>
                  </a:txBody>
                  <a:tcPr>
                    <a:solidFill>
                      <a:srgbClr val="FFFFFF"/>
                    </a:solidFill>
                  </a:tcPr>
                </a:tc>
                <a:tc>
                  <a:txBody>
                    <a:bodyPr/>
                    <a:lstStyle/>
                    <a:p>
                      <a:pPr>
                        <a:defRPr sz="1200">
                          <a:solidFill>
                            <a:srgbClr val="1C1B33"/>
                          </a:solidFill>
                          <a:latin typeface="Yu Gothic"/>
                        </a:defRPr>
                      </a:pPr>
                      <a:r>
                        <a:t>DFlash投機的デコーディング</a:t>
                      </a:r>
                    </a:p>
                  </a:txBody>
                  <a:tcPr>
                    <a:solidFill>
                      <a:srgbClr val="FFFFFF"/>
                    </a:solidFill>
                  </a:tcPr>
                </a:tc>
              </a:tr>
              <a:tr h="502920">
                <a:tc>
                  <a:txBody>
                    <a:bodyPr/>
                    <a:lstStyle/>
                    <a:p>
                      <a:pPr>
                        <a:defRPr sz="1200">
                          <a:solidFill>
                            <a:srgbClr val="1C1B33"/>
                          </a:solidFill>
                          <a:latin typeface="Yu Gothic"/>
                        </a:defRPr>
                      </a:pPr>
                      <a:r>
                        <a:t>必要VRAM</a:t>
                      </a:r>
                    </a:p>
                  </a:txBody>
                  <a:tcPr>
                    <a:solidFill>
                      <a:srgbClr val="F4F3FC"/>
                    </a:solidFill>
                  </a:tcPr>
                </a:tc>
                <a:tc>
                  <a:txBody>
                    <a:bodyPr/>
                    <a:lstStyle/>
                    <a:p>
                      <a:pPr>
                        <a:defRPr sz="1200">
                          <a:solidFill>
                            <a:srgbClr val="1C1B33"/>
                          </a:solidFill>
                          <a:latin typeface="Yu Gothic"/>
                        </a:defRPr>
                      </a:pPr>
                      <a:r>
                        <a:t>24GBのコンシューマー向けGPU1枚</a:t>
                      </a:r>
                    </a:p>
                  </a:txBody>
                  <a:tcPr>
                    <a:solidFill>
                      <a:srgbClr val="F4F3FC"/>
                    </a:solidFill>
                  </a:tcPr>
                </a:tc>
              </a:tr>
              <a:tr h="502920">
                <a:tc>
                  <a:txBody>
                    <a:bodyPr/>
                    <a:lstStyle/>
                    <a:p>
                      <a:pPr>
                        <a:defRPr sz="1200">
                          <a:solidFill>
                            <a:srgbClr val="1C1B33"/>
                          </a:solidFill>
                          <a:latin typeface="Yu Gothic"/>
                        </a:defRPr>
                      </a:pPr>
                      <a:r>
                        <a:t>ライセンス</a:t>
                      </a:r>
                    </a:p>
                  </a:txBody>
                  <a:tcPr>
                    <a:solidFill>
                      <a:srgbClr val="FFFFFF"/>
                    </a:solidFill>
                  </a:tcPr>
                </a:tc>
                <a:tc>
                  <a:txBody>
                    <a:bodyPr/>
                    <a:lstStyle/>
                    <a:p>
                      <a:pPr>
                        <a:defRPr sz="1200">
                          <a:solidFill>
                            <a:srgbClr val="1C1B33"/>
                          </a:solidFill>
                          <a:latin typeface="Yu Gothic"/>
                        </a:defRPr>
                      </a:pPr>
                      <a:r>
                        <a:t>Apache 2.0(無償公開)</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MarkTechPost・Phoronix・Open Source For Youほか</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 / CNBC / TechCrunch ほか(本編内で明記)</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コンシューマーGPUで動く仕組み</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4bit量子化</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モデルサイズを圧縮</a:t>
            </a:r>
          </a:p>
        </p:txBody>
      </p:sp>
      <p:sp>
        <p:nvSpPr>
          <p:cNvPr id="10" name="Right Arrow 9"/>
          <p:cNvSpPr/>
          <p:nvPr/>
        </p:nvSpPr>
        <p:spPr>
          <a:xfrm>
            <a:off x="41573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DFlash投機的デコーディング</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生成処理を高速化</a:t>
            </a:r>
          </a:p>
        </p:txBody>
      </p:sp>
      <p:sp>
        <p:nvSpPr>
          <p:cNvPr id="15" name="Right Arrow 14"/>
          <p:cNvSpPr/>
          <p:nvPr/>
        </p:nvSpPr>
        <p:spPr>
          <a:xfrm>
            <a:off x="73577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24GB GPU1枚で動作</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コンシューマー向けハードウェアで完結</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3628C"/>
                </a:solidFill>
                <a:latin typeface="Yu Gothic"/>
              </a:rPr>
              <a:t>2つの技術の組み合わせで、クラウド不要のローカル動作を実現</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 / CNBC / TechCrunch ほか(本編内で明記)</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3機種での速度向上倍率</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Meta社測定値(比較対象・測定条件の詳細は不明)</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 / CNBC / TechCrunch ほか(本編内で明記)</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NVIDIA RTX 5090での速度向上</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3.1倍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Meta測定による速度向上(比較対象・測定条件の詳細は不明)</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MarkTechPost・Phoronixほか(Meta社測定値)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Apple M5 Maxでの速度向上</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1.8倍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Meta測定による速度向上(比較対象・測定条件の詳細は不明)</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MarkTechPost・Phoronixほか(Meta社測定値)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Apple M4 Maxでの速度向上</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1.5倍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Meta測定による速度向上(比較対象・測定条件の詳細は不明)</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MarkTechPost・Phoronixほか(Meta社測定値)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この数字を見るときの注意点</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3つの倍率はいずれもMeta社の自社測定値で、第三者による独立検証は確認できていない</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『何と比較して』の倍率かという比較対象モデルは公開情報では不明</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プロンプトの種類・入出力の長さなど、詳しい測定条件も不明</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 / CNBC / TechCrunch ほか(本編内で明記)</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Meta Museラインの歩み</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2026年7月</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Muse Spark 1.1を発表(既存テーマ24本目)</a:t>
            </a:r>
          </a:p>
        </p:txBody>
      </p:sp>
      <p:sp>
        <p:nvSpPr>
          <p:cNvPr id="11" name="Chevron 10"/>
          <p:cNvSpPr/>
          <p:nvPr/>
        </p:nvSpPr>
        <p:spPr>
          <a:xfrm>
            <a:off x="4038295"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2026年8月上旬</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Muse Code+Muse Spark 1.2を発表(既存テーマ158本目)</a:t>
            </a:r>
          </a:p>
        </p:txBody>
      </p:sp>
      <p:sp>
        <p:nvSpPr>
          <p:cNvPr id="17" name="Chevron 16"/>
          <p:cNvSpPr/>
          <p:nvPr/>
        </p:nvSpPr>
        <p:spPr>
          <a:xfrm>
            <a:off x="7919313"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2026年8月10日</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Muse Glimmerをオープンウェイトで無償公開(本テーマ)</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 / CNBC / TechCrunch ほか(本編内で明記)</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既存2テーマとの違い</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2819323"/>
                <a:gridCol w="2819323"/>
                <a:gridCol w="2819323"/>
                <a:gridCol w="2819326"/>
              </a:tblGrid>
              <a:tr h="502920">
                <a:tc>
                  <a:txBody>
                    <a:bodyPr/>
                    <a:lstStyle/>
                    <a:p>
                      <a:pPr>
                        <a:defRPr sz="1300" b="1">
                          <a:solidFill>
                            <a:srgbClr val="FFFFFF"/>
                          </a:solidFill>
                          <a:latin typeface="Yu Gothic"/>
                        </a:defRPr>
                      </a:pPr>
                      <a:r>
                        <a:t>テーマ</a:t>
                      </a:r>
                    </a:p>
                  </a:txBody>
                  <a:tcPr>
                    <a:solidFill>
                      <a:srgbClr val="2E2A72"/>
                    </a:solidFill>
                  </a:tcPr>
                </a:tc>
                <a:tc>
                  <a:txBody>
                    <a:bodyPr/>
                    <a:lstStyle/>
                    <a:p>
                      <a:pPr>
                        <a:defRPr sz="1300" b="1">
                          <a:solidFill>
                            <a:srgbClr val="FFFFFF"/>
                          </a:solidFill>
                          <a:latin typeface="Yu Gothic"/>
                        </a:defRPr>
                      </a:pPr>
                      <a:r>
                        <a:t>発表日</a:t>
                      </a:r>
                    </a:p>
                  </a:txBody>
                  <a:tcPr>
                    <a:solidFill>
                      <a:srgbClr val="2E2A72"/>
                    </a:solidFill>
                  </a:tcPr>
                </a:tc>
                <a:tc>
                  <a:txBody>
                    <a:bodyPr/>
                    <a:lstStyle/>
                    <a:p>
                      <a:pPr>
                        <a:defRPr sz="1300" b="1">
                          <a:solidFill>
                            <a:srgbClr val="FFFFFF"/>
                          </a:solidFill>
                          <a:latin typeface="Yu Gothic"/>
                        </a:defRPr>
                      </a:pPr>
                      <a:r>
                        <a:t>中心となる製品</a:t>
                      </a:r>
                    </a:p>
                  </a:txBody>
                  <a:tcPr>
                    <a:solidFill>
                      <a:srgbClr val="2E2A72"/>
                    </a:solidFill>
                  </a:tcPr>
                </a:tc>
                <a:tc>
                  <a:txBody>
                    <a:bodyPr/>
                    <a:lstStyle/>
                    <a:p>
                      <a:pPr>
                        <a:defRPr sz="1300" b="1">
                          <a:solidFill>
                            <a:srgbClr val="FFFFFF"/>
                          </a:solidFill>
                          <a:latin typeface="Yu Gothic"/>
                        </a:defRPr>
                      </a:pPr>
                      <a:r>
                        <a:t>フック</a:t>
                      </a:r>
                    </a:p>
                  </a:txBody>
                  <a:tcPr>
                    <a:solidFill>
                      <a:srgbClr val="2E2A72"/>
                    </a:solidFill>
                  </a:tcPr>
                </a:tc>
              </a:tr>
              <a:tr h="502920">
                <a:tc>
                  <a:txBody>
                    <a:bodyPr/>
                    <a:lstStyle/>
                    <a:p>
                      <a:pPr>
                        <a:defRPr sz="1200">
                          <a:solidFill>
                            <a:srgbClr val="1C1B33"/>
                          </a:solidFill>
                          <a:latin typeface="Yu Gothic"/>
                        </a:defRPr>
                      </a:pPr>
                      <a:r>
                        <a:t>24本目(既存)</a:t>
                      </a:r>
                    </a:p>
                  </a:txBody>
                  <a:tcPr>
                    <a:solidFill>
                      <a:srgbClr val="FFFFFF"/>
                    </a:solidFill>
                  </a:tcPr>
                </a:tc>
                <a:tc>
                  <a:txBody>
                    <a:bodyPr/>
                    <a:lstStyle/>
                    <a:p>
                      <a:pPr>
                        <a:defRPr sz="1200">
                          <a:solidFill>
                            <a:srgbClr val="1C1B33"/>
                          </a:solidFill>
                          <a:latin typeface="Yu Gothic"/>
                        </a:defRPr>
                      </a:pPr>
                      <a:r>
                        <a:t>2026年7月9日</a:t>
                      </a:r>
                    </a:p>
                  </a:txBody>
                  <a:tcPr>
                    <a:solidFill>
                      <a:srgbClr val="FFFFFF"/>
                    </a:solidFill>
                  </a:tcPr>
                </a:tc>
                <a:tc>
                  <a:txBody>
                    <a:bodyPr/>
                    <a:lstStyle/>
                    <a:p>
                      <a:pPr>
                        <a:defRPr sz="1200">
                          <a:solidFill>
                            <a:srgbClr val="1C1B33"/>
                          </a:solidFill>
                          <a:latin typeface="Yu Gothic"/>
                        </a:defRPr>
                      </a:pPr>
                      <a:r>
                        <a:t>Muse Spark 1.1(モデル単体)</a:t>
                      </a:r>
                    </a:p>
                  </a:txBody>
                  <a:tcPr>
                    <a:solidFill>
                      <a:srgbClr val="FFFFFF"/>
                    </a:solidFill>
                  </a:tcPr>
                </a:tc>
                <a:tc>
                  <a:txBody>
                    <a:bodyPr/>
                    <a:lstStyle/>
                    <a:p>
                      <a:pPr>
                        <a:defRPr sz="1200">
                          <a:solidFill>
                            <a:srgbClr val="1C1B33"/>
                          </a:solidFill>
                          <a:latin typeface="Yu Gothic"/>
                        </a:defRPr>
                      </a:pPr>
                      <a:r>
                        <a:t>Zuckerberg氏の3年ぶりのX投稿</a:t>
                      </a:r>
                    </a:p>
                  </a:txBody>
                  <a:tcPr>
                    <a:solidFill>
                      <a:srgbClr val="FFFFFF"/>
                    </a:solidFill>
                  </a:tcPr>
                </a:tc>
              </a:tr>
              <a:tr h="502920">
                <a:tc>
                  <a:txBody>
                    <a:bodyPr/>
                    <a:lstStyle/>
                    <a:p>
                      <a:pPr>
                        <a:defRPr sz="1200">
                          <a:solidFill>
                            <a:srgbClr val="1C1B33"/>
                          </a:solidFill>
                          <a:latin typeface="Yu Gothic"/>
                        </a:defRPr>
                      </a:pPr>
                      <a:r>
                        <a:t>158本目(既存)</a:t>
                      </a:r>
                    </a:p>
                  </a:txBody>
                  <a:tcPr>
                    <a:solidFill>
                      <a:srgbClr val="F4F3FC"/>
                    </a:solidFill>
                  </a:tcPr>
                </a:tc>
                <a:tc>
                  <a:txBody>
                    <a:bodyPr/>
                    <a:lstStyle/>
                    <a:p>
                      <a:pPr>
                        <a:defRPr sz="1200">
                          <a:solidFill>
                            <a:srgbClr val="1C1B33"/>
                          </a:solidFill>
                          <a:latin typeface="Yu Gothic"/>
                        </a:defRPr>
                      </a:pPr>
                      <a:r>
                        <a:t>2026年8月5〜7日</a:t>
                      </a:r>
                    </a:p>
                  </a:txBody>
                  <a:tcPr>
                    <a:solidFill>
                      <a:srgbClr val="F4F3FC"/>
                    </a:solidFill>
                  </a:tcPr>
                </a:tc>
                <a:tc>
                  <a:txBody>
                    <a:bodyPr/>
                    <a:lstStyle/>
                    <a:p>
                      <a:pPr>
                        <a:defRPr sz="1200">
                          <a:solidFill>
                            <a:srgbClr val="1C1B33"/>
                          </a:solidFill>
                          <a:latin typeface="Yu Gothic"/>
                        </a:defRPr>
                      </a:pPr>
                      <a:r>
                        <a:t>Muse Code+Muse Spark 1.2</a:t>
                      </a:r>
                    </a:p>
                  </a:txBody>
                  <a:tcPr>
                    <a:solidFill>
                      <a:srgbClr val="F4F3FC"/>
                    </a:solidFill>
                  </a:tcPr>
                </a:tc>
                <a:tc>
                  <a:txBody>
                    <a:bodyPr/>
                    <a:lstStyle/>
                    <a:p>
                      <a:pPr>
                        <a:defRPr sz="1200">
                          <a:solidFill>
                            <a:srgbClr val="1C1B33"/>
                          </a:solidFill>
                          <a:latin typeface="Yu Gothic"/>
                        </a:defRPr>
                      </a:pPr>
                      <a:r>
                        <a:t>学習データ提供と引き換えの割引料金体系</a:t>
                      </a:r>
                    </a:p>
                  </a:txBody>
                  <a:tcPr>
                    <a:solidFill>
                      <a:srgbClr val="F4F3FC"/>
                    </a:solidFill>
                  </a:tcPr>
                </a:tc>
              </a:tr>
              <a:tr h="502920">
                <a:tc>
                  <a:txBody>
                    <a:bodyPr/>
                    <a:lstStyle/>
                    <a:p>
                      <a:pPr>
                        <a:defRPr sz="1200">
                          <a:solidFill>
                            <a:srgbClr val="1C1B33"/>
                          </a:solidFill>
                          <a:latin typeface="Yu Gothic"/>
                        </a:defRPr>
                      </a:pPr>
                      <a:r>
                        <a:t>本テーマ(163本目)</a:t>
                      </a:r>
                    </a:p>
                  </a:txBody>
                  <a:tcPr>
                    <a:solidFill>
                      <a:srgbClr val="FFFFFF"/>
                    </a:solidFill>
                  </a:tcPr>
                </a:tc>
                <a:tc>
                  <a:txBody>
                    <a:bodyPr/>
                    <a:lstStyle/>
                    <a:p>
                      <a:pPr>
                        <a:defRPr sz="1200">
                          <a:solidFill>
                            <a:srgbClr val="1C1B33"/>
                          </a:solidFill>
                          <a:latin typeface="Yu Gothic"/>
                        </a:defRPr>
                      </a:pPr>
                      <a:r>
                        <a:t>2026年8月10日</a:t>
                      </a:r>
                    </a:p>
                  </a:txBody>
                  <a:tcPr>
                    <a:solidFill>
                      <a:srgbClr val="FFFFFF"/>
                    </a:solidFill>
                  </a:tcPr>
                </a:tc>
                <a:tc>
                  <a:txBody>
                    <a:bodyPr/>
                    <a:lstStyle/>
                    <a:p>
                      <a:pPr>
                        <a:defRPr sz="1200">
                          <a:solidFill>
                            <a:srgbClr val="1C1B33"/>
                          </a:solidFill>
                          <a:latin typeface="Yu Gothic"/>
                        </a:defRPr>
                      </a:pPr>
                      <a:r>
                        <a:t>Muse Glimmer(オープンウェイト)</a:t>
                      </a:r>
                    </a:p>
                  </a:txBody>
                  <a:tcPr>
                    <a:solidFill>
                      <a:srgbClr val="FFFFFF"/>
                    </a:solidFill>
                  </a:tcPr>
                </a:tc>
                <a:tc>
                  <a:txBody>
                    <a:bodyPr/>
                    <a:lstStyle/>
                    <a:p>
                      <a:pPr>
                        <a:defRPr sz="1200">
                          <a:solidFill>
                            <a:srgbClr val="1C1B33"/>
                          </a:solidFill>
                          <a:latin typeface="Yu Gothic"/>
                        </a:defRPr>
                      </a:pPr>
                      <a:r>
                        <a:t>『自分のノートPCでAIエージェントが動く』という具体性</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 / CNBC / TechCrunch ほか(本編内で明記)</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ライセンス・価格・必要環境</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Apache 2.0</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ライセンス</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無償、商用利用も可能なオープンなライセンス</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24GB</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必要VRAM</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コンシューマー向けGPU1枚で動作</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オフライン</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動作環境</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クラウドインフラ・ネットワーク接続なしでローカル完結</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 / CNBC / TechCrunch ほか(本編内で明記)</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個人にとって何を意味するか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個人が所有するPC上で、自律的なエージェントタスクを試せる可能性が広がる</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クラウドAPIの利用料を気にせずローカルで試作・学習ができる余地がある</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実際に試す場合は、24GB以上のVRAMを持つGPUの有無をまず確認する必要がある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 / CNBC / TechCrunch ほか(本編内で明記)</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企業・開発者にとって何を意味するか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社外にデータを出したくない業務でのローカルAIエージェント活用を検討できる</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クラウド費用ではなくハードウェア投資でAIエージェント運用を設計する選択肢が増える</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検討時は、ライセンス条件・サポート体制・性能の実測を自社環境で確認する必要がある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 / CNBC / TechCrunch ほか(本編内で明記)</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想定される活用シーン</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822960"/>
          </a:xfrm>
          <a:prstGeom prst="rect">
            <a:avLst/>
          </a:prstGeom>
          <a:noFill/>
        </p:spPr>
        <p:txBody>
          <a:bodyPr wrap="square" anchor="t" lIns="0" rIns="0" tIns="0" bIns="0">
            <a:spAutoFit/>
          </a:bodyPr>
          <a:lstStyle/>
          <a:p>
            <a:pPr algn="l"/>
            <a:r>
              <a:rPr sz="3400" b="1">
                <a:solidFill>
                  <a:srgbClr val="17C3B2"/>
                </a:solidFill>
                <a:latin typeface="Yu Gothic"/>
              </a:rPr>
              <a:t>オフライン</a:t>
            </a:r>
          </a:p>
        </p:txBody>
      </p:sp>
      <p:sp>
        <p:nvSpPr>
          <p:cNvPr id="9" name="TextBox 8"/>
          <p:cNvSpPr txBox="1"/>
          <p:nvPr/>
        </p:nvSpPr>
        <p:spPr>
          <a:xfrm>
            <a:off x="731520" y="2834640"/>
            <a:ext cx="2030653" cy="548640"/>
          </a:xfrm>
          <a:prstGeom prst="rect">
            <a:avLst/>
          </a:prstGeom>
          <a:noFill/>
        </p:spPr>
        <p:txBody>
          <a:bodyPr wrap="square" anchor="t" lIns="0" rIns="0" tIns="0" bIns="0">
            <a:spAutoFit/>
          </a:bodyPr>
          <a:lstStyle/>
          <a:p>
            <a:pPr algn="l"/>
            <a:r>
              <a:rPr sz="1600" b="1">
                <a:solidFill>
                  <a:srgbClr val="2E2A72"/>
                </a:solidFill>
                <a:latin typeface="Yu Gothic"/>
              </a:rPr>
              <a:t>ネットワーク制限環境</a:t>
            </a:r>
          </a:p>
        </p:txBody>
      </p:sp>
      <p:sp>
        <p:nvSpPr>
          <p:cNvPr id="10" name="TextBox 9"/>
          <p:cNvSpPr txBox="1"/>
          <p:nvPr/>
        </p:nvSpPr>
        <p:spPr>
          <a:xfrm>
            <a:off x="731520" y="3520440"/>
            <a:ext cx="2030653"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クラウド接続が難しい環境での自律エージェント活用</a:t>
            </a:r>
          </a:p>
        </p:txBody>
      </p:sp>
      <p:sp>
        <p:nvSpPr>
          <p:cNvPr id="11" name="Rounded Rectangle 10"/>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56533" y="1554480"/>
            <a:ext cx="2579293"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853" y="1828800"/>
            <a:ext cx="2030653" cy="822960"/>
          </a:xfrm>
          <a:prstGeom prst="rect">
            <a:avLst/>
          </a:prstGeom>
          <a:noFill/>
        </p:spPr>
        <p:txBody>
          <a:bodyPr wrap="square" anchor="t" lIns="0" rIns="0" tIns="0" bIns="0">
            <a:spAutoFit/>
          </a:bodyPr>
          <a:lstStyle/>
          <a:p>
            <a:pPr algn="l"/>
            <a:r>
              <a:rPr sz="3400" b="1">
                <a:solidFill>
                  <a:srgbClr val="17C3B2"/>
                </a:solidFill>
                <a:latin typeface="Yu Gothic"/>
              </a:rPr>
              <a:t>プライバシー</a:t>
            </a:r>
          </a:p>
        </p:txBody>
      </p:sp>
      <p:sp>
        <p:nvSpPr>
          <p:cNvPr id="14" name="TextBox 13"/>
          <p:cNvSpPr txBox="1"/>
          <p:nvPr/>
        </p:nvSpPr>
        <p:spPr>
          <a:xfrm>
            <a:off x="3630853" y="2834640"/>
            <a:ext cx="2030653" cy="548640"/>
          </a:xfrm>
          <a:prstGeom prst="rect">
            <a:avLst/>
          </a:prstGeom>
          <a:noFill/>
        </p:spPr>
        <p:txBody>
          <a:bodyPr wrap="square" anchor="t" lIns="0" rIns="0" tIns="0" bIns="0">
            <a:spAutoFit/>
          </a:bodyPr>
          <a:lstStyle/>
          <a:p>
            <a:pPr algn="l"/>
            <a:r>
              <a:rPr sz="1600" b="1">
                <a:solidFill>
                  <a:srgbClr val="2E2A72"/>
                </a:solidFill>
                <a:latin typeface="Yu Gothic"/>
              </a:rPr>
              <a:t>データ非公開業務</a:t>
            </a:r>
          </a:p>
        </p:txBody>
      </p:sp>
      <p:sp>
        <p:nvSpPr>
          <p:cNvPr id="15" name="TextBox 14"/>
          <p:cNvSpPr txBox="1"/>
          <p:nvPr/>
        </p:nvSpPr>
        <p:spPr>
          <a:xfrm>
            <a:off x="3630853" y="3520440"/>
            <a:ext cx="2030653"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社外にデータを出せない業務でのローカル処理</a:t>
            </a:r>
          </a:p>
        </p:txBody>
      </p:sp>
      <p:sp>
        <p:nvSpPr>
          <p:cNvPr id="16" name="Rounded Rectangle 15"/>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55867" y="1554480"/>
            <a:ext cx="2579293"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0187" y="1828800"/>
            <a:ext cx="2030653" cy="822960"/>
          </a:xfrm>
          <a:prstGeom prst="rect">
            <a:avLst/>
          </a:prstGeom>
          <a:noFill/>
        </p:spPr>
        <p:txBody>
          <a:bodyPr wrap="square" anchor="t" lIns="0" rIns="0" tIns="0" bIns="0">
            <a:spAutoFit/>
          </a:bodyPr>
          <a:lstStyle/>
          <a:p>
            <a:pPr algn="l"/>
            <a:r>
              <a:rPr sz="3400" b="1">
                <a:solidFill>
                  <a:srgbClr val="17C3B2"/>
                </a:solidFill>
                <a:latin typeface="Yu Gothic"/>
              </a:rPr>
              <a:t>コスト</a:t>
            </a:r>
          </a:p>
        </p:txBody>
      </p:sp>
      <p:sp>
        <p:nvSpPr>
          <p:cNvPr id="19" name="TextBox 18"/>
          <p:cNvSpPr txBox="1"/>
          <p:nvPr/>
        </p:nvSpPr>
        <p:spPr>
          <a:xfrm>
            <a:off x="6530187" y="2834640"/>
            <a:ext cx="2030653" cy="548640"/>
          </a:xfrm>
          <a:prstGeom prst="rect">
            <a:avLst/>
          </a:prstGeom>
          <a:noFill/>
        </p:spPr>
        <p:txBody>
          <a:bodyPr wrap="square" anchor="t" lIns="0" rIns="0" tIns="0" bIns="0">
            <a:spAutoFit/>
          </a:bodyPr>
          <a:lstStyle/>
          <a:p>
            <a:pPr algn="l"/>
            <a:r>
              <a:rPr sz="1600" b="1">
                <a:solidFill>
                  <a:srgbClr val="2E2A72"/>
                </a:solidFill>
                <a:latin typeface="Yu Gothic"/>
              </a:rPr>
              <a:t>クラウド費用の抑制</a:t>
            </a:r>
          </a:p>
        </p:txBody>
      </p:sp>
      <p:sp>
        <p:nvSpPr>
          <p:cNvPr id="20" name="TextBox 19"/>
          <p:cNvSpPr txBox="1"/>
          <p:nvPr/>
        </p:nvSpPr>
        <p:spPr>
          <a:xfrm>
            <a:off x="6530187" y="3520440"/>
            <a:ext cx="2030653"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API従量課金ではなくハードウェア投資での運用</a:t>
            </a:r>
          </a:p>
        </p:txBody>
      </p:sp>
      <p:sp>
        <p:nvSpPr>
          <p:cNvPr id="21" name="Rounded Rectangle 20"/>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5201" y="1554480"/>
            <a:ext cx="2579293"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9521" y="1828800"/>
            <a:ext cx="2030653" cy="822960"/>
          </a:xfrm>
          <a:prstGeom prst="rect">
            <a:avLst/>
          </a:prstGeom>
          <a:noFill/>
        </p:spPr>
        <p:txBody>
          <a:bodyPr wrap="square" anchor="t" lIns="0" rIns="0" tIns="0" bIns="0">
            <a:spAutoFit/>
          </a:bodyPr>
          <a:lstStyle/>
          <a:p>
            <a:pPr algn="l"/>
            <a:r>
              <a:rPr sz="3400" b="1">
                <a:solidFill>
                  <a:srgbClr val="17C3B2"/>
                </a:solidFill>
                <a:latin typeface="Yu Gothic"/>
              </a:rPr>
              <a:t>エッジ</a:t>
            </a:r>
          </a:p>
        </p:txBody>
      </p:sp>
      <p:sp>
        <p:nvSpPr>
          <p:cNvPr id="24" name="TextBox 23"/>
          <p:cNvSpPr txBox="1"/>
          <p:nvPr/>
        </p:nvSpPr>
        <p:spPr>
          <a:xfrm>
            <a:off x="9429521" y="2834640"/>
            <a:ext cx="2030653" cy="548640"/>
          </a:xfrm>
          <a:prstGeom prst="rect">
            <a:avLst/>
          </a:prstGeom>
          <a:noFill/>
        </p:spPr>
        <p:txBody>
          <a:bodyPr wrap="square" anchor="t" lIns="0" rIns="0" tIns="0" bIns="0">
            <a:spAutoFit/>
          </a:bodyPr>
          <a:lstStyle/>
          <a:p>
            <a:pPr algn="l"/>
            <a:r>
              <a:rPr sz="1600" b="1">
                <a:solidFill>
                  <a:srgbClr val="2E2A72"/>
                </a:solidFill>
                <a:latin typeface="Yu Gothic"/>
              </a:rPr>
              <a:t>手元デバイス活用</a:t>
            </a:r>
          </a:p>
        </p:txBody>
      </p:sp>
      <p:sp>
        <p:nvSpPr>
          <p:cNvPr id="25" name="TextBox 24"/>
          <p:cNvSpPr txBox="1"/>
          <p:nvPr/>
        </p:nvSpPr>
        <p:spPr>
          <a:xfrm>
            <a:off x="9429521" y="3520440"/>
            <a:ext cx="2030653"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ノートPC・ワークステーションでのAIエージェント実行</a:t>
            </a:r>
          </a:p>
        </p:txBody>
      </p:sp>
      <p:sp>
        <p:nvSpPr>
          <p:cNvPr id="26" name="TextBox 2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モデルの技術特性(オフライン動作・低VRAM要件)から想定される用途。実際の利用実績は本調査の範囲では確認できていない</a:t>
            </a:r>
          </a:p>
        </p:txBody>
      </p:sp>
      <p:sp>
        <p:nvSpPr>
          <p:cNvPr id="27" name="TextBox 2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 / CNBC / TechCrunch ほか(本編内で明記)</a:t>
            </a:r>
          </a:p>
        </p:txBody>
      </p:sp>
      <p:sp>
        <p:nvSpPr>
          <p:cNvPr id="28" name="TextBox 2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クラウド型 vs ローカル完結型のエージェントAI</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クラウド型(既存の主流)</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高性能な大規模モデルを使える</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ネットワーク接続が前提</a:t>
            </a:r>
          </a:p>
        </p:txBody>
      </p:sp>
      <p:sp>
        <p:nvSpPr>
          <p:cNvPr id="13" name="Oval 12"/>
          <p:cNvSpPr/>
          <p:nvPr/>
        </p:nvSpPr>
        <p:spPr>
          <a:xfrm>
            <a:off x="777240"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利用量に応じたAPI課金が発生する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ローカル完結型(Muse Glimmerのような)</a:t>
            </a:r>
          </a:p>
        </p:txBody>
      </p:sp>
      <p:sp>
        <p:nvSpPr>
          <p:cNvPr id="18" name="Oval 17"/>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手元のGPU1枚で完結できる</a:t>
            </a:r>
          </a:p>
        </p:txBody>
      </p:sp>
      <p:sp>
        <p:nvSpPr>
          <p:cNvPr id="20" name="Oval 19"/>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オフラインでも動作する</a:t>
            </a:r>
          </a:p>
        </p:txBody>
      </p:sp>
      <p:sp>
        <p:nvSpPr>
          <p:cNvPr id="22" name="Oval 21"/>
          <p:cNvSpPr/>
          <p:nvPr/>
        </p:nvSpPr>
        <p:spPr>
          <a:xfrm>
            <a:off x="6598767"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データを社外に出さずに処理できる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 / CNBC / TechCrunch ほか(本編内で明記)</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オープン化のメリットと留意点(一般的な考え方)</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メリット(一般論): 独立した開発者・研究者が自由に検証・改良できる</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メリット(一般論): 特定企業のクラウド基盤に依存しない選択肢が広がる</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留意点(一般論): 公式サポートの手厚さはクラウド提供モデルに劣る場合がある</a:t>
            </a:r>
          </a:p>
        </p:txBody>
      </p:sp>
      <p:sp>
        <p:nvSpPr>
          <p:cNvPr id="12" name="Oval 11"/>
          <p:cNvSpPr/>
          <p:nvPr/>
        </p:nvSpPr>
        <p:spPr>
          <a:xfrm>
            <a:off x="457200" y="38130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留意点(一般論): 手元環境での運用・セキュリティ管理は利用者側の責任になる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 / CNBC / TechCrunch ほか(本編内で明記)</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不明点まとめ(創作しない一覧)</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Meta株価上昇の具体的な変動幅・パーセンテージは不明</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一般提供開始からの実際のダウンロード数・利用実績は不明</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速度向上倍率の比較対象モデル・詳細な測定条件は不明</a:t>
            </a:r>
          </a:p>
        </p:txBody>
      </p:sp>
      <p:sp>
        <p:nvSpPr>
          <p:cNvPr id="12" name="Oval 11"/>
          <p:cNvSpPr/>
          <p:nvPr/>
        </p:nvSpPr>
        <p:spPr>
          <a:xfrm>
            <a:off x="457200" y="38130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日本語での利用可否・日本語ベンチマークの詳細は不明</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 / CNBC / TechCrunch ほか(本編内で明記)</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特定の製品の利用を推奨するものではありません</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6D9F5"/>
                </a:solidFill>
                <a:latin typeface="Yu Gothic"/>
              </a:rPr>
              <a:t>今後の一般提供状況・第三者検証の結果を、確認できた事実に基づいて引き続き追いかけていきます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E2A72"/>
                </a:solidFill>
                <a:latin typeface="Yu Gothic"/>
              </a:rPr>
              <a:t>気になった方は、Meta公式発表や本編で紹介した各メディアの記事を一次情報として確認してみてください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出典一覧</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出典</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Bloomberg</a:t>
                      </a:r>
                    </a:p>
                  </a:txBody>
                  <a:tcPr>
                    <a:solidFill>
                      <a:srgbClr val="FFFFFF"/>
                    </a:solidFill>
                  </a:tcPr>
                </a:tc>
                <a:tc>
                  <a:txBody>
                    <a:bodyPr/>
                    <a:lstStyle/>
                    <a:p>
                      <a:pPr>
                        <a:defRPr sz="1200">
                          <a:solidFill>
                            <a:srgbClr val="1C1B33"/>
                          </a:solidFill>
                          <a:latin typeface="Yu Gothic"/>
                        </a:defRPr>
                      </a:pPr>
                      <a:r>
                        <a:t>「Meta Releases Muse Glimmer AI Model People Can Run on Their Laptop」</a:t>
                      </a:r>
                    </a:p>
                  </a:txBody>
                  <a:tcPr>
                    <a:solidFill>
                      <a:srgbClr val="FFFFFF"/>
                    </a:solidFill>
                  </a:tcPr>
                </a:tc>
              </a:tr>
              <a:tr h="502920">
                <a:tc>
                  <a:txBody>
                    <a:bodyPr/>
                    <a:lstStyle/>
                    <a:p>
                      <a:pPr>
                        <a:defRPr sz="1200">
                          <a:solidFill>
                            <a:srgbClr val="1C1B33"/>
                          </a:solidFill>
                          <a:latin typeface="Yu Gothic"/>
                        </a:defRPr>
                      </a:pPr>
                      <a:r>
                        <a:t>CNBC</a:t>
                      </a:r>
                    </a:p>
                  </a:txBody>
                  <a:tcPr>
                    <a:solidFill>
                      <a:srgbClr val="F4F3FC"/>
                    </a:solidFill>
                  </a:tcPr>
                </a:tc>
                <a:tc>
                  <a:txBody>
                    <a:bodyPr/>
                    <a:lstStyle/>
                    <a:p>
                      <a:pPr>
                        <a:defRPr sz="1200">
                          <a:solidFill>
                            <a:srgbClr val="1C1B33"/>
                          </a:solidFill>
                          <a:latin typeface="Yu Gothic"/>
                        </a:defRPr>
                      </a:pPr>
                      <a:r>
                        <a:t>「Meta launches Muse Glimmer open-weight AI model」</a:t>
                      </a:r>
                    </a:p>
                  </a:txBody>
                  <a:tcPr>
                    <a:solidFill>
                      <a:srgbClr val="F4F3FC"/>
                    </a:solidFill>
                  </a:tcPr>
                </a:tc>
              </a:tr>
              <a:tr h="502920">
                <a:tc>
                  <a:txBody>
                    <a:bodyPr/>
                    <a:lstStyle/>
                    <a:p>
                      <a:pPr>
                        <a:defRPr sz="1200">
                          <a:solidFill>
                            <a:srgbClr val="1C1B33"/>
                          </a:solidFill>
                          <a:latin typeface="Yu Gothic"/>
                        </a:defRPr>
                      </a:pPr>
                      <a:r>
                        <a:t>TechCrunch</a:t>
                      </a:r>
                    </a:p>
                  </a:txBody>
                  <a:tcPr>
                    <a:solidFill>
                      <a:srgbClr val="FFFFFF"/>
                    </a:solidFill>
                  </a:tcPr>
                </a:tc>
                <a:tc>
                  <a:txBody>
                    <a:bodyPr/>
                    <a:lstStyle/>
                    <a:p>
                      <a:pPr>
                        <a:defRPr sz="1200">
                          <a:solidFill>
                            <a:srgbClr val="1C1B33"/>
                          </a:solidFill>
                          <a:latin typeface="Yu Gothic"/>
                        </a:defRPr>
                      </a:pPr>
                      <a:r>
                        <a:t>「Meta's new Glimmer AI model offers a hint at Zuckerberg's personal intelligence vision」</a:t>
                      </a:r>
                    </a:p>
                  </a:txBody>
                  <a:tcPr>
                    <a:solidFill>
                      <a:srgbClr val="FFFFFF"/>
                    </a:solidFill>
                  </a:tcPr>
                </a:tc>
              </a:tr>
              <a:tr h="502920">
                <a:tc>
                  <a:txBody>
                    <a:bodyPr/>
                    <a:lstStyle/>
                    <a:p>
                      <a:pPr>
                        <a:defRPr sz="1200">
                          <a:solidFill>
                            <a:srgbClr val="1C1B33"/>
                          </a:solidFill>
                          <a:latin typeface="Yu Gothic"/>
                        </a:defRPr>
                      </a:pPr>
                      <a:r>
                        <a:t>MarkTechPost / Phoronix / Open Source For You</a:t>
                      </a:r>
                    </a:p>
                  </a:txBody>
                  <a:tcPr>
                    <a:solidFill>
                      <a:srgbClr val="F4F3FC"/>
                    </a:solidFill>
                  </a:tcPr>
                </a:tc>
                <a:tc>
                  <a:txBody>
                    <a:bodyPr/>
                    <a:lstStyle/>
                    <a:p>
                      <a:pPr>
                        <a:defRPr sz="1200">
                          <a:solidFill>
                            <a:srgbClr val="1C1B33"/>
                          </a:solidFill>
                          <a:latin typeface="Yu Gothic"/>
                        </a:defRPr>
                      </a:pPr>
                      <a:r>
                        <a:t>技術詳細(量子化・投機的デコーディング等)の報道</a:t>
                      </a:r>
                    </a:p>
                  </a:txBody>
                  <a:tcPr>
                    <a:solidFill>
                      <a:srgbClr val="F4F3FC"/>
                    </a:solidFill>
                  </a:tcPr>
                </a:tc>
              </a:tr>
              <a:tr h="502920">
                <a:tc>
                  <a:txBody>
                    <a:bodyPr/>
                    <a:lstStyle/>
                    <a:p>
                      <a:pPr>
                        <a:defRPr sz="1200">
                          <a:solidFill>
                            <a:srgbClr val="1C1B33"/>
                          </a:solidFill>
                          <a:latin typeface="Yu Gothic"/>
                        </a:defRPr>
                      </a:pPr>
                      <a:r>
                        <a:t>Yahoo Finance</a:t>
                      </a:r>
                    </a:p>
                  </a:txBody>
                  <a:tcPr>
                    <a:solidFill>
                      <a:srgbClr val="FFFFFF"/>
                    </a:solidFill>
                  </a:tcPr>
                </a:tc>
                <a:tc>
                  <a:txBody>
                    <a:bodyPr/>
                    <a:lstStyle/>
                    <a:p>
                      <a:pPr>
                        <a:defRPr sz="1200">
                          <a:solidFill>
                            <a:srgbClr val="1C1B33"/>
                          </a:solidFill>
                          <a:latin typeface="Yu Gothic"/>
                        </a:defRPr>
                      </a:pPr>
                      <a:r>
                        <a:t>発表を受けたMeta株価の反応の報道</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 / CNBC / TechCrunch ほか(本編内で明記)</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