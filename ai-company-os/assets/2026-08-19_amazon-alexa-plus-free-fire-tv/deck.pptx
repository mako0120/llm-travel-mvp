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Amazonが2026年8月19日、AI音声アシスタント『Alexa+』を対応Fire TVデバイス向けに無料で展開開始したと発表しました。今日はこの無料化の中身を出典付きで整理してお届けします。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結論から確認します。これまで月額19.99ドルだったAlexa+が、対応Fire TVデバイスで完全無料化されました。Prime加入の有無は問われません。</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今日は6つの流れでお伝えします。無料化の内容から、対応デバイス、無料化されない部分まで、正確に事実を引用しながら整理します。誇張せず、確認できなかったことは正直にお伝えします。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このテーマを扱う理由です。高い鮮度に加え、月額料金が突然ゼロになるという身近な変化に注目しました。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Alexa+はAmazonのAI搭載音声アシスタントで、会話形式でのやり取りやAIによるおすすめ提案が特徴です。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今回の無料化の概要です。従来はPrime非加入者に月額19.99ドルの料金が必要でしたが、今回全て無料になりました。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アップグレードは自動的に行われ、ユーザー側の特別な操作は必要ありません。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従来、Prime非加入者は月額19.99ドルを支払う必要がありましたが、この料金が今回撤廃されました。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対応デバイスには、Fire TV Stick・Fire TV Cube・Amazon Emberスマートテレビ、一部のHisense・Panasonic製テレビが含まれます。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これまでと今回を対比しました。有料オプションから、誰でも無料で使える機能へと変わりました。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Alexa+の主な機能です。会話形式での検索・スマートホーム操作・AIによるおすすめ提案が特徴です。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会話形式の検索では、最初から検索し直さずに条件を重ねて絞り込めることが特徴とされています。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Amazon Emberに加え、一部のHisense・Panasonic製テレビも対応デバイスに含まれます。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今回無料化されたのはFire TVでの利用のみで、Echoデバイスでの利用や一部の高度な機能は引き続き有料です。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今回の無料化に至る流れを図にしました。有料展開から、AI音声アシスタント競争の激化、そして今回の無料化という流れです。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今回の発表を3ステップで総括しました。Fire TVでの完全無料化、自動アップグレード、そして一部機能は引き続き有料という流れです。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AI音声アシスタント競争が激化する中での無料化と位置づけられますが、収益への影響や他社比較は確認していません。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Fire TVとEchoデバイスを対比しました。今回の無料化はFire TVに限定されている点に注意が必要です。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今回の発表の要点をまとめました。無料化の対象、従来料金、主な機能、対応外の範囲という4点です。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今後の見どころとして、海外展開時期や他製品への拡大が挙げられますが、いずれも現時点では確認できていません。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Amazon純正のEmberに加え、提携メーカーの一部製品も対応デバイスに含まれます。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本テーマは、TechCrunch・Engadget・Amazon公式など、複数の独立した情報源が一致して報じている内容として整理しています。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今回の無料化は米国内の対応デバイスに限定されており、海外展開の時期は確認できていません。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Fire TV以外での高度な利用には、Alexa+ Standardプランへの加入またはPrime会員資格が引き続き必要です。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スマートホーム操作機能も特徴の一つですが、対応機器の詳細や無料範囲との線引きまでは確認できていません。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確認できなかったことを正直にお伝えします。収益への影響、AIモデルの詳細、海外展開時期は確認できていません。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確認できている事実と、今後の不確定要素を対比しました。確定事実と未確定要素を明確に区別してお伝えします。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このニュースが読者にとって意味することをまとめました。Fire TV利用者の立場、AI音声アシスタントを追う立場、企業戦略を読み解く立場、それぞれで意識したい視点です。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まとめです。Fire TVでのAlexa+無料化という変化と、無料化されない範囲、そして確認できていない点を正直にお伝えしました。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AmazonのAlexa+無料化について、その中身を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月額2,000円が</a:t>
            </a:r>
          </a:p>
          <a:p>
            <a:pPr algn="l">
              <a:lnSpc>
                <a:spcPct val="115000"/>
              </a:lnSpc>
            </a:pPr>
            <a:r>
              <a:rPr sz="4200" b="1">
                <a:solidFill>
                  <a:srgbClr val="FFFFFF"/>
                </a:solidFill>
                <a:latin typeface="Yu Gothic"/>
              </a:rPr>
              <a:t>ある日突然、</a:t>
            </a:r>
          </a:p>
          <a:p>
            <a:pPr algn="l">
              <a:lnSpc>
                <a:spcPct val="115000"/>
              </a:lnSpc>
            </a:pPr>
            <a:r>
              <a:rPr sz="4200" b="1">
                <a:solidFill>
                  <a:srgbClr val="FFFFFF"/>
                </a:solidFill>
                <a:latin typeface="Yu Gothic"/>
              </a:rPr>
              <a:t>ゼロ円になった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FE8DE"/>
                </a:solidFill>
                <a:latin typeface="Yu Gothic"/>
              </a:rPr>
              <a:t>2026年8月19日発表——Amazon「Alexa+」、Fire TVで無料展開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C2AE"/>
                </a:solidFill>
                <a:latin typeface="Yu Gothic"/>
              </a:rPr>
              <a:t>出典: TechCrunch・Engadget(2026年8月19日)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Alexa+、Fire TVで完全無料化(Prime非加入でも利用可)</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従来は月額19.99ドルの有料オプションだった(2026年8月19日発表)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TechCrunch・Engadget(2026-08-19)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FE8DE"/>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FE8DE"/>
                </a:solidFill>
                <a:latin typeface="Yu Gothic"/>
              </a:rPr>
              <a:t>Alexa+とは・基礎知識</a:t>
            </a:r>
          </a:p>
        </p:txBody>
      </p:sp>
      <p:sp>
        <p:nvSpPr>
          <p:cNvPr id="9" name="Oval 8"/>
          <p:cNvSpPr/>
          <p:nvPr/>
        </p:nvSpPr>
        <p:spPr>
          <a:xfrm>
            <a:off x="548640" y="347472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FE8DE"/>
                </a:solidFill>
                <a:latin typeface="Yu Gothic"/>
              </a:rPr>
              <a:t>今回の無料化の内容を確認する</a:t>
            </a:r>
          </a:p>
        </p:txBody>
      </p:sp>
      <p:sp>
        <p:nvSpPr>
          <p:cNvPr id="11" name="Oval 10"/>
          <p:cNvSpPr/>
          <p:nvPr/>
        </p:nvSpPr>
        <p:spPr>
          <a:xfrm>
            <a:off x="548640" y="425196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FE8DE"/>
                </a:solidFill>
                <a:latin typeface="Yu Gothic"/>
              </a:rPr>
              <a:t>対応デバイス・機能を確認する</a:t>
            </a:r>
          </a:p>
        </p:txBody>
      </p:sp>
      <p:sp>
        <p:nvSpPr>
          <p:cNvPr id="13" name="Oval 12"/>
          <p:cNvSpPr/>
          <p:nvPr/>
        </p:nvSpPr>
        <p:spPr>
          <a:xfrm>
            <a:off x="548640" y="502920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FE8DE"/>
                </a:solidFill>
                <a:latin typeface="Yu Gothic"/>
              </a:rPr>
              <a:t>無料化されない部分・今後の展望を確認する</a:t>
            </a:r>
          </a:p>
        </p:txBody>
      </p:sp>
      <p:sp>
        <p:nvSpPr>
          <p:cNvPr id="15" name="Oval 14"/>
          <p:cNvSpPr/>
          <p:nvPr/>
        </p:nvSpPr>
        <p:spPr>
          <a:xfrm>
            <a:off x="548640" y="580644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CFE8DE"/>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着手日当日(2026年8月19日)発表という最も高い鮮度の話題である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『月額料金が突然ゼロに』という身近で分かりやすい変化である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AI音声アシスタント同士の競争がどう消費者に還元されるかを示す事例である</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複数の独立した情報源(TechCrunch・Engadget等)で確認できる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TechCrunch・Engadget(2026-08-19)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TechCrunch・Engadget(2026-08-19)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Alexa+とは</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基礎知識を簡単に整理します。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AmazonのAI搭載音声アシスタント</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会話形式でのリクエスト・追加質問への対応が可能</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スマートホーム操作・AIによるおすすめ提案などの機能を持つ</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従来のAlexaを拡張したAI強化版として位置づけられている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TechCrunch・aboutamazon.com(2026-08-19)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TechCrunch・Engadget(2026-08-19)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今回の無料化の概要</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2A2E"/>
                    </a:solidFill>
                  </a:tcPr>
                </a:tc>
                <a:tc>
                  <a:txBody>
                    <a:bodyPr/>
                    <a:lstStyle/>
                    <a:p>
                      <a:pPr>
                        <a:defRPr sz="1300" b="1">
                          <a:solidFill>
                            <a:srgbClr val="FFFFFF"/>
                          </a:solidFill>
                          <a:latin typeface="Yu Gothic"/>
                        </a:defRPr>
                      </a:pPr>
                      <a:r>
                        <a:t>内容</a:t>
                      </a:r>
                    </a:p>
                  </a:txBody>
                  <a:tcPr>
                    <a:solidFill>
                      <a:srgbClr val="1B2A2E"/>
                    </a:solidFill>
                  </a:tcPr>
                </a:tc>
              </a:tr>
              <a:tr h="502920">
                <a:tc>
                  <a:txBody>
                    <a:bodyPr/>
                    <a:lstStyle/>
                    <a:p>
                      <a:pPr>
                        <a:defRPr sz="1200">
                          <a:solidFill>
                            <a:srgbClr val="121C1F"/>
                          </a:solidFill>
                          <a:latin typeface="Yu Gothic"/>
                        </a:defRPr>
                      </a:pPr>
                      <a:r>
                        <a:t>対象</a:t>
                      </a:r>
                    </a:p>
                  </a:txBody>
                  <a:tcPr>
                    <a:solidFill>
                      <a:srgbClr val="FFFFFF"/>
                    </a:solidFill>
                  </a:tcPr>
                </a:tc>
                <a:tc>
                  <a:txBody>
                    <a:bodyPr/>
                    <a:lstStyle/>
                    <a:p>
                      <a:pPr>
                        <a:defRPr sz="1200">
                          <a:solidFill>
                            <a:srgbClr val="121C1F"/>
                          </a:solidFill>
                          <a:latin typeface="Yu Gothic"/>
                        </a:defRPr>
                      </a:pPr>
                      <a:r>
                        <a:t>対応するFire TVデバイス</a:t>
                      </a:r>
                    </a:p>
                  </a:txBody>
                  <a:tcPr>
                    <a:solidFill>
                      <a:srgbClr val="FFFFFF"/>
                    </a:solidFill>
                  </a:tcPr>
                </a:tc>
              </a:tr>
              <a:tr h="502920">
                <a:tc>
                  <a:txBody>
                    <a:bodyPr/>
                    <a:lstStyle/>
                    <a:p>
                      <a:pPr>
                        <a:defRPr sz="1200">
                          <a:solidFill>
                            <a:srgbClr val="121C1F"/>
                          </a:solidFill>
                          <a:latin typeface="Yu Gothic"/>
                        </a:defRPr>
                      </a:pPr>
                      <a:r>
                        <a:t>従来料金</a:t>
                      </a:r>
                    </a:p>
                  </a:txBody>
                  <a:tcPr>
                    <a:solidFill>
                      <a:srgbClr val="F0F7F4"/>
                    </a:solidFill>
                  </a:tcPr>
                </a:tc>
                <a:tc>
                  <a:txBody>
                    <a:bodyPr/>
                    <a:lstStyle/>
                    <a:p>
                      <a:pPr>
                        <a:defRPr sz="1200">
                          <a:solidFill>
                            <a:srgbClr val="121C1F"/>
                          </a:solidFill>
                          <a:latin typeface="Yu Gothic"/>
                        </a:defRPr>
                      </a:pPr>
                      <a:r>
                        <a:t>Prime非加入者は月額19.99ドル</a:t>
                      </a:r>
                    </a:p>
                  </a:txBody>
                  <a:tcPr>
                    <a:solidFill>
                      <a:srgbClr val="F0F7F4"/>
                    </a:solidFill>
                  </a:tcPr>
                </a:tc>
              </a:tr>
              <a:tr h="502920">
                <a:tc>
                  <a:txBody>
                    <a:bodyPr/>
                    <a:lstStyle/>
                    <a:p>
                      <a:pPr>
                        <a:defRPr sz="1200">
                          <a:solidFill>
                            <a:srgbClr val="121C1F"/>
                          </a:solidFill>
                          <a:latin typeface="Yu Gothic"/>
                        </a:defRPr>
                      </a:pPr>
                      <a:r>
                        <a:t>今回の変更</a:t>
                      </a:r>
                    </a:p>
                  </a:txBody>
                  <a:tcPr>
                    <a:solidFill>
                      <a:srgbClr val="FFFFFF"/>
                    </a:solidFill>
                  </a:tcPr>
                </a:tc>
                <a:tc>
                  <a:txBody>
                    <a:bodyPr/>
                    <a:lstStyle/>
                    <a:p>
                      <a:pPr>
                        <a:defRPr sz="1200">
                          <a:solidFill>
                            <a:srgbClr val="121C1F"/>
                          </a:solidFill>
                          <a:latin typeface="Yu Gothic"/>
                        </a:defRPr>
                      </a:pPr>
                      <a:r>
                        <a:t>Prime加入の有無を問わず無料</a:t>
                      </a:r>
                    </a:p>
                  </a:txBody>
                  <a:tcPr>
                    <a:solidFill>
                      <a:srgbClr val="FFFFFF"/>
                    </a:solidFill>
                  </a:tcPr>
                </a:tc>
              </a:tr>
              <a:tr h="502920">
                <a:tc>
                  <a:txBody>
                    <a:bodyPr/>
                    <a:lstStyle/>
                    <a:p>
                      <a:pPr>
                        <a:defRPr sz="1200">
                          <a:solidFill>
                            <a:srgbClr val="121C1F"/>
                          </a:solidFill>
                          <a:latin typeface="Yu Gothic"/>
                        </a:defRPr>
                      </a:pPr>
                      <a:r>
                        <a:t>発表日</a:t>
                      </a:r>
                    </a:p>
                  </a:txBody>
                  <a:tcPr>
                    <a:solidFill>
                      <a:srgbClr val="F0F7F4"/>
                    </a:solidFill>
                  </a:tcPr>
                </a:tc>
                <a:tc>
                  <a:txBody>
                    <a:bodyPr/>
                    <a:lstStyle/>
                    <a:p>
                      <a:pPr>
                        <a:defRPr sz="1200">
                          <a:solidFill>
                            <a:srgbClr val="121C1F"/>
                          </a:solidFill>
                          <a:latin typeface="Yu Gothic"/>
                        </a:defRPr>
                      </a:pPr>
                      <a:r>
                        <a:t>2026年8月19日</a:t>
                      </a:r>
                    </a:p>
                  </a:txBody>
                  <a:tcPr>
                    <a:solidFill>
                      <a:srgbClr val="F0F7F4"/>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TechCrunch・Engadget(2026-08-19)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TechCrunch・Engadget(2026-08-19)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アップグレードの手続き</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利用開始の方法についてです。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アップグレードは自動的に行われる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アプリのダウンロードは不要</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新たな契約手続きも不要</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対応デバイスであれば、ユーザー側の操作なしに利用可能になる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TechCrunch(2026-08-19)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TechCrunch・Engadget(2026-08-19)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従来の月額料金</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19.99ドル(Prime非加入者向け)</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今回、この料金が撤廃された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TechCrunch(2026-08-19)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対応デバイス</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今回無料化の対象となる機器です。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現行のFire TV Stick</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Fire TV Cube</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Amazon Emberスマートテレビ</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一部のHisense・Panasonic製テレビ</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TechCrunch(2026-08-19)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TechCrunch・Engadget(2026-08-19)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これまで vs 今回</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これまで</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Prime非加入者は月額19.99ドル</a:t>
            </a:r>
          </a:p>
        </p:txBody>
      </p:sp>
      <p:sp>
        <p:nvSpPr>
          <p:cNvPr id="11" name="Oval 10"/>
          <p:cNvSpPr/>
          <p:nvPr/>
        </p:nvSpPr>
        <p:spPr>
          <a:xfrm>
            <a:off x="777240"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有料オプションとしての位置づけ</a:t>
            </a:r>
          </a:p>
        </p:txBody>
      </p:sp>
      <p:sp>
        <p:nvSpPr>
          <p:cNvPr id="13" name="Oval 12"/>
          <p:cNvSpPr/>
          <p:nvPr/>
        </p:nvSpPr>
        <p:spPr>
          <a:xfrm>
            <a:off x="777240"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利用のハードルが存在</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今回(2026年8月19日〜)</a:t>
            </a:r>
          </a:p>
        </p:txBody>
      </p:sp>
      <p:sp>
        <p:nvSpPr>
          <p:cNvPr id="18" name="Oval 17"/>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Prime加入の有無を問わず無料</a:t>
            </a:r>
          </a:p>
        </p:txBody>
      </p:sp>
      <p:sp>
        <p:nvSpPr>
          <p:cNvPr id="20" name="Oval 19"/>
          <p:cNvSpPr/>
          <p:nvPr/>
        </p:nvSpPr>
        <p:spPr>
          <a:xfrm>
            <a:off x="6598767"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自動的にアップグレード</a:t>
            </a:r>
          </a:p>
        </p:txBody>
      </p:sp>
      <p:sp>
        <p:nvSpPr>
          <p:cNvPr id="22" name="Oval 21"/>
          <p:cNvSpPr/>
          <p:nvPr/>
        </p:nvSpPr>
        <p:spPr>
          <a:xfrm>
            <a:off x="6598767"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追加費用・契約手続きなし</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TechCrunch・Engadget(2026-08-19)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Alexa+の主な機能</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機能</a:t>
                      </a:r>
                    </a:p>
                  </a:txBody>
                  <a:tcPr>
                    <a:solidFill>
                      <a:srgbClr val="1B2A2E"/>
                    </a:solidFill>
                  </a:tcPr>
                </a:tc>
                <a:tc>
                  <a:txBody>
                    <a:bodyPr/>
                    <a:lstStyle/>
                    <a:p>
                      <a:pPr>
                        <a:defRPr sz="1300" b="1">
                          <a:solidFill>
                            <a:srgbClr val="FFFFFF"/>
                          </a:solidFill>
                          <a:latin typeface="Yu Gothic"/>
                        </a:defRPr>
                      </a:pPr>
                      <a:r>
                        <a:t>内容</a:t>
                      </a:r>
                    </a:p>
                  </a:txBody>
                  <a:tcPr>
                    <a:solidFill>
                      <a:srgbClr val="1B2A2E"/>
                    </a:solidFill>
                  </a:tcPr>
                </a:tc>
              </a:tr>
              <a:tr h="502920">
                <a:tc>
                  <a:txBody>
                    <a:bodyPr/>
                    <a:lstStyle/>
                    <a:p>
                      <a:pPr>
                        <a:defRPr sz="1200">
                          <a:solidFill>
                            <a:srgbClr val="121C1F"/>
                          </a:solidFill>
                          <a:latin typeface="Yu Gothic"/>
                        </a:defRPr>
                      </a:pPr>
                      <a:r>
                        <a:t>会話形式の検索</a:t>
                      </a:r>
                    </a:p>
                  </a:txBody>
                  <a:tcPr>
                    <a:solidFill>
                      <a:srgbClr val="FFFFFF"/>
                    </a:solidFill>
                  </a:tcPr>
                </a:tc>
                <a:tc>
                  <a:txBody>
                    <a:bodyPr/>
                    <a:lstStyle/>
                    <a:p>
                      <a:pPr>
                        <a:defRPr sz="1200">
                          <a:solidFill>
                            <a:srgbClr val="121C1F"/>
                          </a:solidFill>
                          <a:latin typeface="Yu Gothic"/>
                        </a:defRPr>
                      </a:pPr>
                      <a:r>
                        <a:t>追加質問での絞り込みが可能</a:t>
                      </a:r>
                    </a:p>
                  </a:txBody>
                  <a:tcPr>
                    <a:solidFill>
                      <a:srgbClr val="FFFFFF"/>
                    </a:solidFill>
                  </a:tcPr>
                </a:tc>
              </a:tr>
              <a:tr h="502920">
                <a:tc>
                  <a:txBody>
                    <a:bodyPr/>
                    <a:lstStyle/>
                    <a:p>
                      <a:pPr>
                        <a:defRPr sz="1200">
                          <a:solidFill>
                            <a:srgbClr val="121C1F"/>
                          </a:solidFill>
                          <a:latin typeface="Yu Gothic"/>
                        </a:defRPr>
                      </a:pPr>
                      <a:r>
                        <a:t>スマートホーム操作</a:t>
                      </a:r>
                    </a:p>
                  </a:txBody>
                  <a:tcPr>
                    <a:solidFill>
                      <a:srgbClr val="F0F7F4"/>
                    </a:solidFill>
                  </a:tcPr>
                </a:tc>
                <a:tc>
                  <a:txBody>
                    <a:bodyPr/>
                    <a:lstStyle/>
                    <a:p>
                      <a:pPr>
                        <a:defRPr sz="1200">
                          <a:solidFill>
                            <a:srgbClr val="121C1F"/>
                          </a:solidFill>
                          <a:latin typeface="Yu Gothic"/>
                        </a:defRPr>
                      </a:pPr>
                      <a:r>
                        <a:t>対応機器の制御</a:t>
                      </a:r>
                    </a:p>
                  </a:txBody>
                  <a:tcPr>
                    <a:solidFill>
                      <a:srgbClr val="F0F7F4"/>
                    </a:solidFill>
                  </a:tcPr>
                </a:tc>
              </a:tr>
              <a:tr h="502920">
                <a:tc>
                  <a:txBody>
                    <a:bodyPr/>
                    <a:lstStyle/>
                    <a:p>
                      <a:pPr>
                        <a:defRPr sz="1200">
                          <a:solidFill>
                            <a:srgbClr val="121C1F"/>
                          </a:solidFill>
                          <a:latin typeface="Yu Gothic"/>
                        </a:defRPr>
                      </a:pPr>
                      <a:r>
                        <a:t>AIによるおすすめ提案</a:t>
                      </a:r>
                    </a:p>
                  </a:txBody>
                  <a:tcPr>
                    <a:solidFill>
                      <a:srgbClr val="FFFFFF"/>
                    </a:solidFill>
                  </a:tcPr>
                </a:tc>
                <a:tc>
                  <a:txBody>
                    <a:bodyPr/>
                    <a:lstStyle/>
                    <a:p>
                      <a:pPr>
                        <a:defRPr sz="1200">
                          <a:solidFill>
                            <a:srgbClr val="121C1F"/>
                          </a:solidFill>
                          <a:latin typeface="Yu Gothic"/>
                        </a:defRPr>
                      </a:pPr>
                      <a:r>
                        <a:t>視聴コンテンツの提案等</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aboutamazon.com(2026-08-19)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TechCrunch・Engadget(2026-08-19)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会話形式の検索の具体例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実際の使い方のイメージです。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『高評価のスリラー映画』とリクエストできる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その後『もっと新しいもの』と追加で絞り込める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『女性が主役のもの』のように、さらに条件を重ねられる</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最初から検索し直す必要がない点が特徴とされる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TechCrunch(2026-08-19)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TechCrunch・Engadget(2026-08-19)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対応テレビメーカー</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Amazon Ember・Hisense・Panasonic(一部)</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Fire TV機能を搭載したスマートテレビ</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TechCrunch(2026-08-19)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無料化されない部分について</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引き続き有料な範囲です。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Prime会員資格またはAlexa+ Standardプランへの加入は、対応Echoデバイスでの利用に引き続き必要</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Alexaルーティン機能も同様に有料範囲に含まれる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特定のRingカメラ映像へのアクセスも有料範囲</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テレビでの高度なHomeモード機能も有料範囲に含まれる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aboutamazon.com(2026-08-19)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TechCrunch・Engadget(2026-08-19)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今回の無料化に至る流れ</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Alexa+をAI強化版として展開</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Prime非加入者は月額19.99ドル</a:t>
            </a:r>
          </a:p>
        </p:txBody>
      </p:sp>
      <p:sp>
        <p:nvSpPr>
          <p:cNvPr id="10" name="Right Arrow 9"/>
          <p:cNvSpPr/>
          <p:nvPr/>
        </p:nvSpPr>
        <p:spPr>
          <a:xfrm>
            <a:off x="41573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AI音声アシスタント競争が激化</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他社との利用者獲得競争</a:t>
            </a:r>
          </a:p>
        </p:txBody>
      </p:sp>
      <p:sp>
        <p:nvSpPr>
          <p:cNvPr id="15" name="Right Arrow 14"/>
          <p:cNvSpPr/>
          <p:nvPr/>
        </p:nvSpPr>
        <p:spPr>
          <a:xfrm>
            <a:off x="73577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Fire TVで完全無料化</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2026年8月19日発表</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7168"/>
                </a:solidFill>
                <a:latin typeface="Yu Gothic"/>
              </a:rPr>
              <a:t>有料展開から今回の無料化までの流れ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TechCrunch(2026-08-19)</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TechCrunch・Engadget(2026-08-19)</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今回の発表の3ステップ総括</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1. Fire TVで完全無料化</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Prime加入の有無を問わず</a:t>
            </a:r>
          </a:p>
        </p:txBody>
      </p:sp>
      <p:sp>
        <p:nvSpPr>
          <p:cNvPr id="11" name="Chevron 10"/>
          <p:cNvSpPr/>
          <p:nvPr/>
        </p:nvSpPr>
        <p:spPr>
          <a:xfrm>
            <a:off x="4038295"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2. 自動アップグレード</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手続き不要ですぐ利用可能</a:t>
            </a:r>
          </a:p>
        </p:txBody>
      </p:sp>
      <p:sp>
        <p:nvSpPr>
          <p:cNvPr id="17" name="Chevron 16"/>
          <p:cNvSpPr/>
          <p:nvPr/>
        </p:nvSpPr>
        <p:spPr>
          <a:xfrm>
            <a:off x="7919313"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3. 一部機能は引き続き有料</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Echoデバイス等は対象外</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TechCrunch・Engadget(2026-08-19)</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AI音声アシスタント業界での位置づけ</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業界内での位置づけです。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AI音声アシスタント同士の利用者獲得競争が激化する中での無料化と位置づけられる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無料化によりAmazonのAI機能への接点を増やす狙いがあるとみられる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他社の同様のAI音声アシスタントとの具体的な機能比較は本調査では行っていない</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収益・広告戦略への具体的な影響は確認できていない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TechCrunch・Engadget(2026-08-19)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Fire TV(無料) vs Echoデバイス(引き続き有料範囲あり)</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Fire TV</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Alexa+が完全無料</a:t>
            </a:r>
          </a:p>
        </p:txBody>
      </p:sp>
      <p:sp>
        <p:nvSpPr>
          <p:cNvPr id="11" name="Oval 10"/>
          <p:cNvSpPr/>
          <p:nvPr/>
        </p:nvSpPr>
        <p:spPr>
          <a:xfrm>
            <a:off x="777240"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Prime加入不要</a:t>
            </a:r>
          </a:p>
        </p:txBody>
      </p:sp>
      <p:sp>
        <p:nvSpPr>
          <p:cNvPr id="13" name="Oval 12"/>
          <p:cNvSpPr/>
          <p:nvPr/>
        </p:nvSpPr>
        <p:spPr>
          <a:xfrm>
            <a:off x="777240"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自動アップグレード</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Echoデバイス</a:t>
            </a:r>
          </a:p>
        </p:txBody>
      </p:sp>
      <p:sp>
        <p:nvSpPr>
          <p:cNvPr id="18" name="Oval 17"/>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Prime会員資格等が必要</a:t>
            </a:r>
          </a:p>
        </p:txBody>
      </p:sp>
      <p:sp>
        <p:nvSpPr>
          <p:cNvPr id="20" name="Oval 19"/>
          <p:cNvSpPr/>
          <p:nvPr/>
        </p:nvSpPr>
        <p:spPr>
          <a:xfrm>
            <a:off x="6598767"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Alexaルーティン等の機能も対象</a:t>
            </a:r>
          </a:p>
        </p:txBody>
      </p:sp>
      <p:sp>
        <p:nvSpPr>
          <p:cNvPr id="22" name="Oval 21"/>
          <p:cNvSpPr/>
          <p:nvPr/>
        </p:nvSpPr>
        <p:spPr>
          <a:xfrm>
            <a:off x="6598767"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無料化の対象外</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TechCrunch・Engadget(2026-08-19)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今回の発表の要点まとめ</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2A2E"/>
                    </a:solidFill>
                  </a:tcPr>
                </a:tc>
                <a:tc>
                  <a:txBody>
                    <a:bodyPr/>
                    <a:lstStyle/>
                    <a:p>
                      <a:pPr>
                        <a:defRPr sz="1300" b="1">
                          <a:solidFill>
                            <a:srgbClr val="FFFFFF"/>
                          </a:solidFill>
                          <a:latin typeface="Yu Gothic"/>
                        </a:defRPr>
                      </a:pPr>
                      <a:r>
                        <a:t>内容</a:t>
                      </a:r>
                    </a:p>
                  </a:txBody>
                  <a:tcPr>
                    <a:solidFill>
                      <a:srgbClr val="1B2A2E"/>
                    </a:solidFill>
                  </a:tcPr>
                </a:tc>
              </a:tr>
              <a:tr h="502920">
                <a:tc>
                  <a:txBody>
                    <a:bodyPr/>
                    <a:lstStyle/>
                    <a:p>
                      <a:pPr>
                        <a:defRPr sz="1200">
                          <a:solidFill>
                            <a:srgbClr val="121C1F"/>
                          </a:solidFill>
                          <a:latin typeface="Yu Gothic"/>
                        </a:defRPr>
                      </a:pPr>
                      <a:r>
                        <a:t>無料化の対象</a:t>
                      </a:r>
                    </a:p>
                  </a:txBody>
                  <a:tcPr>
                    <a:solidFill>
                      <a:srgbClr val="FFFFFF"/>
                    </a:solidFill>
                  </a:tcPr>
                </a:tc>
                <a:tc>
                  <a:txBody>
                    <a:bodyPr/>
                    <a:lstStyle/>
                    <a:p>
                      <a:pPr>
                        <a:defRPr sz="1200">
                          <a:solidFill>
                            <a:srgbClr val="121C1F"/>
                          </a:solidFill>
                          <a:latin typeface="Yu Gothic"/>
                        </a:defRPr>
                      </a:pPr>
                      <a:r>
                        <a:t>対応Fire TVデバイス</a:t>
                      </a:r>
                    </a:p>
                  </a:txBody>
                  <a:tcPr>
                    <a:solidFill>
                      <a:srgbClr val="FFFFFF"/>
                    </a:solidFill>
                  </a:tcPr>
                </a:tc>
              </a:tr>
              <a:tr h="502920">
                <a:tc>
                  <a:txBody>
                    <a:bodyPr/>
                    <a:lstStyle/>
                    <a:p>
                      <a:pPr>
                        <a:defRPr sz="1200">
                          <a:solidFill>
                            <a:srgbClr val="121C1F"/>
                          </a:solidFill>
                          <a:latin typeface="Yu Gothic"/>
                        </a:defRPr>
                      </a:pPr>
                      <a:r>
                        <a:t>従来料金</a:t>
                      </a:r>
                    </a:p>
                  </a:txBody>
                  <a:tcPr>
                    <a:solidFill>
                      <a:srgbClr val="F0F7F4"/>
                    </a:solidFill>
                  </a:tcPr>
                </a:tc>
                <a:tc>
                  <a:txBody>
                    <a:bodyPr/>
                    <a:lstStyle/>
                    <a:p>
                      <a:pPr>
                        <a:defRPr sz="1200">
                          <a:solidFill>
                            <a:srgbClr val="121C1F"/>
                          </a:solidFill>
                          <a:latin typeface="Yu Gothic"/>
                        </a:defRPr>
                      </a:pPr>
                      <a:r>
                        <a:t>Prime非加入者は月額19.99ドル</a:t>
                      </a:r>
                    </a:p>
                  </a:txBody>
                  <a:tcPr>
                    <a:solidFill>
                      <a:srgbClr val="F0F7F4"/>
                    </a:solidFill>
                  </a:tcPr>
                </a:tc>
              </a:tr>
              <a:tr h="502920">
                <a:tc>
                  <a:txBody>
                    <a:bodyPr/>
                    <a:lstStyle/>
                    <a:p>
                      <a:pPr>
                        <a:defRPr sz="1200">
                          <a:solidFill>
                            <a:srgbClr val="121C1F"/>
                          </a:solidFill>
                          <a:latin typeface="Yu Gothic"/>
                        </a:defRPr>
                      </a:pPr>
                      <a:r>
                        <a:t>主な機能</a:t>
                      </a:r>
                    </a:p>
                  </a:txBody>
                  <a:tcPr>
                    <a:solidFill>
                      <a:srgbClr val="FFFFFF"/>
                    </a:solidFill>
                  </a:tcPr>
                </a:tc>
                <a:tc>
                  <a:txBody>
                    <a:bodyPr/>
                    <a:lstStyle/>
                    <a:p>
                      <a:pPr>
                        <a:defRPr sz="1200">
                          <a:solidFill>
                            <a:srgbClr val="121C1F"/>
                          </a:solidFill>
                          <a:latin typeface="Yu Gothic"/>
                        </a:defRPr>
                      </a:pPr>
                      <a:r>
                        <a:t>会話形式の検索・スマートホーム操作・AIおすすめ</a:t>
                      </a:r>
                    </a:p>
                  </a:txBody>
                  <a:tcPr>
                    <a:solidFill>
                      <a:srgbClr val="FFFFFF"/>
                    </a:solidFill>
                  </a:tcPr>
                </a:tc>
              </a:tr>
              <a:tr h="502920">
                <a:tc>
                  <a:txBody>
                    <a:bodyPr/>
                    <a:lstStyle/>
                    <a:p>
                      <a:pPr>
                        <a:defRPr sz="1200">
                          <a:solidFill>
                            <a:srgbClr val="121C1F"/>
                          </a:solidFill>
                          <a:latin typeface="Yu Gothic"/>
                        </a:defRPr>
                      </a:pPr>
                      <a:r>
                        <a:t>対応外の範囲</a:t>
                      </a:r>
                    </a:p>
                  </a:txBody>
                  <a:tcPr>
                    <a:solidFill>
                      <a:srgbClr val="F0F7F4"/>
                    </a:solidFill>
                  </a:tcPr>
                </a:tc>
                <a:tc>
                  <a:txBody>
                    <a:bodyPr/>
                    <a:lstStyle/>
                    <a:p>
                      <a:pPr>
                        <a:defRPr sz="1200">
                          <a:solidFill>
                            <a:srgbClr val="121C1F"/>
                          </a:solidFill>
                          <a:latin typeface="Yu Gothic"/>
                        </a:defRPr>
                      </a:pPr>
                      <a:r>
                        <a:t>Echoデバイス・Alexaルーティン等</a:t>
                      </a:r>
                    </a:p>
                  </a:txBody>
                  <a:tcPr>
                    <a:solidFill>
                      <a:srgbClr val="F0F7F4"/>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TechCrunch・aboutamazon.com(2026-08-19)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TechCrunch・Engadget(2026-08-19)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今後注目される点</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今後の見どころです。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米国以外の国・地域への展開時期</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収益・広告戦略への具体的な影響</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Echoデバイスなど他の製品ラインへの無料化拡大の有無</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今後の公式発表・利用者数の推移を継続して確認する必要がある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TechCrunch・Engadget(2026-08-19)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対応テレビの種類</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Fire TV機能搭載の複数メーカー製品</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Amazon純正・提携メーカー製品を含む</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TechCrunch(2026-08-19)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主な情報源(独立した複数メディア)</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情報源</a:t>
                      </a:r>
                    </a:p>
                  </a:txBody>
                  <a:tcPr>
                    <a:solidFill>
                      <a:srgbClr val="1B2A2E"/>
                    </a:solidFill>
                  </a:tcPr>
                </a:tc>
                <a:tc>
                  <a:txBody>
                    <a:bodyPr/>
                    <a:lstStyle/>
                    <a:p>
                      <a:pPr>
                        <a:defRPr sz="1300" b="1">
                          <a:solidFill>
                            <a:srgbClr val="FFFFFF"/>
                          </a:solidFill>
                          <a:latin typeface="Yu Gothic"/>
                        </a:defRPr>
                      </a:pPr>
                      <a:r>
                        <a:t>確認できた内容</a:t>
                      </a:r>
                    </a:p>
                  </a:txBody>
                  <a:tcPr>
                    <a:solidFill>
                      <a:srgbClr val="1B2A2E"/>
                    </a:solidFill>
                  </a:tcPr>
                </a:tc>
              </a:tr>
              <a:tr h="502920">
                <a:tc>
                  <a:txBody>
                    <a:bodyPr/>
                    <a:lstStyle/>
                    <a:p>
                      <a:pPr>
                        <a:defRPr sz="1200">
                          <a:solidFill>
                            <a:srgbClr val="121C1F"/>
                          </a:solidFill>
                          <a:latin typeface="Yu Gothic"/>
                        </a:defRPr>
                      </a:pPr>
                      <a:r>
                        <a:t>TechCrunch</a:t>
                      </a:r>
                    </a:p>
                  </a:txBody>
                  <a:tcPr>
                    <a:solidFill>
                      <a:srgbClr val="FFFFFF"/>
                    </a:solidFill>
                  </a:tcPr>
                </a:tc>
                <a:tc>
                  <a:txBody>
                    <a:bodyPr/>
                    <a:lstStyle/>
                    <a:p>
                      <a:pPr>
                        <a:defRPr sz="1200">
                          <a:solidFill>
                            <a:srgbClr val="121C1F"/>
                          </a:solidFill>
                          <a:latin typeface="Yu Gothic"/>
                        </a:defRPr>
                      </a:pPr>
                      <a:r>
                        <a:t>無料化の詳細・対応デバイス</a:t>
                      </a:r>
                    </a:p>
                  </a:txBody>
                  <a:tcPr>
                    <a:solidFill>
                      <a:srgbClr val="FFFFFF"/>
                    </a:solidFill>
                  </a:tcPr>
                </a:tc>
              </a:tr>
              <a:tr h="502920">
                <a:tc>
                  <a:txBody>
                    <a:bodyPr/>
                    <a:lstStyle/>
                    <a:p>
                      <a:pPr>
                        <a:defRPr sz="1200">
                          <a:solidFill>
                            <a:srgbClr val="121C1F"/>
                          </a:solidFill>
                          <a:latin typeface="Yu Gothic"/>
                        </a:defRPr>
                      </a:pPr>
                      <a:r>
                        <a:t>Engadget・Android Authority</a:t>
                      </a:r>
                    </a:p>
                  </a:txBody>
                  <a:tcPr>
                    <a:solidFill>
                      <a:srgbClr val="F0F7F4"/>
                    </a:solidFill>
                  </a:tcPr>
                </a:tc>
                <a:tc>
                  <a:txBody>
                    <a:bodyPr/>
                    <a:lstStyle/>
                    <a:p>
                      <a:pPr>
                        <a:defRPr sz="1200">
                          <a:solidFill>
                            <a:srgbClr val="121C1F"/>
                          </a:solidFill>
                          <a:latin typeface="Yu Gothic"/>
                        </a:defRPr>
                      </a:pPr>
                      <a:r>
                        <a:t>ユーザー体験・機能の解説</a:t>
                      </a:r>
                    </a:p>
                  </a:txBody>
                  <a:tcPr>
                    <a:solidFill>
                      <a:srgbClr val="F0F7F4"/>
                    </a:solidFill>
                  </a:tcPr>
                </a:tc>
              </a:tr>
              <a:tr h="502920">
                <a:tc>
                  <a:txBody>
                    <a:bodyPr/>
                    <a:lstStyle/>
                    <a:p>
                      <a:pPr>
                        <a:defRPr sz="1200">
                          <a:solidFill>
                            <a:srgbClr val="121C1F"/>
                          </a:solidFill>
                          <a:latin typeface="Yu Gothic"/>
                        </a:defRPr>
                      </a:pPr>
                      <a:r>
                        <a:t>Amazon公式(aboutamazon.com)</a:t>
                      </a:r>
                    </a:p>
                  </a:txBody>
                  <a:tcPr>
                    <a:solidFill>
                      <a:srgbClr val="FFFFFF"/>
                    </a:solidFill>
                  </a:tcPr>
                </a:tc>
                <a:tc>
                  <a:txBody>
                    <a:bodyPr/>
                    <a:lstStyle/>
                    <a:p>
                      <a:pPr>
                        <a:defRPr sz="1200">
                          <a:solidFill>
                            <a:srgbClr val="121C1F"/>
                          </a:solidFill>
                          <a:latin typeface="Yu Gothic"/>
                        </a:defRPr>
                      </a:pPr>
                      <a:r>
                        <a:t>一次情報・機能詳細</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本リサーチ(2026-08-19時点)</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TechCrunch・Engadget(2026-08-19)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無料化の対象範囲</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米国内の対応デバイスに限定</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海外展開の時期は未確認</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TechCrunch(2026-08-19)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有料プランの名称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Alexa+ Standardプラン</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Echoデバイス等での利用に必要</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aboutamazon.com(2026-08-19)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スマートホーム操作機能について</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機能の詳細です。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対応するスマートホーム機器をAlexa+から音声で操作できる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テレビ画面を介した操作にも対応するとされる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対応機器の具体的な種類・ブランドの一覧は本調査の範囲では確認できていない</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スマートホーム機能自体が無料範囲に含まれるかどうかの詳細な線引きは確認できていない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aboutamazon.com(2026-08-19)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TechCrunch・Engadget(2026-08-19)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正直にお伝えする留保事項です。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今回の無料化がAmazonの収益・広告戦略にどう影響するかの具体的な見通し</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Alexa+の基盤となるAIモデルの詳細な技術情報</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米国以外の国・地域への展開時期</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本テーマは特定企業(Amazon)の製品利用を推奨するものではなく、報じられた製品展開の紹介にとどめる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TechCrunch・Engadget(2026-08-19)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確認できている事実 vs 今後の不確定要素</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確認できている事実</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Fire TVでの完全無料化</a:t>
            </a:r>
          </a:p>
        </p:txBody>
      </p:sp>
      <p:sp>
        <p:nvSpPr>
          <p:cNvPr id="11" name="Oval 10"/>
          <p:cNvSpPr/>
          <p:nvPr/>
        </p:nvSpPr>
        <p:spPr>
          <a:xfrm>
            <a:off x="777240"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対応デバイスの一覧</a:t>
            </a:r>
          </a:p>
        </p:txBody>
      </p:sp>
      <p:sp>
        <p:nvSpPr>
          <p:cNvPr id="13" name="Oval 12"/>
          <p:cNvSpPr/>
          <p:nvPr/>
        </p:nvSpPr>
        <p:spPr>
          <a:xfrm>
            <a:off x="777240"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無料化されない範囲</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今後の不確定要素</a:t>
            </a:r>
          </a:p>
        </p:txBody>
      </p:sp>
      <p:sp>
        <p:nvSpPr>
          <p:cNvPr id="18" name="Oval 17"/>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収益への影響</a:t>
            </a:r>
          </a:p>
        </p:txBody>
      </p:sp>
      <p:sp>
        <p:nvSpPr>
          <p:cNvPr id="20" name="Oval 19"/>
          <p:cNvSpPr/>
          <p:nvPr/>
        </p:nvSpPr>
        <p:spPr>
          <a:xfrm>
            <a:off x="6598767"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海外展開の時期</a:t>
            </a:r>
          </a:p>
        </p:txBody>
      </p:sp>
      <p:sp>
        <p:nvSpPr>
          <p:cNvPr id="22" name="Oval 21"/>
          <p:cNvSpPr/>
          <p:nvPr/>
        </p:nvSpPr>
        <p:spPr>
          <a:xfrm>
            <a:off x="6598767"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AIモデルの技術詳細</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TechCrunch・Engadget(2026-08-19)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Fire TVを利用している立場として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対応デバイスであれば追加費用なしでAlexa+が使えるようになる可能性がある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AI音声アシスタントの動向に関心がある立場として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無料化競争が消費者にどう還元されるかを把握する視点が役立つ</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テック企業の戦略を読み解く立場として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無料化の狙いと収益モデルへの影響を区別して見る視点が参考になる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TechCrunch・Engadget(2026-08-19)</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まとめ</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本編のまとめです。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Amazonは2026年8月19日、Alexa+を対応Fire TVデバイス向けに無料で展開開始した</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従来Prime非加入者に必要だった月額19.99ドルの料金が撤廃された</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アップグレードは自動的に行われ、契約手続きは不要である</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Echoデバイス等の一部機能は引き続き有料であり、確認できていない点は正直に開示した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TechCrunch・Engadget(2026-08-19)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月額2,000円が、ある日突然ゼロ円に。</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FE8DE"/>
                </a:solidFill>
                <a:latin typeface="Yu Gothic"/>
              </a:rPr>
              <a:t>Amazonは2026年8月19日、Alexa+を対応Fire TVデバイス向けに無料で展開開始しました。この無料化の中身を、出典付きで正直に整理してお届けしました。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B2A2E"/>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