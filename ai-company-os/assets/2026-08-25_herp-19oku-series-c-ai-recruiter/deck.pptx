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採用管理システムを展開するHERPが、大型の資金調達を発表しました。何が起きたのか、出典付きで正確に整理してお届けします。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結論から確認します。採用管理システムのHERPが、シリーズCラウンドで19億円を調達しました。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本日の流れです。今回の調達から企業概要、AI機能、そして確認できなかったことまで整理します。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着手日当日に発表された、鮮度の高い話題です。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今回のシリーズCラウンドを含め、累計調達額は34億円となりました。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今回の調達は、第三者割当増資と金融機関からの借入という2つの方法で実施されました。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今回のラウンド概要です。日本政策金融公庫からの借入も含まれています。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HERPは、3,000社以上で導入されている採用管理システムを中心に事業を展開しています。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HERP Hireは、3,000社以上に導入されています。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採用管理からタレントプール、リファレンスチェックまで、採用プロセス全体をカバーするサービス群を展開しています。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採用管理からタレントプール、リファレンスチェックまで幅広いサービスを提供しています。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オプション機能の「HERP AIリクルーター」は、採用プロセス全体をAIが支援する機能です。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HERPは、3年間で組織を3倍に拡大する計画を掲げています。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面接設定から評価、候補者への連絡まで、一連の流れをAIが支援します。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今回のラウンドには、複数の投資家・金融機関が参加しました。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確定していることと、まだ確認できていないことを整理します。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これらの項目は本調査の範囲では確認できておらず、推測で埋めていません。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今回の発表は、着手日当日の2026年8月25日午前に行われました。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従来は人手で行っていた質問案作成や評価を、AIが支援する仕組みです。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採用活動の効率化ニーズを背景に、AIを活用したHRテックへの関心が高まっています。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本テーマは、HERP公式の発表を出典としています。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今回の調達額と累計調達額は、異なる範囲の数字として区別する必要があります。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今回の調達は、第三者割当増資と金融機関からの借入という2つの手法を組み合わせて実施されました。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今回の調達の注目ポイントを3つにまとめました。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本テーマは、HRテック分野におけるスタートアップの資金調達動向として整理しています。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これまでのサービス展開から今回の調達発表、そして今後の拡大計画までのタイムラインです。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今後、組織拡大の進捗やAIリクルーターの導入状況が注目されます。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HERPは、シリーズCラウンドで19億円を調達し、累計調達額は34億円となりました。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採用管理・タレントプール・リファレンスチェックに加え、人材紹介マッチングや求人メディアも展開しています。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本日はHERPの資金調達についてお届けしました。確認できなかったことは正直に開示しています。次回もお楽しみに。</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組織3倍へ</a:t>
            </a:r>
          </a:p>
          <a:p>
            <a:pPr algn="l">
              <a:lnSpc>
                <a:spcPct val="115000"/>
              </a:lnSpc>
            </a:pPr>
            <a:r>
              <a:rPr sz="4200" b="1">
                <a:solidFill>
                  <a:srgbClr val="FFFFFF"/>
                </a:solidFill>
                <a:latin typeface="Yu Gothic"/>
              </a:rPr>
              <a:t>HERPが19億円</a:t>
            </a:r>
          </a:p>
          <a:p>
            <a:pPr algn="l">
              <a:lnSpc>
                <a:spcPct val="115000"/>
              </a:lnSpc>
            </a:pPr>
            <a:r>
              <a:rPr sz="4200" b="1">
                <a:solidFill>
                  <a:srgbClr val="FFFFFF"/>
                </a:solidFill>
                <a:latin typeface="Yu Gothic"/>
              </a:rPr>
              <a:t>シリーズC調達</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ADCFC"/>
                </a:solidFill>
                <a:latin typeface="Yu Gothic"/>
              </a:rPr>
              <a:t>採用の現場をAIで変える——出典付きで整理する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A3D0"/>
                </a:solidFill>
                <a:latin typeface="Yu Gothic"/>
              </a:rPr>
              <a:t>出典: PR TIMES(2026年8月25日)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シリーズCで19億円調達</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HERP、累計調達額34億円に到達</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PR TIMES(2026-08-25)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ADCFC"/>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ADCFC"/>
                </a:solidFill>
                <a:latin typeface="Yu Gothic"/>
              </a:rPr>
              <a:t>今回の調達を確認する</a:t>
            </a:r>
          </a:p>
        </p:txBody>
      </p:sp>
      <p:sp>
        <p:nvSpPr>
          <p:cNvPr id="9" name="Oval 8"/>
          <p:cNvSpPr/>
          <p:nvPr/>
        </p:nvSpPr>
        <p:spPr>
          <a:xfrm>
            <a:off x="548640" y="347472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ADCFC"/>
                </a:solidFill>
                <a:latin typeface="Yu Gothic"/>
              </a:rPr>
              <a:t>HERPという企業を確認する</a:t>
            </a:r>
          </a:p>
        </p:txBody>
      </p:sp>
      <p:sp>
        <p:nvSpPr>
          <p:cNvPr id="11" name="Oval 10"/>
          <p:cNvSpPr/>
          <p:nvPr/>
        </p:nvSpPr>
        <p:spPr>
          <a:xfrm>
            <a:off x="548640" y="425196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ADCFC"/>
                </a:solidFill>
                <a:latin typeface="Yu Gothic"/>
              </a:rPr>
              <a:t>AI機能「HERP AIリクルーター」を確認する</a:t>
            </a:r>
          </a:p>
        </p:txBody>
      </p:sp>
      <p:sp>
        <p:nvSpPr>
          <p:cNvPr id="13" name="Oval 12"/>
          <p:cNvSpPr/>
          <p:nvPr/>
        </p:nvSpPr>
        <p:spPr>
          <a:xfrm>
            <a:off x="548640" y="502920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ADCFC"/>
                </a:solidFill>
                <a:latin typeface="Yu Gothic"/>
              </a:rPr>
              <a:t>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着手日当日にPR TIMESで発表された鮮度の高い話題</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3年で組織3倍という大胆な拡大計画</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AIを活用した採用支援機能への注目</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PR TIMES(2026-08-25)</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PR TIMES(2026-08-25)</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累計調達額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34億円</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今回のシリーズCを含む累計</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PR TIMES(2026-08-25)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今回の調達の内容</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2026年8月25日、シリーズCで19億円を調達</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第三者割当増資と金融機関からの借入で実施</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JICベンチャー・グロース・インベストメンツ等が参加</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PR TIMES(2026-08-25)</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PR TIMES(2026-08-25)</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今回のラウンド概要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調達額</a:t>
                      </a:r>
                    </a:p>
                  </a:txBody>
                  <a:tcPr>
                    <a:solidFill>
                      <a:srgbClr val="FFFFFF"/>
                    </a:solidFill>
                  </a:tcPr>
                </a:tc>
                <a:tc>
                  <a:txBody>
                    <a:bodyPr/>
                    <a:lstStyle/>
                    <a:p>
                      <a:pPr>
                        <a:defRPr sz="1200">
                          <a:solidFill>
                            <a:srgbClr val="1A1A2E"/>
                          </a:solidFill>
                          <a:latin typeface="Yu Gothic"/>
                        </a:defRPr>
                      </a:pPr>
                      <a:r>
                        <a:t>19億円(シリーズC)</a:t>
                      </a:r>
                    </a:p>
                  </a:txBody>
                  <a:tcPr>
                    <a:solidFill>
                      <a:srgbClr val="FFFFFF"/>
                    </a:solidFill>
                  </a:tcPr>
                </a:tc>
              </a:tr>
              <a:tr h="502920">
                <a:tc>
                  <a:txBody>
                    <a:bodyPr/>
                    <a:lstStyle/>
                    <a:p>
                      <a:pPr>
                        <a:defRPr sz="1200">
                          <a:solidFill>
                            <a:srgbClr val="1A1A2E"/>
                          </a:solidFill>
                          <a:latin typeface="Yu Gothic"/>
                        </a:defRPr>
                      </a:pPr>
                      <a:r>
                        <a:t>累計調達額</a:t>
                      </a:r>
                    </a:p>
                  </a:txBody>
                  <a:tcPr>
                    <a:solidFill>
                      <a:srgbClr val="F3F6FC"/>
                    </a:solidFill>
                  </a:tcPr>
                </a:tc>
                <a:tc>
                  <a:txBody>
                    <a:bodyPr/>
                    <a:lstStyle/>
                    <a:p>
                      <a:pPr>
                        <a:defRPr sz="1200">
                          <a:solidFill>
                            <a:srgbClr val="1A1A2E"/>
                          </a:solidFill>
                          <a:latin typeface="Yu Gothic"/>
                        </a:defRPr>
                      </a:pPr>
                      <a:r>
                        <a:t>34億円</a:t>
                      </a:r>
                    </a:p>
                  </a:txBody>
                  <a:tcPr>
                    <a:solidFill>
                      <a:srgbClr val="F3F6FC"/>
                    </a:solidFill>
                  </a:tcPr>
                </a:tc>
              </a:tr>
              <a:tr h="502920">
                <a:tc>
                  <a:txBody>
                    <a:bodyPr/>
                    <a:lstStyle/>
                    <a:p>
                      <a:pPr>
                        <a:defRPr sz="1200">
                          <a:solidFill>
                            <a:srgbClr val="1A1A2E"/>
                          </a:solidFill>
                          <a:latin typeface="Yu Gothic"/>
                        </a:defRPr>
                      </a:pPr>
                      <a:r>
                        <a:t>主な投資家</a:t>
                      </a:r>
                    </a:p>
                  </a:txBody>
                  <a:tcPr>
                    <a:solidFill>
                      <a:srgbClr val="FFFFFF"/>
                    </a:solidFill>
                  </a:tcPr>
                </a:tc>
                <a:tc>
                  <a:txBody>
                    <a:bodyPr/>
                    <a:lstStyle/>
                    <a:p>
                      <a:pPr>
                        <a:defRPr sz="1200">
                          <a:solidFill>
                            <a:srgbClr val="1A1A2E"/>
                          </a:solidFill>
                          <a:latin typeface="Yu Gothic"/>
                        </a:defRPr>
                      </a:pPr>
                      <a:r>
                        <a:t>JICベンチャー・グロース・インベストメンツ、DNX Ventures、日本政策金融公庫</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PR TIMES(2026-08-25)</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PR TIMES(2026-08-25)</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HERPという企業</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採用管理システム(ATS)『HERP Hire』等を展開</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HERP Hireは3,000社以上で導入</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IT企業を中心に活用されている</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PR TIMES(2026-08-25)</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PR TIMES(2026-08-25)</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HERP Hire導入社数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3,000社以上</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IT企業を中心に導入</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PR TIMES(2026-08-25)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HERPの提供サービス群(概念図)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HERP Hire(採用管理)</a:t>
            </a:r>
          </a:p>
        </p:txBody>
      </p:sp>
      <p:sp>
        <p:nvSpPr>
          <p:cNvPr id="9" name="Right Arrow 8"/>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HERP Nurture(タレントプール)</a:t>
            </a:r>
          </a:p>
        </p:txBody>
      </p:sp>
      <p:sp>
        <p:nvSpPr>
          <p:cNvPr id="13" name="Right Arrow 12"/>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HERP Trust・Agent Network・Career</a:t>
            </a:r>
          </a:p>
        </p:txBody>
      </p:sp>
      <p:sp>
        <p:nvSpPr>
          <p:cNvPr id="17" name="TextBox 16"/>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6270"/>
                </a:solidFill>
                <a:latin typeface="Yu Gothic"/>
              </a:rPr>
              <a:t>採用のプロセス全体をカバー</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PR TIMES(2026-08-25)</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HERPの主なサービス</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サービス名</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HERP Hire</a:t>
                      </a:r>
                    </a:p>
                  </a:txBody>
                  <a:tcPr>
                    <a:solidFill>
                      <a:srgbClr val="FFFFFF"/>
                    </a:solidFill>
                  </a:tcPr>
                </a:tc>
                <a:tc>
                  <a:txBody>
                    <a:bodyPr/>
                    <a:lstStyle/>
                    <a:p>
                      <a:pPr>
                        <a:defRPr sz="1200">
                          <a:solidFill>
                            <a:srgbClr val="1A1A2E"/>
                          </a:solidFill>
                          <a:latin typeface="Yu Gothic"/>
                        </a:defRPr>
                      </a:pPr>
                      <a:r>
                        <a:t>採用管理システム(ATS)</a:t>
                      </a:r>
                    </a:p>
                  </a:txBody>
                  <a:tcPr>
                    <a:solidFill>
                      <a:srgbClr val="FFFFFF"/>
                    </a:solidFill>
                  </a:tcPr>
                </a:tc>
              </a:tr>
              <a:tr h="502920">
                <a:tc>
                  <a:txBody>
                    <a:bodyPr/>
                    <a:lstStyle/>
                    <a:p>
                      <a:pPr>
                        <a:defRPr sz="1200">
                          <a:solidFill>
                            <a:srgbClr val="1A1A2E"/>
                          </a:solidFill>
                          <a:latin typeface="Yu Gothic"/>
                        </a:defRPr>
                      </a:pPr>
                      <a:r>
                        <a:t>HERP Nurture</a:t>
                      </a:r>
                    </a:p>
                  </a:txBody>
                  <a:tcPr>
                    <a:solidFill>
                      <a:srgbClr val="F3F6FC"/>
                    </a:solidFill>
                  </a:tcPr>
                </a:tc>
                <a:tc>
                  <a:txBody>
                    <a:bodyPr/>
                    <a:lstStyle/>
                    <a:p>
                      <a:pPr>
                        <a:defRPr sz="1200">
                          <a:solidFill>
                            <a:srgbClr val="1A1A2E"/>
                          </a:solidFill>
                          <a:latin typeface="Yu Gothic"/>
                        </a:defRPr>
                      </a:pPr>
                      <a:r>
                        <a:t>タレントプールシステム</a:t>
                      </a:r>
                    </a:p>
                  </a:txBody>
                  <a:tcPr>
                    <a:solidFill>
                      <a:srgbClr val="F3F6FC"/>
                    </a:solidFill>
                  </a:tcPr>
                </a:tc>
              </a:tr>
              <a:tr h="502920">
                <a:tc>
                  <a:txBody>
                    <a:bodyPr/>
                    <a:lstStyle/>
                    <a:p>
                      <a:pPr>
                        <a:defRPr sz="1200">
                          <a:solidFill>
                            <a:srgbClr val="1A1A2E"/>
                          </a:solidFill>
                          <a:latin typeface="Yu Gothic"/>
                        </a:defRPr>
                      </a:pPr>
                      <a:r>
                        <a:t>HERP Trust</a:t>
                      </a:r>
                    </a:p>
                  </a:txBody>
                  <a:tcPr>
                    <a:solidFill>
                      <a:srgbClr val="FFFFFF"/>
                    </a:solidFill>
                  </a:tcPr>
                </a:tc>
                <a:tc>
                  <a:txBody>
                    <a:bodyPr/>
                    <a:lstStyle/>
                    <a:p>
                      <a:pPr>
                        <a:defRPr sz="1200">
                          <a:solidFill>
                            <a:srgbClr val="1A1A2E"/>
                          </a:solidFill>
                          <a:latin typeface="Yu Gothic"/>
                        </a:defRPr>
                      </a:pPr>
                      <a:r>
                        <a:t>オンライン完結型リファレンスチェック</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PR TIMES(2026-08-25)</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PR TIMES(2026-08-25)</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AI機能「HERP AIリクルーター」</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書類選考・面接・評価などの採用プロセス全体をAIが支援</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面接設定完了後、質問案を自動生成</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面接終了後、評価ドラフト作成・候補者連絡文を提案</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PR TIMES(2026-08-25)</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PR TIMES(2026-08-25)</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組織拡大計画</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3年で組織を3倍に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HERPが掲げる拡大目標</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PR TIMES(2026-08-25)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AIリクルーターの動作フロー</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面接設定完了</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質問案を自動生成</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面接終了</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評価ドラフトを作成</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評価後</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候補者への連絡文を提案</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PR TIMES(2026-08-25)</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投資家の顔ぶれ</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JICベンチャー・グロース・インベストメンツ</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DNX Ventures</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日本政策金融公庫</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PR TIMES(2026-08-25)</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確定していること・確認できなかったこと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区分</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確定</a:t>
                      </a:r>
                    </a:p>
                  </a:txBody>
                  <a:tcPr>
                    <a:solidFill>
                      <a:srgbClr val="FFFFFF"/>
                    </a:solidFill>
                  </a:tcPr>
                </a:tc>
                <a:tc>
                  <a:txBody>
                    <a:bodyPr/>
                    <a:lstStyle/>
                    <a:p>
                      <a:pPr>
                        <a:defRPr sz="1200">
                          <a:solidFill>
                            <a:srgbClr val="1A1A2E"/>
                          </a:solidFill>
                          <a:latin typeface="Yu Gothic"/>
                        </a:defRPr>
                      </a:pPr>
                      <a:r>
                        <a:t>調達額・累計調達額・主な投資家</a:t>
                      </a:r>
                    </a:p>
                  </a:txBody>
                  <a:tcPr>
                    <a:solidFill>
                      <a:srgbClr val="FFFFFF"/>
                    </a:solidFill>
                  </a:tcPr>
                </a:tc>
              </a:tr>
              <a:tr h="502920">
                <a:tc>
                  <a:txBody>
                    <a:bodyPr/>
                    <a:lstStyle/>
                    <a:p>
                      <a:pPr>
                        <a:defRPr sz="1200">
                          <a:solidFill>
                            <a:srgbClr val="1A1A2E"/>
                          </a:solidFill>
                          <a:latin typeface="Yu Gothic"/>
                        </a:defRPr>
                      </a:pPr>
                      <a:r>
                        <a:t>確定</a:t>
                      </a:r>
                    </a:p>
                  </a:txBody>
                  <a:tcPr>
                    <a:solidFill>
                      <a:srgbClr val="F3F6FC"/>
                    </a:solidFill>
                  </a:tcPr>
                </a:tc>
                <a:tc>
                  <a:txBody>
                    <a:bodyPr/>
                    <a:lstStyle/>
                    <a:p>
                      <a:pPr>
                        <a:defRPr sz="1200">
                          <a:solidFill>
                            <a:srgbClr val="1A1A2E"/>
                          </a:solidFill>
                          <a:latin typeface="Yu Gothic"/>
                        </a:defRPr>
                      </a:pPr>
                      <a:r>
                        <a:t>HERP Hireの導入社数・組織拡大目標</a:t>
                      </a:r>
                    </a:p>
                  </a:txBody>
                  <a:tcPr>
                    <a:solidFill>
                      <a:srgbClr val="F3F6FC"/>
                    </a:solidFill>
                  </a:tcPr>
                </a:tc>
              </a:tr>
              <a:tr h="502920">
                <a:tc>
                  <a:txBody>
                    <a:bodyPr/>
                    <a:lstStyle/>
                    <a:p>
                      <a:pPr>
                        <a:defRPr sz="1200">
                          <a:solidFill>
                            <a:srgbClr val="1A1A2E"/>
                          </a:solidFill>
                          <a:latin typeface="Yu Gothic"/>
                        </a:defRPr>
                      </a:pPr>
                      <a:r>
                        <a:t>未確認</a:t>
                      </a:r>
                    </a:p>
                  </a:txBody>
                  <a:tcPr>
                    <a:solidFill>
                      <a:srgbClr val="FFFFFF"/>
                    </a:solidFill>
                  </a:tcPr>
                </a:tc>
                <a:tc>
                  <a:txBody>
                    <a:bodyPr/>
                    <a:lstStyle/>
                    <a:p>
                      <a:pPr>
                        <a:defRPr sz="1200">
                          <a:solidFill>
                            <a:srgbClr val="1A1A2E"/>
                          </a:solidFill>
                          <a:latin typeface="Yu Gothic"/>
                        </a:defRPr>
                      </a:pPr>
                      <a:r>
                        <a:t>今回のラウンドの企業評価額</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PR TIMES(2026-08-25)</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確認できなかったこと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今回のラウンドにおける具体的な企業評価額</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「HERP AIリクルーター」の具体的な導入企業数・利用実績</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組織拡大(3年で3倍)の具体的な現在の従業員数・目標人数</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PR TIMES(2026-08-25)</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発表日</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2026年8月25日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着手日当日の発表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PR TIMES(2026-08-25)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従来型採用 vs AIリクルーター活用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従来型の採用プロセス</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質問案・評価は人手で作成</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HERP AIリクルーター活用</a:t>
            </a:r>
          </a:p>
        </p:txBody>
      </p:sp>
      <p:sp>
        <p:nvSpPr>
          <p:cNvPr id="14" name="Oval 13"/>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質問案・評価ドラフトをAIが支援</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PR TIMES(2026-08-25)</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HRテック業界の背景</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採用活動の効率化ニーズが高まっている</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AIを活用したHRテックへの投資家の関心が拡大</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特定企業の製品利用を強く推奨する意図はない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PR TIMES(2026-08-25)</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出典</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00584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情報源</a:t>
                      </a:r>
                    </a:p>
                  </a:txBody>
                  <a:tcPr>
                    <a:solidFill>
                      <a:srgbClr val="1E2761"/>
                    </a:solidFill>
                  </a:tcPr>
                </a:tc>
                <a:tc>
                  <a:txBody>
                    <a:bodyPr/>
                    <a:lstStyle/>
                    <a:p>
                      <a:pPr>
                        <a:defRPr sz="1300" b="1">
                          <a:solidFill>
                            <a:srgbClr val="FFFFFF"/>
                          </a:solidFill>
                          <a:latin typeface="Yu Gothic"/>
                        </a:defRPr>
                      </a:pPr>
                      <a:r>
                        <a:t>発表日</a:t>
                      </a:r>
                    </a:p>
                  </a:txBody>
                  <a:tcPr>
                    <a:solidFill>
                      <a:srgbClr val="1E2761"/>
                    </a:solidFill>
                  </a:tcPr>
                </a:tc>
              </a:tr>
              <a:tr h="502920">
                <a:tc>
                  <a:txBody>
                    <a:bodyPr/>
                    <a:lstStyle/>
                    <a:p>
                      <a:pPr>
                        <a:defRPr sz="1200">
                          <a:solidFill>
                            <a:srgbClr val="1A1A2E"/>
                          </a:solidFill>
                          <a:latin typeface="Yu Gothic"/>
                        </a:defRPr>
                      </a:pPr>
                      <a:r>
                        <a:t>PR TIMES(HERP公式発表)</a:t>
                      </a:r>
                    </a:p>
                  </a:txBody>
                  <a:tcPr>
                    <a:solidFill>
                      <a:srgbClr val="FFFFFF"/>
                    </a:solidFill>
                  </a:tcPr>
                </a:tc>
                <a:tc>
                  <a:txBody>
                    <a:bodyPr/>
                    <a:lstStyle/>
                    <a:p>
                      <a:pPr>
                        <a:defRPr sz="1200">
                          <a:solidFill>
                            <a:srgbClr val="1A1A2E"/>
                          </a:solidFill>
                          <a:latin typeface="Yu Gothic"/>
                        </a:defRPr>
                      </a:pPr>
                      <a:r>
                        <a:t>2026年8月25日</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PR TIMES(2026-08-25)</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今回の調達額 vs 累計調達額</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今回のシリーズC</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19億円</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累計調達額</a:t>
            </a:r>
          </a:p>
        </p:txBody>
      </p:sp>
      <p:sp>
        <p:nvSpPr>
          <p:cNvPr id="14" name="Oval 13"/>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34億円</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PR TIMES(2026-08-25)</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調達方法</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第三者割当増資+金融機関借入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2つの手法を組み合わせた資金調達</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PR TIMES(2026-08-25)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今回の調達の3つの注目ポイント</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01</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3年で組織3倍という拡大計画</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02</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3,000社以上で導入されるATS</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03</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AIリクルーターによる採用支援強化</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PR TIMES(2026-08-25)</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視聴者にとっての意味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HRテック・採用活動に関心がある層に関係する情報</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AI活用による採用効率化の事例としての価値</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特定企業の製品利用を強く推奨する意図はない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PR TIMES(2026-08-25)</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タイムライン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時期</a:t>
                      </a:r>
                    </a:p>
                  </a:txBody>
                  <a:tcPr>
                    <a:solidFill>
                      <a:srgbClr val="1E2761"/>
                    </a:solidFill>
                  </a:tcPr>
                </a:tc>
                <a:tc>
                  <a:txBody>
                    <a:bodyPr/>
                    <a:lstStyle/>
                    <a:p>
                      <a:pPr>
                        <a:defRPr sz="1300" b="1">
                          <a:solidFill>
                            <a:srgbClr val="FFFFFF"/>
                          </a:solidFill>
                          <a:latin typeface="Yu Gothic"/>
                        </a:defRPr>
                      </a:pPr>
                      <a:r>
                        <a:t>できごと</a:t>
                      </a:r>
                    </a:p>
                  </a:txBody>
                  <a:tcPr>
                    <a:solidFill>
                      <a:srgbClr val="1E2761"/>
                    </a:solidFill>
                  </a:tcPr>
                </a:tc>
              </a:tr>
              <a:tr h="502920">
                <a:tc>
                  <a:txBody>
                    <a:bodyPr/>
                    <a:lstStyle/>
                    <a:p>
                      <a:pPr>
                        <a:defRPr sz="1200">
                          <a:solidFill>
                            <a:srgbClr val="1A1A2E"/>
                          </a:solidFill>
                          <a:latin typeface="Yu Gothic"/>
                        </a:defRPr>
                      </a:pPr>
                      <a:r>
                        <a:t>これまで</a:t>
                      </a:r>
                    </a:p>
                  </a:txBody>
                  <a:tcPr>
                    <a:solidFill>
                      <a:srgbClr val="FFFFFF"/>
                    </a:solidFill>
                  </a:tcPr>
                </a:tc>
                <a:tc>
                  <a:txBody>
                    <a:bodyPr/>
                    <a:lstStyle/>
                    <a:p>
                      <a:pPr>
                        <a:defRPr sz="1200">
                          <a:solidFill>
                            <a:srgbClr val="1A1A2E"/>
                          </a:solidFill>
                          <a:latin typeface="Yu Gothic"/>
                        </a:defRPr>
                      </a:pPr>
                      <a:r>
                        <a:t>HERP Hire等のサービスを展開</a:t>
                      </a:r>
                    </a:p>
                  </a:txBody>
                  <a:tcPr>
                    <a:solidFill>
                      <a:srgbClr val="FFFFFF"/>
                    </a:solidFill>
                  </a:tcPr>
                </a:tc>
              </a:tr>
              <a:tr h="502920">
                <a:tc>
                  <a:txBody>
                    <a:bodyPr/>
                    <a:lstStyle/>
                    <a:p>
                      <a:pPr>
                        <a:defRPr sz="1200">
                          <a:solidFill>
                            <a:srgbClr val="1A1A2E"/>
                          </a:solidFill>
                          <a:latin typeface="Yu Gothic"/>
                        </a:defRPr>
                      </a:pPr>
                      <a:r>
                        <a:t>2026年8月25日</a:t>
                      </a:r>
                    </a:p>
                  </a:txBody>
                  <a:tcPr>
                    <a:solidFill>
                      <a:srgbClr val="F3F6FC"/>
                    </a:solidFill>
                  </a:tcPr>
                </a:tc>
                <a:tc>
                  <a:txBody>
                    <a:bodyPr/>
                    <a:lstStyle/>
                    <a:p>
                      <a:pPr>
                        <a:defRPr sz="1200">
                          <a:solidFill>
                            <a:srgbClr val="1A1A2E"/>
                          </a:solidFill>
                          <a:latin typeface="Yu Gothic"/>
                        </a:defRPr>
                      </a:pPr>
                      <a:r>
                        <a:t>シリーズC(19億円)発表</a:t>
                      </a:r>
                    </a:p>
                  </a:txBody>
                  <a:tcPr>
                    <a:solidFill>
                      <a:srgbClr val="F3F6FC"/>
                    </a:solidFill>
                  </a:tcPr>
                </a:tc>
              </a:tr>
              <a:tr h="502920">
                <a:tc>
                  <a:txBody>
                    <a:bodyPr/>
                    <a:lstStyle/>
                    <a:p>
                      <a:pPr>
                        <a:defRPr sz="1200">
                          <a:solidFill>
                            <a:srgbClr val="1A1A2E"/>
                          </a:solidFill>
                          <a:latin typeface="Yu Gothic"/>
                        </a:defRPr>
                      </a:pPr>
                      <a:r>
                        <a:t>今後3年</a:t>
                      </a:r>
                    </a:p>
                  </a:txBody>
                  <a:tcPr>
                    <a:solidFill>
                      <a:srgbClr val="FFFFFF"/>
                    </a:solidFill>
                  </a:tcPr>
                </a:tc>
                <a:tc>
                  <a:txBody>
                    <a:bodyPr/>
                    <a:lstStyle/>
                    <a:p>
                      <a:pPr>
                        <a:defRPr sz="1200">
                          <a:solidFill>
                            <a:srgbClr val="1A1A2E"/>
                          </a:solidFill>
                          <a:latin typeface="Yu Gothic"/>
                        </a:defRPr>
                      </a:pPr>
                      <a:r>
                        <a:t>組織3倍への拡大計画</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PR TIMES(2026-08-25)</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今後注目される点</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組織拡大(3年で3倍)の具体的な進捗</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「HERP AIリクルーター」の導入企業数の今後の推移</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現時点では未確認の情報として今後の続報を待つ必要がある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PR TIMES(2026-08-25)</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今日のまとめの数字</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19億円調達 累計34億円</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HERP、シリーズC完了(2026年8月25日)</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PR TIMES(2026-08-25)</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HERPの追加サービス</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サービス名</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HERP Agent Network</a:t>
                      </a:r>
                    </a:p>
                  </a:txBody>
                  <a:tcPr>
                    <a:solidFill>
                      <a:srgbClr val="FFFFFF"/>
                    </a:solidFill>
                  </a:tcPr>
                </a:tc>
                <a:tc>
                  <a:txBody>
                    <a:bodyPr/>
                    <a:lstStyle/>
                    <a:p>
                      <a:pPr>
                        <a:defRPr sz="1200">
                          <a:solidFill>
                            <a:srgbClr val="1A1A2E"/>
                          </a:solidFill>
                          <a:latin typeface="Yu Gothic"/>
                        </a:defRPr>
                      </a:pPr>
                      <a:r>
                        <a:t>人材紹介のマッチングサービス</a:t>
                      </a:r>
                    </a:p>
                  </a:txBody>
                  <a:tcPr>
                    <a:solidFill>
                      <a:srgbClr val="FFFFFF"/>
                    </a:solidFill>
                  </a:tcPr>
                </a:tc>
              </a:tr>
              <a:tr h="502920">
                <a:tc>
                  <a:txBody>
                    <a:bodyPr/>
                    <a:lstStyle/>
                    <a:p>
                      <a:pPr>
                        <a:defRPr sz="1200">
                          <a:solidFill>
                            <a:srgbClr val="1A1A2E"/>
                          </a:solidFill>
                          <a:latin typeface="Yu Gothic"/>
                        </a:defRPr>
                      </a:pPr>
                      <a:r>
                        <a:t>HERP Career</a:t>
                      </a:r>
                    </a:p>
                  </a:txBody>
                  <a:tcPr>
                    <a:solidFill>
                      <a:srgbClr val="F3F6FC"/>
                    </a:solidFill>
                  </a:tcPr>
                </a:tc>
                <a:tc>
                  <a:txBody>
                    <a:bodyPr/>
                    <a:lstStyle/>
                    <a:p>
                      <a:pPr>
                        <a:defRPr sz="1200">
                          <a:solidFill>
                            <a:srgbClr val="1A1A2E"/>
                          </a:solidFill>
                          <a:latin typeface="Yu Gothic"/>
                        </a:defRPr>
                      </a:pPr>
                      <a:r>
                        <a:t>求人メディア</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PR TIMES(2026-08-25)</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PR TIMES(2026-08-25)</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出典付きで、正確に。</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ADCFC"/>
                </a:solidFill>
                <a:latin typeface="Yu Gothic"/>
              </a:rPr>
              <a:t>AI Company OSは、確認できた事実だけをお届けします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E2761"/>
                </a:solidFill>
                <a:latin typeface="Yu Gothic"/>
              </a:rPr>
              <a:t>次回もお楽しみに</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