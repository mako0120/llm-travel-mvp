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あなたに営業メールを送ってきたその担当者は、実在しない人間だったかもしれません。今日はこの話題を、出典付きで整理してお伝えします。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まず数字から。少なくとも15人分の、AI生成の顔写真と経歴を持つ架空の広報担当者が確認されています。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架空の人物が、実在するかのようにジャーナリストへ営業メールを送っていたことが発覚しました。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架空の担当者が営業メールを送り続ける中で、記者が違和感に気づき、調査が始まりました。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『June Barton』『Summer Casey』名義のメールは、AI検出ツールで100%AI生成と判定されました。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架空の担当者には、顔写真・経歴・名前まで作り込まれていました。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創業者自身は、この慣行について釈明し、判断の甘さを認めています。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一方的な断罪にならないよう、創業者側の説明も正確にお伝えします。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関係者それぞれの立場を整理しました。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この報道は、まさに今日、着手日当日のものです。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この問題が重要なのは、ジャーナリズムと広報の間にある『信頼』という土台に関わるからです。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クライアント企業も、この慣行を知らされていなかったと述べています。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似た話題が同時期に複数ありますが、それぞれ別の事案です。混同しないよう整理しています。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PR会社の説明と、外部からの受け止められ方、両方を公平にお伝えします。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『June Barton』という名前も、実在しない人物のものでした。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この問題は、AI技術そのものが悪いという話ではなく、その使い方が問題視されているという点を明確にしておきます。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この4段階が、なりすましが信頼を損なう仕組みです。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本テーマの要点をまとめました。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この話題は、着手日当日の報道です。非常に新しい話題として扱っています。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ここまでの内容を総括します。少なくとも15人分の架空の担当者が作られ、記者の調査とAI検出ツールで発覚しました。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ここからは推測です。今後の展開はまだ確定していません。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関連する話題はありますが、切り口はそれぞれ異なります。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この整理は、誤解を避けるために特に重要なポイントです。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PR会社側は、この運用を縮小すると説明しています。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最後にもう一度、創業者自身の言葉を振り返ります。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この話題は今後も続きそうです。注目したいポイントを整理しました。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その広報担当者は、存在しない人間だった。この意外な事実を、今日はお伝えしました。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今回は、AI生成の架空の広報担当者を使っていたPR会社の問題をお伝えしました。ご視聴ありがとうございました。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その広報担当者は、存在しない人間だった。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英PR会社Movchan Agencyの「架空のAI広報担当者」問題(2026年8月3日報道)</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Futurism・Tech.eu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作られていた架空の担当者の人数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少なくとも15人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AI生成の顔写真・経歴を持つ架空の広報担当者</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Futurism(2026-08-03)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何が発覚したのか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AI検出ツールでの判定結果</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PR会社側の説明</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クライアント企業の反応</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確認できなかったこと・今後の見通し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何が発覚したのか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2026年8月3日、Futurismの調査報道のポイントです。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英国拠点のPR会社Movchan Agencyが、架空の広報担当者を使っていた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少なくとも15人分の、AI生成の顔写真・経歴を持つ人物が確認された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『June Barton』『Summer Casey』などの名義でメールが送られていた</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ジャーナリストへ、クライアント企業のための営業メールを送っていた</a:t>
            </a:r>
          </a:p>
        </p:txBody>
      </p:sp>
      <p:sp>
        <p:nvSpPr>
          <p:cNvPr id="15" name="Oval 14"/>
          <p:cNvSpPr/>
          <p:nvPr/>
        </p:nvSpPr>
        <p:spPr>
          <a:xfrm>
            <a:off x="457200" y="523036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調査したのはFuturismの記者Maggie Harrison Dupré氏</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Futurism(2026-08-03)</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発覚までの流れ(概念図)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架空の担当者を作成</a:t>
            </a:r>
          </a:p>
        </p:txBody>
      </p:sp>
      <p:sp>
        <p:nvSpPr>
          <p:cNvPr id="9" name="Right Arrow 8"/>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ジャーナリストへ営業メール</a:t>
            </a:r>
          </a:p>
        </p:txBody>
      </p:sp>
      <p:sp>
        <p:nvSpPr>
          <p:cNvPr id="13" name="Right Arrow 12"/>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記者が違和感に気づく</a:t>
            </a:r>
          </a:p>
        </p:txBody>
      </p:sp>
      <p:sp>
        <p:nvSpPr>
          <p:cNvPr id="17" name="Right Arrow 16"/>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AI検出ツールで検証・報道</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AI検出ツールでの判定結果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100%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AI検出ツールPangramで、メール本文がAI生成と判定された割合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Futurism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架空の担当者の特徴</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AI生成の顔写真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実在しない人物の顔写真が使われていた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作られた経歴</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経歴・肩書もあわせて作り込まれていた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実在する名前風の名義</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『June Barton』『Summer Casey』など、いかにも実在しそうな名前が使われていた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“Gmailの配信性の問題に対応するため、事前にウォームアップ済みのドメインを購入する一時的な対応だった。判断が甘かった。”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Movchan Agency創業者 Nadya Movchan氏(報道の要約)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PR会社側の説明(正確に紹介)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創業者Nadya Movchan氏の説明のポイントです。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Gmailの配信性(deliverability)の更新で、ドメインの評判に問題が生じた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対応策として、事前にウォームアップ済みのドメインを購入した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これが一時的な対応のつもりだったと説明している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『判断が甘かった』と認めている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Futurism</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関係者の反応・整理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関係者</a:t>
                      </a:r>
                    </a:p>
                  </a:txBody>
                  <a:tcPr>
                    <a:solidFill>
                      <a:srgbClr val="1E2761"/>
                    </a:solidFill>
                  </a:tcPr>
                </a:tc>
                <a:tc>
                  <a:txBody>
                    <a:bodyPr/>
                    <a:lstStyle/>
                    <a:p>
                      <a:pPr>
                        <a:defRPr sz="1300" b="1">
                          <a:solidFill>
                            <a:srgbClr val="FFFFFF"/>
                          </a:solidFill>
                          <a:latin typeface="Yu Gothic"/>
                        </a:defRPr>
                      </a:pPr>
                      <a:r>
                        <a:t>反応</a:t>
                      </a:r>
                    </a:p>
                  </a:txBody>
                  <a:tcPr>
                    <a:solidFill>
                      <a:srgbClr val="1E2761"/>
                    </a:solidFill>
                  </a:tcPr>
                </a:tc>
              </a:tr>
              <a:tr h="502920">
                <a:tc>
                  <a:txBody>
                    <a:bodyPr/>
                    <a:lstStyle/>
                    <a:p>
                      <a:pPr>
                        <a:defRPr sz="1200">
                          <a:solidFill>
                            <a:srgbClr val="1A1A2E"/>
                          </a:solidFill>
                          <a:latin typeface="Yu Gothic"/>
                        </a:defRPr>
                      </a:pPr>
                      <a:r>
                        <a:t>PR会社(Movchan Agency)</a:t>
                      </a:r>
                    </a:p>
                  </a:txBody>
                  <a:tcPr>
                    <a:solidFill>
                      <a:srgbClr val="FFFFFF"/>
                    </a:solidFill>
                  </a:tcPr>
                </a:tc>
                <a:tc>
                  <a:txBody>
                    <a:bodyPr/>
                    <a:lstStyle/>
                    <a:p>
                      <a:pPr>
                        <a:defRPr sz="1200">
                          <a:solidFill>
                            <a:srgbClr val="1A1A2E"/>
                          </a:solidFill>
                          <a:latin typeface="Yu Gothic"/>
                        </a:defRPr>
                      </a:pPr>
                      <a:r>
                        <a:t>『判断が甘かった』と認め、運用を縮小すると説明</a:t>
                      </a:r>
                    </a:p>
                  </a:txBody>
                  <a:tcPr>
                    <a:solidFill>
                      <a:srgbClr val="FFFFFF"/>
                    </a:solidFill>
                  </a:tcPr>
                </a:tc>
              </a:tr>
              <a:tr h="502920">
                <a:tc>
                  <a:txBody>
                    <a:bodyPr/>
                    <a:lstStyle/>
                    <a:p>
                      <a:pPr>
                        <a:defRPr sz="1200">
                          <a:solidFill>
                            <a:srgbClr val="1A1A2E"/>
                          </a:solidFill>
                          <a:latin typeface="Yu Gothic"/>
                        </a:defRPr>
                      </a:pPr>
                      <a:r>
                        <a:t>クライアント企業</a:t>
                      </a:r>
                    </a:p>
                  </a:txBody>
                  <a:tcPr>
                    <a:solidFill>
                      <a:srgbClr val="F3F6FC"/>
                    </a:solidFill>
                  </a:tcPr>
                </a:tc>
                <a:tc>
                  <a:txBody>
                    <a:bodyPr/>
                    <a:lstStyle/>
                    <a:p>
                      <a:pPr>
                        <a:defRPr sz="1200">
                          <a:solidFill>
                            <a:srgbClr val="1A1A2E"/>
                          </a:solidFill>
                          <a:latin typeface="Yu Gothic"/>
                        </a:defRPr>
                      </a:pPr>
                      <a:r>
                        <a:t>この慣行を知らされておらず、了承していなかったと説明</a:t>
                      </a:r>
                    </a:p>
                  </a:txBody>
                  <a:tcPr>
                    <a:solidFill>
                      <a:srgbClr val="F3F6FC"/>
                    </a:solidFill>
                  </a:tcPr>
                </a:tc>
              </a:tr>
              <a:tr h="502920">
                <a:tc>
                  <a:txBody>
                    <a:bodyPr/>
                    <a:lstStyle/>
                    <a:p>
                      <a:pPr>
                        <a:defRPr sz="1200">
                          <a:solidFill>
                            <a:srgbClr val="1A1A2E"/>
                          </a:solidFill>
                          <a:latin typeface="Yu Gothic"/>
                        </a:defRPr>
                      </a:pPr>
                      <a:r>
                        <a:t>ジャーナリスト(調査者)</a:t>
                      </a:r>
                    </a:p>
                  </a:txBody>
                  <a:tcPr>
                    <a:solidFill>
                      <a:srgbClr val="FFFFFF"/>
                    </a:solidFill>
                  </a:tcPr>
                </a:tc>
                <a:tc>
                  <a:txBody>
                    <a:bodyPr/>
                    <a:lstStyle/>
                    <a:p>
                      <a:pPr>
                        <a:defRPr sz="1200">
                          <a:solidFill>
                            <a:srgbClr val="1A1A2E"/>
                          </a:solidFill>
                          <a:latin typeface="Yu Gothic"/>
                        </a:defRPr>
                      </a:pPr>
                      <a:r>
                        <a:t>AI検出ツールで検証し、Futurismで報道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報道が出た日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2026-08-03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Futurismが調査結果を報道した日(着手日当日)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Futurism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なぜ問題なのか(整理)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信頼の前提が崩れる</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取材相手が実在しない</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ジャーナリズムの土台に関わる</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クライアントも知らなかった</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クライアント企業の反応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問い合わせを受けたクライアント企業側の反応です。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この慣行を知らされていなかったと説明している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知っていれば了承しなかっただろうと述べている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PR会社と直接契約していたクライアントも被害者的な立場にある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具体的な企業名までは本調査の時点では確認できていない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Futurism</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関連する同時期の報道(参考、混同注意)</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National Todayの疑惑</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別のPR会社が、著作権を侵害する形でニュース記事を盗用していた疑惑(別の事案)</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OpenAI関連の報道</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AIエージェントが人間の記者を装っていたという、別の報道も存在する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本テーマとの関係</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いずれもMovchan Agencyとは別の事案であり、混同しないよう整理している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PR会社の説明 と 受け止められ方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PR会社の説明</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Gmail配信性への一時的な対応だった</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判断が甘かったと認めている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受け止められ方</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ジャーナリストへの裏切りだという指摘</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クライアントも知らなかった点への驚き</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架空の名義の例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June Barton</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実在しない人物の名義で送られていたメールの一例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Futurism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AI企業やAI技術との関係(公平性への配慮)</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本パイプラインもAI(Anthropic製Claude)を使って制作しています。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本テーマは特定のAI企業(OpenAI・Anthropic等)を批判する内容ではない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問題視されているのはAI技術そのものではなく、なりすましという利用方法</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本パイプラインはAnthropicのClaudeモデルを使用しているが、本テーマの内容とは直接関係しない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AI技術一般への評価ではなく、個別の事案として紹介している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『なりすまし』が信頼を損なう仕組み(概念図)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架空の人物を作る</a:t>
            </a:r>
          </a:p>
        </p:txBody>
      </p:sp>
      <p:sp>
        <p:nvSpPr>
          <p:cNvPr id="9" name="Right Arrow 8"/>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実在するかのように振る舞う</a:t>
            </a:r>
          </a:p>
        </p:txBody>
      </p:sp>
      <p:sp>
        <p:nvSpPr>
          <p:cNvPr id="13" name="Right Arrow 12"/>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相手が信頼して対応する</a:t>
            </a:r>
          </a:p>
        </p:txBody>
      </p:sp>
      <p:sp>
        <p:nvSpPr>
          <p:cNvPr id="17" name="Right Arrow 16"/>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発覚時に信頼が崩れる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本テーマのまとめ表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PR会社名</a:t>
                      </a:r>
                    </a:p>
                  </a:txBody>
                  <a:tcPr>
                    <a:solidFill>
                      <a:srgbClr val="FFFFFF"/>
                    </a:solidFill>
                  </a:tcPr>
                </a:tc>
                <a:tc>
                  <a:txBody>
                    <a:bodyPr/>
                    <a:lstStyle/>
                    <a:p>
                      <a:pPr>
                        <a:defRPr sz="1200">
                          <a:solidFill>
                            <a:srgbClr val="1A1A2E"/>
                          </a:solidFill>
                          <a:latin typeface="Yu Gothic"/>
                        </a:defRPr>
                      </a:pPr>
                      <a:r>
                        <a:t>Movchan Agency(英国拠点)</a:t>
                      </a:r>
                    </a:p>
                  </a:txBody>
                  <a:tcPr>
                    <a:solidFill>
                      <a:srgbClr val="FFFFFF"/>
                    </a:solidFill>
                  </a:tcPr>
                </a:tc>
              </a:tr>
              <a:tr h="502920">
                <a:tc>
                  <a:txBody>
                    <a:bodyPr/>
                    <a:lstStyle/>
                    <a:p>
                      <a:pPr>
                        <a:defRPr sz="1200">
                          <a:solidFill>
                            <a:srgbClr val="1A1A2E"/>
                          </a:solidFill>
                          <a:latin typeface="Yu Gothic"/>
                        </a:defRPr>
                      </a:pPr>
                      <a:r>
                        <a:t>架空の担当者数</a:t>
                      </a:r>
                    </a:p>
                  </a:txBody>
                  <a:tcPr>
                    <a:solidFill>
                      <a:srgbClr val="F3F6FC"/>
                    </a:solidFill>
                  </a:tcPr>
                </a:tc>
                <a:tc>
                  <a:txBody>
                    <a:bodyPr/>
                    <a:lstStyle/>
                    <a:p>
                      <a:pPr>
                        <a:defRPr sz="1200">
                          <a:solidFill>
                            <a:srgbClr val="1A1A2E"/>
                          </a:solidFill>
                          <a:latin typeface="Yu Gothic"/>
                        </a:defRPr>
                      </a:pPr>
                      <a:r>
                        <a:t>少なくとも15人</a:t>
                      </a:r>
                    </a:p>
                  </a:txBody>
                  <a:tcPr>
                    <a:solidFill>
                      <a:srgbClr val="F3F6FC"/>
                    </a:solidFill>
                  </a:tcPr>
                </a:tc>
              </a:tr>
              <a:tr h="502920">
                <a:tc>
                  <a:txBody>
                    <a:bodyPr/>
                    <a:lstStyle/>
                    <a:p>
                      <a:pPr>
                        <a:defRPr sz="1200">
                          <a:solidFill>
                            <a:srgbClr val="1A1A2E"/>
                          </a:solidFill>
                          <a:latin typeface="Yu Gothic"/>
                        </a:defRPr>
                      </a:pPr>
                      <a:r>
                        <a:t>報道日</a:t>
                      </a:r>
                    </a:p>
                  </a:txBody>
                  <a:tcPr>
                    <a:solidFill>
                      <a:srgbClr val="FFFFFF"/>
                    </a:solidFill>
                  </a:tcPr>
                </a:tc>
                <a:tc>
                  <a:txBody>
                    <a:bodyPr/>
                    <a:lstStyle/>
                    <a:p>
                      <a:pPr>
                        <a:defRPr sz="1200">
                          <a:solidFill>
                            <a:srgbClr val="1A1A2E"/>
                          </a:solidFill>
                          <a:latin typeface="Yu Gothic"/>
                        </a:defRPr>
                      </a:pPr>
                      <a:r>
                        <a:t>2026年8月3日(Futurism)</a:t>
                      </a:r>
                    </a:p>
                  </a:txBody>
                  <a:tcPr>
                    <a:solidFill>
                      <a:srgbClr val="FFFFFF"/>
                    </a:solidFill>
                  </a:tcPr>
                </a:tc>
              </a:tr>
              <a:tr h="502920">
                <a:tc>
                  <a:txBody>
                    <a:bodyPr/>
                    <a:lstStyle/>
                    <a:p>
                      <a:pPr>
                        <a:defRPr sz="1200">
                          <a:solidFill>
                            <a:srgbClr val="1A1A2E"/>
                          </a:solidFill>
                          <a:latin typeface="Yu Gothic"/>
                        </a:defRPr>
                      </a:pPr>
                      <a:r>
                        <a:t>AI検出結果</a:t>
                      </a:r>
                    </a:p>
                  </a:txBody>
                  <a:tcPr>
                    <a:solidFill>
                      <a:srgbClr val="F3F6FC"/>
                    </a:solidFill>
                  </a:tcPr>
                </a:tc>
                <a:tc>
                  <a:txBody>
                    <a:bodyPr/>
                    <a:lstStyle/>
                    <a:p>
                      <a:pPr>
                        <a:defRPr sz="1200">
                          <a:solidFill>
                            <a:srgbClr val="1A1A2E"/>
                          </a:solidFill>
                          <a:latin typeface="Yu Gothic"/>
                        </a:defRPr>
                      </a:pPr>
                      <a:r>
                        <a:t>100%AI生成と判定</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本テーマの鮮度についてです。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Futurismの報道は2026年8月3日、着手日当日である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非常に高い鮮度の話題として扱っている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続報(他のPR会社への波及等)は本ラウンドの調査時点では確認できていない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15人 → 発覚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架空の広報担当者が、AI検出ツールと記者の調査で明らかになった</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今後の見通し(推測であることを明示)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運用縮小の実施状況を注視</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他のPR会社への波及があるか</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業界での対応策の議論</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具体的な展開はまだ不明</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似たテーマとの違い(重複ではないことの確認)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70本目との違い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70本目は個別の暴走エージェント事件、本テーマはPR・メディア業界でのなりすまし問題</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77本目との違い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77本目はAnthropic単独の安全性インシデント開示、本テーマは特定のAI企業とは無関係の事案</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本テーマの独自性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既存81テーマに、AIによるなりすましを正面から扱ったものはない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問題視されていること と されていないこと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問題視されていること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架空の人物になりすましたこと</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クライアントに無断だったこと</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問題視されていないこと</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AI技術の利用そのもの</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PR業界全体への断定</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Futurismの元記事全文(WebFetchのアクセス制限により複数媒体経由の要約に基づく)</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架空の広報担当者の正確な総人数</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同様の慣行を行っている他のPR会社の有無</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クライアント企業の具体的な社名</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PR会社の対応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運用を縮小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創業者Nadya Movchan氏が、この運用を縮小すると説明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Futurism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“判断が甘かった。”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Movchan Agency創業者 Nadya Movchan氏(報道の要約)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視聴者の皆さんと一緒に注目したい点です。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運用縮小が実際に行われるか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他のPR会社でも同様の慣行がないか調査が広がるか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業界としてどう対応策を議論するか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AIが『人間らしく振る舞う』ことへのルール整備の動向</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Futurism・Tech.eu ほか(2026-08-03報道)｜定期実行82本目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最後に伝えたいこと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15人の『存在しない同僚』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AIが人間になりすますことの問題を考えるきっかけとして記憶しておきたい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次に届く営業メール、その相手は本当に実在しますか。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出典付きで、公平に整理してお届けしました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