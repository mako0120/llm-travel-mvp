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4回2/3、99球、6失点。2026年8月11日、山本由伸投手は対エンゼルス戦でメジャー移籍後ワーストとなる6失点を喫しました。今日はこの登板の記録を出典付きで淡々とお伝えします。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結論から言うと、山本由伸投手は対エンゼルス戦で6失点を喫しました。これはメジャー移籍後ワーストの数字です。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今日は、何が起きたのか、登板成績の内訳、今シーズンの成績、好不調の波について、不明点と今後の見方をお伝えします。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この話題を今回取り上げる理由は3つです。着手日から1日前という鮮度、複数媒体が報じている点、そして具体的な記録が確認できる点です。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既存テーマとの関係を確認します。100勝達成テーマは通算記録の節目を扱いましたが、本テーマは特定の一試合の登板結果を扱います。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対戦の基本情報です。会場はエンゼルスタジアム、山本投手は中7日で今シーズン23度目の先発として登板しました。試合はエンゼルスが7-4で勝利しています。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初めての方向けに登板成績の見方を説明します。投球回は何イニング投げたか、被安打・与四死球は相手に許した数、失点は投手の責任として記録される点数です。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先発投手の勝敗のつき方も説明します。1試合ごとに勝ち・負け・付かずが記録され、シーズンを通じて積み重なって通算成績になります。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この試合の流れを整理すると、中7日での登板、4回2/3・99球の投球、そしてエンゼルスが7-4で勝利し山本投手が8敗目を喫するという流れでした。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投球回は4回2/3でした。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投球数は99球に達していました。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この登板の内訳です。被安打6、与四死球6、失点6という記録でした。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注目したい数字がこちらです。この6失点は、山本投手のメジャー移籍後の登板の中でワーストの数字でした。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試合はエンゼルスが7-4でドジャースを下して勝利しました。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今シーズンの成績です。この登板は今シーズン23度目の先発で、通算成績は10勝8敗となりました。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登板結果の流れを図で見ると、23度目の先発から始まり、6安打・6四死球を許し、メジャー移籍後ワーストの6失点となり、エンゼルスが勝利して8敗目を喫しました。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同じ投手でも、登板によって内容は変わります。これは野球というスポーツの一般的な性質であり、今回はその一例として起きた結果です。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野球というスポーツの一般的な性質を説明します。エースクラスの投手であっても好不調の波が生じることは一般的で、1試合の結果がシーズン全体を決めるものではありません。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ここで大事な点を確認します。本テーマは不振の結果を扱いますが、揶揄・嘲笑的な表現は一切使わず、客観的な記録を淡々と報告する構成にしています。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この結果を知ると何が変わるか。今回の登板はあくまで今シーズン23度目の先発の中の一試合の結果であり、今後の登板成績次第で数字は変化していきます。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この登板を見るポイントは3つです。客観的な記録を確認すること、シーズン全体の中で位置づけること、そして不明点は不明のまま受け止めることです。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同日の他の出来事にも触れておきます。大谷翔平選手が3試合連続本塁打となる42号ソロを放ちましたが、詳細は既存テーマに譲り、本テーマでは深追いしません。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事実と不明点を分けて整理します。投球内容や試合結果は事実として確認できていますが、選手本人のコメントの詳細や次回登板日程は確認できていません。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確認できていない項目を一覧にしました。選手本人のコメントの詳細、具体的な失点シーンの詳細、次回登板の正確な日程はいずれも出典で確認できていません。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注意点です。断定的な評価・予測はせず、出典に明記のない数字は使用していません。選手を貶める表現も一切使用していません。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既存の山本由伸選手関連テーマとの違いを整理します。100勝達成テーマ、吉田正尚選手との対戦テーマ、そして本テーマはいずれも扱う試合・出来事が異なり、重複ではありません。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出典はこの表の通りです。日刊ゲンダイDIGITALとMLB.comの複数記事が、この登板内容を報じています。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確認できたことと確認できなかったことを正直に整理します。投球内容や試合結果は確認済みですが、選手本人のコメントの詳細などは未確認です。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山本由伸投手の次回登板、そして今シーズン終盤の成績にも注目していきましょう。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今回もありがとうございました。山本由伸投手の対エンゼルス戦の登板記録を、出典付きで淡々とお伝えしました。次回の登板にも注目していきましょう。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エースにも、こんな日がある。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山本由伸投手、対エンゼルス戦でメジャー移籍後ワーストの6失点</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日刊ゲンダイDIGITAL、MLB.com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6失点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山本由伸投手、対エンゼルス戦でメジャー移籍後ワーストの失点数を記録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MLB.com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何が起きたのか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登板成績の内訳</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今シーズンの成績</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好不調の波について</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不明点・今後の見方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2026年8月11日の登板で、着手日(8月12日)から1日前という高い鮮度</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MLB.com・日刊ゲンダイDIGITALが同一の登板内容を報じている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投球回・被安打・与四死球・失点という具体的な記録が確認できる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日刊ゲンダイDIGITAL/MLB.com</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既存テーマとの関係</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100勝達成テーマ(2026-07-27)</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日米通算100勝の達成という記録の節目</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対戦相手を問わない通算記録</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本テーマ(185本目、2026-08-11)</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対エンゼルス戦、一試合の登板結果</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メジャー移籍後ワーストの6失点という記録</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対戦の基本情報</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対戦</a:t>
                      </a:r>
                    </a:p>
                  </a:txBody>
                  <a:tcPr>
                    <a:solidFill>
                      <a:srgbClr val="FFFFFF"/>
                    </a:solidFill>
                  </a:tcPr>
                </a:tc>
                <a:tc>
                  <a:txBody>
                    <a:bodyPr/>
                    <a:lstStyle/>
                    <a:p>
                      <a:pPr>
                        <a:defRPr sz="1200">
                          <a:solidFill>
                            <a:srgbClr val="1C1B33"/>
                          </a:solidFill>
                          <a:latin typeface="Yu Gothic"/>
                        </a:defRPr>
                      </a:pPr>
                      <a:r>
                        <a:t>ロサンゼルス・ドジャース 対 ロサンゼルス・エンゼルス</a:t>
                      </a:r>
                    </a:p>
                  </a:txBody>
                  <a:tcPr>
                    <a:solidFill>
                      <a:srgbClr val="FFFFFF"/>
                    </a:solidFill>
                  </a:tcPr>
                </a:tc>
              </a:tr>
              <a:tr h="502920">
                <a:tc>
                  <a:txBody>
                    <a:bodyPr/>
                    <a:lstStyle/>
                    <a:p>
                      <a:pPr>
                        <a:defRPr sz="1200">
                          <a:solidFill>
                            <a:srgbClr val="1C1B33"/>
                          </a:solidFill>
                          <a:latin typeface="Yu Gothic"/>
                        </a:defRPr>
                      </a:pPr>
                      <a:r>
                        <a:t>日程</a:t>
                      </a:r>
                    </a:p>
                  </a:txBody>
                  <a:tcPr>
                    <a:solidFill>
                      <a:srgbClr val="F4F3FC"/>
                    </a:solidFill>
                  </a:tcPr>
                </a:tc>
                <a:tc>
                  <a:txBody>
                    <a:bodyPr/>
                    <a:lstStyle/>
                    <a:p>
                      <a:pPr>
                        <a:defRPr sz="1200">
                          <a:solidFill>
                            <a:srgbClr val="1C1B33"/>
                          </a:solidFill>
                          <a:latin typeface="Yu Gothic"/>
                        </a:defRPr>
                      </a:pPr>
                      <a:r>
                        <a:t>2026年8月11日(現地時間)</a:t>
                      </a:r>
                    </a:p>
                  </a:txBody>
                  <a:tcPr>
                    <a:solidFill>
                      <a:srgbClr val="F4F3FC"/>
                    </a:solidFill>
                  </a:tcPr>
                </a:tc>
              </a:tr>
              <a:tr h="502920">
                <a:tc>
                  <a:txBody>
                    <a:bodyPr/>
                    <a:lstStyle/>
                    <a:p>
                      <a:pPr>
                        <a:defRPr sz="1200">
                          <a:solidFill>
                            <a:srgbClr val="1C1B33"/>
                          </a:solidFill>
                          <a:latin typeface="Yu Gothic"/>
                        </a:defRPr>
                      </a:pPr>
                      <a:r>
                        <a:t>会場</a:t>
                      </a:r>
                    </a:p>
                  </a:txBody>
                  <a:tcPr>
                    <a:solidFill>
                      <a:srgbClr val="FFFFFF"/>
                    </a:solidFill>
                  </a:tcPr>
                </a:tc>
                <a:tc>
                  <a:txBody>
                    <a:bodyPr/>
                    <a:lstStyle/>
                    <a:p>
                      <a:pPr>
                        <a:defRPr sz="1200">
                          <a:solidFill>
                            <a:srgbClr val="1C1B33"/>
                          </a:solidFill>
                          <a:latin typeface="Yu Gothic"/>
                        </a:defRPr>
                      </a:pPr>
                      <a:r>
                        <a:t>エンゼルスタジアム(アナハイム)</a:t>
                      </a:r>
                    </a:p>
                  </a:txBody>
                  <a:tcPr>
                    <a:solidFill>
                      <a:srgbClr val="FFFFFF"/>
                    </a:solidFill>
                  </a:tcPr>
                </a:tc>
              </a:tr>
              <a:tr h="502920">
                <a:tc>
                  <a:txBody>
                    <a:bodyPr/>
                    <a:lstStyle/>
                    <a:p>
                      <a:pPr>
                        <a:defRPr sz="1200">
                          <a:solidFill>
                            <a:srgbClr val="1C1B33"/>
                          </a:solidFill>
                          <a:latin typeface="Yu Gothic"/>
                        </a:defRPr>
                      </a:pPr>
                      <a:r>
                        <a:t>登板</a:t>
                      </a:r>
                    </a:p>
                  </a:txBody>
                  <a:tcPr>
                    <a:solidFill>
                      <a:srgbClr val="F4F3FC"/>
                    </a:solidFill>
                  </a:tcPr>
                </a:tc>
                <a:tc>
                  <a:txBody>
                    <a:bodyPr/>
                    <a:lstStyle/>
                    <a:p>
                      <a:pPr>
                        <a:defRPr sz="1200">
                          <a:solidFill>
                            <a:srgbClr val="1C1B33"/>
                          </a:solidFill>
                          <a:latin typeface="Yu Gothic"/>
                        </a:defRPr>
                      </a:pPr>
                      <a:r>
                        <a:t>山本由伸投手、中7日で今シーズン23度目の先発</a:t>
                      </a:r>
                    </a:p>
                  </a:txBody>
                  <a:tcPr>
                    <a:solidFill>
                      <a:srgbClr val="F4F3FC"/>
                    </a:solidFill>
                  </a:tcPr>
                </a:tc>
              </a:tr>
              <a:tr h="502920">
                <a:tc>
                  <a:txBody>
                    <a:bodyPr/>
                    <a:lstStyle/>
                    <a:p>
                      <a:pPr>
                        <a:defRPr sz="1200">
                          <a:solidFill>
                            <a:srgbClr val="1C1B33"/>
                          </a:solidFill>
                          <a:latin typeface="Yu Gothic"/>
                        </a:defRPr>
                      </a:pPr>
                      <a:r>
                        <a:t>試合結果</a:t>
                      </a:r>
                    </a:p>
                  </a:txBody>
                  <a:tcPr>
                    <a:solidFill>
                      <a:srgbClr val="FFFFFF"/>
                    </a:solidFill>
                  </a:tcPr>
                </a:tc>
                <a:tc>
                  <a:txBody>
                    <a:bodyPr/>
                    <a:lstStyle/>
                    <a:p>
                      <a:pPr>
                        <a:defRPr sz="1200">
                          <a:solidFill>
                            <a:srgbClr val="1C1B33"/>
                          </a:solidFill>
                          <a:latin typeface="Yu Gothic"/>
                        </a:defRPr>
                      </a:pPr>
                      <a:r>
                        <a:t>エンゼルスが7-4でドジャースを下して勝利</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MLB.com</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初心者向け基礎知識:「登板成績」の見方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投球回: 投手が何イニング投げたかを示す数字</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被安打・与四死球: 相手打者に許したヒット・四球・死球の数</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失点: そのイニングで投手の責任として記録される点数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初心者向け基礎知識:「勝敗」のつき方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先発投手には、その試合の展開に応じて勝ち・負け・付かずのいずれかが記録される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シーズンを通じて先発投手の勝敗数が積み重なり「◯勝◯敗」という通算成績になる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1試合の負けがついても、シーズン全体の評価が1試合で決まるわけではない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この試合の流れ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登板開始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中7日で今シーズン23度目の先発として登板</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投球内容</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4回2/3を投げて99球、6安打・6四死球を許す</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試合結果</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エンゼルスが7-4で勝利、山本投手は8敗目</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投球回</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4回2/3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山本由伸投手がこの試合で投げたイニング数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MLB.com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投球数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99球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4回2/3で99球を投じた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MLB.com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この登板の内訳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被安打</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6安打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与四死球</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6四死球(四球・死球の合計)</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失点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6失点</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MLB.com</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メジャー移籍後ワースト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6失点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この6失点は、山本投手のメジャー移籍後の登板の中でワーストの数字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MLB.com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試合結果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7-4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エンゼルスがドジャースを下して勝利</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MLB.com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今シーズンの成績</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E2A72"/>
                    </a:solidFill>
                  </a:tcPr>
                </a:tc>
                <a:tc>
                  <a:txBody>
                    <a:bodyPr/>
                    <a:lstStyle/>
                    <a:p>
                      <a:pPr>
                        <a:defRPr sz="1300" b="1">
                          <a:solidFill>
                            <a:srgbClr val="FFFFFF"/>
                          </a:solidFill>
                          <a:latin typeface="Yu Gothic"/>
                        </a:defRPr>
                      </a:pPr>
                      <a:r>
                        <a:t>数字</a:t>
                      </a:r>
                    </a:p>
                  </a:txBody>
                  <a:tcPr>
                    <a:solidFill>
                      <a:srgbClr val="2E2A72"/>
                    </a:solidFill>
                  </a:tcPr>
                </a:tc>
              </a:tr>
              <a:tr h="502920">
                <a:tc>
                  <a:txBody>
                    <a:bodyPr/>
                    <a:lstStyle/>
                    <a:p>
                      <a:pPr>
                        <a:defRPr sz="1200">
                          <a:solidFill>
                            <a:srgbClr val="1C1B33"/>
                          </a:solidFill>
                          <a:latin typeface="Yu Gothic"/>
                        </a:defRPr>
                      </a:pPr>
                      <a:r>
                        <a:t>今シーズンの先発回数</a:t>
                      </a:r>
                    </a:p>
                  </a:txBody>
                  <a:tcPr>
                    <a:solidFill>
                      <a:srgbClr val="FFFFFF"/>
                    </a:solidFill>
                  </a:tcPr>
                </a:tc>
                <a:tc>
                  <a:txBody>
                    <a:bodyPr/>
                    <a:lstStyle/>
                    <a:p>
                      <a:pPr>
                        <a:defRPr sz="1200">
                          <a:solidFill>
                            <a:srgbClr val="1C1B33"/>
                          </a:solidFill>
                          <a:latin typeface="Yu Gothic"/>
                        </a:defRPr>
                      </a:pPr>
                      <a:r>
                        <a:t>23度目</a:t>
                      </a:r>
                    </a:p>
                  </a:txBody>
                  <a:tcPr>
                    <a:solidFill>
                      <a:srgbClr val="FFFFFF"/>
                    </a:solidFill>
                  </a:tcPr>
                </a:tc>
              </a:tr>
              <a:tr h="502920">
                <a:tc>
                  <a:txBody>
                    <a:bodyPr/>
                    <a:lstStyle/>
                    <a:p>
                      <a:pPr>
                        <a:defRPr sz="1200">
                          <a:solidFill>
                            <a:srgbClr val="1C1B33"/>
                          </a:solidFill>
                          <a:latin typeface="Yu Gothic"/>
                        </a:defRPr>
                      </a:pPr>
                      <a:r>
                        <a:t>通算勝敗</a:t>
                      </a:r>
                    </a:p>
                  </a:txBody>
                  <a:tcPr>
                    <a:solidFill>
                      <a:srgbClr val="F4F3FC"/>
                    </a:solidFill>
                  </a:tcPr>
                </a:tc>
                <a:tc>
                  <a:txBody>
                    <a:bodyPr/>
                    <a:lstStyle/>
                    <a:p>
                      <a:pPr>
                        <a:defRPr sz="1200">
                          <a:solidFill>
                            <a:srgbClr val="1C1B33"/>
                          </a:solidFill>
                          <a:latin typeface="Yu Gothic"/>
                        </a:defRPr>
                      </a:pPr>
                      <a:r>
                        <a:t>10勝8敗</a:t>
                      </a:r>
                    </a:p>
                  </a:txBody>
                  <a:tcPr>
                    <a:solidFill>
                      <a:srgbClr val="F4F3FC"/>
                    </a:solidFill>
                  </a:tcPr>
                </a:tc>
              </a:tr>
              <a:tr h="502920">
                <a:tc>
                  <a:txBody>
                    <a:bodyPr/>
                    <a:lstStyle/>
                    <a:p>
                      <a:pPr>
                        <a:defRPr sz="1200">
                          <a:solidFill>
                            <a:srgbClr val="1C1B33"/>
                          </a:solidFill>
                          <a:latin typeface="Yu Gothic"/>
                        </a:defRPr>
                      </a:pPr>
                      <a:r>
                        <a:t>この登板</a:t>
                      </a:r>
                    </a:p>
                  </a:txBody>
                  <a:tcPr>
                    <a:solidFill>
                      <a:srgbClr val="FFFFFF"/>
                    </a:solidFill>
                  </a:tcPr>
                </a:tc>
                <a:tc>
                  <a:txBody>
                    <a:bodyPr/>
                    <a:lstStyle/>
                    <a:p>
                      <a:pPr>
                        <a:defRPr sz="1200">
                          <a:solidFill>
                            <a:srgbClr val="1C1B33"/>
                          </a:solidFill>
                          <a:latin typeface="Yu Gothic"/>
                        </a:defRPr>
                      </a:pPr>
                      <a:r>
                        <a:t>8敗目を記録</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MLB.com</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登板結果の流れ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登板開始</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中7日で23度目の先発</a:t>
            </a:r>
          </a:p>
        </p:txBody>
      </p:sp>
      <p:sp>
        <p:nvSpPr>
          <p:cNvPr id="10" name="Right Arrow 9"/>
          <p:cNvSpPr/>
          <p:nvPr/>
        </p:nvSpPr>
        <p:spPr>
          <a:xfrm>
            <a:off x="25571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投球内容</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6安打・6四死球を許す</a:t>
            </a:r>
          </a:p>
        </p:txBody>
      </p:sp>
      <p:sp>
        <p:nvSpPr>
          <p:cNvPr id="15" name="Right Arrow 14"/>
          <p:cNvSpPr/>
          <p:nvPr/>
        </p:nvSpPr>
        <p:spPr>
          <a:xfrm>
            <a:off x="57575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6失点</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メジャー移籍後ワースト</a:t>
            </a:r>
          </a:p>
        </p:txBody>
      </p:sp>
      <p:sp>
        <p:nvSpPr>
          <p:cNvPr id="20" name="Right Arrow 19"/>
          <p:cNvSpPr/>
          <p:nvPr/>
        </p:nvSpPr>
        <p:spPr>
          <a:xfrm>
            <a:off x="89579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試合終了</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エンゼルスが7-4で勝利、8敗目</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登板結果の流れを図にすると、このようになります</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好調な登板 vs 今回の登板</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100勝達成時(2026年7月、既存テーマ)</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日米通算100勝という記録達成</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節目の登板として報じられた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今回(2026年8月11日)</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4回2/3・6失点という記録</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メジャー移籍後ワーストの失点数</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野球というスポーツの一般的な性質</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エースクラスの投手であっても、シーズン中に好不調の波が生じることは一般的</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1シーズンを通じて安定した成績を残し続けることは、どの投手にとっても容易ではない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1試合の結果がシーズン全体・キャリア全体を決定づけるものではない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【重要】トーンへの配慮についての開示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本テーマは選手個人の不振を扱うが、揶揄・嘲笑的な表現は一切使わない</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投球回・失点数・与四死球数等の客観的な記録を淡々と報告する構成にしている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「終わった」「限界」等の断定的なネガティブ表現は使わず、一試合の結果として扱う</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これで何が変わるか(視聴者にとっての意味)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この登板の記録は、あくまで今シーズン23度目の先発の中の一試合の結果として受け止められる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通算10勝8敗という数字は、今後の登板成績次第で変化していく途中経過である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一試合の内容だけでなく、シーズンを通じた成績の推移に注目する材料になる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この登板をどう見るか(活用ポイント)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確認1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投球回・失点等の客観的な記録を確認する</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確認2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今シーズン全体の成績の中でこの一試合を位置づける</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確認3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選手本人のコメント等、確認できていない点は不明のまま受け止める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同日の出来事: 大谷翔平選手の本塁打</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同日、大谷翔平選手が3試合連続本塁打となる42号ソロを放った</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この本塁打の詳細は既存テーマで扱っているため、本テーマでは深追いしない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本テーマではあくまで山本投手の登板結果を中心に扱う</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事実 vs 不明点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確認できている事実</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投球回・被安打・与四死球・失点・試合結果・今シーズンの成績</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対戦日程・会場</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確認できていないこと</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山本投手本人の試合後のコメントの詳細</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具体的な失点シーンの詳細、次回登板の正確な日程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不明点一覧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山本投手本人の試合後のコメントの詳細</a:t>
                      </a:r>
                    </a:p>
                  </a:txBody>
                  <a:tcPr>
                    <a:solidFill>
                      <a:srgbClr val="FFFFFF"/>
                    </a:solidFill>
                  </a:tcPr>
                </a:tc>
                <a:tc>
                  <a:txBody>
                    <a:bodyPr/>
                    <a:lstStyle/>
                    <a:p>
                      <a:pPr>
                        <a:defRPr sz="1200">
                          <a:solidFill>
                            <a:srgbClr val="1C1B33"/>
                          </a:solidFill>
                          <a:latin typeface="Yu Gothic"/>
                        </a:defRPr>
                      </a:pPr>
                      <a:r>
                        <a:t>不明(本調査の範囲では確認できず)</a:t>
                      </a:r>
                    </a:p>
                  </a:txBody>
                  <a:tcPr>
                    <a:solidFill>
                      <a:srgbClr val="FFFFFF"/>
                    </a:solidFill>
                  </a:tcPr>
                </a:tc>
              </a:tr>
              <a:tr h="502920">
                <a:tc>
                  <a:txBody>
                    <a:bodyPr/>
                    <a:lstStyle/>
                    <a:p>
                      <a:pPr>
                        <a:defRPr sz="1200">
                          <a:solidFill>
                            <a:srgbClr val="1C1B33"/>
                          </a:solidFill>
                          <a:latin typeface="Yu Gothic"/>
                        </a:defRPr>
                      </a:pPr>
                      <a:r>
                        <a:t>具体的な失点シーンの詳細(何回にどう失点したか)</a:t>
                      </a:r>
                    </a:p>
                  </a:txBody>
                  <a:tcPr>
                    <a:solidFill>
                      <a:srgbClr val="F4F3FC"/>
                    </a:solidFill>
                  </a:tcPr>
                </a:tc>
                <a:tc>
                  <a:txBody>
                    <a:bodyPr/>
                    <a:lstStyle/>
                    <a:p>
                      <a:pPr>
                        <a:defRPr sz="1200">
                          <a:solidFill>
                            <a:srgbClr val="1C1B33"/>
                          </a:solidFill>
                          <a:latin typeface="Yu Gothic"/>
                        </a:defRPr>
                      </a:pPr>
                      <a:r>
                        <a:t>不明(出典に記載なし)</a:t>
                      </a:r>
                    </a:p>
                  </a:txBody>
                  <a:tcPr>
                    <a:solidFill>
                      <a:srgbClr val="F4F3FC"/>
                    </a:solidFill>
                  </a:tcPr>
                </a:tc>
              </a:tr>
              <a:tr h="502920">
                <a:tc>
                  <a:txBody>
                    <a:bodyPr/>
                    <a:lstStyle/>
                    <a:p>
                      <a:pPr>
                        <a:defRPr sz="1200">
                          <a:solidFill>
                            <a:srgbClr val="1C1B33"/>
                          </a:solidFill>
                          <a:latin typeface="Yu Gothic"/>
                        </a:defRPr>
                      </a:pPr>
                      <a:r>
                        <a:t>次回登板の正確な日程</a:t>
                      </a:r>
                    </a:p>
                  </a:txBody>
                  <a:tcPr>
                    <a:solidFill>
                      <a:srgbClr val="FFFFFF"/>
                    </a:solidFill>
                  </a:tcPr>
                </a:tc>
                <a:tc>
                  <a:txBody>
                    <a:bodyPr/>
                    <a:lstStyle/>
                    <a:p>
                      <a:pPr>
                        <a:defRPr sz="1200">
                          <a:solidFill>
                            <a:srgbClr val="1C1B33"/>
                          </a:solidFill>
                          <a:latin typeface="Yu Gothic"/>
                        </a:defRPr>
                      </a:pPr>
                      <a:r>
                        <a:t>不明(出典に記載なし)</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日刊ゲンダイDIGITAL/MLB.com</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注意点・過度な期待への注意</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「今後どうなるか」という断定的な評価・予測はしない(出典に明記がないため)</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出典に明記のない数字(推計・独自算出値)は一切使用していない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選手を貶める・揶揄する表現は本テーマでは一切使用していない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既存の山本由伸選手関連テーマとの違い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テーマ</a:t>
                      </a:r>
                    </a:p>
                  </a:txBody>
                  <a:tcPr>
                    <a:solidFill>
                      <a:srgbClr val="2E2A72"/>
                    </a:solidFill>
                  </a:tcPr>
                </a:tc>
                <a:tc>
                  <a:txBody>
                    <a:bodyPr/>
                    <a:lstStyle/>
                    <a:p>
                      <a:pPr>
                        <a:defRPr sz="1300" b="1">
                          <a:solidFill>
                            <a:srgbClr val="FFFFFF"/>
                          </a:solidFill>
                          <a:latin typeface="Yu Gothic"/>
                        </a:defRPr>
                      </a:pPr>
                      <a:r>
                        <a:t>扱う内容</a:t>
                      </a:r>
                    </a:p>
                  </a:txBody>
                  <a:tcPr>
                    <a:solidFill>
                      <a:srgbClr val="2E2A72"/>
                    </a:solidFill>
                  </a:tcPr>
                </a:tc>
              </a:tr>
              <a:tr h="502920">
                <a:tc>
                  <a:txBody>
                    <a:bodyPr/>
                    <a:lstStyle/>
                    <a:p>
                      <a:pPr>
                        <a:defRPr sz="1200">
                          <a:solidFill>
                            <a:srgbClr val="1C1B33"/>
                          </a:solidFill>
                          <a:latin typeface="Yu Gothic"/>
                        </a:defRPr>
                      </a:pPr>
                      <a:r>
                        <a:t>100勝達成(2026-07-27)</a:t>
                      </a:r>
                    </a:p>
                  </a:txBody>
                  <a:tcPr>
                    <a:solidFill>
                      <a:srgbClr val="FFFFFF"/>
                    </a:solidFill>
                  </a:tcPr>
                </a:tc>
                <a:tc>
                  <a:txBody>
                    <a:bodyPr/>
                    <a:lstStyle/>
                    <a:p>
                      <a:pPr>
                        <a:defRPr sz="1200">
                          <a:solidFill>
                            <a:srgbClr val="1C1B33"/>
                          </a:solidFill>
                          <a:latin typeface="Yu Gothic"/>
                        </a:defRPr>
                      </a:pPr>
                      <a:r>
                        <a:t>日米通算100勝という記録達成の節目</a:t>
                      </a:r>
                    </a:p>
                  </a:txBody>
                  <a:tcPr>
                    <a:solidFill>
                      <a:srgbClr val="FFFFFF"/>
                    </a:solidFill>
                  </a:tcPr>
                </a:tc>
              </a:tr>
              <a:tr h="502920">
                <a:tc>
                  <a:txBody>
                    <a:bodyPr/>
                    <a:lstStyle/>
                    <a:p>
                      <a:pPr>
                        <a:defRPr sz="1200">
                          <a:solidFill>
                            <a:srgbClr val="1C1B33"/>
                          </a:solidFill>
                          <a:latin typeface="Yu Gothic"/>
                        </a:defRPr>
                      </a:pPr>
                      <a:r>
                        <a:t>吉田正尚選手との対戦(2026-08-03)</a:t>
                      </a:r>
                    </a:p>
                  </a:txBody>
                  <a:tcPr>
                    <a:solidFill>
                      <a:srgbClr val="F4F3FC"/>
                    </a:solidFill>
                  </a:tcPr>
                </a:tc>
                <a:tc>
                  <a:txBody>
                    <a:bodyPr/>
                    <a:lstStyle/>
                    <a:p>
                      <a:pPr>
                        <a:defRPr sz="1200">
                          <a:solidFill>
                            <a:srgbClr val="1C1B33"/>
                          </a:solidFill>
                          <a:latin typeface="Yu Gothic"/>
                        </a:defRPr>
                      </a:pPr>
                      <a:r>
                        <a:t>元オリックス同僚・吉田正尚選手との対戦というドラマ性</a:t>
                      </a:r>
                    </a:p>
                  </a:txBody>
                  <a:tcPr>
                    <a:solidFill>
                      <a:srgbClr val="F4F3FC"/>
                    </a:solidFill>
                  </a:tcPr>
                </a:tc>
              </a:tr>
              <a:tr h="502920">
                <a:tc>
                  <a:txBody>
                    <a:bodyPr/>
                    <a:lstStyle/>
                    <a:p>
                      <a:pPr>
                        <a:defRPr sz="1200">
                          <a:solidFill>
                            <a:srgbClr val="1C1B33"/>
                          </a:solidFill>
                          <a:latin typeface="Yu Gothic"/>
                        </a:defRPr>
                      </a:pPr>
                      <a:r>
                        <a:t>本テーマ(2026-08-11)</a:t>
                      </a:r>
                    </a:p>
                  </a:txBody>
                  <a:tcPr>
                    <a:solidFill>
                      <a:srgbClr val="FFFFFF"/>
                    </a:solidFill>
                  </a:tcPr>
                </a:tc>
                <a:tc>
                  <a:txBody>
                    <a:bodyPr/>
                    <a:lstStyle/>
                    <a:p>
                      <a:pPr>
                        <a:defRPr sz="1200">
                          <a:solidFill>
                            <a:srgbClr val="1C1B33"/>
                          </a:solidFill>
                          <a:latin typeface="Yu Gothic"/>
                        </a:defRPr>
                      </a:pPr>
                      <a:r>
                        <a:t>対エンゼルス戦、一試合の登板結果(メジャー移籍後ワーストの6失点)</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ai-company-os/assets/配下の既存テーマ</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日刊ゲンダイDIGITAL</a:t>
                      </a:r>
                    </a:p>
                  </a:txBody>
                  <a:tcPr>
                    <a:solidFill>
                      <a:srgbClr val="FFFFFF"/>
                    </a:solidFill>
                  </a:tcPr>
                </a:tc>
                <a:tc>
                  <a:txBody>
                    <a:bodyPr/>
                    <a:lstStyle/>
                    <a:p>
                      <a:pPr>
                        <a:defRPr sz="1200">
                          <a:solidFill>
                            <a:srgbClr val="1C1B33"/>
                          </a:solidFill>
                          <a:latin typeface="Yu Gothic"/>
                        </a:defRPr>
                      </a:pPr>
                      <a:r>
                        <a:t>「山本由伸は佐々木朗希を"踏み台"に12勝目へ…翌日登板で際立つエースの修正力」</a:t>
                      </a:r>
                    </a:p>
                  </a:txBody>
                  <a:tcPr>
                    <a:solidFill>
                      <a:srgbClr val="FFFFFF"/>
                    </a:solidFill>
                  </a:tcPr>
                </a:tc>
              </a:tr>
              <a:tr h="502920">
                <a:tc>
                  <a:txBody>
                    <a:bodyPr/>
                    <a:lstStyle/>
                    <a:p>
                      <a:pPr>
                        <a:defRPr sz="1200">
                          <a:solidFill>
                            <a:srgbClr val="1C1B33"/>
                          </a:solidFill>
                          <a:latin typeface="Yu Gothic"/>
                        </a:defRPr>
                      </a:pPr>
                      <a:r>
                        <a:t>MLB.com</a:t>
                      </a:r>
                    </a:p>
                  </a:txBody>
                  <a:tcPr>
                    <a:solidFill>
                      <a:srgbClr val="F4F3FC"/>
                    </a:solidFill>
                  </a:tcPr>
                </a:tc>
                <a:tc>
                  <a:txBody>
                    <a:bodyPr/>
                    <a:lstStyle/>
                    <a:p>
                      <a:pPr>
                        <a:defRPr sz="1200">
                          <a:solidFill>
                            <a:srgbClr val="1C1B33"/>
                          </a:solidFill>
                          <a:latin typeface="Yu Gothic"/>
                        </a:defRPr>
                      </a:pPr>
                      <a:r>
                        <a:t>「yoshinobu yamamoto post game q and a 8th loss」</a:t>
                      </a:r>
                    </a:p>
                  </a:txBody>
                  <a:tcPr>
                    <a:solidFill>
                      <a:srgbClr val="F4F3FC"/>
                    </a:solidFill>
                  </a:tcPr>
                </a:tc>
              </a:tr>
              <a:tr h="502920">
                <a:tc>
                  <a:txBody>
                    <a:bodyPr/>
                    <a:lstStyle/>
                    <a:p>
                      <a:pPr>
                        <a:defRPr sz="1200">
                          <a:solidFill>
                            <a:srgbClr val="1C1B33"/>
                          </a:solidFill>
                          <a:latin typeface="Yu Gothic"/>
                        </a:defRPr>
                      </a:pPr>
                      <a:r>
                        <a:t>MLB.com</a:t>
                      </a:r>
                    </a:p>
                  </a:txBody>
                  <a:tcPr>
                    <a:solidFill>
                      <a:srgbClr val="FFFFFF"/>
                    </a:solidFill>
                  </a:tcPr>
                </a:tc>
                <a:tc>
                  <a:txBody>
                    <a:bodyPr/>
                    <a:lstStyle/>
                    <a:p>
                      <a:pPr>
                        <a:defRPr sz="1200">
                          <a:solidFill>
                            <a:srgbClr val="1C1B33"/>
                          </a:solidFill>
                          <a:latin typeface="Yu Gothic"/>
                        </a:defRPr>
                      </a:pPr>
                      <a:r>
                        <a:t>「yoshinobu yamamoto 8th loss vs angels」</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確認済み: 投球回(4回2/3)・投球数(99球)・被安打(6)・与四死球(6)・失点(6)</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確認済み: 試合結果(エンゼルスが7-4で勝利)、今シーズンの成績(10勝8敗)</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未確認: 選手本人のコメントの詳細、具体的な失点シーンの詳細、次回登板の正確な日程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次回登板にも注目です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山本由伸投手の次回登板、そして今シーズン終盤の成績にも注目していきます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山本由伸投手が対エンゼルス戦で4回2/3・6失点、メジャー移籍後ワーストの内容を記録</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今シーズン8敗目(通算10勝)となったが、これは23度目の先発の中の一試合の結果</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エースクラスの投手にも好不調の波があるという野球競技の一般的な性質として紹介した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日刊ゲンダイDIGITAL/MLB.com｜185本目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