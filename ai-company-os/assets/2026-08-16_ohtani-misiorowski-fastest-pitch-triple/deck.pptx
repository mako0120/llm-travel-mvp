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球速(キロ)</c:v>
                </c:pt>
              </c:strCache>
            </c:strRef>
          </c:tx>
          <c:spPr>
            <a:solidFill>
              <a:srgbClr val="7A1F2B"/>
            </a:solidFill>
          </c:spPr>
          <c:cat>
            <c:strRef>
              <c:f>Sheet1!$A$2:$A$3</c:f>
              <c:strCache>
                <c:ptCount val="2"/>
                <c:pt idx="0">
                  <c:v>第1打席・最終球(三飛)</c:v>
                </c:pt>
                <c:pt idx="1">
                  <c:v>この試合の最速球</c:v>
                </c:pt>
              </c:strCache>
            </c:strRef>
          </c:cat>
          <c:val>
            <c:numRef>
              <c:f>Sheet1!$B$2:$B$3</c:f>
              <c:numCache>
                <c:formatCode>General</c:formatCode>
                <c:ptCount val="2"/>
                <c:pt idx="0">
                  <c:v>167</c:v>
                </c:pt>
                <c:pt idx="1">
                  <c:v>169.7</c:v>
                </c:pt>
              </c:numCache>
            </c:numRef>
          </c:val>
        </c:ser>
        <c:dLbls>
          <c:numFmt formatCode="#,##0.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数(件)</c:v>
                </c:pt>
              </c:strCache>
            </c:strRef>
          </c:tx>
          <c:spPr>
            <a:solidFill>
              <a:srgbClr val="7A1F2B"/>
            </a:solidFill>
          </c:spPr>
          <c:cat>
            <c:strRef>
              <c:f>Sheet1!$A$2:$A$5</c:f>
              <c:strCache>
                <c:ptCount val="4"/>
                <c:pt idx="0">
                  <c:v>打数</c:v>
                </c:pt>
                <c:pt idx="1">
                  <c:v>安打</c:v>
                </c:pt>
                <c:pt idx="2">
                  <c:v>打点</c:v>
                </c:pt>
                <c:pt idx="3">
                  <c:v>三振</c:v>
                </c:pt>
              </c:strCache>
            </c:strRef>
          </c:cat>
          <c:val>
            <c:numRef>
              <c:f>Sheet1!$B$2:$B$5</c:f>
              <c:numCache>
                <c:formatCode>General</c:formatCode>
                <c:ptCount val="4"/>
                <c:pt idx="0">
                  <c:v>4</c:v>
                </c:pt>
                <c:pt idx="1">
                  <c:v>1</c:v>
                </c:pt>
                <c:pt idx="2">
                  <c:v>1</c:v>
                </c:pt>
                <c:pt idx="3">
                  <c:v>2</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ドジャー・スタジアムでのブルワーズ戦。ブルワーズ先発ミジオロウスキー投手が先発投手として史上最速となる105.5マイル、約169.7キロを記録しました。大谷翔平選手はその剛速球の中、3回に適時三塁打を放ちました。ただし結果からお伝えすると、ドジャースはこの試合に敗れています。今日はこの一戦を出典付き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お伝えします。大谷選手は4打数1安打1打点2三振、3回には一塁線を破る適時三塁打を放ちました。ただし試合結果は1-4でドジャースの敗戦です。大谷選手個人の活躍とチームの結果は別のものとして、正確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の基本情報から、史上最速の投球記録、大谷選手の打席内容、そして敗戦に至る経過まで、数字を正確に引用しながら整理します。誇張や創作は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そのものが着手日当日という新しさに加えて、史上最速の投球記録と大谷選手の活躍が同じ試合で重なったという点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試合の基本情報を確認します。ドジャー・スタジアムでのドジャース対ブルワーズ戦で、大谷選手は1番・DHで先発出場しました。日本時間2026年8月16日の試合です。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知識を確認します。105.5マイルは約169.7キロに相当します。適時打は得点につながる安打、三塁打は長打の一種です。そして『先発投手として史上最速』は条件つきの記録であることも押さえ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タイムラインです。第1打席は165キロを超える速球が続き、167キロを打ち上げて三飛に倒れました。3回には一塁線を破る適時三塁打で1点を返しましたが、4回に2本目の2ラン本塁打を浴び、最終的に1-4で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最大の記録です。ブルワーズ先発ミジオロウスキー投手が、先発投手として史上最速となる105.5マイル、約169.7キロを記録しました。『先発投手として』という条件つきの記録である点に注意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大谷選手が第1打席で打ち上げた最後の一球は167キロでした。この試合の最速球は169.7キロです。この169.7キロがどの打席で投じられたものかは出典で特定されておらず、同じ球かどうかは断定していません。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大谷選手の第1打席を確認します。すべて165キロを超える速球で攻められ、最後は167キロの速球を打ち上げて三飛に倒れました。この打席は、後ほど紹介する3回の適時三塁打とは別の打席です。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大谷選手のこの試合の成績をまとめました。4打数1安打1打点2三振です。1安打は3回の適時三塁打にあたります。良い面と厳しい面の両方を、そのまま数字で確認します。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3回の適時三塁打が生まれた場面を図にしました。剛速球で知られるミジオロウスキー投手を相手に、大谷選手が一塁線を破る打球を放ち、それが三塁打となって1点につながりました。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3回の場面です。大谷選手はミジオロウスキー投手から一塁線を破る適時三塁打を放ち、1点を返しました。剛速球を相手に結果を出した打席として、この試合最大の見どころの一つです。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回までの得点経過です。3回に大谷選手の適時三塁打で1点を返しましたが、4回にドジャース先発ロブレスキー投手がこの日2本目となる2ラン本塁打を浴び、1-4となりました。そのまま試合終了まで点差は動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最終スコアは1-4で、ドジャースの敗戦です。大谷選手個人の適時三塁打という活躍はありましたが、チームとしては敗れています。この結果を正確にお伝えします。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見出しの印象と実際の結果にはギャップが生まれがちです。大谷選手の適時三塁打は事実ですが、試合はドジャースの敗戦で終わっています。この違いを正確に伝えます。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誇張を避けるための補足です。試合結果と矛盾する表現は使わず、数字はすべて出典どおり正確に扱います。相手投手の記録も同じ重みで正確に伝えます。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この試合の3つの見どころです。史上最速の投球記録、大谷選手の適時三塁打、そしてチームとしては敗れたという結果、いずれも複数のメディアが一致して報じている内容です。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数字で見る大谷選手の対応力です。第1打席は165キロ超の速球を打ち上げて三飛でしたが、3回には適時三塁打で結果を出しています。同じ試合でも打席ごとに結果が違う点も、そのまま正確に伝えます。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『先発投手として史上最速』という記録の範囲を確認します。先発投手という条件がついた記録であり、救援投手を含めた投球全体の最速記録とは条件が異なります。この違いを混同しないようにします。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大谷選手のこの試合の内訳をグラフにしました。4打数1安打1打点2三振という成績が、数字で見てもそのまま確認できます。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だけを見た時に起きやすい誤解を補足します。169.7キロがどの打席の球かは特定されておらず、大谷選手がその球を打ったという意味ではありません。3回の適時三塁打と第1打席の三飛は別の打席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視聴者にとっての実践的な示唆をまとめました。野球ファンとして、スポーツニュースを追う立場として、情報を発信する立場として、それぞれで意識したい点です。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確認できていないことを正直にお伝えします。シーズン通算成績、順位への影響、3回の適時三塁打の球種・球速は、本調査の範囲では確認できていません。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成績・適時三塁打・最速球・最終スコアは複数の情報源で確認できた事実です。技術面の評価はあくまで一般的な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本テーマの鮮度を数字で確認します。試合は着手日と同じ2026年8月16日です。2日以内という当社の基準を最も新しい形で満たしています。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今日の要点を整理しました。史上最速の投球記録、大谷選手の適時三塁打、そしてチームとしては敗れたという結果。この3つを正確に、出典付きでお届けしました。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ブルワーズ先発ミジオロウスキー投手が記録した先発投手として史上最速の169.7キロと、その中で大谷翔平選手が放った適時三塁打、そしてドジャースが1-4で敗れたという結果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先発投手、史上最速169.7キロ。</a:t>
            </a:r>
          </a:p>
          <a:p>
            <a:pPr algn="l">
              <a:lnSpc>
                <a:spcPct val="115000"/>
              </a:lnSpc>
            </a:pPr>
            <a:r>
              <a:rPr sz="4200" b="1">
                <a:solidFill>
                  <a:srgbClr val="FFFFFF"/>
                </a:solidFill>
                <a:latin typeface="Yu Gothic"/>
              </a:rPr>
              <a:t>大谷はそこから適時三塁打を放った。</a:t>
            </a:r>
          </a:p>
          <a:p>
            <a:pPr algn="l">
              <a:lnSpc>
                <a:spcPct val="115000"/>
              </a:lnSpc>
            </a:pPr>
            <a:r>
              <a:rPr sz="4200" b="1">
                <a:solidFill>
                  <a:srgbClr val="FFFFFF"/>
                </a:solidFill>
                <a:latin typeface="Yu Gothic"/>
              </a:rPr>
              <a:t>だが、ドジャースは敗れた。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2026年8月16日、ドジャー・スタジアムでのブルワーズ戦――出典付きで正確に整理する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BASEBALL KING・TBS NEWS DIG(docomoニュース経由)・livedoor News(いずれも2026年8月16日)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1-4でドジャース敗戦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大谷翔平選手は4打数1安打1打点2三振。3回に一塁線を破る適時三塁打を放ったが、ドジャースはブルワーズに1-4で敗れた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BASEBALL KING・TBS NEWS DIG・livedoor News(2026-08-16)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試合の基本情報と数字の読み方</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この試合のタイムライン</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先発投手として史上最速・105.5マイル(169.7キロ)の記録</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大谷選手の第1打席と3回の適時三塁打を正確に区別する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4回の失点から最終スコアまで、そして確認できなかったこと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試合そのもの(2026年8月16日、日本時間)が着手日当日という、最も新しい話題である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『先発投手として史上最速』という具体的な記録と、大谷選手の適時三塁打が同じ試合で重なった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複数の独立したメディアが数値を一致させて報じている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試合の基本情報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対戦カード</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ドジャース対ブルワーズ</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会場</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ドジャー・スタジアム</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大谷選手の出場</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1番・DHで先発出場</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日付</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2026年8月16日(日本時間)</a:t>
            </a:r>
          </a:p>
        </p:txBody>
      </p:sp>
      <p:sp>
        <p:nvSpPr>
          <p:cNvPr id="22" name="TextBox 2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前提知識:数字の読み方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本題に入る前に、用語と単位を確認します。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マイル(mph)からキロへの換算: 105.5マイルは約169.7キロメートル毎時にあたる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適時打(適時三塁打): 走者を本塁に還し得点を記録する安打。三塁打は本塁打に次ぐ長打</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『先発投手として史上最速』: 先発投手という条件つきの記録で、救援投手を含めた記録とは条件が異なる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この試合のタイムライン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試合開始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大谷翔平選手が1番・DHで先発出場</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第1打席</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165キロ超の速球が続き、最後は167キロを打ち上げて三飛</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3回</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一塁線を破る適時三塁打で1点を返す</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4回・最終</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ロブレスキーが2本目の2ラン被弾。1-4でドジャース敗戦</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先発投手として史上最速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105.5マイル(約169.7キロ)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ブルワーズ先発ミジオロウスキー投手が、この試合で先発投手として史上最速となる一球を記録した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BASEBALL KING・TBS NEWS DIG・livedoor News(2026-08-16)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大谷選手が見た球速(第1打席の最終球と、試合最速球)</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第1打席は165キロ超が続いた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167キロで三飛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大谷選手の第1打席は、すべて時速165キロを超える速球で攻められ、最後は167キロの速球を打ち上げて三塁側へのフライに倒れた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BASEBALL KING・TBS NEWS DIG・livedoor News(2026-08-16)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大谷翔平選手のこの試合の成績</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打順・守備</a:t>
                      </a:r>
                    </a:p>
                  </a:txBody>
                  <a:tcPr>
                    <a:solidFill>
                      <a:srgbClr val="FFFFFF"/>
                    </a:solidFill>
                  </a:tcPr>
                </a:tc>
                <a:tc>
                  <a:txBody>
                    <a:bodyPr/>
                    <a:lstStyle/>
                    <a:p>
                      <a:pPr>
                        <a:defRPr sz="1200">
                          <a:solidFill>
                            <a:srgbClr val="2A1712"/>
                          </a:solidFill>
                          <a:latin typeface="Yu Gothic"/>
                        </a:defRPr>
                      </a:pPr>
                      <a:r>
                        <a:t>1番・DH</a:t>
                      </a:r>
                    </a:p>
                  </a:txBody>
                  <a:tcPr>
                    <a:solidFill>
                      <a:srgbClr val="FFFFFF"/>
                    </a:solidFill>
                  </a:tcPr>
                </a:tc>
              </a:tr>
              <a:tr h="502920">
                <a:tc>
                  <a:txBody>
                    <a:bodyPr/>
                    <a:lstStyle/>
                    <a:p>
                      <a:pPr>
                        <a:defRPr sz="1200">
                          <a:solidFill>
                            <a:srgbClr val="2A1712"/>
                          </a:solidFill>
                          <a:latin typeface="Yu Gothic"/>
                        </a:defRPr>
                      </a:pPr>
                      <a:r>
                        <a:t>打数</a:t>
                      </a:r>
                    </a:p>
                  </a:txBody>
                  <a:tcPr>
                    <a:solidFill>
                      <a:srgbClr val="FBF3E6"/>
                    </a:solidFill>
                  </a:tcPr>
                </a:tc>
                <a:tc>
                  <a:txBody>
                    <a:bodyPr/>
                    <a:lstStyle/>
                    <a:p>
                      <a:pPr>
                        <a:defRPr sz="1200">
                          <a:solidFill>
                            <a:srgbClr val="2A1712"/>
                          </a:solidFill>
                          <a:latin typeface="Yu Gothic"/>
                        </a:defRPr>
                      </a:pPr>
                      <a:r>
                        <a:t>4打数</a:t>
                      </a:r>
                    </a:p>
                  </a:txBody>
                  <a:tcPr>
                    <a:solidFill>
                      <a:srgbClr val="FBF3E6"/>
                    </a:solidFill>
                  </a:tcPr>
                </a:tc>
              </a:tr>
              <a:tr h="502920">
                <a:tc>
                  <a:txBody>
                    <a:bodyPr/>
                    <a:lstStyle/>
                    <a:p>
                      <a:pPr>
                        <a:defRPr sz="1200">
                          <a:solidFill>
                            <a:srgbClr val="2A1712"/>
                          </a:solidFill>
                          <a:latin typeface="Yu Gothic"/>
                        </a:defRPr>
                      </a:pPr>
                      <a:r>
                        <a:t>安打</a:t>
                      </a:r>
                    </a:p>
                  </a:txBody>
                  <a:tcPr>
                    <a:solidFill>
                      <a:srgbClr val="FFFFFF"/>
                    </a:solidFill>
                  </a:tcPr>
                </a:tc>
                <a:tc>
                  <a:txBody>
                    <a:bodyPr/>
                    <a:lstStyle/>
                    <a:p>
                      <a:pPr>
                        <a:defRPr sz="1200">
                          <a:solidFill>
                            <a:srgbClr val="2A1712"/>
                          </a:solidFill>
                          <a:latin typeface="Yu Gothic"/>
                        </a:defRPr>
                      </a:pPr>
                      <a:r>
                        <a:t>1安打(3回の適時三塁打)</a:t>
                      </a:r>
                    </a:p>
                  </a:txBody>
                  <a:tcPr>
                    <a:solidFill>
                      <a:srgbClr val="FFFFFF"/>
                    </a:solidFill>
                  </a:tcPr>
                </a:tc>
              </a:tr>
              <a:tr h="502920">
                <a:tc>
                  <a:txBody>
                    <a:bodyPr/>
                    <a:lstStyle/>
                    <a:p>
                      <a:pPr>
                        <a:defRPr sz="1200">
                          <a:solidFill>
                            <a:srgbClr val="2A1712"/>
                          </a:solidFill>
                          <a:latin typeface="Yu Gothic"/>
                        </a:defRPr>
                      </a:pPr>
                      <a:r>
                        <a:t>打点</a:t>
                      </a:r>
                    </a:p>
                  </a:txBody>
                  <a:tcPr>
                    <a:solidFill>
                      <a:srgbClr val="FBF3E6"/>
                    </a:solidFill>
                  </a:tcPr>
                </a:tc>
                <a:tc>
                  <a:txBody>
                    <a:bodyPr/>
                    <a:lstStyle/>
                    <a:p>
                      <a:pPr>
                        <a:defRPr sz="1200">
                          <a:solidFill>
                            <a:srgbClr val="2A1712"/>
                          </a:solidFill>
                          <a:latin typeface="Yu Gothic"/>
                        </a:defRPr>
                      </a:pPr>
                      <a:r>
                        <a:t>1打点</a:t>
                      </a:r>
                    </a:p>
                  </a:txBody>
                  <a:tcPr>
                    <a:solidFill>
                      <a:srgbClr val="FBF3E6"/>
                    </a:solidFill>
                  </a:tcPr>
                </a:tc>
              </a:tr>
              <a:tr h="502920">
                <a:tc>
                  <a:txBody>
                    <a:bodyPr/>
                    <a:lstStyle/>
                    <a:p>
                      <a:pPr>
                        <a:defRPr sz="1200">
                          <a:solidFill>
                            <a:srgbClr val="2A1712"/>
                          </a:solidFill>
                          <a:latin typeface="Yu Gothic"/>
                        </a:defRPr>
                      </a:pPr>
                      <a:r>
                        <a:t>三振</a:t>
                      </a:r>
                    </a:p>
                  </a:txBody>
                  <a:tcPr>
                    <a:solidFill>
                      <a:srgbClr val="FFFFFF"/>
                    </a:solidFill>
                  </a:tcPr>
                </a:tc>
                <a:tc>
                  <a:txBody>
                    <a:bodyPr/>
                    <a:lstStyle/>
                    <a:p>
                      <a:pPr>
                        <a:defRPr sz="1200">
                          <a:solidFill>
                            <a:srgbClr val="2A1712"/>
                          </a:solidFill>
                          <a:latin typeface="Yu Gothic"/>
                        </a:defRPr>
                      </a:pPr>
                      <a:r>
                        <a:t>2三振</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3回の適時三塁打が生まれた場面(概念図)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ミジオロウスキー投手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史上最速級の速球を投げる先発投手</a:t>
            </a:r>
          </a:p>
        </p:txBody>
      </p:sp>
      <p:sp>
        <p:nvSpPr>
          <p:cNvPr id="10" name="Right Arrow 9"/>
          <p:cNvSpPr/>
          <p:nvPr/>
        </p:nvSpPr>
        <p:spPr>
          <a:xfrm>
            <a:off x="25571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大谷選手の打席(3回)</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一塁線を狙った打球</a:t>
            </a:r>
          </a:p>
        </p:txBody>
      </p:sp>
      <p:sp>
        <p:nvSpPr>
          <p:cNvPr id="15" name="Right Arrow 14"/>
          <p:cNvSpPr/>
          <p:nvPr/>
        </p:nvSpPr>
        <p:spPr>
          <a:xfrm>
            <a:off x="57575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一塁線を破る</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打球が一塁線を抜けて長打に</a:t>
            </a:r>
          </a:p>
        </p:txBody>
      </p:sp>
      <p:sp>
        <p:nvSpPr>
          <p:cNvPr id="20" name="Right Arrow 19"/>
          <p:cNvSpPr/>
          <p:nvPr/>
        </p:nvSpPr>
        <p:spPr>
          <a:xfrm>
            <a:off x="89579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適時三塁打・1点</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走者を本塁に還し1点を返す</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剛速球投手を相手に、3回は一塁線を破る長打で得点につなげた場面</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3回、一塁線の適時三塁打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適時三塁打・1点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大谷選手は3回、ミジオロウスキー投手から一塁線を破る適時三塁打を放ち、1点を返した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BASEBALL KING・TBS NEWS DIG・livedoor News(2026-08-16)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4回までの得点経過</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イニング</a:t>
                      </a:r>
                    </a:p>
                  </a:txBody>
                  <a:tcPr>
                    <a:solidFill>
                      <a:srgbClr val="7A1F2B"/>
                    </a:solidFill>
                  </a:tcPr>
                </a:tc>
                <a:tc>
                  <a:txBody>
                    <a:bodyPr/>
                    <a:lstStyle/>
                    <a:p>
                      <a:pPr>
                        <a:defRPr sz="1300" b="1">
                          <a:solidFill>
                            <a:srgbClr val="FFFFFF"/>
                          </a:solidFill>
                          <a:latin typeface="Yu Gothic"/>
                        </a:defRPr>
                      </a:pPr>
                      <a:r>
                        <a:t>できごと</a:t>
                      </a:r>
                    </a:p>
                  </a:txBody>
                  <a:tcPr>
                    <a:solidFill>
                      <a:srgbClr val="7A1F2B"/>
                    </a:solidFill>
                  </a:tcPr>
                </a:tc>
                <a:tc>
                  <a:txBody>
                    <a:bodyPr/>
                    <a:lstStyle/>
                    <a:p>
                      <a:pPr>
                        <a:defRPr sz="1300" b="1">
                          <a:solidFill>
                            <a:srgbClr val="FFFFFF"/>
                          </a:solidFill>
                          <a:latin typeface="Yu Gothic"/>
                        </a:defRPr>
                      </a:pPr>
                      <a:r>
                        <a:t>スコア</a:t>
                      </a:r>
                    </a:p>
                  </a:txBody>
                  <a:tcPr>
                    <a:solidFill>
                      <a:srgbClr val="7A1F2B"/>
                    </a:solidFill>
                  </a:tcPr>
                </a:tc>
              </a:tr>
              <a:tr h="502920">
                <a:tc>
                  <a:txBody>
                    <a:bodyPr/>
                    <a:lstStyle/>
                    <a:p>
                      <a:pPr>
                        <a:defRPr sz="1200">
                          <a:solidFill>
                            <a:srgbClr val="2A1712"/>
                          </a:solidFill>
                          <a:latin typeface="Yu Gothic"/>
                        </a:defRPr>
                      </a:pPr>
                      <a:r>
                        <a:t>3回</a:t>
                      </a:r>
                    </a:p>
                  </a:txBody>
                  <a:tcPr>
                    <a:solidFill>
                      <a:srgbClr val="FFFFFF"/>
                    </a:solidFill>
                  </a:tcPr>
                </a:tc>
                <a:tc>
                  <a:txBody>
                    <a:bodyPr/>
                    <a:lstStyle/>
                    <a:p>
                      <a:pPr>
                        <a:defRPr sz="1200">
                          <a:solidFill>
                            <a:srgbClr val="2A1712"/>
                          </a:solidFill>
                          <a:latin typeface="Yu Gothic"/>
                        </a:defRPr>
                      </a:pPr>
                      <a:r>
                        <a:t>大谷選手が一塁線への適時三塁打で1点を返す</a:t>
                      </a:r>
                    </a:p>
                  </a:txBody>
                  <a:tcPr>
                    <a:solidFill>
                      <a:srgbClr val="FFFFFF"/>
                    </a:solidFill>
                  </a:tcPr>
                </a:tc>
                <a:tc>
                  <a:txBody>
                    <a:bodyPr/>
                    <a:lstStyle/>
                    <a:p>
                      <a:pPr>
                        <a:defRPr sz="1200">
                          <a:solidFill>
                            <a:srgbClr val="2A1712"/>
                          </a:solidFill>
                          <a:latin typeface="Yu Gothic"/>
                        </a:defRPr>
                      </a:pPr>
                      <a:r>
                        <a:t>1点を追う展開</a:t>
                      </a:r>
                    </a:p>
                  </a:txBody>
                  <a:tcPr>
                    <a:solidFill>
                      <a:srgbClr val="FFFFFF"/>
                    </a:solidFill>
                  </a:tcPr>
                </a:tc>
              </a:tr>
              <a:tr h="502920">
                <a:tc>
                  <a:txBody>
                    <a:bodyPr/>
                    <a:lstStyle/>
                    <a:p>
                      <a:pPr>
                        <a:defRPr sz="1200">
                          <a:solidFill>
                            <a:srgbClr val="2A1712"/>
                          </a:solidFill>
                          <a:latin typeface="Yu Gothic"/>
                        </a:defRPr>
                      </a:pPr>
                      <a:r>
                        <a:t>4回</a:t>
                      </a:r>
                    </a:p>
                  </a:txBody>
                  <a:tcPr>
                    <a:solidFill>
                      <a:srgbClr val="FBF3E6"/>
                    </a:solidFill>
                  </a:tcPr>
                </a:tc>
                <a:tc>
                  <a:txBody>
                    <a:bodyPr/>
                    <a:lstStyle/>
                    <a:p>
                      <a:pPr>
                        <a:defRPr sz="1200">
                          <a:solidFill>
                            <a:srgbClr val="2A1712"/>
                          </a:solidFill>
                          <a:latin typeface="Yu Gothic"/>
                        </a:defRPr>
                      </a:pPr>
                      <a:r>
                        <a:t>ドジャース先発ロブレスキー投手がこの日2本目の2ラン本塁打を浴びる</a:t>
                      </a:r>
                    </a:p>
                  </a:txBody>
                  <a:tcPr>
                    <a:solidFill>
                      <a:srgbClr val="FBF3E6"/>
                    </a:solidFill>
                  </a:tcPr>
                </a:tc>
                <a:tc>
                  <a:txBody>
                    <a:bodyPr/>
                    <a:lstStyle/>
                    <a:p>
                      <a:pPr>
                        <a:defRPr sz="1200">
                          <a:solidFill>
                            <a:srgbClr val="2A1712"/>
                          </a:solidFill>
                          <a:latin typeface="Yu Gothic"/>
                        </a:defRPr>
                      </a:pPr>
                      <a:r>
                        <a:t>1-4</a:t>
                      </a:r>
                    </a:p>
                  </a:txBody>
                  <a:tcPr>
                    <a:solidFill>
                      <a:srgbClr val="FBF3E6"/>
                    </a:solidFill>
                  </a:tcPr>
                </a:tc>
              </a:tr>
              <a:tr h="502920">
                <a:tc>
                  <a:txBody>
                    <a:bodyPr/>
                    <a:lstStyle/>
                    <a:p>
                      <a:pPr>
                        <a:defRPr sz="1200">
                          <a:solidFill>
                            <a:srgbClr val="2A1712"/>
                          </a:solidFill>
                          <a:latin typeface="Yu Gothic"/>
                        </a:defRPr>
                      </a:pPr>
                      <a:r>
                        <a:t>最終</a:t>
                      </a:r>
                    </a:p>
                  </a:txBody>
                  <a:tcPr>
                    <a:solidFill>
                      <a:srgbClr val="FFFFFF"/>
                    </a:solidFill>
                  </a:tcPr>
                </a:tc>
                <a:tc>
                  <a:txBody>
                    <a:bodyPr/>
                    <a:lstStyle/>
                    <a:p>
                      <a:pPr>
                        <a:defRPr sz="1200">
                          <a:solidFill>
                            <a:srgbClr val="2A1712"/>
                          </a:solidFill>
                          <a:latin typeface="Yu Gothic"/>
                        </a:defRPr>
                      </a:pPr>
                      <a:r>
                        <a:t>そのままドジャースが敗戦</a:t>
                      </a:r>
                    </a:p>
                  </a:txBody>
                  <a:tcPr>
                    <a:solidFill>
                      <a:srgbClr val="FFFFFF"/>
                    </a:solidFill>
                  </a:tcPr>
                </a:tc>
                <a:tc>
                  <a:txBody>
                    <a:bodyPr/>
                    <a:lstStyle/>
                    <a:p>
                      <a:pPr>
                        <a:defRPr sz="1200">
                          <a:solidFill>
                            <a:srgbClr val="2A1712"/>
                          </a:solidFill>
                          <a:latin typeface="Yu Gothic"/>
                        </a:defRPr>
                      </a:pPr>
                      <a:r>
                        <a:t>1-4</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ドジャース1-4ブルワーズ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大谷選手の適時三塁打があったものの、ドジャースはブルワーズに1-4で敗れた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BASEBALL KING・TBS NEWS DIG・livedoor News(2026-08-16)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見出しの印象/実際の結果</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大谷の活躍でドジャースが勝った</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剛速球を打ち崩して逆転勝ちした</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史上最速投球は大谷が打った球のことだ</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ドジャースは1-4で敗戦した</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適時三塁打は3回の1点にとどまり、4回の2ラン被弾で突き放された</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史上最速(169.7キロ)がどの打席の球かは出典で特定されていない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誇張回避のための補足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『大谷の一撃でドジャースが勝利した』のような、試合結果と矛盾する表現は使わない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数字(打数・安打・打点・三振・球速・スコア)はすべて出典どおり正確に扱い、丸めや誇張を行わない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剛速球という相手投手側の事実も、大谷選手の活躍と同じ重みで正確に伝える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この試合の3つの見どころ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史上最速の投球</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先発投手として105.5マイル(約169.7キロ)を記録</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大谷選手の適時三塁打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剛速球を相手に一塁線を破る長打で1点を返した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それでも敗れたチーム</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4回の2ラン被弾が響き、1-4でドジャースが敗戦</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数字で見る大谷選手の対応力</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剛速球への対応を数字で確認します。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第1打席は165キロ超が続き、最後は167キロを打ち上げて三飛に倒れた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3回には一塁線を破る適時三塁打で結果を出した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同じ試合の中で、打席によって結果が分かれている点も含めて正確に伝える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『先発投手として史上最速』の意味(範囲の確認)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記録の名称</a:t>
                      </a:r>
                    </a:p>
                  </a:txBody>
                  <a:tcPr>
                    <a:solidFill>
                      <a:srgbClr val="FFFFFF"/>
                    </a:solidFill>
                  </a:tcPr>
                </a:tc>
                <a:tc>
                  <a:txBody>
                    <a:bodyPr/>
                    <a:lstStyle/>
                    <a:p>
                      <a:pPr>
                        <a:defRPr sz="1200">
                          <a:solidFill>
                            <a:srgbClr val="2A1712"/>
                          </a:solidFill>
                          <a:latin typeface="Yu Gothic"/>
                        </a:defRPr>
                      </a:pPr>
                      <a:r>
                        <a:t>先発投手として史上最速の投球</a:t>
                      </a:r>
                    </a:p>
                  </a:txBody>
                  <a:tcPr>
                    <a:solidFill>
                      <a:srgbClr val="FFFFFF"/>
                    </a:solidFill>
                  </a:tcPr>
                </a:tc>
              </a:tr>
              <a:tr h="502920">
                <a:tc>
                  <a:txBody>
                    <a:bodyPr/>
                    <a:lstStyle/>
                    <a:p>
                      <a:pPr>
                        <a:defRPr sz="1200">
                          <a:solidFill>
                            <a:srgbClr val="2A1712"/>
                          </a:solidFill>
                          <a:latin typeface="Yu Gothic"/>
                        </a:defRPr>
                      </a:pPr>
                      <a:r>
                        <a:t>条件</a:t>
                      </a:r>
                    </a:p>
                  </a:txBody>
                  <a:tcPr>
                    <a:solidFill>
                      <a:srgbClr val="FBF3E6"/>
                    </a:solidFill>
                  </a:tcPr>
                </a:tc>
                <a:tc>
                  <a:txBody>
                    <a:bodyPr/>
                    <a:lstStyle/>
                    <a:p>
                      <a:pPr>
                        <a:defRPr sz="1200">
                          <a:solidFill>
                            <a:srgbClr val="2A1712"/>
                          </a:solidFill>
                          <a:latin typeface="Yu Gothic"/>
                        </a:defRPr>
                      </a:pPr>
                      <a:r>
                        <a:t>先発投手として登板した投手の中での最速記録</a:t>
                      </a:r>
                    </a:p>
                  </a:txBody>
                  <a:tcPr>
                    <a:solidFill>
                      <a:srgbClr val="FBF3E6"/>
                    </a:solidFill>
                  </a:tcPr>
                </a:tc>
              </a:tr>
              <a:tr h="502920">
                <a:tc>
                  <a:txBody>
                    <a:bodyPr/>
                    <a:lstStyle/>
                    <a:p>
                      <a:pPr>
                        <a:defRPr sz="1200">
                          <a:solidFill>
                            <a:srgbClr val="2A1712"/>
                          </a:solidFill>
                          <a:latin typeface="Yu Gothic"/>
                        </a:defRPr>
                      </a:pPr>
                      <a:r>
                        <a:t>数値</a:t>
                      </a:r>
                    </a:p>
                  </a:txBody>
                  <a:tcPr>
                    <a:solidFill>
                      <a:srgbClr val="FFFFFF"/>
                    </a:solidFill>
                  </a:tcPr>
                </a:tc>
                <a:tc>
                  <a:txBody>
                    <a:bodyPr/>
                    <a:lstStyle/>
                    <a:p>
                      <a:pPr>
                        <a:defRPr sz="1200">
                          <a:solidFill>
                            <a:srgbClr val="2A1712"/>
                          </a:solidFill>
                          <a:latin typeface="Yu Gothic"/>
                        </a:defRPr>
                      </a:pPr>
                      <a:r>
                        <a:t>105.5マイル(約169.7キロ)</a:t>
                      </a:r>
                    </a:p>
                  </a:txBody>
                  <a:tcPr>
                    <a:solidFill>
                      <a:srgbClr val="FFFFFF"/>
                    </a:solidFill>
                  </a:tcPr>
                </a:tc>
              </a:tr>
              <a:tr h="502920">
                <a:tc>
                  <a:txBody>
                    <a:bodyPr/>
                    <a:lstStyle/>
                    <a:p>
                      <a:pPr>
                        <a:defRPr sz="1200">
                          <a:solidFill>
                            <a:srgbClr val="2A1712"/>
                          </a:solidFill>
                          <a:latin typeface="Yu Gothic"/>
                        </a:defRPr>
                      </a:pPr>
                      <a:r>
                        <a:t>注意点</a:t>
                      </a:r>
                    </a:p>
                  </a:txBody>
                  <a:tcPr>
                    <a:solidFill>
                      <a:srgbClr val="FBF3E6"/>
                    </a:solidFill>
                  </a:tcPr>
                </a:tc>
                <a:tc>
                  <a:txBody>
                    <a:bodyPr/>
                    <a:lstStyle/>
                    <a:p>
                      <a:pPr>
                        <a:defRPr sz="1200">
                          <a:solidFill>
                            <a:srgbClr val="2A1712"/>
                          </a:solidFill>
                          <a:latin typeface="Yu Gothic"/>
                        </a:defRPr>
                      </a:pPr>
                      <a:r>
                        <a:t>救援投手を含めた投球全体での最速記録とは条件が異なる</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大谷選手のこの試合の内訳(数字で見る)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BASEBALL KING・TBS NEWS DIG・livedoor News(2026-08-16)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見出しだけ見た時に起きやすい誤解</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見出しの受け取り方について補足します。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『史上最速』という言葉だけを見ると、大谷選手がその球を打ったと誤解しやすい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169.7キロがどの打席の球かは出典で特定されておらず、大谷選手が打った球という意味ではない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適時三塁打(3回)と第1打席の三飛は別の打席であり、混同しない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視聴者への実践的な示唆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『史上最速』が具体的にどの条件の記録なのかまで確認すると理解が深まる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スポーツニュースを追う立場として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個人の活躍と試合結果は別の事実として区別して受け取る習慣が役立つ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勝敗を混同せず、良い面・厳しい面の両方を出典付きで正確に伝える姿勢が信頼につながる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大谷選手のこの試合終了時点でのシーズン通算成績(打率・本塁打数・打点数等)</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ドジャースのこの試合終了時点での順位・プレーオフ進出への影響</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3回の適時三塁打を放った際の具体的な球種・球速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大谷選手の2三振の詳細(打席・球種等)</a:t>
                      </a:r>
                    </a:p>
                  </a:txBody>
                  <a:tcPr>
                    <a:solidFill>
                      <a:srgbClr val="FFFFFF"/>
                    </a:solidFill>
                  </a:tcPr>
                </a:tc>
                <a:tc>
                  <a:txBody>
                    <a:bodyPr/>
                    <a:lstStyle/>
                    <a:p>
                      <a:pPr>
                        <a:defRPr sz="1200">
                          <a:solidFill>
                            <a:srgbClr val="2A1712"/>
                          </a:solidFill>
                          <a:latin typeface="Yu Gothic"/>
                        </a:defRPr>
                      </a:pPr>
                      <a:r>
                        <a:t>本調査の範囲では確認できていない</a:t>
                      </a:r>
                    </a:p>
                  </a:txBody>
                  <a:tcPr>
                    <a:solidFill>
                      <a:srgbClr val="FFFFFF"/>
                    </a:solidFill>
                  </a:tcPr>
                </a:tc>
              </a:tr>
              <a:tr h="502920">
                <a:tc>
                  <a:txBody>
                    <a:bodyPr/>
                    <a:lstStyle/>
                    <a:p>
                      <a:pPr>
                        <a:defRPr sz="1200">
                          <a:solidFill>
                            <a:srgbClr val="2A1712"/>
                          </a:solidFill>
                          <a:latin typeface="Yu Gothic"/>
                        </a:defRPr>
                      </a:pPr>
                      <a:r>
                        <a:t>1回・2回の試合展開の詳細</a:t>
                      </a:r>
                    </a:p>
                  </a:txBody>
                  <a:tcPr>
                    <a:solidFill>
                      <a:srgbClr val="FBF3E6"/>
                    </a:solidFill>
                  </a:tcPr>
                </a:tc>
                <a:tc>
                  <a:txBody>
                    <a:bodyPr/>
                    <a:lstStyle/>
                    <a:p>
                      <a:pPr>
                        <a:defRPr sz="1200">
                          <a:solidFill>
                            <a:srgbClr val="2A1712"/>
                          </a:solidFill>
                          <a:latin typeface="Yu Gothic"/>
                        </a:defRPr>
                      </a:pPr>
                      <a:r>
                        <a:t>本調査の範囲では確認できていない</a:t>
                      </a:r>
                    </a:p>
                  </a:txBody>
                  <a:tcPr>
                    <a:solidFill>
                      <a:srgbClr val="FBF3E6"/>
                    </a:solidFill>
                  </a:tcPr>
                </a:tc>
              </a:tr>
              <a:tr h="502920">
                <a:tc>
                  <a:txBody>
                    <a:bodyPr/>
                    <a:lstStyle/>
                    <a:p>
                      <a:pPr>
                        <a:defRPr sz="1200">
                          <a:solidFill>
                            <a:srgbClr val="2A1712"/>
                          </a:solidFill>
                          <a:latin typeface="Yu Gothic"/>
                        </a:defRPr>
                      </a:pPr>
                      <a:r>
                        <a:t>169.7キロがどの打席・打者に対する一球か</a:t>
                      </a:r>
                    </a:p>
                  </a:txBody>
                  <a:tcPr>
                    <a:solidFill>
                      <a:srgbClr val="FFFFFF"/>
                    </a:solidFill>
                  </a:tcPr>
                </a:tc>
                <a:tc>
                  <a:txBody>
                    <a:bodyPr/>
                    <a:lstStyle/>
                    <a:p>
                      <a:pPr>
                        <a:defRPr sz="1200">
                          <a:solidFill>
                            <a:srgbClr val="2A1712"/>
                          </a:solidFill>
                          <a:latin typeface="Yu Gothic"/>
                        </a:defRPr>
                      </a:pPr>
                      <a:r>
                        <a:t>本調査の範囲では確認できていない(推測で補わない)</a:t>
                      </a:r>
                    </a:p>
                  </a:txBody>
                  <a:tcPr>
                    <a:solidFill>
                      <a:srgbClr val="FFFFFF"/>
                    </a:solidFill>
                  </a:tcPr>
                </a:tc>
              </a:tr>
              <a:tr h="502920">
                <a:tc>
                  <a:txBody>
                    <a:bodyPr/>
                    <a:lstStyle/>
                    <a:p>
                      <a:pPr>
                        <a:defRPr sz="1200">
                          <a:solidFill>
                            <a:srgbClr val="2A1712"/>
                          </a:solidFill>
                          <a:latin typeface="Yu Gothic"/>
                        </a:defRPr>
                      </a:pPr>
                      <a:r>
                        <a:t>シーズン成績・順位への影響</a:t>
                      </a:r>
                    </a:p>
                  </a:txBody>
                  <a:tcPr>
                    <a:solidFill>
                      <a:srgbClr val="FBF3E6"/>
                    </a:solidFill>
                  </a:tcPr>
                </a:tc>
                <a:tc>
                  <a:txBody>
                    <a:bodyPr/>
                    <a:lstStyle/>
                    <a:p>
                      <a:pPr>
                        <a:defRPr sz="1200">
                          <a:solidFill>
                            <a:srgbClr val="2A1712"/>
                          </a:solidFill>
                          <a:latin typeface="Yu Gothic"/>
                        </a:defRPr>
                      </a:pPr>
                      <a:r>
                        <a:t>本調査の範囲では確認できていない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4打数1安打1打点2三振・3回の適時三塁打・169.7キロの最速球・1-4の敗戦は複数メディアが一致</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第1打席(167キロで三飛)と3回の適時三塁打(一塁線)は別の打席</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剛速球を相手に一塁線を破れたことから、その打席では対応できていたと言える(技術面の詳細は断定しない)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不明: シーズン成績・順位への影響・169.7キロが投じられた打席</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着手日当日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試合(2026年8月16日、日本時間)は着手日(2026年8月16日)当日。着手日を含めて2日以内という基準を最も新しい形で満たす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BASEBALL KING</a:t>
                      </a:r>
                    </a:p>
                  </a:txBody>
                  <a:tcPr>
                    <a:solidFill>
                      <a:srgbClr val="FFFFFF"/>
                    </a:solidFill>
                  </a:tcPr>
                </a:tc>
                <a:tc>
                  <a:txBody>
                    <a:bodyPr/>
                    <a:lstStyle/>
                    <a:p>
                      <a:pPr>
                        <a:defRPr sz="1200">
                          <a:solidFill>
                            <a:srgbClr val="2A1712"/>
                          </a:solidFill>
                          <a:latin typeface="Yu Gothic"/>
                        </a:defRPr>
                      </a:pPr>
                      <a:r>
                        <a:t>試合結果・大谷選手の成績・史上最速記録の詳細(2026-08-16)</a:t>
                      </a:r>
                    </a:p>
                  </a:txBody>
                  <a:tcPr>
                    <a:solidFill>
                      <a:srgbClr val="FFFFFF"/>
                    </a:solidFill>
                  </a:tcPr>
                </a:tc>
              </a:tr>
              <a:tr h="502920">
                <a:tc>
                  <a:txBody>
                    <a:bodyPr/>
                    <a:lstStyle/>
                    <a:p>
                      <a:pPr>
                        <a:defRPr sz="1200">
                          <a:solidFill>
                            <a:srgbClr val="2A1712"/>
                          </a:solidFill>
                          <a:latin typeface="Yu Gothic"/>
                        </a:defRPr>
                      </a:pPr>
                      <a:r>
                        <a:t>TBS NEWS DIG(docomoニュース経由)</a:t>
                      </a:r>
                    </a:p>
                  </a:txBody>
                  <a:tcPr>
                    <a:solidFill>
                      <a:srgbClr val="FBF3E6"/>
                    </a:solidFill>
                  </a:tcPr>
                </a:tc>
                <a:tc>
                  <a:txBody>
                    <a:bodyPr/>
                    <a:lstStyle/>
                    <a:p>
                      <a:pPr>
                        <a:defRPr sz="1200">
                          <a:solidFill>
                            <a:srgbClr val="2A1712"/>
                          </a:solidFill>
                          <a:latin typeface="Yu Gothic"/>
                        </a:defRPr>
                      </a:pPr>
                      <a:r>
                        <a:t>試合経過・第1打席の内容・最終スコア(2026-08-16)</a:t>
                      </a:r>
                    </a:p>
                  </a:txBody>
                  <a:tcPr>
                    <a:solidFill>
                      <a:srgbClr val="FBF3E6"/>
                    </a:solidFill>
                  </a:tcPr>
                </a:tc>
              </a:tr>
              <a:tr h="502920">
                <a:tc>
                  <a:txBody>
                    <a:bodyPr/>
                    <a:lstStyle/>
                    <a:p>
                      <a:pPr>
                        <a:defRPr sz="1200">
                          <a:solidFill>
                            <a:srgbClr val="2A1712"/>
                          </a:solidFill>
                          <a:latin typeface="Yu Gothic"/>
                        </a:defRPr>
                      </a:pPr>
                      <a:r>
                        <a:t>livedoor News</a:t>
                      </a:r>
                    </a:p>
                  </a:txBody>
                  <a:tcPr>
                    <a:solidFill>
                      <a:srgbClr val="FFFFFF"/>
                    </a:solidFill>
                  </a:tcPr>
                </a:tc>
                <a:tc>
                  <a:txBody>
                    <a:bodyPr/>
                    <a:lstStyle/>
                    <a:p>
                      <a:pPr>
                        <a:defRPr sz="1200">
                          <a:solidFill>
                            <a:srgbClr val="2A1712"/>
                          </a:solidFill>
                          <a:latin typeface="Yu Gothic"/>
                        </a:defRPr>
                      </a:pPr>
                      <a:r>
                        <a:t>試合結果・記録の詳細(2026-08-16)</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今日の要点整理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史上最速169.7キロ</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先発投手として史上最速となる記録がこの試合で生まれた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大谷の適時三塁打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剛速球を相手に3回、一塁線を破って1点を返した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それでも1-4で敗戦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4回の2ラン被弾が響き、ドジャースは敗れた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BASEBALL KING・TBS NEWS DIG(docomoニュース経由)・livedoor News(いずれも2026-08-16)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史上最速の投球と、大谷の一打。それでも、勝敗は覆らなかった。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先発投手として史上最速となる169.7キロと、大谷翔平選手の適時三塁打。そしてドジャースの1-4での敗戦を、数字を正確に、出典付きで整理してお届けしました。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