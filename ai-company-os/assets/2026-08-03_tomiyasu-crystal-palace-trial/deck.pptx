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本日は冨安健洋選手がクリスタル・パレスの練習に参加しているという話題をお届けします。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今日は、何が起きたのか、冨安選手について、クリスタル・パレスとは、プレシーズンマッチの様子、他クラブの関心をお伝えします。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アヤックスを退団した冨安健洋選手が、クリスタル・パレスの練習に参加していることが判明しました。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その判明日がこちら、着手日の3から6日前です。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冨安健洋選手は日本代表のディフェンダーで、直前はアヤックスに所属していました。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クリスタル・パレスは、盟友の鎌田大地選手が所属するプレミアリーグのクラブです。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7月28日にベンチ入りし、7月31日の試合では実際にピッチに立ち、約28分間プレーしました。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流れを図で見ると、練習参加の判明からわずか数日で実戦デビューに至りました。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実戦デビューの詳細をまとめると、この表の通りです。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出場時間は約28分間で、チームは3対1で勝利しました。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報じたメディアは、フットボールチャンネル、Goal.com、超WORLDサッカー、RONSPOです。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リバプールを含む他4クラブも冨安選手に関心を示していると報じられています。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関心を示すクラブを図で見ると、クリスタル・パレスだけでなく複数のクラブが名前を挙げられています。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ここで大事な点です。現時点では正式な獲得交渉は行われていないと現地報道されています。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ここまでを総括します。無所属となった冨安選手が、複数のプレミアクラブから注目されていることが今回の核心です。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ここからは推測です。正式契約の可能性、他クラブとの交渉、移籍市場全体の動きが焦点になりそうです。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想定される影響としては、選手個人のキャリア再出発、日本サッカー界への影響が挙げられます。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冨安選手のキャリアの歩みを整理すると、アヤックス退団からフリーエージェントを経て、現在は練習参加という段階です。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本テーマでは数字の創作をせず、正式な獲得交渉が行われていない段階であることも断定表現にしていません。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出典はこの表の通り、独立した複数のサッカー専門メディアです。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確認できたことと確認できなかったことを正直に整理します。クラブ・選手側からの公式発表はまだ確認できていません。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改めて確認します。冨安健洋選手が、クリスタル・パレスで練習に参加し、実戦デビューを果たしました。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既存の海外移籍テーマと比べると、冨安選手は既にフリーエージェントである点、練習参加の段階である点が異なります。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練習参加の判明から実戦デビュー、そして本日の話題化までの流れを図にすると、このようになります。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皆さんは、冨安選手の新天地はどのクラブになると思いますか。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数字で見ると、7月28日の練習参加判明から、7月31日の実戦デビュー、5クラブが関心を示しています。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改めて総括します。無所属となったDFを、プレミアリーグの複数クラブが注目している、その一つの節目でした。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正式な獲得交渉の行方、そして新天地の決定に注目していきましょう。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今回もありがとうございました。冨安健洋選手のクリスタル・パレス練習参加の話題をお届けしました。次回もお楽しみに。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無所属の日本代表DFを、5クラブが奪い合っている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冨安健洋選手、クリスタル・パレスの練習に参加しプレシーズンマッチでデビュー</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フットボールチャンネル・Goal.com ほか(2026-07-28〜08-01) ※正式な獲得交渉はまだ行われていません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冨安健洋選手について</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クリスタル・パレスとは</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プレシーズンマッチでの様子</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他クラブの関心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アヤックスを退団しフリーエージェントとなった冨安健洋選手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盟友・鎌田大地選手が所属するクリスタル・パレスの練習に参加</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判明日は2026年7月28日、着手日の3〜6日前</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フットボールチャンネル(2026-07-29)</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判明日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2026年7月28日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着手日の3〜6日前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フットボールチャンネル</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選手</a:t>
                      </a:r>
                    </a:p>
                  </a:txBody>
                  <a:tcPr>
                    <a:solidFill>
                      <a:srgbClr val="FFFFFF"/>
                    </a:solidFill>
                  </a:tcPr>
                </a:tc>
                <a:tc>
                  <a:txBody>
                    <a:bodyPr/>
                    <a:lstStyle/>
                    <a:p>
                      <a:pPr>
                        <a:defRPr sz="1200">
                          <a:solidFill>
                            <a:srgbClr val="1A1A2E"/>
                          </a:solidFill>
                          <a:latin typeface="Yu Gothic"/>
                        </a:defRPr>
                      </a:pPr>
                      <a:r>
                        <a:t>冨安健洋</a:t>
                      </a:r>
                    </a:p>
                  </a:txBody>
                  <a:tcPr>
                    <a:solidFill>
                      <a:srgbClr val="FFFFFF"/>
                    </a:solidFill>
                  </a:tcPr>
                </a:tc>
              </a:tr>
              <a:tr h="502920">
                <a:tc>
                  <a:txBody>
                    <a:bodyPr/>
                    <a:lstStyle/>
                    <a:p>
                      <a:pPr>
                        <a:defRPr sz="1200">
                          <a:solidFill>
                            <a:srgbClr val="1A1A2E"/>
                          </a:solidFill>
                          <a:latin typeface="Yu Gothic"/>
                        </a:defRPr>
                      </a:pPr>
                      <a:r>
                        <a:t>現状</a:t>
                      </a:r>
                    </a:p>
                  </a:txBody>
                  <a:tcPr>
                    <a:solidFill>
                      <a:srgbClr val="F3F6FC"/>
                    </a:solidFill>
                  </a:tcPr>
                </a:tc>
                <a:tc>
                  <a:txBody>
                    <a:bodyPr/>
                    <a:lstStyle/>
                    <a:p>
                      <a:pPr>
                        <a:defRPr sz="1200">
                          <a:solidFill>
                            <a:srgbClr val="1A1A2E"/>
                          </a:solidFill>
                          <a:latin typeface="Yu Gothic"/>
                        </a:defRPr>
                      </a:pPr>
                      <a:r>
                        <a:t>フリーエージェント(アヤックス退団)</a:t>
                      </a:r>
                    </a:p>
                  </a:txBody>
                  <a:tcPr>
                    <a:solidFill>
                      <a:srgbClr val="F3F6FC"/>
                    </a:solidFill>
                  </a:tcPr>
                </a:tc>
              </a:tr>
              <a:tr h="502920">
                <a:tc>
                  <a:txBody>
                    <a:bodyPr/>
                    <a:lstStyle/>
                    <a:p>
                      <a:pPr>
                        <a:defRPr sz="1200">
                          <a:solidFill>
                            <a:srgbClr val="1A1A2E"/>
                          </a:solidFill>
                          <a:latin typeface="Yu Gothic"/>
                        </a:defRPr>
                      </a:pPr>
                      <a:r>
                        <a:t>練習参加先</a:t>
                      </a:r>
                    </a:p>
                  </a:txBody>
                  <a:tcPr>
                    <a:solidFill>
                      <a:srgbClr val="FFFFFF"/>
                    </a:solidFill>
                  </a:tcPr>
                </a:tc>
                <a:tc>
                  <a:txBody>
                    <a:bodyPr/>
                    <a:lstStyle/>
                    <a:p>
                      <a:pPr>
                        <a:defRPr sz="1200">
                          <a:solidFill>
                            <a:srgbClr val="1A1A2E"/>
                          </a:solidFill>
                          <a:latin typeface="Yu Gothic"/>
                        </a:defRPr>
                      </a:pPr>
                      <a:r>
                        <a:t>クリスタル・パレス(プレミアリーグ)</a:t>
                      </a:r>
                    </a:p>
                  </a:txBody>
                  <a:tcPr>
                    <a:solidFill>
                      <a:srgbClr val="FFFFFF"/>
                    </a:solidFill>
                  </a:tcPr>
                </a:tc>
              </a:tr>
              <a:tr h="502920">
                <a:tc>
                  <a:txBody>
                    <a:bodyPr/>
                    <a:lstStyle/>
                    <a:p>
                      <a:pPr>
                        <a:defRPr sz="1200">
                          <a:solidFill>
                            <a:srgbClr val="1A1A2E"/>
                          </a:solidFill>
                          <a:latin typeface="Yu Gothic"/>
                        </a:defRPr>
                      </a:pPr>
                      <a:r>
                        <a:t>正式交渉</a:t>
                      </a:r>
                    </a:p>
                  </a:txBody>
                  <a:tcPr>
                    <a:solidFill>
                      <a:srgbClr val="F3F6FC"/>
                    </a:solidFill>
                  </a:tcPr>
                </a:tc>
                <a:tc>
                  <a:txBody>
                    <a:bodyPr/>
                    <a:lstStyle/>
                    <a:p>
                      <a:pPr>
                        <a:defRPr sz="1200">
                          <a:solidFill>
                            <a:srgbClr val="1A1A2E"/>
                          </a:solidFill>
                          <a:latin typeface="Yu Gothic"/>
                        </a:defRPr>
                      </a:pPr>
                      <a:r>
                        <a:t>現時点ではなし(現地報道)</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冨安健洋選手について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ポジション</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ディフェンダー</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代表歴</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日本代表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直前の所属</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アヤックス(退団済み)</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クリスタル・パレスとは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所属リーグ</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イングランド・プレミアリーグ</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つながり</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盟友・鎌田大地選手が所属</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今回の関係</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冨安選手が練習生として参加</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位置づけ</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プレミアリーグの中堅クラブ</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プレシーズンマッチでの様子</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7月28日、対RCランス戦(コモ)でベンチ入り</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7月31日、対アル・ウラー戦で62分に投入、約28分間プレー</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チームは3-1で勝利</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超WORLDサッカー</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練習参加からデビューまでの流れ(概念)</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練習参加が判明</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2026年7月28日</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プレマッチでベンチ入り</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同日、対RCランス戦</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実戦デビュー</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7月31日、対アル・ウラー戦</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実戦デビューの詳細</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対戦相手</a:t>
                      </a:r>
                    </a:p>
                  </a:txBody>
                  <a:tcPr>
                    <a:solidFill>
                      <a:srgbClr val="FFFFFF"/>
                    </a:solidFill>
                  </a:tcPr>
                </a:tc>
                <a:tc>
                  <a:txBody>
                    <a:bodyPr/>
                    <a:lstStyle/>
                    <a:p>
                      <a:pPr>
                        <a:defRPr sz="1200">
                          <a:solidFill>
                            <a:srgbClr val="1A1A2E"/>
                          </a:solidFill>
                          <a:latin typeface="Yu Gothic"/>
                        </a:defRPr>
                      </a:pPr>
                      <a:r>
                        <a:t>アル・ウラー</a:t>
                      </a:r>
                    </a:p>
                  </a:txBody>
                  <a:tcPr>
                    <a:solidFill>
                      <a:srgbClr val="FFFFFF"/>
                    </a:solidFill>
                  </a:tcPr>
                </a:tc>
              </a:tr>
              <a:tr h="502920">
                <a:tc>
                  <a:txBody>
                    <a:bodyPr/>
                    <a:lstStyle/>
                    <a:p>
                      <a:pPr>
                        <a:defRPr sz="1200">
                          <a:solidFill>
                            <a:srgbClr val="1A1A2E"/>
                          </a:solidFill>
                          <a:latin typeface="Yu Gothic"/>
                        </a:defRPr>
                      </a:pPr>
                      <a:r>
                        <a:t>出場時間</a:t>
                      </a:r>
                    </a:p>
                  </a:txBody>
                  <a:tcPr>
                    <a:solidFill>
                      <a:srgbClr val="F3F6FC"/>
                    </a:solidFill>
                  </a:tcPr>
                </a:tc>
                <a:tc>
                  <a:txBody>
                    <a:bodyPr/>
                    <a:lstStyle/>
                    <a:p>
                      <a:pPr>
                        <a:defRPr sz="1200">
                          <a:solidFill>
                            <a:srgbClr val="1A1A2E"/>
                          </a:solidFill>
                          <a:latin typeface="Yu Gothic"/>
                        </a:defRPr>
                      </a:pPr>
                      <a:r>
                        <a:t>62分に投入、約28分間プレー</a:t>
                      </a:r>
                    </a:p>
                  </a:txBody>
                  <a:tcPr>
                    <a:solidFill>
                      <a:srgbClr val="F3F6FC"/>
                    </a:solidFill>
                  </a:tcPr>
                </a:tc>
              </a:tr>
              <a:tr h="502920">
                <a:tc>
                  <a:txBody>
                    <a:bodyPr/>
                    <a:lstStyle/>
                    <a:p>
                      <a:pPr>
                        <a:defRPr sz="1200">
                          <a:solidFill>
                            <a:srgbClr val="1A1A2E"/>
                          </a:solidFill>
                          <a:latin typeface="Yu Gothic"/>
                        </a:defRPr>
                      </a:pPr>
                      <a:r>
                        <a:t>試合結果</a:t>
                      </a:r>
                    </a:p>
                  </a:txBody>
                  <a:tcPr>
                    <a:solidFill>
                      <a:srgbClr val="FFFFFF"/>
                    </a:solidFill>
                  </a:tcPr>
                </a:tc>
                <a:tc>
                  <a:txBody>
                    <a:bodyPr/>
                    <a:lstStyle/>
                    <a:p>
                      <a:pPr>
                        <a:defRPr sz="1200">
                          <a:solidFill>
                            <a:srgbClr val="1A1A2E"/>
                          </a:solidFill>
                          <a:latin typeface="Yu Gothic"/>
                        </a:defRPr>
                      </a:pPr>
                      <a:r>
                        <a:t>3-1でチームが勝利</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出場時間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約28分間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対アル・ウラー戦(2026年7月31日)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超WORLDサッカー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報じたメディア</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フットボールチャンネル</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練習参加・実戦デビューを報道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Goal.com 日本</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獲得協議の状況を報道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超WORLDサッカー / RONSPO</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試合内容・他クラブの関心を報道</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他クラブの関心</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リバプールを含む他4クラブも冨安選手に関心を示していると報道</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『冨安健洋がプレミアで争奪戦』という見出しも</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複数クラブが同時に関心を寄せる状況とされる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RONSPO(Yahoo!ニュース経由)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関心を示すクラブ(概念)</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クリスタル・パレス</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練習に参加中</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リバプール</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関心を示すクラブの一つ</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その他3クラブ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同様に関心を示すとされる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正式な獲得交渉についての正直な開示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現時点では正式な獲得交渉は行われていないと現地報道されている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クリスタル・パレスまたは冨安選手側からの公式発表は本調査時点で未確認</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契約条件の詳細・今後の見通しも未確認</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ここまでの総括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無所属のワールドカップ級DFが、プレミアで注目される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クリスタル・パレスで練習参加、複数クラブが関心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正式契約の可能性</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クリスタル・パレスとの正式契約に至るか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他クラブとの交渉</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リバプール等との交渉が本格化する可能性</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移籍市場全体の動き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夏の移籍市場終盤に向けた動きが加速する可能性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想定される影響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選手個人</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新天地でのキャリア再出発の機会</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日本サッカー界</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プレミアリーグでの日本人選手の存在感</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ファン・視聴者</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移籍先の行方への関心の高まり</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冨安選手のキャリアの歩み(概要)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E2761"/>
                    </a:solidFill>
                  </a:tcPr>
                </a:tc>
                <a:tc>
                  <a:txBody>
                    <a:bodyPr/>
                    <a:lstStyle/>
                    <a:p>
                      <a:pPr>
                        <a:defRPr sz="1300" b="1">
                          <a:solidFill>
                            <a:srgbClr val="FFFFFF"/>
                          </a:solidFill>
                          <a:latin typeface="Yu Gothic"/>
                        </a:defRPr>
                      </a:pPr>
                      <a:r>
                        <a:t>所属</a:t>
                      </a:r>
                    </a:p>
                  </a:txBody>
                  <a:tcPr>
                    <a:solidFill>
                      <a:srgbClr val="1E2761"/>
                    </a:solidFill>
                  </a:tcPr>
                </a:tc>
              </a:tr>
              <a:tr h="502920">
                <a:tc>
                  <a:txBody>
                    <a:bodyPr/>
                    <a:lstStyle/>
                    <a:p>
                      <a:pPr>
                        <a:defRPr sz="1200">
                          <a:solidFill>
                            <a:srgbClr val="1A1A2E"/>
                          </a:solidFill>
                          <a:latin typeface="Yu Gothic"/>
                        </a:defRPr>
                      </a:pPr>
                      <a:r>
                        <a:t>直前</a:t>
                      </a:r>
                    </a:p>
                  </a:txBody>
                  <a:tcPr>
                    <a:solidFill>
                      <a:srgbClr val="FFFFFF"/>
                    </a:solidFill>
                  </a:tcPr>
                </a:tc>
                <a:tc>
                  <a:txBody>
                    <a:bodyPr/>
                    <a:lstStyle/>
                    <a:p>
                      <a:pPr>
                        <a:defRPr sz="1200">
                          <a:solidFill>
                            <a:srgbClr val="1A1A2E"/>
                          </a:solidFill>
                          <a:latin typeface="Yu Gothic"/>
                        </a:defRPr>
                      </a:pPr>
                      <a:r>
                        <a:t>アヤックス(オランダ、退団済み)</a:t>
                      </a:r>
                    </a:p>
                  </a:txBody>
                  <a:tcPr>
                    <a:solidFill>
                      <a:srgbClr val="FFFFFF"/>
                    </a:solidFill>
                  </a:tcPr>
                </a:tc>
              </a:tr>
              <a:tr h="502920">
                <a:tc>
                  <a:txBody>
                    <a:bodyPr/>
                    <a:lstStyle/>
                    <a:p>
                      <a:pPr>
                        <a:defRPr sz="1200">
                          <a:solidFill>
                            <a:srgbClr val="1A1A2E"/>
                          </a:solidFill>
                          <a:latin typeface="Yu Gothic"/>
                        </a:defRPr>
                      </a:pPr>
                      <a:r>
                        <a:t>現在</a:t>
                      </a:r>
                    </a:p>
                  </a:txBody>
                  <a:tcPr>
                    <a:solidFill>
                      <a:srgbClr val="F3F6FC"/>
                    </a:solidFill>
                  </a:tcPr>
                </a:tc>
                <a:tc>
                  <a:txBody>
                    <a:bodyPr/>
                    <a:lstStyle/>
                    <a:p>
                      <a:pPr>
                        <a:defRPr sz="1200">
                          <a:solidFill>
                            <a:srgbClr val="1A1A2E"/>
                          </a:solidFill>
                          <a:latin typeface="Yu Gothic"/>
                        </a:defRPr>
                      </a:pPr>
                      <a:r>
                        <a:t>フリーエージェント</a:t>
                      </a:r>
                    </a:p>
                  </a:txBody>
                  <a:tcPr>
                    <a:solidFill>
                      <a:srgbClr val="F3F6FC"/>
                    </a:solidFill>
                  </a:tcPr>
                </a:tc>
              </a:tr>
              <a:tr h="502920">
                <a:tc>
                  <a:txBody>
                    <a:bodyPr/>
                    <a:lstStyle/>
                    <a:p>
                      <a:pPr>
                        <a:defRPr sz="1200">
                          <a:solidFill>
                            <a:srgbClr val="1A1A2E"/>
                          </a:solidFill>
                          <a:latin typeface="Yu Gothic"/>
                        </a:defRPr>
                      </a:pPr>
                      <a:r>
                        <a:t>現在の動き</a:t>
                      </a:r>
                    </a:p>
                  </a:txBody>
                  <a:tcPr>
                    <a:solidFill>
                      <a:srgbClr val="FFFFFF"/>
                    </a:solidFill>
                  </a:tcPr>
                </a:tc>
                <a:tc>
                  <a:txBody>
                    <a:bodyPr/>
                    <a:lstStyle/>
                    <a:p>
                      <a:pPr>
                        <a:defRPr sz="1200">
                          <a:solidFill>
                            <a:srgbClr val="1A1A2E"/>
                          </a:solidFill>
                          <a:latin typeface="Yu Gothic"/>
                        </a:defRPr>
                      </a:pPr>
                      <a:r>
                        <a:t>クリスタル・パレスで練習参加</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リスク・配慮事項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数字の創作はせず、報道された内容のみを扱う</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正式な獲得交渉が行われていない段階であることを断定表現にしない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特定クラブへの移籍を断定しない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フットボールチャンネル</a:t>
                      </a:r>
                    </a:p>
                  </a:txBody>
                  <a:tcPr>
                    <a:solidFill>
                      <a:srgbClr val="FFFFFF"/>
                    </a:solidFill>
                  </a:tcPr>
                </a:tc>
                <a:tc>
                  <a:txBody>
                    <a:bodyPr/>
                    <a:lstStyle/>
                    <a:p>
                      <a:pPr>
                        <a:defRPr sz="1200">
                          <a:solidFill>
                            <a:srgbClr val="1A1A2E"/>
                          </a:solidFill>
                          <a:latin typeface="Yu Gothic"/>
                        </a:defRPr>
                      </a:pPr>
                      <a:r>
                        <a:t>練習参加・実戦デビューを報道</a:t>
                      </a:r>
                    </a:p>
                  </a:txBody>
                  <a:tcPr>
                    <a:solidFill>
                      <a:srgbClr val="FFFFFF"/>
                    </a:solidFill>
                  </a:tcPr>
                </a:tc>
              </a:tr>
              <a:tr h="502920">
                <a:tc>
                  <a:txBody>
                    <a:bodyPr/>
                    <a:lstStyle/>
                    <a:p>
                      <a:pPr>
                        <a:defRPr sz="1200">
                          <a:solidFill>
                            <a:srgbClr val="1A1A2E"/>
                          </a:solidFill>
                          <a:latin typeface="Yu Gothic"/>
                        </a:defRPr>
                      </a:pPr>
                      <a:r>
                        <a:t>Goal.com 日本</a:t>
                      </a:r>
                    </a:p>
                  </a:txBody>
                  <a:tcPr>
                    <a:solidFill>
                      <a:srgbClr val="F3F6FC"/>
                    </a:solidFill>
                  </a:tcPr>
                </a:tc>
                <a:tc>
                  <a:txBody>
                    <a:bodyPr/>
                    <a:lstStyle/>
                    <a:p>
                      <a:pPr>
                        <a:defRPr sz="1200">
                          <a:solidFill>
                            <a:srgbClr val="1A1A2E"/>
                          </a:solidFill>
                          <a:latin typeface="Yu Gothic"/>
                        </a:defRPr>
                      </a:pPr>
                      <a:r>
                        <a:t>獲得協議の状況を報道</a:t>
                      </a:r>
                    </a:p>
                  </a:txBody>
                  <a:tcPr>
                    <a:solidFill>
                      <a:srgbClr val="F3F6FC"/>
                    </a:solidFill>
                  </a:tcPr>
                </a:tc>
              </a:tr>
              <a:tr h="502920">
                <a:tc>
                  <a:txBody>
                    <a:bodyPr/>
                    <a:lstStyle/>
                    <a:p>
                      <a:pPr>
                        <a:defRPr sz="1200">
                          <a:solidFill>
                            <a:srgbClr val="1A1A2E"/>
                          </a:solidFill>
                          <a:latin typeface="Yu Gothic"/>
                        </a:defRPr>
                      </a:pPr>
                      <a:r>
                        <a:t>超WORLDサッカー / RONSPO</a:t>
                      </a:r>
                    </a:p>
                  </a:txBody>
                  <a:tcPr>
                    <a:solidFill>
                      <a:srgbClr val="FFFFFF"/>
                    </a:solidFill>
                  </a:tcPr>
                </a:tc>
                <a:tc>
                  <a:txBody>
                    <a:bodyPr/>
                    <a:lstStyle/>
                    <a:p>
                      <a:pPr>
                        <a:defRPr sz="1200">
                          <a:solidFill>
                            <a:srgbClr val="1A1A2E"/>
                          </a:solidFill>
                          <a:latin typeface="Yu Gothic"/>
                        </a:defRPr>
                      </a:pPr>
                      <a:r>
                        <a:t>試合内容・他クラブの関心を報道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練習参加の判明日・プレシーズンマッチでの出場内容</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確認済み: 他クラブが関心を示しているという報道内容</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 クラブ・選手側からの公式発表</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未確認: 契約条件の詳細・今後の交渉見通し</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冨安健洋選手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クリスタル・パレスで練習参加、実戦デビュー</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正式な獲得交渉はまだ行われていない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他の海外移籍テーマとの違い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既存テーマ(横田・橋岡・鈴木)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いずれも現所属クラブがある状態からの移籍</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口頭合意・オファー段階の話題</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本テーマ(冨安選手)</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既にフリーエージェント(無所属)</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練習参加・実戦デビューの段階</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この話題の広がり方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練習参加が判明</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2026年7月28日</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実戦デビュー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2026年7月31日</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着手日に話題化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本日、注目を集める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視聴者への問いかけ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冨安選手の新天地、どのクラブになると思いますか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無所属の状態から契約を勝ち取る過程、どう見守りたいですか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数字で見る今回の動向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練習参加判明日</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2026年7月28日</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実戦デビュー</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2026年7月31日、約28分間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関心を示すクラブ数</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クリスタル・パレス含め5クラブ</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無所属のDFを、プレミアの複数クラブが注目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クリスタル・パレスで練習参加・実戦デビュー(2026年7月31日)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正式な獲得交渉の行方、新天地の決定に注目していきます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冨安健洋選手、クリスタル・パレスの練習に参加し実戦デビュー(2026年7月31日)</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現時点では正式な獲得交渉はなし、他4クラブも関心を示す</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無所属からの新天地探しという構図で紹介した</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フットボールチャンネル・Goal.com ほか(2026-07-28〜08-01)｜定期実行107本目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