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累計セーブ数</c:v>
                </c:pt>
              </c:strCache>
            </c:strRef>
          </c:tx>
          <c:spPr>
            <a:solidFill>
              <a:srgbClr val="7A1F2B"/>
            </a:solidFill>
          </c:spPr>
          <c:cat>
            <c:strRef>
              <c:f>Sheet1!$A$2:$A$4</c:f>
              <c:strCache>
                <c:ptCount val="3"/>
                <c:pt idx="0">
                  <c:v>8/10</c:v>
                </c:pt>
                <c:pt idx="1">
                  <c:v>8/14</c:v>
                </c:pt>
                <c:pt idx="2">
                  <c:v>8/16</c:v>
                </c:pt>
              </c:strCache>
            </c:strRef>
          </c:cat>
          <c:val>
            <c:numRef>
              <c:f>Sheet1!$B$2:$B$4</c:f>
              <c:numCache>
                <c:formatCode>General</c:formatCode>
                <c:ptCount val="3"/>
                <c:pt idx="0">
                  <c:v>1</c:v>
                </c:pt>
                <c:pt idx="1">
                  <c:v>2</c:v>
                </c:pt>
                <c:pt idx="2">
                  <c:v>3</c:v>
                </c:pt>
              </c:numCache>
            </c:numRef>
          </c:val>
        </c:ser>
        <c:dLbls>
          <c:numFmt formatCode="#,##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千賀滉大、代役守護神として3試合連続セーブだって?2026年8月16日、日本時間8月17日、ニューヨーク・メッツが本拠地でのナショナルズ戦に4対3で勝利し、3連戦をスイープしました。9回を任された千賀滉大投手は11球で1回を無安打無失点、奪三振2に抑え、代役守護神としての登板3試合連続でのセーブを記録しました。今日はこの試合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千賀滉大投手が代役守護神として3試合連続でセーブを記録しました。メッツはこの日、ナショナルズに4対3で勝利し、3連戦をスイープ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今日は6つの流れでお伝えします。試合結果の数字から、代役登板の経緯、9回の投球内容の深掘りまで、正確に数字を引用しながら整理します。誇張せず、確認できなかったことは正直にお伝えします。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翌日という新しさに加えて、本来先発投手である千賀選手が代役守護神として3試合連続でセーブを積み上げたという分かりやすいストーリーが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千賀滉大選手の前提を確認します。ニューヨーク・メッツに所属する33歳の日本人投手で、本来は先発投手ですが、今回は救援投手として9回に登板しました。今回は経歴紹介ではなく、登板内容の整理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セーブとは、リードを守り切った投手に記録される公式スタッツです。守護神とは試合終盤の最重要場面を任される投手のことで、通常はチームの正クローザーが務めます。負傷者リストは、負傷した選手が一時的に登録から外れる制度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千賀投手が守護神を務めているのか、経緯を確認します。本来の守護神ウィリアムズ投手が右肩の張りで8月10日に負傷者リスト入りし、その代役として千賀投手が登板。同日のブレーブス戦で渡米後4年目にして初セーブを記録し、8月14日に2セーブ目、そして8月16日の本試合で3セーブ目、3連戦スイープを達成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メッツ4、ナショナルズ3で、メッツが勝利しました。この勝利により、メッツはナショナルズとの3連戦をスイープしました。次に、この勝利を締めくくった千賀投手の登板内容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3試合の積み上げを一覧にしました。8月10日のブレーブス戦で渡米後4年目の初セーブ、8月14日のナショナルズ戦で2セーブ目、そして8月16日の本試合で3セーブ目を記録しました。8月10日・14日の投球内容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8月16日・9回の投球内容です。1点リードの9回、わずか11球で1回を無安打無失点に抑え、2つの三振を奪いました。次に、この9回の具体的な流れを確認します。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セーブ登板の推移をグラフにしました。8月10日に1つ目、8月14日に2つ目、そして8月16日の本試合で3つ目のセーブを記録し、代役登板ながら3試合連続での積み上げとなりました。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回の流れを図にしました。先頭の代打ビバス選手を1球で一塁ゴロに打ち取り、1死から代打のテナ・フォードを2者連続でフォークボール、いわゆる『お化けフォーク』による空振り三振に仕留めて試合を締めく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決め球を確認します。『お化けフォーク』と報じられているフォークボールで、1死から代打2人を連続で空振り三振に仕留めました。次に、この球種の基本を簡単に説明します。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『お化けフォーク』の基本を簡単に説明します。人差し指と中指の間にボールを挟んで投げ、打者の手前で鋭く沈む軌道が特徴です。千賀投手の代名詞的な球種として報じられています。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グリーン監督代行のコメントです。『素晴らしい仕事をしている。今のところ彼は我々が望むことを全てやってくれている』と、千賀投手の代役登板を評価しています。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代役守護神』という表現を正確に確認します。千賀投手は本来先発投手であり、正クローザーのウィリアムズ投手が負傷者リスト入りしたための代役です。この起用が今後も続くかどうかは、本リサーチ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クローザーのウィリアムズ投手と、代役の千賀投手を並べて確認します。ウィリアムズ投手は8月10日に右肩の張りで負傷者リスト入りし、復帰時期は確認できていません。千賀投手は代役として3試合連続でセーブを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3連戦スイープの結果を一覧にしました。最終戦は4対3でメッツが勝利し、3連戦をスイープしました。1戦目・2戦目の個別スコアは本調査の範囲では確認できていません。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確認できていないことを正直にお伝えします。ウィリアムズ投手の復帰時期、千賀投手の今後の起用方針、8月10日・14日の投球内容の詳細は、本リサーチの範囲では確認できていません。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先発投手が代役として結果を出し続けているという柔軟な起用の一例です。ウィリアムズ投手の復帰時期・今後の起用方針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視聴者にとっての実践的な示唆をまとめました。MLBファンとして、日本人投手の活躍を追う立場として、情報を発信する立場として、それぞれで意識したい点です。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混同しやすい情報について明確にします。本テーマは既存の記念球エピソードとは別の試合を扱うフォローアップです。また、一部の英語見出しは2025年6月の別の古い出来事であり、本テーマとは無関係と確認済み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見出しの印象と実際の内容にはギャップが生まれがちです。あくまで代役としての登板であり、千賀投手は今回の試合で負傷していません。ウィリアムズ投手の復帰時期も確認できていません。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数字はすべて出典どおり正確に扱い、千賀投手の今後の起用方針は確認できていないため断定しません。ウィリアムズ投手の負傷についても未確認の詳細を推測で付け加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本テーマの鮮度を数字で確認します。試合は着手日の前日にあたる2026年8月16日に行われました。2日以内という当社の基準を満たしています。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今回の結果を支えた3つのポイントです。代役としての3試合連続セーブ、9回の内容、そして3連戦スイープ。いずれも出典どおりの数字で裏付けられています。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改めて結論を確認します。千賀滉大投手は代役守護神として、登板3試合連続でセーブを記録しました。この数字が、今回の試合の内容の充実ぶりを裏付けています。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千賀滉大投手が代役守護神として登板3試合連続でセーブを記録し、メッツがナショナルズとの3連戦を4-3でスイープし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代役なのに、3試合連続無失点セーブ。</a:t>
            </a:r>
          </a:p>
          <a:p>
            <a:pPr algn="l">
              <a:lnSpc>
                <a:spcPct val="115000"/>
              </a:lnSpc>
            </a:pPr>
            <a:r>
              <a:rPr sz="4200" b="1">
                <a:solidFill>
                  <a:srgbClr val="FFFFFF"/>
                </a:solidFill>
                <a:latin typeface="Yu Gothic"/>
              </a:rPr>
              <a:t>千賀滉大、メッツをナショナルズ3連戦スイープへ導く</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2026年8月16日(日本時間8月17日)――9回・11球・無安打無失点・奪三振2を出典付きで整理する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Yahoo!ニュース(スポニチアネックス配信/THE DIGEST配信)・ライブドアニュース・docomoニュース(スポニチアネックス配信)(いずれも2026年8月17日)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3試合連続セーブ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千賀滉大投手が代役守護神として3試合連続でセーブを記録。メッツはナショナルズとの3連戦を4-3でスイープした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Yahoo!ニュース(スポニチアネックス配信、2026-08-17)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千賀滉大選手・野球用語の基礎知識</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なぜ千賀投手が守護神を務めているのか(経緯)</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8月16日・9回の投球内容を数字で確認する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ここまでの3試合の積み上げを振り返る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試合翌日(2026年8月17日)という鮮度の高い話題である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本来先発投手である千賀選手が、代役守護神として3試合連続でセーブを積み上げたという分かりやすい積み上げのストーリーがある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複数の独立したメディアが数値・経緯を一致させて報じている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Yahoo!ニュース・ライブドアニュース・docomoニュース(2026-08-17)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千賀滉大選手とは(初心者向け)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千賀滉大投手(33)は、ニューヨーク・メッツに所属する日本人投手である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本来は先発投手だが、今回は救援投手(リリーフ)として9回に登板した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選手の詳細な経歴(NPB時代・渡米の経緯等)は本リサーチの範囲では扱わず、今回の登板内容に焦点を当てる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『セーブ』『守護神』とは(用語解説)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『セーブ』とは、リードした状態で試合終盤に登板し、そのリードを守り切った投手に記録される公式スタッツである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『守護神(クローザー)』とは、試合終盤の最重要場面を任される投手を指し、通常はチームの正クローザーが務める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『負傷者リスト(IL)』とは、負傷した選手が一時的に登録から外れ、治療・回復に専念する制度である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なぜ千賀投手が守護神を務めているのか(経緯)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8月10日(日本8/11)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本来の守護神ウィリアムズ投手が右肩の張りで負傷者リスト入り</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同日、8月10日</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千賀投手がブレーブス戦で代役登板し、渡米後4年目にして初セーブを記録</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8月14日(日本8/15)</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ナショナルズ戦で2セーブ目を記録</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8月16日(日本8/17)</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本試合(ナショナルズ戦)で3セーブ目。3連戦スイープを達成</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メッツがナショナルズに4対3で勝利し、3連戦をスイープした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Yahoo!ニュース(スポニチアネックス配信、2026-08-17)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ここまでの3試合の積み上げ</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登板日</a:t>
                      </a:r>
                    </a:p>
                  </a:txBody>
                  <a:tcPr>
                    <a:solidFill>
                      <a:srgbClr val="7A1F2B"/>
                    </a:solidFill>
                  </a:tcPr>
                </a:tc>
                <a:tc>
                  <a:txBody>
                    <a:bodyPr/>
                    <a:lstStyle/>
                    <a:p>
                      <a:pPr>
                        <a:defRPr sz="1300" b="1">
                          <a:solidFill>
                            <a:srgbClr val="FFFFFF"/>
                          </a:solidFill>
                          <a:latin typeface="Yu Gothic"/>
                        </a:defRPr>
                      </a:pPr>
                      <a:r>
                        <a:t>対戦相手</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8/10(日本8/11)</a:t>
                      </a:r>
                    </a:p>
                  </a:txBody>
                  <a:tcPr>
                    <a:solidFill>
                      <a:srgbClr val="FFFFFF"/>
                    </a:solidFill>
                  </a:tcPr>
                </a:tc>
                <a:tc>
                  <a:txBody>
                    <a:bodyPr/>
                    <a:lstStyle/>
                    <a:p>
                      <a:pPr>
                        <a:defRPr sz="1200">
                          <a:solidFill>
                            <a:srgbClr val="2A1712"/>
                          </a:solidFill>
                          <a:latin typeface="Yu Gothic"/>
                        </a:defRPr>
                      </a:pPr>
                      <a:r>
                        <a:t>ブレーブス</a:t>
                      </a:r>
                    </a:p>
                  </a:txBody>
                  <a:tcPr>
                    <a:solidFill>
                      <a:srgbClr val="FFFFFF"/>
                    </a:solidFill>
                  </a:tcPr>
                </a:tc>
                <a:tc>
                  <a:txBody>
                    <a:bodyPr/>
                    <a:lstStyle/>
                    <a:p>
                      <a:pPr>
                        <a:defRPr sz="1200">
                          <a:solidFill>
                            <a:srgbClr val="2A1712"/>
                          </a:solidFill>
                          <a:latin typeface="Yu Gothic"/>
                        </a:defRPr>
                      </a:pPr>
                      <a:r>
                        <a:t>渡米後4年目、メジャー初セーブ</a:t>
                      </a:r>
                    </a:p>
                  </a:txBody>
                  <a:tcPr>
                    <a:solidFill>
                      <a:srgbClr val="FFFFFF"/>
                    </a:solidFill>
                  </a:tcPr>
                </a:tc>
              </a:tr>
              <a:tr h="502920">
                <a:tc>
                  <a:txBody>
                    <a:bodyPr/>
                    <a:lstStyle/>
                    <a:p>
                      <a:pPr>
                        <a:defRPr sz="1200">
                          <a:solidFill>
                            <a:srgbClr val="2A1712"/>
                          </a:solidFill>
                          <a:latin typeface="Yu Gothic"/>
                        </a:defRPr>
                      </a:pPr>
                      <a:r>
                        <a:t>8/14(日本8/15)</a:t>
                      </a:r>
                    </a:p>
                  </a:txBody>
                  <a:tcPr>
                    <a:solidFill>
                      <a:srgbClr val="FBF3E6"/>
                    </a:solidFill>
                  </a:tcPr>
                </a:tc>
                <a:tc>
                  <a:txBody>
                    <a:bodyPr/>
                    <a:lstStyle/>
                    <a:p>
                      <a:pPr>
                        <a:defRPr sz="1200">
                          <a:solidFill>
                            <a:srgbClr val="2A1712"/>
                          </a:solidFill>
                          <a:latin typeface="Yu Gothic"/>
                        </a:defRPr>
                      </a:pPr>
                      <a:r>
                        <a:t>ナショナルズ</a:t>
                      </a:r>
                    </a:p>
                  </a:txBody>
                  <a:tcPr>
                    <a:solidFill>
                      <a:srgbClr val="FBF3E6"/>
                    </a:solidFill>
                  </a:tcPr>
                </a:tc>
                <a:tc>
                  <a:txBody>
                    <a:bodyPr/>
                    <a:lstStyle/>
                    <a:p>
                      <a:pPr>
                        <a:defRPr sz="1200">
                          <a:solidFill>
                            <a:srgbClr val="2A1712"/>
                          </a:solidFill>
                          <a:latin typeface="Yu Gothic"/>
                        </a:defRPr>
                      </a:pPr>
                      <a:r>
                        <a:t>2セーブ目(投球内容の詳細は本調査の範囲では確認できていない)</a:t>
                      </a:r>
                    </a:p>
                  </a:txBody>
                  <a:tcPr>
                    <a:solidFill>
                      <a:srgbClr val="FBF3E6"/>
                    </a:solidFill>
                  </a:tcPr>
                </a:tc>
              </a:tr>
              <a:tr h="502920">
                <a:tc>
                  <a:txBody>
                    <a:bodyPr/>
                    <a:lstStyle/>
                    <a:p>
                      <a:pPr>
                        <a:defRPr sz="1200">
                          <a:solidFill>
                            <a:srgbClr val="2A1712"/>
                          </a:solidFill>
                          <a:latin typeface="Yu Gothic"/>
                        </a:defRPr>
                      </a:pPr>
                      <a:r>
                        <a:t>8/16(日本8/17)</a:t>
                      </a:r>
                    </a:p>
                  </a:txBody>
                  <a:tcPr>
                    <a:solidFill>
                      <a:srgbClr val="FFFFFF"/>
                    </a:solidFill>
                  </a:tcPr>
                </a:tc>
                <a:tc>
                  <a:txBody>
                    <a:bodyPr/>
                    <a:lstStyle/>
                    <a:p>
                      <a:pPr>
                        <a:defRPr sz="1200">
                          <a:solidFill>
                            <a:srgbClr val="2A1712"/>
                          </a:solidFill>
                          <a:latin typeface="Yu Gothic"/>
                        </a:defRPr>
                      </a:pPr>
                      <a:r>
                        <a:t>ナショナルズ</a:t>
                      </a:r>
                    </a:p>
                  </a:txBody>
                  <a:tcPr>
                    <a:solidFill>
                      <a:srgbClr val="FFFFFF"/>
                    </a:solidFill>
                  </a:tcPr>
                </a:tc>
                <a:tc>
                  <a:txBody>
                    <a:bodyPr/>
                    <a:lstStyle/>
                    <a:p>
                      <a:pPr>
                        <a:defRPr sz="1200">
                          <a:solidFill>
                            <a:srgbClr val="2A1712"/>
                          </a:solidFill>
                          <a:latin typeface="Yu Gothic"/>
                        </a:defRPr>
                      </a:pPr>
                      <a:r>
                        <a:t>3セーブ目(11球・1回・無安打無失点・奪三振2)</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Yahoo!ニュース・ライブドアニュース・docomoニュース(2026-08-17)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8月16日・9回の投球内容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11球</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投球数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1点リードの9回、わずか11球で締めくくった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1回</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投球回</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無安打・無失点に抑えた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奪三振</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1死から2者連続で空振り三振を奪った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Yahoo!ニュース・ライブドアニュース(2026-08-17)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セーブ登板の推移(累計)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Yahoo!ニュース・ライブドアニュース・docomoニュース(2026-08-17)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9回の流れ(概念図)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先頭・代打ビバス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1球で一塁ゴロ</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1死・代打テナ</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お化けフォークで空振り三振</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2死・代打フォード</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お化けフォークで空振り三振、試合終了</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11球で3人の代打を打ち取り、無安打無失点で試合を締めくくった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Yahoo!ニュース・ライブドアニュース(2026-08-17)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決め球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お化けフォーク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1死から代打2人を連続で空振り三振に仕留めた、千賀投手の代名詞的な変化球</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Yahoo!ニュース(スポニチアネックス配信、2026-08-17)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『お化けフォーク』とは(初心者向け)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投げ方</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人差し指と中指の間にボールを挟んで投げる変化球</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軌道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打者の手前で鋭く沈む軌道が特徴</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位置づけ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千賀投手の代名詞的な球種として報じられている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“素晴らしい仕事をしている。今のところ彼は我々が望むことを全てやってくれている。”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F3E3C9"/>
                </a:solidFill>
                <a:latin typeface="Yu Gothic"/>
              </a:rPr>
              <a:t>— グリーン監督代行(Yahoo!ニュース・ライブドアニュース、2026-08-17)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『代役守護神』を正確に扱う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この表現の意味を確認します。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千賀投手は本来先発投手であり、正クローザーではない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正クローザーのウィリアムズ投手が負傷者リスト入りしたための『代役』としての登板である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この代役起用が今後も続くかどうかの方針は、本リサーチの範囲では確認できていない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正クローザー・ウィリアムズ / 代役・千賀</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ウィリアムズ投手(正クローザー)</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8月10日(日本8/11)に右肩の張りで負傷者リスト入り</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負傷者リストからの復帰時期は本調査の範囲では確認できていない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千賀滉大投手(代役)</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本来は先発投手だが代役として3試合連続でセーブを記録</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8月16日は11球・1回・無安打無失点・奪三振2</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3連戦スイープの結果</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対戦カード</a:t>
                      </a:r>
                    </a:p>
                  </a:txBody>
                  <a:tcPr>
                    <a:solidFill>
                      <a:srgbClr val="FFFFFF"/>
                    </a:solidFill>
                  </a:tcPr>
                </a:tc>
                <a:tc>
                  <a:txBody>
                    <a:bodyPr/>
                    <a:lstStyle/>
                    <a:p>
                      <a:pPr>
                        <a:defRPr sz="1200">
                          <a:solidFill>
                            <a:srgbClr val="2A1712"/>
                          </a:solidFill>
                          <a:latin typeface="Yu Gothic"/>
                        </a:defRPr>
                      </a:pPr>
                      <a:r>
                        <a:t>メッツ vs ナショナルズ(本拠地)</a:t>
                      </a:r>
                    </a:p>
                  </a:txBody>
                  <a:tcPr>
                    <a:solidFill>
                      <a:srgbClr val="FFFFFF"/>
                    </a:solidFill>
                  </a:tcPr>
                </a:tc>
              </a:tr>
              <a:tr h="502920">
                <a:tc>
                  <a:txBody>
                    <a:bodyPr/>
                    <a:lstStyle/>
                    <a:p>
                      <a:pPr>
                        <a:defRPr sz="1200">
                          <a:solidFill>
                            <a:srgbClr val="2A1712"/>
                          </a:solidFill>
                          <a:latin typeface="Yu Gothic"/>
                        </a:defRPr>
                      </a:pPr>
                      <a:r>
                        <a:t>最終戦の結果(8/16)</a:t>
                      </a:r>
                    </a:p>
                  </a:txBody>
                  <a:tcPr>
                    <a:solidFill>
                      <a:srgbClr val="FBF3E6"/>
                    </a:solidFill>
                  </a:tcPr>
                </a:tc>
                <a:tc>
                  <a:txBody>
                    <a:bodyPr/>
                    <a:lstStyle/>
                    <a:p>
                      <a:pPr>
                        <a:defRPr sz="1200">
                          <a:solidFill>
                            <a:srgbClr val="2A1712"/>
                          </a:solidFill>
                          <a:latin typeface="Yu Gothic"/>
                        </a:defRPr>
                      </a:pPr>
                      <a:r>
                        <a:t>メッツ4-ナショナルズ3で勝利</a:t>
                      </a:r>
                    </a:p>
                  </a:txBody>
                  <a:tcPr>
                    <a:solidFill>
                      <a:srgbClr val="FBF3E6"/>
                    </a:solidFill>
                  </a:tcPr>
                </a:tc>
              </a:tr>
              <a:tr h="502920">
                <a:tc>
                  <a:txBody>
                    <a:bodyPr/>
                    <a:lstStyle/>
                    <a:p>
                      <a:pPr>
                        <a:defRPr sz="1200">
                          <a:solidFill>
                            <a:srgbClr val="2A1712"/>
                          </a:solidFill>
                          <a:latin typeface="Yu Gothic"/>
                        </a:defRPr>
                      </a:pPr>
                      <a:r>
                        <a:t>シリーズ結果</a:t>
                      </a:r>
                    </a:p>
                  </a:txBody>
                  <a:tcPr>
                    <a:solidFill>
                      <a:srgbClr val="FFFFFF"/>
                    </a:solidFill>
                  </a:tcPr>
                </a:tc>
                <a:tc>
                  <a:txBody>
                    <a:bodyPr/>
                    <a:lstStyle/>
                    <a:p>
                      <a:pPr>
                        <a:defRPr sz="1200">
                          <a:solidFill>
                            <a:srgbClr val="2A1712"/>
                          </a:solidFill>
                          <a:latin typeface="Yu Gothic"/>
                        </a:defRPr>
                      </a:pPr>
                      <a:r>
                        <a:t>3連戦をスイープ</a:t>
                      </a:r>
                    </a:p>
                  </a:txBody>
                  <a:tcPr>
                    <a:solidFill>
                      <a:srgbClr val="FFFFFF"/>
                    </a:solidFill>
                  </a:tcPr>
                </a:tc>
              </a:tr>
              <a:tr h="502920">
                <a:tc>
                  <a:txBody>
                    <a:bodyPr/>
                    <a:lstStyle/>
                    <a:p>
                      <a:pPr>
                        <a:defRPr sz="1200">
                          <a:solidFill>
                            <a:srgbClr val="2A1712"/>
                          </a:solidFill>
                          <a:latin typeface="Yu Gothic"/>
                        </a:defRPr>
                      </a:pPr>
                      <a:r>
                        <a:t>1戦目・2戦目の個別スコア</a:t>
                      </a:r>
                    </a:p>
                  </a:txBody>
                  <a:tcPr>
                    <a:solidFill>
                      <a:srgbClr val="FBF3E6"/>
                    </a:solidFill>
                  </a:tcPr>
                </a:tc>
                <a:tc>
                  <a:txBody>
                    <a:bodyPr/>
                    <a:lstStyle/>
                    <a:p>
                      <a:pPr>
                        <a:defRPr sz="1200">
                          <a:solidFill>
                            <a:srgbClr val="2A1712"/>
                          </a:solidFill>
                          <a:latin typeface="Yu Gothic"/>
                        </a:defRPr>
                      </a:pPr>
                      <a:r>
                        <a:t>本調査の範囲では確認できていない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Yahoo!ニュース・ライブドアニュース・docomoニュース(2026-08-17)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確認できていないこと(1)</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ウィリアムズ投手が負傷者リストから復帰する時期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千賀投手の守護神(クローザー)起用が今後も継続されるかどうかの方針</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8月10日・8月14日の2試合の投球内容の詳細(球数・被安打・奪三振数等)</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先発投手が代役として救援・守護神を務め、しかも結果を出し続けているという柔軟な起用の一例として位置づけられる(断定的な評価は避ける)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千賀投手がメッツの投手陣で信頼を積み重ねていることが、グリーン監督代行のコメントと数字から確認できる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ウィリアムズ投手の復帰時期・今後のクローザー起用方針は本リサーチの範囲では確認できていない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MLBファンとして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セーブ数だけでなく球数・被安打・奪三振まで確認すると理解が深まる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日本人投手の活躍を追う立場として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千賀投手が代役の立場でどう結果を積み上げているかを継続して確認する視点が役立つ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復帰時期・起用方針等、未確認の詳細を推測で補わず正確に伝える姿勢が信頼につながる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誤帰属トラップの注意(既存テーマ・古い誤情報との違い)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混同しやすい情報について明確にします。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本テーマは、既存テーマ`2026-08-10_senga-first-mlb-save-ball-mishap`(8/10のブレーブス戦・記念球エピソード)とは別の試合(8/16のナショナルズ戦・3セーブ目)を扱うフォローアップである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一部の英語見出し(『ハムストリング負傷でナショナルズをスイープ』)は本テーマと混同しやすいが、これは2025年6月12日の別の古い出来事であり無関係と確認済み</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本テーマの千賀投手は2026年8月16日の試合で負傷しておらず、上記の古い負傷ニュースを引用・混同していない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千賀投手が正式に守護神へ転向した</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千賀投手が今回の試合で何らかの負傷をした</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ウィリアムズ投手の復帰時期も決まっている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あくまで『代役』としての登板であり、今後の方針は未確認</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本テーマの千賀投手は8月16日の試合で負傷していない(2025年6月の別の古い負傷とは無関係)</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ウィリアムズ投手の復帰時期は本リサーチの範囲では確認できていない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誇張回避のための補足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球数・投球回・被安打・奪三振等の数字はすべて出典どおり正確に扱い、丸め・誇張・創作は行わない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千賀投手の今後のクローザー起用方針は本リサーチの範囲では確認できておらず、断定しない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ウィリアムズ投手の負傷内容以上の詳細(具体的な症状・復帰見込み)を推測で付け加えない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ウィリアムズ投手の負傷者リストからの復帰時期</a:t>
                      </a:r>
                    </a:p>
                  </a:txBody>
                  <a:tcPr>
                    <a:solidFill>
                      <a:srgbClr val="FFFFFF"/>
                    </a:solidFill>
                  </a:tcPr>
                </a:tc>
                <a:tc>
                  <a:txBody>
                    <a:bodyPr/>
                    <a:lstStyle/>
                    <a:p>
                      <a:pPr>
                        <a:defRPr sz="1200">
                          <a:solidFill>
                            <a:srgbClr val="2A1712"/>
                          </a:solidFill>
                          <a:latin typeface="Yu Gothic"/>
                        </a:defRPr>
                      </a:pPr>
                      <a:r>
                        <a:t>本リサーチの範囲では確認できていない</a:t>
                      </a:r>
                    </a:p>
                  </a:txBody>
                  <a:tcPr>
                    <a:solidFill>
                      <a:srgbClr val="FFFFFF"/>
                    </a:solidFill>
                  </a:tcPr>
                </a:tc>
              </a:tr>
              <a:tr h="502920">
                <a:tc>
                  <a:txBody>
                    <a:bodyPr/>
                    <a:lstStyle/>
                    <a:p>
                      <a:pPr>
                        <a:defRPr sz="1200">
                          <a:solidFill>
                            <a:srgbClr val="2A1712"/>
                          </a:solidFill>
                          <a:latin typeface="Yu Gothic"/>
                        </a:defRPr>
                      </a:pPr>
                      <a:r>
                        <a:t>千賀投手の守護神起用が今後も継続されるかどうかの方針</a:t>
                      </a:r>
                    </a:p>
                  </a:txBody>
                  <a:tcPr>
                    <a:solidFill>
                      <a:srgbClr val="FBF3E6"/>
                    </a:solidFill>
                  </a:tcPr>
                </a:tc>
                <a:tc>
                  <a:txBody>
                    <a:bodyPr/>
                    <a:lstStyle/>
                    <a:p>
                      <a:pPr>
                        <a:defRPr sz="1200">
                          <a:solidFill>
                            <a:srgbClr val="2A1712"/>
                          </a:solidFill>
                          <a:latin typeface="Yu Gothic"/>
                        </a:defRPr>
                      </a:pPr>
                      <a:r>
                        <a:t>本リサーチの範囲では確認できていない</a:t>
                      </a:r>
                    </a:p>
                  </a:txBody>
                  <a:tcPr>
                    <a:solidFill>
                      <a:srgbClr val="FBF3E6"/>
                    </a:solidFill>
                  </a:tcPr>
                </a:tc>
              </a:tr>
              <a:tr h="502920">
                <a:tc>
                  <a:txBody>
                    <a:bodyPr/>
                    <a:lstStyle/>
                    <a:p>
                      <a:pPr>
                        <a:defRPr sz="1200">
                          <a:solidFill>
                            <a:srgbClr val="2A1712"/>
                          </a:solidFill>
                          <a:latin typeface="Yu Gothic"/>
                        </a:defRPr>
                      </a:pPr>
                      <a:r>
                        <a:t>8月10日・8月14日の投球内容の詳細</a:t>
                      </a:r>
                    </a:p>
                  </a:txBody>
                  <a:tcPr>
                    <a:solidFill>
                      <a:srgbClr val="FFFFFF"/>
                    </a:solidFill>
                  </a:tcPr>
                </a:tc>
                <a:tc>
                  <a:txBody>
                    <a:bodyPr/>
                    <a:lstStyle/>
                    <a:p>
                      <a:pPr>
                        <a:defRPr sz="1200">
                          <a:solidFill>
                            <a:srgbClr val="2A1712"/>
                          </a:solidFill>
                          <a:latin typeface="Yu Gothic"/>
                        </a:defRPr>
                      </a:pPr>
                      <a:r>
                        <a:t>『セーブを記録した』以上の詳細は確認できていない(推測で補わない)</a:t>
                      </a:r>
                    </a:p>
                  </a:txBody>
                  <a:tcPr>
                    <a:solidFill>
                      <a:srgbClr val="FFFFFF"/>
                    </a:solidFill>
                  </a:tcPr>
                </a:tc>
              </a:tr>
              <a:tr h="502920">
                <a:tc>
                  <a:txBody>
                    <a:bodyPr/>
                    <a:lstStyle/>
                    <a:p>
                      <a:pPr>
                        <a:defRPr sz="1200">
                          <a:solidFill>
                            <a:srgbClr val="2A1712"/>
                          </a:solidFill>
                          <a:latin typeface="Yu Gothic"/>
                        </a:defRPr>
                      </a:pPr>
                      <a:r>
                        <a:t>3連戦の1戦目・2戦目の個別スコア</a:t>
                      </a:r>
                    </a:p>
                  </a:txBody>
                  <a:tcPr>
                    <a:solidFill>
                      <a:srgbClr val="FBF3E6"/>
                    </a:solidFill>
                  </a:tcPr>
                </a:tc>
                <a:tc>
                  <a:txBody>
                    <a:bodyPr/>
                    <a:lstStyle/>
                    <a:p>
                      <a:pPr>
                        <a:defRPr sz="1200">
                          <a:solidFill>
                            <a:srgbClr val="2A1712"/>
                          </a:solidFill>
                          <a:latin typeface="Yu Gothic"/>
                        </a:defRPr>
                      </a:pPr>
                      <a:r>
                        <a:t>本リサーチの範囲では確認できていない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試合翌日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試合(2026年8月16日)は着手日(2026年8月17日)の前日。着手日を含めて2日以内という基準を満たす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docs/06_Content_R&amp;D.md基準</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今回の結果を支えた3つのポイント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代役としての結果</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本来先発投手の千賀選手が、代役守護神として3試合連続でセーブを記録した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9回の内容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11球・1回・無安打無失点・奪三振2で締めくくった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チームの成果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メッツはナショナルズとの3連戦を4-3でスイープした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Yahoo!ニュース(スポニチアネックス配信)</a:t>
                      </a:r>
                    </a:p>
                  </a:txBody>
                  <a:tcPr>
                    <a:solidFill>
                      <a:srgbClr val="FFFFFF"/>
                    </a:solidFill>
                  </a:tcPr>
                </a:tc>
                <a:tc>
                  <a:txBody>
                    <a:bodyPr/>
                    <a:lstStyle/>
                    <a:p>
                      <a:pPr>
                        <a:defRPr sz="1200">
                          <a:solidFill>
                            <a:srgbClr val="2A1712"/>
                          </a:solidFill>
                          <a:latin typeface="Yu Gothic"/>
                        </a:defRPr>
                      </a:pPr>
                      <a:r>
                        <a:t>試合結果・千賀投手の投球内容・グリーン監督代行のコメント(2026-08-17)</a:t>
                      </a:r>
                    </a:p>
                  </a:txBody>
                  <a:tcPr>
                    <a:solidFill>
                      <a:srgbClr val="FFFFFF"/>
                    </a:solidFill>
                  </a:tcPr>
                </a:tc>
              </a:tr>
              <a:tr h="502920">
                <a:tc>
                  <a:txBody>
                    <a:bodyPr/>
                    <a:lstStyle/>
                    <a:p>
                      <a:pPr>
                        <a:defRPr sz="1200">
                          <a:solidFill>
                            <a:srgbClr val="2A1712"/>
                          </a:solidFill>
                          <a:latin typeface="Yu Gothic"/>
                        </a:defRPr>
                      </a:pPr>
                      <a:r>
                        <a:t>ライブドアニュース</a:t>
                      </a:r>
                    </a:p>
                  </a:txBody>
                  <a:tcPr>
                    <a:solidFill>
                      <a:srgbClr val="FBF3E6"/>
                    </a:solidFill>
                  </a:tcPr>
                </a:tc>
                <a:tc>
                  <a:txBody>
                    <a:bodyPr/>
                    <a:lstStyle/>
                    <a:p>
                      <a:pPr>
                        <a:defRPr sz="1200">
                          <a:solidFill>
                            <a:srgbClr val="2A1712"/>
                          </a:solidFill>
                          <a:latin typeface="Yu Gothic"/>
                        </a:defRPr>
                      </a:pPr>
                      <a:r>
                        <a:t>試合結果・9回の流れの確認(2026-08-17)</a:t>
                      </a:r>
                    </a:p>
                  </a:txBody>
                  <a:tcPr>
                    <a:solidFill>
                      <a:srgbClr val="FBF3E6"/>
                    </a:solidFill>
                  </a:tcPr>
                </a:tc>
              </a:tr>
              <a:tr h="502920">
                <a:tc>
                  <a:txBody>
                    <a:bodyPr/>
                    <a:lstStyle/>
                    <a:p>
                      <a:pPr>
                        <a:defRPr sz="1200">
                          <a:solidFill>
                            <a:srgbClr val="2A1712"/>
                          </a:solidFill>
                          <a:latin typeface="Yu Gothic"/>
                        </a:defRPr>
                      </a:pPr>
                      <a:r>
                        <a:t>docomoニュース(スポニチアネックス配信)</a:t>
                      </a:r>
                    </a:p>
                  </a:txBody>
                  <a:tcPr>
                    <a:solidFill>
                      <a:srgbClr val="FFFFFF"/>
                    </a:solidFill>
                  </a:tcPr>
                </a:tc>
                <a:tc>
                  <a:txBody>
                    <a:bodyPr/>
                    <a:lstStyle/>
                    <a:p>
                      <a:pPr>
                        <a:defRPr sz="1200">
                          <a:solidFill>
                            <a:srgbClr val="2A1712"/>
                          </a:solidFill>
                          <a:latin typeface="Yu Gothic"/>
                        </a:defRPr>
                      </a:pPr>
                      <a:r>
                        <a:t>試合結果・経緯の確認(2026-08-17)</a:t>
                      </a:r>
                    </a:p>
                  </a:txBody>
                  <a:tcPr>
                    <a:solidFill>
                      <a:srgbClr val="FFFFFF"/>
                    </a:solidFill>
                  </a:tcPr>
                </a:tc>
              </a:tr>
              <a:tr h="502920">
                <a:tc>
                  <a:txBody>
                    <a:bodyPr/>
                    <a:lstStyle/>
                    <a:p>
                      <a:pPr>
                        <a:defRPr sz="1200">
                          <a:solidFill>
                            <a:srgbClr val="2A1712"/>
                          </a:solidFill>
                          <a:latin typeface="Yu Gothic"/>
                        </a:defRPr>
                      </a:pPr>
                      <a:r>
                        <a:t>Yahoo!ニュース(THE DIGEST配信)</a:t>
                      </a:r>
                    </a:p>
                  </a:txBody>
                  <a:tcPr>
                    <a:solidFill>
                      <a:srgbClr val="FBF3E6"/>
                    </a:solidFill>
                  </a:tcPr>
                </a:tc>
                <a:tc>
                  <a:txBody>
                    <a:bodyPr/>
                    <a:lstStyle/>
                    <a:p>
                      <a:pPr>
                        <a:defRPr sz="1200">
                          <a:solidFill>
                            <a:srgbClr val="2A1712"/>
                          </a:solidFill>
                          <a:latin typeface="Yu Gothic"/>
                        </a:defRPr>
                      </a:pPr>
                      <a:r>
                        <a:t>試合結果・投球内容の確認(2026-08-17)</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Yahoo!ニュース(スポニチアネックス配信/THE DIGEST配信)・ライブドアニュース・docomoニュース(スポニチアネックス配信)(2026-08-17)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登板3試合連続でのセーブ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3試合連続セーブ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代役守護神としての登板が、3試合連続でのセーブという結果につながった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Yahoo!ニュース(スポニチアネックス配信、2026-08-17)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代役なのに、3試合連続無失点セーブ。</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千賀滉大投手が9回を11球で締めくくり、メッツはナショナルズとの3連戦を4-3でスイープしました。数字を正確に、出典付きで整理してお届けしました。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