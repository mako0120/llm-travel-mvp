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フックとして体験の核心を突く。挨拶ではなく体験の変化から入る。</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起承転結を予告する。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専門用語を最初に整理する。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発表の概要を表で整理する。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生体認証・パスキー等の位置づけを初心者向けに整理する。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発表元の担当者を紹介する。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設定の流れをステップで示す。 出典: TechCrunch(2026-07-23)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必要なのはカメラで撮る自撮り動画1本だけであることを示す。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困ったときの利用の流れを図で示す。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役割の違いを対比で見せる。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この機能が使えない対象を正直に伝える。</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ここは推測であることを明言する。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セキュリティ面の利点を整理する。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実際にアクセスする場所を表でまとめる。</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想定される疑問に先回りして答える。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正直に、含まれなかったものも伝える。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ここからは推測であることを明言する。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見送った候補も具体的に共有する。</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転換パート。ここから実践的な話に入る。</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出来事の紹介だけで終わらせず、読み手にとっての意味を扱う。</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実際に試す前のチェックリストとして提示する。</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実践につながる進め方をステップで見せる。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個人視点も扱う。</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不明点を正直に「不明」と明言する。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プライバシーに配慮した制作方針を明確に伝える。</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検品結果を表でまとめる。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出典を短く再掲する。</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結のキーメッセージ。</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オープンループで次回への引き。</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最終スライド。</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あなたの「顔」が、パスワードになる</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Google、Googleアカウントに「自撮り動画」サインインを追加(2026年7月23日)</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Google公式, TechCrunch, 9to5Google(2026-07-23)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起: 前提知識 + 何が起きたか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承: 仕組みと設定方法</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転: なぜ今このタイミングか、これは何を意味するか</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結: 不明点・プライバシー配慮・まとめ</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まず言葉の整理(初心者向け)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生体認証</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顔・指紋など身体の特徴を使った本人確認の方法</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サインイン</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アカウントにログインすること</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定期実行29本目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何が起きたか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発表元</a:t>
                      </a:r>
                    </a:p>
                  </a:txBody>
                  <a:tcPr>
                    <a:solidFill>
                      <a:srgbClr val="FFFFFF"/>
                    </a:solidFill>
                  </a:tcPr>
                </a:tc>
                <a:tc>
                  <a:txBody>
                    <a:bodyPr/>
                    <a:lstStyle/>
                    <a:p>
                      <a:pPr>
                        <a:defRPr sz="1200">
                          <a:solidFill>
                            <a:srgbClr val="1C2230"/>
                          </a:solidFill>
                          <a:latin typeface="Yu Gothic"/>
                        </a:defRPr>
                      </a:pPr>
                      <a:r>
                        <a:t>Google</a:t>
                      </a:r>
                    </a:p>
                  </a:txBody>
                  <a:tcPr>
                    <a:solidFill>
                      <a:srgbClr val="FFFFFF"/>
                    </a:solidFill>
                  </a:tcPr>
                </a:tc>
              </a:tr>
              <a:tr h="502920">
                <a:tc>
                  <a:txBody>
                    <a:bodyPr/>
                    <a:lstStyle/>
                    <a:p>
                      <a:pPr>
                        <a:defRPr sz="1200">
                          <a:solidFill>
                            <a:srgbClr val="1C2230"/>
                          </a:solidFill>
                          <a:latin typeface="Yu Gothic"/>
                        </a:defRPr>
                      </a:pPr>
                      <a:r>
                        <a:t>発表日</a:t>
                      </a:r>
                    </a:p>
                  </a:txBody>
                  <a:tcPr>
                    <a:solidFill>
                      <a:srgbClr val="F1F5FA"/>
                    </a:solidFill>
                  </a:tcPr>
                </a:tc>
                <a:tc>
                  <a:txBody>
                    <a:bodyPr/>
                    <a:lstStyle/>
                    <a:p>
                      <a:pPr>
                        <a:defRPr sz="1200">
                          <a:solidFill>
                            <a:srgbClr val="1C2230"/>
                          </a:solidFill>
                          <a:latin typeface="Yu Gothic"/>
                        </a:defRPr>
                      </a:pPr>
                      <a:r>
                        <a:t>2026年7月23日</a:t>
                      </a:r>
                    </a:p>
                  </a:txBody>
                  <a:tcPr>
                    <a:solidFill>
                      <a:srgbClr val="F1F5FA"/>
                    </a:solidFill>
                  </a:tcPr>
                </a:tc>
              </a:tr>
              <a:tr h="502920">
                <a:tc>
                  <a:txBody>
                    <a:bodyPr/>
                    <a:lstStyle/>
                    <a:p>
                      <a:pPr>
                        <a:defRPr sz="1200">
                          <a:solidFill>
                            <a:srgbClr val="1C2230"/>
                          </a:solidFill>
                          <a:latin typeface="Yu Gothic"/>
                        </a:defRPr>
                      </a:pPr>
                      <a:r>
                        <a:t>新機能</a:t>
                      </a:r>
                    </a:p>
                  </a:txBody>
                  <a:tcPr>
                    <a:solidFill>
                      <a:srgbClr val="FFFFFF"/>
                    </a:solidFill>
                  </a:tcPr>
                </a:tc>
                <a:tc>
                  <a:txBody>
                    <a:bodyPr/>
                    <a:lstStyle/>
                    <a:p>
                      <a:pPr>
                        <a:defRPr sz="1200">
                          <a:solidFill>
                            <a:srgbClr val="1C2230"/>
                          </a:solidFill>
                          <a:latin typeface="Yu Gothic"/>
                        </a:defRPr>
                      </a:pPr>
                      <a:r>
                        <a:t>自撮り動画でGoogleアカウントにサインイン</a:t>
                      </a:r>
                    </a:p>
                  </a:txBody>
                  <a:tcPr>
                    <a:solidFill>
                      <a:srgbClr val="FFFFFF"/>
                    </a:solidFill>
                  </a:tcPr>
                </a:tc>
              </a:tr>
              <a:tr h="502920">
                <a:tc>
                  <a:txBody>
                    <a:bodyPr/>
                    <a:lstStyle/>
                    <a:p>
                      <a:pPr>
                        <a:defRPr sz="1200">
                          <a:solidFill>
                            <a:srgbClr val="1C2230"/>
                          </a:solidFill>
                          <a:latin typeface="Yu Gothic"/>
                        </a:defRPr>
                      </a:pPr>
                      <a:r>
                        <a:t>位置づけ</a:t>
                      </a:r>
                    </a:p>
                  </a:txBody>
                  <a:tcPr>
                    <a:solidFill>
                      <a:srgbClr val="F1F5FA"/>
                    </a:solidFill>
                  </a:tcPr>
                </a:tc>
                <a:tc>
                  <a:txBody>
                    <a:bodyPr/>
                    <a:lstStyle/>
                    <a:p>
                      <a:pPr>
                        <a:defRPr sz="1200">
                          <a:solidFill>
                            <a:srgbClr val="1C2230"/>
                          </a:solidFill>
                          <a:latin typeface="Yu Gothic"/>
                        </a:defRPr>
                      </a:pPr>
                      <a:r>
                        <a:t>主要な認証手段が使えないときの追加の手段</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Google公式ブログ(2026-07-23)</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定期実行29本目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生体認証の主な種類</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種類</a:t>
                      </a:r>
                    </a:p>
                  </a:txBody>
                  <a:tcPr>
                    <a:solidFill>
                      <a:srgbClr val="2B3A55"/>
                    </a:solidFill>
                  </a:tcPr>
                </a:tc>
                <a:tc>
                  <a:txBody>
                    <a:bodyPr/>
                    <a:lstStyle/>
                    <a:p>
                      <a:pPr>
                        <a:defRPr sz="1300" b="1">
                          <a:solidFill>
                            <a:srgbClr val="FFFFFF"/>
                          </a:solidFill>
                          <a:latin typeface="Yu Gothic"/>
                        </a:defRPr>
                      </a:pPr>
                      <a:r>
                        <a:t>特徴</a:t>
                      </a:r>
                    </a:p>
                  </a:txBody>
                  <a:tcPr>
                    <a:solidFill>
                      <a:srgbClr val="2B3A55"/>
                    </a:solidFill>
                  </a:tcPr>
                </a:tc>
              </a:tr>
              <a:tr h="502920">
                <a:tc>
                  <a:txBody>
                    <a:bodyPr/>
                    <a:lstStyle/>
                    <a:p>
                      <a:pPr>
                        <a:defRPr sz="1200">
                          <a:solidFill>
                            <a:srgbClr val="1C2230"/>
                          </a:solidFill>
                          <a:latin typeface="Yu Gothic"/>
                        </a:defRPr>
                      </a:pPr>
                      <a:r>
                        <a:t>顔認証</a:t>
                      </a:r>
                    </a:p>
                  </a:txBody>
                  <a:tcPr>
                    <a:solidFill>
                      <a:srgbClr val="FFFFFF"/>
                    </a:solidFill>
                  </a:tcPr>
                </a:tc>
                <a:tc>
                  <a:txBody>
                    <a:bodyPr/>
                    <a:lstStyle/>
                    <a:p>
                      <a:pPr>
                        <a:defRPr sz="1200">
                          <a:solidFill>
                            <a:srgbClr val="1C2230"/>
                          </a:solidFill>
                          <a:latin typeface="Yu Gothic"/>
                        </a:defRPr>
                      </a:pPr>
                      <a:r>
                        <a:t>カメラで顔を撮影して照合</a:t>
                      </a:r>
                    </a:p>
                  </a:txBody>
                  <a:tcPr>
                    <a:solidFill>
                      <a:srgbClr val="FFFFFF"/>
                    </a:solidFill>
                  </a:tcPr>
                </a:tc>
              </a:tr>
              <a:tr h="502920">
                <a:tc>
                  <a:txBody>
                    <a:bodyPr/>
                    <a:lstStyle/>
                    <a:p>
                      <a:pPr>
                        <a:defRPr sz="1200">
                          <a:solidFill>
                            <a:srgbClr val="1C2230"/>
                          </a:solidFill>
                          <a:latin typeface="Yu Gothic"/>
                        </a:defRPr>
                      </a:pPr>
                      <a:r>
                        <a:t>指紋認証</a:t>
                      </a:r>
                    </a:p>
                  </a:txBody>
                  <a:tcPr>
                    <a:solidFill>
                      <a:srgbClr val="F1F5FA"/>
                    </a:solidFill>
                  </a:tcPr>
                </a:tc>
                <a:tc>
                  <a:txBody>
                    <a:bodyPr/>
                    <a:lstStyle/>
                    <a:p>
                      <a:pPr>
                        <a:defRPr sz="1200">
                          <a:solidFill>
                            <a:srgbClr val="1C2230"/>
                          </a:solidFill>
                          <a:latin typeface="Yu Gothic"/>
                        </a:defRPr>
                      </a:pPr>
                      <a:r>
                        <a:t>指紋を読み取って照合</a:t>
                      </a:r>
                    </a:p>
                  </a:txBody>
                  <a:tcPr>
                    <a:solidFill>
                      <a:srgbClr val="F1F5FA"/>
                    </a:solidFill>
                  </a:tcPr>
                </a:tc>
              </a:tr>
              <a:tr h="502920">
                <a:tc>
                  <a:txBody>
                    <a:bodyPr/>
                    <a:lstStyle/>
                    <a:p>
                      <a:pPr>
                        <a:defRPr sz="1200">
                          <a:solidFill>
                            <a:srgbClr val="1C2230"/>
                          </a:solidFill>
                          <a:latin typeface="Yu Gothic"/>
                        </a:defRPr>
                      </a:pPr>
                      <a:r>
                        <a:t>パスキー</a:t>
                      </a:r>
                    </a:p>
                  </a:txBody>
                  <a:tcPr>
                    <a:solidFill>
                      <a:srgbClr val="FFFFFF"/>
                    </a:solidFill>
                  </a:tcPr>
                </a:tc>
                <a:tc>
                  <a:txBody>
                    <a:bodyPr/>
                    <a:lstStyle/>
                    <a:p>
                      <a:pPr>
                        <a:defRPr sz="1200">
                          <a:solidFill>
                            <a:srgbClr val="1C2230"/>
                          </a:solidFill>
                          <a:latin typeface="Yu Gothic"/>
                        </a:defRPr>
                      </a:pPr>
                      <a:r>
                        <a:t>端末に保存された鍵で認証</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定期実行29本目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発表担当者</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John Gronberg氏</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プロダクトマネジメント担当ディレクター</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Claire Forszt氏</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Google Identity担当プロダクトマネージャー</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Google公式ブログ(2026-07-23)</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定期実行29本目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設定方法</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①カメラを見る</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端末のカメラに顔を向ける</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②動作に従う</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首を左右に振る・うなずく等のガイドに従う</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③複数角度を撮影</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顔を複数の角度から記録する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定期実行29本目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設定に必要なもの</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動画1本</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端末のカメラで撮影する自撮り動画のみ</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TechCrunch(2026-07-23)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サインインの仕組み</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サインインに困る</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主要な認証手段が使えない</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新しく動画を撮影</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その場で自撮り動画を撮る</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照合して本人確認</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設定時の動画と比較</a:t>
            </a:r>
          </a:p>
        </p:txBody>
      </p:sp>
      <p:sp>
        <p:nvSpPr>
          <p:cNvPr id="20" name="TextBox 19"/>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TechCrunch(2026-07-23)</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定期実行29本目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従来のサインインとセルフィー動画の違い</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従来の認証手段</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パスワード・端末の確認コード等</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端末やメモを紛失すると使えなくなることがある</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セルフィー動画</a:t>
            </a:r>
          </a:p>
        </p:txBody>
      </p:sp>
      <p:sp>
        <p:nvSpPr>
          <p:cNvPr id="16" name="Oval 15"/>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顔さえあれば追加の手段として使える</a:t>
            </a:r>
          </a:p>
        </p:txBody>
      </p:sp>
      <p:sp>
        <p:nvSpPr>
          <p:cNvPr id="18" name="Oval 17"/>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主要な手段が使えないときの補助として位置づけ</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定期実行29本目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対象外ユーザー</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11277295"/>
              </a:tblGrid>
              <a:tr h="502920">
                <a:tc>
                  <a:txBody>
                    <a:bodyPr/>
                    <a:lstStyle/>
                    <a:p>
                      <a:pPr>
                        <a:defRPr sz="1300" b="1">
                          <a:solidFill>
                            <a:srgbClr val="FFFFFF"/>
                          </a:solidFill>
                          <a:latin typeface="Yu Gothic"/>
                        </a:defRPr>
                      </a:pPr>
                      <a:r>
                        <a:t>対象外</a:t>
                      </a:r>
                    </a:p>
                  </a:txBody>
                  <a:tcPr>
                    <a:solidFill>
                      <a:srgbClr val="2B3A55"/>
                    </a:solidFill>
                  </a:tcPr>
                </a:tc>
              </a:tr>
              <a:tr h="502920">
                <a:tc>
                  <a:txBody>
                    <a:bodyPr/>
                    <a:lstStyle/>
                    <a:p>
                      <a:pPr>
                        <a:defRPr sz="1200">
                          <a:solidFill>
                            <a:srgbClr val="1C2230"/>
                          </a:solidFill>
                          <a:latin typeface="Yu Gothic"/>
                        </a:defRPr>
                      </a:pPr>
                      <a:r>
                        <a:t>Workspaceアカウント</a:t>
                      </a:r>
                    </a:p>
                  </a:txBody>
                  <a:tcPr>
                    <a:solidFill>
                      <a:srgbClr val="FFFFFF"/>
                    </a:solidFill>
                  </a:tcPr>
                </a:tc>
              </a:tr>
              <a:tr h="502920">
                <a:tc>
                  <a:txBody>
                    <a:bodyPr/>
                    <a:lstStyle/>
                    <a:p>
                      <a:pPr>
                        <a:defRPr sz="1200">
                          <a:solidFill>
                            <a:srgbClr val="1C2230"/>
                          </a:solidFill>
                          <a:latin typeface="Yu Gothic"/>
                        </a:defRPr>
                      </a:pPr>
                      <a:r>
                        <a:t>子ども向けアカウント</a:t>
                      </a:r>
                    </a:p>
                  </a:txBody>
                  <a:tcPr>
                    <a:solidFill>
                      <a:srgbClr val="F1F5FA"/>
                    </a:solidFill>
                  </a:tcPr>
                </a:tc>
              </a:tr>
              <a:tr h="502920">
                <a:tc>
                  <a:txBody>
                    <a:bodyPr/>
                    <a:lstStyle/>
                    <a:p>
                      <a:pPr>
                        <a:defRPr sz="1200">
                          <a:solidFill>
                            <a:srgbClr val="1C2230"/>
                          </a:solidFill>
                          <a:latin typeface="Yu Gothic"/>
                        </a:defRPr>
                      </a:pPr>
                      <a:r>
                        <a:t>高度な保護機能プログラム参加者</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TechCrunch(2026-07-23)</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定期実行29本目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対象外の理由(推測)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企業・教育機関向け</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より厳格な認証手段が既に求められているため(推測)</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高セキュリティ用途</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対象を限定して段階的に展開する狙いと考えられる(推測)</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定期実行29本目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セキュリティ上の利点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紛失に強い</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端末やメモを紛失しても顔があれば本人確認できる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保存時に暗号化</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撮影した動画は暗号化して保存されるとしている</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TechCrunch(2026-07-23)</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定期実行29本目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設定手順まとめ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設定・確認場所(スマホ)</a:t>
                      </a:r>
                    </a:p>
                  </a:txBody>
                  <a:tcPr>
                    <a:solidFill>
                      <a:srgbClr val="FFFFFF"/>
                    </a:solidFill>
                  </a:tcPr>
                </a:tc>
                <a:tc>
                  <a:txBody>
                    <a:bodyPr/>
                    <a:lstStyle/>
                    <a:p>
                      <a:pPr>
                        <a:defRPr sz="1200">
                          <a:solidFill>
                            <a:srgbClr val="1C2230"/>
                          </a:solidFill>
                          <a:latin typeface="Yu Gothic"/>
                        </a:defRPr>
                      </a:pPr>
                      <a:r>
                        <a:t>g.co/signin-selfie</a:t>
                      </a:r>
                    </a:p>
                  </a:txBody>
                  <a:tcPr>
                    <a:solidFill>
                      <a:srgbClr val="FFFFFF"/>
                    </a:solidFill>
                  </a:tcPr>
                </a:tc>
              </a:tr>
              <a:tr h="502920">
                <a:tc>
                  <a:txBody>
                    <a:bodyPr/>
                    <a:lstStyle/>
                    <a:p>
                      <a:pPr>
                        <a:defRPr sz="1200">
                          <a:solidFill>
                            <a:srgbClr val="1C2230"/>
                          </a:solidFill>
                          <a:latin typeface="Yu Gothic"/>
                        </a:defRPr>
                      </a:pPr>
                      <a:r>
                        <a:t>設定・確認場所(PC)</a:t>
                      </a:r>
                    </a:p>
                  </a:txBody>
                  <a:tcPr>
                    <a:solidFill>
                      <a:srgbClr val="F1F5FA"/>
                    </a:solidFill>
                  </a:tcPr>
                </a:tc>
                <a:tc>
                  <a:txBody>
                    <a:bodyPr/>
                    <a:lstStyle/>
                    <a:p>
                      <a:pPr>
                        <a:defRPr sz="1200">
                          <a:solidFill>
                            <a:srgbClr val="1C2230"/>
                          </a:solidFill>
                          <a:latin typeface="Yu Gothic"/>
                        </a:defRPr>
                      </a:pPr>
                      <a:r>
                        <a:t>myaccount.google.com/video-verification</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TechCrunch(2026-07-23)</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定期実行29本目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よくある疑問(Q&amp;A)</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動画は誰かに見られる?</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暗号化して保存されるとGoogleは説明している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対象国・日本語版は?</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詳細は本調査時点では確認できていない(不明)</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定期実行29本目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今回含まれなかったもの</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セルフィー動画の具体的な保存期間・削除方法は公開情報からは確認できなかった</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日本語版での提供開始時期の詳細は今回の発表では確認できていない</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定期実行29本目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なぜ今このタイミングでこの機能を追加したのか(推測)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アカウント乗っ取り対策</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端末紛失時の代替手段を増やす狙い</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生体認証の広がり</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顔認証・指紋認証等が身近になってきた流れの延長</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段階的な展開</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対象を限定して安全性を確認しながら広げる狙い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定期実行29本目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見送った候補</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Microsoft「Project Perception」</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他社比較中心の訴求で扱いが難しいため見送り</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Meta「Muse Video」</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発表がやや古く、Metaは既に扱い済みのため見送り</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定期実行29本目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これが意味すること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認証手段の多様化</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顔・指紋・パスキー等、選択肢が増える</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生体情報の活用拡大</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身近なサービスにも広がってきている</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プライバシー配慮の重要性</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対象外ユーザーの設定等、慎重さも前提</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定期実行29本目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これは何を意味するのか(利用者にとって)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端末を紛失したときの復旧手段として、顔という新しい選択肢が増えている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一方で生体情報を預けることになるため、仕組みを理解した上で使うことが大切</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定期実行29本目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試すなら確認したいこと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対象アカウントか</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Workspace等の対象外に該当しないか確認</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設定場所</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g.co/signin-selfie等でアクセス可否を確認</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他の手段との併用</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パスワード等、他の認証手段も残しておく</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定期実行29本目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実際に試す場合の進め方(目安)</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①対象か確認する</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対象アカウントか公式ページで確認</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②設定する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ガイドに従って自撮り動画を撮影</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③他の手段も残す</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パスワード等、既存の手段も維持する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定期実行29本目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個人にとっての影響</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普段使うGoogleアカウントの復旧手段が増え、端末紛失時の安心材料になり得る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顔という生体情報を預けることの意味も、あわせて意識しておきたい</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定期実行29本目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不明点・注意点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セルフィー動画の保存期間・削除方法の詳細は非公開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日本語版での提供開始時期・対象国の詳細リストは今回の発表では確認できていない</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定期実行29本目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プライバシー配慮のポイント</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事実紹介に徹する</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企業の機能発表という事実を淡々と紹介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生体情報への配慮</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顔という生体情報を扱う機能である点を明示</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推測は明示</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推測部分は「推測」と明言している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定期実行29本目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検品結果</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結果</a:t>
                      </a:r>
                    </a:p>
                  </a:txBody>
                  <a:tcPr>
                    <a:solidFill>
                      <a:srgbClr val="2B3A55"/>
                    </a:solidFill>
                  </a:tcPr>
                </a:tc>
              </a:tr>
              <a:tr h="502920">
                <a:tc>
                  <a:txBody>
                    <a:bodyPr/>
                    <a:lstStyle/>
                    <a:p>
                      <a:pPr>
                        <a:defRPr sz="1200">
                          <a:solidFill>
                            <a:srgbClr val="1C2230"/>
                          </a:solidFill>
                          <a:latin typeface="Yu Gothic"/>
                        </a:defRPr>
                      </a:pPr>
                      <a:r>
                        <a:t>verify_pptx.py</a:t>
                      </a:r>
                    </a:p>
                  </a:txBody>
                  <a:tcPr>
                    <a:solidFill>
                      <a:srgbClr val="FFFFFF"/>
                    </a:solidFill>
                  </a:tcPr>
                </a:tc>
                <a:tc>
                  <a:txBody>
                    <a:bodyPr/>
                    <a:lstStyle/>
                    <a:p>
                      <a:pPr>
                        <a:defRPr sz="1200">
                          <a:solidFill>
                            <a:srgbClr val="1C2230"/>
                          </a:solidFill>
                          <a:latin typeface="Yu Gothic"/>
                        </a:defRPr>
                      </a:pPr>
                      <a:r>
                        <a:t>合格</a:t>
                      </a:r>
                    </a:p>
                  </a:txBody>
                  <a:tcPr>
                    <a:solidFill>
                      <a:srgbClr val="FFFFFF"/>
                    </a:solidFill>
                  </a:tcPr>
                </a:tc>
              </a:tr>
              <a:tr h="502920">
                <a:tc>
                  <a:txBody>
                    <a:bodyPr/>
                    <a:lstStyle/>
                    <a:p>
                      <a:pPr>
                        <a:defRPr sz="1200">
                          <a:solidFill>
                            <a:srgbClr val="1C2230"/>
                          </a:solidFill>
                          <a:latin typeface="Yu Gothic"/>
                        </a:defRPr>
                      </a:pPr>
                      <a:r>
                        <a:t>同一レイアウト連続チェック</a:t>
                      </a:r>
                    </a:p>
                  </a:txBody>
                  <a:tcPr>
                    <a:solidFill>
                      <a:srgbClr val="F1F5FA"/>
                    </a:solidFill>
                  </a:tcPr>
                </a:tc>
                <a:tc>
                  <a:txBody>
                    <a:bodyPr/>
                    <a:lstStyle/>
                    <a:p>
                      <a:pPr>
                        <a:defRPr sz="1200">
                          <a:solidFill>
                            <a:srgbClr val="1C2230"/>
                          </a:solidFill>
                          <a:latin typeface="Yu Gothic"/>
                        </a:defRPr>
                      </a:pPr>
                      <a:r>
                        <a:t>合格</a:t>
                      </a:r>
                    </a:p>
                  </a:txBody>
                  <a:tcPr>
                    <a:solidFill>
                      <a:srgbClr val="F1F5FA"/>
                    </a:solidFill>
                  </a:tcPr>
                </a:tc>
              </a:tr>
              <a:tr h="502920">
                <a:tc>
                  <a:txBody>
                    <a:bodyPr/>
                    <a:lstStyle/>
                    <a:p>
                      <a:pPr>
                        <a:defRPr sz="1200">
                          <a:solidFill>
                            <a:srgbClr val="1C2230"/>
                          </a:solidFill>
                          <a:latin typeface="Yu Gothic"/>
                        </a:defRPr>
                      </a:pPr>
                      <a:r>
                        <a:t>bullets比率チェック</a:t>
                      </a:r>
                    </a:p>
                  </a:txBody>
                  <a:tcPr>
                    <a:solidFill>
                      <a:srgbClr val="FFFFFF"/>
                    </a:solidFill>
                  </a:tcPr>
                </a:tc>
                <a:tc>
                  <a:txBody>
                    <a:bodyPr/>
                    <a:lstStyle/>
                    <a:p>
                      <a:pPr>
                        <a:defRPr sz="1200">
                          <a:solidFill>
                            <a:srgbClr val="1C2230"/>
                          </a:solidFill>
                          <a:latin typeface="Yu Gothic"/>
                        </a:defRPr>
                      </a:pPr>
                      <a:r>
                        <a:t>合格</a:t>
                      </a:r>
                    </a:p>
                  </a:txBody>
                  <a:tcPr>
                    <a:solidFill>
                      <a:srgbClr val="FFFFFF"/>
                    </a:solidFill>
                  </a:tcPr>
                </a:tc>
              </a:tr>
              <a:tr h="502920">
                <a:tc>
                  <a:txBody>
                    <a:bodyPr/>
                    <a:lstStyle/>
                    <a:p>
                      <a:pPr>
                        <a:defRPr sz="1200">
                          <a:solidFill>
                            <a:srgbClr val="1C2230"/>
                          </a:solidFill>
                          <a:latin typeface="Yu Gothic"/>
                        </a:defRPr>
                      </a:pPr>
                      <a:r>
                        <a:t>対話原稿スライド数整合性</a:t>
                      </a:r>
                    </a:p>
                  </a:txBody>
                  <a:tcPr>
                    <a:solidFill>
                      <a:srgbClr val="F1F5FA"/>
                    </a:solidFill>
                  </a:tcPr>
                </a:tc>
                <a:tc>
                  <a:txBody>
                    <a:bodyPr/>
                    <a:lstStyle/>
                    <a:p>
                      <a:pPr>
                        <a:defRPr sz="1200">
                          <a:solidFill>
                            <a:srgbClr val="1C2230"/>
                          </a:solidFill>
                          <a:latin typeface="Yu Gothic"/>
                        </a:defRPr>
                      </a:pPr>
                      <a:r>
                        <a:t>合格</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定期実行29本目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出典一覧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Google公式ブログ / TechCrunch</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9to5Google / SiliconANGLE / Engadget</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定期実行29本目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認証手段は「覚える」から「自分自身」へ</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顔・指紋・パスキーなど、選べる手段が増えている</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興味があれば、対象アカウントか確認してみる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次回予告</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生体認証・アカウントセキュリティの進化は続くテーマ</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次回も独立系メディアの報道をもとに紹介する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定期実行29本目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ご視聴ありがとうございました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出典・詳細はresearch.mdと各スライドの出典表記を参照</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質問・フィードバックはいつでもどうぞ</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