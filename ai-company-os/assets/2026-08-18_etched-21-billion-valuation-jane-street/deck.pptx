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評価額(億ドル)</c:v>
                </c:pt>
              </c:strCache>
            </c:strRef>
          </c:tx>
          <c:spPr>
            <a:solidFill>
              <a:srgbClr val="2B3A55"/>
            </a:solidFill>
          </c:spPr>
          <c:cat>
            <c:strRef>
              <c:f>Sheet1!$A$2:$A$3</c:f>
              <c:strCache>
                <c:ptCount val="2"/>
                <c:pt idx="0">
                  <c:v>2026年7月(シリーズC時点)</c:v>
                </c:pt>
                <c:pt idx="1">
                  <c:v>2026年8月(今回)</c:v>
                </c:pt>
              </c:strCache>
            </c:strRef>
          </c:cat>
          <c:val>
            <c:numRef>
              <c:f>Sheet1!$B$2:$B$3</c:f>
              <c:numCache>
                <c:formatCode>General</c:formatCode>
                <c:ptCount val="2"/>
                <c:pt idx="0">
                  <c:v>103</c:v>
                </c:pt>
                <c:pt idx="1">
                  <c:v>210</c:v>
                </c:pt>
              </c:numCache>
            </c:numRef>
          </c:val>
        </c:ser>
        <c:dLbls>
          <c:numFmt formatCode="#,##0" sourceLinked="0"/>
          <c:txPr>
            <a:bodyPr/>
            <a:lstStyle/>
            <a:p>
              <a:pPr>
                <a:defRPr sz="1200" b="1">
                  <a:solidFill>
                    <a:srgbClr val="2B3A55"/>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ormer専用AIチップ「Sohu」を開発する半導体スタートアップEtchedが、2026年8月18日、評価額210億ドルに到達したと発表しました。1か月前の評価額から、まさかの倍増です。今日はこの資金調達と、金融取引会社Jane Streetへの初納品完了について、出典付きで正確に整理してお届けします。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結論から確認します。EtchedはJane Street主導のラウンドで7億ドルを追加調達し、評価額は210億ドルに到達しました。1か月前の評価額103億ドルから倍増しています。ここから数字を1つずつ出典付きで見ていきます。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今日は6つの流れでお伝えします。資金調達の数字からJane Streetへの初納品、Sohuチップの技術概要、創業経緯まで、正確に数字を引用しながら整理します。誇張せず、確認できなかったことは正直にお伝えします。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1か月で評価額が倍増という際立った変化率、そして実際の顧客への初納品完了という具体的な実績が伴っている点があります。複数の媒体が金額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Etchedという企業の前提を確認します。Transformerモデルの推論処理に特化したAIチップ『Sohu』を開発する半導体スタートアップで、ハーバード大学中退の3名によって2022年に設立されました。本編は資金調達・製品納品の事実紹介であり、製品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本題のキーワードを確認します。ASICは特定の処理に特化した専用集積回路、Transformerは大規模言語モデルの基盤となる構造、評価額は投資家との合意で算定される推定企業価値です。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今回の追加調達額です。Jane Streetが主導したラウンドで7億ドルを追加調達しました。次に、調達の詳細を表で確認します。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今回のラウンドの概要を一覧にしました。2026年8月18日発表、追加調達額7億ドル、到達評価額210億ドル。主導投資家はJane Streetで、初納品完了も同時に発表されました。次に、1か月前との比較を確認します。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1か月前の評価額を確認します。2026年7月のシリーズCラウンド時点では103億ドルでした。次に、今回との比較をグラフで見てみます。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評価額の推移をグラフにしました。2026年7月のシリーズC時点で103億ドルだった評価額が、1か月後の2026年8月には210億ドルに到達しています。ほぼ倍増という変化幅です。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資金調達をまとめました。追加調達額7億ドル、到達評価額210億ドル、1か月間でおよそ2倍という変化です。次に、同時発表されたJane Streetへの初納品を深掘りします。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次章に入る前に、Jane Streetという企業の前提を確認します。高速な取引処理を強みとする金融取引会社で、今回Etchedの最初のカスタマーとしてSohuチップのラック納品を受け、同時に追加ラウンドを主導したとされています。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初のカスタマー納品を確認します。金融取引会社Jane StreetへSohuチップのラックを納品し、Etchedにとって初のカスタマー納品を完了したと発表しました。次に、この納品に関する評価を確認します。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納品後の反応についてです。Jane Streetは納品されたシステムに高く満足しているとされ、それが今回の追加ラウンドを自ら主導する動機の一つになったとされています。ただし満足度の具体的な評価指標までは確認できていません。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初納品から追加ラウンドまでの流れを図にしました。Sohuチップのラック納品から、顧客の高い満足、そしてJane Street自身による追加ラウンドの主導へという経緯が報じられています。次に、Sohuチップ自体の技術概要を確認します。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納品されたSohuチップの技術概要です。Transformerモデルの推論処理のみに特化したASICで、TSMCのN4Pプロセスで製造されています。Attention機構・射影演算・順伝播層といった演算に回路レベルで最適化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Sohuの設計思想を3ステップで整理しました。用途をTransformerの推論処理に絞り、その演算に回路レベルで最適化することで、汎用GPUに対して高い電力あたり性能を狙う設計とされています。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汎用GPUとSohuの設計思想の違いを整理しました。汎用GPUは幅広い演算に対応できる一方、Sohuは用途をTransformerの推論処理に絞ることで、電力あたり性能の向上を狙う設計です。次に、Etchedの創業経緯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chedの創業経緯を確認します。ハーバード大学中退の3名によって2022年に設立され、これまでに複数回のラウンドを通じて累計で相当額を調達しています。各ラウンドの個別調達額の内訳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評価額の推移について、本調査で判明している範囲を表にしました。2026年7月のシリーズC時点で103億ドル、2026年8月の今回で210億ドルです。それ以前のラウンドの評価額は確認できていません。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顧客契約額を確認します。顧客契約額は10億ドルを超えるとされています。次に、この数字を扱う際の注意点を正直にお伝えします。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ベンチマークの第三者検証について正直にお伝えします。Sohuチップの具体的なベンチマーク数値の第三者検証状況は、本調査の範囲では確認できていません。確認できた設計方針のみを紹介し、性能の優劣は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他の顧客の導入規模についても正直にお伝えします。Jane Street以外の顧客の具体的な導入規模は、本調査の範囲では確認できていません。確認できた総額のみを紹介し、内訳は推測で補いません。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確認できているのは今回のラウンドの調達額・評価額・初納品完了のみであり、ベンチマークの第三者検証や他の顧客の導入規模など未確認の項目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このニュースが読者にとって意味することをまとめました。AI業界の動向を追う立場、半導体・インフラを検討する立場、投資・スタートアップを追う立場、それぞれで意識したい視点です。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評価額・調達額は製品の性能そのものを直接示すものではなく、第三者検証の有無を確認したうえで判断することが望ましいです。SohuはNvidia等の汎用GPUとは異なる設計思想の製品であり、本成果物は乗り換えを推奨す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本テーマの鮮度を数字で確認します。発表は着手日の前日にあたる2026年8月18日でした。当社の鮮度基準(着手日を含めて2日以内)を満たしています。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本編で使った主な出典を一覧にしました。TechCrunch・GlobeNewswire・SiliconANGLE・The Next Web・Manila Timesという複数の独立した媒体が金額・評価額の数値を一致させて報じていることを確認しています。詳細はresearch.mdをご確認ください。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本編は以上です。今回はEtchedが7億ドルを追加調達し評価額210億ドルに到達、Jane Streetへの初納品も完了した件を、技術概要・創業経緯まで正確に整理してお伝えしました。数字は出典どおりに扱い、確認できなかったことは正直にお伝えしました。次回もまた出典付きでお届けします。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まさかの1か月で評価額倍増。</a:t>
            </a:r>
          </a:p>
          <a:p>
            <a:pPr algn="l">
              <a:lnSpc>
                <a:spcPct val="115000"/>
              </a:lnSpc>
            </a:pPr>
            <a:r>
              <a:rPr sz="4200" b="1">
                <a:solidFill>
                  <a:srgbClr val="FFFFFF"/>
                </a:solidFill>
                <a:latin typeface="Yu Gothic"/>
              </a:rPr>
              <a:t>AIチップ企業Etchedが</a:t>
            </a:r>
          </a:p>
          <a:p>
            <a:pPr algn="l">
              <a:lnSpc>
                <a:spcPct val="115000"/>
              </a:lnSpc>
            </a:pPr>
            <a:r>
              <a:rPr sz="4200" b="1">
                <a:solidFill>
                  <a:srgbClr val="FFFFFF"/>
                </a:solidFill>
                <a:latin typeface="Yu Gothic"/>
              </a:rPr>
              <a:t>210億ドルに到達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2026年8月18日発表――Jane Streetへの初納品完了もあわせて出典付きで整理する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TechCrunch・GlobeNewswire・SiliconANGLE・The Next Web・Manila Times(2026年8月18日)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評価額210億ドル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Jane Street主導のラウンドで7億ドルを追加調達し到達。1か月前の103億ドルから倍増した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TechCrunch・GlobeNewswire(2026-08-18)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Etchedとは・基礎知識</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今回の資金調達の数字を確認する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Jane Streetへの初納品を深掘りする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SohuチップとASICの技術概要</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創業経緯・確認できなかったこと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発表翌日(2026年8月19日着手)という鮮度の高い話題である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1か月で評価額が倍増するという、資金調達として際立った変化率である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実際の顧客(Jane Street)への初納品完了という具体的な実績が伴っている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複数の独立した媒体(TechCrunch・GlobeNewswire等)が金額を一致させて報じている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TechCrunch・GlobeNewswire・SiliconANGLE(2026-08-18)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Etchedとは(初心者向け)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Etchedは、Transformerモデルの推論処理に特化したAIチップ「Sohu」を開発する半導体スタートアップである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ハーバード大学中退の3名によって2022年に設立された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本編ではEtchedという特定企業の資金調達・製品納品の事実を中立的に紹介する(利用を推奨する内容ではない)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用語解説:ASIC・Transformer・評価額とは(初心者向け)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『ASIC』とは、特定の処理だけを高速・省電力で行えるように設計された専用集積回路のことである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『Transformer』とは、現在の大規模言語モデル等の基盤となっているニューラルネットワークの構造である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『評価額(企業価値)』とは、資金調達時に投資家との合意で算定される、その時点での推定企業価値である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今回の追加調達額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7億ドル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Jane Streetが主導したラウンドでの追加調達額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TechCrunch・GlobeNewswire(2026-08-18)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今回のラウンドの概要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発表日</a:t>
                      </a:r>
                    </a:p>
                  </a:txBody>
                  <a:tcPr>
                    <a:solidFill>
                      <a:srgbClr val="FFFFFF"/>
                    </a:solidFill>
                  </a:tcPr>
                </a:tc>
                <a:tc>
                  <a:txBody>
                    <a:bodyPr/>
                    <a:lstStyle/>
                    <a:p>
                      <a:pPr>
                        <a:defRPr sz="1200">
                          <a:solidFill>
                            <a:srgbClr val="1C2230"/>
                          </a:solidFill>
                          <a:latin typeface="Yu Gothic"/>
                        </a:defRPr>
                      </a:pPr>
                      <a:r>
                        <a:t>2026年8月18日</a:t>
                      </a:r>
                    </a:p>
                  </a:txBody>
                  <a:tcPr>
                    <a:solidFill>
                      <a:srgbClr val="FFFFFF"/>
                    </a:solidFill>
                  </a:tcPr>
                </a:tc>
              </a:tr>
              <a:tr h="502920">
                <a:tc>
                  <a:txBody>
                    <a:bodyPr/>
                    <a:lstStyle/>
                    <a:p>
                      <a:pPr>
                        <a:defRPr sz="1200">
                          <a:solidFill>
                            <a:srgbClr val="1C2230"/>
                          </a:solidFill>
                          <a:latin typeface="Yu Gothic"/>
                        </a:defRPr>
                      </a:pPr>
                      <a:r>
                        <a:t>追加調達額</a:t>
                      </a:r>
                    </a:p>
                  </a:txBody>
                  <a:tcPr>
                    <a:solidFill>
                      <a:srgbClr val="F1F5FA"/>
                    </a:solidFill>
                  </a:tcPr>
                </a:tc>
                <a:tc>
                  <a:txBody>
                    <a:bodyPr/>
                    <a:lstStyle/>
                    <a:p>
                      <a:pPr>
                        <a:defRPr sz="1200">
                          <a:solidFill>
                            <a:srgbClr val="1C2230"/>
                          </a:solidFill>
                          <a:latin typeface="Yu Gothic"/>
                        </a:defRPr>
                      </a:pPr>
                      <a:r>
                        <a:t>7億ドル</a:t>
                      </a:r>
                    </a:p>
                  </a:txBody>
                  <a:tcPr>
                    <a:solidFill>
                      <a:srgbClr val="F1F5FA"/>
                    </a:solidFill>
                  </a:tcPr>
                </a:tc>
              </a:tr>
              <a:tr h="502920">
                <a:tc>
                  <a:txBody>
                    <a:bodyPr/>
                    <a:lstStyle/>
                    <a:p>
                      <a:pPr>
                        <a:defRPr sz="1200">
                          <a:solidFill>
                            <a:srgbClr val="1C2230"/>
                          </a:solidFill>
                          <a:latin typeface="Yu Gothic"/>
                        </a:defRPr>
                      </a:pPr>
                      <a:r>
                        <a:t>到達評価額</a:t>
                      </a:r>
                    </a:p>
                  </a:txBody>
                  <a:tcPr>
                    <a:solidFill>
                      <a:srgbClr val="FFFFFF"/>
                    </a:solidFill>
                  </a:tcPr>
                </a:tc>
                <a:tc>
                  <a:txBody>
                    <a:bodyPr/>
                    <a:lstStyle/>
                    <a:p>
                      <a:pPr>
                        <a:defRPr sz="1200">
                          <a:solidFill>
                            <a:srgbClr val="1C2230"/>
                          </a:solidFill>
                          <a:latin typeface="Yu Gothic"/>
                        </a:defRPr>
                      </a:pPr>
                      <a:r>
                        <a:t>210億ドル</a:t>
                      </a:r>
                    </a:p>
                  </a:txBody>
                  <a:tcPr>
                    <a:solidFill>
                      <a:srgbClr val="FFFFFF"/>
                    </a:solidFill>
                  </a:tcPr>
                </a:tc>
              </a:tr>
              <a:tr h="502920">
                <a:tc>
                  <a:txBody>
                    <a:bodyPr/>
                    <a:lstStyle/>
                    <a:p>
                      <a:pPr>
                        <a:defRPr sz="1200">
                          <a:solidFill>
                            <a:srgbClr val="1C2230"/>
                          </a:solidFill>
                          <a:latin typeface="Yu Gothic"/>
                        </a:defRPr>
                      </a:pPr>
                      <a:r>
                        <a:t>主導投資家</a:t>
                      </a:r>
                    </a:p>
                  </a:txBody>
                  <a:tcPr>
                    <a:solidFill>
                      <a:srgbClr val="F1F5FA"/>
                    </a:solidFill>
                  </a:tcPr>
                </a:tc>
                <a:tc>
                  <a:txBody>
                    <a:bodyPr/>
                    <a:lstStyle/>
                    <a:p>
                      <a:pPr>
                        <a:defRPr sz="1200">
                          <a:solidFill>
                            <a:srgbClr val="1C2230"/>
                          </a:solidFill>
                          <a:latin typeface="Yu Gothic"/>
                        </a:defRPr>
                      </a:pPr>
                      <a:r>
                        <a:t>Jane Street</a:t>
                      </a:r>
                    </a:p>
                  </a:txBody>
                  <a:tcPr>
                    <a:solidFill>
                      <a:srgbClr val="F1F5FA"/>
                    </a:solidFill>
                  </a:tcPr>
                </a:tc>
              </a:tr>
              <a:tr h="502920">
                <a:tc>
                  <a:txBody>
                    <a:bodyPr/>
                    <a:lstStyle/>
                    <a:p>
                      <a:pPr>
                        <a:defRPr sz="1200">
                          <a:solidFill>
                            <a:srgbClr val="1C2230"/>
                          </a:solidFill>
                          <a:latin typeface="Yu Gothic"/>
                        </a:defRPr>
                      </a:pPr>
                      <a:r>
                        <a:t>同時発表事項</a:t>
                      </a:r>
                    </a:p>
                  </a:txBody>
                  <a:tcPr>
                    <a:solidFill>
                      <a:srgbClr val="FFFFFF"/>
                    </a:solidFill>
                  </a:tcPr>
                </a:tc>
                <a:tc>
                  <a:txBody>
                    <a:bodyPr/>
                    <a:lstStyle/>
                    <a:p>
                      <a:pPr>
                        <a:defRPr sz="1200">
                          <a:solidFill>
                            <a:srgbClr val="1C2230"/>
                          </a:solidFill>
                          <a:latin typeface="Yu Gothic"/>
                        </a:defRPr>
                      </a:pPr>
                      <a:r>
                        <a:t>Jane Streetへの初納品完了</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TechCrunch・GlobeNewswire・SiliconANGLE(2026-08-18)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1か月前の評価額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評価額103億ドル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2026年7月のシリーズCラウンド時点の評価額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TechCrunch・GlobeNewswire(2026-08-18)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評価額の推移(1か月間)</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TechCrunch・GlobeNewswire(2026-08-18)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資金調達まとめ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7億ドル</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今回の追加調達額</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Jane Street主導のラウンドで追加調達した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210億ドル</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到達評価額</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1か月前の103億ドルから到達した最新の評価額</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約2倍</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1か月間の評価額の変化</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103億ドルから210億ドルへ、1か月でほぼ倍増した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Jane Streetとは(初心者向け)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次章に入る前に、顧客企業の前提を確認します。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Jane Streetは、高速な取引処理を強みとする金融取引会社(トレーディングファーム)である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今回、Etchedの最初のカスタマーとしてSohuチップのラック納品を受けた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同時に今回の追加ラウンドを主導したとされる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初のカスタマー納品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Jane Streetへ納品完了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Sohuチップのラックによる、Etchedにとって初のカスタマー納品を完了したと発表した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TechCrunch・GlobeNewswire・SiliconANGLE(2026-08-18)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納品されたシステムへの評価</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納品後の反応についてです。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Jane Streetは納品されたシステムに高く満足しているとされている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その満足度が、今回の追加ラウンドをJane Street自身が主導する動機の一つになったとされている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満足度の具体的な評価指標(処理速度・稼働率等の数値)は本調査の範囲では確認できていない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初納品から追加ラウンドまでの流れ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Sohuチップのラック納品</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Jane Streetへの初のカスタマー納品を完了</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顧客の高い満足</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納品されたシステムに高く満足したとされる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追加ラウンドを主導</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Jane Streetが7億ドルの追加調達ラウンドを主導</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実際の顧客への納品という実績が、同時発表の資金調達につながった経緯として報じられている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TechCrunch・GlobeNewswire(2026-08-18)</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Sohuチップとは(技術概要)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今回納品されたチップの技術概要です。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SohuはTransformerモデルの推論処理のみに特化したASIC(専用集積回路)である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TSMCのN4Pプロセスで製造されている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Attention機構・射影演算・順伝播層といったTransformer特有の演算に回路レベルで最適化されている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TechCrunch・GlobeNewswire・SiliconANGLE(2026-08-18)</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Sohuの設計思想(3ステップ)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用途を絞る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汎用GPUと異なり、Transformerの推論処理のみに対象を絞る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回路を最適化する</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Attention機構・射影演算・順伝播層に回路レベルで最適化する</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電力あたり性能を狙う</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汎用GPUに対して高い電力あたり性能を狙う設計とされている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汎用GPU / Sohu(専用ASIC)の設計思想の違い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汎用GPU</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幅広い演算処理に対応できる汎用設計</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AI以外の用途(画像処理等)にも使われる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Transformer以外のモデルにも柔軟に対応できる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Sohu(専用ASIC)</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Transformerの推論処理のみに特化した設計</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Attention機構等に回路レベルで最適化</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汎用GPUに対して高い電力あたり性能を狙う</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Etchedの創業経緯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企業の成り立ちを確認します。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Etchedはハーバード大学中退の3名によって2022年に設立された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これまでに複数回のラウンドを通じて累計で相当額を調達している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各ラウンドの個別調達額の内訳は、本調査の範囲では確認できていない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評価額の推移(判明分)</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時点</a:t>
                      </a:r>
                    </a:p>
                  </a:txBody>
                  <a:tcPr>
                    <a:solidFill>
                      <a:srgbClr val="2B3A55"/>
                    </a:solidFill>
                  </a:tcPr>
                </a:tc>
                <a:tc>
                  <a:txBody>
                    <a:bodyPr/>
                    <a:lstStyle/>
                    <a:p>
                      <a:pPr>
                        <a:defRPr sz="1300" b="1">
                          <a:solidFill>
                            <a:srgbClr val="FFFFFF"/>
                          </a:solidFill>
                          <a:latin typeface="Yu Gothic"/>
                        </a:defRPr>
                      </a:pPr>
                      <a:r>
                        <a:t>評価額</a:t>
                      </a:r>
                    </a:p>
                  </a:txBody>
                  <a:tcPr>
                    <a:solidFill>
                      <a:srgbClr val="2B3A55"/>
                    </a:solidFill>
                  </a:tcPr>
                </a:tc>
              </a:tr>
              <a:tr h="502920">
                <a:tc>
                  <a:txBody>
                    <a:bodyPr/>
                    <a:lstStyle/>
                    <a:p>
                      <a:pPr>
                        <a:defRPr sz="1200">
                          <a:solidFill>
                            <a:srgbClr val="1C2230"/>
                          </a:solidFill>
                          <a:latin typeface="Yu Gothic"/>
                        </a:defRPr>
                      </a:pPr>
                      <a:r>
                        <a:t>2026年7月(シリーズC)</a:t>
                      </a:r>
                    </a:p>
                  </a:txBody>
                  <a:tcPr>
                    <a:solidFill>
                      <a:srgbClr val="FFFFFF"/>
                    </a:solidFill>
                  </a:tcPr>
                </a:tc>
                <a:tc>
                  <a:txBody>
                    <a:bodyPr/>
                    <a:lstStyle/>
                    <a:p>
                      <a:pPr>
                        <a:defRPr sz="1200">
                          <a:solidFill>
                            <a:srgbClr val="1C2230"/>
                          </a:solidFill>
                          <a:latin typeface="Yu Gothic"/>
                        </a:defRPr>
                      </a:pPr>
                      <a:r>
                        <a:t>103億ドル</a:t>
                      </a:r>
                    </a:p>
                  </a:txBody>
                  <a:tcPr>
                    <a:solidFill>
                      <a:srgbClr val="FFFFFF"/>
                    </a:solidFill>
                  </a:tcPr>
                </a:tc>
              </a:tr>
              <a:tr h="502920">
                <a:tc>
                  <a:txBody>
                    <a:bodyPr/>
                    <a:lstStyle/>
                    <a:p>
                      <a:pPr>
                        <a:defRPr sz="1200">
                          <a:solidFill>
                            <a:srgbClr val="1C2230"/>
                          </a:solidFill>
                          <a:latin typeface="Yu Gothic"/>
                        </a:defRPr>
                      </a:pPr>
                      <a:r>
                        <a:t>2026年8月(今回)</a:t>
                      </a:r>
                    </a:p>
                  </a:txBody>
                  <a:tcPr>
                    <a:solidFill>
                      <a:srgbClr val="F1F5FA"/>
                    </a:solidFill>
                  </a:tcPr>
                </a:tc>
                <a:tc>
                  <a:txBody>
                    <a:bodyPr/>
                    <a:lstStyle/>
                    <a:p>
                      <a:pPr>
                        <a:defRPr sz="1200">
                          <a:solidFill>
                            <a:srgbClr val="1C2230"/>
                          </a:solidFill>
                          <a:latin typeface="Yu Gothic"/>
                        </a:defRPr>
                      </a:pPr>
                      <a:r>
                        <a:t>210億ドル</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TechCrunch・GlobeNewswire(2026-08-18)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顧客契約額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10億ドル超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顧客契約額は10億ドルを超えるとされている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TechCrunch・GlobeNewswire・SiliconANGLE(2026-08-18)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ベンチマークの第三者検証は不明(正直な開示)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Sohuチップの具体的なベンチマーク数値の第三者検証状況は、本調査の範囲では確認できていない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『汎用GPUに対して高い電力あたり性能を狙う設計』という方向性は報じられているが、独立機関による検証結果は確認できていない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本成果物では、確認できた設計方針のみを紹介し、性能の優劣を断定しない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他の顧客の導入規模も不明(正直な開示)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Jane Street以外の顧客の具体的な導入規模は、本調査の範囲では確認できていない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『顧客契約額は10億ドルを超える』という総額は報じられているが、個別顧客ごとの内訳は不明である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本成果物では、確認できた総額のみを紹介し、内訳を推測で補わない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評価額210億ドル=事業が完全に安定して成功している</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Sohuの性能はGPUより優れていると証明済みのはず</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Jane Street以外にも多数の顧客が同規模で導入しているはず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確認できているのは今回のラウンドの調達額・評価額・初納品のみ</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Sohuのベンチマーク数値の第三者検証は本調査の範囲では未確認</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Jane Street以外の顧客の具体的な導入規模は未確認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評価額の変化幅と実際の顧客への初納品完了から、専用AIチップ分野への資金流入の勢いを継続して確認する視点が役立つ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半導体・インフラを検討する立場として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SohuとGPUの設計思想の違いは事実として押さえつつ、実際の導入判断はベンチマークの第三者検証等を別途自身で確認する必要がある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投資・スタートアップを追う立場として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顧客契約額の内訳や過去ラウンドの詳細など、非公表・未確認の項目には断定的な情報に注意する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評価額・調達額はあくまで資金調達時点の数字であり、製品の性能そのものを直接示すものではない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Sohuチップの性能に関する主張は、独立機関による第三者検証の有無を確認したうえで判断することが望ましい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SohuはTransformer推論に特化したASICであり、汎用GPU大手(Nvidia等)とは異なる設計思想の製品として位置づけられる。本成果物は特定企業・製品への乗り換えを推奨する内容ではない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製品導入を検討する場合は、本成果物の紹介にとどまらず、自身で最新の公式情報を確認することが望ましい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今回の追加調達額・到達評価額</a:t>
                      </a:r>
                    </a:p>
                  </a:txBody>
                  <a:tcPr>
                    <a:solidFill>
                      <a:srgbClr val="FFFFFF"/>
                    </a:solidFill>
                  </a:tcPr>
                </a:tc>
                <a:tc>
                  <a:txBody>
                    <a:bodyPr/>
                    <a:lstStyle/>
                    <a:p>
                      <a:pPr>
                        <a:defRPr sz="1200">
                          <a:solidFill>
                            <a:srgbClr val="1C2230"/>
                          </a:solidFill>
                          <a:latin typeface="Yu Gothic"/>
                        </a:defRPr>
                      </a:pPr>
                      <a:r>
                        <a:t>7億ドル・210億ドルとして複数媒体で確認済み</a:t>
                      </a:r>
                    </a:p>
                  </a:txBody>
                  <a:tcPr>
                    <a:solidFill>
                      <a:srgbClr val="FFFFFF"/>
                    </a:solidFill>
                  </a:tcPr>
                </a:tc>
              </a:tr>
              <a:tr h="502920">
                <a:tc>
                  <a:txBody>
                    <a:bodyPr/>
                    <a:lstStyle/>
                    <a:p>
                      <a:pPr>
                        <a:defRPr sz="1200">
                          <a:solidFill>
                            <a:srgbClr val="1C2230"/>
                          </a:solidFill>
                          <a:latin typeface="Yu Gothic"/>
                        </a:defRPr>
                      </a:pPr>
                      <a:r>
                        <a:t>1か月前の評価額・主導投資家</a:t>
                      </a:r>
                    </a:p>
                  </a:txBody>
                  <a:tcPr>
                    <a:solidFill>
                      <a:srgbClr val="F1F5FA"/>
                    </a:solidFill>
                  </a:tcPr>
                </a:tc>
                <a:tc>
                  <a:txBody>
                    <a:bodyPr/>
                    <a:lstStyle/>
                    <a:p>
                      <a:pPr>
                        <a:defRPr sz="1200">
                          <a:solidFill>
                            <a:srgbClr val="1C2230"/>
                          </a:solidFill>
                          <a:latin typeface="Yu Gothic"/>
                        </a:defRPr>
                      </a:pPr>
                      <a:r>
                        <a:t>103億ドル(シリーズC時点)、Jane Streetの主導を確認済み</a:t>
                      </a:r>
                    </a:p>
                  </a:txBody>
                  <a:tcPr>
                    <a:solidFill>
                      <a:srgbClr val="F1F5FA"/>
                    </a:solidFill>
                  </a:tcPr>
                </a:tc>
              </a:tr>
              <a:tr h="502920">
                <a:tc>
                  <a:txBody>
                    <a:bodyPr/>
                    <a:lstStyle/>
                    <a:p>
                      <a:pPr>
                        <a:defRPr sz="1200">
                          <a:solidFill>
                            <a:srgbClr val="1C2230"/>
                          </a:solidFill>
                          <a:latin typeface="Yu Gothic"/>
                        </a:defRPr>
                      </a:pPr>
                      <a:r>
                        <a:t>Jane Streetへの初納品完了</a:t>
                      </a:r>
                    </a:p>
                  </a:txBody>
                  <a:tcPr>
                    <a:solidFill>
                      <a:srgbClr val="FFFFFF"/>
                    </a:solidFill>
                  </a:tcPr>
                </a:tc>
                <a:tc>
                  <a:txBody>
                    <a:bodyPr/>
                    <a:lstStyle/>
                    <a:p>
                      <a:pPr>
                        <a:defRPr sz="1200">
                          <a:solidFill>
                            <a:srgbClr val="1C2230"/>
                          </a:solidFill>
                          <a:latin typeface="Yu Gothic"/>
                        </a:defRPr>
                      </a:pPr>
                      <a:r>
                        <a:t>Sohuチップのラック納品として複数媒体で確認済み</a:t>
                      </a:r>
                    </a:p>
                  </a:txBody>
                  <a:tcPr>
                    <a:solidFill>
                      <a:srgbClr val="FFFFFF"/>
                    </a:solidFill>
                  </a:tcPr>
                </a:tc>
              </a:tr>
              <a:tr h="502920">
                <a:tc>
                  <a:txBody>
                    <a:bodyPr/>
                    <a:lstStyle/>
                    <a:p>
                      <a:pPr>
                        <a:defRPr sz="1200">
                          <a:solidFill>
                            <a:srgbClr val="1C2230"/>
                          </a:solidFill>
                          <a:latin typeface="Yu Gothic"/>
                        </a:defRPr>
                      </a:pPr>
                      <a:r>
                        <a:t>Sohuのベンチマーク第三者検証</a:t>
                      </a:r>
                    </a:p>
                  </a:txBody>
                  <a:tcPr>
                    <a:solidFill>
                      <a:srgbClr val="F1F5FA"/>
                    </a:solidFill>
                  </a:tcPr>
                </a:tc>
                <a:tc>
                  <a:txBody>
                    <a:bodyPr/>
                    <a:lstStyle/>
                    <a:p>
                      <a:pPr>
                        <a:defRPr sz="1200">
                          <a:solidFill>
                            <a:srgbClr val="1C2230"/>
                          </a:solidFill>
                          <a:latin typeface="Yu Gothic"/>
                        </a:defRPr>
                      </a:pPr>
                      <a:r>
                        <a:t>本調査の範囲では確認できていない</a:t>
                      </a:r>
                    </a:p>
                  </a:txBody>
                  <a:tcPr>
                    <a:solidFill>
                      <a:srgbClr val="F1F5FA"/>
                    </a:solidFill>
                  </a:tcPr>
                </a:tc>
              </a:tr>
              <a:tr h="502920">
                <a:tc>
                  <a:txBody>
                    <a:bodyPr/>
                    <a:lstStyle/>
                    <a:p>
                      <a:pPr>
                        <a:defRPr sz="1200">
                          <a:solidFill>
                            <a:srgbClr val="1C2230"/>
                          </a:solidFill>
                          <a:latin typeface="Yu Gothic"/>
                        </a:defRPr>
                      </a:pPr>
                      <a:r>
                        <a:t>Jane Street以外の顧客の導入規模</a:t>
                      </a:r>
                    </a:p>
                  </a:txBody>
                  <a:tcPr>
                    <a:solidFill>
                      <a:srgbClr val="FFFFFF"/>
                    </a:solidFill>
                  </a:tcPr>
                </a:tc>
                <a:tc>
                  <a:txBody>
                    <a:bodyPr/>
                    <a:lstStyle/>
                    <a:p>
                      <a:pPr>
                        <a:defRPr sz="1200">
                          <a:solidFill>
                            <a:srgbClr val="1C2230"/>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TechCrunch</a:t>
                      </a:r>
                    </a:p>
                  </a:txBody>
                  <a:tcPr>
                    <a:solidFill>
                      <a:srgbClr val="FFFFFF"/>
                    </a:solidFill>
                  </a:tcPr>
                </a:tc>
                <a:tc>
                  <a:txBody>
                    <a:bodyPr/>
                    <a:lstStyle/>
                    <a:p>
                      <a:pPr>
                        <a:defRPr sz="1200">
                          <a:solidFill>
                            <a:srgbClr val="1C2230"/>
                          </a:solidFill>
                          <a:latin typeface="Yu Gothic"/>
                        </a:defRPr>
                      </a:pPr>
                      <a:r>
                        <a:t>資金調達・評価額・初納品の一次報道</a:t>
                      </a:r>
                    </a:p>
                  </a:txBody>
                  <a:tcPr>
                    <a:solidFill>
                      <a:srgbClr val="FFFFFF"/>
                    </a:solidFill>
                  </a:tcPr>
                </a:tc>
              </a:tr>
              <a:tr h="502920">
                <a:tc>
                  <a:txBody>
                    <a:bodyPr/>
                    <a:lstStyle/>
                    <a:p>
                      <a:pPr>
                        <a:defRPr sz="1200">
                          <a:solidFill>
                            <a:srgbClr val="1C2230"/>
                          </a:solidFill>
                          <a:latin typeface="Yu Gothic"/>
                        </a:defRPr>
                      </a:pPr>
                      <a:r>
                        <a:t>GlobeNewswire</a:t>
                      </a:r>
                    </a:p>
                  </a:txBody>
                  <a:tcPr>
                    <a:solidFill>
                      <a:srgbClr val="F1F5FA"/>
                    </a:solidFill>
                  </a:tcPr>
                </a:tc>
                <a:tc>
                  <a:txBody>
                    <a:bodyPr/>
                    <a:lstStyle/>
                    <a:p>
                      <a:pPr>
                        <a:defRPr sz="1200">
                          <a:solidFill>
                            <a:srgbClr val="1C2230"/>
                          </a:solidFill>
                          <a:latin typeface="Yu Gothic"/>
                        </a:defRPr>
                      </a:pPr>
                      <a:r>
                        <a:t>Etched公式プレスリリース</a:t>
                      </a:r>
                    </a:p>
                  </a:txBody>
                  <a:tcPr>
                    <a:solidFill>
                      <a:srgbClr val="F1F5FA"/>
                    </a:solidFill>
                  </a:tcPr>
                </a:tc>
              </a:tr>
              <a:tr h="502920">
                <a:tc>
                  <a:txBody>
                    <a:bodyPr/>
                    <a:lstStyle/>
                    <a:p>
                      <a:pPr>
                        <a:defRPr sz="1200">
                          <a:solidFill>
                            <a:srgbClr val="1C2230"/>
                          </a:solidFill>
                          <a:latin typeface="Yu Gothic"/>
                        </a:defRPr>
                      </a:pPr>
                      <a:r>
                        <a:t>SiliconANGLE</a:t>
                      </a:r>
                    </a:p>
                  </a:txBody>
                  <a:tcPr>
                    <a:solidFill>
                      <a:srgbClr val="FFFFFF"/>
                    </a:solidFill>
                  </a:tcPr>
                </a:tc>
                <a:tc>
                  <a:txBody>
                    <a:bodyPr/>
                    <a:lstStyle/>
                    <a:p>
                      <a:pPr>
                        <a:defRPr sz="1200">
                          <a:solidFill>
                            <a:srgbClr val="1C2230"/>
                          </a:solidFill>
                          <a:latin typeface="Yu Gothic"/>
                        </a:defRPr>
                      </a:pPr>
                      <a:r>
                        <a:t>資金調達・技術概要の報道</a:t>
                      </a:r>
                    </a:p>
                  </a:txBody>
                  <a:tcPr>
                    <a:solidFill>
                      <a:srgbClr val="FFFFFF"/>
                    </a:solidFill>
                  </a:tcPr>
                </a:tc>
              </a:tr>
              <a:tr h="502920">
                <a:tc>
                  <a:txBody>
                    <a:bodyPr/>
                    <a:lstStyle/>
                    <a:p>
                      <a:pPr>
                        <a:defRPr sz="1200">
                          <a:solidFill>
                            <a:srgbClr val="1C2230"/>
                          </a:solidFill>
                          <a:latin typeface="Yu Gothic"/>
                        </a:defRPr>
                      </a:pPr>
                      <a:r>
                        <a:t>The Next Web</a:t>
                      </a:r>
                    </a:p>
                  </a:txBody>
                  <a:tcPr>
                    <a:solidFill>
                      <a:srgbClr val="F1F5FA"/>
                    </a:solidFill>
                  </a:tcPr>
                </a:tc>
                <a:tc>
                  <a:txBody>
                    <a:bodyPr/>
                    <a:lstStyle/>
                    <a:p>
                      <a:pPr>
                        <a:defRPr sz="1200">
                          <a:solidFill>
                            <a:srgbClr val="1C2230"/>
                          </a:solidFill>
                          <a:latin typeface="Yu Gothic"/>
                        </a:defRPr>
                      </a:pPr>
                      <a:r>
                        <a:t>資金調達・創業経緯の報道</a:t>
                      </a:r>
                    </a:p>
                  </a:txBody>
                  <a:tcPr>
                    <a:solidFill>
                      <a:srgbClr val="F1F5FA"/>
                    </a:solidFill>
                  </a:tcPr>
                </a:tc>
              </a:tr>
              <a:tr h="502920">
                <a:tc>
                  <a:txBody>
                    <a:bodyPr/>
                    <a:lstStyle/>
                    <a:p>
                      <a:pPr>
                        <a:defRPr sz="1200">
                          <a:solidFill>
                            <a:srgbClr val="1C2230"/>
                          </a:solidFill>
                          <a:latin typeface="Yu Gothic"/>
                        </a:defRPr>
                      </a:pPr>
                      <a:r>
                        <a:t>Manila Times</a:t>
                      </a:r>
                    </a:p>
                  </a:txBody>
                  <a:tcPr>
                    <a:solidFill>
                      <a:srgbClr val="FFFFFF"/>
                    </a:solidFill>
                  </a:tcPr>
                </a:tc>
                <a:tc>
                  <a:txBody>
                    <a:bodyPr/>
                    <a:lstStyle/>
                    <a:p>
                      <a:pPr>
                        <a:defRPr sz="1200">
                          <a:solidFill>
                            <a:srgbClr val="1C2230"/>
                          </a:solidFill>
                          <a:latin typeface="Yu Gothic"/>
                        </a:defRPr>
                      </a:pPr>
                      <a:r>
                        <a:t>配信記事による報道</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TechCrunch・GlobeNewswire・SiliconANGLE・The Next Web・Manila Times(2026-08-18)</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1か月で評価額倍増。事実だけを、出典付きで。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Etchedが7億ドルを追加調達し評価額210億ドルに到達、Jane Streetへの初納品も完了した件を、技術概要・創業経緯まで出典付きで整理してお届けしました。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