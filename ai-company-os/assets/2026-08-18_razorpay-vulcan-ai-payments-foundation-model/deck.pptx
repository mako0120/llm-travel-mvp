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インドの決済大手Razorpayが、2026年8月18日、決済特化のAI基盤モデル『Vulcan』を発表しました。決済成功率が最大10%も向上したという、まさかの数字です。今日はこのモデルの中身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結論から確認します。Razorpayの決済特化AIモデル『Vulcan』の導入で、決済成功率が最大10%向上したとされています。ここから仕組みと数字を1つずつ出典付きで見ていきます。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今日は6つの流れでお伝えします。Vulcanの仕組みから導入効果の数字、導入企業まで、正確に数字を引用しながら整理します。誇張せず、確認できなかったことは正直にお伝えします。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インド初の決済特化AI基盤モデルという打ち出し方、決済成功率8〜10%向上・不正検知最大5倍という具体的な数字があります。複数の媒体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Razorpayという企業の前提を確認します。インドの企業向けにオンライン決済インフラを提供する決済大手企業で、銀行振込・カード決済・UPIなど多様な決済手段に対応しています。本編は製品紹介であり、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本題のキーワードを確認します。AI基盤モデルは大量のデータで事前学習された汎用的なAIモデル、Transformerは多くの現代AIモデルで使われる仕組み、UPIはインドで広く使われている即時決済システムです。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学習データの規模を確認します。Vulcanは40億件超の決済データ、約3兆件のデータポイントで学習されたとされています。次に、意思決定の仕組みを確認します。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1決済あたりのシグナル数です。Vulcanは1決済あたり約3,000のシグナルを用いて、決済の可否や不正の可能性を判断する仕組みとされています。次に、Vulcanの概要を表で確認します。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Vulcanの概要を一覧にしました。発表日は2026年8月18日、Razorpay・NVIDIA・AWSの共同開発による決済特化のTransformerベースAI基盤モデルです。次に、実際の仕組みを確認します。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Vulcanの仕組みを確認します。決済処理の失敗・不正・取引ルーティング・チェックアウト時の摩擦に対応する設計とされ、1決済あたり約3,000のシグナルを分析して決済の可否や不正リスクを判断します。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決済判断の流れを図にしました。決済リクエストが発生すると、Vulcanが約3,000のシグナルを分析し、最適なルーティング・承認判断を行う仕組みとされています。次に、実際の成果指標を確認します。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決済成功率の向上です。Vulcan導入後、決済成功率が8〜10%向上したとされています。次に、不正検知の成果を確認します。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不正検知の成果です。アラート件数を増やさずに、不正・係争取引の検知件数が最大5倍に増加したとされています。次に、チェックアウト時の成果を確認します。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チェックアウト体験の改善です。Razorpay Magic Checkoutでは、希望するUPIアプリが表示されるショッパーが40%増加し、月間1〜2万件の追加購入完了につながっているとされています。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3つの成果指標をまとめました。決済成功率8〜10%向上、不正検知最大5倍、希望UPIアプリの表示率40%増という内容です。次に、実際の導入企業を確認します。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導入企業を確認します。Blinkit・Bachatt・redBus等が、既にVulcanの導入効果を確認しているとされています。次に、開発の経緯を整理します。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Vulcan開発から発表までの流れを3ステップで整理しました。Razorpay・NVIDIA・AWSによる共同開発、大規模データでの学習を経て、2026年8月18日に発表されました。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モデルの詳細な構造について正直にお伝えします。Transformerベース・約3,000のシグナルという概要は報じられていますが、具体的なモデル規模やパラメータ数は、本調査の範囲では確認できていません。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対象範囲についても正直にお伝えします。対象国や対象決済手段の詳細な範囲は、本調査の範囲では確認できていません。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規模を示す数字と、導入後の成果を示す数字を整理しました。左側はモデルが学習した入力データの規模、右側は導入後に確認されている効果の数字であり、両者は別の観点の数字として混同しないよう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指標の第三者検証状況について正直にお伝えします。決済成功率や不正検知の数字はRazorpay側の発表に基づくもので、独立した第三者機関による検証結果であるか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見出しの印象と実際に確認できている内容にはギャップが生まれがちです。確認できているのはRazorpay側発表による成果指標のみであり、第三者検証状況や対象範囲など未確認の項目もあります。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競合他社との比較についても正直にお伝えします。他社との性能比較や業界内での位置づけについての客観的な評価は、本調査の範囲では確認できていません。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このニュースが読者にとって意味することをまとめました。AI業界の動向を追う立場、決済・EC事業を検討する立場、インド市場に関心がある立場、それぞれで意識したい視点です。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成果指標はRazorpay側発表による数字であり、独立検証の有無を確認したうえで判断することが望ましいです。本成果物は特定企業・製品への乗り換え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技術パートナー・開発体制をまとめました。Razorpay・NVIDIA・AWSの3社共同開発とされていますが、NVIDIA・AWSそれぞれの具体的な役割の詳細までは非公表です。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本編で使った主な出典を一覧にしました。IANS・IBTimes India・Inc42等、複数の独立した媒体が発表内容・成果指標を一致させて報じていることを確認しています。詳細はresearch.mdをご確認ください。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azorpayが発表した決済特化AI基盤モデル『Vulcan』について、決済成功率8〜10%向上・不正検知最大5倍という成果指標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まさかの決済成功率10%アップ。</a:t>
            </a:r>
          </a:p>
          <a:p>
            <a:pPr algn="l">
              <a:lnSpc>
                <a:spcPct val="115000"/>
              </a:lnSpc>
            </a:pPr>
            <a:r>
              <a:rPr sz="4200" b="1">
                <a:solidFill>
                  <a:srgbClr val="FFFFFF"/>
                </a:solidFill>
                <a:latin typeface="Yu Gothic"/>
              </a:rPr>
              <a:t>インド発、決済特化AIモデル</a:t>
            </a:r>
          </a:p>
          <a:p>
            <a:pPr algn="l">
              <a:lnSpc>
                <a:spcPct val="115000"/>
              </a:lnSpc>
            </a:pPr>
            <a:r>
              <a:rPr sz="4200" b="1">
                <a:solidFill>
                  <a:srgbClr val="FFFFFF"/>
                </a:solidFill>
                <a:latin typeface="Yu Gothic"/>
              </a:rPr>
              <a:t>「Vulcan」が本気すぎる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2026年8月18日発表――NVIDIA・AWSと共同開発した中身を出典付きで暴く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IANS・IBTimes India・Inc42・Telangana Today・CXOToday(2026年8月18日)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決済成功率 最大10%アップ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NVIDIA・AWSと共同開発したAI基盤モデル「Vulcan」の導入効果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Inc42・Indian Startup Times(2026-08-18)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Razorpayとは・基礎知識</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「Vulcan」の仕組みを深掘りする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導入で出ている成果指標を確認する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導入企業・開発体制を確認する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『インド初の決済特化AI基盤モデル』という際立った打ち出し方である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決済成功率8〜10%向上・不正検知最大5倍という具体的な数字が示されている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複数の独立した媒体(IANS・Inc42等)が内容を一致させて報じている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IANS・Inc42・Telangana Today(2026-08-18)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Razorpayとは(初心者向け)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Razorpayは、インドの企業向けにオンライン決済インフラを提供する決済大手企業である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銀行振込・カード決済・UPI(即時決済システム)など多様な決済手段に対応している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本編ではRazorpayという特定企業の新製品発表の事実を中立的に紹介する(利用を推奨する内容ではない)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用語解説:AI基盤モデル・Transformer・UPIとは(初心者向け)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『AI基盤モデル』とは、大量のデータで事前学習された汎用的なAIモデルの総称である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『Transformer』とは、多くの現代のAIモデルで使われる基本的な仕組み(アーキテクチャ)の名称である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『UPI』とは、インドで広く使われている即時決済システムの名称である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学習データの規模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決済データ40億件超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約3兆件のデータポイントでVulcanを学習させたという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IANS・Inc42(2026-08-18)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1決済あたりのシグナル数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約3,000シグナル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Transformerベースのモデルが1決済あたり約3,000のシグナルを用いて意思決定する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IANS・Harro・Inc42(2026-08-18)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「Vulcan」の概要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発表日</a:t>
                      </a:r>
                    </a:p>
                  </a:txBody>
                  <a:tcPr>
                    <a:solidFill>
                      <a:srgbClr val="FFFFFF"/>
                    </a:solidFill>
                  </a:tcPr>
                </a:tc>
                <a:tc>
                  <a:txBody>
                    <a:bodyPr/>
                    <a:lstStyle/>
                    <a:p>
                      <a:pPr>
                        <a:defRPr sz="1200">
                          <a:solidFill>
                            <a:srgbClr val="16202E"/>
                          </a:solidFill>
                          <a:latin typeface="Yu Gothic"/>
                        </a:defRPr>
                      </a:pPr>
                      <a:r>
                        <a:t>2026年8月18日</a:t>
                      </a:r>
                    </a:p>
                  </a:txBody>
                  <a:tcPr>
                    <a:solidFill>
                      <a:srgbClr val="FFFFFF"/>
                    </a:solidFill>
                  </a:tcPr>
                </a:tc>
              </a:tr>
              <a:tr h="502920">
                <a:tc>
                  <a:txBody>
                    <a:bodyPr/>
                    <a:lstStyle/>
                    <a:p>
                      <a:pPr>
                        <a:defRPr sz="1200">
                          <a:solidFill>
                            <a:srgbClr val="16202E"/>
                          </a:solidFill>
                          <a:latin typeface="Yu Gothic"/>
                        </a:defRPr>
                      </a:pPr>
                      <a:r>
                        <a:t>開発体制</a:t>
                      </a:r>
                    </a:p>
                  </a:txBody>
                  <a:tcPr>
                    <a:solidFill>
                      <a:srgbClr val="F2F6FA"/>
                    </a:solidFill>
                  </a:tcPr>
                </a:tc>
                <a:tc>
                  <a:txBody>
                    <a:bodyPr/>
                    <a:lstStyle/>
                    <a:p>
                      <a:pPr>
                        <a:defRPr sz="1200">
                          <a:solidFill>
                            <a:srgbClr val="16202E"/>
                          </a:solidFill>
                          <a:latin typeface="Yu Gothic"/>
                        </a:defRPr>
                      </a:pPr>
                      <a:r>
                        <a:t>Razorpay×NVIDIA×AWSの共同開発</a:t>
                      </a:r>
                    </a:p>
                  </a:txBody>
                  <a:tcPr>
                    <a:solidFill>
                      <a:srgbClr val="F2F6FA"/>
                    </a:solidFill>
                  </a:tcPr>
                </a:tc>
              </a:tr>
              <a:tr h="502920">
                <a:tc>
                  <a:txBody>
                    <a:bodyPr/>
                    <a:lstStyle/>
                    <a:p>
                      <a:pPr>
                        <a:defRPr sz="1200">
                          <a:solidFill>
                            <a:srgbClr val="16202E"/>
                          </a:solidFill>
                          <a:latin typeface="Yu Gothic"/>
                        </a:defRPr>
                      </a:pPr>
                      <a:r>
                        <a:t>モデルの種類</a:t>
                      </a:r>
                    </a:p>
                  </a:txBody>
                  <a:tcPr>
                    <a:solidFill>
                      <a:srgbClr val="FFFFFF"/>
                    </a:solidFill>
                  </a:tcPr>
                </a:tc>
                <a:tc>
                  <a:txBody>
                    <a:bodyPr/>
                    <a:lstStyle/>
                    <a:p>
                      <a:pPr>
                        <a:defRPr sz="1200">
                          <a:solidFill>
                            <a:srgbClr val="16202E"/>
                          </a:solidFill>
                          <a:latin typeface="Yu Gothic"/>
                        </a:defRPr>
                      </a:pPr>
                      <a:r>
                        <a:t>決済特化のTransformerベースAI基盤モデル</a:t>
                      </a:r>
                    </a:p>
                  </a:txBody>
                  <a:tcPr>
                    <a:solidFill>
                      <a:srgbClr val="FFFFFF"/>
                    </a:solidFill>
                  </a:tcPr>
                </a:tc>
              </a:tr>
              <a:tr h="502920">
                <a:tc>
                  <a:txBody>
                    <a:bodyPr/>
                    <a:lstStyle/>
                    <a:p>
                      <a:pPr>
                        <a:defRPr sz="1200">
                          <a:solidFill>
                            <a:srgbClr val="16202E"/>
                          </a:solidFill>
                          <a:latin typeface="Yu Gothic"/>
                        </a:defRPr>
                      </a:pPr>
                      <a:r>
                        <a:t>学習データ</a:t>
                      </a:r>
                    </a:p>
                  </a:txBody>
                  <a:tcPr>
                    <a:solidFill>
                      <a:srgbClr val="F2F6FA"/>
                    </a:solidFill>
                  </a:tcPr>
                </a:tc>
                <a:tc>
                  <a:txBody>
                    <a:bodyPr/>
                    <a:lstStyle/>
                    <a:p>
                      <a:pPr>
                        <a:defRPr sz="1200">
                          <a:solidFill>
                            <a:srgbClr val="16202E"/>
                          </a:solidFill>
                          <a:latin typeface="Yu Gothic"/>
                        </a:defRPr>
                      </a:pPr>
                      <a:r>
                        <a:t>決済データ40億件超・約3兆データポイント</a:t>
                      </a:r>
                    </a:p>
                  </a:txBody>
                  <a:tcPr>
                    <a:solidFill>
                      <a:srgbClr val="F2F6FA"/>
                    </a:solidFill>
                  </a:tcPr>
                </a:tc>
              </a:tr>
              <a:tr h="502920">
                <a:tc>
                  <a:txBody>
                    <a:bodyPr/>
                    <a:lstStyle/>
                    <a:p>
                      <a:pPr>
                        <a:defRPr sz="1200">
                          <a:solidFill>
                            <a:srgbClr val="16202E"/>
                          </a:solidFill>
                          <a:latin typeface="Yu Gothic"/>
                        </a:defRPr>
                      </a:pPr>
                      <a:r>
                        <a:t>位置づけ</a:t>
                      </a:r>
                    </a:p>
                  </a:txBody>
                  <a:tcPr>
                    <a:solidFill>
                      <a:srgbClr val="FFFFFF"/>
                    </a:solidFill>
                  </a:tcPr>
                </a:tc>
                <a:tc>
                  <a:txBody>
                    <a:bodyPr/>
                    <a:lstStyle/>
                    <a:p>
                      <a:pPr>
                        <a:defRPr sz="1200">
                          <a:solidFill>
                            <a:srgbClr val="16202E"/>
                          </a:solidFill>
                          <a:latin typeface="Yu Gothic"/>
                        </a:defRPr>
                      </a:pPr>
                      <a:r>
                        <a:t>インド初の決済特化AI基盤モデルとされる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IANS・IBTimes India・Inc42(2026-08-18)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「Vulcan」の仕組み</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実際にどう機能するかを確認します。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決済処理の失敗・不正・取引ルーティング・チェックアウト時の摩擦に対応する設計とされている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1決済あたり約3,000のシグナルを分析し、決済の可否や不正リスクを判断する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インドの多様な決済エコシステム(UPI等)に対応した設計とされている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IANS・Inc42(2026-08-18)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決済判断の流れ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決済リクエスト発生</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ユーザーが決済を試みる</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Vulcanが約3,000シグナルを分析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決済の可否・不正リスクを判断</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最適なルーティング・承認判断</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決済成功率・不正検知の向上につなげる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決済処理のリアルタイム判断にAIが組み込まれる仕組み</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IANS・Inc42(2026-08-18)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決済成功率の向上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8〜10%向上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Vulcan導入後の決済成功率の向上幅(Razorpay側発表による)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Inc42・Indian Startup Times(2026-08-18)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不正・係争取引の検知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最大5倍に増加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アラート件数を増やさずに、不正・係争取引の検知件数が増加したという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Inc42(2026-08-18)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チェックアウト体験の改善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UPIアプリ表示40%増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Razorpay Magic Checkoutで希望するUPIアプリが表示されるショッパーが40%増加、月間1〜2万件の追加購入完了につながっているという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Inc42(2026-08-18)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3つの成果指標まとめ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8〜10%</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決済成功率の向上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Vulcan導入後の決済成功率の向上幅</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最大5倍</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不正・係争取引の検知件数増加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アラート件数を増やさずに検知件数が増加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40%増</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希望UPIアプリの表示率向上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月間1〜2万件の追加購入完了につながっているという</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導入企業</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実際にどの企業が導入効果を確認しているかを確認します。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クイックコマース企業のBlinkitが導入効果を確認しているという</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Bachattが導入効果を確認しているという</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バス予約サービスのredBusが導入効果を確認しているという</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Inc42(2026-08-18)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Vulcan開発から発表までの流れ(3ステップ)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共同開発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Razorpay・NVIDIA・AWSが決済特化AIモデルを共同開発</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大規模データで学習</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決済データ40億件超・約3兆データポイントで学習</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2026年8月18日に発表</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インド初の決済特化AI基盤モデルとして発表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モデルの詳細な構造は不明(正直な開示)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モデルの詳細なアーキテクチャ・パラメータ数は、本調査の範囲では確認できていない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『Transformerベース』『約3,000のシグナル』という概要は報じられているが、具体的なモデル規模は不明である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本成果物では、確認できた機能概要のみを紹介し、技術的な詳細を推測で補わない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対象範囲は不明(正直な開示)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対象国(インド国内限定か、Razorpayが展開する他地域にも適用されるか)は、本調査の範囲では確認できていない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対象決済手段の詳細な範囲も、本調査の範囲では確認できていない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本成果物では、確認できた発表内容のみを紹介し、対象範囲を推測で補わない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学習規模の数字 / 導入後の成果指標</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学習規模を示す数字</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決済データ40億件超</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約3兆データポイント</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1決済あたり約3,000シグナル</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導入後の成果を示す数字</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決済成功率8〜10%向上</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不正・係争取引の検知最大5倍</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希望UPIアプリ表示率40%増</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成果指標の第三者検証状況は不明(正直な開示)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『決済成功率8〜10%向上』『不正検知最大5倍』等の成果指標は、Razorpay側の発表に基づく数字である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独立した第三者機関による検証結果であるかは、本調査の範囲では確認できていない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本成果物では、確認できた発表内容のみを紹介し、第三者検証済みであるかのように書かない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決済に関する問題はすべて解決したはず</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成果指標は独立機関が検証済みのはず</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既に世界中で導入されているはず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確認できているのはRazorpay側発表による成果指標のみ</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第三者機関による検証状況は本調査の範囲では未確認</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対象国・対象決済手段の範囲は未確認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競合他社との比較は不明(正直な開示)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決済特化AIモデルを持つ他社(競合企業)との性能比較は、本調査の範囲では確認できていない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Vulcanが業界内でどの程度先行しているかについての客観的な評価は、本調査の範囲では確認できていない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本成果物では、確認できたRazorpay側の発表内容のみを紹介し、優劣を断定しない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決済インフラという実生活に近い領域にAI基盤モデルが組み込まれる動きとして継続的に確認する視点が役立つ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決済・EC事業を検討する立場として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決済成功率や不正検知の改善という訴求点は事実として押さえつつ、自社への適用可否は独自に検証する必要がある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インド市場に関心がある立場として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『インド初』という打ち出し方や、AI×決済インフラという成長領域の動向として参考になる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決済成功率・不正検知等の成果指標は、Razorpay側発表による数字であり、独立検証の有無を確認したうえで判断することが望ましい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対象国・対象決済手段の範囲は本調査の範囲では未確認であり、自社への適用可否は別途確認が必要である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本成果物は特定企業(Razorpay)・製品への乗り換えを推奨する内容ではない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製品の詳細を確認する場合は、本成果物の紹介にとどまらず、自身で最新の公式情報を確認することが望ましい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技術パートナー・開発体制</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1B3A5C"/>
                    </a:solidFill>
                  </a:tcPr>
                </a:tc>
                <a:tc>
                  <a:txBody>
                    <a:bodyPr/>
                    <a:lstStyle/>
                    <a:p>
                      <a:pPr>
                        <a:defRPr sz="1300" b="1">
                          <a:solidFill>
                            <a:srgbClr val="FFFFFF"/>
                          </a:solidFill>
                          <a:latin typeface="Yu Gothic"/>
                        </a:defRPr>
                      </a:pPr>
                      <a:r>
                        <a:t>役割</a:t>
                      </a:r>
                    </a:p>
                  </a:txBody>
                  <a:tcPr>
                    <a:solidFill>
                      <a:srgbClr val="1B3A5C"/>
                    </a:solidFill>
                  </a:tcPr>
                </a:tc>
              </a:tr>
              <a:tr h="502920">
                <a:tc>
                  <a:txBody>
                    <a:bodyPr/>
                    <a:lstStyle/>
                    <a:p>
                      <a:pPr>
                        <a:defRPr sz="1200">
                          <a:solidFill>
                            <a:srgbClr val="16202E"/>
                          </a:solidFill>
                          <a:latin typeface="Yu Gothic"/>
                        </a:defRPr>
                      </a:pPr>
                      <a:r>
                        <a:t>Razorpay</a:t>
                      </a:r>
                    </a:p>
                  </a:txBody>
                  <a:tcPr>
                    <a:solidFill>
                      <a:srgbClr val="FFFFFF"/>
                    </a:solidFill>
                  </a:tcPr>
                </a:tc>
                <a:tc>
                  <a:txBody>
                    <a:bodyPr/>
                    <a:lstStyle/>
                    <a:p>
                      <a:pPr>
                        <a:defRPr sz="1200">
                          <a:solidFill>
                            <a:srgbClr val="16202E"/>
                          </a:solidFill>
                          <a:latin typeface="Yu Gothic"/>
                        </a:defRPr>
                      </a:pPr>
                      <a:r>
                        <a:t>決済インフラ提供・モデルの企画開発主体</a:t>
                      </a:r>
                    </a:p>
                  </a:txBody>
                  <a:tcPr>
                    <a:solidFill>
                      <a:srgbClr val="FFFFFF"/>
                    </a:solidFill>
                  </a:tcPr>
                </a:tc>
              </a:tr>
              <a:tr h="502920">
                <a:tc>
                  <a:txBody>
                    <a:bodyPr/>
                    <a:lstStyle/>
                    <a:p>
                      <a:pPr>
                        <a:defRPr sz="1200">
                          <a:solidFill>
                            <a:srgbClr val="16202E"/>
                          </a:solidFill>
                          <a:latin typeface="Yu Gothic"/>
                        </a:defRPr>
                      </a:pPr>
                      <a:r>
                        <a:t>NVIDIA</a:t>
                      </a:r>
                    </a:p>
                  </a:txBody>
                  <a:tcPr>
                    <a:solidFill>
                      <a:srgbClr val="F2F6FA"/>
                    </a:solidFill>
                  </a:tcPr>
                </a:tc>
                <a:tc>
                  <a:txBody>
                    <a:bodyPr/>
                    <a:lstStyle/>
                    <a:p>
                      <a:pPr>
                        <a:defRPr sz="1200">
                          <a:solidFill>
                            <a:srgbClr val="16202E"/>
                          </a:solidFill>
                          <a:latin typeface="Yu Gothic"/>
                        </a:defRPr>
                      </a:pPr>
                      <a:r>
                        <a:t>共同開発パートナー(具体的な役割の詳細は非公表)</a:t>
                      </a:r>
                    </a:p>
                  </a:txBody>
                  <a:tcPr>
                    <a:solidFill>
                      <a:srgbClr val="F2F6FA"/>
                    </a:solidFill>
                  </a:tcPr>
                </a:tc>
              </a:tr>
              <a:tr h="502920">
                <a:tc>
                  <a:txBody>
                    <a:bodyPr/>
                    <a:lstStyle/>
                    <a:p>
                      <a:pPr>
                        <a:defRPr sz="1200">
                          <a:solidFill>
                            <a:srgbClr val="16202E"/>
                          </a:solidFill>
                          <a:latin typeface="Yu Gothic"/>
                        </a:defRPr>
                      </a:pPr>
                      <a:r>
                        <a:t>AWS</a:t>
                      </a:r>
                    </a:p>
                  </a:txBody>
                  <a:tcPr>
                    <a:solidFill>
                      <a:srgbClr val="FFFFFF"/>
                    </a:solidFill>
                  </a:tcPr>
                </a:tc>
                <a:tc>
                  <a:txBody>
                    <a:bodyPr/>
                    <a:lstStyle/>
                    <a:p>
                      <a:pPr>
                        <a:defRPr sz="1200">
                          <a:solidFill>
                            <a:srgbClr val="16202E"/>
                          </a:solidFill>
                          <a:latin typeface="Yu Gothic"/>
                        </a:defRPr>
                      </a:pPr>
                      <a:r>
                        <a:t>共同開発パートナー(具体的な役割の詳細は非公表)</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IANS・Free Press Journal(2026-08-18)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発表日・開発体制(Razorpay×NVIDIA×AWS)</a:t>
                      </a:r>
                    </a:p>
                  </a:txBody>
                  <a:tcPr>
                    <a:solidFill>
                      <a:srgbClr val="FFFFFF"/>
                    </a:solidFill>
                  </a:tcPr>
                </a:tc>
                <a:tc>
                  <a:txBody>
                    <a:bodyPr/>
                    <a:lstStyle/>
                    <a:p>
                      <a:pPr>
                        <a:defRPr sz="1200">
                          <a:solidFill>
                            <a:srgbClr val="16202E"/>
                          </a:solidFill>
                          <a:latin typeface="Yu Gothic"/>
                        </a:defRPr>
                      </a:pPr>
                      <a:r>
                        <a:t>複数媒体で確認済み</a:t>
                      </a:r>
                    </a:p>
                  </a:txBody>
                  <a:tcPr>
                    <a:solidFill>
                      <a:srgbClr val="FFFFFF"/>
                    </a:solidFill>
                  </a:tcPr>
                </a:tc>
              </a:tr>
              <a:tr h="502920">
                <a:tc>
                  <a:txBody>
                    <a:bodyPr/>
                    <a:lstStyle/>
                    <a:p>
                      <a:pPr>
                        <a:defRPr sz="1200">
                          <a:solidFill>
                            <a:srgbClr val="16202E"/>
                          </a:solidFill>
                          <a:latin typeface="Yu Gothic"/>
                        </a:defRPr>
                      </a:pPr>
                      <a:r>
                        <a:t>学習データ規模・成果指標の数字</a:t>
                      </a:r>
                    </a:p>
                  </a:txBody>
                  <a:tcPr>
                    <a:solidFill>
                      <a:srgbClr val="F2F6FA"/>
                    </a:solidFill>
                  </a:tcPr>
                </a:tc>
                <a:tc>
                  <a:txBody>
                    <a:bodyPr/>
                    <a:lstStyle/>
                    <a:p>
                      <a:pPr>
                        <a:defRPr sz="1200">
                          <a:solidFill>
                            <a:srgbClr val="16202E"/>
                          </a:solidFill>
                          <a:latin typeface="Yu Gothic"/>
                        </a:defRPr>
                      </a:pPr>
                      <a:r>
                        <a:t>Razorpay側発表として複数媒体で確認済み</a:t>
                      </a:r>
                    </a:p>
                  </a:txBody>
                  <a:tcPr>
                    <a:solidFill>
                      <a:srgbClr val="F2F6FA"/>
                    </a:solidFill>
                  </a:tcPr>
                </a:tc>
              </a:tr>
              <a:tr h="502920">
                <a:tc>
                  <a:txBody>
                    <a:bodyPr/>
                    <a:lstStyle/>
                    <a:p>
                      <a:pPr>
                        <a:defRPr sz="1200">
                          <a:solidFill>
                            <a:srgbClr val="16202E"/>
                          </a:solidFill>
                          <a:latin typeface="Yu Gothic"/>
                        </a:defRPr>
                      </a:pPr>
                      <a:r>
                        <a:t>モデルの詳細なアーキテクチャ・パラメータ数</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対象国・対象決済手段の範囲</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r h="502920">
                <a:tc>
                  <a:txBody>
                    <a:bodyPr/>
                    <a:lstStyle/>
                    <a:p>
                      <a:pPr>
                        <a:defRPr sz="1200">
                          <a:solidFill>
                            <a:srgbClr val="16202E"/>
                          </a:solidFill>
                          <a:latin typeface="Yu Gothic"/>
                        </a:defRPr>
                      </a:pPr>
                      <a:r>
                        <a:t>成果指標の第三者検証状況・競合比較</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IANS</a:t>
                      </a:r>
                    </a:p>
                  </a:txBody>
                  <a:tcPr>
                    <a:solidFill>
                      <a:srgbClr val="FFFFFF"/>
                    </a:solidFill>
                  </a:tcPr>
                </a:tc>
                <a:tc>
                  <a:txBody>
                    <a:bodyPr/>
                    <a:lstStyle/>
                    <a:p>
                      <a:pPr>
                        <a:defRPr sz="1200">
                          <a:solidFill>
                            <a:srgbClr val="16202E"/>
                          </a:solidFill>
                          <a:latin typeface="Yu Gothic"/>
                        </a:defRPr>
                      </a:pPr>
                      <a:r>
                        <a:t>発表内容の一次報道(2026-08-18)</a:t>
                      </a:r>
                    </a:p>
                  </a:txBody>
                  <a:tcPr>
                    <a:solidFill>
                      <a:srgbClr val="FFFFFF"/>
                    </a:solidFill>
                  </a:tcPr>
                </a:tc>
              </a:tr>
              <a:tr h="502920">
                <a:tc>
                  <a:txBody>
                    <a:bodyPr/>
                    <a:lstStyle/>
                    <a:p>
                      <a:pPr>
                        <a:defRPr sz="1200">
                          <a:solidFill>
                            <a:srgbClr val="16202E"/>
                          </a:solidFill>
                          <a:latin typeface="Yu Gothic"/>
                        </a:defRPr>
                      </a:pPr>
                      <a:r>
                        <a:t>IBTimes India・Free Press Journal</a:t>
                      </a:r>
                    </a:p>
                  </a:txBody>
                  <a:tcPr>
                    <a:solidFill>
                      <a:srgbClr val="F2F6FA"/>
                    </a:solidFill>
                  </a:tcPr>
                </a:tc>
                <a:tc>
                  <a:txBody>
                    <a:bodyPr/>
                    <a:lstStyle/>
                    <a:p>
                      <a:pPr>
                        <a:defRPr sz="1200">
                          <a:solidFill>
                            <a:srgbClr val="16202E"/>
                          </a:solidFill>
                          <a:latin typeface="Yu Gothic"/>
                        </a:defRPr>
                      </a:pPr>
                      <a:r>
                        <a:t>発表内容・開発体制の報道(2026-08-18)</a:t>
                      </a:r>
                    </a:p>
                  </a:txBody>
                  <a:tcPr>
                    <a:solidFill>
                      <a:srgbClr val="F2F6FA"/>
                    </a:solidFill>
                  </a:tcPr>
                </a:tc>
              </a:tr>
              <a:tr h="502920">
                <a:tc>
                  <a:txBody>
                    <a:bodyPr/>
                    <a:lstStyle/>
                    <a:p>
                      <a:pPr>
                        <a:defRPr sz="1200">
                          <a:solidFill>
                            <a:srgbClr val="16202E"/>
                          </a:solidFill>
                          <a:latin typeface="Yu Gothic"/>
                        </a:defRPr>
                      </a:pPr>
                      <a:r>
                        <a:t>Telangana Today・CXOToday・APAC News Network</a:t>
                      </a:r>
                    </a:p>
                  </a:txBody>
                  <a:tcPr>
                    <a:solidFill>
                      <a:srgbClr val="FFFFFF"/>
                    </a:solidFill>
                  </a:tcPr>
                </a:tc>
                <a:tc>
                  <a:txBody>
                    <a:bodyPr/>
                    <a:lstStyle/>
                    <a:p>
                      <a:pPr>
                        <a:defRPr sz="1200">
                          <a:solidFill>
                            <a:srgbClr val="16202E"/>
                          </a:solidFill>
                          <a:latin typeface="Yu Gothic"/>
                        </a:defRPr>
                      </a:pPr>
                      <a:r>
                        <a:t>発表内容の報道(2026-08-18)</a:t>
                      </a:r>
                    </a:p>
                  </a:txBody>
                  <a:tcPr>
                    <a:solidFill>
                      <a:srgbClr val="FFFFFF"/>
                    </a:solidFill>
                  </a:tcPr>
                </a:tc>
              </a:tr>
              <a:tr h="502920">
                <a:tc>
                  <a:txBody>
                    <a:bodyPr/>
                    <a:lstStyle/>
                    <a:p>
                      <a:pPr>
                        <a:defRPr sz="1200">
                          <a:solidFill>
                            <a:srgbClr val="16202E"/>
                          </a:solidFill>
                          <a:latin typeface="Yu Gothic"/>
                        </a:defRPr>
                      </a:pPr>
                      <a:r>
                        <a:t>Indian Startup Times・Inc42</a:t>
                      </a:r>
                    </a:p>
                  </a:txBody>
                  <a:tcPr>
                    <a:solidFill>
                      <a:srgbClr val="F2F6FA"/>
                    </a:solidFill>
                  </a:tcPr>
                </a:tc>
                <a:tc>
                  <a:txBody>
                    <a:bodyPr/>
                    <a:lstStyle/>
                    <a:p>
                      <a:pPr>
                        <a:defRPr sz="1200">
                          <a:solidFill>
                            <a:srgbClr val="16202E"/>
                          </a:solidFill>
                          <a:latin typeface="Yu Gothic"/>
                        </a:defRPr>
                      </a:pPr>
                      <a:r>
                        <a:t>成果指標の詳細報道(2026-08-18)</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IANS・IBTimes India・Inc42・Telangana Today・CXOToday(2026-08-18)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決済成功率10%アップ。事実だけを、出典付きで。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Razorpayが決済特化AI基盤モデル「Vulcan」を発表し、決済成功率8〜10%向上・不正検知最大5倍という成果が報じられました。仕組みと数字、確認できなかったことまで出典付きで整理してお届けしました。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