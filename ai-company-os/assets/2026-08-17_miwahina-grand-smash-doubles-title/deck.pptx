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卓球のWTTヨーロッパ・スマッシュ、女子ダブルス決勝が現地時間で行われ、日本時間2026年8月16日、張本美和選手・早田ひな選手組が、杜凱琹・呉詠琳組(香港)に3-1で勝利し、優勝しました。この優勝は、ペア『みわひな』にとってグランドスマッシュ2勝目です。今日はこの結果を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張本美和選手・早田ひな選手組、通称『みわひな』が、杜凱琹・呉詠琳組(香港)に3-1で勝利しました。これはみわひな組にとってグランドスマッシュ2勝目です。ここから数字を1つずつ出典付きで見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今日は6つの流れでお伝えします。決勝の経過の数字から、『2勝目』という表現の正確な扱い、現地の賛辞まで、出典を引用しながら整理します。誇張せず、確認できなかったことは正直にお伝えします。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試合翌日という新しさに加えて、『みわひな』というペアがグランドスマッシュ2勝目という実績を積み上げたことが見どころです。複数の独立したメディアが数値を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本題に入る前に、2人の選手の前提を確認します。張本美和選手は木下グループ、早田ひな選手は日本生命に所属する卓球選手です。2人が組む女子ダブルスペアは『みわひな』という愛称で呼ばれています。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題のキーワードを確認します。WTTは卓球の国際大会シリーズを統括する組織で、『グランドスマッシュ』はその中でも最上位に位置づけられる大会シリーズです。今回の『WTTヨーロッパ・スマッシュ』はスウェーデン・マルメで開催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決勝の流れです。第1セットはみわひなが11-6で先取しましたが、第2セットは9-11で香港ペアに奪い返されました。第3セットは13-11、第4セットは11-9と、いずれも僅差で連取し、3-1で優勝を決めました。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セットスコアを一覧にしました。11-6、9-11、13-11、11-9。第2セットを除く3セットをみわひな組が制し、3-1で優勝しました。これらの数字は複数のメディアが一致させて報じています。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最終セットカウントです。みわひな組が3-1で杜凱琹・呉詠琳組(香港)に勝利しました。次のスライドで、4セットそれぞれの内訳を確認します。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4セットの内訳です。第1セットは11-6で先取しましたが、第2セットは9-11で香港ペアに奪い返されました。第3セットは13-11、第4セットは11-9と、いずれも僅差で連取して優勝を決めています。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優勝は、みわひな組にとってグランドスマッシュ2勝目です。グランドスマッシュはWTTの最上位格付け大会シリーズであり、そこでの2勝目という積み上げの実績になります。次に、この『2勝目』という表現を正確に扱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勝目』という表現を正確に確認します。今回の優勝がグランドスマッシュ2勝目であることは複数メディアで確認できていますが、1勝目がいつ・どの大会でのものかは本調査の範囲では確認できておらず、創作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『みわひな』の関係を図にしました。木下グループ所属の張本美和選手と、日本生命所属の早田ひな選手が組む女子ダブルスペアが、3-1で勝利してグランドスマッシュ2勝目を挙げました。</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みわひな組と杜・呉組を並べて確認します。みわひな組は3-1で勝利し、グランドスマッシュ2勝目を挙げました。杜・呉組は決勝で敗れましたが、第2セットを奪い返すなど接戦を演じました。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地の卓球関係者・メディアからは、こうした賛辞が寄せられています。『金メダルを常に争える』『すでに評価を確立』といった評価は、複数の報道で確認できています。次に、この賛辞の扱い方を正確に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賛辞の扱いについて正確に確認します。『金メダルを常に争える』等の評価は現地の卓球関係者・メディアの評として複数の報道で確認できていますが、具体的な発言者名は特定せず、他種目の結果にも言及しません。</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本編で使った出典を一覧にしました。8媒体が独立してスコア・経緯を一致させて報じています。詳細はresearch.mdをご確認ください。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ここで事実と不明点を分けます。最終スコア・セットごとの経過・『2勝目』という位置づけは複数の情報源で確認できた事実です。1勝目の詳細・他種目の結果は不明であり、明確に分けています。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視聴者にとっての実践的な示唆をまとめました。卓球ファンとして、『みわひな』を追う立場として、情報を発信する立場として、それぞれで意識したい点です。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このニュースが読者にとって何を意味するかを整理します。グランドスマッシュ2勝目という実績は評価の裏付けの一例です。1勝目の詳細・他種目の結果は確認できておらず、推測では述べません。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見出しの印象と実際の内容にはギャップが生まれがちです。1勝目の詳細・他種目の結果は未確認であり、また4セットのうち第2セットは香港ペアに奪われる接戦だったことも正確に伝えます。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確認できていないことを正直にお伝えします。グランドスマッシュ1勝目の大会・日程、今大会の他種目の成績、賛辞の具体的な発言者名は、本リサーチの範囲では確認できていません。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確認できていないことを一覧にしました。数字や詳細を推測で埋めず、正直に不明として扱っています。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本テーマの範囲を確認します。女子ダブルス決勝の結果に焦点を当てており、他種目の成績は確認できていないため扱いません。断定的な言及は避けています。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本テーマの鮮度を数字で確認します。決勝は着手日の前日にあたる2026年8月16日(日本時間)に行われました。2日以内という当社の基準を満たしています。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今回の結果を支えた3つのポイントです。接戦を制した終盤、唯一落とした第2セットからの立て直し、積み上げの実績。いずれも出典どおりの数字で裏付けられています。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最終的なセットカウントを改めて確認します。11-6、9-11、13-11、11-9、3-1での勝利でした。この数字が、今回の優勝の内容の充実ぶりを裏付けています。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複数媒体による確認結果をまとめました。結果・セットスコア・位置づけのいずれも、独立した複数のメディアが一致させて報じている内容です。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誇張を避けるための補足です。数字はすべて出典どおり正確に扱い、1勝目の詳細・他種目の成績は確認できていないため断定しません。現地の賛辞も特定個人の発言としては扱いません。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張本美和選手・早田ひな選手組『みわひな』が、杜凱琹・呉詠琳組(香港)に3-1で勝利し、グランドスマッシュ2勝目を挙げた件をお伝えしました。数字は正確に引用し、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「みわひな」V2。</a:t>
            </a:r>
          </a:p>
          <a:p>
            <a:pPr algn="l">
              <a:lnSpc>
                <a:spcPct val="115000"/>
              </a:lnSpc>
            </a:pPr>
            <a:r>
              <a:rPr sz="4200" b="1">
                <a:solidFill>
                  <a:srgbClr val="FFFFFF"/>
                </a:solidFill>
                <a:latin typeface="Yu Gothic"/>
              </a:rPr>
              <a:t>グランドスマッシュ2勝目――</a:t>
            </a:r>
          </a:p>
          <a:p>
            <a:pPr algn="l">
              <a:lnSpc>
                <a:spcPct val="115000"/>
              </a:lnSpc>
            </a:pPr>
            <a:r>
              <a:rPr sz="4200" b="1">
                <a:solidFill>
                  <a:srgbClr val="FFFFFF"/>
                </a:solidFill>
                <a:latin typeface="Yu Gothic"/>
              </a:rPr>
              <a:t>張本美和・早田ひな組が欧州スマッシュ女子ダブルスを制す</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2026年8月16日(日本時間)、WTTヨーロッパ・スマッシュ(スウェーデン・マルメ)女子ダブルス決勝――出典付きで数字を正確に整理する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時事通信・スポーツ報知(docomoニュース配信)、日刊スポーツ(Yahoo!ニュース配信)、エキサイトニュース、北海道新聞、nippon.com、中日新聞、SPREAD(いずれも2026年8月16日)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3-1でみわひな組が優勝</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張本美和選手・早田ひな選手組(みわひな)が、杜凱琹・呉詠琳組(香港)を破り、グランドスマッシュ2勝目を挙げた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時事通信・スポーツ報知・日刊スポーツ等(2026-08-16)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張本美和選手・早田ひな選手・用語の基礎知識</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決勝の経過とスコアを数字で確認する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『グランドスマッシュ2勝目』の意味を正確に扱う</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現地の賛辞・誇張回避の補足</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確認できなかったこと・出典一覧</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試合翌日(2026年8月17日)という鮮度の高い話題である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『みわひな』というペアが、グランドスマッシュ(WTTの最上位格付け大会シリーズ)で2勝目という積み上げの実績を挙げた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時事通信・スポーツ報知・日刊スポーツなど複数の独立したメディアが同じスコア・経緯で一致して報じている</a:t>
            </a:r>
          </a:p>
        </p:txBody>
      </p:sp>
      <p:sp>
        <p:nvSpPr>
          <p:cNvPr id="13" name="TextBox 12"/>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時事通信・スポーツ報知・日刊スポーツ等(2026-08-16)</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張本美和選手・早田ひな選手とは(初心者向け)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本題に入る前に、選手の前提を確認します。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張本美和選手は、木下グループに所属する卓球選手である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早田ひな選手は、日本生命に所属する卓球選手である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2人が組む女子ダブルスペアは『みわひな』という愛称で呼ばれている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用語解説:グランドスマッシュ・WTTヨーロッパ・スマッシュとは(初心者向け)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本題のキーワードを確認します。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『WTT』は、卓球の国際大会シリーズを統括する組織である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『グランドスマッシュ』は、WTTが主催する大会の中でも最上位に位置づけられる大会シリーズである(詳細な格付け体系は本調査の範囲では確認できていない)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今回の大会『WTTヨーロッパ・スマッシュ』は、スウェーデン・マルメで開催された</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決勝の流れ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決勝カード</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張本美和・早田ひな組(みわひな) vs 杜凱琹・呉詠琳組(香港)</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第1・2セット</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第1セットは11-6でみわひなが先取。第2セットは9-11で香港ペアが奪い返す</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第3・4セット</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第3セットは13-11、第4セットは11-9。いずれも僅差でみわひなが連取</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優勝確定</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3-1でみわひな組が優勝。グランドスマッシュ2勝目となった</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セットスコア一覧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セット</a:t>
                      </a:r>
                    </a:p>
                  </a:txBody>
                  <a:tcPr>
                    <a:solidFill>
                      <a:srgbClr val="1E2761"/>
                    </a:solidFill>
                  </a:tcPr>
                </a:tc>
                <a:tc>
                  <a:txBody>
                    <a:bodyPr/>
                    <a:lstStyle/>
                    <a:p>
                      <a:pPr>
                        <a:defRPr sz="1300" b="1">
                          <a:solidFill>
                            <a:srgbClr val="FFFFFF"/>
                          </a:solidFill>
                          <a:latin typeface="Yu Gothic"/>
                        </a:defRPr>
                      </a:pPr>
                      <a:r>
                        <a:t>スコア</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第1セット</a:t>
                      </a:r>
                    </a:p>
                  </a:txBody>
                  <a:tcPr>
                    <a:solidFill>
                      <a:srgbClr val="FFFFFF"/>
                    </a:solidFill>
                  </a:tcPr>
                </a:tc>
                <a:tc>
                  <a:txBody>
                    <a:bodyPr/>
                    <a:lstStyle/>
                    <a:p>
                      <a:pPr>
                        <a:defRPr sz="1200">
                          <a:solidFill>
                            <a:srgbClr val="1A1A2E"/>
                          </a:solidFill>
                          <a:latin typeface="Yu Gothic"/>
                        </a:defRPr>
                      </a:pPr>
                      <a:r>
                        <a:t>11-6</a:t>
                      </a:r>
                    </a:p>
                  </a:txBody>
                  <a:tcPr>
                    <a:solidFill>
                      <a:srgbClr val="FFFFFF"/>
                    </a:solidFill>
                  </a:tcPr>
                </a:tc>
                <a:tc>
                  <a:txBody>
                    <a:bodyPr/>
                    <a:lstStyle/>
                    <a:p>
                      <a:pPr>
                        <a:defRPr sz="1200">
                          <a:solidFill>
                            <a:srgbClr val="1A1A2E"/>
                          </a:solidFill>
                          <a:latin typeface="Yu Gothic"/>
                        </a:defRPr>
                      </a:pPr>
                      <a:r>
                        <a:t>みわひな組が先取</a:t>
                      </a:r>
                    </a:p>
                  </a:txBody>
                  <a:tcPr>
                    <a:solidFill>
                      <a:srgbClr val="FFFFFF"/>
                    </a:solidFill>
                  </a:tcPr>
                </a:tc>
              </a:tr>
              <a:tr h="502920">
                <a:tc>
                  <a:txBody>
                    <a:bodyPr/>
                    <a:lstStyle/>
                    <a:p>
                      <a:pPr>
                        <a:defRPr sz="1200">
                          <a:solidFill>
                            <a:srgbClr val="1A1A2E"/>
                          </a:solidFill>
                          <a:latin typeface="Yu Gothic"/>
                        </a:defRPr>
                      </a:pPr>
                      <a:r>
                        <a:t>第2セット</a:t>
                      </a:r>
                    </a:p>
                  </a:txBody>
                  <a:tcPr>
                    <a:solidFill>
                      <a:srgbClr val="F3F6FC"/>
                    </a:solidFill>
                  </a:tcPr>
                </a:tc>
                <a:tc>
                  <a:txBody>
                    <a:bodyPr/>
                    <a:lstStyle/>
                    <a:p>
                      <a:pPr>
                        <a:defRPr sz="1200">
                          <a:solidFill>
                            <a:srgbClr val="1A1A2E"/>
                          </a:solidFill>
                          <a:latin typeface="Yu Gothic"/>
                        </a:defRPr>
                      </a:pPr>
                      <a:r>
                        <a:t>9-11</a:t>
                      </a:r>
                    </a:p>
                  </a:txBody>
                  <a:tcPr>
                    <a:solidFill>
                      <a:srgbClr val="F3F6FC"/>
                    </a:solidFill>
                  </a:tcPr>
                </a:tc>
                <a:tc>
                  <a:txBody>
                    <a:bodyPr/>
                    <a:lstStyle/>
                    <a:p>
                      <a:pPr>
                        <a:defRPr sz="1200">
                          <a:solidFill>
                            <a:srgbClr val="1A1A2E"/>
                          </a:solidFill>
                          <a:latin typeface="Yu Gothic"/>
                        </a:defRPr>
                      </a:pPr>
                      <a:r>
                        <a:t>香港ペアが奪い返す</a:t>
                      </a:r>
                    </a:p>
                  </a:txBody>
                  <a:tcPr>
                    <a:solidFill>
                      <a:srgbClr val="F3F6FC"/>
                    </a:solidFill>
                  </a:tcPr>
                </a:tc>
              </a:tr>
              <a:tr h="502920">
                <a:tc>
                  <a:txBody>
                    <a:bodyPr/>
                    <a:lstStyle/>
                    <a:p>
                      <a:pPr>
                        <a:defRPr sz="1200">
                          <a:solidFill>
                            <a:srgbClr val="1A1A2E"/>
                          </a:solidFill>
                          <a:latin typeface="Yu Gothic"/>
                        </a:defRPr>
                      </a:pPr>
                      <a:r>
                        <a:t>第3セット</a:t>
                      </a:r>
                    </a:p>
                  </a:txBody>
                  <a:tcPr>
                    <a:solidFill>
                      <a:srgbClr val="FFFFFF"/>
                    </a:solidFill>
                  </a:tcPr>
                </a:tc>
                <a:tc>
                  <a:txBody>
                    <a:bodyPr/>
                    <a:lstStyle/>
                    <a:p>
                      <a:pPr>
                        <a:defRPr sz="1200">
                          <a:solidFill>
                            <a:srgbClr val="1A1A2E"/>
                          </a:solidFill>
                          <a:latin typeface="Yu Gothic"/>
                        </a:defRPr>
                      </a:pPr>
                      <a:r>
                        <a:t>13-11</a:t>
                      </a:r>
                    </a:p>
                  </a:txBody>
                  <a:tcPr>
                    <a:solidFill>
                      <a:srgbClr val="FFFFFF"/>
                    </a:solidFill>
                  </a:tcPr>
                </a:tc>
                <a:tc>
                  <a:txBody>
                    <a:bodyPr/>
                    <a:lstStyle/>
                    <a:p>
                      <a:pPr>
                        <a:defRPr sz="1200">
                          <a:solidFill>
                            <a:srgbClr val="1A1A2E"/>
                          </a:solidFill>
                          <a:latin typeface="Yu Gothic"/>
                        </a:defRPr>
                      </a:pPr>
                      <a:r>
                        <a:t>みわひな組が再びリード</a:t>
                      </a:r>
                    </a:p>
                  </a:txBody>
                  <a:tcPr>
                    <a:solidFill>
                      <a:srgbClr val="FFFFFF"/>
                    </a:solidFill>
                  </a:tcPr>
                </a:tc>
              </a:tr>
              <a:tr h="502920">
                <a:tc>
                  <a:txBody>
                    <a:bodyPr/>
                    <a:lstStyle/>
                    <a:p>
                      <a:pPr>
                        <a:defRPr sz="1200">
                          <a:solidFill>
                            <a:srgbClr val="1A1A2E"/>
                          </a:solidFill>
                          <a:latin typeface="Yu Gothic"/>
                        </a:defRPr>
                      </a:pPr>
                      <a:r>
                        <a:t>第4セット</a:t>
                      </a:r>
                    </a:p>
                  </a:txBody>
                  <a:tcPr>
                    <a:solidFill>
                      <a:srgbClr val="F3F6FC"/>
                    </a:solidFill>
                  </a:tcPr>
                </a:tc>
                <a:tc>
                  <a:txBody>
                    <a:bodyPr/>
                    <a:lstStyle/>
                    <a:p>
                      <a:pPr>
                        <a:defRPr sz="1200">
                          <a:solidFill>
                            <a:srgbClr val="1A1A2E"/>
                          </a:solidFill>
                          <a:latin typeface="Yu Gothic"/>
                        </a:defRPr>
                      </a:pPr>
                      <a:r>
                        <a:t>11-9</a:t>
                      </a:r>
                    </a:p>
                  </a:txBody>
                  <a:tcPr>
                    <a:solidFill>
                      <a:srgbClr val="F3F6FC"/>
                    </a:solidFill>
                  </a:tcPr>
                </a:tc>
                <a:tc>
                  <a:txBody>
                    <a:bodyPr/>
                    <a:lstStyle/>
                    <a:p>
                      <a:pPr>
                        <a:defRPr sz="1200">
                          <a:solidFill>
                            <a:srgbClr val="1A1A2E"/>
                          </a:solidFill>
                          <a:latin typeface="Yu Gothic"/>
                        </a:defRPr>
                      </a:pPr>
                      <a:r>
                        <a:t>みわひな組が優勝を決める</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時事通信・スポーツ報知・日刊スポーツ等(2026-08-16)</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最終セットカウント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張本美和・早田ひな組(みわひな)が杜凱琹・呉詠琳組(香港)に3-1で勝利した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時事通信・スポーツ報知・日刊スポーツ等(2026-08-16)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4セットの内訳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11-6</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第1セット</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みわひな組が先取した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9-11</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第2セット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香港ペアに奪い返された唯一のセット</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13-11/11-9</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第3・4セット</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いずれも僅差で連取し、優勝を決めた</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グランドスマッシュ2勝目</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2勝目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『みわひな』ペアにとって、グランドスマッシュ(WTTの最上位格付け大会シリーズ)は今回が2勝目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時事通信・スポーツ報知・日刊スポーツ等(2026-08-16)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『2勝目』を正確に扱う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見出しにある『2勝目』を確認します。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今回(2026年8月16日、WTTヨーロッパ・スマッシュ)の優勝が、みわひな組にとってグランドスマッシュ2勝目であることは複数メディアで確認できている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1勝目がいつ・どの大会で達成されたかは、本調査の範囲では確認できていない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本成果物では1勝目の大会名・日程を推測で補わない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『みわひな』の関係(概念図)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張本美和選手</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木下グループ所属</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早田ひな選手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日本生命所属</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みわひな組が優勝</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3-1で勝利。グランドスマッシュ2勝目</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2人が組む『みわひな』が、グランドスマッシュで2勝目を挙げた</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時事通信・スポーツ報知・日刊スポーツ等(2026-08-16)</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みわひな組 / 杜・呉組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張本美和・早田ひな組(みわひな)</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日本</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グランドスマッシュ2勝目(今回)</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3-1で勝利</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杜凱琹・呉詠琳組(香港)</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香港</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決勝で敗退</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第2セットを奪い返す接戦を演じた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“金メダルを常に争える。すでに評価を確立している。”</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CADCFC"/>
                </a:solidFill>
                <a:latin typeface="Yu Gothic"/>
              </a:rPr>
              <a:t>— 現地の卓球関係者・メディアの評(スポーツ報知・日刊スポーツ等の報道より)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賛辞の扱いについて(誇張回避)</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この賛辞の正確な位置づけを確認します。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『金メダルを常に争える』『すでに評価を確立』という賛辞は、現地の卓球関係者・メディアの評として複数の報道で確認できている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具体的な発言者名・所属は本調査の範囲では確認できておらず、特定の個人の発言として断定しない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今大会の他種目(シングルス等)の結果は本調査の範囲では確認できておらず、あわせて言及しない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4114800"/>
        </p:xfrm>
        <a:graphic>
          <a:graphicData uri="http://schemas.openxmlformats.org/drawingml/2006/table">
            <a:tbl>
              <a:tblPr firstRow="1" bandRow="1">
                <a:tableStyleId>{5C22544A-7EE6-4342-B048-85BDC9FD1C3A}</a:tableStyleId>
              </a:tblPr>
              <a:tblGrid>
                <a:gridCol w="5638647"/>
                <a:gridCol w="5638648"/>
              </a:tblGrid>
              <a:tr h="457200">
                <a:tc>
                  <a:txBody>
                    <a:bodyPr/>
                    <a:lstStyle/>
                    <a:p>
                      <a:pPr>
                        <a:defRPr sz="1300" b="1">
                          <a:solidFill>
                            <a:srgbClr val="FFFFFF"/>
                          </a:solidFill>
                          <a:latin typeface="Yu Gothic"/>
                        </a:defRPr>
                      </a:pPr>
                      <a:r>
                        <a:t>メディア</a:t>
                      </a:r>
                    </a:p>
                  </a:txBody>
                  <a:tcPr>
                    <a:solidFill>
                      <a:srgbClr val="1E2761"/>
                    </a:solidFill>
                  </a:tcPr>
                </a:tc>
                <a:tc>
                  <a:txBody>
                    <a:bodyPr/>
                    <a:lstStyle/>
                    <a:p>
                      <a:pPr>
                        <a:defRPr sz="1300" b="1">
                          <a:solidFill>
                            <a:srgbClr val="FFFFFF"/>
                          </a:solidFill>
                          <a:latin typeface="Yu Gothic"/>
                        </a:defRPr>
                      </a:pPr>
                      <a:r>
                        <a:t>配信元・備考</a:t>
                      </a:r>
                    </a:p>
                  </a:txBody>
                  <a:tcPr>
                    <a:solidFill>
                      <a:srgbClr val="1E2761"/>
                    </a:solidFill>
                  </a:tcPr>
                </a:tc>
              </a:tr>
              <a:tr h="457200">
                <a:tc>
                  <a:txBody>
                    <a:bodyPr/>
                    <a:lstStyle/>
                    <a:p>
                      <a:pPr>
                        <a:defRPr sz="1200">
                          <a:solidFill>
                            <a:srgbClr val="1A1A2E"/>
                          </a:solidFill>
                          <a:latin typeface="Yu Gothic"/>
                        </a:defRPr>
                      </a:pPr>
                      <a:r>
                        <a:t>時事通信</a:t>
                      </a:r>
                    </a:p>
                  </a:txBody>
                  <a:tcPr>
                    <a:solidFill>
                      <a:srgbClr val="FFFFFF"/>
                    </a:solidFill>
                  </a:tcPr>
                </a:tc>
                <a:tc>
                  <a:txBody>
                    <a:bodyPr/>
                    <a:lstStyle/>
                    <a:p>
                      <a:pPr>
                        <a:defRPr sz="1200">
                          <a:solidFill>
                            <a:srgbClr val="1A1A2E"/>
                          </a:solidFill>
                          <a:latin typeface="Yu Gothic"/>
                        </a:defRPr>
                      </a:pPr>
                      <a:r>
                        <a:t>docomoニュース配信</a:t>
                      </a:r>
                    </a:p>
                  </a:txBody>
                  <a:tcPr>
                    <a:solidFill>
                      <a:srgbClr val="FFFFFF"/>
                    </a:solidFill>
                  </a:tcPr>
                </a:tc>
              </a:tr>
              <a:tr h="457200">
                <a:tc>
                  <a:txBody>
                    <a:bodyPr/>
                    <a:lstStyle/>
                    <a:p>
                      <a:pPr>
                        <a:defRPr sz="1200">
                          <a:solidFill>
                            <a:srgbClr val="1A1A2E"/>
                          </a:solidFill>
                          <a:latin typeface="Yu Gothic"/>
                        </a:defRPr>
                      </a:pPr>
                      <a:r>
                        <a:t>スポーツ報知</a:t>
                      </a:r>
                    </a:p>
                  </a:txBody>
                  <a:tcPr>
                    <a:solidFill>
                      <a:srgbClr val="F3F6FC"/>
                    </a:solidFill>
                  </a:tcPr>
                </a:tc>
                <a:tc>
                  <a:txBody>
                    <a:bodyPr/>
                    <a:lstStyle/>
                    <a:p>
                      <a:pPr>
                        <a:defRPr sz="1200">
                          <a:solidFill>
                            <a:srgbClr val="1A1A2E"/>
                          </a:solidFill>
                          <a:latin typeface="Yu Gothic"/>
                        </a:defRPr>
                      </a:pPr>
                      <a:r>
                        <a:t>docomoニュース配信</a:t>
                      </a:r>
                    </a:p>
                  </a:txBody>
                  <a:tcPr>
                    <a:solidFill>
                      <a:srgbClr val="F3F6FC"/>
                    </a:solidFill>
                  </a:tcPr>
                </a:tc>
              </a:tr>
              <a:tr h="457200">
                <a:tc>
                  <a:txBody>
                    <a:bodyPr/>
                    <a:lstStyle/>
                    <a:p>
                      <a:pPr>
                        <a:defRPr sz="1200">
                          <a:solidFill>
                            <a:srgbClr val="1A1A2E"/>
                          </a:solidFill>
                          <a:latin typeface="Yu Gothic"/>
                        </a:defRPr>
                      </a:pPr>
                      <a:r>
                        <a:t>日刊スポーツ</a:t>
                      </a:r>
                    </a:p>
                  </a:txBody>
                  <a:tcPr>
                    <a:solidFill>
                      <a:srgbClr val="FFFFFF"/>
                    </a:solidFill>
                  </a:tcPr>
                </a:tc>
                <a:tc>
                  <a:txBody>
                    <a:bodyPr/>
                    <a:lstStyle/>
                    <a:p>
                      <a:pPr>
                        <a:defRPr sz="1200">
                          <a:solidFill>
                            <a:srgbClr val="1A1A2E"/>
                          </a:solidFill>
                          <a:latin typeface="Yu Gothic"/>
                        </a:defRPr>
                      </a:pPr>
                      <a:r>
                        <a:t>Yahoo!ニュース配信</a:t>
                      </a:r>
                    </a:p>
                  </a:txBody>
                  <a:tcPr>
                    <a:solidFill>
                      <a:srgbClr val="FFFFFF"/>
                    </a:solidFill>
                  </a:tcPr>
                </a:tc>
              </a:tr>
              <a:tr h="457200">
                <a:tc>
                  <a:txBody>
                    <a:bodyPr/>
                    <a:lstStyle/>
                    <a:p>
                      <a:pPr>
                        <a:defRPr sz="1200">
                          <a:solidFill>
                            <a:srgbClr val="1A1A2E"/>
                          </a:solidFill>
                          <a:latin typeface="Yu Gothic"/>
                        </a:defRPr>
                      </a:pPr>
                      <a:r>
                        <a:t>エキサイトニュース</a:t>
                      </a:r>
                    </a:p>
                  </a:txBody>
                  <a:tcPr>
                    <a:solidFill>
                      <a:srgbClr val="F3F6FC"/>
                    </a:solidFill>
                  </a:tcPr>
                </a:tc>
                <a:tc>
                  <a:txBody>
                    <a:bodyPr/>
                    <a:lstStyle/>
                    <a:p>
                      <a:pPr>
                        <a:defRPr sz="1200">
                          <a:solidFill>
                            <a:srgbClr val="1A1A2E"/>
                          </a:solidFill>
                          <a:latin typeface="Yu Gothic"/>
                        </a:defRPr>
                      </a:pPr>
                      <a:r>
                        <a:t>独立配信</a:t>
                      </a:r>
                    </a:p>
                  </a:txBody>
                  <a:tcPr>
                    <a:solidFill>
                      <a:srgbClr val="F3F6FC"/>
                    </a:solidFill>
                  </a:tcPr>
                </a:tc>
              </a:tr>
              <a:tr h="457200">
                <a:tc>
                  <a:txBody>
                    <a:bodyPr/>
                    <a:lstStyle/>
                    <a:p>
                      <a:pPr>
                        <a:defRPr sz="1200">
                          <a:solidFill>
                            <a:srgbClr val="1A1A2E"/>
                          </a:solidFill>
                          <a:latin typeface="Yu Gothic"/>
                        </a:defRPr>
                      </a:pPr>
                      <a:r>
                        <a:t>北海道新聞</a:t>
                      </a:r>
                    </a:p>
                  </a:txBody>
                  <a:tcPr>
                    <a:solidFill>
                      <a:srgbClr val="FFFFFF"/>
                    </a:solidFill>
                  </a:tcPr>
                </a:tc>
                <a:tc>
                  <a:txBody>
                    <a:bodyPr/>
                    <a:lstStyle/>
                    <a:p>
                      <a:pPr>
                        <a:defRPr sz="1200">
                          <a:solidFill>
                            <a:srgbClr val="1A1A2E"/>
                          </a:solidFill>
                          <a:latin typeface="Yu Gothic"/>
                        </a:defRPr>
                      </a:pPr>
                      <a:r>
                        <a:t>独立配信</a:t>
                      </a:r>
                    </a:p>
                  </a:txBody>
                  <a:tcPr>
                    <a:solidFill>
                      <a:srgbClr val="FFFFFF"/>
                    </a:solidFill>
                  </a:tcPr>
                </a:tc>
              </a:tr>
              <a:tr h="457200">
                <a:tc>
                  <a:txBody>
                    <a:bodyPr/>
                    <a:lstStyle/>
                    <a:p>
                      <a:pPr>
                        <a:defRPr sz="1200">
                          <a:solidFill>
                            <a:srgbClr val="1A1A2E"/>
                          </a:solidFill>
                          <a:latin typeface="Yu Gothic"/>
                        </a:defRPr>
                      </a:pPr>
                      <a:r>
                        <a:t>nippon.com</a:t>
                      </a:r>
                    </a:p>
                  </a:txBody>
                  <a:tcPr>
                    <a:solidFill>
                      <a:srgbClr val="F3F6FC"/>
                    </a:solidFill>
                  </a:tcPr>
                </a:tc>
                <a:tc>
                  <a:txBody>
                    <a:bodyPr/>
                    <a:lstStyle/>
                    <a:p>
                      <a:pPr>
                        <a:defRPr sz="1200">
                          <a:solidFill>
                            <a:srgbClr val="1A1A2E"/>
                          </a:solidFill>
                          <a:latin typeface="Yu Gothic"/>
                        </a:defRPr>
                      </a:pPr>
                      <a:r>
                        <a:t>独立配信</a:t>
                      </a:r>
                    </a:p>
                  </a:txBody>
                  <a:tcPr>
                    <a:solidFill>
                      <a:srgbClr val="F3F6FC"/>
                    </a:solidFill>
                  </a:tcPr>
                </a:tc>
              </a:tr>
              <a:tr h="457200">
                <a:tc>
                  <a:txBody>
                    <a:bodyPr/>
                    <a:lstStyle/>
                    <a:p>
                      <a:pPr>
                        <a:defRPr sz="1200">
                          <a:solidFill>
                            <a:srgbClr val="1A1A2E"/>
                          </a:solidFill>
                          <a:latin typeface="Yu Gothic"/>
                        </a:defRPr>
                      </a:pPr>
                      <a:r>
                        <a:t>中日新聞</a:t>
                      </a:r>
                    </a:p>
                  </a:txBody>
                  <a:tcPr>
                    <a:solidFill>
                      <a:srgbClr val="FFFFFF"/>
                    </a:solidFill>
                  </a:tcPr>
                </a:tc>
                <a:tc>
                  <a:txBody>
                    <a:bodyPr/>
                    <a:lstStyle/>
                    <a:p>
                      <a:pPr>
                        <a:defRPr sz="1200">
                          <a:solidFill>
                            <a:srgbClr val="1A1A2E"/>
                          </a:solidFill>
                          <a:latin typeface="Yu Gothic"/>
                        </a:defRPr>
                      </a:pPr>
                      <a:r>
                        <a:t>独立配信</a:t>
                      </a:r>
                    </a:p>
                  </a:txBody>
                  <a:tcPr>
                    <a:solidFill>
                      <a:srgbClr val="FFFFFF"/>
                    </a:solidFill>
                  </a:tcPr>
                </a:tc>
              </a:tr>
              <a:tr h="457200">
                <a:tc>
                  <a:txBody>
                    <a:bodyPr/>
                    <a:lstStyle/>
                    <a:p>
                      <a:pPr>
                        <a:defRPr sz="1200">
                          <a:solidFill>
                            <a:srgbClr val="1A1A2E"/>
                          </a:solidFill>
                          <a:latin typeface="Yu Gothic"/>
                        </a:defRPr>
                      </a:pPr>
                      <a:r>
                        <a:t>SPREAD</a:t>
                      </a:r>
                    </a:p>
                  </a:txBody>
                  <a:tcPr>
                    <a:solidFill>
                      <a:srgbClr val="F3F6FC"/>
                    </a:solidFill>
                  </a:tcPr>
                </a:tc>
                <a:tc>
                  <a:txBody>
                    <a:bodyPr/>
                    <a:lstStyle/>
                    <a:p>
                      <a:pPr>
                        <a:defRPr sz="1200">
                          <a:solidFill>
                            <a:srgbClr val="1A1A2E"/>
                          </a:solidFill>
                          <a:latin typeface="Yu Gothic"/>
                        </a:defRPr>
                      </a:pPr>
                      <a:r>
                        <a:t>独立配信</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事実と推測を分けて整理する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報道内容を、事実と不明点に分けます。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事実: 2026年8月16日(日本時間)、WTTヨーロッパ・スマッシュ女子ダブルス決勝でみわひな組が杜・呉組に3-1(11-6、9-11、13-11、11-9)で勝利し、グランドスマッシュ2勝目を挙げた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推測: 特になし(本テーマは確定事実の整理を中心とする)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不明: グランドスマッシュ1勝目の大会・日程、今大会の他種目(シングルス等)の結果</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読者にとっての実践的な示唆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卓球ファンとして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セットごとの経過(接戦だった第2〜4セット)まで確認すると理解が深まる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『みわひな』を追う立場として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グランドスマッシュ2勝目という積み上げの実績を継続して確認する視点が役立つ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情報を発信する立場として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1勝目の詳細等、未確認の情報を推測で補わず正確に伝える姿勢が信頼につながる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これで何が変わるか・読者への示唆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このニュースが意味することを整理します。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グランドスマッシュ2勝目という積み上げの実績は、みわひな組の評価が一時的なものでないことを示す一例として位置づけられる(断定的な評価は避ける)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香港ペアとのフルセット(4セット)の接戦だったことから、今後の対戦でも競り合いが続く可能性がうかがえるが、次の対戦の結果は本調査の範囲では確認できていない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グランドスマッシュ1勝目の詳細・今大会の他種目の結果は本リサーチの範囲では確認できていない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見出しの印象 / 実際の内容のギャップ</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見出しから受けがちな印象</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グランドスマッシュ1勝目の詳細も判明している</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今大会の他種目でも活躍している</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接戦なく圧勝した</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実際に報じられている内容</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1勝目の大会・日程は本調査の範囲では確認できていない</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他種目の結果は本調査の範囲では確認できていない</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4セットのうち第2セットは香港ペアに奪われる接戦だった</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確認できていないこと(1)</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グランドスマッシュ1勝目がいつ・どの大会で達成されたか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今大会(WTTヨーロッパ・スマッシュ)における両選手の他種目(シングルス等)の成績</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賛辞を述べた具体的な発言者名・所属</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確認できていないこと(2・一覧)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状況</a:t>
                      </a:r>
                    </a:p>
                  </a:txBody>
                  <a:tcPr>
                    <a:solidFill>
                      <a:srgbClr val="1E2761"/>
                    </a:solidFill>
                  </a:tcPr>
                </a:tc>
              </a:tr>
              <a:tr h="502920">
                <a:tc>
                  <a:txBody>
                    <a:bodyPr/>
                    <a:lstStyle/>
                    <a:p>
                      <a:pPr>
                        <a:defRPr sz="1200">
                          <a:solidFill>
                            <a:srgbClr val="1A1A2E"/>
                          </a:solidFill>
                          <a:latin typeface="Yu Gothic"/>
                        </a:defRPr>
                      </a:pPr>
                      <a:r>
                        <a:t>グランドスマッシュ1勝目の大会・日程</a:t>
                      </a:r>
                    </a:p>
                  </a:txBody>
                  <a:tcPr>
                    <a:solidFill>
                      <a:srgbClr val="FFFFFF"/>
                    </a:solidFill>
                  </a:tcPr>
                </a:tc>
                <a:tc>
                  <a:txBody>
                    <a:bodyPr/>
                    <a:lstStyle/>
                    <a:p>
                      <a:pPr>
                        <a:defRPr sz="1200">
                          <a:solidFill>
                            <a:srgbClr val="1A1A2E"/>
                          </a:solidFill>
                          <a:latin typeface="Yu Gothic"/>
                        </a:defRPr>
                      </a:pPr>
                      <a:r>
                        <a:t>本リサーチの範囲では確認できていない(推測で補わない)</a:t>
                      </a:r>
                    </a:p>
                  </a:txBody>
                  <a:tcPr>
                    <a:solidFill>
                      <a:srgbClr val="FFFFFF"/>
                    </a:solidFill>
                  </a:tcPr>
                </a:tc>
              </a:tr>
              <a:tr h="502920">
                <a:tc>
                  <a:txBody>
                    <a:bodyPr/>
                    <a:lstStyle/>
                    <a:p>
                      <a:pPr>
                        <a:defRPr sz="1200">
                          <a:solidFill>
                            <a:srgbClr val="1A1A2E"/>
                          </a:solidFill>
                          <a:latin typeface="Yu Gothic"/>
                        </a:defRPr>
                      </a:pPr>
                      <a:r>
                        <a:t>今大会の他種目(シングルス等)の成績</a:t>
                      </a:r>
                    </a:p>
                  </a:txBody>
                  <a:tcPr>
                    <a:solidFill>
                      <a:srgbClr val="F3F6FC"/>
                    </a:solidFill>
                  </a:tcPr>
                </a:tc>
                <a:tc>
                  <a:txBody>
                    <a:bodyPr/>
                    <a:lstStyle/>
                    <a:p>
                      <a:pPr>
                        <a:defRPr sz="1200">
                          <a:solidFill>
                            <a:srgbClr val="1A1A2E"/>
                          </a:solidFill>
                          <a:latin typeface="Yu Gothic"/>
                        </a:defRPr>
                      </a:pPr>
                      <a:r>
                        <a:t>本リサーチの範囲では確認できていない</a:t>
                      </a:r>
                    </a:p>
                  </a:txBody>
                  <a:tcPr>
                    <a:solidFill>
                      <a:srgbClr val="F3F6FC"/>
                    </a:solidFill>
                  </a:tcPr>
                </a:tc>
              </a:tr>
              <a:tr h="502920">
                <a:tc>
                  <a:txBody>
                    <a:bodyPr/>
                    <a:lstStyle/>
                    <a:p>
                      <a:pPr>
                        <a:defRPr sz="1200">
                          <a:solidFill>
                            <a:srgbClr val="1A1A2E"/>
                          </a:solidFill>
                          <a:latin typeface="Yu Gothic"/>
                        </a:defRPr>
                      </a:pPr>
                      <a:r>
                        <a:t>賛辞の具体的な発言者名・所属</a:t>
                      </a:r>
                    </a:p>
                  </a:txBody>
                  <a:tcPr>
                    <a:solidFill>
                      <a:srgbClr val="FFFFFF"/>
                    </a:solidFill>
                  </a:tcPr>
                </a:tc>
                <a:tc>
                  <a:txBody>
                    <a:bodyPr/>
                    <a:lstStyle/>
                    <a:p>
                      <a:pPr>
                        <a:defRPr sz="1200">
                          <a:solidFill>
                            <a:srgbClr val="1A1A2E"/>
                          </a:solidFill>
                          <a:latin typeface="Yu Gothic"/>
                        </a:defRPr>
                      </a:pPr>
                      <a:r>
                        <a:t>『現地の卓球関係者・メディア』という報道の範囲でのみ確認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今大会の他種目については扱わない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本テーマの範囲を確認します。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本テーマは女子ダブルス決勝(みわひな組)の結果に焦点を当てている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張本美和選手・早田ひな選手それぞれの、今大会における他種目の成績は本調査の範囲では確認できていない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断定的な言及は行わず、女子ダブルスの結果のみを扱う</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本テーマの鮮度</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試合翌日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試合(2026年8月16日、日本時間)は着手日(2026年8月17日)の前日。着手日を含めて2日以内という基準を満たす</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docs/06_Content_R&amp;D.md基準</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今回の結果を支えた3つのポイント</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接戦を制した終盤</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第3セット13-11、第4セット11-9と、いずれも僅差で連取した</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唯一落とした第2セット</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9-11で香港ペアに奪い返されるも、立て直して優勝した</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積み上げの実績</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グランドスマッシュ2勝目という実績が、今回の優勝の裏付けとなっている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最終的なセットカウント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3-1</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11-6、9-11、13-11、11-9。みわひな組が杜凱琹・呉詠琳組(香港)に3-1で勝利した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時事通信・スポーツ報知・日刊スポーツ等(2026-08-16)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複数媒体による確認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確認できた点</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結果</a:t>
                      </a:r>
                    </a:p>
                  </a:txBody>
                  <a:tcPr>
                    <a:solidFill>
                      <a:srgbClr val="FFFFFF"/>
                    </a:solidFill>
                  </a:tcPr>
                </a:tc>
                <a:tc>
                  <a:txBody>
                    <a:bodyPr/>
                    <a:lstStyle/>
                    <a:p>
                      <a:pPr>
                        <a:defRPr sz="1200">
                          <a:solidFill>
                            <a:srgbClr val="1A1A2E"/>
                          </a:solidFill>
                          <a:latin typeface="Yu Gothic"/>
                        </a:defRPr>
                      </a:pPr>
                      <a:r>
                        <a:t>3-1でみわひな組が優勝(8媒体で一致)</a:t>
                      </a:r>
                    </a:p>
                  </a:txBody>
                  <a:tcPr>
                    <a:solidFill>
                      <a:srgbClr val="FFFFFF"/>
                    </a:solidFill>
                  </a:tcPr>
                </a:tc>
              </a:tr>
              <a:tr h="502920">
                <a:tc>
                  <a:txBody>
                    <a:bodyPr/>
                    <a:lstStyle/>
                    <a:p>
                      <a:pPr>
                        <a:defRPr sz="1200">
                          <a:solidFill>
                            <a:srgbClr val="1A1A2E"/>
                          </a:solidFill>
                          <a:latin typeface="Yu Gothic"/>
                        </a:defRPr>
                      </a:pPr>
                      <a:r>
                        <a:t>セットスコア</a:t>
                      </a:r>
                    </a:p>
                  </a:txBody>
                  <a:tcPr>
                    <a:solidFill>
                      <a:srgbClr val="F3F6FC"/>
                    </a:solidFill>
                  </a:tcPr>
                </a:tc>
                <a:tc>
                  <a:txBody>
                    <a:bodyPr/>
                    <a:lstStyle/>
                    <a:p>
                      <a:pPr>
                        <a:defRPr sz="1200">
                          <a:solidFill>
                            <a:srgbClr val="1A1A2E"/>
                          </a:solidFill>
                          <a:latin typeface="Yu Gothic"/>
                        </a:defRPr>
                      </a:pPr>
                      <a:r>
                        <a:t>11-6、9-11、13-11、11-9(複数媒体で一致)</a:t>
                      </a:r>
                    </a:p>
                  </a:txBody>
                  <a:tcPr>
                    <a:solidFill>
                      <a:srgbClr val="F3F6FC"/>
                    </a:solidFill>
                  </a:tcPr>
                </a:tc>
              </a:tr>
              <a:tr h="502920">
                <a:tc>
                  <a:txBody>
                    <a:bodyPr/>
                    <a:lstStyle/>
                    <a:p>
                      <a:pPr>
                        <a:defRPr sz="1200">
                          <a:solidFill>
                            <a:srgbClr val="1A1A2E"/>
                          </a:solidFill>
                          <a:latin typeface="Yu Gothic"/>
                        </a:defRPr>
                      </a:pPr>
                      <a:r>
                        <a:t>位置づけ</a:t>
                      </a:r>
                    </a:p>
                  </a:txBody>
                  <a:tcPr>
                    <a:solidFill>
                      <a:srgbClr val="FFFFFF"/>
                    </a:solidFill>
                  </a:tcPr>
                </a:tc>
                <a:tc>
                  <a:txBody>
                    <a:bodyPr/>
                    <a:lstStyle/>
                    <a:p>
                      <a:pPr>
                        <a:defRPr sz="1200">
                          <a:solidFill>
                            <a:srgbClr val="1A1A2E"/>
                          </a:solidFill>
                          <a:latin typeface="Yu Gothic"/>
                        </a:defRPr>
                      </a:pPr>
                      <a:r>
                        <a:t>グランドスマッシュ2勝目(複数媒体で一致)</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誇張回避のための最終補足</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本テーマを見る際にあらかじめお伝えしたい点です。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スコア・セット結果等の数字はすべて出典どおり正確に扱い、丸め・誇張・創作は行わない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グランドスマッシュ1勝目の詳細・今大会の他種目の成績は『不明』と明記し、推測で埋めない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現地の賛辞は報道の範囲でのみ紹介し、特定個人の発言として断定しない</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時事通信・スポーツ報知(いずれもdocomoニュース配信)、日刊スポーツ(Yahoo!ニュース配信)、エキサイトニュース、北海道新聞、nippon.com、中日新聞、SPREAD(2026-08-16)</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『みわひな』、グランドスマッシュ2勝目。</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張本美和・早田ひな組が、WTTヨーロッパ・スマッシュ女子ダブルスで杜凱琹・呉詠琳組(香港)に3-1で勝利。数字を正確に、出典付きで整理してお届けしました。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