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最終得点</c:v>
                </c:pt>
              </c:strCache>
            </c:strRef>
          </c:tx>
          <c:spPr>
            <a:solidFill>
              <a:srgbClr val="3A4750"/>
            </a:solidFill>
          </c:spPr>
          <c:cat>
            <c:strRef>
              <c:f>Sheet1!$A$2:$A$3</c:f>
              <c:strCache>
                <c:ptCount val="2"/>
                <c:pt idx="0">
                  <c:v>横浜</c:v>
                </c:pt>
                <c:pt idx="1">
                  <c:v>花巻東</c:v>
                </c:pt>
              </c:strCache>
            </c:strRef>
          </c:cat>
          <c:val>
            <c:numRef>
              <c:f>Sheet1!$B$2:$B$3</c:f>
              <c:numCache>
                <c:formatCode>General</c:formatCode>
                <c:ptCount val="2"/>
                <c:pt idx="0">
                  <c:v>6</c:v>
                </c:pt>
                <c:pt idx="1">
                  <c:v>0</c:v>
                </c:pt>
              </c:numCache>
            </c:numRef>
          </c:val>
        </c:ser>
        <c:dLbls>
          <c:numFmt formatCode="#,##0" sourceLinked="0"/>
          <c:txPr>
            <a:bodyPr/>
            <a:lstStyle/>
            <a:p>
              <a:pPr>
                <a:defRPr sz="1200" b="1">
                  <a:solidFill>
                    <a:srgbClr val="3A4750"/>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18日、夏の甲子園(第108回全国高校野球選手権大会)準々決勝第3試合が行われ、横浜(神奈川)が花巻東(岩手)を6-0で下し、18年ぶりのベスト4進出を決めました。エース織田翔希投手が最速156キロを連発し、10奪三振の完封を達成しています。今日はこの結果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横浜が花巻東を6-0で下し、18年ぶりのベスト4進出を決めました。試合を大きく動かしたのは、エース織田翔希投手の圧巻の投球です。ここから数字と経過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試合の経緯から織田投手の投球内容、18年ぶりのベスト4進出という記録まで、出典付きで正確に整理します。花巻東側への配慮、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当日という新しさに加え、最速156キロ連発・10奪三振の完封という突出した投球内容があります。18年ぶりのベスト4進出という記録も、複数のメディアが一致し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基礎知識を確認します。甲子園は夏の全国高校野球選手権大会の通称で、準々決勝はベスト8が対戦しベスト4進出をかけて戦う試合です。完封は1人の投手が無失点で投げ切ること、捕逸は捕手が投球を後逸する守備側のミス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横浜・花巻東それぞれの背景を確認します。両校とも甲子園の常連校で、今回横浜にとっては18年ぶりのベスト4進出という節目の記録となりました。選手は未成年のため、本テーマでは個人の私生活ではなく投球内容・チームの物語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の流れを、判明している範囲で整理しました。1回に捕逸で先制し、3回の花巻東の同点機は江坂選手の好返球で阻止。4回に追加点、5回に江坂選手・安食選手の適時打で5-0とリードを広げ、9回に織田投手が投げ切り6-0で完封勝利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得点経過を、判明している範囲で一覧にしました。1回の捕逸による先制から、3回の同点機阻止、4回の追加点、5回の適時打による5-0、9回の完封による6-0まで、それぞれ出典どおりに整理しています。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最終スコアです。横浜は花巻東を6-0で下し、18年ぶりのベスト4進出を決めました。織田投手の完封投球がそのままチームの勝利を支えた形です。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最終スコアをグラフにしました。横浜が6点、花巻東が0点です。織田投手が無失点で投げ切ったことが、そのままスコアに表れています。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織田翔希投手の投球成績です。9回を1人で投げ切り完封、被安打は7安打、奪三振は10個。9回で二桁の三振を奪う圧巻の内容でした。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織田投手の奪三振数を確認します。9回7安打10奪三振、無失点という内容で完封しました。二桁奪三振は、投手として突出した内容です。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衝撃の最速球速です。織田投手はこの試合で最速155キロ・156キロを計7球記録しました。高校生投手としては突出した水準として報じられています。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織田投手の投球データを一覧にしました。9回7安打10奪三振無失点で完封し、最速155キロ・156キロを計7球記録、直球の平均球速は152.5キロに達しています。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球速データをさらに深掘りします。最速156キロ、直球平均は152.5キロに達しました。155キロと156キロを合わせて計7球という数字は確認できていますが、それぞれ何球ずつだったかの内訳は出典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織田投手が完封に至るプロセスを図にしました。9回を1人で投げ切り、7安打に抑えながら10奪三振・無失点という内容で、最速156キロを武器に完封を達成しました。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確認できていないことを正直にお伝えします。花巻東側の先発投手の詳細や打線の具体的な打撃内容は、本調査の範囲では確認できていません。推測では補わず、総称にとどめています。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次戦についても正直にお伝えします。準決勝の対戦相手・日程は、本調査時点では確認できていません。18年ぶりのベスト4進出という結果のみを事実として扱い、この先の展開は推測で補いません。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18年ぶりのベスト4進出を数字で確認します。6-0の完封勝利という結果で、横浜にとって節目となるベスト4進出を決めました。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節目の記録を改めて確認します。横浜は6-0で花巻東を下し、18年ぶりのベスト4進出を決めました。エースの完封投球が、この記録を支えました。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横浜の躍進を投球と打撃・守備の両面で比べます。投球面では織田投手が9回7安打10奪三振・無失点の完封。打撃・守備面では1回の先制から5回の適時打での5-0、3回の好返球による阻止まで、チーム全体で試合を作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花巻東への配慮方針です。ベスト4進出を逃した結果はありますが、敗因を過度に貶める表現は避け、横浜の勝利・織田投手の投球内容を中心に据えています。3回に同点機を作ったこと自体は、花巻東の攻撃として正確に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成年選手への配慮方針です。出場選手は未成年のため、個人の私生活を扇情的に扱わず投球内容・チームの物語として構成しました。氏名は公表済みの範囲でテキストとしてのみ扱い、写真・肖像は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視聴者にとっての実践的な示唆をまとめました。高校野球ファンとして、勝敗両方の結果を見る立場として、情報を発信する立場として、それぞれで意識したい点です。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横浜の18年ぶりのベスト4進出は大会通算の記録として位置づけられます。結果とその要因は別物であり、確認できていない要因を推測で埋めない視点が役立ち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この先の展開を確認します。横浜はベスト4(準決勝)に進出しました。準決勝の日程・対戦相手については、本調査の範囲では確認できていません。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最終スコア・織田投手の投球内容・18年ぶりのベスト4進出はすべて出典で確認できた事実です。推測はほぼ用いておらず、花巻東の詳細や準決勝の対戦相手等は不明として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事実確認の状況を一覧にしました。最終スコアと織田投手の投球内容、18年ぶりのベスト4進出は複数媒体で確認できていますが、花巻東側の詳細と準決勝の対戦相手・日程は未確認です。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横浜が夏の甲子園準々決勝で花巻東を6-0で下し、18年ぶりのベスト4進出を決めた件をお伝えしました。エース織田翔希投手の156キロ連発・10奪三振の完封という圧巻の投球内容を軸に、確認できなかったことも正直にお伝えしました。数字は正確に引用し、花巻東側への配慮も忘れずに構成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衝撃の156キロ連発。横浜、18年ぶりのベスト4進出</a:t>
            </a:r>
          </a:p>
          <a:p>
            <a:pPr algn="l">
              <a:lnSpc>
                <a:spcPct val="115000"/>
              </a:lnSpc>
            </a:pPr>
            <a:r>
              <a:rPr sz="4200" b="1">
                <a:solidFill>
                  <a:srgbClr val="FFFFFF"/>
                </a:solidFill>
                <a:latin typeface="Yu Gothic"/>
              </a:rPr>
              <a:t>織田翔希投手が10奪三振の完封</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2026年8月18日、夏の甲子園準々決勝――エースの一人二役が試合を決めた。出典付きで正確に整理してお届けします</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読売新聞オンライン(Yahoo!ニュース)・神奈川新聞(カナロコ)・高校野球ドットコム(Yahoo!ニュース)・ライブドアニュース(2026年8月18日時点)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6-0で18年ぶり4強へ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横浜(神奈川)が花巻東(岩手)を6-0で下し、18年ぶりのベスト4進出を決めた(2026年8月18日、準々決勝第3試合)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読売新聞オンライン・神奈川新聞・高校野球ドットコム・ライブドアニュース(2026-08-18)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甲子園・準々決勝の基礎知識(初心者向け)</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横浜・花巻東それぞれの背景</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試合の経緯を時系列で確認する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織田翔希投手の投球内容を数字で深掘りする</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18年ぶりのベスト4進出、確認できていないこと・出典一覧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準々決勝(2026年8月18日開催)は着手日(同日)当日という、最も新しい形で鮮度基準を満たす</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織田翔希投手が最速156キロを連発し10奪三振の完封という、突出した投球内容である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横浜が18年ぶりのベスト4進出を決めるという明快な記録が複数の独立したメディアで一致して報じられている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読売新聞オンライン・神奈川新聞・高校野球ドットコム・ライブドアニュース(2026-08-18)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甲子園・準々決勝・完封とは(初心者向け)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本題に入る前に、基礎知識を確認します。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『甲子園』は夏に行われる全国高校野球選手権大会(今大会で第108回)の通称。都道府県代表校が出場するトーナメント方式の大会である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『準々決勝』はベスト8の8校が対戦し、勝てばベスト4(準決勝進出)となる試合。今大会で上位にあたる成績である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『完封』は1人の投手が試合を最後まで投げ切り、相手に得点を1点も許さずに終えることを指す野球用語である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『捕逸』は投手の投球を捕手が後逸するなどして後方に逃す守備側のミス。走者の進塁・生還につながることがある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横浜・花巻東それぞれの背景(初心者向け)</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もう一つの前提を確認します。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横浜高校(神奈川県)・花巻東高校(岩手県)は、いずれも甲子園の常連校として知られる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横浜にとって、この準々決勝の勝利は18年ぶりのベスト4進出という節目の記録となった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選手は未成年であるため、本テーマでは個人の私生活ではなく、投球内容・チームの物語として扱う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試合の流れ(判明している範囲)</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1962851"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414211" cy="548640"/>
          </a:xfrm>
          <a:prstGeom prst="rect">
            <a:avLst/>
          </a:prstGeom>
          <a:noFill/>
        </p:spPr>
        <p:txBody>
          <a:bodyPr wrap="square" anchor="t" lIns="0" rIns="0" tIns="0" bIns="0">
            <a:spAutoFit/>
          </a:bodyPr>
          <a:lstStyle/>
          <a:p>
            <a:pPr algn="l"/>
            <a:r>
              <a:rPr sz="1600" b="1">
                <a:solidFill>
                  <a:srgbClr val="3A4750"/>
                </a:solidFill>
                <a:latin typeface="Yu Gothic"/>
              </a:rPr>
              <a:t>1回</a:t>
            </a:r>
          </a:p>
        </p:txBody>
      </p:sp>
      <p:sp>
        <p:nvSpPr>
          <p:cNvPr id="10" name="TextBox 9"/>
          <p:cNvSpPr txBox="1"/>
          <p:nvPr/>
        </p:nvSpPr>
        <p:spPr>
          <a:xfrm>
            <a:off x="731520" y="3566160"/>
            <a:ext cx="1414211"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横浜が捕逸で先制する</a:t>
            </a:r>
          </a:p>
        </p:txBody>
      </p:sp>
      <p:sp>
        <p:nvSpPr>
          <p:cNvPr id="11" name="Chevron 10"/>
          <p:cNvSpPr/>
          <p:nvPr/>
        </p:nvSpPr>
        <p:spPr>
          <a:xfrm>
            <a:off x="2485887"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1531"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85811" y="1737360"/>
            <a:ext cx="1962851"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60131"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060131" y="2926080"/>
            <a:ext cx="1414211" cy="548640"/>
          </a:xfrm>
          <a:prstGeom prst="rect">
            <a:avLst/>
          </a:prstGeom>
          <a:noFill/>
        </p:spPr>
        <p:txBody>
          <a:bodyPr wrap="square" anchor="t" lIns="0" rIns="0" tIns="0" bIns="0">
            <a:spAutoFit/>
          </a:bodyPr>
          <a:lstStyle/>
          <a:p>
            <a:pPr algn="l"/>
            <a:r>
              <a:rPr sz="1600" b="1">
                <a:solidFill>
                  <a:srgbClr val="3A4750"/>
                </a:solidFill>
                <a:latin typeface="Yu Gothic"/>
              </a:rPr>
              <a:t>3回</a:t>
            </a:r>
          </a:p>
        </p:txBody>
      </p:sp>
      <p:sp>
        <p:nvSpPr>
          <p:cNvPr id="16" name="TextBox 15"/>
          <p:cNvSpPr txBox="1"/>
          <p:nvPr/>
        </p:nvSpPr>
        <p:spPr>
          <a:xfrm>
            <a:off x="3060131" y="3566160"/>
            <a:ext cx="1414211"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花巻東の同点機を江坂選手の好返球で阻止</a:t>
            </a:r>
          </a:p>
        </p:txBody>
      </p:sp>
      <p:sp>
        <p:nvSpPr>
          <p:cNvPr id="17" name="Chevron 16"/>
          <p:cNvSpPr/>
          <p:nvPr/>
        </p:nvSpPr>
        <p:spPr>
          <a:xfrm>
            <a:off x="4814498"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60142"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14422" y="1737360"/>
            <a:ext cx="1962851"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388742"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5388742" y="2926080"/>
            <a:ext cx="1414211" cy="548640"/>
          </a:xfrm>
          <a:prstGeom prst="rect">
            <a:avLst/>
          </a:prstGeom>
          <a:noFill/>
        </p:spPr>
        <p:txBody>
          <a:bodyPr wrap="square" anchor="t" lIns="0" rIns="0" tIns="0" bIns="0">
            <a:spAutoFit/>
          </a:bodyPr>
          <a:lstStyle/>
          <a:p>
            <a:pPr algn="l"/>
            <a:r>
              <a:rPr sz="1600" b="1">
                <a:solidFill>
                  <a:srgbClr val="3A4750"/>
                </a:solidFill>
                <a:latin typeface="Yu Gothic"/>
              </a:rPr>
              <a:t>4回</a:t>
            </a:r>
          </a:p>
        </p:txBody>
      </p:sp>
      <p:sp>
        <p:nvSpPr>
          <p:cNvPr id="22" name="TextBox 21"/>
          <p:cNvSpPr txBox="1"/>
          <p:nvPr/>
        </p:nvSpPr>
        <p:spPr>
          <a:xfrm>
            <a:off x="5388742" y="3566160"/>
            <a:ext cx="1414211"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横浜が追加点を挙げる</a:t>
            </a:r>
          </a:p>
        </p:txBody>
      </p:sp>
      <p:sp>
        <p:nvSpPr>
          <p:cNvPr id="23" name="Chevron 22"/>
          <p:cNvSpPr/>
          <p:nvPr/>
        </p:nvSpPr>
        <p:spPr>
          <a:xfrm>
            <a:off x="7143109"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88753"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43033" y="1737360"/>
            <a:ext cx="1962851"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17353"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7717353" y="2926080"/>
            <a:ext cx="1414211" cy="548640"/>
          </a:xfrm>
          <a:prstGeom prst="rect">
            <a:avLst/>
          </a:prstGeom>
          <a:noFill/>
        </p:spPr>
        <p:txBody>
          <a:bodyPr wrap="square" anchor="t" lIns="0" rIns="0" tIns="0" bIns="0">
            <a:spAutoFit/>
          </a:bodyPr>
          <a:lstStyle/>
          <a:p>
            <a:pPr algn="l"/>
            <a:r>
              <a:rPr sz="1600" b="1">
                <a:solidFill>
                  <a:srgbClr val="3A4750"/>
                </a:solidFill>
                <a:latin typeface="Yu Gothic"/>
              </a:rPr>
              <a:t>5回</a:t>
            </a:r>
          </a:p>
        </p:txBody>
      </p:sp>
      <p:sp>
        <p:nvSpPr>
          <p:cNvPr id="28" name="TextBox 27"/>
          <p:cNvSpPr txBox="1"/>
          <p:nvPr/>
        </p:nvSpPr>
        <p:spPr>
          <a:xfrm>
            <a:off x="7717353" y="3566160"/>
            <a:ext cx="1414211"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江坂選手・安食選手の適時打で5-0に</a:t>
            </a:r>
          </a:p>
        </p:txBody>
      </p:sp>
      <p:sp>
        <p:nvSpPr>
          <p:cNvPr id="29" name="Chevron 28"/>
          <p:cNvSpPr/>
          <p:nvPr/>
        </p:nvSpPr>
        <p:spPr>
          <a:xfrm>
            <a:off x="9471720"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817364"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771644" y="1737360"/>
            <a:ext cx="1962851"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45964"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5</a:t>
            </a:r>
          </a:p>
        </p:txBody>
      </p:sp>
      <p:sp>
        <p:nvSpPr>
          <p:cNvPr id="33" name="TextBox 32"/>
          <p:cNvSpPr txBox="1"/>
          <p:nvPr/>
        </p:nvSpPr>
        <p:spPr>
          <a:xfrm>
            <a:off x="10045964" y="2926080"/>
            <a:ext cx="1414211" cy="548640"/>
          </a:xfrm>
          <a:prstGeom prst="rect">
            <a:avLst/>
          </a:prstGeom>
          <a:noFill/>
        </p:spPr>
        <p:txBody>
          <a:bodyPr wrap="square" anchor="t" lIns="0" rIns="0" tIns="0" bIns="0">
            <a:spAutoFit/>
          </a:bodyPr>
          <a:lstStyle/>
          <a:p>
            <a:pPr algn="l"/>
            <a:r>
              <a:rPr sz="1600" b="1">
                <a:solidFill>
                  <a:srgbClr val="3A4750"/>
                </a:solidFill>
                <a:latin typeface="Yu Gothic"/>
              </a:rPr>
              <a:t>9回</a:t>
            </a:r>
          </a:p>
        </p:txBody>
      </p:sp>
      <p:sp>
        <p:nvSpPr>
          <p:cNvPr id="34" name="TextBox 33"/>
          <p:cNvSpPr txBox="1"/>
          <p:nvPr/>
        </p:nvSpPr>
        <p:spPr>
          <a:xfrm>
            <a:off x="10045964" y="3566160"/>
            <a:ext cx="1414211"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織田投手が投げ切り6-0で完封勝利</a:t>
            </a:r>
          </a:p>
        </p:txBody>
      </p:sp>
      <p:sp>
        <p:nvSpPr>
          <p:cNvPr id="35" name="TextBox 3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36" name="TextBox 3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得点経過サマリー(判明している範囲)</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回</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1回</a:t>
                      </a:r>
                    </a:p>
                  </a:txBody>
                  <a:tcPr>
                    <a:solidFill>
                      <a:srgbClr val="FFFFFF"/>
                    </a:solidFill>
                  </a:tcPr>
                </a:tc>
                <a:tc>
                  <a:txBody>
                    <a:bodyPr/>
                    <a:lstStyle/>
                    <a:p>
                      <a:pPr>
                        <a:defRPr sz="1200">
                          <a:solidFill>
                            <a:srgbClr val="1E2124"/>
                          </a:solidFill>
                          <a:latin typeface="Yu Gothic"/>
                        </a:defRPr>
                      </a:pPr>
                      <a:r>
                        <a:t>捕逸で先制</a:t>
                      </a:r>
                    </a:p>
                  </a:txBody>
                  <a:tcPr>
                    <a:solidFill>
                      <a:srgbClr val="FFFFFF"/>
                    </a:solidFill>
                  </a:tcPr>
                </a:tc>
              </a:tr>
              <a:tr h="502920">
                <a:tc>
                  <a:txBody>
                    <a:bodyPr/>
                    <a:lstStyle/>
                    <a:p>
                      <a:pPr>
                        <a:defRPr sz="1200">
                          <a:solidFill>
                            <a:srgbClr val="1E2124"/>
                          </a:solidFill>
                          <a:latin typeface="Yu Gothic"/>
                        </a:defRPr>
                      </a:pPr>
                      <a:r>
                        <a:t>3回</a:t>
                      </a:r>
                    </a:p>
                  </a:txBody>
                  <a:tcPr>
                    <a:solidFill>
                      <a:srgbClr val="F7F4EF"/>
                    </a:solidFill>
                  </a:tcPr>
                </a:tc>
                <a:tc>
                  <a:txBody>
                    <a:bodyPr/>
                    <a:lstStyle/>
                    <a:p>
                      <a:pPr>
                        <a:defRPr sz="1200">
                          <a:solidFill>
                            <a:srgbClr val="1E2124"/>
                          </a:solidFill>
                          <a:latin typeface="Yu Gothic"/>
                        </a:defRPr>
                      </a:pPr>
                      <a:r>
                        <a:t>花巻東の同点機を江坂選手の好返球で阻止</a:t>
                      </a:r>
                    </a:p>
                  </a:txBody>
                  <a:tcPr>
                    <a:solidFill>
                      <a:srgbClr val="F7F4EF"/>
                    </a:solidFill>
                  </a:tcPr>
                </a:tc>
              </a:tr>
              <a:tr h="502920">
                <a:tc>
                  <a:txBody>
                    <a:bodyPr/>
                    <a:lstStyle/>
                    <a:p>
                      <a:pPr>
                        <a:defRPr sz="1200">
                          <a:solidFill>
                            <a:srgbClr val="1E2124"/>
                          </a:solidFill>
                          <a:latin typeface="Yu Gothic"/>
                        </a:defRPr>
                      </a:pPr>
                      <a:r>
                        <a:t>4回</a:t>
                      </a:r>
                    </a:p>
                  </a:txBody>
                  <a:tcPr>
                    <a:solidFill>
                      <a:srgbClr val="FFFFFF"/>
                    </a:solidFill>
                  </a:tcPr>
                </a:tc>
                <a:tc>
                  <a:txBody>
                    <a:bodyPr/>
                    <a:lstStyle/>
                    <a:p>
                      <a:pPr>
                        <a:defRPr sz="1200">
                          <a:solidFill>
                            <a:srgbClr val="1E2124"/>
                          </a:solidFill>
                          <a:latin typeface="Yu Gothic"/>
                        </a:defRPr>
                      </a:pPr>
                      <a:r>
                        <a:t>横浜が追加点</a:t>
                      </a:r>
                    </a:p>
                  </a:txBody>
                  <a:tcPr>
                    <a:solidFill>
                      <a:srgbClr val="FFFFFF"/>
                    </a:solidFill>
                  </a:tcPr>
                </a:tc>
              </a:tr>
              <a:tr h="502920">
                <a:tc>
                  <a:txBody>
                    <a:bodyPr/>
                    <a:lstStyle/>
                    <a:p>
                      <a:pPr>
                        <a:defRPr sz="1200">
                          <a:solidFill>
                            <a:srgbClr val="1E2124"/>
                          </a:solidFill>
                          <a:latin typeface="Yu Gothic"/>
                        </a:defRPr>
                      </a:pPr>
                      <a:r>
                        <a:t>5回</a:t>
                      </a:r>
                    </a:p>
                  </a:txBody>
                  <a:tcPr>
                    <a:solidFill>
                      <a:srgbClr val="F7F4EF"/>
                    </a:solidFill>
                  </a:tcPr>
                </a:tc>
                <a:tc>
                  <a:txBody>
                    <a:bodyPr/>
                    <a:lstStyle/>
                    <a:p>
                      <a:pPr>
                        <a:defRPr sz="1200">
                          <a:solidFill>
                            <a:srgbClr val="1E2124"/>
                          </a:solidFill>
                          <a:latin typeface="Yu Gothic"/>
                        </a:defRPr>
                      </a:pPr>
                      <a:r>
                        <a:t>江坂選手・安食選手の適時打で5-0</a:t>
                      </a:r>
                    </a:p>
                  </a:txBody>
                  <a:tcPr>
                    <a:solidFill>
                      <a:srgbClr val="F7F4EF"/>
                    </a:solidFill>
                  </a:tcPr>
                </a:tc>
              </a:tr>
              <a:tr h="502920">
                <a:tc>
                  <a:txBody>
                    <a:bodyPr/>
                    <a:lstStyle/>
                    <a:p>
                      <a:pPr>
                        <a:defRPr sz="1200">
                          <a:solidFill>
                            <a:srgbClr val="1E2124"/>
                          </a:solidFill>
                          <a:latin typeface="Yu Gothic"/>
                        </a:defRPr>
                      </a:pPr>
                      <a:r>
                        <a:t>9回</a:t>
                      </a:r>
                    </a:p>
                  </a:txBody>
                  <a:tcPr>
                    <a:solidFill>
                      <a:srgbClr val="FFFFFF"/>
                    </a:solidFill>
                  </a:tcPr>
                </a:tc>
                <a:tc>
                  <a:txBody>
                    <a:bodyPr/>
                    <a:lstStyle/>
                    <a:p>
                      <a:pPr>
                        <a:defRPr sz="1200">
                          <a:solidFill>
                            <a:srgbClr val="1E2124"/>
                          </a:solidFill>
                          <a:latin typeface="Yu Gothic"/>
                        </a:defRPr>
                      </a:pPr>
                      <a:r>
                        <a:t>織田投手が完封し最終6-0</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読売新聞オンライン・神奈川新聞・高校野球ドットコム・ライブドアニュース(2026-08-18)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最終スコア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6-0で完封勝利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横浜が花巻東を6-0で下し、18年ぶりのベスト4進出を決めた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読売新聞オンライン・神奈川新聞・高校野球ドットコム・ライブドアニュース(2026-08-18)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最終スコアを数字で見る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読売新聞オンライン・神奈川新聞・高校野球ドットコム・ライブドアニュース(2026-08-18)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織田翔希投手の投球成績</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9回</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完投・完封</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1人で最後まで投げ切り無失点</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7安打</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被安打</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花巻東打線を要所で抑えた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10奪三振</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奪三振数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9回で二桁の三振を記録した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読売新聞オンライン・神奈川新聞・高校野球ドットコム・ライブドアニュース(2026-08-18)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織田投手の奪三振数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10奪三振</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織田翔希投手(3年)は9回7安打10奪三振、無失点で完封した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読売新聞オンライン・神奈川新聞・高校野球ドットコム・ライブドアニュース(2026-08-18)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衝撃の最速球速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最速156キロ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織田投手はこの試合で最速155キロ・156キロを計7球記録した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読売新聞オンライン・神奈川新聞・高校野球ドットコム・ライブドアニュース(2026-08-18)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織田翔希投手の投球データ一覧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数値</a:t>
                      </a:r>
                    </a:p>
                  </a:txBody>
                  <a:tcPr>
                    <a:solidFill>
                      <a:srgbClr val="3A4750"/>
                    </a:solidFill>
                  </a:tcPr>
                </a:tc>
              </a:tr>
              <a:tr h="502920">
                <a:tc>
                  <a:txBody>
                    <a:bodyPr/>
                    <a:lstStyle/>
                    <a:p>
                      <a:pPr>
                        <a:defRPr sz="1200">
                          <a:solidFill>
                            <a:srgbClr val="1E2124"/>
                          </a:solidFill>
                          <a:latin typeface="Yu Gothic"/>
                        </a:defRPr>
                      </a:pPr>
                      <a:r>
                        <a:t>投球回</a:t>
                      </a:r>
                    </a:p>
                  </a:txBody>
                  <a:tcPr>
                    <a:solidFill>
                      <a:srgbClr val="FFFFFF"/>
                    </a:solidFill>
                  </a:tcPr>
                </a:tc>
                <a:tc>
                  <a:txBody>
                    <a:bodyPr/>
                    <a:lstStyle/>
                    <a:p>
                      <a:pPr>
                        <a:defRPr sz="1200">
                          <a:solidFill>
                            <a:srgbClr val="1E2124"/>
                          </a:solidFill>
                          <a:latin typeface="Yu Gothic"/>
                        </a:defRPr>
                      </a:pPr>
                      <a:r>
                        <a:t>9回(完投・完封)</a:t>
                      </a:r>
                    </a:p>
                  </a:txBody>
                  <a:tcPr>
                    <a:solidFill>
                      <a:srgbClr val="FFFFFF"/>
                    </a:solidFill>
                  </a:tcPr>
                </a:tc>
              </a:tr>
              <a:tr h="502920">
                <a:tc>
                  <a:txBody>
                    <a:bodyPr/>
                    <a:lstStyle/>
                    <a:p>
                      <a:pPr>
                        <a:defRPr sz="1200">
                          <a:solidFill>
                            <a:srgbClr val="1E2124"/>
                          </a:solidFill>
                          <a:latin typeface="Yu Gothic"/>
                        </a:defRPr>
                      </a:pPr>
                      <a:r>
                        <a:t>被安打</a:t>
                      </a:r>
                    </a:p>
                  </a:txBody>
                  <a:tcPr>
                    <a:solidFill>
                      <a:srgbClr val="F7F4EF"/>
                    </a:solidFill>
                  </a:tcPr>
                </a:tc>
                <a:tc>
                  <a:txBody>
                    <a:bodyPr/>
                    <a:lstStyle/>
                    <a:p>
                      <a:pPr>
                        <a:defRPr sz="1200">
                          <a:solidFill>
                            <a:srgbClr val="1E2124"/>
                          </a:solidFill>
                          <a:latin typeface="Yu Gothic"/>
                        </a:defRPr>
                      </a:pPr>
                      <a:r>
                        <a:t>7安打</a:t>
                      </a:r>
                    </a:p>
                  </a:txBody>
                  <a:tcPr>
                    <a:solidFill>
                      <a:srgbClr val="F7F4EF"/>
                    </a:solidFill>
                  </a:tcPr>
                </a:tc>
              </a:tr>
              <a:tr h="502920">
                <a:tc>
                  <a:txBody>
                    <a:bodyPr/>
                    <a:lstStyle/>
                    <a:p>
                      <a:pPr>
                        <a:defRPr sz="1200">
                          <a:solidFill>
                            <a:srgbClr val="1E2124"/>
                          </a:solidFill>
                          <a:latin typeface="Yu Gothic"/>
                        </a:defRPr>
                      </a:pPr>
                      <a:r>
                        <a:t>奪三振</a:t>
                      </a:r>
                    </a:p>
                  </a:txBody>
                  <a:tcPr>
                    <a:solidFill>
                      <a:srgbClr val="FFFFFF"/>
                    </a:solidFill>
                  </a:tcPr>
                </a:tc>
                <a:tc>
                  <a:txBody>
                    <a:bodyPr/>
                    <a:lstStyle/>
                    <a:p>
                      <a:pPr>
                        <a:defRPr sz="1200">
                          <a:solidFill>
                            <a:srgbClr val="1E2124"/>
                          </a:solidFill>
                          <a:latin typeface="Yu Gothic"/>
                        </a:defRPr>
                      </a:pPr>
                      <a:r>
                        <a:t>10奪三振</a:t>
                      </a:r>
                    </a:p>
                  </a:txBody>
                  <a:tcPr>
                    <a:solidFill>
                      <a:srgbClr val="FFFFFF"/>
                    </a:solidFill>
                  </a:tcPr>
                </a:tc>
              </a:tr>
              <a:tr h="502920">
                <a:tc>
                  <a:txBody>
                    <a:bodyPr/>
                    <a:lstStyle/>
                    <a:p>
                      <a:pPr>
                        <a:defRPr sz="1200">
                          <a:solidFill>
                            <a:srgbClr val="1E2124"/>
                          </a:solidFill>
                          <a:latin typeface="Yu Gothic"/>
                        </a:defRPr>
                      </a:pPr>
                      <a:r>
                        <a:t>失点</a:t>
                      </a:r>
                    </a:p>
                  </a:txBody>
                  <a:tcPr>
                    <a:solidFill>
                      <a:srgbClr val="F7F4EF"/>
                    </a:solidFill>
                  </a:tcPr>
                </a:tc>
                <a:tc>
                  <a:txBody>
                    <a:bodyPr/>
                    <a:lstStyle/>
                    <a:p>
                      <a:pPr>
                        <a:defRPr sz="1200">
                          <a:solidFill>
                            <a:srgbClr val="1E2124"/>
                          </a:solidFill>
                          <a:latin typeface="Yu Gothic"/>
                        </a:defRPr>
                      </a:pPr>
                      <a:r>
                        <a:t>0(無失点)</a:t>
                      </a:r>
                    </a:p>
                  </a:txBody>
                  <a:tcPr>
                    <a:solidFill>
                      <a:srgbClr val="F7F4EF"/>
                    </a:solidFill>
                  </a:tcPr>
                </a:tc>
              </a:tr>
              <a:tr h="502920">
                <a:tc>
                  <a:txBody>
                    <a:bodyPr/>
                    <a:lstStyle/>
                    <a:p>
                      <a:pPr>
                        <a:defRPr sz="1200">
                          <a:solidFill>
                            <a:srgbClr val="1E2124"/>
                          </a:solidFill>
                          <a:latin typeface="Yu Gothic"/>
                        </a:defRPr>
                      </a:pPr>
                      <a:r>
                        <a:t>最速球速</a:t>
                      </a:r>
                    </a:p>
                  </a:txBody>
                  <a:tcPr>
                    <a:solidFill>
                      <a:srgbClr val="FFFFFF"/>
                    </a:solidFill>
                  </a:tcPr>
                </a:tc>
                <a:tc>
                  <a:txBody>
                    <a:bodyPr/>
                    <a:lstStyle/>
                    <a:p>
                      <a:pPr>
                        <a:defRPr sz="1200">
                          <a:solidFill>
                            <a:srgbClr val="1E2124"/>
                          </a:solidFill>
                          <a:latin typeface="Yu Gothic"/>
                        </a:defRPr>
                      </a:pPr>
                      <a:r>
                        <a:t>155キロ・156キロを計7球</a:t>
                      </a:r>
                    </a:p>
                  </a:txBody>
                  <a:tcPr>
                    <a:solidFill>
                      <a:srgbClr val="FFFFFF"/>
                    </a:solidFill>
                  </a:tcPr>
                </a:tc>
              </a:tr>
              <a:tr h="502920">
                <a:tc>
                  <a:txBody>
                    <a:bodyPr/>
                    <a:lstStyle/>
                    <a:p>
                      <a:pPr>
                        <a:defRPr sz="1200">
                          <a:solidFill>
                            <a:srgbClr val="1E2124"/>
                          </a:solidFill>
                          <a:latin typeface="Yu Gothic"/>
                        </a:defRPr>
                      </a:pPr>
                      <a:r>
                        <a:t>直球平均球速</a:t>
                      </a:r>
                    </a:p>
                  </a:txBody>
                  <a:tcPr>
                    <a:solidFill>
                      <a:srgbClr val="F7F4EF"/>
                    </a:solidFill>
                  </a:tcPr>
                </a:tc>
                <a:tc>
                  <a:txBody>
                    <a:bodyPr/>
                    <a:lstStyle/>
                    <a:p>
                      <a:pPr>
                        <a:defRPr sz="1200">
                          <a:solidFill>
                            <a:srgbClr val="1E2124"/>
                          </a:solidFill>
                          <a:latin typeface="Yu Gothic"/>
                        </a:defRPr>
                      </a:pPr>
                      <a:r>
                        <a:t>152.5キロ</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読売新聞オンライン・神奈川新聞・高校野球ドットコム・ライブドアニュース(2026-08-18)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球速データをさらに深掘りする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156キロ</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最速球速</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155キロと合わせて計7球を記録</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152.5キロ</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直球平均球速</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9回を通じて高い平均値を維持</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計7球</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155〜156キロの本数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内訳(何球ずつか)は出典の範囲では確認できていない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読売新聞オンライン・神奈川新聞・高校野球ドットコム・ライブドアニュース(2026-08-18)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織田投手が完封に至るプロセス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9回を1人で投げ切る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完投で試合を締めくくる</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7安打に抑える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要所で花巻東打線を封じる</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10奪三振・無失点</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最速156キロを武器に完封を達成</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9回を投げ切り、無失点で終える。それが完封という結果につながった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読売新聞オンライン・神奈川新聞・高校野球ドットコム・ライブドアニュース(2026-08-18)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確認できていないこと(花巻東の投手・打撃内容)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花巻東側の先発投手の氏名・球種・被安打数といった詳細は、本調査の範囲では確認できていない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花巻東打線の具体的な打撃内容(誰がどのような打撃をしたか)も確認できていない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推測で選手名や内容を補わず、本成果物では『花巻東』『花巻東の打線』という総称にとどめる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確認できていないこと(次戦の対戦相手・日程)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こちらも正直にお伝えします。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横浜の次戦(準決勝)の対戦相手は、本調査時点では確認できていない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準決勝の日程(開催日)も、本調査時点では確認できていない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18年ぶりのベスト4進出という結果のみを事実として扱い、この先の展開を推測で補わない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18年ぶりのベスト4進出</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18年ぶり</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ベスト4進出の間隔</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横浜にとって節目となる記録</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6-0</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最終スコア</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完封勝利でベスト4進出を決めた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準々決勝第3試合</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対戦の位置づけ</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2026年8月18日13時開始で行われた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読売新聞オンライン・神奈川新聞・高校野球ドットコム・ライブドアニュース(2026-08-18)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節目の記録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18年ぶり4強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横浜は6-0で花巻東を下し、18年ぶりのベスト4進出を決めた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読売新聞オンライン・神奈川新聞・高校野球ドットコム・ライブドアニュース(2026-08-18)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横浜の躍進、投球と打撃の両面</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投球(織田投手)</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9回7安打10奪三振・無失点の完封</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最速156キロ、直球平均152.5キロ</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打撃・守備(チーム)</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1回捕逸で先制、4回追加点、5回適時打で5-0</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3回は江坂選手の好返球で同点機を阻止</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花巻東への配慮方針(本テーマ固有)</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本テーマで大切にしている点です。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花巻東は準々決勝でベスト4進出を逃したが、敗因を過度に貶める表現は避ける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本テーマでは横浜の勝利・織田投手の投球内容を中心に据え、花巻東側の未確認の詳細を推測で埋めて弱点視しない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3回の同点機を作ったこと自体は花巻東の攻撃として正確に伝える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未成年選手への配慮方針</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もう一つの配慮方針です。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出場選手は未成年であるため、個人の私生活を扇情的に扱わず、投球内容・チームの物語として構成する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実在選手の氏名は公表済みの範囲(織田選手・江坂選手・安食選手など)でテキストとしてのみ扱い、写真・肖像は使用しない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個々の選手への過度な注目・断定的な将来評価は避ける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高校野球ファンとして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球速・奪三振といった数字を、確認できた範囲の事実で正確に追うと理解が深まる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勝敗両方の結果を見る立場として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横浜の躍進だけでなく、花巻東の結果も同じ重みで受け止める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未確認の詳細(花巻東の投手内容・次戦の対戦相手)を推測で補わず、正確に伝える姿勢が信頼につながる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横浜の18年ぶりのベスト4進出は、大会通算の記録として位置づけられる(断定的な評価は避ける)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球速・奪三振という結果と、なぜそれが可能だったかという要因は別物であり、確認できていない要因を推測で埋めない視点が役立つ</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準決勝の日程・対戦相手は本調査の範囲では確認できていない(本調査時点の情報)</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この先の展開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準決勝進出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横浜はベスト4に進出した。準決勝の日程・対戦相手は本調査の範囲では確認できていない(本調査時点の情報)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読売新聞オンライン・神奈川新聞・高校野球ドットコム・ライブドアニュース(2026-08-18)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事実: 最終スコア6-0・織田投手の投球内容(9回7安打10奪三振無失点・最速156キロ・直球平均152.5キロ)・18年ぶりのベスト4進出</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推測: なし(本成果物では推測に基づく評価をほぼ用いず、事実の整理を優先している)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不明: 花巻東側の投手・打撃内容の詳細、次戦(準決勝)の対戦相手・日程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事実確認の一覧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状態</a:t>
                      </a:r>
                    </a:p>
                  </a:txBody>
                  <a:tcPr>
                    <a:solidFill>
                      <a:srgbClr val="3A4750"/>
                    </a:solidFill>
                  </a:tcPr>
                </a:tc>
              </a:tr>
              <a:tr h="502920">
                <a:tc>
                  <a:txBody>
                    <a:bodyPr/>
                    <a:lstStyle/>
                    <a:p>
                      <a:pPr>
                        <a:defRPr sz="1200">
                          <a:solidFill>
                            <a:srgbClr val="1E2124"/>
                          </a:solidFill>
                          <a:latin typeface="Yu Gothic"/>
                        </a:defRPr>
                      </a:pPr>
                      <a:r>
                        <a:t>最終スコア(6-0)</a:t>
                      </a:r>
                    </a:p>
                  </a:txBody>
                  <a:tcPr>
                    <a:solidFill>
                      <a:srgbClr val="FFFFFF"/>
                    </a:solidFill>
                  </a:tcPr>
                </a:tc>
                <a:tc>
                  <a:txBody>
                    <a:bodyPr/>
                    <a:lstStyle/>
                    <a:p>
                      <a:pPr>
                        <a:defRPr sz="1200">
                          <a:solidFill>
                            <a:srgbClr val="1E2124"/>
                          </a:solidFill>
                          <a:latin typeface="Yu Gothic"/>
                        </a:defRPr>
                      </a:pPr>
                      <a:r>
                        <a:t>確認済み(複数媒体一致)</a:t>
                      </a:r>
                    </a:p>
                  </a:txBody>
                  <a:tcPr>
                    <a:solidFill>
                      <a:srgbClr val="FFFFFF"/>
                    </a:solidFill>
                  </a:tcPr>
                </a:tc>
              </a:tr>
              <a:tr h="502920">
                <a:tc>
                  <a:txBody>
                    <a:bodyPr/>
                    <a:lstStyle/>
                    <a:p>
                      <a:pPr>
                        <a:defRPr sz="1200">
                          <a:solidFill>
                            <a:srgbClr val="1E2124"/>
                          </a:solidFill>
                          <a:latin typeface="Yu Gothic"/>
                        </a:defRPr>
                      </a:pPr>
                      <a:r>
                        <a:t>織田投手の投球内容(9回7安打10奪三振無失点・最速156キロ)</a:t>
                      </a:r>
                    </a:p>
                  </a:txBody>
                  <a:tcPr>
                    <a:solidFill>
                      <a:srgbClr val="F7F4EF"/>
                    </a:solidFill>
                  </a:tcPr>
                </a:tc>
                <a:tc>
                  <a:txBody>
                    <a:bodyPr/>
                    <a:lstStyle/>
                    <a:p>
                      <a:pPr>
                        <a:defRPr sz="1200">
                          <a:solidFill>
                            <a:srgbClr val="1E2124"/>
                          </a:solidFill>
                          <a:latin typeface="Yu Gothic"/>
                        </a:defRPr>
                      </a:pPr>
                      <a:r>
                        <a:t>確認済み(複数媒体一致)</a:t>
                      </a:r>
                    </a:p>
                  </a:txBody>
                  <a:tcPr>
                    <a:solidFill>
                      <a:srgbClr val="F7F4EF"/>
                    </a:solidFill>
                  </a:tcPr>
                </a:tc>
              </a:tr>
              <a:tr h="502920">
                <a:tc>
                  <a:txBody>
                    <a:bodyPr/>
                    <a:lstStyle/>
                    <a:p>
                      <a:pPr>
                        <a:defRPr sz="1200">
                          <a:solidFill>
                            <a:srgbClr val="1E2124"/>
                          </a:solidFill>
                          <a:latin typeface="Yu Gothic"/>
                        </a:defRPr>
                      </a:pPr>
                      <a:r>
                        <a:t>横浜の18年ぶりのベスト4進出</a:t>
                      </a:r>
                    </a:p>
                  </a:txBody>
                  <a:tcPr>
                    <a:solidFill>
                      <a:srgbClr val="FFFFFF"/>
                    </a:solidFill>
                  </a:tcPr>
                </a:tc>
                <a:tc>
                  <a:txBody>
                    <a:bodyPr/>
                    <a:lstStyle/>
                    <a:p>
                      <a:pPr>
                        <a:defRPr sz="1200">
                          <a:solidFill>
                            <a:srgbClr val="1E2124"/>
                          </a:solidFill>
                          <a:latin typeface="Yu Gothic"/>
                        </a:defRPr>
                      </a:pPr>
                      <a:r>
                        <a:t>確認済み</a:t>
                      </a:r>
                    </a:p>
                  </a:txBody>
                  <a:tcPr>
                    <a:solidFill>
                      <a:srgbClr val="FFFFFF"/>
                    </a:solidFill>
                  </a:tcPr>
                </a:tc>
              </a:tr>
              <a:tr h="502920">
                <a:tc>
                  <a:txBody>
                    <a:bodyPr/>
                    <a:lstStyle/>
                    <a:p>
                      <a:pPr>
                        <a:defRPr sz="1200">
                          <a:solidFill>
                            <a:srgbClr val="1E2124"/>
                          </a:solidFill>
                          <a:latin typeface="Yu Gothic"/>
                        </a:defRPr>
                      </a:pPr>
                      <a:r>
                        <a:t>花巻東側の投手・打撃内容の詳細</a:t>
                      </a:r>
                    </a:p>
                  </a:txBody>
                  <a:tcPr>
                    <a:solidFill>
                      <a:srgbClr val="F7F4EF"/>
                    </a:solidFill>
                  </a:tcPr>
                </a:tc>
                <a:tc>
                  <a:txBody>
                    <a:bodyPr/>
                    <a:lstStyle/>
                    <a:p>
                      <a:pPr>
                        <a:defRPr sz="1200">
                          <a:solidFill>
                            <a:srgbClr val="1E2124"/>
                          </a:solidFill>
                          <a:latin typeface="Yu Gothic"/>
                        </a:defRPr>
                      </a:pPr>
                      <a:r>
                        <a:t>未確認</a:t>
                      </a:r>
                    </a:p>
                  </a:txBody>
                  <a:tcPr>
                    <a:solidFill>
                      <a:srgbClr val="F7F4EF"/>
                    </a:solidFill>
                  </a:tcPr>
                </a:tc>
              </a:tr>
              <a:tr h="502920">
                <a:tc>
                  <a:txBody>
                    <a:bodyPr/>
                    <a:lstStyle/>
                    <a:p>
                      <a:pPr>
                        <a:defRPr sz="1200">
                          <a:solidFill>
                            <a:srgbClr val="1E2124"/>
                          </a:solidFill>
                          <a:latin typeface="Yu Gothic"/>
                        </a:defRPr>
                      </a:pPr>
                      <a:r>
                        <a:t>準決勝の対戦相手・日程</a:t>
                      </a:r>
                    </a:p>
                  </a:txBody>
                  <a:tcPr>
                    <a:solidFill>
                      <a:srgbClr val="FFFFFF"/>
                    </a:solidFill>
                  </a:tcPr>
                </a:tc>
                <a:tc>
                  <a:txBody>
                    <a:bodyPr/>
                    <a:lstStyle/>
                    <a:p>
                      <a:pPr>
                        <a:defRPr sz="1200">
                          <a:solidFill>
                            <a:srgbClr val="1E2124"/>
                          </a:solidFill>
                          <a:latin typeface="Yu Gothic"/>
                        </a:defRPr>
                      </a:pPr>
                      <a:r>
                        <a:t>未確認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読売新聞オンライン・神奈川新聞・高校野球ドットコム・ライブドアニュース(2026-08-18)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読売新聞オンライン(Yahoo!ニュース)</a:t>
                      </a:r>
                    </a:p>
                  </a:txBody>
                  <a:tcPr>
                    <a:solidFill>
                      <a:srgbClr val="FFFFFF"/>
                    </a:solidFill>
                  </a:tcPr>
                </a:tc>
                <a:tc>
                  <a:txBody>
                    <a:bodyPr/>
                    <a:lstStyle/>
                    <a:p>
                      <a:pPr>
                        <a:defRPr sz="1200">
                          <a:solidFill>
                            <a:srgbClr val="1E2124"/>
                          </a:solidFill>
                          <a:latin typeface="Yu Gothic"/>
                        </a:defRPr>
                      </a:pPr>
                      <a:r>
                        <a:t>試合結果・投球内容の報道(2026-08-18)</a:t>
                      </a:r>
                    </a:p>
                  </a:txBody>
                  <a:tcPr>
                    <a:solidFill>
                      <a:srgbClr val="FFFFFF"/>
                    </a:solidFill>
                  </a:tcPr>
                </a:tc>
              </a:tr>
              <a:tr h="502920">
                <a:tc>
                  <a:txBody>
                    <a:bodyPr/>
                    <a:lstStyle/>
                    <a:p>
                      <a:pPr>
                        <a:defRPr sz="1200">
                          <a:solidFill>
                            <a:srgbClr val="1E2124"/>
                          </a:solidFill>
                          <a:latin typeface="Yu Gothic"/>
                        </a:defRPr>
                      </a:pPr>
                      <a:r>
                        <a:t>神奈川新聞(カナロコ)</a:t>
                      </a:r>
                    </a:p>
                  </a:txBody>
                  <a:tcPr>
                    <a:solidFill>
                      <a:srgbClr val="F7F4EF"/>
                    </a:solidFill>
                  </a:tcPr>
                </a:tc>
                <a:tc>
                  <a:txBody>
                    <a:bodyPr/>
                    <a:lstStyle/>
                    <a:p>
                      <a:pPr>
                        <a:defRPr sz="1200">
                          <a:solidFill>
                            <a:srgbClr val="1E2124"/>
                          </a:solidFill>
                          <a:latin typeface="Yu Gothic"/>
                        </a:defRPr>
                      </a:pPr>
                      <a:r>
                        <a:t>試合結果・得点経過の確認(2026-08-18)</a:t>
                      </a:r>
                    </a:p>
                  </a:txBody>
                  <a:tcPr>
                    <a:solidFill>
                      <a:srgbClr val="F7F4EF"/>
                    </a:solidFill>
                  </a:tcPr>
                </a:tc>
              </a:tr>
              <a:tr h="502920">
                <a:tc>
                  <a:txBody>
                    <a:bodyPr/>
                    <a:lstStyle/>
                    <a:p>
                      <a:pPr>
                        <a:defRPr sz="1200">
                          <a:solidFill>
                            <a:srgbClr val="1E2124"/>
                          </a:solidFill>
                          <a:latin typeface="Yu Gothic"/>
                        </a:defRPr>
                      </a:pPr>
                      <a:r>
                        <a:t>高校野球ドットコム(Yahoo!ニュース)</a:t>
                      </a:r>
                    </a:p>
                  </a:txBody>
                  <a:tcPr>
                    <a:solidFill>
                      <a:srgbClr val="FFFFFF"/>
                    </a:solidFill>
                  </a:tcPr>
                </a:tc>
                <a:tc>
                  <a:txBody>
                    <a:bodyPr/>
                    <a:lstStyle/>
                    <a:p>
                      <a:pPr>
                        <a:defRPr sz="1200">
                          <a:solidFill>
                            <a:srgbClr val="1E2124"/>
                          </a:solidFill>
                          <a:latin typeface="Yu Gothic"/>
                        </a:defRPr>
                      </a:pPr>
                      <a:r>
                        <a:t>投球データ・奪三振数の確認(2026-08-18)</a:t>
                      </a:r>
                    </a:p>
                  </a:txBody>
                  <a:tcPr>
                    <a:solidFill>
                      <a:srgbClr val="FFFFFF"/>
                    </a:solidFill>
                  </a:tcPr>
                </a:tc>
              </a:tr>
              <a:tr h="502920">
                <a:tc>
                  <a:txBody>
                    <a:bodyPr/>
                    <a:lstStyle/>
                    <a:p>
                      <a:pPr>
                        <a:defRPr sz="1200">
                          <a:solidFill>
                            <a:srgbClr val="1E2124"/>
                          </a:solidFill>
                          <a:latin typeface="Yu Gothic"/>
                        </a:defRPr>
                      </a:pPr>
                      <a:r>
                        <a:t>ライブドアニュース</a:t>
                      </a:r>
                    </a:p>
                  </a:txBody>
                  <a:tcPr>
                    <a:solidFill>
                      <a:srgbClr val="F7F4EF"/>
                    </a:solidFill>
                  </a:tcPr>
                </a:tc>
                <a:tc>
                  <a:txBody>
                    <a:bodyPr/>
                    <a:lstStyle/>
                    <a:p>
                      <a:pPr>
                        <a:defRPr sz="1200">
                          <a:solidFill>
                            <a:srgbClr val="1E2124"/>
                          </a:solidFill>
                          <a:latin typeface="Yu Gothic"/>
                        </a:defRPr>
                      </a:pPr>
                      <a:r>
                        <a:t>試合結果の確認(2026-08-18)</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読売新聞オンライン(Yahoo!ニュース)・神奈川新聞(カナロコ)・高校野球ドットコム(Yahoo!ニュース)・ライブドアニュース(2026年8月18日時点)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156キロ連発、10奪三振完封で18年ぶりの4強へ。横浜の快投を正確に整理</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6-0という結果と、織田翔希投手の圧巻の投球内容を、それぞれ正確に出典付きで整理してお届けしました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