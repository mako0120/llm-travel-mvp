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史上最大のオープンウェイトAIモデルとされ、前モデルKimi K2.6のほぼ3倍の規模。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モデルの仕様を表で整理する。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アーキテクチャの特徴を紹介する。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発表から公開までの流れを図で示す。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ダウンロードサイズを表で示す。個人が気軽に扱える規模ではないことも正直に伝える。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オープンウェイトの意義を紹介する。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両者の違いを対比で見せる。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企業視点での利点を紹介する。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実用性について正直に伝える。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前モデルとの比較を表で示す。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ベンチマーク評価は慎重に扱う。特定の競合モデル名は挙げない(自己言及回避方針)。</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政治・対立を煽らないという制作方針、自己言及回避方針を明確に伝える。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2.8兆パラメータの巨大AIモデル、中身が無料で公開された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中国・Moonshot AIの「Kimi K3」、史上最大のオープンウェイトAIモデルが2026年7月27日に無償公開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TechTimes, Tom's Hardware, Simon Willison's Weblog(2026-07)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承: モデルの仕様を詳しく見る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転: オープンウェイトが何を意味するか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オープンウェイト</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AIモデルの学習済みパラメータ(重み)を誰でも入手・改変・自社運用できる形で公開する方式</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パラメータ</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AIモデルの中で学習によって調整される数値。多いほど表現力が高い傾向がある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開発企業</a:t>
                      </a:r>
                    </a:p>
                  </a:txBody>
                  <a:tcPr>
                    <a:solidFill>
                      <a:srgbClr val="FFFFFF"/>
                    </a:solidFill>
                  </a:tcPr>
                </a:tc>
                <a:tc>
                  <a:txBody>
                    <a:bodyPr/>
                    <a:lstStyle/>
                    <a:p>
                      <a:pPr>
                        <a:defRPr sz="1200">
                          <a:solidFill>
                            <a:srgbClr val="20261F"/>
                          </a:solidFill>
                          <a:latin typeface="Yu Gothic"/>
                        </a:defRPr>
                      </a:pPr>
                      <a:r>
                        <a:t>Moonshot AI(北京拠点)</a:t>
                      </a:r>
                    </a:p>
                  </a:txBody>
                  <a:tcPr>
                    <a:solidFill>
                      <a:srgbClr val="FFFFFF"/>
                    </a:solidFill>
                  </a:tcPr>
                </a:tc>
              </a:tr>
              <a:tr h="502920">
                <a:tc>
                  <a:txBody>
                    <a:bodyPr/>
                    <a:lstStyle/>
                    <a:p>
                      <a:pPr>
                        <a:defRPr sz="1200">
                          <a:solidFill>
                            <a:srgbClr val="20261F"/>
                          </a:solidFill>
                          <a:latin typeface="Yu Gothic"/>
                        </a:defRPr>
                      </a:pPr>
                      <a:r>
                        <a:t>モデル名</a:t>
                      </a:r>
                    </a:p>
                  </a:txBody>
                  <a:tcPr>
                    <a:solidFill>
                      <a:srgbClr val="F4F1E6"/>
                    </a:solidFill>
                  </a:tcPr>
                </a:tc>
                <a:tc>
                  <a:txBody>
                    <a:bodyPr/>
                    <a:lstStyle/>
                    <a:p>
                      <a:pPr>
                        <a:defRPr sz="1200">
                          <a:solidFill>
                            <a:srgbClr val="20261F"/>
                          </a:solidFill>
                          <a:latin typeface="Yu Gothic"/>
                        </a:defRPr>
                      </a:pPr>
                      <a:r>
                        <a:t>Kimi K3</a:t>
                      </a:r>
                    </a:p>
                  </a:txBody>
                  <a:tcPr>
                    <a:solidFill>
                      <a:srgbClr val="F4F1E6"/>
                    </a:solidFill>
                  </a:tcPr>
                </a:tc>
              </a:tr>
              <a:tr h="502920">
                <a:tc>
                  <a:txBody>
                    <a:bodyPr/>
                    <a:lstStyle/>
                    <a:p>
                      <a:pPr>
                        <a:defRPr sz="1200">
                          <a:solidFill>
                            <a:srgbClr val="20261F"/>
                          </a:solidFill>
                          <a:latin typeface="Yu Gothic"/>
                        </a:defRPr>
                      </a:pPr>
                      <a:r>
                        <a:t>発表日</a:t>
                      </a:r>
                    </a:p>
                  </a:txBody>
                  <a:tcPr>
                    <a:solidFill>
                      <a:srgbClr val="FFFFFF"/>
                    </a:solidFill>
                  </a:tcPr>
                </a:tc>
                <a:tc>
                  <a:txBody>
                    <a:bodyPr/>
                    <a:lstStyle/>
                    <a:p>
                      <a:pPr>
                        <a:defRPr sz="1200">
                          <a:solidFill>
                            <a:srgbClr val="20261F"/>
                          </a:solidFill>
                          <a:latin typeface="Yu Gothic"/>
                        </a:defRPr>
                      </a:pPr>
                      <a:r>
                        <a:t>2026年7月16日(上海WAIC 2026にて)</a:t>
                      </a:r>
                    </a:p>
                  </a:txBody>
                  <a:tcPr>
                    <a:solidFill>
                      <a:srgbClr val="FFFFFF"/>
                    </a:solidFill>
                  </a:tcPr>
                </a:tc>
              </a:tr>
              <a:tr h="502920">
                <a:tc>
                  <a:txBody>
                    <a:bodyPr/>
                    <a:lstStyle/>
                    <a:p>
                      <a:pPr>
                        <a:defRPr sz="1200">
                          <a:solidFill>
                            <a:srgbClr val="20261F"/>
                          </a:solidFill>
                          <a:latin typeface="Yu Gothic"/>
                        </a:defRPr>
                      </a:pPr>
                      <a:r>
                        <a:t>重み公開日</a:t>
                      </a:r>
                    </a:p>
                  </a:txBody>
                  <a:tcPr>
                    <a:solidFill>
                      <a:srgbClr val="F4F1E6"/>
                    </a:solidFill>
                  </a:tcPr>
                </a:tc>
                <a:tc>
                  <a:txBody>
                    <a:bodyPr/>
                    <a:lstStyle/>
                    <a:p>
                      <a:pPr>
                        <a:defRPr sz="1200">
                          <a:solidFill>
                            <a:srgbClr val="20261F"/>
                          </a:solidFill>
                          <a:latin typeface="Yu Gothic"/>
                        </a:defRPr>
                      </a:pPr>
                      <a:r>
                        <a:t>2026年7月27日 00:00 UTC</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Simon Willison's Weblog(2026-07-16)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総パラメータ数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2.8兆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Tom's Hardware・Labellerrの報道による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Tom's Hardware(2026-07)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モデルの主な仕様</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総パラメータ数</a:t>
                      </a:r>
                    </a:p>
                  </a:txBody>
                  <a:tcPr>
                    <a:solidFill>
                      <a:srgbClr val="FFFFFF"/>
                    </a:solidFill>
                  </a:tcPr>
                </a:tc>
                <a:tc>
                  <a:txBody>
                    <a:bodyPr/>
                    <a:lstStyle/>
                    <a:p>
                      <a:pPr>
                        <a:defRPr sz="1200">
                          <a:solidFill>
                            <a:srgbClr val="20261F"/>
                          </a:solidFill>
                          <a:latin typeface="Yu Gothic"/>
                        </a:defRPr>
                      </a:pPr>
                      <a:r>
                        <a:t>2.8兆</a:t>
                      </a:r>
                    </a:p>
                  </a:txBody>
                  <a:tcPr>
                    <a:solidFill>
                      <a:srgbClr val="FFFFFF"/>
                    </a:solidFill>
                  </a:tcPr>
                </a:tc>
              </a:tr>
              <a:tr h="502920">
                <a:tc>
                  <a:txBody>
                    <a:bodyPr/>
                    <a:lstStyle/>
                    <a:p>
                      <a:pPr>
                        <a:defRPr sz="1200">
                          <a:solidFill>
                            <a:srgbClr val="20261F"/>
                          </a:solidFill>
                          <a:latin typeface="Yu Gothic"/>
                        </a:defRPr>
                      </a:pPr>
                      <a:r>
                        <a:t>エキスパート数</a:t>
                      </a:r>
                    </a:p>
                  </a:txBody>
                  <a:tcPr>
                    <a:solidFill>
                      <a:srgbClr val="F4F1E6"/>
                    </a:solidFill>
                  </a:tcPr>
                </a:tc>
                <a:tc>
                  <a:txBody>
                    <a:bodyPr/>
                    <a:lstStyle/>
                    <a:p>
                      <a:pPr>
                        <a:defRPr sz="1200">
                          <a:solidFill>
                            <a:srgbClr val="20261F"/>
                          </a:solidFill>
                          <a:latin typeface="Yu Gothic"/>
                        </a:defRPr>
                      </a:pPr>
                      <a:r>
                        <a:t>896個(うち16個のみ各トークンで活性化)</a:t>
                      </a:r>
                    </a:p>
                  </a:txBody>
                  <a:tcPr>
                    <a:solidFill>
                      <a:srgbClr val="F4F1E6"/>
                    </a:solidFill>
                  </a:tcPr>
                </a:tc>
              </a:tr>
              <a:tr h="502920">
                <a:tc>
                  <a:txBody>
                    <a:bodyPr/>
                    <a:lstStyle/>
                    <a:p>
                      <a:pPr>
                        <a:defRPr sz="1200">
                          <a:solidFill>
                            <a:srgbClr val="20261F"/>
                          </a:solidFill>
                          <a:latin typeface="Yu Gothic"/>
                        </a:defRPr>
                      </a:pPr>
                      <a:r>
                        <a:t>実効パラメータ数</a:t>
                      </a:r>
                    </a:p>
                  </a:txBody>
                  <a:tcPr>
                    <a:solidFill>
                      <a:srgbClr val="FFFFFF"/>
                    </a:solidFill>
                  </a:tcPr>
                </a:tc>
                <a:tc>
                  <a:txBody>
                    <a:bodyPr/>
                    <a:lstStyle/>
                    <a:p>
                      <a:pPr>
                        <a:defRPr sz="1200">
                          <a:solidFill>
                            <a:srgbClr val="20261F"/>
                          </a:solidFill>
                          <a:latin typeface="Yu Gothic"/>
                        </a:defRPr>
                      </a:pPr>
                      <a:r>
                        <a:t>約500億(活性化分のみ)</a:t>
                      </a:r>
                    </a:p>
                  </a:txBody>
                  <a:tcPr>
                    <a:solidFill>
                      <a:srgbClr val="FFFFFF"/>
                    </a:solidFill>
                  </a:tcPr>
                </a:tc>
              </a:tr>
              <a:tr h="502920">
                <a:tc>
                  <a:txBody>
                    <a:bodyPr/>
                    <a:lstStyle/>
                    <a:p>
                      <a:pPr>
                        <a:defRPr sz="1200">
                          <a:solidFill>
                            <a:srgbClr val="20261F"/>
                          </a:solidFill>
                          <a:latin typeface="Yu Gothic"/>
                        </a:defRPr>
                      </a:pPr>
                      <a:r>
                        <a:t>コンテキスト長</a:t>
                      </a:r>
                    </a:p>
                  </a:txBody>
                  <a:tcPr>
                    <a:solidFill>
                      <a:srgbClr val="F4F1E6"/>
                    </a:solidFill>
                  </a:tcPr>
                </a:tc>
                <a:tc>
                  <a:txBody>
                    <a:bodyPr/>
                    <a:lstStyle/>
                    <a:p>
                      <a:pPr>
                        <a:defRPr sz="1200">
                          <a:solidFill>
                            <a:srgbClr val="20261F"/>
                          </a:solidFill>
                          <a:latin typeface="Yu Gothic"/>
                        </a:defRPr>
                      </a:pPr>
                      <a:r>
                        <a:t>最大100万トークン</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Simon Willison's Weblog(2026-07-16)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アーキテクチャの特徴</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Kimi Delta Attention(KDA)</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ハイブリッド線形アテンション機構を採用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ネイティブ・マルチモーダル</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画像等の入力にも標準で対応</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スパースMoE構造</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896個のエキスパートのうち16個のみを都度使う効率設計</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Simon Willison's Weblog(2026-07-16)</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発表から公開までの流れ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2026年7月16日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上海WAIC 2026でKimi K3を発表、API・Webチャットを先行公開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2026年7月16日〜27日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配布インフラの準備期間(推測)</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2026年7月27日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モデルの重み(オープンウェイト)を無償公開</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TechTimes(2026-07-25時点の予告報道)</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ダウンロードサイズ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形式</a:t>
                      </a:r>
                    </a:p>
                  </a:txBody>
                  <a:tcPr>
                    <a:solidFill>
                      <a:srgbClr val="24523F"/>
                    </a:solidFill>
                  </a:tcPr>
                </a:tc>
                <a:tc>
                  <a:txBody>
                    <a:bodyPr/>
                    <a:lstStyle/>
                    <a:p>
                      <a:pPr>
                        <a:defRPr sz="1300" b="1">
                          <a:solidFill>
                            <a:srgbClr val="FFFFFF"/>
                          </a:solidFill>
                          <a:latin typeface="Yu Gothic"/>
                        </a:defRPr>
                      </a:pPr>
                      <a:r>
                        <a:t>サイズ</a:t>
                      </a:r>
                    </a:p>
                  </a:txBody>
                  <a:tcPr>
                    <a:solidFill>
                      <a:srgbClr val="24523F"/>
                    </a:solidFill>
                  </a:tcPr>
                </a:tc>
              </a:tr>
              <a:tr h="502920">
                <a:tc>
                  <a:txBody>
                    <a:bodyPr/>
                    <a:lstStyle/>
                    <a:p>
                      <a:pPr>
                        <a:defRPr sz="1200">
                          <a:solidFill>
                            <a:srgbClr val="20261F"/>
                          </a:solidFill>
                          <a:latin typeface="Yu Gothic"/>
                        </a:defRPr>
                      </a:pPr>
                      <a:r>
                        <a:t>MXFP4(4bit形式、公開される形式)</a:t>
                      </a:r>
                    </a:p>
                  </a:txBody>
                  <a:tcPr>
                    <a:solidFill>
                      <a:srgbClr val="FFFFFF"/>
                    </a:solidFill>
                  </a:tcPr>
                </a:tc>
                <a:tc>
                  <a:txBody>
                    <a:bodyPr/>
                    <a:lstStyle/>
                    <a:p>
                      <a:pPr>
                        <a:defRPr sz="1200">
                          <a:solidFill>
                            <a:srgbClr val="20261F"/>
                          </a:solidFill>
                          <a:latin typeface="Yu Gothic"/>
                        </a:defRPr>
                      </a:pPr>
                      <a:r>
                        <a:t>約1.4テラバイト</a:t>
                      </a:r>
                    </a:p>
                  </a:txBody>
                  <a:tcPr>
                    <a:solidFill>
                      <a:srgbClr val="FFFFFF"/>
                    </a:solidFill>
                  </a:tcPr>
                </a:tc>
              </a:tr>
              <a:tr h="502920">
                <a:tc>
                  <a:txBody>
                    <a:bodyPr/>
                    <a:lstStyle/>
                    <a:p>
                      <a:pPr>
                        <a:defRPr sz="1200">
                          <a:solidFill>
                            <a:srgbClr val="20261F"/>
                          </a:solidFill>
                          <a:latin typeface="Yu Gothic"/>
                        </a:defRPr>
                      </a:pPr>
                      <a:r>
                        <a:t>16bit精度で扱う場合(参考)</a:t>
                      </a:r>
                    </a:p>
                  </a:txBody>
                  <a:tcPr>
                    <a:solidFill>
                      <a:srgbClr val="F4F1E6"/>
                    </a:solidFill>
                  </a:tcPr>
                </a:tc>
                <a:tc>
                  <a:txBody>
                    <a:bodyPr/>
                    <a:lstStyle/>
                    <a:p>
                      <a:pPr>
                        <a:defRPr sz="1200">
                          <a:solidFill>
                            <a:srgbClr val="20261F"/>
                          </a:solidFill>
                          <a:latin typeface="Yu Gothic"/>
                        </a:defRPr>
                      </a:pPr>
                      <a:r>
                        <a:t>約5.6テラバイト</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TECHi(2026-07)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オープンウェイトとは何か(メリット)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自社運用できる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企業は自社サーバー上でモデルを動かせる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改変できる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用途に合わせてモデルを調整(ファインチューニング)できる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外部送信が不要</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外部APIにデータを送信せずに利用できる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TechTimes(2026-07-25時点の予告報道)</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クローズドAPI利用 と オープンウェイト自己ホストの違い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クローズドAPI利用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提供企業のサーバー経由で利用</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データが外部に送信される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運用の手間が少ない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オープンウェイト自己ホスト</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自社サーバーで運用できる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データを外部に送信せずに済む</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大規模なハードウェアが必要</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自己ホスティングの利点(企業にとって)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データの取り扱い</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機密情報を外部に送信せずに処理できる可能性がある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コストの見通し</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API従量課金ではなく、自社インフラのコストで運用できる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誰が使えるのか(実用面)</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個人利用は現実的に難しい</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1.4TBのダウンロード・大規模GPUが必要なため、個人が手軽に動かせる規模ではない</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主な利用者は企業・研究機関</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自社インフラを持つ企業やクラウド事業者が主な利用者になると考えられる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前モデルとの比較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Kimi K2.6</a:t>
                      </a:r>
                    </a:p>
                  </a:txBody>
                  <a:tcPr>
                    <a:solidFill>
                      <a:srgbClr val="24523F"/>
                    </a:solidFill>
                  </a:tcPr>
                </a:tc>
                <a:tc>
                  <a:txBody>
                    <a:bodyPr/>
                    <a:lstStyle/>
                    <a:p>
                      <a:pPr>
                        <a:defRPr sz="1300" b="1">
                          <a:solidFill>
                            <a:srgbClr val="FFFFFF"/>
                          </a:solidFill>
                          <a:latin typeface="Yu Gothic"/>
                        </a:defRPr>
                      </a:pPr>
                      <a:r>
                        <a:t>Kimi K3</a:t>
                      </a:r>
                    </a:p>
                  </a:txBody>
                  <a:tcPr>
                    <a:solidFill>
                      <a:srgbClr val="24523F"/>
                    </a:solidFill>
                  </a:tcPr>
                </a:tc>
              </a:tr>
              <a:tr h="502920">
                <a:tc>
                  <a:txBody>
                    <a:bodyPr/>
                    <a:lstStyle/>
                    <a:p>
                      <a:pPr>
                        <a:defRPr sz="1200">
                          <a:solidFill>
                            <a:srgbClr val="20261F"/>
                          </a:solidFill>
                          <a:latin typeface="Yu Gothic"/>
                        </a:defRPr>
                      </a:pPr>
                      <a:r>
                        <a:t>総パラメータ数</a:t>
                      </a:r>
                    </a:p>
                  </a:txBody>
                  <a:tcPr>
                    <a:solidFill>
                      <a:srgbClr val="FFFFFF"/>
                    </a:solidFill>
                  </a:tcPr>
                </a:tc>
                <a:tc>
                  <a:txBody>
                    <a:bodyPr/>
                    <a:lstStyle/>
                    <a:p>
                      <a:pPr>
                        <a:defRPr sz="1200">
                          <a:solidFill>
                            <a:srgbClr val="20261F"/>
                          </a:solidFill>
                          <a:latin typeface="Yu Gothic"/>
                        </a:defRPr>
                      </a:pPr>
                      <a:r>
                        <a:t>約1兆(報道ベース)</a:t>
                      </a:r>
                    </a:p>
                  </a:txBody>
                  <a:tcPr>
                    <a:solidFill>
                      <a:srgbClr val="FFFFFF"/>
                    </a:solidFill>
                  </a:tcPr>
                </a:tc>
                <a:tc>
                  <a:txBody>
                    <a:bodyPr/>
                    <a:lstStyle/>
                    <a:p>
                      <a:pPr>
                        <a:defRPr sz="1200">
                          <a:solidFill>
                            <a:srgbClr val="20261F"/>
                          </a:solidFill>
                          <a:latin typeface="Yu Gothic"/>
                        </a:defRPr>
                      </a:pPr>
                      <a:r>
                        <a:t>2.8兆</a:t>
                      </a:r>
                    </a:p>
                  </a:txBody>
                  <a:tcPr>
                    <a:solidFill>
                      <a:srgbClr val="FFFFFF"/>
                    </a:solidFill>
                  </a:tcPr>
                </a:tc>
              </a:tr>
              <a:tr h="502920">
                <a:tc>
                  <a:txBody>
                    <a:bodyPr/>
                    <a:lstStyle/>
                    <a:p>
                      <a:pPr>
                        <a:defRPr sz="1200">
                          <a:solidFill>
                            <a:srgbClr val="20261F"/>
                          </a:solidFill>
                          <a:latin typeface="Yu Gothic"/>
                        </a:defRPr>
                      </a:pPr>
                      <a:r>
                        <a:t>規模の変化</a:t>
                      </a:r>
                    </a:p>
                  </a:txBody>
                  <a:tcPr>
                    <a:solidFill>
                      <a:srgbClr val="F4F1E6"/>
                    </a:solidFill>
                  </a:tcPr>
                </a:tc>
                <a:tc>
                  <a:txBody>
                    <a:bodyPr/>
                    <a:lstStyle/>
                    <a:p>
                      <a:pPr>
                        <a:defRPr sz="1200">
                          <a:solidFill>
                            <a:srgbClr val="20261F"/>
                          </a:solidFill>
                          <a:latin typeface="Yu Gothic"/>
                        </a:defRPr>
                      </a:pPr>
                      <a:r>
                        <a:t>-</a:t>
                      </a:r>
                    </a:p>
                  </a:txBody>
                  <a:tcPr>
                    <a:solidFill>
                      <a:srgbClr val="F4F1E6"/>
                    </a:solidFill>
                  </a:tcPr>
                </a:tc>
                <a:tc>
                  <a:txBody>
                    <a:bodyPr/>
                    <a:lstStyle/>
                    <a:p>
                      <a:pPr>
                        <a:defRPr sz="1200">
                          <a:solidFill>
                            <a:srgbClr val="20261F"/>
                          </a:solidFill>
                          <a:latin typeface="Yu Gothic"/>
                        </a:defRPr>
                      </a:pPr>
                      <a:r>
                        <a:t>約3倍</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Tom's Hardware(2026-07)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ベンチマークについて(慎重な扱い)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一部評価で高スコア</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コーディング・エージェント関連の一部評価で、他の主要モデルの多くを上回ったと報じられている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断定はしない</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情報源により数値が異なるため、本動画では特定モデルとの数値比較を断定的には扱わない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Tom's Hardware(2026-07)</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各社が報じるベンチマークスコアの一部は情報源により数値が異なり、断定的な比較としては扱わなかった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具体的な学習データ・学習コスト、商用利用時のライセンス条件の詳細は確認できなかった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見送った候補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鈴木誠也選手の18号本塁打</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既存テーマ(村上・岡本)と切り口が近く見送り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Huawei Cloudのタイ展開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訴求力・日本需要の面で見送り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これが意味すること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オープンモデルの大規模化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非公開モデルとの性能差が報道ベースで縮まりつつある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選択肢の拡大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企業がAPI利用か自己ホストかを選べる場面が増える</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インフラ要件の高さ</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大規模モデルを動かすには相応のハードウェアが必要</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これは何を意味するのか(企業にとって)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オープンウェイトの巨大モデルが増えることで、API利用と自己ホストを比較検討する余地が広がる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実際に自社運用するには大規模なハードウェア投資が必要になる点は変わらない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こんな人におすすめ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AI・エージェント開発に関わる人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オープンウェイトモデルの選択肢を知りたい人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自社インフラでのAI活用を検討中の企業担当者</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自己ホストの選択肢を知りたい人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よくある疑問(Q&amp;A)</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無料で使えるの?</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重みの入手自体は無償だが、動かすには大規模なハードウェアが必要</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商用利用はできるの?</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ライセンス条件の詳細は本調査時点では確認できていない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動向を追う場合の進め方(目安)</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①公式発表を確認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Moonshot AI・Hugging Face上の公式情報を確認する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②独立系の検証を待つ</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第三者によるベンチマーク検証を確認する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③自社要件と照らす</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自社のハードウェア・データ要件と照らして検討する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個人にとっての影響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個人が直接このモデルを動かす場面は当面少ないと考えられる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一方で、オープンウェイトモデルを使ったサービス・製品が今後増える可能性がある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不明点・注意点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ベンチマークスコアの一部は情報源により数値が異なり、断定的な比較はできない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具体的な学習データ・学習コスト、商用ライセンス条件の詳細は確認できなかった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リスク配慮のポイント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政治的対立構造には触れない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過去に報じられた蒸留疑惑等の政治的な話題は本動画の対象外とする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事実紹介に徹する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モデルの技術・製品面の事実を淡々と紹介する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自己言及を避ける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本シリーズを制作しているClaude/Anthropicの製品名は使用しない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検品結果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verify_pptx.py</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同一レイアウト連続チェック</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r h="502920">
                <a:tc>
                  <a:txBody>
                    <a:bodyPr/>
                    <a:lstStyle/>
                    <a:p>
                      <a:pPr>
                        <a:defRPr sz="1200">
                          <a:solidFill>
                            <a:srgbClr val="20261F"/>
                          </a:solidFill>
                          <a:latin typeface="Yu Gothic"/>
                        </a:defRPr>
                      </a:pPr>
                      <a:r>
                        <a:t>bullets比率チェック</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対話原稿スライド数整合性</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TechTimes / Tom's Hardware / Simon Willison's Weblog / TECHi</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VentureBeat / interconnects.ai / Labellerr / JBpress(日本語)</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オープンウェイトの巨大AIモデルが、また一つ増えた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2.8兆パラメータのKimi K3が2026年7月27日に無償公開。実際に動かすには大規模なインフラが必要</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興味があれば、公式サイト・Hugging Faceで最新情報を確認してみる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次回予告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AI/エージェント系のオープンモデル動向は今後も続くテーマ</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定期実行42本目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