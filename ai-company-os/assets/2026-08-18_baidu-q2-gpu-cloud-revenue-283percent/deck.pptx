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GPUクラウド売上成長率(前年比)</c:v>
                </c:pt>
              </c:strCache>
            </c:strRef>
          </c:tx>
          <c:spPr>
            <a:solidFill>
              <a:srgbClr val="2B3A55"/>
            </a:solidFill>
          </c:spPr>
          <c:cat>
            <c:strRef>
              <c:f>Sheet1!$A$2:$A$3</c:f>
              <c:strCache>
                <c:ptCount val="2"/>
                <c:pt idx="0">
                  <c:v>前四半期</c:v>
                </c:pt>
                <c:pt idx="1">
                  <c:v>今四半期(2026年Q2)</c:v>
                </c:pt>
              </c:strCache>
            </c:strRef>
          </c:cat>
          <c:val>
            <c:numRef>
              <c:f>Sheet1!$B$2:$B$3</c:f>
              <c:numCache>
                <c:formatCode>General</c:formatCode>
                <c:ptCount val="2"/>
                <c:pt idx="0">
                  <c:v>184</c:v>
                </c:pt>
                <c:pt idx="1">
                  <c:v>283</c:v>
                </c:pt>
              </c:numCache>
            </c:numRef>
          </c:val>
        </c:ser>
        <c:dLbls>
          <c:numFmt formatCode="0&quot;%&quot;" sourceLinked="0"/>
          <c:txPr>
            <a:bodyPr/>
            <a:lstStyle/>
            <a:p>
              <a:pPr>
                <a:defRPr sz="1200" b="1">
                  <a:solidFill>
                    <a:srgbClr val="2B3A55"/>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国Baidu(百度)が2026年8月18日、2026年第2四半期決算を発表しました。広告収益は前年比19%減少しましたが、GPUクラウド売上高がまさかの283%増となり、この落ち込みを相殺しています。今日はこの決算の数字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Baiduの2026年第2四半期は、広告収益が前年比19%減少した一方、AIクラウド・インフラ売上高は50%増の73億人民元、うちGPUクラウド売上高は283%増に達しました。ここから数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今日は6つの流れでお伝えします。決算の数字からBaidu Core全体の成長、千帆の外部顧客利用動向まで、正確に数字を引用しながら整理します。誇張せず、確認できなかったことは正直にお伝えします。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発表当日という新しさに加えて、GPUクラウド売上高283%増という際立った伸び率、広告収益減少を相殺したという事業構造の転換点があります。複数の媒体が数字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Baiduという企業の前提を確認します。検索エンジン・広告事業を中核としてきた中国のテクノロジー企業で、近年はAIクラウド・インフラ事業への投資を拡大しています。本編は決算・事業動向の事実紹介であり、利用・投資を勧め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AIクラウド・インフラはAI処理向けのクラウド計算資源を提供する事業、GPUクラウドはAI処理に特化した演算装置を貸し出すサービスです。千帆はBaiduが提供するAI開発プラットフォーム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広告収益を確認します。2026年第2四半期の広告収益は前年同期比19%減少しました。次に、この落ち込みを相殺したAIクラウド・インフラ事業の数字を確認します。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AIクラウド・インフラ売上高です。前年同期比50%増の73億人民元でした。広告収益の落ち込みを相殺する主力事業として伸びています。次に、その中でも特に伸びているGPUクラウド売上高を確認します。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GPUクラウド売上高です。前年同期比283%増を記録しました。前四半期の184%増からさらに加速しています。AIクラウド・インフラ事業全体(50%増)の中でも、特に高い伸びを示す数字です。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決算の概要を一覧にしました。広告収益は19%減少した一方、AIクラウド・インフラ売上高は50%増、GPUクラウド売上高は283%増、Baidu Core全体は25%成長です。次に、それぞれの数字を1つずつ深掘りします。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Baidu Core、AI駆動のコア事業全体です。広告収益の減少があったにもかかわらず、AIクラウド事業の急成長により、コア事業全体では前年比25%の成長を記録しています。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決算数字をまとめました。広告収益は19%減少、AIクラウド・インフラ売上高は50%増、GPUクラウド売上高は283%増、Baidu Core全体は25%成長。いずれも前年同期比の数字です。次に、GPUクラウドの成長加速を詳しく見ます。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GPUクラウド売上高の成長率推移です。前四半期の184%増から、今四半期は283%増へとさらに加速しました。加速のペースそのものが、この決算の注目点です。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整理します。GPUクラウドの伸び率とAIクラウド・インフラ全体の伸び率は別の指標です。GPUクラウド単体の金額や、広告減少分とAIクラウド増加分を差し引きした金額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千帆の外部顧客利用動向です。BaiduのAIプラットフォーム『千帆』における外部顧客のトークン利用量は、前年同期比9倍以上に急増しました。GPUクラウドの需要拡大を裏付ける数字です。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数字の背景を補足します。トークンはAIモデルが文章を処理する最小単位で、利用量の多さはAI活用の活発さを示します。9倍以上という伸び率は判明していますが、具体的な利用量そのもの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組込み型AI領域の需要です。ロボットなど物理的な機器に組み込むAIの領域で、千帆の利用が前年比約6倍に拡大したとされています。次に、その他の業種への広がりを確認します。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需要が拡大している業種を一覧にしました。インターネット・組込み型AI・自動運転・スマートフォン・金融サービスなど、幅広い業種でBaiduのAIプラットフォームの利用が拡大しているとされています。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全体の構造を図にしました。広告収益は19%減少しましたが、AIクラウド・インフラ事業が50%増、その中でもGPUクラウドが283%増と急成長し、この落ち込みを相殺しました。結果としてコア事業全体は25%成長を維持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に確認できている内容にはギャップが生まれがちです。広告収益は減少していますが事業終了を意味するものではなく、AIクラウド事業の伸びがコア事業全体の成長を牽引したことが確認できています。ただし純利益等の具体的な数値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純利益・営業利益について正直にお伝えします。具体的な着地数値は本調査の範囲では確認できていません。売上高ベースの伸び率は判明していますが、利益への影響は確認できた情報に含まれていないため、推測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次四半期以降のガイダンスについて正直にお伝えします。具体的な見通しの詳細は本調査の範囲では確認できていません。GPUクラウドの成長が今後も同じペースで続くかは分からず、推測では断定しません。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Uクラウド事業の持続性について正直にお伝えします。計算資源の調達・供給体制の詳細や、伸び率の内訳(需要要因か供給要因か)は本調査の範囲では確認できていません。持続性について推測では断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このニュースが読者にとって意味することをまとめました。AI・クラウド業界の動向を追う立場、AIプラットフォームの活用を検討する立場、投資・事業性を検討する立場、それぞれで意識したい視点です。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情報を確認・活用する際のチェックポイントです。伸び率は大きくても事業全体の規模と合わせて捉える点、広告減少とAIクラウド増加は別々の動きである点、収益構造の詳細が非公表である点に留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業種別の詳細な内訳について正直にお伝えします。各業種ごとの具体的な金額・件数や伸び率の詳細は、組込み型AI領域の約6倍という数字以外、本調査の範囲では確認できていません。推測では埋めません。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今後の展開についても正直にお伝えします。GPUクラウド事業の投資計画や広告事業の今後の見通しについて、企業側の具体的な言及は確認できていません。将来の展開について推測・断定は行いません。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本テーマの鮮度を数字で確認します。決算発表は着手日の前日にあたる2026年8月18日でした。当社の鮮度基準(着手日を含めて2日以内)を満たしています。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本編で使った主な出典を一覧にしました。Investing.com・The Motley Fool・TradingKey・GuruFocus・Yahoo Finance・BigGo Finance・Quartzという複数の独立した媒体が数字を一致させて報じていることを確認しています。詳細はresearch.mdをご確認ください。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Baiduの2026年第2四半期決算で、広告収益が前年比19%減少する中、GPUクラウド売上高が283%増となりこの落ち込みを相殺したこと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衝撃の283%増。</a:t>
            </a:r>
          </a:p>
          <a:p>
            <a:pPr algn="l">
              <a:lnSpc>
                <a:spcPct val="115000"/>
              </a:lnSpc>
            </a:pPr>
            <a:r>
              <a:rPr sz="4200" b="1">
                <a:solidFill>
                  <a:srgbClr val="FFFFFF"/>
                </a:solidFill>
                <a:latin typeface="Yu Gothic"/>
              </a:rPr>
              <a:t>Baidu GPUクラウド売上が</a:t>
            </a:r>
          </a:p>
          <a:p>
            <a:pPr algn="l">
              <a:lnSpc>
                <a:spcPct val="115000"/>
              </a:lnSpc>
            </a:pPr>
            <a:r>
              <a:rPr sz="4200" b="1">
                <a:solidFill>
                  <a:srgbClr val="FFFFFF"/>
                </a:solidFill>
                <a:latin typeface="Yu Gothic"/>
              </a:rPr>
              <a:t>広告収益減少を跳ね返す</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2026年8月18日発表の第2四半期決算――広告収益19%減少をAIクラウド事業が相殺</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Investing.com・The Motley Fool・TradingKey・GuruFocus・Yahoo Finance・BigGo Finance・Quartz(2026年8月18日)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GPUクラウド売上 前年比283%増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広告収益は前年比19%減少する中、AIクラウド・インフラ売上高は50%増の73億人民元、うちGPUクラウド売上高は283%増となりこの落ち込みを相殺した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Investing.com・The Motley Fool(2026-08-18)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Baiduとは・基礎知識</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決算の数字(広告収益・AIクラウド・GPUクラウド)を確認する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Baidu Core全体の成長を深掘りする</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千帆(Qianfan)の外部顧客利用動向・業種別の需要拡大</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発表当日という鮮度の高い話題である(2026年8月18日発表、2026年8月19日着手)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GPUクラウド売上高283%増という、前四半期(184%増)からさらに加速した際立った伸び率が確認できる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広告収益が19%減少する中でAIクラウド事業が落ち込みを相殺したという、事業構造の転換点を示す事例である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複数の独立した媒体(Investing.com・The Motley Fool・TradingKey等)が数字を一致させて報じている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Investing.com・The Motley Fool・TradingKey(2026-08-18)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Baiduとは(初心者向け)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Baidu(百度)は、検索エンジン・広告事業を中核としてきた中国のテクノロジー企業である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近年はAIクラウド・インフラ事業(GPUクラウド、AIプラットフォーム『千帆(Qianfan)』等)への投資を拡大している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本編ではBaiduという特定企業の決算・事業動向の事実を中立的に紹介する(利用・投資を推奨する内容ではない)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用語解説:AIクラウド・GPUクラウド・千帆(Qianfan)とは(初心者向け)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『AIクラウド・インフラ』とは、AIモデルの学習・推論に使うクラウド計算資源(サーバー・GPU等)を外部企業に提供する事業を指す</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『GPUクラウド』とは、AI処理に特化した演算装置GPUを、クラウド経由で貸し出すサービスを指す</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『千帆(Qianfan)』とは、Baiduが提供するAI開発プラットフォームで、外部企業がAIモデルを開発・運用する際に利用する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広告収益</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前年比19%減少</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2026年第2四半期の広告収益は前年同期比19%減少した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Investing.com・The Motley Fool・TradingKey(2026-08-18)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AIクラウド・インフラ売上高</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73億人民元(前年比50%増)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2026年第2四半期のAIクラウド・インフラ売上高は前年同期比50%増の73億人民元だった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Investing.com・The Motley Fool・GuruFocus(2026-08-18)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GPUクラウド売上高</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前年比283%増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GPUクラウド売上高は前年同期比283%増を記録した。前四半期の184%増からさらに加速している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Investing.com・The Motley Fool・TradingKey・GuruFocus(2026-08-18)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2026年第2四半期決算の概要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発表日</a:t>
                      </a:r>
                    </a:p>
                  </a:txBody>
                  <a:tcPr>
                    <a:solidFill>
                      <a:srgbClr val="FFFFFF"/>
                    </a:solidFill>
                  </a:tcPr>
                </a:tc>
                <a:tc>
                  <a:txBody>
                    <a:bodyPr/>
                    <a:lstStyle/>
                    <a:p>
                      <a:pPr>
                        <a:defRPr sz="1200">
                          <a:solidFill>
                            <a:srgbClr val="1C2230"/>
                          </a:solidFill>
                          <a:latin typeface="Yu Gothic"/>
                        </a:defRPr>
                      </a:pPr>
                      <a:r>
                        <a:t>2026年8月18日</a:t>
                      </a:r>
                    </a:p>
                  </a:txBody>
                  <a:tcPr>
                    <a:solidFill>
                      <a:srgbClr val="FFFFFF"/>
                    </a:solidFill>
                  </a:tcPr>
                </a:tc>
              </a:tr>
              <a:tr h="502920">
                <a:tc>
                  <a:txBody>
                    <a:bodyPr/>
                    <a:lstStyle/>
                    <a:p>
                      <a:pPr>
                        <a:defRPr sz="1200">
                          <a:solidFill>
                            <a:srgbClr val="1C2230"/>
                          </a:solidFill>
                          <a:latin typeface="Yu Gothic"/>
                        </a:defRPr>
                      </a:pPr>
                      <a:r>
                        <a:t>広告収益</a:t>
                      </a:r>
                    </a:p>
                  </a:txBody>
                  <a:tcPr>
                    <a:solidFill>
                      <a:srgbClr val="F1F5FA"/>
                    </a:solidFill>
                  </a:tcPr>
                </a:tc>
                <a:tc>
                  <a:txBody>
                    <a:bodyPr/>
                    <a:lstStyle/>
                    <a:p>
                      <a:pPr>
                        <a:defRPr sz="1200">
                          <a:solidFill>
                            <a:srgbClr val="1C2230"/>
                          </a:solidFill>
                          <a:latin typeface="Yu Gothic"/>
                        </a:defRPr>
                      </a:pPr>
                      <a:r>
                        <a:t>前年比19%減少</a:t>
                      </a:r>
                    </a:p>
                  </a:txBody>
                  <a:tcPr>
                    <a:solidFill>
                      <a:srgbClr val="F1F5FA"/>
                    </a:solidFill>
                  </a:tcPr>
                </a:tc>
              </a:tr>
              <a:tr h="502920">
                <a:tc>
                  <a:txBody>
                    <a:bodyPr/>
                    <a:lstStyle/>
                    <a:p>
                      <a:pPr>
                        <a:defRPr sz="1200">
                          <a:solidFill>
                            <a:srgbClr val="1C2230"/>
                          </a:solidFill>
                          <a:latin typeface="Yu Gothic"/>
                        </a:defRPr>
                      </a:pPr>
                      <a:r>
                        <a:t>AIクラウド・インフラ売上高</a:t>
                      </a:r>
                    </a:p>
                  </a:txBody>
                  <a:tcPr>
                    <a:solidFill>
                      <a:srgbClr val="FFFFFF"/>
                    </a:solidFill>
                  </a:tcPr>
                </a:tc>
                <a:tc>
                  <a:txBody>
                    <a:bodyPr/>
                    <a:lstStyle/>
                    <a:p>
                      <a:pPr>
                        <a:defRPr sz="1200">
                          <a:solidFill>
                            <a:srgbClr val="1C2230"/>
                          </a:solidFill>
                          <a:latin typeface="Yu Gothic"/>
                        </a:defRPr>
                      </a:pPr>
                      <a:r>
                        <a:t>73億人民元(前年比50%増)</a:t>
                      </a:r>
                    </a:p>
                  </a:txBody>
                  <a:tcPr>
                    <a:solidFill>
                      <a:srgbClr val="FFFFFF"/>
                    </a:solidFill>
                  </a:tcPr>
                </a:tc>
              </a:tr>
              <a:tr h="502920">
                <a:tc>
                  <a:txBody>
                    <a:bodyPr/>
                    <a:lstStyle/>
                    <a:p>
                      <a:pPr>
                        <a:defRPr sz="1200">
                          <a:solidFill>
                            <a:srgbClr val="1C2230"/>
                          </a:solidFill>
                          <a:latin typeface="Yu Gothic"/>
                        </a:defRPr>
                      </a:pPr>
                      <a:r>
                        <a:t>GPUクラウド売上高</a:t>
                      </a:r>
                    </a:p>
                  </a:txBody>
                  <a:tcPr>
                    <a:solidFill>
                      <a:srgbClr val="F1F5FA"/>
                    </a:solidFill>
                  </a:tcPr>
                </a:tc>
                <a:tc>
                  <a:txBody>
                    <a:bodyPr/>
                    <a:lstStyle/>
                    <a:p>
                      <a:pPr>
                        <a:defRPr sz="1200">
                          <a:solidFill>
                            <a:srgbClr val="1C2230"/>
                          </a:solidFill>
                          <a:latin typeface="Yu Gothic"/>
                        </a:defRPr>
                      </a:pPr>
                      <a:r>
                        <a:t>前年比283%増(前四半期は184%増)</a:t>
                      </a:r>
                    </a:p>
                  </a:txBody>
                  <a:tcPr>
                    <a:solidFill>
                      <a:srgbClr val="F1F5FA"/>
                    </a:solidFill>
                  </a:tcPr>
                </a:tc>
              </a:tr>
              <a:tr h="502920">
                <a:tc>
                  <a:txBody>
                    <a:bodyPr/>
                    <a:lstStyle/>
                    <a:p>
                      <a:pPr>
                        <a:defRPr sz="1200">
                          <a:solidFill>
                            <a:srgbClr val="1C2230"/>
                          </a:solidFill>
                          <a:latin typeface="Yu Gothic"/>
                        </a:defRPr>
                      </a:pPr>
                      <a:r>
                        <a:t>Baidu Core(AI駆動のコア事業全体)</a:t>
                      </a:r>
                    </a:p>
                  </a:txBody>
                  <a:tcPr>
                    <a:solidFill>
                      <a:srgbClr val="FFFFFF"/>
                    </a:solidFill>
                  </a:tcPr>
                </a:tc>
                <a:tc>
                  <a:txBody>
                    <a:bodyPr/>
                    <a:lstStyle/>
                    <a:p>
                      <a:pPr>
                        <a:defRPr sz="1200">
                          <a:solidFill>
                            <a:srgbClr val="1C2230"/>
                          </a:solidFill>
                          <a:latin typeface="Yu Gothic"/>
                        </a:defRPr>
                      </a:pPr>
                      <a:r>
                        <a:t>前年比25%成長</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Investing.com・The Motley Fool・TradingKey・GuruFocus(2026-08-18)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Baidu Core(AI駆動のコア事業全体)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前年比25%成長</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広告・AIクラウド等を含むAI駆動のコア事業(Baidu Core)全体は前年比25%成長した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Investing.com・The Motley Fool(2026-08-18)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決算数字まとめ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-19%</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広告収益</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2026年第2四半期の広告収益は前年同期比19%減少</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+50%</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AIクラウド・インフラ売上高(73億人民元)</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AIクラウド・インフラ事業は前年同期比50%増</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+283%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GPUクラウド売上高</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GPUクラウド売上高は前年同期比283%増、前四半期184%増から加速</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+25%</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Baidu Core全体</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AI駆動のコア事業全体は前年同期比25%成長</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GPUクラウド売上高の成長率推移(前年比)</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Investing.com・The Motley Fool・TradingKey(2026-08-18)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指標を混同しない(正確な区別)</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この点は正確に区別してお伝えします。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GPUクラウド売上高の伸び率(283%増)と、AIクラウド・インフラ事業全体の伸び率(50%増)は別の指標である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GPUクラウド事業の急成長がAIクラウド・インフラ事業全体の伸びを牽引しているが、GPUクラウド単体の売上高(具体的な金額)は本調査の範囲では確認できていない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広告収益の減少(19%減)とAIクラウド事業の急成長(283%増)は、それぞれ独立した動きであり、両者を単純に相殺した金額として計算した数値は本調査の範囲では確認できていない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千帆(Qianfan)外部顧客のトークン利用量</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前年比9倍以上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BaiduのAIプラットフォーム『千帆(Qianfan)』における外部顧客のトークン利用量は前年同期比9倍以上に急増した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Investing.com・The Motley Fool・Quartz(2026-08-18)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この数字の背景を補足(初心者向け)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この数字の背景を補足します。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『トークン』とは、AIモデルが文章を処理する際の最小単位で、利用量が多いほどAIモデルの利用が活発であることを示す</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『外部顧客』とは、Baidu社内ではなく、千帆を利用する社外の企業・開発者を指す</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9倍以上という伸び率は前年同期比の数値であり、具体的な利用量(トークン数の絶対値)は本調査の範囲では確認できていない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組込み型AI(embodied AI)領域の需要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前年比約6倍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組込み型AI(embodied AI)領域における千帆の利用は前年比約6倍に拡大したという</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Investing.com・The Motley Fool・Quartz(2026-08-18)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需要が拡大している業種一覧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業種</a:t>
                      </a:r>
                    </a:p>
                  </a:txBody>
                  <a:tcPr>
                    <a:solidFill>
                      <a:srgbClr val="2B3A55"/>
                    </a:solidFill>
                  </a:tcPr>
                </a:tc>
                <a:tc>
                  <a:txBody>
                    <a:bodyPr/>
                    <a:lstStyle/>
                    <a:p>
                      <a:pPr>
                        <a:defRPr sz="1300" b="1">
                          <a:solidFill>
                            <a:srgbClr val="FFFFFF"/>
                          </a:solidFill>
                          <a:latin typeface="Yu Gothic"/>
                        </a:defRPr>
                      </a:pPr>
                      <a:r>
                        <a:t>動向</a:t>
                      </a:r>
                    </a:p>
                  </a:txBody>
                  <a:tcPr>
                    <a:solidFill>
                      <a:srgbClr val="2B3A55"/>
                    </a:solidFill>
                  </a:tcPr>
                </a:tc>
              </a:tr>
              <a:tr h="502920">
                <a:tc>
                  <a:txBody>
                    <a:bodyPr/>
                    <a:lstStyle/>
                    <a:p>
                      <a:pPr>
                        <a:defRPr sz="1200">
                          <a:solidFill>
                            <a:srgbClr val="1C2230"/>
                          </a:solidFill>
                          <a:latin typeface="Yu Gothic"/>
                        </a:defRPr>
                      </a:pPr>
                      <a:r>
                        <a:t>インターネット</a:t>
                      </a:r>
                    </a:p>
                  </a:txBody>
                  <a:tcPr>
                    <a:solidFill>
                      <a:srgbClr val="FFFFFF"/>
                    </a:solidFill>
                  </a:tcPr>
                </a:tc>
                <a:tc>
                  <a:txBody>
                    <a:bodyPr/>
                    <a:lstStyle/>
                    <a:p>
                      <a:pPr>
                        <a:defRPr sz="1200">
                          <a:solidFill>
                            <a:srgbClr val="1C2230"/>
                          </a:solidFill>
                          <a:latin typeface="Yu Gothic"/>
                        </a:defRPr>
                      </a:pPr>
                      <a:r>
                        <a:t>千帆の需要が拡大している業種の1つ</a:t>
                      </a:r>
                    </a:p>
                  </a:txBody>
                  <a:tcPr>
                    <a:solidFill>
                      <a:srgbClr val="FFFFFF"/>
                    </a:solidFill>
                  </a:tcPr>
                </a:tc>
              </a:tr>
              <a:tr h="502920">
                <a:tc>
                  <a:txBody>
                    <a:bodyPr/>
                    <a:lstStyle/>
                    <a:p>
                      <a:pPr>
                        <a:defRPr sz="1200">
                          <a:solidFill>
                            <a:srgbClr val="1C2230"/>
                          </a:solidFill>
                          <a:latin typeface="Yu Gothic"/>
                        </a:defRPr>
                      </a:pPr>
                      <a:r>
                        <a:t>組込み型AI(embodied AI)</a:t>
                      </a:r>
                    </a:p>
                  </a:txBody>
                  <a:tcPr>
                    <a:solidFill>
                      <a:srgbClr val="F1F5FA"/>
                    </a:solidFill>
                  </a:tcPr>
                </a:tc>
                <a:tc>
                  <a:txBody>
                    <a:bodyPr/>
                    <a:lstStyle/>
                    <a:p>
                      <a:pPr>
                        <a:defRPr sz="1200">
                          <a:solidFill>
                            <a:srgbClr val="1C2230"/>
                          </a:solidFill>
                          <a:latin typeface="Yu Gothic"/>
                        </a:defRPr>
                      </a:pPr>
                      <a:r>
                        <a:t>前年比約6倍の利用拡大</a:t>
                      </a:r>
                    </a:p>
                  </a:txBody>
                  <a:tcPr>
                    <a:solidFill>
                      <a:srgbClr val="F1F5FA"/>
                    </a:solidFill>
                  </a:tcPr>
                </a:tc>
              </a:tr>
              <a:tr h="502920">
                <a:tc>
                  <a:txBody>
                    <a:bodyPr/>
                    <a:lstStyle/>
                    <a:p>
                      <a:pPr>
                        <a:defRPr sz="1200">
                          <a:solidFill>
                            <a:srgbClr val="1C2230"/>
                          </a:solidFill>
                          <a:latin typeface="Yu Gothic"/>
                        </a:defRPr>
                      </a:pPr>
                      <a:r>
                        <a:t>自動運転</a:t>
                      </a:r>
                    </a:p>
                  </a:txBody>
                  <a:tcPr>
                    <a:solidFill>
                      <a:srgbClr val="FFFFFF"/>
                    </a:solidFill>
                  </a:tcPr>
                </a:tc>
                <a:tc>
                  <a:txBody>
                    <a:bodyPr/>
                    <a:lstStyle/>
                    <a:p>
                      <a:pPr>
                        <a:defRPr sz="1200">
                          <a:solidFill>
                            <a:srgbClr val="1C2230"/>
                          </a:solidFill>
                          <a:latin typeface="Yu Gothic"/>
                        </a:defRPr>
                      </a:pPr>
                      <a:r>
                        <a:t>千帆の需要が拡大している業種の1つ</a:t>
                      </a:r>
                    </a:p>
                  </a:txBody>
                  <a:tcPr>
                    <a:solidFill>
                      <a:srgbClr val="FFFFFF"/>
                    </a:solidFill>
                  </a:tcPr>
                </a:tc>
              </a:tr>
              <a:tr h="502920">
                <a:tc>
                  <a:txBody>
                    <a:bodyPr/>
                    <a:lstStyle/>
                    <a:p>
                      <a:pPr>
                        <a:defRPr sz="1200">
                          <a:solidFill>
                            <a:srgbClr val="1C2230"/>
                          </a:solidFill>
                          <a:latin typeface="Yu Gothic"/>
                        </a:defRPr>
                      </a:pPr>
                      <a:r>
                        <a:t>スマートフォン</a:t>
                      </a:r>
                    </a:p>
                  </a:txBody>
                  <a:tcPr>
                    <a:solidFill>
                      <a:srgbClr val="F1F5FA"/>
                    </a:solidFill>
                  </a:tcPr>
                </a:tc>
                <a:tc>
                  <a:txBody>
                    <a:bodyPr/>
                    <a:lstStyle/>
                    <a:p>
                      <a:pPr>
                        <a:defRPr sz="1200">
                          <a:solidFill>
                            <a:srgbClr val="1C2230"/>
                          </a:solidFill>
                          <a:latin typeface="Yu Gothic"/>
                        </a:defRPr>
                      </a:pPr>
                      <a:r>
                        <a:t>千帆の需要が拡大している業種の1つ</a:t>
                      </a:r>
                    </a:p>
                  </a:txBody>
                  <a:tcPr>
                    <a:solidFill>
                      <a:srgbClr val="F1F5FA"/>
                    </a:solidFill>
                  </a:tcPr>
                </a:tc>
              </a:tr>
              <a:tr h="502920">
                <a:tc>
                  <a:txBody>
                    <a:bodyPr/>
                    <a:lstStyle/>
                    <a:p>
                      <a:pPr>
                        <a:defRPr sz="1200">
                          <a:solidFill>
                            <a:srgbClr val="1C2230"/>
                          </a:solidFill>
                          <a:latin typeface="Yu Gothic"/>
                        </a:defRPr>
                      </a:pPr>
                      <a:r>
                        <a:t>金融サービス</a:t>
                      </a:r>
                    </a:p>
                  </a:txBody>
                  <a:tcPr>
                    <a:solidFill>
                      <a:srgbClr val="FFFFFF"/>
                    </a:solidFill>
                  </a:tcPr>
                </a:tc>
                <a:tc>
                  <a:txBody>
                    <a:bodyPr/>
                    <a:lstStyle/>
                    <a:p>
                      <a:pPr>
                        <a:defRPr sz="1200">
                          <a:solidFill>
                            <a:srgbClr val="1C2230"/>
                          </a:solidFill>
                          <a:latin typeface="Yu Gothic"/>
                        </a:defRPr>
                      </a:pPr>
                      <a:r>
                        <a:t>千帆の需要が拡大している業種の1つ</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Investing.com・The Motley Fool・Quartz(2026-08-18)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決算全体の構造</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広告収益</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前年比19%減少</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AIクラウド・インフラ事業</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前年比50%増、うちGPUクラウドは283%増</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Baidu Core全体</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前年比25%成長</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広告収益の減少をAIクラウド・インフラ事業の急成長が相殺し、コア事業全体では成長を維持している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Investing.com・The Motley Fool(2026-08-18)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見出しの印象 / 実際に確認できている内容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広告事業はもう縮小して終わりのはず</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AIクラウド事業だけですべてを賄えているはず</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Baidu全体の業績はAIクラウドのおかげで大幅増益のはず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広告収益は19%減少したが、事業終了を意味する言及は確認できていない</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AIクラウド・インフラ事業の伸び(50%増)がコア事業全体の成長(25%増)を牽引した、という関係が確認できている</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純利益・営業利益の具体的な着地数値は本調査の範囲では確認できていない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純利益・営業利益の具体的数値は不明(正直な開示)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この点は正直にお伝えします。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純利益・営業利益の具体的な着地数値は、本調査の範囲では確認できていない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広告収益19%減少・AIクラウド事業50%増・Baidu Core25%成長という売上高ベースの伸び率は判明しているが、コスト構造・利益率への影響は本調査の範囲では確認できていない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本成果物では、確認できていない利益指標を推測で埋めない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次四半期以降のガイダンスは不明(正直な開示)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次四半期以降の業績ガイダンス(見通し)の詳細は、本調査の範囲では確認できていない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GPUクラウド売上高の成長(184%増→283%増)が今後も同じペースで続くかどうかは、企業側の具体的な見通しとして確認できていない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本成果物では今後のガイダンスを推測で断定しない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GPUクラウド需要の持続性・供給体制は不明(正直な開示)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GPUクラウドの需要拡大を支える計算資源(GPU等)の調達・供給体制の詳細は、本調査の範囲では確認できていない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283%増という伸び率が需要の急拡大によるものか、供給能力拡大によるものかの内訳は、本調査で確認した情報には含まれていない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本成果物ではGPUクラウド事業の持続性・供給余力について推測で断定しない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AI・クラウド業界の動向を追う立場として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広告依存からAIクラウド事業への転換が進む度合いと、GPUクラウド需要の伸び率を継続して確認する視点が役立つ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AIプラットフォームの活用を検討する立場として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千帆の外部顧客利用が9倍以上に急増している点は、業種を問わず需要が広がっていることを示す一例として参考になる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投資・事業性を検討する立場として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純利益・営業利益の具体的な数値や次四半期以降のガイダンスが非公表である点を踏まえ、断定的な情報に注意する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確認・検討する際のチェックポイント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実際に情報を確認・活用する場合のポイントです。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GPUクラウド売上高の伸び率(283%増)は大きな数字だが、AIクラウド・インフラ事業全体の売上高(73億人民元)の規模と合わせて捉える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広告収益の減少(19%減)とAIクラウド事業の急成長(283%増)は別々の事業の動きであり、両者を単純に相殺した金額として計算しない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純利益・営業利益・次四半期以降のガイダンスなど収益構造の詳細は非公表であり、本成果物の紹介にとどまらず自身で最新の公式情報を確認することが望ましい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業種別の詳細な内訳は不明(正直な開示)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インターネット・組込み型AI・自動運転・スマートフォン・金融サービスといった業種ごとの、千帆利用の具体的な金額・件数の内訳は本調査の範囲では確認できていない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組込み型AI領域の『前年比約6倍』以外の各業種の具体的な伸び率は、本調査で確認した情報には含まれていない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本成果物では業種別の詳細な内訳を推測で埋めない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今後の展開予定は不明な部分が多い(正直な開示)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今後の展開についても正直にお伝えします。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GPUクラウド事業の今後の投資計画・拡張スケジュールの詳細は、本調査の範囲では確認できていない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広告事業の今後の見通し(反転・さらなる減少等)についての企業側の具体的な言及は、本調査で確認した情報には含まれていない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本成果物では今後の展開について推測・断定を行わない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発表翌日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決算発表(2026年8月18日)は着手日(2026年8月19日)の前日。着手日を含めて2日以内という基準を満たす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0233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Investing.com</a:t>
                      </a:r>
                    </a:p>
                  </a:txBody>
                  <a:tcPr>
                    <a:solidFill>
                      <a:srgbClr val="FFFFFF"/>
                    </a:solidFill>
                  </a:tcPr>
                </a:tc>
                <a:tc>
                  <a:txBody>
                    <a:bodyPr/>
                    <a:lstStyle/>
                    <a:p>
                      <a:pPr>
                        <a:defRPr sz="1200">
                          <a:solidFill>
                            <a:srgbClr val="1C2230"/>
                          </a:solidFill>
                          <a:latin typeface="Yu Gothic"/>
                        </a:defRPr>
                      </a:pPr>
                      <a:r>
                        <a:t>決算報道</a:t>
                      </a:r>
                    </a:p>
                  </a:txBody>
                  <a:tcPr>
                    <a:solidFill>
                      <a:srgbClr val="FFFFFF"/>
                    </a:solidFill>
                  </a:tcPr>
                </a:tc>
              </a:tr>
              <a:tr h="502920">
                <a:tc>
                  <a:txBody>
                    <a:bodyPr/>
                    <a:lstStyle/>
                    <a:p>
                      <a:pPr>
                        <a:defRPr sz="1200">
                          <a:solidFill>
                            <a:srgbClr val="1C2230"/>
                          </a:solidFill>
                          <a:latin typeface="Yu Gothic"/>
                        </a:defRPr>
                      </a:pPr>
                      <a:r>
                        <a:t>The Motley Fool</a:t>
                      </a:r>
                    </a:p>
                  </a:txBody>
                  <a:tcPr>
                    <a:solidFill>
                      <a:srgbClr val="F1F5FA"/>
                    </a:solidFill>
                  </a:tcPr>
                </a:tc>
                <a:tc>
                  <a:txBody>
                    <a:bodyPr/>
                    <a:lstStyle/>
                    <a:p>
                      <a:pPr>
                        <a:defRPr sz="1200">
                          <a:solidFill>
                            <a:srgbClr val="1C2230"/>
                          </a:solidFill>
                          <a:latin typeface="Yu Gothic"/>
                        </a:defRPr>
                      </a:pPr>
                      <a:r>
                        <a:t>決算説明会全文(トランスクリプト)</a:t>
                      </a:r>
                    </a:p>
                  </a:txBody>
                  <a:tcPr>
                    <a:solidFill>
                      <a:srgbClr val="F1F5FA"/>
                    </a:solidFill>
                  </a:tcPr>
                </a:tc>
              </a:tr>
              <a:tr h="502920">
                <a:tc>
                  <a:txBody>
                    <a:bodyPr/>
                    <a:lstStyle/>
                    <a:p>
                      <a:pPr>
                        <a:defRPr sz="1200">
                          <a:solidFill>
                            <a:srgbClr val="1C2230"/>
                          </a:solidFill>
                          <a:latin typeface="Yu Gothic"/>
                        </a:defRPr>
                      </a:pPr>
                      <a:r>
                        <a:t>TradingKey</a:t>
                      </a:r>
                    </a:p>
                  </a:txBody>
                  <a:tcPr>
                    <a:solidFill>
                      <a:srgbClr val="FFFFFF"/>
                    </a:solidFill>
                  </a:tcPr>
                </a:tc>
                <a:tc>
                  <a:txBody>
                    <a:bodyPr/>
                    <a:lstStyle/>
                    <a:p>
                      <a:pPr>
                        <a:defRPr sz="1200">
                          <a:solidFill>
                            <a:srgbClr val="1C2230"/>
                          </a:solidFill>
                          <a:latin typeface="Yu Gothic"/>
                        </a:defRPr>
                      </a:pPr>
                      <a:r>
                        <a:t>決算数値の報道</a:t>
                      </a:r>
                    </a:p>
                  </a:txBody>
                  <a:tcPr>
                    <a:solidFill>
                      <a:srgbClr val="FFFFFF"/>
                    </a:solidFill>
                  </a:tcPr>
                </a:tc>
              </a:tr>
              <a:tr h="502920">
                <a:tc>
                  <a:txBody>
                    <a:bodyPr/>
                    <a:lstStyle/>
                    <a:p>
                      <a:pPr>
                        <a:defRPr sz="1200">
                          <a:solidFill>
                            <a:srgbClr val="1C2230"/>
                          </a:solidFill>
                          <a:latin typeface="Yu Gothic"/>
                        </a:defRPr>
                      </a:pPr>
                      <a:r>
                        <a:t>GuruFocus</a:t>
                      </a:r>
                    </a:p>
                  </a:txBody>
                  <a:tcPr>
                    <a:solidFill>
                      <a:srgbClr val="F1F5FA"/>
                    </a:solidFill>
                  </a:tcPr>
                </a:tc>
                <a:tc>
                  <a:txBody>
                    <a:bodyPr/>
                    <a:lstStyle/>
                    <a:p>
                      <a:pPr>
                        <a:defRPr sz="1200">
                          <a:solidFill>
                            <a:srgbClr val="1C2230"/>
                          </a:solidFill>
                          <a:latin typeface="Yu Gothic"/>
                        </a:defRPr>
                      </a:pPr>
                      <a:r>
                        <a:t>決算数値の報道</a:t>
                      </a:r>
                    </a:p>
                  </a:txBody>
                  <a:tcPr>
                    <a:solidFill>
                      <a:srgbClr val="F1F5FA"/>
                    </a:solidFill>
                  </a:tcPr>
                </a:tc>
              </a:tr>
              <a:tr h="502920">
                <a:tc>
                  <a:txBody>
                    <a:bodyPr/>
                    <a:lstStyle/>
                    <a:p>
                      <a:pPr>
                        <a:defRPr sz="1200">
                          <a:solidFill>
                            <a:srgbClr val="1C2230"/>
                          </a:solidFill>
                          <a:latin typeface="Yu Gothic"/>
                        </a:defRPr>
                      </a:pPr>
                      <a:r>
                        <a:t>Yahoo Finance</a:t>
                      </a:r>
                    </a:p>
                  </a:txBody>
                  <a:tcPr>
                    <a:solidFill>
                      <a:srgbClr val="FFFFFF"/>
                    </a:solidFill>
                  </a:tcPr>
                </a:tc>
                <a:tc>
                  <a:txBody>
                    <a:bodyPr/>
                    <a:lstStyle/>
                    <a:p>
                      <a:pPr>
                        <a:defRPr sz="1200">
                          <a:solidFill>
                            <a:srgbClr val="1C2230"/>
                          </a:solidFill>
                          <a:latin typeface="Yu Gothic"/>
                        </a:defRPr>
                      </a:pPr>
                      <a:r>
                        <a:t>決算数値の報道</a:t>
                      </a:r>
                    </a:p>
                  </a:txBody>
                  <a:tcPr>
                    <a:solidFill>
                      <a:srgbClr val="FFFFFF"/>
                    </a:solidFill>
                  </a:tcPr>
                </a:tc>
              </a:tr>
              <a:tr h="502920">
                <a:tc>
                  <a:txBody>
                    <a:bodyPr/>
                    <a:lstStyle/>
                    <a:p>
                      <a:pPr>
                        <a:defRPr sz="1200">
                          <a:solidFill>
                            <a:srgbClr val="1C2230"/>
                          </a:solidFill>
                          <a:latin typeface="Yu Gothic"/>
                        </a:defRPr>
                      </a:pPr>
                      <a:r>
                        <a:t>BigGo Finance</a:t>
                      </a:r>
                    </a:p>
                  </a:txBody>
                  <a:tcPr>
                    <a:solidFill>
                      <a:srgbClr val="F1F5FA"/>
                    </a:solidFill>
                  </a:tcPr>
                </a:tc>
                <a:tc>
                  <a:txBody>
                    <a:bodyPr/>
                    <a:lstStyle/>
                    <a:p>
                      <a:pPr>
                        <a:defRPr sz="1200">
                          <a:solidFill>
                            <a:srgbClr val="1C2230"/>
                          </a:solidFill>
                          <a:latin typeface="Yu Gothic"/>
                        </a:defRPr>
                      </a:pPr>
                      <a:r>
                        <a:t>決算数値の報道</a:t>
                      </a:r>
                    </a:p>
                  </a:txBody>
                  <a:tcPr>
                    <a:solidFill>
                      <a:srgbClr val="F1F5FA"/>
                    </a:solidFill>
                  </a:tcPr>
                </a:tc>
              </a:tr>
              <a:tr h="502920">
                <a:tc>
                  <a:txBody>
                    <a:bodyPr/>
                    <a:lstStyle/>
                    <a:p>
                      <a:pPr>
                        <a:defRPr sz="1200">
                          <a:solidFill>
                            <a:srgbClr val="1C2230"/>
                          </a:solidFill>
                          <a:latin typeface="Yu Gothic"/>
                        </a:defRPr>
                      </a:pPr>
                      <a:r>
                        <a:t>Quartz</a:t>
                      </a:r>
                    </a:p>
                  </a:txBody>
                  <a:tcPr>
                    <a:solidFill>
                      <a:srgbClr val="FFFFFF"/>
                    </a:solidFill>
                  </a:tcPr>
                </a:tc>
                <a:tc>
                  <a:txBody>
                    <a:bodyPr/>
                    <a:lstStyle/>
                    <a:p>
                      <a:pPr>
                        <a:defRPr sz="1200">
                          <a:solidFill>
                            <a:srgbClr val="1C2230"/>
                          </a:solidFill>
                          <a:latin typeface="Yu Gothic"/>
                        </a:defRPr>
                      </a:pPr>
                      <a:r>
                        <a:t>決算・AIプラットフォーム利用動向の報道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Investing.com・The Motley Fool・TradingKey・GuruFocus・Yahoo Finance・BigGo Finance・Quartz(2026-08-18)</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GPUクラウド売上283%増。事実だけを、出典付きで。</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Baiduの第2四半期決算――広告収益19%減少をAIクラウド・GPUクラウド事業の急成長が相殺した中身を出典付きで整理してお届けしました。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