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かつてのチームメートが、マウンドとバッターボックスで向き合いました。今日はこの話題を、出典付きで整理してお伝えします。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まず結果から。山本投手は、吉田選手を3打数無安打に抑えました。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かつて同じチームでプレーした2人が、敵味方として対戦しました。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オリックスでの同僚関係から、MLBでの対決まで、道のりを整理しました。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山本投手は8回を投げ、4安打3失点という力投を見せました。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吉田選手は3打席とも、山本投手に抑え込まれました。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投手・打者としての直接対決では、山本投手が抑え込みました。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対決の概要をまとめました。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個人対決では山本投手が上回りましたが、チームとしては敗れました。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かつての仲間が、それぞれの道を歩んだ末に、敵味方として再会しました。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個人としては好投でしたが、勝利には結びつきませんでした。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この3点が、対決の注目ポイントです。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個人の対決とチームの結果、両方の側面を整理しました。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この対決は、着手日の1日前の出来事です。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どちらの選手・チームにも偏らず、公平にお伝えしています。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投手対打者という古典的な対決構図が、今回の話題の中心です。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本テーマの要点をまとめました。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この話題は、着手日の1日前の出来事です。非常に新しい話題として扱っています。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ここまでの内容を総括します。個人対決では山本投手が上回りましたが、チームとしては敗れました。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ここからは推測です。今後の展開はまだ確定していません。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既存テーマとの重複がないことを確認しています。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確認できたこと・できなかったことを、正直に区別してお伝えします。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これらは確認できておらず、正直にお伝えします。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この試合を含め、山本投手は11勝7敗という成績です。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両選手の現在の所属を整理しました。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最後にもう一度、この対決を報じた記事の趣旨を振り返ります。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この話題は今後も続きそうです。注目したいポイントを整理しました。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元チームメートが、マウンドとバッターボックスで向き合った。この話題を、今日はお伝えしました。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今回は、山本由伸投手と吉田正尚選手のMLB対決をお伝えしました。ご視聴ありがとうございました。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元チームメートが、マウンドとバッターボックスで向き合った。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山本由伸投手と吉田正尚選手、元オリックス同僚のMLB対決(2026年8月2日)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福井新聞ONLINE・MLB.com日本版 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対決結果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3打数無安打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山本投手が吉田選手を抑えた成績</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MLB.com日本版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何が起きたのか(対決の経緯)</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対決の結果</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両選手のこれまでの関係</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試合全体の結果</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確認できなかったこと・今後の見通し</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何が起きたのか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2026年8月2日(日本時間)の出来事のポイントです。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ドジャース対レッドソックス戦で、両選手が直接対決した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山本由伸投手(ドジャース)が先発</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吉田正尚選手(レッドソックス)は『5番・指名打者』で出場</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両選手は共に元オリックス・バファローズ所属</a:t>
            </a:r>
          </a:p>
        </p:txBody>
      </p:sp>
      <p:sp>
        <p:nvSpPr>
          <p:cNvPr id="15" name="Oval 14"/>
          <p:cNvSpPr/>
          <p:nvPr/>
        </p:nvSpPr>
        <p:spPr>
          <a:xfrm>
            <a:off x="457200" y="523036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かつてのチームメート同士の対決として注目された</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福井新聞ONLINE(2026-08-02)</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対決までの流れ(概念図)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オリックスで同僚</a:t>
            </a:r>
          </a:p>
        </p:txBody>
      </p:sp>
      <p:sp>
        <p:nvSpPr>
          <p:cNvPr id="9" name="Right Arrow 8"/>
          <p:cNvSpPr/>
          <p:nvPr/>
        </p:nvSpPr>
        <p:spPr>
          <a:xfrm>
            <a:off x="25571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069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それぞれMLBへ移籍</a:t>
            </a:r>
          </a:p>
        </p:txBody>
      </p:sp>
      <p:sp>
        <p:nvSpPr>
          <p:cNvPr id="13" name="Right Arrow 12"/>
          <p:cNvSpPr/>
          <p:nvPr/>
        </p:nvSpPr>
        <p:spPr>
          <a:xfrm>
            <a:off x="57575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073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ドジャース対レッドソックス戦</a:t>
            </a:r>
          </a:p>
        </p:txBody>
      </p:sp>
      <p:sp>
        <p:nvSpPr>
          <p:cNvPr id="17" name="Right Arrow 16"/>
          <p:cNvSpPr/>
          <p:nvPr/>
        </p:nvSpPr>
        <p:spPr>
          <a:xfrm>
            <a:off x="89579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07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投手・打者として対決(8/2)</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山本投手の投球回</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8回4安打3失点</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力投を見せたが敗戦投手に</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MLB.com日本版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吉田選手の打席内容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1打席目</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見逃し三振</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2打席目</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中飛</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3打席目</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一ゴロ</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対決の結果(詳しく)</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投手・打者としての対決内容です。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吉田選手は3打数無安打に終わった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内容は見逃し三振・中飛・一ゴロ</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山本投手は8回4安打3失点の力投</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個人対決では山本投手が上回った形</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MLB.com日本版</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対決の概要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対戦日</a:t>
                      </a:r>
                    </a:p>
                  </a:txBody>
                  <a:tcPr>
                    <a:solidFill>
                      <a:srgbClr val="FFFFFF"/>
                    </a:solidFill>
                  </a:tcPr>
                </a:tc>
                <a:tc>
                  <a:txBody>
                    <a:bodyPr/>
                    <a:lstStyle/>
                    <a:p>
                      <a:pPr>
                        <a:defRPr sz="1200">
                          <a:solidFill>
                            <a:srgbClr val="20261F"/>
                          </a:solidFill>
                          <a:latin typeface="Yu Gothic"/>
                        </a:defRPr>
                      </a:pPr>
                      <a:r>
                        <a:t>2026年8月2日(日本時間)</a:t>
                      </a:r>
                    </a:p>
                  </a:txBody>
                  <a:tcPr>
                    <a:solidFill>
                      <a:srgbClr val="FFFFFF"/>
                    </a:solidFill>
                  </a:tcPr>
                </a:tc>
              </a:tr>
              <a:tr h="502920">
                <a:tc>
                  <a:txBody>
                    <a:bodyPr/>
                    <a:lstStyle/>
                    <a:p>
                      <a:pPr>
                        <a:defRPr sz="1200">
                          <a:solidFill>
                            <a:srgbClr val="20261F"/>
                          </a:solidFill>
                          <a:latin typeface="Yu Gothic"/>
                        </a:defRPr>
                      </a:pPr>
                      <a:r>
                        <a:t>カード</a:t>
                      </a:r>
                    </a:p>
                  </a:txBody>
                  <a:tcPr>
                    <a:solidFill>
                      <a:srgbClr val="F4F1E6"/>
                    </a:solidFill>
                  </a:tcPr>
                </a:tc>
                <a:tc>
                  <a:txBody>
                    <a:bodyPr/>
                    <a:lstStyle/>
                    <a:p>
                      <a:pPr>
                        <a:defRPr sz="1200">
                          <a:solidFill>
                            <a:srgbClr val="20261F"/>
                          </a:solidFill>
                          <a:latin typeface="Yu Gothic"/>
                        </a:defRPr>
                      </a:pPr>
                      <a:r>
                        <a:t>ドジャース対レッドソックス</a:t>
                      </a:r>
                    </a:p>
                  </a:txBody>
                  <a:tcPr>
                    <a:solidFill>
                      <a:srgbClr val="F4F1E6"/>
                    </a:solidFill>
                  </a:tcPr>
                </a:tc>
              </a:tr>
              <a:tr h="502920">
                <a:tc>
                  <a:txBody>
                    <a:bodyPr/>
                    <a:lstStyle/>
                    <a:p>
                      <a:pPr>
                        <a:defRPr sz="1200">
                          <a:solidFill>
                            <a:srgbClr val="20261F"/>
                          </a:solidFill>
                          <a:latin typeface="Yu Gothic"/>
                        </a:defRPr>
                      </a:pPr>
                      <a:r>
                        <a:t>山本投手</a:t>
                      </a:r>
                    </a:p>
                  </a:txBody>
                  <a:tcPr>
                    <a:solidFill>
                      <a:srgbClr val="FFFFFF"/>
                    </a:solidFill>
                  </a:tcPr>
                </a:tc>
                <a:tc>
                  <a:txBody>
                    <a:bodyPr/>
                    <a:lstStyle/>
                    <a:p>
                      <a:pPr>
                        <a:defRPr sz="1200">
                          <a:solidFill>
                            <a:srgbClr val="20261F"/>
                          </a:solidFill>
                          <a:latin typeface="Yu Gothic"/>
                        </a:defRPr>
                      </a:pPr>
                      <a:r>
                        <a:t>8回4安打3失点、7敗目(11勝)</a:t>
                      </a:r>
                    </a:p>
                  </a:txBody>
                  <a:tcPr>
                    <a:solidFill>
                      <a:srgbClr val="FFFFFF"/>
                    </a:solidFill>
                  </a:tcPr>
                </a:tc>
              </a:tr>
              <a:tr h="502920">
                <a:tc>
                  <a:txBody>
                    <a:bodyPr/>
                    <a:lstStyle/>
                    <a:p>
                      <a:pPr>
                        <a:defRPr sz="1200">
                          <a:solidFill>
                            <a:srgbClr val="20261F"/>
                          </a:solidFill>
                          <a:latin typeface="Yu Gothic"/>
                        </a:defRPr>
                      </a:pPr>
                      <a:r>
                        <a:t>吉田選手</a:t>
                      </a:r>
                    </a:p>
                  </a:txBody>
                  <a:tcPr>
                    <a:solidFill>
                      <a:srgbClr val="F4F1E6"/>
                    </a:solidFill>
                  </a:tcPr>
                </a:tc>
                <a:tc>
                  <a:txBody>
                    <a:bodyPr/>
                    <a:lstStyle/>
                    <a:p>
                      <a:pPr>
                        <a:defRPr sz="1200">
                          <a:solidFill>
                            <a:srgbClr val="20261F"/>
                          </a:solidFill>
                          <a:latin typeface="Yu Gothic"/>
                        </a:defRPr>
                      </a:pPr>
                      <a:r>
                        <a:t>3打数無安打</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試合結果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2-3でレッドソックス勝利</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山本投手の好投も、チームは敗れた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福井新聞ONLINE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両選手のこれまでの関係(概念)</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共にオリックス所属</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チームメートとして活動</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それぞれMLBへ移籍</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敵味方として再会</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山本投手の成績への影響</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この試合での成績です。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8回を投げる力投を見せた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4安打3失点という内容だった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チームの敗戦により、7敗目を喫した</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通算成績は11勝7敗となった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MLB.com日本版</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この対決が注目される理由</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元チームメート</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共にオリックス・バファローズ出身</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投手 対 打者</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マウンドとバッターボックスでの直接対決</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MLBでの再会</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それぞれ異なる道を歩んだ末の対戦</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個人対決 と チーム結果</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個人対決</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山本投手が吉田選手を抑えた</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3打数無安打という結果</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チーム結果</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レッドソックスが2-3で勝利</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山本投手は敗戦投手に</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対戦日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2026-08-02</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着手日の1日前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福井新聞ONLINE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本テーマの中立性についての開示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本テーマの取り扱い方についてです。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両チーム・両選手のどちらか一方を過度に持ち上げる内容ではない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個人対決の結果とチーム結果を分けて公平に紹介している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スポーツの一場面として、政治的な要素は一切含まない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事実に基づく紹介にとどめている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投手対打者の対決構図(概念図)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投手・山本由伸</a:t>
            </a:r>
          </a:p>
        </p:txBody>
      </p:sp>
      <p:sp>
        <p:nvSpPr>
          <p:cNvPr id="9" name="Right Arrow 8"/>
          <p:cNvSpPr/>
          <p:nvPr/>
        </p:nvSpPr>
        <p:spPr>
          <a:xfrm>
            <a:off x="25571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069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3球種を駆使</a:t>
            </a:r>
          </a:p>
        </p:txBody>
      </p:sp>
      <p:sp>
        <p:nvSpPr>
          <p:cNvPr id="13" name="Right Arrow 12"/>
          <p:cNvSpPr/>
          <p:nvPr/>
        </p:nvSpPr>
        <p:spPr>
          <a:xfrm>
            <a:off x="57575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073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打者・吉田正尚</a:t>
            </a:r>
          </a:p>
        </p:txBody>
      </p:sp>
      <p:sp>
        <p:nvSpPr>
          <p:cNvPr id="17" name="Right Arrow 16"/>
          <p:cNvSpPr/>
          <p:nvPr/>
        </p:nvSpPr>
        <p:spPr>
          <a:xfrm>
            <a:off x="89579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07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3打数無安打に終わる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本テーマのまとめ表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対戦日</a:t>
                      </a:r>
                    </a:p>
                  </a:txBody>
                  <a:tcPr>
                    <a:solidFill>
                      <a:srgbClr val="FFFFFF"/>
                    </a:solidFill>
                  </a:tcPr>
                </a:tc>
                <a:tc>
                  <a:txBody>
                    <a:bodyPr/>
                    <a:lstStyle/>
                    <a:p>
                      <a:pPr>
                        <a:defRPr sz="1200">
                          <a:solidFill>
                            <a:srgbClr val="20261F"/>
                          </a:solidFill>
                          <a:latin typeface="Yu Gothic"/>
                        </a:defRPr>
                      </a:pPr>
                      <a:r>
                        <a:t>2026年8月2日(日本時間)</a:t>
                      </a:r>
                    </a:p>
                  </a:txBody>
                  <a:tcPr>
                    <a:solidFill>
                      <a:srgbClr val="FFFFFF"/>
                    </a:solidFill>
                  </a:tcPr>
                </a:tc>
              </a:tr>
              <a:tr h="502920">
                <a:tc>
                  <a:txBody>
                    <a:bodyPr/>
                    <a:lstStyle/>
                    <a:p>
                      <a:pPr>
                        <a:defRPr sz="1200">
                          <a:solidFill>
                            <a:srgbClr val="20261F"/>
                          </a:solidFill>
                          <a:latin typeface="Yu Gothic"/>
                        </a:defRPr>
                      </a:pPr>
                      <a:r>
                        <a:t>個人対決の結果</a:t>
                      </a:r>
                    </a:p>
                  </a:txBody>
                  <a:tcPr>
                    <a:solidFill>
                      <a:srgbClr val="F4F1E6"/>
                    </a:solidFill>
                  </a:tcPr>
                </a:tc>
                <a:tc>
                  <a:txBody>
                    <a:bodyPr/>
                    <a:lstStyle/>
                    <a:p>
                      <a:pPr>
                        <a:defRPr sz="1200">
                          <a:solidFill>
                            <a:srgbClr val="20261F"/>
                          </a:solidFill>
                          <a:latin typeface="Yu Gothic"/>
                        </a:defRPr>
                      </a:pPr>
                      <a:r>
                        <a:t>山本投手が吉田選手を3打数無安打に抑えた</a:t>
                      </a:r>
                    </a:p>
                  </a:txBody>
                  <a:tcPr>
                    <a:solidFill>
                      <a:srgbClr val="F4F1E6"/>
                    </a:solidFill>
                  </a:tcPr>
                </a:tc>
              </a:tr>
              <a:tr h="502920">
                <a:tc>
                  <a:txBody>
                    <a:bodyPr/>
                    <a:lstStyle/>
                    <a:p>
                      <a:pPr>
                        <a:defRPr sz="1200">
                          <a:solidFill>
                            <a:srgbClr val="20261F"/>
                          </a:solidFill>
                          <a:latin typeface="Yu Gothic"/>
                        </a:defRPr>
                      </a:pPr>
                      <a:r>
                        <a:t>試合結果</a:t>
                      </a:r>
                    </a:p>
                  </a:txBody>
                  <a:tcPr>
                    <a:solidFill>
                      <a:srgbClr val="FFFFFF"/>
                    </a:solidFill>
                  </a:tcPr>
                </a:tc>
                <a:tc>
                  <a:txBody>
                    <a:bodyPr/>
                    <a:lstStyle/>
                    <a:p>
                      <a:pPr>
                        <a:defRPr sz="1200">
                          <a:solidFill>
                            <a:srgbClr val="20261F"/>
                          </a:solidFill>
                          <a:latin typeface="Yu Gothic"/>
                        </a:defRPr>
                      </a:pPr>
                      <a:r>
                        <a:t>レッドソックスが2-3で勝利</a:t>
                      </a:r>
                    </a:p>
                  </a:txBody>
                  <a:tcPr>
                    <a:solidFill>
                      <a:srgbClr val="FFFFFF"/>
                    </a:solidFill>
                  </a:tcPr>
                </a:tc>
              </a:tr>
              <a:tr h="502920">
                <a:tc>
                  <a:txBody>
                    <a:bodyPr/>
                    <a:lstStyle/>
                    <a:p>
                      <a:pPr>
                        <a:defRPr sz="1200">
                          <a:solidFill>
                            <a:srgbClr val="20261F"/>
                          </a:solidFill>
                          <a:latin typeface="Yu Gothic"/>
                        </a:defRPr>
                      </a:pPr>
                      <a:r>
                        <a:t>山本投手の通算成績</a:t>
                      </a:r>
                    </a:p>
                  </a:txBody>
                  <a:tcPr>
                    <a:solidFill>
                      <a:srgbClr val="F4F1E6"/>
                    </a:solidFill>
                  </a:tcPr>
                </a:tc>
                <a:tc>
                  <a:txBody>
                    <a:bodyPr/>
                    <a:lstStyle/>
                    <a:p>
                      <a:pPr>
                        <a:defRPr sz="1200">
                          <a:solidFill>
                            <a:srgbClr val="20261F"/>
                          </a:solidFill>
                          <a:latin typeface="Yu Gothic"/>
                        </a:defRPr>
                      </a:pPr>
                      <a:r>
                        <a:t>11勝7敗</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本テーマの鮮度についてです。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対戦は2026年8月2日(日本時間)、着手日の1日前である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非常に高い鮮度の話題として扱っている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両選手の試合後の詳しいコメントは本ラウンドの調査時点では確認できていない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3打数無安打 → チームは敗戦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個人対決とチーム結果、両方の側面がある一戦だった</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今後の見通し(推測であることを明示)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両選手の今後の活躍を注視</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再戦の機会があるか注目</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日本代表への影響も注目</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具体的な展開はまだ不明</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似たテーマとの違い(重複ではないことの確認)</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83本目との違い</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83本目はサッカーの橋岡選手、本テーマは野球の山本・吉田両選手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85本目との違い</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85本目はサッカーの鈴木選手のPSGオファー、本テーマはMLBでの直接対決</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本テーマの独自性</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元チームメート同士のMLB対決という切り口</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確認できたこと と 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確認できたこと</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対決の結果・試合結果・両選手の成績</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両選手が元オリックス所属であること</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確認できなかったこと</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試合前後の詳しい会話内容</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オリックス時代の具体的なエピソード</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正直にお伝えします。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試合前後の両選手の詳しい会話内容</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オリックス時代の具体的なエピソード</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今回が公式戦初対決かどうかの断定</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山本投手の通算成績</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11勝7敗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この試合を含めた2026年シーズンの成績</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MLB.com日本版</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両選手のプロフィール(参考)</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選手</a:t>
                      </a:r>
                    </a:p>
                  </a:txBody>
                  <a:tcPr>
                    <a:solidFill>
                      <a:srgbClr val="24523F"/>
                    </a:solidFill>
                  </a:tcPr>
                </a:tc>
                <a:tc>
                  <a:txBody>
                    <a:bodyPr/>
                    <a:lstStyle/>
                    <a:p>
                      <a:pPr>
                        <a:defRPr sz="1300" b="1">
                          <a:solidFill>
                            <a:srgbClr val="FFFFFF"/>
                          </a:solidFill>
                          <a:latin typeface="Yu Gothic"/>
                        </a:defRPr>
                      </a:pPr>
                      <a:r>
                        <a:t>所属</a:t>
                      </a:r>
                    </a:p>
                  </a:txBody>
                  <a:tcPr>
                    <a:solidFill>
                      <a:srgbClr val="24523F"/>
                    </a:solidFill>
                  </a:tcPr>
                </a:tc>
                <a:tc>
                  <a:txBody>
                    <a:bodyPr/>
                    <a:lstStyle/>
                    <a:p>
                      <a:pPr>
                        <a:defRPr sz="1300" b="1">
                          <a:solidFill>
                            <a:srgbClr val="FFFFFF"/>
                          </a:solidFill>
                          <a:latin typeface="Yu Gothic"/>
                        </a:defRPr>
                      </a:pPr>
                      <a:r>
                        <a:t>役割</a:t>
                      </a:r>
                    </a:p>
                  </a:txBody>
                  <a:tcPr>
                    <a:solidFill>
                      <a:srgbClr val="24523F"/>
                    </a:solidFill>
                  </a:tcPr>
                </a:tc>
              </a:tr>
              <a:tr h="502920">
                <a:tc>
                  <a:txBody>
                    <a:bodyPr/>
                    <a:lstStyle/>
                    <a:p>
                      <a:pPr>
                        <a:defRPr sz="1200">
                          <a:solidFill>
                            <a:srgbClr val="20261F"/>
                          </a:solidFill>
                          <a:latin typeface="Yu Gothic"/>
                        </a:defRPr>
                      </a:pPr>
                      <a:r>
                        <a:t>山本由伸</a:t>
                      </a:r>
                    </a:p>
                  </a:txBody>
                  <a:tcPr>
                    <a:solidFill>
                      <a:srgbClr val="FFFFFF"/>
                    </a:solidFill>
                  </a:tcPr>
                </a:tc>
                <a:tc>
                  <a:txBody>
                    <a:bodyPr/>
                    <a:lstStyle/>
                    <a:p>
                      <a:pPr>
                        <a:defRPr sz="1200">
                          <a:solidFill>
                            <a:srgbClr val="20261F"/>
                          </a:solidFill>
                          <a:latin typeface="Yu Gothic"/>
                        </a:defRPr>
                      </a:pPr>
                      <a:r>
                        <a:t>ロサンゼルス・ドジャース</a:t>
                      </a:r>
                    </a:p>
                  </a:txBody>
                  <a:tcPr>
                    <a:solidFill>
                      <a:srgbClr val="FFFFFF"/>
                    </a:solidFill>
                  </a:tcPr>
                </a:tc>
                <a:tc>
                  <a:txBody>
                    <a:bodyPr/>
                    <a:lstStyle/>
                    <a:p>
                      <a:pPr>
                        <a:defRPr sz="1200">
                          <a:solidFill>
                            <a:srgbClr val="20261F"/>
                          </a:solidFill>
                          <a:latin typeface="Yu Gothic"/>
                        </a:defRPr>
                      </a:pPr>
                      <a:r>
                        <a:t>投手</a:t>
                      </a:r>
                    </a:p>
                  </a:txBody>
                  <a:tcPr>
                    <a:solidFill>
                      <a:srgbClr val="FFFFFF"/>
                    </a:solidFill>
                  </a:tcPr>
                </a:tc>
              </a:tr>
              <a:tr h="502920">
                <a:tc>
                  <a:txBody>
                    <a:bodyPr/>
                    <a:lstStyle/>
                    <a:p>
                      <a:pPr>
                        <a:defRPr sz="1200">
                          <a:solidFill>
                            <a:srgbClr val="20261F"/>
                          </a:solidFill>
                          <a:latin typeface="Yu Gothic"/>
                        </a:defRPr>
                      </a:pPr>
                      <a:r>
                        <a:t>吉田正尚</a:t>
                      </a:r>
                    </a:p>
                  </a:txBody>
                  <a:tcPr>
                    <a:solidFill>
                      <a:srgbClr val="F4F1E6"/>
                    </a:solidFill>
                  </a:tcPr>
                </a:tc>
                <a:tc>
                  <a:txBody>
                    <a:bodyPr/>
                    <a:lstStyle/>
                    <a:p>
                      <a:pPr>
                        <a:defRPr sz="1200">
                          <a:solidFill>
                            <a:srgbClr val="20261F"/>
                          </a:solidFill>
                          <a:latin typeface="Yu Gothic"/>
                        </a:defRPr>
                      </a:pPr>
                      <a:r>
                        <a:t>ボストン・レッドソックス</a:t>
                      </a:r>
                    </a:p>
                  </a:txBody>
                  <a:tcPr>
                    <a:solidFill>
                      <a:srgbClr val="F4F1E6"/>
                    </a:solidFill>
                  </a:tcPr>
                </a:tc>
                <a:tc>
                  <a:txBody>
                    <a:bodyPr/>
                    <a:lstStyle/>
                    <a:p>
                      <a:pPr>
                        <a:defRPr sz="1200">
                          <a:solidFill>
                            <a:srgbClr val="20261F"/>
                          </a:solidFill>
                          <a:latin typeface="Yu Gothic"/>
                        </a:defRPr>
                      </a:pPr>
                      <a:r>
                        <a:t>指名打者</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“元オリックス対決、吉田正尚vs山本由伸の軍配は。”</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福井新聞ONLINE(2026-08-02、見出しの趣旨)</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今後注目したいポイント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視聴者の皆さんと一緒に注目したい点です。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両選手の今後のシーズン成績</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再戦の機会があるかどうか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日本代表チームでの共演の可能性</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具体的な展開はまだ不明</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福井新聞ONLINE・MLB.com日本版 ほか(2026-08-02報道)｜定期実行88本目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最後に伝えたいこと</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元同僚 → マウンドの対決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かつての仲間が、それぞれの道でMLBの舞台に立った証として記憶しておきたい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かつての仲間との対決は、これからも続く。</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出典付きで、公平に整理してお届けしました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