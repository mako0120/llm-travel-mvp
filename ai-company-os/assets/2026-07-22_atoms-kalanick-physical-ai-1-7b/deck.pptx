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Uber創業者が8年間隠していた野望が、17億ドルで世に出ました。トラビス・カラニック氏が率いる物理AI企業Atomsが、大型出資を発表しました。今日はこの話題をお届けします。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今日わかることは6つです。何が起きたのか、Atomsとはどんな会社か、調達の規模と出資者、8年間のステルス期間について、確認できたこと・できなかったこと、そして今後の見通しです。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何が起きたのか整理します。Atomsが2026年7月22日、17億ドルの出資をa16z主導で調達したと発表しました。率いるのはUber共同創業者のカラニック氏です。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調達額はこちら、17億ドルです。物理AI・産業ロボティクス分野としては非常に大きな金額です。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調達概要を表にまとめました。企業名はAtoms、創業者はカラニック氏、調達額は17億ドルです。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参加した主な出資者を紹介します。a16zに加え、Bain Capital・Fifth Wall等、そしてUberも出資者として参加しています。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カラニック氏のこれまでを概要で紹介します。Uber創業、2018年の退任を経て、約8年間ステルスでAtomsを準備し、2026年3月に事業を公表しました。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Atomsの中核製品を見ていきます。人間型ロボットではなく、特定タスクに特化した車輪型ロボットのホイールベースを開発しているとされます。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Atomsの3つの事業を概要で示します。食品生産のAtoms Food、鉱業のAtoms Mining、輸送・物流のAtoms Transportです。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対象産業の規模感です。いずれも世界経済を支える大規模な物理産業とされています。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改めて数字を確認します。カラニック氏がAtomsを水面下で準備していた期間は約8年間とされています。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戦略的な狙いを報道から整理します。物理AIへの投資、OEM的な立ち位置、大規模産業への展開が挙げられています。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ここで確認できたこと・できなかったことを正直に整理します。調達額は複数媒体で一致していますが、各事業の詳細な稼働実績は確認できていません。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発表までの流れです。2018年の退任から2026年3月の事業公表を経て、7月22日に17億ドルの出資が発表されました。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鮮度について正直に開示します。本発表は着手日の13日前であり、より新しい候補も検討しましたが、既存テーマと重複するため本テーマを採用しました。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シード投資からの流れを確認します。2018年の退任から2026年の今回発表まで、長期にわたる準備期間がありました。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物理AI・産業ロボティクスの潮流を概要で紹介します。ソフトウェアAIから、実世界の産業を対象にした物理AIへと投資が広がっているとされています。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初心者向けに物理AIを説明します。実世界のロボットやセンサーと組み合わせ、実際の作業を自動化する技術です。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出典一覧です。TechCrunch・Yahoo Finance・PYMNTS・Forbesという、独立した複数の報道メディアです。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調達概要を再確認します。Atomsが、a16z主導で17億ドルを調達しました。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既存テーマとの関係を確認しました。Atomsまたはカラニック氏を主題として扱った既存テーマはなく、重複ではありません。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ここからは推測です。物理AI・産業ロボティクス領域への投資がさらに加速する可能性があります。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3つの事業領域を改めて確認します。Food・Mining・Transportの3つです。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従来のロボット企業とAtomsの違いを、報道からの整理で比較します。Atomsは特定タスクに特化したアプローチを取っているとされています。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資金使途を概要で示します。製品開発、人材採用、産業顧客との協業に充てられるとみられます。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リスクと課題を正直に開示します。各事業の具体的な稼働実績・収益化の状況は確認できていません。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本テーマで大切にしたことを紹介します。出典の明記、正直な開示、中立性の3点です。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取締役就任について確認します。a16z共同創業者のベン・ホロウィッツ氏がAtomsの取締役に就任しました。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皆さんはAtomsの野望、どう見ますか。物理AI・産業ロボティクスへの投資、今後も注目していきましょう。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まとめです。Atomsが2026年7月22日、a16z主導で17億ドルを調達したと発表しました。今回もご視聴ありがとうございました。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Uber創業者が8年隠していた野望、17億ドルで世に出た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トラビス・カラニック氏の物理AI企業Atoms、a16z主導で17億ドルを調達</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TechCrunch・Yahoo Finance・PYMNTS ほか(2026-07-22)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Atomsとはどんな会社か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調達の規模と出資者</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8年間のステルス期間について</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確認できたこと・できなかったこと</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Atomsが2026年7月22日、17億ドルの出資を調達したと発表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出資ラウンドはa16z(アンドリーセン・ホロウィッツ)が主導</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率いるのはUber共同創業者トラビス・カラニック氏</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対象は鉱業・建設・重量輸送・食品生産といった大規模な物理産業</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TechCrunch(2026-07-22)</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17億ドル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a16z主導の出資ラウンド(2026年7月22日発表)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 Finance(2026-07-22)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企業名</a:t>
                      </a:r>
                    </a:p>
                  </a:txBody>
                  <a:tcPr>
                    <a:solidFill>
                      <a:srgbClr val="FFFFFF"/>
                    </a:solidFill>
                  </a:tcPr>
                </a:tc>
                <a:tc>
                  <a:txBody>
                    <a:bodyPr/>
                    <a:lstStyle/>
                    <a:p>
                      <a:pPr>
                        <a:defRPr sz="1200">
                          <a:solidFill>
                            <a:srgbClr val="1A1A2E"/>
                          </a:solidFill>
                          <a:latin typeface="Yu Gothic"/>
                        </a:defRPr>
                      </a:pPr>
                      <a:r>
                        <a:t>Atoms</a:t>
                      </a:r>
                    </a:p>
                  </a:txBody>
                  <a:tcPr>
                    <a:solidFill>
                      <a:srgbClr val="FFFFFF"/>
                    </a:solidFill>
                  </a:tcPr>
                </a:tc>
              </a:tr>
              <a:tr h="502920">
                <a:tc>
                  <a:txBody>
                    <a:bodyPr/>
                    <a:lstStyle/>
                    <a:p>
                      <a:pPr>
                        <a:defRPr sz="1200">
                          <a:solidFill>
                            <a:srgbClr val="1A1A2E"/>
                          </a:solidFill>
                          <a:latin typeface="Yu Gothic"/>
                        </a:defRPr>
                      </a:pPr>
                      <a:r>
                        <a:t>創業者</a:t>
                      </a:r>
                    </a:p>
                  </a:txBody>
                  <a:tcPr>
                    <a:solidFill>
                      <a:srgbClr val="F3F6FC"/>
                    </a:solidFill>
                  </a:tcPr>
                </a:tc>
                <a:tc>
                  <a:txBody>
                    <a:bodyPr/>
                    <a:lstStyle/>
                    <a:p>
                      <a:pPr>
                        <a:defRPr sz="1200">
                          <a:solidFill>
                            <a:srgbClr val="1A1A2E"/>
                          </a:solidFill>
                          <a:latin typeface="Yu Gothic"/>
                        </a:defRPr>
                      </a:pPr>
                      <a:r>
                        <a:t>トラビス・カラニック氏(Uber共同創業者)</a:t>
                      </a:r>
                    </a:p>
                  </a:txBody>
                  <a:tcPr>
                    <a:solidFill>
                      <a:srgbClr val="F3F6FC"/>
                    </a:solidFill>
                  </a:tcPr>
                </a:tc>
              </a:tr>
              <a:tr h="502920">
                <a:tc>
                  <a:txBody>
                    <a:bodyPr/>
                    <a:lstStyle/>
                    <a:p>
                      <a:pPr>
                        <a:defRPr sz="1200">
                          <a:solidFill>
                            <a:srgbClr val="1A1A2E"/>
                          </a:solidFill>
                          <a:latin typeface="Yu Gothic"/>
                        </a:defRPr>
                      </a:pPr>
                      <a:r>
                        <a:t>調達額</a:t>
                      </a:r>
                    </a:p>
                  </a:txBody>
                  <a:tcPr>
                    <a:solidFill>
                      <a:srgbClr val="FFFFFF"/>
                    </a:solidFill>
                  </a:tcPr>
                </a:tc>
                <a:tc>
                  <a:txBody>
                    <a:bodyPr/>
                    <a:lstStyle/>
                    <a:p>
                      <a:pPr>
                        <a:defRPr sz="1200">
                          <a:solidFill>
                            <a:srgbClr val="1A1A2E"/>
                          </a:solidFill>
                          <a:latin typeface="Yu Gothic"/>
                        </a:defRPr>
                      </a:pPr>
                      <a:r>
                        <a:t>17億ドル</a:t>
                      </a:r>
                    </a:p>
                  </a:txBody>
                  <a:tcPr>
                    <a:solidFill>
                      <a:srgbClr val="FFFFFF"/>
                    </a:solidFill>
                  </a:tcPr>
                </a:tc>
              </a:tr>
              <a:tr h="502920">
                <a:tc>
                  <a:txBody>
                    <a:bodyPr/>
                    <a:lstStyle/>
                    <a:p>
                      <a:pPr>
                        <a:defRPr sz="1200">
                          <a:solidFill>
                            <a:srgbClr val="1A1A2E"/>
                          </a:solidFill>
                          <a:latin typeface="Yu Gothic"/>
                        </a:defRPr>
                      </a:pPr>
                      <a:r>
                        <a:t>主導投資家</a:t>
                      </a:r>
                    </a:p>
                  </a:txBody>
                  <a:tcPr>
                    <a:solidFill>
                      <a:srgbClr val="F3F6FC"/>
                    </a:solidFill>
                  </a:tcPr>
                </a:tc>
                <a:tc>
                  <a:txBody>
                    <a:bodyPr/>
                    <a:lstStyle/>
                    <a:p>
                      <a:pPr>
                        <a:defRPr sz="1200">
                          <a:solidFill>
                            <a:srgbClr val="1A1A2E"/>
                          </a:solidFill>
                          <a:latin typeface="Yu Gothic"/>
                        </a:defRPr>
                      </a:pPr>
                      <a:r>
                        <a:t>a16z(アンドリーセン・ホロウィッツ)</a:t>
                      </a:r>
                    </a:p>
                  </a:txBody>
                  <a:tcPr>
                    <a:solidFill>
                      <a:srgbClr val="F3F6FC"/>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2026年7月22日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参加した主な出資者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a16z</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主導投資家。共同創業者ベン・ホロウィッツ氏が取締役に就任</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Bain Capital・Fifth Wall等</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複数の大手投資会社が参加</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Uber</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カラニック氏の旧所属先も出資者として参加</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カラニック氏のこれまで(概要)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1. Uber創業</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配車サービスUberを共同創業</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 2018年に退任</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Uberの経営から退く</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3. Atomsをステルス準備</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約8年間、水面下で物理AI事業を準備</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4. 2026年3月に公表</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Atomsの事業内容を公に発表</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Atomsの中核製品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中核製品は『ロボット用のホイールベース』とされる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人間の動きを再現する汎用ロボットではない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特定タスクに特化した車輪型ロボットを高サイクルの産業環境向けに開発</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OEM(相手先ブランド供給)的な立ち位置を目指すとされる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Atomsの3つの事業(概要)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Atoms Food</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食品生産の設備・ロボティクス</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Atoms Mining</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鉱業の生産性向上</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Atoms Transport</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重量輸送・物流のロボティクス</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対象産業の規模感(概要)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事業</a:t>
                      </a:r>
                    </a:p>
                  </a:txBody>
                  <a:tcPr>
                    <a:solidFill>
                      <a:srgbClr val="1E2761"/>
                    </a:solidFill>
                  </a:tcPr>
                </a:tc>
                <a:tc>
                  <a:txBody>
                    <a:bodyPr/>
                    <a:lstStyle/>
                    <a:p>
                      <a:pPr>
                        <a:defRPr sz="1300" b="1">
                          <a:solidFill>
                            <a:srgbClr val="FFFFFF"/>
                          </a:solidFill>
                          <a:latin typeface="Yu Gothic"/>
                        </a:defRPr>
                      </a:pPr>
                      <a:r>
                        <a:t>対象産業</a:t>
                      </a:r>
                    </a:p>
                  </a:txBody>
                  <a:tcPr>
                    <a:solidFill>
                      <a:srgbClr val="1E2761"/>
                    </a:solidFill>
                  </a:tcPr>
                </a:tc>
              </a:tr>
              <a:tr h="502920">
                <a:tc>
                  <a:txBody>
                    <a:bodyPr/>
                    <a:lstStyle/>
                    <a:p>
                      <a:pPr>
                        <a:defRPr sz="1200">
                          <a:solidFill>
                            <a:srgbClr val="1A1A2E"/>
                          </a:solidFill>
                          <a:latin typeface="Yu Gothic"/>
                        </a:defRPr>
                      </a:pPr>
                      <a:r>
                        <a:t>Atoms Food</a:t>
                      </a:r>
                    </a:p>
                  </a:txBody>
                  <a:tcPr>
                    <a:solidFill>
                      <a:srgbClr val="FFFFFF"/>
                    </a:solidFill>
                  </a:tcPr>
                </a:tc>
                <a:tc>
                  <a:txBody>
                    <a:bodyPr/>
                    <a:lstStyle/>
                    <a:p>
                      <a:pPr>
                        <a:defRPr sz="1200">
                          <a:solidFill>
                            <a:srgbClr val="1A1A2E"/>
                          </a:solidFill>
                          <a:latin typeface="Yu Gothic"/>
                        </a:defRPr>
                      </a:pPr>
                      <a:r>
                        <a:t>食品生産</a:t>
                      </a:r>
                    </a:p>
                  </a:txBody>
                  <a:tcPr>
                    <a:solidFill>
                      <a:srgbClr val="FFFFFF"/>
                    </a:solidFill>
                  </a:tcPr>
                </a:tc>
              </a:tr>
              <a:tr h="502920">
                <a:tc>
                  <a:txBody>
                    <a:bodyPr/>
                    <a:lstStyle/>
                    <a:p>
                      <a:pPr>
                        <a:defRPr sz="1200">
                          <a:solidFill>
                            <a:srgbClr val="1A1A2E"/>
                          </a:solidFill>
                          <a:latin typeface="Yu Gothic"/>
                        </a:defRPr>
                      </a:pPr>
                      <a:r>
                        <a:t>Atoms Mining</a:t>
                      </a:r>
                    </a:p>
                  </a:txBody>
                  <a:tcPr>
                    <a:solidFill>
                      <a:srgbClr val="F3F6FC"/>
                    </a:solidFill>
                  </a:tcPr>
                </a:tc>
                <a:tc>
                  <a:txBody>
                    <a:bodyPr/>
                    <a:lstStyle/>
                    <a:p>
                      <a:pPr>
                        <a:defRPr sz="1200">
                          <a:solidFill>
                            <a:srgbClr val="1A1A2E"/>
                          </a:solidFill>
                          <a:latin typeface="Yu Gothic"/>
                        </a:defRPr>
                      </a:pPr>
                      <a:r>
                        <a:t>鉱業</a:t>
                      </a:r>
                    </a:p>
                  </a:txBody>
                  <a:tcPr>
                    <a:solidFill>
                      <a:srgbClr val="F3F6FC"/>
                    </a:solidFill>
                  </a:tcPr>
                </a:tc>
              </a:tr>
              <a:tr h="502920">
                <a:tc>
                  <a:txBody>
                    <a:bodyPr/>
                    <a:lstStyle/>
                    <a:p>
                      <a:pPr>
                        <a:defRPr sz="1200">
                          <a:solidFill>
                            <a:srgbClr val="1A1A2E"/>
                          </a:solidFill>
                          <a:latin typeface="Yu Gothic"/>
                        </a:defRPr>
                      </a:pPr>
                      <a:r>
                        <a:t>Atoms Transport</a:t>
                      </a:r>
                    </a:p>
                  </a:txBody>
                  <a:tcPr>
                    <a:solidFill>
                      <a:srgbClr val="FFFFFF"/>
                    </a:solidFill>
                  </a:tcPr>
                </a:tc>
                <a:tc>
                  <a:txBody>
                    <a:bodyPr/>
                    <a:lstStyle/>
                    <a:p>
                      <a:pPr>
                        <a:defRPr sz="1200">
                          <a:solidFill>
                            <a:srgbClr val="1A1A2E"/>
                          </a:solidFill>
                          <a:latin typeface="Yu Gothic"/>
                        </a:defRPr>
                      </a:pPr>
                      <a:r>
                        <a:t>重量輸送・物流</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ステルス期間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約8年間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2018年のUber退任から2026年3月の事業公表まで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Forbes(2026-03-13)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戦略的な狙い(報道からの整理)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物理AIへの投資</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ソフトウェアだけでなく実世界の産業を対象にする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OEM的な立ち位置</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『アトムズベースのコンピュータ』のOEMを目指すと表現</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大規模産業への展開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鉱業・建設・輸送・食品生産という巨大市場を対象にする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調達額・主導投資家・発表日は複数媒体で一致</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各事業の具体的な製品仕様・稼働実績の詳細は限定的にしか確認できていない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17億ドル出資時点での企業評価額は確認できていない</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Atoms公式プレスリリース原文全体までは確認できていない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発表から今回の話題化までの流れ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2018年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カラニック氏がUberを退任</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2026年3月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Atomsの事業を公表</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2026年7月22日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17億ドルの出資を発表</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鮮度についての正直な開示(重要)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本発表は着手日の13日前(2026年7月22日)である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着手日前日以内のより新しい候補も検討したが、既存テーマと重複するため見送った</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その経緯はround70評価表に記録している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シード投資からの流れ</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2018→2026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Uber退任から今回の大型出資発表までの期間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Forbes(2026-03-13)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物理AI・産業ロボティクスの潮流(概要)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ソフトウェアAIの拡大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チャットや業務効率化AIが普及</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物理AIへの投資拡大</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実世界の産業を対象にした投資が増加</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大規模資金の集中</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物理AI領域に大型出資が集まる動き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 物理AIとは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従来のAI</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チャットや文章生成など、主にソフトウェア上で完結する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物理AI</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ロボットやセンサーと組み合わせ、実世界の作業を自動化する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Atomsの位置づけ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鉱業・輸送・食品生産といった大規模産業向けの物理AI企業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日付</a:t>
                      </a:r>
                    </a:p>
                  </a:txBody>
                  <a:tcPr>
                    <a:solidFill>
                      <a:srgbClr val="1E2761"/>
                    </a:solidFill>
                  </a:tcPr>
                </a:tc>
              </a:tr>
              <a:tr h="502920">
                <a:tc>
                  <a:txBody>
                    <a:bodyPr/>
                    <a:lstStyle/>
                    <a:p>
                      <a:pPr>
                        <a:defRPr sz="1200">
                          <a:solidFill>
                            <a:srgbClr val="1A1A2E"/>
                          </a:solidFill>
                          <a:latin typeface="Yu Gothic"/>
                        </a:defRPr>
                      </a:pPr>
                      <a:r>
                        <a:t>TechCrunch</a:t>
                      </a:r>
                    </a:p>
                  </a:txBody>
                  <a:tcPr>
                    <a:solidFill>
                      <a:srgbClr val="FFFFFF"/>
                    </a:solidFill>
                  </a:tcPr>
                </a:tc>
                <a:tc>
                  <a:txBody>
                    <a:bodyPr/>
                    <a:lstStyle/>
                    <a:p>
                      <a:pPr>
                        <a:defRPr sz="1200">
                          <a:solidFill>
                            <a:srgbClr val="1A1A2E"/>
                          </a:solidFill>
                          <a:latin typeface="Yu Gothic"/>
                        </a:defRPr>
                      </a:pPr>
                      <a:r>
                        <a:t>2026-07-22</a:t>
                      </a:r>
                    </a:p>
                  </a:txBody>
                  <a:tcPr>
                    <a:solidFill>
                      <a:srgbClr val="FFFFFF"/>
                    </a:solidFill>
                  </a:tcPr>
                </a:tc>
              </a:tr>
              <a:tr h="502920">
                <a:tc>
                  <a:txBody>
                    <a:bodyPr/>
                    <a:lstStyle/>
                    <a:p>
                      <a:pPr>
                        <a:defRPr sz="1200">
                          <a:solidFill>
                            <a:srgbClr val="1A1A2E"/>
                          </a:solidFill>
                          <a:latin typeface="Yu Gothic"/>
                        </a:defRPr>
                      </a:pPr>
                      <a:r>
                        <a:t>Yahoo Finance</a:t>
                      </a:r>
                    </a:p>
                  </a:txBody>
                  <a:tcPr>
                    <a:solidFill>
                      <a:srgbClr val="F3F6FC"/>
                    </a:solidFill>
                  </a:tcPr>
                </a:tc>
                <a:tc>
                  <a:txBody>
                    <a:bodyPr/>
                    <a:lstStyle/>
                    <a:p>
                      <a:pPr>
                        <a:defRPr sz="1200">
                          <a:solidFill>
                            <a:srgbClr val="1A1A2E"/>
                          </a:solidFill>
                          <a:latin typeface="Yu Gothic"/>
                        </a:defRPr>
                      </a:pPr>
                      <a:r>
                        <a:t>2026-07-22</a:t>
                      </a:r>
                    </a:p>
                  </a:txBody>
                  <a:tcPr>
                    <a:solidFill>
                      <a:srgbClr val="F3F6FC"/>
                    </a:solidFill>
                  </a:tcPr>
                </a:tc>
              </a:tr>
              <a:tr h="502920">
                <a:tc>
                  <a:txBody>
                    <a:bodyPr/>
                    <a:lstStyle/>
                    <a:p>
                      <a:pPr>
                        <a:defRPr sz="1200">
                          <a:solidFill>
                            <a:srgbClr val="1A1A2E"/>
                          </a:solidFill>
                          <a:latin typeface="Yu Gothic"/>
                        </a:defRPr>
                      </a:pPr>
                      <a:r>
                        <a:t>PYMNTS</a:t>
                      </a:r>
                    </a:p>
                  </a:txBody>
                  <a:tcPr>
                    <a:solidFill>
                      <a:srgbClr val="FFFFFF"/>
                    </a:solidFill>
                  </a:tcPr>
                </a:tc>
                <a:tc>
                  <a:txBody>
                    <a:bodyPr/>
                    <a:lstStyle/>
                    <a:p>
                      <a:pPr>
                        <a:defRPr sz="1200">
                          <a:solidFill>
                            <a:srgbClr val="1A1A2E"/>
                          </a:solidFill>
                          <a:latin typeface="Yu Gothic"/>
                        </a:defRPr>
                      </a:pPr>
                      <a:r>
                        <a:t>2026-07-22</a:t>
                      </a:r>
                    </a:p>
                  </a:txBody>
                  <a:tcPr>
                    <a:solidFill>
                      <a:srgbClr val="FFFFFF"/>
                    </a:solidFill>
                  </a:tcPr>
                </a:tc>
              </a:tr>
              <a:tr h="502920">
                <a:tc>
                  <a:txBody>
                    <a:bodyPr/>
                    <a:lstStyle/>
                    <a:p>
                      <a:pPr>
                        <a:defRPr sz="1200">
                          <a:solidFill>
                            <a:srgbClr val="1A1A2E"/>
                          </a:solidFill>
                          <a:latin typeface="Yu Gothic"/>
                        </a:defRPr>
                      </a:pPr>
                      <a:r>
                        <a:t>Forbes</a:t>
                      </a:r>
                    </a:p>
                  </a:txBody>
                  <a:tcPr>
                    <a:solidFill>
                      <a:srgbClr val="F3F6FC"/>
                    </a:solidFill>
                  </a:tcPr>
                </a:tc>
                <a:tc>
                  <a:txBody>
                    <a:bodyPr/>
                    <a:lstStyle/>
                    <a:p>
                      <a:pPr>
                        <a:defRPr sz="1200">
                          <a:solidFill>
                            <a:srgbClr val="1A1A2E"/>
                          </a:solidFill>
                          <a:latin typeface="Yu Gothic"/>
                        </a:defRPr>
                      </a:pPr>
                      <a:r>
                        <a:t>2026-03-13</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調達概要の再確認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企業名: Atoms(トラビス・カラニック氏が創業)</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調達額: 17億ドル</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主導投資家: a16z</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発表日: 2026年7月22日</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Atomsを主題としたテーマ</a:t>
                      </a:r>
                    </a:p>
                  </a:txBody>
                  <a:tcPr>
                    <a:solidFill>
                      <a:srgbClr val="FFFFFF"/>
                    </a:solidFill>
                  </a:tcPr>
                </a:tc>
                <a:tc>
                  <a:txBody>
                    <a:bodyPr/>
                    <a:lstStyle/>
                    <a:p>
                      <a:pPr>
                        <a:defRPr sz="1200">
                          <a:solidFill>
                            <a:srgbClr val="1A1A2E"/>
                          </a:solidFill>
                          <a:latin typeface="Yu Gothic"/>
                        </a:defRPr>
                      </a:pPr>
                      <a:r>
                        <a:t>既存117テーマになし</a:t>
                      </a:r>
                    </a:p>
                  </a:txBody>
                  <a:tcPr>
                    <a:solidFill>
                      <a:srgbClr val="FFFFFF"/>
                    </a:solidFill>
                  </a:tcPr>
                </a:tc>
              </a:tr>
              <a:tr h="502920">
                <a:tc>
                  <a:txBody>
                    <a:bodyPr/>
                    <a:lstStyle/>
                    <a:p>
                      <a:pPr>
                        <a:defRPr sz="1200">
                          <a:solidFill>
                            <a:srgbClr val="1A1A2E"/>
                          </a:solidFill>
                          <a:latin typeface="Yu Gothic"/>
                        </a:defRPr>
                      </a:pPr>
                      <a:r>
                        <a:t>カラニック氏を主題としたテーマ</a:t>
                      </a:r>
                    </a:p>
                  </a:txBody>
                  <a:tcPr>
                    <a:solidFill>
                      <a:srgbClr val="F3F6FC"/>
                    </a:solidFill>
                  </a:tcPr>
                </a:tc>
                <a:tc>
                  <a:txBody>
                    <a:bodyPr/>
                    <a:lstStyle/>
                    <a:p>
                      <a:pPr>
                        <a:defRPr sz="1200">
                          <a:solidFill>
                            <a:srgbClr val="1A1A2E"/>
                          </a:solidFill>
                          <a:latin typeface="Yu Gothic"/>
                        </a:defRPr>
                      </a:pPr>
                      <a:r>
                        <a:t>既存117テーマになし</a:t>
                      </a:r>
                    </a:p>
                  </a:txBody>
                  <a:tcPr>
                    <a:solidFill>
                      <a:srgbClr val="F3F6FC"/>
                    </a:solidFill>
                  </a:tcPr>
                </a:tc>
              </a:tr>
              <a:tr h="502920">
                <a:tc>
                  <a:txBody>
                    <a:bodyPr/>
                    <a:lstStyle/>
                    <a:p>
                      <a:pPr>
                        <a:defRPr sz="1200">
                          <a:solidFill>
                            <a:srgbClr val="1A1A2E"/>
                          </a:solidFill>
                          <a:latin typeface="Yu Gothic"/>
                        </a:defRPr>
                      </a:pPr>
                      <a:r>
                        <a:t>判定</a:t>
                      </a:r>
                    </a:p>
                  </a:txBody>
                  <a:tcPr>
                    <a:solidFill>
                      <a:srgbClr val="FFFFFF"/>
                    </a:solidFill>
                  </a:tcPr>
                </a:tc>
                <a:tc>
                  <a:txBody>
                    <a:bodyPr/>
                    <a:lstStyle/>
                    <a:p>
                      <a:pPr>
                        <a:defRPr sz="1200">
                          <a:solidFill>
                            <a:srgbClr val="1A1A2E"/>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ここからは推測ですが、物理AI・産業ロボティクス領域への投資がさらに加速する可能性がある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著名起業家が参入することで、業界全体の注目度が上がると見られる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鉱業・輸送・食品生産という巨大市場でのAI活用が進む可能性がある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3つの事業領域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Food・Mining・Transport</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Atomsが展開する3つの事業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pulse2.com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従来のロボット企業とAtomsの違い(報道からの整理)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従来型</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人間の動きを再現する汎用ロボットを目指す例が多い</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特定用途への最適化は限定的とされる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Atomsのアプローチ</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特定タスクに特化した車輪型ロボット</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高サイクルの産業環境向けに最適化</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資金使途(概要)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製品開発</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3事業のロボティクス・ソフトウェア開発</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人材採用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エンジニアリング・営業体制の拡充</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産業顧客との協業</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鉱業・輸送・食品生産の各企業と連携</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リスクと課題(正直な開示)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各事業の具体的な稼働実績・収益化の状況は確認できていない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巨額の出資が実際の事業成果に結びつくかは未確定</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産業ロボティクスは規制・安全基準への対応も課題となり得る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出典の明記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複数の独立した報道・金融専門メディアの数字のみを使用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正直な開示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鮮度が基準を満たさない点も含め、確認できなかったことを明記</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中立性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特定企業・特定製品の利用を強く推奨する結論にはしていない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取締役就任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ベン・ホロウィッツ氏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a16z共同創業者がAtomsの取締役に就任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TechCrunch(2026-07-22)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あなたはAtomsの野望、どう見ますか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物理AI・産業ロボティクスへの投資、今後も注目していきましょう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Atomsが2026年7月22日、a16z主導で17億ドルを調達したと発表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率いるのはUber共同創業者トラビス・カラニック氏</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食品生産・鉱業・重量輸送という大規模産業向けの物理AI企業</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約8年間のステルス期間を経て2026年3月に事業を公表していた</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TechCrunch・Yahoo Finance・PYMNTS ほか(2026-07-22)｜定期実行116本目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