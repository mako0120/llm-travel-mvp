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完了率(%)</c:v>
                </c:pt>
              </c:strCache>
            </c:strRef>
          </c:tx>
          <c:spPr>
            <a:solidFill>
              <a:srgbClr val="3A4750"/>
            </a:solidFill>
          </c:spPr>
          <c:cat>
            <c:strRef>
              <c:f>Sheet1!$A$2:$A$4</c:f>
              <c:strCache>
                <c:ptCount val="3"/>
                <c:pt idx="0">
                  <c:v>GPT-5.6-Cyber(Daybreak Red)</c:v>
                </c:pt>
                <c:pt idx="1">
                  <c:v>GPT-5.6 Sol(Daybreak Blue)</c:v>
                </c:pt>
                <c:pt idx="2">
                  <c:v>GPT-5.6 Sol(標準の安全対策)</c:v>
                </c:pt>
              </c:strCache>
            </c:strRef>
          </c:cat>
          <c:val>
            <c:numRef>
              <c:f>Sheet1!$B$2:$B$4</c:f>
              <c:numCache>
                <c:formatCode>General</c:formatCode>
                <c:ptCount val="3"/>
                <c:pt idx="0">
                  <c:v>95.0</c:v>
                </c:pt>
                <c:pt idx="1">
                  <c:v>2.0</c:v>
                </c:pt>
                <c:pt idx="2">
                  <c:v>1.5</c:v>
                </c:pt>
              </c:numCache>
            </c:numRef>
          </c:val>
        </c:ser>
        <c:dLbls>
          <c:numFmt formatCode="0.0&quot;%&quot;" sourceLinked="0"/>
          <c:txPr>
            <a:bodyPr/>
            <a:lstStyle/>
            <a:p>
              <a:pPr>
                <a:defRPr sz="1200" b="1">
                  <a:solidFill>
                    <a:srgbClr val="3A4750"/>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10日、OpenAIがサイバーセキュリティ向けプログラム「Daybreak」を2段階に拡張し、専用モデル「GPT-5.6-Cyber」を投入したと発表しました。実はその3日前、OpenAIは別のモデル「Astra」の開発を自らサイバー能力を理由に止めたばかりでした。今日はこの経緯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まず一番わかりやすい数字を確認します。同じ質問をしても、専用モデルのGPT-5.6-Cyberは95.0%応答できるのに対し、標準的な安全対策のGPT-5.6 Solはわずか1.5%しか応答しないそうです。この差の理由を今日は見ていきます。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今日はこの5つの流れでお伝えします。専門用語をかみ砕きながら、事実と推測をはっきり分けて整理します。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このテーマは着手日から1日以内という、非常に新しい発表に基づいています。しかも「ガードレールを外す」という、一見逆方向に見える判断がなぜ行われたのか、整理する価値があります。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Daybreakは、OpenAIのサイバーセキュリティ向けプログラムです。防御担当者がAIを使って脆弱性の発見や対応を行うことを支援する取り組みとされ、今回これがBlueとRedの2段階に再編されました。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GPT-5.6-Cyberは、汎用モデルのGPT-5.6 Solをベースに、サイバーセキュリティタスク向けに追加訓練された専用モデルです。悪用も可能なタスクへの拒否率を引き下げている一方、より厳格な審査を経たDaybreak Red経由でのみ利用できます。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全体の構造を図にするとこうです。Daybreakというプログラムの下に、汎用モデルのガードレールを一部解除するBlueと、専用モデルGPT-5.6-Cyberへのアクセスを付与するRedの2段階があります。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2つの段階を比べます。Blueは汎用モデルのガードレールを一部解除したもの、Redは専用モデルGPT-5.6-Cyberへのアクセスを付与するもので、Redの方がより厳格な審査を経るとされています。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時系列で並べるとこうなります。8月7日にAstraの開発減速が報じられたわずか3日後の8月10日、今度はガードレールを一部解除する方向の発表がありました。この関係は次のスライドで詳しく整理します。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製品も方向性も異なる、別の判断であることを整理しました。Astraは開発ペース全体の判断、今回は既存モデルを審査つきで防御目的に限定提供する判断です。矛盾ではなく、別の意思決定として捉えるのが正確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まずGPT-5.6-Cyberの数字を確認します。OpenAI社内の指標で、高度なサイバーセキュリティタスクの95.0%を完了できるとされています。次のスライドで、他のモデルと比べてみます。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グラフにすると差がよくわかります。専用モデルのGPT-5.6-Cyberは95.0%、同じSolでもDaybreak Blueアクセス下では2.0%、標準の安全対策下では1.5%と、大きな開きがあります。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この数字を見るときの注意点です。95.0%は『応答した割合』であり『正しく答えた割合』ではない可能性がある、とCNBCが指摘しています。数字の意味を正確に理解することが大切です。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料金も確認しておきます。入力100万トークンあたり12.50ドル、出力は75ドル、キャッシュ入力は1.25ドルです。誰でも使える価格ではなく、Daybreak Redの承認を前提とした料金です。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今回の核心です。OpenAIはモデル側のガードレールを緩める代わりに、利用者側への管理を強化しています。身元確認・アカウントセキュリティ・利用監視・承認された用途への制限・法的誓約が課される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先ほどの管理を4つのステップとして整理しました。身元確認とアカウントセキュリティ、利用監視、承認された用途への制限、法的誓約という順で、利用者側に条件が課されています。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OpenAIが挙げている実例です。ChromeのJavaScriptエンジンV8をGPT-5.6-Cyberで調査し、メモリ破壊やサンドボックス脱出につながりうる未知の脆弱性を2件発見したと説明しています。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時点でGPT-5.6-Cyberは『信頼できる顧客パートナー』向けに提供されているとされ、例としてAccenture・IBM・CrowdStrike・Cloudflareなどの名前が報じられています。ただしこれは一例で、対象企業の総数や網羅的なリスト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確認できなかったことを4点、一覧にしました。数字や詳細を推測で埋めず、正直に不明として扱っています。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ここから事実と推測を分けます。OpenAIの発表内容そのものは複数メディアが確認していますが、その先の狙いの解釈や既存テーマとの関係の整理は、当社の見方であることを明確にします。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ここからは、視聴者にとって具体的に何を意味するかです。AIを使う立場、セキュリティ担当者の立場、ニュースを追う立場、それぞれで意識したい点をまとめました。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しばしばギャップがあります。今回のケースでは『安全装置が全部外れた』わけではなく、承認された防御担当者に限定した上で、人を審査する仕組みに置き換えている、という点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ここで一度立ち止まります。本テーマは『ガードレール解除』というセンシティブな話題を扱いますが、誇張や悪用助長にならないよう、事実関係の整理に徹しています。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本テーマの鮮度を数字で確認します。中心となる発表・報道は2026年8月10日、着手日は2026年8月11日で、2日以内という基準を満たしています。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よくある誤解を3つ整理しました。いずれも『不明』または『報道からは確認できない』という正直な整理にとどめています。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出典の性質を整理します。最も一次情報に近いのはOpenAI公式ブログで、複数の独立したメディアがその内容を確認・解説しています。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今後起こりうる展開を3つ挙げましたが、いずれも現時点では確定していません。続報が出た際にはこのテーマの内容も更新する必要があります。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最後にもう一度、今回のポイントを確認します。ガードレールをただ外したのではなく、身元確認・監視・法的誓約という形で利用者側を審査する仕組みに置き換えた、という点が今回の核心です。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OpenAIがサイバー防御専用モデルGPT-5.6-Cyberを投入し、Daybreakを2段階に拡張した経緯をお伝えしました。称賛や非難ではなく、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OpenAIが、高度なサイバー攻撃タスクの95%に応えられる</a:t>
            </a:r>
          </a:p>
          <a:p>
            <a:pPr algn="l">
              <a:lnSpc>
                <a:spcPct val="115000"/>
              </a:lnSpc>
            </a:pPr>
            <a:r>
              <a:rPr sz="4200" b="1">
                <a:solidFill>
                  <a:srgbClr val="FFFFFF"/>
                </a:solidFill>
                <a:latin typeface="Yu Gothic"/>
              </a:rPr>
              <a:t>専用AI「GPT-5.6-Cyber」を投入した。</a:t>
            </a:r>
          </a:p>
          <a:p>
            <a:pPr algn="l">
              <a:lnSpc>
                <a:spcPct val="115000"/>
              </a:lnSpc>
            </a:pPr>
            <a:r>
              <a:rPr sz="4200" b="1">
                <a:solidFill>
                  <a:srgbClr val="FFFFFF"/>
                </a:solidFill>
                <a:latin typeface="Yu Gothic"/>
              </a:rPr>
              <a:t>わずか3日前には、別のAIの開発を自ら止めていたばかりだった。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「Daybreak」をBlue/Redの2段階に拡張し、ガードレールの代わりに利用者を審査する新方式へ――出典付きで整理する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OpenAI公式ブログ・VentureBeat・Axios・CNBC・Unite.AI・eesel AI(いずれも2026-08-10)。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OpenAIが公表した対照的な数字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95.0% 対 1.5%</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GPT-5.6-Cyberは高度なサイバーセキュリティタスクの95.0%を完了できる一方、標準的な安全対策下のGPT-5.6 Solは1.5%にとどまる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VentureBeat / Unite.AI(2026-08-10)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何が発表されたのか(初心者向け解説つき)</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Daybreak Blue / Redの違いと、ガードレールの代わりの管理</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数字で見る性能・料金の中身</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既存147本目(Astra開発減速)との関係</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事実・推測・不明の切り分けと、今後の注目点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2026年8月10日、OpenAI公式ブログと複数メディアが同時に発表・報道した(着手日の1日前)</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「ガードレールを外す」という、これまでとは逆方向に見える判断が注目されている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3日前に発表された既存テーマ(Astra開発減速)との関係も整理する価値がある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OpenAI公式ブログ / VentureBeat(2026-08-10)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「Daybreak」とは何か(初心者向け)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本題に入る前に、Daybreakについて確認します。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OpenAIが展開している、サイバーセキュリティ向けのプログラム</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防御担当者がAIを使って脆弱性の発見・対応を行うことを支援する取り組みとされる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今回、これを「Daybreak Blue」「Daybreak Red」の2段階に再編した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OpenAI公式ブログ(2026-08-10)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「GPT-5.6-Cyber」とは何か(初心者向け)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本題のカギになるモデルを確認します。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GPT-5.6 Solをベースに、サイバーセキュリティタスク向けに追加訓練された専用モデル</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ゼロデイの発見やエクスプロイトチェーンの構築など、デュアルユースなタスクへの拒否率を引き下げている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より厳格な審査を経る「Daybreak Red」経由でのみ利用できる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VentureBeat / Unite.AI(2026-08-10)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Daybreakの2段階構造(概念図)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Daybreak</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OpenAIのサイバーセキュリティ向けプログラム</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Daybreak Blue</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GPT-5.6 Solなど汎用モデルのガードレールを一部解除</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Daybreak Red</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専用モデルGPT-5.6-Cyberへのアクセスを付与</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承認された防御担当者向けに、2段階でアクセスを提供する構造</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Daybreak Blue / Daybreak Redの違い</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Daybreak Blue</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GPT-5.6 Solなど汎用モデルが対象</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一部システムレベルのガードレールを解除</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多くの防御担当者向けの入口とされる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Daybreak Red</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専用モデルGPT-5.6-Cyberへのアクセス</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デュアルユースタスクの拒否率をさらに低減</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より厳格な審査を経た組織向け</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3日間の経緯タイムライン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8/7 Astra開発減速</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OpenAIが次期モデルAstraの開発を、サイバー能力への懸念を理由に自ら減速(既存147本目)</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3日間</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着手日から数えても短い間隔で、次の発表が続いた</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8/10 Daybreak拡張発表</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GPT-5.6-Cyberを投入し、承認制のもとガードレールを一部解除する方向を発表</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既存147本目(Astra開発減速)との関係</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観点</a:t>
                      </a:r>
                    </a:p>
                  </a:txBody>
                  <a:tcPr>
                    <a:solidFill>
                      <a:srgbClr val="3A4750"/>
                    </a:solidFill>
                  </a:tcPr>
                </a:tc>
                <a:tc>
                  <a:txBody>
                    <a:bodyPr/>
                    <a:lstStyle/>
                    <a:p>
                      <a:pPr>
                        <a:defRPr sz="1300" b="1">
                          <a:solidFill>
                            <a:srgbClr val="FFFFFF"/>
                          </a:solidFill>
                          <a:latin typeface="Yu Gothic"/>
                        </a:defRPr>
                      </a:pPr>
                      <a:r>
                        <a:t>147本目(Astra開発減速・8/7)</a:t>
                      </a:r>
                    </a:p>
                  </a:txBody>
                  <a:tcPr>
                    <a:solidFill>
                      <a:srgbClr val="3A4750"/>
                    </a:solidFill>
                  </a:tcPr>
                </a:tc>
                <a:tc>
                  <a:txBody>
                    <a:bodyPr/>
                    <a:lstStyle/>
                    <a:p>
                      <a:pPr>
                        <a:defRPr sz="1300" b="1">
                          <a:solidFill>
                            <a:srgbClr val="FFFFFF"/>
                          </a:solidFill>
                          <a:latin typeface="Yu Gothic"/>
                        </a:defRPr>
                      </a:pPr>
                      <a:r>
                        <a:t>本テーマ(Daybreak拡張・8/10)</a:t>
                      </a:r>
                    </a:p>
                  </a:txBody>
                  <a:tcPr>
                    <a:solidFill>
                      <a:srgbClr val="3A4750"/>
                    </a:solidFill>
                  </a:tcPr>
                </a:tc>
              </a:tr>
              <a:tr h="502920">
                <a:tc>
                  <a:txBody>
                    <a:bodyPr/>
                    <a:lstStyle/>
                    <a:p>
                      <a:pPr>
                        <a:defRPr sz="1200">
                          <a:solidFill>
                            <a:srgbClr val="1E2124"/>
                          </a:solidFill>
                          <a:latin typeface="Yu Gothic"/>
                        </a:defRPr>
                      </a:pPr>
                      <a:r>
                        <a:t>対象製品</a:t>
                      </a:r>
                    </a:p>
                  </a:txBody>
                  <a:tcPr>
                    <a:solidFill>
                      <a:srgbClr val="FFFFFF"/>
                    </a:solidFill>
                  </a:tcPr>
                </a:tc>
                <a:tc>
                  <a:txBody>
                    <a:bodyPr/>
                    <a:lstStyle/>
                    <a:p>
                      <a:pPr>
                        <a:defRPr sz="1200">
                          <a:solidFill>
                            <a:srgbClr val="1E2124"/>
                          </a:solidFill>
                          <a:latin typeface="Yu Gothic"/>
                        </a:defRPr>
                      </a:pPr>
                      <a:r>
                        <a:t>次期フラッグシップモデル「Astra」</a:t>
                      </a:r>
                    </a:p>
                  </a:txBody>
                  <a:tcPr>
                    <a:solidFill>
                      <a:srgbClr val="FFFFFF"/>
                    </a:solidFill>
                  </a:tcPr>
                </a:tc>
                <a:tc>
                  <a:txBody>
                    <a:bodyPr/>
                    <a:lstStyle/>
                    <a:p>
                      <a:pPr>
                        <a:defRPr sz="1200">
                          <a:solidFill>
                            <a:srgbClr val="1E2124"/>
                          </a:solidFill>
                          <a:latin typeface="Yu Gothic"/>
                        </a:defRPr>
                      </a:pPr>
                      <a:r>
                        <a:t>GPT-5.6シリーズ(Sol・Cyber)</a:t>
                      </a:r>
                    </a:p>
                  </a:txBody>
                  <a:tcPr>
                    <a:solidFill>
                      <a:srgbClr val="FFFFFF"/>
                    </a:solidFill>
                  </a:tcPr>
                </a:tc>
              </a:tr>
              <a:tr h="502920">
                <a:tc>
                  <a:txBody>
                    <a:bodyPr/>
                    <a:lstStyle/>
                    <a:p>
                      <a:pPr>
                        <a:defRPr sz="1200">
                          <a:solidFill>
                            <a:srgbClr val="1E2124"/>
                          </a:solidFill>
                          <a:latin typeface="Yu Gothic"/>
                        </a:defRPr>
                      </a:pPr>
                      <a:r>
                        <a:t>方向性</a:t>
                      </a:r>
                    </a:p>
                  </a:txBody>
                  <a:tcPr>
                    <a:solidFill>
                      <a:srgbClr val="F7F4EF"/>
                    </a:solidFill>
                  </a:tcPr>
                </a:tc>
                <a:tc>
                  <a:txBody>
                    <a:bodyPr/>
                    <a:lstStyle/>
                    <a:p>
                      <a:pPr>
                        <a:defRPr sz="1200">
                          <a:solidFill>
                            <a:srgbClr val="1E2124"/>
                          </a:solidFill>
                          <a:latin typeface="Yu Gothic"/>
                        </a:defRPr>
                      </a:pPr>
                      <a:r>
                        <a:t>サイバー能力への懸念を理由に自ら減速</a:t>
                      </a:r>
                    </a:p>
                  </a:txBody>
                  <a:tcPr>
                    <a:solidFill>
                      <a:srgbClr val="F7F4EF"/>
                    </a:solidFill>
                  </a:tcPr>
                </a:tc>
                <a:tc>
                  <a:txBody>
                    <a:bodyPr/>
                    <a:lstStyle/>
                    <a:p>
                      <a:pPr>
                        <a:defRPr sz="1200">
                          <a:solidFill>
                            <a:srgbClr val="1E2124"/>
                          </a:solidFill>
                          <a:latin typeface="Yu Gothic"/>
                        </a:defRPr>
                      </a:pPr>
                      <a:r>
                        <a:t>承認制のもとガードレールを一部解除</a:t>
                      </a:r>
                    </a:p>
                  </a:txBody>
                  <a:tcPr>
                    <a:solidFill>
                      <a:srgbClr val="F7F4EF"/>
                    </a:solidFill>
                  </a:tcPr>
                </a:tc>
              </a:tr>
              <a:tr h="502920">
                <a:tc>
                  <a:txBody>
                    <a:bodyPr/>
                    <a:lstStyle/>
                    <a:p>
                      <a:pPr>
                        <a:defRPr sz="1200">
                          <a:solidFill>
                            <a:srgbClr val="1E2124"/>
                          </a:solidFill>
                          <a:latin typeface="Yu Gothic"/>
                        </a:defRPr>
                      </a:pPr>
                      <a:r>
                        <a:t>対象範囲</a:t>
                      </a:r>
                    </a:p>
                  </a:txBody>
                  <a:tcPr>
                    <a:solidFill>
                      <a:srgbClr val="FFFFFF"/>
                    </a:solidFill>
                  </a:tcPr>
                </a:tc>
                <a:tc>
                  <a:txBody>
                    <a:bodyPr/>
                    <a:lstStyle/>
                    <a:p>
                      <a:pPr>
                        <a:defRPr sz="1200">
                          <a:solidFill>
                            <a:srgbClr val="1E2124"/>
                          </a:solidFill>
                          <a:latin typeface="Yu Gothic"/>
                        </a:defRPr>
                      </a:pPr>
                      <a:r>
                        <a:t>Astra全体の開発ペースに関する判断</a:t>
                      </a:r>
                    </a:p>
                  </a:txBody>
                  <a:tcPr>
                    <a:solidFill>
                      <a:srgbClr val="FFFFFF"/>
                    </a:solidFill>
                  </a:tcPr>
                </a:tc>
                <a:tc>
                  <a:txBody>
                    <a:bodyPr/>
                    <a:lstStyle/>
                    <a:p>
                      <a:pPr>
                        <a:defRPr sz="1200">
                          <a:solidFill>
                            <a:srgbClr val="1E2124"/>
                          </a:solidFill>
                          <a:latin typeface="Yu Gothic"/>
                        </a:defRPr>
                      </a:pPr>
                      <a:r>
                        <a:t>承認された防御担当者向けの特定アクセス</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GPT-5.6-Cyberの完了率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95.0%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OpenAI社内の「Advanced Cybersecurity Completion Rate」における、高度なサイバーセキュリティタスクの完了率</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VentureBeat / Unite.AI(2026-08-10)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高度なサイバーセキュリティタスクの完了率(%)</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VentureBeat / Unite.AI(2026-08-10)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この数字を読むときの注意点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注意</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「完了率」であって「正確性」ではない</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95.0%はタスクに応答した割合。回答内容が技術的に正しいかを示す精度指標ではない可能性があるとCNBCが指摘している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裏返し</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拒否率の逆の指標</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数字が高いほど、拒否せず応答する割合が高いことを意味する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文脈</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承認された環境限定の数値</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この数値は、身元確認等の管理下にあるDaybreak Red利用時の完了率であり、無条件の数値ではない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CNBC(2026-08-10)</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GPT-5.6-Cyberの料金(1Mトークンあたり)</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金額</a:t>
                      </a:r>
                    </a:p>
                  </a:txBody>
                  <a:tcPr>
                    <a:solidFill>
                      <a:srgbClr val="3A4750"/>
                    </a:solidFill>
                  </a:tcPr>
                </a:tc>
              </a:tr>
              <a:tr h="502920">
                <a:tc>
                  <a:txBody>
                    <a:bodyPr/>
                    <a:lstStyle/>
                    <a:p>
                      <a:pPr>
                        <a:defRPr sz="1200">
                          <a:solidFill>
                            <a:srgbClr val="1E2124"/>
                          </a:solidFill>
                          <a:latin typeface="Yu Gothic"/>
                        </a:defRPr>
                      </a:pPr>
                      <a:r>
                        <a:t>入力</a:t>
                      </a:r>
                    </a:p>
                  </a:txBody>
                  <a:tcPr>
                    <a:solidFill>
                      <a:srgbClr val="FFFFFF"/>
                    </a:solidFill>
                  </a:tcPr>
                </a:tc>
                <a:tc>
                  <a:txBody>
                    <a:bodyPr/>
                    <a:lstStyle/>
                    <a:p>
                      <a:pPr>
                        <a:defRPr sz="1200">
                          <a:solidFill>
                            <a:srgbClr val="1E2124"/>
                          </a:solidFill>
                          <a:latin typeface="Yu Gothic"/>
                        </a:defRPr>
                      </a:pPr>
                      <a:r>
                        <a:t>12.50ドル</a:t>
                      </a:r>
                    </a:p>
                  </a:txBody>
                  <a:tcPr>
                    <a:solidFill>
                      <a:srgbClr val="FFFFFF"/>
                    </a:solidFill>
                  </a:tcPr>
                </a:tc>
              </a:tr>
              <a:tr h="502920">
                <a:tc>
                  <a:txBody>
                    <a:bodyPr/>
                    <a:lstStyle/>
                    <a:p>
                      <a:pPr>
                        <a:defRPr sz="1200">
                          <a:solidFill>
                            <a:srgbClr val="1E2124"/>
                          </a:solidFill>
                          <a:latin typeface="Yu Gothic"/>
                        </a:defRPr>
                      </a:pPr>
                      <a:r>
                        <a:t>出力</a:t>
                      </a:r>
                    </a:p>
                  </a:txBody>
                  <a:tcPr>
                    <a:solidFill>
                      <a:srgbClr val="F7F4EF"/>
                    </a:solidFill>
                  </a:tcPr>
                </a:tc>
                <a:tc>
                  <a:txBody>
                    <a:bodyPr/>
                    <a:lstStyle/>
                    <a:p>
                      <a:pPr>
                        <a:defRPr sz="1200">
                          <a:solidFill>
                            <a:srgbClr val="1E2124"/>
                          </a:solidFill>
                          <a:latin typeface="Yu Gothic"/>
                        </a:defRPr>
                      </a:pPr>
                      <a:r>
                        <a:t>75ドル</a:t>
                      </a:r>
                    </a:p>
                  </a:txBody>
                  <a:tcPr>
                    <a:solidFill>
                      <a:srgbClr val="F7F4EF"/>
                    </a:solidFill>
                  </a:tcPr>
                </a:tc>
              </a:tr>
              <a:tr h="502920">
                <a:tc>
                  <a:txBody>
                    <a:bodyPr/>
                    <a:lstStyle/>
                    <a:p>
                      <a:pPr>
                        <a:defRPr sz="1200">
                          <a:solidFill>
                            <a:srgbClr val="1E2124"/>
                          </a:solidFill>
                          <a:latin typeface="Yu Gothic"/>
                        </a:defRPr>
                      </a:pPr>
                      <a:r>
                        <a:t>キャッシュ入力</a:t>
                      </a:r>
                    </a:p>
                  </a:txBody>
                  <a:tcPr>
                    <a:solidFill>
                      <a:srgbClr val="FFFFFF"/>
                    </a:solidFill>
                  </a:tcPr>
                </a:tc>
                <a:tc>
                  <a:txBody>
                    <a:bodyPr/>
                    <a:lstStyle/>
                    <a:p>
                      <a:pPr>
                        <a:defRPr sz="1200">
                          <a:solidFill>
                            <a:srgbClr val="1E2124"/>
                          </a:solidFill>
                          <a:latin typeface="Yu Gothic"/>
                        </a:defRPr>
                      </a:pPr>
                      <a:r>
                        <a:t>1.25ドル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VentureBeat(2026-08-10)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ガードレールの代わりに課される管理</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ここが本テーマの核心です。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モデル側のガードレールを緩める代わりに、利用者側への管理を強化する方式</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身元確認・アカウントセキュリティ・利用監視などが課される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承認された用途への制限、法的誓約も条件に含まれるとされる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OpenAI公式ブログ / eesel AI(2026-08-10)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利用者側に課される管理措置(4つ)</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身元確認・アカウントセキュリティ</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申請者・組織の身元とアカウントの安全性を確認</a:t>
            </a:r>
          </a:p>
        </p:txBody>
      </p:sp>
      <p:sp>
        <p:nvSpPr>
          <p:cNvPr id="11" name="Chevron 10"/>
          <p:cNvSpPr/>
          <p:nvPr/>
        </p:nvSpPr>
        <p:spPr>
          <a:xfrm>
            <a:off x="3068040"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利用監視</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実際の利用状況を継続的に監視する</a:t>
            </a:r>
          </a:p>
        </p:txBody>
      </p:sp>
      <p:sp>
        <p:nvSpPr>
          <p:cNvPr id="17" name="Chevron 16"/>
          <p:cNvSpPr/>
          <p:nvPr/>
        </p:nvSpPr>
        <p:spPr>
          <a:xfrm>
            <a:off x="5978804"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承認された用途への制限</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防御目的など、承認された用途以外での利用を制限する</a:t>
            </a:r>
          </a:p>
        </p:txBody>
      </p:sp>
      <p:sp>
        <p:nvSpPr>
          <p:cNvPr id="23" name="Chevron 22"/>
          <p:cNvSpPr/>
          <p:nvPr/>
        </p:nvSpPr>
        <p:spPr>
          <a:xfrm>
            <a:off x="8889568"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3A4750"/>
                </a:solidFill>
                <a:latin typeface="Yu Gothic"/>
              </a:rPr>
              <a:t>法的誓約</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利用条件について法的な誓約を求める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実例: V8(Chrome)での脆弱性発見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対象</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V8</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ChromeのJavaScriptエンジン</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2件</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未知の脆弱性を発見</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GPT-5.6-Cyberを使った調査で発見したとOpenAIは説明している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影響</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メモリ破壊・サンドボックス脱出</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脆弱性を組み合わせると、これらにつながりうるとされる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CNBC / Unite.AI(2026-08-10)</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現時点で報じられている提供先の例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例1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Accenture</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eesel AIの報道で名前が挙がった提供先の一例</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例2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IBM</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同上</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例3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CrowdStrike</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同上</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例4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Cloudflare</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同上</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eesel AI(2026-08-10)</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状況</a:t>
                      </a:r>
                    </a:p>
                  </a:txBody>
                  <a:tcPr>
                    <a:solidFill>
                      <a:srgbClr val="3A4750"/>
                    </a:solidFill>
                  </a:tcPr>
                </a:tc>
              </a:tr>
              <a:tr h="502920">
                <a:tc>
                  <a:txBody>
                    <a:bodyPr/>
                    <a:lstStyle/>
                    <a:p>
                      <a:pPr>
                        <a:defRPr sz="1200">
                          <a:solidFill>
                            <a:srgbClr val="1E2124"/>
                          </a:solidFill>
                          <a:latin typeface="Yu Gothic"/>
                        </a:defRPr>
                      </a:pPr>
                      <a:r>
                        <a:t>利用可能な企業/組織の具体的な総数</a:t>
                      </a:r>
                    </a:p>
                  </a:txBody>
                  <a:tcPr>
                    <a:solidFill>
                      <a:srgbClr val="FFFFFF"/>
                    </a:solidFill>
                  </a:tcPr>
                </a:tc>
                <a:tc>
                  <a:txBody>
                    <a:bodyPr/>
                    <a:lstStyle/>
                    <a:p>
                      <a:pPr>
                        <a:defRPr sz="1200">
                          <a:solidFill>
                            <a:srgbClr val="1E2124"/>
                          </a:solidFill>
                          <a:latin typeface="Yu Gothic"/>
                        </a:defRPr>
                      </a:pPr>
                      <a:r>
                        <a:t>報道からは一部の企業名以外、確認できていない(不明)</a:t>
                      </a:r>
                    </a:p>
                  </a:txBody>
                  <a:tcPr>
                    <a:solidFill>
                      <a:srgbClr val="FFFFFF"/>
                    </a:solidFill>
                  </a:tcPr>
                </a:tc>
              </a:tr>
              <a:tr h="502920">
                <a:tc>
                  <a:txBody>
                    <a:bodyPr/>
                    <a:lstStyle/>
                    <a:p>
                      <a:pPr>
                        <a:defRPr sz="1200">
                          <a:solidFill>
                            <a:srgbClr val="1E2124"/>
                          </a:solidFill>
                          <a:latin typeface="Yu Gothic"/>
                        </a:defRPr>
                      </a:pPr>
                      <a:r>
                        <a:t>承認プロセスの審査期間・審査基準の詳細</a:t>
                      </a:r>
                    </a:p>
                  </a:txBody>
                  <a:tcPr>
                    <a:solidFill>
                      <a:srgbClr val="F7F4EF"/>
                    </a:solidFill>
                  </a:tcPr>
                </a:tc>
                <a:tc>
                  <a:txBody>
                    <a:bodyPr/>
                    <a:lstStyle/>
                    <a:p>
                      <a:pPr>
                        <a:defRPr sz="1200">
                          <a:solidFill>
                            <a:srgbClr val="1E2124"/>
                          </a:solidFill>
                          <a:latin typeface="Yu Gothic"/>
                        </a:defRPr>
                      </a:pPr>
                      <a:r>
                        <a:t>報道からは確認できていない(不明)</a:t>
                      </a:r>
                    </a:p>
                  </a:txBody>
                  <a:tcPr>
                    <a:solidFill>
                      <a:srgbClr val="F7F4EF"/>
                    </a:solidFill>
                  </a:tcPr>
                </a:tc>
              </a:tr>
              <a:tr h="502920">
                <a:tc>
                  <a:txBody>
                    <a:bodyPr/>
                    <a:lstStyle/>
                    <a:p>
                      <a:pPr>
                        <a:defRPr sz="1200">
                          <a:solidFill>
                            <a:srgbClr val="1E2124"/>
                          </a:solidFill>
                          <a:latin typeface="Yu Gothic"/>
                        </a:defRPr>
                      </a:pPr>
                      <a:r>
                        <a:t>Daybreak Blueで解除される具体的なガードレールの一覧</a:t>
                      </a:r>
                    </a:p>
                  </a:txBody>
                  <a:tcPr>
                    <a:solidFill>
                      <a:srgbClr val="FFFFFF"/>
                    </a:solidFill>
                  </a:tcPr>
                </a:tc>
                <a:tc>
                  <a:txBody>
                    <a:bodyPr/>
                    <a:lstStyle/>
                    <a:p>
                      <a:pPr>
                        <a:defRPr sz="1200">
                          <a:solidFill>
                            <a:srgbClr val="1E2124"/>
                          </a:solidFill>
                          <a:latin typeface="Yu Gothic"/>
                        </a:defRPr>
                      </a:pPr>
                      <a:r>
                        <a:t>報道からは確認できていない(不明)</a:t>
                      </a:r>
                    </a:p>
                  </a:txBody>
                  <a:tcPr>
                    <a:solidFill>
                      <a:srgbClr val="FFFFFF"/>
                    </a:solidFill>
                  </a:tcPr>
                </a:tc>
              </a:tr>
              <a:tr h="502920">
                <a:tc>
                  <a:txBody>
                    <a:bodyPr/>
                    <a:lstStyle/>
                    <a:p>
                      <a:pPr>
                        <a:defRPr sz="1200">
                          <a:solidFill>
                            <a:srgbClr val="1E2124"/>
                          </a:solidFill>
                          <a:latin typeface="Yu Gothic"/>
                        </a:defRPr>
                      </a:pPr>
                      <a:r>
                        <a:t>Daybreak Blue側の料金体系の全体像</a:t>
                      </a:r>
                    </a:p>
                  </a:txBody>
                  <a:tcPr>
                    <a:solidFill>
                      <a:srgbClr val="F7F4EF"/>
                    </a:solidFill>
                  </a:tcPr>
                </a:tc>
                <a:tc>
                  <a:txBody>
                    <a:bodyPr/>
                    <a:lstStyle/>
                    <a:p>
                      <a:pPr>
                        <a:defRPr sz="1200">
                          <a:solidFill>
                            <a:srgbClr val="1E2124"/>
                          </a:solidFill>
                          <a:latin typeface="Yu Gothic"/>
                        </a:defRPr>
                      </a:pPr>
                      <a:r>
                        <a:t>本調査の範囲では確認できていない(不明)</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事実: OpenAI公式ブログ・複数メディアが確認した発表内容そのもの</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推測: 「防御側に先に能力を渡す」狙いがあるという見方は当社の解釈</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推測: 147本目(Astra減速)との関係の説明も当社の解釈で、OpenAIの公式説明ではない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不明: Daybreak Blueで解除される具体的なガードレールの一覧</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読者・企業にとっての実践的な示唆</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AIサービスを使う立場として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「ガードレール解除」は無条件開放ではなく、審査つきの限定提供である点を理解しておく</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セキュリティ担当者として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承認制プログラムの動向は、自組織の脆弱性対応の選択肢として継続的に確認する価値がある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AIニュースを追う立場として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「完了率」と「正確性」の違いのように、指標の意味を見出しだけで判断しない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AIの安全装置が全部外れた</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誰でも自由に使えるようになった</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悪用が野放しになる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実際にOpenAIが発表した内容</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承認された防御担当者のみが対象</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身元確認・監視・法的誓約などの管理下にある</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ガードレールの代わりに人を審査する仕組み</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本テーマの扱い方について(誇張回避・中立性)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「AIの安全装置が全部外れた」という誇張表現は使っていない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悪用の具体的な手口(攻撃手法・エクスプロイトの作り方等)は一切解説しない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OpenAIの対応を一方的に称賛も非難もせず、事実関係の整理にとどめる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特定企業・製品の利用を強く推奨する結論にはしない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着手日の1日前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OpenAI公式ブログ・VentureBeat・Axios・CNBC・Unite.AI・eesel AIの報道はいずれも2026年8月10日。着手日(2026年8月11日)を含めて2日以内という基準を満たす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docs/06_Content_R&amp;D.md基準</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よくある誤解と実際の整理</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Q1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誰でも使えるようになったのか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いいえ。承認された防御担当者向けの限定提供であり、無条件開放ではない</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Q2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Astra減速の話と矛盾するのか</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対象製品・判断の性質が異なる別の意思決定であり、単純な矛盾とは言えない</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Q3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悪用の手口も公開されたのか</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具体的な攻撃手法の公開は確認されておらず、本テーマでも解説しない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情報源の性質について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出典の性質を明確にしておきます。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一次情報に最も近いのはOpenAI公式ブログ(2026-08-10)</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VentureBeat・Axios・CNBC・Unite.AIが同日に確認・解説記事を掲載</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eesel AIの記事は、提供先企業の例など独自の追加取材を含む</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research.md参照</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主な出典一覧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3A4750"/>
                    </a:solidFill>
                  </a:tcPr>
                </a:tc>
                <a:tc>
                  <a:txBody>
                    <a:bodyPr/>
                    <a:lstStyle/>
                    <a:p>
                      <a:pPr>
                        <a:defRPr sz="1300" b="1">
                          <a:solidFill>
                            <a:srgbClr val="FFFFFF"/>
                          </a:solidFill>
                          <a:latin typeface="Yu Gothic"/>
                        </a:defRPr>
                      </a:pPr>
                      <a:r>
                        <a:t>報道日</a:t>
                      </a:r>
                    </a:p>
                  </a:txBody>
                  <a:tcPr>
                    <a:solidFill>
                      <a:srgbClr val="3A4750"/>
                    </a:solidFill>
                  </a:tcPr>
                </a:tc>
              </a:tr>
              <a:tr h="502920">
                <a:tc>
                  <a:txBody>
                    <a:bodyPr/>
                    <a:lstStyle/>
                    <a:p>
                      <a:pPr>
                        <a:defRPr sz="1200">
                          <a:solidFill>
                            <a:srgbClr val="1E2124"/>
                          </a:solidFill>
                          <a:latin typeface="Yu Gothic"/>
                        </a:defRPr>
                      </a:pPr>
                      <a:r>
                        <a:t>OpenAI公式ブログ</a:t>
                      </a:r>
                    </a:p>
                  </a:txBody>
                  <a:tcPr>
                    <a:solidFill>
                      <a:srgbClr val="FFFFFF"/>
                    </a:solidFill>
                  </a:tcPr>
                </a:tc>
                <a:tc>
                  <a:txBody>
                    <a:bodyPr/>
                    <a:lstStyle/>
                    <a:p>
                      <a:pPr>
                        <a:defRPr sz="1200">
                          <a:solidFill>
                            <a:srgbClr val="1E2124"/>
                          </a:solidFill>
                          <a:latin typeface="Yu Gothic"/>
                        </a:defRPr>
                      </a:pPr>
                      <a:r>
                        <a:t>2026-08-10</a:t>
                      </a:r>
                    </a:p>
                  </a:txBody>
                  <a:tcPr>
                    <a:solidFill>
                      <a:srgbClr val="FFFFFF"/>
                    </a:solidFill>
                  </a:tcPr>
                </a:tc>
              </a:tr>
              <a:tr h="502920">
                <a:tc>
                  <a:txBody>
                    <a:bodyPr/>
                    <a:lstStyle/>
                    <a:p>
                      <a:pPr>
                        <a:defRPr sz="1200">
                          <a:solidFill>
                            <a:srgbClr val="1E2124"/>
                          </a:solidFill>
                          <a:latin typeface="Yu Gothic"/>
                        </a:defRPr>
                      </a:pPr>
                      <a:r>
                        <a:t>VentureBeat</a:t>
                      </a:r>
                    </a:p>
                  </a:txBody>
                  <a:tcPr>
                    <a:solidFill>
                      <a:srgbClr val="F7F4EF"/>
                    </a:solidFill>
                  </a:tcPr>
                </a:tc>
                <a:tc>
                  <a:txBody>
                    <a:bodyPr/>
                    <a:lstStyle/>
                    <a:p>
                      <a:pPr>
                        <a:defRPr sz="1200">
                          <a:solidFill>
                            <a:srgbClr val="1E2124"/>
                          </a:solidFill>
                          <a:latin typeface="Yu Gothic"/>
                        </a:defRPr>
                      </a:pPr>
                      <a:r>
                        <a:t>2026-08-10</a:t>
                      </a:r>
                    </a:p>
                  </a:txBody>
                  <a:tcPr>
                    <a:solidFill>
                      <a:srgbClr val="F7F4EF"/>
                    </a:solidFill>
                  </a:tcPr>
                </a:tc>
              </a:tr>
              <a:tr h="502920">
                <a:tc>
                  <a:txBody>
                    <a:bodyPr/>
                    <a:lstStyle/>
                    <a:p>
                      <a:pPr>
                        <a:defRPr sz="1200">
                          <a:solidFill>
                            <a:srgbClr val="1E2124"/>
                          </a:solidFill>
                          <a:latin typeface="Yu Gothic"/>
                        </a:defRPr>
                      </a:pPr>
                      <a:r>
                        <a:t>Axios</a:t>
                      </a:r>
                    </a:p>
                  </a:txBody>
                  <a:tcPr>
                    <a:solidFill>
                      <a:srgbClr val="FFFFFF"/>
                    </a:solidFill>
                  </a:tcPr>
                </a:tc>
                <a:tc>
                  <a:txBody>
                    <a:bodyPr/>
                    <a:lstStyle/>
                    <a:p>
                      <a:pPr>
                        <a:defRPr sz="1200">
                          <a:solidFill>
                            <a:srgbClr val="1E2124"/>
                          </a:solidFill>
                          <a:latin typeface="Yu Gothic"/>
                        </a:defRPr>
                      </a:pPr>
                      <a:r>
                        <a:t>2026-08-10</a:t>
                      </a:r>
                    </a:p>
                  </a:txBody>
                  <a:tcPr>
                    <a:solidFill>
                      <a:srgbClr val="FFFFFF"/>
                    </a:solidFill>
                  </a:tcPr>
                </a:tc>
              </a:tr>
              <a:tr h="502920">
                <a:tc>
                  <a:txBody>
                    <a:bodyPr/>
                    <a:lstStyle/>
                    <a:p>
                      <a:pPr>
                        <a:defRPr sz="1200">
                          <a:solidFill>
                            <a:srgbClr val="1E2124"/>
                          </a:solidFill>
                          <a:latin typeface="Yu Gothic"/>
                        </a:defRPr>
                      </a:pPr>
                      <a:r>
                        <a:t>CNBC</a:t>
                      </a:r>
                    </a:p>
                  </a:txBody>
                  <a:tcPr>
                    <a:solidFill>
                      <a:srgbClr val="F7F4EF"/>
                    </a:solidFill>
                  </a:tcPr>
                </a:tc>
                <a:tc>
                  <a:txBody>
                    <a:bodyPr/>
                    <a:lstStyle/>
                    <a:p>
                      <a:pPr>
                        <a:defRPr sz="1200">
                          <a:solidFill>
                            <a:srgbClr val="1E2124"/>
                          </a:solidFill>
                          <a:latin typeface="Yu Gothic"/>
                        </a:defRPr>
                      </a:pPr>
                      <a:r>
                        <a:t>2026-08-10</a:t>
                      </a:r>
                    </a:p>
                  </a:txBody>
                  <a:tcPr>
                    <a:solidFill>
                      <a:srgbClr val="F7F4EF"/>
                    </a:solidFill>
                  </a:tcPr>
                </a:tc>
              </a:tr>
              <a:tr h="502920">
                <a:tc>
                  <a:txBody>
                    <a:bodyPr/>
                    <a:lstStyle/>
                    <a:p>
                      <a:pPr>
                        <a:defRPr sz="1200">
                          <a:solidFill>
                            <a:srgbClr val="1E2124"/>
                          </a:solidFill>
                          <a:latin typeface="Yu Gothic"/>
                        </a:defRPr>
                      </a:pPr>
                      <a:r>
                        <a:t>Unite.AI</a:t>
                      </a:r>
                    </a:p>
                  </a:txBody>
                  <a:tcPr>
                    <a:solidFill>
                      <a:srgbClr val="FFFFFF"/>
                    </a:solidFill>
                  </a:tcPr>
                </a:tc>
                <a:tc>
                  <a:txBody>
                    <a:bodyPr/>
                    <a:lstStyle/>
                    <a:p>
                      <a:pPr>
                        <a:defRPr sz="1200">
                          <a:solidFill>
                            <a:srgbClr val="1E2124"/>
                          </a:solidFill>
                          <a:latin typeface="Yu Gothic"/>
                        </a:defRPr>
                      </a:pPr>
                      <a:r>
                        <a:t>2026-08-10</a:t>
                      </a:r>
                    </a:p>
                  </a:txBody>
                  <a:tcPr>
                    <a:solidFill>
                      <a:srgbClr val="FFFFFF"/>
                    </a:solidFill>
                  </a:tcPr>
                </a:tc>
              </a:tr>
              <a:tr h="502920">
                <a:tc>
                  <a:txBody>
                    <a:bodyPr/>
                    <a:lstStyle/>
                    <a:p>
                      <a:pPr>
                        <a:defRPr sz="1200">
                          <a:solidFill>
                            <a:srgbClr val="1E2124"/>
                          </a:solidFill>
                          <a:latin typeface="Yu Gothic"/>
                        </a:defRPr>
                      </a:pPr>
                      <a:r>
                        <a:t>eesel AI</a:t>
                      </a:r>
                    </a:p>
                  </a:txBody>
                  <a:tcPr>
                    <a:solidFill>
                      <a:srgbClr val="F7F4EF"/>
                    </a:solidFill>
                  </a:tcPr>
                </a:tc>
                <a:tc>
                  <a:txBody>
                    <a:bodyPr/>
                    <a:lstStyle/>
                    <a:p>
                      <a:pPr>
                        <a:defRPr sz="1200">
                          <a:solidFill>
                            <a:srgbClr val="1E2124"/>
                          </a:solidFill>
                          <a:latin typeface="Yu Gothic"/>
                        </a:defRPr>
                      </a:pPr>
                      <a:r>
                        <a:t>2026-08-10</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今後起こりうる展開(いずれも確定ではない)</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追加の一次発表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承認範囲・審査基準の詳細がOpenAIから追加公表される可能性がある</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外部からの検証</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第三者評価機関がDaybreakの運用実態を検証する可能性がある</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既存Astraの続報</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147本目のAstra開発減速の続報が、本テーマと合わせて注目される可能性がある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OpenAI公式ブログ・VentureBeat・Axiosほか(2026-08-10発表)｜165本目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解除ではなく、審査つきの解放</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OpenAIはモデルのガードレールを緩める代わりに、身元確認・監視・法的誓約という形で利用者側を審査する方式を選んだ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OpenAI公式ブログ(2026-08-10)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ガードレールを外す代わりに、人を審査する。3日前に開発を止めた会社が選んだ、もう一つの答え。</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特定企業への評価ではなく、事実関係の整理として、今後も出典付きで注目したいポイントです。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