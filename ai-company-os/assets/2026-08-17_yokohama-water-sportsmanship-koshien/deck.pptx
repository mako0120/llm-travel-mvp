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得点</c:v>
                </c:pt>
              </c:strCache>
            </c:strRef>
          </c:tx>
          <c:spPr>
            <a:solidFill>
              <a:srgbClr val="3A4750"/>
            </a:solidFill>
          </c:spPr>
          <c:cat>
            <c:strRef>
              <c:f>Sheet1!$A$2:$A$5</c:f>
              <c:strCache>
                <c:ptCount val="4"/>
                <c:pt idx="0">
                  <c:v>5回時点・霞ケ浦</c:v>
                </c:pt>
                <c:pt idx="1">
                  <c:v>5回時点・横浜</c:v>
                </c:pt>
                <c:pt idx="2">
                  <c:v>試合終了・霞ケ浦</c:v>
                </c:pt>
                <c:pt idx="3">
                  <c:v>試合終了・横浜</c:v>
                </c:pt>
              </c:strCache>
            </c:strRef>
          </c:cat>
          <c:val>
            <c:numRef>
              <c:f>Sheet1!$B$2:$B$5</c:f>
              <c:numCache>
                <c:formatCode>General</c:formatCode>
                <c:ptCount val="4"/>
                <c:pt idx="0">
                  <c:v>2</c:v>
                </c:pt>
                <c:pt idx="1">
                  <c:v>1</c:v>
                </c:pt>
                <c:pt idx="2">
                  <c:v>2</c:v>
                </c:pt>
                <c:pt idx="3">
                  <c:v>5</c:v>
                </c:pt>
              </c:numCache>
            </c:numRef>
          </c:val>
        </c:ser>
        <c:dLbls>
          <c:numFmt formatCode="#,##0" sourceLinked="0"/>
          <c:txPr>
            <a:bodyPr/>
            <a:lstStyle/>
            <a:p>
              <a:pPr>
                <a:defRPr sz="1200" b="1">
                  <a:solidFill>
                    <a:srgbClr val="3A4750"/>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夏の甲子園3回戦で横浜と霞ケ浦が対戦しました。4回、霞ケ浦の選手がファウルフライを追いカメラマン席へ飛び込んだ際、横浜の選手が駆け寄って水を差し出し、スタンドから大きな拍手が送られました。試合は横浜が5-2で勝利しています。今日はこの場面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夏の甲子園3回戦、横浜対霞ケ浦の試合中、霞ケ浦の選手がファウルフライを追ってカメラマン席へ飛び込みました。その際、横浜の選手が駆け寄って水を差し出し、スタンドから大きな拍手が送られました。ここから経緯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7つの流れでお伝えします。基礎知識から試合の経過、カメラマン席への飛び込みと水を差し出した場面、そして霞ケ浦の敗戦まで、出典付きで正確に整理します。未成年の選手が主役であることに配慮し、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翌日という新しさに加え、相手チームの選手を気遣うという勝敗を超えたスポーツマンシップの瞬間があり、観客の拍手という具体的な反応も伴います。毎日新聞配信を含む複数の独立したメディアが経緯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甲子園は夏に行われる全国高校野球選手権大会の通称で、都道府県代表校が出場するトーナメント方式です。3回戦は上位に勝ち上がった段階にあたります。選手は未成年のため、本テーマでは個人の私生活ではなく出来事そのものを中心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対戦カードを確認します。2026年8月16日の3回戦で横浜と霞ケ浦が対戦しました。霞ケ浦は5回に2-1とリードする場面もありましたが、横浜が終盤に逆転し5-2で勝利しています。霞ケ浦にとっては勝てば初のベスト8進出という試合で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当日の流れです。4回、霞ケ浦の村上聖選手がカメラマン席へ飛び込み好捕し、試合が一時中断しました。この際、横浜の選手が駆け寄って水を差し出し、拍手が送られました。5回には霞ケ浦がリードする場面もありましたが、終盤に横浜が逆転し5-2で勝利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結果をサマリー表にまとめました。横浜が5-2で勝利し、霞ケ浦は5回のリードから終盤に逆転を許しました。注目シーンは4回の飛び込み好捕と水の差し出しです。霞ケ浦にとっては初のベスト8進出がかかった試合で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中盤と終了時点を比べます。中盤までは霞ケ浦がリードする場面があり、村上選手も一時勝ち越し打を放っていました。しかし終盤に横浜が逆転し、5-2で勝利。霞ケ浦は初のベスト8入りを逃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回のプレーを確認します。霞ケ浦の三塁手・村上聖選手がファウルフライを追ってカメラマン席へ飛び込みました。落球せずアウトを記録しています。このプレーの直後に、試合が一時中断する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好捕から中断までのプロセスを図にしました。ファウルフライを追ってカメラマン席へ飛び込み、落球せずアウトを記録。身体の状態を確認するため試合が中断し、そこへ横浜の選手が駆け寄ります。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が中断した理由を正確にお伝えします。身体の状態を確認するための中断であり、プレー自体は落球せずアウトを記録するという成功でした。具体的な負傷の有無・程度は確認できておらず、深刻な負傷を示唆する表現は使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タンドに拍手が送られた瞬間です。横浜の選手が駆け寄って村上選手の様子を確認し、ベンチに水を持ってくるよう呼びかけて水を差し出しました。相手チームへのこの行動に、スタンドから大きな拍手が送られ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水を渡すまでの流れです。横浜の選手が村上選手のもとへ駆け寄り、様子を確認し、ベンチに水を持ってくるよう呼びかけ、水を差し出しました。この一連の行動に、スタンドから拍手が送られています。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場面をどう受け止めるかです。相手チームの選手を気遣う行動に、スタンドから大きな拍手が送られたと複数のメディアが報じています。選手個人の心情までは断定せず、出来事そのものを中心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水を渡した横浜の選手について正直にお伝えします。氏名は複数の報道いずれにも記載がなく特定できていないため、本成果物では『横浜の選手』と一貫して表記します。横浜の先発投手と同一人物かどうかも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ことといないことを整理します。飛び込み好捕・中断・水を差し出した行動・拍手・最終スコアは確認できています。一方、水を渡した選手の氏名や、先発投手と同一人物かどう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村上聖選手の両面の活躍をまとめました。守備では飛び込み好捕、攻撃では一時勝ち越し打とチームに貢献しましたが、チームは横浜に競り負け初のベスト8入りを逃しています。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試合の最終結果です。霞ケ浦は5回にリードする場面もありましたが、横浜が終盤に逆転し5-2で勝利しました。霞ケ浦にとっては初のベスト8入りがかかった試合でしたが、届きませんでした。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霞ケ浦の敗戦を正直に伝えます。5-2で敗れ初のベスト8入りを逃したという結果を隠さず伝えます。村上選手の活躍と敗戦は切り離さず並べて伝え、過度に悲劇的に演出することもしません。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成年選手への配慮方針です。出場選手は未成年のため、個人の私生活を扇情的に扱わず出来事そのものを中心に構成しました。氏名は公表済みの範囲でテキストとしてのみ扱い、写真・肖像は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見出しの印象と実際の内容にはギャップが生まれがちです。中断は身体の状態確認のためで深刻な負傷は確認されておらず、水を渡した選手の氏名も未確認です。霞ケ浦の敗戦は正確に伝えています。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気遣いの行動と拍手という反応、そして霞ケ浦の敗戦は、それぞれ独立した事実として受け止める視点が役立ちます。氏名不明の人物を推測で補わない姿勢も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視聴者にとっての実践的な示唆をまとめました。高校野球ファンとして、ニュースを見る立場として、情報を発信する立場として、それぞれで意識したい点です。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試合結果・飛び込み好捕・水を差し出した行動・拍手・勝ち越し打はすべて出典で確認できた事実です。推測はほぼ用いておらず、水を渡した選手の氏名等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得点の推移をグラフにしました。5回時点では霞ケ浦が2-1とリードしていましたが、試合終了時点では横浜が5-2で勝利しています。終盤の逆転が数字でも確認できます。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本編で使った主な出典を一覧にしました。詳細はresearch.mdをご確認ください。複数の独立したメディアで経緯が一致することを確認しています。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確認できていないことを改めてまとめます。水を渡した横浜の選手の氏名、その選手が先発投手と同一人物かどうか、選手個人の心情や負傷の詳細は、いずれも本調査の範囲では確認できていません。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この行動が話題になった理由を3つにまとめました。対戦相手への行動であったこと、未成年選手同士の場面であること、拍手という具体的な観客の反応が伴ったことです。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夏の甲子園3回戦で、霞ケ浦の村上聖選手のカメラマン席への飛び込み好捕と、横浜の選手が水を差し出しスタンドから拍手が送られた場面、そして横浜が5-2で勝利した結果をお伝えしました。水を渡した選手の氏名は確認できておらず、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カメラマン席に飛び込んだ相手選手へ、</a:t>
            </a:r>
          </a:p>
          <a:p>
            <a:pPr algn="l">
              <a:lnSpc>
                <a:spcPct val="115000"/>
              </a:lnSpc>
            </a:pPr>
            <a:r>
              <a:rPr sz="4200" b="1">
                <a:solidFill>
                  <a:srgbClr val="FFFFFF"/>
                </a:solidFill>
                <a:latin typeface="Yu Gothic"/>
              </a:rPr>
              <a:t>横浜高校の選手が水を差し出した。</a:t>
            </a:r>
          </a:p>
          <a:p>
            <a:pPr algn="l">
              <a:lnSpc>
                <a:spcPct val="115000"/>
              </a:lnSpc>
            </a:pPr>
            <a:r>
              <a:rPr sz="4200" b="1">
                <a:solidFill>
                  <a:srgbClr val="FFFFFF"/>
                </a:solidFill>
                <a:latin typeface="Yu Gothic"/>
              </a:rPr>
              <a:t>甲子園に響いた、勝敗を超えた拍手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2026年8月16日、夏の甲子園3回戦・横浜vs霞ケ浦――出典付きで正確に整理してお届けします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Yahoo!ニュース(毎日新聞配信)・ベースボールチャンネル・高校野球ドットコム(2026年8月16日時点)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相手チームの選手に水を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2026年8月16日、夏の甲子園3回戦。霞ケ浦の選手がカメラマン席へ飛び込んだ際、横浜の選手が駆け寄り水を差し出し、スタンドから拍手が送られた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Yahoo!ニュース(毎日新聞配信、2026-08-16)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甲子園・対戦カードの基礎知識(初心者向け)</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カメラマン席への飛び込み好捕と試合の中断</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横浜の選手が見せた行動とスタンドの拍手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村上選手の両面の活躍と霞ケ浦の敗戦を正直に伝える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確認できていないこと・未成年配慮・出典一覧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試合(2026年8月16日)は着手日(2026年8月17日)の前日という鮮度の高い話題である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相手チームの選手を気遣うという、勝敗を超えたスポーツマンシップの瞬間で、観客の拍手という具体的な反応も伴う</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毎日新聞配信のYahoo!ニュースを含む、複数の独立したメディアが経緯を一致させて報じている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Yahoo!ニュース(毎日新聞配信)・ベースボールチャンネル・高校野球ドットコム(2026-08-16)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甲子園とは(初心者向け)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『甲子園』は夏に行われる全国高校野球選手権大会の通称で、都道府県代表が出場するトーナメント方式の大会である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3回戦は、出場校の中でも上位に勝ち上がった段階にあたる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選手は未成年であるため、本テーマでは個人の私生活ではなく、出来事(スポーツマンシップ)そのものを中心に扱う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今回の対戦カード</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横浜と霞ケ浦の対戦を確認します。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2026年8月16日、夏の甲子園3回戦で横浜(神奈川)と霞ケ浦(茨城)が対戦した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霞ケ浦は5回に2-1とリードする場面もあったが、横浜が終盤に逆転し5-2で勝利した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霞ケ浦にとってはこの試合に勝てば初のベスト8進出だったが、届かなかった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Yahoo!ニュース(毎日新聞配信)・ベースボールチャンネル(2026-08-16)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試合当日の流れ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4回</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霞ケ浦・村上聖選手がファウルフライを追いカメラマン席へ飛び込み好捕。試合が一時中断</a:t>
            </a:r>
          </a:p>
        </p:txBody>
      </p:sp>
      <p:sp>
        <p:nvSpPr>
          <p:cNvPr id="11" name="Chevron 10"/>
          <p:cNvSpPr/>
          <p:nvPr/>
        </p:nvSpPr>
        <p:spPr>
          <a:xfrm>
            <a:off x="306804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この際</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横浜の選手が駆け寄り、水を差し出す。スタンドから拍手が送られた</a:t>
            </a:r>
          </a:p>
        </p:txBody>
      </p:sp>
      <p:sp>
        <p:nvSpPr>
          <p:cNvPr id="17" name="Chevron 16"/>
          <p:cNvSpPr/>
          <p:nvPr/>
        </p:nvSpPr>
        <p:spPr>
          <a:xfrm>
            <a:off x="5978804"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5回</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霞ケ浦が2-1とリードする場面があった</a:t>
            </a:r>
          </a:p>
        </p:txBody>
      </p:sp>
      <p:sp>
        <p:nvSpPr>
          <p:cNvPr id="23" name="Chevron 22"/>
          <p:cNvSpPr/>
          <p:nvPr/>
        </p:nvSpPr>
        <p:spPr>
          <a:xfrm>
            <a:off x="888956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終盤</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横浜が逆転し、5-2で勝利。霞ケ浦は初のベスト8入りを逃した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試合結果サマリー</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対戦</a:t>
                      </a:r>
                    </a:p>
                  </a:txBody>
                  <a:tcPr>
                    <a:solidFill>
                      <a:srgbClr val="FFFFFF"/>
                    </a:solidFill>
                  </a:tcPr>
                </a:tc>
                <a:tc>
                  <a:txBody>
                    <a:bodyPr/>
                    <a:lstStyle/>
                    <a:p>
                      <a:pPr>
                        <a:defRPr sz="1200">
                          <a:solidFill>
                            <a:srgbClr val="1E2124"/>
                          </a:solidFill>
                          <a:latin typeface="Yu Gothic"/>
                        </a:defRPr>
                      </a:pPr>
                      <a:r>
                        <a:t>横浜(神奈川) vs 霞ケ浦(茨城)</a:t>
                      </a:r>
                    </a:p>
                  </a:txBody>
                  <a:tcPr>
                    <a:solidFill>
                      <a:srgbClr val="FFFFFF"/>
                    </a:solidFill>
                  </a:tcPr>
                </a:tc>
              </a:tr>
              <a:tr h="502920">
                <a:tc>
                  <a:txBody>
                    <a:bodyPr/>
                    <a:lstStyle/>
                    <a:p>
                      <a:pPr>
                        <a:defRPr sz="1200">
                          <a:solidFill>
                            <a:srgbClr val="1E2124"/>
                          </a:solidFill>
                          <a:latin typeface="Yu Gothic"/>
                        </a:defRPr>
                      </a:pPr>
                      <a:r>
                        <a:t>結果</a:t>
                      </a:r>
                    </a:p>
                  </a:txBody>
                  <a:tcPr>
                    <a:solidFill>
                      <a:srgbClr val="F7F4EF"/>
                    </a:solidFill>
                  </a:tcPr>
                </a:tc>
                <a:tc>
                  <a:txBody>
                    <a:bodyPr/>
                    <a:lstStyle/>
                    <a:p>
                      <a:pPr>
                        <a:defRPr sz="1200">
                          <a:solidFill>
                            <a:srgbClr val="1E2124"/>
                          </a:solidFill>
                          <a:latin typeface="Yu Gothic"/>
                        </a:defRPr>
                      </a:pPr>
                      <a:r>
                        <a:t>横浜が5-2で勝利</a:t>
                      </a:r>
                    </a:p>
                  </a:txBody>
                  <a:tcPr>
                    <a:solidFill>
                      <a:srgbClr val="F7F4EF"/>
                    </a:solidFill>
                  </a:tcPr>
                </a:tc>
              </a:tr>
              <a:tr h="502920">
                <a:tc>
                  <a:txBody>
                    <a:bodyPr/>
                    <a:lstStyle/>
                    <a:p>
                      <a:pPr>
                        <a:defRPr sz="1200">
                          <a:solidFill>
                            <a:srgbClr val="1E2124"/>
                          </a:solidFill>
                          <a:latin typeface="Yu Gothic"/>
                        </a:defRPr>
                      </a:pPr>
                      <a:r>
                        <a:t>経過</a:t>
                      </a:r>
                    </a:p>
                  </a:txBody>
                  <a:tcPr>
                    <a:solidFill>
                      <a:srgbClr val="FFFFFF"/>
                    </a:solidFill>
                  </a:tcPr>
                </a:tc>
                <a:tc>
                  <a:txBody>
                    <a:bodyPr/>
                    <a:lstStyle/>
                    <a:p>
                      <a:pPr>
                        <a:defRPr sz="1200">
                          <a:solidFill>
                            <a:srgbClr val="1E2124"/>
                          </a:solidFill>
                          <a:latin typeface="Yu Gothic"/>
                        </a:defRPr>
                      </a:pPr>
                      <a:r>
                        <a:t>霞ケ浦が5回に2-1とリードする場面もあったが、横浜が終盤に逆転</a:t>
                      </a:r>
                    </a:p>
                  </a:txBody>
                  <a:tcPr>
                    <a:solidFill>
                      <a:srgbClr val="FFFFFF"/>
                    </a:solidFill>
                  </a:tcPr>
                </a:tc>
              </a:tr>
              <a:tr h="502920">
                <a:tc>
                  <a:txBody>
                    <a:bodyPr/>
                    <a:lstStyle/>
                    <a:p>
                      <a:pPr>
                        <a:defRPr sz="1200">
                          <a:solidFill>
                            <a:srgbClr val="1E2124"/>
                          </a:solidFill>
                          <a:latin typeface="Yu Gothic"/>
                        </a:defRPr>
                      </a:pPr>
                      <a:r>
                        <a:t>注目シーン</a:t>
                      </a:r>
                    </a:p>
                  </a:txBody>
                  <a:tcPr>
                    <a:solidFill>
                      <a:srgbClr val="F7F4EF"/>
                    </a:solidFill>
                  </a:tcPr>
                </a:tc>
                <a:tc>
                  <a:txBody>
                    <a:bodyPr/>
                    <a:lstStyle/>
                    <a:p>
                      <a:pPr>
                        <a:defRPr sz="1200">
                          <a:solidFill>
                            <a:srgbClr val="1E2124"/>
                          </a:solidFill>
                          <a:latin typeface="Yu Gothic"/>
                        </a:defRPr>
                      </a:pPr>
                      <a:r>
                        <a:t>4回、村上聖選手のカメラマン席への飛び込み好捕と、横浜の選手による水の差し出し</a:t>
                      </a:r>
                    </a:p>
                  </a:txBody>
                  <a:tcPr>
                    <a:solidFill>
                      <a:srgbClr val="F7F4EF"/>
                    </a:solidFill>
                  </a:tcPr>
                </a:tc>
              </a:tr>
              <a:tr h="502920">
                <a:tc>
                  <a:txBody>
                    <a:bodyPr/>
                    <a:lstStyle/>
                    <a:p>
                      <a:pPr>
                        <a:defRPr sz="1200">
                          <a:solidFill>
                            <a:srgbClr val="1E2124"/>
                          </a:solidFill>
                          <a:latin typeface="Yu Gothic"/>
                        </a:defRPr>
                      </a:pPr>
                      <a:r>
                        <a:t>霞ケ浦にとっての意味</a:t>
                      </a:r>
                    </a:p>
                  </a:txBody>
                  <a:tcPr>
                    <a:solidFill>
                      <a:srgbClr val="FFFFFF"/>
                    </a:solidFill>
                  </a:tcPr>
                </a:tc>
                <a:tc>
                  <a:txBody>
                    <a:bodyPr/>
                    <a:lstStyle/>
                    <a:p>
                      <a:pPr>
                        <a:defRPr sz="1200">
                          <a:solidFill>
                            <a:srgbClr val="1E2124"/>
                          </a:solidFill>
                          <a:latin typeface="Yu Gothic"/>
                        </a:defRPr>
                      </a:pPr>
                      <a:r>
                        <a:t>勝てば初のベスト8進出だったが、5-2で敗れ届かず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Yahoo!ニュース(毎日新聞配信)・ベースボールチャンネル・高校野球ドットコム(2026-08-16)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試合中盤 と 試合終了時点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試合中盤までの経過</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5回に霞ケ浦が2-1とリードする場面があった</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村上聖選手はこの試合で一時勝ち越し打も放っている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試合終了時点</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横浜が終盤に逆転し、5-2で勝利</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霞ケ浦は初のベスト8入りを逃した</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4回のプレー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カメラマン席へ飛び込み好捕</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4回、霞ケ浦の三塁手・村上聖選手がファウルフライを追いカメラマン席へ飛び込んだ。落球せずアウトを記録した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Yahoo!ニュース(毎日新聞配信)・ベースボールチャンネル(2026-08-16)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好捕から中断までのプロセス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ファウルフライが上がる</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三塁手・村上聖選手が追う</a:t>
            </a:r>
          </a:p>
        </p:txBody>
      </p:sp>
      <p:sp>
        <p:nvSpPr>
          <p:cNvPr id="10" name="Right Arrow 9"/>
          <p:cNvSpPr/>
          <p:nvPr/>
        </p:nvSpPr>
        <p:spPr>
          <a:xfrm>
            <a:off x="25571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カメラマン席へ飛び込む</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落球せずアウトを記録</a:t>
            </a:r>
          </a:p>
        </p:txBody>
      </p:sp>
      <p:sp>
        <p:nvSpPr>
          <p:cNvPr id="15" name="Right Arrow 14"/>
          <p:cNvSpPr/>
          <p:nvPr/>
        </p:nvSpPr>
        <p:spPr>
          <a:xfrm>
            <a:off x="57575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体調確認のため試合中断</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身体の状態を確認</a:t>
            </a:r>
          </a:p>
        </p:txBody>
      </p:sp>
      <p:sp>
        <p:nvSpPr>
          <p:cNvPr id="20" name="Right Arrow 19"/>
          <p:cNvSpPr/>
          <p:nvPr/>
        </p:nvSpPr>
        <p:spPr>
          <a:xfrm>
            <a:off x="89579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横浜の選手が駆け寄る</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水を差し出す場面へ</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打球を追う動きから、水を差し出す場面までの経過</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Yahoo!ニュース(毎日新聞配信)・ベースボールチャンネル(2026-08-16)</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試合が中断した理由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正確にお伝えします。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中断の理由は、村上選手の身体の状態を確認するためと報じられている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落球せずアウトを記録しており、プレー自体は成功していた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具体的な負傷の有無・程度は本調査の範囲では確認できておらず、深刻な負傷を示唆する表現は使わない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スタンドに拍手が送られた瞬間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横浜の選手が水を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横浜の選手が駆け寄って村上選手の様子を確認し、ベンチに水を持ってくるよう呼びかけ、水を差し出した。相手チームへのこの行動に、スタンドから大きな拍手が送られた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Yahoo!ニュース(毎日新聞配信、2026-08-16)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水を渡すまでの流れ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横浜の選手が村上選手のもとへ駆け寄る</a:t>
            </a:r>
          </a:p>
        </p:txBody>
      </p:sp>
      <p:sp>
        <p:nvSpPr>
          <p:cNvPr id="11" name="Chevron 10"/>
          <p:cNvSpPr/>
          <p:nvPr/>
        </p:nvSpPr>
        <p:spPr>
          <a:xfrm>
            <a:off x="306804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様子を確認する</a:t>
            </a:r>
          </a:p>
        </p:txBody>
      </p:sp>
      <p:sp>
        <p:nvSpPr>
          <p:cNvPr id="17" name="Chevron 16"/>
          <p:cNvSpPr/>
          <p:nvPr/>
        </p:nvSpPr>
        <p:spPr>
          <a:xfrm>
            <a:off x="5978804"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ベンチに水を持ってくるよう呼びかける</a:t>
            </a:r>
          </a:p>
        </p:txBody>
      </p:sp>
      <p:sp>
        <p:nvSpPr>
          <p:cNvPr id="23" name="Chevron 22"/>
          <p:cNvSpPr/>
          <p:nvPr/>
        </p:nvSpPr>
        <p:spPr>
          <a:xfrm>
            <a:off x="888956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水を差し出す。スタンドから拍手が送られる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スタンドの拍手・スポーツマンシップの意味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この場面をどう受け止めるか。</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相手チームの選手を気遣う行動に、スタンドから大きな拍手が送られたと複数のメディアが報じている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勝敗にかかわらず相手選手を気遣う行動として報じられているが、選手個人の心情までは断定しない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本テーマでは出来事そのもの(行動と観客の反応)を中心に扱い、選手の内面の推測は行わない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水を渡した横浜の選手について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水を渡した横浜の選手の氏名は、本調査で確認した複数の報道いずれにも記載がなく特定できていない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本成果物では、この選手を一貫して『横浜の選手』と表記する(氏名を推測で補わない)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横浜の先発投手(2年生左腕、氏名は別途報道あり)がこの選手と同一人物かどうかも、本調査の範囲では確認できていない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確認できていること / いないこと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確認できていること</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4回の飛び込み好捕と試合の一時中断</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横浜の選手が水を差し出したこと</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スタンドから拍手が送られたこと</a:t>
            </a:r>
          </a:p>
        </p:txBody>
      </p:sp>
      <p:sp>
        <p:nvSpPr>
          <p:cNvPr id="15" name="Oval 14"/>
          <p:cNvSpPr/>
          <p:nvPr/>
        </p:nvSpPr>
        <p:spPr>
          <a:xfrm>
            <a:off x="777240" y="4178807"/>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6" name="TextBox 15"/>
          <p:cNvSpPr txBox="1"/>
          <p:nvPr/>
        </p:nvSpPr>
        <p:spPr>
          <a:xfrm>
            <a:off x="1188720" y="416052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最終スコア5-2で横浜が勝利したこと</a:t>
            </a:r>
          </a:p>
        </p:txBody>
      </p:sp>
      <p:sp>
        <p:nvSpPr>
          <p:cNvPr id="17" name="Rounded Rectangle 16"/>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確認できていないこと</a:t>
            </a:r>
          </a:p>
        </p:txBody>
      </p:sp>
      <p:sp>
        <p:nvSpPr>
          <p:cNvPr id="20" name="Oval 19"/>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水を渡した横浜の選手の氏名</a:t>
            </a:r>
          </a:p>
        </p:txBody>
      </p:sp>
      <p:sp>
        <p:nvSpPr>
          <p:cNvPr id="22" name="Oval 21"/>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この選手が横浜の先発投手(2年生左腕)と同一人物かどうか</a:t>
            </a:r>
          </a:p>
        </p:txBody>
      </p:sp>
      <p:sp>
        <p:nvSpPr>
          <p:cNvPr id="24" name="Oval 23"/>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5" name="TextBox 24"/>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選手個人の心情・意図の詳細</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村上聖選手の両面の活躍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守備</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カメラマン席への飛び込み好捕</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4回、ファウルフライを追い落球せずアウトを記録した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攻撃</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一時勝ち越し打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この試合で一時勝ち越し打も放ち、チームに貢献した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結果</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チームは5-2で敗戦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守備・攻撃で貢献したが、横浜に競り負け初のベスト8入りを逃した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試合の最終結果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5-2で横浜が勝利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霞ケ浦は5回に2-1とリードする場面もあったが、横浜が終盤に逆転。霞ケ浦は初のベスト8入りを逃した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Yahoo!ニュース(毎日新聞配信)・ベースボールチャンネル(2026-08-16)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霞ケ浦の敗戦を正直に伝える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隠さず、煽らず、正確に。</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霞ケ浦は横浜に5-2で敗れ、初のベスト8入りを逃した。この結果を隠したり、あいまいにしたりしない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村上選手の好捕・勝ち越し打という活躍は、敗戦という結果と切り離さず、事実として並べて伝える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敗戦を過度に悲劇的に演出することも行わない。あくまで試合結果として扱う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未成年選手への配慮方針</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本テーマ固有の配慮です。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出場選手は未成年であるため、個人の私生活を扇情的に扱わず、出来事(スポーツマンシップ)そのものを中心に構成する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実在選手の氏名は公表済みの範囲(村上聖選手)でテキストとしてのみ扱い、写真・肖像は使用しない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水を渡した横浜の選手のように氏名が確認できない場合は、推測で補わず『横浜の選手』と表記する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試合が中断するほどの深刻な怪我だった</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水を渡した選手の氏名も分かっている</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霞ケ浦の敗戦が話の焦点からぼかされている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中断理由は身体の状態を確認するためと報じられ、深刻な負傷は確認されていない</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水を渡した横浜の選手の氏名は確認できていない</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霞ケ浦は5-2で敗れたと正確に伝えている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勝敗を超えた気遣いの行動が、スタンドの拍手という具体的な反応につながった出来事として位置づけられる(断定的な評価は避ける)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スポーツマンシップの瞬間と、試合結果(霞ケ浦の敗戦)を混同せず、それぞれ独立した事実として受け止める視点が役立つ</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氏名が確認できない人物については、確認できるまで推測で補わない姿勢が信頼につながる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高校野球ファンとして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スポーツマンシップの場面と試合結果を、それぞれ正確な事実として受け止める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ニュースを見る立場として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見出しの印象と、確認できている事実の範囲を区別して受け止める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氏名など未確認の詳細を推測で補わず、正確に伝える姿勢が信頼につながる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2026年8月16日、横浜が霞ケ浦に5-2で勝利。4回に村上聖選手がカメラマン席へ飛び込み好捕、試合が一時中断。横浜の選手が水を差し出し拍手が送られた。村上選手は一時勝ち越し打も放った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不明: 水を渡した横浜の選手の氏名、その選手が先発投手と同一人物か、選手個人の心情の詳細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得点の推移(5回時点 → 試合終了)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Yahoo!ニュース(毎日新聞配信)・ベースボールチャンネル(2026-08-16)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Yahoo!ニュース(毎日新聞配信)</a:t>
                      </a:r>
                    </a:p>
                  </a:txBody>
                  <a:tcPr>
                    <a:solidFill>
                      <a:srgbClr val="FFFFFF"/>
                    </a:solidFill>
                  </a:tcPr>
                </a:tc>
                <a:tc>
                  <a:txBody>
                    <a:bodyPr/>
                    <a:lstStyle/>
                    <a:p>
                      <a:pPr>
                        <a:defRPr sz="1200">
                          <a:solidFill>
                            <a:srgbClr val="1E2124"/>
                          </a:solidFill>
                          <a:latin typeface="Yu Gothic"/>
                        </a:defRPr>
                      </a:pPr>
                      <a:r>
                        <a:t>試合結果・水を差し出した経緯(2026-08-16)</a:t>
                      </a:r>
                    </a:p>
                  </a:txBody>
                  <a:tcPr>
                    <a:solidFill>
                      <a:srgbClr val="FFFFFF"/>
                    </a:solidFill>
                  </a:tcPr>
                </a:tc>
              </a:tr>
              <a:tr h="502920">
                <a:tc>
                  <a:txBody>
                    <a:bodyPr/>
                    <a:lstStyle/>
                    <a:p>
                      <a:pPr>
                        <a:defRPr sz="1200">
                          <a:solidFill>
                            <a:srgbClr val="1E2124"/>
                          </a:solidFill>
                          <a:latin typeface="Yu Gothic"/>
                        </a:defRPr>
                      </a:pPr>
                      <a:r>
                        <a:t>ベースボールチャンネル</a:t>
                      </a:r>
                    </a:p>
                  </a:txBody>
                  <a:tcPr>
                    <a:solidFill>
                      <a:srgbClr val="F7F4EF"/>
                    </a:solidFill>
                  </a:tcPr>
                </a:tc>
                <a:tc>
                  <a:txBody>
                    <a:bodyPr/>
                    <a:lstStyle/>
                    <a:p>
                      <a:pPr>
                        <a:defRPr sz="1200">
                          <a:solidFill>
                            <a:srgbClr val="1E2124"/>
                          </a:solidFill>
                          <a:latin typeface="Yu Gothic"/>
                        </a:defRPr>
                      </a:pPr>
                      <a:r>
                        <a:t>試合経過・場面描写(2026-08-16)</a:t>
                      </a:r>
                    </a:p>
                  </a:txBody>
                  <a:tcPr>
                    <a:solidFill>
                      <a:srgbClr val="F7F4EF"/>
                    </a:solidFill>
                  </a:tcPr>
                </a:tc>
              </a:tr>
              <a:tr h="502920">
                <a:tc>
                  <a:txBody>
                    <a:bodyPr/>
                    <a:lstStyle/>
                    <a:p>
                      <a:pPr>
                        <a:defRPr sz="1200">
                          <a:solidFill>
                            <a:srgbClr val="1E2124"/>
                          </a:solidFill>
                          <a:latin typeface="Yu Gothic"/>
                        </a:defRPr>
                      </a:pPr>
                      <a:r>
                        <a:t>高校野球ドットコム</a:t>
                      </a:r>
                    </a:p>
                  </a:txBody>
                  <a:tcPr>
                    <a:solidFill>
                      <a:srgbClr val="FFFFFF"/>
                    </a:solidFill>
                  </a:tcPr>
                </a:tc>
                <a:tc>
                  <a:txBody>
                    <a:bodyPr/>
                    <a:lstStyle/>
                    <a:p>
                      <a:pPr>
                        <a:defRPr sz="1200">
                          <a:solidFill>
                            <a:srgbClr val="1E2124"/>
                          </a:solidFill>
                          <a:latin typeface="Yu Gothic"/>
                        </a:defRPr>
                      </a:pPr>
                      <a:r>
                        <a:t>試合結果・選手情報の確認(2026-08-16)</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最後に改めて正直にお伝えします。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水を渡した横浜の選手の氏名(複数の報道いずれにも記載がなく特定できていない)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この選手が横浜の先発投手(2年生左腕)と同一人物かどうか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選手個人の心情・意図の詳細、負傷の有無・程度の具体的な詳細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この行動が話題になった3つの理由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相手チームへの行動</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味方ではなく対戦相手の選手を気遣った行動だった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未成年選手同士の場面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高校生同士のやり取りであり、私生活には踏み込まず出来事として伝える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具体的な観客の反応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スタンドから大きな拍手が送られたと複数のメディアが報じている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Yahoo!ニュース(毎日新聞配信)・ベースボールチャンネル・高校野球ドットコム(2026-08-16時点)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勝敗を超えて響いた拍手。横浜と霞ケ浦、それぞれの2026年8月16日</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カメラマン席へ飛び込んだ村上聖選手と、水を差し出した横浜の選手――出典付きで正確に整理してお届けしました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