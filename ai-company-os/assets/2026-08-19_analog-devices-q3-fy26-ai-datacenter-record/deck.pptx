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半導体大手Analog Devicesが2026年8月19日、2026年度第3四半期決算を発表しました。売上高は前年比40%増と過去最高を記録し、市場予想を上回りました。今日はこの決算の中身を出典付きで整理してお届けします。</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結論から確認します。売上高は前年比40%増の40億2,000万ドルで過去最高を記録し、市場予想を上回りました。EPSも市場予想を上回っています。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日は6つの流れでお伝えします。決算の主要指標から、次四半期のガイダンス、AIデータセンター需要との関係まで、正確に数字を引用しながら整理します。誇張せず、確認できなかったことは正直にお伝えします。</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このテーマを扱う理由です。着手日当日という高い鮮度に加え、40%増・過去最高という際立った伸び率、データセンター需要というAI業界との関連の高さに注目しました。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Analog Devicesは米国の半導体大手で、アナログ・ミックスシグナル半導体を中心に、データセンターから自動車まで幅広い分野に製品を供給しています。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2026年度Q3の主要指標です。売上高は前年比40%増で過去最高、EPSも市場予想を上回りました。データセンター・インダストリアル部門が牽引役とされています。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売上高40億2,000万ドルは過去最高で、市場予想を上回りました。データセンター・インダストリアル部門が牽引役とされていますが、セグメント別の詳細な内訳までは確認できていません。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売上高は前年比40%増と、市場予想を大きく上回る伸びを記録しました。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EPSは3.45ドルで市場予想を上回りました。売上高・EPSともに市場予想を上回る好調な結果でした。</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実績と市場予想を対比しました。売上高・EPSともに市場予想を上回る結果でした。</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第4四半期のガイダンスです。EPS・売上高ともに市場予想を上回る水準に設定されています。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第4四半期のガイダンスも市場予想を上回る水準で、経営陣が事業の勢いに自信を持っていることがうかがえます。</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第4四半期の売上高ガイダンスは42億〜44億ドルで、市場予想を上回る水準です。</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CEOは力強い第3四半期を達成したとコメントし、AI時代における独自の強みにも言及したとされています。ただし決算コール全文までは確認できていません。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今回の決算の流れを図にしました。データセンター・インダストリアル需要の伸びから、過去最高売上高、そして次四半期の強気な見通しまでの流れです。</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今回の決算を3ステップで総括しました。過去最高の売上高、市場予想を上回るEPS、そして強気な次四半期ガイダンスという流れです。</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データセンター需要のうちAI関連が占める具体的な比率は確認できていません。断定的な表現は避け、確認できる事実の範囲で整理します。</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AI関連需要の具体的な比率・金額は開示されていません。断定的な表現は避けます。</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アナログ半導体大手として、データセンター・インダストリアル需要拡大の恩恵を受けている構図がうかがえます。他社との具体的な比較は行っていません。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今回の実績と次四半期の見通しを対比しました。Q4のガイダンスはQ3の実績をさらに上回る水準に設定されています。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今回の決算の要点をまとめました。過去最高の売上高、市場予想を上回るEPS、強気な次四半期ガイダンス、そして牽引セグメントという4点です。</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確認できた公式数値のみを一覧にしました。前年同期の実額そのものは本調査の範囲では確認できておらず、推測で埋めていません。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前年比40%増という伸び率は過去最高ですが、同業他社との具体的な比較は行っていません。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決算発表は8月19日で、同日に業種の異なる複数の企業も決算を発表しており、決算シーズンが集中する日程でした。</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確認できなかったことを正直にお伝えします。AI関連需要の具体的な比率、セグメント別の詳細な内訳、決算コール全文は確認できていません。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EPSは3.45ドルで、市場予想を上回りました。</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確認できる事実と、断定を避ける点を対比しました。データセンター需要の伸びは事実ですが、AI関連需要の具体的な寄与度は確認できていません。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まとめです。過去最高の売上高と強気な次四半期ガイダンスを、AI関連需要の内訳が未確認である点まで含めて正直にお伝えしました。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このニュースが読者にとって意味することをまとめました。半導体業界の動向を追う立場、AIインフラ投資の波及効果に関心がある立場、投資を検討する立場、それぞれで意識したい視点です。</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本編は以上です。今回はAnalog Devicesの2026年度Q3決算について、過去最高の売上高とAI関連需要との関係まで正確に整理してお伝えしました。数字は出典どおりに扱い、確認できなかったことは正直にお伝えしました。次回もまた出典付きでお届けします。</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23292E"/>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011680"/>
            <a:ext cx="11064240" cy="2103120"/>
          </a:xfrm>
          <a:prstGeom prst="rect">
            <a:avLst/>
          </a:prstGeom>
          <a:noFill/>
        </p:spPr>
        <p:txBody>
          <a:bodyPr wrap="square" anchor="t" lIns="0" rIns="0" tIns="0" bIns="0">
            <a:spAutoFit/>
          </a:bodyPr>
          <a:lstStyle/>
          <a:p>
            <a:pPr algn="l">
              <a:lnSpc>
                <a:spcPct val="115000"/>
              </a:lnSpc>
            </a:pPr>
            <a:r>
              <a:rPr sz="4200" b="1">
                <a:solidFill>
                  <a:srgbClr val="FFFFFF"/>
                </a:solidFill>
                <a:latin typeface="Yu Gothic"/>
              </a:rPr>
              <a:t>売上高、まさかの</a:t>
            </a:r>
          </a:p>
          <a:p>
            <a:pPr algn="l">
              <a:lnSpc>
                <a:spcPct val="115000"/>
              </a:lnSpc>
            </a:pPr>
            <a:r>
              <a:rPr sz="4200" b="1">
                <a:solidFill>
                  <a:srgbClr val="FFFFFF"/>
                </a:solidFill>
                <a:latin typeface="Yu Gothic"/>
              </a:rPr>
              <a:t>過去最高。</a:t>
            </a:r>
          </a:p>
          <a:p>
            <a:pPr algn="l">
              <a:lnSpc>
                <a:spcPct val="115000"/>
              </a:lnSpc>
            </a:pPr>
            <a:r>
              <a:rPr sz="4200" b="1">
                <a:solidFill>
                  <a:srgbClr val="FFFFFF"/>
                </a:solidFill>
                <a:latin typeface="Yu Gothic"/>
              </a:rPr>
              <a:t>半導体大手が見せたAI時代の実力</a:t>
            </a:r>
          </a:p>
        </p:txBody>
      </p:sp>
      <p:sp>
        <p:nvSpPr>
          <p:cNvPr id="5" name="TextBox 4"/>
          <p:cNvSpPr txBox="1"/>
          <p:nvPr/>
        </p:nvSpPr>
        <p:spPr>
          <a:xfrm>
            <a:off x="548640" y="4206240"/>
            <a:ext cx="10515600" cy="548640"/>
          </a:xfrm>
          <a:prstGeom prst="rect">
            <a:avLst/>
          </a:prstGeom>
          <a:noFill/>
        </p:spPr>
        <p:txBody>
          <a:bodyPr wrap="square" anchor="t" lIns="0" rIns="0" tIns="0" bIns="0">
            <a:spAutoFit/>
          </a:bodyPr>
          <a:lstStyle/>
          <a:p>
            <a:pPr algn="l"/>
            <a:r>
              <a:rPr sz="2000" b="0">
                <a:solidFill>
                  <a:srgbClr val="F5D9A8"/>
                </a:solidFill>
                <a:latin typeface="Yu Gothic"/>
              </a:rPr>
              <a:t>2026年8月19日発表——Analog Devices、データセンター需要が牽引</a:t>
            </a:r>
          </a:p>
        </p:txBody>
      </p:sp>
      <p:sp>
        <p:nvSpPr>
          <p:cNvPr id="6" name="TextBox 5"/>
          <p:cNvSpPr txBox="1"/>
          <p:nvPr/>
        </p:nvSpPr>
        <p:spPr>
          <a:xfrm>
            <a:off x="548640" y="5943600"/>
            <a:ext cx="10515600" cy="365760"/>
          </a:xfrm>
          <a:prstGeom prst="rect">
            <a:avLst/>
          </a:prstGeom>
          <a:noFill/>
        </p:spPr>
        <p:txBody>
          <a:bodyPr wrap="square" anchor="t" lIns="0" rIns="0" tIns="0" bIns="0">
            <a:spAutoFit/>
          </a:bodyPr>
          <a:lstStyle/>
          <a:p>
            <a:pPr algn="l"/>
            <a:r>
              <a:rPr sz="1200" b="0">
                <a:solidFill>
                  <a:srgbClr val="D9A857"/>
                </a:solidFill>
                <a:latin typeface="Yu Gothic"/>
              </a:rPr>
              <a:t>出典: StockTitan・Investing.com・GuruFocus(2026年8月19日)</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23292E"/>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F5D9A8"/>
                </a:solidFill>
                <a:latin typeface="Yu Gothic"/>
              </a:rPr>
              <a:t>まず結論から</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E8871E"/>
                </a:solidFill>
                <a:latin typeface="Yu Gothic"/>
              </a:rPr>
              <a:t>売上高40億2,000万ドル、前年比+40%</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市場予想39億1,000万ドルを上回り過去最高、EPSも予想超え</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D9A857"/>
                </a:solidFill>
                <a:latin typeface="Yu Gothic"/>
              </a:rPr>
              <a:t>出典: StockTitan・Investing.com(2026-08-19)</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23292E"/>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0080"/>
            <a:ext cx="11064240" cy="914400"/>
          </a:xfrm>
          <a:prstGeom prst="rect">
            <a:avLst/>
          </a:prstGeom>
          <a:noFill/>
        </p:spPr>
        <p:txBody>
          <a:bodyPr wrap="square" anchor="t" lIns="0" rIns="0" tIns="0" bIns="0">
            <a:spAutoFit/>
          </a:bodyPr>
          <a:lstStyle/>
          <a:p>
            <a:pPr algn="l"/>
            <a:r>
              <a:rPr sz="3200" b="1">
                <a:solidFill>
                  <a:srgbClr val="FFFFFF"/>
                </a:solidFill>
                <a:latin typeface="Yu Gothic"/>
              </a:rPr>
              <a:t>本日のアジェンダ</a:t>
            </a:r>
          </a:p>
        </p:txBody>
      </p:sp>
      <p:sp>
        <p:nvSpPr>
          <p:cNvPr id="5" name="Oval 4"/>
          <p:cNvSpPr/>
          <p:nvPr/>
        </p:nvSpPr>
        <p:spPr>
          <a:xfrm>
            <a:off x="548640" y="1920240"/>
            <a:ext cx="548640" cy="5486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1</a:t>
            </a:r>
          </a:p>
        </p:txBody>
      </p:sp>
      <p:sp>
        <p:nvSpPr>
          <p:cNvPr id="6" name="TextBox 5"/>
          <p:cNvSpPr txBox="1"/>
          <p:nvPr/>
        </p:nvSpPr>
        <p:spPr>
          <a:xfrm>
            <a:off x="1325880" y="1938528"/>
            <a:ext cx="9601200" cy="548640"/>
          </a:xfrm>
          <a:prstGeom prst="rect">
            <a:avLst/>
          </a:prstGeom>
          <a:noFill/>
        </p:spPr>
        <p:txBody>
          <a:bodyPr wrap="square" anchor="ctr" lIns="0" rIns="0" tIns="0" bIns="0">
            <a:spAutoFit/>
          </a:bodyPr>
          <a:lstStyle/>
          <a:p>
            <a:pPr algn="l"/>
            <a:r>
              <a:rPr sz="2000" b="0">
                <a:solidFill>
                  <a:srgbClr val="F5D9A8"/>
                </a:solidFill>
                <a:latin typeface="Yu Gothic"/>
              </a:rPr>
              <a:t>なぜ今このテーマを扱うのか</a:t>
            </a:r>
          </a:p>
        </p:txBody>
      </p:sp>
      <p:sp>
        <p:nvSpPr>
          <p:cNvPr id="7" name="Oval 6"/>
          <p:cNvSpPr/>
          <p:nvPr/>
        </p:nvSpPr>
        <p:spPr>
          <a:xfrm>
            <a:off x="548640" y="2697480"/>
            <a:ext cx="548640" cy="5486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2</a:t>
            </a:r>
          </a:p>
        </p:txBody>
      </p:sp>
      <p:sp>
        <p:nvSpPr>
          <p:cNvPr id="8" name="TextBox 7"/>
          <p:cNvSpPr txBox="1"/>
          <p:nvPr/>
        </p:nvSpPr>
        <p:spPr>
          <a:xfrm>
            <a:off x="1325880" y="2715768"/>
            <a:ext cx="9601200" cy="548640"/>
          </a:xfrm>
          <a:prstGeom prst="rect">
            <a:avLst/>
          </a:prstGeom>
          <a:noFill/>
        </p:spPr>
        <p:txBody>
          <a:bodyPr wrap="square" anchor="ctr" lIns="0" rIns="0" tIns="0" bIns="0">
            <a:spAutoFit/>
          </a:bodyPr>
          <a:lstStyle/>
          <a:p>
            <a:pPr algn="l"/>
            <a:r>
              <a:rPr sz="2000" b="0">
                <a:solidFill>
                  <a:srgbClr val="F5D9A8"/>
                </a:solidFill>
                <a:latin typeface="Yu Gothic"/>
              </a:rPr>
              <a:t>Analog Devicesとは・基礎知識</a:t>
            </a:r>
          </a:p>
        </p:txBody>
      </p:sp>
      <p:sp>
        <p:nvSpPr>
          <p:cNvPr id="9" name="Oval 8"/>
          <p:cNvSpPr/>
          <p:nvPr/>
        </p:nvSpPr>
        <p:spPr>
          <a:xfrm>
            <a:off x="548640" y="3474720"/>
            <a:ext cx="548640" cy="5486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3</a:t>
            </a:r>
          </a:p>
        </p:txBody>
      </p:sp>
      <p:sp>
        <p:nvSpPr>
          <p:cNvPr id="10" name="TextBox 9"/>
          <p:cNvSpPr txBox="1"/>
          <p:nvPr/>
        </p:nvSpPr>
        <p:spPr>
          <a:xfrm>
            <a:off x="1325880" y="3493008"/>
            <a:ext cx="9601200" cy="548640"/>
          </a:xfrm>
          <a:prstGeom prst="rect">
            <a:avLst/>
          </a:prstGeom>
          <a:noFill/>
        </p:spPr>
        <p:txBody>
          <a:bodyPr wrap="square" anchor="ctr" lIns="0" rIns="0" tIns="0" bIns="0">
            <a:spAutoFit/>
          </a:bodyPr>
          <a:lstStyle/>
          <a:p>
            <a:pPr algn="l"/>
            <a:r>
              <a:rPr sz="2000" b="0">
                <a:solidFill>
                  <a:srgbClr val="F5D9A8"/>
                </a:solidFill>
                <a:latin typeface="Yu Gothic"/>
              </a:rPr>
              <a:t>決算の主要指標を確認する</a:t>
            </a:r>
          </a:p>
        </p:txBody>
      </p:sp>
      <p:sp>
        <p:nvSpPr>
          <p:cNvPr id="11" name="Oval 10"/>
          <p:cNvSpPr/>
          <p:nvPr/>
        </p:nvSpPr>
        <p:spPr>
          <a:xfrm>
            <a:off x="548640" y="4251960"/>
            <a:ext cx="548640" cy="5486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4</a:t>
            </a:r>
          </a:p>
        </p:txBody>
      </p:sp>
      <p:sp>
        <p:nvSpPr>
          <p:cNvPr id="12" name="TextBox 11"/>
          <p:cNvSpPr txBox="1"/>
          <p:nvPr/>
        </p:nvSpPr>
        <p:spPr>
          <a:xfrm>
            <a:off x="1325880" y="4270248"/>
            <a:ext cx="9601200" cy="548640"/>
          </a:xfrm>
          <a:prstGeom prst="rect">
            <a:avLst/>
          </a:prstGeom>
          <a:noFill/>
        </p:spPr>
        <p:txBody>
          <a:bodyPr wrap="square" anchor="ctr" lIns="0" rIns="0" tIns="0" bIns="0">
            <a:spAutoFit/>
          </a:bodyPr>
          <a:lstStyle/>
          <a:p>
            <a:pPr algn="l"/>
            <a:r>
              <a:rPr sz="2000" b="0">
                <a:solidFill>
                  <a:srgbClr val="F5D9A8"/>
                </a:solidFill>
                <a:latin typeface="Yu Gothic"/>
              </a:rPr>
              <a:t>第4四半期ガイダンス・CEOコメントを確認する</a:t>
            </a:r>
          </a:p>
        </p:txBody>
      </p:sp>
      <p:sp>
        <p:nvSpPr>
          <p:cNvPr id="13" name="Oval 12"/>
          <p:cNvSpPr/>
          <p:nvPr/>
        </p:nvSpPr>
        <p:spPr>
          <a:xfrm>
            <a:off x="548640" y="5029200"/>
            <a:ext cx="548640" cy="5486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5</a:t>
            </a:r>
          </a:p>
        </p:txBody>
      </p:sp>
      <p:sp>
        <p:nvSpPr>
          <p:cNvPr id="14" name="TextBox 13"/>
          <p:cNvSpPr txBox="1"/>
          <p:nvPr/>
        </p:nvSpPr>
        <p:spPr>
          <a:xfrm>
            <a:off x="1325880" y="5047488"/>
            <a:ext cx="9601200" cy="548640"/>
          </a:xfrm>
          <a:prstGeom prst="rect">
            <a:avLst/>
          </a:prstGeom>
          <a:noFill/>
        </p:spPr>
        <p:txBody>
          <a:bodyPr wrap="square" anchor="ctr" lIns="0" rIns="0" tIns="0" bIns="0">
            <a:spAutoFit/>
          </a:bodyPr>
          <a:lstStyle/>
          <a:p>
            <a:pPr algn="l"/>
            <a:r>
              <a:rPr sz="2000" b="0">
                <a:solidFill>
                  <a:srgbClr val="F5D9A8"/>
                </a:solidFill>
                <a:latin typeface="Yu Gothic"/>
              </a:rPr>
              <a:t>AIデータセンター需要との関係を確認する</a:t>
            </a:r>
          </a:p>
        </p:txBody>
      </p:sp>
      <p:sp>
        <p:nvSpPr>
          <p:cNvPr id="15" name="Oval 14"/>
          <p:cNvSpPr/>
          <p:nvPr/>
        </p:nvSpPr>
        <p:spPr>
          <a:xfrm>
            <a:off x="548640" y="5806440"/>
            <a:ext cx="548640" cy="5486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6</a:t>
            </a:r>
          </a:p>
        </p:txBody>
      </p:sp>
      <p:sp>
        <p:nvSpPr>
          <p:cNvPr id="16" name="TextBox 15"/>
          <p:cNvSpPr txBox="1"/>
          <p:nvPr/>
        </p:nvSpPr>
        <p:spPr>
          <a:xfrm>
            <a:off x="1325880" y="5824727"/>
            <a:ext cx="9601200" cy="548640"/>
          </a:xfrm>
          <a:prstGeom prst="rect">
            <a:avLst/>
          </a:prstGeom>
          <a:noFill/>
        </p:spPr>
        <p:txBody>
          <a:bodyPr wrap="square" anchor="ctr" lIns="0" rIns="0" tIns="0" bIns="0">
            <a:spAutoFit/>
          </a:bodyPr>
          <a:lstStyle/>
          <a:p>
            <a:pPr algn="l"/>
            <a:r>
              <a:rPr sz="2000" b="0">
                <a:solidFill>
                  <a:srgbClr val="F5D9A8"/>
                </a:solidFill>
                <a:latin typeface="Yu Gothic"/>
              </a:rPr>
              <a:t>確認できなかったこと・まとめ</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25559"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なぜ今このテーマを扱うのか</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6B7280"/>
                </a:solidFill>
                <a:latin typeface="Yu Gothic"/>
              </a:rPr>
              <a:t>本テーマを取り上げる理由です。</a:t>
            </a:r>
          </a:p>
        </p:txBody>
      </p:sp>
      <p:sp>
        <p:nvSpPr>
          <p:cNvPr id="7" name="Oval 6"/>
          <p:cNvSpPr/>
          <p:nvPr/>
        </p:nvSpPr>
        <p:spPr>
          <a:xfrm>
            <a:off x="457200" y="212140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着手日当日(2026年8月19日)発表という最も高い鮮度の話題である</a:t>
            </a:r>
          </a:p>
        </p:txBody>
      </p:sp>
      <p:sp>
        <p:nvSpPr>
          <p:cNvPr id="9" name="Oval 8"/>
          <p:cNvSpPr/>
          <p:nvPr/>
        </p:nvSpPr>
        <p:spPr>
          <a:xfrm>
            <a:off x="457200" y="289864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売上高が前年比40%増・過去最高という、半導体業界の中でも際立った伸び率である</a:t>
            </a:r>
          </a:p>
        </p:txBody>
      </p:sp>
      <p:sp>
        <p:nvSpPr>
          <p:cNvPr id="11" name="Oval 10"/>
          <p:cNvSpPr/>
          <p:nvPr/>
        </p:nvSpPr>
        <p:spPr>
          <a:xfrm>
            <a:off x="457200" y="3675887"/>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データセンター・インダストリアル需要が牽引役という、AI業界との関連が高いテーマである</a:t>
            </a:r>
          </a:p>
        </p:txBody>
      </p:sp>
      <p:sp>
        <p:nvSpPr>
          <p:cNvPr id="13" name="Oval 12"/>
          <p:cNvSpPr/>
          <p:nvPr/>
        </p:nvSpPr>
        <p:spPr>
          <a:xfrm>
            <a:off x="457200" y="4453127"/>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複数の独立した情報源(StockTitan・Investing.com・GuruFocus等)で確認できる</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B7280"/>
                </a:solidFill>
                <a:latin typeface="Yu Gothic"/>
              </a:rPr>
              <a:t>出典: StockTitan・Investing.com(2026-08-19)</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StockTitan・Investing.com・GuruFocus(2026-08-19)</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4 / 30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31949"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Analog Devicesとは</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6B7280"/>
                </a:solidFill>
                <a:latin typeface="Yu Gothic"/>
              </a:rPr>
              <a:t>基礎知識を簡単に整理します。</a:t>
            </a:r>
          </a:p>
        </p:txBody>
      </p:sp>
      <p:sp>
        <p:nvSpPr>
          <p:cNvPr id="7" name="Oval 6"/>
          <p:cNvSpPr/>
          <p:nvPr/>
        </p:nvSpPr>
        <p:spPr>
          <a:xfrm>
            <a:off x="457200" y="212140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米国の半導体大手企業(NASDAQ: ADI)</a:t>
            </a:r>
          </a:p>
        </p:txBody>
      </p:sp>
      <p:sp>
        <p:nvSpPr>
          <p:cNvPr id="9" name="Oval 8"/>
          <p:cNvSpPr/>
          <p:nvPr/>
        </p:nvSpPr>
        <p:spPr>
          <a:xfrm>
            <a:off x="457200" y="289864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アナログ・ミックスシグナル半導体(電源管理IC、センサー用IC等)を中心に展開</a:t>
            </a:r>
          </a:p>
        </p:txBody>
      </p:sp>
      <p:sp>
        <p:nvSpPr>
          <p:cNvPr id="11" name="Oval 10"/>
          <p:cNvSpPr/>
          <p:nvPr/>
        </p:nvSpPr>
        <p:spPr>
          <a:xfrm>
            <a:off x="457200" y="3675887"/>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データセンター・インダストリアル(産業機器)・自動車・通信等、幅広い分野向けに製品を供給</a:t>
            </a:r>
          </a:p>
        </p:txBody>
      </p:sp>
      <p:sp>
        <p:nvSpPr>
          <p:cNvPr id="13" name="Oval 12"/>
          <p:cNvSpPr/>
          <p:nvPr/>
        </p:nvSpPr>
        <p:spPr>
          <a:xfrm>
            <a:off x="457200" y="4453127"/>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近年はAIデータセンター向けの電源管理需要が伸びているとされる</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B7280"/>
                </a:solidFill>
                <a:latin typeface="Yu Gothic"/>
              </a:rPr>
              <a:t>出典: StockTitan・複数報道(2026-08-19)</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StockTitan・Investing.com・GuruFocus(2026-08-19)</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5 / 30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438339"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2026年度Q3 主要指標</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51460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指標</a:t>
                      </a:r>
                    </a:p>
                  </a:txBody>
                  <a:tcPr>
                    <a:solidFill>
                      <a:srgbClr val="3A4750"/>
                    </a:solidFill>
                  </a:tcPr>
                </a:tc>
                <a:tc>
                  <a:txBody>
                    <a:bodyPr/>
                    <a:lstStyle/>
                    <a:p>
                      <a:pPr>
                        <a:defRPr sz="1300" b="1">
                          <a:solidFill>
                            <a:srgbClr val="FFFFFF"/>
                          </a:solidFill>
                          <a:latin typeface="Yu Gothic"/>
                        </a:defRPr>
                      </a:pPr>
                      <a:r>
                        <a:t>2026年度Q3(前年同期比・市場予想比)</a:t>
                      </a:r>
                    </a:p>
                  </a:txBody>
                  <a:tcPr>
                    <a:solidFill>
                      <a:srgbClr val="3A4750"/>
                    </a:solidFill>
                  </a:tcPr>
                </a:tc>
              </a:tr>
              <a:tr h="502920">
                <a:tc>
                  <a:txBody>
                    <a:bodyPr/>
                    <a:lstStyle/>
                    <a:p>
                      <a:pPr>
                        <a:defRPr sz="1200">
                          <a:solidFill>
                            <a:srgbClr val="1E2124"/>
                          </a:solidFill>
                          <a:latin typeface="Yu Gothic"/>
                        </a:defRPr>
                      </a:pPr>
                      <a:r>
                        <a:t>売上高</a:t>
                      </a:r>
                    </a:p>
                  </a:txBody>
                  <a:tcPr>
                    <a:solidFill>
                      <a:srgbClr val="FFFFFF"/>
                    </a:solidFill>
                  </a:tcPr>
                </a:tc>
                <a:tc>
                  <a:txBody>
                    <a:bodyPr/>
                    <a:lstStyle/>
                    <a:p>
                      <a:pPr>
                        <a:defRPr sz="1200">
                          <a:solidFill>
                            <a:srgbClr val="1E2124"/>
                          </a:solidFill>
                          <a:latin typeface="Yu Gothic"/>
                        </a:defRPr>
                      </a:pPr>
                      <a:r>
                        <a:t>40億2,000万ドル、前年比+40%(過去最高)</a:t>
                      </a:r>
                    </a:p>
                  </a:txBody>
                  <a:tcPr>
                    <a:solidFill>
                      <a:srgbClr val="FFFFFF"/>
                    </a:solidFill>
                  </a:tcPr>
                </a:tc>
              </a:tr>
              <a:tr h="502920">
                <a:tc>
                  <a:txBody>
                    <a:bodyPr/>
                    <a:lstStyle/>
                    <a:p>
                      <a:pPr>
                        <a:defRPr sz="1200">
                          <a:solidFill>
                            <a:srgbClr val="1E2124"/>
                          </a:solidFill>
                          <a:latin typeface="Yu Gothic"/>
                        </a:defRPr>
                      </a:pPr>
                      <a:r>
                        <a:t>EPS</a:t>
                      </a:r>
                    </a:p>
                  </a:txBody>
                  <a:tcPr>
                    <a:solidFill>
                      <a:srgbClr val="F7F4EF"/>
                    </a:solidFill>
                  </a:tcPr>
                </a:tc>
                <a:tc>
                  <a:txBody>
                    <a:bodyPr/>
                    <a:lstStyle/>
                    <a:p>
                      <a:pPr>
                        <a:defRPr sz="1200">
                          <a:solidFill>
                            <a:srgbClr val="1E2124"/>
                          </a:solidFill>
                          <a:latin typeface="Yu Gothic"/>
                        </a:defRPr>
                      </a:pPr>
                      <a:r>
                        <a:t>3.45ドル(市場予想3.34ドルを上回る)</a:t>
                      </a:r>
                    </a:p>
                  </a:txBody>
                  <a:tcPr>
                    <a:solidFill>
                      <a:srgbClr val="F7F4EF"/>
                    </a:solidFill>
                  </a:tcPr>
                </a:tc>
              </a:tr>
              <a:tr h="502920">
                <a:tc>
                  <a:txBody>
                    <a:bodyPr/>
                    <a:lstStyle/>
                    <a:p>
                      <a:pPr>
                        <a:defRPr sz="1200">
                          <a:solidFill>
                            <a:srgbClr val="1E2124"/>
                          </a:solidFill>
                          <a:latin typeface="Yu Gothic"/>
                        </a:defRPr>
                      </a:pPr>
                      <a:r>
                        <a:t>市場予想売上高</a:t>
                      </a:r>
                    </a:p>
                  </a:txBody>
                  <a:tcPr>
                    <a:solidFill>
                      <a:srgbClr val="FFFFFF"/>
                    </a:solidFill>
                  </a:tcPr>
                </a:tc>
                <a:tc>
                  <a:txBody>
                    <a:bodyPr/>
                    <a:lstStyle/>
                    <a:p>
                      <a:pPr>
                        <a:defRPr sz="1200">
                          <a:solidFill>
                            <a:srgbClr val="1E2124"/>
                          </a:solidFill>
                          <a:latin typeface="Yu Gothic"/>
                        </a:defRPr>
                      </a:pPr>
                      <a:r>
                        <a:t>39億1,000万ドル(実績が上回る)</a:t>
                      </a:r>
                    </a:p>
                  </a:txBody>
                  <a:tcPr>
                    <a:solidFill>
                      <a:srgbClr val="FFFFFF"/>
                    </a:solidFill>
                  </a:tcPr>
                </a:tc>
              </a:tr>
              <a:tr h="502920">
                <a:tc>
                  <a:txBody>
                    <a:bodyPr/>
                    <a:lstStyle/>
                    <a:p>
                      <a:pPr>
                        <a:defRPr sz="1200">
                          <a:solidFill>
                            <a:srgbClr val="1E2124"/>
                          </a:solidFill>
                          <a:latin typeface="Yu Gothic"/>
                        </a:defRPr>
                      </a:pPr>
                      <a:r>
                        <a:t>牽引セグメント</a:t>
                      </a:r>
                    </a:p>
                  </a:txBody>
                  <a:tcPr>
                    <a:solidFill>
                      <a:srgbClr val="F7F4EF"/>
                    </a:solidFill>
                  </a:tcPr>
                </a:tc>
                <a:tc>
                  <a:txBody>
                    <a:bodyPr/>
                    <a:lstStyle/>
                    <a:p>
                      <a:pPr>
                        <a:defRPr sz="1200">
                          <a:solidFill>
                            <a:srgbClr val="1E2124"/>
                          </a:solidFill>
                          <a:latin typeface="Yu Gothic"/>
                        </a:defRPr>
                      </a:pPr>
                      <a:r>
                        <a:t>データセンター・インダストリアル</a:t>
                      </a:r>
                    </a:p>
                  </a:txBody>
                  <a:tcPr>
                    <a:solidFill>
                      <a:srgbClr val="F7F4EF"/>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B7280"/>
                </a:solidFill>
                <a:latin typeface="Yu Gothic"/>
              </a:rPr>
              <a:t>出典: StockTitan・Investing.com(2026-08-19)</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StockTitan・Investing.com・GuruFocus(2026-08-19)</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6 / 30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844728"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過去最高売上高の内容</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6B7280"/>
                </a:solidFill>
                <a:latin typeface="Yu Gothic"/>
              </a:rPr>
              <a:t>過去最高を記録した売上高の内容です。</a:t>
            </a:r>
          </a:p>
        </p:txBody>
      </p:sp>
      <p:sp>
        <p:nvSpPr>
          <p:cNvPr id="7" name="Oval 6"/>
          <p:cNvSpPr/>
          <p:nvPr/>
        </p:nvSpPr>
        <p:spPr>
          <a:xfrm>
            <a:off x="457200" y="212140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売上高40億2,000万ドルは、Analog Devicesの四半期売上高として過去最高</a:t>
            </a:r>
          </a:p>
        </p:txBody>
      </p:sp>
      <p:sp>
        <p:nvSpPr>
          <p:cNvPr id="9" name="Oval 8"/>
          <p:cNvSpPr/>
          <p:nvPr/>
        </p:nvSpPr>
        <p:spPr>
          <a:xfrm>
            <a:off x="457200" y="289864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市場予想(39億1,000万ドル)を上回る実績</a:t>
            </a:r>
          </a:p>
        </p:txBody>
      </p:sp>
      <p:sp>
        <p:nvSpPr>
          <p:cNvPr id="11" name="Oval 10"/>
          <p:cNvSpPr/>
          <p:nvPr/>
        </p:nvSpPr>
        <p:spPr>
          <a:xfrm>
            <a:off x="457200" y="3675887"/>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データセンター・インダストリアル部門の伸びが牽引役とされる</a:t>
            </a:r>
          </a:p>
        </p:txBody>
      </p:sp>
      <p:sp>
        <p:nvSpPr>
          <p:cNvPr id="13" name="Oval 12"/>
          <p:cNvSpPr/>
          <p:nvPr/>
        </p:nvSpPr>
        <p:spPr>
          <a:xfrm>
            <a:off x="457200" y="4453127"/>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セグメント別の具体的な売上高内訳(データセンター単体の金額等)は本調査の範囲では確認できていない</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B7280"/>
                </a:solidFill>
                <a:latin typeface="Yu Gothic"/>
              </a:rPr>
              <a:t>出典: StockTitan(2026-08-19)</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StockTitan・Investing.com・GuruFocus(2026-08-19)</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7 / 30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23292E"/>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51118"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F5D9A8"/>
                </a:solidFill>
                <a:latin typeface="Yu Gothic"/>
              </a:rPr>
              <a:t>売上高の伸び率</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E8871E"/>
                </a:solidFill>
                <a:latin typeface="Yu Gothic"/>
              </a:rPr>
              <a:t>前年比+40%</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市場予想39億1,000万ドルを2.8%上回る実績</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D9A857"/>
                </a:solidFill>
                <a:latin typeface="Yu Gothic"/>
              </a:rPr>
              <a:t>出典: StockTitan・Investing.com(2026-08-19)</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657508"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EPSの状況</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6B7280"/>
                </a:solidFill>
                <a:latin typeface="Yu Gothic"/>
              </a:rPr>
              <a:t>利益面の状況です。</a:t>
            </a:r>
          </a:p>
        </p:txBody>
      </p:sp>
      <p:sp>
        <p:nvSpPr>
          <p:cNvPr id="7" name="Oval 6"/>
          <p:cNvSpPr/>
          <p:nvPr/>
        </p:nvSpPr>
        <p:spPr>
          <a:xfrm>
            <a:off x="457200" y="212140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EPSは3.45ドルで、市場予想の3.34ドルを上回った</a:t>
            </a:r>
          </a:p>
        </p:txBody>
      </p:sp>
      <p:sp>
        <p:nvSpPr>
          <p:cNvPr id="9" name="Oval 8"/>
          <p:cNvSpPr/>
          <p:nvPr/>
        </p:nvSpPr>
        <p:spPr>
          <a:xfrm>
            <a:off x="457200" y="289864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売上高の伸びに加えて、利益面でも市場予想を上回る結果となった</a:t>
            </a:r>
          </a:p>
        </p:txBody>
      </p:sp>
      <p:sp>
        <p:nvSpPr>
          <p:cNvPr id="11" name="Oval 10"/>
          <p:cNvSpPr/>
          <p:nvPr/>
        </p:nvSpPr>
        <p:spPr>
          <a:xfrm>
            <a:off x="457200" y="3675887"/>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利益率の具体的な数値・前年同期比の変化は本調査の範囲では確認できていない</a:t>
            </a:r>
          </a:p>
        </p:txBody>
      </p:sp>
      <p:sp>
        <p:nvSpPr>
          <p:cNvPr id="13" name="Oval 12"/>
          <p:cNvSpPr/>
          <p:nvPr/>
        </p:nvSpPr>
        <p:spPr>
          <a:xfrm>
            <a:off x="457200" y="4453127"/>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売上高・EPSともに市場予想を上回ったことから、事業全体が好調だったことがうかがえる</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B7280"/>
                </a:solidFill>
                <a:latin typeface="Yu Gothic"/>
              </a:rPr>
              <a:t>出典: StockTitan・Investing.com(2026-08-19)</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StockTitan・Investing.com・GuruFocus(2026-08-19)</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9 / 30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8"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実績 vs 市場予想</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3A4750"/>
                </a:solidFill>
                <a:latin typeface="Yu Gothic"/>
              </a:rPr>
              <a:t>実績</a:t>
            </a:r>
          </a:p>
        </p:txBody>
      </p:sp>
      <p:sp>
        <p:nvSpPr>
          <p:cNvPr id="9" name="Oval 8"/>
          <p:cNvSpPr/>
          <p:nvPr/>
        </p:nvSpPr>
        <p:spPr>
          <a:xfrm>
            <a:off x="777240" y="2532888"/>
            <a:ext cx="274320" cy="27432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1E2124"/>
                </a:solidFill>
                <a:latin typeface="Yu Gothic"/>
              </a:rPr>
              <a:t>売上高40億2,000万ドル</a:t>
            </a:r>
          </a:p>
        </p:txBody>
      </p:sp>
      <p:sp>
        <p:nvSpPr>
          <p:cNvPr id="11" name="Oval 10"/>
          <p:cNvSpPr/>
          <p:nvPr/>
        </p:nvSpPr>
        <p:spPr>
          <a:xfrm>
            <a:off x="777240" y="3081528"/>
            <a:ext cx="274320" cy="27432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1E2124"/>
                </a:solidFill>
                <a:latin typeface="Yu Gothic"/>
              </a:rPr>
              <a:t>EPS3.45ドル</a:t>
            </a:r>
          </a:p>
        </p:txBody>
      </p:sp>
      <p:sp>
        <p:nvSpPr>
          <p:cNvPr id="13" name="Oval 12"/>
          <p:cNvSpPr/>
          <p:nvPr/>
        </p:nvSpPr>
        <p:spPr>
          <a:xfrm>
            <a:off x="777240" y="3630168"/>
            <a:ext cx="274320" cy="27432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4" name="TextBox 13"/>
          <p:cNvSpPr txBox="1"/>
          <p:nvPr/>
        </p:nvSpPr>
        <p:spPr>
          <a:xfrm>
            <a:off x="1188720" y="3611880"/>
            <a:ext cx="4404207" cy="548640"/>
          </a:xfrm>
          <a:prstGeom prst="rect">
            <a:avLst/>
          </a:prstGeom>
          <a:noFill/>
        </p:spPr>
        <p:txBody>
          <a:bodyPr wrap="square" anchor="t" lIns="0" rIns="0" tIns="0" bIns="0">
            <a:spAutoFit/>
          </a:bodyPr>
          <a:lstStyle/>
          <a:p>
            <a:pPr algn="l">
              <a:lnSpc>
                <a:spcPct val="110000"/>
              </a:lnSpc>
            </a:pPr>
            <a:r>
              <a:rPr sz="1400" b="0">
                <a:solidFill>
                  <a:srgbClr val="1E2124"/>
                </a:solidFill>
                <a:latin typeface="Yu Gothic"/>
              </a:rPr>
              <a:t>いずれも過去最高水準</a:t>
            </a:r>
          </a:p>
        </p:txBody>
      </p:sp>
      <p:sp>
        <p:nvSpPr>
          <p:cNvPr id="15" name="Rounded Rectangle 14"/>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278727" y="1554480"/>
            <a:ext cx="5455767" cy="420624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3A4750"/>
                </a:solidFill>
                <a:latin typeface="Yu Gothic"/>
              </a:rPr>
              <a:t>市場予想</a:t>
            </a:r>
          </a:p>
        </p:txBody>
      </p:sp>
      <p:sp>
        <p:nvSpPr>
          <p:cNvPr id="18" name="Oval 17"/>
          <p:cNvSpPr/>
          <p:nvPr/>
        </p:nvSpPr>
        <p:spPr>
          <a:xfrm>
            <a:off x="6598767" y="2532888"/>
            <a:ext cx="274320" cy="27432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1E2124"/>
                </a:solidFill>
                <a:latin typeface="Yu Gothic"/>
              </a:rPr>
              <a:t>売上高39億1,000万ドル</a:t>
            </a:r>
          </a:p>
        </p:txBody>
      </p:sp>
      <p:sp>
        <p:nvSpPr>
          <p:cNvPr id="20" name="Oval 19"/>
          <p:cNvSpPr/>
          <p:nvPr/>
        </p:nvSpPr>
        <p:spPr>
          <a:xfrm>
            <a:off x="6598767" y="3081528"/>
            <a:ext cx="274320" cy="27432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1" name="TextBox 20"/>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1E2124"/>
                </a:solidFill>
                <a:latin typeface="Yu Gothic"/>
              </a:rPr>
              <a:t>EPS3.34ドル</a:t>
            </a:r>
          </a:p>
        </p:txBody>
      </p:sp>
      <p:sp>
        <p:nvSpPr>
          <p:cNvPr id="22" name="Oval 21"/>
          <p:cNvSpPr/>
          <p:nvPr/>
        </p:nvSpPr>
        <p:spPr>
          <a:xfrm>
            <a:off x="6598767" y="3630168"/>
            <a:ext cx="274320" cy="27432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3" name="TextBox 22"/>
          <p:cNvSpPr txBox="1"/>
          <p:nvPr/>
        </p:nvSpPr>
        <p:spPr>
          <a:xfrm>
            <a:off x="7010247" y="3611880"/>
            <a:ext cx="4404207" cy="548640"/>
          </a:xfrm>
          <a:prstGeom prst="rect">
            <a:avLst/>
          </a:prstGeom>
          <a:noFill/>
        </p:spPr>
        <p:txBody>
          <a:bodyPr wrap="square" anchor="t" lIns="0" rIns="0" tIns="0" bIns="0">
            <a:spAutoFit/>
          </a:bodyPr>
          <a:lstStyle/>
          <a:p>
            <a:pPr algn="l">
              <a:lnSpc>
                <a:spcPct val="110000"/>
              </a:lnSpc>
            </a:pPr>
            <a:r>
              <a:rPr sz="1400" b="0">
                <a:solidFill>
                  <a:srgbClr val="1E2124"/>
                </a:solidFill>
                <a:latin typeface="Yu Gothic"/>
              </a:rPr>
              <a:t>実績がいずれも上回る</a:t>
            </a:r>
          </a:p>
        </p:txBody>
      </p:sp>
      <p:sp>
        <p:nvSpPr>
          <p:cNvPr id="24" name="TextBox 2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StockTitan・Investing.com・GuruFocus(2026-08-19)</a:t>
            </a:r>
          </a:p>
        </p:txBody>
      </p:sp>
      <p:sp>
        <p:nvSpPr>
          <p:cNvPr id="25" name="TextBox 2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10 / 30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470288"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第4四半期(通期最終四半期)ガイダンス</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150876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指標</a:t>
                      </a:r>
                    </a:p>
                  </a:txBody>
                  <a:tcPr>
                    <a:solidFill>
                      <a:srgbClr val="3A4750"/>
                    </a:solidFill>
                  </a:tcPr>
                </a:tc>
                <a:tc>
                  <a:txBody>
                    <a:bodyPr/>
                    <a:lstStyle/>
                    <a:p>
                      <a:pPr>
                        <a:defRPr sz="1300" b="1">
                          <a:solidFill>
                            <a:srgbClr val="FFFFFF"/>
                          </a:solidFill>
                          <a:latin typeface="Yu Gothic"/>
                        </a:defRPr>
                      </a:pPr>
                      <a:r>
                        <a:t>ガイダンス(市場予想比)</a:t>
                      </a:r>
                    </a:p>
                  </a:txBody>
                  <a:tcPr>
                    <a:solidFill>
                      <a:srgbClr val="3A4750"/>
                    </a:solidFill>
                  </a:tcPr>
                </a:tc>
              </a:tr>
              <a:tr h="502920">
                <a:tc>
                  <a:txBody>
                    <a:bodyPr/>
                    <a:lstStyle/>
                    <a:p>
                      <a:pPr>
                        <a:defRPr sz="1200">
                          <a:solidFill>
                            <a:srgbClr val="1E2124"/>
                          </a:solidFill>
                          <a:latin typeface="Yu Gothic"/>
                        </a:defRPr>
                      </a:pPr>
                      <a:r>
                        <a:t>EPS</a:t>
                      </a:r>
                    </a:p>
                  </a:txBody>
                  <a:tcPr>
                    <a:solidFill>
                      <a:srgbClr val="FFFFFF"/>
                    </a:solidFill>
                  </a:tcPr>
                </a:tc>
                <a:tc>
                  <a:txBody>
                    <a:bodyPr/>
                    <a:lstStyle/>
                    <a:p>
                      <a:pPr>
                        <a:defRPr sz="1200">
                          <a:solidFill>
                            <a:srgbClr val="1E2124"/>
                          </a:solidFill>
                          <a:latin typeface="Yu Gothic"/>
                        </a:defRPr>
                      </a:pPr>
                      <a:r>
                        <a:t>3.71〜4.01ドル(市場予想3.55ドルを上回る水準)</a:t>
                      </a:r>
                    </a:p>
                  </a:txBody>
                  <a:tcPr>
                    <a:solidFill>
                      <a:srgbClr val="FFFFFF"/>
                    </a:solidFill>
                  </a:tcPr>
                </a:tc>
              </a:tr>
              <a:tr h="502920">
                <a:tc>
                  <a:txBody>
                    <a:bodyPr/>
                    <a:lstStyle/>
                    <a:p>
                      <a:pPr>
                        <a:defRPr sz="1200">
                          <a:solidFill>
                            <a:srgbClr val="1E2124"/>
                          </a:solidFill>
                          <a:latin typeface="Yu Gothic"/>
                        </a:defRPr>
                      </a:pPr>
                      <a:r>
                        <a:t>売上高</a:t>
                      </a:r>
                    </a:p>
                  </a:txBody>
                  <a:tcPr>
                    <a:solidFill>
                      <a:srgbClr val="F7F4EF"/>
                    </a:solidFill>
                  </a:tcPr>
                </a:tc>
                <a:tc>
                  <a:txBody>
                    <a:bodyPr/>
                    <a:lstStyle/>
                    <a:p>
                      <a:pPr>
                        <a:defRPr sz="1200">
                          <a:solidFill>
                            <a:srgbClr val="1E2124"/>
                          </a:solidFill>
                          <a:latin typeface="Yu Gothic"/>
                        </a:defRPr>
                      </a:pPr>
                      <a:r>
                        <a:t>42億〜44億ドル(市場予想40億8,000万ドルを上回る水準)</a:t>
                      </a:r>
                    </a:p>
                  </a:txBody>
                  <a:tcPr>
                    <a:solidFill>
                      <a:srgbClr val="F7F4EF"/>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B7280"/>
                </a:solidFill>
                <a:latin typeface="Yu Gothic"/>
              </a:rPr>
              <a:t>出典: Investing.com・StockTitan(2026-08-19)</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StockTitan・Investing.com・GuruFocus(2026-08-19)</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11 / 30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876678"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第4四半期ガイダンスの意味</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6B7280"/>
                </a:solidFill>
                <a:latin typeface="Yu Gothic"/>
              </a:rPr>
              <a:t>この見通しが持つ意味です。</a:t>
            </a:r>
          </a:p>
        </p:txBody>
      </p:sp>
      <p:sp>
        <p:nvSpPr>
          <p:cNvPr id="7" name="Oval 6"/>
          <p:cNvSpPr/>
          <p:nvPr/>
        </p:nvSpPr>
        <p:spPr>
          <a:xfrm>
            <a:off x="457200" y="212140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第4四半期のEPSガイダンスは3.71〜4.01ドルで、市場予想の3.55ドルを上回る</a:t>
            </a:r>
          </a:p>
        </p:txBody>
      </p:sp>
      <p:sp>
        <p:nvSpPr>
          <p:cNvPr id="9" name="Oval 8"/>
          <p:cNvSpPr/>
          <p:nvPr/>
        </p:nvSpPr>
        <p:spPr>
          <a:xfrm>
            <a:off x="457200" y="289864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売上高ガイダンスも42億〜44億ドルで、市場予想の40億8,000万ドルを上回る</a:t>
            </a:r>
          </a:p>
        </p:txBody>
      </p:sp>
      <p:sp>
        <p:nvSpPr>
          <p:cNvPr id="11" name="Oval 10"/>
          <p:cNvSpPr/>
          <p:nvPr/>
        </p:nvSpPr>
        <p:spPr>
          <a:xfrm>
            <a:off x="457200" y="3675887"/>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第3四半期に続き、次四半期も市場予想を上回る見通しを示している</a:t>
            </a:r>
          </a:p>
        </p:txBody>
      </p:sp>
      <p:sp>
        <p:nvSpPr>
          <p:cNvPr id="13" name="Oval 12"/>
          <p:cNvSpPr/>
          <p:nvPr/>
        </p:nvSpPr>
        <p:spPr>
          <a:xfrm>
            <a:off x="457200" y="4453127"/>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経営陣が事業の勢いに自信を持っていることがうかがえる</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B7280"/>
                </a:solidFill>
                <a:latin typeface="Yu Gothic"/>
              </a:rPr>
              <a:t>出典: Investing.com(2026-08-19)</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StockTitan・Investing.com・GuruFocus(2026-08-19)</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12 / 30</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23292E"/>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283067"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F5D9A8"/>
                </a:solidFill>
                <a:latin typeface="Yu Gothic"/>
              </a:rPr>
              <a:t>第4四半期の売上高ガイダンス</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E8871E"/>
                </a:solidFill>
                <a:latin typeface="Yu Gothic"/>
              </a:rPr>
              <a:t>42億〜44億ドル</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市場予想40億8,000万ドルを上回る水準</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D9A857"/>
                </a:solidFill>
                <a:latin typeface="Yu Gothic"/>
              </a:rPr>
              <a:t>出典: Investing.com(2026-08-19)</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689457"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CEOのコメント</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6B7280"/>
                </a:solidFill>
                <a:latin typeface="Yu Gothic"/>
              </a:rPr>
              <a:t>決算発表でのCEOの発言です。</a:t>
            </a:r>
          </a:p>
        </p:txBody>
      </p:sp>
      <p:sp>
        <p:nvSpPr>
          <p:cNvPr id="7" name="Oval 6"/>
          <p:cNvSpPr/>
          <p:nvPr/>
        </p:nvSpPr>
        <p:spPr>
          <a:xfrm>
            <a:off x="457200" y="212140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CEOのVincent Roche氏は『売上高・利益率・利益いずれも見通しの中央値を上回る、力強い第3四半期を達成した』とコメントしたとされる</a:t>
            </a:r>
          </a:p>
        </p:txBody>
      </p:sp>
      <p:sp>
        <p:nvSpPr>
          <p:cNvPr id="9" name="Oval 8"/>
          <p:cNvSpPr/>
          <p:nvPr/>
        </p:nvSpPr>
        <p:spPr>
          <a:xfrm>
            <a:off x="457200" y="289864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『イノベーションへの投資、顧客との緊密な連携、製造面での機動性が、AI時代における価値創出・提供・獲得において独自の強みとなっている』とも述べたとされる</a:t>
            </a:r>
          </a:p>
        </p:txBody>
      </p:sp>
      <p:sp>
        <p:nvSpPr>
          <p:cNvPr id="11" name="Oval 10"/>
          <p:cNvSpPr/>
          <p:nvPr/>
        </p:nvSpPr>
        <p:spPr>
          <a:xfrm>
            <a:off x="457200" y="3675887"/>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これらの発言は決算発表資料からの引用に基づく報道の要約であり、決算コール全文までは確認できていない</a:t>
            </a:r>
          </a:p>
        </p:txBody>
      </p:sp>
      <p:sp>
        <p:nvSpPr>
          <p:cNvPr id="13" name="Oval 12"/>
          <p:cNvSpPr/>
          <p:nvPr/>
        </p:nvSpPr>
        <p:spPr>
          <a:xfrm>
            <a:off x="457200" y="4453127"/>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『AI時代』という表現はあるが、AI関連需要の具体的な金額・比率への言及は確認できていない</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B7280"/>
                </a:solidFill>
                <a:latin typeface="Yu Gothic"/>
              </a:rPr>
              <a:t>出典: StockTitan・Investing.com(2026-08-19)</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StockTitan・Investing.com・GuruFocus(2026-08-19)</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14 / 30</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095847"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今回の決算の流れ</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7524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706727" y="2560320"/>
            <a:ext cx="2377440" cy="146304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89607" y="2743200"/>
            <a:ext cx="2011680" cy="640080"/>
          </a:xfrm>
          <a:prstGeom prst="rect">
            <a:avLst/>
          </a:prstGeom>
          <a:noFill/>
        </p:spPr>
        <p:txBody>
          <a:bodyPr wrap="square" anchor="ctr" lIns="0" rIns="0" tIns="0" bIns="0">
            <a:spAutoFit/>
          </a:bodyPr>
          <a:lstStyle/>
          <a:p>
            <a:pPr algn="ctr"/>
            <a:r>
              <a:rPr sz="1700" b="1">
                <a:solidFill>
                  <a:srgbClr val="3A4750"/>
                </a:solidFill>
                <a:latin typeface="Yu Gothic"/>
              </a:rPr>
              <a:t>データセンター・インダストリアル需要の伸び</a:t>
            </a:r>
          </a:p>
        </p:txBody>
      </p:sp>
      <p:sp>
        <p:nvSpPr>
          <p:cNvPr id="9" name="TextBox 8"/>
          <p:cNvSpPr txBox="1"/>
          <p:nvPr/>
        </p:nvSpPr>
        <p:spPr>
          <a:xfrm>
            <a:off x="1889607" y="3383279"/>
            <a:ext cx="2011680" cy="548640"/>
          </a:xfrm>
          <a:prstGeom prst="rect">
            <a:avLst/>
          </a:prstGeom>
          <a:noFill/>
        </p:spPr>
        <p:txBody>
          <a:bodyPr wrap="square" anchor="t" lIns="0" rIns="0" tIns="0" bIns="0">
            <a:spAutoFit/>
          </a:bodyPr>
          <a:lstStyle/>
          <a:p>
            <a:pPr algn="ctr">
              <a:lnSpc>
                <a:spcPct val="110000"/>
              </a:lnSpc>
            </a:pPr>
            <a:r>
              <a:rPr sz="1200" b="0">
                <a:solidFill>
                  <a:srgbClr val="6B7280"/>
                </a:solidFill>
                <a:latin typeface="Yu Gothic"/>
              </a:rPr>
              <a:t>牽引役として報じられる</a:t>
            </a:r>
          </a:p>
        </p:txBody>
      </p:sp>
      <p:sp>
        <p:nvSpPr>
          <p:cNvPr id="10" name="Right Arrow 9"/>
          <p:cNvSpPr/>
          <p:nvPr/>
        </p:nvSpPr>
        <p:spPr>
          <a:xfrm>
            <a:off x="4157319" y="3108959"/>
            <a:ext cx="676656" cy="365760"/>
          </a:xfrm>
          <a:prstGeom prst="rightArrow">
            <a:avLst/>
          </a:prstGeom>
          <a:solidFill>
            <a:srgbClr val="E887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9528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907127" y="2560320"/>
            <a:ext cx="2377440" cy="146304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90007" y="2743200"/>
            <a:ext cx="2011680" cy="640080"/>
          </a:xfrm>
          <a:prstGeom prst="rect">
            <a:avLst/>
          </a:prstGeom>
          <a:noFill/>
        </p:spPr>
        <p:txBody>
          <a:bodyPr wrap="square" anchor="ctr" lIns="0" rIns="0" tIns="0" bIns="0">
            <a:spAutoFit/>
          </a:bodyPr>
          <a:lstStyle/>
          <a:p>
            <a:pPr algn="ctr"/>
            <a:r>
              <a:rPr sz="1700" b="1">
                <a:solidFill>
                  <a:srgbClr val="3A4750"/>
                </a:solidFill>
                <a:latin typeface="Yu Gothic"/>
              </a:rPr>
              <a:t>売上高40億2,000万ドル(過去最高)</a:t>
            </a:r>
          </a:p>
        </p:txBody>
      </p:sp>
      <p:sp>
        <p:nvSpPr>
          <p:cNvPr id="14" name="TextBox 13"/>
          <p:cNvSpPr txBox="1"/>
          <p:nvPr/>
        </p:nvSpPr>
        <p:spPr>
          <a:xfrm>
            <a:off x="5090007" y="3383279"/>
            <a:ext cx="2011680" cy="548640"/>
          </a:xfrm>
          <a:prstGeom prst="rect">
            <a:avLst/>
          </a:prstGeom>
          <a:noFill/>
        </p:spPr>
        <p:txBody>
          <a:bodyPr wrap="square" anchor="t" lIns="0" rIns="0" tIns="0" bIns="0">
            <a:spAutoFit/>
          </a:bodyPr>
          <a:lstStyle/>
          <a:p>
            <a:pPr algn="ctr">
              <a:lnSpc>
                <a:spcPct val="110000"/>
              </a:lnSpc>
            </a:pPr>
            <a:r>
              <a:rPr sz="1200" b="0">
                <a:solidFill>
                  <a:srgbClr val="6B7280"/>
                </a:solidFill>
                <a:latin typeface="Yu Gothic"/>
              </a:rPr>
              <a:t>市場予想を上回る</a:t>
            </a:r>
          </a:p>
        </p:txBody>
      </p:sp>
      <p:sp>
        <p:nvSpPr>
          <p:cNvPr id="15" name="Right Arrow 14"/>
          <p:cNvSpPr/>
          <p:nvPr/>
        </p:nvSpPr>
        <p:spPr>
          <a:xfrm>
            <a:off x="7357719" y="3108959"/>
            <a:ext cx="676656" cy="365760"/>
          </a:xfrm>
          <a:prstGeom prst="rightArrow">
            <a:avLst/>
          </a:prstGeom>
          <a:solidFill>
            <a:srgbClr val="E887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1532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07527" y="2560320"/>
            <a:ext cx="2377440" cy="146304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90407" y="2743200"/>
            <a:ext cx="2011680" cy="640080"/>
          </a:xfrm>
          <a:prstGeom prst="rect">
            <a:avLst/>
          </a:prstGeom>
          <a:noFill/>
        </p:spPr>
        <p:txBody>
          <a:bodyPr wrap="square" anchor="ctr" lIns="0" rIns="0" tIns="0" bIns="0">
            <a:spAutoFit/>
          </a:bodyPr>
          <a:lstStyle/>
          <a:p>
            <a:pPr algn="ctr"/>
            <a:r>
              <a:rPr sz="1700" b="1">
                <a:solidFill>
                  <a:srgbClr val="3A4750"/>
                </a:solidFill>
                <a:latin typeface="Yu Gothic"/>
              </a:rPr>
              <a:t>第4四半期ガイダンスも予想超え</a:t>
            </a:r>
          </a:p>
        </p:txBody>
      </p:sp>
      <p:sp>
        <p:nvSpPr>
          <p:cNvPr id="19" name="TextBox 18"/>
          <p:cNvSpPr txBox="1"/>
          <p:nvPr/>
        </p:nvSpPr>
        <p:spPr>
          <a:xfrm>
            <a:off x="8290407" y="3383279"/>
            <a:ext cx="2011680" cy="548640"/>
          </a:xfrm>
          <a:prstGeom prst="rect">
            <a:avLst/>
          </a:prstGeom>
          <a:noFill/>
        </p:spPr>
        <p:txBody>
          <a:bodyPr wrap="square" anchor="t" lIns="0" rIns="0" tIns="0" bIns="0">
            <a:spAutoFit/>
          </a:bodyPr>
          <a:lstStyle/>
          <a:p>
            <a:pPr algn="ctr">
              <a:lnSpc>
                <a:spcPct val="110000"/>
              </a:lnSpc>
            </a:pPr>
            <a:r>
              <a:rPr sz="1200" b="0">
                <a:solidFill>
                  <a:srgbClr val="6B7280"/>
                </a:solidFill>
                <a:latin typeface="Yu Gothic"/>
              </a:rPr>
              <a:t>事業の勢いが続く見通し</a:t>
            </a:r>
          </a:p>
        </p:txBody>
      </p:sp>
      <p:sp>
        <p:nvSpPr>
          <p:cNvPr id="20" name="TextBox 19"/>
          <p:cNvSpPr txBox="1"/>
          <p:nvPr/>
        </p:nvSpPr>
        <p:spPr>
          <a:xfrm>
            <a:off x="548640" y="4480560"/>
            <a:ext cx="11094415" cy="731520"/>
          </a:xfrm>
          <a:prstGeom prst="rect">
            <a:avLst/>
          </a:prstGeom>
          <a:noFill/>
        </p:spPr>
        <p:txBody>
          <a:bodyPr wrap="square" anchor="t" lIns="0" rIns="0" tIns="0" bIns="0">
            <a:spAutoFit/>
          </a:bodyPr>
          <a:lstStyle/>
          <a:p>
            <a:pPr algn="ctr">
              <a:lnSpc>
                <a:spcPct val="120000"/>
              </a:lnSpc>
            </a:pPr>
            <a:r>
              <a:rPr sz="1400" b="0">
                <a:solidFill>
                  <a:srgbClr val="6B7280"/>
                </a:solidFill>
                <a:latin typeface="Yu Gothic"/>
              </a:rPr>
              <a:t>需要の伸びから過去最高売上高、次四半期見通しまでの流れ</a:t>
            </a:r>
          </a:p>
        </p:txBody>
      </p:sp>
      <p:sp>
        <p:nvSpPr>
          <p:cNvPr id="21" name="TextBox 20"/>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B7280"/>
                </a:solidFill>
                <a:latin typeface="Yu Gothic"/>
              </a:rPr>
              <a:t>出典: StockTitan・Investing.com(2026-08-19)</a:t>
            </a:r>
          </a:p>
        </p:txBody>
      </p:sp>
      <p:sp>
        <p:nvSpPr>
          <p:cNvPr id="22" name="TextBox 2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StockTitan・Investing.com・GuruFocus(2026-08-19)</a:t>
            </a:r>
          </a:p>
        </p:txBody>
      </p:sp>
      <p:sp>
        <p:nvSpPr>
          <p:cNvPr id="23" name="TextBox 2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15 / 30</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502237"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今回の決算の3ステップ総括</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737360"/>
            <a:ext cx="3515258" cy="329184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2011680"/>
            <a:ext cx="640080" cy="64008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1</a:t>
            </a:r>
          </a:p>
        </p:txBody>
      </p:sp>
      <p:sp>
        <p:nvSpPr>
          <p:cNvPr id="9" name="TextBox 8"/>
          <p:cNvSpPr txBox="1"/>
          <p:nvPr/>
        </p:nvSpPr>
        <p:spPr>
          <a:xfrm>
            <a:off x="731520" y="2926080"/>
            <a:ext cx="2966618" cy="548640"/>
          </a:xfrm>
          <a:prstGeom prst="rect">
            <a:avLst/>
          </a:prstGeom>
          <a:noFill/>
        </p:spPr>
        <p:txBody>
          <a:bodyPr wrap="square" anchor="t" lIns="0" rIns="0" tIns="0" bIns="0">
            <a:spAutoFit/>
          </a:bodyPr>
          <a:lstStyle/>
          <a:p>
            <a:pPr algn="l"/>
            <a:r>
              <a:rPr sz="1600" b="1">
                <a:solidFill>
                  <a:srgbClr val="3A4750"/>
                </a:solidFill>
                <a:latin typeface="Yu Gothic"/>
              </a:rPr>
              <a:t>1. 売上高過去最高</a:t>
            </a:r>
          </a:p>
        </p:txBody>
      </p:sp>
      <p:sp>
        <p:nvSpPr>
          <p:cNvPr id="10" name="TextBox 9"/>
          <p:cNvSpPr txBox="1"/>
          <p:nvPr/>
        </p:nvSpPr>
        <p:spPr>
          <a:xfrm>
            <a:off x="731520" y="3566160"/>
            <a:ext cx="2966618" cy="1280160"/>
          </a:xfrm>
          <a:prstGeom prst="rect">
            <a:avLst/>
          </a:prstGeom>
          <a:noFill/>
        </p:spPr>
        <p:txBody>
          <a:bodyPr wrap="square" anchor="t" lIns="0" rIns="0" tIns="0" bIns="0">
            <a:spAutoFit/>
          </a:bodyPr>
          <a:lstStyle/>
          <a:p>
            <a:pPr algn="l">
              <a:lnSpc>
                <a:spcPct val="115000"/>
              </a:lnSpc>
            </a:pPr>
            <a:r>
              <a:rPr sz="1200" b="0">
                <a:solidFill>
                  <a:srgbClr val="6B7280"/>
                </a:solidFill>
                <a:latin typeface="Yu Gothic"/>
              </a:rPr>
              <a:t>前年比+40%、市場予想を上回る</a:t>
            </a:r>
          </a:p>
        </p:txBody>
      </p:sp>
      <p:sp>
        <p:nvSpPr>
          <p:cNvPr id="11" name="Chevron 10"/>
          <p:cNvSpPr/>
          <p:nvPr/>
        </p:nvSpPr>
        <p:spPr>
          <a:xfrm>
            <a:off x="4038295" y="3200400"/>
            <a:ext cx="234086" cy="365760"/>
          </a:xfrm>
          <a:prstGeom prst="chevron">
            <a:avLst/>
          </a:prstGeom>
          <a:solidFill>
            <a:srgbClr val="E887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83938"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338218" y="1737360"/>
            <a:ext cx="3515258" cy="329184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612538" y="2011680"/>
            <a:ext cx="640080" cy="64008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2</a:t>
            </a:r>
          </a:p>
        </p:txBody>
      </p:sp>
      <p:sp>
        <p:nvSpPr>
          <p:cNvPr id="15" name="TextBox 14"/>
          <p:cNvSpPr txBox="1"/>
          <p:nvPr/>
        </p:nvSpPr>
        <p:spPr>
          <a:xfrm>
            <a:off x="4612538" y="2926080"/>
            <a:ext cx="2966618" cy="548640"/>
          </a:xfrm>
          <a:prstGeom prst="rect">
            <a:avLst/>
          </a:prstGeom>
          <a:noFill/>
        </p:spPr>
        <p:txBody>
          <a:bodyPr wrap="square" anchor="t" lIns="0" rIns="0" tIns="0" bIns="0">
            <a:spAutoFit/>
          </a:bodyPr>
          <a:lstStyle/>
          <a:p>
            <a:pPr algn="l"/>
            <a:r>
              <a:rPr sz="1600" b="1">
                <a:solidFill>
                  <a:srgbClr val="3A4750"/>
                </a:solidFill>
                <a:latin typeface="Yu Gothic"/>
              </a:rPr>
              <a:t>2. EPSも予想超え</a:t>
            </a:r>
          </a:p>
        </p:txBody>
      </p:sp>
      <p:sp>
        <p:nvSpPr>
          <p:cNvPr id="16" name="TextBox 15"/>
          <p:cNvSpPr txBox="1"/>
          <p:nvPr/>
        </p:nvSpPr>
        <p:spPr>
          <a:xfrm>
            <a:off x="4612538" y="3566160"/>
            <a:ext cx="2966618" cy="1280160"/>
          </a:xfrm>
          <a:prstGeom prst="rect">
            <a:avLst/>
          </a:prstGeom>
          <a:noFill/>
        </p:spPr>
        <p:txBody>
          <a:bodyPr wrap="square" anchor="t" lIns="0" rIns="0" tIns="0" bIns="0">
            <a:spAutoFit/>
          </a:bodyPr>
          <a:lstStyle/>
          <a:p>
            <a:pPr algn="l">
              <a:lnSpc>
                <a:spcPct val="115000"/>
              </a:lnSpc>
            </a:pPr>
            <a:r>
              <a:rPr sz="1200" b="0">
                <a:solidFill>
                  <a:srgbClr val="6B7280"/>
                </a:solidFill>
                <a:latin typeface="Yu Gothic"/>
              </a:rPr>
              <a:t>3.45ドル、市場予想3.34ドル</a:t>
            </a:r>
          </a:p>
        </p:txBody>
      </p:sp>
      <p:sp>
        <p:nvSpPr>
          <p:cNvPr id="17" name="Chevron 16"/>
          <p:cNvSpPr/>
          <p:nvPr/>
        </p:nvSpPr>
        <p:spPr>
          <a:xfrm>
            <a:off x="7919313" y="3200400"/>
            <a:ext cx="234086" cy="365760"/>
          </a:xfrm>
          <a:prstGeom prst="chevron">
            <a:avLst/>
          </a:prstGeom>
          <a:solidFill>
            <a:srgbClr val="E887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264956"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219236" y="1737360"/>
            <a:ext cx="3515258" cy="329184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493556" y="2011680"/>
            <a:ext cx="640080" cy="64008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3</a:t>
            </a:r>
          </a:p>
        </p:txBody>
      </p:sp>
      <p:sp>
        <p:nvSpPr>
          <p:cNvPr id="21" name="TextBox 20"/>
          <p:cNvSpPr txBox="1"/>
          <p:nvPr/>
        </p:nvSpPr>
        <p:spPr>
          <a:xfrm>
            <a:off x="8493556" y="2926080"/>
            <a:ext cx="2966618" cy="548640"/>
          </a:xfrm>
          <a:prstGeom prst="rect">
            <a:avLst/>
          </a:prstGeom>
          <a:noFill/>
        </p:spPr>
        <p:txBody>
          <a:bodyPr wrap="square" anchor="t" lIns="0" rIns="0" tIns="0" bIns="0">
            <a:spAutoFit/>
          </a:bodyPr>
          <a:lstStyle/>
          <a:p>
            <a:pPr algn="l"/>
            <a:r>
              <a:rPr sz="1600" b="1">
                <a:solidFill>
                  <a:srgbClr val="3A4750"/>
                </a:solidFill>
                <a:latin typeface="Yu Gothic"/>
              </a:rPr>
              <a:t>3. 次四半期ガイダンスも強気</a:t>
            </a:r>
          </a:p>
        </p:txBody>
      </p:sp>
      <p:sp>
        <p:nvSpPr>
          <p:cNvPr id="22" name="TextBox 21"/>
          <p:cNvSpPr txBox="1"/>
          <p:nvPr/>
        </p:nvSpPr>
        <p:spPr>
          <a:xfrm>
            <a:off x="8493556" y="3566160"/>
            <a:ext cx="2966618" cy="1280160"/>
          </a:xfrm>
          <a:prstGeom prst="rect">
            <a:avLst/>
          </a:prstGeom>
          <a:noFill/>
        </p:spPr>
        <p:txBody>
          <a:bodyPr wrap="square" anchor="t" lIns="0" rIns="0" tIns="0" bIns="0">
            <a:spAutoFit/>
          </a:bodyPr>
          <a:lstStyle/>
          <a:p>
            <a:pPr algn="l">
              <a:lnSpc>
                <a:spcPct val="115000"/>
              </a:lnSpc>
            </a:pPr>
            <a:r>
              <a:rPr sz="1200" b="0">
                <a:solidFill>
                  <a:srgbClr val="6B7280"/>
                </a:solidFill>
                <a:latin typeface="Yu Gothic"/>
              </a:rPr>
              <a:t>EPS・売上高ともに市場予想を上回る水準</a:t>
            </a:r>
          </a:p>
        </p:txBody>
      </p:sp>
      <p:sp>
        <p:nvSpPr>
          <p:cNvPr id="23" name="TextBox 2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StockTitan・Investing.com・GuruFocus(2026-08-19)</a:t>
            </a:r>
          </a:p>
        </p:txBody>
      </p:sp>
      <p:sp>
        <p:nvSpPr>
          <p:cNvPr id="24" name="TextBox 2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16 / 30</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908627"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AIデータセンター需要との関係</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6B7280"/>
                </a:solidFill>
                <a:latin typeface="Yu Gothic"/>
              </a:rPr>
              <a:t>この点を正直に整理します。</a:t>
            </a:r>
          </a:p>
        </p:txBody>
      </p:sp>
      <p:sp>
        <p:nvSpPr>
          <p:cNvPr id="7" name="Oval 6"/>
          <p:cNvSpPr/>
          <p:nvPr/>
        </p:nvSpPr>
        <p:spPr>
          <a:xfrm>
            <a:off x="457200" y="212140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今回の増収はデータセンター・インダストリアル部門の伸びが牽引役とされている</a:t>
            </a:r>
          </a:p>
        </p:txBody>
      </p:sp>
      <p:sp>
        <p:nvSpPr>
          <p:cNvPr id="9" name="Oval 8"/>
          <p:cNvSpPr/>
          <p:nvPr/>
        </p:nvSpPr>
        <p:spPr>
          <a:xfrm>
            <a:off x="457200" y="289864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『データセンター』向け需要のうち、具体的にどの程度がAI関連(AIアクセラレータ向け電源管理IC等)であるかの内訳は確認できていない</a:t>
            </a:r>
          </a:p>
        </p:txBody>
      </p:sp>
      <p:sp>
        <p:nvSpPr>
          <p:cNvPr id="11" name="Oval 10"/>
          <p:cNvSpPr/>
          <p:nvPr/>
        </p:nvSpPr>
        <p:spPr>
          <a:xfrm>
            <a:off x="457200" y="3675887"/>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CEOコメントに『AI時代』という表現があることから、AI関連需要が一定の影響を与えていると推測されるが、この推測を確定事実として扱わない</a:t>
            </a:r>
          </a:p>
        </p:txBody>
      </p:sp>
      <p:sp>
        <p:nvSpPr>
          <p:cNvPr id="13" name="Oval 12"/>
          <p:cNvSpPr/>
          <p:nvPr/>
        </p:nvSpPr>
        <p:spPr>
          <a:xfrm>
            <a:off x="457200" y="4453127"/>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断定的な『AI需要が牽引した』という表現は避け、報道の範囲で確認できる事実にとどめる</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B7280"/>
                </a:solidFill>
                <a:latin typeface="Yu Gothic"/>
              </a:rPr>
              <a:t>出典: 本リサーチ(2026-08-19時点)</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StockTitan・Investing.com・GuruFocus(2026-08-19)</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17 / 30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23292E"/>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017"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F5D9A8"/>
                </a:solidFill>
                <a:latin typeface="Yu Gothic"/>
              </a:rPr>
              <a:t>AI関連需要の内訳</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E8871E"/>
                </a:solidFill>
                <a:latin typeface="Yu Gothic"/>
              </a:rPr>
              <a:t>具体的な比率は非開示</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『AI時代』という表現はCEOコメントにあるが、定量的な内訳は確認できていない</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D9A857"/>
                </a:solidFill>
                <a:latin typeface="Yu Gothic"/>
              </a:rPr>
              <a:t>出典: 本リサーチ(2026-08-19時点)</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721406"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半導体業界における位置づけ</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6B7280"/>
                </a:solidFill>
                <a:latin typeface="Yu Gothic"/>
              </a:rPr>
              <a:t>業界内での本決算の意味です。</a:t>
            </a:r>
          </a:p>
        </p:txBody>
      </p:sp>
      <p:sp>
        <p:nvSpPr>
          <p:cNvPr id="7" name="Oval 6"/>
          <p:cNvSpPr/>
          <p:nvPr/>
        </p:nvSpPr>
        <p:spPr>
          <a:xfrm>
            <a:off x="457200" y="212140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アナログ半導体大手として、データセンター・インダストリアル需要の拡大の恩恵を受けている構図がうかがえる</a:t>
            </a:r>
          </a:p>
        </p:txBody>
      </p:sp>
      <p:sp>
        <p:nvSpPr>
          <p:cNvPr id="9" name="Oval 8"/>
          <p:cNvSpPr/>
          <p:nvPr/>
        </p:nvSpPr>
        <p:spPr>
          <a:xfrm>
            <a:off x="457200" y="289864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40%という増収率は、半導体業界の中でも際立った水準とみられる</a:t>
            </a:r>
          </a:p>
        </p:txBody>
      </p:sp>
      <p:sp>
        <p:nvSpPr>
          <p:cNvPr id="11" name="Oval 10"/>
          <p:cNvSpPr/>
          <p:nvPr/>
        </p:nvSpPr>
        <p:spPr>
          <a:xfrm>
            <a:off x="457200" y="3675887"/>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他の半導体企業との具体的な比較は本調査の範囲では行っていない</a:t>
            </a:r>
          </a:p>
        </p:txBody>
      </p:sp>
      <p:sp>
        <p:nvSpPr>
          <p:cNvPr id="13" name="Oval 12"/>
          <p:cNvSpPr/>
          <p:nvPr/>
        </p:nvSpPr>
        <p:spPr>
          <a:xfrm>
            <a:off x="457200" y="4453127"/>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AIインフラ投資の拡大が、周辺の半導体需要にも波及している可能性を示す事例として参考になる</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B7280"/>
                </a:solidFill>
                <a:latin typeface="Yu Gothic"/>
              </a:rPr>
              <a:t>出典: 本リサーチ(2026-08-19時点)</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StockTitan・Investing.com・GuruFocus(2026-08-19)</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19 / 30</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6"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今回の実績 vs 次四半期の見通し</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3A4750"/>
                </a:solidFill>
                <a:latin typeface="Yu Gothic"/>
              </a:rPr>
              <a:t>今回(Q3)の実績</a:t>
            </a:r>
          </a:p>
        </p:txBody>
      </p:sp>
      <p:sp>
        <p:nvSpPr>
          <p:cNvPr id="9" name="Oval 8"/>
          <p:cNvSpPr/>
          <p:nvPr/>
        </p:nvSpPr>
        <p:spPr>
          <a:xfrm>
            <a:off x="777240" y="2532888"/>
            <a:ext cx="274320" cy="27432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1E2124"/>
                </a:solidFill>
                <a:latin typeface="Yu Gothic"/>
              </a:rPr>
              <a:t>売上高40億2,000万ドル</a:t>
            </a:r>
          </a:p>
        </p:txBody>
      </p:sp>
      <p:sp>
        <p:nvSpPr>
          <p:cNvPr id="11" name="Oval 10"/>
          <p:cNvSpPr/>
          <p:nvPr/>
        </p:nvSpPr>
        <p:spPr>
          <a:xfrm>
            <a:off x="777240" y="3081528"/>
            <a:ext cx="274320" cy="27432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1E2124"/>
                </a:solidFill>
                <a:latin typeface="Yu Gothic"/>
              </a:rPr>
              <a:t>EPS3.45ドル</a:t>
            </a:r>
          </a:p>
        </p:txBody>
      </p:sp>
      <p:sp>
        <p:nvSpPr>
          <p:cNvPr id="13" name="Oval 12"/>
          <p:cNvSpPr/>
          <p:nvPr/>
        </p:nvSpPr>
        <p:spPr>
          <a:xfrm>
            <a:off x="777240" y="3630168"/>
            <a:ext cx="274320" cy="27432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4" name="TextBox 13"/>
          <p:cNvSpPr txBox="1"/>
          <p:nvPr/>
        </p:nvSpPr>
        <p:spPr>
          <a:xfrm>
            <a:off x="1188720" y="3611880"/>
            <a:ext cx="4404207" cy="548640"/>
          </a:xfrm>
          <a:prstGeom prst="rect">
            <a:avLst/>
          </a:prstGeom>
          <a:noFill/>
        </p:spPr>
        <p:txBody>
          <a:bodyPr wrap="square" anchor="t" lIns="0" rIns="0" tIns="0" bIns="0">
            <a:spAutoFit/>
          </a:bodyPr>
          <a:lstStyle/>
          <a:p>
            <a:pPr algn="l">
              <a:lnSpc>
                <a:spcPct val="110000"/>
              </a:lnSpc>
            </a:pPr>
            <a:r>
              <a:rPr sz="1400" b="0">
                <a:solidFill>
                  <a:srgbClr val="1E2124"/>
                </a:solidFill>
                <a:latin typeface="Yu Gothic"/>
              </a:rPr>
              <a:t>いずれも市場予想を上回る</a:t>
            </a:r>
          </a:p>
        </p:txBody>
      </p:sp>
      <p:sp>
        <p:nvSpPr>
          <p:cNvPr id="15" name="Rounded Rectangle 14"/>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278727" y="1554480"/>
            <a:ext cx="5455767" cy="420624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3A4750"/>
                </a:solidFill>
                <a:latin typeface="Yu Gothic"/>
              </a:rPr>
              <a:t>次四半期(Q4)の見通し</a:t>
            </a:r>
          </a:p>
        </p:txBody>
      </p:sp>
      <p:sp>
        <p:nvSpPr>
          <p:cNvPr id="18" name="Oval 17"/>
          <p:cNvSpPr/>
          <p:nvPr/>
        </p:nvSpPr>
        <p:spPr>
          <a:xfrm>
            <a:off x="6598767" y="2532888"/>
            <a:ext cx="274320" cy="27432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1E2124"/>
                </a:solidFill>
                <a:latin typeface="Yu Gothic"/>
              </a:rPr>
              <a:t>売上高42億〜44億ドル</a:t>
            </a:r>
          </a:p>
        </p:txBody>
      </p:sp>
      <p:sp>
        <p:nvSpPr>
          <p:cNvPr id="20" name="Oval 19"/>
          <p:cNvSpPr/>
          <p:nvPr/>
        </p:nvSpPr>
        <p:spPr>
          <a:xfrm>
            <a:off x="6598767" y="3081528"/>
            <a:ext cx="274320" cy="27432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1" name="TextBox 20"/>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1E2124"/>
                </a:solidFill>
                <a:latin typeface="Yu Gothic"/>
              </a:rPr>
              <a:t>EPS3.71〜4.01ドル</a:t>
            </a:r>
          </a:p>
        </p:txBody>
      </p:sp>
      <p:sp>
        <p:nvSpPr>
          <p:cNvPr id="22" name="Oval 21"/>
          <p:cNvSpPr/>
          <p:nvPr/>
        </p:nvSpPr>
        <p:spPr>
          <a:xfrm>
            <a:off x="6598767" y="3630168"/>
            <a:ext cx="274320" cy="27432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3" name="TextBox 22"/>
          <p:cNvSpPr txBox="1"/>
          <p:nvPr/>
        </p:nvSpPr>
        <p:spPr>
          <a:xfrm>
            <a:off x="7010247" y="3611880"/>
            <a:ext cx="4404207" cy="548640"/>
          </a:xfrm>
          <a:prstGeom prst="rect">
            <a:avLst/>
          </a:prstGeom>
          <a:noFill/>
        </p:spPr>
        <p:txBody>
          <a:bodyPr wrap="square" anchor="t" lIns="0" rIns="0" tIns="0" bIns="0">
            <a:spAutoFit/>
          </a:bodyPr>
          <a:lstStyle/>
          <a:p>
            <a:pPr algn="l">
              <a:lnSpc>
                <a:spcPct val="110000"/>
              </a:lnSpc>
            </a:pPr>
            <a:r>
              <a:rPr sz="1400" b="0">
                <a:solidFill>
                  <a:srgbClr val="1E2124"/>
                </a:solidFill>
                <a:latin typeface="Yu Gothic"/>
              </a:rPr>
              <a:t>さらなる伸びを見込む水準</a:t>
            </a:r>
          </a:p>
        </p:txBody>
      </p:sp>
      <p:sp>
        <p:nvSpPr>
          <p:cNvPr id="24" name="TextBox 2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StockTitan・Investing.com・GuruFocus(2026-08-19)</a:t>
            </a:r>
          </a:p>
        </p:txBody>
      </p:sp>
      <p:sp>
        <p:nvSpPr>
          <p:cNvPr id="25" name="TextBox 2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20 / 30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534186"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今回の決算の要点まとめ</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51460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3A4750"/>
                    </a:solidFill>
                  </a:tcPr>
                </a:tc>
                <a:tc>
                  <a:txBody>
                    <a:bodyPr/>
                    <a:lstStyle/>
                    <a:p>
                      <a:pPr>
                        <a:defRPr sz="1300" b="1">
                          <a:solidFill>
                            <a:srgbClr val="FFFFFF"/>
                          </a:solidFill>
                          <a:latin typeface="Yu Gothic"/>
                        </a:defRPr>
                      </a:pPr>
                      <a:r>
                        <a:t>内容</a:t>
                      </a:r>
                    </a:p>
                  </a:txBody>
                  <a:tcPr>
                    <a:solidFill>
                      <a:srgbClr val="3A4750"/>
                    </a:solidFill>
                  </a:tcPr>
                </a:tc>
              </a:tr>
              <a:tr h="502920">
                <a:tc>
                  <a:txBody>
                    <a:bodyPr/>
                    <a:lstStyle/>
                    <a:p>
                      <a:pPr>
                        <a:defRPr sz="1200">
                          <a:solidFill>
                            <a:srgbClr val="1E2124"/>
                          </a:solidFill>
                          <a:latin typeface="Yu Gothic"/>
                        </a:defRPr>
                      </a:pPr>
                      <a:r>
                        <a:t>売上高</a:t>
                      </a:r>
                    </a:p>
                  </a:txBody>
                  <a:tcPr>
                    <a:solidFill>
                      <a:srgbClr val="FFFFFF"/>
                    </a:solidFill>
                  </a:tcPr>
                </a:tc>
                <a:tc>
                  <a:txBody>
                    <a:bodyPr/>
                    <a:lstStyle/>
                    <a:p>
                      <a:pPr>
                        <a:defRPr sz="1200">
                          <a:solidFill>
                            <a:srgbClr val="1E2124"/>
                          </a:solidFill>
                          <a:latin typeface="Yu Gothic"/>
                        </a:defRPr>
                      </a:pPr>
                      <a:r>
                        <a:t>40億2,000万ドル(前年比+40%、過去最高)</a:t>
                      </a:r>
                    </a:p>
                  </a:txBody>
                  <a:tcPr>
                    <a:solidFill>
                      <a:srgbClr val="FFFFFF"/>
                    </a:solidFill>
                  </a:tcPr>
                </a:tc>
              </a:tr>
              <a:tr h="502920">
                <a:tc>
                  <a:txBody>
                    <a:bodyPr/>
                    <a:lstStyle/>
                    <a:p>
                      <a:pPr>
                        <a:defRPr sz="1200">
                          <a:solidFill>
                            <a:srgbClr val="1E2124"/>
                          </a:solidFill>
                          <a:latin typeface="Yu Gothic"/>
                        </a:defRPr>
                      </a:pPr>
                      <a:r>
                        <a:t>EPS</a:t>
                      </a:r>
                    </a:p>
                  </a:txBody>
                  <a:tcPr>
                    <a:solidFill>
                      <a:srgbClr val="F7F4EF"/>
                    </a:solidFill>
                  </a:tcPr>
                </a:tc>
                <a:tc>
                  <a:txBody>
                    <a:bodyPr/>
                    <a:lstStyle/>
                    <a:p>
                      <a:pPr>
                        <a:defRPr sz="1200">
                          <a:solidFill>
                            <a:srgbClr val="1E2124"/>
                          </a:solidFill>
                          <a:latin typeface="Yu Gothic"/>
                        </a:defRPr>
                      </a:pPr>
                      <a:r>
                        <a:t>3.45ドル(市場予想超え)</a:t>
                      </a:r>
                    </a:p>
                  </a:txBody>
                  <a:tcPr>
                    <a:solidFill>
                      <a:srgbClr val="F7F4EF"/>
                    </a:solidFill>
                  </a:tcPr>
                </a:tc>
              </a:tr>
              <a:tr h="502920">
                <a:tc>
                  <a:txBody>
                    <a:bodyPr/>
                    <a:lstStyle/>
                    <a:p>
                      <a:pPr>
                        <a:defRPr sz="1200">
                          <a:solidFill>
                            <a:srgbClr val="1E2124"/>
                          </a:solidFill>
                          <a:latin typeface="Yu Gothic"/>
                        </a:defRPr>
                      </a:pPr>
                      <a:r>
                        <a:t>Q4ガイダンス(売上高)</a:t>
                      </a:r>
                    </a:p>
                  </a:txBody>
                  <a:tcPr>
                    <a:solidFill>
                      <a:srgbClr val="FFFFFF"/>
                    </a:solidFill>
                  </a:tcPr>
                </a:tc>
                <a:tc>
                  <a:txBody>
                    <a:bodyPr/>
                    <a:lstStyle/>
                    <a:p>
                      <a:pPr>
                        <a:defRPr sz="1200">
                          <a:solidFill>
                            <a:srgbClr val="1E2124"/>
                          </a:solidFill>
                          <a:latin typeface="Yu Gothic"/>
                        </a:defRPr>
                      </a:pPr>
                      <a:r>
                        <a:t>42億〜44億ドル</a:t>
                      </a:r>
                    </a:p>
                  </a:txBody>
                  <a:tcPr>
                    <a:solidFill>
                      <a:srgbClr val="FFFFFF"/>
                    </a:solidFill>
                  </a:tcPr>
                </a:tc>
              </a:tr>
              <a:tr h="502920">
                <a:tc>
                  <a:txBody>
                    <a:bodyPr/>
                    <a:lstStyle/>
                    <a:p>
                      <a:pPr>
                        <a:defRPr sz="1200">
                          <a:solidFill>
                            <a:srgbClr val="1E2124"/>
                          </a:solidFill>
                          <a:latin typeface="Yu Gothic"/>
                        </a:defRPr>
                      </a:pPr>
                      <a:r>
                        <a:t>牽引セグメント</a:t>
                      </a:r>
                    </a:p>
                  </a:txBody>
                  <a:tcPr>
                    <a:solidFill>
                      <a:srgbClr val="F7F4EF"/>
                    </a:solidFill>
                  </a:tcPr>
                </a:tc>
                <a:tc>
                  <a:txBody>
                    <a:bodyPr/>
                    <a:lstStyle/>
                    <a:p>
                      <a:pPr>
                        <a:defRPr sz="1200">
                          <a:solidFill>
                            <a:srgbClr val="1E2124"/>
                          </a:solidFill>
                          <a:latin typeface="Yu Gothic"/>
                        </a:defRPr>
                      </a:pPr>
                      <a:r>
                        <a:t>データセンター・インダストリアル</a:t>
                      </a:r>
                    </a:p>
                  </a:txBody>
                  <a:tcPr>
                    <a:solidFill>
                      <a:srgbClr val="F7F4EF"/>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B7280"/>
                </a:solidFill>
                <a:latin typeface="Yu Gothic"/>
              </a:rPr>
              <a:t>出典: StockTitan・Investing.com(2026-08-19)</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StockTitan・Investing.com・GuruFocus(2026-08-19)</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21 / 30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940576"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実績とガイダンスの一覧(確認できた公式数値のみ)</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1508760"/>
        </p:xfrm>
        <a:graphic>
          <a:graphicData uri="http://schemas.openxmlformats.org/drawingml/2006/table">
            <a:tbl>
              <a:tblPr firstRow="1" bandRow="1">
                <a:tableStyleId>{5C22544A-7EE6-4342-B048-85BDC9FD1C3A}</a:tableStyleId>
              </a:tblPr>
              <a:tblGrid>
                <a:gridCol w="3759098"/>
                <a:gridCol w="3759098"/>
                <a:gridCol w="3759099"/>
              </a:tblGrid>
              <a:tr h="502920">
                <a:tc>
                  <a:txBody>
                    <a:bodyPr/>
                    <a:lstStyle/>
                    <a:p>
                      <a:pPr>
                        <a:defRPr sz="1300" b="1">
                          <a:solidFill>
                            <a:srgbClr val="FFFFFF"/>
                          </a:solidFill>
                          <a:latin typeface="Yu Gothic"/>
                        </a:defRPr>
                      </a:pPr>
                      <a:r>
                        <a:t>時点</a:t>
                      </a:r>
                    </a:p>
                  </a:txBody>
                  <a:tcPr>
                    <a:solidFill>
                      <a:srgbClr val="3A4750"/>
                    </a:solidFill>
                  </a:tcPr>
                </a:tc>
                <a:tc>
                  <a:txBody>
                    <a:bodyPr/>
                    <a:lstStyle/>
                    <a:p>
                      <a:pPr>
                        <a:defRPr sz="1300" b="1">
                          <a:solidFill>
                            <a:srgbClr val="FFFFFF"/>
                          </a:solidFill>
                          <a:latin typeface="Yu Gothic"/>
                        </a:defRPr>
                      </a:pPr>
                      <a:r>
                        <a:t>売上高</a:t>
                      </a:r>
                    </a:p>
                  </a:txBody>
                  <a:tcPr>
                    <a:solidFill>
                      <a:srgbClr val="3A4750"/>
                    </a:solidFill>
                  </a:tcPr>
                </a:tc>
                <a:tc>
                  <a:txBody>
                    <a:bodyPr/>
                    <a:lstStyle/>
                    <a:p>
                      <a:pPr>
                        <a:defRPr sz="1300" b="1">
                          <a:solidFill>
                            <a:srgbClr val="FFFFFF"/>
                          </a:solidFill>
                          <a:latin typeface="Yu Gothic"/>
                        </a:defRPr>
                      </a:pPr>
                      <a:r>
                        <a:t>EPS</a:t>
                      </a:r>
                    </a:p>
                  </a:txBody>
                  <a:tcPr>
                    <a:solidFill>
                      <a:srgbClr val="3A4750"/>
                    </a:solidFill>
                  </a:tcPr>
                </a:tc>
              </a:tr>
              <a:tr h="502920">
                <a:tc>
                  <a:txBody>
                    <a:bodyPr/>
                    <a:lstStyle/>
                    <a:p>
                      <a:pPr>
                        <a:defRPr sz="1200">
                          <a:solidFill>
                            <a:srgbClr val="1E2124"/>
                          </a:solidFill>
                          <a:latin typeface="Yu Gothic"/>
                        </a:defRPr>
                      </a:pPr>
                      <a:r>
                        <a:t>2026年度Q3(実績)</a:t>
                      </a:r>
                    </a:p>
                  </a:txBody>
                  <a:tcPr>
                    <a:solidFill>
                      <a:srgbClr val="FFFFFF"/>
                    </a:solidFill>
                  </a:tcPr>
                </a:tc>
                <a:tc>
                  <a:txBody>
                    <a:bodyPr/>
                    <a:lstStyle/>
                    <a:p>
                      <a:pPr>
                        <a:defRPr sz="1200">
                          <a:solidFill>
                            <a:srgbClr val="1E2124"/>
                          </a:solidFill>
                          <a:latin typeface="Yu Gothic"/>
                        </a:defRPr>
                      </a:pPr>
                      <a:r>
                        <a:t>40億2,000万ドル</a:t>
                      </a:r>
                    </a:p>
                  </a:txBody>
                  <a:tcPr>
                    <a:solidFill>
                      <a:srgbClr val="FFFFFF"/>
                    </a:solidFill>
                  </a:tcPr>
                </a:tc>
                <a:tc>
                  <a:txBody>
                    <a:bodyPr/>
                    <a:lstStyle/>
                    <a:p>
                      <a:pPr>
                        <a:defRPr sz="1200">
                          <a:solidFill>
                            <a:srgbClr val="1E2124"/>
                          </a:solidFill>
                          <a:latin typeface="Yu Gothic"/>
                        </a:defRPr>
                      </a:pPr>
                      <a:r>
                        <a:t>3.45ドル</a:t>
                      </a:r>
                    </a:p>
                  </a:txBody>
                  <a:tcPr>
                    <a:solidFill>
                      <a:srgbClr val="FFFFFF"/>
                    </a:solidFill>
                  </a:tcPr>
                </a:tc>
              </a:tr>
              <a:tr h="502920">
                <a:tc>
                  <a:txBody>
                    <a:bodyPr/>
                    <a:lstStyle/>
                    <a:p>
                      <a:pPr>
                        <a:defRPr sz="1200">
                          <a:solidFill>
                            <a:srgbClr val="1E2124"/>
                          </a:solidFill>
                          <a:latin typeface="Yu Gothic"/>
                        </a:defRPr>
                      </a:pPr>
                      <a:r>
                        <a:t>2026年度Q4(ガイダンス)</a:t>
                      </a:r>
                    </a:p>
                  </a:txBody>
                  <a:tcPr>
                    <a:solidFill>
                      <a:srgbClr val="F7F4EF"/>
                    </a:solidFill>
                  </a:tcPr>
                </a:tc>
                <a:tc>
                  <a:txBody>
                    <a:bodyPr/>
                    <a:lstStyle/>
                    <a:p>
                      <a:pPr>
                        <a:defRPr sz="1200">
                          <a:solidFill>
                            <a:srgbClr val="1E2124"/>
                          </a:solidFill>
                          <a:latin typeface="Yu Gothic"/>
                        </a:defRPr>
                      </a:pPr>
                      <a:r>
                        <a:t>42億〜44億ドル</a:t>
                      </a:r>
                    </a:p>
                  </a:txBody>
                  <a:tcPr>
                    <a:solidFill>
                      <a:srgbClr val="F7F4EF"/>
                    </a:solidFill>
                  </a:tcPr>
                </a:tc>
                <a:tc>
                  <a:txBody>
                    <a:bodyPr/>
                    <a:lstStyle/>
                    <a:p>
                      <a:pPr>
                        <a:defRPr sz="1200">
                          <a:solidFill>
                            <a:srgbClr val="1E2124"/>
                          </a:solidFill>
                          <a:latin typeface="Yu Gothic"/>
                        </a:defRPr>
                      </a:pPr>
                      <a:r>
                        <a:t>3.71〜4.01ドル</a:t>
                      </a:r>
                    </a:p>
                  </a:txBody>
                  <a:tcPr>
                    <a:solidFill>
                      <a:srgbClr val="F7F4EF"/>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B7280"/>
                </a:solidFill>
                <a:latin typeface="Yu Gothic"/>
              </a:rPr>
              <a:t>出典: StockTitan・Investing.com(2026-08-19)</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StockTitan・Investing.com・GuruFocus(2026-08-19)</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22 / 30</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23292E"/>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346966"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F5D9A8"/>
                </a:solidFill>
                <a:latin typeface="Yu Gothic"/>
              </a:rPr>
              <a:t>半導体業界での伸び率の位置づけ</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E8871E"/>
                </a:solidFill>
                <a:latin typeface="Yu Gothic"/>
              </a:rPr>
              <a:t>前年比+40%(過去最高)</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同業他社との具体的な比較は本調査の範囲では行っていない</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D9A857"/>
                </a:solidFill>
                <a:latin typeface="Yu Gothic"/>
              </a:rPr>
              <a:t>出典: StockTitan(2026-08-19)</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753356"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決算発表のタイミング</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6B7280"/>
                </a:solidFill>
                <a:latin typeface="Yu Gothic"/>
              </a:rPr>
              <a:t>発表日に関する補足です。</a:t>
            </a:r>
          </a:p>
        </p:txBody>
      </p:sp>
      <p:sp>
        <p:nvSpPr>
          <p:cNvPr id="7" name="Oval 6"/>
          <p:cNvSpPr/>
          <p:nvPr/>
        </p:nvSpPr>
        <p:spPr>
          <a:xfrm>
            <a:off x="457200" y="212140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決算発表は2026年8月19日</a:t>
            </a:r>
          </a:p>
        </p:txBody>
      </p:sp>
      <p:sp>
        <p:nvSpPr>
          <p:cNvPr id="9" name="Oval 8"/>
          <p:cNvSpPr/>
          <p:nvPr/>
        </p:nvSpPr>
        <p:spPr>
          <a:xfrm>
            <a:off x="457200" y="289864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同日には他の複数の企業(Estee Lauder等)も決算を発表しており、決算発表が集中する日程だった</a:t>
            </a:r>
          </a:p>
        </p:txBody>
      </p:sp>
      <p:sp>
        <p:nvSpPr>
          <p:cNvPr id="11" name="Oval 10"/>
          <p:cNvSpPr/>
          <p:nvPr/>
        </p:nvSpPr>
        <p:spPr>
          <a:xfrm>
            <a:off x="457200" y="3675887"/>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各社の決算内容は独立しており、本テーマではAnalog Devices固有の数字のみを扱う</a:t>
            </a:r>
          </a:p>
        </p:txBody>
      </p:sp>
      <p:sp>
        <p:nvSpPr>
          <p:cNvPr id="13" name="Oval 12"/>
          <p:cNvSpPr/>
          <p:nvPr/>
        </p:nvSpPr>
        <p:spPr>
          <a:xfrm>
            <a:off x="457200" y="4453127"/>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半導体・化粧品など業種の異なる企業が同日に決算を発表する点は、決算シーズンの特徴として参考情報にとどめる</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B7280"/>
                </a:solidFill>
                <a:latin typeface="Yu Gothic"/>
              </a:rPr>
              <a:t>出典: 本リサーチ(2026-08-19時点)</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StockTitan・Investing.com・GuruFocus(2026-08-19)</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24 / 30</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159746"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確認できなかったこと・留保事項</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6B7280"/>
                </a:solidFill>
                <a:latin typeface="Yu Gothic"/>
              </a:rPr>
              <a:t>正直にお伝えする留保事項です。</a:t>
            </a:r>
          </a:p>
        </p:txBody>
      </p:sp>
      <p:sp>
        <p:nvSpPr>
          <p:cNvPr id="7" name="Oval 6"/>
          <p:cNvSpPr/>
          <p:nvPr/>
        </p:nvSpPr>
        <p:spPr>
          <a:xfrm>
            <a:off x="457200" y="212140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データセンター需要のうちAI関連需要が占める具体的な比率・金額</a:t>
            </a:r>
          </a:p>
        </p:txBody>
      </p:sp>
      <p:sp>
        <p:nvSpPr>
          <p:cNvPr id="9" name="Oval 8"/>
          <p:cNvSpPr/>
          <p:nvPr/>
        </p:nvSpPr>
        <p:spPr>
          <a:xfrm>
            <a:off x="457200" y="289864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セグメント別の詳細な売上高内訳(データセンター単体の金額等)</a:t>
            </a:r>
          </a:p>
        </p:txBody>
      </p:sp>
      <p:sp>
        <p:nvSpPr>
          <p:cNvPr id="11" name="Oval 10"/>
          <p:cNvSpPr/>
          <p:nvPr/>
        </p:nvSpPr>
        <p:spPr>
          <a:xfrm>
            <a:off x="457200" y="3675887"/>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決算コール全文の詳細な質疑応答</a:t>
            </a:r>
          </a:p>
        </p:txBody>
      </p:sp>
      <p:sp>
        <p:nvSpPr>
          <p:cNvPr id="13" name="Oval 12"/>
          <p:cNvSpPr/>
          <p:nvPr/>
        </p:nvSpPr>
        <p:spPr>
          <a:xfrm>
            <a:off x="457200" y="4453127"/>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本テーマは特定企業(Analog Devices)の株式購入・投資を推奨するものではなく、報じられた経営指標の紹介にとどめる</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B7280"/>
                </a:solidFill>
                <a:latin typeface="Yu Gothic"/>
              </a:rPr>
              <a:t>出典: 本リサーチ(2026-08-19時点)</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StockTitan・Investing.com・GuruFocus(2026-08-19)</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25 / 30</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23292E"/>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566135"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F5D9A8"/>
                </a:solidFill>
                <a:latin typeface="Yu Gothic"/>
              </a:rPr>
              <a:t>利益面の伸び</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E8871E"/>
                </a:solidFill>
                <a:latin typeface="Yu Gothic"/>
              </a:rPr>
              <a:t>EPS3.45ドル(市場予想超え)</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市場予想3.34ドルを上回る</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D9A857"/>
                </a:solidFill>
                <a:latin typeface="Yu Gothic"/>
              </a:rPr>
              <a:t>出典: StockTitan(2026-08-19)</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525"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半導体大手としての位置づけ vs AI関連との断定回避</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3A4750"/>
                </a:solidFill>
                <a:latin typeface="Yu Gothic"/>
              </a:rPr>
              <a:t>確認できる事実</a:t>
            </a:r>
          </a:p>
        </p:txBody>
      </p:sp>
      <p:sp>
        <p:nvSpPr>
          <p:cNvPr id="9" name="Oval 8"/>
          <p:cNvSpPr/>
          <p:nvPr/>
        </p:nvSpPr>
        <p:spPr>
          <a:xfrm>
            <a:off x="777240" y="2532888"/>
            <a:ext cx="274320" cy="27432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1E2124"/>
                </a:solidFill>
                <a:latin typeface="Yu Gothic"/>
              </a:rPr>
              <a:t>売上高40%増・過去最高</a:t>
            </a:r>
          </a:p>
        </p:txBody>
      </p:sp>
      <p:sp>
        <p:nvSpPr>
          <p:cNvPr id="11" name="Oval 10"/>
          <p:cNvSpPr/>
          <p:nvPr/>
        </p:nvSpPr>
        <p:spPr>
          <a:xfrm>
            <a:off x="777240" y="3081528"/>
            <a:ext cx="274320" cy="27432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1E2124"/>
                </a:solidFill>
                <a:latin typeface="Yu Gothic"/>
              </a:rPr>
              <a:t>データセンター・インダストリアルが牽引役</a:t>
            </a:r>
          </a:p>
        </p:txBody>
      </p:sp>
      <p:sp>
        <p:nvSpPr>
          <p:cNvPr id="13" name="Oval 12"/>
          <p:cNvSpPr/>
          <p:nvPr/>
        </p:nvSpPr>
        <p:spPr>
          <a:xfrm>
            <a:off x="777240" y="3630168"/>
            <a:ext cx="274320" cy="27432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4" name="TextBox 13"/>
          <p:cNvSpPr txBox="1"/>
          <p:nvPr/>
        </p:nvSpPr>
        <p:spPr>
          <a:xfrm>
            <a:off x="1188720" y="3611880"/>
            <a:ext cx="4404207" cy="548640"/>
          </a:xfrm>
          <a:prstGeom prst="rect">
            <a:avLst/>
          </a:prstGeom>
          <a:noFill/>
        </p:spPr>
        <p:txBody>
          <a:bodyPr wrap="square" anchor="t" lIns="0" rIns="0" tIns="0" bIns="0">
            <a:spAutoFit/>
          </a:bodyPr>
          <a:lstStyle/>
          <a:p>
            <a:pPr algn="l">
              <a:lnSpc>
                <a:spcPct val="110000"/>
              </a:lnSpc>
            </a:pPr>
            <a:r>
              <a:rPr sz="1400" b="0">
                <a:solidFill>
                  <a:srgbClr val="1E2124"/>
                </a:solidFill>
                <a:latin typeface="Yu Gothic"/>
              </a:rPr>
              <a:t>次四半期も強気なガイダンス</a:t>
            </a:r>
          </a:p>
        </p:txBody>
      </p:sp>
      <p:sp>
        <p:nvSpPr>
          <p:cNvPr id="15" name="Rounded Rectangle 14"/>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278727" y="1554480"/>
            <a:ext cx="5455767" cy="420624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3A4750"/>
                </a:solidFill>
                <a:latin typeface="Yu Gothic"/>
              </a:rPr>
              <a:t>断定を避ける点</a:t>
            </a:r>
          </a:p>
        </p:txBody>
      </p:sp>
      <p:sp>
        <p:nvSpPr>
          <p:cNvPr id="18" name="Oval 17"/>
          <p:cNvSpPr/>
          <p:nvPr/>
        </p:nvSpPr>
        <p:spPr>
          <a:xfrm>
            <a:off x="6598767" y="2532888"/>
            <a:ext cx="274320" cy="27432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1E2124"/>
                </a:solidFill>
                <a:latin typeface="Yu Gothic"/>
              </a:rPr>
              <a:t>AI関連需要の具体的な比率は非開示</a:t>
            </a:r>
          </a:p>
        </p:txBody>
      </p:sp>
      <p:sp>
        <p:nvSpPr>
          <p:cNvPr id="20" name="Oval 19"/>
          <p:cNvSpPr/>
          <p:nvPr/>
        </p:nvSpPr>
        <p:spPr>
          <a:xfrm>
            <a:off x="6598767" y="3081528"/>
            <a:ext cx="274320" cy="27432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1" name="TextBox 20"/>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1E2124"/>
                </a:solidFill>
                <a:latin typeface="Yu Gothic"/>
              </a:rPr>
              <a:t>『AI需要が牽引した』とは断定しない</a:t>
            </a:r>
          </a:p>
        </p:txBody>
      </p:sp>
      <p:sp>
        <p:nvSpPr>
          <p:cNvPr id="22" name="Oval 21"/>
          <p:cNvSpPr/>
          <p:nvPr/>
        </p:nvSpPr>
        <p:spPr>
          <a:xfrm>
            <a:off x="6598767" y="3630168"/>
            <a:ext cx="274320" cy="27432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3" name="TextBox 22"/>
          <p:cNvSpPr txBox="1"/>
          <p:nvPr/>
        </p:nvSpPr>
        <p:spPr>
          <a:xfrm>
            <a:off x="7010247" y="3611880"/>
            <a:ext cx="4404207" cy="548640"/>
          </a:xfrm>
          <a:prstGeom prst="rect">
            <a:avLst/>
          </a:prstGeom>
          <a:noFill/>
        </p:spPr>
        <p:txBody>
          <a:bodyPr wrap="square" anchor="t" lIns="0" rIns="0" tIns="0" bIns="0">
            <a:spAutoFit/>
          </a:bodyPr>
          <a:lstStyle/>
          <a:p>
            <a:pPr algn="l">
              <a:lnSpc>
                <a:spcPct val="110000"/>
              </a:lnSpc>
            </a:pPr>
            <a:r>
              <a:rPr sz="1400" b="0">
                <a:solidFill>
                  <a:srgbClr val="1E2124"/>
                </a:solidFill>
                <a:latin typeface="Yu Gothic"/>
              </a:rPr>
              <a:t>セグメント別の詳細内訳は非開示</a:t>
            </a:r>
          </a:p>
        </p:txBody>
      </p:sp>
      <p:sp>
        <p:nvSpPr>
          <p:cNvPr id="24" name="TextBox 2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StockTitan・Investing.com・GuruFocus(2026-08-19)</a:t>
            </a:r>
          </a:p>
        </p:txBody>
      </p:sp>
      <p:sp>
        <p:nvSpPr>
          <p:cNvPr id="25" name="TextBox 2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27 / 30</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378915"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まとめ</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6B7280"/>
                </a:solidFill>
                <a:latin typeface="Yu Gothic"/>
              </a:rPr>
              <a:t>本編のまとめです。</a:t>
            </a:r>
          </a:p>
        </p:txBody>
      </p:sp>
      <p:sp>
        <p:nvSpPr>
          <p:cNvPr id="7" name="Oval 6"/>
          <p:cNvSpPr/>
          <p:nvPr/>
        </p:nvSpPr>
        <p:spPr>
          <a:xfrm>
            <a:off x="457200" y="212140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Analog Devicesの2026年度Q3決算は、売上高が前年比40%増・過去最高を記録し、市場予想を上回った</a:t>
            </a:r>
          </a:p>
        </p:txBody>
      </p:sp>
      <p:sp>
        <p:nvSpPr>
          <p:cNvPr id="9" name="Oval 8"/>
          <p:cNvSpPr/>
          <p:nvPr/>
        </p:nvSpPr>
        <p:spPr>
          <a:xfrm>
            <a:off x="457200" y="289864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EPSも市場予想を上回り、第4四半期のガイダンスも強気な水準に設定された</a:t>
            </a:r>
          </a:p>
        </p:txBody>
      </p:sp>
      <p:sp>
        <p:nvSpPr>
          <p:cNvPr id="11" name="Oval 10"/>
          <p:cNvSpPr/>
          <p:nvPr/>
        </p:nvSpPr>
        <p:spPr>
          <a:xfrm>
            <a:off x="457200" y="3675887"/>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データセンター・インダストリアル部門が牽引役とされたが、AI関連需要の具体的な比率は確認できていない</a:t>
            </a:r>
          </a:p>
        </p:txBody>
      </p:sp>
      <p:sp>
        <p:nvSpPr>
          <p:cNvPr id="13" name="Oval 12"/>
          <p:cNvSpPr/>
          <p:nvPr/>
        </p:nvSpPr>
        <p:spPr>
          <a:xfrm>
            <a:off x="457200" y="4453127"/>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断定的な『AI需要が牽引した』という表現は避け、確認できる事実の範囲で正直に整理した</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B7280"/>
                </a:solidFill>
                <a:latin typeface="Yu Gothic"/>
              </a:rPr>
              <a:t>出典: 本リサーチ(2026-08-19時点)</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StockTitan・Investing.com・GuruFocus(2026-08-19)</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28 / 30</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785305"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このニュースが読者にとって意味すること</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822960"/>
          </a:xfrm>
          <a:prstGeom prst="rect">
            <a:avLst/>
          </a:prstGeom>
          <a:noFill/>
        </p:spPr>
        <p:txBody>
          <a:bodyPr wrap="square" anchor="t" lIns="0" rIns="0" tIns="0" bIns="0">
            <a:spAutoFit/>
          </a:bodyPr>
          <a:lstStyle/>
          <a:p>
            <a:pPr algn="l"/>
            <a:r>
              <a:rPr sz="3400" b="1">
                <a:solidFill>
                  <a:srgbClr val="E8871E"/>
                </a:solidFill>
                <a:latin typeface="Yu Gothic"/>
              </a:rPr>
              <a:t>1</a:t>
            </a:r>
          </a:p>
        </p:txBody>
      </p:sp>
      <p:sp>
        <p:nvSpPr>
          <p:cNvPr id="9" name="TextBox 8"/>
          <p:cNvSpPr txBox="1"/>
          <p:nvPr/>
        </p:nvSpPr>
        <p:spPr>
          <a:xfrm>
            <a:off x="731520" y="2834640"/>
            <a:ext cx="2997098" cy="548640"/>
          </a:xfrm>
          <a:prstGeom prst="rect">
            <a:avLst/>
          </a:prstGeom>
          <a:noFill/>
        </p:spPr>
        <p:txBody>
          <a:bodyPr wrap="square" anchor="t" lIns="0" rIns="0" tIns="0" bIns="0">
            <a:spAutoFit/>
          </a:bodyPr>
          <a:lstStyle/>
          <a:p>
            <a:pPr algn="l"/>
            <a:r>
              <a:rPr sz="1600" b="1">
                <a:solidFill>
                  <a:srgbClr val="3A4750"/>
                </a:solidFill>
                <a:latin typeface="Yu Gothic"/>
              </a:rPr>
              <a:t>半導体業界の動向を追う立場として</a:t>
            </a:r>
          </a:p>
        </p:txBody>
      </p:sp>
      <p:sp>
        <p:nvSpPr>
          <p:cNvPr id="10" name="TextBox 9"/>
          <p:cNvSpPr txBox="1"/>
          <p:nvPr/>
        </p:nvSpPr>
        <p:spPr>
          <a:xfrm>
            <a:off x="731520" y="3520440"/>
            <a:ext cx="2997098" cy="1828800"/>
          </a:xfrm>
          <a:prstGeom prst="rect">
            <a:avLst/>
          </a:prstGeom>
          <a:noFill/>
        </p:spPr>
        <p:txBody>
          <a:bodyPr wrap="square" anchor="t" lIns="0" rIns="0" tIns="0" bIns="0">
            <a:spAutoFit/>
          </a:bodyPr>
          <a:lstStyle/>
          <a:p>
            <a:pPr algn="l">
              <a:lnSpc>
                <a:spcPct val="115000"/>
              </a:lnSpc>
            </a:pPr>
            <a:r>
              <a:rPr sz="1300" b="0">
                <a:solidFill>
                  <a:srgbClr val="6B7280"/>
                </a:solidFill>
                <a:latin typeface="Yu Gothic"/>
              </a:rPr>
              <a:t>データセンター・インダストリアル需要の拡大という具体的な成長事例として参考になる</a:t>
            </a:r>
          </a:p>
        </p:txBody>
      </p:sp>
      <p:sp>
        <p:nvSpPr>
          <p:cNvPr id="11" name="Rounded Rectangle 10"/>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22978" y="1554480"/>
            <a:ext cx="3545738" cy="393192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97298" y="1828800"/>
            <a:ext cx="2997098" cy="822960"/>
          </a:xfrm>
          <a:prstGeom prst="rect">
            <a:avLst/>
          </a:prstGeom>
          <a:noFill/>
        </p:spPr>
        <p:txBody>
          <a:bodyPr wrap="square" anchor="t" lIns="0" rIns="0" tIns="0" bIns="0">
            <a:spAutoFit/>
          </a:bodyPr>
          <a:lstStyle/>
          <a:p>
            <a:pPr algn="l"/>
            <a:r>
              <a:rPr sz="3400" b="1">
                <a:solidFill>
                  <a:srgbClr val="E8871E"/>
                </a:solidFill>
                <a:latin typeface="Yu Gothic"/>
              </a:rPr>
              <a:t>2</a:t>
            </a:r>
          </a:p>
        </p:txBody>
      </p:sp>
      <p:sp>
        <p:nvSpPr>
          <p:cNvPr id="14" name="TextBox 13"/>
          <p:cNvSpPr txBox="1"/>
          <p:nvPr/>
        </p:nvSpPr>
        <p:spPr>
          <a:xfrm>
            <a:off x="4597298" y="2834640"/>
            <a:ext cx="2997098" cy="548640"/>
          </a:xfrm>
          <a:prstGeom prst="rect">
            <a:avLst/>
          </a:prstGeom>
          <a:noFill/>
        </p:spPr>
        <p:txBody>
          <a:bodyPr wrap="square" anchor="t" lIns="0" rIns="0" tIns="0" bIns="0">
            <a:spAutoFit/>
          </a:bodyPr>
          <a:lstStyle/>
          <a:p>
            <a:pPr algn="l"/>
            <a:r>
              <a:rPr sz="1600" b="1">
                <a:solidFill>
                  <a:srgbClr val="3A4750"/>
                </a:solidFill>
                <a:latin typeface="Yu Gothic"/>
              </a:rPr>
              <a:t>AIインフラ投資の波及効果に関心がある立場として</a:t>
            </a:r>
          </a:p>
        </p:txBody>
      </p:sp>
      <p:sp>
        <p:nvSpPr>
          <p:cNvPr id="15" name="TextBox 14"/>
          <p:cNvSpPr txBox="1"/>
          <p:nvPr/>
        </p:nvSpPr>
        <p:spPr>
          <a:xfrm>
            <a:off x="4597298" y="3520440"/>
            <a:ext cx="2997098" cy="1828800"/>
          </a:xfrm>
          <a:prstGeom prst="rect">
            <a:avLst/>
          </a:prstGeom>
          <a:noFill/>
        </p:spPr>
        <p:txBody>
          <a:bodyPr wrap="square" anchor="t" lIns="0" rIns="0" tIns="0" bIns="0">
            <a:spAutoFit/>
          </a:bodyPr>
          <a:lstStyle/>
          <a:p>
            <a:pPr algn="l">
              <a:lnSpc>
                <a:spcPct val="115000"/>
              </a:lnSpc>
            </a:pPr>
            <a:r>
              <a:rPr sz="1300" b="0">
                <a:solidFill>
                  <a:srgbClr val="6B7280"/>
                </a:solidFill>
                <a:latin typeface="Yu Gothic"/>
              </a:rPr>
              <a:t>周辺半導体需要への波及の可能性を示す事例として参考になるが、断定は避ける必要がある</a:t>
            </a:r>
          </a:p>
        </p:txBody>
      </p:sp>
      <p:sp>
        <p:nvSpPr>
          <p:cNvPr id="16" name="Rounded Rectangle 15"/>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88756" y="1554480"/>
            <a:ext cx="3545738" cy="393192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63076" y="1828800"/>
            <a:ext cx="2997098" cy="822960"/>
          </a:xfrm>
          <a:prstGeom prst="rect">
            <a:avLst/>
          </a:prstGeom>
          <a:noFill/>
        </p:spPr>
        <p:txBody>
          <a:bodyPr wrap="square" anchor="t" lIns="0" rIns="0" tIns="0" bIns="0">
            <a:spAutoFit/>
          </a:bodyPr>
          <a:lstStyle/>
          <a:p>
            <a:pPr algn="l"/>
            <a:r>
              <a:rPr sz="3400" b="1">
                <a:solidFill>
                  <a:srgbClr val="E8871E"/>
                </a:solidFill>
                <a:latin typeface="Yu Gothic"/>
              </a:rPr>
              <a:t>3</a:t>
            </a:r>
          </a:p>
        </p:txBody>
      </p:sp>
      <p:sp>
        <p:nvSpPr>
          <p:cNvPr id="19" name="TextBox 18"/>
          <p:cNvSpPr txBox="1"/>
          <p:nvPr/>
        </p:nvSpPr>
        <p:spPr>
          <a:xfrm>
            <a:off x="8463076" y="2834640"/>
            <a:ext cx="2997098" cy="548640"/>
          </a:xfrm>
          <a:prstGeom prst="rect">
            <a:avLst/>
          </a:prstGeom>
          <a:noFill/>
        </p:spPr>
        <p:txBody>
          <a:bodyPr wrap="square" anchor="t" lIns="0" rIns="0" tIns="0" bIns="0">
            <a:spAutoFit/>
          </a:bodyPr>
          <a:lstStyle/>
          <a:p>
            <a:pPr algn="l"/>
            <a:r>
              <a:rPr sz="1600" b="1">
                <a:solidFill>
                  <a:srgbClr val="3A4750"/>
                </a:solidFill>
                <a:latin typeface="Yu Gothic"/>
              </a:rPr>
              <a:t>投資を検討する立場として</a:t>
            </a:r>
          </a:p>
        </p:txBody>
      </p:sp>
      <p:sp>
        <p:nvSpPr>
          <p:cNvPr id="20" name="TextBox 19"/>
          <p:cNvSpPr txBox="1"/>
          <p:nvPr/>
        </p:nvSpPr>
        <p:spPr>
          <a:xfrm>
            <a:off x="8463076" y="3520440"/>
            <a:ext cx="2997098" cy="1828800"/>
          </a:xfrm>
          <a:prstGeom prst="rect">
            <a:avLst/>
          </a:prstGeom>
          <a:noFill/>
        </p:spPr>
        <p:txBody>
          <a:bodyPr wrap="square" anchor="t" lIns="0" rIns="0" tIns="0" bIns="0">
            <a:spAutoFit/>
          </a:bodyPr>
          <a:lstStyle/>
          <a:p>
            <a:pPr algn="l">
              <a:lnSpc>
                <a:spcPct val="115000"/>
              </a:lnSpc>
            </a:pPr>
            <a:r>
              <a:rPr sz="1300" b="0">
                <a:solidFill>
                  <a:srgbClr val="6B7280"/>
                </a:solidFill>
                <a:latin typeface="Yu Gothic"/>
              </a:rPr>
              <a:t>市場予想を上回る実績とガイダンスの両方を確認しつつ、セグメント別内訳の非開示にも留意する必要がある</a:t>
            </a:r>
          </a:p>
        </p:txBody>
      </p:sp>
      <p:sp>
        <p:nvSpPr>
          <p:cNvPr id="21" name="TextBox 20"/>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StockTitan・Investing.com・GuruFocus(2026-08-19)</a:t>
            </a:r>
          </a:p>
        </p:txBody>
      </p:sp>
      <p:sp>
        <p:nvSpPr>
          <p:cNvPr id="22" name="TextBox 21"/>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29 / 30</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23292E"/>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0"/>
            <a:ext cx="11064240" cy="1463040"/>
          </a:xfrm>
          <a:prstGeom prst="rect">
            <a:avLst/>
          </a:prstGeom>
          <a:noFill/>
        </p:spPr>
        <p:txBody>
          <a:bodyPr wrap="square" anchor="t" lIns="0" rIns="0" tIns="0" bIns="0">
            <a:spAutoFit/>
          </a:bodyPr>
          <a:lstStyle/>
          <a:p>
            <a:pPr algn="l">
              <a:lnSpc>
                <a:spcPct val="115000"/>
              </a:lnSpc>
            </a:pPr>
            <a:r>
              <a:rPr sz="3600" b="1">
                <a:solidFill>
                  <a:srgbClr val="FFFFFF"/>
                </a:solidFill>
                <a:latin typeface="Yu Gothic"/>
              </a:rPr>
              <a:t>売上高、過去最高。AI時代の半導体需要を正直に読み解く。</a:t>
            </a:r>
          </a:p>
        </p:txBody>
      </p:sp>
      <p:sp>
        <p:nvSpPr>
          <p:cNvPr id="5" name="TextBox 4"/>
          <p:cNvSpPr txBox="1"/>
          <p:nvPr/>
        </p:nvSpPr>
        <p:spPr>
          <a:xfrm>
            <a:off x="548640" y="3291840"/>
            <a:ext cx="10515600" cy="914400"/>
          </a:xfrm>
          <a:prstGeom prst="rect">
            <a:avLst/>
          </a:prstGeom>
          <a:noFill/>
        </p:spPr>
        <p:txBody>
          <a:bodyPr wrap="square" anchor="t" lIns="0" rIns="0" tIns="0" bIns="0">
            <a:spAutoFit/>
          </a:bodyPr>
          <a:lstStyle/>
          <a:p>
            <a:pPr algn="l">
              <a:lnSpc>
                <a:spcPct val="120000"/>
              </a:lnSpc>
            </a:pPr>
            <a:r>
              <a:rPr sz="1800" b="0">
                <a:solidFill>
                  <a:srgbClr val="F5D9A8"/>
                </a:solidFill>
                <a:latin typeface="Yu Gothic"/>
              </a:rPr>
              <a:t>Analog Devicesの2026年度Q3決算は、売上高が前年比40%増・過去最高を記録し、市場予想を上回りました。データセンター需要のうちAI関連が占める具体的な比率は確認できていない点まで、出典付きで正直に整理してお届けしました。</a:t>
            </a:r>
          </a:p>
        </p:txBody>
      </p:sp>
      <p:sp>
        <p:nvSpPr>
          <p:cNvPr id="6" name="Rounded Rectangle 5"/>
          <p:cNvSpPr/>
          <p:nvPr/>
        </p:nvSpPr>
        <p:spPr>
          <a:xfrm>
            <a:off x="594360" y="4626864"/>
            <a:ext cx="7315200" cy="1005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48640" y="4572000"/>
            <a:ext cx="7315200" cy="100584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4828032"/>
            <a:ext cx="6766560" cy="548640"/>
          </a:xfrm>
          <a:prstGeom prst="rect">
            <a:avLst/>
          </a:prstGeom>
          <a:noFill/>
        </p:spPr>
        <p:txBody>
          <a:bodyPr wrap="square" anchor="t" lIns="0" rIns="0" tIns="0" bIns="0">
            <a:spAutoFit/>
          </a:bodyPr>
          <a:lstStyle/>
          <a:p>
            <a:pPr algn="l"/>
            <a:r>
              <a:rPr sz="1800" b="1">
                <a:solidFill>
                  <a:srgbClr val="3A4750"/>
                </a:solidFill>
                <a:latin typeface="Yu Gothic"/>
              </a:rPr>
              <a:t>research.mdで出典一覧・確認できなかったことの詳細を確認する</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