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2026年8月24日、今季限りで引退する錦織圭選手の現役最後の四大大会となる全米オープンの予選が開幕しました。何が起きているのか、出典付きで正確に整理してお届けします。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結論から確認します。錦織選手にとって現役最後の四大大会となる全米オープンの予選が、本日開幕しました。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今日は6つの流れでお伝えします。引退の経緯からワイルドカード、予選の仕組みまで、正確に事実を引用しながら整理します。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このテーマを扱う理由です。キャリアの集大成という節目に注目しました。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引退表明の経緯です。5月1日の表明後、ランキングは大きく後退しました。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ワイルドカードとは何かを確認します。今回の付与は非常に異例のケースです。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米国以外の選手にこのワイルドカードが与えられるのは、過去10年間で極めて異例のケースです。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予選から本戦までの流れを図にしました。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予選突破までの流れを3ステップでまとめました。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1回戦の対戦相手はオフナー選手です。試合はまだ行われていません。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2014年の快挙です。アジア人男子選手として初めての四大大会決勝進出でした。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2014年、アジア人男子選手として初めて四大大会の決勝に進出しました。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2016年・2018年にも4強入りしており、特に相性の良い大会でした。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錦織選手の全米オープンでの主な成績をまとめました。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テニスを追う立場にとっての意味です。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既存テーマ(混合ダブルス)と本テーマ(シングルス)の違いを対比しました。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ランキング後退の背景です。引退表明後は出場機会が減り、順位が後退していく仕組みです。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1回戦の対戦相手、オフナー選手は世界ランキング127位です。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予選は8月24日から27日まで、本戦は8月30日開幕予定です。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予選を突破するには3試合に勝つ必要があります。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全米オープン2026の日程をまとめました。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通常のケースと今回のケースを対比しました。極めて異例の対応です。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キャリアの集大成としての意味です。推測にとどまる部分は明確に区別してお伝えします。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今後注目される点です。試合結果はまだ出ていないため、推測で先取りはしません。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本編のまとめです。錦織圭選手の現役最後の四大大会について、出典付きで整理してお伝えしました。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錦織圭選手の現役最後の四大大会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錦織圭、</a:t>
            </a:r>
          </a:p>
          <a:p>
            <a:pPr algn="l">
              <a:lnSpc>
                <a:spcPct val="115000"/>
              </a:lnSpc>
            </a:pPr>
            <a:r>
              <a:rPr sz="4200" b="1">
                <a:solidFill>
                  <a:srgbClr val="FFFFFF"/>
                </a:solidFill>
                <a:latin typeface="Yu Gothic"/>
              </a:rPr>
              <a:t>現役最後の</a:t>
            </a:r>
          </a:p>
          <a:p>
            <a:pPr algn="l">
              <a:lnSpc>
                <a:spcPct val="115000"/>
              </a:lnSpc>
            </a:pPr>
            <a:r>
              <a:rPr sz="4200" b="1">
                <a:solidFill>
                  <a:srgbClr val="FFFFFF"/>
                </a:solidFill>
                <a:latin typeface="Yu Gothic"/>
              </a:rPr>
              <a:t>四大大会へ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2026年8月24日報道——全米オープン予選が本日開幕。出典付きで整理する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日本経済新聞・THE DIGEST(2026年8月24日)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現役最後の四大大会 全米オープン予選が本日開幕</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米国以外の選手には過去10年間で極めて異例のワイルドカード付与(2026年8月24日報道)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THE DIGEST(2026-08-24)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引退表明の経緯を確認する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異例のワイルドカードについて確認する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予選の仕組み・対戦相手を確認する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錦織選手と全米オープンの関係を確認する</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着手日当日(2026年8月24日)、日本の主要メディアが一斉に報じた話題である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『現役最後の四大大会』というキャリアの集大成にあたる出来事である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米国以外の選手には異例とされるワイルドカード付与という注目点がある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複数の独立したメディアが同じ中心事実を報じており、情報の一貫性を確認できた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日本経済新聞・THE DIGEST(2026-08-24)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引退表明の経緯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引退表明日</a:t>
                      </a:r>
                    </a:p>
                  </a:txBody>
                  <a:tcPr>
                    <a:solidFill>
                      <a:srgbClr val="FFFFFF"/>
                    </a:solidFill>
                  </a:tcPr>
                </a:tc>
                <a:tc>
                  <a:txBody>
                    <a:bodyPr/>
                    <a:lstStyle/>
                    <a:p>
                      <a:pPr>
                        <a:defRPr sz="1200">
                          <a:solidFill>
                            <a:srgbClr val="2A1712"/>
                          </a:solidFill>
                          <a:latin typeface="Yu Gothic"/>
                        </a:defRPr>
                      </a:pPr>
                      <a:r>
                        <a:t>2026年5月1日</a:t>
                      </a:r>
                    </a:p>
                  </a:txBody>
                  <a:tcPr>
                    <a:solidFill>
                      <a:srgbClr val="FFFFFF"/>
                    </a:solidFill>
                  </a:tcPr>
                </a:tc>
              </a:tr>
              <a:tr h="502920">
                <a:tc>
                  <a:txBody>
                    <a:bodyPr/>
                    <a:lstStyle/>
                    <a:p>
                      <a:pPr>
                        <a:defRPr sz="1200">
                          <a:solidFill>
                            <a:srgbClr val="2A1712"/>
                          </a:solidFill>
                          <a:latin typeface="Yu Gothic"/>
                        </a:defRPr>
                      </a:pPr>
                      <a:r>
                        <a:t>ランキング(5月4日更新)</a:t>
                      </a:r>
                    </a:p>
                  </a:txBody>
                  <a:tcPr>
                    <a:solidFill>
                      <a:srgbClr val="FBF3E6"/>
                    </a:solidFill>
                  </a:tcPr>
                </a:tc>
                <a:tc>
                  <a:txBody>
                    <a:bodyPr/>
                    <a:lstStyle/>
                    <a:p>
                      <a:pPr>
                        <a:defRPr sz="1200">
                          <a:solidFill>
                            <a:srgbClr val="2A1712"/>
                          </a:solidFill>
                          <a:latin typeface="Yu Gothic"/>
                        </a:defRPr>
                      </a:pPr>
                      <a:r>
                        <a:t>558位</a:t>
                      </a:r>
                    </a:p>
                  </a:txBody>
                  <a:tcPr>
                    <a:solidFill>
                      <a:srgbClr val="FBF3E6"/>
                    </a:solidFill>
                  </a:tcPr>
                </a:tc>
              </a:tr>
              <a:tr h="502920">
                <a:tc>
                  <a:txBody>
                    <a:bodyPr/>
                    <a:lstStyle/>
                    <a:p>
                      <a:pPr>
                        <a:defRPr sz="1200">
                          <a:solidFill>
                            <a:srgbClr val="2A1712"/>
                          </a:solidFill>
                          <a:latin typeface="Yu Gothic"/>
                        </a:defRPr>
                      </a:pPr>
                      <a:r>
                        <a:t>ランキング(5月25日更新)</a:t>
                      </a:r>
                    </a:p>
                  </a:txBody>
                  <a:tcPr>
                    <a:solidFill>
                      <a:srgbClr val="FFFFFF"/>
                    </a:solidFill>
                  </a:tcPr>
                </a:tc>
                <a:tc>
                  <a:txBody>
                    <a:bodyPr/>
                    <a:lstStyle/>
                    <a:p>
                      <a:pPr>
                        <a:defRPr sz="1200">
                          <a:solidFill>
                            <a:srgbClr val="2A1712"/>
                          </a:solidFill>
                          <a:latin typeface="Yu Gothic"/>
                        </a:defRPr>
                      </a:pPr>
                      <a:r>
                        <a:t>703位</a:t>
                      </a:r>
                    </a:p>
                  </a:txBody>
                  <a:tcPr>
                    <a:solidFill>
                      <a:srgbClr val="FFFFFF"/>
                    </a:solidFill>
                  </a:tcPr>
                </a:tc>
              </a:tr>
              <a:tr h="502920">
                <a:tc>
                  <a:txBody>
                    <a:bodyPr/>
                    <a:lstStyle/>
                    <a:p>
                      <a:pPr>
                        <a:defRPr sz="1200">
                          <a:solidFill>
                            <a:srgbClr val="2A1712"/>
                          </a:solidFill>
                          <a:latin typeface="Yu Gothic"/>
                        </a:defRPr>
                      </a:pPr>
                      <a:r>
                        <a:t>現役最後の四大大会</a:t>
                      </a:r>
                    </a:p>
                  </a:txBody>
                  <a:tcPr>
                    <a:solidFill>
                      <a:srgbClr val="FBF3E6"/>
                    </a:solidFill>
                  </a:tcPr>
                </a:tc>
                <a:tc>
                  <a:txBody>
                    <a:bodyPr/>
                    <a:lstStyle/>
                    <a:p>
                      <a:pPr>
                        <a:defRPr sz="1200">
                          <a:solidFill>
                            <a:srgbClr val="2A1712"/>
                          </a:solidFill>
                          <a:latin typeface="Yu Gothic"/>
                        </a:defRPr>
                      </a:pPr>
                      <a:r>
                        <a:t>全米オープン(2026年)</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tennis365.net(2026-08-24)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「ワイルドカード(主催者推薦)」とは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前提知識を確認します。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通常、四大大会の予選には世界ランキング等の基準で出場資格を得た選手のみが出場できる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大会主催者の裁量で、基準を満たさない選手にも特別に出場枠を与えることがあり、これを『ワイルドカード』と呼ぶ</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今回、米国以外の選手に全米オープン予選のワイルドカードが与えられたのは、過去10年間で極めて異例とされている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本調査による整理・THE DIGEST(2026-08-24)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異例のワイルドカード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過去10年間で異例 米国以外の選手への予選ワイルドカード付与</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錦織選手のこれまでの実績への敬意の表れとみられる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THE DIGEST(2026-08-24)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予選から本戦までの流れ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8月24日、予選開幕</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1回戦の相手はオフナー選手(世界127位)</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8月24日〜27日、予選3試合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3試合に勝利すると本戦出場権を獲得</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8月30日、本戦開幕</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予選突破が本戦出場の条件</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予選から本戦までの流れ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 DIGEST(2026-08-24)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予選突破までの3ステップ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1. 1回戦(オフナー選手)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8月25日以降に実施予定</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 2回戦・3回戦</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勝ち上がれば本戦圏内へ</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3. 本戦出場権獲得</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8月30日開幕の本戦へ</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1回戦の対戦相手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1回戦の詳細を確認します。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予選1回戦の対戦相手は、世界ランキング127位のセバスチャン・オフナー選手(オーストリア)に決定した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試合は8月25日以降に行われる予定である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本テーマ執筆時点(8月24日)では、試合結果はまだ出ていない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日本経済新聞・時事通信(2026-08-24)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確定していること</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予選開幕日・対戦相手(オフナー選手)</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ワイルドカードの異例性</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5月時点でのランキング推移(558位→703位)</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8月24日時点の最新ランキング</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1回戦の試合結果(本テーマ執筆時点で未実施)</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本人の直接コメント</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2014年全米オープンでの快挙</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錦織選手と全米オープンの関係を確認します。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錦織選手は2014年の全米オープンで、準決勝でノバク・ジョコビッチ選手を破った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この勝利により、アジア人男子選手として初めて四大大会シングルス決勝に進出した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全米オープンは、錦織選手にとって特に思い入れの深い大会である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2014年全米オープンでの快挙</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アジア人男子選手初 四大大会シングルス決勝進出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準決勝でノバク・ジョコビッチ選手を破っての快挙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本調査による整理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その後の全米オープンでの成績</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その後の成績も確認します。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錦織選手は2016年・2018年の全米オープンでも準決勝進出(4強入り)を果たしている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四大大会の中でも、全米オープンは錦織選手が特に好成績を残してきた舞台である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この大会が現役最後の四大大会となることに、特別な意味があると言える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錦織選手の全米オープンでの主な成績</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年</a:t>
                      </a:r>
                    </a:p>
                  </a:txBody>
                  <a:tcPr>
                    <a:solidFill>
                      <a:srgbClr val="7A1F2B"/>
                    </a:solidFill>
                  </a:tcPr>
                </a:tc>
                <a:tc>
                  <a:txBody>
                    <a:bodyPr/>
                    <a:lstStyle/>
                    <a:p>
                      <a:pPr>
                        <a:defRPr sz="1300" b="1">
                          <a:solidFill>
                            <a:srgbClr val="FFFFFF"/>
                          </a:solidFill>
                          <a:latin typeface="Yu Gothic"/>
                        </a:defRPr>
                      </a:pPr>
                      <a:r>
                        <a:t>成績</a:t>
                      </a:r>
                    </a:p>
                  </a:txBody>
                  <a:tcPr>
                    <a:solidFill>
                      <a:srgbClr val="7A1F2B"/>
                    </a:solidFill>
                  </a:tcPr>
                </a:tc>
              </a:tr>
              <a:tr h="502920">
                <a:tc>
                  <a:txBody>
                    <a:bodyPr/>
                    <a:lstStyle/>
                    <a:p>
                      <a:pPr>
                        <a:defRPr sz="1200">
                          <a:solidFill>
                            <a:srgbClr val="2A1712"/>
                          </a:solidFill>
                          <a:latin typeface="Yu Gothic"/>
                        </a:defRPr>
                      </a:pPr>
                      <a:r>
                        <a:t>2014年</a:t>
                      </a:r>
                    </a:p>
                  </a:txBody>
                  <a:tcPr>
                    <a:solidFill>
                      <a:srgbClr val="FFFFFF"/>
                    </a:solidFill>
                  </a:tcPr>
                </a:tc>
                <a:tc>
                  <a:txBody>
                    <a:bodyPr/>
                    <a:lstStyle/>
                    <a:p>
                      <a:pPr>
                        <a:defRPr sz="1200">
                          <a:solidFill>
                            <a:srgbClr val="2A1712"/>
                          </a:solidFill>
                          <a:latin typeface="Yu Gothic"/>
                        </a:defRPr>
                      </a:pPr>
                      <a:r>
                        <a:t>準優勝(アジア人男子初の四大大会決勝進出)</a:t>
                      </a:r>
                    </a:p>
                  </a:txBody>
                  <a:tcPr>
                    <a:solidFill>
                      <a:srgbClr val="FFFFFF"/>
                    </a:solidFill>
                  </a:tcPr>
                </a:tc>
              </a:tr>
              <a:tr h="502920">
                <a:tc>
                  <a:txBody>
                    <a:bodyPr/>
                    <a:lstStyle/>
                    <a:p>
                      <a:pPr>
                        <a:defRPr sz="1200">
                          <a:solidFill>
                            <a:srgbClr val="2A1712"/>
                          </a:solidFill>
                          <a:latin typeface="Yu Gothic"/>
                        </a:defRPr>
                      </a:pPr>
                      <a:r>
                        <a:t>2016年</a:t>
                      </a:r>
                    </a:p>
                  </a:txBody>
                  <a:tcPr>
                    <a:solidFill>
                      <a:srgbClr val="FBF3E6"/>
                    </a:solidFill>
                  </a:tcPr>
                </a:tc>
                <a:tc>
                  <a:txBody>
                    <a:bodyPr/>
                    <a:lstStyle/>
                    <a:p>
                      <a:pPr>
                        <a:defRPr sz="1200">
                          <a:solidFill>
                            <a:srgbClr val="2A1712"/>
                          </a:solidFill>
                          <a:latin typeface="Yu Gothic"/>
                        </a:defRPr>
                      </a:pPr>
                      <a:r>
                        <a:t>準決勝進出</a:t>
                      </a:r>
                    </a:p>
                  </a:txBody>
                  <a:tcPr>
                    <a:solidFill>
                      <a:srgbClr val="FBF3E6"/>
                    </a:solidFill>
                  </a:tcPr>
                </a:tc>
              </a:tr>
              <a:tr h="502920">
                <a:tc>
                  <a:txBody>
                    <a:bodyPr/>
                    <a:lstStyle/>
                    <a:p>
                      <a:pPr>
                        <a:defRPr sz="1200">
                          <a:solidFill>
                            <a:srgbClr val="2A1712"/>
                          </a:solidFill>
                          <a:latin typeface="Yu Gothic"/>
                        </a:defRPr>
                      </a:pPr>
                      <a:r>
                        <a:t>2018年</a:t>
                      </a:r>
                    </a:p>
                  </a:txBody>
                  <a:tcPr>
                    <a:solidFill>
                      <a:srgbClr val="FFFFFF"/>
                    </a:solidFill>
                  </a:tcPr>
                </a:tc>
                <a:tc>
                  <a:txBody>
                    <a:bodyPr/>
                    <a:lstStyle/>
                    <a:p>
                      <a:pPr>
                        <a:defRPr sz="1200">
                          <a:solidFill>
                            <a:srgbClr val="2A1712"/>
                          </a:solidFill>
                          <a:latin typeface="Yu Gothic"/>
                        </a:defRPr>
                      </a:pPr>
                      <a:r>
                        <a:t>準決勝進出</a:t>
                      </a:r>
                    </a:p>
                  </a:txBody>
                  <a:tcPr>
                    <a:solidFill>
                      <a:srgbClr val="FFFFFF"/>
                    </a:solidFill>
                  </a:tcPr>
                </a:tc>
              </a:tr>
              <a:tr h="502920">
                <a:tc>
                  <a:txBody>
                    <a:bodyPr/>
                    <a:lstStyle/>
                    <a:p>
                      <a:pPr>
                        <a:defRPr sz="1200">
                          <a:solidFill>
                            <a:srgbClr val="2A1712"/>
                          </a:solidFill>
                          <a:latin typeface="Yu Gothic"/>
                        </a:defRPr>
                      </a:pPr>
                      <a:r>
                        <a:t>2026年</a:t>
                      </a:r>
                    </a:p>
                  </a:txBody>
                  <a:tcPr>
                    <a:solidFill>
                      <a:srgbClr val="FBF3E6"/>
                    </a:solidFill>
                  </a:tcPr>
                </a:tc>
                <a:tc>
                  <a:txBody>
                    <a:bodyPr/>
                    <a:lstStyle/>
                    <a:p>
                      <a:pPr>
                        <a:defRPr sz="1200">
                          <a:solidFill>
                            <a:srgbClr val="2A1712"/>
                          </a:solidFill>
                          <a:latin typeface="Yu Gothic"/>
                        </a:defRPr>
                      </a:pPr>
                      <a:r>
                        <a:t>現役最後の四大大会として予選出場中</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視聴者にとっての意味—テニスを追う立場として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日本人選手のキャリア集大成の瞬間を、具体的な事実とともに知ることができる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『ワイルドカード』『予選から本戦への流れ』といったテニス大会の仕組みを実例を通じて学べる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確定した事実と、確認できていないこと(最新ランキング・試合結果等)を区別する視点が役立つ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既存テーマ(混合ダブルス)vs 本テーマ(シングルス)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既存テーマ(2026年8月3日制作)</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全米オープン混合ダブルスへの大坂なおみ選手とのペアエントリー</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本テーマ</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シングルスでの現役最後の四大大会</a:t>
            </a:r>
          </a:p>
        </p:txBody>
      </p:sp>
      <p:sp>
        <p:nvSpPr>
          <p:cNvPr id="16" name="Oval 15"/>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異例のワイルドカード・引退の経緯</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ランキング推移の背景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ランキング推移について確認します。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引退表明後、大会に出場しないことで獲得ポイントが失効し、ランキングが後退していく</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5月4日更新時点で558位、5月25日更新時点で703位まで後退した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8月24日時点の最新ランキングは本調査の範囲では確認できていない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tennis365.net(2026-08-24)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1回戦の対戦相手のランキング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世界127位 セバスチャン・オフナー選手(オーストリア)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予選1回戦の対戦相手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日本経済新聞・時事通信(2026-08-24)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2026年8月24日時点(着手日当日)での錦織選手の最新の世界ランキングは確認できていない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錦織選手本人の全米オープンへの直接コメントは確認できていない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予選1回戦(対オフナー選手)の実際の試合結果は、本テーマ執筆時点ではまだ出ていない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主な情報源</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報道内容</a:t>
                      </a:r>
                    </a:p>
                  </a:txBody>
                  <a:tcPr>
                    <a:solidFill>
                      <a:srgbClr val="7A1F2B"/>
                    </a:solidFill>
                  </a:tcPr>
                </a:tc>
              </a:tr>
              <a:tr h="502920">
                <a:tc>
                  <a:txBody>
                    <a:bodyPr/>
                    <a:lstStyle/>
                    <a:p>
                      <a:pPr>
                        <a:defRPr sz="1200">
                          <a:solidFill>
                            <a:srgbClr val="2A1712"/>
                          </a:solidFill>
                          <a:latin typeface="Yu Gothic"/>
                        </a:defRPr>
                      </a:pPr>
                      <a:r>
                        <a:t>日本経済新聞(2026-08-24)</a:t>
                      </a:r>
                    </a:p>
                  </a:txBody>
                  <a:tcPr>
                    <a:solidFill>
                      <a:srgbClr val="FFFFFF"/>
                    </a:solidFill>
                  </a:tcPr>
                </a:tc>
                <a:tc>
                  <a:txBody>
                    <a:bodyPr/>
                    <a:lstStyle/>
                    <a:p>
                      <a:pPr>
                        <a:defRPr sz="1200">
                          <a:solidFill>
                            <a:srgbClr val="2A1712"/>
                          </a:solidFill>
                          <a:latin typeface="Yu Gothic"/>
                        </a:defRPr>
                      </a:pPr>
                      <a:r>
                        <a:t>対戦相手・予選組み合わせの詳細</a:t>
                      </a:r>
                    </a:p>
                  </a:txBody>
                  <a:tcPr>
                    <a:solidFill>
                      <a:srgbClr val="FFFFFF"/>
                    </a:solidFill>
                  </a:tcPr>
                </a:tc>
              </a:tr>
              <a:tr h="502920">
                <a:tc>
                  <a:txBody>
                    <a:bodyPr/>
                    <a:lstStyle/>
                    <a:p>
                      <a:pPr>
                        <a:defRPr sz="1200">
                          <a:solidFill>
                            <a:srgbClr val="2A1712"/>
                          </a:solidFill>
                          <a:latin typeface="Yu Gothic"/>
                        </a:defRPr>
                      </a:pPr>
                      <a:r>
                        <a:t>THE DIGEST(2026-08-24)</a:t>
                      </a:r>
                    </a:p>
                  </a:txBody>
                  <a:tcPr>
                    <a:solidFill>
                      <a:srgbClr val="FBF3E6"/>
                    </a:solidFill>
                  </a:tcPr>
                </a:tc>
                <a:tc>
                  <a:txBody>
                    <a:bodyPr/>
                    <a:lstStyle/>
                    <a:p>
                      <a:pPr>
                        <a:defRPr sz="1200">
                          <a:solidFill>
                            <a:srgbClr val="2A1712"/>
                          </a:solidFill>
                          <a:latin typeface="Yu Gothic"/>
                        </a:defRPr>
                      </a:pPr>
                      <a:r>
                        <a:t>ワイルドカードの異例性・予選の仕組み</a:t>
                      </a:r>
                    </a:p>
                  </a:txBody>
                  <a:tcPr>
                    <a:solidFill>
                      <a:srgbClr val="FBF3E6"/>
                    </a:solidFill>
                  </a:tcPr>
                </a:tc>
              </a:tr>
              <a:tr h="502920">
                <a:tc>
                  <a:txBody>
                    <a:bodyPr/>
                    <a:lstStyle/>
                    <a:p>
                      <a:pPr>
                        <a:defRPr sz="1200">
                          <a:solidFill>
                            <a:srgbClr val="2A1712"/>
                          </a:solidFill>
                          <a:latin typeface="Yu Gothic"/>
                        </a:defRPr>
                      </a:pPr>
                      <a:r>
                        <a:t>tennis365.net(2026-08-24)</a:t>
                      </a:r>
                    </a:p>
                  </a:txBody>
                  <a:tcPr>
                    <a:solidFill>
                      <a:srgbClr val="FFFFFF"/>
                    </a:solidFill>
                  </a:tcPr>
                </a:tc>
                <a:tc>
                  <a:txBody>
                    <a:bodyPr/>
                    <a:lstStyle/>
                    <a:p>
                      <a:pPr>
                        <a:defRPr sz="1200">
                          <a:solidFill>
                            <a:srgbClr val="2A1712"/>
                          </a:solidFill>
                          <a:latin typeface="Yu Gothic"/>
                        </a:defRPr>
                      </a:pPr>
                      <a:r>
                        <a:t>引退表明の経緯・ランキング推移</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日本人選手の海外での活躍を追う立場として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キャリア集大成の瞬間を、具体的な事実とともに把握できる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テニスファンの立場として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ワイルドカード制度・予選の仕組みを実例を通じて理解できる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確定した事実と、確認できていない最新情報を明確に区別する視点が役立つ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予選の日程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8月24日〜27日 全米オープン予選の期間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本戦は8月30日開幕予定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THE DIGEST(2026-08-24)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予選突破に必要な勝利数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3勝 本戦出場権獲得に必要な予選勝利数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8月24日〜27日の期間で決着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THE DIGEST(2026-08-24)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全米オープン2026の日程まとめ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8月24日</a:t>
                      </a:r>
                    </a:p>
                  </a:txBody>
                  <a:tcPr>
                    <a:solidFill>
                      <a:srgbClr val="FFFFFF"/>
                    </a:solidFill>
                  </a:tcPr>
                </a:tc>
                <a:tc>
                  <a:txBody>
                    <a:bodyPr/>
                    <a:lstStyle/>
                    <a:p>
                      <a:pPr>
                        <a:defRPr sz="1200">
                          <a:solidFill>
                            <a:srgbClr val="2A1712"/>
                          </a:solidFill>
                          <a:latin typeface="Yu Gothic"/>
                        </a:defRPr>
                      </a:pPr>
                      <a:r>
                        <a:t>予選開幕(1回戦)</a:t>
                      </a:r>
                    </a:p>
                  </a:txBody>
                  <a:tcPr>
                    <a:solidFill>
                      <a:srgbClr val="FFFFFF"/>
                    </a:solidFill>
                  </a:tcPr>
                </a:tc>
              </a:tr>
              <a:tr h="502920">
                <a:tc>
                  <a:txBody>
                    <a:bodyPr/>
                    <a:lstStyle/>
                    <a:p>
                      <a:pPr>
                        <a:defRPr sz="1200">
                          <a:solidFill>
                            <a:srgbClr val="2A1712"/>
                          </a:solidFill>
                          <a:latin typeface="Yu Gothic"/>
                        </a:defRPr>
                      </a:pPr>
                      <a:r>
                        <a:t>8月25日以降</a:t>
                      </a:r>
                    </a:p>
                  </a:txBody>
                  <a:tcPr>
                    <a:solidFill>
                      <a:srgbClr val="FBF3E6"/>
                    </a:solidFill>
                  </a:tcPr>
                </a:tc>
                <a:tc>
                  <a:txBody>
                    <a:bodyPr/>
                    <a:lstStyle/>
                    <a:p>
                      <a:pPr>
                        <a:defRPr sz="1200">
                          <a:solidFill>
                            <a:srgbClr val="2A1712"/>
                          </a:solidFill>
                          <a:latin typeface="Yu Gothic"/>
                        </a:defRPr>
                      </a:pPr>
                      <a:r>
                        <a:t>錦織選手の1回戦(対オフナー選手)予定</a:t>
                      </a:r>
                    </a:p>
                  </a:txBody>
                  <a:tcPr>
                    <a:solidFill>
                      <a:srgbClr val="FBF3E6"/>
                    </a:solidFill>
                  </a:tcPr>
                </a:tc>
              </a:tr>
              <a:tr h="502920">
                <a:tc>
                  <a:txBody>
                    <a:bodyPr/>
                    <a:lstStyle/>
                    <a:p>
                      <a:pPr>
                        <a:defRPr sz="1200">
                          <a:solidFill>
                            <a:srgbClr val="2A1712"/>
                          </a:solidFill>
                          <a:latin typeface="Yu Gothic"/>
                        </a:defRPr>
                      </a:pPr>
                      <a:r>
                        <a:t>8月27日</a:t>
                      </a:r>
                    </a:p>
                  </a:txBody>
                  <a:tcPr>
                    <a:solidFill>
                      <a:srgbClr val="FFFFFF"/>
                    </a:solidFill>
                  </a:tcPr>
                </a:tc>
                <a:tc>
                  <a:txBody>
                    <a:bodyPr/>
                    <a:lstStyle/>
                    <a:p>
                      <a:pPr>
                        <a:defRPr sz="1200">
                          <a:solidFill>
                            <a:srgbClr val="2A1712"/>
                          </a:solidFill>
                          <a:latin typeface="Yu Gothic"/>
                        </a:defRPr>
                      </a:pPr>
                      <a:r>
                        <a:t>予選終了予定</a:t>
                      </a:r>
                    </a:p>
                  </a:txBody>
                  <a:tcPr>
                    <a:solidFill>
                      <a:srgbClr val="FFFFFF"/>
                    </a:solidFill>
                  </a:tcPr>
                </a:tc>
              </a:tr>
              <a:tr h="502920">
                <a:tc>
                  <a:txBody>
                    <a:bodyPr/>
                    <a:lstStyle/>
                    <a:p>
                      <a:pPr>
                        <a:defRPr sz="1200">
                          <a:solidFill>
                            <a:srgbClr val="2A1712"/>
                          </a:solidFill>
                          <a:latin typeface="Yu Gothic"/>
                        </a:defRPr>
                      </a:pPr>
                      <a:r>
                        <a:t>8月30日</a:t>
                      </a:r>
                    </a:p>
                  </a:txBody>
                  <a:tcPr>
                    <a:solidFill>
                      <a:srgbClr val="FBF3E6"/>
                    </a:solidFill>
                  </a:tcPr>
                </a:tc>
                <a:tc>
                  <a:txBody>
                    <a:bodyPr/>
                    <a:lstStyle/>
                    <a:p>
                      <a:pPr>
                        <a:defRPr sz="1200">
                          <a:solidFill>
                            <a:srgbClr val="2A1712"/>
                          </a:solidFill>
                          <a:latin typeface="Yu Gothic"/>
                        </a:defRPr>
                      </a:pPr>
                      <a:r>
                        <a:t>本戦開幕予定</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 DIGEST(2026-08-24)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予選出場資格 通常 vs 今回</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通常のケース</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世界ランキング等の基準で出場資格を得る</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米国以外の選手へのワイルドカードは過去10年間で前例なし</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今回のケース</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錦織選手にワイルドカードが付与された</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現役最後の四大大会への配慮とみられる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キャリアの集大成としての意味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この出来事の意味を確認します。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現役最後の四大大会が、自身にとって最も好成績を残してきた全米オープンであることは、キャリアの集大成として象徴的な出来事と言える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異例のワイルドカード付与は、テニス界における錦織選手の実績への敬意を示すものと考えられる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ただし大会側の具体的な選定理由の公式な説明は、本調査の範囲では確認できていない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今後注目される点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1回戦(対オフナー選手)の結果、そして予選を突破できるかが直接の注目点である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本戦に進出できれば、現役最後の四大大会本戦という舞台での戦いが見られることになる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具体的な試合結果は本テーマ執筆時点ではまだ出ておらず、推測で先取りしない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本編のまとめです。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2026年8月24日、今季限りで引退する錦織圭選手の現役最後の四大大会、全米オープンの予選が開幕した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米国以外の選手には過去10年間で極めて異例とされるワイルドカードが付与された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1回戦の対戦相手は世界127位のオフナー選手で、試合は8月25日以降に行われる予定である</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錦織選手は2014年に準優勝、2016年・2018年にも準決勝進出と、全米オープンで特に好成績を残してきた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日本経済新聞・THE DIGEST等(2026-08-24)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錦織圭、現役最後の四大大会へ。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2026年8月24日、今季限りで引退する錦織圭選手の現役最後の四大大会、全米オープンの予選が開幕しました。異例のワイルドカード付与という事実を、出典付きで整理してお届けしました。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