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サムスン電子が2026年8月19日、AI需要の急増を背景に先端半導体の受託製造価格を最大15%引き上げたことが報じられました。今日はこの値上げの中身を出典付きで整理してお届けします。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結論から確認します。サムスンは先端チップ製造価格を新規受注分について最大15%引き上げました。2022年以降赤字続きとされるファウンドリ事業にとって転機となる可能性があります。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今日は6つの流れでお伝えします。値上げの内容から、背景にあるAI需要、Googleとの協議報道まで、正確に数字を引用しながら整理します。誇張せず、確認できなかったことは正直にお伝えします。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このテーマを扱う理由です。高い鮮度に加え、赤字続きの事業が値上げに転じるという転機のストーリー、AI需要の波及という点に注目しました。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ファウンドリ事業は、他社の設計したチップをサムスンの工場で製造し供給する事業です。業界推計では2022年以降赤字が続いているとされます。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今回の値上げの概要です。4nm・5nm・8nmの各プロセスで、地域によって幅は異なりますが、最大15%の値上げが報じられています。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4nmプロセスの値上げは7月から始まっていましたが、全体像が広く報じられたのは8月19日です。値上げは新規受注分が対象です。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最大の値上げ幅は15%で、中国・米国向けの4nm・5nmプロセスが対象です。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地域によって値上げ幅に差があり、中国・米国向けが最も高くなっています。詳細な算出根拠までは確認できていません。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中国・米国向けと台湾向けを対比しました。中国・米国向けの方が高い値上げ幅となっています。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値上げの背景には、AI需要の急増に加え、自社チップ生産分の確保や供給義務など複数の要因があります。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米国の輸出規制が背景として指摘されていますが、本テーマではその是非を評価せず、事実としてのみ紹介します。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サムスンのファウンドリ事業は、業界推計で2022年以降赤字が続いているとされています。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Googleがサムスンとチップ製造について協議中と報じられていますが、正式契約に至っているかは確認できていません。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今回の値上げに至る流れを図にしました。赤字続きの事業から、AI需要による受注増、そして今回の値上げ報道という流れです。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今回の報道を3ステップで総括しました。最大15%の値上げ、地域差、そして赤字続きの事業の転機という流れです。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AI需要を背景に業界全体で価格上昇の動きがあるとされていますが、他社との詳細な比較は行っていません。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今回の値上げは4nm・5nm・8nmの3プロセスにまたがっており、先端から旧世代まで幅広く対象となっています。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先端プロセスと旧世代プロセスを対比しました。先端プロセスの方がより高い値上げ幅となっています。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今回の報道の要点をまとめました。値上げ幅、対象プロセス、背景、そしてGoogleとの協議報道という4点です。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今後の見どころとして、Google協議の行方や黒字化の時期が挙げられますが、いずれも現時点では確認できていません。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業界推計によれば、サムスンのファウンドリ事業は約4年間赤字が続いているとされています。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TSMCも同様に価格引き上げを計画していると一部で報じられており、業界全体の値上げ傾向の一例として参考情報を添えます。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サムスンはメモリ(DRAM・NAND)事業の好調に続き、ファウンドリ事業の収益改善が次の焦点とされています。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サムスンは自社向け生産分の確保や米国顧客への供給義務もあり、全ての受注に応えきれていない状況とされます。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確認できなかったことを正直にお伝えします。Google協議の契約有無、具体的な赤字額、発注行動の変化は確認できていません。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確認できている事実と、今後の不確定要素を対比しました。確定事実と未確定要素を明確に区別してお伝えします。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このニュースが読者にとって意味することをまとめました。半導体業界を追う立場、投資に関心がある立場、半導体利用製品に携わる立場、それぞれで意識したい視点です。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まとめです。最大15%の値上げとAI需要という背景、赤字続きの事業の転機、そして確認できていない点を正直にお伝えしました。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サムスンのファウンドリ価格引き上げについて、AI需要が生んだ転機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赤字続きの部門が</a:t>
            </a:r>
          </a:p>
          <a:p>
            <a:pPr algn="l">
              <a:lnSpc>
                <a:spcPct val="115000"/>
              </a:lnSpc>
            </a:pPr>
            <a:r>
              <a:rPr sz="4200" b="1">
                <a:solidFill>
                  <a:srgbClr val="FFFFFF"/>
                </a:solidFill>
                <a:latin typeface="Yu Gothic"/>
              </a:rPr>
              <a:t>まさかの値上げ。</a:t>
            </a:r>
          </a:p>
          <a:p>
            <a:pPr algn="l">
              <a:lnSpc>
                <a:spcPct val="115000"/>
              </a:lnSpc>
            </a:pPr>
            <a:r>
              <a:rPr sz="4200" b="1">
                <a:solidFill>
                  <a:srgbClr val="FFFFFF"/>
                </a:solidFill>
                <a:latin typeface="Yu Gothic"/>
              </a:rPr>
              <a:t>AI需要が生んだ転機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2026年8月19日報道——Samsung、先端チップ製造価格を最大15%引き上げ</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Sammyfans・Reuters(KFGO配信)(2026年8月19日)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先端チップ製造価格を最大15%引き上げ</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2022年以降赤字続きとされるファウンドリ事業に転機(2026年8月19日報道)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Sammyfans・Reuters(2026-08-19)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サムスンのファウンドリ事業とは・基礎知識</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今回の値上げの内容を確認する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値上げの背景・地域別の違いを確認する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Googleとの協議報道・今後の展望を確認する</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着手日当日(2026年8月19日)報道という最も高い鮮度の話題である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『赤字続きの事業が値上げに転じる』という分かりやすい転機のストーリーである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AI需要がチップ製造業界にどう波及しているかを示す具体的な事例である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複数の独立した情報源(Sammyfans・Reuters等)で確認できる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Sammyfans・Reuters(2026-08-19)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サムスンのファウンドリ事業とは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サムスン電子が展開する半導体の受託製造(ファウンドリ)事業</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他社の設計したチップを、サムスンの工場で製造し供給する事業モデル</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TSMCなどと並ぶ世界的な受託製造企業の一つ</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業界推計では2022年以降、赤字が続いているとされる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Sammyfans・Reuters(2026-08-19)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今回の値上げの概要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プロセス</a:t>
                      </a:r>
                    </a:p>
                  </a:txBody>
                  <a:tcPr>
                    <a:solidFill>
                      <a:srgbClr val="24523F"/>
                    </a:solidFill>
                  </a:tcPr>
                </a:tc>
                <a:tc>
                  <a:txBody>
                    <a:bodyPr/>
                    <a:lstStyle/>
                    <a:p>
                      <a:pPr>
                        <a:defRPr sz="1300" b="1">
                          <a:solidFill>
                            <a:srgbClr val="FFFFFF"/>
                          </a:solidFill>
                          <a:latin typeface="Yu Gothic"/>
                        </a:defRPr>
                      </a:pPr>
                      <a:r>
                        <a:t>値上げ幅</a:t>
                      </a:r>
                    </a:p>
                  </a:txBody>
                  <a:tcPr>
                    <a:solidFill>
                      <a:srgbClr val="24523F"/>
                    </a:solidFill>
                  </a:tcPr>
                </a:tc>
              </a:tr>
              <a:tr h="502920">
                <a:tc>
                  <a:txBody>
                    <a:bodyPr/>
                    <a:lstStyle/>
                    <a:p>
                      <a:pPr>
                        <a:defRPr sz="1200">
                          <a:solidFill>
                            <a:srgbClr val="20261F"/>
                          </a:solidFill>
                          <a:latin typeface="Yu Gothic"/>
                        </a:defRPr>
                      </a:pPr>
                      <a:r>
                        <a:t>4nm(SF4)</a:t>
                      </a:r>
                    </a:p>
                  </a:txBody>
                  <a:tcPr>
                    <a:solidFill>
                      <a:srgbClr val="FFFFFF"/>
                    </a:solidFill>
                  </a:tcPr>
                </a:tc>
                <a:tc>
                  <a:txBody>
                    <a:bodyPr/>
                    <a:lstStyle/>
                    <a:p>
                      <a:pPr>
                        <a:defRPr sz="1200">
                          <a:solidFill>
                            <a:srgbClr val="20261F"/>
                          </a:solidFill>
                          <a:latin typeface="Yu Gothic"/>
                        </a:defRPr>
                      </a:pPr>
                      <a:r>
                        <a:t>中国・米国向け10〜15%、台湾向け5〜10%</a:t>
                      </a:r>
                    </a:p>
                  </a:txBody>
                  <a:tcPr>
                    <a:solidFill>
                      <a:srgbClr val="FFFFFF"/>
                    </a:solidFill>
                  </a:tcPr>
                </a:tc>
              </a:tr>
              <a:tr h="502920">
                <a:tc>
                  <a:txBody>
                    <a:bodyPr/>
                    <a:lstStyle/>
                    <a:p>
                      <a:pPr>
                        <a:defRPr sz="1200">
                          <a:solidFill>
                            <a:srgbClr val="20261F"/>
                          </a:solidFill>
                          <a:latin typeface="Yu Gothic"/>
                        </a:defRPr>
                      </a:pPr>
                      <a:r>
                        <a:t>5nm(SF5)</a:t>
                      </a:r>
                    </a:p>
                  </a:txBody>
                  <a:tcPr>
                    <a:solidFill>
                      <a:srgbClr val="F4F1E6"/>
                    </a:solidFill>
                  </a:tcPr>
                </a:tc>
                <a:tc>
                  <a:txBody>
                    <a:bodyPr/>
                    <a:lstStyle/>
                    <a:p>
                      <a:pPr>
                        <a:defRPr sz="1200">
                          <a:solidFill>
                            <a:srgbClr val="20261F"/>
                          </a:solidFill>
                          <a:latin typeface="Yu Gothic"/>
                        </a:defRPr>
                      </a:pPr>
                      <a:r>
                        <a:t>10〜15%</a:t>
                      </a:r>
                    </a:p>
                  </a:txBody>
                  <a:tcPr>
                    <a:solidFill>
                      <a:srgbClr val="F4F1E6"/>
                    </a:solidFill>
                  </a:tcPr>
                </a:tc>
              </a:tr>
              <a:tr h="502920">
                <a:tc>
                  <a:txBody>
                    <a:bodyPr/>
                    <a:lstStyle/>
                    <a:p>
                      <a:pPr>
                        <a:defRPr sz="1200">
                          <a:solidFill>
                            <a:srgbClr val="20261F"/>
                          </a:solidFill>
                          <a:latin typeface="Yu Gothic"/>
                        </a:defRPr>
                      </a:pPr>
                      <a:r>
                        <a:t>8nm(旧世代)</a:t>
                      </a:r>
                    </a:p>
                  </a:txBody>
                  <a:tcPr>
                    <a:solidFill>
                      <a:srgbClr val="FFFFFF"/>
                    </a:solidFill>
                  </a:tcPr>
                </a:tc>
                <a:tc>
                  <a:txBody>
                    <a:bodyPr/>
                    <a:lstStyle/>
                    <a:p>
                      <a:pPr>
                        <a:defRPr sz="1200">
                          <a:solidFill>
                            <a:srgbClr val="20261F"/>
                          </a:solidFill>
                          <a:latin typeface="Yu Gothic"/>
                        </a:defRPr>
                      </a:pPr>
                      <a:r>
                        <a:t>約10%</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Sammyfans・Reuters(2026-08-19)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値上げの時系列</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値上げに至る経緯です。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4nm(SF4)プロセスの一部新規受注価格は、7月にすでに引き上げられていた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5nm・8nm等を含む値上げの全体像が、8月19日に広く報じられた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本テーマは、この全体像が明らかになった8月19日の報道を基準として扱う</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値上げは既存契約ではなく、新規受注分が対象とされる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Sammyfans・Reuters(2026-08-19)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最大値上げ幅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15%</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中国・米国向け4nm・5nmプロセスで最大幅</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Sammyfans・Reuters(2026-08-19)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地域別の値上げ幅の違い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地域による差についてです。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中国・米国向けは10〜15%と、他地域より高い値上げ幅</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台湾向けは5〜10%と、相対的に低い値上げ幅</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中国の顧客からの需要が特に強く、最も高い値上げ幅を受け入れているとされる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地域別の値上げ幅の差の詳細な算出根拠は本調査の範囲では確認できていない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Sammyfans・Reuters(2026-08-19)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中国・米国向け vs 台湾向け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中国・米国向け</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SF4: 10〜15%値上げ</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需要が特に強い</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最も高い値上げ幅を受け入れ</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台湾向け</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SF4: 5〜10%値上げ</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相対的に低い値上げ幅</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地域差の詳細な根拠は未確認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値上げの背景要因</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要因</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AI需要の急増</a:t>
                      </a:r>
                    </a:p>
                  </a:txBody>
                  <a:tcPr>
                    <a:solidFill>
                      <a:srgbClr val="FFFFFF"/>
                    </a:solidFill>
                  </a:tcPr>
                </a:tc>
                <a:tc>
                  <a:txBody>
                    <a:bodyPr/>
                    <a:lstStyle/>
                    <a:p>
                      <a:pPr>
                        <a:defRPr sz="1200">
                          <a:solidFill>
                            <a:srgbClr val="20261F"/>
                          </a:solidFill>
                          <a:latin typeface="Yu Gothic"/>
                        </a:defRPr>
                      </a:pPr>
                      <a:r>
                        <a:t>受注が増加し供給が追いつかない状況</a:t>
                      </a:r>
                    </a:p>
                  </a:txBody>
                  <a:tcPr>
                    <a:solidFill>
                      <a:srgbClr val="FFFFFF"/>
                    </a:solidFill>
                  </a:tcPr>
                </a:tc>
              </a:tr>
              <a:tr h="502920">
                <a:tc>
                  <a:txBody>
                    <a:bodyPr/>
                    <a:lstStyle/>
                    <a:p>
                      <a:pPr>
                        <a:defRPr sz="1200">
                          <a:solidFill>
                            <a:srgbClr val="20261F"/>
                          </a:solidFill>
                          <a:latin typeface="Yu Gothic"/>
                        </a:defRPr>
                      </a:pPr>
                      <a:r>
                        <a:t>自社チップ生産分の確保</a:t>
                      </a:r>
                    </a:p>
                  </a:txBody>
                  <a:tcPr>
                    <a:solidFill>
                      <a:srgbClr val="F4F1E6"/>
                    </a:solidFill>
                  </a:tcPr>
                </a:tc>
                <a:tc>
                  <a:txBody>
                    <a:bodyPr/>
                    <a:lstStyle/>
                    <a:p>
                      <a:pPr>
                        <a:defRPr sz="1200">
                          <a:solidFill>
                            <a:srgbClr val="20261F"/>
                          </a:solidFill>
                          <a:latin typeface="Yu Gothic"/>
                        </a:defRPr>
                      </a:pPr>
                      <a:r>
                        <a:t>全ての受注に応えられない一因</a:t>
                      </a:r>
                    </a:p>
                  </a:txBody>
                  <a:tcPr>
                    <a:solidFill>
                      <a:srgbClr val="F4F1E6"/>
                    </a:solidFill>
                  </a:tcPr>
                </a:tc>
              </a:tr>
              <a:tr h="502920">
                <a:tc>
                  <a:txBody>
                    <a:bodyPr/>
                    <a:lstStyle/>
                    <a:p>
                      <a:pPr>
                        <a:defRPr sz="1200">
                          <a:solidFill>
                            <a:srgbClr val="20261F"/>
                          </a:solidFill>
                          <a:latin typeface="Yu Gothic"/>
                        </a:defRPr>
                      </a:pPr>
                      <a:r>
                        <a:t>米国顧客への供給義務</a:t>
                      </a:r>
                    </a:p>
                  </a:txBody>
                  <a:tcPr>
                    <a:solidFill>
                      <a:srgbClr val="FFFFFF"/>
                    </a:solidFill>
                  </a:tcPr>
                </a:tc>
                <a:tc>
                  <a:txBody>
                    <a:bodyPr/>
                    <a:lstStyle/>
                    <a:p>
                      <a:pPr>
                        <a:defRPr sz="1200">
                          <a:solidFill>
                            <a:srgbClr val="20261F"/>
                          </a:solidFill>
                          <a:latin typeface="Yu Gothic"/>
                        </a:defRPr>
                      </a:pPr>
                      <a:r>
                        <a:t>供給の優先順位に影響</a:t>
                      </a:r>
                    </a:p>
                  </a:txBody>
                  <a:tcPr>
                    <a:solidFill>
                      <a:srgbClr val="FFFFFF"/>
                    </a:solidFill>
                  </a:tcPr>
                </a:tc>
              </a:tr>
              <a:tr h="502920">
                <a:tc>
                  <a:txBody>
                    <a:bodyPr/>
                    <a:lstStyle/>
                    <a:p>
                      <a:pPr>
                        <a:defRPr sz="1200">
                          <a:solidFill>
                            <a:srgbClr val="20261F"/>
                          </a:solidFill>
                          <a:latin typeface="Yu Gothic"/>
                        </a:defRPr>
                      </a:pPr>
                      <a:r>
                        <a:t>中国の対外ファウンドリ依存</a:t>
                      </a:r>
                    </a:p>
                  </a:txBody>
                  <a:tcPr>
                    <a:solidFill>
                      <a:srgbClr val="F4F1E6"/>
                    </a:solidFill>
                  </a:tcPr>
                </a:tc>
                <a:tc>
                  <a:txBody>
                    <a:bodyPr/>
                    <a:lstStyle/>
                    <a:p>
                      <a:pPr>
                        <a:defRPr sz="1200">
                          <a:solidFill>
                            <a:srgbClr val="20261F"/>
                          </a:solidFill>
                          <a:latin typeface="Yu Gothic"/>
                        </a:defRPr>
                      </a:pPr>
                      <a:r>
                        <a:t>米国の輸出規制を背景とした需要増</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Sammyfans・Reuters(2026-08-19)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米国の対中輸出規制との関係(留保つき)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この文脈についての正直な扱い方です。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米国の先端チップ製造装置の対中輸出規制により、中国企業が海外ファウンドリへの依存を強めているとされる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本テーマでは、この規制の是非については評価を行わない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背景事実としてのみ紹介し、政治的な立場を取らない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規制の具体的な内容・今後の変更見通しの詳細は本調査の範囲では確認していない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赤字が続いているとされる期間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2022年以降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業界推計によるファウンドリ事業の状況</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Sammyfans・Reuters(2026-08-19)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Googleとの協議報道</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注目される顧客企業の動きです。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Googleが、SF4プロセスを用いたチップ製造についてサムスンと協議中であると報じられている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正式契約に至っているかどうかは本調査の範囲では確認できていない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実現すれば、サムスンのファウンドリ事業にとって大口顧客獲得の一例となる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契約条件・製造対象チップの詳細は確認できていない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Inshorts(2026-08-19)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今回の値上げに至る流れ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2022年以降、ファウンドリ事業が赤字続き</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業界推計</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AI需要の急増で受注が供給を上回る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7月にSF4価格を先行引き上げ</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8月19日、全体像が広く報道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最大15%の値上げ・Googleとの協議報道</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赤字続きの事業から今回の値上げ報道までの流れ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Sammyfans・Reuters(2026-08-19)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今回の報道の3ステップ総括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最大15%の値上げ</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4nm・5nm・8nmの新規受注分</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地域差のある値上げ幅</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中国・米国向けが最も高い</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赤字続きの事業に転機</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Googleとの協議報道も</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半導体業界における位置づけ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業界内での位置づけです。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AI需要の急増を背景に、他の大手ファウンドリ企業でも同様の値上げの動きが報じられている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業界全体でチップ製造価格が上昇傾向にあることを示す一例と位置づけられる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他社との具体的な値上げ幅の比較検証は本調査では行っていない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業界全体の需給動向との詳細な一致度は確認できていない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対象となるプロセス数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3プロセス(4nm・5nm・8nm)</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先端〜旧世代まで幅広い値上げ</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Sammyfans・Reuters(2026-08-19)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先端プロセス(4nm・5nm) vs 旧世代(8nm)</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先端プロセス(4nm・5nm)</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値上げ幅は最大15%</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AI関連チップに多く使用</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需要が特に強い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旧世代(8nm)</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値上げ幅は約10%</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先端プロセスより低い上昇率</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幅広い用途に使用</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最大値上げ幅</a:t>
                      </a:r>
                    </a:p>
                  </a:txBody>
                  <a:tcPr>
                    <a:solidFill>
                      <a:srgbClr val="FFFFFF"/>
                    </a:solidFill>
                  </a:tcPr>
                </a:tc>
                <a:tc>
                  <a:txBody>
                    <a:bodyPr/>
                    <a:lstStyle/>
                    <a:p>
                      <a:pPr>
                        <a:defRPr sz="1200">
                          <a:solidFill>
                            <a:srgbClr val="20261F"/>
                          </a:solidFill>
                          <a:latin typeface="Yu Gothic"/>
                        </a:defRPr>
                      </a:pPr>
                      <a:r>
                        <a:t>15%(4nm・5nm、中国・米国向け)</a:t>
                      </a:r>
                    </a:p>
                  </a:txBody>
                  <a:tcPr>
                    <a:solidFill>
                      <a:srgbClr val="FFFFFF"/>
                    </a:solidFill>
                  </a:tcPr>
                </a:tc>
              </a:tr>
              <a:tr h="502920">
                <a:tc>
                  <a:txBody>
                    <a:bodyPr/>
                    <a:lstStyle/>
                    <a:p>
                      <a:pPr>
                        <a:defRPr sz="1200">
                          <a:solidFill>
                            <a:srgbClr val="20261F"/>
                          </a:solidFill>
                          <a:latin typeface="Yu Gothic"/>
                        </a:defRPr>
                      </a:pPr>
                      <a:r>
                        <a:t>対象プロセス</a:t>
                      </a:r>
                    </a:p>
                  </a:txBody>
                  <a:tcPr>
                    <a:solidFill>
                      <a:srgbClr val="F4F1E6"/>
                    </a:solidFill>
                  </a:tcPr>
                </a:tc>
                <a:tc>
                  <a:txBody>
                    <a:bodyPr/>
                    <a:lstStyle/>
                    <a:p>
                      <a:pPr>
                        <a:defRPr sz="1200">
                          <a:solidFill>
                            <a:srgbClr val="20261F"/>
                          </a:solidFill>
                          <a:latin typeface="Yu Gothic"/>
                        </a:defRPr>
                      </a:pPr>
                      <a:r>
                        <a:t>4nm(SF4)・5nm(SF5)・8nm</a:t>
                      </a:r>
                    </a:p>
                  </a:txBody>
                  <a:tcPr>
                    <a:solidFill>
                      <a:srgbClr val="F4F1E6"/>
                    </a:solidFill>
                  </a:tcPr>
                </a:tc>
              </a:tr>
              <a:tr h="502920">
                <a:tc>
                  <a:txBody>
                    <a:bodyPr/>
                    <a:lstStyle/>
                    <a:p>
                      <a:pPr>
                        <a:defRPr sz="1200">
                          <a:solidFill>
                            <a:srgbClr val="20261F"/>
                          </a:solidFill>
                          <a:latin typeface="Yu Gothic"/>
                        </a:defRPr>
                      </a:pPr>
                      <a:r>
                        <a:t>背景</a:t>
                      </a:r>
                    </a:p>
                  </a:txBody>
                  <a:tcPr>
                    <a:solidFill>
                      <a:srgbClr val="FFFFFF"/>
                    </a:solidFill>
                  </a:tcPr>
                </a:tc>
                <a:tc>
                  <a:txBody>
                    <a:bodyPr/>
                    <a:lstStyle/>
                    <a:p>
                      <a:pPr>
                        <a:defRPr sz="1200">
                          <a:solidFill>
                            <a:srgbClr val="20261F"/>
                          </a:solidFill>
                          <a:latin typeface="Yu Gothic"/>
                        </a:defRPr>
                      </a:pPr>
                      <a:r>
                        <a:t>AI需要の急増、供給不足</a:t>
                      </a:r>
                    </a:p>
                  </a:txBody>
                  <a:tcPr>
                    <a:solidFill>
                      <a:srgbClr val="FFFFFF"/>
                    </a:solidFill>
                  </a:tcPr>
                </a:tc>
              </a:tr>
              <a:tr h="502920">
                <a:tc>
                  <a:txBody>
                    <a:bodyPr/>
                    <a:lstStyle/>
                    <a:p>
                      <a:pPr>
                        <a:defRPr sz="1200">
                          <a:solidFill>
                            <a:srgbClr val="20261F"/>
                          </a:solidFill>
                          <a:latin typeface="Yu Gothic"/>
                        </a:defRPr>
                      </a:pPr>
                      <a:r>
                        <a:t>注目される動き</a:t>
                      </a:r>
                    </a:p>
                  </a:txBody>
                  <a:tcPr>
                    <a:solidFill>
                      <a:srgbClr val="F4F1E6"/>
                    </a:solidFill>
                  </a:tcPr>
                </a:tc>
                <a:tc>
                  <a:txBody>
                    <a:bodyPr/>
                    <a:lstStyle/>
                    <a:p>
                      <a:pPr>
                        <a:defRPr sz="1200">
                          <a:solidFill>
                            <a:srgbClr val="20261F"/>
                          </a:solidFill>
                          <a:latin typeface="Yu Gothic"/>
                        </a:defRPr>
                      </a:pPr>
                      <a:r>
                        <a:t>Googleとの製造協議報道(未確定)</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Sammyfans・Reuters(2026-08-19)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今後注目される点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今後の見どころです。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Googleとの協議が正式契約に至るかどうか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値上げによるファウンドリ事業の黒字化の実現時期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他の大手ファウンドリ企業(TSMC等)の価格動向との比較</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今後の公式決算発表・追加報道を継続して確認する必要がある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赤字継続とされる年数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約4年間(2022年〜現在)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業界推計による赤字継続期間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Sammyfans・Reuters(2026-08-19)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TSMCなど他社の動向(参考情報)</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TSMC</a:t>
                      </a:r>
                    </a:p>
                  </a:txBody>
                  <a:tcPr>
                    <a:solidFill>
                      <a:srgbClr val="FFFFFF"/>
                    </a:solidFill>
                  </a:tcPr>
                </a:tc>
                <a:tc>
                  <a:txBody>
                    <a:bodyPr/>
                    <a:lstStyle/>
                    <a:p>
                      <a:pPr>
                        <a:defRPr sz="1200">
                          <a:solidFill>
                            <a:srgbClr val="20261F"/>
                          </a:solidFill>
                          <a:latin typeface="Yu Gothic"/>
                        </a:defRPr>
                      </a:pPr>
                      <a:r>
                        <a:t>同様に価格引き上げを計画していると報じられている</a:t>
                      </a:r>
                    </a:p>
                  </a:txBody>
                  <a:tcPr>
                    <a:solidFill>
                      <a:srgbClr val="FFFFFF"/>
                    </a:solidFill>
                  </a:tcPr>
                </a:tc>
              </a:tr>
              <a:tr h="502920">
                <a:tc>
                  <a:txBody>
                    <a:bodyPr/>
                    <a:lstStyle/>
                    <a:p>
                      <a:pPr>
                        <a:defRPr sz="1200">
                          <a:solidFill>
                            <a:srgbClr val="20261F"/>
                          </a:solidFill>
                          <a:latin typeface="Yu Gothic"/>
                        </a:defRPr>
                      </a:pPr>
                      <a:r>
                        <a:t>サムスン</a:t>
                      </a:r>
                    </a:p>
                  </a:txBody>
                  <a:tcPr>
                    <a:solidFill>
                      <a:srgbClr val="F4F1E6"/>
                    </a:solidFill>
                  </a:tcPr>
                </a:tc>
                <a:tc>
                  <a:txBody>
                    <a:bodyPr/>
                    <a:lstStyle/>
                    <a:p>
                      <a:pPr>
                        <a:defRPr sz="1200">
                          <a:solidFill>
                            <a:srgbClr val="20261F"/>
                          </a:solidFill>
                          <a:latin typeface="Yu Gothic"/>
                        </a:defRPr>
                      </a:pPr>
                      <a:r>
                        <a:t>今回、4nm・5nm・8nmで最大15%の値上げ</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サムスンの半導体事業における位置づけ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メモリ事業に続く収益改善の焦点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DRAM・NAND好調を背景に、ファウンドリ事業の改善にも期待</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本リサーチ(2026-08-19時点)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自社チップ生産分の確保について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供給が追いつかない要因の一つです。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サムスンは自社のスマートフォン・その他製品向けチップ生産分も確保する必要がある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米国顧客への供給義務もあり、全ての受注に応えきれていないとされる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外部受注と自社向け生産のバランスの具体的な配分は本調査の範囲では確認できていない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供給不足が価格上昇の一因になっているとみられる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Sammyfans・Reuters(2026-08-19)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Googleとサムスンの間で正式契約に至っているかどうか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サムスンのファウンドリ事業の具体的な赤字額・黒字化の見込み時期(業界推計にとどまる)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値上げによる顧客の具体的な発注行動の変化</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本テーマは特定企業(サムスン)への投資を推奨するものではなく、報じられた価格改定の紹介にとどめる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確認できている事実</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最大15%の値上げ</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プロセス別・地域別の値上げ幅</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AI需要が背景にあること</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今後の不確定要素</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Google協議の契約有無</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黒字化の具体的な時期</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他社との比較優位性</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半導体・AIインフラ業界の動向に関心がある立場として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AI需要がチップ製造価格にどう波及しているかを把握する視点が役立つ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投資・企業分析に関心がある立場として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赤字続きの事業の転機という見方と、黒字化の具体的な時期が未確定である点を区別する視点が参考になる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半導体を利用する製品・サービスに携わる立場として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チップ製造コストの上昇が、今後の製品価格にどう影響するかを継続して確認する必要がある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本編のまとめです。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サムスンは2026年8月19日、先端チップ製造価格を新規受注分について最大15%引き上げたことが報じられた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AI需要の急増が背景にあり、地域によって値上げ幅には差がある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2022年以降赤字続きとされるファウンドリ事業にとって転機となる可能性がある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Googleとの協議報道など、確認できていない点は正直に開示した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Sammyfans・Reuters(KFGO配信)(2026-08-19)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赤字続きの部門が、まさかの値上げ。</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サムスンは2026年8月19日、先端チップ製造価格を最大15%引き上げたことが報じられました。AI需要が生んだ転機の中身を、出典付きで正直に整理してお届けしました。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