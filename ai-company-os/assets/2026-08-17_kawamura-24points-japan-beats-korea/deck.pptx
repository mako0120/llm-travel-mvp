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前半得点</c:v>
                </c:pt>
              </c:strCache>
            </c:strRef>
          </c:tx>
          <c:spPr>
            <a:solidFill>
              <a:srgbClr val="1B3A5C"/>
            </a:solidFill>
          </c:spPr>
          <c:cat>
            <c:strRef>
              <c:f>Sheet1!$A$2:$A$3</c:f>
              <c:strCache>
                <c:ptCount val="2"/>
                <c:pt idx="0">
                  <c:v>日本</c:v>
                </c:pt>
                <c:pt idx="1">
                  <c:v>韓国</c:v>
                </c:pt>
              </c:strCache>
            </c:strRef>
          </c:cat>
          <c:val>
            <c:numRef>
              <c:f>Sheet1!$B$2:$B$3</c:f>
              <c:numCache>
                <c:formatCode>General</c:formatCode>
                <c:ptCount val="2"/>
                <c:pt idx="0">
                  <c:v>48</c:v>
                </c:pt>
                <c:pt idx="1">
                  <c:v>32</c:v>
                </c:pt>
              </c:numCache>
            </c:numRef>
          </c:val>
        </c:ser>
        <c:dLbls>
          <c:numFmt formatCode="#,##0" sourceLinked="0"/>
          <c:txPr>
            <a:bodyPr/>
            <a:lstStyle/>
            <a:p>
              <a:pPr>
                <a:defRPr sz="1200" b="1">
                  <a:solidFill>
                    <a:srgbClr val="1B3A5C"/>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有明アリーナで行われたバスケットボール男子日本代表対韓国代表の国際親善試合で、日本が95対66で勝利しました。クリッパーズ所属の河村勇輝選手が2戦連続でスタメン出場し、チーム最多24得点を記録。一方、同じくNBA所属の八村塁選手はコンディション調整のため欠場しました。今日はこの試合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日本代表は韓国代表に95対66で勝利しました。エースの一人である八村塁選手が欠場する中、同じくNBA所属の河村勇輝選手がチーム最多24得点を記録して試合を牽引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結果の数字から、河村選手の活躍の深掘り、八村選手の欠場の扱い方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て、NBA所属の八村選手が欠場する中、同じくNBA所属の河村選手がチームを牽引したという分かりやすい対比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河村勇輝選手の前提を確認します。NBA・LAクリッパーズに所属する日本代表のポイントガードで、今回の韓国戦で2戦連続のスタメン出場を果たしました。今回は経歴紹介ではなく、試合内容の整理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八村塁選手も同じくNBA所属の日本代表選手ですが、今回はコンディション調整のため欠場しました。国際親善試合とは、代表チーム同士が調整・強化を目的に行う試合です。欠場理由の詳細は報道にない範囲で推測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タイムラインです。河村選手が2戦連続でスタメン出場し、八村選手はコンディション調整のため欠場しました。前半だけで河村選手は10得点3アシストを記録し、日本は48-32でリード。最終的に95-66で日本が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前半終了時点のスコアをグラフにしました。日本は48点、韓国は32点で、前半だけで16点のリードを奪っていました。この時点で河村選手はすでに10得点3アシストを記録しています。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最終スコアです。日本95、韓国66で、日本代表が29点差で勝利しました。前半のリードを保ったまま、後半も安定した試合運びだったことが数字から確認できます。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河村選手の最終スタッツを一覧にしました。24得点、3ポイント4本、6リバウンド、3アシスト。いずれも複数のメディアが一致させて報じている数字です。次に、前半と試合全体の内容を比べます。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前半と試合全体を比べます。前半だけで河村選手はすでに10得点3アシストを記録しており、日本は48-32でリードしていました。最終的にはチーム最多24得点、6リバウンド、3アシストで試合を終えています。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チーム最多得点です。河村選手は24得点を記録し、そのうち4本が3ポイントシュートでした。次のスライドで、リバウンド・アシストも含めたスタッツの内訳を確認します。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河村選手のスタッツ内訳です。3ポイントシュート4本、リバウンド6、アシスト3。アシストについては前半だけで記録した3本が、そのまま試合終了時点の合計数字でもありました。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河村選手と八村選手の関係を図にしました。八村選手はコンディション調整のため欠場し、河村選手が24得点でチームを牽引。結果として日本代表は95-66で韓国代表に勝利しました。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場した河村選手と欠場した八村選手を並べて確認します。河村選手は2戦連続でスタメン出場しチーム最多24得点。八村選手はコンディション調整のため欠場しましたが、それ以上の詳細は報道にないため推測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ディション調整』という表現を正確に確認します。報道で確認できているのはこの理由のみで、怪我の有無等の詳細は明記されていません。欠場の期間についても本リサーチの範囲で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連勝』という表現を正確に確認します。河村選手が2戦連続でスタメン出場したことから連戦の文脈が読み取れ、今回の試合は95-66での勝利です。ただし1戦目単独の日程・スコアは本リサーチの範囲では確認できておらず、創作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数字はすべて出典どおり正確に扱い、河村選手の今大会全体の通算成績は確認できていないため断定しません。八村選手の欠場理由についても未確認の詳細を推測で付け加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試合結果の主要数字を一覧にしました。ここまでの数字はすべて複数のメディアが一致させて報じている内容です。次に、このニュースが読者にとって何を意味するかを見ていきます。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このニュースが読者にとって何を意味するかを整理します。エースの一人が欠場しても勝ち切れたことは、選手層の厚さを示す一例です。次戦の日程・対戦相手は確認できておらず、推測では述べません。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視聴者にとっての実践的な示唆をまとめました。バスケファンとして、NBA選手の活躍を追う立場として、情報を発信する立場として、それぞれで意識したい点です。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と河村選手のスタッツ、前半の状況、八村選手の欠場理由は複数の情報源で確認できた事実です。選手層の評価はあくまで一般的な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欠場理由は『コンディション調整』とのみ報じられており、怪我等の詳細は未確認です。確認できているのは今回1試合の数字のみで、次戦の情報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確認できていないことを正直にお伝えします。河村選手の今大会全体の通算成績、次戦の日程・対戦相手、八村選手の欠場の具体的な理由・期間は、本リサーチの範囲では確認できていません。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今回の結果を支えた3つのポイントです。河村選手の活躍、前半からの主導権、エース不在でも勝ち切ったこと。いずれも出典どおりの数字で裏付けられています。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本テーマの鮮度を数字で確認します。試合は着手日の前日にあたる2026年8月16日に行われました。2日以内という当社の基準を満たしています。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最終的な点差を改めて確認します。95対66、29点差での勝利でした。この数字が、今回の試合の内容の充実ぶりを裏付けています。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日本代表が韓国代表に95-66で勝利し、河村勇輝選手がチーム最多24得点で牽引、八村塁選手はコンディション調整のため欠場し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エースが休んでも、日本は勝った。</a:t>
            </a:r>
          </a:p>
          <a:p>
            <a:pPr algn="l">
              <a:lnSpc>
                <a:spcPct val="115000"/>
              </a:lnSpc>
            </a:pPr>
            <a:r>
              <a:rPr sz="4200" b="1">
                <a:solidFill>
                  <a:srgbClr val="FFFFFF"/>
                </a:solidFill>
                <a:latin typeface="Yu Gothic"/>
              </a:rPr>
              <a:t>河村勇輝24得点、日本代表が韓国に95-66で快勝</a:t>
            </a:r>
          </a:p>
          <a:p>
            <a:pPr algn="l">
              <a:lnSpc>
                <a:spcPct val="115000"/>
              </a:lnSpc>
            </a:pPr>
            <a:r>
              <a:rPr sz="4200" b="1">
                <a:solidFill>
                  <a:srgbClr val="FFFFFF"/>
                </a:solidFill>
                <a:latin typeface="Yu Gothic"/>
              </a:rPr>
              <a:t>(八村塁は欠場)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2026年8月16日、有明アリーナでの国際親善試合――出典付きで数字を正確に整理する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Yahoo!ニュース・docomoニュース(スポニチアネックス配信)・Infoseekニュース(スポーツ報知配信)(いずれも2026年8月16日)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95-66で日本勝利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河村勇輝選手がチーム最多24得点で牽引。八村塁選手はコンディション調整のため欠場した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Yahoo!ニュース(スポニチアネックス配信、2026-08-16)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河村勇輝選手・八村塁選手の基礎知識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試合結果を数字で確認する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河村選手の活躍を数字で深掘りする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八村選手欠場の扱い方・誇張回避の補足</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試合翌日(2026年8月17日)という鮮度の高い話題である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NBA所属の八村塁選手が欠場する中、同じくNBA所属の河村勇輝選手がチームを牽引したという対比が明快である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複数の独立したメディアが数値を一致させて報じている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Yahoo!ニュース・docomoニュース・Infoseekニュース(2026-08-16)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河村勇輝選手とは(初心者向け)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河村勇輝選手(25)は、NBA・LAクリッパーズに所属する日本代表のポイントガードである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今回の韓国戦で2戦連続のスタメン出場を果たした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選手の詳細な経歴(出身・NBA移籍の経緯等)は本リサーチの範囲では扱わず、今回の試合内容に焦点を当てる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八村塁選手と用語解説(初心者向け)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八村塁選手も同じくNBAに所属する日本代表選手だが、今回はコンディション調整のため欠場した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『国際親善試合』とは、公式大会の予選・本戦ではなく、代表チーム同士が調整・強化を目的に行う試合である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『コンディション調整』の具体的な理由・期間は報道で明記されておらず、本成果物でも推測で補わない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試合のタイムライン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スタメン発表</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河村選手が2戦連続でスタメン出場。八村選手はコンディション調整で欠場</a:t>
            </a:r>
          </a:p>
        </p:txBody>
      </p:sp>
      <p:sp>
        <p:nvSpPr>
          <p:cNvPr id="11" name="Chevron 10"/>
          <p:cNvSpPr/>
          <p:nvPr/>
        </p:nvSpPr>
        <p:spPr>
          <a:xfrm>
            <a:off x="3068040"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前半終了</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河村選手は前半だけで10得点3アシスト。日本は48-32でリード</a:t>
            </a:r>
          </a:p>
        </p:txBody>
      </p:sp>
      <p:sp>
        <p:nvSpPr>
          <p:cNvPr id="17" name="Chevron 16"/>
          <p:cNvSpPr/>
          <p:nvPr/>
        </p:nvSpPr>
        <p:spPr>
          <a:xfrm>
            <a:off x="5978804"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試合終了</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日本が95-66で勝利した</a:t>
            </a:r>
          </a:p>
        </p:txBody>
      </p:sp>
      <p:sp>
        <p:nvSpPr>
          <p:cNvPr id="23" name="Chevron 22"/>
          <p:cNvSpPr/>
          <p:nvPr/>
        </p:nvSpPr>
        <p:spPr>
          <a:xfrm>
            <a:off x="8889568"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最終スタッツ確定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河村選手はチーム最多24得点(3P4本)・6リバウンド・3アシスト</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前半終了時点のスコア</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Yahoo!ニュース・docomoニュース(2026-08-16)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95-66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日本代表が韓国代表に29点差で勝利した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Yahoo!ニュース・docomoニュース・Infoseekニュース(2026-08-16)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河村勇輝選手の最終スタッツ</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数字</a:t>
                      </a:r>
                    </a:p>
                  </a:txBody>
                  <a:tcPr>
                    <a:solidFill>
                      <a:srgbClr val="1B3A5C"/>
                    </a:solidFill>
                  </a:tcPr>
                </a:tc>
              </a:tr>
              <a:tr h="502920">
                <a:tc>
                  <a:txBody>
                    <a:bodyPr/>
                    <a:lstStyle/>
                    <a:p>
                      <a:pPr>
                        <a:defRPr sz="1200">
                          <a:solidFill>
                            <a:srgbClr val="16202E"/>
                          </a:solidFill>
                          <a:latin typeface="Yu Gothic"/>
                        </a:defRPr>
                      </a:pPr>
                      <a:r>
                        <a:t>得点</a:t>
                      </a:r>
                    </a:p>
                  </a:txBody>
                  <a:tcPr>
                    <a:solidFill>
                      <a:srgbClr val="FFFFFF"/>
                    </a:solidFill>
                  </a:tcPr>
                </a:tc>
                <a:tc>
                  <a:txBody>
                    <a:bodyPr/>
                    <a:lstStyle/>
                    <a:p>
                      <a:pPr>
                        <a:defRPr sz="1200">
                          <a:solidFill>
                            <a:srgbClr val="16202E"/>
                          </a:solidFill>
                          <a:latin typeface="Yu Gothic"/>
                        </a:defRPr>
                      </a:pPr>
                      <a:r>
                        <a:t>24点(チーム最多)</a:t>
                      </a:r>
                    </a:p>
                  </a:txBody>
                  <a:tcPr>
                    <a:solidFill>
                      <a:srgbClr val="FFFFFF"/>
                    </a:solidFill>
                  </a:tcPr>
                </a:tc>
              </a:tr>
              <a:tr h="502920">
                <a:tc>
                  <a:txBody>
                    <a:bodyPr/>
                    <a:lstStyle/>
                    <a:p>
                      <a:pPr>
                        <a:defRPr sz="1200">
                          <a:solidFill>
                            <a:srgbClr val="16202E"/>
                          </a:solidFill>
                          <a:latin typeface="Yu Gothic"/>
                        </a:defRPr>
                      </a:pPr>
                      <a:r>
                        <a:t>3ポイントシュート</a:t>
                      </a:r>
                    </a:p>
                  </a:txBody>
                  <a:tcPr>
                    <a:solidFill>
                      <a:srgbClr val="F2F6FA"/>
                    </a:solidFill>
                  </a:tcPr>
                </a:tc>
                <a:tc>
                  <a:txBody>
                    <a:bodyPr/>
                    <a:lstStyle/>
                    <a:p>
                      <a:pPr>
                        <a:defRPr sz="1200">
                          <a:solidFill>
                            <a:srgbClr val="16202E"/>
                          </a:solidFill>
                          <a:latin typeface="Yu Gothic"/>
                        </a:defRPr>
                      </a:pPr>
                      <a:r>
                        <a:t>4本</a:t>
                      </a:r>
                    </a:p>
                  </a:txBody>
                  <a:tcPr>
                    <a:solidFill>
                      <a:srgbClr val="F2F6FA"/>
                    </a:solidFill>
                  </a:tcPr>
                </a:tc>
              </a:tr>
              <a:tr h="502920">
                <a:tc>
                  <a:txBody>
                    <a:bodyPr/>
                    <a:lstStyle/>
                    <a:p>
                      <a:pPr>
                        <a:defRPr sz="1200">
                          <a:solidFill>
                            <a:srgbClr val="16202E"/>
                          </a:solidFill>
                          <a:latin typeface="Yu Gothic"/>
                        </a:defRPr>
                      </a:pPr>
                      <a:r>
                        <a:t>リバウンド</a:t>
                      </a:r>
                    </a:p>
                  </a:txBody>
                  <a:tcPr>
                    <a:solidFill>
                      <a:srgbClr val="FFFFFF"/>
                    </a:solidFill>
                  </a:tcPr>
                </a:tc>
                <a:tc>
                  <a:txBody>
                    <a:bodyPr/>
                    <a:lstStyle/>
                    <a:p>
                      <a:pPr>
                        <a:defRPr sz="1200">
                          <a:solidFill>
                            <a:srgbClr val="16202E"/>
                          </a:solidFill>
                          <a:latin typeface="Yu Gothic"/>
                        </a:defRPr>
                      </a:pPr>
                      <a:r>
                        <a:t>6</a:t>
                      </a:r>
                    </a:p>
                  </a:txBody>
                  <a:tcPr>
                    <a:solidFill>
                      <a:srgbClr val="FFFFFF"/>
                    </a:solidFill>
                  </a:tcPr>
                </a:tc>
              </a:tr>
              <a:tr h="502920">
                <a:tc>
                  <a:txBody>
                    <a:bodyPr/>
                    <a:lstStyle/>
                    <a:p>
                      <a:pPr>
                        <a:defRPr sz="1200">
                          <a:solidFill>
                            <a:srgbClr val="16202E"/>
                          </a:solidFill>
                          <a:latin typeface="Yu Gothic"/>
                        </a:defRPr>
                      </a:pPr>
                      <a:r>
                        <a:t>アシスト</a:t>
                      </a:r>
                    </a:p>
                  </a:txBody>
                  <a:tcPr>
                    <a:solidFill>
                      <a:srgbClr val="F2F6FA"/>
                    </a:solidFill>
                  </a:tcPr>
                </a:tc>
                <a:tc>
                  <a:txBody>
                    <a:bodyPr/>
                    <a:lstStyle/>
                    <a:p>
                      <a:pPr>
                        <a:defRPr sz="1200">
                          <a:solidFill>
                            <a:srgbClr val="16202E"/>
                          </a:solidFill>
                          <a:latin typeface="Yu Gothic"/>
                        </a:defRPr>
                      </a:pPr>
                      <a:r>
                        <a:t>3</a:t>
                      </a:r>
                    </a:p>
                  </a:txBody>
                  <a:tcPr>
                    <a:solidFill>
                      <a:srgbClr val="F2F6FA"/>
                    </a:solidFill>
                  </a:tcPr>
                </a:tc>
              </a:tr>
              <a:tr h="502920">
                <a:tc>
                  <a:txBody>
                    <a:bodyPr/>
                    <a:lstStyle/>
                    <a:p>
                      <a:pPr>
                        <a:defRPr sz="1200">
                          <a:solidFill>
                            <a:srgbClr val="16202E"/>
                          </a:solidFill>
                          <a:latin typeface="Yu Gothic"/>
                        </a:defRPr>
                      </a:pPr>
                      <a:r>
                        <a:t>スタメン出場</a:t>
                      </a:r>
                    </a:p>
                  </a:txBody>
                  <a:tcPr>
                    <a:solidFill>
                      <a:srgbClr val="FFFFFF"/>
                    </a:solidFill>
                  </a:tcPr>
                </a:tc>
                <a:tc>
                  <a:txBody>
                    <a:bodyPr/>
                    <a:lstStyle/>
                    <a:p>
                      <a:pPr>
                        <a:defRPr sz="1200">
                          <a:solidFill>
                            <a:srgbClr val="16202E"/>
                          </a:solidFill>
                          <a:latin typeface="Yu Gothic"/>
                        </a:defRPr>
                      </a:pPr>
                      <a:r>
                        <a:t>2戦連続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Yahoo!ニュース・docomoニュース・Infoseekニュース(2026-08-16)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前半と試合全体を比べる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前半</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10得点・3アシスト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前半だけで河村選手はすでに二桁得点。日本は48-32でリードしていた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試合全体</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24得点・6リバウンド・3アシスト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最終的にチーム最多24得点、3ポイント4本を記録した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チーム</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95-66で勝利</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日本代表が韓国代表に29点差で快勝した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チーム最多得点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24得点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3ポイントシュート4本を含む、河村勇輝選手のチーム最多得点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Yahoo!ニュース(スポニチアネックス配信、2026-08-16)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河村選手のスタッツ内訳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4本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3ポイントシュート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24得点のうち、3ポイントシュートを4本沈めた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6</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リバウンド</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ポイントガードとして6リバウンドを記録した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アシスト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前半だけで記録した3アシストが、そのまま試合を通じての合計数字だった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河村選手と八村選手の関係(概念図)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八村塁選手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NBA所属。コンディション調整のため欠場</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河村勇輝選手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NBA(クリッパーズ)所属。24得点でチームを牽引</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日本代表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95-66で韓国に勝利</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エースの一人が欠場する中、もう一人のNBA所属選手が結果を出した試合だった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Yahoo!ニュース・docomoニュース(2026-08-16)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出場した河村選手 / 欠場した八村選手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河村勇輝選手(出場)</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2戦連続でスタメン出場</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チーム最多24得点・6リバウンド・3アシスト</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前半だけで10得点3アシスト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八村塁選手(欠場)</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コンディション調整のため欠場</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具体的な理由・期間は報道で明記されていない</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本成果物でも推測で理由を補わない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『コンディション調整』を正確に扱う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報道で確認できているのは『コンディション調整のため欠場』という理由のみである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怪我の有無・具体的な症状など、それ以上の詳細は報道で明記されておらず、本成果物では推測で補わない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欠場の期間(次戦に復帰するか等)も本リサーチの範囲では確認できていない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『2連勝』の正確な意味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見出しにある『2連勝』を確認します。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河村選手が2戦連続でスタメン出場したことから、日本代表と韓国代表の連戦が行われていたという文脈である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今回(2026年8月16日)の試合結果は95-66での勝利であることが複数媒体で確認できている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直前の対戦(1戦目)の具体的な日程・スコアは、本リサーチの範囲では確認できていない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誇張回避のための補足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得点・リバウンド・アシスト等の数字はすべて出典どおり正確に扱い、丸め・誇張・創作は行わない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河村選手の今大会全体の通算成績は本リサーチの範囲では確認できておらず、断定しない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八村選手の欠場理由について、怪我等の未確認の詳細を推測で付け加えない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試合結果の主要数字一覧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数字</a:t>
                      </a:r>
                    </a:p>
                  </a:txBody>
                  <a:tcPr>
                    <a:solidFill>
                      <a:srgbClr val="1B3A5C"/>
                    </a:solidFill>
                  </a:tcPr>
                </a:tc>
              </a:tr>
              <a:tr h="502920">
                <a:tc>
                  <a:txBody>
                    <a:bodyPr/>
                    <a:lstStyle/>
                    <a:p>
                      <a:pPr>
                        <a:defRPr sz="1200">
                          <a:solidFill>
                            <a:srgbClr val="16202E"/>
                          </a:solidFill>
                          <a:latin typeface="Yu Gothic"/>
                        </a:defRPr>
                      </a:pPr>
                      <a:r>
                        <a:t>最終スコア</a:t>
                      </a:r>
                    </a:p>
                  </a:txBody>
                  <a:tcPr>
                    <a:solidFill>
                      <a:srgbClr val="FFFFFF"/>
                    </a:solidFill>
                  </a:tcPr>
                </a:tc>
                <a:tc>
                  <a:txBody>
                    <a:bodyPr/>
                    <a:lstStyle/>
                    <a:p>
                      <a:pPr>
                        <a:defRPr sz="1200">
                          <a:solidFill>
                            <a:srgbClr val="16202E"/>
                          </a:solidFill>
                          <a:latin typeface="Yu Gothic"/>
                        </a:defRPr>
                      </a:pPr>
                      <a:r>
                        <a:t>日本95-韓国66</a:t>
                      </a:r>
                    </a:p>
                  </a:txBody>
                  <a:tcPr>
                    <a:solidFill>
                      <a:srgbClr val="FFFFFF"/>
                    </a:solidFill>
                  </a:tcPr>
                </a:tc>
              </a:tr>
              <a:tr h="502920">
                <a:tc>
                  <a:txBody>
                    <a:bodyPr/>
                    <a:lstStyle/>
                    <a:p>
                      <a:pPr>
                        <a:defRPr sz="1200">
                          <a:solidFill>
                            <a:srgbClr val="16202E"/>
                          </a:solidFill>
                          <a:latin typeface="Yu Gothic"/>
                        </a:defRPr>
                      </a:pPr>
                      <a:r>
                        <a:t>河村選手の得点</a:t>
                      </a:r>
                    </a:p>
                  </a:txBody>
                  <a:tcPr>
                    <a:solidFill>
                      <a:srgbClr val="F2F6FA"/>
                    </a:solidFill>
                  </a:tcPr>
                </a:tc>
                <a:tc>
                  <a:txBody>
                    <a:bodyPr/>
                    <a:lstStyle/>
                    <a:p>
                      <a:pPr>
                        <a:defRPr sz="1200">
                          <a:solidFill>
                            <a:srgbClr val="16202E"/>
                          </a:solidFill>
                          <a:latin typeface="Yu Gothic"/>
                        </a:defRPr>
                      </a:pPr>
                      <a:r>
                        <a:t>24点(チーム最多)</a:t>
                      </a:r>
                    </a:p>
                  </a:txBody>
                  <a:tcPr>
                    <a:solidFill>
                      <a:srgbClr val="F2F6FA"/>
                    </a:solidFill>
                  </a:tcPr>
                </a:tc>
              </a:tr>
              <a:tr h="502920">
                <a:tc>
                  <a:txBody>
                    <a:bodyPr/>
                    <a:lstStyle/>
                    <a:p>
                      <a:pPr>
                        <a:defRPr sz="1200">
                          <a:solidFill>
                            <a:srgbClr val="16202E"/>
                          </a:solidFill>
                          <a:latin typeface="Yu Gothic"/>
                        </a:defRPr>
                      </a:pPr>
                      <a:r>
                        <a:t>河村選手の3ポイント</a:t>
                      </a:r>
                    </a:p>
                  </a:txBody>
                  <a:tcPr>
                    <a:solidFill>
                      <a:srgbClr val="FFFFFF"/>
                    </a:solidFill>
                  </a:tcPr>
                </a:tc>
                <a:tc>
                  <a:txBody>
                    <a:bodyPr/>
                    <a:lstStyle/>
                    <a:p>
                      <a:pPr>
                        <a:defRPr sz="1200">
                          <a:solidFill>
                            <a:srgbClr val="16202E"/>
                          </a:solidFill>
                          <a:latin typeface="Yu Gothic"/>
                        </a:defRPr>
                      </a:pPr>
                      <a:r>
                        <a:t>4本</a:t>
                      </a:r>
                    </a:p>
                  </a:txBody>
                  <a:tcPr>
                    <a:solidFill>
                      <a:srgbClr val="FFFFFF"/>
                    </a:solidFill>
                  </a:tcPr>
                </a:tc>
              </a:tr>
              <a:tr h="502920">
                <a:tc>
                  <a:txBody>
                    <a:bodyPr/>
                    <a:lstStyle/>
                    <a:p>
                      <a:pPr>
                        <a:defRPr sz="1200">
                          <a:solidFill>
                            <a:srgbClr val="16202E"/>
                          </a:solidFill>
                          <a:latin typeface="Yu Gothic"/>
                        </a:defRPr>
                      </a:pPr>
                      <a:r>
                        <a:t>河村選手のリバウンド</a:t>
                      </a:r>
                    </a:p>
                  </a:txBody>
                  <a:tcPr>
                    <a:solidFill>
                      <a:srgbClr val="F2F6FA"/>
                    </a:solidFill>
                  </a:tcPr>
                </a:tc>
                <a:tc>
                  <a:txBody>
                    <a:bodyPr/>
                    <a:lstStyle/>
                    <a:p>
                      <a:pPr>
                        <a:defRPr sz="1200">
                          <a:solidFill>
                            <a:srgbClr val="16202E"/>
                          </a:solidFill>
                          <a:latin typeface="Yu Gothic"/>
                        </a:defRPr>
                      </a:pPr>
                      <a:r>
                        <a:t>6</a:t>
                      </a:r>
                    </a:p>
                  </a:txBody>
                  <a:tcPr>
                    <a:solidFill>
                      <a:srgbClr val="F2F6FA"/>
                    </a:solidFill>
                  </a:tcPr>
                </a:tc>
              </a:tr>
              <a:tr h="502920">
                <a:tc>
                  <a:txBody>
                    <a:bodyPr/>
                    <a:lstStyle/>
                    <a:p>
                      <a:pPr>
                        <a:defRPr sz="1200">
                          <a:solidFill>
                            <a:srgbClr val="16202E"/>
                          </a:solidFill>
                          <a:latin typeface="Yu Gothic"/>
                        </a:defRPr>
                      </a:pPr>
                      <a:r>
                        <a:t>河村選手のアシスト</a:t>
                      </a:r>
                    </a:p>
                  </a:txBody>
                  <a:tcPr>
                    <a:solidFill>
                      <a:srgbClr val="FFFFFF"/>
                    </a:solidFill>
                  </a:tcPr>
                </a:tc>
                <a:tc>
                  <a:txBody>
                    <a:bodyPr/>
                    <a:lstStyle/>
                    <a:p>
                      <a:pPr>
                        <a:defRPr sz="1200">
                          <a:solidFill>
                            <a:srgbClr val="16202E"/>
                          </a:solidFill>
                          <a:latin typeface="Yu Gothic"/>
                        </a:defRPr>
                      </a:pPr>
                      <a:r>
                        <a:t>3</a:t>
                      </a:r>
                    </a:p>
                  </a:txBody>
                  <a:tcPr>
                    <a:solidFill>
                      <a:srgbClr val="FFFFFF"/>
                    </a:solidFill>
                  </a:tcPr>
                </a:tc>
              </a:tr>
              <a:tr h="502920">
                <a:tc>
                  <a:txBody>
                    <a:bodyPr/>
                    <a:lstStyle/>
                    <a:p>
                      <a:pPr>
                        <a:defRPr sz="1200">
                          <a:solidFill>
                            <a:srgbClr val="16202E"/>
                          </a:solidFill>
                          <a:latin typeface="Yu Gothic"/>
                        </a:defRPr>
                      </a:pPr>
                      <a:r>
                        <a:t>前半終了時点のスコア</a:t>
                      </a:r>
                    </a:p>
                  </a:txBody>
                  <a:tcPr>
                    <a:solidFill>
                      <a:srgbClr val="F2F6FA"/>
                    </a:solidFill>
                  </a:tcPr>
                </a:tc>
                <a:tc>
                  <a:txBody>
                    <a:bodyPr/>
                    <a:lstStyle/>
                    <a:p>
                      <a:pPr>
                        <a:defRPr sz="1200">
                          <a:solidFill>
                            <a:srgbClr val="16202E"/>
                          </a:solidFill>
                          <a:latin typeface="Yu Gothic"/>
                        </a:defRPr>
                      </a:pPr>
                      <a:r>
                        <a:t>日本48-韓国32</a:t>
                      </a:r>
                    </a:p>
                  </a:txBody>
                  <a:tcPr>
                    <a:solidFill>
                      <a:srgbClr val="F2F6FA"/>
                    </a:solidFill>
                  </a:tcPr>
                </a:tc>
              </a:tr>
              <a:tr h="502920">
                <a:tc>
                  <a:txBody>
                    <a:bodyPr/>
                    <a:lstStyle/>
                    <a:p>
                      <a:pPr>
                        <a:defRPr sz="1200">
                          <a:solidFill>
                            <a:srgbClr val="16202E"/>
                          </a:solidFill>
                          <a:latin typeface="Yu Gothic"/>
                        </a:defRPr>
                      </a:pPr>
                      <a:r>
                        <a:t>前半終了時点の河村選手</a:t>
                      </a:r>
                    </a:p>
                  </a:txBody>
                  <a:tcPr>
                    <a:solidFill>
                      <a:srgbClr val="FFFFFF"/>
                    </a:solidFill>
                  </a:tcPr>
                </a:tc>
                <a:tc>
                  <a:txBody>
                    <a:bodyPr/>
                    <a:lstStyle/>
                    <a:p>
                      <a:pPr>
                        <a:defRPr sz="1200">
                          <a:solidFill>
                            <a:srgbClr val="16202E"/>
                          </a:solidFill>
                          <a:latin typeface="Yu Gothic"/>
                        </a:defRPr>
                      </a:pPr>
                      <a:r>
                        <a:t>10得点・3アシスト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Yahoo!ニュース・docomoニュース・Infoseekニュース(2026-08-16)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エースの一人が欠場しても勝ち切れたことは、選手層の厚さを示す一例として位置づけられる(断定的な評価は避ける)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河村選手はNBA選手として代表でも中心的な役割を担っていることが、今回の数字から確認できる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次戦の日程・対戦相手は本リサーチの範囲では確認できていない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バスケファンとして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得点だけでなく前半・後半の推移や3ポイント数まで確認すると理解が深まる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NBA選手の活躍を追う立場として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クリッパーズ所属の河村選手が代表戦でどう活躍したかを継続して確認する視点が役立つ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欠場理由等、未確認の詳細を推測で補わず正確に伝える姿勢が信頼につながる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事実: 最終スコア95-66・河村選手24得点(3P4本)・6リバウンド・3アシスト・前半48-32・河村選手の前半10得点3アシスト・2戦連続スタメン・八村選手はコンディション調整のため欠場</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推測: エースの欠場を選手層の厚さの一例として位置づける評価(具体的な戦術要因は断定しない)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不明: 河村選手の今大会全体の通算成績、次戦の日程・対戦相手、八村選手の欠場の具体的な理由・期間</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八村選手が怪我をした、または深刻な事情がある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河村選手が大会全体を通じて活躍し続けている</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次戦の日程・対戦相手も決まっている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欠場理由は『コンディション調整』とのみ報じられ、詳細は未確認</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確認できているのは今回1試合の24得点等の数字のみ</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次戦の日程・対戦相手は本リサーチの範囲では確認できていない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確認できていないこと(1)</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河村選手の今大会全体の通算成績(この試合以外の成績)</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日本代表の次戦の日程・対戦相手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八村選手の欠場の具体的な理由・期間(コンディション調整という表現以上の詳細)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河村選手の今大会通算成績</a:t>
                      </a:r>
                    </a:p>
                  </a:txBody>
                  <a:tcPr>
                    <a:solidFill>
                      <a:srgbClr val="FFFFFF"/>
                    </a:solidFill>
                  </a:tcPr>
                </a:tc>
                <a:tc>
                  <a:txBody>
                    <a:bodyPr/>
                    <a:lstStyle/>
                    <a:p>
                      <a:pPr>
                        <a:defRPr sz="1200">
                          <a:solidFill>
                            <a:srgbClr val="16202E"/>
                          </a:solidFill>
                          <a:latin typeface="Yu Gothic"/>
                        </a:defRPr>
                      </a:pPr>
                      <a:r>
                        <a:t>本リサーチの範囲では確認できていない</a:t>
                      </a:r>
                    </a:p>
                  </a:txBody>
                  <a:tcPr>
                    <a:solidFill>
                      <a:srgbClr val="FFFFFF"/>
                    </a:solidFill>
                  </a:tcPr>
                </a:tc>
              </a:tr>
              <a:tr h="502920">
                <a:tc>
                  <a:txBody>
                    <a:bodyPr/>
                    <a:lstStyle/>
                    <a:p>
                      <a:pPr>
                        <a:defRPr sz="1200">
                          <a:solidFill>
                            <a:srgbClr val="16202E"/>
                          </a:solidFill>
                          <a:latin typeface="Yu Gothic"/>
                        </a:defRPr>
                      </a:pPr>
                      <a:r>
                        <a:t>次戦の日程・対戦相手</a:t>
                      </a:r>
                    </a:p>
                  </a:txBody>
                  <a:tcPr>
                    <a:solidFill>
                      <a:srgbClr val="F2F6FA"/>
                    </a:solidFill>
                  </a:tcPr>
                </a:tc>
                <a:tc>
                  <a:txBody>
                    <a:bodyPr/>
                    <a:lstStyle/>
                    <a:p>
                      <a:pPr>
                        <a:defRPr sz="1200">
                          <a:solidFill>
                            <a:srgbClr val="16202E"/>
                          </a:solidFill>
                          <a:latin typeface="Yu Gothic"/>
                        </a:defRPr>
                      </a:pPr>
                      <a:r>
                        <a:t>本リサーチの範囲では確認できていない</a:t>
                      </a:r>
                    </a:p>
                  </a:txBody>
                  <a:tcPr>
                    <a:solidFill>
                      <a:srgbClr val="F2F6FA"/>
                    </a:solidFill>
                  </a:tcPr>
                </a:tc>
              </a:tr>
              <a:tr h="502920">
                <a:tc>
                  <a:txBody>
                    <a:bodyPr/>
                    <a:lstStyle/>
                    <a:p>
                      <a:pPr>
                        <a:defRPr sz="1200">
                          <a:solidFill>
                            <a:srgbClr val="16202E"/>
                          </a:solidFill>
                          <a:latin typeface="Yu Gothic"/>
                        </a:defRPr>
                      </a:pPr>
                      <a:r>
                        <a:t>八村選手欠場の詳細な理由</a:t>
                      </a:r>
                    </a:p>
                  </a:txBody>
                  <a:tcPr>
                    <a:solidFill>
                      <a:srgbClr val="FFFFFF"/>
                    </a:solidFill>
                  </a:tcPr>
                </a:tc>
                <a:tc>
                  <a:txBody>
                    <a:bodyPr/>
                    <a:lstStyle/>
                    <a:p>
                      <a:pPr>
                        <a:defRPr sz="1200">
                          <a:solidFill>
                            <a:srgbClr val="16202E"/>
                          </a:solidFill>
                          <a:latin typeface="Yu Gothic"/>
                        </a:defRPr>
                      </a:pPr>
                      <a:r>
                        <a:t>『コンディション調整』以上の詳細は確認できていない(推測で補わない)</a:t>
                      </a:r>
                    </a:p>
                  </a:txBody>
                  <a:tcPr>
                    <a:solidFill>
                      <a:srgbClr val="FFFFFF"/>
                    </a:solidFill>
                  </a:tcPr>
                </a:tc>
              </a:tr>
              <a:tr h="502920">
                <a:tc>
                  <a:txBody>
                    <a:bodyPr/>
                    <a:lstStyle/>
                    <a:p>
                      <a:pPr>
                        <a:defRPr sz="1200">
                          <a:solidFill>
                            <a:srgbClr val="16202E"/>
                          </a:solidFill>
                          <a:latin typeface="Yu Gothic"/>
                        </a:defRPr>
                      </a:pPr>
                      <a:r>
                        <a:t>直前の対戦(1戦目)の具体的なスコア・日程</a:t>
                      </a:r>
                    </a:p>
                  </a:txBody>
                  <a:tcPr>
                    <a:solidFill>
                      <a:srgbClr val="F2F6FA"/>
                    </a:solidFill>
                  </a:tcPr>
                </a:tc>
                <a:tc>
                  <a:txBody>
                    <a:bodyPr/>
                    <a:lstStyle/>
                    <a:p>
                      <a:pPr>
                        <a:defRPr sz="1200">
                          <a:solidFill>
                            <a:srgbClr val="16202E"/>
                          </a:solidFill>
                          <a:latin typeface="Yu Gothic"/>
                        </a:defRPr>
                      </a:pPr>
                      <a:r>
                        <a:t>本リサーチの範囲では確認できていない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今回の結果を支えた3つのポイント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河村選手の活躍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チーム最多24得点、3ポイント4本、6リバウンド、3アシスト</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前半からの主導権</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前半だけで10得点3アシスト、日本48-32でリード</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エース不在でも勝利</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八村塁選手が欠場する中、日本代表が95-66で勝利した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試合翌日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試合(2026年8月16日)は着手日(2026年8月17日)の前日。着手日を含めて2日以内という基準を満たす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Yahoo!ニュース(スポニチアネックス配信)</a:t>
                      </a:r>
                    </a:p>
                  </a:txBody>
                  <a:tcPr>
                    <a:solidFill>
                      <a:srgbClr val="FFFFFF"/>
                    </a:solidFill>
                  </a:tcPr>
                </a:tc>
                <a:tc>
                  <a:txBody>
                    <a:bodyPr/>
                    <a:lstStyle/>
                    <a:p>
                      <a:pPr>
                        <a:defRPr sz="1200">
                          <a:solidFill>
                            <a:srgbClr val="16202E"/>
                          </a:solidFill>
                          <a:latin typeface="Yu Gothic"/>
                        </a:defRPr>
                      </a:pPr>
                      <a:r>
                        <a:t>試合結果・河村選手のスタッツ詳細(2026-08-16)</a:t>
                      </a:r>
                    </a:p>
                  </a:txBody>
                  <a:tcPr>
                    <a:solidFill>
                      <a:srgbClr val="FFFFFF"/>
                    </a:solidFill>
                  </a:tcPr>
                </a:tc>
              </a:tr>
              <a:tr h="502920">
                <a:tc>
                  <a:txBody>
                    <a:bodyPr/>
                    <a:lstStyle/>
                    <a:p>
                      <a:pPr>
                        <a:defRPr sz="1200">
                          <a:solidFill>
                            <a:srgbClr val="16202E"/>
                          </a:solidFill>
                          <a:latin typeface="Yu Gothic"/>
                        </a:defRPr>
                      </a:pPr>
                      <a:r>
                        <a:t>docomoニュース(スポニチアネックス配信)</a:t>
                      </a:r>
                    </a:p>
                  </a:txBody>
                  <a:tcPr>
                    <a:solidFill>
                      <a:srgbClr val="F2F6FA"/>
                    </a:solidFill>
                  </a:tcPr>
                </a:tc>
                <a:tc>
                  <a:txBody>
                    <a:bodyPr/>
                    <a:lstStyle/>
                    <a:p>
                      <a:pPr>
                        <a:defRPr sz="1200">
                          <a:solidFill>
                            <a:srgbClr val="16202E"/>
                          </a:solidFill>
                          <a:latin typeface="Yu Gothic"/>
                        </a:defRPr>
                      </a:pPr>
                      <a:r>
                        <a:t>試合結果・前半スコアの確認(2026-08-16)</a:t>
                      </a:r>
                    </a:p>
                  </a:txBody>
                  <a:tcPr>
                    <a:solidFill>
                      <a:srgbClr val="F2F6FA"/>
                    </a:solidFill>
                  </a:tcPr>
                </a:tc>
              </a:tr>
              <a:tr h="502920">
                <a:tc>
                  <a:txBody>
                    <a:bodyPr/>
                    <a:lstStyle/>
                    <a:p>
                      <a:pPr>
                        <a:defRPr sz="1200">
                          <a:solidFill>
                            <a:srgbClr val="16202E"/>
                          </a:solidFill>
                          <a:latin typeface="Yu Gothic"/>
                        </a:defRPr>
                      </a:pPr>
                      <a:r>
                        <a:t>Infoseekニュース(スポーツ報知配信)</a:t>
                      </a:r>
                    </a:p>
                  </a:txBody>
                  <a:tcPr>
                    <a:solidFill>
                      <a:srgbClr val="FFFFFF"/>
                    </a:solidFill>
                  </a:tcPr>
                </a:tc>
                <a:tc>
                  <a:txBody>
                    <a:bodyPr/>
                    <a:lstStyle/>
                    <a:p>
                      <a:pPr>
                        <a:defRPr sz="1200">
                          <a:solidFill>
                            <a:srgbClr val="16202E"/>
                          </a:solidFill>
                          <a:latin typeface="Yu Gothic"/>
                        </a:defRPr>
                      </a:pPr>
                      <a:r>
                        <a:t>試合結果・河村選手の活躍の確認(2026-08-16)</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Yahoo!ニュース・docomoニュース(いずれもスポニチアネックス配信)・Infoseekニュース(スポーツ報知配信)(2026-08-16)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最終的な点差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29点差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95-66、日本代表が韓国代表に29点差で勝利した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Yahoo!ニュース(スポニチアネックス配信、2026-08-16)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エースが休んでも、日本は勝った。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八村塁選手が欠場する中、河村勇輝選手が24得点でチームを牽引。95-66の勝利を、数字を正確に、出典付きで整理してお届けしました。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