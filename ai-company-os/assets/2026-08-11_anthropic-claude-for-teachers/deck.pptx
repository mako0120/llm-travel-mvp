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2026年8月11日、Anthropicが教員向けのAIアシスタント「Claude for Teachers」を発表したと報じられました。OpenAI・Googleに続く教室向けAI競争参入として報じられています。今日はこの発表を出典付きで整理してお伝えします。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まず結論です。Anthropicが教員向けAIアシスタント『Claude for Teachers』を発表しました。全米50州の学習指導要領を組み込むことができるとされています。教員を支援するための補助ツールとして報じられています。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今日はこの5つの流れでお伝えします。専門用語をかみ砕きながら、確定している事実と、確認できなかったことをはっきり分けて整理します。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は3つです。着手日からわずか1日前という新しい話題であること、OpenAI・Googleに続く参入で競争の構図が出そろったこと、そして全米50州の学習指導要領を組み込めるという具体的な機能があ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まず全体像です。AnthropicがClaude for Teachersという教員向けのAIアシスタントを発表し、教員が授業準備などで活用できるとされています。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報道され方を見ると、KEYT/News Channel 3-12がStacker配信記事としてこの発表を伝えています。見出し自体がOpenAI・Googleに続く参入と位置づけていますが、本調査で確認できた出典は現時点でこの1記事にとどまることを正直にお伝えします。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時系列にするとこうです。これまでOpenAIとGoogleが教育向けAI製品を先行して展開していたとされる中、2026年8月11日にAnthropicがClaude for Teachersを発表しました。提供時期や価格などの詳細は、本調査時点ではまだ不明です。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発表の概要を表にまとめました。Anthropicが2026年8月11日に発表したClaude for Teachersは、全米50州の学習指導要領を組み込めるとされ、授業計画の作成などの用途が想定されています。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教員向けAIアシスタント』とは、教員の授業準備や教材作成などの業務を支援するために設計された生成AIツールです。生徒に直接向き合う存在ではなく、教員を支える裏方の道具として位置づけ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『学習指導要領』とは、各州・各学年で生徒が身につけるべき学習内容を定めた基準です。米国では州ごとに基準が異なり、教員は自州の基準に沿って授業を設計する必要があります。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『教材の個別最適化』とは、生徒一人ひとりの理解度や進度に合わせて教材を調整する考え方です。ただし、具体的にどこまで自動化されるのかの詳細は、本調査の範囲では確認できていません。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報じられている想定用途は3つです。授業計画の作成、教材の個別最適化、そしてデータ活用による指導改善です。いずれも教員の業務を支援する用途として紹介されています。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1つ目の用途は授業計画の作成です。教員が日々作成する授業計画づくりを支援できるとされています。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2つ目の用途は教材の個別最適化です。生徒一人ひとりの理解度に合わせて教材を調整する用途として紹介されています。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3つ目の用途はデータ活用による指導改善です。授業の効果などのデータを踏まえて、指導方法を改善する目的で使えるとされています。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米50州の学習指導要領を組み込むというのは、州ごとに異なる基準の情報をツール側で扱い、教員が自州の基準に沿った準備をしやすくすることを目的にした機能だと考えられます。ただし具体的な実装方法までは出典記事に記載がなく分か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3社の状況を公平に整理しました。Anthropicは今回、教員向けのClaude for Teachersを発表しました。OpenAI・Googleもそれぞれ教育分野向けのAI製品を展開しているとされていますが、具体的な製品名までは本調査の範囲では確認できていません。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教室向けAI競争』と報じられる背景です。出典記事の見出しがOpenAIとGoogleに続く参入という表現を使っていますが、各社が互いを名指しして競争を公言した一次発言があるわけではない点は、推測として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ここまでの骨子をカードで振り返ります。1社の発表、全米50州への対応、3つの想定用途、そして確認できた出典は現時点で1記事という点です。数字が少ない部分は正直にお伝えします。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注意点をお伝えします。出典記事は教員を支援するツールとして紹介しており、教員の代替とは説明していません。本テーマでも、AIが教員に取って代わるという論調は取らず、あくまで補助ツールとして淡々と紹介し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本テーマでの表現についての方針です。画期的・最高・革命的といった宣伝的な表現は一切使わず、Claude for Teachersを推奨・宣伝する結論にもしません。客観的に確認できた事実の報告に徹します。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本テーマはAnthropic社に関するテーマです。本パイプライン自体がAnthropicのClaude Codeを使用して制作されている点を踏まえ、称賛的な表現や誇張は避け、確認できた事実を淡々と報告する構成にしています。OpenAI・Googleにも公平に言及しています。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ここで事実・推測・不明を整理します。発表日や製品名、想定用途は検証済みの事実です。機能の目的の解釈などは推測であり、価格や提供時期、対象学年などは確認できておらず不明です。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5点、一覧にしました。価格や提供時期、対象学年、OpenAIとGoogleの具体的な製品、導入実績、そして出典が現時点で1記事にとどまることも含めて、数字を作らず正直に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発表を見て確認すべきことです。まず提供時期や価格などの続報を待つこと、自校のカリキュラムとの整合性を確認すること、そして既存の教育向けAIツールとの比較検討を行うこと、この3つを勧め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立場別に整理すると、教員は補助ツールの一つとして続報を踏まえて検討すること、学校管理者は比較・導入基準の整理を行うこと、保護者・生徒はAIが教員に取って代わるものではないと理解すること、それぞれに実践的な示唆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準備の様子を比べるとこうなります。従来は教員が一人で準備を担いますが、報じられている使い方では授業計画のたたき台や教材の個別最適化をAIが支援するとされます。ただし最終的な判断は教員が行う前提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全体像として見ると、OpenAI・Googleがすでに教育分野向けのAI製品を展開しているとされる中、Anthropicも2026年8月11日にClaude for Teachersを発表しました。この状況が『教室向けAI競争』として報じられています。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本編で使った出典を一覧にしました。本調査で確認できた出典は現時点でこの1件です。詳細はresearch.mdをご確認ください。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本編は以上です。今回はAnthropicが教員向けAIアシスタント『Claude for Teachers』を発表したというニュースをお伝えしました。教員を支援する補助ツールとして淡々とご紹介しました。数字を鵜呑みにせず、事実関係の整理に留めています。次回もまた出典付きでお届けします。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「先生のためのAI」に、Anthropicも名乗りを上げた日。</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6D9F5"/>
                </a:solidFill>
                <a:latin typeface="Yu Gothic"/>
              </a:rPr>
              <a:t>OpenAI・Googleに続き、Anthropicが教員支援AI「Claude for Teachers」を発表——2026年8月11日発表の要点を出典付きで整理する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AEE0"/>
                </a:solidFill>
                <a:latin typeface="Yu Gothic"/>
              </a:rPr>
              <a:t>出典: KEYT/News Channel 3-12(Stacker経由、2026-08-11)。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結論を先に</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全米50州</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Anthropicが教員向けAIアシスタント「Claude for Teachers」を発表。全米50州の学習指導要領を組み込むことができるとされる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KEYT/News Channel 3-12(Stacker経由、2026-08-11)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6D9F5"/>
                </a:solidFill>
                <a:latin typeface="Yu Gothic"/>
              </a:rPr>
              <a:t>このニュースとは何か・なぜ今話題なのか</a:t>
            </a:r>
          </a:p>
        </p:txBody>
      </p:sp>
      <p:sp>
        <p:nvSpPr>
          <p:cNvPr id="7" name="Oval 6"/>
          <p:cNvSpPr/>
          <p:nvPr/>
        </p:nvSpPr>
        <p:spPr>
          <a:xfrm>
            <a:off x="548640" y="269748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6D9F5"/>
                </a:solidFill>
                <a:latin typeface="Yu Gothic"/>
              </a:rPr>
              <a:t>基礎知識(教員向けAI・学習指導要領とは)</a:t>
            </a:r>
          </a:p>
        </p:txBody>
      </p:sp>
      <p:sp>
        <p:nvSpPr>
          <p:cNvPr id="9" name="Oval 8"/>
          <p:cNvSpPr/>
          <p:nvPr/>
        </p:nvSpPr>
        <p:spPr>
          <a:xfrm>
            <a:off x="548640" y="347472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6D9F5"/>
                </a:solidFill>
                <a:latin typeface="Yu Gothic"/>
              </a:rPr>
              <a:t>発表内容を要素ごとに深掘り</a:t>
            </a:r>
          </a:p>
        </p:txBody>
      </p:sp>
      <p:sp>
        <p:nvSpPr>
          <p:cNvPr id="11" name="Oval 10"/>
          <p:cNvSpPr/>
          <p:nvPr/>
        </p:nvSpPr>
        <p:spPr>
          <a:xfrm>
            <a:off x="548640" y="425196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6D9F5"/>
                </a:solidFill>
                <a:latin typeface="Yu Gothic"/>
              </a:rPr>
              <a:t>OpenAI・Googleとの競争構図(公平に整理)</a:t>
            </a:r>
          </a:p>
        </p:txBody>
      </p:sp>
      <p:sp>
        <p:nvSpPr>
          <p:cNvPr id="13" name="Oval 12"/>
          <p:cNvSpPr/>
          <p:nvPr/>
        </p:nvSpPr>
        <p:spPr>
          <a:xfrm>
            <a:off x="548640" y="502920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6D9F5"/>
                </a:solidFill>
                <a:latin typeface="Yu Gothic"/>
              </a:rPr>
              <a:t>活用イメージと注意点、確認できなかったこと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2026年8月11日発表で、着手日から1日前という新しい話題である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OpenAI・Googleに続きAnthropicも参入し、教室向けAI競争が出そろう形になった</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全米50州の学習指導要領を組み込めるという具体的な機能がある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KEYT/News Channel 3-12(Stacker経由、2026-08-11)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KEYT/News Channel 3-12(Stacker経由、2026-08-11報道)｜177本目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何が起きたのか(概念図)</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Anthropic</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AI開発企業。Claude Codeなどを提供</a:t>
            </a:r>
          </a:p>
        </p:txBody>
      </p:sp>
      <p:sp>
        <p:nvSpPr>
          <p:cNvPr id="10" name="Right Arrow 9"/>
          <p:cNvSpPr/>
          <p:nvPr/>
        </p:nvSpPr>
        <p:spPr>
          <a:xfrm>
            <a:off x="41573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Claude for Teachers</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教員向けに発表されたAIアシスタント</a:t>
            </a:r>
          </a:p>
        </p:txBody>
      </p:sp>
      <p:sp>
        <p:nvSpPr>
          <p:cNvPr id="15" name="Right Arrow 14"/>
          <p:cNvSpPr/>
          <p:nvPr/>
        </p:nvSpPr>
        <p:spPr>
          <a:xfrm>
            <a:off x="73577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教員</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授業計画・教材づくりなどで活用する側とされる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3628C"/>
                </a:solidFill>
                <a:latin typeface="Yu Gothic"/>
              </a:rPr>
              <a:t>AnthropicがK-12を含む学校教員向けに、授業準備を支援するAIアシスタントを発表したと報じられている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KEYT/News Channel 3-12(Stacker経由、2026-08-11報道)｜177本目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報道され方</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本調査で確認できた出典を正直にお伝えします。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KEYT/News Channel 3-12がStacker配信記事としてこの発表を報道</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見出し自体が「OpenAI・Googleに続く教室向けAI競争参入」と位置づけている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本調査で確認できた出典は、現時点でこの1記事にとどまる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KEYT/News Channel 3-12(Stacker経由、2026-08-11)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KEYT/News Channel 3-12(Stacker経由、2026-08-11報道)｜177本目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教室向けAI競争のこれまでと今</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これまで</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OpenAI・Googleが教育向けAI製品を先行して展開しているとされる</a:t>
            </a:r>
          </a:p>
        </p:txBody>
      </p:sp>
      <p:sp>
        <p:nvSpPr>
          <p:cNvPr id="11" name="Chevron 10"/>
          <p:cNvSpPr/>
          <p:nvPr/>
        </p:nvSpPr>
        <p:spPr>
          <a:xfrm>
            <a:off x="4038295"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2026年8月11日</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AnthropicがClaude for Teachersを発表</a:t>
            </a:r>
          </a:p>
        </p:txBody>
      </p:sp>
      <p:sp>
        <p:nvSpPr>
          <p:cNvPr id="17" name="Chevron 16"/>
          <p:cNvSpPr/>
          <p:nvPr/>
        </p:nvSpPr>
        <p:spPr>
          <a:xfrm>
            <a:off x="7919313"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今後</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提供時期・価格などの詳細は本調査時点で不明</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KEYT/News Channel 3-12(Stacker経由、2026-08-11報道)｜177本目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発表の概要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発表主体</a:t>
                      </a:r>
                    </a:p>
                  </a:txBody>
                  <a:tcPr>
                    <a:solidFill>
                      <a:srgbClr val="FFFFFF"/>
                    </a:solidFill>
                  </a:tcPr>
                </a:tc>
                <a:tc>
                  <a:txBody>
                    <a:bodyPr/>
                    <a:lstStyle/>
                    <a:p>
                      <a:pPr>
                        <a:defRPr sz="1200">
                          <a:solidFill>
                            <a:srgbClr val="1C1B33"/>
                          </a:solidFill>
                          <a:latin typeface="Yu Gothic"/>
                        </a:defRPr>
                      </a:pPr>
                      <a:r>
                        <a:t>Anthropic</a:t>
                      </a:r>
                    </a:p>
                  </a:txBody>
                  <a:tcPr>
                    <a:solidFill>
                      <a:srgbClr val="FFFFFF"/>
                    </a:solidFill>
                  </a:tcPr>
                </a:tc>
              </a:tr>
              <a:tr h="502920">
                <a:tc>
                  <a:txBody>
                    <a:bodyPr/>
                    <a:lstStyle/>
                    <a:p>
                      <a:pPr>
                        <a:defRPr sz="1200">
                          <a:solidFill>
                            <a:srgbClr val="1C1B33"/>
                          </a:solidFill>
                          <a:latin typeface="Yu Gothic"/>
                        </a:defRPr>
                      </a:pPr>
                      <a:r>
                        <a:t>製品名</a:t>
                      </a:r>
                    </a:p>
                  </a:txBody>
                  <a:tcPr>
                    <a:solidFill>
                      <a:srgbClr val="F4F3FC"/>
                    </a:solidFill>
                  </a:tcPr>
                </a:tc>
                <a:tc>
                  <a:txBody>
                    <a:bodyPr/>
                    <a:lstStyle/>
                    <a:p>
                      <a:pPr>
                        <a:defRPr sz="1200">
                          <a:solidFill>
                            <a:srgbClr val="1C1B33"/>
                          </a:solidFill>
                          <a:latin typeface="Yu Gothic"/>
                        </a:defRPr>
                      </a:pPr>
                      <a:r>
                        <a:t>Claude for Teachers</a:t>
                      </a:r>
                    </a:p>
                  </a:txBody>
                  <a:tcPr>
                    <a:solidFill>
                      <a:srgbClr val="F4F3FC"/>
                    </a:solidFill>
                  </a:tcPr>
                </a:tc>
              </a:tr>
              <a:tr h="502920">
                <a:tc>
                  <a:txBody>
                    <a:bodyPr/>
                    <a:lstStyle/>
                    <a:p>
                      <a:pPr>
                        <a:defRPr sz="1200">
                          <a:solidFill>
                            <a:srgbClr val="1C1B33"/>
                          </a:solidFill>
                          <a:latin typeface="Yu Gothic"/>
                        </a:defRPr>
                      </a:pPr>
                      <a:r>
                        <a:t>発表日</a:t>
                      </a:r>
                    </a:p>
                  </a:txBody>
                  <a:tcPr>
                    <a:solidFill>
                      <a:srgbClr val="FFFFFF"/>
                    </a:solidFill>
                  </a:tcPr>
                </a:tc>
                <a:tc>
                  <a:txBody>
                    <a:bodyPr/>
                    <a:lstStyle/>
                    <a:p>
                      <a:pPr>
                        <a:defRPr sz="1200">
                          <a:solidFill>
                            <a:srgbClr val="1C1B33"/>
                          </a:solidFill>
                          <a:latin typeface="Yu Gothic"/>
                        </a:defRPr>
                      </a:pPr>
                      <a:r>
                        <a:t>2026年8月11日</a:t>
                      </a:r>
                    </a:p>
                  </a:txBody>
                  <a:tcPr>
                    <a:solidFill>
                      <a:srgbClr val="FFFFFF"/>
                    </a:solidFill>
                  </a:tcPr>
                </a:tc>
              </a:tr>
              <a:tr h="502920">
                <a:tc>
                  <a:txBody>
                    <a:bodyPr/>
                    <a:lstStyle/>
                    <a:p>
                      <a:pPr>
                        <a:defRPr sz="1200">
                          <a:solidFill>
                            <a:srgbClr val="1C1B33"/>
                          </a:solidFill>
                          <a:latin typeface="Yu Gothic"/>
                        </a:defRPr>
                      </a:pPr>
                      <a:r>
                        <a:t>主要機能</a:t>
                      </a:r>
                    </a:p>
                  </a:txBody>
                  <a:tcPr>
                    <a:solidFill>
                      <a:srgbClr val="F4F3FC"/>
                    </a:solidFill>
                  </a:tcPr>
                </a:tc>
                <a:tc>
                  <a:txBody>
                    <a:bodyPr/>
                    <a:lstStyle/>
                    <a:p>
                      <a:pPr>
                        <a:defRPr sz="1200">
                          <a:solidFill>
                            <a:srgbClr val="1C1B33"/>
                          </a:solidFill>
                          <a:latin typeface="Yu Gothic"/>
                        </a:defRPr>
                      </a:pPr>
                      <a:r>
                        <a:t>全米50州の学習指導要領を組み込み可能</a:t>
                      </a:r>
                    </a:p>
                  </a:txBody>
                  <a:tcPr>
                    <a:solidFill>
                      <a:srgbClr val="F4F3FC"/>
                    </a:solidFill>
                  </a:tcPr>
                </a:tc>
              </a:tr>
              <a:tr h="502920">
                <a:tc>
                  <a:txBody>
                    <a:bodyPr/>
                    <a:lstStyle/>
                    <a:p>
                      <a:pPr>
                        <a:defRPr sz="1200">
                          <a:solidFill>
                            <a:srgbClr val="1C1B33"/>
                          </a:solidFill>
                          <a:latin typeface="Yu Gothic"/>
                        </a:defRPr>
                      </a:pPr>
                      <a:r>
                        <a:t>想定用途</a:t>
                      </a:r>
                    </a:p>
                  </a:txBody>
                  <a:tcPr>
                    <a:solidFill>
                      <a:srgbClr val="FFFFFF"/>
                    </a:solidFill>
                  </a:tcPr>
                </a:tc>
                <a:tc>
                  <a:txBody>
                    <a:bodyPr/>
                    <a:lstStyle/>
                    <a:p>
                      <a:pPr>
                        <a:defRPr sz="1200">
                          <a:solidFill>
                            <a:srgbClr val="1C1B33"/>
                          </a:solidFill>
                          <a:latin typeface="Yu Gothic"/>
                        </a:defRPr>
                      </a:pPr>
                      <a:r>
                        <a:t>授業計画の作成・教材の個別最適化・データ活用による指導改善</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KEYT/News Channel 3-12(Stacker経由、2026-08-11)</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KEYT/News Channel 3-12(Stacker経由、2026-08-11報道)｜177本目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基礎知識:「教員向けAIアシスタント」とは(初心者向け)</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専門用語を1つずつ解説します。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教員の授業準備・教材作成などの業務を支援するために設計された生成AIツール</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生徒に直接向き合う存在ではなく、教員の作業を効率化する裏方の道具として位置づけられる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本テーマでは「AIが教員に取って代わる」という論調は取らない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KEYT/News Channel 3-12(Stacker経由、2026-08-11)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KEYT/News Channel 3-12(Stacker経由、2026-08-11報道)｜177本目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基礎知識:「学習指導要領(academic standards)」とは</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もう1つの重要な用語です。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各州・各学年で、生徒が身につけるべき学習内容を定めた基準</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米国では州ごとに学習指導要領が異なり、教員は自州の基準に沿って授業を設計する必要がある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全米50州分をAIが組み込めるとされる点が、この発表の特徴とされる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KEYT/News Channel 3-12(Stacker経由、2026-08-11)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KEYT/News Channel 3-12(Stacker経由、2026-08-11報道)｜177本目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基礎知識:「教材の個別最適化」とは</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3つ目の用語です。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生徒一人ひとりの理解度・進度に合わせて教材の難易度や内容を調整する考え方</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教員が全生徒に同じ教材を配るのではなく、個々に合わせた教材づくりを支援する機能とされる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具体的にどこまで自動化されるかの詳細は、本調査の範囲では確認できていない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KEYT/News Channel 3-12(Stacker経由、2026-08-11)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KEYT/News Channel 3-12(Stacker経由、2026-08-11報道)｜177本目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想定される3つの用途</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授業計画の作成</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lesson plansの作成を支援するとされる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教材の個別最適化</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生徒に合わせて教材を調整するとされる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データ活用による指導改善</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データを踏まえた指導の改善に使えるとされる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KEYT/News Channel 3-12(Stacker経由、2026-08-11)</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KEYT/News Channel 3-12(Stacker経由、2026-08-11報道)｜177本目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用途1</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授業計画の作成</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教員が使う授業計画(lesson plans)の作成を支援できるとされる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KEYT/News Channel 3-12(Stacker経由、2026-08-11)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用途2</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教材の個別最適化</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生徒一人ひとりに合わせて指導教材を個別最適化(personalize)できるとされる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KEYT/News Channel 3-12(Stacker経由、2026-08-11)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用途3</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データ活用による指導改善</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データを活用(harness data)して指導の改善に役立てられるとされる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KEYT/News Channel 3-12(Stacker経由、2026-08-11)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全米50州の学習指導要領を組み込む、とは(概念図)</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州ごとの学習指導要領</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全米50州でそれぞれ内容が異なる</a:t>
            </a:r>
          </a:p>
        </p:txBody>
      </p:sp>
      <p:sp>
        <p:nvSpPr>
          <p:cNvPr id="10" name="Right Arrow 9"/>
          <p:cNvSpPr/>
          <p:nvPr/>
        </p:nvSpPr>
        <p:spPr>
          <a:xfrm>
            <a:off x="41573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Claude for Teachersに組み込み</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州の基準情報をツール側で扱えるとされる</a:t>
            </a:r>
          </a:p>
        </p:txBody>
      </p:sp>
      <p:sp>
        <p:nvSpPr>
          <p:cNvPr id="15" name="Right Arrow 14"/>
          <p:cNvSpPr/>
          <p:nvPr/>
        </p:nvSpPr>
        <p:spPr>
          <a:xfrm>
            <a:off x="73577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州にあわせた授業案・教材の支援</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教員が自州の基準に沿った準備をしやすくなるとされる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3628C"/>
                </a:solidFill>
                <a:latin typeface="Yu Gothic"/>
              </a:rPr>
              <a:t>州ごとに異なる学習指導要領を組み込めるという機能の目的を図にした。具体的な実装方法は出典記事に記載がなく不明</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KEYT/News Channel 3-12(Stacker経由、2026-08-11報道)｜177本目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教室向けAIをめぐる企業の状況(公平に整理)</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企業</a:t>
                      </a:r>
                    </a:p>
                  </a:txBody>
                  <a:tcPr>
                    <a:solidFill>
                      <a:srgbClr val="2E2A72"/>
                    </a:solidFill>
                  </a:tcPr>
                </a:tc>
                <a:tc>
                  <a:txBody>
                    <a:bodyPr/>
                    <a:lstStyle/>
                    <a:p>
                      <a:pPr>
                        <a:defRPr sz="1300" b="1">
                          <a:solidFill>
                            <a:srgbClr val="FFFFFF"/>
                          </a:solidFill>
                          <a:latin typeface="Yu Gothic"/>
                        </a:defRPr>
                      </a:pPr>
                      <a:r>
                        <a:t>教育向けAI製品の状況</a:t>
                      </a:r>
                    </a:p>
                  </a:txBody>
                  <a:tcPr>
                    <a:solidFill>
                      <a:srgbClr val="2E2A72"/>
                    </a:solidFill>
                  </a:tcPr>
                </a:tc>
              </a:tr>
              <a:tr h="502920">
                <a:tc>
                  <a:txBody>
                    <a:bodyPr/>
                    <a:lstStyle/>
                    <a:p>
                      <a:pPr>
                        <a:defRPr sz="1200">
                          <a:solidFill>
                            <a:srgbClr val="1C1B33"/>
                          </a:solidFill>
                          <a:latin typeface="Yu Gothic"/>
                        </a:defRPr>
                      </a:pPr>
                      <a:r>
                        <a:t>Anthropic</a:t>
                      </a:r>
                    </a:p>
                  </a:txBody>
                  <a:tcPr>
                    <a:solidFill>
                      <a:srgbClr val="FFFFFF"/>
                    </a:solidFill>
                  </a:tcPr>
                </a:tc>
                <a:tc>
                  <a:txBody>
                    <a:bodyPr/>
                    <a:lstStyle/>
                    <a:p>
                      <a:pPr>
                        <a:defRPr sz="1200">
                          <a:solidFill>
                            <a:srgbClr val="1C1B33"/>
                          </a:solidFill>
                          <a:latin typeface="Yu Gothic"/>
                        </a:defRPr>
                      </a:pPr>
                      <a:r>
                        <a:t>2026年8月11日、教員向け「Claude for Teachers」を発表</a:t>
                      </a:r>
                    </a:p>
                  </a:txBody>
                  <a:tcPr>
                    <a:solidFill>
                      <a:srgbClr val="FFFFFF"/>
                    </a:solidFill>
                  </a:tcPr>
                </a:tc>
              </a:tr>
              <a:tr h="502920">
                <a:tc>
                  <a:txBody>
                    <a:bodyPr/>
                    <a:lstStyle/>
                    <a:p>
                      <a:pPr>
                        <a:defRPr sz="1200">
                          <a:solidFill>
                            <a:srgbClr val="1C1B33"/>
                          </a:solidFill>
                          <a:latin typeface="Yu Gothic"/>
                        </a:defRPr>
                      </a:pPr>
                      <a:r>
                        <a:t>OpenAI</a:t>
                      </a:r>
                    </a:p>
                  </a:txBody>
                  <a:tcPr>
                    <a:solidFill>
                      <a:srgbClr val="F4F3FC"/>
                    </a:solidFill>
                  </a:tcPr>
                </a:tc>
                <a:tc>
                  <a:txBody>
                    <a:bodyPr/>
                    <a:lstStyle/>
                    <a:p>
                      <a:pPr>
                        <a:defRPr sz="1200">
                          <a:solidFill>
                            <a:srgbClr val="1C1B33"/>
                          </a:solidFill>
                          <a:latin typeface="Yu Gothic"/>
                        </a:defRPr>
                      </a:pPr>
                      <a:r>
                        <a:t>教育分野向けのAI製品を展開しているとされる(具体名は本調査の範囲では確認できず)</a:t>
                      </a:r>
                    </a:p>
                  </a:txBody>
                  <a:tcPr>
                    <a:solidFill>
                      <a:srgbClr val="F4F3FC"/>
                    </a:solidFill>
                  </a:tcPr>
                </a:tc>
              </a:tr>
              <a:tr h="502920">
                <a:tc>
                  <a:txBody>
                    <a:bodyPr/>
                    <a:lstStyle/>
                    <a:p>
                      <a:pPr>
                        <a:defRPr sz="1200">
                          <a:solidFill>
                            <a:srgbClr val="1C1B33"/>
                          </a:solidFill>
                          <a:latin typeface="Yu Gothic"/>
                        </a:defRPr>
                      </a:pPr>
                      <a:r>
                        <a:t>Google</a:t>
                      </a:r>
                    </a:p>
                  </a:txBody>
                  <a:tcPr>
                    <a:solidFill>
                      <a:srgbClr val="FFFFFF"/>
                    </a:solidFill>
                  </a:tcPr>
                </a:tc>
                <a:tc>
                  <a:txBody>
                    <a:bodyPr/>
                    <a:lstStyle/>
                    <a:p>
                      <a:pPr>
                        <a:defRPr sz="1200">
                          <a:solidFill>
                            <a:srgbClr val="1C1B33"/>
                          </a:solidFill>
                          <a:latin typeface="Yu Gothic"/>
                        </a:defRPr>
                      </a:pPr>
                      <a:r>
                        <a:t>教育分野向けのAI製品を展開しているとされる(具体名は本調査の範囲では確認できず)</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KEYT/News Channel 3-12(Stacker経由、2026-08-11)</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KEYT/News Channel 3-12(Stacker経由、2026-08-11報道)｜177本目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「教室向けAI競争」と報じられる背景</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見出し表現の背景を整理します。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出典記事の見出しが「OpenAI and Google in race to dominate classroom AI」と表現している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3社がそれぞれ教育向けAI製品を展開している状況を指しているとみられる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各社が互いを名指しして競争を公言した一次発言があるわけではない(推測との区別)</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KEYT/News Channel 3-12(Stacker経由、2026-08-11)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KEYT/News Channel 3-12(Stacker経由、2026-08-11報道)｜177本目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数字で振り返る発表の骨子</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822960"/>
          </a:xfrm>
          <a:prstGeom prst="rect">
            <a:avLst/>
          </a:prstGeom>
          <a:noFill/>
        </p:spPr>
        <p:txBody>
          <a:bodyPr wrap="square" anchor="t" lIns="0" rIns="0" tIns="0" bIns="0">
            <a:spAutoFit/>
          </a:bodyPr>
          <a:lstStyle/>
          <a:p>
            <a:pPr algn="l"/>
            <a:r>
              <a:rPr sz="3400" b="1">
                <a:solidFill>
                  <a:srgbClr val="17C3B2"/>
                </a:solidFill>
                <a:latin typeface="Yu Gothic"/>
              </a:rPr>
              <a:t>1社</a:t>
            </a:r>
          </a:p>
        </p:txBody>
      </p:sp>
      <p:sp>
        <p:nvSpPr>
          <p:cNvPr id="9" name="TextBox 8"/>
          <p:cNvSpPr txBox="1"/>
          <p:nvPr/>
        </p:nvSpPr>
        <p:spPr>
          <a:xfrm>
            <a:off x="731520" y="2834640"/>
            <a:ext cx="2030653" cy="548640"/>
          </a:xfrm>
          <a:prstGeom prst="rect">
            <a:avLst/>
          </a:prstGeom>
          <a:noFill/>
        </p:spPr>
        <p:txBody>
          <a:bodyPr wrap="square" anchor="t" lIns="0" rIns="0" tIns="0" bIns="0">
            <a:spAutoFit/>
          </a:bodyPr>
          <a:lstStyle/>
          <a:p>
            <a:pPr algn="l"/>
            <a:r>
              <a:rPr sz="1600" b="1">
                <a:solidFill>
                  <a:srgbClr val="2E2A72"/>
                </a:solidFill>
                <a:latin typeface="Yu Gothic"/>
              </a:rPr>
              <a:t>発表主体</a:t>
            </a:r>
          </a:p>
        </p:txBody>
      </p:sp>
      <p:sp>
        <p:nvSpPr>
          <p:cNvPr id="10" name="TextBox 9"/>
          <p:cNvSpPr txBox="1"/>
          <p:nvPr/>
        </p:nvSpPr>
        <p:spPr>
          <a:xfrm>
            <a:off x="731520" y="3520440"/>
            <a:ext cx="2030653"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Anthropicが教員向けAIを発表</a:t>
            </a:r>
          </a:p>
        </p:txBody>
      </p:sp>
      <p:sp>
        <p:nvSpPr>
          <p:cNvPr id="11" name="Rounded Rectangle 10"/>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6533" y="1554480"/>
            <a:ext cx="2579293"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853" y="1828800"/>
            <a:ext cx="2030653" cy="822960"/>
          </a:xfrm>
          <a:prstGeom prst="rect">
            <a:avLst/>
          </a:prstGeom>
          <a:noFill/>
        </p:spPr>
        <p:txBody>
          <a:bodyPr wrap="square" anchor="t" lIns="0" rIns="0" tIns="0" bIns="0">
            <a:spAutoFit/>
          </a:bodyPr>
          <a:lstStyle/>
          <a:p>
            <a:pPr algn="l"/>
            <a:r>
              <a:rPr sz="3400" b="1">
                <a:solidFill>
                  <a:srgbClr val="17C3B2"/>
                </a:solidFill>
                <a:latin typeface="Yu Gothic"/>
              </a:rPr>
              <a:t>50州</a:t>
            </a:r>
          </a:p>
        </p:txBody>
      </p:sp>
      <p:sp>
        <p:nvSpPr>
          <p:cNvPr id="14" name="TextBox 13"/>
          <p:cNvSpPr txBox="1"/>
          <p:nvPr/>
        </p:nvSpPr>
        <p:spPr>
          <a:xfrm>
            <a:off x="3630853" y="2834640"/>
            <a:ext cx="2030653" cy="548640"/>
          </a:xfrm>
          <a:prstGeom prst="rect">
            <a:avLst/>
          </a:prstGeom>
          <a:noFill/>
        </p:spPr>
        <p:txBody>
          <a:bodyPr wrap="square" anchor="t" lIns="0" rIns="0" tIns="0" bIns="0">
            <a:spAutoFit/>
          </a:bodyPr>
          <a:lstStyle/>
          <a:p>
            <a:pPr algn="l"/>
            <a:r>
              <a:rPr sz="1600" b="1">
                <a:solidFill>
                  <a:srgbClr val="2E2A72"/>
                </a:solidFill>
                <a:latin typeface="Yu Gothic"/>
              </a:rPr>
              <a:t>対応範囲</a:t>
            </a:r>
          </a:p>
        </p:txBody>
      </p:sp>
      <p:sp>
        <p:nvSpPr>
          <p:cNvPr id="15" name="TextBox 14"/>
          <p:cNvSpPr txBox="1"/>
          <p:nvPr/>
        </p:nvSpPr>
        <p:spPr>
          <a:xfrm>
            <a:off x="3630853" y="3520440"/>
            <a:ext cx="2030653"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全米50州の学習指導要領を組み込み可能</a:t>
            </a:r>
          </a:p>
        </p:txBody>
      </p:sp>
      <p:sp>
        <p:nvSpPr>
          <p:cNvPr id="16" name="Rounded Rectangle 15"/>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5867" y="1554480"/>
            <a:ext cx="2579293"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0187" y="1828800"/>
            <a:ext cx="2030653" cy="822960"/>
          </a:xfrm>
          <a:prstGeom prst="rect">
            <a:avLst/>
          </a:prstGeom>
          <a:noFill/>
        </p:spPr>
        <p:txBody>
          <a:bodyPr wrap="square" anchor="t" lIns="0" rIns="0" tIns="0" bIns="0">
            <a:spAutoFit/>
          </a:bodyPr>
          <a:lstStyle/>
          <a:p>
            <a:pPr algn="l"/>
            <a:r>
              <a:rPr sz="3400" b="1">
                <a:solidFill>
                  <a:srgbClr val="17C3B2"/>
                </a:solidFill>
                <a:latin typeface="Yu Gothic"/>
              </a:rPr>
              <a:t>3用途</a:t>
            </a:r>
          </a:p>
        </p:txBody>
      </p:sp>
      <p:sp>
        <p:nvSpPr>
          <p:cNvPr id="19" name="TextBox 18"/>
          <p:cNvSpPr txBox="1"/>
          <p:nvPr/>
        </p:nvSpPr>
        <p:spPr>
          <a:xfrm>
            <a:off x="6530187" y="2834640"/>
            <a:ext cx="2030653" cy="548640"/>
          </a:xfrm>
          <a:prstGeom prst="rect">
            <a:avLst/>
          </a:prstGeom>
          <a:noFill/>
        </p:spPr>
        <p:txBody>
          <a:bodyPr wrap="square" anchor="t" lIns="0" rIns="0" tIns="0" bIns="0">
            <a:spAutoFit/>
          </a:bodyPr>
          <a:lstStyle/>
          <a:p>
            <a:pPr algn="l"/>
            <a:r>
              <a:rPr sz="1600" b="1">
                <a:solidFill>
                  <a:srgbClr val="2E2A72"/>
                </a:solidFill>
                <a:latin typeface="Yu Gothic"/>
              </a:rPr>
              <a:t>想定される使い方</a:t>
            </a:r>
          </a:p>
        </p:txBody>
      </p:sp>
      <p:sp>
        <p:nvSpPr>
          <p:cNvPr id="20" name="TextBox 19"/>
          <p:cNvSpPr txBox="1"/>
          <p:nvPr/>
        </p:nvSpPr>
        <p:spPr>
          <a:xfrm>
            <a:off x="6530187" y="3520440"/>
            <a:ext cx="2030653"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授業計画・個別最適化・指導改善</a:t>
            </a:r>
          </a:p>
        </p:txBody>
      </p:sp>
      <p:sp>
        <p:nvSpPr>
          <p:cNvPr id="21" name="Rounded Rectangle 20"/>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1554480"/>
            <a:ext cx="2579293"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9521" y="1828800"/>
            <a:ext cx="2030653" cy="822960"/>
          </a:xfrm>
          <a:prstGeom prst="rect">
            <a:avLst/>
          </a:prstGeom>
          <a:noFill/>
        </p:spPr>
        <p:txBody>
          <a:bodyPr wrap="square" anchor="t" lIns="0" rIns="0" tIns="0" bIns="0">
            <a:spAutoFit/>
          </a:bodyPr>
          <a:lstStyle/>
          <a:p>
            <a:pPr algn="l"/>
            <a:r>
              <a:rPr sz="3400" b="1">
                <a:solidFill>
                  <a:srgbClr val="17C3B2"/>
                </a:solidFill>
                <a:latin typeface="Yu Gothic"/>
              </a:rPr>
              <a:t>1記事</a:t>
            </a:r>
          </a:p>
        </p:txBody>
      </p:sp>
      <p:sp>
        <p:nvSpPr>
          <p:cNvPr id="24" name="TextBox 23"/>
          <p:cNvSpPr txBox="1"/>
          <p:nvPr/>
        </p:nvSpPr>
        <p:spPr>
          <a:xfrm>
            <a:off x="9429521" y="2834640"/>
            <a:ext cx="2030653" cy="548640"/>
          </a:xfrm>
          <a:prstGeom prst="rect">
            <a:avLst/>
          </a:prstGeom>
          <a:noFill/>
        </p:spPr>
        <p:txBody>
          <a:bodyPr wrap="square" anchor="t" lIns="0" rIns="0" tIns="0" bIns="0">
            <a:spAutoFit/>
          </a:bodyPr>
          <a:lstStyle/>
          <a:p>
            <a:pPr algn="l"/>
            <a:r>
              <a:rPr sz="1600" b="1">
                <a:solidFill>
                  <a:srgbClr val="2E2A72"/>
                </a:solidFill>
                <a:latin typeface="Yu Gothic"/>
              </a:rPr>
              <a:t>確認できた出典数</a:t>
            </a:r>
          </a:p>
        </p:txBody>
      </p:sp>
      <p:sp>
        <p:nvSpPr>
          <p:cNvPr id="25" name="TextBox 24"/>
          <p:cNvSpPr txBox="1"/>
          <p:nvPr/>
        </p:nvSpPr>
        <p:spPr>
          <a:xfrm>
            <a:off x="9429521" y="3520440"/>
            <a:ext cx="2030653"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本調査で確認できた出典は現時点で1記事</a:t>
            </a:r>
          </a:p>
        </p:txBody>
      </p:sp>
      <p:sp>
        <p:nvSpPr>
          <p:cNvPr id="26" name="TextBox 2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KEYT/News Channel 3-12(Stacker経由、2026-08-11報道)｜177本目</a:t>
            </a:r>
          </a:p>
        </p:txBody>
      </p:sp>
      <p:sp>
        <p:nvSpPr>
          <p:cNvPr id="27" name="TextBox 2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「AIが先生に取って代わる」という論調への注意</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本テーマで避けている論調です。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出典記事は教員を支援するツールとして紹介しており、教員の代替とは説明していない</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本テーマでも「AIが教員に取って代わる」「教員が不要になる」という論調は取らない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あくまで教員の授業準備等を支援する補助ツールとして淡々と紹介する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KEYT/News Channel 3-12(Stacker経由、2026-08-11)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KEYT/News Channel 3-12(Stacker経由、2026-08-11報道)｜177本目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本テーマでの表現についての方針</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宣伝的な表現を避けるための方針です。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「画期的」「最高の」「革命的」等のsuperlative・宣伝的な表現は一切使わない</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Claude for Teachersを推奨・宣伝する結論にはしない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客観的に確認できた事実の報告に徹する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本シリーズの制作方針</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KEYT/News Channel 3-12(Stacker経由、2026-08-11報道)｜177本目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本テーマの取り扱い方針(自己言及リスクへの配慮)</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本テーマがAnthropic社に関するテーマであることを踏まえた方針です。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本パイプライン(AI Company OS)自体が、AnthropicのClaude Codeを使用して制作されている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そのため称賛的な表現・誇張は避け、確認できた事実を淡々と報告する構成にしている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OpenAI・Googleの競合製品にも公平に言及し、Anthropicだけを特別に扱わない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本シリーズの制作方針</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KEYT/News Channel 3-12(Stacker経由、2026-08-11報道)｜177本目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事実・推測・不明の区別</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分類</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検証済み事実</a:t>
                      </a:r>
                    </a:p>
                  </a:txBody>
                  <a:tcPr>
                    <a:solidFill>
                      <a:srgbClr val="FFFFFF"/>
                    </a:solidFill>
                  </a:tcPr>
                </a:tc>
                <a:tc>
                  <a:txBody>
                    <a:bodyPr/>
                    <a:lstStyle/>
                    <a:p>
                      <a:pPr>
                        <a:defRPr sz="1200">
                          <a:solidFill>
                            <a:srgbClr val="1C1B33"/>
                          </a:solidFill>
                          <a:latin typeface="Yu Gothic"/>
                        </a:defRPr>
                      </a:pPr>
                      <a:r>
                        <a:t>発表日・製品名・全米50州対応・想定される3つの用途・OpenAI/Googleも教育向けAI製品を展開している一般的事実</a:t>
                      </a:r>
                    </a:p>
                  </a:txBody>
                  <a:tcPr>
                    <a:solidFill>
                      <a:srgbClr val="FFFFFF"/>
                    </a:solidFill>
                  </a:tcPr>
                </a:tc>
              </a:tr>
              <a:tr h="502920">
                <a:tc>
                  <a:txBody>
                    <a:bodyPr/>
                    <a:lstStyle/>
                    <a:p>
                      <a:pPr>
                        <a:defRPr sz="1200">
                          <a:solidFill>
                            <a:srgbClr val="1C1B33"/>
                          </a:solidFill>
                          <a:latin typeface="Yu Gothic"/>
                        </a:defRPr>
                      </a:pPr>
                      <a:r>
                        <a:t>合理的推測</a:t>
                      </a:r>
                    </a:p>
                  </a:txBody>
                  <a:tcPr>
                    <a:solidFill>
                      <a:srgbClr val="F4F3FC"/>
                    </a:solidFill>
                  </a:tcPr>
                </a:tc>
                <a:tc>
                  <a:txBody>
                    <a:bodyPr/>
                    <a:lstStyle/>
                    <a:p>
                      <a:pPr>
                        <a:defRPr sz="1200">
                          <a:solidFill>
                            <a:srgbClr val="1C1B33"/>
                          </a:solidFill>
                          <a:latin typeface="Yu Gothic"/>
                        </a:defRPr>
                      </a:pPr>
                      <a:r>
                        <a:t>州ごとの基準情報を組み込む機能の目的、3社の競争という位置づけの背景</a:t>
                      </a:r>
                    </a:p>
                  </a:txBody>
                  <a:tcPr>
                    <a:solidFill>
                      <a:srgbClr val="F4F3FC"/>
                    </a:solidFill>
                  </a:tcPr>
                </a:tc>
              </a:tr>
              <a:tr h="502920">
                <a:tc>
                  <a:txBody>
                    <a:bodyPr/>
                    <a:lstStyle/>
                    <a:p>
                      <a:pPr>
                        <a:defRPr sz="1200">
                          <a:solidFill>
                            <a:srgbClr val="1C1B33"/>
                          </a:solidFill>
                          <a:latin typeface="Yu Gothic"/>
                        </a:defRPr>
                      </a:pPr>
                      <a:r>
                        <a:t>不明</a:t>
                      </a:r>
                    </a:p>
                  </a:txBody>
                  <a:tcPr>
                    <a:solidFill>
                      <a:srgbClr val="FFFFFF"/>
                    </a:solidFill>
                  </a:tcPr>
                </a:tc>
                <a:tc>
                  <a:txBody>
                    <a:bodyPr/>
                    <a:lstStyle/>
                    <a:p>
                      <a:pPr>
                        <a:defRPr sz="1200">
                          <a:solidFill>
                            <a:srgbClr val="1C1B33"/>
                          </a:solidFill>
                          <a:latin typeface="Yu Gothic"/>
                        </a:defRPr>
                      </a:pPr>
                      <a:r>
                        <a:t>価格・提供時期・対象学年の詳細、OpenAI/Googleの具体的な製品名、導入校数・利用者数、単一出典であること自体の限界</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KEYT/News Channel 3-12(Stacker経由、2026-08-11報道)｜177本目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状況</a:t>
                      </a:r>
                    </a:p>
                  </a:txBody>
                  <a:tcPr>
                    <a:solidFill>
                      <a:srgbClr val="2E2A72"/>
                    </a:solidFill>
                  </a:tcPr>
                </a:tc>
              </a:tr>
              <a:tr h="502920">
                <a:tc>
                  <a:txBody>
                    <a:bodyPr/>
                    <a:lstStyle/>
                    <a:p>
                      <a:pPr>
                        <a:defRPr sz="1200">
                          <a:solidFill>
                            <a:srgbClr val="1C1B33"/>
                          </a:solidFill>
                          <a:latin typeface="Yu Gothic"/>
                        </a:defRPr>
                      </a:pPr>
                      <a:r>
                        <a:t>具体的な価格・料金体系</a:t>
                      </a:r>
                    </a:p>
                  </a:txBody>
                  <a:tcPr>
                    <a:solidFill>
                      <a:srgbClr val="FFFFFF"/>
                    </a:solidFill>
                  </a:tcPr>
                </a:tc>
                <a:tc>
                  <a:txBody>
                    <a:bodyPr/>
                    <a:lstStyle/>
                    <a:p>
                      <a:pPr>
                        <a:defRPr sz="1200">
                          <a:solidFill>
                            <a:srgbClr val="1C1B33"/>
                          </a:solidFill>
                          <a:latin typeface="Yu Gothic"/>
                        </a:defRPr>
                      </a:pPr>
                      <a:r>
                        <a:t>本調査の範囲では確認できていない</a:t>
                      </a:r>
                    </a:p>
                  </a:txBody>
                  <a:tcPr>
                    <a:solidFill>
                      <a:srgbClr val="FFFFFF"/>
                    </a:solidFill>
                  </a:tcPr>
                </a:tc>
              </a:tr>
              <a:tr h="502920">
                <a:tc>
                  <a:txBody>
                    <a:bodyPr/>
                    <a:lstStyle/>
                    <a:p>
                      <a:pPr>
                        <a:defRPr sz="1200">
                          <a:solidFill>
                            <a:srgbClr val="1C1B33"/>
                          </a:solidFill>
                          <a:latin typeface="Yu Gothic"/>
                        </a:defRPr>
                      </a:pPr>
                      <a:r>
                        <a:t>提供開始時期・対象学年の詳細</a:t>
                      </a:r>
                    </a:p>
                  </a:txBody>
                  <a:tcPr>
                    <a:solidFill>
                      <a:srgbClr val="F4F3FC"/>
                    </a:solidFill>
                  </a:tcPr>
                </a:tc>
                <a:tc>
                  <a:txBody>
                    <a:bodyPr/>
                    <a:lstStyle/>
                    <a:p>
                      <a:pPr>
                        <a:defRPr sz="1200">
                          <a:solidFill>
                            <a:srgbClr val="1C1B33"/>
                          </a:solidFill>
                          <a:latin typeface="Yu Gothic"/>
                        </a:defRPr>
                      </a:pPr>
                      <a:r>
                        <a:t>本調査の範囲では確認できていない</a:t>
                      </a:r>
                    </a:p>
                  </a:txBody>
                  <a:tcPr>
                    <a:solidFill>
                      <a:srgbClr val="F4F3FC"/>
                    </a:solidFill>
                  </a:tcPr>
                </a:tc>
              </a:tr>
              <a:tr h="502920">
                <a:tc>
                  <a:txBody>
                    <a:bodyPr/>
                    <a:lstStyle/>
                    <a:p>
                      <a:pPr>
                        <a:defRPr sz="1200">
                          <a:solidFill>
                            <a:srgbClr val="1C1B33"/>
                          </a:solidFill>
                          <a:latin typeface="Yu Gothic"/>
                        </a:defRPr>
                      </a:pPr>
                      <a:r>
                        <a:t>OpenAI・Googleの教育向け製品の具体名・機能詳細</a:t>
                      </a:r>
                    </a:p>
                  </a:txBody>
                  <a:tcPr>
                    <a:solidFill>
                      <a:srgbClr val="FFFFFF"/>
                    </a:solidFill>
                  </a:tcPr>
                </a:tc>
                <a:tc>
                  <a:txBody>
                    <a:bodyPr/>
                    <a:lstStyle/>
                    <a:p>
                      <a:pPr>
                        <a:defRPr sz="1200">
                          <a:solidFill>
                            <a:srgbClr val="1C1B33"/>
                          </a:solidFill>
                          <a:latin typeface="Yu Gothic"/>
                        </a:defRPr>
                      </a:pPr>
                      <a:r>
                        <a:t>本調査の範囲では確認できていない(本テーマでは深追いしない)</a:t>
                      </a:r>
                    </a:p>
                  </a:txBody>
                  <a:tcPr>
                    <a:solidFill>
                      <a:srgbClr val="FFFFFF"/>
                    </a:solidFill>
                  </a:tcPr>
                </a:tc>
              </a:tr>
              <a:tr h="502920">
                <a:tc>
                  <a:txBody>
                    <a:bodyPr/>
                    <a:lstStyle/>
                    <a:p>
                      <a:pPr>
                        <a:defRPr sz="1200">
                          <a:solidFill>
                            <a:srgbClr val="1C1B33"/>
                          </a:solidFill>
                          <a:latin typeface="Yu Gothic"/>
                        </a:defRPr>
                      </a:pPr>
                      <a:r>
                        <a:t>実際の導入校数・利用教員数</a:t>
                      </a:r>
                    </a:p>
                  </a:txBody>
                  <a:tcPr>
                    <a:solidFill>
                      <a:srgbClr val="F4F3FC"/>
                    </a:solidFill>
                  </a:tcPr>
                </a:tc>
                <a:tc>
                  <a:txBody>
                    <a:bodyPr/>
                    <a:lstStyle/>
                    <a:p>
                      <a:pPr>
                        <a:defRPr sz="1200">
                          <a:solidFill>
                            <a:srgbClr val="1C1B33"/>
                          </a:solidFill>
                          <a:latin typeface="Yu Gothic"/>
                        </a:defRPr>
                      </a:pPr>
                      <a:r>
                        <a:t>発表直後であり、まだ存在しないと考えられる</a:t>
                      </a:r>
                    </a:p>
                  </a:txBody>
                  <a:tcPr>
                    <a:solidFill>
                      <a:srgbClr val="F4F3FC"/>
                    </a:solidFill>
                  </a:tcPr>
                </a:tc>
              </a:tr>
              <a:tr h="502920">
                <a:tc>
                  <a:txBody>
                    <a:bodyPr/>
                    <a:lstStyle/>
                    <a:p>
                      <a:pPr>
                        <a:defRPr sz="1200">
                          <a:solidFill>
                            <a:srgbClr val="1C1B33"/>
                          </a:solidFill>
                          <a:latin typeface="Yu Gothic"/>
                        </a:defRPr>
                      </a:pPr>
                      <a:r>
                        <a:t>複数の独立した情報源による裏付け</a:t>
                      </a:r>
                    </a:p>
                  </a:txBody>
                  <a:tcPr>
                    <a:solidFill>
                      <a:srgbClr val="FFFFFF"/>
                    </a:solidFill>
                  </a:tcPr>
                </a:tc>
                <a:tc>
                  <a:txBody>
                    <a:bodyPr/>
                    <a:lstStyle/>
                    <a:p>
                      <a:pPr>
                        <a:defRPr sz="1200">
                          <a:solidFill>
                            <a:srgbClr val="1C1B33"/>
                          </a:solidFill>
                          <a:latin typeface="Yu Gothic"/>
                        </a:defRPr>
                      </a:pPr>
                      <a:r>
                        <a:t>確認できた出典は現時点で1記事にとどまる</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KEYT/News Channel 3-12(Stacker経由、2026-08-11報道)｜177本目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学校・教員がこの発表を見て確認すべきこと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続報を待つ</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提供時期・価格などの続報を確認する</a:t>
            </a:r>
          </a:p>
        </p:txBody>
      </p:sp>
      <p:sp>
        <p:nvSpPr>
          <p:cNvPr id="11" name="Chevron 10"/>
          <p:cNvSpPr/>
          <p:nvPr/>
        </p:nvSpPr>
        <p:spPr>
          <a:xfrm>
            <a:off x="4038295"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整合性を確認する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自校のカリキュラム・学習指導要領との整合性を確認する</a:t>
            </a:r>
          </a:p>
        </p:txBody>
      </p:sp>
      <p:sp>
        <p:nvSpPr>
          <p:cNvPr id="17" name="Chevron 16"/>
          <p:cNvSpPr/>
          <p:nvPr/>
        </p:nvSpPr>
        <p:spPr>
          <a:xfrm>
            <a:off x="7919313"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比較検討する</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既存の教育向けAIツールとの比較検討を行う</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KEYT/News Channel 3-12(Stacker経由、2026-08-11報道)｜177本目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立場別の実践的示唆</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教員として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授業準備を支援する補助ツールの一つとして、続報を踏まえて検討する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学校管理者として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既存の教育向けAIツールとの比較・導入基準の整理を行う</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保護者・生徒として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AIが教員に取って代わるものではなく、支援ツールである点を理解する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KEYT/News Channel 3-12(Stacker経由、2026-08-11報道)｜177本目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従来の授業準備 / AI活用が報じられている授業準備</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従来の授業準備</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教員が一人で授業計画・教材を準備する</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生徒個々への対応は教員の時間的余力に左右される</a:t>
            </a:r>
          </a:p>
        </p:txBody>
      </p:sp>
      <p:sp>
        <p:nvSpPr>
          <p:cNvPr id="13" name="Oval 12"/>
          <p:cNvSpPr/>
          <p:nvPr/>
        </p:nvSpPr>
        <p:spPr>
          <a:xfrm>
            <a:off x="777240"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州の学習指導要領の確認も教員自身が行う</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AI活用が報じられている授業準備</a:t>
            </a:r>
          </a:p>
        </p:txBody>
      </p:sp>
      <p:sp>
        <p:nvSpPr>
          <p:cNvPr id="18" name="Oval 17"/>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授業計画のたたき台をAIが支援するとされる</a:t>
            </a:r>
          </a:p>
        </p:txBody>
      </p:sp>
      <p:sp>
        <p:nvSpPr>
          <p:cNvPr id="20" name="Oval 19"/>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教材の個別最適化を支援するとされる</a:t>
            </a:r>
          </a:p>
        </p:txBody>
      </p:sp>
      <p:sp>
        <p:nvSpPr>
          <p:cNvPr id="22" name="Oval 21"/>
          <p:cNvSpPr/>
          <p:nvPr/>
        </p:nvSpPr>
        <p:spPr>
          <a:xfrm>
            <a:off x="6598767"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最終的な判断・確認は教員が行う前提とされる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KEYT/News Channel 3-12(Stacker経由、2026-08-11報道)｜177本目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教室向けAI競争の全体像(概念図)</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OpenAI</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教育分野向けAI製品を展開しているとされる</a:t>
            </a:r>
          </a:p>
        </p:txBody>
      </p:sp>
      <p:sp>
        <p:nvSpPr>
          <p:cNvPr id="10" name="Right Arrow 9"/>
          <p:cNvSpPr/>
          <p:nvPr/>
        </p:nvSpPr>
        <p:spPr>
          <a:xfrm>
            <a:off x="41573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Google</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教育分野向けAI製品を展開しているとされる</a:t>
            </a:r>
          </a:p>
        </p:txBody>
      </p:sp>
      <p:sp>
        <p:nvSpPr>
          <p:cNvPr id="15" name="Right Arrow 14"/>
          <p:cNvSpPr/>
          <p:nvPr/>
        </p:nvSpPr>
        <p:spPr>
          <a:xfrm>
            <a:off x="73577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Anthropic</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2026年8月11日、Claude for Teachersを発表</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3628C"/>
                </a:solidFill>
                <a:latin typeface="Yu Gothic"/>
              </a:rPr>
              <a:t>3社がそれぞれ教育向けAI製品を展開している状況が、「教室向けAI競争」として報じられている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KEYT/News Channel 3-12(Stacker経由、2026-08-11報道)｜177本目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主な出典一覧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0058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2E2A72"/>
                    </a:solidFill>
                  </a:tcPr>
                </a:tc>
                <a:tc>
                  <a:txBody>
                    <a:bodyPr/>
                    <a:lstStyle/>
                    <a:p>
                      <a:pPr>
                        <a:defRPr sz="1300" b="1">
                          <a:solidFill>
                            <a:srgbClr val="FFFFFF"/>
                          </a:solidFill>
                          <a:latin typeface="Yu Gothic"/>
                        </a:defRPr>
                      </a:pPr>
                      <a:r>
                        <a:t>報道日</a:t>
                      </a:r>
                    </a:p>
                  </a:txBody>
                  <a:tcPr>
                    <a:solidFill>
                      <a:srgbClr val="2E2A72"/>
                    </a:solidFill>
                  </a:tcPr>
                </a:tc>
              </a:tr>
              <a:tr h="502920">
                <a:tc>
                  <a:txBody>
                    <a:bodyPr/>
                    <a:lstStyle/>
                    <a:p>
                      <a:pPr>
                        <a:defRPr sz="1200">
                          <a:solidFill>
                            <a:srgbClr val="1C1B33"/>
                          </a:solidFill>
                          <a:latin typeface="Yu Gothic"/>
                        </a:defRPr>
                      </a:pPr>
                      <a:r>
                        <a:t>KEYT/News Channel 3-12(Stacker経由)</a:t>
                      </a:r>
                    </a:p>
                  </a:txBody>
                  <a:tcPr>
                    <a:solidFill>
                      <a:srgbClr val="FFFFFF"/>
                    </a:solidFill>
                  </a:tcPr>
                </a:tc>
                <a:tc>
                  <a:txBody>
                    <a:bodyPr/>
                    <a:lstStyle/>
                    <a:p>
                      <a:pPr>
                        <a:defRPr sz="1200">
                          <a:solidFill>
                            <a:srgbClr val="1C1B33"/>
                          </a:solidFill>
                          <a:latin typeface="Yu Gothic"/>
                        </a:defRPr>
                      </a:pPr>
                      <a:r>
                        <a:t>2026-08-11</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本調査で確認できた出典</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KEYT/News Channel 3-12(Stacker経由、2026-08-11報道)｜177本目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Claude for Teachersは、教員を支援する補助ツールの一つとして報じられている。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6D9F5"/>
                </a:solidFill>
                <a:latin typeface="Yu Gothic"/>
              </a:rPr>
              <a:t>特定企業・製品の利用を強く推奨する結論や、AIが教員に取って代わるという断定は一切行っていません。</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E2A72"/>
                </a:solidFill>
                <a:latin typeface="Yu Gothic"/>
              </a:rPr>
              <a:t>research.mdで出典・確認できなかったことの詳細を確認する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