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最大1,500万ユーロ、または全世界売上高の3%。これが、今回の規制に違反した場合の罰則です。2026年8月2日、EU AI Actの第50条『透明性義務』が発効しました。チャットボットは『私は人間ではなくAIです』と名乗る義務が生じ、ディープフェイクにはラベル表示が必要になりました。今日はこの制度変更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まず罰則の重さから確認します。最大1,500万ユーロ、または全世界年間売上高の3%のいずれか高い方です。かなり厳しい水準です。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今日はこの5つの流れでお伝えします。似たような日付の規制が過去にもあり、混同しやすいので、その違いも整理します。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発効内容を整理すると、この5点になります。単なるガイドラインではなく、罰則付きの法的義務であり、執行機関も同時に動き出した点が重要です。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変わったことを3つに整理しました。チャットボットの名乗り、AI生成コンテンツの表示、そしてディープフェイクのラベル表示です。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対象範囲は4つの分野に分かれています。チャットボットのような直接対話、AI生成コンテンツ、感情認識・生体分類、そしてディープフェイクです。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チャットボットについては、『AIと会話している』ということを利用者に伝えなければなりません。当たり前のようで、これまで義務ではなかった点です。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ここが特に驚かれるポイントです。『騙すつもりがなかった』としても、実在の人物に似せた合成コンテンツにはラベル表示が必要になります。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表にまとめるとこうなります。それぞれの分野で、求められる対応が少しずつ異なります。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改めて罰則の水準を確認します。売上高の大きい企業ほど、金額ベースでの負担が大きくなる設計です。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重要なのは、EUに拠点がない企業も対象になりうる点です。域外適用があります。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英国企業の例が挙げられていますが、日本企業がEU向けにサービスを提供する場合も同様の考え方が当てはまると考えられます。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拠点がどこにあるかではなく、EU市場やEU利用者に影響するかどうかで判断される、という考え方です。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ここは混同しやすいポイントです。2025年8月にも似たような発効がありましたが、あちらはGPAIモデル提供者向けの別の義務でした。今回の第50条透明性義務とは対象が異なります。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全体像を4段階で整理しました。一度に全部が施行されたわけではなく、段階的に進んでいます。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1つだけ猶予があります。すでに動いているシステムについては、電子透かしの義務だけ、2026年12月2日まで猶予されます。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新規システムと既存システムで、扱いが少し異なります。電子透かしの義務だけ、既存システムには猶予があります。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取り締まるのは、欧州委員会のAI Officeと、各加盟国の当局です。この権限も、今回同時に動き出しました。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この3つは当社の推測です。条文の対象範囲から一般的に想定される業種を挙げたもので、欧州委員会が個別にこれらの業種を名指ししているわけではありません。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これまでのテーマとは少し性質が違います。企業の発表ではなく、公的機関による規制です。発効したばかりなので、実際にどう運用されるかはこれからです。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日本企業にとって完全に無関係というわけではありません。EU向けにサービスを提供しているなら、確認しておく価値のある規制です。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これまでのテーマの多くは、AIを『作る』『売る』段階の話でした。今回は一歩進んで、『規制される』段階の話です。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同じくAI関連のテーマですが、対象が『企業の発表』ではなく『公的機関の規制』である点が、既存テーマとの明確な違いです。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この3つは当社の推測です。規制の内容から一般的に想定される影響を整理したもので、断定はしていません。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実務的な視点として、事業者が今のうちに確認しておきたい4つのポイントをまとめました。これは一般的な整理であり、法的助言ではありません。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AIの利用自体が禁止されたわけではありません。『使うなら、AIだと明示する』というのが今回の変化の本質です。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資金調達のニュースでも、法規制のニュースでも、数字と日付を丁寧に確認する姿勢は同じだと思います。この動画がその練習になれば嬉しいです。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最後にもう一度確認します。2026年8月2日、EU AI Act第50条が発効し、チャットボットの名乗り義務とディープフェイクのラベル表示義務が生じました。違反すれば、最大1,500万ユーロまたは売上高3%の罰則があります。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本編は以上です。今回はEU AI Act第50条の透明性義務の発効を題材に、AI関連ニュースが『規制される』段階にも広がっていることをお伝えしました。次回もまた出典付きでお届けします。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最大1,500万ユーロ、または売上高の3%。</a:t>
            </a:r>
          </a:p>
          <a:p>
            <a:pPr algn="l">
              <a:lnSpc>
                <a:spcPct val="115000"/>
              </a:lnSpc>
            </a:pPr>
            <a:r>
              <a:rPr sz="4200" b="1">
                <a:solidFill>
                  <a:srgbClr val="FFFFFF"/>
                </a:solidFill>
                <a:latin typeface="Yu Gothic"/>
              </a:rPr>
              <a:t>EUで、AIの「名乗り義務」が発効した。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EU AI Act 第50条「透明性義務」の発効(2026年8月2日)を、出典付きで振り返る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欧州委員会公式サイト・IBTimes UK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違反した場合の罰則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最大1,500万ユーロ / 売上高3%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いずれか高い方が適用される(発効日2026-08-02)</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IBTimes UK(2026-08-02)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何が発効したのか(EU AI Act 第50条)</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具体的にどんな義務が生じたのか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罰則・域外適用の範囲</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2025年8月の規制との違い(混同注意)</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発効の概要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2026年8月2日、EU AI Act第50条のポイントです。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EU AI Act(EUのAI規則)第50条「透明性義務」が適用開始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チャットボットは人間ではなくAIであることを利用者に明示する義務</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ディープフェイク等の合成コンテンツにラベル表示が必要</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違反時は最大1,500万ユーロまたは売上高3%の罰金</a:t>
            </a:r>
          </a:p>
        </p:txBody>
      </p:sp>
      <p:sp>
        <p:nvSpPr>
          <p:cNvPr id="15" name="Oval 14"/>
          <p:cNvSpPr/>
          <p:nvPr/>
        </p:nvSpPr>
        <p:spPr>
          <a:xfrm>
            <a:off x="457200" y="523036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欧州委員会AI Officeによる執行権限も同日発動</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欧州委員会公式サイト / IBTimes UK(2026-08-02)</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変わったことの3本柱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チャットボットの名乗り義務</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AIと会話していることを利用者に明示する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AI生成コンテンツの表示義務</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機械可読な形でAI生成であることを示す</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ディープフェイクのラベル表示</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欺く意図の有無にかかわらずラベルが必要</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欧州委員会公式サイト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透明性義務が対象とする4分野(概念図)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個人との直接対話</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チャットボット等</a:t>
            </a:r>
          </a:p>
        </p:txBody>
      </p:sp>
      <p:sp>
        <p:nvSpPr>
          <p:cNvPr id="10" name="Right Arrow 9"/>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AI生成コンテンツ</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機械可読な表示</a:t>
            </a:r>
          </a:p>
        </p:txBody>
      </p:sp>
      <p:sp>
        <p:nvSpPr>
          <p:cNvPr id="15" name="Right Arrow 14"/>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感情認識・生体分類</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利用者への通知義務</a:t>
            </a:r>
          </a:p>
        </p:txBody>
      </p:sp>
      <p:sp>
        <p:nvSpPr>
          <p:cNvPr id="20" name="Right Arrow 19"/>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ディープフェイク</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実在人物に似せた合成コンテンツ</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この4分野に、それぞれ異なる透明性義務が定められている</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チャットボットの義務(具体的に)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EU域内で稼働するチャットボットに求められることです。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利用者に対して「人間ではなくAI(機械)と会話している」ことを明示する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対話の開始時点、または利用者が誤解しうる場面で明示することが求められる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対象はEU域内で提供されるサービス全般</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IBTimes UK(2026-08-02)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ディープフェイクの義務(具体的に)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合成コンテンツに関する規定です。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実在の人物のように見える・聞こえる合成コンテンツにはラベル表示が必要</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欺く意図の有無にかかわらず、ラベル表示義務が生じる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実在の人物が描かれていない場合でも対象になりうる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IBTimes UK(2026-08-02)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4分野の義務、詳細一覧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分野</a:t>
                      </a:r>
                    </a:p>
                  </a:txBody>
                  <a:tcPr>
                    <a:solidFill>
                      <a:srgbClr val="1E2761"/>
                    </a:solidFill>
                  </a:tcPr>
                </a:tc>
                <a:tc>
                  <a:txBody>
                    <a:bodyPr/>
                    <a:lstStyle/>
                    <a:p>
                      <a:pPr>
                        <a:defRPr sz="1300" b="1">
                          <a:solidFill>
                            <a:srgbClr val="FFFFFF"/>
                          </a:solidFill>
                          <a:latin typeface="Yu Gothic"/>
                        </a:defRPr>
                      </a:pPr>
                      <a:r>
                        <a:t>求められる対応</a:t>
                      </a:r>
                    </a:p>
                  </a:txBody>
                  <a:tcPr>
                    <a:solidFill>
                      <a:srgbClr val="1E2761"/>
                    </a:solidFill>
                  </a:tcPr>
                </a:tc>
              </a:tr>
              <a:tr h="502920">
                <a:tc>
                  <a:txBody>
                    <a:bodyPr/>
                    <a:lstStyle/>
                    <a:p>
                      <a:pPr>
                        <a:defRPr sz="1200">
                          <a:solidFill>
                            <a:srgbClr val="1A1A2E"/>
                          </a:solidFill>
                          <a:latin typeface="Yu Gothic"/>
                        </a:defRPr>
                      </a:pPr>
                      <a:r>
                        <a:t>個人との直接対話</a:t>
                      </a:r>
                    </a:p>
                  </a:txBody>
                  <a:tcPr>
                    <a:solidFill>
                      <a:srgbClr val="FFFFFF"/>
                    </a:solidFill>
                  </a:tcPr>
                </a:tc>
                <a:tc>
                  <a:txBody>
                    <a:bodyPr/>
                    <a:lstStyle/>
                    <a:p>
                      <a:pPr>
                        <a:defRPr sz="1200">
                          <a:solidFill>
                            <a:srgbClr val="1A1A2E"/>
                          </a:solidFill>
                          <a:latin typeface="Yu Gothic"/>
                        </a:defRPr>
                      </a:pPr>
                      <a:r>
                        <a:t>AIであることの明示(チャットボット等)</a:t>
                      </a:r>
                    </a:p>
                  </a:txBody>
                  <a:tcPr>
                    <a:solidFill>
                      <a:srgbClr val="FFFFFF"/>
                    </a:solidFill>
                  </a:tcPr>
                </a:tc>
              </a:tr>
              <a:tr h="502920">
                <a:tc>
                  <a:txBody>
                    <a:bodyPr/>
                    <a:lstStyle/>
                    <a:p>
                      <a:pPr>
                        <a:defRPr sz="1200">
                          <a:solidFill>
                            <a:srgbClr val="1A1A2E"/>
                          </a:solidFill>
                          <a:latin typeface="Yu Gothic"/>
                        </a:defRPr>
                      </a:pPr>
                      <a:r>
                        <a:t>AI生成コンテンツ</a:t>
                      </a:r>
                    </a:p>
                  </a:txBody>
                  <a:tcPr>
                    <a:solidFill>
                      <a:srgbClr val="F3F6FC"/>
                    </a:solidFill>
                  </a:tcPr>
                </a:tc>
                <a:tc>
                  <a:txBody>
                    <a:bodyPr/>
                    <a:lstStyle/>
                    <a:p>
                      <a:pPr>
                        <a:defRPr sz="1200">
                          <a:solidFill>
                            <a:srgbClr val="1A1A2E"/>
                          </a:solidFill>
                          <a:latin typeface="Yu Gothic"/>
                        </a:defRPr>
                      </a:pPr>
                      <a:r>
                        <a:t>機械可読な形式での表示</a:t>
                      </a:r>
                    </a:p>
                  </a:txBody>
                  <a:tcPr>
                    <a:solidFill>
                      <a:srgbClr val="F3F6FC"/>
                    </a:solidFill>
                  </a:tcPr>
                </a:tc>
              </a:tr>
              <a:tr h="502920">
                <a:tc>
                  <a:txBody>
                    <a:bodyPr/>
                    <a:lstStyle/>
                    <a:p>
                      <a:pPr>
                        <a:defRPr sz="1200">
                          <a:solidFill>
                            <a:srgbClr val="1A1A2E"/>
                          </a:solidFill>
                          <a:latin typeface="Yu Gothic"/>
                        </a:defRPr>
                      </a:pPr>
                      <a:r>
                        <a:t>感情認識・生体分類</a:t>
                      </a:r>
                    </a:p>
                  </a:txBody>
                  <a:tcPr>
                    <a:solidFill>
                      <a:srgbClr val="FFFFFF"/>
                    </a:solidFill>
                  </a:tcPr>
                </a:tc>
                <a:tc>
                  <a:txBody>
                    <a:bodyPr/>
                    <a:lstStyle/>
                    <a:p>
                      <a:pPr>
                        <a:defRPr sz="1200">
                          <a:solidFill>
                            <a:srgbClr val="1A1A2E"/>
                          </a:solidFill>
                          <a:latin typeface="Yu Gothic"/>
                        </a:defRPr>
                      </a:pPr>
                      <a:r>
                        <a:t>システムの利用について利用者へ通知</a:t>
                      </a:r>
                    </a:p>
                  </a:txBody>
                  <a:tcPr>
                    <a:solidFill>
                      <a:srgbClr val="FFFFFF"/>
                    </a:solidFill>
                  </a:tcPr>
                </a:tc>
              </a:tr>
              <a:tr h="502920">
                <a:tc>
                  <a:txBody>
                    <a:bodyPr/>
                    <a:lstStyle/>
                    <a:p>
                      <a:pPr>
                        <a:defRPr sz="1200">
                          <a:solidFill>
                            <a:srgbClr val="1A1A2E"/>
                          </a:solidFill>
                          <a:latin typeface="Yu Gothic"/>
                        </a:defRPr>
                      </a:pPr>
                      <a:r>
                        <a:t>ディープフェイク・公共的テキスト</a:t>
                      </a:r>
                    </a:p>
                  </a:txBody>
                  <a:tcPr>
                    <a:solidFill>
                      <a:srgbClr val="F3F6FC"/>
                    </a:solidFill>
                  </a:tcPr>
                </a:tc>
                <a:tc>
                  <a:txBody>
                    <a:bodyPr/>
                    <a:lstStyle/>
                    <a:p>
                      <a:pPr>
                        <a:defRPr sz="1200">
                          <a:solidFill>
                            <a:srgbClr val="1A1A2E"/>
                          </a:solidFill>
                          <a:latin typeface="Yu Gothic"/>
                        </a:defRPr>
                      </a:pPr>
                      <a:r>
                        <a:t>ラベル表示(意図の有無を問わない)</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欧州委員会公式サイト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改めて、罰則の水準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最大1,500万ユーロ / 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全世界年間売上高の3%、または1,500万ユーロのいずれか高い方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IBTimes UK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適用範囲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EU域外の企業も対象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EU市場にAIシステムを提供する場合、または出力がEU域内で利用される場合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IBTimes UK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域外適用の具体例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IBTimes UKが挙げている例です。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EU顧客向けに提供される英国製チャットボット</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EU域内の利用者に表示される英国製の合成コンテンツ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拠点がEU域外でも、出力がEU域内で使われれば対象になりうる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IBTimes UK</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適用範囲の考え方(概念図)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EU域外の事業者</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拠点はEUの外</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EU市場への提供 or EU域内での出力利用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この条件に当てはまるか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透明性義務の対象</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条件に当てはまれば適用される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拠点の場所ではなく、EU市場・EU利用者への影響で判断される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混同注意: 2025年8月と2026年8月の違い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発効日</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2025年8月2日</a:t>
                      </a:r>
                    </a:p>
                  </a:txBody>
                  <a:tcPr>
                    <a:solidFill>
                      <a:srgbClr val="FFFFFF"/>
                    </a:solidFill>
                  </a:tcPr>
                </a:tc>
                <a:tc>
                  <a:txBody>
                    <a:bodyPr/>
                    <a:lstStyle/>
                    <a:p>
                      <a:pPr>
                        <a:defRPr sz="1200">
                          <a:solidFill>
                            <a:srgbClr val="1A1A2E"/>
                          </a:solidFill>
                          <a:latin typeface="Yu Gothic"/>
                        </a:defRPr>
                      </a:pPr>
                      <a:r>
                        <a:t>汎用AI(GPAI)モデル提供者向けの義務(技術文書整備・著作権対応等)が法的に効力を持った</a:t>
                      </a:r>
                    </a:p>
                  </a:txBody>
                  <a:tcPr>
                    <a:solidFill>
                      <a:srgbClr val="FFFFFF"/>
                    </a:solidFill>
                  </a:tcPr>
                </a:tc>
              </a:tr>
              <a:tr h="502920">
                <a:tc>
                  <a:txBody>
                    <a:bodyPr/>
                    <a:lstStyle/>
                    <a:p>
                      <a:pPr>
                        <a:defRPr sz="1200">
                          <a:solidFill>
                            <a:srgbClr val="1A1A2E"/>
                          </a:solidFill>
                          <a:latin typeface="Yu Gothic"/>
                        </a:defRPr>
                      </a:pPr>
                      <a:r>
                        <a:t>2026年8月2日(本テーマ)</a:t>
                      </a:r>
                    </a:p>
                  </a:txBody>
                  <a:tcPr>
                    <a:solidFill>
                      <a:srgbClr val="F3F6FC"/>
                    </a:solidFill>
                  </a:tcPr>
                </a:tc>
                <a:tc>
                  <a:txBody>
                    <a:bodyPr/>
                    <a:lstStyle/>
                    <a:p>
                      <a:pPr>
                        <a:defRPr sz="1200">
                          <a:solidFill>
                            <a:srgbClr val="1A1A2E"/>
                          </a:solidFill>
                          <a:latin typeface="Yu Gothic"/>
                        </a:defRPr>
                      </a:pPr>
                      <a:r>
                        <a:t>GPAIモデル義務の執行ツール(情報提供要求・モデルアクセス等)が稼働開始、かつ第50条の透明性義務(チャットボット等)が新たに適用開始</a:t>
                      </a:r>
                    </a:p>
                  </a:txBody>
                  <a:tcPr>
                    <a:solidFill>
                      <a:srgbClr val="F3F6FC"/>
                    </a:solidFill>
                  </a:tcPr>
                </a:tc>
              </a:tr>
              <a:tr h="502920">
                <a:tc>
                  <a:txBody>
                    <a:bodyPr/>
                    <a:lstStyle/>
                    <a:p>
                      <a:pPr>
                        <a:defRPr sz="1200">
                          <a:solidFill>
                            <a:srgbClr val="1A1A2E"/>
                          </a:solidFill>
                          <a:latin typeface="Yu Gothic"/>
                        </a:defRPr>
                      </a:pPr>
                      <a:r>
                        <a:t>2027年8月2日(予定)</a:t>
                      </a:r>
                    </a:p>
                  </a:txBody>
                  <a:tcPr>
                    <a:solidFill>
                      <a:srgbClr val="FFFFFF"/>
                    </a:solidFill>
                  </a:tcPr>
                </a:tc>
                <a:tc>
                  <a:txBody>
                    <a:bodyPr/>
                    <a:lstStyle/>
                    <a:p>
                      <a:pPr>
                        <a:defRPr sz="1200">
                          <a:solidFill>
                            <a:srgbClr val="1A1A2E"/>
                          </a:solidFill>
                          <a:latin typeface="Yu Gothic"/>
                        </a:defRPr>
                      </a:pPr>
                      <a:r>
                        <a:t>2025年8月以前から存在するGPAIモデルの完全コンプライアンス期限</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Digital Applied</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EU AI Actの段階的な施行(概略)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2024年</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EU AI Actが成立</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2025年8月</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GPAIモデル提供者向けの義務が法的に効力を持つ</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2026年8月(本テーマ)</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第50条透明性義務が適用開始、執行ツールも稼働</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2027年8月(予定)</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既存GPAIモデルの完全コンプライアンス期限</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既存システムへの猶予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2026年12月2日まで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発効前から存在するシステムは、電子透かし(machine-readable watermarking)の義務のみ猶予される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Sidley(Data Matters)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新規システム vs 既存システム</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新規システム(2026年8月2日以降)</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すべての透明性義務が即座に適用される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電子透かしの義務も猶予なし</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設計段階から対応が必要</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既存システム(発効前から稼働)</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チャットボット明示・ラベル表示義務は即座に適用</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電子透かしの義務のみ2026年12月2日まで猶予</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猶予期間中に対応を進める必要がある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執行体制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誰が取り締まるのか、という点です。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欧州委員会のAI Officeが執行権限を持つ</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加盟国の当局とともに執行にあたる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2026年8月2日、この執行権限も同時に発動した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IBTimes UK</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対象となりうる事業者の例(合理的推測)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チャットボット提供企業</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カスタマーサポート等でAI対話を提供する企業</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生成AIコンテンツ制作者</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AI生成画像・音声・動画を扱う企業</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広告・エンタメ業界</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合成コンテンツを利用する場面がある業界</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読み解く上での注意点(1)</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本テーマは企業の自社発表ではなく、公的機関による法規制の発効</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発効直後のため、実際に執行(罰金賦課等)された事例はまだ確認できていない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欧州委員会の公式ガイドライン文書全文は直接確認できていない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複数の法律専門メディア・法律事務所解説を突き合わせて整理している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欧州委員会公式ガイドライン文書の全文</a:t>
                      </a:r>
                    </a:p>
                  </a:txBody>
                  <a:tcPr>
                    <a:solidFill>
                      <a:srgbClr val="FFFFFF"/>
                    </a:solidFill>
                  </a:tcPr>
                </a:tc>
                <a:tc>
                  <a:txBody>
                    <a:bodyPr/>
                    <a:lstStyle/>
                    <a:p>
                      <a:pPr>
                        <a:defRPr sz="1200">
                          <a:solidFill>
                            <a:srgbClr val="1A1A2E"/>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1A1A2E"/>
                          </a:solidFill>
                          <a:latin typeface="Yu Gothic"/>
                        </a:defRPr>
                      </a:pPr>
                      <a:r>
                        <a:t>実際に執行(罰金賦課等)された事例</a:t>
                      </a:r>
                    </a:p>
                  </a:txBody>
                  <a:tcPr>
                    <a:solidFill>
                      <a:srgbClr val="F3F6FC"/>
                    </a:solidFill>
                  </a:tcPr>
                </a:tc>
                <a:tc>
                  <a:txBody>
                    <a:bodyPr/>
                    <a:lstStyle/>
                    <a:p>
                      <a:pPr>
                        <a:defRPr sz="1200">
                          <a:solidFill>
                            <a:srgbClr val="1A1A2E"/>
                          </a:solidFill>
                          <a:latin typeface="Yu Gothic"/>
                        </a:defRPr>
                      </a:pPr>
                      <a:r>
                        <a:t>発効直後のため確認できていない</a:t>
                      </a:r>
                    </a:p>
                  </a:txBody>
                  <a:tcPr>
                    <a:solidFill>
                      <a:srgbClr val="F3F6FC"/>
                    </a:solidFill>
                  </a:tcPr>
                </a:tc>
              </a:tr>
              <a:tr h="502920">
                <a:tc>
                  <a:txBody>
                    <a:bodyPr/>
                    <a:lstStyle/>
                    <a:p>
                      <a:pPr>
                        <a:defRPr sz="1200">
                          <a:solidFill>
                            <a:srgbClr val="1A1A2E"/>
                          </a:solidFill>
                          <a:latin typeface="Yu Gothic"/>
                        </a:defRPr>
                      </a:pPr>
                      <a:r>
                        <a:t>日本企業の対応状況・対応事例数</a:t>
                      </a:r>
                    </a:p>
                  </a:txBody>
                  <a:tcPr>
                    <a:solidFill>
                      <a:srgbClr val="FFFFFF"/>
                    </a:solidFill>
                  </a:tcPr>
                </a:tc>
                <a:tc>
                  <a:txBody>
                    <a:bodyPr/>
                    <a:lstStyle/>
                    <a:p>
                      <a:pPr>
                        <a:defRPr sz="1200">
                          <a:solidFill>
                            <a:srgbClr val="1A1A2E"/>
                          </a:solidFill>
                          <a:latin typeface="Yu Gothic"/>
                        </a:defRPr>
                      </a:pPr>
                      <a:r>
                        <a:t>個別の数字は確認できていない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読み解く上での注意点(2)</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日本企業への影響について触れておきます。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EU域内向けにチャットボット・生成AIサービスを提供する日本企業は対象になりうる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拠点が日本であっても、EU市場・EU利用者に影響すれば適用される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具体的にどれだけの日本企業が対応を進めているかは確認できていない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本テーマはEUの規制の紹介として扱う</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本パイプラインの既存テーマとの位置づけ(概念図)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資金調達・製品ローンチ</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58〜65本目の中心的な切り口</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料金制度の変化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65本目(Meta Business Agent)</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法規制の発効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本テーマ(EU AI Act)</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「作る・売る」段階から「規制される」段階の話へ</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既存テーマとの違い(重複確認)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近いテーマ</a:t>
                      </a:r>
                    </a:p>
                  </a:txBody>
                  <a:tcPr>
                    <a:solidFill>
                      <a:srgbClr val="1E2761"/>
                    </a:solidFill>
                  </a:tcPr>
                </a:tc>
                <a:tc>
                  <a:txBody>
                    <a:bodyPr/>
                    <a:lstStyle/>
                    <a:p>
                      <a:pPr>
                        <a:defRPr sz="1300" b="1">
                          <a:solidFill>
                            <a:srgbClr val="FFFFFF"/>
                          </a:solidFill>
                          <a:latin typeface="Yu Gothic"/>
                        </a:defRPr>
                      </a:pPr>
                      <a:r>
                        <a:t>本テーマとの違い</a:t>
                      </a:r>
                    </a:p>
                  </a:txBody>
                  <a:tcPr>
                    <a:solidFill>
                      <a:srgbClr val="1E2761"/>
                    </a:solidFill>
                  </a:tcPr>
                </a:tc>
              </a:tr>
              <a:tr h="502920">
                <a:tc>
                  <a:txBody>
                    <a:bodyPr/>
                    <a:lstStyle/>
                    <a:p>
                      <a:pPr>
                        <a:defRPr sz="1200">
                          <a:solidFill>
                            <a:srgbClr val="1A1A2E"/>
                          </a:solidFill>
                          <a:latin typeface="Yu Gothic"/>
                        </a:defRPr>
                      </a:pPr>
                      <a:r>
                        <a:t>2026-07-28_open-secure-ai-alliance(既存)</a:t>
                      </a:r>
                    </a:p>
                  </a:txBody>
                  <a:tcPr>
                    <a:solidFill>
                      <a:srgbClr val="FFFFFF"/>
                    </a:solidFill>
                  </a:tcPr>
                </a:tc>
                <a:tc>
                  <a:txBody>
                    <a:bodyPr/>
                    <a:lstStyle/>
                    <a:p>
                      <a:pPr>
                        <a:defRPr sz="1200">
                          <a:solidFill>
                            <a:srgbClr val="1A1A2E"/>
                          </a:solidFill>
                          <a:latin typeface="Yu Gothic"/>
                        </a:defRPr>
                      </a:pPr>
                      <a:r>
                        <a:t>あちらは業界団体によるセキュリティ関連の自主的な取り組み、本テーマは公的機関による法的拘束力のある規制</a:t>
                      </a:r>
                    </a:p>
                  </a:txBody>
                  <a:tcPr>
                    <a:solidFill>
                      <a:srgbClr val="FFFFFF"/>
                    </a:solidFill>
                  </a:tcPr>
                </a:tc>
              </a:tr>
              <a:tr h="502920">
                <a:tc>
                  <a:txBody>
                    <a:bodyPr/>
                    <a:lstStyle/>
                    <a:p>
                      <a:pPr>
                        <a:defRPr sz="1200">
                          <a:solidFill>
                            <a:srgbClr val="1A1A2E"/>
                          </a:solidFill>
                          <a:latin typeface="Yu Gothic"/>
                        </a:defRPr>
                      </a:pPr>
                      <a:r>
                        <a:t>2026-08-02_meta-business-agent-token-pricing(65本目)</a:t>
                      </a:r>
                    </a:p>
                  </a:txBody>
                  <a:tcPr>
                    <a:solidFill>
                      <a:srgbClr val="F3F6FC"/>
                    </a:solidFill>
                  </a:tcPr>
                </a:tc>
                <a:tc>
                  <a:txBody>
                    <a:bodyPr/>
                    <a:lstStyle/>
                    <a:p>
                      <a:pPr>
                        <a:defRPr sz="1200">
                          <a:solidFill>
                            <a:srgbClr val="1A1A2E"/>
                          </a:solidFill>
                          <a:latin typeface="Yu Gothic"/>
                        </a:defRPr>
                      </a:pPr>
                      <a:r>
                        <a:t>あちらは一企業の料金制度変更、本テーマはEU全体に適用される法規制</a:t>
                      </a:r>
                    </a:p>
                  </a:txBody>
                  <a:tcPr>
                    <a:solidFill>
                      <a:srgbClr val="F3F6FC"/>
                    </a:solidFill>
                  </a:tcPr>
                </a:tc>
              </a:tr>
              <a:tr h="502920">
                <a:tc>
                  <a:txBody>
                    <a:bodyPr/>
                    <a:lstStyle/>
                    <a:p>
                      <a:pPr>
                        <a:defRPr sz="1200">
                          <a:solidFill>
                            <a:srgbClr val="1A1A2E"/>
                          </a:solidFill>
                          <a:latin typeface="Yu Gothic"/>
                        </a:defRPr>
                      </a:pPr>
                      <a:r>
                        <a:t>58〜64本目の資金調達系テーマ</a:t>
                      </a:r>
                    </a:p>
                  </a:txBody>
                  <a:tcPr>
                    <a:solidFill>
                      <a:srgbClr val="FFFFFF"/>
                    </a:solidFill>
                  </a:tcPr>
                </a:tc>
                <a:tc>
                  <a:txBody>
                    <a:bodyPr/>
                    <a:lstStyle/>
                    <a:p>
                      <a:pPr>
                        <a:defRPr sz="1200">
                          <a:solidFill>
                            <a:srgbClr val="1A1A2E"/>
                          </a:solidFill>
                          <a:latin typeface="Yu Gothic"/>
                        </a:defRPr>
                      </a:pPr>
                      <a:r>
                        <a:t>あちらは「調達される」段階、本テーマは「規制される」段階で切り口が異なる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想定される影響(合理的推測)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コンプライアンスコストの増加</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対象事業者は表示・記録対応のコストが発生すると考えられる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UI・UXの変更</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チャットボットの明示表示など、画面上の変更が必要になると考えられる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コンプライアンス支援市場の拡大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対応を支援するサービス・コンサルティングの需要が増えると考えられる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事業者が今のうちに確認しておきたいこと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対象範囲の確認</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自社サービスがEU市場・EU利用者に関わるか確認する</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チャットボット表示の見直し</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AIであることを明示する表示があるか確認する</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生成コンテンツのラベル対応</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AI生成コンテンツ・ディープフェイクのラベル表示体制を確認する</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既存システムの猶予期限の把握</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2026年12月2日の電子透かし猶予期限を踏まえて準備する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変わったこと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チャットボットの名乗り義務が法的義務に</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ディープフェイクにラベル表示が必要に</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違反時に罰則(最大1,500万ユーロ等)が生じる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変わらないこと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AI技術・サービス自体の提供は禁止されていない</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既存システムの電子透かし義務には猶予がある</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EU域外の事業者すべてが対象になるわけではない(条件次第)</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AI関連のニュースは、企業の発表だけでなく法規制の発効にも広がっている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『発効日』と『執行が本格化する日』が異なる場合があるため、日付を丁寧に確認する価値がある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似た日付の別の規制と混同しないよう、対象条文・対象範囲を確認するとよい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規制の内容自体はAI技術を禁止するものではなく、透明性(明示)を求めるものだと理解しておくとよい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欧州委員会・IBTimes UK ほか(発効日2026-08-02)｜定期実行66本目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2026/8/2 発効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チャットボットの名乗り義務、ディープフェイクのラベル表示義務。違反は最大1,500万ユーロまたは売上高3%。</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『発効日』と『何が変わったか』を、いつもセットで確認する。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法規制のニュースは日付が重要です。次に規制のニュースを見るときも、この視点を持ってみてください。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