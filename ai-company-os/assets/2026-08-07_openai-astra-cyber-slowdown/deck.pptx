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7日、Axiosの独占取材とTechCrunchの報道により、OpenAIが次期モデル「Astra」の開発の一部を、サイバーセキュリティ上の懸念を理由に自ら減速させていたことが明らかになりました。今日はこの経緯を、OpenAI自身の言葉と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一番大事な一言を確認します。OpenAIはAxiosの取材に対し、Astraに重大なサイバー能力がないとは言い切れない、と述べました。これは「攻撃できる」という断定ではなく「否定できない」という、より慎重な表現である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今日はこの5つの流れでお伝えします。専門用語をかみ砕きながら、事実と推測をはっきり分けて整理します。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このテーマは2026年8月7日という、着手日から2日以内の新しい報道に基づいています。AI開発企業がスピードよりリスク対応を優先したという選択自体が、注目に値するポイントです。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traは、OpenAIが開発中とされる次期フラッグシップモデルです。実は8月3日にも、Astraが数学の未解決問題を解いたという成果が報じられていましたが、今回はそれとは全く別の、サイバーセキュリティに関する新しい話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ここは混同しやすいので整理します。8月3日の数学の成果と、今回のサイバーセキュリティを理由にした開発減速は、同じモデル名ですが全く別の出来事です。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構図を図にするとこうです。Astraの社内レビューで能力の進展が確認され、重大なサイバー能力の閾値に到達した可能性が浮上し、OpenAIは開発の一部を自ら減速させました。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時系列で並べるとこうなります。通常の開発の中で能力が向上し、社内レビューで閾値到達の可能性が浮上し、OpenAIは自ら開発を止め、その経緯を8月7日に公表しました。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Preparedness Frameworkは、OpenAIが2023年に作った社内ルールです。モデルの能力が重大な水準に達したと判断されると、追加の安全対策が発動する仕組みとされ、今回はこれが働いたとされています。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が公表に踏み切った理由です。潜在的な能力の変化について透明性を保つことが重要だと考えている、という趣旨をAxiosに説明したと報じられています。直接引用ではなく、報道による発言要旨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報じたメディアを整理しました。最初のAxiosの独占取材を、TechCrunchが同日に確認し、その後複数のメディアが追随して報じています。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この用語の意味を確認します。従来なら高度に防御されてきたはずの実世界のシステムに対して、モデルが人の手を借りず独立して攻撃を特定・実行できる可能性、という水準を指すとされています。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ここは特に正確に伝えたい点です。OpenAIの発言はあくまで「否定できない」という慎重な表現で、「確実にできる」という断定ではありません。この違いを混同しないようにしてください。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事実関係を表にまとめました。最初の報道はAxios、それをTechCrunchが同日確認し、OpenAI自身のコメントもAxiosの取材の中で示されています。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似たテーマに見えますが構図が異なります。今回はOpenAIが自ら気づいて止めた自主的な対応、146本目は外部の評価者が想定外の挙動を発見した事例です。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関連しそうな既存テーマとの違いを一覧にしました。主体(政府か企業か)、方向性(発見されたか自ら気づいたか)、扱う出来事そのものが、それぞれ異なります。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Preparedness Frameworkの位置づけを図にしました。通常の開発プロセスの中で重大リスクの兆候が検知されると、この枠組みに基づいて追加の安全対策や開発減速が発動する仕組みとされています。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ここまでの検証済み事実を4点にまとめました。いずれもAxiosとTechCrunchの報道で確認できている内容です。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確認できなかったことを4点、一覧にしました。数字や技術的な詳細を推測で埋めず、正直に不明として扱っています。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ここから事実と推測を分けます。OpenAIの発言そのものは複数メディアが確認していますが、その先の解釈は当社の推測であることを明確にします。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ここからは、視聴者にとって具体的に何を意味するかです。AIを使う立場、導入を検討する立場、ニュースを追う立場、それぞれで意識したい点をまとめました。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今後起こりうる展開を3つ挙げましたが、いずれも現時点では確定していません。続報が出た際にはこのテーマの内容も更新する必要があります。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ここで一度立ち止まります。本テーマはOpenAIという一企業の判断を扱いますが、称賛も非難もせず、事実関係の整理に徹しています。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本テーマの鮮度を数字で確認します。中心となる報道は2026年8月7日、着手日は2026年8月9日で、2日以内という基準を満たしています。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見出しの印象と実際の主張には、しばしばギャップがあります。今回のケースでは、OpenAIの実際の発言はより慎重で、しかもリスクに対応する行動を取っている点が重要です。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よくある誤解を3つ整理しました。いずれも「不明」または「報道からは確認できない」という正直な整理にとどめています。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出典の性質を整理します。最も一次情報に近いのはAxiosの独占取材で、OpenAI公式の一次発表そのものへの直接アクセスはできていない点を正直にお伝えします。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最後にもう一度、今回のポイントを確認します。「確実に危険」と断定したわけではなく、「否定できない」という慎重な言葉のまま、OpenAIは自ら開発を止めるという選択をしました。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OpenAIが自社の次期モデルAstraの開発を、サイバーセキュリティ上の懸念を理由に自ら減速させた経緯をお伝えしました。称賛や非難ではなく、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OpenAIが、自社の最新AI「Astra」は</a:t>
            </a:r>
          </a:p>
          <a:p>
            <a:pPr algn="l">
              <a:lnSpc>
                <a:spcPct val="115000"/>
              </a:lnSpc>
            </a:pPr>
            <a:r>
              <a:rPr sz="4200" b="1">
                <a:solidFill>
                  <a:srgbClr val="FFFFFF"/>
                </a:solidFill>
                <a:latin typeface="Yu Gothic"/>
              </a:rPr>
              <a:t>単独でサイバー攻撃をやってのける可能性があると認め、</a:t>
            </a:r>
          </a:p>
          <a:p>
            <a:pPr algn="l">
              <a:lnSpc>
                <a:spcPct val="115000"/>
              </a:lnSpc>
            </a:pPr>
            <a:r>
              <a:rPr sz="4200" b="1">
                <a:solidFill>
                  <a:srgbClr val="FFFFFF"/>
                </a:solidFill>
                <a:latin typeface="Yu Gothic"/>
              </a:rPr>
              <a:t>あえて開発を止めた。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「重大なサイバー能力がないとは言い切れない」――OpenAI自身の言葉から、Astra開発減速の経緯を出典付きで整理する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Axios・TechCrunch(いずれも2026-08-07)。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OpenAIが公式に認めたこと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重大なサイバー能力がないとは言い切れない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Astraが「重大なサイバーセキュリティ能力」の閾値に到達した可能性を、OpenAI自身がAxiosに認めた発言(意訳)</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Axios(2026-08-07)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何が起きたのか(初心者向け解説つき)</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同じ「Astra」でも別の出来事であることの整理</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経緯とOpenAIの対応をタイムラインで確認</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他の関連テーマ(サンドボックス脱出・政府審査枠組み)との違い</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事実・推測・不明の切り分けと、今後の注目点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2026年8月7日、AxiosとTechCrunchが同時に報じた(着手日の2日前)</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AI開発企業が、自社モデルのリスクを理由に自ら開発を止めるという珍しい事例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「開発競争を優先せず、あえて減速する」という選択が注目されている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Axios / TechCrunch(2026-08-07)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「Astra」とは何か(初心者向け)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本題に入る前に、Astraについて確認します。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OpenAIが開発している次期フラッグシップモデルの開発コード名とされる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2026年8月3日には、Astraが80年未解決の数学問題を解いたという成果が別途報じられていた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今回のテーマは、その数学の成果とは別の、サイバーセキュリティに関する新しい報道</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Axios / TechCrunch(2026-08-07)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同じ「Astra」でも別の出来事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2026年8月3日の話題(既存テーマ)</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Astraが80年未解決の数学問題を解いた</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AIの科学研究能力に関する成果の話</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サイバーセキュリティとは無関係</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本テーマ(2026年8月7日)</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Astraがサイバー能力の閾値に達した可能性</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OpenAIが自ら開発の一部を減速</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安全性・リスク管理に関する話</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今回起きたことの構図(概念図)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Astraの開発・社内レビュー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エージェント型コーディング・サイバー能力を評価</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重大サイバー能力の閾値に到達の可能性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Preparedness Frameworkが定める重要な節目</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開発の一部を意図的に減速</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追加の安全対策(セーフガード)を発動</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外部からの指摘ではなく、OpenAI自身の社内レビューがきっかけだったとされる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経緯のタイムライン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1962851"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414211" cy="548640"/>
          </a:xfrm>
          <a:prstGeom prst="rect">
            <a:avLst/>
          </a:prstGeom>
          <a:noFill/>
        </p:spPr>
        <p:txBody>
          <a:bodyPr wrap="square" anchor="t" lIns="0" rIns="0" tIns="0" bIns="0">
            <a:spAutoFit/>
          </a:bodyPr>
          <a:lstStyle/>
          <a:p>
            <a:pPr algn="l"/>
            <a:r>
              <a:rPr sz="1600" b="1">
                <a:solidFill>
                  <a:srgbClr val="7A1F2B"/>
                </a:solidFill>
                <a:latin typeface="Yu Gothic"/>
              </a:rPr>
              <a:t>通常の開発</a:t>
            </a:r>
          </a:p>
        </p:txBody>
      </p:sp>
      <p:sp>
        <p:nvSpPr>
          <p:cNvPr id="10" name="TextBox 9"/>
          <p:cNvSpPr txBox="1"/>
          <p:nvPr/>
        </p:nvSpPr>
        <p:spPr>
          <a:xfrm>
            <a:off x="731520" y="3566160"/>
            <a:ext cx="1414211"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Astraのエージェント型コーディング・サイバー能力が向上</a:t>
            </a:r>
          </a:p>
        </p:txBody>
      </p:sp>
      <p:sp>
        <p:nvSpPr>
          <p:cNvPr id="11" name="Chevron 10"/>
          <p:cNvSpPr/>
          <p:nvPr/>
        </p:nvSpPr>
        <p:spPr>
          <a:xfrm>
            <a:off x="2485887"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1531"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85811" y="1737360"/>
            <a:ext cx="1962851"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60131"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060131" y="2926080"/>
            <a:ext cx="1414211" cy="548640"/>
          </a:xfrm>
          <a:prstGeom prst="rect">
            <a:avLst/>
          </a:prstGeom>
          <a:noFill/>
        </p:spPr>
        <p:txBody>
          <a:bodyPr wrap="square" anchor="t" lIns="0" rIns="0" tIns="0" bIns="0">
            <a:spAutoFit/>
          </a:bodyPr>
          <a:lstStyle/>
          <a:p>
            <a:pPr algn="l"/>
            <a:r>
              <a:rPr sz="1600" b="1">
                <a:solidFill>
                  <a:srgbClr val="7A1F2B"/>
                </a:solidFill>
                <a:latin typeface="Yu Gothic"/>
              </a:rPr>
              <a:t>社内レビュー</a:t>
            </a:r>
          </a:p>
        </p:txBody>
      </p:sp>
      <p:sp>
        <p:nvSpPr>
          <p:cNvPr id="16" name="TextBox 15"/>
          <p:cNvSpPr txBox="1"/>
          <p:nvPr/>
        </p:nvSpPr>
        <p:spPr>
          <a:xfrm>
            <a:off x="3060131" y="3566160"/>
            <a:ext cx="1414211"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Preparedness Frameworkに基づく能力評価を実施</a:t>
            </a:r>
          </a:p>
        </p:txBody>
      </p:sp>
      <p:sp>
        <p:nvSpPr>
          <p:cNvPr id="17" name="Chevron 16"/>
          <p:cNvSpPr/>
          <p:nvPr/>
        </p:nvSpPr>
        <p:spPr>
          <a:xfrm>
            <a:off x="4814498"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60142"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14422" y="1737360"/>
            <a:ext cx="1962851"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388742"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5388742" y="2926080"/>
            <a:ext cx="1414211" cy="548640"/>
          </a:xfrm>
          <a:prstGeom prst="rect">
            <a:avLst/>
          </a:prstGeom>
          <a:noFill/>
        </p:spPr>
        <p:txBody>
          <a:bodyPr wrap="square" anchor="t" lIns="0" rIns="0" tIns="0" bIns="0">
            <a:spAutoFit/>
          </a:bodyPr>
          <a:lstStyle/>
          <a:p>
            <a:pPr algn="l"/>
            <a:r>
              <a:rPr sz="1600" b="1">
                <a:solidFill>
                  <a:srgbClr val="7A1F2B"/>
                </a:solidFill>
                <a:latin typeface="Yu Gothic"/>
              </a:rPr>
              <a:t>閾値到達の兆候</a:t>
            </a:r>
          </a:p>
        </p:txBody>
      </p:sp>
      <p:sp>
        <p:nvSpPr>
          <p:cNvPr id="22" name="TextBox 21"/>
          <p:cNvSpPr txBox="1"/>
          <p:nvPr/>
        </p:nvSpPr>
        <p:spPr>
          <a:xfrm>
            <a:off x="5388742" y="3566160"/>
            <a:ext cx="1414211"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「重大なサイバー能力」の閾値に達した可能性が浮上</a:t>
            </a:r>
          </a:p>
        </p:txBody>
      </p:sp>
      <p:sp>
        <p:nvSpPr>
          <p:cNvPr id="23" name="Chevron 22"/>
          <p:cNvSpPr/>
          <p:nvPr/>
        </p:nvSpPr>
        <p:spPr>
          <a:xfrm>
            <a:off x="7143109"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88753"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43033" y="1737360"/>
            <a:ext cx="1962851"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17353"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7717353" y="2926080"/>
            <a:ext cx="1414211" cy="548640"/>
          </a:xfrm>
          <a:prstGeom prst="rect">
            <a:avLst/>
          </a:prstGeom>
          <a:noFill/>
        </p:spPr>
        <p:txBody>
          <a:bodyPr wrap="square" anchor="t" lIns="0" rIns="0" tIns="0" bIns="0">
            <a:spAutoFit/>
          </a:bodyPr>
          <a:lstStyle/>
          <a:p>
            <a:pPr algn="l"/>
            <a:r>
              <a:rPr sz="1600" b="1">
                <a:solidFill>
                  <a:srgbClr val="7A1F2B"/>
                </a:solidFill>
                <a:latin typeface="Yu Gothic"/>
              </a:rPr>
              <a:t>自主的な減速</a:t>
            </a:r>
          </a:p>
        </p:txBody>
      </p:sp>
      <p:sp>
        <p:nvSpPr>
          <p:cNvPr id="28" name="TextBox 27"/>
          <p:cNvSpPr txBox="1"/>
          <p:nvPr/>
        </p:nvSpPr>
        <p:spPr>
          <a:xfrm>
            <a:off x="7717353" y="3566160"/>
            <a:ext cx="1414211"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開発の一部を止め、追加の安全対策を発動</a:t>
            </a:r>
          </a:p>
        </p:txBody>
      </p:sp>
      <p:sp>
        <p:nvSpPr>
          <p:cNvPr id="29" name="Chevron 28"/>
          <p:cNvSpPr/>
          <p:nvPr/>
        </p:nvSpPr>
        <p:spPr>
          <a:xfrm>
            <a:off x="9471720"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17364"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771644" y="1737360"/>
            <a:ext cx="1962851"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45964"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5</a:t>
            </a:r>
          </a:p>
        </p:txBody>
      </p:sp>
      <p:sp>
        <p:nvSpPr>
          <p:cNvPr id="33" name="TextBox 32"/>
          <p:cNvSpPr txBox="1"/>
          <p:nvPr/>
        </p:nvSpPr>
        <p:spPr>
          <a:xfrm>
            <a:off x="10045964" y="2926080"/>
            <a:ext cx="1414211" cy="548640"/>
          </a:xfrm>
          <a:prstGeom prst="rect">
            <a:avLst/>
          </a:prstGeom>
          <a:noFill/>
        </p:spPr>
        <p:txBody>
          <a:bodyPr wrap="square" anchor="t" lIns="0" rIns="0" tIns="0" bIns="0">
            <a:spAutoFit/>
          </a:bodyPr>
          <a:lstStyle/>
          <a:p>
            <a:pPr algn="l"/>
            <a:r>
              <a:rPr sz="1600" b="1">
                <a:solidFill>
                  <a:srgbClr val="7A1F2B"/>
                </a:solidFill>
                <a:latin typeface="Yu Gothic"/>
              </a:rPr>
              <a:t>公表(8/7)</a:t>
            </a:r>
          </a:p>
        </p:txBody>
      </p:sp>
      <p:sp>
        <p:nvSpPr>
          <p:cNvPr id="34" name="TextBox 33"/>
          <p:cNvSpPr txBox="1"/>
          <p:nvPr/>
        </p:nvSpPr>
        <p:spPr>
          <a:xfrm>
            <a:off x="10045964" y="3566160"/>
            <a:ext cx="1414211"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AxiosとTechCrunchが経緯を報道</a:t>
            </a:r>
          </a:p>
        </p:txBody>
      </p:sp>
      <p:sp>
        <p:nvSpPr>
          <p:cNvPr id="35" name="TextBox 3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36" name="TextBox 3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Preparedness Frameworkとは何か(初心者向け)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本題のカギになる用語を解説します。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OpenAIが2023年に策定した、フロンティアAIのリスク段階を管理する社内ポリシー</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サイバーセキュリティなど特定分野で、モデルの能力が一定の重大な水準に達したと判断された場合に、追加の安全対策を発動する仕組みとされる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今回、この枠組みに基づいて開発減速が決まったとされる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Axios / TechCrunch(2026-08-07)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“一般の人々や、安全性・セキュリティ分野のコミュニティに対して、この潜在的な能力の変化について透明性を保つことが重要だと考えている(報道による発言要旨)”</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F3E3C9"/>
                </a:solidFill>
                <a:latin typeface="Yu Gothic"/>
              </a:rPr>
              <a:t>— OpenAI(Axios、2026-08-07報道より)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報じたメディア</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7A1F2B"/>
                </a:solidFill>
                <a:latin typeface="Yu Gothic"/>
              </a:rPr>
              <a:t>Axios</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2026年8月7日、独占取材として最初に報道</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7A1F2B"/>
                </a:solidFill>
                <a:latin typeface="Yu Gothic"/>
              </a:rPr>
              <a:t>TechCrunch</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同日、経緯を確認する記事を掲載</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7A1F2B"/>
                </a:solidFill>
                <a:latin typeface="Yu Gothic"/>
              </a:rPr>
              <a:t>Benzinga / Stocktwits</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投資・市場系メディアも同内容を報道</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D4A017"/>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7A1F2B"/>
                </a:solidFill>
                <a:latin typeface="Yu Gothic"/>
              </a:rPr>
              <a:t>Ground News / Eurasia Business News</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国際的なニュース集約・報道機関も追随</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各社報道(2026-08-07/08)</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「重大なサイバーセキュリティ能力」の意味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独立して実行しうる可能性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従来高度に防御されてきた実世界のシステムに対し、モデルが独立してサイバー攻撃を特定・実行できる可能性を指すとされる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Axios / TechCrunch(2026-08-07)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「できる」と「否定できない」の違い(重要な注意点)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見出しだけで誤解しやすい点を整理します。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OpenAIの発言は「Astraは重大なサイバー能力を持つ」という断定ではない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正確には「持たないとは言い切れない(cannot rule out)」という、より慎重な表現</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「Astraがどんなシステムでも確実にハッキングできる」という主張ではない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Axios(2026-08-07)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事実整理: 誰が・いつ・何を発表したか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発信元</a:t>
                      </a:r>
                    </a:p>
                  </a:txBody>
                  <a:tcPr>
                    <a:solidFill>
                      <a:srgbClr val="7A1F2B"/>
                    </a:solidFill>
                  </a:tcPr>
                </a:tc>
                <a:tc>
                  <a:txBody>
                    <a:bodyPr/>
                    <a:lstStyle/>
                    <a:p>
                      <a:pPr>
                        <a:defRPr sz="1300" b="1">
                          <a:solidFill>
                            <a:srgbClr val="FFFFFF"/>
                          </a:solidFill>
                          <a:latin typeface="Yu Gothic"/>
                        </a:defRPr>
                      </a:pPr>
                      <a:r>
                        <a:t>日付</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Axios</a:t>
                      </a:r>
                    </a:p>
                  </a:txBody>
                  <a:tcPr>
                    <a:solidFill>
                      <a:srgbClr val="FFFFFF"/>
                    </a:solidFill>
                  </a:tcPr>
                </a:tc>
                <a:tc>
                  <a:txBody>
                    <a:bodyPr/>
                    <a:lstStyle/>
                    <a:p>
                      <a:pPr>
                        <a:defRPr sz="1200">
                          <a:solidFill>
                            <a:srgbClr val="2A1712"/>
                          </a:solidFill>
                          <a:latin typeface="Yu Gothic"/>
                        </a:defRPr>
                      </a:pPr>
                      <a:r>
                        <a:t>2026-08-07</a:t>
                      </a:r>
                    </a:p>
                  </a:txBody>
                  <a:tcPr>
                    <a:solidFill>
                      <a:srgbClr val="FFFFFF"/>
                    </a:solidFill>
                  </a:tcPr>
                </a:tc>
                <a:tc>
                  <a:txBody>
                    <a:bodyPr/>
                    <a:lstStyle/>
                    <a:p>
                      <a:pPr>
                        <a:defRPr sz="1200">
                          <a:solidFill>
                            <a:srgbClr val="2A1712"/>
                          </a:solidFill>
                          <a:latin typeface="Yu Gothic"/>
                        </a:defRPr>
                      </a:pPr>
                      <a:r>
                        <a:t>独占取材でOpenAIのAstra開発減速を最初に報道</a:t>
                      </a:r>
                    </a:p>
                  </a:txBody>
                  <a:tcPr>
                    <a:solidFill>
                      <a:srgbClr val="FFFFFF"/>
                    </a:solidFill>
                  </a:tcPr>
                </a:tc>
              </a:tr>
              <a:tr h="502920">
                <a:tc>
                  <a:txBody>
                    <a:bodyPr/>
                    <a:lstStyle/>
                    <a:p>
                      <a:pPr>
                        <a:defRPr sz="1200">
                          <a:solidFill>
                            <a:srgbClr val="2A1712"/>
                          </a:solidFill>
                          <a:latin typeface="Yu Gothic"/>
                        </a:defRPr>
                      </a:pPr>
                      <a:r>
                        <a:t>TechCrunch</a:t>
                      </a:r>
                    </a:p>
                  </a:txBody>
                  <a:tcPr>
                    <a:solidFill>
                      <a:srgbClr val="FBF3E6"/>
                    </a:solidFill>
                  </a:tcPr>
                </a:tc>
                <a:tc>
                  <a:txBody>
                    <a:bodyPr/>
                    <a:lstStyle/>
                    <a:p>
                      <a:pPr>
                        <a:defRPr sz="1200">
                          <a:solidFill>
                            <a:srgbClr val="2A1712"/>
                          </a:solidFill>
                          <a:latin typeface="Yu Gothic"/>
                        </a:defRPr>
                      </a:pPr>
                      <a:r>
                        <a:t>2026-08-07</a:t>
                      </a:r>
                    </a:p>
                  </a:txBody>
                  <a:tcPr>
                    <a:solidFill>
                      <a:srgbClr val="FBF3E6"/>
                    </a:solidFill>
                  </a:tcPr>
                </a:tc>
                <a:tc>
                  <a:txBody>
                    <a:bodyPr/>
                    <a:lstStyle/>
                    <a:p>
                      <a:pPr>
                        <a:defRPr sz="1200">
                          <a:solidFill>
                            <a:srgbClr val="2A1712"/>
                          </a:solidFill>
                          <a:latin typeface="Yu Gothic"/>
                        </a:defRPr>
                      </a:pPr>
                      <a:r>
                        <a:t>同日、経緯を確認する記事を掲載</a:t>
                      </a:r>
                    </a:p>
                  </a:txBody>
                  <a:tcPr>
                    <a:solidFill>
                      <a:srgbClr val="FBF3E6"/>
                    </a:solidFill>
                  </a:tcPr>
                </a:tc>
              </a:tr>
              <a:tr h="502920">
                <a:tc>
                  <a:txBody>
                    <a:bodyPr/>
                    <a:lstStyle/>
                    <a:p>
                      <a:pPr>
                        <a:defRPr sz="1200">
                          <a:solidFill>
                            <a:srgbClr val="2A1712"/>
                          </a:solidFill>
                          <a:latin typeface="Yu Gothic"/>
                        </a:defRPr>
                      </a:pPr>
                      <a:r>
                        <a:t>OpenAI</a:t>
                      </a:r>
                    </a:p>
                  </a:txBody>
                  <a:tcPr>
                    <a:solidFill>
                      <a:srgbClr val="FFFFFF"/>
                    </a:solidFill>
                  </a:tcPr>
                </a:tc>
                <a:tc>
                  <a:txBody>
                    <a:bodyPr/>
                    <a:lstStyle/>
                    <a:p>
                      <a:pPr>
                        <a:defRPr sz="1200">
                          <a:solidFill>
                            <a:srgbClr val="2A1712"/>
                          </a:solidFill>
                          <a:latin typeface="Yu Gothic"/>
                        </a:defRPr>
                      </a:pPr>
                      <a:r>
                        <a:t>2026-08-07(報道時点)</a:t>
                      </a:r>
                    </a:p>
                  </a:txBody>
                  <a:tcPr>
                    <a:solidFill>
                      <a:srgbClr val="FFFFFF"/>
                    </a:solidFill>
                  </a:tcPr>
                </a:tc>
                <a:tc>
                  <a:txBody>
                    <a:bodyPr/>
                    <a:lstStyle/>
                    <a:p>
                      <a:pPr>
                        <a:defRPr sz="1200">
                          <a:solidFill>
                            <a:srgbClr val="2A1712"/>
                          </a:solidFill>
                          <a:latin typeface="Yu Gothic"/>
                        </a:defRPr>
                      </a:pPr>
                      <a:r>
                        <a:t>Axiosに対し「重大なサイバー能力を否定できない」とコメント</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Axios / TechCrunch(2026-08-07)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今回の自主減速 / 146本目の「サンドボックス脱出」の違い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本テーマ(Astra開発減速)</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OpenAI自身の社内レビューがきっかけ</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外部から指摘される前に自ら止めた</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予防的・自主的な対応</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既存146本目(サンドボックス脱出)</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外部の評価組織がモデルの逸脱を発見</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評価環境の設定不備が原因とされる</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発見・指摘を受けての公表</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隣接する既存テーマとの関係(重複でないことの確認)</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既存テーマ</a:t>
                      </a:r>
                    </a:p>
                  </a:txBody>
                  <a:tcPr>
                    <a:solidFill>
                      <a:srgbClr val="7A1F2B"/>
                    </a:solidFill>
                  </a:tcPr>
                </a:tc>
                <a:tc>
                  <a:txBody>
                    <a:bodyPr/>
                    <a:lstStyle/>
                    <a:p>
                      <a:pPr>
                        <a:defRPr sz="1300" b="1">
                          <a:solidFill>
                            <a:srgbClr val="FFFFFF"/>
                          </a:solidFill>
                          <a:latin typeface="Yu Gothic"/>
                        </a:defRPr>
                      </a:pPr>
                      <a:r>
                        <a:t>本テーマとの違い</a:t>
                      </a:r>
                    </a:p>
                  </a:txBody>
                  <a:tcPr>
                    <a:solidFill>
                      <a:srgbClr val="7A1F2B"/>
                    </a:solidFill>
                  </a:tcPr>
                </a:tc>
              </a:tr>
              <a:tr h="502920">
                <a:tc>
                  <a:txBody>
                    <a:bodyPr/>
                    <a:lstStyle/>
                    <a:p>
                      <a:pPr>
                        <a:defRPr sz="1200">
                          <a:solidFill>
                            <a:srgbClr val="2A1712"/>
                          </a:solidFill>
                          <a:latin typeface="Yu Gothic"/>
                        </a:defRPr>
                      </a:pPr>
                      <a:r>
                        <a:t>144本目(政府の事前配備前評価枠組み)</a:t>
                      </a:r>
                    </a:p>
                  </a:txBody>
                  <a:tcPr>
                    <a:solidFill>
                      <a:srgbClr val="FFFFFF"/>
                    </a:solidFill>
                  </a:tcPr>
                </a:tc>
                <a:tc>
                  <a:txBody>
                    <a:bodyPr/>
                    <a:lstStyle/>
                    <a:p>
                      <a:pPr>
                        <a:defRPr sz="1200">
                          <a:solidFill>
                            <a:srgbClr val="2A1712"/>
                          </a:solidFill>
                          <a:latin typeface="Yu Gothic"/>
                        </a:defRPr>
                      </a:pPr>
                      <a:r>
                        <a:t>あちらは政府主導の公開前審査制度の協議。本テーマは企業が自社ポリシーで自主的に減速した話</a:t>
                      </a:r>
                    </a:p>
                  </a:txBody>
                  <a:tcPr>
                    <a:solidFill>
                      <a:srgbClr val="FFFFFF"/>
                    </a:solidFill>
                  </a:tcPr>
                </a:tc>
              </a:tr>
              <a:tr h="502920">
                <a:tc>
                  <a:txBody>
                    <a:bodyPr/>
                    <a:lstStyle/>
                    <a:p>
                      <a:pPr>
                        <a:defRPr sz="1200">
                          <a:solidFill>
                            <a:srgbClr val="2A1712"/>
                          </a:solidFill>
                          <a:latin typeface="Yu Gothic"/>
                        </a:defRPr>
                      </a:pPr>
                      <a:r>
                        <a:t>146本目(サンドボックス脱出)</a:t>
                      </a:r>
                    </a:p>
                  </a:txBody>
                  <a:tcPr>
                    <a:solidFill>
                      <a:srgbClr val="FBF3E6"/>
                    </a:solidFill>
                  </a:tcPr>
                </a:tc>
                <a:tc>
                  <a:txBody>
                    <a:bodyPr/>
                    <a:lstStyle/>
                    <a:p>
                      <a:pPr>
                        <a:defRPr sz="1200">
                          <a:solidFill>
                            <a:srgbClr val="2A1712"/>
                          </a:solidFill>
                          <a:latin typeface="Yu Gothic"/>
                        </a:defRPr>
                      </a:pPr>
                      <a:r>
                        <a:t>あちらは外部評価者が複数社のモデルの脱出を発見。本テーマはOpenAIが自ら気づいて止めた、逆方向の構図</a:t>
                      </a:r>
                    </a:p>
                  </a:txBody>
                  <a:tcPr>
                    <a:solidFill>
                      <a:srgbClr val="FBF3E6"/>
                    </a:solidFill>
                  </a:tcPr>
                </a:tc>
              </a:tr>
              <a:tr h="502920">
                <a:tc>
                  <a:txBody>
                    <a:bodyPr/>
                    <a:lstStyle/>
                    <a:p>
                      <a:pPr>
                        <a:defRPr sz="1200">
                          <a:solidFill>
                            <a:srgbClr val="2A1712"/>
                          </a:solidFill>
                          <a:latin typeface="Yu Gothic"/>
                        </a:defRPr>
                      </a:pPr>
                      <a:r>
                        <a:t>8/3のAstra数学証明テーマ</a:t>
                      </a:r>
                    </a:p>
                  </a:txBody>
                  <a:tcPr>
                    <a:solidFill>
                      <a:srgbClr val="FFFFFF"/>
                    </a:solidFill>
                  </a:tcPr>
                </a:tc>
                <a:tc>
                  <a:txBody>
                    <a:bodyPr/>
                    <a:lstStyle/>
                    <a:p>
                      <a:pPr>
                        <a:defRPr sz="1200">
                          <a:solidFill>
                            <a:srgbClr val="2A1712"/>
                          </a:solidFill>
                          <a:latin typeface="Yu Gothic"/>
                        </a:defRPr>
                      </a:pPr>
                      <a:r>
                        <a:t>同じモデル名だが、あちらは数学の成果、本テーマはサイバーセキュリティの懸念という別の出来事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Preparedness Frameworkの位置づけ(概念図)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通常の開発・リリースプロセス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モデルの性能向上と評価を継続</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重大リスクの兆候を検知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特定分野の能力が重大な水準に達したと判断</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追加の安全対策・開発減速</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Preparedness Frameworkに基づき発動</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2023年に策定された社内ポリシーが、今回の減速判断の根拠とされる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分かっていること(検証済み事実のまとめ)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ここまでの事実を整理します。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OpenAIがAstraの開発の一部をサイバーセキュリティ上の懸念を理由に減速させた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社内レビューでエージェント型コーディング・サイバー能力の顕著な進展が確認された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OpenAIは「重大なサイバー能力を否定できない」とAxiosに述べた</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Preparedness Frameworkに基づき追加の安全対策が発動したとされる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Axios / TechCrunch(2026-08-07)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状況</a:t>
                      </a:r>
                    </a:p>
                  </a:txBody>
                  <a:tcPr>
                    <a:solidFill>
                      <a:srgbClr val="7A1F2B"/>
                    </a:solidFill>
                  </a:tcPr>
                </a:tc>
              </a:tr>
              <a:tr h="502920">
                <a:tc>
                  <a:txBody>
                    <a:bodyPr/>
                    <a:lstStyle/>
                    <a:p>
                      <a:pPr>
                        <a:defRPr sz="1200">
                          <a:solidFill>
                            <a:srgbClr val="2A1712"/>
                          </a:solidFill>
                          <a:latin typeface="Yu Gothic"/>
                        </a:defRPr>
                      </a:pPr>
                      <a:r>
                        <a:t>「重大なサイバー能力」の技術的な定義・判定基準</a:t>
                      </a:r>
                    </a:p>
                  </a:txBody>
                  <a:tcPr>
                    <a:solidFill>
                      <a:srgbClr val="FFFFFF"/>
                    </a:solidFill>
                  </a:tcPr>
                </a:tc>
                <a:tc>
                  <a:txBody>
                    <a:bodyPr/>
                    <a:lstStyle/>
                    <a:p>
                      <a:pPr>
                        <a:defRPr sz="1200">
                          <a:solidFill>
                            <a:srgbClr val="2A1712"/>
                          </a:solidFill>
                          <a:latin typeface="Yu Gothic"/>
                        </a:defRPr>
                      </a:pPr>
                      <a:r>
                        <a:t>報道からは具体的なベンチマーク等は確認できていない(不明)</a:t>
                      </a:r>
                    </a:p>
                  </a:txBody>
                  <a:tcPr>
                    <a:solidFill>
                      <a:srgbClr val="FFFFFF"/>
                    </a:solidFill>
                  </a:tcPr>
                </a:tc>
              </a:tr>
              <a:tr h="502920">
                <a:tc>
                  <a:txBody>
                    <a:bodyPr/>
                    <a:lstStyle/>
                    <a:p>
                      <a:pPr>
                        <a:defRPr sz="1200">
                          <a:solidFill>
                            <a:srgbClr val="2A1712"/>
                          </a:solidFill>
                          <a:latin typeface="Yu Gothic"/>
                        </a:defRPr>
                      </a:pPr>
                      <a:r>
                        <a:t>Astraの正式なリリース予定日</a:t>
                      </a:r>
                    </a:p>
                  </a:txBody>
                  <a:tcPr>
                    <a:solidFill>
                      <a:srgbClr val="FBF3E6"/>
                    </a:solidFill>
                  </a:tcPr>
                </a:tc>
                <a:tc>
                  <a:txBody>
                    <a:bodyPr/>
                    <a:lstStyle/>
                    <a:p>
                      <a:pPr>
                        <a:defRPr sz="1200">
                          <a:solidFill>
                            <a:srgbClr val="2A1712"/>
                          </a:solidFill>
                          <a:latin typeface="Yu Gothic"/>
                        </a:defRPr>
                      </a:pPr>
                      <a:r>
                        <a:t>報道からは確認できていない(不明)</a:t>
                      </a:r>
                    </a:p>
                  </a:txBody>
                  <a:tcPr>
                    <a:solidFill>
                      <a:srgbClr val="FBF3E6"/>
                    </a:solidFill>
                  </a:tcPr>
                </a:tc>
              </a:tr>
              <a:tr h="502920">
                <a:tc>
                  <a:txBody>
                    <a:bodyPr/>
                    <a:lstStyle/>
                    <a:p>
                      <a:pPr>
                        <a:defRPr sz="1200">
                          <a:solidFill>
                            <a:srgbClr val="2A1712"/>
                          </a:solidFill>
                          <a:latin typeface="Yu Gothic"/>
                        </a:defRPr>
                      </a:pPr>
                      <a:r>
                        <a:t>追加された具体的な安全対策の内容</a:t>
                      </a:r>
                    </a:p>
                  </a:txBody>
                  <a:tcPr>
                    <a:solidFill>
                      <a:srgbClr val="FFFFFF"/>
                    </a:solidFill>
                  </a:tcPr>
                </a:tc>
                <a:tc>
                  <a:txBody>
                    <a:bodyPr/>
                    <a:lstStyle/>
                    <a:p>
                      <a:pPr>
                        <a:defRPr sz="1200">
                          <a:solidFill>
                            <a:srgbClr val="2A1712"/>
                          </a:solidFill>
                          <a:latin typeface="Yu Gothic"/>
                        </a:defRPr>
                      </a:pPr>
                      <a:r>
                        <a:t>報道からは確認できていない(不明)</a:t>
                      </a:r>
                    </a:p>
                  </a:txBody>
                  <a:tcPr>
                    <a:solidFill>
                      <a:srgbClr val="FFFFFF"/>
                    </a:solidFill>
                  </a:tcPr>
                </a:tc>
              </a:tr>
              <a:tr h="502920">
                <a:tc>
                  <a:txBody>
                    <a:bodyPr/>
                    <a:lstStyle/>
                    <a:p>
                      <a:pPr>
                        <a:defRPr sz="1200">
                          <a:solidFill>
                            <a:srgbClr val="2A1712"/>
                          </a:solidFill>
                          <a:latin typeface="Yu Gothic"/>
                        </a:defRPr>
                      </a:pPr>
                      <a:r>
                        <a:t>実際の攻撃事例の有無か、内部評価のみに基づく判断か</a:t>
                      </a:r>
                    </a:p>
                  </a:txBody>
                  <a:tcPr>
                    <a:solidFill>
                      <a:srgbClr val="FBF3E6"/>
                    </a:solidFill>
                  </a:tcPr>
                </a:tc>
                <a:tc>
                  <a:txBody>
                    <a:bodyPr/>
                    <a:lstStyle/>
                    <a:p>
                      <a:pPr>
                        <a:defRPr sz="1200">
                          <a:solidFill>
                            <a:srgbClr val="2A1712"/>
                          </a:solidFill>
                          <a:latin typeface="Yu Gothic"/>
                        </a:defRPr>
                      </a:pPr>
                      <a:r>
                        <a:t>報道からは明確に区別できていない(不明)</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事実: OpenAIの発言・Axios独占取材・TechCrunchの確認報道の内容そのもの</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推測: 内部評価に基づく予防的な判断である可能性が高い、という見方は当社の解釈</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推測: 独立した第三者による検証を経た結論かどうかは確認できていない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不明: 開発減速の対象がAstra全体か特定機能・特定段階のみかは、報道から明確でない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読者・企業にとっての実践的な示唆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AIサービスを使う立場として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「開発が減速した」という発表自体は、リスク管理が働いている一つの兆候として捉えられる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社内でAI導入を検討する立場として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開発企業が公表する安全性関連の情報は、導入判断の材料として継続的に確認する価値がある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AIニュースを追う立場として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「できる」と「否定できない」のような表現の違いを見落とさず、見出しだけで判断しない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今後起こりうる展開(いずれも確定ではない)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追加の一次発表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OpenAIから公式ブログ等でより詳細な説明が出る可能性がある</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外部からの検証</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第三者評価機関がOpenAIの判断を検証する可能性がある</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リリース時期の続報</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Astraの正式なリリース時期が今後明らかになる可能性がある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本テーマの扱い方について(誇張回避・中立性)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「Astraはどんなシステムでも確実にハッキングできる」という誇張表現は使っていない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OpenAIの対応を一方的に称賛も非難もせず、事実関係の整理にとどめる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特定企業・製品の利用を強く推奨する結論にはしない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政治的な価値判断・政党や政治家個人への評価は一切行わない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着手日の2日前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Axios・TechCrunchの報道はいずれも2026年8月7日。着手日(2026年8月9日)を含めて2日以内という基準を満たす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docs/06_Content_R&amp;D.md基準</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見出しの印象 / 実際の主張のギャップ</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AIが単独で確実にハッキングできる</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危険なAIが野放しになっている</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業界全体が制御を失っている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実際にOpenAIが述べた内容</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重大なサイバー能力を「否定できない」という慎重な表現</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だからこそ自ら開発を減速させ対策を発動</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業界の中でも予防的な対応例として報じられている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よくある誤解と実際の整理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Q1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Astraはもう攻撃を実行したのか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報道からは、実際の攻撃事例は確認されていない(内部評価に基づく判断とみられる)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Q2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Astraのリリースは中止になったのか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「開発の一部を減速」とされ、中止という報道は確認できていない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Q3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これは規制当局からの指摘か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報道からは、OpenAI自身の内部レビューがきっかけとされている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情報源の性質について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出典の性質を明確にしておきます。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一次情報に最も近いのはAxiosの独占取材(OpenAIへの直接取材を含む)</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TechCrunchが同日に経緯を確認する記事を掲載している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OpenAI公式ブログ等の一次発表そのものへの直接アクセスはできていない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投資系・集約系メディアの報道は、上記2社の報道を踏まえた二次的な確認として扱う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報道日</a:t>
                      </a:r>
                    </a:p>
                  </a:txBody>
                  <a:tcPr>
                    <a:solidFill>
                      <a:srgbClr val="7A1F2B"/>
                    </a:solidFill>
                  </a:tcPr>
                </a:tc>
              </a:tr>
              <a:tr h="502920">
                <a:tc>
                  <a:txBody>
                    <a:bodyPr/>
                    <a:lstStyle/>
                    <a:p>
                      <a:pPr>
                        <a:defRPr sz="1200">
                          <a:solidFill>
                            <a:srgbClr val="2A1712"/>
                          </a:solidFill>
                          <a:latin typeface="Yu Gothic"/>
                        </a:defRPr>
                      </a:pPr>
                      <a:r>
                        <a:t>Axios(独占)</a:t>
                      </a:r>
                    </a:p>
                  </a:txBody>
                  <a:tcPr>
                    <a:solidFill>
                      <a:srgbClr val="FFFFFF"/>
                    </a:solidFill>
                  </a:tcPr>
                </a:tc>
                <a:tc>
                  <a:txBody>
                    <a:bodyPr/>
                    <a:lstStyle/>
                    <a:p>
                      <a:pPr>
                        <a:defRPr sz="1200">
                          <a:solidFill>
                            <a:srgbClr val="2A1712"/>
                          </a:solidFill>
                          <a:latin typeface="Yu Gothic"/>
                        </a:defRPr>
                      </a:pPr>
                      <a:r>
                        <a:t>2026-08-07</a:t>
                      </a:r>
                    </a:p>
                  </a:txBody>
                  <a:tcPr>
                    <a:solidFill>
                      <a:srgbClr val="FFFFFF"/>
                    </a:solidFill>
                  </a:tcPr>
                </a:tc>
              </a:tr>
              <a:tr h="502920">
                <a:tc>
                  <a:txBody>
                    <a:bodyPr/>
                    <a:lstStyle/>
                    <a:p>
                      <a:pPr>
                        <a:defRPr sz="1200">
                          <a:solidFill>
                            <a:srgbClr val="2A1712"/>
                          </a:solidFill>
                          <a:latin typeface="Yu Gothic"/>
                        </a:defRPr>
                      </a:pPr>
                      <a:r>
                        <a:t>TechCrunch</a:t>
                      </a:r>
                    </a:p>
                  </a:txBody>
                  <a:tcPr>
                    <a:solidFill>
                      <a:srgbClr val="FBF3E6"/>
                    </a:solidFill>
                  </a:tcPr>
                </a:tc>
                <a:tc>
                  <a:txBody>
                    <a:bodyPr/>
                    <a:lstStyle/>
                    <a:p>
                      <a:pPr>
                        <a:defRPr sz="1200">
                          <a:solidFill>
                            <a:srgbClr val="2A1712"/>
                          </a:solidFill>
                          <a:latin typeface="Yu Gothic"/>
                        </a:defRPr>
                      </a:pPr>
                      <a:r>
                        <a:t>2026-08-07</a:t>
                      </a:r>
                    </a:p>
                  </a:txBody>
                  <a:tcPr>
                    <a:solidFill>
                      <a:srgbClr val="FBF3E6"/>
                    </a:solidFill>
                  </a:tcPr>
                </a:tc>
              </a:tr>
              <a:tr h="502920">
                <a:tc>
                  <a:txBody>
                    <a:bodyPr/>
                    <a:lstStyle/>
                    <a:p>
                      <a:pPr>
                        <a:defRPr sz="1200">
                          <a:solidFill>
                            <a:srgbClr val="2A1712"/>
                          </a:solidFill>
                          <a:latin typeface="Yu Gothic"/>
                        </a:defRPr>
                      </a:pPr>
                      <a:r>
                        <a:t>Benzinga</a:t>
                      </a:r>
                    </a:p>
                  </a:txBody>
                  <a:tcPr>
                    <a:solidFill>
                      <a:srgbClr val="FFFFFF"/>
                    </a:solidFill>
                  </a:tcPr>
                </a:tc>
                <a:tc>
                  <a:txBody>
                    <a:bodyPr/>
                    <a:lstStyle/>
                    <a:p>
                      <a:pPr>
                        <a:defRPr sz="1200">
                          <a:solidFill>
                            <a:srgbClr val="2A1712"/>
                          </a:solidFill>
                          <a:latin typeface="Yu Gothic"/>
                        </a:defRPr>
                      </a:pPr>
                      <a:r>
                        <a:t>2026-08-07</a:t>
                      </a:r>
                    </a:p>
                  </a:txBody>
                  <a:tcPr>
                    <a:solidFill>
                      <a:srgbClr val="FFFFFF"/>
                    </a:solidFill>
                  </a:tcPr>
                </a:tc>
              </a:tr>
              <a:tr h="502920">
                <a:tc>
                  <a:txBody>
                    <a:bodyPr/>
                    <a:lstStyle/>
                    <a:p>
                      <a:pPr>
                        <a:defRPr sz="1200">
                          <a:solidFill>
                            <a:srgbClr val="2A1712"/>
                          </a:solidFill>
                          <a:latin typeface="Yu Gothic"/>
                        </a:defRPr>
                      </a:pPr>
                      <a:r>
                        <a:t>Ground News</a:t>
                      </a:r>
                    </a:p>
                  </a:txBody>
                  <a:tcPr>
                    <a:solidFill>
                      <a:srgbClr val="FBF3E6"/>
                    </a:solidFill>
                  </a:tcPr>
                </a:tc>
                <a:tc>
                  <a:txBody>
                    <a:bodyPr/>
                    <a:lstStyle/>
                    <a:p>
                      <a:pPr>
                        <a:defRPr sz="1200">
                          <a:solidFill>
                            <a:srgbClr val="2A1712"/>
                          </a:solidFill>
                          <a:latin typeface="Yu Gothic"/>
                        </a:defRPr>
                      </a:pPr>
                      <a:r>
                        <a:t>2026-08-07</a:t>
                      </a:r>
                    </a:p>
                  </a:txBody>
                  <a:tcPr>
                    <a:solidFill>
                      <a:srgbClr val="FBF3E6"/>
                    </a:solidFill>
                  </a:tcPr>
                </a:tc>
              </a:tr>
              <a:tr h="502920">
                <a:tc>
                  <a:txBody>
                    <a:bodyPr/>
                    <a:lstStyle/>
                    <a:p>
                      <a:pPr>
                        <a:defRPr sz="1200">
                          <a:solidFill>
                            <a:srgbClr val="2A1712"/>
                          </a:solidFill>
                          <a:latin typeface="Yu Gothic"/>
                        </a:defRPr>
                      </a:pPr>
                      <a:r>
                        <a:t>Eurasia Business News</a:t>
                      </a:r>
                    </a:p>
                  </a:txBody>
                  <a:tcPr>
                    <a:solidFill>
                      <a:srgbClr val="FFFFFF"/>
                    </a:solidFill>
                  </a:tcPr>
                </a:tc>
                <a:tc>
                  <a:txBody>
                    <a:bodyPr/>
                    <a:lstStyle/>
                    <a:p>
                      <a:pPr>
                        <a:defRPr sz="1200">
                          <a:solidFill>
                            <a:srgbClr val="2A1712"/>
                          </a:solidFill>
                          <a:latin typeface="Yu Gothic"/>
                        </a:defRPr>
                      </a:pPr>
                      <a:r>
                        <a:t>2026-08-08</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Axios・TechCrunchほか(2026-08-07報道)｜147本目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否定できない、だから止めた</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「確実に危険」ではなく「否定できない」という慎重な言葉のまま、OpenAIは自ら開発を減速させた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Axios(2026-08-07)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自社の最も進んだAIに対してさえ、開発企業自身が立ち止まった。続報を、出典付きで追っていく。</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特定企業への評価ではなく、事実関係の整理として、今後も注目したいポイントです。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