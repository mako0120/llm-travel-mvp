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10日、メッツの千賀滉大投手が渡米後4年目にしてメジャーリーグ初セーブを記録しました。ところがその記念すべきボールは、仲間の勘違いでスタンドへ消えてしまいました。今日はこの出来事を出典付きで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結論から言うと、千賀滉大投手が渡米後4年目にして、メジャーリーグ初セーブを記録しました。2026年8月10日の出来事です。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今日は、何が起きたのか、投球の中身、セーブ・クローザーの基礎知識、記念球が消えた経緯、数字のまとめ、不明点・今後の見方をお伝えします。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この話題を今回取り上げる理由は3つです。着手日から2日以内という鮮度、複数メディアの一致した報道、そして初セーブと記念球消失という組み合わせの物語性です。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試合の基本情報をまとめると、この表の通りです。敵地でのブレーブス戦、9回から5番手として登板し、1回無失点・奪三振2でメジャー初セーブを記録しました。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登板の流れを整理すると、9回に5番手として登場し、オルソン選手・ハリス選手をフォークボールで空振り三振、最後はデュボン選手を直球で右飛に打ち取り試合を締めました。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投球内容はこちらです。1回を無失点、奪三振2という結果でメジャー初セーブを記録しました。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対戦した3人の打者を見てみましょう。オルソン選手・ハリス選手をフォークで三振に、デュボン選手を直球で右飛に打ち取りました。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初めての方向けに「セーブ」を説明します。救援投手がリードを守り切って試合を終わらせた際に記録される成績で、リリーフ投手の代表的な指標のひとつです。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「クローザー(守護神)」は主に9回を任される正セーブ要員のことです。千賀投手は本来のクローザーではなく、戦線離脱中の守護神の代役として今回登板しました。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渡米してからのセーブ記録を比べると、渡米1〜3年目はメジャーでの公式セーブ記録が無く、4年目の今回、敵地ブレーブス戦で初セーブを記録しました。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改めてこの数字に注目です。渡米してから4年目にして、初のメジャーセーブを達成しました。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ここまでの数字をまとめると、この表の通りです。1回無失点、奪三振2、5番手リリーフとして自身メジャー初のセーブ、渡米4年目での記録です。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記念球騒動を3つの事実で整理します。ボールがスタンドへ投げ込まれ消えてしまったこと、そしてMLB公式が顛末を伝える動画を公開したことです。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記念球のゆくえを図で見ると、セーブ達成、チームメイトの勘違い、スタンドへ投げ込まれて消える、そしてMLB公式による発信という流れです。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肝心の記念球はどこへ行ったのか。チームメイトの勘違いにより、スタンドへ投げ込まれ消えてしまいました。</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この騒動への反応です。MLB公式は千賀投手の意図が伝わっていなかった顛末を動画で公開し、千賀投手自身は頭を抱える相手の姿に大爆笑したと報じられています。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時系列で整理すると、初セーブ達成、記念球をめぐる勘違い、記念球がスタンドへ消える、そしてMLB公式による発信という流れです。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確認できている事実を整理すると、この4点です。日付、登板内容、記念球のゆくえ、そしてMLB公式による発信です。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この出来事を知ると何が変わるか。実績のある投手でも初めての記録は何年目にでも訪れうるという見方や、記録の裏にある人間味あるエピソードを楽しむ視点が得られます。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この話題を楽しむポイントは3つです。確定した数字を確認すること、用語の意味を理解した上で背景を見ること、そして不明点は不明のまま受け止めることです。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事実と不明点を分けて整理します。登板内容や記念球の経緯は事実として確認できていますが、守護神の負傷内容や試合の最終スコアなどは確認できていません。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確認できていない項目を一覧にしました。守護神の負傷内容、カーソン・ベンジ選手の詳細、試合の最終スコア、防御率などの網羅的な成績は、いずれも出典で確認できていません。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ここで大事な点を確認します。本テーマは千賀投手個人の記録とハプニングが主題ですが、記念球を投げ込んでしまった選手を過度に責める表現はしていません。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注意点です。守護神の負傷内容・復帰見通しは扱わず、試合の最終スコアや防御率など出典に明記のない数字も一切使用していません。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出典はこの表の通りです。スポニチアネックスとライブドアニュース、いずれも2026年8月11日前後に報じています。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確認できたことと確認できなかったことを正直に整理します。登板内容や記念球の経緯は確認済みですが、守護神の負傷内容などは未確認です。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ここからは推測です。守護神復帰後の役割分担、今後の登板での活躍、記念球を巡る後日談に注目が集まりそうです。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千賀投手の今後の登板、そして記念球を巡る後日談にも注目していきましょう。</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今回もありがとうございました。千賀滉大投手が渡米4年目で記録したメジャー初セーブと、記念球が消えたハプニングの話題をお届けしました。次回もお楽しみに。</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待望の初セーブ。なのにボールが消えた。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3E4F5"/>
                </a:solidFill>
                <a:latin typeface="Yu Gothic"/>
              </a:rPr>
              <a:t>千賀滉大投手(メッツ)、渡米後4年目でメジャー初セーブ。記念球は仲間の勘違いでスタンドへ</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9CB8D6"/>
                </a:solidFill>
                <a:latin typeface="Yu Gothic"/>
              </a:rPr>
              <a:t>出典: スポニチアネックス(Yahoo!ニュース経由)、ライブドアニュース(2026-08-11)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今回の結論</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メジャー初セーブ</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千賀滉大投手(メッツ)が2026年8月10日、渡米後4年目にしてメジャーリーグ初セーブを記録</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スポニチアネックス/ライブドアニュース(2026-08-11)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今日わかること</a:t>
            </a:r>
          </a:p>
        </p:txBody>
      </p:sp>
      <p:sp>
        <p:nvSpPr>
          <p:cNvPr id="5" name="Oval 4"/>
          <p:cNvSpPr/>
          <p:nvPr/>
        </p:nvSpPr>
        <p:spPr>
          <a:xfrm>
            <a:off x="548640" y="192024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3E4F5"/>
                </a:solidFill>
                <a:latin typeface="Yu Gothic"/>
              </a:rPr>
              <a:t>何が起きたのか</a:t>
            </a:r>
          </a:p>
        </p:txBody>
      </p:sp>
      <p:sp>
        <p:nvSpPr>
          <p:cNvPr id="7" name="Oval 6"/>
          <p:cNvSpPr/>
          <p:nvPr/>
        </p:nvSpPr>
        <p:spPr>
          <a:xfrm>
            <a:off x="548640" y="269748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3E4F5"/>
                </a:solidFill>
                <a:latin typeface="Yu Gothic"/>
              </a:rPr>
              <a:t>投球の中身</a:t>
            </a:r>
          </a:p>
        </p:txBody>
      </p:sp>
      <p:sp>
        <p:nvSpPr>
          <p:cNvPr id="9" name="Oval 8"/>
          <p:cNvSpPr/>
          <p:nvPr/>
        </p:nvSpPr>
        <p:spPr>
          <a:xfrm>
            <a:off x="548640" y="347472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3E4F5"/>
                </a:solidFill>
                <a:latin typeface="Yu Gothic"/>
              </a:rPr>
              <a:t>セーブ・クローザーとは</a:t>
            </a:r>
          </a:p>
        </p:txBody>
      </p:sp>
      <p:sp>
        <p:nvSpPr>
          <p:cNvPr id="11" name="Oval 10"/>
          <p:cNvSpPr/>
          <p:nvPr/>
        </p:nvSpPr>
        <p:spPr>
          <a:xfrm>
            <a:off x="548640" y="425196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3E4F5"/>
                </a:solidFill>
                <a:latin typeface="Yu Gothic"/>
              </a:rPr>
              <a:t>記念球はなぜ消えたのか</a:t>
            </a:r>
          </a:p>
        </p:txBody>
      </p:sp>
      <p:sp>
        <p:nvSpPr>
          <p:cNvPr id="13" name="Oval 12"/>
          <p:cNvSpPr/>
          <p:nvPr/>
        </p:nvSpPr>
        <p:spPr>
          <a:xfrm>
            <a:off x="548640" y="502920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3E4F5"/>
                </a:solidFill>
                <a:latin typeface="Yu Gothic"/>
              </a:rPr>
              <a:t>数字で見る初セーブ</a:t>
            </a:r>
          </a:p>
        </p:txBody>
      </p:sp>
      <p:sp>
        <p:nvSpPr>
          <p:cNvPr id="15" name="Oval 14"/>
          <p:cNvSpPr/>
          <p:nvPr/>
        </p:nvSpPr>
        <p:spPr>
          <a:xfrm>
            <a:off x="548640" y="580644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D3E4F5"/>
                </a:solidFill>
                <a:latin typeface="Yu Gothic"/>
              </a:rPr>
              <a:t>不明点・今後の見方</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なぜ今扱うのか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2026年8月10日(現地)/8月11日(日本時間)発表で、着手日から2日以内の高い鮮度</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スポニチアネックス・ライブドアニュースなど複数媒体が同じ内容を報道</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「待望の初セーブ」と「記念球消失」の組み合わせが物語性のあるフックになる</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ai-company-os/research/2026-08-11_theme-evaluation-round101.md</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スポニチアネックス(Yahoo!ニュース経由)/ライブドアニュース(2026-08-11)｜定期実行172本目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試合の基本情報</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日付</a:t>
                      </a:r>
                    </a:p>
                  </a:txBody>
                  <a:tcPr>
                    <a:solidFill>
                      <a:srgbClr val="FFFFFF"/>
                    </a:solidFill>
                  </a:tcPr>
                </a:tc>
                <a:tc>
                  <a:txBody>
                    <a:bodyPr/>
                    <a:lstStyle/>
                    <a:p>
                      <a:pPr>
                        <a:defRPr sz="1200">
                          <a:solidFill>
                            <a:srgbClr val="1C2230"/>
                          </a:solidFill>
                          <a:latin typeface="Yu Gothic"/>
                        </a:defRPr>
                      </a:pPr>
                      <a:r>
                        <a:t>2026年8月10日(現地時間)/8月11日(日本時間)</a:t>
                      </a:r>
                    </a:p>
                  </a:txBody>
                  <a:tcPr>
                    <a:solidFill>
                      <a:srgbClr val="FFFFFF"/>
                    </a:solidFill>
                  </a:tcPr>
                </a:tc>
              </a:tr>
              <a:tr h="502920">
                <a:tc>
                  <a:txBody>
                    <a:bodyPr/>
                    <a:lstStyle/>
                    <a:p>
                      <a:pPr>
                        <a:defRPr sz="1200">
                          <a:solidFill>
                            <a:srgbClr val="1C2230"/>
                          </a:solidFill>
                          <a:latin typeface="Yu Gothic"/>
                        </a:defRPr>
                      </a:pPr>
                      <a:r>
                        <a:t>対戦</a:t>
                      </a:r>
                    </a:p>
                  </a:txBody>
                  <a:tcPr>
                    <a:solidFill>
                      <a:srgbClr val="F1F5FA"/>
                    </a:solidFill>
                  </a:tcPr>
                </a:tc>
                <a:tc>
                  <a:txBody>
                    <a:bodyPr/>
                    <a:lstStyle/>
                    <a:p>
                      <a:pPr>
                        <a:defRPr sz="1200">
                          <a:solidFill>
                            <a:srgbClr val="1C2230"/>
                          </a:solidFill>
                          <a:latin typeface="Yu Gothic"/>
                        </a:defRPr>
                      </a:pPr>
                      <a:r>
                        <a:t>メッツ at ブレーブス(敵地)</a:t>
                      </a:r>
                    </a:p>
                  </a:txBody>
                  <a:tcPr>
                    <a:solidFill>
                      <a:srgbClr val="F1F5FA"/>
                    </a:solidFill>
                  </a:tcPr>
                </a:tc>
              </a:tr>
              <a:tr h="502920">
                <a:tc>
                  <a:txBody>
                    <a:bodyPr/>
                    <a:lstStyle/>
                    <a:p>
                      <a:pPr>
                        <a:defRPr sz="1200">
                          <a:solidFill>
                            <a:srgbClr val="1C2230"/>
                          </a:solidFill>
                          <a:latin typeface="Yu Gothic"/>
                        </a:defRPr>
                      </a:pPr>
                      <a:r>
                        <a:t>登板</a:t>
                      </a:r>
                    </a:p>
                  </a:txBody>
                  <a:tcPr>
                    <a:solidFill>
                      <a:srgbClr val="FFFFFF"/>
                    </a:solidFill>
                  </a:tcPr>
                </a:tc>
                <a:tc>
                  <a:txBody>
                    <a:bodyPr/>
                    <a:lstStyle/>
                    <a:p>
                      <a:pPr>
                        <a:defRPr sz="1200">
                          <a:solidFill>
                            <a:srgbClr val="1C2230"/>
                          </a:solidFill>
                          <a:latin typeface="Yu Gothic"/>
                        </a:defRPr>
                      </a:pPr>
                      <a:r>
                        <a:t>9回から5番手としてリリーフ登板</a:t>
                      </a:r>
                    </a:p>
                  </a:txBody>
                  <a:tcPr>
                    <a:solidFill>
                      <a:srgbClr val="FFFFFF"/>
                    </a:solidFill>
                  </a:tcPr>
                </a:tc>
              </a:tr>
              <a:tr h="502920">
                <a:tc>
                  <a:txBody>
                    <a:bodyPr/>
                    <a:lstStyle/>
                    <a:p>
                      <a:pPr>
                        <a:defRPr sz="1200">
                          <a:solidFill>
                            <a:srgbClr val="1C2230"/>
                          </a:solidFill>
                          <a:latin typeface="Yu Gothic"/>
                        </a:defRPr>
                      </a:pPr>
                      <a:r>
                        <a:t>結果</a:t>
                      </a:r>
                    </a:p>
                  </a:txBody>
                  <a:tcPr>
                    <a:solidFill>
                      <a:srgbClr val="F1F5FA"/>
                    </a:solidFill>
                  </a:tcPr>
                </a:tc>
                <a:tc>
                  <a:txBody>
                    <a:bodyPr/>
                    <a:lstStyle/>
                    <a:p>
                      <a:pPr>
                        <a:defRPr sz="1200">
                          <a:solidFill>
                            <a:srgbClr val="1C2230"/>
                          </a:solidFill>
                          <a:latin typeface="Yu Gothic"/>
                        </a:defRPr>
                      </a:pPr>
                      <a:r>
                        <a:t>1回・無失点・奪三振2でメジャー初セーブ</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スポニチアネックス/ライブドアニュース(2026-08-11)</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スポニチアネックス(Yahoo!ニュース経由)/ライブドアニュース(2026-08-11)｜定期実行172本目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登板の流れ</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登板</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9回、5番手としてマウンドへ</a:t>
            </a:r>
          </a:p>
        </p:txBody>
      </p:sp>
      <p:sp>
        <p:nvSpPr>
          <p:cNvPr id="11" name="Chevron 10"/>
          <p:cNvSpPr/>
          <p:nvPr/>
        </p:nvSpPr>
        <p:spPr>
          <a:xfrm>
            <a:off x="3068040"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1人目</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オルソン選手をフォークで空振り三振</a:t>
            </a:r>
          </a:p>
        </p:txBody>
      </p:sp>
      <p:sp>
        <p:nvSpPr>
          <p:cNvPr id="17" name="Chevron 16"/>
          <p:cNvSpPr/>
          <p:nvPr/>
        </p:nvSpPr>
        <p:spPr>
          <a:xfrm>
            <a:off x="5978804"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2人目</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ハリス選手もフォークで空振り三振</a:t>
            </a:r>
          </a:p>
        </p:txBody>
      </p:sp>
      <p:sp>
        <p:nvSpPr>
          <p:cNvPr id="23" name="Chevron 22"/>
          <p:cNvSpPr/>
          <p:nvPr/>
        </p:nvSpPr>
        <p:spPr>
          <a:xfrm>
            <a:off x="8889568"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3人目</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デュボン選手を直球で右飛に仕留め試合を締める</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スポニチアネックス(Yahoo!ニュース経由)/ライブドアニュース(2026-08-11)｜定期実行172本目</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投球内容</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無失点・2K</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1回を無失点、奪三振2でメジャー初セーブを記録</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スポニチアネックス/ライブドアニュース(2026-08-11)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3人の打者との対戦</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1人目: オルソン選手</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フォークボールで空振り三振</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2人目: ハリス選手</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フォークボールで空振り三振</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3人目: デュボン選手</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直球で右飛に打ち取り試合終了</a:t>
            </a:r>
          </a:p>
        </p:txBody>
      </p:sp>
      <p:sp>
        <p:nvSpPr>
          <p:cNvPr id="18" name="TextBox 17"/>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スポニチアネックス/ライブドアニュース(2026-08-11)</a:t>
            </a:r>
          </a:p>
        </p:txBody>
      </p:sp>
      <p:sp>
        <p:nvSpPr>
          <p:cNvPr id="19" name="TextBox 1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スポニチアネックス(Yahoo!ニュース経由)/ライブドアニュース(2026-08-11)｜定期実行172本目</a:t>
            </a:r>
          </a:p>
        </p:txBody>
      </p:sp>
      <p:sp>
        <p:nvSpPr>
          <p:cNvPr id="20" name="TextBox 1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初心者向け基礎知識:「セーブ」とは</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救援投手がリードを守り切り、試合を終わらせた際に記録される成績</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一定の条件(残りイニング数・点差など)を満たす必要がある</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リリーフ投手の活躍を測る代表的な指標のひとつ</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スポニチアネックス(Yahoo!ニュース経由)/ライブドアニュース(2026-08-11)｜定期実行172本目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初心者向け基礎知識:「クローザー(守護神)」とは</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主に9回を任される、チームの正セーブ要員のこと</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千賀投手は本来のクローザーではなく、その代役として今回登板した</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本来の守護神が戦線離脱中だったための起用(負傷内容・復帰見通しは不明)</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スポニチアネックス(Yahoo!ニュース経由)/ライブドアニュース(2026-08-11)｜定期実行172本目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渡米してからのセーブ記録</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渡米1〜3年目</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メジャーでの公式セーブ記録はまだ無かった</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今回が「初セーブ」であることが出典で明記されている</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渡米4年目(2026年8月10日)</a:t>
            </a:r>
          </a:p>
        </p:txBody>
      </p:sp>
      <p:sp>
        <p:nvSpPr>
          <p:cNvPr id="16" name="Oval 15"/>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敵地ブレーブス戦、9回から5番手として登板</a:t>
            </a:r>
          </a:p>
        </p:txBody>
      </p:sp>
      <p:sp>
        <p:nvSpPr>
          <p:cNvPr id="18" name="Oval 17"/>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メジャー初セーブを記録</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スポニチアネックス(Yahoo!ニュース経由)/ライブドアニュース(2026-08-11)｜定期実行172本目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渡米からの年数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4年目</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千賀投手が渡米してから4年目にして、メジャー初セーブを達成</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スポニチアネックス/ライブドアニュース(2026-08-11)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数字まとめ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52044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指標</a:t>
                      </a:r>
                    </a:p>
                  </a:txBody>
                  <a:tcPr>
                    <a:solidFill>
                      <a:srgbClr val="2B3A55"/>
                    </a:solidFill>
                  </a:tcPr>
                </a:tc>
                <a:tc>
                  <a:txBody>
                    <a:bodyPr/>
                    <a:lstStyle/>
                    <a:p>
                      <a:pPr>
                        <a:defRPr sz="1300" b="1">
                          <a:solidFill>
                            <a:srgbClr val="FFFFFF"/>
                          </a:solidFill>
                          <a:latin typeface="Yu Gothic"/>
                        </a:defRPr>
                      </a:pPr>
                      <a:r>
                        <a:t>数字</a:t>
                      </a:r>
                    </a:p>
                  </a:txBody>
                  <a:tcPr>
                    <a:solidFill>
                      <a:srgbClr val="2B3A55"/>
                    </a:solidFill>
                  </a:tcPr>
                </a:tc>
              </a:tr>
              <a:tr h="502920">
                <a:tc>
                  <a:txBody>
                    <a:bodyPr/>
                    <a:lstStyle/>
                    <a:p>
                      <a:pPr>
                        <a:defRPr sz="1200">
                          <a:solidFill>
                            <a:srgbClr val="1C2230"/>
                          </a:solidFill>
                          <a:latin typeface="Yu Gothic"/>
                        </a:defRPr>
                      </a:pPr>
                      <a:r>
                        <a:t>登板回数</a:t>
                      </a:r>
                    </a:p>
                  </a:txBody>
                  <a:tcPr>
                    <a:solidFill>
                      <a:srgbClr val="FFFFFF"/>
                    </a:solidFill>
                  </a:tcPr>
                </a:tc>
                <a:tc>
                  <a:txBody>
                    <a:bodyPr/>
                    <a:lstStyle/>
                    <a:p>
                      <a:pPr>
                        <a:defRPr sz="1200">
                          <a:solidFill>
                            <a:srgbClr val="1C2230"/>
                          </a:solidFill>
                          <a:latin typeface="Yu Gothic"/>
                        </a:defRPr>
                      </a:pPr>
                      <a:r>
                        <a:t>1回(9回のみ)</a:t>
                      </a:r>
                    </a:p>
                  </a:txBody>
                  <a:tcPr>
                    <a:solidFill>
                      <a:srgbClr val="FFFFFF"/>
                    </a:solidFill>
                  </a:tcPr>
                </a:tc>
              </a:tr>
              <a:tr h="502920">
                <a:tc>
                  <a:txBody>
                    <a:bodyPr/>
                    <a:lstStyle/>
                    <a:p>
                      <a:pPr>
                        <a:defRPr sz="1200">
                          <a:solidFill>
                            <a:srgbClr val="1C2230"/>
                          </a:solidFill>
                          <a:latin typeface="Yu Gothic"/>
                        </a:defRPr>
                      </a:pPr>
                      <a:r>
                        <a:t>失点</a:t>
                      </a:r>
                    </a:p>
                  </a:txBody>
                  <a:tcPr>
                    <a:solidFill>
                      <a:srgbClr val="F1F5FA"/>
                    </a:solidFill>
                  </a:tcPr>
                </a:tc>
                <a:tc>
                  <a:txBody>
                    <a:bodyPr/>
                    <a:lstStyle/>
                    <a:p>
                      <a:pPr>
                        <a:defRPr sz="1200">
                          <a:solidFill>
                            <a:srgbClr val="1C2230"/>
                          </a:solidFill>
                          <a:latin typeface="Yu Gothic"/>
                        </a:defRPr>
                      </a:pPr>
                      <a:r>
                        <a:t>0</a:t>
                      </a:r>
                    </a:p>
                  </a:txBody>
                  <a:tcPr>
                    <a:solidFill>
                      <a:srgbClr val="F1F5FA"/>
                    </a:solidFill>
                  </a:tcPr>
                </a:tc>
              </a:tr>
              <a:tr h="502920">
                <a:tc>
                  <a:txBody>
                    <a:bodyPr/>
                    <a:lstStyle/>
                    <a:p>
                      <a:pPr>
                        <a:defRPr sz="1200">
                          <a:solidFill>
                            <a:srgbClr val="1C2230"/>
                          </a:solidFill>
                          <a:latin typeface="Yu Gothic"/>
                        </a:defRPr>
                      </a:pPr>
                      <a:r>
                        <a:t>奪三振</a:t>
                      </a:r>
                    </a:p>
                  </a:txBody>
                  <a:tcPr>
                    <a:solidFill>
                      <a:srgbClr val="FFFFFF"/>
                    </a:solidFill>
                  </a:tcPr>
                </a:tc>
                <a:tc>
                  <a:txBody>
                    <a:bodyPr/>
                    <a:lstStyle/>
                    <a:p>
                      <a:pPr>
                        <a:defRPr sz="1200">
                          <a:solidFill>
                            <a:srgbClr val="1C2230"/>
                          </a:solidFill>
                          <a:latin typeface="Yu Gothic"/>
                        </a:defRPr>
                      </a:pPr>
                      <a:r>
                        <a:t>2</a:t>
                      </a:r>
                    </a:p>
                  </a:txBody>
                  <a:tcPr>
                    <a:solidFill>
                      <a:srgbClr val="FFFFFF"/>
                    </a:solidFill>
                  </a:tcPr>
                </a:tc>
              </a:tr>
              <a:tr h="502920">
                <a:tc>
                  <a:txBody>
                    <a:bodyPr/>
                    <a:lstStyle/>
                    <a:p>
                      <a:pPr>
                        <a:defRPr sz="1200">
                          <a:solidFill>
                            <a:srgbClr val="1C2230"/>
                          </a:solidFill>
                          <a:latin typeface="Yu Gothic"/>
                        </a:defRPr>
                      </a:pPr>
                      <a:r>
                        <a:t>セーブ</a:t>
                      </a:r>
                    </a:p>
                  </a:txBody>
                  <a:tcPr>
                    <a:solidFill>
                      <a:srgbClr val="F1F5FA"/>
                    </a:solidFill>
                  </a:tcPr>
                </a:tc>
                <a:tc>
                  <a:txBody>
                    <a:bodyPr/>
                    <a:lstStyle/>
                    <a:p>
                      <a:pPr>
                        <a:defRPr sz="1200">
                          <a:solidFill>
                            <a:srgbClr val="1C2230"/>
                          </a:solidFill>
                          <a:latin typeface="Yu Gothic"/>
                        </a:defRPr>
                      </a:pPr>
                      <a:r>
                        <a:t>自身メジャー初(1個目)</a:t>
                      </a:r>
                    </a:p>
                  </a:txBody>
                  <a:tcPr>
                    <a:solidFill>
                      <a:srgbClr val="F1F5FA"/>
                    </a:solidFill>
                  </a:tcPr>
                </a:tc>
              </a:tr>
              <a:tr h="502920">
                <a:tc>
                  <a:txBody>
                    <a:bodyPr/>
                    <a:lstStyle/>
                    <a:p>
                      <a:pPr>
                        <a:defRPr sz="1200">
                          <a:solidFill>
                            <a:srgbClr val="1C2230"/>
                          </a:solidFill>
                          <a:latin typeface="Yu Gothic"/>
                        </a:defRPr>
                      </a:pPr>
                      <a:r>
                        <a:t>登板順</a:t>
                      </a:r>
                    </a:p>
                  </a:txBody>
                  <a:tcPr>
                    <a:solidFill>
                      <a:srgbClr val="FFFFFF"/>
                    </a:solidFill>
                  </a:tcPr>
                </a:tc>
                <a:tc>
                  <a:txBody>
                    <a:bodyPr/>
                    <a:lstStyle/>
                    <a:p>
                      <a:pPr>
                        <a:defRPr sz="1200">
                          <a:solidFill>
                            <a:srgbClr val="1C2230"/>
                          </a:solidFill>
                          <a:latin typeface="Yu Gothic"/>
                        </a:defRPr>
                      </a:pPr>
                      <a:r>
                        <a:t>5番手リリーフ</a:t>
                      </a:r>
                    </a:p>
                  </a:txBody>
                  <a:tcPr>
                    <a:solidFill>
                      <a:srgbClr val="FFFFFF"/>
                    </a:solidFill>
                  </a:tcPr>
                </a:tc>
              </a:tr>
              <a:tr h="502920">
                <a:tc>
                  <a:txBody>
                    <a:bodyPr/>
                    <a:lstStyle/>
                    <a:p>
                      <a:pPr>
                        <a:defRPr sz="1200">
                          <a:solidFill>
                            <a:srgbClr val="1C2230"/>
                          </a:solidFill>
                          <a:latin typeface="Yu Gothic"/>
                        </a:defRPr>
                      </a:pPr>
                      <a:r>
                        <a:t>渡米からの年数</a:t>
                      </a:r>
                    </a:p>
                  </a:txBody>
                  <a:tcPr>
                    <a:solidFill>
                      <a:srgbClr val="F1F5FA"/>
                    </a:solidFill>
                  </a:tcPr>
                </a:tc>
                <a:tc>
                  <a:txBody>
                    <a:bodyPr/>
                    <a:lstStyle/>
                    <a:p>
                      <a:pPr>
                        <a:defRPr sz="1200">
                          <a:solidFill>
                            <a:srgbClr val="1C2230"/>
                          </a:solidFill>
                          <a:latin typeface="Yu Gothic"/>
                        </a:defRPr>
                      </a:pPr>
                      <a:r>
                        <a:t>4年目</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スポニチアネックス/ライブドアニュース(2026-08-11)</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スポニチアネックス(Yahoo!ニュース経由)/ライブドアニュース(2026-08-11)｜定期実行172本目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記念球騒動を3つの事実で整理</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事実1</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初セーブのボールはチームメイトの勘違いでスタンドへ投げ込まれた</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事実2</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ボールはそのまま消えてしまった</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事実3</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MLB公式が顛末を伝える動画を公開した</a:t>
            </a:r>
          </a:p>
        </p:txBody>
      </p:sp>
      <p:sp>
        <p:nvSpPr>
          <p:cNvPr id="18" name="TextBox 17"/>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スポニチアネックス/ライブドアニュース(2026-08-11)</a:t>
            </a:r>
          </a:p>
        </p:txBody>
      </p:sp>
      <p:sp>
        <p:nvSpPr>
          <p:cNvPr id="19" name="TextBox 1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スポニチアネックス(Yahoo!ニュース経由)/ライブドアニュース(2026-08-11)｜定期実行172本目</a:t>
            </a:r>
          </a:p>
        </p:txBody>
      </p:sp>
      <p:sp>
        <p:nvSpPr>
          <p:cNvPr id="20" name="TextBox 1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記念球のゆくえ</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52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6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9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セーブ達成</a:t>
            </a:r>
          </a:p>
        </p:txBody>
      </p:sp>
      <p:sp>
        <p:nvSpPr>
          <p:cNvPr id="9" name="TextBox 8"/>
          <p:cNvSpPr txBox="1"/>
          <p:nvPr/>
        </p:nvSpPr>
        <p:spPr>
          <a:xfrm>
            <a:off x="289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千賀投手が記念球を欲しがっていた</a:t>
            </a:r>
          </a:p>
        </p:txBody>
      </p:sp>
      <p:sp>
        <p:nvSpPr>
          <p:cNvPr id="10" name="Right Arrow 9"/>
          <p:cNvSpPr/>
          <p:nvPr/>
        </p:nvSpPr>
        <p:spPr>
          <a:xfrm>
            <a:off x="25571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526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069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898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勘違い</a:t>
            </a:r>
          </a:p>
        </p:txBody>
      </p:sp>
      <p:sp>
        <p:nvSpPr>
          <p:cNvPr id="14" name="TextBox 13"/>
          <p:cNvSpPr txBox="1"/>
          <p:nvPr/>
        </p:nvSpPr>
        <p:spPr>
          <a:xfrm>
            <a:off x="34898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カーソン・ベンジ選手に意図が伝わっていなかった</a:t>
            </a:r>
          </a:p>
        </p:txBody>
      </p:sp>
      <p:sp>
        <p:nvSpPr>
          <p:cNvPr id="15" name="Right Arrow 14"/>
          <p:cNvSpPr/>
          <p:nvPr/>
        </p:nvSpPr>
        <p:spPr>
          <a:xfrm>
            <a:off x="57575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5530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5073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902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スタンドへ</a:t>
            </a:r>
          </a:p>
        </p:txBody>
      </p:sp>
      <p:sp>
        <p:nvSpPr>
          <p:cNvPr id="19" name="TextBox 18"/>
          <p:cNvSpPr txBox="1"/>
          <p:nvPr/>
        </p:nvSpPr>
        <p:spPr>
          <a:xfrm>
            <a:off x="66902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記念球がスタンドに投げ込まれ消える</a:t>
            </a:r>
          </a:p>
        </p:txBody>
      </p:sp>
      <p:sp>
        <p:nvSpPr>
          <p:cNvPr id="20" name="Right Arrow 19"/>
          <p:cNvSpPr/>
          <p:nvPr/>
        </p:nvSpPr>
        <p:spPr>
          <a:xfrm>
            <a:off x="89579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753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707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90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MLB公式が発信</a:t>
            </a:r>
          </a:p>
        </p:txBody>
      </p:sp>
      <p:sp>
        <p:nvSpPr>
          <p:cNvPr id="24" name="TextBox 23"/>
          <p:cNvSpPr txBox="1"/>
          <p:nvPr/>
        </p:nvSpPr>
        <p:spPr>
          <a:xfrm>
            <a:off x="9890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顛末を伝える動画を公開</a:t>
            </a:r>
          </a:p>
        </p:txBody>
      </p:sp>
      <p:sp>
        <p:nvSpPr>
          <p:cNvPr id="25" name="TextBox 24"/>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474"/>
                </a:solidFill>
                <a:latin typeface="Yu Gothic"/>
              </a:rPr>
              <a:t>記念すべきボールが消えるまでの経緯を図にすると、このようになります</a:t>
            </a:r>
          </a:p>
        </p:txBody>
      </p:sp>
      <p:sp>
        <p:nvSpPr>
          <p:cNvPr id="26" name="TextBox 2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スポニチアネックス(Yahoo!ニュース経由)/ライブドアニュース(2026-08-11)｜定期実行172本目</a:t>
            </a:r>
          </a:p>
        </p:txBody>
      </p:sp>
      <p:sp>
        <p:nvSpPr>
          <p:cNvPr id="27" name="TextBox 2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記念球はどこへ?</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スタンドへ</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千賀投手のメジャー初セーブのボールは、チームメイトの勘違いでスタンドへ投げ込まれ消えてしまった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スポニチアネックス/ライブドアニュース(2026-08-11)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記念球騒動への反応</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MLB公式は「千賀は記念球を欲しがっていたが、カーソン・ベンジには伝わっていなかった」という趣旨の動画を公開</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頭を抱えるルーキー選手の姿に、千賀投手は両手を叩いて大爆笑したと報じられている</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「カーソン・ベンジ」選手の役職・関係性の詳細は、名前以外は本調査では確認できていない</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スポニチアネックス(2026-08-11)</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スポニチアネックス(Yahoo!ニュース経由)/ライブドアニュース(2026-08-11)｜定期実行172本目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記念球騒動の時系列</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1</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9回、千賀投手がメジャー初セーブを達成</a:t>
            </a:r>
          </a:p>
        </p:txBody>
      </p:sp>
      <p:sp>
        <p:nvSpPr>
          <p:cNvPr id="11" name="Chevron 10"/>
          <p:cNvSpPr/>
          <p:nvPr/>
        </p:nvSpPr>
        <p:spPr>
          <a:xfrm>
            <a:off x="3068040"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2</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記念球をめぐりチームメイトが勘違い</a:t>
            </a:r>
          </a:p>
        </p:txBody>
      </p:sp>
      <p:sp>
        <p:nvSpPr>
          <p:cNvPr id="17" name="Chevron 16"/>
          <p:cNvSpPr/>
          <p:nvPr/>
        </p:nvSpPr>
        <p:spPr>
          <a:xfrm>
            <a:off x="5978804"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3</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記念球がスタンドへ投げ込まれ消える</a:t>
            </a:r>
          </a:p>
        </p:txBody>
      </p:sp>
      <p:sp>
        <p:nvSpPr>
          <p:cNvPr id="23" name="Chevron 22"/>
          <p:cNvSpPr/>
          <p:nvPr/>
        </p:nvSpPr>
        <p:spPr>
          <a:xfrm>
            <a:off x="8889568"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4</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MLB公式が顛末を伝える動画を公開</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スポニチアネックス(Yahoo!ニュース経由)/ライブドアニュース(2026-08-11)｜定期実行172本目</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確認できている事実(まとめ)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2579293"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030653" cy="548640"/>
          </a:xfrm>
          <a:prstGeom prst="rect">
            <a:avLst/>
          </a:prstGeom>
          <a:noFill/>
        </p:spPr>
        <p:txBody>
          <a:bodyPr wrap="square" anchor="t" lIns="0" rIns="0" tIns="0" bIns="0">
            <a:spAutoFit/>
          </a:bodyPr>
          <a:lstStyle/>
          <a:p>
            <a:pPr algn="l"/>
            <a:r>
              <a:rPr sz="1600" b="1">
                <a:solidFill>
                  <a:srgbClr val="2B3A55"/>
                </a:solidFill>
                <a:latin typeface="Yu Gothic"/>
              </a:rPr>
              <a:t>日付</a:t>
            </a:r>
          </a:p>
        </p:txBody>
      </p:sp>
      <p:sp>
        <p:nvSpPr>
          <p:cNvPr id="9" name="TextBox 8"/>
          <p:cNvSpPr txBox="1"/>
          <p:nvPr/>
        </p:nvSpPr>
        <p:spPr>
          <a:xfrm>
            <a:off x="731520" y="2514600"/>
            <a:ext cx="2030653"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2026年8月10日(現地)/8月11日(日本時間)</a:t>
            </a:r>
          </a:p>
        </p:txBody>
      </p:sp>
      <p:sp>
        <p:nvSpPr>
          <p:cNvPr id="10" name="Rounded Rectangle 9"/>
          <p:cNvSpPr/>
          <p:nvPr/>
        </p:nvSpPr>
        <p:spPr>
          <a:xfrm>
            <a:off x="3402253"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56533" y="1554480"/>
            <a:ext cx="2579293"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30853" y="1828800"/>
            <a:ext cx="2030653" cy="548640"/>
          </a:xfrm>
          <a:prstGeom prst="rect">
            <a:avLst/>
          </a:prstGeom>
          <a:noFill/>
        </p:spPr>
        <p:txBody>
          <a:bodyPr wrap="square" anchor="t" lIns="0" rIns="0" tIns="0" bIns="0">
            <a:spAutoFit/>
          </a:bodyPr>
          <a:lstStyle/>
          <a:p>
            <a:pPr algn="l"/>
            <a:r>
              <a:rPr sz="1600" b="1">
                <a:solidFill>
                  <a:srgbClr val="2B3A55"/>
                </a:solidFill>
                <a:latin typeface="Yu Gothic"/>
              </a:rPr>
              <a:t>登板内容</a:t>
            </a:r>
          </a:p>
        </p:txBody>
      </p:sp>
      <p:sp>
        <p:nvSpPr>
          <p:cNvPr id="13" name="TextBox 12"/>
          <p:cNvSpPr txBox="1"/>
          <p:nvPr/>
        </p:nvSpPr>
        <p:spPr>
          <a:xfrm>
            <a:off x="3630853" y="2514600"/>
            <a:ext cx="2030653"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9回・5番手・1回無失点・奪三振2でメジャー初セーブ</a:t>
            </a:r>
          </a:p>
        </p:txBody>
      </p:sp>
      <p:sp>
        <p:nvSpPr>
          <p:cNvPr id="14" name="Rounded Rectangle 13"/>
          <p:cNvSpPr/>
          <p:nvPr/>
        </p:nvSpPr>
        <p:spPr>
          <a:xfrm>
            <a:off x="6301587"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55867" y="1554480"/>
            <a:ext cx="2579293"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30187" y="1828800"/>
            <a:ext cx="2030653" cy="548640"/>
          </a:xfrm>
          <a:prstGeom prst="rect">
            <a:avLst/>
          </a:prstGeom>
          <a:noFill/>
        </p:spPr>
        <p:txBody>
          <a:bodyPr wrap="square" anchor="t" lIns="0" rIns="0" tIns="0" bIns="0">
            <a:spAutoFit/>
          </a:bodyPr>
          <a:lstStyle/>
          <a:p>
            <a:pPr algn="l"/>
            <a:r>
              <a:rPr sz="1600" b="1">
                <a:solidFill>
                  <a:srgbClr val="2B3A55"/>
                </a:solidFill>
                <a:latin typeface="Yu Gothic"/>
              </a:rPr>
              <a:t>記念球</a:t>
            </a:r>
          </a:p>
        </p:txBody>
      </p:sp>
      <p:sp>
        <p:nvSpPr>
          <p:cNvPr id="17" name="TextBox 16"/>
          <p:cNvSpPr txBox="1"/>
          <p:nvPr/>
        </p:nvSpPr>
        <p:spPr>
          <a:xfrm>
            <a:off x="6530187" y="2514600"/>
            <a:ext cx="2030653"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チームメイトの勘違いでスタンドへ投げ込まれ消えた</a:t>
            </a:r>
          </a:p>
        </p:txBody>
      </p:sp>
      <p:sp>
        <p:nvSpPr>
          <p:cNvPr id="18" name="Rounded Rectangle 17"/>
          <p:cNvSpPr/>
          <p:nvPr/>
        </p:nvSpPr>
        <p:spPr>
          <a:xfrm>
            <a:off x="9200921"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155201" y="1554480"/>
            <a:ext cx="2579293"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29521" y="1828800"/>
            <a:ext cx="2030653" cy="548640"/>
          </a:xfrm>
          <a:prstGeom prst="rect">
            <a:avLst/>
          </a:prstGeom>
          <a:noFill/>
        </p:spPr>
        <p:txBody>
          <a:bodyPr wrap="square" anchor="t" lIns="0" rIns="0" tIns="0" bIns="0">
            <a:spAutoFit/>
          </a:bodyPr>
          <a:lstStyle/>
          <a:p>
            <a:pPr algn="l"/>
            <a:r>
              <a:rPr sz="1600" b="1">
                <a:solidFill>
                  <a:srgbClr val="2B3A55"/>
                </a:solidFill>
                <a:latin typeface="Yu Gothic"/>
              </a:rPr>
              <a:t>発信</a:t>
            </a:r>
          </a:p>
        </p:txBody>
      </p:sp>
      <p:sp>
        <p:nvSpPr>
          <p:cNvPr id="21" name="TextBox 20"/>
          <p:cNvSpPr txBox="1"/>
          <p:nvPr/>
        </p:nvSpPr>
        <p:spPr>
          <a:xfrm>
            <a:off x="9429521" y="2514600"/>
            <a:ext cx="2030653"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MLB公式が顛末を伝える動画を公開</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スポニチアネックス(Yahoo!ニュース経由)/ライブドアニュース(2026-08-11)｜定期実行172本目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これで何が変わるか(視聴者にとっての意味)</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実績のある投手でも「初めて」の記録は何年目にでも訪れうる、という見方ができる</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晴れの記録の裏で起きた小さなハプニングも、選手同士の人間味あるエピソードとして楽しめる</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次に似た「記念品にまつわるハプニング」のニュースを見るときの新しい視点になる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スポニチアネックス(Yahoo!ニュース経由)/ライブドアニュース(2026-08-11)｜定期実行172本目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この話題をどう楽しむか(活用ポイント)</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確認1</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投球内容(無失点・奪三振2)など確定した数字を確認する</a:t>
            </a:r>
          </a:p>
        </p:txBody>
      </p:sp>
      <p:sp>
        <p:nvSpPr>
          <p:cNvPr id="11" name="Chevron 10"/>
          <p:cNvSpPr/>
          <p:nvPr/>
        </p:nvSpPr>
        <p:spPr>
          <a:xfrm>
            <a:off x="4038295"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確認2</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「セーブ」「クローザー」の意味を理解した上で登板の背景を見る</a:t>
            </a:r>
          </a:p>
        </p:txBody>
      </p:sp>
      <p:sp>
        <p:nvSpPr>
          <p:cNvPr id="17" name="Chevron 16"/>
          <p:cNvSpPr/>
          <p:nvPr/>
        </p:nvSpPr>
        <p:spPr>
          <a:xfrm>
            <a:off x="7919313"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確認3</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守護神の負傷理由など、確認できていない点は不明のまま受け止める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スポニチアネックス(Yahoo!ニュース経由)/ライブドアニュース(2026-08-11)｜定期実行172本目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事実 vs 不明点</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確認できている事実</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登板内容・セーブ達成の経緯</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記念球がスタンドへ消えた経緯とMLB公式による発信</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確認できていないこと</a:t>
            </a:r>
          </a:p>
        </p:txBody>
      </p:sp>
      <p:sp>
        <p:nvSpPr>
          <p:cNvPr id="16" name="Oval 15"/>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守護神の具体的な負傷内容・復帰見通し</a:t>
            </a:r>
          </a:p>
        </p:txBody>
      </p:sp>
      <p:sp>
        <p:nvSpPr>
          <p:cNvPr id="18" name="Oval 17"/>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カーソン・ベンジ選手の役職・詳細、試合の最終スコア</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スポニチアネックス(Yahoo!ニュース経由)/ライブドアニュース(2026-08-11)｜定期実行172本目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不明点一覧</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状況</a:t>
                      </a:r>
                    </a:p>
                  </a:txBody>
                  <a:tcPr>
                    <a:solidFill>
                      <a:srgbClr val="2B3A55"/>
                    </a:solidFill>
                  </a:tcPr>
                </a:tc>
              </a:tr>
              <a:tr h="502920">
                <a:tc>
                  <a:txBody>
                    <a:bodyPr/>
                    <a:lstStyle/>
                    <a:p>
                      <a:pPr>
                        <a:defRPr sz="1200">
                          <a:solidFill>
                            <a:srgbClr val="1C2230"/>
                          </a:solidFill>
                          <a:latin typeface="Yu Gothic"/>
                        </a:defRPr>
                      </a:pPr>
                      <a:r>
                        <a:t>守護神の負傷内容・復帰見通し</a:t>
                      </a:r>
                    </a:p>
                  </a:txBody>
                  <a:tcPr>
                    <a:solidFill>
                      <a:srgbClr val="FFFFFF"/>
                    </a:solidFill>
                  </a:tcPr>
                </a:tc>
                <a:tc>
                  <a:txBody>
                    <a:bodyPr/>
                    <a:lstStyle/>
                    <a:p>
                      <a:pPr>
                        <a:defRPr sz="1200">
                          <a:solidFill>
                            <a:srgbClr val="1C2230"/>
                          </a:solidFill>
                          <a:latin typeface="Yu Gothic"/>
                        </a:defRPr>
                      </a:pPr>
                      <a:r>
                        <a:t>不明(出典に記載なし)</a:t>
                      </a:r>
                    </a:p>
                  </a:txBody>
                  <a:tcPr>
                    <a:solidFill>
                      <a:srgbClr val="FFFFFF"/>
                    </a:solidFill>
                  </a:tcPr>
                </a:tc>
              </a:tr>
              <a:tr h="502920">
                <a:tc>
                  <a:txBody>
                    <a:bodyPr/>
                    <a:lstStyle/>
                    <a:p>
                      <a:pPr>
                        <a:defRPr sz="1200">
                          <a:solidFill>
                            <a:srgbClr val="1C2230"/>
                          </a:solidFill>
                          <a:latin typeface="Yu Gothic"/>
                        </a:defRPr>
                      </a:pPr>
                      <a:r>
                        <a:t>カーソン・ベンジ選手の役職・関係性</a:t>
                      </a:r>
                    </a:p>
                  </a:txBody>
                  <a:tcPr>
                    <a:solidFill>
                      <a:srgbClr val="F1F5FA"/>
                    </a:solidFill>
                  </a:tcPr>
                </a:tc>
                <a:tc>
                  <a:txBody>
                    <a:bodyPr/>
                    <a:lstStyle/>
                    <a:p>
                      <a:pPr>
                        <a:defRPr sz="1200">
                          <a:solidFill>
                            <a:srgbClr val="1C2230"/>
                          </a:solidFill>
                          <a:latin typeface="Yu Gothic"/>
                        </a:defRPr>
                      </a:pPr>
                      <a:r>
                        <a:t>名前のみ確認、詳細は不明</a:t>
                      </a:r>
                    </a:p>
                  </a:txBody>
                  <a:tcPr>
                    <a:solidFill>
                      <a:srgbClr val="F1F5FA"/>
                    </a:solidFill>
                  </a:tcPr>
                </a:tc>
              </a:tr>
              <a:tr h="502920">
                <a:tc>
                  <a:txBody>
                    <a:bodyPr/>
                    <a:lstStyle/>
                    <a:p>
                      <a:pPr>
                        <a:defRPr sz="1200">
                          <a:solidFill>
                            <a:srgbClr val="1C2230"/>
                          </a:solidFill>
                          <a:latin typeface="Yu Gothic"/>
                        </a:defRPr>
                      </a:pPr>
                      <a:r>
                        <a:t>試合の最終スコア・ブレーブス側の詳細</a:t>
                      </a:r>
                    </a:p>
                  </a:txBody>
                  <a:tcPr>
                    <a:solidFill>
                      <a:srgbClr val="FFFFFF"/>
                    </a:solidFill>
                  </a:tcPr>
                </a:tc>
                <a:tc>
                  <a:txBody>
                    <a:bodyPr/>
                    <a:lstStyle/>
                    <a:p>
                      <a:pPr>
                        <a:defRPr sz="1200">
                          <a:solidFill>
                            <a:srgbClr val="1C2230"/>
                          </a:solidFill>
                          <a:latin typeface="Yu Gothic"/>
                        </a:defRPr>
                      </a:pPr>
                      <a:r>
                        <a:t>不明(出典に記載なし)</a:t>
                      </a:r>
                    </a:p>
                  </a:txBody>
                  <a:tcPr>
                    <a:solidFill>
                      <a:srgbClr val="FFFFFF"/>
                    </a:solidFill>
                  </a:tcPr>
                </a:tc>
              </a:tr>
              <a:tr h="502920">
                <a:tc>
                  <a:txBody>
                    <a:bodyPr/>
                    <a:lstStyle/>
                    <a:p>
                      <a:pPr>
                        <a:defRPr sz="1200">
                          <a:solidFill>
                            <a:srgbClr val="1C2230"/>
                          </a:solidFill>
                          <a:latin typeface="Yu Gothic"/>
                        </a:defRPr>
                      </a:pPr>
                      <a:r>
                        <a:t>千賀投手の今季の防御率等の網羅的な成績</a:t>
                      </a:r>
                    </a:p>
                  </a:txBody>
                  <a:tcPr>
                    <a:solidFill>
                      <a:srgbClr val="F1F5FA"/>
                    </a:solidFill>
                  </a:tcPr>
                </a:tc>
                <a:tc>
                  <a:txBody>
                    <a:bodyPr/>
                    <a:lstStyle/>
                    <a:p>
                      <a:pPr>
                        <a:defRPr sz="1200">
                          <a:solidFill>
                            <a:srgbClr val="1C2230"/>
                          </a:solidFill>
                          <a:latin typeface="Yu Gothic"/>
                        </a:defRPr>
                      </a:pPr>
                      <a:r>
                        <a:t>出典に明記されていないため使用しない</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スポニチアネックス/ライブドアニュース(2026-08-11)</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スポニチアネックス(Yahoo!ニュース経由)/ライブドアニュース(2026-08-11)｜定期実行172本目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【重要】中立性・配慮についての開示</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本テーマは千賀投手個人の記録とハプニングを主題とする</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記念球を投げ込んでしまった選手を過度に責める・貶める表現はしない</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特定選手・球団を貶める、あるいは過度に持ち上げる表現はしない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スポニチアネックス(Yahoo!ニュース経由)/ライブドアニュース(2026-08-11)｜定期実行172本目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注意点・過度な期待への注意</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守護神の負傷内容・復帰見通しは本テーマでは扱わない(不明)</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試合の最終スコア・ブレーブス側の詳細情報も本調査の範囲では確認できていない</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千賀投手の今季の防御率等、出典に明記のない数字は一切使用していない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スポニチアネックス(Yahoo!ニュース経由)/ライブドアニュース(2026-08-11)｜定期実行172本目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出典一覧</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媒体</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スポニチアネックス(Yahoo!ニュース経由)</a:t>
                      </a:r>
                    </a:p>
                  </a:txBody>
                  <a:tcPr>
                    <a:solidFill>
                      <a:srgbClr val="FFFFFF"/>
                    </a:solidFill>
                  </a:tcPr>
                </a:tc>
                <a:tc>
                  <a:txBody>
                    <a:bodyPr/>
                    <a:lstStyle/>
                    <a:p>
                      <a:pPr>
                        <a:defRPr sz="1200">
                          <a:solidFill>
                            <a:srgbClr val="1C2230"/>
                          </a:solidFill>
                          <a:latin typeface="Yu Gothic"/>
                        </a:defRPr>
                      </a:pPr>
                      <a:r>
                        <a:t>「千賀滉大 メジャー初セーブも記念球はスタンドに… 頭抱えるルーキーの姿に両手叩き大爆笑」</a:t>
                      </a:r>
                    </a:p>
                  </a:txBody>
                  <a:tcPr>
                    <a:solidFill>
                      <a:srgbClr val="FFFFFF"/>
                    </a:solidFill>
                  </a:tcPr>
                </a:tc>
              </a:tr>
              <a:tr h="502920">
                <a:tc>
                  <a:txBody>
                    <a:bodyPr/>
                    <a:lstStyle/>
                    <a:p>
                      <a:pPr>
                        <a:defRPr sz="1200">
                          <a:solidFill>
                            <a:srgbClr val="1C2230"/>
                          </a:solidFill>
                          <a:latin typeface="Yu Gothic"/>
                        </a:defRPr>
                      </a:pPr>
                      <a:r>
                        <a:t>ライブドアニュース(2026-08-11掲載)</a:t>
                      </a:r>
                    </a:p>
                  </a:txBody>
                  <a:tcPr>
                    <a:solidFill>
                      <a:srgbClr val="F1F5FA"/>
                    </a:solidFill>
                  </a:tcPr>
                </a:tc>
                <a:tc>
                  <a:txBody>
                    <a:bodyPr/>
                    <a:lstStyle/>
                    <a:p>
                      <a:pPr>
                        <a:defRPr sz="1200">
                          <a:solidFill>
                            <a:srgbClr val="1C2230"/>
                          </a:solidFill>
                          <a:latin typeface="Yu Gothic"/>
                        </a:defRPr>
                      </a:pPr>
                      <a:r>
                        <a:t>「メッツ・千賀滉大がMLB初セーブ、戦線離脱の守護神に代わって1回無失点2K」</a:t>
                      </a:r>
                    </a:p>
                  </a:txBody>
                  <a:tcPr>
                    <a:solidFill>
                      <a:srgbClr val="F1F5FA"/>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スポニチアネックス(Yahoo!ニュース経由)/ライブドアニュース(2026-08-11)｜定期実行172本目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確認できたこと・できなかったこと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確認済み: 登板内容(9回・5番手・無失点・奪三振2)、メジャー初セーブ、記念球がスタンドへ消えた経緯</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確認済み: MLB公式による顛末動画の公開</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未確認: 守護神の負傷内容・復帰見通し、カーソン・ベンジ選手の詳細、試合の最終スコア</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スポニチアネックス(Yahoo!ニュース経由)/ライブドアニュース(2026-08-11)｜定期実行172本目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今後の見通し(ここからは推測)</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注目1</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守護神復帰後の役割分担への注目(推測)</a:t>
            </a:r>
          </a:p>
        </p:txBody>
      </p:sp>
      <p:sp>
        <p:nvSpPr>
          <p:cNvPr id="11" name="Chevron 10"/>
          <p:cNvSpPr/>
          <p:nvPr/>
        </p:nvSpPr>
        <p:spPr>
          <a:xfrm>
            <a:off x="4038295"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注目2</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今後の登板でのさらなる活躍への期待(推測)</a:t>
            </a:r>
          </a:p>
        </p:txBody>
      </p:sp>
      <p:sp>
        <p:nvSpPr>
          <p:cNvPr id="17" name="Chevron 16"/>
          <p:cNvSpPr/>
          <p:nvPr/>
        </p:nvSpPr>
        <p:spPr>
          <a:xfrm>
            <a:off x="7919313"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注目3</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記念球を巡る後日談が語られるかへの関心(推測)</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スポニチアネックス(Yahoo!ニュース経由)/ライブドアニュース(2026-08-11)｜定期実行172本目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続報にも注目です</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3E4F5"/>
                </a:solidFill>
                <a:latin typeface="Yu Gothic"/>
              </a:rPr>
              <a:t>千賀投手の今後の登板、そして記念球を巡る後日談にも注目していきます</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B3A55"/>
                </a:solidFill>
                <a:latin typeface="Yu Gothic"/>
              </a:rPr>
              <a:t>続報をお楽しみに</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まとめ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千賀滉大投手が2026年8月10日、渡米後4年目にしてメジャー初セーブを記録</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1回無失点・奪三振2、本来の守護神に代わっての登板だった</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記念すべき初セーブのボールはチームメイトの勘違いでスタンドへ消えてしまった</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スポニチアネックス(Yahoo!ニュース経由)/ライブドアニュース(2026-08-11)｜定期実行172本目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30 / 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