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AIモデル共有プラットフォームのHugging Faceが、130億ドル超での売却を検討していると報じられました。何が報じられたのか、出典付きで正確に整理してお届けします。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結論から確認します。Hugging Faceが130億ドル以上での売却を検討していると報じられました。ただし、まだ検討段階であり、取引は合意されていません。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今日は6つの流れでお伝えします。報道の基本情報から評価額の推移、過去の経緯まで、正確に事実を引用しながら整理します。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このテーマを扱う理由です。評価額の大幅な上昇という数字のインパクトに注目しました。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報道の基本情報です。まだ検討段階の報道であることを確認しておきます。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Hugging Faceとは何かを確認します。AI開発者コミュニティで広く利用されているプラットフォームです。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2023年時点の評価額は45億ドルでした。今回検討中とされる評価額はそこから大きく上昇しています。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報道までの経緯を図にしました。評価額が段階的に上昇していることが分かります。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過去のNvidiaとの経緯です。単一の支配的投資家を避けるという理由で提案を辞退していました。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2023年の45億ドルから、今回検討中とされる130億ドル以上まで、約3倍近い上昇です。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評価額の推移をまとめました。段階的に評価額が上昇しています。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AI業界動向を追う立場にとっての意味です。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『検討』段階であることを正直にお伝えします。確定事項ではありません。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過去のNvidia出資提案と、今回の売却検討を対比しました。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複数の独立した海外主要メディアが同一の報道内容を伝えていることを確認しています。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Nvidiaは5億ドルの出資、評価額70億ドル相当の提案をしていたとされています。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単一の支配的投資家を避ける方針についてです。今回の売却検討との関係は確認できていません。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130億ドルという数字は評価額の下限であり、それを上回る可能性があるとされています。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報道内容をまとめました。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130億ドル以上という評価額水準は、AI業界の大型プラットフォームとして注目されています。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海外メディアの報道時期をまとめました。同一日に幅広く引用・報道されています。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Hugging Faceは銀行と協力し、入札者の関心を評価しているとされています。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一般的な企業売却報道の傾向と、今回のHugging Faceを対比しました。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本編のまとめです。Hugging Faceの売却検討報道について、出典付きで整理してお伝えしました。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本編は以上です。今回はHugging Faceの売却検討報道について、その中身を正確に整理してお伝えしました。あくまで検討段階の報道であることを明記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Hugging Face、</a:t>
            </a:r>
          </a:p>
          <a:p>
            <a:pPr algn="l">
              <a:lnSpc>
                <a:spcPct val="115000"/>
              </a:lnSpc>
            </a:pPr>
            <a:r>
              <a:rPr sz="4200" b="1">
                <a:solidFill>
                  <a:srgbClr val="FFFFFF"/>
                </a:solidFill>
                <a:latin typeface="Yu Gothic"/>
              </a:rPr>
              <a:t>130億ドル超で</a:t>
            </a:r>
          </a:p>
          <a:p>
            <a:pPr algn="l">
              <a:lnSpc>
                <a:spcPct val="115000"/>
              </a:lnSpc>
            </a:pPr>
            <a:r>
              <a:rPr sz="4200" b="1">
                <a:solidFill>
                  <a:srgbClr val="FFFFFF"/>
                </a:solidFill>
                <a:latin typeface="Yu Gothic"/>
              </a:rPr>
              <a:t>売却を検討と報道</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2026年8月24日報道——出典付きで整理する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TechCrunch・Benzinga(2026年8月24日)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130億ドル以上 Hugging Faceが検討中とされる売却評価額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取引はまだ合意されていない『検討段階』の報道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TechCrunch・Benzinga(2026-08-24)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報道の基本情報を確認する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Hugging Faceとはどんな企業かを確認する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評価額の推移を確認する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過去のNvidiaとの経緯を確認する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着手日前後(2026年8月24日)、海外の主要メディアが一斉に報じた話題である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2023年評価額(45億ドル)から3倍近い評価額への上昇という、数字のインパクトが大きい報道である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AI開発者コミュニティで広く利用されているプラットフォームの動向として注目度が高い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複数の独立したメディアが同じ報道内容を伝えており、報道内容としての一貫性を確認できた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TechCrunch・Benzinga(2026-08-24)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報道の基本情報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対象企業</a:t>
                      </a:r>
                    </a:p>
                  </a:txBody>
                  <a:tcPr>
                    <a:solidFill>
                      <a:srgbClr val="FFFFFF"/>
                    </a:solidFill>
                  </a:tcPr>
                </a:tc>
                <a:tc>
                  <a:txBody>
                    <a:bodyPr/>
                    <a:lstStyle/>
                    <a:p>
                      <a:pPr>
                        <a:defRPr sz="1200">
                          <a:solidFill>
                            <a:srgbClr val="20261F"/>
                          </a:solidFill>
                          <a:latin typeface="Yu Gothic"/>
                        </a:defRPr>
                      </a:pPr>
                      <a:r>
                        <a:t>Hugging Face</a:t>
                      </a:r>
                    </a:p>
                  </a:txBody>
                  <a:tcPr>
                    <a:solidFill>
                      <a:srgbClr val="FFFFFF"/>
                    </a:solidFill>
                  </a:tcPr>
                </a:tc>
              </a:tr>
              <a:tr h="502920">
                <a:tc>
                  <a:txBody>
                    <a:bodyPr/>
                    <a:lstStyle/>
                    <a:p>
                      <a:pPr>
                        <a:defRPr sz="1200">
                          <a:solidFill>
                            <a:srgbClr val="20261F"/>
                          </a:solidFill>
                          <a:latin typeface="Yu Gothic"/>
                        </a:defRPr>
                      </a:pPr>
                      <a:r>
                        <a:t>報じられている内容</a:t>
                      </a:r>
                    </a:p>
                  </a:txBody>
                  <a:tcPr>
                    <a:solidFill>
                      <a:srgbClr val="F4F1E6"/>
                    </a:solidFill>
                  </a:tcPr>
                </a:tc>
                <a:tc>
                  <a:txBody>
                    <a:bodyPr/>
                    <a:lstStyle/>
                    <a:p>
                      <a:pPr>
                        <a:defRPr sz="1200">
                          <a:solidFill>
                            <a:srgbClr val="20261F"/>
                          </a:solidFill>
                          <a:latin typeface="Yu Gothic"/>
                        </a:defRPr>
                      </a:pPr>
                      <a:r>
                        <a:t>130億ドル以上での売却を検討</a:t>
                      </a:r>
                    </a:p>
                  </a:txBody>
                  <a:tcPr>
                    <a:solidFill>
                      <a:srgbClr val="F4F1E6"/>
                    </a:solidFill>
                  </a:tcPr>
                </a:tc>
              </a:tr>
              <a:tr h="502920">
                <a:tc>
                  <a:txBody>
                    <a:bodyPr/>
                    <a:lstStyle/>
                    <a:p>
                      <a:pPr>
                        <a:defRPr sz="1200">
                          <a:solidFill>
                            <a:srgbClr val="20261F"/>
                          </a:solidFill>
                          <a:latin typeface="Yu Gothic"/>
                        </a:defRPr>
                      </a:pPr>
                      <a:r>
                        <a:t>報道日</a:t>
                      </a:r>
                    </a:p>
                  </a:txBody>
                  <a:tcPr>
                    <a:solidFill>
                      <a:srgbClr val="FFFFFF"/>
                    </a:solidFill>
                  </a:tcPr>
                </a:tc>
                <a:tc>
                  <a:txBody>
                    <a:bodyPr/>
                    <a:lstStyle/>
                    <a:p>
                      <a:pPr>
                        <a:defRPr sz="1200">
                          <a:solidFill>
                            <a:srgbClr val="20261F"/>
                          </a:solidFill>
                          <a:latin typeface="Yu Gothic"/>
                        </a:defRPr>
                      </a:pPr>
                      <a:r>
                        <a:t>2026年8月24日</a:t>
                      </a:r>
                    </a:p>
                  </a:txBody>
                  <a:tcPr>
                    <a:solidFill>
                      <a:srgbClr val="FFFFFF"/>
                    </a:solidFill>
                  </a:tcPr>
                </a:tc>
              </a:tr>
              <a:tr h="502920">
                <a:tc>
                  <a:txBody>
                    <a:bodyPr/>
                    <a:lstStyle/>
                    <a:p>
                      <a:pPr>
                        <a:defRPr sz="1200">
                          <a:solidFill>
                            <a:srgbClr val="20261F"/>
                          </a:solidFill>
                          <a:latin typeface="Yu Gothic"/>
                        </a:defRPr>
                      </a:pPr>
                      <a:r>
                        <a:t>一次情報源</a:t>
                      </a:r>
                    </a:p>
                  </a:txBody>
                  <a:tcPr>
                    <a:solidFill>
                      <a:srgbClr val="F4F1E6"/>
                    </a:solidFill>
                  </a:tcPr>
                </a:tc>
                <a:tc>
                  <a:txBody>
                    <a:bodyPr/>
                    <a:lstStyle/>
                    <a:p>
                      <a:pPr>
                        <a:defRPr sz="1200">
                          <a:solidFill>
                            <a:srgbClr val="20261F"/>
                          </a:solidFill>
                          <a:latin typeface="Yu Gothic"/>
                        </a:defRPr>
                      </a:pPr>
                      <a:r>
                        <a:t>Business Insider(各メディアが引用)</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TechCrunch・Benzinga(2026-08-24)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「Hugging Face」とは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前提知識を確認します。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機械学習モデル・データセット・アプリケーションを開発者が公開・共有・ダウンロードできるプラットフォームである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有料のCompute・Enterprise向け製品、推論プロバイダーへのアクセスも提供している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AI開発者コミュニティで広く利用されているサービスの一つである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2023年時点の評価額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45億ドル 2023年時点で報じられていたHugging Faceの評価額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今回検討中とされる130億ドル以上から見ると約3倍近い上昇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報道までの経緯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2023年、評価額45億ドルと報道</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当時の評価額水準</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2026年内、Nvidiaの出資提案を辞退</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5億ドル・評価額70億ドル相当</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8月24日、130億ドル超での売却検討と報道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銀行と協力し入札者の関心を評価中</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報道までの経緯</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今回の報道を3ステップで総括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銀行と協力し入札者の関心を評価</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具体的な買い手候補は未報道</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130億ドル以上の評価額が浮上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取引はまだ合意されていない</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Business Insiderが報道、各メディアが引用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8月24日付</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過去のNvidiaとの経緯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過去の経緯を確認します。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Hugging Faceは2026年内に、Nvidiaから5億ドルの出資提案(評価額70億ドル相当)を受けていたと報じられている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この提案を、単一の支配的な投資家の影響を避けるという理由で辞退したとされている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その後、今回130億ドル以上という、さらに高い評価額での売却検討が報じられた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確定していること(報道内容として)</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130億ドル以上での売却検討が報じられたこと</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2023年評価額(45億ドル)・Nvidia出資提案辞退の経緯</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銀行と協力し入札者の関心を評価している段階であること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具体的な買い手候補の企業名</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売却検討が実際に取引成立に至るかどうか</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評価額の上昇倍率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約3倍近く 2023年評価額から今回の検討評価額までの上昇幅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45億ドルから130億ドル以上へ</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本調査による整理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評価額の推移</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24523F"/>
                    </a:solidFill>
                  </a:tcPr>
                </a:tc>
                <a:tc>
                  <a:txBody>
                    <a:bodyPr/>
                    <a:lstStyle/>
                    <a:p>
                      <a:pPr>
                        <a:defRPr sz="1300" b="1">
                          <a:solidFill>
                            <a:srgbClr val="FFFFFF"/>
                          </a:solidFill>
                          <a:latin typeface="Yu Gothic"/>
                        </a:defRPr>
                      </a:pPr>
                      <a:r>
                        <a:t>評価額</a:t>
                      </a:r>
                    </a:p>
                  </a:txBody>
                  <a:tcPr>
                    <a:solidFill>
                      <a:srgbClr val="24523F"/>
                    </a:solidFill>
                  </a:tcPr>
                </a:tc>
              </a:tr>
              <a:tr h="502920">
                <a:tc>
                  <a:txBody>
                    <a:bodyPr/>
                    <a:lstStyle/>
                    <a:p>
                      <a:pPr>
                        <a:defRPr sz="1200">
                          <a:solidFill>
                            <a:srgbClr val="20261F"/>
                          </a:solidFill>
                          <a:latin typeface="Yu Gothic"/>
                        </a:defRPr>
                      </a:pPr>
                      <a:r>
                        <a:t>2023年</a:t>
                      </a:r>
                    </a:p>
                  </a:txBody>
                  <a:tcPr>
                    <a:solidFill>
                      <a:srgbClr val="FFFFFF"/>
                    </a:solidFill>
                  </a:tcPr>
                </a:tc>
                <a:tc>
                  <a:txBody>
                    <a:bodyPr/>
                    <a:lstStyle/>
                    <a:p>
                      <a:pPr>
                        <a:defRPr sz="1200">
                          <a:solidFill>
                            <a:srgbClr val="20261F"/>
                          </a:solidFill>
                          <a:latin typeface="Yu Gothic"/>
                        </a:defRPr>
                      </a:pPr>
                      <a:r>
                        <a:t>45億ドル</a:t>
                      </a:r>
                    </a:p>
                  </a:txBody>
                  <a:tcPr>
                    <a:solidFill>
                      <a:srgbClr val="FFFFFF"/>
                    </a:solidFill>
                  </a:tcPr>
                </a:tc>
              </a:tr>
              <a:tr h="502920">
                <a:tc>
                  <a:txBody>
                    <a:bodyPr/>
                    <a:lstStyle/>
                    <a:p>
                      <a:pPr>
                        <a:defRPr sz="1200">
                          <a:solidFill>
                            <a:srgbClr val="20261F"/>
                          </a:solidFill>
                          <a:latin typeface="Yu Gothic"/>
                        </a:defRPr>
                      </a:pPr>
                      <a:r>
                        <a:t>2026年内(Nvidia提案時)</a:t>
                      </a:r>
                    </a:p>
                  </a:txBody>
                  <a:tcPr>
                    <a:solidFill>
                      <a:srgbClr val="F4F1E6"/>
                    </a:solidFill>
                  </a:tcPr>
                </a:tc>
                <a:tc>
                  <a:txBody>
                    <a:bodyPr/>
                    <a:lstStyle/>
                    <a:p>
                      <a:pPr>
                        <a:defRPr sz="1200">
                          <a:solidFill>
                            <a:srgbClr val="20261F"/>
                          </a:solidFill>
                          <a:latin typeface="Yu Gothic"/>
                        </a:defRPr>
                      </a:pPr>
                      <a:r>
                        <a:t>70億ドル相当(辞退)</a:t>
                      </a:r>
                    </a:p>
                  </a:txBody>
                  <a:tcPr>
                    <a:solidFill>
                      <a:srgbClr val="F4F1E6"/>
                    </a:solidFill>
                  </a:tcPr>
                </a:tc>
              </a:tr>
              <a:tr h="502920">
                <a:tc>
                  <a:txBody>
                    <a:bodyPr/>
                    <a:lstStyle/>
                    <a:p>
                      <a:pPr>
                        <a:defRPr sz="1200">
                          <a:solidFill>
                            <a:srgbClr val="20261F"/>
                          </a:solidFill>
                          <a:latin typeface="Yu Gothic"/>
                        </a:defRPr>
                      </a:pPr>
                      <a:r>
                        <a:t>2026年8月24日(今回の報道)</a:t>
                      </a:r>
                    </a:p>
                  </a:txBody>
                  <a:tcPr>
                    <a:solidFill>
                      <a:srgbClr val="FFFFFF"/>
                    </a:solidFill>
                  </a:tcPr>
                </a:tc>
                <a:tc>
                  <a:txBody>
                    <a:bodyPr/>
                    <a:lstStyle/>
                    <a:p>
                      <a:pPr>
                        <a:defRPr sz="1200">
                          <a:solidFill>
                            <a:srgbClr val="20261F"/>
                          </a:solidFill>
                          <a:latin typeface="Yu Gothic"/>
                        </a:defRPr>
                      </a:pPr>
                      <a:r>
                        <a:t>130億ドル以上</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視聴者にとっての意味—AI業界動向を追う立場として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AI開発者コミュニティで重要なプラットフォームの企業価値動向を、具体的な数字とともに把握できる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『売却検討の報道』と『売却の決定』を区別する視点が役立つ</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AI関連企業の評価額が短期間で大きく変動する事例として学べる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『検討』段階であることについて(正直な開示)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報道の性質を確認します。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本テーマで扱う内容は、あくまで『売却を検討している』という報道段階の話である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Hugging Face社自身による公式コメント・確認は、本調査の範囲では確認できていない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取引が実際に成立するかどうかは未確定であり、断定的な表現は用いない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Nvidia出資提案 vs 今回の売却検討</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Nvidia出資提案(2026年内、辞退済み)</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5億ドルの出資、評価額70億ドル相当</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今回の売却検討(2026年8月24日)</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130億ドル以上での売却を検討</a:t>
            </a:r>
          </a:p>
        </p:txBody>
      </p:sp>
      <p:sp>
        <p:nvSpPr>
          <p:cNvPr id="16" name="Oval 15"/>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銀行と協力し入札者の関心を評価中</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具体的な買い手候補の企業名は本調査の範囲では確認できていない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売却検討が実際に取引成立に至るかどうか、その時期も確認できていない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Hugging Face社自身による公式コメント・確認の有無も確認できていない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主な情報源</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4523F"/>
                    </a:solidFill>
                  </a:tcPr>
                </a:tc>
                <a:tc>
                  <a:txBody>
                    <a:bodyPr/>
                    <a:lstStyle/>
                    <a:p>
                      <a:pPr>
                        <a:defRPr sz="1300" b="1">
                          <a:solidFill>
                            <a:srgbClr val="FFFFFF"/>
                          </a:solidFill>
                          <a:latin typeface="Yu Gothic"/>
                        </a:defRPr>
                      </a:pPr>
                      <a:r>
                        <a:t>報道内容</a:t>
                      </a:r>
                    </a:p>
                  </a:txBody>
                  <a:tcPr>
                    <a:solidFill>
                      <a:srgbClr val="24523F"/>
                    </a:solidFill>
                  </a:tcPr>
                </a:tc>
              </a:tr>
              <a:tr h="502920">
                <a:tc>
                  <a:txBody>
                    <a:bodyPr/>
                    <a:lstStyle/>
                    <a:p>
                      <a:pPr>
                        <a:defRPr sz="1200">
                          <a:solidFill>
                            <a:srgbClr val="20261F"/>
                          </a:solidFill>
                          <a:latin typeface="Yu Gothic"/>
                        </a:defRPr>
                      </a:pPr>
                      <a:r>
                        <a:t>TechCrunch(2026-08-24)</a:t>
                      </a:r>
                    </a:p>
                  </a:txBody>
                  <a:tcPr>
                    <a:solidFill>
                      <a:srgbClr val="FFFFFF"/>
                    </a:solidFill>
                  </a:tcPr>
                </a:tc>
                <a:tc>
                  <a:txBody>
                    <a:bodyPr/>
                    <a:lstStyle/>
                    <a:p>
                      <a:pPr>
                        <a:defRPr sz="1200">
                          <a:solidFill>
                            <a:srgbClr val="20261F"/>
                          </a:solidFill>
                          <a:latin typeface="Yu Gothic"/>
                        </a:defRPr>
                      </a:pPr>
                      <a:r>
                        <a:t>報道の詳細・過去の経緯</a:t>
                      </a:r>
                    </a:p>
                  </a:txBody>
                  <a:tcPr>
                    <a:solidFill>
                      <a:srgbClr val="FFFFFF"/>
                    </a:solidFill>
                  </a:tcPr>
                </a:tc>
              </a:tr>
              <a:tr h="502920">
                <a:tc>
                  <a:txBody>
                    <a:bodyPr/>
                    <a:lstStyle/>
                    <a:p>
                      <a:pPr>
                        <a:defRPr sz="1200">
                          <a:solidFill>
                            <a:srgbClr val="20261F"/>
                          </a:solidFill>
                          <a:latin typeface="Yu Gothic"/>
                        </a:defRPr>
                      </a:pPr>
                      <a:r>
                        <a:t>PYMNTS(2026-08-24)</a:t>
                      </a:r>
                    </a:p>
                  </a:txBody>
                  <a:tcPr>
                    <a:solidFill>
                      <a:srgbClr val="F4F1E6"/>
                    </a:solidFill>
                  </a:tcPr>
                </a:tc>
                <a:tc>
                  <a:txBody>
                    <a:bodyPr/>
                    <a:lstStyle/>
                    <a:p>
                      <a:pPr>
                        <a:defRPr sz="1200">
                          <a:solidFill>
                            <a:srgbClr val="20261F"/>
                          </a:solidFill>
                          <a:latin typeface="Yu Gothic"/>
                        </a:defRPr>
                      </a:pPr>
                      <a:r>
                        <a:t>評価額の詳細</a:t>
                      </a:r>
                    </a:p>
                  </a:txBody>
                  <a:tcPr>
                    <a:solidFill>
                      <a:srgbClr val="F4F1E6"/>
                    </a:solidFill>
                  </a:tcPr>
                </a:tc>
              </a:tr>
              <a:tr h="502920">
                <a:tc>
                  <a:txBody>
                    <a:bodyPr/>
                    <a:lstStyle/>
                    <a:p>
                      <a:pPr>
                        <a:defRPr sz="1200">
                          <a:solidFill>
                            <a:srgbClr val="20261F"/>
                          </a:solidFill>
                          <a:latin typeface="Yu Gothic"/>
                        </a:defRPr>
                      </a:pPr>
                      <a:r>
                        <a:t>Benzinga(2026-08-24)</a:t>
                      </a:r>
                    </a:p>
                  </a:txBody>
                  <a:tcPr>
                    <a:solidFill>
                      <a:srgbClr val="FFFFFF"/>
                    </a:solidFill>
                  </a:tcPr>
                </a:tc>
                <a:tc>
                  <a:txBody>
                    <a:bodyPr/>
                    <a:lstStyle/>
                    <a:p>
                      <a:pPr>
                        <a:defRPr sz="1200">
                          <a:solidFill>
                            <a:srgbClr val="20261F"/>
                          </a:solidFill>
                          <a:latin typeface="Yu Gothic"/>
                        </a:defRPr>
                      </a:pPr>
                      <a:r>
                        <a:t>報道の背景</a:t>
                      </a:r>
                    </a:p>
                  </a:txBody>
                  <a:tcPr>
                    <a:solidFill>
                      <a:srgbClr val="FFFFFF"/>
                    </a:solidFill>
                  </a:tcPr>
                </a:tc>
              </a:tr>
              <a:tr h="502920">
                <a:tc>
                  <a:txBody>
                    <a:bodyPr/>
                    <a:lstStyle/>
                    <a:p>
                      <a:pPr>
                        <a:defRPr sz="1200">
                          <a:solidFill>
                            <a:srgbClr val="20261F"/>
                          </a:solidFill>
                          <a:latin typeface="Yu Gothic"/>
                        </a:defRPr>
                      </a:pPr>
                      <a:r>
                        <a:t>Dealroom(2026-08-24)</a:t>
                      </a:r>
                    </a:p>
                  </a:txBody>
                  <a:tcPr>
                    <a:solidFill>
                      <a:srgbClr val="F4F1E6"/>
                    </a:solidFill>
                  </a:tcPr>
                </a:tc>
                <a:tc>
                  <a:txBody>
                    <a:bodyPr/>
                    <a:lstStyle/>
                    <a:p>
                      <a:pPr>
                        <a:defRPr sz="1200">
                          <a:solidFill>
                            <a:srgbClr val="20261F"/>
                          </a:solidFill>
                          <a:latin typeface="Yu Gothic"/>
                        </a:defRPr>
                      </a:pPr>
                      <a:r>
                        <a:t>報道内容の整理</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AI業界動向を追う立場として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重要プラットフォームの企業価値動向を具体的な数字とともに把握できる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AI開発者コミュニティの一員として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利用しているサービスの動向を実例を通じて学べる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『検討』と『決定』を区別する視点が役立つ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Nvidiaが提示したとされる出資額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5億ドル Nvidiaが提示したとされる出資額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評価額70億ドル相当での提案だったとされる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単一の支配的投資家を避ける方針について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Hugging Faceの方針を確認します。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Hugging Faceは、単一の支配的な投資家が経営判断に影響を与えることを避けたいとして、Nvidiaの出資提案を辞退したと報じられている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この方針が今回の売却検討とどう関係しているかについては、本調査の範囲では確認できていない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推測で断定せず、確認できたことと推測を明確に区別してお伝えする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評価額の下限</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130億ドル 今回報じられている評価額の下限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『それ以上』の可能性があるとされ、上限は報じられていない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PYMNTS(2026-08-24)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報道内容まとめ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報じられている評価額</a:t>
                      </a:r>
                    </a:p>
                  </a:txBody>
                  <a:tcPr>
                    <a:solidFill>
                      <a:srgbClr val="FFFFFF"/>
                    </a:solidFill>
                  </a:tcPr>
                </a:tc>
                <a:tc>
                  <a:txBody>
                    <a:bodyPr/>
                    <a:lstStyle/>
                    <a:p>
                      <a:pPr>
                        <a:defRPr sz="1200">
                          <a:solidFill>
                            <a:srgbClr val="20261F"/>
                          </a:solidFill>
                          <a:latin typeface="Yu Gothic"/>
                        </a:defRPr>
                      </a:pPr>
                      <a:r>
                        <a:t>130億ドル以上</a:t>
                      </a:r>
                    </a:p>
                  </a:txBody>
                  <a:tcPr>
                    <a:solidFill>
                      <a:srgbClr val="FFFFFF"/>
                    </a:solidFill>
                  </a:tcPr>
                </a:tc>
              </a:tr>
              <a:tr h="502920">
                <a:tc>
                  <a:txBody>
                    <a:bodyPr/>
                    <a:lstStyle/>
                    <a:p>
                      <a:pPr>
                        <a:defRPr sz="1200">
                          <a:solidFill>
                            <a:srgbClr val="20261F"/>
                          </a:solidFill>
                          <a:latin typeface="Yu Gothic"/>
                        </a:defRPr>
                      </a:pPr>
                      <a:r>
                        <a:t>取引の状況</a:t>
                      </a:r>
                    </a:p>
                  </a:txBody>
                  <a:tcPr>
                    <a:solidFill>
                      <a:srgbClr val="F4F1E6"/>
                    </a:solidFill>
                  </a:tcPr>
                </a:tc>
                <a:tc>
                  <a:txBody>
                    <a:bodyPr/>
                    <a:lstStyle/>
                    <a:p>
                      <a:pPr>
                        <a:defRPr sz="1200">
                          <a:solidFill>
                            <a:srgbClr val="20261F"/>
                          </a:solidFill>
                          <a:latin typeface="Yu Gothic"/>
                        </a:defRPr>
                      </a:pPr>
                      <a:r>
                        <a:t>未合意(検討段階)</a:t>
                      </a:r>
                    </a:p>
                  </a:txBody>
                  <a:tcPr>
                    <a:solidFill>
                      <a:srgbClr val="F4F1E6"/>
                    </a:solidFill>
                  </a:tcPr>
                </a:tc>
              </a:tr>
              <a:tr h="502920">
                <a:tc>
                  <a:txBody>
                    <a:bodyPr/>
                    <a:lstStyle/>
                    <a:p>
                      <a:pPr>
                        <a:defRPr sz="1200">
                          <a:solidFill>
                            <a:srgbClr val="20261F"/>
                          </a:solidFill>
                          <a:latin typeface="Yu Gothic"/>
                        </a:defRPr>
                      </a:pPr>
                      <a:r>
                        <a:t>買い手候補</a:t>
                      </a:r>
                    </a:p>
                  </a:txBody>
                  <a:tcPr>
                    <a:solidFill>
                      <a:srgbClr val="FFFFFF"/>
                    </a:solidFill>
                  </a:tcPr>
                </a:tc>
                <a:tc>
                  <a:txBody>
                    <a:bodyPr/>
                    <a:lstStyle/>
                    <a:p>
                      <a:pPr>
                        <a:defRPr sz="1200">
                          <a:solidFill>
                            <a:srgbClr val="20261F"/>
                          </a:solidFill>
                          <a:latin typeface="Yu Gothic"/>
                        </a:defRPr>
                      </a:pPr>
                      <a:r>
                        <a:t>未報道</a:t>
                      </a:r>
                    </a:p>
                  </a:txBody>
                  <a:tcPr>
                    <a:solidFill>
                      <a:srgbClr val="FFFFFF"/>
                    </a:solidFill>
                  </a:tcPr>
                </a:tc>
              </a:tr>
              <a:tr h="502920">
                <a:tc>
                  <a:txBody>
                    <a:bodyPr/>
                    <a:lstStyle/>
                    <a:p>
                      <a:pPr>
                        <a:defRPr sz="1200">
                          <a:solidFill>
                            <a:srgbClr val="20261F"/>
                          </a:solidFill>
                          <a:latin typeface="Yu Gothic"/>
                        </a:defRPr>
                      </a:pPr>
                      <a:r>
                        <a:t>Hugging Face社の公式コメント</a:t>
                      </a:r>
                    </a:p>
                  </a:txBody>
                  <a:tcPr>
                    <a:solidFill>
                      <a:srgbClr val="F4F1E6"/>
                    </a:solidFill>
                  </a:tcPr>
                </a:tc>
                <a:tc>
                  <a:txBody>
                    <a:bodyPr/>
                    <a:lstStyle/>
                    <a:p>
                      <a:pPr>
                        <a:defRPr sz="1200">
                          <a:solidFill>
                            <a:srgbClr val="20261F"/>
                          </a:solidFill>
                          <a:latin typeface="Yu Gothic"/>
                        </a:defRPr>
                      </a:pPr>
                      <a:r>
                        <a:t>確認できていない</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評価額水準の位置づけ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130億ドル以上 検討されている評価額水準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AI業界の大型プラットフォームとして注目される水準と報じられている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本調査による整理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24523F"/>
                    </a:solidFill>
                  </a:tcPr>
                </a:tc>
                <a:tc>
                  <a:txBody>
                    <a:bodyPr/>
                    <a:lstStyle/>
                    <a:p>
                      <a:pPr>
                        <a:defRPr sz="1300" b="1">
                          <a:solidFill>
                            <a:srgbClr val="FFFFFF"/>
                          </a:solidFill>
                          <a:latin typeface="Yu Gothic"/>
                        </a:defRPr>
                      </a:pPr>
                      <a:r>
                        <a:t>メディア</a:t>
                      </a:r>
                    </a:p>
                  </a:txBody>
                  <a:tcPr>
                    <a:solidFill>
                      <a:srgbClr val="24523F"/>
                    </a:solidFill>
                  </a:tcPr>
                </a:tc>
              </a:tr>
              <a:tr h="502920">
                <a:tc>
                  <a:txBody>
                    <a:bodyPr/>
                    <a:lstStyle/>
                    <a:p>
                      <a:pPr>
                        <a:defRPr sz="1200">
                          <a:solidFill>
                            <a:srgbClr val="20261F"/>
                          </a:solidFill>
                          <a:latin typeface="Yu Gothic"/>
                        </a:defRPr>
                      </a:pPr>
                      <a:r>
                        <a:t>2026年8月24日</a:t>
                      </a:r>
                    </a:p>
                  </a:txBody>
                  <a:tcPr>
                    <a:solidFill>
                      <a:srgbClr val="FFFFFF"/>
                    </a:solidFill>
                  </a:tcPr>
                </a:tc>
                <a:tc>
                  <a:txBody>
                    <a:bodyPr/>
                    <a:lstStyle/>
                    <a:p>
                      <a:pPr>
                        <a:defRPr sz="1200">
                          <a:solidFill>
                            <a:srgbClr val="20261F"/>
                          </a:solidFill>
                          <a:latin typeface="Yu Gothic"/>
                        </a:defRPr>
                      </a:pPr>
                      <a:r>
                        <a:t>Business Insider(一次報道)</a:t>
                      </a:r>
                    </a:p>
                  </a:txBody>
                  <a:tcPr>
                    <a:solidFill>
                      <a:srgbClr val="FFFFFF"/>
                    </a:solidFill>
                  </a:tcPr>
                </a:tc>
              </a:tr>
              <a:tr h="502920">
                <a:tc>
                  <a:txBody>
                    <a:bodyPr/>
                    <a:lstStyle/>
                    <a:p>
                      <a:pPr>
                        <a:defRPr sz="1200">
                          <a:solidFill>
                            <a:srgbClr val="20261F"/>
                          </a:solidFill>
                          <a:latin typeface="Yu Gothic"/>
                        </a:defRPr>
                      </a:pPr>
                      <a:r>
                        <a:t>2026年8月24日</a:t>
                      </a:r>
                    </a:p>
                  </a:txBody>
                  <a:tcPr>
                    <a:solidFill>
                      <a:srgbClr val="F4F1E6"/>
                    </a:solidFill>
                  </a:tcPr>
                </a:tc>
                <a:tc>
                  <a:txBody>
                    <a:bodyPr/>
                    <a:lstStyle/>
                    <a:p>
                      <a:pPr>
                        <a:defRPr sz="1200">
                          <a:solidFill>
                            <a:srgbClr val="20261F"/>
                          </a:solidFill>
                          <a:latin typeface="Yu Gothic"/>
                        </a:defRPr>
                      </a:pPr>
                      <a:r>
                        <a:t>TechCrunch・PYMNTS・Benzinga(引用報道)</a:t>
                      </a:r>
                    </a:p>
                  </a:txBody>
                  <a:tcPr>
                    <a:solidFill>
                      <a:srgbClr val="F4F1E6"/>
                    </a:solidFill>
                  </a:tcPr>
                </a:tc>
              </a:tr>
              <a:tr h="502920">
                <a:tc>
                  <a:txBody>
                    <a:bodyPr/>
                    <a:lstStyle/>
                    <a:p>
                      <a:pPr>
                        <a:defRPr sz="1200">
                          <a:solidFill>
                            <a:srgbClr val="20261F"/>
                          </a:solidFill>
                          <a:latin typeface="Yu Gothic"/>
                        </a:defRPr>
                      </a:pPr>
                      <a:r>
                        <a:t>2026年8月24日</a:t>
                      </a:r>
                    </a:p>
                  </a:txBody>
                  <a:tcPr>
                    <a:solidFill>
                      <a:srgbClr val="FFFFFF"/>
                    </a:solidFill>
                  </a:tcPr>
                </a:tc>
                <a:tc>
                  <a:txBody>
                    <a:bodyPr/>
                    <a:lstStyle/>
                    <a:p>
                      <a:pPr>
                        <a:defRPr sz="1200">
                          <a:solidFill>
                            <a:srgbClr val="20261F"/>
                          </a:solidFill>
                          <a:latin typeface="Yu Gothic"/>
                        </a:defRPr>
                      </a:pPr>
                      <a:r>
                        <a:t>Dealroom・Ground News(引用報道)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銀行との協力体制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銀行と協力 入札者の関心を評価するための体制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具体的な銀行名・買い手候補は報道内容に示されていない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一般的な企業売却報道 vs 今回のHugging Face</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一般的な企業売却報道</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買い手候補が特定されて報じられることが多い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今回のHugging Face</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買い手候補は未報道</a:t>
            </a:r>
          </a:p>
        </p:txBody>
      </p:sp>
      <p:sp>
        <p:nvSpPr>
          <p:cNvPr id="16" name="Oval 15"/>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評価額のみが先行して報じられている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今後注目される点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実際に売却の合意に至るかどうか、買い手候補が誰になるかに注目が集まる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Hugging Face社自身による公式コメントが今後出されるかどうかも注目点である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具体的な今後の展開予測は本テーマの範囲では断定せず、確認できた事実にとどめる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本編のまとめです。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Hugging Faceが130億ドル以上での売却を検討していると、2026年8月24日付で報じられた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2023年評価額(45億ドル)から約3倍近い上昇となる評価額である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過去にNvidiaからの出資提案(5億ドル・評価額70億ドル相当)を辞退した経緯がある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あくまで『検討段階』の報道であり、取引はまだ合意されていないことを正直にお伝えした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TechCrunch・Benzinga等(2026-08-24)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Hugging Face、130億ドル超での売却を検討と報道。</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AI開発者に広く利用されているHugging Faceが、130億ドル超での売却を検討していると報じられました。検討段階であることを含め、出典付きで整理してお届けしました。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