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中国のクラブチームAG.ALが、世界最大級のeスポーツ大会エスポーツワールドカップ2026でクラブ王者に輝きました。何が起きたのか、出典付きで正確に整理してお届けします。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結論から確認します。中国のAG.ALが、2年連続王者だったチームファルコンズを破り、クラブ選手権で700万ドルを獲得しました。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今日は6つの流れでお伝えします。大会の基本情報からAG.ALの優勝、大会全体の規模まで、正確に事実を引用しながら整理します。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このテーマを扱う理由です。世界最大級のeスポーツ大会での歴史的な優勝という点に注目しました。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大会の基本情報です。100か国以上から200クラブが参加した、世界最大級のeスポーツ大会です。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クラブ選手権とは何かを確認します。複数競技の総合成績で順位を競う仕組みです。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大会全体の総賞金プールは7,500万ドルにのぼります。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優勝までの流れを図にしました。約7週間にわたる大会の総合成績での優勝です。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AG.ALの優勝です。2年連続王者だったチームファルコンズを破りました。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100か国以上から200クラブ、2,000人超のプロ選手が参加した大規模な大会です。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賞金プールの内訳です。個別タイトル賞金とクラブ選手権賞金は別枠として区別されています。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eスポーツ動向を追う立場にとっての意味です。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個別種目の一例として、チェス部門の結果を確認します。総合王者のAG.ALも、チェス部門では準優勝でした。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2年連続王者だったチームファルコンズと、今回優勝したAG.ALを対比しました。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大会は約7週間という長期にわたって開催されました。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閉会式の様子です。要人の出席については事実のみを客観的にお伝えします。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25種目・24競技という、非常に幅広いジャンルのゲームタイトルが対象になりました。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大会規模をまとめました。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個別タイトルの賞金は4,500万ドルで、クラブ選手権の賞金とは別枠で用意されています。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海外メディアの報道時期をまとめました。閉会式翌日の8月24日にかけて続報が報じられています。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クラブ選手権優勝には、総合順位の上位8入りに加えて、少なくとも1種目での優勝が条件とされています。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個別タイトル優勝と、今回AG.ALが獲得したクラブ選手権優勝の違いを対比しました。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本編のまとめです。AG.ALの優勝について、出典付きで整理してお伝えしました。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G.ALのエスポーツワールドカップ優勝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AG.AL、</a:t>
            </a:r>
          </a:p>
          <a:p>
            <a:pPr algn="l">
              <a:lnSpc>
                <a:spcPct val="115000"/>
              </a:lnSpc>
            </a:pPr>
            <a:r>
              <a:rPr sz="4200" b="1">
                <a:solidFill>
                  <a:srgbClr val="FFFFFF"/>
                </a:solidFill>
                <a:latin typeface="Yu Gothic"/>
              </a:rPr>
              <a:t>エスポーツ世界一に。</a:t>
            </a:r>
          </a:p>
          <a:p>
            <a:pPr algn="l">
              <a:lnSpc>
                <a:spcPct val="115000"/>
              </a:lnSpc>
            </a:pPr>
            <a:r>
              <a:rPr sz="4200" b="1">
                <a:solidFill>
                  <a:srgbClr val="FFFFFF"/>
                </a:solidFill>
                <a:latin typeface="Yu Gothic"/>
              </a:rPr>
              <a:t>賞金700万ドル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2026年8月23〜24日発表——出典付きで整理する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CGTN・PR Newswire(2026年8月)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700万ドル AG.ALが獲得したクラブ選手権優勝賞金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2年連続王者だったチームファルコンズ(サウジアラビア)を破っての優勝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CGTN・PR Newswire(2026年8月)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大会「エスポーツワールドカップ」の基本情報を確認する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AG.ALの優勝を確認する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大会全体の規模を確認する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チェス部門など個別種目の結果を確認する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着手日前後(2026年8月23〜24日)に海外の主要メディアが一斉に報じた話題である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総賞金7,500万ドルという、世界最大級のeスポーツ大会の結果である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中国クラブの初優勝という、数字のインパクトが大きい出来事である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CGTN・Esports Charts(2026年8月)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「エスポーツワールドカップ」の基本情報</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大会名</a:t>
                      </a:r>
                    </a:p>
                  </a:txBody>
                  <a:tcPr>
                    <a:solidFill>
                      <a:srgbClr val="FFFFFF"/>
                    </a:solidFill>
                  </a:tcPr>
                </a:tc>
                <a:tc>
                  <a:txBody>
                    <a:bodyPr/>
                    <a:lstStyle/>
                    <a:p>
                      <a:pPr>
                        <a:defRPr sz="1200">
                          <a:solidFill>
                            <a:srgbClr val="16202E"/>
                          </a:solidFill>
                          <a:latin typeface="Yu Gothic"/>
                        </a:defRPr>
                      </a:pPr>
                      <a:r>
                        <a:t>エスポーツワールドカップ(EWC)2026</a:t>
                      </a:r>
                    </a:p>
                  </a:txBody>
                  <a:tcPr>
                    <a:solidFill>
                      <a:srgbClr val="FFFFFF"/>
                    </a:solidFill>
                  </a:tcPr>
                </a:tc>
              </a:tr>
              <a:tr h="502920">
                <a:tc>
                  <a:txBody>
                    <a:bodyPr/>
                    <a:lstStyle/>
                    <a:p>
                      <a:pPr>
                        <a:defRPr sz="1200">
                          <a:solidFill>
                            <a:srgbClr val="16202E"/>
                          </a:solidFill>
                          <a:latin typeface="Yu Gothic"/>
                        </a:defRPr>
                      </a:pPr>
                      <a:r>
                        <a:t>開催地</a:t>
                      </a:r>
                    </a:p>
                  </a:txBody>
                  <a:tcPr>
                    <a:solidFill>
                      <a:srgbClr val="F2F6FA"/>
                    </a:solidFill>
                  </a:tcPr>
                </a:tc>
                <a:tc>
                  <a:txBody>
                    <a:bodyPr/>
                    <a:lstStyle/>
                    <a:p>
                      <a:pPr>
                        <a:defRPr sz="1200">
                          <a:solidFill>
                            <a:srgbClr val="16202E"/>
                          </a:solidFill>
                          <a:latin typeface="Yu Gothic"/>
                        </a:defRPr>
                      </a:pPr>
                      <a:r>
                        <a:t>サウジアラビア・リヤド(各競技)、閉会式はパリ</a:t>
                      </a:r>
                    </a:p>
                  </a:txBody>
                  <a:tcPr>
                    <a:solidFill>
                      <a:srgbClr val="F2F6FA"/>
                    </a:solidFill>
                  </a:tcPr>
                </a:tc>
              </a:tr>
              <a:tr h="502920">
                <a:tc>
                  <a:txBody>
                    <a:bodyPr/>
                    <a:lstStyle/>
                    <a:p>
                      <a:pPr>
                        <a:defRPr sz="1200">
                          <a:solidFill>
                            <a:srgbClr val="16202E"/>
                          </a:solidFill>
                          <a:latin typeface="Yu Gothic"/>
                        </a:defRPr>
                      </a:pPr>
                      <a:r>
                        <a:t>開催期間</a:t>
                      </a:r>
                    </a:p>
                  </a:txBody>
                  <a:tcPr>
                    <a:solidFill>
                      <a:srgbClr val="FFFFFF"/>
                    </a:solidFill>
                  </a:tcPr>
                </a:tc>
                <a:tc>
                  <a:txBody>
                    <a:bodyPr/>
                    <a:lstStyle/>
                    <a:p>
                      <a:pPr>
                        <a:defRPr sz="1200">
                          <a:solidFill>
                            <a:srgbClr val="16202E"/>
                          </a:solidFill>
                          <a:latin typeface="Yu Gothic"/>
                        </a:defRPr>
                      </a:pPr>
                      <a:r>
                        <a:t>2026年7月6日〜8月23日(約7週間)</a:t>
                      </a:r>
                    </a:p>
                  </a:txBody>
                  <a:tcPr>
                    <a:solidFill>
                      <a:srgbClr val="FFFFFF"/>
                    </a:solidFill>
                  </a:tcPr>
                </a:tc>
              </a:tr>
              <a:tr h="502920">
                <a:tc>
                  <a:txBody>
                    <a:bodyPr/>
                    <a:lstStyle/>
                    <a:p>
                      <a:pPr>
                        <a:defRPr sz="1200">
                          <a:solidFill>
                            <a:srgbClr val="16202E"/>
                          </a:solidFill>
                          <a:latin typeface="Yu Gothic"/>
                        </a:defRPr>
                      </a:pPr>
                      <a:r>
                        <a:t>参加規模</a:t>
                      </a:r>
                    </a:p>
                  </a:txBody>
                  <a:tcPr>
                    <a:solidFill>
                      <a:srgbClr val="F2F6FA"/>
                    </a:solidFill>
                  </a:tcPr>
                </a:tc>
                <a:tc>
                  <a:txBody>
                    <a:bodyPr/>
                    <a:lstStyle/>
                    <a:p>
                      <a:pPr>
                        <a:defRPr sz="1200">
                          <a:solidFill>
                            <a:srgbClr val="16202E"/>
                          </a:solidFill>
                          <a:latin typeface="Yu Gothic"/>
                        </a:defRPr>
                      </a:pPr>
                      <a:r>
                        <a:t>100か国以上から200クラブ、2,000人超の選手</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Newswire・Esports Charts(2026年8月)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「クラブ選手権」とは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前提知識を確認します。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個別のゲームタイトルごとの優勝とは別に、複数の競技での成績を総合したクラブ単位の順位を競う仕組みである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上位8チームに入るだけでなく、少なくとも1つのタイトルで優勝することがクラブ選手権優勝の条件とされている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総合順位1位のクラブが、クラブ選手権の賞金を獲得する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Esports Charts(2026年8月)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総賞金プールの規模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7,500万ドル 大会全体の総賞金プール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個別タイトル4,500万ドル+クラブ選手権3,000万ドル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Newswire(2026年8月)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優勝までの流れ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7月6日、大会開幕</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25種目・24競技を実施</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各競技で成績を積み上げる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総合順位でチームファルコンズと競う</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8月23日、閉会式でAG.ALが総合優勝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賞金700万ドルを獲得</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優勝までの流れ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CGTN・PR Newswire(2026年8月)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今回の結果を3ステップで総括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約7週間の大会が閉幕</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25種目・24競技を実施</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AG.ALが総合順位で1位に</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チームファルコンズを破る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クラブ選手権の賞金を獲得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700万ドル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AG.ALの優勝—2年連続王者を破る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AG.ALの優勝について確認します。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AG.AL(All Gamers)は中国のクラブチームである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2024年・2025年と2年連続でクラブ選手権を制していたチームファルコンズ(サウジアラビア)を破っての優勝である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閉会式はフランス・パリのグラン・パレで行われた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CGTN(2026-08-24)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確定していること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AG.ALの総合優勝・賞金700万ドル</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総賞金プール(7,500万ドル)・大会期間・参加規模</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チームファルコンズを破っての優勝という経緯</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AG.ALの具体的な合計ポイント数</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AG.ALの選手構成・参加した個別競技タイトル</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参加クラブ数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200クラブ 100か国以上から参加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2,000人超のプロ選手が参加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Newswire(2026年8月)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賞金プールの内訳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3A5C"/>
                    </a:solidFill>
                  </a:tcPr>
                </a:tc>
                <a:tc>
                  <a:txBody>
                    <a:bodyPr/>
                    <a:lstStyle/>
                    <a:p>
                      <a:pPr>
                        <a:defRPr sz="1300" b="1">
                          <a:solidFill>
                            <a:srgbClr val="FFFFFF"/>
                          </a:solidFill>
                          <a:latin typeface="Yu Gothic"/>
                        </a:defRPr>
                      </a:pPr>
                      <a:r>
                        <a:t>金額</a:t>
                      </a:r>
                    </a:p>
                  </a:txBody>
                  <a:tcPr>
                    <a:solidFill>
                      <a:srgbClr val="1B3A5C"/>
                    </a:solidFill>
                  </a:tcPr>
                </a:tc>
              </a:tr>
              <a:tr h="502920">
                <a:tc>
                  <a:txBody>
                    <a:bodyPr/>
                    <a:lstStyle/>
                    <a:p>
                      <a:pPr>
                        <a:defRPr sz="1200">
                          <a:solidFill>
                            <a:srgbClr val="16202E"/>
                          </a:solidFill>
                          <a:latin typeface="Yu Gothic"/>
                        </a:defRPr>
                      </a:pPr>
                      <a:r>
                        <a:t>総賞金プール</a:t>
                      </a:r>
                    </a:p>
                  </a:txBody>
                  <a:tcPr>
                    <a:solidFill>
                      <a:srgbClr val="FFFFFF"/>
                    </a:solidFill>
                  </a:tcPr>
                </a:tc>
                <a:tc>
                  <a:txBody>
                    <a:bodyPr/>
                    <a:lstStyle/>
                    <a:p>
                      <a:pPr>
                        <a:defRPr sz="1200">
                          <a:solidFill>
                            <a:srgbClr val="16202E"/>
                          </a:solidFill>
                          <a:latin typeface="Yu Gothic"/>
                        </a:defRPr>
                      </a:pPr>
                      <a:r>
                        <a:t>7,500万ドル</a:t>
                      </a:r>
                    </a:p>
                  </a:txBody>
                  <a:tcPr>
                    <a:solidFill>
                      <a:srgbClr val="FFFFFF"/>
                    </a:solidFill>
                  </a:tcPr>
                </a:tc>
              </a:tr>
              <a:tr h="502920">
                <a:tc>
                  <a:txBody>
                    <a:bodyPr/>
                    <a:lstStyle/>
                    <a:p>
                      <a:pPr>
                        <a:defRPr sz="1200">
                          <a:solidFill>
                            <a:srgbClr val="16202E"/>
                          </a:solidFill>
                          <a:latin typeface="Yu Gothic"/>
                        </a:defRPr>
                      </a:pPr>
                      <a:r>
                        <a:t>個別タイトル賞金</a:t>
                      </a:r>
                    </a:p>
                  </a:txBody>
                  <a:tcPr>
                    <a:solidFill>
                      <a:srgbClr val="F2F6FA"/>
                    </a:solidFill>
                  </a:tcPr>
                </a:tc>
                <a:tc>
                  <a:txBody>
                    <a:bodyPr/>
                    <a:lstStyle/>
                    <a:p>
                      <a:pPr>
                        <a:defRPr sz="1200">
                          <a:solidFill>
                            <a:srgbClr val="16202E"/>
                          </a:solidFill>
                          <a:latin typeface="Yu Gothic"/>
                        </a:defRPr>
                      </a:pPr>
                      <a:r>
                        <a:t>4,500万ドル</a:t>
                      </a:r>
                    </a:p>
                  </a:txBody>
                  <a:tcPr>
                    <a:solidFill>
                      <a:srgbClr val="F2F6FA"/>
                    </a:solidFill>
                  </a:tcPr>
                </a:tc>
              </a:tr>
              <a:tr h="502920">
                <a:tc>
                  <a:txBody>
                    <a:bodyPr/>
                    <a:lstStyle/>
                    <a:p>
                      <a:pPr>
                        <a:defRPr sz="1200">
                          <a:solidFill>
                            <a:srgbClr val="16202E"/>
                          </a:solidFill>
                          <a:latin typeface="Yu Gothic"/>
                        </a:defRPr>
                      </a:pPr>
                      <a:r>
                        <a:t>クラブ選手権賞金</a:t>
                      </a:r>
                    </a:p>
                  </a:txBody>
                  <a:tcPr>
                    <a:solidFill>
                      <a:srgbClr val="FFFFFF"/>
                    </a:solidFill>
                  </a:tcPr>
                </a:tc>
                <a:tc>
                  <a:txBody>
                    <a:bodyPr/>
                    <a:lstStyle/>
                    <a:p>
                      <a:pPr>
                        <a:defRPr sz="1200">
                          <a:solidFill>
                            <a:srgbClr val="16202E"/>
                          </a:solidFill>
                          <a:latin typeface="Yu Gothic"/>
                        </a:defRPr>
                      </a:pPr>
                      <a:r>
                        <a:t>3,000万ドル</a:t>
                      </a:r>
                    </a:p>
                  </a:txBody>
                  <a:tcPr>
                    <a:solidFill>
                      <a:srgbClr val="FFFFFF"/>
                    </a:solidFill>
                  </a:tcPr>
                </a:tc>
              </a:tr>
              <a:tr h="502920">
                <a:tc>
                  <a:txBody>
                    <a:bodyPr/>
                    <a:lstStyle/>
                    <a:p>
                      <a:pPr>
                        <a:defRPr sz="1200">
                          <a:solidFill>
                            <a:srgbClr val="16202E"/>
                          </a:solidFill>
                          <a:latin typeface="Yu Gothic"/>
                        </a:defRPr>
                      </a:pPr>
                      <a:r>
                        <a:t>クラブ選手権優勝(AG.AL)</a:t>
                      </a:r>
                    </a:p>
                  </a:txBody>
                  <a:tcPr>
                    <a:solidFill>
                      <a:srgbClr val="F2F6FA"/>
                    </a:solidFill>
                  </a:tcPr>
                </a:tc>
                <a:tc>
                  <a:txBody>
                    <a:bodyPr/>
                    <a:lstStyle/>
                    <a:p>
                      <a:pPr>
                        <a:defRPr sz="1200">
                          <a:solidFill>
                            <a:srgbClr val="16202E"/>
                          </a:solidFill>
                          <a:latin typeface="Yu Gothic"/>
                        </a:defRPr>
                      </a:pPr>
                      <a:r>
                        <a:t>700万ドル</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PR Newswire(2026年8月)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視聴者にとっての意味—eスポーツ動向を追う立場として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世界最大級のeスポーツ大会の結果を、具体的な数字とともに把握できる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『クラブ選手権』という総合順位の仕組みを実例を通じて学べる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個別タイトル賞金とクラブ選手権賞金を区別する視点が役立つ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チェス部門の結果—個別種目の一例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個別種目の一例として、チェス部門を確認します。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チェス部門は2026年8月11〜15日にパリで実施された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マグヌス・カールセン選手(Team Liquid)が、デニス・ラザヴィク選手(AG.AL)を破り連覇を果たした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賞金プール150万ドルの大会だった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Liquipedia・CNN(2026年8月)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チームファルコンズ vs AG.AL</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チームファルコンズ(サウジアラビア)</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2024年・2025年と2年連続王者</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AG.AL(中国)</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2026年、初のクラブ選手権優勝</a:t>
            </a:r>
          </a:p>
        </p:txBody>
      </p:sp>
      <p:sp>
        <p:nvSpPr>
          <p:cNvPr id="16" name="Oval 15"/>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賞金700万ドルを獲得</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AG.ALがクラブ選手権で獲得した具体的な合計ポイント数は、複数の独立した情報源での相互確認ができておらず、断定を避ける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AG.ALの選手構成・参加した具体的な競技タイトルの一覧は確認できていない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日本人選手・日本のクラブチームの参加有無・成績は確認できていない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主な情報源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報道内容</a:t>
                      </a:r>
                    </a:p>
                  </a:txBody>
                  <a:tcPr>
                    <a:solidFill>
                      <a:srgbClr val="1B3A5C"/>
                    </a:solidFill>
                  </a:tcPr>
                </a:tc>
              </a:tr>
              <a:tr h="502920">
                <a:tc>
                  <a:txBody>
                    <a:bodyPr/>
                    <a:lstStyle/>
                    <a:p>
                      <a:pPr>
                        <a:defRPr sz="1200">
                          <a:solidFill>
                            <a:srgbClr val="16202E"/>
                          </a:solidFill>
                          <a:latin typeface="Yu Gothic"/>
                        </a:defRPr>
                      </a:pPr>
                      <a:r>
                        <a:t>CGTN(2026-08-24)</a:t>
                      </a:r>
                    </a:p>
                  </a:txBody>
                  <a:tcPr>
                    <a:solidFill>
                      <a:srgbClr val="FFFFFF"/>
                    </a:solidFill>
                  </a:tcPr>
                </a:tc>
                <a:tc>
                  <a:txBody>
                    <a:bodyPr/>
                    <a:lstStyle/>
                    <a:p>
                      <a:pPr>
                        <a:defRPr sz="1200">
                          <a:solidFill>
                            <a:srgbClr val="16202E"/>
                          </a:solidFill>
                          <a:latin typeface="Yu Gothic"/>
                        </a:defRPr>
                      </a:pPr>
                      <a:r>
                        <a:t>AG.ALの優勝の詳細</a:t>
                      </a:r>
                    </a:p>
                  </a:txBody>
                  <a:tcPr>
                    <a:solidFill>
                      <a:srgbClr val="FFFFFF"/>
                    </a:solidFill>
                  </a:tcPr>
                </a:tc>
              </a:tr>
              <a:tr h="502920">
                <a:tc>
                  <a:txBody>
                    <a:bodyPr/>
                    <a:lstStyle/>
                    <a:p>
                      <a:pPr>
                        <a:defRPr sz="1200">
                          <a:solidFill>
                            <a:srgbClr val="16202E"/>
                          </a:solidFill>
                          <a:latin typeface="Yu Gothic"/>
                        </a:defRPr>
                      </a:pPr>
                      <a:r>
                        <a:t>PR Newswire(2026年8月)</a:t>
                      </a:r>
                    </a:p>
                  </a:txBody>
                  <a:tcPr>
                    <a:solidFill>
                      <a:srgbClr val="F2F6FA"/>
                    </a:solidFill>
                  </a:tcPr>
                </a:tc>
                <a:tc>
                  <a:txBody>
                    <a:bodyPr/>
                    <a:lstStyle/>
                    <a:p>
                      <a:pPr>
                        <a:defRPr sz="1200">
                          <a:solidFill>
                            <a:srgbClr val="16202E"/>
                          </a:solidFill>
                          <a:latin typeface="Yu Gothic"/>
                        </a:defRPr>
                      </a:pPr>
                      <a:r>
                        <a:t>大会全体の公式発表</a:t>
                      </a:r>
                    </a:p>
                  </a:txBody>
                  <a:tcPr>
                    <a:solidFill>
                      <a:srgbClr val="F2F6FA"/>
                    </a:solidFill>
                  </a:tcPr>
                </a:tc>
              </a:tr>
              <a:tr h="502920">
                <a:tc>
                  <a:txBody>
                    <a:bodyPr/>
                    <a:lstStyle/>
                    <a:p>
                      <a:pPr>
                        <a:defRPr sz="1200">
                          <a:solidFill>
                            <a:srgbClr val="16202E"/>
                          </a:solidFill>
                          <a:latin typeface="Yu Gothic"/>
                        </a:defRPr>
                      </a:pPr>
                      <a:r>
                        <a:t>Esports Charts(2026年8月)</a:t>
                      </a:r>
                    </a:p>
                  </a:txBody>
                  <a:tcPr>
                    <a:solidFill>
                      <a:srgbClr val="FFFFFF"/>
                    </a:solidFill>
                  </a:tcPr>
                </a:tc>
                <a:tc>
                  <a:txBody>
                    <a:bodyPr/>
                    <a:lstStyle/>
                    <a:p>
                      <a:pPr>
                        <a:defRPr sz="1200">
                          <a:solidFill>
                            <a:srgbClr val="16202E"/>
                          </a:solidFill>
                          <a:latin typeface="Yu Gothic"/>
                        </a:defRPr>
                      </a:pPr>
                      <a:r>
                        <a:t>大会規模・賞金の内訳</a:t>
                      </a:r>
                    </a:p>
                  </a:txBody>
                  <a:tcPr>
                    <a:solidFill>
                      <a:srgbClr val="FFFFFF"/>
                    </a:solidFill>
                  </a:tcPr>
                </a:tc>
              </a:tr>
              <a:tr h="502920">
                <a:tc>
                  <a:txBody>
                    <a:bodyPr/>
                    <a:lstStyle/>
                    <a:p>
                      <a:pPr>
                        <a:defRPr sz="1200">
                          <a:solidFill>
                            <a:srgbClr val="16202E"/>
                          </a:solidFill>
                          <a:latin typeface="Yu Gothic"/>
                        </a:defRPr>
                      </a:pPr>
                      <a:r>
                        <a:t>Saudi Gazette(2026-08-24)</a:t>
                      </a:r>
                    </a:p>
                  </a:txBody>
                  <a:tcPr>
                    <a:solidFill>
                      <a:srgbClr val="F2F6FA"/>
                    </a:solidFill>
                  </a:tcPr>
                </a:tc>
                <a:tc>
                  <a:txBody>
                    <a:bodyPr/>
                    <a:lstStyle/>
                    <a:p>
                      <a:pPr>
                        <a:defRPr sz="1200">
                          <a:solidFill>
                            <a:srgbClr val="16202E"/>
                          </a:solidFill>
                          <a:latin typeface="Yu Gothic"/>
                        </a:defRPr>
                      </a:pPr>
                      <a:r>
                        <a:t>閉会式の詳細</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eスポーツ動向を追う立場として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世界最大級の大会結果を具体的な数字とともに把握できる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競技の仕組みに関心がある立場として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『クラブ選手権』という総合順位の仕組みを実例を通じて学べる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確定した情報と未確認情報を明確に区別する視点が役立つ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大会の開催期間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約7週間 2026年7月6日〜8月23日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25種目・24競技を実施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Newswire(2026年8月)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閉会式の様子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閉会式の様子を確認します。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閉会式は2026年8月23日、フランス・パリのグラン・パレで行われた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フランスのマクロン大統領が出席し、AG.ALにクラブ選手権のトロフィーを授与した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本テーマでは出席の事実のみを客観的に記載し、政治的な評価は加えない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Saudi Gazette(2026-08-24)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実施競技数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25種目・24競技 大会で実施されたタイトル数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多様なジャンルのゲームタイトルが対象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Newswire(2026年8月)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大会規模まとめ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開催期間</a:t>
                      </a:r>
                    </a:p>
                  </a:txBody>
                  <a:tcPr>
                    <a:solidFill>
                      <a:srgbClr val="FFFFFF"/>
                    </a:solidFill>
                  </a:tcPr>
                </a:tc>
                <a:tc>
                  <a:txBody>
                    <a:bodyPr/>
                    <a:lstStyle/>
                    <a:p>
                      <a:pPr>
                        <a:defRPr sz="1200">
                          <a:solidFill>
                            <a:srgbClr val="16202E"/>
                          </a:solidFill>
                          <a:latin typeface="Yu Gothic"/>
                        </a:defRPr>
                      </a:pPr>
                      <a:r>
                        <a:t>2026年7月6日〜8月23日</a:t>
                      </a:r>
                    </a:p>
                  </a:txBody>
                  <a:tcPr>
                    <a:solidFill>
                      <a:srgbClr val="FFFFFF"/>
                    </a:solidFill>
                  </a:tcPr>
                </a:tc>
              </a:tr>
              <a:tr h="502920">
                <a:tc>
                  <a:txBody>
                    <a:bodyPr/>
                    <a:lstStyle/>
                    <a:p>
                      <a:pPr>
                        <a:defRPr sz="1200">
                          <a:solidFill>
                            <a:srgbClr val="16202E"/>
                          </a:solidFill>
                          <a:latin typeface="Yu Gothic"/>
                        </a:defRPr>
                      </a:pPr>
                      <a:r>
                        <a:t>参加国・地域数</a:t>
                      </a:r>
                    </a:p>
                  </a:txBody>
                  <a:tcPr>
                    <a:solidFill>
                      <a:srgbClr val="F2F6FA"/>
                    </a:solidFill>
                  </a:tcPr>
                </a:tc>
                <a:tc>
                  <a:txBody>
                    <a:bodyPr/>
                    <a:lstStyle/>
                    <a:p>
                      <a:pPr>
                        <a:defRPr sz="1200">
                          <a:solidFill>
                            <a:srgbClr val="16202E"/>
                          </a:solidFill>
                          <a:latin typeface="Yu Gothic"/>
                        </a:defRPr>
                      </a:pPr>
                      <a:r>
                        <a:t>100か国以上</a:t>
                      </a:r>
                    </a:p>
                  </a:txBody>
                  <a:tcPr>
                    <a:solidFill>
                      <a:srgbClr val="F2F6FA"/>
                    </a:solidFill>
                  </a:tcPr>
                </a:tc>
              </a:tr>
              <a:tr h="502920">
                <a:tc>
                  <a:txBody>
                    <a:bodyPr/>
                    <a:lstStyle/>
                    <a:p>
                      <a:pPr>
                        <a:defRPr sz="1200">
                          <a:solidFill>
                            <a:srgbClr val="16202E"/>
                          </a:solidFill>
                          <a:latin typeface="Yu Gothic"/>
                        </a:defRPr>
                      </a:pPr>
                      <a:r>
                        <a:t>参加クラブ数</a:t>
                      </a:r>
                    </a:p>
                  </a:txBody>
                  <a:tcPr>
                    <a:solidFill>
                      <a:srgbClr val="FFFFFF"/>
                    </a:solidFill>
                  </a:tcPr>
                </a:tc>
                <a:tc>
                  <a:txBody>
                    <a:bodyPr/>
                    <a:lstStyle/>
                    <a:p>
                      <a:pPr>
                        <a:defRPr sz="1200">
                          <a:solidFill>
                            <a:srgbClr val="16202E"/>
                          </a:solidFill>
                          <a:latin typeface="Yu Gothic"/>
                        </a:defRPr>
                      </a:pPr>
                      <a:r>
                        <a:t>200クラブ</a:t>
                      </a:r>
                    </a:p>
                  </a:txBody>
                  <a:tcPr>
                    <a:solidFill>
                      <a:srgbClr val="FFFFFF"/>
                    </a:solidFill>
                  </a:tcPr>
                </a:tc>
              </a:tr>
              <a:tr h="502920">
                <a:tc>
                  <a:txBody>
                    <a:bodyPr/>
                    <a:lstStyle/>
                    <a:p>
                      <a:pPr>
                        <a:defRPr sz="1200">
                          <a:solidFill>
                            <a:srgbClr val="16202E"/>
                          </a:solidFill>
                          <a:latin typeface="Yu Gothic"/>
                        </a:defRPr>
                      </a:pPr>
                      <a:r>
                        <a:t>参加選手数</a:t>
                      </a:r>
                    </a:p>
                  </a:txBody>
                  <a:tcPr>
                    <a:solidFill>
                      <a:srgbClr val="F2F6FA"/>
                    </a:solidFill>
                  </a:tcPr>
                </a:tc>
                <a:tc>
                  <a:txBody>
                    <a:bodyPr/>
                    <a:lstStyle/>
                    <a:p>
                      <a:pPr>
                        <a:defRPr sz="1200">
                          <a:solidFill>
                            <a:srgbClr val="16202E"/>
                          </a:solidFill>
                          <a:latin typeface="Yu Gothic"/>
                        </a:defRPr>
                      </a:pPr>
                      <a:r>
                        <a:t>2,000人超</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個別タイトル賞金の規模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4,500万ドル 25種目の個別タイトルに割り当てられた賞金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クラブ選手権賞金(3,000万ドル)とは別枠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PR Newswire(2026年8月)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B3A5C"/>
                    </a:solidFill>
                  </a:tcPr>
                </a:tc>
                <a:tc>
                  <a:txBody>
                    <a:bodyPr/>
                    <a:lstStyle/>
                    <a:p>
                      <a:pPr>
                        <a:defRPr sz="1300" b="1">
                          <a:solidFill>
                            <a:srgbClr val="FFFFFF"/>
                          </a:solidFill>
                          <a:latin typeface="Yu Gothic"/>
                        </a:defRPr>
                      </a:pPr>
                      <a:r>
                        <a:t>メディア</a:t>
                      </a:r>
                    </a:p>
                  </a:txBody>
                  <a:tcPr>
                    <a:solidFill>
                      <a:srgbClr val="1B3A5C"/>
                    </a:solidFill>
                  </a:tcPr>
                </a:tc>
              </a:tr>
              <a:tr h="502920">
                <a:tc>
                  <a:txBody>
                    <a:bodyPr/>
                    <a:lstStyle/>
                    <a:p>
                      <a:pPr>
                        <a:defRPr sz="1200">
                          <a:solidFill>
                            <a:srgbClr val="16202E"/>
                          </a:solidFill>
                          <a:latin typeface="Yu Gothic"/>
                        </a:defRPr>
                      </a:pPr>
                      <a:r>
                        <a:t>2026年8月11〜15日</a:t>
                      </a:r>
                    </a:p>
                  </a:txBody>
                  <a:tcPr>
                    <a:solidFill>
                      <a:srgbClr val="FFFFFF"/>
                    </a:solidFill>
                  </a:tcPr>
                </a:tc>
                <a:tc>
                  <a:txBody>
                    <a:bodyPr/>
                    <a:lstStyle/>
                    <a:p>
                      <a:pPr>
                        <a:defRPr sz="1200">
                          <a:solidFill>
                            <a:srgbClr val="16202E"/>
                          </a:solidFill>
                          <a:latin typeface="Yu Gothic"/>
                        </a:defRPr>
                      </a:pPr>
                      <a:r>
                        <a:t>チェス部門の結果(Liquipedia等)</a:t>
                      </a:r>
                    </a:p>
                  </a:txBody>
                  <a:tcPr>
                    <a:solidFill>
                      <a:srgbClr val="FFFFFF"/>
                    </a:solidFill>
                  </a:tcPr>
                </a:tc>
              </a:tr>
              <a:tr h="502920">
                <a:tc>
                  <a:txBody>
                    <a:bodyPr/>
                    <a:lstStyle/>
                    <a:p>
                      <a:pPr>
                        <a:defRPr sz="1200">
                          <a:solidFill>
                            <a:srgbClr val="16202E"/>
                          </a:solidFill>
                          <a:latin typeface="Yu Gothic"/>
                        </a:defRPr>
                      </a:pPr>
                      <a:r>
                        <a:t>2026年8月23日</a:t>
                      </a:r>
                    </a:p>
                  </a:txBody>
                  <a:tcPr>
                    <a:solidFill>
                      <a:srgbClr val="F2F6FA"/>
                    </a:solidFill>
                  </a:tcPr>
                </a:tc>
                <a:tc>
                  <a:txBody>
                    <a:bodyPr/>
                    <a:lstStyle/>
                    <a:p>
                      <a:pPr>
                        <a:defRPr sz="1200">
                          <a:solidFill>
                            <a:srgbClr val="16202E"/>
                          </a:solidFill>
                          <a:latin typeface="Yu Gothic"/>
                        </a:defRPr>
                      </a:pPr>
                      <a:r>
                        <a:t>閉会式(現地)</a:t>
                      </a:r>
                    </a:p>
                  </a:txBody>
                  <a:tcPr>
                    <a:solidFill>
                      <a:srgbClr val="F2F6FA"/>
                    </a:solidFill>
                  </a:tcPr>
                </a:tc>
              </a:tr>
              <a:tr h="502920">
                <a:tc>
                  <a:txBody>
                    <a:bodyPr/>
                    <a:lstStyle/>
                    <a:p>
                      <a:pPr>
                        <a:defRPr sz="1200">
                          <a:solidFill>
                            <a:srgbClr val="16202E"/>
                          </a:solidFill>
                          <a:latin typeface="Yu Gothic"/>
                        </a:defRPr>
                      </a:pPr>
                      <a:r>
                        <a:t>2026年8月24日</a:t>
                      </a:r>
                    </a:p>
                  </a:txBody>
                  <a:tcPr>
                    <a:solidFill>
                      <a:srgbClr val="FFFFFF"/>
                    </a:solidFill>
                  </a:tcPr>
                </a:tc>
                <a:tc>
                  <a:txBody>
                    <a:bodyPr/>
                    <a:lstStyle/>
                    <a:p>
                      <a:pPr>
                        <a:defRPr sz="1200">
                          <a:solidFill>
                            <a:srgbClr val="16202E"/>
                          </a:solidFill>
                          <a:latin typeface="Yu Gothic"/>
                        </a:defRPr>
                      </a:pPr>
                      <a:r>
                        <a:t>CGTN・Saudi Gazette等(続報)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クラブ選手権優勝条件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上位8入り+1種目以上優勝 クラブ選手権優勝の条件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総合順位だけでなく、個別優勝も必要とされる仕組み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Esports Charts(2026年8月)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個別タイトル優勝 vs クラブ選手権優勝</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個別タイトル優勝</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特定のゲームタイトルでの優勝</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クラブ選手権優勝(AG.AL)</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複数競技の総合成績で決まる優勝</a:t>
            </a:r>
          </a:p>
        </p:txBody>
      </p:sp>
      <p:sp>
        <p:nvSpPr>
          <p:cNvPr id="16" name="Oval 15"/>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賞金700万ドル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今後注目される点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来年以降の大会でAG.ALが連覇できるかどうかに注目が集まる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eスポーツ大会全体の賞金規模が今後どう推移するかも注目点である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具体的な来年の予測は本テーマの範囲では断定せず、確認できた事実にとどめる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中国のクラブチームAG.ALが、エスポーツワールドカップ2026でクラブ選手権優勝を果たした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2年連続王者だったチームファルコンズ(サウジアラビア)を破り、賞金700万ドルを獲得した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大会全体は100か国以上から200クラブが参加し、総賞金プールは7,500万ドルにのぼった</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AG.ALの具体的な合計ポイント数など一部の数字は確認できておらず、正直にお伝えした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CGTN・PR Newswire等(2026年8月)</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中国AG.AL、エスポーツワールドカップ2026クラブ王者に。賞金700万ドル。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中国のクラブチームAG.ALが、世界最大級のeスポーツ大会で2年連続王者を破り優勝しました。その中身を、出典付きで整理してお届けしました。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